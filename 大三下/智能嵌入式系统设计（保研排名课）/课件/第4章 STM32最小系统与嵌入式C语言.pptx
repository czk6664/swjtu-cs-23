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7" r:id="rId2"/>
    <p:sldId id="259" r:id="rId3"/>
    <p:sldId id="300" r:id="rId4"/>
    <p:sldId id="261" r:id="rId5"/>
    <p:sldId id="335" r:id="rId6"/>
    <p:sldId id="336" r:id="rId7"/>
    <p:sldId id="337" r:id="rId8"/>
    <p:sldId id="338" r:id="rId9"/>
    <p:sldId id="339" r:id="rId10"/>
    <p:sldId id="340" r:id="rId11"/>
    <p:sldId id="341" r:id="rId12"/>
    <p:sldId id="342" r:id="rId13"/>
    <p:sldId id="343" r:id="rId14"/>
    <p:sldId id="394" r:id="rId15"/>
    <p:sldId id="395" r:id="rId16"/>
    <p:sldId id="321" r:id="rId17"/>
    <p:sldId id="397" r:id="rId18"/>
    <p:sldId id="396" r:id="rId19"/>
    <p:sldId id="262" r:id="rId20"/>
    <p:sldId id="322" r:id="rId21"/>
    <p:sldId id="324" r:id="rId22"/>
    <p:sldId id="398" r:id="rId23"/>
    <p:sldId id="323" r:id="rId24"/>
    <p:sldId id="325" r:id="rId25"/>
    <p:sldId id="347" r:id="rId26"/>
    <p:sldId id="346" r:id="rId27"/>
    <p:sldId id="348" r:id="rId28"/>
    <p:sldId id="327" r:id="rId29"/>
    <p:sldId id="328" r:id="rId30"/>
    <p:sldId id="399" r:id="rId31"/>
    <p:sldId id="400" r:id="rId32"/>
    <p:sldId id="326" r:id="rId33"/>
    <p:sldId id="329" r:id="rId34"/>
    <p:sldId id="393" r:id="rId35"/>
    <p:sldId id="350" r:id="rId36"/>
    <p:sldId id="351" r:id="rId37"/>
    <p:sldId id="333" r:id="rId38"/>
    <p:sldId id="353" r:id="rId39"/>
    <p:sldId id="352" r:id="rId40"/>
    <p:sldId id="355" r:id="rId41"/>
    <p:sldId id="356" r:id="rId42"/>
    <p:sldId id="357" r:id="rId43"/>
    <p:sldId id="358" r:id="rId44"/>
    <p:sldId id="359" r:id="rId45"/>
    <p:sldId id="360" r:id="rId46"/>
    <p:sldId id="361" r:id="rId47"/>
    <p:sldId id="362" r:id="rId48"/>
    <p:sldId id="365" r:id="rId49"/>
    <p:sldId id="366" r:id="rId50"/>
    <p:sldId id="368" r:id="rId51"/>
    <p:sldId id="367" r:id="rId52"/>
    <p:sldId id="369" r:id="rId53"/>
    <p:sldId id="370" r:id="rId54"/>
    <p:sldId id="363" r:id="rId55"/>
    <p:sldId id="349" r:id="rId56"/>
    <p:sldId id="263" r:id="rId57"/>
    <p:sldId id="371" r:id="rId58"/>
    <p:sldId id="372" r:id="rId59"/>
    <p:sldId id="373" r:id="rId60"/>
    <p:sldId id="374" r:id="rId61"/>
    <p:sldId id="375" r:id="rId62"/>
    <p:sldId id="376" r:id="rId63"/>
    <p:sldId id="377" r:id="rId64"/>
    <p:sldId id="378" r:id="rId65"/>
    <p:sldId id="379" r:id="rId66"/>
    <p:sldId id="380" r:id="rId67"/>
    <p:sldId id="381" r:id="rId68"/>
    <p:sldId id="382" r:id="rId69"/>
    <p:sldId id="383" r:id="rId70"/>
    <p:sldId id="384" r:id="rId71"/>
    <p:sldId id="385" r:id="rId72"/>
    <p:sldId id="386" r:id="rId73"/>
    <p:sldId id="387" r:id="rId74"/>
    <p:sldId id="388" r:id="rId75"/>
    <p:sldId id="389" r:id="rId76"/>
    <p:sldId id="390" r:id="rId77"/>
    <p:sldId id="391" r:id="rId78"/>
    <p:sldId id="392" r:id="rId79"/>
    <p:sldId id="308" r:id="rId80"/>
    <p:sldId id="310" r:id="rId8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BED3"/>
    <a:srgbClr val="7CC3D6"/>
    <a:srgbClr val="4AABC6"/>
    <a:srgbClr val="5F5BAE"/>
    <a:srgbClr val="D38583"/>
    <a:srgbClr val="F7EAE9"/>
    <a:srgbClr val="CD7371"/>
    <a:srgbClr val="4BACC6"/>
    <a:srgbClr val="557ABA"/>
    <a:srgbClr val="5F5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6" autoAdjust="0"/>
  </p:normalViewPr>
  <p:slideViewPr>
    <p:cSldViewPr>
      <p:cViewPr varScale="1">
        <p:scale>
          <a:sx n="62" d="100"/>
          <a:sy n="62" d="100"/>
        </p:scale>
        <p:origin x="-91" y="-53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2CEBAA-E1A0-4A5E-892A-353144A3ECB1}" type="doc">
      <dgm:prSet loTypeId="urn:microsoft.com/office/officeart/2005/8/layout/vList3#1" loCatId="list" qsTypeId="urn:microsoft.com/office/officeart/2005/8/quickstyle/simple2" qsCatId="simple" csTypeId="urn:microsoft.com/office/officeart/2005/8/colors/accent5_1" csCatId="accent5" phldr="1"/>
      <dgm:spPr/>
      <dgm:t>
        <a:bodyPr/>
        <a:lstStyle/>
        <a:p>
          <a:endParaRPr lang="zh-CN" altLang="en-US"/>
        </a:p>
      </dgm:t>
    </dgm:pt>
    <dgm:pt modelId="{13106C34-DDA7-4704-AE3C-0B0E4328523F}">
      <dgm:prSet custT="1"/>
      <dgm:spPr/>
      <dgm:t>
        <a:bodyPr/>
        <a:lstStyle/>
        <a:p>
          <a:pPr marL="0" indent="177800" algn="l" rtl="0"/>
          <a:r>
            <a:rPr lang="en-GB" altLang="zh-CN" sz="2400" b="1" dirty="0" smtClean="0"/>
            <a:t>4.1 STM32</a:t>
          </a:r>
          <a:r>
            <a:rPr lang="zh-CN" altLang="zh-CN" sz="2400" b="1" dirty="0" smtClean="0"/>
            <a:t>最小系统</a:t>
          </a:r>
          <a:endParaRPr lang="zh-CN" sz="2400" b="1" dirty="0"/>
        </a:p>
      </dgm:t>
    </dgm:pt>
    <dgm:pt modelId="{5B2484B4-0902-44AE-9451-619122864D26}" type="parTrans" cxnId="{02BAFB49-29A0-4418-8227-F8F120C95367}">
      <dgm:prSet/>
      <dgm:spPr/>
      <dgm:t>
        <a:bodyPr/>
        <a:lstStyle/>
        <a:p>
          <a:pPr algn="l"/>
          <a:endParaRPr lang="zh-CN" altLang="en-US" sz="2000" b="1"/>
        </a:p>
      </dgm:t>
    </dgm:pt>
    <dgm:pt modelId="{09265D00-2571-440C-8A2D-A0D7C0ECA357}" type="sibTrans" cxnId="{02BAFB49-29A0-4418-8227-F8F120C95367}">
      <dgm:prSet/>
      <dgm:spPr/>
      <dgm:t>
        <a:bodyPr/>
        <a:lstStyle/>
        <a:p>
          <a:pPr algn="l"/>
          <a:endParaRPr lang="zh-CN" altLang="en-US" sz="2000" b="1"/>
        </a:p>
      </dgm:t>
    </dgm:pt>
    <dgm:pt modelId="{047B7240-9B3B-4945-ABFC-8AA577225995}">
      <dgm:prSet custT="1"/>
      <dgm:spPr/>
      <dgm:t>
        <a:bodyPr/>
        <a:lstStyle/>
        <a:p>
          <a:pPr marL="0" indent="177800" algn="l" rtl="0"/>
          <a:r>
            <a:rPr lang="en-US" altLang="zh-CN" sz="2400" b="1" dirty="0" smtClean="0"/>
            <a:t>4.2 </a:t>
          </a:r>
          <a:r>
            <a:rPr lang="zh-CN" altLang="zh-CN" sz="2400" b="1" dirty="0" smtClean="0"/>
            <a:t>嵌入式</a:t>
          </a:r>
          <a:r>
            <a:rPr lang="en-GB" altLang="zh-CN" sz="2400" b="1" dirty="0" smtClean="0"/>
            <a:t>C</a:t>
          </a:r>
          <a:r>
            <a:rPr lang="zh-CN" altLang="zh-CN" sz="2400" b="1" dirty="0" smtClean="0"/>
            <a:t>语言</a:t>
          </a:r>
          <a:endParaRPr lang="zh-CN" sz="2400" b="1" dirty="0"/>
        </a:p>
      </dgm:t>
    </dgm:pt>
    <dgm:pt modelId="{30432C7E-5CB4-43B7-ABDA-FDD668F97924}" type="parTrans" cxnId="{8ECEC30A-7947-4089-82B2-F4118177782E}">
      <dgm:prSet/>
      <dgm:spPr/>
      <dgm:t>
        <a:bodyPr/>
        <a:lstStyle/>
        <a:p>
          <a:pPr algn="l"/>
          <a:endParaRPr lang="zh-CN" altLang="en-US" sz="2000" b="1"/>
        </a:p>
      </dgm:t>
    </dgm:pt>
    <dgm:pt modelId="{2AD50ABE-3325-4DD9-8E1F-7ECDCF00ED92}" type="sibTrans" cxnId="{8ECEC30A-7947-4089-82B2-F4118177782E}">
      <dgm:prSet/>
      <dgm:spPr/>
      <dgm:t>
        <a:bodyPr/>
        <a:lstStyle/>
        <a:p>
          <a:pPr algn="l"/>
          <a:endParaRPr lang="zh-CN" altLang="en-US" sz="2000" b="1"/>
        </a:p>
      </dgm:t>
    </dgm:pt>
    <dgm:pt modelId="{C03C3471-A4DA-417B-8393-2DA0F765F0DE}">
      <dgm:prSet custT="1"/>
      <dgm:spPr/>
      <dgm:t>
        <a:bodyPr/>
        <a:lstStyle/>
        <a:p>
          <a:pPr marL="0" indent="177800" algn="l" rtl="0"/>
          <a:r>
            <a:rPr lang="en-US" altLang="zh-CN" sz="2400" b="1" dirty="0" smtClean="0"/>
            <a:t>4.3 HAL</a:t>
          </a:r>
          <a:r>
            <a:rPr lang="zh-CN" altLang="zh-CN" sz="2400" b="1" dirty="0" smtClean="0"/>
            <a:t>库文件源码分析</a:t>
          </a:r>
          <a:endParaRPr lang="zh-CN" sz="2400" b="1" dirty="0"/>
        </a:p>
      </dgm:t>
    </dgm:pt>
    <dgm:pt modelId="{1933975E-8B86-46FF-B7C1-099FB70E688A}" type="parTrans" cxnId="{972459DD-7803-4179-A553-DC73E2AA763F}">
      <dgm:prSet/>
      <dgm:spPr/>
      <dgm:t>
        <a:bodyPr/>
        <a:lstStyle/>
        <a:p>
          <a:pPr algn="l"/>
          <a:endParaRPr lang="zh-CN" altLang="en-US" sz="2000" b="1"/>
        </a:p>
      </dgm:t>
    </dgm:pt>
    <dgm:pt modelId="{B2D04BCB-8D1E-44D6-B48A-12C7951CB416}" type="sibTrans" cxnId="{972459DD-7803-4179-A553-DC73E2AA763F}">
      <dgm:prSet/>
      <dgm:spPr/>
      <dgm:t>
        <a:bodyPr/>
        <a:lstStyle/>
        <a:p>
          <a:pPr algn="l"/>
          <a:endParaRPr lang="zh-CN" altLang="en-US" sz="2000" b="1"/>
        </a:p>
      </dgm:t>
    </dgm:pt>
    <dgm:pt modelId="{01BA8000-F013-4439-BEFE-860C47094334}" type="pres">
      <dgm:prSet presAssocID="{A02CEBAA-E1A0-4A5E-892A-353144A3ECB1}" presName="linearFlow" presStyleCnt="0">
        <dgm:presLayoutVars>
          <dgm:dir/>
          <dgm:resizeHandles val="exact"/>
        </dgm:presLayoutVars>
      </dgm:prSet>
      <dgm:spPr/>
      <dgm:t>
        <a:bodyPr/>
        <a:lstStyle/>
        <a:p>
          <a:endParaRPr lang="zh-CN" altLang="en-US"/>
        </a:p>
      </dgm:t>
    </dgm:pt>
    <dgm:pt modelId="{28DE22D8-6D57-4E52-9246-B2B231773FAC}" type="pres">
      <dgm:prSet presAssocID="{13106C34-DDA7-4704-AE3C-0B0E4328523F}" presName="composite" presStyleCnt="0"/>
      <dgm:spPr/>
      <dgm:t>
        <a:bodyPr/>
        <a:lstStyle/>
        <a:p>
          <a:endParaRPr lang="zh-CN" altLang="en-US"/>
        </a:p>
      </dgm:t>
    </dgm:pt>
    <dgm:pt modelId="{BD893DEC-F94E-4CFD-8B1D-44EBE27F01D8}" type="pres">
      <dgm:prSet presAssocID="{13106C34-DDA7-4704-AE3C-0B0E4328523F}" presName="imgShp" presStyleLbl="fgImgPlace1" presStyleIdx="0" presStyleCnt="3" custLinFactNeighborX="-95641"/>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17000" r="-17000"/>
          </a:stretch>
        </a:blipFill>
      </dgm:spPr>
      <dgm:t>
        <a:bodyPr/>
        <a:lstStyle/>
        <a:p>
          <a:endParaRPr lang="zh-CN" altLang="en-US"/>
        </a:p>
      </dgm:t>
    </dgm:pt>
    <dgm:pt modelId="{144B12B0-8ED7-423A-98C2-ACC6EE7F5834}" type="pres">
      <dgm:prSet presAssocID="{13106C34-DDA7-4704-AE3C-0B0E4328523F}" presName="txShp" presStyleLbl="node1" presStyleIdx="0" presStyleCnt="3" custScaleX="133288">
        <dgm:presLayoutVars>
          <dgm:bulletEnabled val="1"/>
        </dgm:presLayoutVars>
      </dgm:prSet>
      <dgm:spPr/>
      <dgm:t>
        <a:bodyPr/>
        <a:lstStyle/>
        <a:p>
          <a:endParaRPr lang="zh-CN" altLang="en-US"/>
        </a:p>
      </dgm:t>
    </dgm:pt>
    <dgm:pt modelId="{29BC0434-ED20-4C04-9137-BBCAA037438E}" type="pres">
      <dgm:prSet presAssocID="{09265D00-2571-440C-8A2D-A0D7C0ECA357}" presName="spacing" presStyleCnt="0"/>
      <dgm:spPr/>
      <dgm:t>
        <a:bodyPr/>
        <a:lstStyle/>
        <a:p>
          <a:endParaRPr lang="zh-CN" altLang="en-US"/>
        </a:p>
      </dgm:t>
    </dgm:pt>
    <dgm:pt modelId="{EC350B0D-0634-4595-A61D-EA92D440B58A}" type="pres">
      <dgm:prSet presAssocID="{047B7240-9B3B-4945-ABFC-8AA577225995}" presName="composite" presStyleCnt="0"/>
      <dgm:spPr/>
      <dgm:t>
        <a:bodyPr/>
        <a:lstStyle/>
        <a:p>
          <a:endParaRPr lang="zh-CN" altLang="en-US"/>
        </a:p>
      </dgm:t>
    </dgm:pt>
    <dgm:pt modelId="{536BAE9F-688B-43CA-8A61-824EE17C80DA}" type="pres">
      <dgm:prSet presAssocID="{047B7240-9B3B-4945-ABFC-8AA577225995}" presName="imgShp" presStyleLbl="fgImgPlace1" presStyleIdx="1" presStyleCnt="3" custLinFactNeighborX="-95641"/>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dgm:spPr>
      <dgm:t>
        <a:bodyPr/>
        <a:lstStyle/>
        <a:p>
          <a:endParaRPr lang="zh-CN" altLang="en-US"/>
        </a:p>
      </dgm:t>
    </dgm:pt>
    <dgm:pt modelId="{8D22E1E6-691D-45DB-B730-1DC2060C8198}" type="pres">
      <dgm:prSet presAssocID="{047B7240-9B3B-4945-ABFC-8AA577225995}" presName="txShp" presStyleLbl="node1" presStyleIdx="1" presStyleCnt="3" custScaleX="133288">
        <dgm:presLayoutVars>
          <dgm:bulletEnabled val="1"/>
        </dgm:presLayoutVars>
      </dgm:prSet>
      <dgm:spPr/>
      <dgm:t>
        <a:bodyPr/>
        <a:lstStyle/>
        <a:p>
          <a:endParaRPr lang="zh-CN" altLang="en-US"/>
        </a:p>
      </dgm:t>
    </dgm:pt>
    <dgm:pt modelId="{1AFABC0B-51F3-4213-B6F4-56292C43F92A}" type="pres">
      <dgm:prSet presAssocID="{2AD50ABE-3325-4DD9-8E1F-7ECDCF00ED92}" presName="spacing" presStyleCnt="0"/>
      <dgm:spPr/>
      <dgm:t>
        <a:bodyPr/>
        <a:lstStyle/>
        <a:p>
          <a:endParaRPr lang="zh-CN" altLang="en-US"/>
        </a:p>
      </dgm:t>
    </dgm:pt>
    <dgm:pt modelId="{78AD4F32-45E7-4AAD-8574-22FDF390F682}" type="pres">
      <dgm:prSet presAssocID="{C03C3471-A4DA-417B-8393-2DA0F765F0DE}" presName="composite" presStyleCnt="0"/>
      <dgm:spPr/>
      <dgm:t>
        <a:bodyPr/>
        <a:lstStyle/>
        <a:p>
          <a:endParaRPr lang="zh-CN" altLang="en-US"/>
        </a:p>
      </dgm:t>
    </dgm:pt>
    <dgm:pt modelId="{25EE83B5-9181-4312-AF69-76E7DB3C707E}" type="pres">
      <dgm:prSet presAssocID="{C03C3471-A4DA-417B-8393-2DA0F765F0DE}" presName="imgShp" presStyleLbl="fgImgPlace1" presStyleIdx="2" presStyleCnt="3" custLinFactNeighborX="-95641"/>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6000" r="-26000"/>
          </a:stretch>
        </a:blipFill>
      </dgm:spPr>
      <dgm:t>
        <a:bodyPr/>
        <a:lstStyle/>
        <a:p>
          <a:endParaRPr lang="zh-CN" altLang="en-US"/>
        </a:p>
      </dgm:t>
    </dgm:pt>
    <dgm:pt modelId="{4C9106F8-718B-46E5-8FB7-F18DA0278976}" type="pres">
      <dgm:prSet presAssocID="{C03C3471-A4DA-417B-8393-2DA0F765F0DE}" presName="txShp" presStyleLbl="node1" presStyleIdx="2" presStyleCnt="3" custScaleX="133288">
        <dgm:presLayoutVars>
          <dgm:bulletEnabled val="1"/>
        </dgm:presLayoutVars>
      </dgm:prSet>
      <dgm:spPr/>
      <dgm:t>
        <a:bodyPr/>
        <a:lstStyle/>
        <a:p>
          <a:endParaRPr lang="zh-CN" altLang="en-US"/>
        </a:p>
      </dgm:t>
    </dgm:pt>
  </dgm:ptLst>
  <dgm:cxnLst>
    <dgm:cxn modelId="{A277168F-E001-473D-9B62-D438D49BB1F4}" type="presOf" srcId="{047B7240-9B3B-4945-ABFC-8AA577225995}" destId="{8D22E1E6-691D-45DB-B730-1DC2060C8198}" srcOrd="0" destOrd="0" presId="urn:microsoft.com/office/officeart/2005/8/layout/vList3#1"/>
    <dgm:cxn modelId="{777EB860-57A5-4FE0-981C-CB95438E3AB1}" type="presOf" srcId="{A02CEBAA-E1A0-4A5E-892A-353144A3ECB1}" destId="{01BA8000-F013-4439-BEFE-860C47094334}" srcOrd="0" destOrd="0" presId="urn:microsoft.com/office/officeart/2005/8/layout/vList3#1"/>
    <dgm:cxn modelId="{972459DD-7803-4179-A553-DC73E2AA763F}" srcId="{A02CEBAA-E1A0-4A5E-892A-353144A3ECB1}" destId="{C03C3471-A4DA-417B-8393-2DA0F765F0DE}" srcOrd="2" destOrd="0" parTransId="{1933975E-8B86-46FF-B7C1-099FB70E688A}" sibTransId="{B2D04BCB-8D1E-44D6-B48A-12C7951CB416}"/>
    <dgm:cxn modelId="{96313997-F395-4FA5-837B-1A2247F1C198}" type="presOf" srcId="{13106C34-DDA7-4704-AE3C-0B0E4328523F}" destId="{144B12B0-8ED7-423A-98C2-ACC6EE7F5834}" srcOrd="0" destOrd="0" presId="urn:microsoft.com/office/officeart/2005/8/layout/vList3#1"/>
    <dgm:cxn modelId="{47C6F372-24F4-498C-B2F2-D19994E55683}" type="presOf" srcId="{C03C3471-A4DA-417B-8393-2DA0F765F0DE}" destId="{4C9106F8-718B-46E5-8FB7-F18DA0278976}" srcOrd="0" destOrd="0" presId="urn:microsoft.com/office/officeart/2005/8/layout/vList3#1"/>
    <dgm:cxn modelId="{8ECEC30A-7947-4089-82B2-F4118177782E}" srcId="{A02CEBAA-E1A0-4A5E-892A-353144A3ECB1}" destId="{047B7240-9B3B-4945-ABFC-8AA577225995}" srcOrd="1" destOrd="0" parTransId="{30432C7E-5CB4-43B7-ABDA-FDD668F97924}" sibTransId="{2AD50ABE-3325-4DD9-8E1F-7ECDCF00ED92}"/>
    <dgm:cxn modelId="{02BAFB49-29A0-4418-8227-F8F120C95367}" srcId="{A02CEBAA-E1A0-4A5E-892A-353144A3ECB1}" destId="{13106C34-DDA7-4704-AE3C-0B0E4328523F}" srcOrd="0" destOrd="0" parTransId="{5B2484B4-0902-44AE-9451-619122864D26}" sibTransId="{09265D00-2571-440C-8A2D-A0D7C0ECA357}"/>
    <dgm:cxn modelId="{11CF1AA5-8F6A-41EB-816D-35B4D72FDB59}" type="presParOf" srcId="{01BA8000-F013-4439-BEFE-860C47094334}" destId="{28DE22D8-6D57-4E52-9246-B2B231773FAC}" srcOrd="0" destOrd="0" presId="urn:microsoft.com/office/officeart/2005/8/layout/vList3#1"/>
    <dgm:cxn modelId="{FBBA8EC4-8A21-46F8-BABD-E4B3D6A9AFD9}" type="presParOf" srcId="{28DE22D8-6D57-4E52-9246-B2B231773FAC}" destId="{BD893DEC-F94E-4CFD-8B1D-44EBE27F01D8}" srcOrd="0" destOrd="0" presId="urn:microsoft.com/office/officeart/2005/8/layout/vList3#1"/>
    <dgm:cxn modelId="{4BE4A640-AC10-4075-A7E7-0E7C99C1F4D7}" type="presParOf" srcId="{28DE22D8-6D57-4E52-9246-B2B231773FAC}" destId="{144B12B0-8ED7-423A-98C2-ACC6EE7F5834}" srcOrd="1" destOrd="0" presId="urn:microsoft.com/office/officeart/2005/8/layout/vList3#1"/>
    <dgm:cxn modelId="{44760C22-5B54-4F2A-9C20-05A031F70611}" type="presParOf" srcId="{01BA8000-F013-4439-BEFE-860C47094334}" destId="{29BC0434-ED20-4C04-9137-BBCAA037438E}" srcOrd="1" destOrd="0" presId="urn:microsoft.com/office/officeart/2005/8/layout/vList3#1"/>
    <dgm:cxn modelId="{733ED03F-F838-46F5-8E1F-D8CF5CB1305F}" type="presParOf" srcId="{01BA8000-F013-4439-BEFE-860C47094334}" destId="{EC350B0D-0634-4595-A61D-EA92D440B58A}" srcOrd="2" destOrd="0" presId="urn:microsoft.com/office/officeart/2005/8/layout/vList3#1"/>
    <dgm:cxn modelId="{3DBD2F92-4452-43E3-962A-5766B2056595}" type="presParOf" srcId="{EC350B0D-0634-4595-A61D-EA92D440B58A}" destId="{536BAE9F-688B-43CA-8A61-824EE17C80DA}" srcOrd="0" destOrd="0" presId="urn:microsoft.com/office/officeart/2005/8/layout/vList3#1"/>
    <dgm:cxn modelId="{9616C6D5-A4DE-4E7F-8EC8-28EB45AA9959}" type="presParOf" srcId="{EC350B0D-0634-4595-A61D-EA92D440B58A}" destId="{8D22E1E6-691D-45DB-B730-1DC2060C8198}" srcOrd="1" destOrd="0" presId="urn:microsoft.com/office/officeart/2005/8/layout/vList3#1"/>
    <dgm:cxn modelId="{B2AB3E64-5316-4E3C-B630-287F346BB4C5}" type="presParOf" srcId="{01BA8000-F013-4439-BEFE-860C47094334}" destId="{1AFABC0B-51F3-4213-B6F4-56292C43F92A}" srcOrd="3" destOrd="0" presId="urn:microsoft.com/office/officeart/2005/8/layout/vList3#1"/>
    <dgm:cxn modelId="{2216A0DD-28A3-47F8-A950-A7426236C64B}" type="presParOf" srcId="{01BA8000-F013-4439-BEFE-860C47094334}" destId="{78AD4F32-45E7-4AAD-8574-22FDF390F682}" srcOrd="4" destOrd="0" presId="urn:microsoft.com/office/officeart/2005/8/layout/vList3#1"/>
    <dgm:cxn modelId="{CC4D4745-F4E8-4264-A6A0-FB129A1A4ED9}" type="presParOf" srcId="{78AD4F32-45E7-4AAD-8574-22FDF390F682}" destId="{25EE83B5-9181-4312-AF69-76E7DB3C707E}" srcOrd="0" destOrd="0" presId="urn:microsoft.com/office/officeart/2005/8/layout/vList3#1"/>
    <dgm:cxn modelId="{4F3801EB-DD33-49F7-875C-1F7201EFEEE2}" type="presParOf" srcId="{78AD4F32-45E7-4AAD-8574-22FDF390F682}" destId="{4C9106F8-718B-46E5-8FB7-F18DA0278976}"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B72EFE-46D2-4FA8-9422-175185F44767}"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zh-CN" altLang="en-US"/>
        </a:p>
      </dgm:t>
    </dgm:pt>
    <dgm:pt modelId="{C5160E41-8EF0-4CE7-A253-021AAB592D4F}">
      <dgm:prSet phldrT="[文本]"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GB" altLang="en-US" sz="1800" b="1" dirty="0" smtClean="0"/>
            <a:t>4.3.1 stm32f1xx.h</a:t>
          </a:r>
          <a:r>
            <a:rPr lang="zh-CN" altLang="en-US" sz="1800" b="1" dirty="0" smtClean="0"/>
            <a:t>源码分析</a:t>
          </a:r>
          <a:endParaRPr lang="zh-CN" altLang="en-US" sz="1800" b="1" dirty="0"/>
        </a:p>
      </dgm:t>
    </dgm:pt>
    <dgm:pt modelId="{448AD6E8-4753-41EC-954F-10B4D171E739}" type="parTrans" cxnId="{E4B35051-CE85-4683-A0E1-2BEBCEDFDB6B}">
      <dgm:prSet/>
      <dgm:spPr/>
      <dgm:t>
        <a:bodyPr/>
        <a:lstStyle/>
        <a:p>
          <a:endParaRPr lang="zh-CN" altLang="en-US" sz="1800" b="1"/>
        </a:p>
      </dgm:t>
    </dgm:pt>
    <dgm:pt modelId="{6C8115C4-1D4E-4DCD-86F4-4F10A2F886E7}" type="sibTrans" cxnId="{E4B35051-CE85-4683-A0E1-2BEBCEDFDB6B}">
      <dgm:prSet/>
      <dgm:spPr/>
      <dgm:t>
        <a:bodyPr/>
        <a:lstStyle/>
        <a:p>
          <a:endParaRPr lang="zh-CN" altLang="en-US" sz="1800" b="1"/>
        </a:p>
      </dgm:t>
    </dgm:pt>
    <dgm:pt modelId="{731301EA-1181-4481-95BE-71BE756F3687}">
      <dgm:prSet phldrT="[文本]" custT="1"/>
      <dgm:spPr/>
      <dgm:t>
        <a:bodyPr/>
        <a:lstStyle/>
        <a:p>
          <a:r>
            <a:rPr lang="en-GB" altLang="en-US" sz="1800" b="1" dirty="0" smtClean="0"/>
            <a:t>4.3.3 stm32f1xx_hal.c</a:t>
          </a:r>
          <a:r>
            <a:rPr lang="zh-CN" altLang="en-US" sz="1800" b="1" dirty="0" smtClean="0"/>
            <a:t>和</a:t>
          </a:r>
          <a:r>
            <a:rPr lang="en-GB" altLang="en-US" sz="1800" b="1" dirty="0" smtClean="0"/>
            <a:t>stm32f1xx_hal.h</a:t>
          </a:r>
          <a:endParaRPr lang="zh-CN" altLang="en-US" sz="1800" b="1" dirty="0"/>
        </a:p>
      </dgm:t>
    </dgm:pt>
    <dgm:pt modelId="{209C4A59-D52C-42CE-8364-E213274DD82F}" type="parTrans" cxnId="{5A96F77D-A140-4764-B8E4-1C3F39D427BD}">
      <dgm:prSet/>
      <dgm:spPr/>
      <dgm:t>
        <a:bodyPr/>
        <a:lstStyle/>
        <a:p>
          <a:endParaRPr lang="zh-CN" altLang="en-US" sz="1800" b="1"/>
        </a:p>
      </dgm:t>
    </dgm:pt>
    <dgm:pt modelId="{5587EDD9-E711-4E7F-92EB-DE3B1BAA062C}" type="sibTrans" cxnId="{5A96F77D-A140-4764-B8E4-1C3F39D427BD}">
      <dgm:prSet/>
      <dgm:spPr/>
      <dgm:t>
        <a:bodyPr/>
        <a:lstStyle/>
        <a:p>
          <a:endParaRPr lang="zh-CN" altLang="en-US" sz="1800" b="1"/>
        </a:p>
      </dgm:t>
    </dgm:pt>
    <dgm:pt modelId="{DC4A6BCF-8A7E-4069-9103-6E946E085CA3}">
      <dgm:prSet phldrT="[文本]" custT="1"/>
      <dgm:spPr/>
      <dgm:t>
        <a:bodyPr/>
        <a:lstStyle/>
        <a:p>
          <a:r>
            <a:rPr lang="en-GB" altLang="en-US" sz="1800" b="1" dirty="0" smtClean="0"/>
            <a:t> 4.3.4 stm32f1xx_hal_gpio.c </a:t>
          </a:r>
          <a:r>
            <a:rPr lang="zh-CN" altLang="en-US" sz="1800" b="1" dirty="0" smtClean="0"/>
            <a:t>和</a:t>
          </a:r>
          <a:r>
            <a:rPr lang="en-GB" altLang="en-US" sz="1800" b="1" dirty="0" smtClean="0"/>
            <a:t>stm32f1xx_hal_gpio.h</a:t>
          </a:r>
          <a:endParaRPr lang="zh-CN" altLang="en-US" sz="1800" b="1" dirty="0"/>
        </a:p>
      </dgm:t>
    </dgm:pt>
    <dgm:pt modelId="{FB4C0306-2A78-4428-97B3-6DFE39F1EE9D}" type="parTrans" cxnId="{E534C491-B120-4A44-B0C0-DD99FED6634E}">
      <dgm:prSet/>
      <dgm:spPr/>
      <dgm:t>
        <a:bodyPr/>
        <a:lstStyle/>
        <a:p>
          <a:endParaRPr lang="zh-CN" altLang="en-US" sz="1800" b="1"/>
        </a:p>
      </dgm:t>
    </dgm:pt>
    <dgm:pt modelId="{A8897E67-6C5C-4FE9-A7BC-33EFC45D1F5A}" type="sibTrans" cxnId="{E534C491-B120-4A44-B0C0-DD99FED6634E}">
      <dgm:prSet/>
      <dgm:spPr/>
      <dgm:t>
        <a:bodyPr/>
        <a:lstStyle/>
        <a:p>
          <a:endParaRPr lang="zh-CN" altLang="en-US" sz="1800" b="1"/>
        </a:p>
      </dgm:t>
    </dgm:pt>
    <dgm:pt modelId="{1B351A89-8F8C-4EDA-BB41-864A34BD73CD}">
      <dgm:prSet custT="1"/>
      <dgm:spPr/>
      <dgm:t>
        <a:bodyPr/>
        <a:lstStyle/>
        <a:p>
          <a:r>
            <a:rPr lang="en-GB" altLang="en-US" sz="1800" b="1" dirty="0" smtClean="0"/>
            <a:t>4.3.2 stm32f103xe.h</a:t>
          </a:r>
          <a:endParaRPr lang="zh-CN" altLang="en-US" sz="1800" b="1" dirty="0"/>
        </a:p>
      </dgm:t>
    </dgm:pt>
    <dgm:pt modelId="{A6D6154A-2045-4023-AEAF-922AD79B2F1C}" type="parTrans" cxnId="{ED8A73D2-AF24-4BC6-8449-DF1E1C799AD8}">
      <dgm:prSet/>
      <dgm:spPr/>
      <dgm:t>
        <a:bodyPr/>
        <a:lstStyle/>
        <a:p>
          <a:endParaRPr lang="zh-CN" altLang="en-US" sz="1800" b="1"/>
        </a:p>
      </dgm:t>
    </dgm:pt>
    <dgm:pt modelId="{EA6BF353-83E9-4579-BE84-A5596BCA8F53}" type="sibTrans" cxnId="{ED8A73D2-AF24-4BC6-8449-DF1E1C799AD8}">
      <dgm:prSet/>
      <dgm:spPr/>
      <dgm:t>
        <a:bodyPr/>
        <a:lstStyle/>
        <a:p>
          <a:endParaRPr lang="zh-CN" altLang="en-US" sz="1800" b="1"/>
        </a:p>
      </dgm:t>
    </dgm:pt>
    <dgm:pt modelId="{628593CC-F25A-463E-9E54-7FB766FB76F9}" type="pres">
      <dgm:prSet presAssocID="{C9B72EFE-46D2-4FA8-9422-175185F44767}" presName="Name0" presStyleCnt="0">
        <dgm:presLayoutVars>
          <dgm:chMax val="7"/>
          <dgm:chPref val="7"/>
          <dgm:dir/>
        </dgm:presLayoutVars>
      </dgm:prSet>
      <dgm:spPr/>
      <dgm:t>
        <a:bodyPr/>
        <a:lstStyle/>
        <a:p>
          <a:endParaRPr lang="zh-CN" altLang="en-US"/>
        </a:p>
      </dgm:t>
    </dgm:pt>
    <dgm:pt modelId="{060A18FB-08E1-4034-80CD-F49A606197F9}" type="pres">
      <dgm:prSet presAssocID="{C9B72EFE-46D2-4FA8-9422-175185F44767}" presName="Name1" presStyleCnt="0"/>
      <dgm:spPr/>
    </dgm:pt>
    <dgm:pt modelId="{5B8E4ED0-17F3-41CD-B1B9-983387D7C1F7}" type="pres">
      <dgm:prSet presAssocID="{C9B72EFE-46D2-4FA8-9422-175185F44767}" presName="cycle" presStyleCnt="0"/>
      <dgm:spPr/>
    </dgm:pt>
    <dgm:pt modelId="{0F7AE104-0B3F-42A2-A3D6-960A3B788033}" type="pres">
      <dgm:prSet presAssocID="{C9B72EFE-46D2-4FA8-9422-175185F44767}" presName="srcNode" presStyleLbl="node1" presStyleIdx="0" presStyleCnt="4"/>
      <dgm:spPr/>
    </dgm:pt>
    <dgm:pt modelId="{F9D1B936-C86F-4A9E-9E98-C7DA2D773C88}" type="pres">
      <dgm:prSet presAssocID="{C9B72EFE-46D2-4FA8-9422-175185F44767}" presName="conn" presStyleLbl="parChTrans1D2" presStyleIdx="0" presStyleCnt="1"/>
      <dgm:spPr/>
      <dgm:t>
        <a:bodyPr/>
        <a:lstStyle/>
        <a:p>
          <a:endParaRPr lang="zh-CN" altLang="en-US"/>
        </a:p>
      </dgm:t>
    </dgm:pt>
    <dgm:pt modelId="{DE5B50B9-3E94-4EEF-ABFD-28CE51D39B6B}" type="pres">
      <dgm:prSet presAssocID="{C9B72EFE-46D2-4FA8-9422-175185F44767}" presName="extraNode" presStyleLbl="node1" presStyleIdx="0" presStyleCnt="4"/>
      <dgm:spPr/>
    </dgm:pt>
    <dgm:pt modelId="{D140E85B-7001-4B2A-8737-72FEF3F84E29}" type="pres">
      <dgm:prSet presAssocID="{C9B72EFE-46D2-4FA8-9422-175185F44767}" presName="dstNode" presStyleLbl="node1" presStyleIdx="0" presStyleCnt="4"/>
      <dgm:spPr/>
    </dgm:pt>
    <dgm:pt modelId="{7E9D395B-2F60-474D-9233-55D7823662B8}" type="pres">
      <dgm:prSet presAssocID="{C5160E41-8EF0-4CE7-A253-021AAB592D4F}" presName="text_1" presStyleLbl="node1" presStyleIdx="0" presStyleCnt="4">
        <dgm:presLayoutVars>
          <dgm:bulletEnabled val="1"/>
        </dgm:presLayoutVars>
      </dgm:prSet>
      <dgm:spPr/>
      <dgm:t>
        <a:bodyPr/>
        <a:lstStyle/>
        <a:p>
          <a:endParaRPr lang="zh-CN" altLang="en-US"/>
        </a:p>
      </dgm:t>
    </dgm:pt>
    <dgm:pt modelId="{D12B58DE-537A-4DB3-81D3-9B9004C6860F}" type="pres">
      <dgm:prSet presAssocID="{C5160E41-8EF0-4CE7-A253-021AAB592D4F}" presName="accent_1" presStyleCnt="0"/>
      <dgm:spPr/>
    </dgm:pt>
    <dgm:pt modelId="{412CF2C1-26C7-4DBC-84C3-53690705A93A}" type="pres">
      <dgm:prSet presAssocID="{C5160E41-8EF0-4CE7-A253-021AAB592D4F}" presName="accentRepeatNode" presStyleLbl="solidFgAcc1" presStyleIdx="0" presStyleCnt="4"/>
      <dgm:spPr/>
    </dgm:pt>
    <dgm:pt modelId="{B01A1551-7AC6-4BD2-8D31-66B84F40F9B8}" type="pres">
      <dgm:prSet presAssocID="{1B351A89-8F8C-4EDA-BB41-864A34BD73CD}" presName="text_2" presStyleLbl="node1" presStyleIdx="1" presStyleCnt="4">
        <dgm:presLayoutVars>
          <dgm:bulletEnabled val="1"/>
        </dgm:presLayoutVars>
      </dgm:prSet>
      <dgm:spPr/>
      <dgm:t>
        <a:bodyPr/>
        <a:lstStyle/>
        <a:p>
          <a:endParaRPr lang="zh-CN" altLang="en-US"/>
        </a:p>
      </dgm:t>
    </dgm:pt>
    <dgm:pt modelId="{5C82B08F-7E68-4EC6-83A1-FECBF4F897A6}" type="pres">
      <dgm:prSet presAssocID="{1B351A89-8F8C-4EDA-BB41-864A34BD73CD}" presName="accent_2" presStyleCnt="0"/>
      <dgm:spPr/>
    </dgm:pt>
    <dgm:pt modelId="{9C8392CB-7BE2-483A-BA60-BC07E6CFAD4E}" type="pres">
      <dgm:prSet presAssocID="{1B351A89-8F8C-4EDA-BB41-864A34BD73CD}" presName="accentRepeatNode" presStyleLbl="solidFgAcc1" presStyleIdx="1" presStyleCnt="4"/>
      <dgm:spPr/>
    </dgm:pt>
    <dgm:pt modelId="{60C45125-CC70-4946-AE06-4EA1A94BE4BB}" type="pres">
      <dgm:prSet presAssocID="{731301EA-1181-4481-95BE-71BE756F3687}" presName="text_3" presStyleLbl="node1" presStyleIdx="2" presStyleCnt="4">
        <dgm:presLayoutVars>
          <dgm:bulletEnabled val="1"/>
        </dgm:presLayoutVars>
      </dgm:prSet>
      <dgm:spPr/>
      <dgm:t>
        <a:bodyPr/>
        <a:lstStyle/>
        <a:p>
          <a:endParaRPr lang="zh-CN" altLang="en-US"/>
        </a:p>
      </dgm:t>
    </dgm:pt>
    <dgm:pt modelId="{3E46AA85-9A44-4BD7-9C12-56D030CB26B4}" type="pres">
      <dgm:prSet presAssocID="{731301EA-1181-4481-95BE-71BE756F3687}" presName="accent_3" presStyleCnt="0"/>
      <dgm:spPr/>
    </dgm:pt>
    <dgm:pt modelId="{FEFF1738-67B2-4C97-951C-3977475049E7}" type="pres">
      <dgm:prSet presAssocID="{731301EA-1181-4481-95BE-71BE756F3687}" presName="accentRepeatNode" presStyleLbl="solidFgAcc1" presStyleIdx="2" presStyleCnt="4"/>
      <dgm:spPr/>
    </dgm:pt>
    <dgm:pt modelId="{225DFC7F-CF3E-4982-AEC3-6D4BF71C3302}" type="pres">
      <dgm:prSet presAssocID="{DC4A6BCF-8A7E-4069-9103-6E946E085CA3}" presName="text_4" presStyleLbl="node1" presStyleIdx="3" presStyleCnt="4">
        <dgm:presLayoutVars>
          <dgm:bulletEnabled val="1"/>
        </dgm:presLayoutVars>
      </dgm:prSet>
      <dgm:spPr/>
      <dgm:t>
        <a:bodyPr/>
        <a:lstStyle/>
        <a:p>
          <a:endParaRPr lang="zh-CN" altLang="en-US"/>
        </a:p>
      </dgm:t>
    </dgm:pt>
    <dgm:pt modelId="{D1743AAD-2B99-4EB4-AD17-CDA28CC5BCFE}" type="pres">
      <dgm:prSet presAssocID="{DC4A6BCF-8A7E-4069-9103-6E946E085CA3}" presName="accent_4" presStyleCnt="0"/>
      <dgm:spPr/>
    </dgm:pt>
    <dgm:pt modelId="{2C9EEA1F-FEBC-41B3-9616-EF934FB6FD6E}" type="pres">
      <dgm:prSet presAssocID="{DC4A6BCF-8A7E-4069-9103-6E946E085CA3}" presName="accentRepeatNode" presStyleLbl="solidFgAcc1" presStyleIdx="3" presStyleCnt="4"/>
      <dgm:spPr/>
    </dgm:pt>
  </dgm:ptLst>
  <dgm:cxnLst>
    <dgm:cxn modelId="{E97E5875-D3FF-4A73-A467-873CF2C66A93}" type="presOf" srcId="{731301EA-1181-4481-95BE-71BE756F3687}" destId="{60C45125-CC70-4946-AE06-4EA1A94BE4BB}" srcOrd="0" destOrd="0" presId="urn:microsoft.com/office/officeart/2008/layout/VerticalCurvedList"/>
    <dgm:cxn modelId="{08498DB8-6C50-4C32-B319-B63903C3A4E6}" type="presOf" srcId="{C5160E41-8EF0-4CE7-A253-021AAB592D4F}" destId="{7E9D395B-2F60-474D-9233-55D7823662B8}" srcOrd="0" destOrd="0" presId="urn:microsoft.com/office/officeart/2008/layout/VerticalCurvedList"/>
    <dgm:cxn modelId="{EF2F8DF6-77FD-4B18-8D9D-26699539A183}" type="presOf" srcId="{DC4A6BCF-8A7E-4069-9103-6E946E085CA3}" destId="{225DFC7F-CF3E-4982-AEC3-6D4BF71C3302}" srcOrd="0" destOrd="0" presId="urn:microsoft.com/office/officeart/2008/layout/VerticalCurvedList"/>
    <dgm:cxn modelId="{402C7390-C920-4BAF-B795-79F085486B76}" type="presOf" srcId="{1B351A89-8F8C-4EDA-BB41-864A34BD73CD}" destId="{B01A1551-7AC6-4BD2-8D31-66B84F40F9B8}" srcOrd="0" destOrd="0" presId="urn:microsoft.com/office/officeart/2008/layout/VerticalCurvedList"/>
    <dgm:cxn modelId="{ED8A73D2-AF24-4BC6-8449-DF1E1C799AD8}" srcId="{C9B72EFE-46D2-4FA8-9422-175185F44767}" destId="{1B351A89-8F8C-4EDA-BB41-864A34BD73CD}" srcOrd="1" destOrd="0" parTransId="{A6D6154A-2045-4023-AEAF-922AD79B2F1C}" sibTransId="{EA6BF353-83E9-4579-BE84-A5596BCA8F53}"/>
    <dgm:cxn modelId="{E4B35051-CE85-4683-A0E1-2BEBCEDFDB6B}" srcId="{C9B72EFE-46D2-4FA8-9422-175185F44767}" destId="{C5160E41-8EF0-4CE7-A253-021AAB592D4F}" srcOrd="0" destOrd="0" parTransId="{448AD6E8-4753-41EC-954F-10B4D171E739}" sibTransId="{6C8115C4-1D4E-4DCD-86F4-4F10A2F886E7}"/>
    <dgm:cxn modelId="{E534C491-B120-4A44-B0C0-DD99FED6634E}" srcId="{C9B72EFE-46D2-4FA8-9422-175185F44767}" destId="{DC4A6BCF-8A7E-4069-9103-6E946E085CA3}" srcOrd="3" destOrd="0" parTransId="{FB4C0306-2A78-4428-97B3-6DFE39F1EE9D}" sibTransId="{A8897E67-6C5C-4FE9-A7BC-33EFC45D1F5A}"/>
    <dgm:cxn modelId="{5A96F77D-A140-4764-B8E4-1C3F39D427BD}" srcId="{C9B72EFE-46D2-4FA8-9422-175185F44767}" destId="{731301EA-1181-4481-95BE-71BE756F3687}" srcOrd="2" destOrd="0" parTransId="{209C4A59-D52C-42CE-8364-E213274DD82F}" sibTransId="{5587EDD9-E711-4E7F-92EB-DE3B1BAA062C}"/>
    <dgm:cxn modelId="{E7EE8C01-EF9A-4B9C-82F9-78E4832F2655}" type="presOf" srcId="{6C8115C4-1D4E-4DCD-86F4-4F10A2F886E7}" destId="{F9D1B936-C86F-4A9E-9E98-C7DA2D773C88}" srcOrd="0" destOrd="0" presId="urn:microsoft.com/office/officeart/2008/layout/VerticalCurvedList"/>
    <dgm:cxn modelId="{9BE00FEE-BF8D-4F2B-9A82-5F8C9FD504A4}" type="presOf" srcId="{C9B72EFE-46D2-4FA8-9422-175185F44767}" destId="{628593CC-F25A-463E-9E54-7FB766FB76F9}" srcOrd="0" destOrd="0" presId="urn:microsoft.com/office/officeart/2008/layout/VerticalCurvedList"/>
    <dgm:cxn modelId="{A5B6FB18-1AB2-4DD9-AE12-479531625A6D}" type="presParOf" srcId="{628593CC-F25A-463E-9E54-7FB766FB76F9}" destId="{060A18FB-08E1-4034-80CD-F49A606197F9}" srcOrd="0" destOrd="0" presId="urn:microsoft.com/office/officeart/2008/layout/VerticalCurvedList"/>
    <dgm:cxn modelId="{35B11282-81C8-4A28-9697-B5356D7003A0}" type="presParOf" srcId="{060A18FB-08E1-4034-80CD-F49A606197F9}" destId="{5B8E4ED0-17F3-41CD-B1B9-983387D7C1F7}" srcOrd="0" destOrd="0" presId="urn:microsoft.com/office/officeart/2008/layout/VerticalCurvedList"/>
    <dgm:cxn modelId="{35474199-070E-4E73-8E54-B773904CECEC}" type="presParOf" srcId="{5B8E4ED0-17F3-41CD-B1B9-983387D7C1F7}" destId="{0F7AE104-0B3F-42A2-A3D6-960A3B788033}" srcOrd="0" destOrd="0" presId="urn:microsoft.com/office/officeart/2008/layout/VerticalCurvedList"/>
    <dgm:cxn modelId="{F067BDE3-6589-4CE7-AB10-B05224802E10}" type="presParOf" srcId="{5B8E4ED0-17F3-41CD-B1B9-983387D7C1F7}" destId="{F9D1B936-C86F-4A9E-9E98-C7DA2D773C88}" srcOrd="1" destOrd="0" presId="urn:microsoft.com/office/officeart/2008/layout/VerticalCurvedList"/>
    <dgm:cxn modelId="{1649AB6E-D097-4AD2-AC99-5FD84E42199F}" type="presParOf" srcId="{5B8E4ED0-17F3-41CD-B1B9-983387D7C1F7}" destId="{DE5B50B9-3E94-4EEF-ABFD-28CE51D39B6B}" srcOrd="2" destOrd="0" presId="urn:microsoft.com/office/officeart/2008/layout/VerticalCurvedList"/>
    <dgm:cxn modelId="{B180702B-332B-4B14-853E-EBCCCA75D7EA}" type="presParOf" srcId="{5B8E4ED0-17F3-41CD-B1B9-983387D7C1F7}" destId="{D140E85B-7001-4B2A-8737-72FEF3F84E29}" srcOrd="3" destOrd="0" presId="urn:microsoft.com/office/officeart/2008/layout/VerticalCurvedList"/>
    <dgm:cxn modelId="{4BCF9622-C149-4AFF-9168-64BA63C96197}" type="presParOf" srcId="{060A18FB-08E1-4034-80CD-F49A606197F9}" destId="{7E9D395B-2F60-474D-9233-55D7823662B8}" srcOrd="1" destOrd="0" presId="urn:microsoft.com/office/officeart/2008/layout/VerticalCurvedList"/>
    <dgm:cxn modelId="{32709475-A7EC-432C-A41A-FE0A867C2B77}" type="presParOf" srcId="{060A18FB-08E1-4034-80CD-F49A606197F9}" destId="{D12B58DE-537A-4DB3-81D3-9B9004C6860F}" srcOrd="2" destOrd="0" presId="urn:microsoft.com/office/officeart/2008/layout/VerticalCurvedList"/>
    <dgm:cxn modelId="{8BB4991C-A8B7-4F67-A9AD-E8F7BA615FA9}" type="presParOf" srcId="{D12B58DE-537A-4DB3-81D3-9B9004C6860F}" destId="{412CF2C1-26C7-4DBC-84C3-53690705A93A}" srcOrd="0" destOrd="0" presId="urn:microsoft.com/office/officeart/2008/layout/VerticalCurvedList"/>
    <dgm:cxn modelId="{6521F81D-B3FD-47C5-B258-841A51C09A45}" type="presParOf" srcId="{060A18FB-08E1-4034-80CD-F49A606197F9}" destId="{B01A1551-7AC6-4BD2-8D31-66B84F40F9B8}" srcOrd="3" destOrd="0" presId="urn:microsoft.com/office/officeart/2008/layout/VerticalCurvedList"/>
    <dgm:cxn modelId="{5C11DB03-A540-4106-8412-D103C9A17BDA}" type="presParOf" srcId="{060A18FB-08E1-4034-80CD-F49A606197F9}" destId="{5C82B08F-7E68-4EC6-83A1-FECBF4F897A6}" srcOrd="4" destOrd="0" presId="urn:microsoft.com/office/officeart/2008/layout/VerticalCurvedList"/>
    <dgm:cxn modelId="{4FBDC225-31F5-49C1-8B66-FAB483748B41}" type="presParOf" srcId="{5C82B08F-7E68-4EC6-83A1-FECBF4F897A6}" destId="{9C8392CB-7BE2-483A-BA60-BC07E6CFAD4E}" srcOrd="0" destOrd="0" presId="urn:microsoft.com/office/officeart/2008/layout/VerticalCurvedList"/>
    <dgm:cxn modelId="{76214B8C-666A-4F2C-81E1-72D44ACEA236}" type="presParOf" srcId="{060A18FB-08E1-4034-80CD-F49A606197F9}" destId="{60C45125-CC70-4946-AE06-4EA1A94BE4BB}" srcOrd="5" destOrd="0" presId="urn:microsoft.com/office/officeart/2008/layout/VerticalCurvedList"/>
    <dgm:cxn modelId="{9F5999B9-4D12-4386-AA87-06F964764FFA}" type="presParOf" srcId="{060A18FB-08E1-4034-80CD-F49A606197F9}" destId="{3E46AA85-9A44-4BD7-9C12-56D030CB26B4}" srcOrd="6" destOrd="0" presId="urn:microsoft.com/office/officeart/2008/layout/VerticalCurvedList"/>
    <dgm:cxn modelId="{17EBBD2A-564B-4965-8BB3-F6CAFA1FD238}" type="presParOf" srcId="{3E46AA85-9A44-4BD7-9C12-56D030CB26B4}" destId="{FEFF1738-67B2-4C97-951C-3977475049E7}" srcOrd="0" destOrd="0" presId="urn:microsoft.com/office/officeart/2008/layout/VerticalCurvedList"/>
    <dgm:cxn modelId="{088BF782-47D4-412E-BF6C-C17965ECB831}" type="presParOf" srcId="{060A18FB-08E1-4034-80CD-F49A606197F9}" destId="{225DFC7F-CF3E-4982-AEC3-6D4BF71C3302}" srcOrd="7" destOrd="0" presId="urn:microsoft.com/office/officeart/2008/layout/VerticalCurvedList"/>
    <dgm:cxn modelId="{44C15553-5FFA-4B8A-B0DE-23A022411263}" type="presParOf" srcId="{060A18FB-08E1-4034-80CD-F49A606197F9}" destId="{D1743AAD-2B99-4EB4-AD17-CDA28CC5BCFE}" srcOrd="8" destOrd="0" presId="urn:microsoft.com/office/officeart/2008/layout/VerticalCurvedList"/>
    <dgm:cxn modelId="{3E6897B9-E703-49EF-ABAD-C3943844A312}" type="presParOf" srcId="{D1743AAD-2B99-4EB4-AD17-CDA28CC5BCFE}" destId="{2C9EEA1F-FEBC-41B3-9616-EF934FB6FD6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B0ABD4-928D-437A-AF23-D9F539A1191A}" type="doc">
      <dgm:prSet loTypeId="urn:microsoft.com/office/officeart/2009/3/layout/StepUpProcess" loCatId="process" qsTypeId="urn:microsoft.com/office/officeart/2005/8/quickstyle/simple2" qsCatId="simple" csTypeId="urn:microsoft.com/office/officeart/2005/8/colors/colorful5" csCatId="colorful" phldr="1"/>
      <dgm:spPr/>
      <dgm:t>
        <a:bodyPr/>
        <a:lstStyle/>
        <a:p>
          <a:endParaRPr lang="zh-CN" altLang="en-US"/>
        </a:p>
      </dgm:t>
    </dgm:pt>
    <dgm:pt modelId="{800D67C7-DB85-43A1-AD90-FCED3B9FC4EF}">
      <dgm:prSet custT="1"/>
      <dgm:spPr/>
      <dgm:t>
        <a:bodyPr/>
        <a:lstStyle/>
        <a:p>
          <a:pPr rtl="0"/>
          <a:r>
            <a:rPr lang="zh-CN" altLang="en-US" sz="1600" b="1" dirty="0" smtClean="0"/>
            <a:t>设备选型（根据具体的芯片型号包含对应芯片的头文件）</a:t>
          </a:r>
          <a:endParaRPr lang="zh-CN" altLang="en-US" sz="1600" b="1" dirty="0"/>
        </a:p>
      </dgm:t>
    </dgm:pt>
    <dgm:pt modelId="{DCF1E076-291E-40D0-965D-48AA8BEE9741}" type="parTrans" cxnId="{4C1E5781-BAC2-451A-8808-89349C68BF56}">
      <dgm:prSet/>
      <dgm:spPr/>
      <dgm:t>
        <a:bodyPr/>
        <a:lstStyle/>
        <a:p>
          <a:endParaRPr lang="zh-CN" altLang="en-US" sz="2400" b="1"/>
        </a:p>
      </dgm:t>
    </dgm:pt>
    <dgm:pt modelId="{F2BE0DC1-B6B6-47A3-8BBF-49FF5F4EE0E9}" type="sibTrans" cxnId="{4C1E5781-BAC2-451A-8808-89349C68BF56}">
      <dgm:prSet/>
      <dgm:spPr/>
      <dgm:t>
        <a:bodyPr/>
        <a:lstStyle/>
        <a:p>
          <a:endParaRPr lang="zh-CN" altLang="en-US" sz="2400" b="1"/>
        </a:p>
      </dgm:t>
    </dgm:pt>
    <dgm:pt modelId="{74B0813F-E555-4C57-846C-7E242B942AFC}">
      <dgm:prSet custT="1"/>
      <dgm:spPr/>
      <dgm:t>
        <a:bodyPr/>
        <a:lstStyle/>
        <a:p>
          <a:pPr rtl="0"/>
          <a:r>
            <a:rPr lang="zh-CN" altLang="en-US" sz="1600" b="1" dirty="0" smtClean="0"/>
            <a:t>是否使用基于</a:t>
          </a:r>
          <a:r>
            <a:rPr lang="en-US" altLang="zh-CN" sz="1600" b="1" dirty="0" smtClean="0"/>
            <a:t>HAL</a:t>
          </a:r>
          <a:r>
            <a:rPr lang="zh-CN" altLang="en-US" sz="1600" b="1" dirty="0" smtClean="0"/>
            <a:t>库的开发选择</a:t>
          </a:r>
          <a:endParaRPr lang="zh-CN" sz="1600" b="1" dirty="0"/>
        </a:p>
      </dgm:t>
    </dgm:pt>
    <dgm:pt modelId="{9F74F94B-80B0-4A4E-9751-5FA276CE4E60}" type="parTrans" cxnId="{B4D8E606-4869-45A1-BFA7-102F20C3B405}">
      <dgm:prSet/>
      <dgm:spPr/>
      <dgm:t>
        <a:bodyPr/>
        <a:lstStyle/>
        <a:p>
          <a:endParaRPr lang="zh-CN" altLang="en-US" sz="2400" b="1"/>
        </a:p>
      </dgm:t>
    </dgm:pt>
    <dgm:pt modelId="{100C1BC5-A63C-42C1-8EB3-E93CC6410FD5}" type="sibTrans" cxnId="{B4D8E606-4869-45A1-BFA7-102F20C3B405}">
      <dgm:prSet/>
      <dgm:spPr/>
      <dgm:t>
        <a:bodyPr/>
        <a:lstStyle/>
        <a:p>
          <a:endParaRPr lang="zh-CN" altLang="en-US" sz="2400" b="1"/>
        </a:p>
      </dgm:t>
    </dgm:pt>
    <dgm:pt modelId="{E51B61ED-3197-4D2A-ADA9-4AC1CBA2818B}">
      <dgm:prSet custT="1"/>
      <dgm:spPr/>
      <dgm:t>
        <a:bodyPr/>
        <a:lstStyle/>
        <a:p>
          <a:pPr rtl="0"/>
          <a:r>
            <a:rPr lang="zh-CN" altLang="en-US" sz="1600" b="1" dirty="0" smtClean="0"/>
            <a:t>对常用的布尔类型的变量进行了定义</a:t>
          </a:r>
          <a:endParaRPr lang="zh-CN" altLang="en-US" sz="1600" b="1" dirty="0"/>
        </a:p>
      </dgm:t>
    </dgm:pt>
    <dgm:pt modelId="{DE11FE84-9AF6-4223-8C60-6DDCB963052C}" type="parTrans" cxnId="{B91FC518-4776-4988-B5A2-4E9F3D706A76}">
      <dgm:prSet/>
      <dgm:spPr/>
      <dgm:t>
        <a:bodyPr/>
        <a:lstStyle/>
        <a:p>
          <a:endParaRPr lang="zh-CN" altLang="en-US" sz="2400" b="1"/>
        </a:p>
      </dgm:t>
    </dgm:pt>
    <dgm:pt modelId="{6BB41F51-5954-47EE-81F6-261E656B36FA}" type="sibTrans" cxnId="{B91FC518-4776-4988-B5A2-4E9F3D706A76}">
      <dgm:prSet/>
      <dgm:spPr/>
      <dgm:t>
        <a:bodyPr/>
        <a:lstStyle/>
        <a:p>
          <a:endParaRPr lang="zh-CN" altLang="en-US" sz="2400" b="1"/>
        </a:p>
      </dgm:t>
    </dgm:pt>
    <dgm:pt modelId="{9726BD47-860E-4AD3-A191-ECD3D139E679}" type="pres">
      <dgm:prSet presAssocID="{6AB0ABD4-928D-437A-AF23-D9F539A1191A}" presName="rootnode" presStyleCnt="0">
        <dgm:presLayoutVars>
          <dgm:chMax/>
          <dgm:chPref/>
          <dgm:dir/>
          <dgm:animLvl val="lvl"/>
        </dgm:presLayoutVars>
      </dgm:prSet>
      <dgm:spPr/>
      <dgm:t>
        <a:bodyPr/>
        <a:lstStyle/>
        <a:p>
          <a:endParaRPr lang="zh-CN" altLang="en-US"/>
        </a:p>
      </dgm:t>
    </dgm:pt>
    <dgm:pt modelId="{62F5F7E8-70E8-4FD2-8D33-83C8420D1157}" type="pres">
      <dgm:prSet presAssocID="{800D67C7-DB85-43A1-AD90-FCED3B9FC4EF}" presName="composite" presStyleCnt="0"/>
      <dgm:spPr/>
    </dgm:pt>
    <dgm:pt modelId="{607A5C8D-ED58-4770-BC05-D33C1157BA83}" type="pres">
      <dgm:prSet presAssocID="{800D67C7-DB85-43A1-AD90-FCED3B9FC4EF}" presName="LShape" presStyleLbl="alignNode1" presStyleIdx="0" presStyleCnt="5"/>
      <dgm:spPr/>
    </dgm:pt>
    <dgm:pt modelId="{69FC770B-1517-48E6-BD12-BFE70406F786}" type="pres">
      <dgm:prSet presAssocID="{800D67C7-DB85-43A1-AD90-FCED3B9FC4EF}" presName="ParentText" presStyleLbl="revTx" presStyleIdx="0" presStyleCnt="3">
        <dgm:presLayoutVars>
          <dgm:chMax val="0"/>
          <dgm:chPref val="0"/>
          <dgm:bulletEnabled val="1"/>
        </dgm:presLayoutVars>
      </dgm:prSet>
      <dgm:spPr/>
      <dgm:t>
        <a:bodyPr/>
        <a:lstStyle/>
        <a:p>
          <a:endParaRPr lang="zh-CN" altLang="en-US"/>
        </a:p>
      </dgm:t>
    </dgm:pt>
    <dgm:pt modelId="{8AE8FED1-A64E-4E03-9162-DF79A4B0D982}" type="pres">
      <dgm:prSet presAssocID="{800D67C7-DB85-43A1-AD90-FCED3B9FC4EF}" presName="Triangle" presStyleLbl="alignNode1" presStyleIdx="1" presStyleCnt="5"/>
      <dgm:spPr/>
    </dgm:pt>
    <dgm:pt modelId="{E4D716B1-3F19-4B47-ABC8-1E1D91320783}" type="pres">
      <dgm:prSet presAssocID="{F2BE0DC1-B6B6-47A3-8BBF-49FF5F4EE0E9}" presName="sibTrans" presStyleCnt="0"/>
      <dgm:spPr/>
    </dgm:pt>
    <dgm:pt modelId="{EEA766C4-81D1-4772-8183-18C06FB0A5E6}" type="pres">
      <dgm:prSet presAssocID="{F2BE0DC1-B6B6-47A3-8BBF-49FF5F4EE0E9}" presName="space" presStyleCnt="0"/>
      <dgm:spPr/>
    </dgm:pt>
    <dgm:pt modelId="{5B10754C-7943-4F38-919B-25FC1756A995}" type="pres">
      <dgm:prSet presAssocID="{74B0813F-E555-4C57-846C-7E242B942AFC}" presName="composite" presStyleCnt="0"/>
      <dgm:spPr/>
    </dgm:pt>
    <dgm:pt modelId="{CC185B67-7F8B-4C4F-8BDE-86A11DA3E294}" type="pres">
      <dgm:prSet presAssocID="{74B0813F-E555-4C57-846C-7E242B942AFC}" presName="LShape" presStyleLbl="alignNode1" presStyleIdx="2" presStyleCnt="5"/>
      <dgm:spPr/>
    </dgm:pt>
    <dgm:pt modelId="{062F1196-8948-487D-BF1B-4DD2BAF3082A}" type="pres">
      <dgm:prSet presAssocID="{74B0813F-E555-4C57-846C-7E242B942AFC}" presName="ParentText" presStyleLbl="revTx" presStyleIdx="1" presStyleCnt="3">
        <dgm:presLayoutVars>
          <dgm:chMax val="0"/>
          <dgm:chPref val="0"/>
          <dgm:bulletEnabled val="1"/>
        </dgm:presLayoutVars>
      </dgm:prSet>
      <dgm:spPr/>
      <dgm:t>
        <a:bodyPr/>
        <a:lstStyle/>
        <a:p>
          <a:endParaRPr lang="zh-CN" altLang="en-US"/>
        </a:p>
      </dgm:t>
    </dgm:pt>
    <dgm:pt modelId="{4CD04B98-3956-403C-A593-966EB2B6E239}" type="pres">
      <dgm:prSet presAssocID="{74B0813F-E555-4C57-846C-7E242B942AFC}" presName="Triangle" presStyleLbl="alignNode1" presStyleIdx="3" presStyleCnt="5"/>
      <dgm:spPr/>
    </dgm:pt>
    <dgm:pt modelId="{0C9B38FD-2D29-47DC-AF21-136025F74589}" type="pres">
      <dgm:prSet presAssocID="{100C1BC5-A63C-42C1-8EB3-E93CC6410FD5}" presName="sibTrans" presStyleCnt="0"/>
      <dgm:spPr/>
    </dgm:pt>
    <dgm:pt modelId="{F9C164EF-1052-4F75-8CDC-BA4FE7842B76}" type="pres">
      <dgm:prSet presAssocID="{100C1BC5-A63C-42C1-8EB3-E93CC6410FD5}" presName="space" presStyleCnt="0"/>
      <dgm:spPr/>
    </dgm:pt>
    <dgm:pt modelId="{ED390221-D302-40CC-88ED-0AE8A84F20E6}" type="pres">
      <dgm:prSet presAssocID="{E51B61ED-3197-4D2A-ADA9-4AC1CBA2818B}" presName="composite" presStyleCnt="0"/>
      <dgm:spPr/>
    </dgm:pt>
    <dgm:pt modelId="{209BEF6D-13A2-4556-A184-BBB39FE41AD3}" type="pres">
      <dgm:prSet presAssocID="{E51B61ED-3197-4D2A-ADA9-4AC1CBA2818B}" presName="LShape" presStyleLbl="alignNode1" presStyleIdx="4" presStyleCnt="5"/>
      <dgm:spPr/>
    </dgm:pt>
    <dgm:pt modelId="{D47620CA-CBAB-44C3-AA82-0CD774A5DFDF}" type="pres">
      <dgm:prSet presAssocID="{E51B61ED-3197-4D2A-ADA9-4AC1CBA2818B}" presName="ParentText" presStyleLbl="revTx" presStyleIdx="2" presStyleCnt="3">
        <dgm:presLayoutVars>
          <dgm:chMax val="0"/>
          <dgm:chPref val="0"/>
          <dgm:bulletEnabled val="1"/>
        </dgm:presLayoutVars>
      </dgm:prSet>
      <dgm:spPr/>
      <dgm:t>
        <a:bodyPr/>
        <a:lstStyle/>
        <a:p>
          <a:endParaRPr lang="zh-CN" altLang="en-US"/>
        </a:p>
      </dgm:t>
    </dgm:pt>
  </dgm:ptLst>
  <dgm:cxnLst>
    <dgm:cxn modelId="{B4D8E606-4869-45A1-BFA7-102F20C3B405}" srcId="{6AB0ABD4-928D-437A-AF23-D9F539A1191A}" destId="{74B0813F-E555-4C57-846C-7E242B942AFC}" srcOrd="1" destOrd="0" parTransId="{9F74F94B-80B0-4A4E-9751-5FA276CE4E60}" sibTransId="{100C1BC5-A63C-42C1-8EB3-E93CC6410FD5}"/>
    <dgm:cxn modelId="{0436DA53-063D-4B9C-8429-B2F99071EADC}" type="presOf" srcId="{6AB0ABD4-928D-437A-AF23-D9F539A1191A}" destId="{9726BD47-860E-4AD3-A191-ECD3D139E679}" srcOrd="0" destOrd="0" presId="urn:microsoft.com/office/officeart/2009/3/layout/StepUpProcess"/>
    <dgm:cxn modelId="{C1892CEB-FC66-4939-A22C-C10C4CE3AB30}" type="presOf" srcId="{E51B61ED-3197-4D2A-ADA9-4AC1CBA2818B}" destId="{D47620CA-CBAB-44C3-AA82-0CD774A5DFDF}" srcOrd="0" destOrd="0" presId="urn:microsoft.com/office/officeart/2009/3/layout/StepUpProcess"/>
    <dgm:cxn modelId="{1DAEBD14-749C-4FB4-9868-D4145D682AC0}" type="presOf" srcId="{74B0813F-E555-4C57-846C-7E242B942AFC}" destId="{062F1196-8948-487D-BF1B-4DD2BAF3082A}" srcOrd="0" destOrd="0" presId="urn:microsoft.com/office/officeart/2009/3/layout/StepUpProcess"/>
    <dgm:cxn modelId="{4C1E5781-BAC2-451A-8808-89349C68BF56}" srcId="{6AB0ABD4-928D-437A-AF23-D9F539A1191A}" destId="{800D67C7-DB85-43A1-AD90-FCED3B9FC4EF}" srcOrd="0" destOrd="0" parTransId="{DCF1E076-291E-40D0-965D-48AA8BEE9741}" sibTransId="{F2BE0DC1-B6B6-47A3-8BBF-49FF5F4EE0E9}"/>
    <dgm:cxn modelId="{C860FA19-5184-40FA-865A-3A8FDDD10A07}" type="presOf" srcId="{800D67C7-DB85-43A1-AD90-FCED3B9FC4EF}" destId="{69FC770B-1517-48E6-BD12-BFE70406F786}" srcOrd="0" destOrd="0" presId="urn:microsoft.com/office/officeart/2009/3/layout/StepUpProcess"/>
    <dgm:cxn modelId="{B91FC518-4776-4988-B5A2-4E9F3D706A76}" srcId="{6AB0ABD4-928D-437A-AF23-D9F539A1191A}" destId="{E51B61ED-3197-4D2A-ADA9-4AC1CBA2818B}" srcOrd="2" destOrd="0" parTransId="{DE11FE84-9AF6-4223-8C60-6DDCB963052C}" sibTransId="{6BB41F51-5954-47EE-81F6-261E656B36FA}"/>
    <dgm:cxn modelId="{2BD1B970-E19F-4A35-9D10-75CC58B06897}" type="presParOf" srcId="{9726BD47-860E-4AD3-A191-ECD3D139E679}" destId="{62F5F7E8-70E8-4FD2-8D33-83C8420D1157}" srcOrd="0" destOrd="0" presId="urn:microsoft.com/office/officeart/2009/3/layout/StepUpProcess"/>
    <dgm:cxn modelId="{F089D161-2E5C-43F7-8964-ED52F9E8D4F7}" type="presParOf" srcId="{62F5F7E8-70E8-4FD2-8D33-83C8420D1157}" destId="{607A5C8D-ED58-4770-BC05-D33C1157BA83}" srcOrd="0" destOrd="0" presId="urn:microsoft.com/office/officeart/2009/3/layout/StepUpProcess"/>
    <dgm:cxn modelId="{B96EB6E1-CEC5-436F-A435-0BFC9515343A}" type="presParOf" srcId="{62F5F7E8-70E8-4FD2-8D33-83C8420D1157}" destId="{69FC770B-1517-48E6-BD12-BFE70406F786}" srcOrd="1" destOrd="0" presId="urn:microsoft.com/office/officeart/2009/3/layout/StepUpProcess"/>
    <dgm:cxn modelId="{D8CCCE68-9935-4FD4-8FB0-96BFB19FF92B}" type="presParOf" srcId="{62F5F7E8-70E8-4FD2-8D33-83C8420D1157}" destId="{8AE8FED1-A64E-4E03-9162-DF79A4B0D982}" srcOrd="2" destOrd="0" presId="urn:microsoft.com/office/officeart/2009/3/layout/StepUpProcess"/>
    <dgm:cxn modelId="{5153F80E-EFB0-4796-B66D-9B5C39F4309F}" type="presParOf" srcId="{9726BD47-860E-4AD3-A191-ECD3D139E679}" destId="{E4D716B1-3F19-4B47-ABC8-1E1D91320783}" srcOrd="1" destOrd="0" presId="urn:microsoft.com/office/officeart/2009/3/layout/StepUpProcess"/>
    <dgm:cxn modelId="{1D1ADE51-E588-4A7B-A098-2D01126B1DDF}" type="presParOf" srcId="{E4D716B1-3F19-4B47-ABC8-1E1D91320783}" destId="{EEA766C4-81D1-4772-8183-18C06FB0A5E6}" srcOrd="0" destOrd="0" presId="urn:microsoft.com/office/officeart/2009/3/layout/StepUpProcess"/>
    <dgm:cxn modelId="{3254537C-B5EC-4510-A06D-47B5CCE13399}" type="presParOf" srcId="{9726BD47-860E-4AD3-A191-ECD3D139E679}" destId="{5B10754C-7943-4F38-919B-25FC1756A995}" srcOrd="2" destOrd="0" presId="urn:microsoft.com/office/officeart/2009/3/layout/StepUpProcess"/>
    <dgm:cxn modelId="{F0EECC52-2B85-45EF-8903-DF3D6C5A080E}" type="presParOf" srcId="{5B10754C-7943-4F38-919B-25FC1756A995}" destId="{CC185B67-7F8B-4C4F-8BDE-86A11DA3E294}" srcOrd="0" destOrd="0" presId="urn:microsoft.com/office/officeart/2009/3/layout/StepUpProcess"/>
    <dgm:cxn modelId="{60B26946-6C41-408C-83D7-F70936E095D6}" type="presParOf" srcId="{5B10754C-7943-4F38-919B-25FC1756A995}" destId="{062F1196-8948-487D-BF1B-4DD2BAF3082A}" srcOrd="1" destOrd="0" presId="urn:microsoft.com/office/officeart/2009/3/layout/StepUpProcess"/>
    <dgm:cxn modelId="{26B3C1A6-65E0-4C24-AF8C-F2247BB030AC}" type="presParOf" srcId="{5B10754C-7943-4F38-919B-25FC1756A995}" destId="{4CD04B98-3956-403C-A593-966EB2B6E239}" srcOrd="2" destOrd="0" presId="urn:microsoft.com/office/officeart/2009/3/layout/StepUpProcess"/>
    <dgm:cxn modelId="{41E062E7-D56A-47D3-A4AA-8431AF1367D2}" type="presParOf" srcId="{9726BD47-860E-4AD3-A191-ECD3D139E679}" destId="{0C9B38FD-2D29-47DC-AF21-136025F74589}" srcOrd="3" destOrd="0" presId="urn:microsoft.com/office/officeart/2009/3/layout/StepUpProcess"/>
    <dgm:cxn modelId="{D66D9E3B-2C44-4AF3-B9BF-8E59866F03C6}" type="presParOf" srcId="{0C9B38FD-2D29-47DC-AF21-136025F74589}" destId="{F9C164EF-1052-4F75-8CDC-BA4FE7842B76}" srcOrd="0" destOrd="0" presId="urn:microsoft.com/office/officeart/2009/3/layout/StepUpProcess"/>
    <dgm:cxn modelId="{31291F1D-E226-4B13-BF38-ACAF9B86210F}" type="presParOf" srcId="{9726BD47-860E-4AD3-A191-ECD3D139E679}" destId="{ED390221-D302-40CC-88ED-0AE8A84F20E6}" srcOrd="4" destOrd="0" presId="urn:microsoft.com/office/officeart/2009/3/layout/StepUpProcess"/>
    <dgm:cxn modelId="{610AA4BB-4FC7-4EF6-A4ED-6D49566345DF}" type="presParOf" srcId="{ED390221-D302-40CC-88ED-0AE8A84F20E6}" destId="{209BEF6D-13A2-4556-A184-BBB39FE41AD3}" srcOrd="0" destOrd="0" presId="urn:microsoft.com/office/officeart/2009/3/layout/StepUpProcess"/>
    <dgm:cxn modelId="{EEA10EDE-F5A6-4378-A509-7B135879BA15}" type="presParOf" srcId="{ED390221-D302-40CC-88ED-0AE8A84F20E6}" destId="{D47620CA-CBAB-44C3-AA82-0CD774A5DFDF}"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32B2D8-4370-4B58-9A69-B80F4EC7BE86}" type="doc">
      <dgm:prSet loTypeId="urn:microsoft.com/office/officeart/2005/8/layout/orgChart1" loCatId="hierarchy" qsTypeId="urn:microsoft.com/office/officeart/2005/8/quickstyle/simple2" qsCatId="simple" csTypeId="urn:microsoft.com/office/officeart/2005/8/colors/accent5_2" csCatId="accent5" phldr="1"/>
      <dgm:spPr/>
      <dgm:t>
        <a:bodyPr/>
        <a:lstStyle/>
        <a:p>
          <a:endParaRPr lang="zh-CN" altLang="en-US"/>
        </a:p>
      </dgm:t>
    </dgm:pt>
    <dgm:pt modelId="{8FF83B5B-6896-4D1E-9AFE-1EF4FA6C9DAA}">
      <dgm:prSet phldrT="[文本]" custT="1"/>
      <dgm:spPr/>
      <dgm:t>
        <a:bodyPr/>
        <a:lstStyle/>
        <a:p>
          <a:r>
            <a:rPr lang="en-US" altLang="zh-CN" sz="1800" b="1" dirty="0" smtClean="0"/>
            <a:t>stm32f1xx_hal.c</a:t>
          </a:r>
          <a:endParaRPr lang="zh-CN" altLang="en-US" sz="1800" b="1" dirty="0"/>
        </a:p>
      </dgm:t>
    </dgm:pt>
    <dgm:pt modelId="{D4D515AA-07E6-486B-B679-7EEB7CCFB0E6}" type="parTrans" cxnId="{C1C9FD79-0FC9-43B9-8D17-BA41FAA6C5A7}">
      <dgm:prSet/>
      <dgm:spPr/>
      <dgm:t>
        <a:bodyPr/>
        <a:lstStyle/>
        <a:p>
          <a:endParaRPr lang="zh-CN" altLang="en-US" sz="2400" b="1"/>
        </a:p>
      </dgm:t>
    </dgm:pt>
    <dgm:pt modelId="{5B615C52-A1B4-4390-81D4-B66D7E0C0F38}" type="sibTrans" cxnId="{C1C9FD79-0FC9-43B9-8D17-BA41FAA6C5A7}">
      <dgm:prSet/>
      <dgm:spPr/>
      <dgm:t>
        <a:bodyPr/>
        <a:lstStyle/>
        <a:p>
          <a:endParaRPr lang="zh-CN" altLang="en-US" sz="2400" b="1"/>
        </a:p>
      </dgm:t>
    </dgm:pt>
    <dgm:pt modelId="{62387824-FA43-43AF-8FA7-37C4EF9FDD17}">
      <dgm:prSet phldrT="[文本]" custT="1"/>
      <dgm:spPr/>
      <dgm:t>
        <a:bodyPr/>
        <a:lstStyle/>
        <a:p>
          <a:r>
            <a:rPr lang="en-US" altLang="zh-CN" sz="1800" b="1" dirty="0" smtClean="0"/>
            <a:t>HAL</a:t>
          </a:r>
          <a:r>
            <a:rPr lang="zh-CN" altLang="en-US" sz="1800" b="1" dirty="0" smtClean="0"/>
            <a:t>的初始化</a:t>
          </a:r>
          <a:endParaRPr lang="en-US" altLang="zh-CN" sz="1800" b="1" dirty="0" smtClean="0"/>
        </a:p>
        <a:p>
          <a:r>
            <a:rPr lang="zh-CN" altLang="en-US" sz="1800" b="1" dirty="0" smtClean="0"/>
            <a:t>函数</a:t>
          </a:r>
          <a:r>
            <a:rPr lang="en-US" altLang="zh-CN" sz="1800" b="1" dirty="0" err="1" smtClean="0"/>
            <a:t>HAL_Init</a:t>
          </a:r>
          <a:r>
            <a:rPr lang="en-US" altLang="zh-CN" sz="1800" b="1" dirty="0" smtClean="0"/>
            <a:t>()</a:t>
          </a:r>
          <a:endParaRPr lang="zh-CN" altLang="en-US" sz="1800" b="1" dirty="0"/>
        </a:p>
      </dgm:t>
    </dgm:pt>
    <dgm:pt modelId="{EA45F663-A27B-4D8B-A6FD-5E34AE3551CD}" type="parTrans" cxnId="{170941AA-BA53-4D30-8CFB-619CEE66EA5F}">
      <dgm:prSet/>
      <dgm:spPr/>
      <dgm:t>
        <a:bodyPr/>
        <a:lstStyle/>
        <a:p>
          <a:endParaRPr lang="zh-CN" altLang="en-US" sz="2400" b="1"/>
        </a:p>
      </dgm:t>
    </dgm:pt>
    <dgm:pt modelId="{A42260B6-8EA0-4797-AE32-9965A6B69573}" type="sibTrans" cxnId="{170941AA-BA53-4D30-8CFB-619CEE66EA5F}">
      <dgm:prSet/>
      <dgm:spPr/>
      <dgm:t>
        <a:bodyPr/>
        <a:lstStyle/>
        <a:p>
          <a:endParaRPr lang="zh-CN" altLang="en-US" sz="2400" b="1"/>
        </a:p>
      </dgm:t>
    </dgm:pt>
    <dgm:pt modelId="{E2607782-0C91-4BA6-938F-2E38208FD41E}">
      <dgm:prSet phldrT="[文本]" custT="1"/>
      <dgm:spPr/>
      <dgm:t>
        <a:bodyPr/>
        <a:lstStyle/>
        <a:p>
          <a:r>
            <a:rPr lang="zh-CN" altLang="en-US" sz="1800" b="1" dirty="0" smtClean="0"/>
            <a:t>复位函数</a:t>
          </a:r>
          <a:r>
            <a:rPr lang="en-US" altLang="zh-CN" sz="1800" b="1" dirty="0" err="1" smtClean="0"/>
            <a:t>HAL_DeInit</a:t>
          </a:r>
          <a:r>
            <a:rPr lang="en-US" altLang="zh-CN" sz="1800" b="1" dirty="0" smtClean="0"/>
            <a:t>()</a:t>
          </a:r>
          <a:endParaRPr lang="zh-CN" altLang="en-US" sz="1800" b="1" dirty="0"/>
        </a:p>
      </dgm:t>
    </dgm:pt>
    <dgm:pt modelId="{6DED4AEC-86EC-4AFE-8C21-291BF64C4714}" type="parTrans" cxnId="{211B982C-B875-493E-A0F5-687B7ED89AE6}">
      <dgm:prSet/>
      <dgm:spPr/>
      <dgm:t>
        <a:bodyPr/>
        <a:lstStyle/>
        <a:p>
          <a:endParaRPr lang="zh-CN" altLang="en-US" sz="2400" b="1"/>
        </a:p>
      </dgm:t>
    </dgm:pt>
    <dgm:pt modelId="{E74A765C-2F9D-40B5-AF82-70DFDC1657C9}" type="sibTrans" cxnId="{211B982C-B875-493E-A0F5-687B7ED89AE6}">
      <dgm:prSet/>
      <dgm:spPr/>
      <dgm:t>
        <a:bodyPr/>
        <a:lstStyle/>
        <a:p>
          <a:endParaRPr lang="zh-CN" altLang="en-US" sz="2400" b="1"/>
        </a:p>
      </dgm:t>
    </dgm:pt>
    <dgm:pt modelId="{109A827A-2355-4B0A-B0D8-921693716975}">
      <dgm:prSet phldrT="[文本]" custT="1"/>
      <dgm:spPr/>
      <dgm:t>
        <a:bodyPr/>
        <a:lstStyle/>
        <a:p>
          <a:r>
            <a:rPr lang="en-US" altLang="zh-CN" sz="1800" b="1" dirty="0" smtClean="0"/>
            <a:t>HAL</a:t>
          </a:r>
          <a:r>
            <a:rPr lang="zh-CN" altLang="en-US" sz="1800" b="1" dirty="0" smtClean="0"/>
            <a:t>通用的</a:t>
          </a:r>
          <a:endParaRPr lang="en-US" altLang="zh-CN" sz="1800" b="1" dirty="0" smtClean="0"/>
        </a:p>
        <a:p>
          <a:r>
            <a:rPr lang="en-US" altLang="zh-CN" sz="1800" b="1" dirty="0" smtClean="0"/>
            <a:t>API</a:t>
          </a:r>
          <a:r>
            <a:rPr lang="zh-CN" altLang="en-US" sz="1800" b="1" dirty="0" smtClean="0"/>
            <a:t>函数</a:t>
          </a:r>
          <a:endParaRPr lang="zh-CN" altLang="en-US" sz="1800" b="1" dirty="0"/>
        </a:p>
      </dgm:t>
    </dgm:pt>
    <dgm:pt modelId="{8A6EE3EB-ACCD-4F99-BB14-DBD8F8DD2237}" type="parTrans" cxnId="{F10189ED-43C4-4F77-A5B9-641B1D036F0F}">
      <dgm:prSet/>
      <dgm:spPr/>
      <dgm:t>
        <a:bodyPr/>
        <a:lstStyle/>
        <a:p>
          <a:endParaRPr lang="zh-CN" altLang="en-US" sz="2400" b="1"/>
        </a:p>
      </dgm:t>
    </dgm:pt>
    <dgm:pt modelId="{C863F3A2-276E-4855-8FEE-725ED8E2F068}" type="sibTrans" cxnId="{F10189ED-43C4-4F77-A5B9-641B1D036F0F}">
      <dgm:prSet/>
      <dgm:spPr/>
      <dgm:t>
        <a:bodyPr/>
        <a:lstStyle/>
        <a:p>
          <a:endParaRPr lang="zh-CN" altLang="en-US" sz="2400" b="1"/>
        </a:p>
      </dgm:t>
    </dgm:pt>
    <dgm:pt modelId="{874C4E57-B95C-4600-85CB-C5963729E212}">
      <dgm:prSet phldrT="[文本]" custT="1"/>
      <dgm:spPr/>
      <dgm:t>
        <a:bodyPr/>
        <a:lstStyle/>
        <a:p>
          <a:r>
            <a:rPr lang="en-US" altLang="zh-CN" sz="1800" b="1" dirty="0" smtClean="0"/>
            <a:t>……</a:t>
          </a:r>
          <a:endParaRPr lang="zh-CN" altLang="en-US" sz="1800" b="1" dirty="0"/>
        </a:p>
      </dgm:t>
    </dgm:pt>
    <dgm:pt modelId="{B27F1BC3-E650-4708-9DC4-A797D08A1F48}" type="parTrans" cxnId="{18C39056-6541-4B3A-916C-7AA93B5E3E56}">
      <dgm:prSet/>
      <dgm:spPr/>
      <dgm:t>
        <a:bodyPr/>
        <a:lstStyle/>
        <a:p>
          <a:endParaRPr lang="zh-CN" altLang="en-US" sz="2400" b="1"/>
        </a:p>
      </dgm:t>
    </dgm:pt>
    <dgm:pt modelId="{B39DB7A6-EA1D-477F-9C76-8CC3ED50231F}" type="sibTrans" cxnId="{18C39056-6541-4B3A-916C-7AA93B5E3E56}">
      <dgm:prSet/>
      <dgm:spPr/>
      <dgm:t>
        <a:bodyPr/>
        <a:lstStyle/>
        <a:p>
          <a:endParaRPr lang="zh-CN" altLang="en-US" sz="2400" b="1"/>
        </a:p>
      </dgm:t>
    </dgm:pt>
    <dgm:pt modelId="{92995524-04A6-4F51-8C80-60EFB642D1D7}" type="pres">
      <dgm:prSet presAssocID="{C432B2D8-4370-4B58-9A69-B80F4EC7BE86}" presName="hierChild1" presStyleCnt="0">
        <dgm:presLayoutVars>
          <dgm:orgChart val="1"/>
          <dgm:chPref val="1"/>
          <dgm:dir/>
          <dgm:animOne val="branch"/>
          <dgm:animLvl val="lvl"/>
          <dgm:resizeHandles/>
        </dgm:presLayoutVars>
      </dgm:prSet>
      <dgm:spPr/>
      <dgm:t>
        <a:bodyPr/>
        <a:lstStyle/>
        <a:p>
          <a:endParaRPr lang="zh-CN" altLang="en-US"/>
        </a:p>
      </dgm:t>
    </dgm:pt>
    <dgm:pt modelId="{1AD5917C-AE9E-446A-BF67-25F3571218E0}" type="pres">
      <dgm:prSet presAssocID="{8FF83B5B-6896-4D1E-9AFE-1EF4FA6C9DAA}" presName="hierRoot1" presStyleCnt="0">
        <dgm:presLayoutVars>
          <dgm:hierBranch val="init"/>
        </dgm:presLayoutVars>
      </dgm:prSet>
      <dgm:spPr/>
    </dgm:pt>
    <dgm:pt modelId="{091A0438-0242-4F66-9752-8562C41BCF9B}" type="pres">
      <dgm:prSet presAssocID="{8FF83B5B-6896-4D1E-9AFE-1EF4FA6C9DAA}" presName="rootComposite1" presStyleCnt="0"/>
      <dgm:spPr/>
    </dgm:pt>
    <dgm:pt modelId="{8461C707-AE10-467E-862D-471A359F2020}" type="pres">
      <dgm:prSet presAssocID="{8FF83B5B-6896-4D1E-9AFE-1EF4FA6C9DAA}" presName="rootText1" presStyleLbl="node0" presStyleIdx="0" presStyleCnt="1">
        <dgm:presLayoutVars>
          <dgm:chPref val="3"/>
        </dgm:presLayoutVars>
      </dgm:prSet>
      <dgm:spPr/>
      <dgm:t>
        <a:bodyPr/>
        <a:lstStyle/>
        <a:p>
          <a:endParaRPr lang="zh-CN" altLang="en-US"/>
        </a:p>
      </dgm:t>
    </dgm:pt>
    <dgm:pt modelId="{7F901B3F-AC99-4B14-AE11-18A89203F829}" type="pres">
      <dgm:prSet presAssocID="{8FF83B5B-6896-4D1E-9AFE-1EF4FA6C9DAA}" presName="rootConnector1" presStyleLbl="node1" presStyleIdx="0" presStyleCnt="0"/>
      <dgm:spPr/>
      <dgm:t>
        <a:bodyPr/>
        <a:lstStyle/>
        <a:p>
          <a:endParaRPr lang="zh-CN" altLang="en-US"/>
        </a:p>
      </dgm:t>
    </dgm:pt>
    <dgm:pt modelId="{071A6DFA-0447-472A-A28F-694FD577D093}" type="pres">
      <dgm:prSet presAssocID="{8FF83B5B-6896-4D1E-9AFE-1EF4FA6C9DAA}" presName="hierChild2" presStyleCnt="0"/>
      <dgm:spPr/>
    </dgm:pt>
    <dgm:pt modelId="{BE6B933E-AFA2-45A9-8E9F-E8AFD21067AD}" type="pres">
      <dgm:prSet presAssocID="{EA45F663-A27B-4D8B-A6FD-5E34AE3551CD}" presName="Name37" presStyleLbl="parChTrans1D2" presStyleIdx="0" presStyleCnt="4"/>
      <dgm:spPr/>
      <dgm:t>
        <a:bodyPr/>
        <a:lstStyle/>
        <a:p>
          <a:endParaRPr lang="zh-CN" altLang="en-US"/>
        </a:p>
      </dgm:t>
    </dgm:pt>
    <dgm:pt modelId="{D251E813-7083-469C-9803-BBC317B25FE1}" type="pres">
      <dgm:prSet presAssocID="{62387824-FA43-43AF-8FA7-37C4EF9FDD17}" presName="hierRoot2" presStyleCnt="0">
        <dgm:presLayoutVars>
          <dgm:hierBranch val="init"/>
        </dgm:presLayoutVars>
      </dgm:prSet>
      <dgm:spPr/>
    </dgm:pt>
    <dgm:pt modelId="{134AFBB2-8C26-4777-B10B-A74320EE05D6}" type="pres">
      <dgm:prSet presAssocID="{62387824-FA43-43AF-8FA7-37C4EF9FDD17}" presName="rootComposite" presStyleCnt="0"/>
      <dgm:spPr/>
    </dgm:pt>
    <dgm:pt modelId="{8205E78F-1720-4E6F-9500-25D99D2A5535}" type="pres">
      <dgm:prSet presAssocID="{62387824-FA43-43AF-8FA7-37C4EF9FDD17}" presName="rootText" presStyleLbl="node2" presStyleIdx="0" presStyleCnt="4">
        <dgm:presLayoutVars>
          <dgm:chPref val="3"/>
        </dgm:presLayoutVars>
      </dgm:prSet>
      <dgm:spPr/>
      <dgm:t>
        <a:bodyPr/>
        <a:lstStyle/>
        <a:p>
          <a:endParaRPr lang="zh-CN" altLang="en-US"/>
        </a:p>
      </dgm:t>
    </dgm:pt>
    <dgm:pt modelId="{45E691E3-8BA0-45F5-98CE-1324BD879838}" type="pres">
      <dgm:prSet presAssocID="{62387824-FA43-43AF-8FA7-37C4EF9FDD17}" presName="rootConnector" presStyleLbl="node2" presStyleIdx="0" presStyleCnt="4"/>
      <dgm:spPr/>
      <dgm:t>
        <a:bodyPr/>
        <a:lstStyle/>
        <a:p>
          <a:endParaRPr lang="zh-CN" altLang="en-US"/>
        </a:p>
      </dgm:t>
    </dgm:pt>
    <dgm:pt modelId="{8F38CB87-9F1F-4D3D-8AAD-056DF45B12A3}" type="pres">
      <dgm:prSet presAssocID="{62387824-FA43-43AF-8FA7-37C4EF9FDD17}" presName="hierChild4" presStyleCnt="0"/>
      <dgm:spPr/>
    </dgm:pt>
    <dgm:pt modelId="{329293AC-1FA9-44B0-97BC-52DE43A007A6}" type="pres">
      <dgm:prSet presAssocID="{62387824-FA43-43AF-8FA7-37C4EF9FDD17}" presName="hierChild5" presStyleCnt="0"/>
      <dgm:spPr/>
    </dgm:pt>
    <dgm:pt modelId="{4BC5AF09-9249-4AC4-9A1F-42968D34271C}" type="pres">
      <dgm:prSet presAssocID="{6DED4AEC-86EC-4AFE-8C21-291BF64C4714}" presName="Name37" presStyleLbl="parChTrans1D2" presStyleIdx="1" presStyleCnt="4"/>
      <dgm:spPr/>
      <dgm:t>
        <a:bodyPr/>
        <a:lstStyle/>
        <a:p>
          <a:endParaRPr lang="zh-CN" altLang="en-US"/>
        </a:p>
      </dgm:t>
    </dgm:pt>
    <dgm:pt modelId="{CE649476-8D42-4AA2-B6D7-252A0648D23F}" type="pres">
      <dgm:prSet presAssocID="{E2607782-0C91-4BA6-938F-2E38208FD41E}" presName="hierRoot2" presStyleCnt="0">
        <dgm:presLayoutVars>
          <dgm:hierBranch val="init"/>
        </dgm:presLayoutVars>
      </dgm:prSet>
      <dgm:spPr/>
    </dgm:pt>
    <dgm:pt modelId="{751B08B4-3CD1-4B88-BEE4-C266423766C0}" type="pres">
      <dgm:prSet presAssocID="{E2607782-0C91-4BA6-938F-2E38208FD41E}" presName="rootComposite" presStyleCnt="0"/>
      <dgm:spPr/>
    </dgm:pt>
    <dgm:pt modelId="{6693CEA8-7BA1-4ABD-8D38-07CB64A1939A}" type="pres">
      <dgm:prSet presAssocID="{E2607782-0C91-4BA6-938F-2E38208FD41E}" presName="rootText" presStyleLbl="node2" presStyleIdx="1" presStyleCnt="4">
        <dgm:presLayoutVars>
          <dgm:chPref val="3"/>
        </dgm:presLayoutVars>
      </dgm:prSet>
      <dgm:spPr/>
      <dgm:t>
        <a:bodyPr/>
        <a:lstStyle/>
        <a:p>
          <a:endParaRPr lang="zh-CN" altLang="en-US"/>
        </a:p>
      </dgm:t>
    </dgm:pt>
    <dgm:pt modelId="{B691591D-BDEF-44FD-B0CB-9448C9A81FC9}" type="pres">
      <dgm:prSet presAssocID="{E2607782-0C91-4BA6-938F-2E38208FD41E}" presName="rootConnector" presStyleLbl="node2" presStyleIdx="1" presStyleCnt="4"/>
      <dgm:spPr/>
      <dgm:t>
        <a:bodyPr/>
        <a:lstStyle/>
        <a:p>
          <a:endParaRPr lang="zh-CN" altLang="en-US"/>
        </a:p>
      </dgm:t>
    </dgm:pt>
    <dgm:pt modelId="{86659AF6-E414-4326-A8D2-48843F018DB4}" type="pres">
      <dgm:prSet presAssocID="{E2607782-0C91-4BA6-938F-2E38208FD41E}" presName="hierChild4" presStyleCnt="0"/>
      <dgm:spPr/>
    </dgm:pt>
    <dgm:pt modelId="{0C78C68F-E44C-47C9-9EAB-8C5761083599}" type="pres">
      <dgm:prSet presAssocID="{E2607782-0C91-4BA6-938F-2E38208FD41E}" presName="hierChild5" presStyleCnt="0"/>
      <dgm:spPr/>
    </dgm:pt>
    <dgm:pt modelId="{045ED4AC-5F8A-45B3-86CF-B01F340CE2D5}" type="pres">
      <dgm:prSet presAssocID="{8A6EE3EB-ACCD-4F99-BB14-DBD8F8DD2237}" presName="Name37" presStyleLbl="parChTrans1D2" presStyleIdx="2" presStyleCnt="4"/>
      <dgm:spPr/>
      <dgm:t>
        <a:bodyPr/>
        <a:lstStyle/>
        <a:p>
          <a:endParaRPr lang="zh-CN" altLang="en-US"/>
        </a:p>
      </dgm:t>
    </dgm:pt>
    <dgm:pt modelId="{3D5B67F8-F391-458A-930F-2AD9EDAE1B7C}" type="pres">
      <dgm:prSet presAssocID="{109A827A-2355-4B0A-B0D8-921693716975}" presName="hierRoot2" presStyleCnt="0">
        <dgm:presLayoutVars>
          <dgm:hierBranch val="init"/>
        </dgm:presLayoutVars>
      </dgm:prSet>
      <dgm:spPr/>
    </dgm:pt>
    <dgm:pt modelId="{A74FFFC6-5C93-4E8A-B3CE-868D3790FEA3}" type="pres">
      <dgm:prSet presAssocID="{109A827A-2355-4B0A-B0D8-921693716975}" presName="rootComposite" presStyleCnt="0"/>
      <dgm:spPr/>
    </dgm:pt>
    <dgm:pt modelId="{3C1406D1-890C-4B7C-965F-0C3D0A683D9E}" type="pres">
      <dgm:prSet presAssocID="{109A827A-2355-4B0A-B0D8-921693716975}" presName="rootText" presStyleLbl="node2" presStyleIdx="2" presStyleCnt="4">
        <dgm:presLayoutVars>
          <dgm:chPref val="3"/>
        </dgm:presLayoutVars>
      </dgm:prSet>
      <dgm:spPr/>
      <dgm:t>
        <a:bodyPr/>
        <a:lstStyle/>
        <a:p>
          <a:endParaRPr lang="zh-CN" altLang="en-US"/>
        </a:p>
      </dgm:t>
    </dgm:pt>
    <dgm:pt modelId="{FC19E36D-2088-4B48-AB64-46B031DF0298}" type="pres">
      <dgm:prSet presAssocID="{109A827A-2355-4B0A-B0D8-921693716975}" presName="rootConnector" presStyleLbl="node2" presStyleIdx="2" presStyleCnt="4"/>
      <dgm:spPr/>
      <dgm:t>
        <a:bodyPr/>
        <a:lstStyle/>
        <a:p>
          <a:endParaRPr lang="zh-CN" altLang="en-US"/>
        </a:p>
      </dgm:t>
    </dgm:pt>
    <dgm:pt modelId="{18D2AF82-B0A8-4C60-AA87-09AA19EC9C62}" type="pres">
      <dgm:prSet presAssocID="{109A827A-2355-4B0A-B0D8-921693716975}" presName="hierChild4" presStyleCnt="0"/>
      <dgm:spPr/>
    </dgm:pt>
    <dgm:pt modelId="{EE090E21-4341-48EF-B6A4-DD992E40CEEB}" type="pres">
      <dgm:prSet presAssocID="{109A827A-2355-4B0A-B0D8-921693716975}" presName="hierChild5" presStyleCnt="0"/>
      <dgm:spPr/>
    </dgm:pt>
    <dgm:pt modelId="{F92FE54D-8060-4389-B7FD-2BEF839176AA}" type="pres">
      <dgm:prSet presAssocID="{B27F1BC3-E650-4708-9DC4-A797D08A1F48}" presName="Name37" presStyleLbl="parChTrans1D2" presStyleIdx="3" presStyleCnt="4"/>
      <dgm:spPr/>
      <dgm:t>
        <a:bodyPr/>
        <a:lstStyle/>
        <a:p>
          <a:endParaRPr lang="zh-CN" altLang="en-US"/>
        </a:p>
      </dgm:t>
    </dgm:pt>
    <dgm:pt modelId="{E0A68EE6-997E-4678-A0EE-9A0479E1BB32}" type="pres">
      <dgm:prSet presAssocID="{874C4E57-B95C-4600-85CB-C5963729E212}" presName="hierRoot2" presStyleCnt="0">
        <dgm:presLayoutVars>
          <dgm:hierBranch val="init"/>
        </dgm:presLayoutVars>
      </dgm:prSet>
      <dgm:spPr/>
    </dgm:pt>
    <dgm:pt modelId="{2D55E332-0BB6-44EA-B4AA-7F0AC5D3234C}" type="pres">
      <dgm:prSet presAssocID="{874C4E57-B95C-4600-85CB-C5963729E212}" presName="rootComposite" presStyleCnt="0"/>
      <dgm:spPr/>
    </dgm:pt>
    <dgm:pt modelId="{9CF3883A-4708-4476-9BF4-5A5F80A80E49}" type="pres">
      <dgm:prSet presAssocID="{874C4E57-B95C-4600-85CB-C5963729E212}" presName="rootText" presStyleLbl="node2" presStyleIdx="3" presStyleCnt="4">
        <dgm:presLayoutVars>
          <dgm:chPref val="3"/>
        </dgm:presLayoutVars>
      </dgm:prSet>
      <dgm:spPr/>
      <dgm:t>
        <a:bodyPr/>
        <a:lstStyle/>
        <a:p>
          <a:endParaRPr lang="zh-CN" altLang="en-US"/>
        </a:p>
      </dgm:t>
    </dgm:pt>
    <dgm:pt modelId="{324E0B06-E362-4414-8194-2C80FEB95A7D}" type="pres">
      <dgm:prSet presAssocID="{874C4E57-B95C-4600-85CB-C5963729E212}" presName="rootConnector" presStyleLbl="node2" presStyleIdx="3" presStyleCnt="4"/>
      <dgm:spPr/>
      <dgm:t>
        <a:bodyPr/>
        <a:lstStyle/>
        <a:p>
          <a:endParaRPr lang="zh-CN" altLang="en-US"/>
        </a:p>
      </dgm:t>
    </dgm:pt>
    <dgm:pt modelId="{2E8CCC5C-E46D-4CF3-AEB3-55DC4D9CC89A}" type="pres">
      <dgm:prSet presAssocID="{874C4E57-B95C-4600-85CB-C5963729E212}" presName="hierChild4" presStyleCnt="0"/>
      <dgm:spPr/>
    </dgm:pt>
    <dgm:pt modelId="{881E2773-34EF-4766-9756-A76766B33A78}" type="pres">
      <dgm:prSet presAssocID="{874C4E57-B95C-4600-85CB-C5963729E212}" presName="hierChild5" presStyleCnt="0"/>
      <dgm:spPr/>
    </dgm:pt>
    <dgm:pt modelId="{0EC72826-9D52-4113-B0A9-1715B6B920BD}" type="pres">
      <dgm:prSet presAssocID="{8FF83B5B-6896-4D1E-9AFE-1EF4FA6C9DAA}" presName="hierChild3" presStyleCnt="0"/>
      <dgm:spPr/>
    </dgm:pt>
  </dgm:ptLst>
  <dgm:cxnLst>
    <dgm:cxn modelId="{B7A66400-0CC6-442D-B62B-887F63C6D3D7}" type="presOf" srcId="{109A827A-2355-4B0A-B0D8-921693716975}" destId="{FC19E36D-2088-4B48-AB64-46B031DF0298}" srcOrd="1" destOrd="0" presId="urn:microsoft.com/office/officeart/2005/8/layout/orgChart1"/>
    <dgm:cxn modelId="{C1C9FD79-0FC9-43B9-8D17-BA41FAA6C5A7}" srcId="{C432B2D8-4370-4B58-9A69-B80F4EC7BE86}" destId="{8FF83B5B-6896-4D1E-9AFE-1EF4FA6C9DAA}" srcOrd="0" destOrd="0" parTransId="{D4D515AA-07E6-486B-B679-7EEB7CCFB0E6}" sibTransId="{5B615C52-A1B4-4390-81D4-B66D7E0C0F38}"/>
    <dgm:cxn modelId="{20CF9C34-D053-4F81-9C78-F0C6E7B4136B}" type="presOf" srcId="{874C4E57-B95C-4600-85CB-C5963729E212}" destId="{324E0B06-E362-4414-8194-2C80FEB95A7D}" srcOrd="1" destOrd="0" presId="urn:microsoft.com/office/officeart/2005/8/layout/orgChart1"/>
    <dgm:cxn modelId="{0810CEDE-D2D2-45ED-84B3-1266CF957E6B}" type="presOf" srcId="{109A827A-2355-4B0A-B0D8-921693716975}" destId="{3C1406D1-890C-4B7C-965F-0C3D0A683D9E}" srcOrd="0" destOrd="0" presId="urn:microsoft.com/office/officeart/2005/8/layout/orgChart1"/>
    <dgm:cxn modelId="{9EF3461A-30FA-451C-A4E7-87FBAF8BD4CB}" type="presOf" srcId="{B27F1BC3-E650-4708-9DC4-A797D08A1F48}" destId="{F92FE54D-8060-4389-B7FD-2BEF839176AA}" srcOrd="0" destOrd="0" presId="urn:microsoft.com/office/officeart/2005/8/layout/orgChart1"/>
    <dgm:cxn modelId="{51E27F29-7ED6-4BA7-8A56-97EC7191294F}" type="presOf" srcId="{874C4E57-B95C-4600-85CB-C5963729E212}" destId="{9CF3883A-4708-4476-9BF4-5A5F80A80E49}" srcOrd="0" destOrd="0" presId="urn:microsoft.com/office/officeart/2005/8/layout/orgChart1"/>
    <dgm:cxn modelId="{F10189ED-43C4-4F77-A5B9-641B1D036F0F}" srcId="{8FF83B5B-6896-4D1E-9AFE-1EF4FA6C9DAA}" destId="{109A827A-2355-4B0A-B0D8-921693716975}" srcOrd="2" destOrd="0" parTransId="{8A6EE3EB-ACCD-4F99-BB14-DBD8F8DD2237}" sibTransId="{C863F3A2-276E-4855-8FEE-725ED8E2F068}"/>
    <dgm:cxn modelId="{18C39056-6541-4B3A-916C-7AA93B5E3E56}" srcId="{8FF83B5B-6896-4D1E-9AFE-1EF4FA6C9DAA}" destId="{874C4E57-B95C-4600-85CB-C5963729E212}" srcOrd="3" destOrd="0" parTransId="{B27F1BC3-E650-4708-9DC4-A797D08A1F48}" sibTransId="{B39DB7A6-EA1D-477F-9C76-8CC3ED50231F}"/>
    <dgm:cxn modelId="{A30E13E6-0643-49C2-B720-70B358039A93}" type="presOf" srcId="{EA45F663-A27B-4D8B-A6FD-5E34AE3551CD}" destId="{BE6B933E-AFA2-45A9-8E9F-E8AFD21067AD}" srcOrd="0" destOrd="0" presId="urn:microsoft.com/office/officeart/2005/8/layout/orgChart1"/>
    <dgm:cxn modelId="{70A6DD0C-DDA4-4617-9BA8-6AADCF7ABCB9}" type="presOf" srcId="{8FF83B5B-6896-4D1E-9AFE-1EF4FA6C9DAA}" destId="{7F901B3F-AC99-4B14-AE11-18A89203F829}" srcOrd="1" destOrd="0" presId="urn:microsoft.com/office/officeart/2005/8/layout/orgChart1"/>
    <dgm:cxn modelId="{BB387E4F-3625-4133-B419-3202526EE7EA}" type="presOf" srcId="{8A6EE3EB-ACCD-4F99-BB14-DBD8F8DD2237}" destId="{045ED4AC-5F8A-45B3-86CF-B01F340CE2D5}" srcOrd="0" destOrd="0" presId="urn:microsoft.com/office/officeart/2005/8/layout/orgChart1"/>
    <dgm:cxn modelId="{B966FC6C-4E54-4B21-B82B-0DACB38A3F45}" type="presOf" srcId="{E2607782-0C91-4BA6-938F-2E38208FD41E}" destId="{B691591D-BDEF-44FD-B0CB-9448C9A81FC9}" srcOrd="1" destOrd="0" presId="urn:microsoft.com/office/officeart/2005/8/layout/orgChart1"/>
    <dgm:cxn modelId="{8724DCB6-AF6C-442C-A87F-C019A85DF413}" type="presOf" srcId="{6DED4AEC-86EC-4AFE-8C21-291BF64C4714}" destId="{4BC5AF09-9249-4AC4-9A1F-42968D34271C}" srcOrd="0" destOrd="0" presId="urn:microsoft.com/office/officeart/2005/8/layout/orgChart1"/>
    <dgm:cxn modelId="{6BA8ECE3-6EA8-4218-8220-FE141B501DFE}" type="presOf" srcId="{8FF83B5B-6896-4D1E-9AFE-1EF4FA6C9DAA}" destId="{8461C707-AE10-467E-862D-471A359F2020}" srcOrd="0" destOrd="0" presId="urn:microsoft.com/office/officeart/2005/8/layout/orgChart1"/>
    <dgm:cxn modelId="{3D38EACB-783A-48BD-AC37-1CB7C9C53FB0}" type="presOf" srcId="{62387824-FA43-43AF-8FA7-37C4EF9FDD17}" destId="{8205E78F-1720-4E6F-9500-25D99D2A5535}" srcOrd="0" destOrd="0" presId="urn:microsoft.com/office/officeart/2005/8/layout/orgChart1"/>
    <dgm:cxn modelId="{211B982C-B875-493E-A0F5-687B7ED89AE6}" srcId="{8FF83B5B-6896-4D1E-9AFE-1EF4FA6C9DAA}" destId="{E2607782-0C91-4BA6-938F-2E38208FD41E}" srcOrd="1" destOrd="0" parTransId="{6DED4AEC-86EC-4AFE-8C21-291BF64C4714}" sibTransId="{E74A765C-2F9D-40B5-AF82-70DFDC1657C9}"/>
    <dgm:cxn modelId="{F0225A3F-CB6C-44F6-B93C-E06C570A67A4}" type="presOf" srcId="{62387824-FA43-43AF-8FA7-37C4EF9FDD17}" destId="{45E691E3-8BA0-45F5-98CE-1324BD879838}" srcOrd="1" destOrd="0" presId="urn:microsoft.com/office/officeart/2005/8/layout/orgChart1"/>
    <dgm:cxn modelId="{3D75965C-3AE0-4F10-9787-EA4E11B23A0C}" type="presOf" srcId="{C432B2D8-4370-4B58-9A69-B80F4EC7BE86}" destId="{92995524-04A6-4F51-8C80-60EFB642D1D7}" srcOrd="0" destOrd="0" presId="urn:microsoft.com/office/officeart/2005/8/layout/orgChart1"/>
    <dgm:cxn modelId="{170941AA-BA53-4D30-8CFB-619CEE66EA5F}" srcId="{8FF83B5B-6896-4D1E-9AFE-1EF4FA6C9DAA}" destId="{62387824-FA43-43AF-8FA7-37C4EF9FDD17}" srcOrd="0" destOrd="0" parTransId="{EA45F663-A27B-4D8B-A6FD-5E34AE3551CD}" sibTransId="{A42260B6-8EA0-4797-AE32-9965A6B69573}"/>
    <dgm:cxn modelId="{37325B38-5019-4A52-941A-E67B1DC168B3}" type="presOf" srcId="{E2607782-0C91-4BA6-938F-2E38208FD41E}" destId="{6693CEA8-7BA1-4ABD-8D38-07CB64A1939A}" srcOrd="0" destOrd="0" presId="urn:microsoft.com/office/officeart/2005/8/layout/orgChart1"/>
    <dgm:cxn modelId="{67D5FE6D-0610-4938-AF5A-321DBFB06820}" type="presParOf" srcId="{92995524-04A6-4F51-8C80-60EFB642D1D7}" destId="{1AD5917C-AE9E-446A-BF67-25F3571218E0}" srcOrd="0" destOrd="0" presId="urn:microsoft.com/office/officeart/2005/8/layout/orgChart1"/>
    <dgm:cxn modelId="{4D23FB18-0B70-41CC-891F-7CF8BE2E1D09}" type="presParOf" srcId="{1AD5917C-AE9E-446A-BF67-25F3571218E0}" destId="{091A0438-0242-4F66-9752-8562C41BCF9B}" srcOrd="0" destOrd="0" presId="urn:microsoft.com/office/officeart/2005/8/layout/orgChart1"/>
    <dgm:cxn modelId="{DBEC2032-B18E-413C-BC67-64772D9E3350}" type="presParOf" srcId="{091A0438-0242-4F66-9752-8562C41BCF9B}" destId="{8461C707-AE10-467E-862D-471A359F2020}" srcOrd="0" destOrd="0" presId="urn:microsoft.com/office/officeart/2005/8/layout/orgChart1"/>
    <dgm:cxn modelId="{15ED9C29-9518-47CD-9F1F-A991EC0DDC32}" type="presParOf" srcId="{091A0438-0242-4F66-9752-8562C41BCF9B}" destId="{7F901B3F-AC99-4B14-AE11-18A89203F829}" srcOrd="1" destOrd="0" presId="urn:microsoft.com/office/officeart/2005/8/layout/orgChart1"/>
    <dgm:cxn modelId="{B01F1D37-3CD1-4D84-95F7-F7663999E43F}" type="presParOf" srcId="{1AD5917C-AE9E-446A-BF67-25F3571218E0}" destId="{071A6DFA-0447-472A-A28F-694FD577D093}" srcOrd="1" destOrd="0" presId="urn:microsoft.com/office/officeart/2005/8/layout/orgChart1"/>
    <dgm:cxn modelId="{9C77C53E-830A-41E0-A97A-1B9A8105886C}" type="presParOf" srcId="{071A6DFA-0447-472A-A28F-694FD577D093}" destId="{BE6B933E-AFA2-45A9-8E9F-E8AFD21067AD}" srcOrd="0" destOrd="0" presId="urn:microsoft.com/office/officeart/2005/8/layout/orgChart1"/>
    <dgm:cxn modelId="{3B497A2D-0FFA-4001-BC97-5FB006491AED}" type="presParOf" srcId="{071A6DFA-0447-472A-A28F-694FD577D093}" destId="{D251E813-7083-469C-9803-BBC317B25FE1}" srcOrd="1" destOrd="0" presId="urn:microsoft.com/office/officeart/2005/8/layout/orgChart1"/>
    <dgm:cxn modelId="{57E3A5CF-30C1-40D1-83D6-05554CCF237D}" type="presParOf" srcId="{D251E813-7083-469C-9803-BBC317B25FE1}" destId="{134AFBB2-8C26-4777-B10B-A74320EE05D6}" srcOrd="0" destOrd="0" presId="urn:microsoft.com/office/officeart/2005/8/layout/orgChart1"/>
    <dgm:cxn modelId="{815DEFDE-6704-4E0F-A41F-D07D6347D783}" type="presParOf" srcId="{134AFBB2-8C26-4777-B10B-A74320EE05D6}" destId="{8205E78F-1720-4E6F-9500-25D99D2A5535}" srcOrd="0" destOrd="0" presId="urn:microsoft.com/office/officeart/2005/8/layout/orgChart1"/>
    <dgm:cxn modelId="{453C6309-2B63-4E11-8905-0E7C751E1261}" type="presParOf" srcId="{134AFBB2-8C26-4777-B10B-A74320EE05D6}" destId="{45E691E3-8BA0-45F5-98CE-1324BD879838}" srcOrd="1" destOrd="0" presId="urn:microsoft.com/office/officeart/2005/8/layout/orgChart1"/>
    <dgm:cxn modelId="{788DD0C2-4FAB-4CB0-BEFC-350FF2AFA10C}" type="presParOf" srcId="{D251E813-7083-469C-9803-BBC317B25FE1}" destId="{8F38CB87-9F1F-4D3D-8AAD-056DF45B12A3}" srcOrd="1" destOrd="0" presId="urn:microsoft.com/office/officeart/2005/8/layout/orgChart1"/>
    <dgm:cxn modelId="{483B552E-73D4-40AA-9B5E-5AC942EB53A8}" type="presParOf" srcId="{D251E813-7083-469C-9803-BBC317B25FE1}" destId="{329293AC-1FA9-44B0-97BC-52DE43A007A6}" srcOrd="2" destOrd="0" presId="urn:microsoft.com/office/officeart/2005/8/layout/orgChart1"/>
    <dgm:cxn modelId="{9F4CB2AD-E259-4003-AB11-EE036ADA07AA}" type="presParOf" srcId="{071A6DFA-0447-472A-A28F-694FD577D093}" destId="{4BC5AF09-9249-4AC4-9A1F-42968D34271C}" srcOrd="2" destOrd="0" presId="urn:microsoft.com/office/officeart/2005/8/layout/orgChart1"/>
    <dgm:cxn modelId="{833CC24E-BEC6-487F-B2B8-34B8781E7A9C}" type="presParOf" srcId="{071A6DFA-0447-472A-A28F-694FD577D093}" destId="{CE649476-8D42-4AA2-B6D7-252A0648D23F}" srcOrd="3" destOrd="0" presId="urn:microsoft.com/office/officeart/2005/8/layout/orgChart1"/>
    <dgm:cxn modelId="{2FB5295B-9B12-4E0D-9C35-9753A4B8CE0B}" type="presParOf" srcId="{CE649476-8D42-4AA2-B6D7-252A0648D23F}" destId="{751B08B4-3CD1-4B88-BEE4-C266423766C0}" srcOrd="0" destOrd="0" presId="urn:microsoft.com/office/officeart/2005/8/layout/orgChart1"/>
    <dgm:cxn modelId="{55FE6642-02D3-45D5-AA86-BA7EA165980E}" type="presParOf" srcId="{751B08B4-3CD1-4B88-BEE4-C266423766C0}" destId="{6693CEA8-7BA1-4ABD-8D38-07CB64A1939A}" srcOrd="0" destOrd="0" presId="urn:microsoft.com/office/officeart/2005/8/layout/orgChart1"/>
    <dgm:cxn modelId="{71313BA0-36DF-4666-AB63-A0CCEF75B0F8}" type="presParOf" srcId="{751B08B4-3CD1-4B88-BEE4-C266423766C0}" destId="{B691591D-BDEF-44FD-B0CB-9448C9A81FC9}" srcOrd="1" destOrd="0" presId="urn:microsoft.com/office/officeart/2005/8/layout/orgChart1"/>
    <dgm:cxn modelId="{4F285639-F855-4D87-B82A-91DEB6C28AA7}" type="presParOf" srcId="{CE649476-8D42-4AA2-B6D7-252A0648D23F}" destId="{86659AF6-E414-4326-A8D2-48843F018DB4}" srcOrd="1" destOrd="0" presId="urn:microsoft.com/office/officeart/2005/8/layout/orgChart1"/>
    <dgm:cxn modelId="{740BC040-EDCA-46ED-9055-7F7928112989}" type="presParOf" srcId="{CE649476-8D42-4AA2-B6D7-252A0648D23F}" destId="{0C78C68F-E44C-47C9-9EAB-8C5761083599}" srcOrd="2" destOrd="0" presId="urn:microsoft.com/office/officeart/2005/8/layout/orgChart1"/>
    <dgm:cxn modelId="{897B15EA-D36A-41B0-8E34-DAB777E67B94}" type="presParOf" srcId="{071A6DFA-0447-472A-A28F-694FD577D093}" destId="{045ED4AC-5F8A-45B3-86CF-B01F340CE2D5}" srcOrd="4" destOrd="0" presId="urn:microsoft.com/office/officeart/2005/8/layout/orgChart1"/>
    <dgm:cxn modelId="{21DE8072-0DEA-4169-8845-F86A28DAF6F8}" type="presParOf" srcId="{071A6DFA-0447-472A-A28F-694FD577D093}" destId="{3D5B67F8-F391-458A-930F-2AD9EDAE1B7C}" srcOrd="5" destOrd="0" presId="urn:microsoft.com/office/officeart/2005/8/layout/orgChart1"/>
    <dgm:cxn modelId="{72B685F2-8C43-4EC6-A92D-FEDFA98B4868}" type="presParOf" srcId="{3D5B67F8-F391-458A-930F-2AD9EDAE1B7C}" destId="{A74FFFC6-5C93-4E8A-B3CE-868D3790FEA3}" srcOrd="0" destOrd="0" presId="urn:microsoft.com/office/officeart/2005/8/layout/orgChart1"/>
    <dgm:cxn modelId="{CE00944A-28AE-4899-AD20-74E65D2B4525}" type="presParOf" srcId="{A74FFFC6-5C93-4E8A-B3CE-868D3790FEA3}" destId="{3C1406D1-890C-4B7C-965F-0C3D0A683D9E}" srcOrd="0" destOrd="0" presId="urn:microsoft.com/office/officeart/2005/8/layout/orgChart1"/>
    <dgm:cxn modelId="{1D240CAE-C670-4738-B226-9FBF257659FC}" type="presParOf" srcId="{A74FFFC6-5C93-4E8A-B3CE-868D3790FEA3}" destId="{FC19E36D-2088-4B48-AB64-46B031DF0298}" srcOrd="1" destOrd="0" presId="urn:microsoft.com/office/officeart/2005/8/layout/orgChart1"/>
    <dgm:cxn modelId="{AF3AF627-4EEB-4B41-A38F-BB12610D9284}" type="presParOf" srcId="{3D5B67F8-F391-458A-930F-2AD9EDAE1B7C}" destId="{18D2AF82-B0A8-4C60-AA87-09AA19EC9C62}" srcOrd="1" destOrd="0" presId="urn:microsoft.com/office/officeart/2005/8/layout/orgChart1"/>
    <dgm:cxn modelId="{27AFCD4A-BBD7-440C-8668-5A5E5271F252}" type="presParOf" srcId="{3D5B67F8-F391-458A-930F-2AD9EDAE1B7C}" destId="{EE090E21-4341-48EF-B6A4-DD992E40CEEB}" srcOrd="2" destOrd="0" presId="urn:microsoft.com/office/officeart/2005/8/layout/orgChart1"/>
    <dgm:cxn modelId="{C24A4B1A-8847-4EC4-A9B7-3C3D61ADA0F9}" type="presParOf" srcId="{071A6DFA-0447-472A-A28F-694FD577D093}" destId="{F92FE54D-8060-4389-B7FD-2BEF839176AA}" srcOrd="6" destOrd="0" presId="urn:microsoft.com/office/officeart/2005/8/layout/orgChart1"/>
    <dgm:cxn modelId="{F46D82F1-C0C9-4664-9B4C-D7346A74C162}" type="presParOf" srcId="{071A6DFA-0447-472A-A28F-694FD577D093}" destId="{E0A68EE6-997E-4678-A0EE-9A0479E1BB32}" srcOrd="7" destOrd="0" presId="urn:microsoft.com/office/officeart/2005/8/layout/orgChart1"/>
    <dgm:cxn modelId="{FE6F92A5-9822-4C80-BC7C-567938C540E0}" type="presParOf" srcId="{E0A68EE6-997E-4678-A0EE-9A0479E1BB32}" destId="{2D55E332-0BB6-44EA-B4AA-7F0AC5D3234C}" srcOrd="0" destOrd="0" presId="urn:microsoft.com/office/officeart/2005/8/layout/orgChart1"/>
    <dgm:cxn modelId="{60773E85-28EB-49FA-BD37-6FCDC652B7C7}" type="presParOf" srcId="{2D55E332-0BB6-44EA-B4AA-7F0AC5D3234C}" destId="{9CF3883A-4708-4476-9BF4-5A5F80A80E49}" srcOrd="0" destOrd="0" presId="urn:microsoft.com/office/officeart/2005/8/layout/orgChart1"/>
    <dgm:cxn modelId="{358A4DD1-51D1-41F1-942C-1110A2065964}" type="presParOf" srcId="{2D55E332-0BB6-44EA-B4AA-7F0AC5D3234C}" destId="{324E0B06-E362-4414-8194-2C80FEB95A7D}" srcOrd="1" destOrd="0" presId="urn:microsoft.com/office/officeart/2005/8/layout/orgChart1"/>
    <dgm:cxn modelId="{B75F120B-93B2-4AA0-88C2-FF4E09C4EC66}" type="presParOf" srcId="{E0A68EE6-997E-4678-A0EE-9A0479E1BB32}" destId="{2E8CCC5C-E46D-4CF3-AEB3-55DC4D9CC89A}" srcOrd="1" destOrd="0" presId="urn:microsoft.com/office/officeart/2005/8/layout/orgChart1"/>
    <dgm:cxn modelId="{F777131B-5DBD-427F-A7F6-C65744927C42}" type="presParOf" srcId="{E0A68EE6-997E-4678-A0EE-9A0479E1BB32}" destId="{881E2773-34EF-4766-9756-A76766B33A78}" srcOrd="2" destOrd="0" presId="urn:microsoft.com/office/officeart/2005/8/layout/orgChart1"/>
    <dgm:cxn modelId="{825F0A07-1D15-4C5F-B64E-BE384889B2A0}" type="presParOf" srcId="{1AD5917C-AE9E-446A-BF67-25F3571218E0}" destId="{0EC72826-9D52-4113-B0A9-1715B6B920B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02CEBAA-E1A0-4A5E-892A-353144A3ECB1}"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zh-CN" altLang="en-US"/>
        </a:p>
      </dgm:t>
    </dgm:pt>
    <dgm:pt modelId="{13106C34-DDA7-4704-AE3C-0B0E4328523F}">
      <dgm:prSet custT="1"/>
      <dgm:spPr/>
      <dgm:t>
        <a:bodyPr/>
        <a:lstStyle/>
        <a:p>
          <a:pPr rtl="0"/>
          <a:r>
            <a:rPr lang="en-GB" altLang="zh-CN" sz="1600" b="1" dirty="0" smtClean="0"/>
            <a:t>4.1 STM32</a:t>
          </a:r>
          <a:r>
            <a:rPr lang="zh-CN" altLang="en-US" sz="1600" b="1" dirty="0" smtClean="0"/>
            <a:t>最小系统</a:t>
          </a:r>
          <a:endParaRPr lang="zh-CN" sz="1600" b="1" dirty="0"/>
        </a:p>
      </dgm:t>
    </dgm:pt>
    <dgm:pt modelId="{5B2484B4-0902-44AE-9451-619122864D26}" type="parTrans" cxnId="{02BAFB49-29A0-4418-8227-F8F120C95367}">
      <dgm:prSet/>
      <dgm:spPr/>
      <dgm:t>
        <a:bodyPr/>
        <a:lstStyle/>
        <a:p>
          <a:endParaRPr lang="zh-CN" altLang="en-US" sz="1600" b="1"/>
        </a:p>
      </dgm:t>
    </dgm:pt>
    <dgm:pt modelId="{09265D00-2571-440C-8A2D-A0D7C0ECA357}" type="sibTrans" cxnId="{02BAFB49-29A0-4418-8227-F8F120C95367}">
      <dgm:prSet/>
      <dgm:spPr/>
      <dgm:t>
        <a:bodyPr/>
        <a:lstStyle/>
        <a:p>
          <a:endParaRPr lang="zh-CN" altLang="en-US" sz="1600" b="1"/>
        </a:p>
      </dgm:t>
    </dgm:pt>
    <dgm:pt modelId="{047B7240-9B3B-4945-ABFC-8AA577225995}">
      <dgm:prSet custT="1"/>
      <dgm:spPr/>
      <dgm:t>
        <a:bodyPr/>
        <a:lstStyle/>
        <a:p>
          <a:pPr rtl="0"/>
          <a:r>
            <a:rPr lang="en-US" altLang="zh-CN" sz="1600" b="1" dirty="0" smtClean="0"/>
            <a:t>4</a:t>
          </a:r>
          <a:r>
            <a:rPr lang="en-GB" altLang="zh-CN" sz="1600" b="1" dirty="0" smtClean="0"/>
            <a:t>.2 </a:t>
          </a:r>
          <a:r>
            <a:rPr lang="zh-CN" altLang="en-US" sz="1600" b="1" dirty="0" smtClean="0"/>
            <a:t>嵌入式</a:t>
          </a:r>
          <a:r>
            <a:rPr lang="en-US" altLang="zh-CN" sz="1600" b="1" dirty="0" smtClean="0"/>
            <a:t>C</a:t>
          </a:r>
          <a:r>
            <a:rPr lang="zh-CN" altLang="en-US" sz="1600" b="1" dirty="0" smtClean="0"/>
            <a:t>语言</a:t>
          </a:r>
          <a:endParaRPr lang="zh-CN" sz="1600" b="1" dirty="0"/>
        </a:p>
      </dgm:t>
    </dgm:pt>
    <dgm:pt modelId="{30432C7E-5CB4-43B7-ABDA-FDD668F97924}" type="parTrans" cxnId="{8ECEC30A-7947-4089-82B2-F4118177782E}">
      <dgm:prSet/>
      <dgm:spPr/>
      <dgm:t>
        <a:bodyPr/>
        <a:lstStyle/>
        <a:p>
          <a:endParaRPr lang="zh-CN" altLang="en-US" sz="1600" b="1"/>
        </a:p>
      </dgm:t>
    </dgm:pt>
    <dgm:pt modelId="{2AD50ABE-3325-4DD9-8E1F-7ECDCF00ED92}" type="sibTrans" cxnId="{8ECEC30A-7947-4089-82B2-F4118177782E}">
      <dgm:prSet/>
      <dgm:spPr/>
      <dgm:t>
        <a:bodyPr/>
        <a:lstStyle/>
        <a:p>
          <a:endParaRPr lang="zh-CN" altLang="en-US" sz="1600" b="1"/>
        </a:p>
      </dgm:t>
    </dgm:pt>
    <dgm:pt modelId="{C03C3471-A4DA-417B-8393-2DA0F765F0DE}">
      <dgm:prSet custT="1"/>
      <dgm:spPr/>
      <dgm:t>
        <a:bodyPr/>
        <a:lstStyle/>
        <a:p>
          <a:pPr rtl="0"/>
          <a:r>
            <a:rPr lang="en-US" altLang="zh-CN" sz="1600" b="1" dirty="0" smtClean="0"/>
            <a:t>4.3 HAL</a:t>
          </a:r>
          <a:r>
            <a:rPr lang="zh-CN" altLang="en-US" sz="1600" b="1" dirty="0" smtClean="0"/>
            <a:t>库源码分析</a:t>
          </a:r>
          <a:endParaRPr lang="zh-CN" sz="1600" b="1" dirty="0"/>
        </a:p>
      </dgm:t>
    </dgm:pt>
    <dgm:pt modelId="{1933975E-8B86-46FF-B7C1-099FB70E688A}" type="parTrans" cxnId="{972459DD-7803-4179-A553-DC73E2AA763F}">
      <dgm:prSet/>
      <dgm:spPr/>
      <dgm:t>
        <a:bodyPr/>
        <a:lstStyle/>
        <a:p>
          <a:endParaRPr lang="zh-CN" altLang="en-US" sz="1600" b="1"/>
        </a:p>
      </dgm:t>
    </dgm:pt>
    <dgm:pt modelId="{B2D04BCB-8D1E-44D6-B48A-12C7951CB416}" type="sibTrans" cxnId="{972459DD-7803-4179-A553-DC73E2AA763F}">
      <dgm:prSet/>
      <dgm:spPr/>
      <dgm:t>
        <a:bodyPr/>
        <a:lstStyle/>
        <a:p>
          <a:endParaRPr lang="zh-CN" altLang="en-US" sz="1600" b="1"/>
        </a:p>
      </dgm:t>
    </dgm:pt>
    <dgm:pt modelId="{96772F72-AE47-49C0-A0C2-1DD06A5A15F9}">
      <dgm:prSet custT="1"/>
      <dgm:spPr/>
      <dgm:t>
        <a:bodyPr/>
        <a:lstStyle/>
        <a:p>
          <a:pPr rtl="0"/>
          <a:r>
            <a:rPr lang="zh-CN" altLang="en-US" sz="1600" b="1" dirty="0" smtClean="0"/>
            <a:t>数据类型</a:t>
          </a:r>
          <a:endParaRPr lang="zh-CN" altLang="en-US" sz="1600" b="1" dirty="0"/>
        </a:p>
      </dgm:t>
    </dgm:pt>
    <dgm:pt modelId="{99D307A9-AB17-4212-9146-5DBDE43CCFDD}" type="parTrans" cxnId="{7BC5AABE-F7D8-4933-BECE-19DB8E90C553}">
      <dgm:prSet/>
      <dgm:spPr/>
      <dgm:t>
        <a:bodyPr/>
        <a:lstStyle/>
        <a:p>
          <a:endParaRPr lang="zh-CN" altLang="en-US" sz="1600" b="1"/>
        </a:p>
      </dgm:t>
    </dgm:pt>
    <dgm:pt modelId="{8E51BC18-75F4-4486-84A5-9EB337BA7E44}" type="sibTrans" cxnId="{7BC5AABE-F7D8-4933-BECE-19DB8E90C553}">
      <dgm:prSet/>
      <dgm:spPr/>
      <dgm:t>
        <a:bodyPr/>
        <a:lstStyle/>
        <a:p>
          <a:endParaRPr lang="zh-CN" altLang="en-US" sz="1600" b="1"/>
        </a:p>
      </dgm:t>
    </dgm:pt>
    <dgm:pt modelId="{B72D53C2-E7F6-4223-AC4F-6E2B86EE6B67}">
      <dgm:prSet custT="1"/>
      <dgm:spPr/>
      <dgm:t>
        <a:bodyPr/>
        <a:lstStyle/>
        <a:p>
          <a:pPr rtl="0"/>
          <a:r>
            <a:rPr lang="zh-CN" altLang="en-US" sz="1600" b="1" dirty="0" smtClean="0"/>
            <a:t>电源电路</a:t>
          </a:r>
          <a:endParaRPr lang="zh-CN" sz="1600" b="1" dirty="0"/>
        </a:p>
      </dgm:t>
    </dgm:pt>
    <dgm:pt modelId="{49974F3F-0D85-43E3-9C0D-5C4C33820BF7}" type="parTrans" cxnId="{44A04669-F52E-4A27-B6B7-42012ABBD99A}">
      <dgm:prSet/>
      <dgm:spPr/>
      <dgm:t>
        <a:bodyPr/>
        <a:lstStyle/>
        <a:p>
          <a:endParaRPr lang="zh-CN" altLang="en-US"/>
        </a:p>
      </dgm:t>
    </dgm:pt>
    <dgm:pt modelId="{7F3E5315-BDB9-4F8F-829D-1A0EB3BFB913}" type="sibTrans" cxnId="{44A04669-F52E-4A27-B6B7-42012ABBD99A}">
      <dgm:prSet/>
      <dgm:spPr/>
      <dgm:t>
        <a:bodyPr/>
        <a:lstStyle/>
        <a:p>
          <a:endParaRPr lang="zh-CN" altLang="en-US"/>
        </a:p>
      </dgm:t>
    </dgm:pt>
    <dgm:pt modelId="{39C589B4-D01D-4D6A-A341-4D0F1B31AA14}">
      <dgm:prSet custT="1"/>
      <dgm:spPr/>
      <dgm:t>
        <a:bodyPr/>
        <a:lstStyle/>
        <a:p>
          <a:pPr rtl="0"/>
          <a:r>
            <a:rPr lang="zh-CN" altLang="en-US" sz="1600" b="1" dirty="0" smtClean="0"/>
            <a:t>时钟电路</a:t>
          </a:r>
          <a:endParaRPr lang="zh-CN" sz="1600" b="1" dirty="0"/>
        </a:p>
      </dgm:t>
    </dgm:pt>
    <dgm:pt modelId="{ECFEDD94-CC08-4AFC-8465-06DDF849A734}" type="parTrans" cxnId="{EF30AE88-C2C7-45E2-9282-29B5E57CA39F}">
      <dgm:prSet/>
      <dgm:spPr/>
      <dgm:t>
        <a:bodyPr/>
        <a:lstStyle/>
        <a:p>
          <a:endParaRPr lang="zh-CN" altLang="en-US"/>
        </a:p>
      </dgm:t>
    </dgm:pt>
    <dgm:pt modelId="{82C87527-F35B-4DA3-96FD-AB6DAFCE0E40}" type="sibTrans" cxnId="{EF30AE88-C2C7-45E2-9282-29B5E57CA39F}">
      <dgm:prSet/>
      <dgm:spPr/>
      <dgm:t>
        <a:bodyPr/>
        <a:lstStyle/>
        <a:p>
          <a:endParaRPr lang="zh-CN" altLang="en-US"/>
        </a:p>
      </dgm:t>
    </dgm:pt>
    <dgm:pt modelId="{8551370D-C010-49D6-BF3F-EEB7B82AA689}">
      <dgm:prSet custT="1"/>
      <dgm:spPr/>
      <dgm:t>
        <a:bodyPr/>
        <a:lstStyle/>
        <a:p>
          <a:pPr rtl="0"/>
          <a:r>
            <a:rPr lang="zh-CN" altLang="en-US" sz="1600" b="1" dirty="0" smtClean="0"/>
            <a:t>复位电路</a:t>
          </a:r>
          <a:endParaRPr lang="zh-CN" sz="1600" b="1" dirty="0"/>
        </a:p>
      </dgm:t>
    </dgm:pt>
    <dgm:pt modelId="{4CAA12C2-9AB9-452C-9FED-303BCB2BBE28}" type="parTrans" cxnId="{B925C0E2-668A-4CA8-975C-61C28A03441C}">
      <dgm:prSet/>
      <dgm:spPr/>
      <dgm:t>
        <a:bodyPr/>
        <a:lstStyle/>
        <a:p>
          <a:endParaRPr lang="zh-CN" altLang="en-US"/>
        </a:p>
      </dgm:t>
    </dgm:pt>
    <dgm:pt modelId="{4FA49140-C034-4F29-BBBB-9D539FBFEB91}" type="sibTrans" cxnId="{B925C0E2-668A-4CA8-975C-61C28A03441C}">
      <dgm:prSet/>
      <dgm:spPr/>
      <dgm:t>
        <a:bodyPr/>
        <a:lstStyle/>
        <a:p>
          <a:endParaRPr lang="zh-CN" altLang="en-US"/>
        </a:p>
      </dgm:t>
    </dgm:pt>
    <dgm:pt modelId="{5B313501-B939-4F0A-BE11-26B43473E9FF}">
      <dgm:prSet custT="1"/>
      <dgm:spPr/>
      <dgm:t>
        <a:bodyPr/>
        <a:lstStyle/>
        <a:p>
          <a:pPr rtl="0"/>
          <a:r>
            <a:rPr lang="zh-CN" altLang="en-US" sz="1600" b="1" dirty="0" smtClean="0"/>
            <a:t>调试和下载电路</a:t>
          </a:r>
          <a:endParaRPr lang="zh-CN" sz="1600" b="1" dirty="0"/>
        </a:p>
      </dgm:t>
    </dgm:pt>
    <dgm:pt modelId="{AF85B447-2B02-4F75-8C9A-616935CA6685}" type="parTrans" cxnId="{B2C4C6AE-5E90-4F89-AF9E-F8C26FDDE02E}">
      <dgm:prSet/>
      <dgm:spPr/>
      <dgm:t>
        <a:bodyPr/>
        <a:lstStyle/>
        <a:p>
          <a:endParaRPr lang="zh-CN" altLang="en-US"/>
        </a:p>
      </dgm:t>
    </dgm:pt>
    <dgm:pt modelId="{8EE51351-088F-4B7B-A33A-2FD96BDDF508}" type="sibTrans" cxnId="{B2C4C6AE-5E90-4F89-AF9E-F8C26FDDE02E}">
      <dgm:prSet/>
      <dgm:spPr/>
      <dgm:t>
        <a:bodyPr/>
        <a:lstStyle/>
        <a:p>
          <a:endParaRPr lang="zh-CN" altLang="en-US"/>
        </a:p>
      </dgm:t>
    </dgm:pt>
    <dgm:pt modelId="{1B73C5AF-33D7-4364-9D82-E72245BF9184}">
      <dgm:prSet custT="1"/>
      <dgm:spPr/>
      <dgm:t>
        <a:bodyPr/>
        <a:lstStyle/>
        <a:p>
          <a:pPr rtl="0"/>
          <a:r>
            <a:rPr lang="en-US" altLang="zh-CN" sz="1600" b="1" dirty="0" smtClean="0"/>
            <a:t>LED</a:t>
          </a:r>
          <a:r>
            <a:rPr lang="zh-CN" altLang="en-US" sz="1600" b="1" dirty="0" smtClean="0"/>
            <a:t>指示电路</a:t>
          </a:r>
          <a:endParaRPr lang="zh-CN" sz="1600" b="1" dirty="0"/>
        </a:p>
      </dgm:t>
    </dgm:pt>
    <dgm:pt modelId="{AD384A91-3937-4990-A28E-E172B1F36258}" type="parTrans" cxnId="{5E969D20-45E7-4926-915F-EF05C0F0902F}">
      <dgm:prSet/>
      <dgm:spPr/>
      <dgm:t>
        <a:bodyPr/>
        <a:lstStyle/>
        <a:p>
          <a:endParaRPr lang="zh-CN" altLang="en-US"/>
        </a:p>
      </dgm:t>
    </dgm:pt>
    <dgm:pt modelId="{1BCA27D3-774D-4293-8646-0B79971A89E8}" type="sibTrans" cxnId="{5E969D20-45E7-4926-915F-EF05C0F0902F}">
      <dgm:prSet/>
      <dgm:spPr/>
      <dgm:t>
        <a:bodyPr/>
        <a:lstStyle/>
        <a:p>
          <a:endParaRPr lang="zh-CN" altLang="en-US"/>
        </a:p>
      </dgm:t>
    </dgm:pt>
    <dgm:pt modelId="{B7C367EF-16B3-4A9B-B88E-127267392F9C}">
      <dgm:prSet custT="1"/>
      <dgm:spPr/>
      <dgm:t>
        <a:bodyPr/>
        <a:lstStyle/>
        <a:p>
          <a:pPr rtl="0"/>
          <a:r>
            <a:rPr lang="zh-CN" altLang="en-US" sz="1600" b="1" dirty="0" smtClean="0"/>
            <a:t>各关键词</a:t>
          </a:r>
          <a:endParaRPr lang="zh-CN" altLang="en-US" sz="1600" b="1" dirty="0"/>
        </a:p>
      </dgm:t>
    </dgm:pt>
    <dgm:pt modelId="{06BC124C-7610-4C21-A067-43E56544CBF5}" type="parTrans" cxnId="{CA12212C-16FE-4ADD-9040-112C9DF46F0B}">
      <dgm:prSet/>
      <dgm:spPr/>
      <dgm:t>
        <a:bodyPr/>
        <a:lstStyle/>
        <a:p>
          <a:endParaRPr lang="zh-CN" altLang="en-US"/>
        </a:p>
      </dgm:t>
    </dgm:pt>
    <dgm:pt modelId="{3AFB22EF-8B98-4A62-BE5F-44FF67DAD3C5}" type="sibTrans" cxnId="{CA12212C-16FE-4ADD-9040-112C9DF46F0B}">
      <dgm:prSet/>
      <dgm:spPr/>
      <dgm:t>
        <a:bodyPr/>
        <a:lstStyle/>
        <a:p>
          <a:endParaRPr lang="zh-CN" altLang="en-US"/>
        </a:p>
      </dgm:t>
    </dgm:pt>
    <dgm:pt modelId="{8EE8107E-1400-4882-8958-AB8D26D75F47}">
      <dgm:prSet custT="1"/>
      <dgm:spPr/>
      <dgm:t>
        <a:bodyPr/>
        <a:lstStyle/>
        <a:p>
          <a:pPr rtl="0"/>
          <a:r>
            <a:rPr lang="zh-CN" altLang="en-US" sz="1600" b="1" dirty="0" smtClean="0"/>
            <a:t>指针</a:t>
          </a:r>
          <a:endParaRPr lang="zh-CN" altLang="en-US" sz="1600" b="1" dirty="0"/>
        </a:p>
      </dgm:t>
    </dgm:pt>
    <dgm:pt modelId="{25AF1120-E40A-40B4-AC31-87F29C8B4644}" type="parTrans" cxnId="{CBB49C45-3425-45E0-9C19-31E0EEE06CF5}">
      <dgm:prSet/>
      <dgm:spPr/>
      <dgm:t>
        <a:bodyPr/>
        <a:lstStyle/>
        <a:p>
          <a:endParaRPr lang="zh-CN" altLang="en-US"/>
        </a:p>
      </dgm:t>
    </dgm:pt>
    <dgm:pt modelId="{892792FE-C970-44E9-8E5C-38FC6089F525}" type="sibTrans" cxnId="{CBB49C45-3425-45E0-9C19-31E0EEE06CF5}">
      <dgm:prSet/>
      <dgm:spPr/>
      <dgm:t>
        <a:bodyPr/>
        <a:lstStyle/>
        <a:p>
          <a:endParaRPr lang="zh-CN" altLang="en-US"/>
        </a:p>
      </dgm:t>
    </dgm:pt>
    <dgm:pt modelId="{6E72AE02-BAC4-4E54-9E40-0B742D15A237}">
      <dgm:prSet custT="1"/>
      <dgm:spPr/>
      <dgm:t>
        <a:bodyPr/>
        <a:lstStyle/>
        <a:p>
          <a:pPr rtl="0"/>
          <a:r>
            <a:rPr lang="zh-CN" altLang="en-US" sz="1600" b="1" dirty="0" smtClean="0"/>
            <a:t>回调函数</a:t>
          </a:r>
          <a:endParaRPr lang="zh-CN" altLang="en-US" sz="1600" b="1" dirty="0"/>
        </a:p>
      </dgm:t>
    </dgm:pt>
    <dgm:pt modelId="{18D59BE6-DF3F-47EA-B9E2-C6116B6F2525}" type="parTrans" cxnId="{F03FDA3E-DC38-49F0-859A-8A8B853879F0}">
      <dgm:prSet/>
      <dgm:spPr/>
      <dgm:t>
        <a:bodyPr/>
        <a:lstStyle/>
        <a:p>
          <a:endParaRPr lang="zh-CN" altLang="en-US"/>
        </a:p>
      </dgm:t>
    </dgm:pt>
    <dgm:pt modelId="{D0F3B064-3F43-4701-89BE-28B5A2729BE3}" type="sibTrans" cxnId="{F03FDA3E-DC38-49F0-859A-8A8B853879F0}">
      <dgm:prSet/>
      <dgm:spPr/>
      <dgm:t>
        <a:bodyPr/>
        <a:lstStyle/>
        <a:p>
          <a:endParaRPr lang="zh-CN" altLang="en-US"/>
        </a:p>
      </dgm:t>
    </dgm:pt>
    <dgm:pt modelId="{FEE09001-4C7E-47DA-871D-2B2CB5208FF1}">
      <dgm:prSet custT="1"/>
      <dgm:spPr/>
      <dgm:t>
        <a:bodyPr/>
        <a:lstStyle/>
        <a:p>
          <a:pPr rtl="0"/>
          <a:r>
            <a:rPr lang="en-US" sz="1600" b="1" dirty="0" smtClean="0"/>
            <a:t>stm32f1xx.h</a:t>
          </a:r>
          <a:endParaRPr lang="zh-CN" sz="1600" b="1" dirty="0"/>
        </a:p>
      </dgm:t>
    </dgm:pt>
    <dgm:pt modelId="{2935FD57-4090-43F1-8678-E561DC6E688A}" type="parTrans" cxnId="{6B6A2916-F279-4136-8671-D9478D3227F8}">
      <dgm:prSet/>
      <dgm:spPr/>
      <dgm:t>
        <a:bodyPr/>
        <a:lstStyle/>
        <a:p>
          <a:endParaRPr lang="zh-CN" altLang="en-US"/>
        </a:p>
      </dgm:t>
    </dgm:pt>
    <dgm:pt modelId="{A4A2C873-3668-42F2-9957-8ED12486C4A1}" type="sibTrans" cxnId="{6B6A2916-F279-4136-8671-D9478D3227F8}">
      <dgm:prSet/>
      <dgm:spPr/>
      <dgm:t>
        <a:bodyPr/>
        <a:lstStyle/>
        <a:p>
          <a:endParaRPr lang="zh-CN" altLang="en-US"/>
        </a:p>
      </dgm:t>
    </dgm:pt>
    <dgm:pt modelId="{7D492492-4963-42F4-9D0B-53E54F9958D8}">
      <dgm:prSet custT="1"/>
      <dgm:spPr/>
      <dgm:t>
        <a:bodyPr/>
        <a:lstStyle/>
        <a:p>
          <a:pPr rtl="0"/>
          <a:r>
            <a:rPr lang="en-US" sz="1600" b="1" dirty="0" smtClean="0"/>
            <a:t>stm32f103xe.h</a:t>
          </a:r>
          <a:endParaRPr lang="zh-CN" sz="1600" b="1" dirty="0"/>
        </a:p>
      </dgm:t>
    </dgm:pt>
    <dgm:pt modelId="{A3C85C9A-0DAB-403E-BB0D-20E6A975EB7E}" type="parTrans" cxnId="{F7ABE0D0-3EE3-49EC-8F3D-3701FF0423E7}">
      <dgm:prSet/>
      <dgm:spPr/>
      <dgm:t>
        <a:bodyPr/>
        <a:lstStyle/>
        <a:p>
          <a:endParaRPr lang="zh-CN" altLang="en-US"/>
        </a:p>
      </dgm:t>
    </dgm:pt>
    <dgm:pt modelId="{068D03DD-3170-464F-AE2E-68077CFA1E93}" type="sibTrans" cxnId="{F7ABE0D0-3EE3-49EC-8F3D-3701FF0423E7}">
      <dgm:prSet/>
      <dgm:spPr/>
      <dgm:t>
        <a:bodyPr/>
        <a:lstStyle/>
        <a:p>
          <a:endParaRPr lang="zh-CN" altLang="en-US"/>
        </a:p>
      </dgm:t>
    </dgm:pt>
    <dgm:pt modelId="{45E3A675-0CC9-4428-9710-699168142CEE}">
      <dgm:prSet custT="1"/>
      <dgm:spPr/>
      <dgm:t>
        <a:bodyPr/>
        <a:lstStyle/>
        <a:p>
          <a:pPr rtl="0"/>
          <a:r>
            <a:rPr lang="en-US" sz="1600" b="1" dirty="0" smtClean="0"/>
            <a:t>stm32f1xx_hal.c</a:t>
          </a:r>
          <a:endParaRPr lang="zh-CN" sz="1600" b="1" dirty="0"/>
        </a:p>
      </dgm:t>
    </dgm:pt>
    <dgm:pt modelId="{3AEB3E07-8D85-48B3-9DFC-135EA4568800}" type="parTrans" cxnId="{F030FBCB-33D6-41A2-A6BD-B12361A2C092}">
      <dgm:prSet/>
      <dgm:spPr/>
      <dgm:t>
        <a:bodyPr/>
        <a:lstStyle/>
        <a:p>
          <a:endParaRPr lang="zh-CN" altLang="en-US"/>
        </a:p>
      </dgm:t>
    </dgm:pt>
    <dgm:pt modelId="{356E0774-9750-4CB7-B0FC-BB4E5F28F724}" type="sibTrans" cxnId="{F030FBCB-33D6-41A2-A6BD-B12361A2C092}">
      <dgm:prSet/>
      <dgm:spPr/>
      <dgm:t>
        <a:bodyPr/>
        <a:lstStyle/>
        <a:p>
          <a:endParaRPr lang="zh-CN" altLang="en-US"/>
        </a:p>
      </dgm:t>
    </dgm:pt>
    <dgm:pt modelId="{B0DE3F1A-CBD3-413F-A5FA-10E36CF86B46}">
      <dgm:prSet custT="1"/>
      <dgm:spPr/>
      <dgm:t>
        <a:bodyPr/>
        <a:lstStyle/>
        <a:p>
          <a:pPr rtl="0"/>
          <a:r>
            <a:rPr lang="en-US" sz="1600" b="1" dirty="0" smtClean="0"/>
            <a:t>stm32f1xx_hal.</a:t>
          </a:r>
          <a:r>
            <a:rPr lang="en-US" altLang="zh-CN" sz="1600" b="1" dirty="0" smtClean="0"/>
            <a:t>h</a:t>
          </a:r>
          <a:endParaRPr lang="zh-CN" sz="1600" b="1" dirty="0"/>
        </a:p>
      </dgm:t>
    </dgm:pt>
    <dgm:pt modelId="{232847E1-4889-4D7C-AAED-E7ED099602DD}" type="parTrans" cxnId="{223E1234-08DA-4EE3-A0DD-CA200897F6EC}">
      <dgm:prSet/>
      <dgm:spPr/>
      <dgm:t>
        <a:bodyPr/>
        <a:lstStyle/>
        <a:p>
          <a:endParaRPr lang="zh-CN" altLang="en-US"/>
        </a:p>
      </dgm:t>
    </dgm:pt>
    <dgm:pt modelId="{A9BA85D5-13FB-482C-B339-0DD08E6BE583}" type="sibTrans" cxnId="{223E1234-08DA-4EE3-A0DD-CA200897F6EC}">
      <dgm:prSet/>
      <dgm:spPr/>
      <dgm:t>
        <a:bodyPr/>
        <a:lstStyle/>
        <a:p>
          <a:endParaRPr lang="zh-CN" altLang="en-US"/>
        </a:p>
      </dgm:t>
    </dgm:pt>
    <dgm:pt modelId="{9158A966-AB35-43AF-A6F0-9C7173D013E1}">
      <dgm:prSet custT="1"/>
      <dgm:spPr/>
      <dgm:t>
        <a:bodyPr/>
        <a:lstStyle/>
        <a:p>
          <a:pPr rtl="0"/>
          <a:r>
            <a:rPr lang="en-US" sz="1600" b="1" dirty="0" smtClean="0"/>
            <a:t>stm32f1xx_hal_gpio.c</a:t>
          </a:r>
          <a:endParaRPr lang="zh-CN" sz="1600" b="1" dirty="0"/>
        </a:p>
      </dgm:t>
    </dgm:pt>
    <dgm:pt modelId="{D80E50E7-4EC9-48D8-9D5E-71DC4C519D28}" type="parTrans" cxnId="{64CF37A1-D0D8-4AC2-94D3-E32D64FFFFE7}">
      <dgm:prSet/>
      <dgm:spPr/>
      <dgm:t>
        <a:bodyPr/>
        <a:lstStyle/>
        <a:p>
          <a:endParaRPr lang="zh-CN" altLang="en-US"/>
        </a:p>
      </dgm:t>
    </dgm:pt>
    <dgm:pt modelId="{B7A3FEB9-4FD4-4183-837E-A6769272E8D3}" type="sibTrans" cxnId="{64CF37A1-D0D8-4AC2-94D3-E32D64FFFFE7}">
      <dgm:prSet/>
      <dgm:spPr/>
      <dgm:t>
        <a:bodyPr/>
        <a:lstStyle/>
        <a:p>
          <a:endParaRPr lang="zh-CN" altLang="en-US"/>
        </a:p>
      </dgm:t>
    </dgm:pt>
    <dgm:pt modelId="{0B26858C-E93C-428D-8935-ECBE5EEFB484}">
      <dgm:prSet custT="1"/>
      <dgm:spPr/>
      <dgm:t>
        <a:bodyPr/>
        <a:lstStyle/>
        <a:p>
          <a:pPr rtl="0"/>
          <a:r>
            <a:rPr lang="en-US" sz="1600" b="1" dirty="0" smtClean="0"/>
            <a:t>stm32f1xx_hal_gpio.</a:t>
          </a:r>
          <a:r>
            <a:rPr lang="en-US" altLang="zh-CN" sz="1600" b="1" dirty="0" smtClean="0"/>
            <a:t>h</a:t>
          </a:r>
          <a:endParaRPr lang="zh-CN" sz="1600" b="1" dirty="0"/>
        </a:p>
      </dgm:t>
    </dgm:pt>
    <dgm:pt modelId="{4D82A1BD-E4BE-409D-8DC4-BB71297B2FAD}" type="parTrans" cxnId="{72FC16FF-E0FF-4678-8D41-7FE2EB79E10E}">
      <dgm:prSet/>
      <dgm:spPr/>
      <dgm:t>
        <a:bodyPr/>
        <a:lstStyle/>
        <a:p>
          <a:endParaRPr lang="zh-CN" altLang="en-US"/>
        </a:p>
      </dgm:t>
    </dgm:pt>
    <dgm:pt modelId="{20D4B74B-5763-48A8-87A6-2F72FBF37686}" type="sibTrans" cxnId="{72FC16FF-E0FF-4678-8D41-7FE2EB79E10E}">
      <dgm:prSet/>
      <dgm:spPr/>
      <dgm:t>
        <a:bodyPr/>
        <a:lstStyle/>
        <a:p>
          <a:endParaRPr lang="zh-CN" altLang="en-US"/>
        </a:p>
      </dgm:t>
    </dgm:pt>
    <dgm:pt modelId="{BC94C317-721D-429B-9FBF-8BCC96FAAF4E}" type="pres">
      <dgm:prSet presAssocID="{A02CEBAA-E1A0-4A5E-892A-353144A3ECB1}" presName="Name0" presStyleCnt="0">
        <dgm:presLayoutVars>
          <dgm:dir/>
          <dgm:resizeHandles val="exact"/>
        </dgm:presLayoutVars>
      </dgm:prSet>
      <dgm:spPr/>
      <dgm:t>
        <a:bodyPr/>
        <a:lstStyle/>
        <a:p>
          <a:endParaRPr lang="zh-CN" altLang="en-US"/>
        </a:p>
      </dgm:t>
    </dgm:pt>
    <dgm:pt modelId="{382E1F9D-5EB7-47F5-9F25-ED0620A839C8}" type="pres">
      <dgm:prSet presAssocID="{A02CEBAA-E1A0-4A5E-892A-353144A3ECB1}" presName="arrow" presStyleLbl="bgShp" presStyleIdx="0" presStyleCnt="1"/>
      <dgm:spPr>
        <a:solidFill>
          <a:schemeClr val="accent5">
            <a:lumMod val="75000"/>
          </a:schemeClr>
        </a:solidFill>
      </dgm:spPr>
      <dgm:t>
        <a:bodyPr/>
        <a:lstStyle/>
        <a:p>
          <a:endParaRPr lang="zh-CN" altLang="en-US"/>
        </a:p>
      </dgm:t>
    </dgm:pt>
    <dgm:pt modelId="{0EC97455-800F-4B6E-BC58-4FE74E805E41}" type="pres">
      <dgm:prSet presAssocID="{A02CEBAA-E1A0-4A5E-892A-353144A3ECB1}" presName="points" presStyleCnt="0"/>
      <dgm:spPr/>
    </dgm:pt>
    <dgm:pt modelId="{5ADC1BFC-505B-4E60-8A9F-1C0BECD98F60}" type="pres">
      <dgm:prSet presAssocID="{13106C34-DDA7-4704-AE3C-0B0E4328523F}" presName="compositeA" presStyleCnt="0"/>
      <dgm:spPr/>
    </dgm:pt>
    <dgm:pt modelId="{2CD93801-4098-4C11-A909-440ECFA383A2}" type="pres">
      <dgm:prSet presAssocID="{13106C34-DDA7-4704-AE3C-0B0E4328523F}" presName="textA" presStyleLbl="revTx" presStyleIdx="0" presStyleCnt="3" custScaleX="367095" custLinFactNeighborX="36400">
        <dgm:presLayoutVars>
          <dgm:bulletEnabled val="1"/>
        </dgm:presLayoutVars>
      </dgm:prSet>
      <dgm:spPr/>
      <dgm:t>
        <a:bodyPr/>
        <a:lstStyle/>
        <a:p>
          <a:endParaRPr lang="zh-CN" altLang="en-US"/>
        </a:p>
      </dgm:t>
    </dgm:pt>
    <dgm:pt modelId="{D84E3730-E2CA-4A8A-8272-498570DC41F1}" type="pres">
      <dgm:prSet presAssocID="{13106C34-DDA7-4704-AE3C-0B0E4328523F}" presName="circleA" presStyleLbl="node1" presStyleIdx="0" presStyleCnt="3"/>
      <dgm:spPr>
        <a:solidFill>
          <a:schemeClr val="accent6">
            <a:lumMod val="40000"/>
            <a:lumOff val="60000"/>
          </a:schemeClr>
        </a:solidFill>
      </dgm:spPr>
      <dgm:t>
        <a:bodyPr/>
        <a:lstStyle/>
        <a:p>
          <a:endParaRPr lang="zh-CN" altLang="en-US"/>
        </a:p>
      </dgm:t>
    </dgm:pt>
    <dgm:pt modelId="{7C1E2C63-345C-4F58-B1D9-2C57F2705265}" type="pres">
      <dgm:prSet presAssocID="{13106C34-DDA7-4704-AE3C-0B0E4328523F}" presName="spaceA" presStyleCnt="0"/>
      <dgm:spPr/>
    </dgm:pt>
    <dgm:pt modelId="{76785A7F-1334-452E-900A-122869B95075}" type="pres">
      <dgm:prSet presAssocID="{09265D00-2571-440C-8A2D-A0D7C0ECA357}" presName="space" presStyleCnt="0"/>
      <dgm:spPr/>
    </dgm:pt>
    <dgm:pt modelId="{7C62BDFA-9783-4BBC-A320-B4A3410C310A}" type="pres">
      <dgm:prSet presAssocID="{047B7240-9B3B-4945-ABFC-8AA577225995}" presName="compositeB" presStyleCnt="0"/>
      <dgm:spPr/>
    </dgm:pt>
    <dgm:pt modelId="{23C78EED-C1E3-4587-B3A8-671D09A24C60}" type="pres">
      <dgm:prSet presAssocID="{047B7240-9B3B-4945-ABFC-8AA577225995}" presName="textB" presStyleLbl="revTx" presStyleIdx="1" presStyleCnt="3" custScaleX="407178">
        <dgm:presLayoutVars>
          <dgm:bulletEnabled val="1"/>
        </dgm:presLayoutVars>
      </dgm:prSet>
      <dgm:spPr/>
      <dgm:t>
        <a:bodyPr/>
        <a:lstStyle/>
        <a:p>
          <a:endParaRPr lang="zh-CN" altLang="en-US"/>
        </a:p>
      </dgm:t>
    </dgm:pt>
    <dgm:pt modelId="{B3BA9797-292D-4BD6-B215-2A2809AF67DB}" type="pres">
      <dgm:prSet presAssocID="{047B7240-9B3B-4945-ABFC-8AA577225995}" presName="circleB" presStyleLbl="node1" presStyleIdx="1" presStyleCnt="3"/>
      <dgm:spPr>
        <a:solidFill>
          <a:schemeClr val="accent4">
            <a:lumMod val="60000"/>
            <a:lumOff val="40000"/>
          </a:schemeClr>
        </a:solidFill>
      </dgm:spPr>
      <dgm:t>
        <a:bodyPr/>
        <a:lstStyle/>
        <a:p>
          <a:endParaRPr lang="zh-CN" altLang="en-US"/>
        </a:p>
      </dgm:t>
    </dgm:pt>
    <dgm:pt modelId="{6C40C7D9-68FA-46D4-B5C5-44435F65B0B0}" type="pres">
      <dgm:prSet presAssocID="{047B7240-9B3B-4945-ABFC-8AA577225995}" presName="spaceB" presStyleCnt="0"/>
      <dgm:spPr/>
    </dgm:pt>
    <dgm:pt modelId="{91BF1774-F22A-4237-B0F6-5F4DB2DE7178}" type="pres">
      <dgm:prSet presAssocID="{2AD50ABE-3325-4DD9-8E1F-7ECDCF00ED92}" presName="space" presStyleCnt="0"/>
      <dgm:spPr/>
    </dgm:pt>
    <dgm:pt modelId="{C3AA8583-53D4-4888-B215-BC7443B4DF05}" type="pres">
      <dgm:prSet presAssocID="{C03C3471-A4DA-417B-8393-2DA0F765F0DE}" presName="compositeA" presStyleCnt="0"/>
      <dgm:spPr/>
    </dgm:pt>
    <dgm:pt modelId="{95967AEE-768E-418B-B9BD-64EC5DFC8B56}" type="pres">
      <dgm:prSet presAssocID="{C03C3471-A4DA-417B-8393-2DA0F765F0DE}" presName="textA" presStyleLbl="revTx" presStyleIdx="2" presStyleCnt="3" custScaleX="461748">
        <dgm:presLayoutVars>
          <dgm:bulletEnabled val="1"/>
        </dgm:presLayoutVars>
      </dgm:prSet>
      <dgm:spPr/>
      <dgm:t>
        <a:bodyPr/>
        <a:lstStyle/>
        <a:p>
          <a:endParaRPr lang="zh-CN" altLang="en-US"/>
        </a:p>
      </dgm:t>
    </dgm:pt>
    <dgm:pt modelId="{698E92A1-2510-464C-AD9E-E715F147210B}" type="pres">
      <dgm:prSet presAssocID="{C03C3471-A4DA-417B-8393-2DA0F765F0DE}" presName="circleA" presStyleLbl="node1" presStyleIdx="2" presStyleCnt="3"/>
      <dgm:spPr>
        <a:solidFill>
          <a:schemeClr val="accent3">
            <a:lumMod val="60000"/>
            <a:lumOff val="40000"/>
          </a:schemeClr>
        </a:solidFill>
      </dgm:spPr>
      <dgm:t>
        <a:bodyPr/>
        <a:lstStyle/>
        <a:p>
          <a:endParaRPr lang="zh-CN" altLang="en-US"/>
        </a:p>
      </dgm:t>
    </dgm:pt>
    <dgm:pt modelId="{E957C6D6-167F-4BDB-A1F6-022D012C34F1}" type="pres">
      <dgm:prSet presAssocID="{C03C3471-A4DA-417B-8393-2DA0F765F0DE}" presName="spaceA" presStyleCnt="0"/>
      <dgm:spPr/>
    </dgm:pt>
  </dgm:ptLst>
  <dgm:cxnLst>
    <dgm:cxn modelId="{CAF7A881-4064-484E-AD65-68FA8286D536}" type="presOf" srcId="{FEE09001-4C7E-47DA-871D-2B2CB5208FF1}" destId="{95967AEE-768E-418B-B9BD-64EC5DFC8B56}" srcOrd="0" destOrd="1" presId="urn:microsoft.com/office/officeart/2005/8/layout/hProcess11"/>
    <dgm:cxn modelId="{64CF37A1-D0D8-4AC2-94D3-E32D64FFFFE7}" srcId="{C03C3471-A4DA-417B-8393-2DA0F765F0DE}" destId="{9158A966-AB35-43AF-A6F0-9C7173D013E1}" srcOrd="4" destOrd="0" parTransId="{D80E50E7-4EC9-48D8-9D5E-71DC4C519D28}" sibTransId="{B7A3FEB9-4FD4-4183-837E-A6769272E8D3}"/>
    <dgm:cxn modelId="{6B6A2916-F279-4136-8671-D9478D3227F8}" srcId="{C03C3471-A4DA-417B-8393-2DA0F765F0DE}" destId="{FEE09001-4C7E-47DA-871D-2B2CB5208FF1}" srcOrd="0" destOrd="0" parTransId="{2935FD57-4090-43F1-8678-E561DC6E688A}" sibTransId="{A4A2C873-3668-42F2-9957-8ED12486C4A1}"/>
    <dgm:cxn modelId="{223E1234-08DA-4EE3-A0DD-CA200897F6EC}" srcId="{C03C3471-A4DA-417B-8393-2DA0F765F0DE}" destId="{B0DE3F1A-CBD3-413F-A5FA-10E36CF86B46}" srcOrd="3" destOrd="0" parTransId="{232847E1-4889-4D7C-AAED-E7ED099602DD}" sibTransId="{A9BA85D5-13FB-482C-B339-0DD08E6BE583}"/>
    <dgm:cxn modelId="{B2C4C6AE-5E90-4F89-AF9E-F8C26FDDE02E}" srcId="{13106C34-DDA7-4704-AE3C-0B0E4328523F}" destId="{5B313501-B939-4F0A-BE11-26B43473E9FF}" srcOrd="3" destOrd="0" parTransId="{AF85B447-2B02-4F75-8C9A-616935CA6685}" sibTransId="{8EE51351-088F-4B7B-A33A-2FD96BDDF508}"/>
    <dgm:cxn modelId="{B2D79252-2756-4D40-B24D-F2505AC313E0}" type="presOf" srcId="{B7C367EF-16B3-4A9B-B88E-127267392F9C}" destId="{23C78EED-C1E3-4587-B3A8-671D09A24C60}" srcOrd="0" destOrd="2" presId="urn:microsoft.com/office/officeart/2005/8/layout/hProcess11"/>
    <dgm:cxn modelId="{F7E906C9-FE59-4674-B2BC-7A11B42B20CE}" type="presOf" srcId="{96772F72-AE47-49C0-A0C2-1DD06A5A15F9}" destId="{23C78EED-C1E3-4587-B3A8-671D09A24C60}" srcOrd="0" destOrd="1" presId="urn:microsoft.com/office/officeart/2005/8/layout/hProcess11"/>
    <dgm:cxn modelId="{1A2B7A9A-77C2-454A-8550-14456C75FA43}" type="presOf" srcId="{13106C34-DDA7-4704-AE3C-0B0E4328523F}" destId="{2CD93801-4098-4C11-A909-440ECFA383A2}" srcOrd="0" destOrd="0" presId="urn:microsoft.com/office/officeart/2005/8/layout/hProcess11"/>
    <dgm:cxn modelId="{B925C0E2-668A-4CA8-975C-61C28A03441C}" srcId="{13106C34-DDA7-4704-AE3C-0B0E4328523F}" destId="{8551370D-C010-49D6-BF3F-EEB7B82AA689}" srcOrd="2" destOrd="0" parTransId="{4CAA12C2-9AB9-452C-9FED-303BCB2BBE28}" sibTransId="{4FA49140-C034-4F29-BBBB-9D539FBFEB91}"/>
    <dgm:cxn modelId="{BA5F54EC-3751-4687-93D3-609F8A278D41}" type="presOf" srcId="{B0DE3F1A-CBD3-413F-A5FA-10E36CF86B46}" destId="{95967AEE-768E-418B-B9BD-64EC5DFC8B56}" srcOrd="0" destOrd="4" presId="urn:microsoft.com/office/officeart/2005/8/layout/hProcess11"/>
    <dgm:cxn modelId="{44A04669-F52E-4A27-B6B7-42012ABBD99A}" srcId="{13106C34-DDA7-4704-AE3C-0B0E4328523F}" destId="{B72D53C2-E7F6-4223-AC4F-6E2B86EE6B67}" srcOrd="0" destOrd="0" parTransId="{49974F3F-0D85-43E3-9C0D-5C4C33820BF7}" sibTransId="{7F3E5315-BDB9-4F8F-829D-1A0EB3BFB913}"/>
    <dgm:cxn modelId="{CA92C1DE-1C5A-4093-A1F1-8AF35E56A8CD}" type="presOf" srcId="{5B313501-B939-4F0A-BE11-26B43473E9FF}" destId="{2CD93801-4098-4C11-A909-440ECFA383A2}" srcOrd="0" destOrd="4" presId="urn:microsoft.com/office/officeart/2005/8/layout/hProcess11"/>
    <dgm:cxn modelId="{CA12212C-16FE-4ADD-9040-112C9DF46F0B}" srcId="{047B7240-9B3B-4945-ABFC-8AA577225995}" destId="{B7C367EF-16B3-4A9B-B88E-127267392F9C}" srcOrd="1" destOrd="0" parTransId="{06BC124C-7610-4C21-A067-43E56544CBF5}" sibTransId="{3AFB22EF-8B98-4A62-BE5F-44FF67DAD3C5}"/>
    <dgm:cxn modelId="{5F0A0CDB-222C-4E77-95CF-78EB25A03BC6}" type="presOf" srcId="{39C589B4-D01D-4D6A-A341-4D0F1B31AA14}" destId="{2CD93801-4098-4C11-A909-440ECFA383A2}" srcOrd="0" destOrd="2" presId="urn:microsoft.com/office/officeart/2005/8/layout/hProcess11"/>
    <dgm:cxn modelId="{7BC5AABE-F7D8-4933-BECE-19DB8E90C553}" srcId="{047B7240-9B3B-4945-ABFC-8AA577225995}" destId="{96772F72-AE47-49C0-A0C2-1DD06A5A15F9}" srcOrd="0" destOrd="0" parTransId="{99D307A9-AB17-4212-9146-5DBDE43CCFDD}" sibTransId="{8E51BC18-75F4-4486-84A5-9EB337BA7E44}"/>
    <dgm:cxn modelId="{CA681FA4-E27A-4DD4-9A06-96AC3CCB9C8A}" type="presOf" srcId="{A02CEBAA-E1A0-4A5E-892A-353144A3ECB1}" destId="{BC94C317-721D-429B-9FBF-8BCC96FAAF4E}" srcOrd="0" destOrd="0" presId="urn:microsoft.com/office/officeart/2005/8/layout/hProcess11"/>
    <dgm:cxn modelId="{F92127DB-FCB2-4ACF-BD88-7D6FCC5776A0}" type="presOf" srcId="{45E3A675-0CC9-4428-9710-699168142CEE}" destId="{95967AEE-768E-418B-B9BD-64EC5DFC8B56}" srcOrd="0" destOrd="3" presId="urn:microsoft.com/office/officeart/2005/8/layout/hProcess11"/>
    <dgm:cxn modelId="{02BAFB49-29A0-4418-8227-F8F120C95367}" srcId="{A02CEBAA-E1A0-4A5E-892A-353144A3ECB1}" destId="{13106C34-DDA7-4704-AE3C-0B0E4328523F}" srcOrd="0" destOrd="0" parTransId="{5B2484B4-0902-44AE-9451-619122864D26}" sibTransId="{09265D00-2571-440C-8A2D-A0D7C0ECA357}"/>
    <dgm:cxn modelId="{EF30AE88-C2C7-45E2-9282-29B5E57CA39F}" srcId="{13106C34-DDA7-4704-AE3C-0B0E4328523F}" destId="{39C589B4-D01D-4D6A-A341-4D0F1B31AA14}" srcOrd="1" destOrd="0" parTransId="{ECFEDD94-CC08-4AFC-8465-06DDF849A734}" sibTransId="{82C87527-F35B-4DA3-96FD-AB6DAFCE0E40}"/>
    <dgm:cxn modelId="{F7ABE0D0-3EE3-49EC-8F3D-3701FF0423E7}" srcId="{C03C3471-A4DA-417B-8393-2DA0F765F0DE}" destId="{7D492492-4963-42F4-9D0B-53E54F9958D8}" srcOrd="1" destOrd="0" parTransId="{A3C85C9A-0DAB-403E-BB0D-20E6A975EB7E}" sibTransId="{068D03DD-3170-464F-AE2E-68077CFA1E93}"/>
    <dgm:cxn modelId="{F03FDA3E-DC38-49F0-859A-8A8B853879F0}" srcId="{047B7240-9B3B-4945-ABFC-8AA577225995}" destId="{6E72AE02-BAC4-4E54-9E40-0B742D15A237}" srcOrd="3" destOrd="0" parTransId="{18D59BE6-DF3F-47EA-B9E2-C6116B6F2525}" sibTransId="{D0F3B064-3F43-4701-89BE-28B5A2729BE3}"/>
    <dgm:cxn modelId="{5E969D20-45E7-4926-915F-EF05C0F0902F}" srcId="{13106C34-DDA7-4704-AE3C-0B0E4328523F}" destId="{1B73C5AF-33D7-4364-9D82-E72245BF9184}" srcOrd="4" destOrd="0" parTransId="{AD384A91-3937-4990-A28E-E172B1F36258}" sibTransId="{1BCA27D3-774D-4293-8646-0B79971A89E8}"/>
    <dgm:cxn modelId="{07D3EB7A-8ED8-4CE0-96FD-19889EC8CA95}" type="presOf" srcId="{6E72AE02-BAC4-4E54-9E40-0B742D15A237}" destId="{23C78EED-C1E3-4587-B3A8-671D09A24C60}" srcOrd="0" destOrd="4" presId="urn:microsoft.com/office/officeart/2005/8/layout/hProcess11"/>
    <dgm:cxn modelId="{B77FEA95-8DFB-46E6-9DE3-3FFAF0D8E532}" type="presOf" srcId="{8EE8107E-1400-4882-8958-AB8D26D75F47}" destId="{23C78EED-C1E3-4587-B3A8-671D09A24C60}" srcOrd="0" destOrd="3" presId="urn:microsoft.com/office/officeart/2005/8/layout/hProcess11"/>
    <dgm:cxn modelId="{72FC16FF-E0FF-4678-8D41-7FE2EB79E10E}" srcId="{C03C3471-A4DA-417B-8393-2DA0F765F0DE}" destId="{0B26858C-E93C-428D-8935-ECBE5EEFB484}" srcOrd="5" destOrd="0" parTransId="{4D82A1BD-E4BE-409D-8DC4-BB71297B2FAD}" sibTransId="{20D4B74B-5763-48A8-87A6-2F72FBF37686}"/>
    <dgm:cxn modelId="{52597289-9446-4C51-96D8-F797AC349330}" type="presOf" srcId="{1B73C5AF-33D7-4364-9D82-E72245BF9184}" destId="{2CD93801-4098-4C11-A909-440ECFA383A2}" srcOrd="0" destOrd="5" presId="urn:microsoft.com/office/officeart/2005/8/layout/hProcess11"/>
    <dgm:cxn modelId="{F50E4A10-4BE3-4840-8CEE-DA077566FEDE}" type="presOf" srcId="{9158A966-AB35-43AF-A6F0-9C7173D013E1}" destId="{95967AEE-768E-418B-B9BD-64EC5DFC8B56}" srcOrd="0" destOrd="5" presId="urn:microsoft.com/office/officeart/2005/8/layout/hProcess11"/>
    <dgm:cxn modelId="{37354275-7C11-4A99-8493-8E5A47939A2E}" type="presOf" srcId="{C03C3471-A4DA-417B-8393-2DA0F765F0DE}" destId="{95967AEE-768E-418B-B9BD-64EC5DFC8B56}" srcOrd="0" destOrd="0" presId="urn:microsoft.com/office/officeart/2005/8/layout/hProcess11"/>
    <dgm:cxn modelId="{76F68DBB-8AF3-40ED-BAF3-E0A831AAC27A}" type="presOf" srcId="{7D492492-4963-42F4-9D0B-53E54F9958D8}" destId="{95967AEE-768E-418B-B9BD-64EC5DFC8B56}" srcOrd="0" destOrd="2" presId="urn:microsoft.com/office/officeart/2005/8/layout/hProcess11"/>
    <dgm:cxn modelId="{75FDDB8C-DDA1-4008-A237-7F65106659F9}" type="presOf" srcId="{0B26858C-E93C-428D-8935-ECBE5EEFB484}" destId="{95967AEE-768E-418B-B9BD-64EC5DFC8B56}" srcOrd="0" destOrd="6" presId="urn:microsoft.com/office/officeart/2005/8/layout/hProcess11"/>
    <dgm:cxn modelId="{972459DD-7803-4179-A553-DC73E2AA763F}" srcId="{A02CEBAA-E1A0-4A5E-892A-353144A3ECB1}" destId="{C03C3471-A4DA-417B-8393-2DA0F765F0DE}" srcOrd="2" destOrd="0" parTransId="{1933975E-8B86-46FF-B7C1-099FB70E688A}" sibTransId="{B2D04BCB-8D1E-44D6-B48A-12C7951CB416}"/>
    <dgm:cxn modelId="{CBB49C45-3425-45E0-9C19-31E0EEE06CF5}" srcId="{047B7240-9B3B-4945-ABFC-8AA577225995}" destId="{8EE8107E-1400-4882-8958-AB8D26D75F47}" srcOrd="2" destOrd="0" parTransId="{25AF1120-E40A-40B4-AC31-87F29C8B4644}" sibTransId="{892792FE-C970-44E9-8E5C-38FC6089F525}"/>
    <dgm:cxn modelId="{8CDEB21A-02BA-46F9-B3DC-7C55EC43577B}" type="presOf" srcId="{047B7240-9B3B-4945-ABFC-8AA577225995}" destId="{23C78EED-C1E3-4587-B3A8-671D09A24C60}" srcOrd="0" destOrd="0" presId="urn:microsoft.com/office/officeart/2005/8/layout/hProcess11"/>
    <dgm:cxn modelId="{ED7009E0-A62C-49A6-BBA8-BE374FD40BEE}" type="presOf" srcId="{8551370D-C010-49D6-BF3F-EEB7B82AA689}" destId="{2CD93801-4098-4C11-A909-440ECFA383A2}" srcOrd="0" destOrd="3" presId="urn:microsoft.com/office/officeart/2005/8/layout/hProcess11"/>
    <dgm:cxn modelId="{8ECEC30A-7947-4089-82B2-F4118177782E}" srcId="{A02CEBAA-E1A0-4A5E-892A-353144A3ECB1}" destId="{047B7240-9B3B-4945-ABFC-8AA577225995}" srcOrd="1" destOrd="0" parTransId="{30432C7E-5CB4-43B7-ABDA-FDD668F97924}" sibTransId="{2AD50ABE-3325-4DD9-8E1F-7ECDCF00ED92}"/>
    <dgm:cxn modelId="{AEC62093-FC4F-4888-B739-19799E95FAB2}" type="presOf" srcId="{B72D53C2-E7F6-4223-AC4F-6E2B86EE6B67}" destId="{2CD93801-4098-4C11-A909-440ECFA383A2}" srcOrd="0" destOrd="1" presId="urn:microsoft.com/office/officeart/2005/8/layout/hProcess11"/>
    <dgm:cxn modelId="{F030FBCB-33D6-41A2-A6BD-B12361A2C092}" srcId="{C03C3471-A4DA-417B-8393-2DA0F765F0DE}" destId="{45E3A675-0CC9-4428-9710-699168142CEE}" srcOrd="2" destOrd="0" parTransId="{3AEB3E07-8D85-48B3-9DFC-135EA4568800}" sibTransId="{356E0774-9750-4CB7-B0FC-BB4E5F28F724}"/>
    <dgm:cxn modelId="{9563D849-73FA-458A-921C-CD2705420F68}" type="presParOf" srcId="{BC94C317-721D-429B-9FBF-8BCC96FAAF4E}" destId="{382E1F9D-5EB7-47F5-9F25-ED0620A839C8}" srcOrd="0" destOrd="0" presId="urn:microsoft.com/office/officeart/2005/8/layout/hProcess11"/>
    <dgm:cxn modelId="{8CE73661-C9AA-4A12-BFAE-49C2993392DC}" type="presParOf" srcId="{BC94C317-721D-429B-9FBF-8BCC96FAAF4E}" destId="{0EC97455-800F-4B6E-BC58-4FE74E805E41}" srcOrd="1" destOrd="0" presId="urn:microsoft.com/office/officeart/2005/8/layout/hProcess11"/>
    <dgm:cxn modelId="{023C1FEC-BBD0-4F30-B293-B4E028FDF7D8}" type="presParOf" srcId="{0EC97455-800F-4B6E-BC58-4FE74E805E41}" destId="{5ADC1BFC-505B-4E60-8A9F-1C0BECD98F60}" srcOrd="0" destOrd="0" presId="urn:microsoft.com/office/officeart/2005/8/layout/hProcess11"/>
    <dgm:cxn modelId="{5AB24A90-5ECF-4086-8550-8830211616A7}" type="presParOf" srcId="{5ADC1BFC-505B-4E60-8A9F-1C0BECD98F60}" destId="{2CD93801-4098-4C11-A909-440ECFA383A2}" srcOrd="0" destOrd="0" presId="urn:microsoft.com/office/officeart/2005/8/layout/hProcess11"/>
    <dgm:cxn modelId="{19FDE1B7-FCAE-455B-9250-8B01229F3578}" type="presParOf" srcId="{5ADC1BFC-505B-4E60-8A9F-1C0BECD98F60}" destId="{D84E3730-E2CA-4A8A-8272-498570DC41F1}" srcOrd="1" destOrd="0" presId="urn:microsoft.com/office/officeart/2005/8/layout/hProcess11"/>
    <dgm:cxn modelId="{4B973BB8-D856-4EFA-80CE-02620EE034AC}" type="presParOf" srcId="{5ADC1BFC-505B-4E60-8A9F-1C0BECD98F60}" destId="{7C1E2C63-345C-4F58-B1D9-2C57F2705265}" srcOrd="2" destOrd="0" presId="urn:microsoft.com/office/officeart/2005/8/layout/hProcess11"/>
    <dgm:cxn modelId="{FDDAE2D2-6AD6-4A9D-9F07-FC8ADC009293}" type="presParOf" srcId="{0EC97455-800F-4B6E-BC58-4FE74E805E41}" destId="{76785A7F-1334-452E-900A-122869B95075}" srcOrd="1" destOrd="0" presId="urn:microsoft.com/office/officeart/2005/8/layout/hProcess11"/>
    <dgm:cxn modelId="{3B2B5047-C7D0-48EB-ACBC-50DFCB8D61EC}" type="presParOf" srcId="{0EC97455-800F-4B6E-BC58-4FE74E805E41}" destId="{7C62BDFA-9783-4BBC-A320-B4A3410C310A}" srcOrd="2" destOrd="0" presId="urn:microsoft.com/office/officeart/2005/8/layout/hProcess11"/>
    <dgm:cxn modelId="{444B5349-51E5-42DD-9EC8-F9889C9723F2}" type="presParOf" srcId="{7C62BDFA-9783-4BBC-A320-B4A3410C310A}" destId="{23C78EED-C1E3-4587-B3A8-671D09A24C60}" srcOrd="0" destOrd="0" presId="urn:microsoft.com/office/officeart/2005/8/layout/hProcess11"/>
    <dgm:cxn modelId="{47610511-9203-4F72-B821-B4EF6DB7EC34}" type="presParOf" srcId="{7C62BDFA-9783-4BBC-A320-B4A3410C310A}" destId="{B3BA9797-292D-4BD6-B215-2A2809AF67DB}" srcOrd="1" destOrd="0" presId="urn:microsoft.com/office/officeart/2005/8/layout/hProcess11"/>
    <dgm:cxn modelId="{A52104C4-2903-4F48-A43E-EA9479AF504E}" type="presParOf" srcId="{7C62BDFA-9783-4BBC-A320-B4A3410C310A}" destId="{6C40C7D9-68FA-46D4-B5C5-44435F65B0B0}" srcOrd="2" destOrd="0" presId="urn:microsoft.com/office/officeart/2005/8/layout/hProcess11"/>
    <dgm:cxn modelId="{C0F68917-A9AE-4975-BAD3-B9199B2D674D}" type="presParOf" srcId="{0EC97455-800F-4B6E-BC58-4FE74E805E41}" destId="{91BF1774-F22A-4237-B0F6-5F4DB2DE7178}" srcOrd="3" destOrd="0" presId="urn:microsoft.com/office/officeart/2005/8/layout/hProcess11"/>
    <dgm:cxn modelId="{9E739FC4-73E4-4F46-BDD6-91729F6566A1}" type="presParOf" srcId="{0EC97455-800F-4B6E-BC58-4FE74E805E41}" destId="{C3AA8583-53D4-4888-B215-BC7443B4DF05}" srcOrd="4" destOrd="0" presId="urn:microsoft.com/office/officeart/2005/8/layout/hProcess11"/>
    <dgm:cxn modelId="{76B47888-81BC-4DE2-8D32-1AD09CDC5CB2}" type="presParOf" srcId="{C3AA8583-53D4-4888-B215-BC7443B4DF05}" destId="{95967AEE-768E-418B-B9BD-64EC5DFC8B56}" srcOrd="0" destOrd="0" presId="urn:microsoft.com/office/officeart/2005/8/layout/hProcess11"/>
    <dgm:cxn modelId="{0E31389A-15EB-4283-BD85-9A5E7552E6B4}" type="presParOf" srcId="{C3AA8583-53D4-4888-B215-BC7443B4DF05}" destId="{698E92A1-2510-464C-AD9E-E715F147210B}" srcOrd="1" destOrd="0" presId="urn:microsoft.com/office/officeart/2005/8/layout/hProcess11"/>
    <dgm:cxn modelId="{83D5197E-F946-4F57-8C4A-C80C3EBE8B1F}" type="presParOf" srcId="{C3AA8583-53D4-4888-B215-BC7443B4DF05}" destId="{E957C6D6-167F-4BDB-A1F6-022D012C34F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B12B0-8ED7-423A-98C2-ACC6EE7F5834}">
      <dsp:nvSpPr>
        <dsp:cNvPr id="0" name=""/>
        <dsp:cNvSpPr/>
      </dsp:nvSpPr>
      <dsp:spPr>
        <a:xfrm rot="10800000">
          <a:off x="327304" y="1587"/>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pPr>
          <a:r>
            <a:rPr lang="en-GB" altLang="zh-CN" sz="2400" b="1" kern="1200" dirty="0" smtClean="0"/>
            <a:t>4.1 STM32</a:t>
          </a:r>
          <a:r>
            <a:rPr lang="zh-CN" altLang="zh-CN" sz="2400" b="1" kern="1200" dirty="0" smtClean="0"/>
            <a:t>最小系统</a:t>
          </a:r>
          <a:endParaRPr lang="zh-CN" sz="2400" b="1" kern="1200" dirty="0"/>
        </a:p>
      </dsp:txBody>
      <dsp:txXfrm rot="10800000">
        <a:off x="504690" y="1587"/>
        <a:ext cx="4928644" cy="709546"/>
      </dsp:txXfrm>
    </dsp:sp>
    <dsp:sp modelId="{BD893DEC-F94E-4CFD-8B1D-44EBE27F01D8}">
      <dsp:nvSpPr>
        <dsp:cNvPr id="0" name=""/>
        <dsp:cNvSpPr/>
      </dsp:nvSpPr>
      <dsp:spPr>
        <a:xfrm>
          <a:off x="0" y="1587"/>
          <a:ext cx="709546" cy="70954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17000" r="-17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8D22E1E6-691D-45DB-B730-1DC2060C8198}">
      <dsp:nvSpPr>
        <dsp:cNvPr id="0" name=""/>
        <dsp:cNvSpPr/>
      </dsp:nvSpPr>
      <dsp:spPr>
        <a:xfrm rot="10800000">
          <a:off x="327304" y="922937"/>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pPr>
          <a:r>
            <a:rPr lang="en-US" altLang="zh-CN" sz="2400" b="1" kern="1200" dirty="0" smtClean="0"/>
            <a:t>4.2 </a:t>
          </a:r>
          <a:r>
            <a:rPr lang="zh-CN" altLang="zh-CN" sz="2400" b="1" kern="1200" dirty="0" smtClean="0"/>
            <a:t>嵌入式</a:t>
          </a:r>
          <a:r>
            <a:rPr lang="en-GB" altLang="zh-CN" sz="2400" b="1" kern="1200" dirty="0" smtClean="0"/>
            <a:t>C</a:t>
          </a:r>
          <a:r>
            <a:rPr lang="zh-CN" altLang="zh-CN" sz="2400" b="1" kern="1200" dirty="0" smtClean="0"/>
            <a:t>语言</a:t>
          </a:r>
          <a:endParaRPr lang="zh-CN" sz="2400" b="1" kern="1200" dirty="0"/>
        </a:p>
      </dsp:txBody>
      <dsp:txXfrm rot="10800000">
        <a:off x="504690" y="922937"/>
        <a:ext cx="4928644" cy="709546"/>
      </dsp:txXfrm>
    </dsp:sp>
    <dsp:sp modelId="{536BAE9F-688B-43CA-8A61-824EE17C80DA}">
      <dsp:nvSpPr>
        <dsp:cNvPr id="0" name=""/>
        <dsp:cNvSpPr/>
      </dsp:nvSpPr>
      <dsp:spPr>
        <a:xfrm>
          <a:off x="0" y="922937"/>
          <a:ext cx="709546" cy="709546"/>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C9106F8-718B-46E5-8FB7-F18DA0278976}">
      <dsp:nvSpPr>
        <dsp:cNvPr id="0" name=""/>
        <dsp:cNvSpPr/>
      </dsp:nvSpPr>
      <dsp:spPr>
        <a:xfrm rot="10800000">
          <a:off x="327304" y="1844288"/>
          <a:ext cx="5106030" cy="709546"/>
        </a:xfrm>
        <a:prstGeom prst="homePlate">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12890" tIns="91440" rIns="170688" bIns="91440" numCol="1" spcCol="1270" anchor="ctr" anchorCtr="0">
          <a:noAutofit/>
        </a:bodyPr>
        <a:lstStyle/>
        <a:p>
          <a:pPr marL="0" lvl="0" indent="177800" algn="l" defTabSz="1066800" rtl="0">
            <a:lnSpc>
              <a:spcPct val="90000"/>
            </a:lnSpc>
            <a:spcBef>
              <a:spcPct val="0"/>
            </a:spcBef>
            <a:spcAft>
              <a:spcPct val="35000"/>
            </a:spcAft>
          </a:pPr>
          <a:r>
            <a:rPr lang="en-US" altLang="zh-CN" sz="2400" b="1" kern="1200" dirty="0" smtClean="0"/>
            <a:t>4.3 HAL</a:t>
          </a:r>
          <a:r>
            <a:rPr lang="zh-CN" altLang="zh-CN" sz="2400" b="1" kern="1200" dirty="0" smtClean="0"/>
            <a:t>库文件源码分析</a:t>
          </a:r>
          <a:endParaRPr lang="zh-CN" sz="2400" b="1" kern="1200" dirty="0"/>
        </a:p>
      </dsp:txBody>
      <dsp:txXfrm rot="10800000">
        <a:off x="504690" y="1844288"/>
        <a:ext cx="4928644" cy="709546"/>
      </dsp:txXfrm>
    </dsp:sp>
    <dsp:sp modelId="{25EE83B5-9181-4312-AF69-76E7DB3C707E}">
      <dsp:nvSpPr>
        <dsp:cNvPr id="0" name=""/>
        <dsp:cNvSpPr/>
      </dsp:nvSpPr>
      <dsp:spPr>
        <a:xfrm>
          <a:off x="0" y="1844288"/>
          <a:ext cx="709546" cy="709546"/>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6000" r="-26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1B936-C86F-4A9E-9E98-C7DA2D773C88}">
      <dsp:nvSpPr>
        <dsp:cNvPr id="0" name=""/>
        <dsp:cNvSpPr/>
      </dsp:nvSpPr>
      <dsp:spPr>
        <a:xfrm>
          <a:off x="-3680333" y="-565455"/>
          <a:ext cx="4387046" cy="4387046"/>
        </a:xfrm>
        <a:prstGeom prst="blockArc">
          <a:avLst>
            <a:gd name="adj1" fmla="val 18900000"/>
            <a:gd name="adj2" fmla="val 2700000"/>
            <a:gd name="adj3" fmla="val 492"/>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9D395B-2F60-474D-9233-55D7823662B8}">
      <dsp:nvSpPr>
        <dsp:cNvPr id="0" name=""/>
        <dsp:cNvSpPr/>
      </dsp:nvSpPr>
      <dsp:spPr>
        <a:xfrm>
          <a:off x="370450" y="250331"/>
          <a:ext cx="5949340" cy="50092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GB" altLang="en-US" sz="1800" b="1" kern="1200" dirty="0" smtClean="0"/>
            <a:t>4.3.1 stm32f1xx.h</a:t>
          </a:r>
          <a:r>
            <a:rPr lang="zh-CN" altLang="en-US" sz="1800" b="1" kern="1200" dirty="0" smtClean="0"/>
            <a:t>源码分析</a:t>
          </a:r>
          <a:endParaRPr lang="zh-CN" altLang="en-US" sz="1800" b="1" kern="1200" dirty="0"/>
        </a:p>
      </dsp:txBody>
      <dsp:txXfrm>
        <a:off x="370450" y="250331"/>
        <a:ext cx="5949340" cy="500923"/>
      </dsp:txXfrm>
    </dsp:sp>
    <dsp:sp modelId="{412CF2C1-26C7-4DBC-84C3-53690705A93A}">
      <dsp:nvSpPr>
        <dsp:cNvPr id="0" name=""/>
        <dsp:cNvSpPr/>
      </dsp:nvSpPr>
      <dsp:spPr>
        <a:xfrm>
          <a:off x="57373" y="187716"/>
          <a:ext cx="626154" cy="626154"/>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01A1551-7AC6-4BD2-8D31-66B84F40F9B8}">
      <dsp:nvSpPr>
        <dsp:cNvPr id="0" name=""/>
        <dsp:cNvSpPr/>
      </dsp:nvSpPr>
      <dsp:spPr>
        <a:xfrm>
          <a:off x="657642" y="1001847"/>
          <a:ext cx="5662149" cy="500923"/>
        </a:xfrm>
        <a:prstGeom prst="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lvl="0" algn="l" defTabSz="800100">
            <a:lnSpc>
              <a:spcPct val="90000"/>
            </a:lnSpc>
            <a:spcBef>
              <a:spcPct val="0"/>
            </a:spcBef>
            <a:spcAft>
              <a:spcPct val="35000"/>
            </a:spcAft>
          </a:pPr>
          <a:r>
            <a:rPr lang="en-GB" altLang="en-US" sz="1800" b="1" kern="1200" dirty="0" smtClean="0"/>
            <a:t>4.3.2 stm32f103xe.h</a:t>
          </a:r>
          <a:endParaRPr lang="zh-CN" altLang="en-US" sz="1800" b="1" kern="1200" dirty="0"/>
        </a:p>
      </dsp:txBody>
      <dsp:txXfrm>
        <a:off x="657642" y="1001847"/>
        <a:ext cx="5662149" cy="500923"/>
      </dsp:txXfrm>
    </dsp:sp>
    <dsp:sp modelId="{9C8392CB-7BE2-483A-BA60-BC07E6CFAD4E}">
      <dsp:nvSpPr>
        <dsp:cNvPr id="0" name=""/>
        <dsp:cNvSpPr/>
      </dsp:nvSpPr>
      <dsp:spPr>
        <a:xfrm>
          <a:off x="344564" y="939232"/>
          <a:ext cx="626154" cy="626154"/>
        </a:xfrm>
        <a:prstGeom prst="ellipse">
          <a:avLst/>
        </a:prstGeom>
        <a:solidFill>
          <a:schemeClr val="lt1">
            <a:hueOff val="0"/>
            <a:satOff val="0"/>
            <a:lumOff val="0"/>
            <a:alphaOff val="0"/>
          </a:scheme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60C45125-CC70-4946-AE06-4EA1A94BE4BB}">
      <dsp:nvSpPr>
        <dsp:cNvPr id="0" name=""/>
        <dsp:cNvSpPr/>
      </dsp:nvSpPr>
      <dsp:spPr>
        <a:xfrm>
          <a:off x="657642" y="1753364"/>
          <a:ext cx="5662149" cy="500923"/>
        </a:xfrm>
        <a:prstGeom prst="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lvl="0" algn="l" defTabSz="800100">
            <a:lnSpc>
              <a:spcPct val="90000"/>
            </a:lnSpc>
            <a:spcBef>
              <a:spcPct val="0"/>
            </a:spcBef>
            <a:spcAft>
              <a:spcPct val="35000"/>
            </a:spcAft>
          </a:pPr>
          <a:r>
            <a:rPr lang="en-GB" altLang="en-US" sz="1800" b="1" kern="1200" dirty="0" smtClean="0"/>
            <a:t>4.3.3 stm32f1xx_hal.c</a:t>
          </a:r>
          <a:r>
            <a:rPr lang="zh-CN" altLang="en-US" sz="1800" b="1" kern="1200" dirty="0" smtClean="0"/>
            <a:t>和</a:t>
          </a:r>
          <a:r>
            <a:rPr lang="en-GB" altLang="en-US" sz="1800" b="1" kern="1200" dirty="0" smtClean="0"/>
            <a:t>stm32f1xx_hal.h</a:t>
          </a:r>
          <a:endParaRPr lang="zh-CN" altLang="en-US" sz="1800" b="1" kern="1200" dirty="0"/>
        </a:p>
      </dsp:txBody>
      <dsp:txXfrm>
        <a:off x="657642" y="1753364"/>
        <a:ext cx="5662149" cy="500923"/>
      </dsp:txXfrm>
    </dsp:sp>
    <dsp:sp modelId="{FEFF1738-67B2-4C97-951C-3977475049E7}">
      <dsp:nvSpPr>
        <dsp:cNvPr id="0" name=""/>
        <dsp:cNvSpPr/>
      </dsp:nvSpPr>
      <dsp:spPr>
        <a:xfrm>
          <a:off x="344564" y="1690748"/>
          <a:ext cx="626154" cy="626154"/>
        </a:xfrm>
        <a:prstGeom prst="ellipse">
          <a:avLst/>
        </a:prstGeom>
        <a:solidFill>
          <a:schemeClr val="lt1">
            <a:hueOff val="0"/>
            <a:satOff val="0"/>
            <a:lumOff val="0"/>
            <a:alphaOff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225DFC7F-CF3E-4982-AEC3-6D4BF71C3302}">
      <dsp:nvSpPr>
        <dsp:cNvPr id="0" name=""/>
        <dsp:cNvSpPr/>
      </dsp:nvSpPr>
      <dsp:spPr>
        <a:xfrm>
          <a:off x="370450" y="2504880"/>
          <a:ext cx="5949340" cy="500923"/>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7608" tIns="45720" rIns="45720" bIns="45720" numCol="1" spcCol="1270" anchor="ctr" anchorCtr="0">
          <a:noAutofit/>
        </a:bodyPr>
        <a:lstStyle/>
        <a:p>
          <a:pPr lvl="0" algn="l" defTabSz="800100">
            <a:lnSpc>
              <a:spcPct val="90000"/>
            </a:lnSpc>
            <a:spcBef>
              <a:spcPct val="0"/>
            </a:spcBef>
            <a:spcAft>
              <a:spcPct val="35000"/>
            </a:spcAft>
          </a:pPr>
          <a:r>
            <a:rPr lang="en-GB" altLang="en-US" sz="1800" b="1" kern="1200" dirty="0" smtClean="0"/>
            <a:t> 4.3.4 stm32f1xx_hal_gpio.c </a:t>
          </a:r>
          <a:r>
            <a:rPr lang="zh-CN" altLang="en-US" sz="1800" b="1" kern="1200" dirty="0" smtClean="0"/>
            <a:t>和</a:t>
          </a:r>
          <a:r>
            <a:rPr lang="en-GB" altLang="en-US" sz="1800" b="1" kern="1200" dirty="0" smtClean="0"/>
            <a:t>stm32f1xx_hal_gpio.h</a:t>
          </a:r>
          <a:endParaRPr lang="zh-CN" altLang="en-US" sz="1800" b="1" kern="1200" dirty="0"/>
        </a:p>
      </dsp:txBody>
      <dsp:txXfrm>
        <a:off x="370450" y="2504880"/>
        <a:ext cx="5949340" cy="500923"/>
      </dsp:txXfrm>
    </dsp:sp>
    <dsp:sp modelId="{2C9EEA1F-FEBC-41B3-9616-EF934FB6FD6E}">
      <dsp:nvSpPr>
        <dsp:cNvPr id="0" name=""/>
        <dsp:cNvSpPr/>
      </dsp:nvSpPr>
      <dsp:spPr>
        <a:xfrm>
          <a:off x="57373" y="2442264"/>
          <a:ext cx="626154" cy="626154"/>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A5C8D-ED58-4770-BC05-D33C1157BA83}">
      <dsp:nvSpPr>
        <dsp:cNvPr id="0" name=""/>
        <dsp:cNvSpPr/>
      </dsp:nvSpPr>
      <dsp:spPr>
        <a:xfrm rot="5400000">
          <a:off x="1925952" y="575024"/>
          <a:ext cx="992227" cy="1651044"/>
        </a:xfrm>
        <a:prstGeom prst="corner">
          <a:avLst>
            <a:gd name="adj1" fmla="val 16120"/>
            <a:gd name="adj2" fmla="val 161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9FC770B-1517-48E6-BD12-BFE70406F786}">
      <dsp:nvSpPr>
        <dsp:cNvPr id="0" name=""/>
        <dsp:cNvSpPr/>
      </dsp:nvSpPr>
      <dsp:spPr>
        <a:xfrm>
          <a:off x="1760324" y="1068330"/>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zh-CN" altLang="en-US" sz="1600" b="1" kern="1200" dirty="0" smtClean="0"/>
            <a:t>设备选型（根据具体的芯片型号包含对应芯片的头文件）</a:t>
          </a:r>
          <a:endParaRPr lang="zh-CN" altLang="en-US" sz="1600" b="1" kern="1200" dirty="0"/>
        </a:p>
      </dsp:txBody>
      <dsp:txXfrm>
        <a:off x="1760324" y="1068330"/>
        <a:ext cx="1490572" cy="1306573"/>
      </dsp:txXfrm>
    </dsp:sp>
    <dsp:sp modelId="{8AE8FED1-A64E-4E03-9162-DF79A4B0D982}">
      <dsp:nvSpPr>
        <dsp:cNvPr id="0" name=""/>
        <dsp:cNvSpPr/>
      </dsp:nvSpPr>
      <dsp:spPr>
        <a:xfrm>
          <a:off x="2969657" y="453472"/>
          <a:ext cx="281240" cy="281240"/>
        </a:xfrm>
        <a:prstGeom prst="triangle">
          <a:avLst>
            <a:gd name="adj" fmla="val 100000"/>
          </a:avLst>
        </a:prstGeom>
        <a:solidFill>
          <a:schemeClr val="accent5">
            <a:hueOff val="-2483469"/>
            <a:satOff val="9953"/>
            <a:lumOff val="2157"/>
            <a:alphaOff val="0"/>
          </a:schemeClr>
        </a:solidFill>
        <a:ln w="25400" cap="flat" cmpd="sng" algn="ctr">
          <a:solidFill>
            <a:schemeClr val="accent5">
              <a:hueOff val="-2483469"/>
              <a:satOff val="9953"/>
              <a:lumOff val="2157"/>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C185B67-7F8B-4C4F-8BDE-86A11DA3E294}">
      <dsp:nvSpPr>
        <dsp:cNvPr id="0" name=""/>
        <dsp:cNvSpPr/>
      </dsp:nvSpPr>
      <dsp:spPr>
        <a:xfrm rot="5400000">
          <a:off x="3750703" y="123487"/>
          <a:ext cx="992227" cy="1651044"/>
        </a:xfrm>
        <a:prstGeom prst="corner">
          <a:avLst>
            <a:gd name="adj1" fmla="val 16120"/>
            <a:gd name="adj2" fmla="val 16110"/>
          </a:avLst>
        </a:prstGeom>
        <a:solidFill>
          <a:schemeClr val="accent5">
            <a:hueOff val="-4966938"/>
            <a:satOff val="19906"/>
            <a:lumOff val="4314"/>
            <a:alphaOff val="0"/>
          </a:schemeClr>
        </a:solidFill>
        <a:ln w="25400" cap="flat" cmpd="sng" algn="ctr">
          <a:solidFill>
            <a:schemeClr val="accent5">
              <a:hueOff val="-4966938"/>
              <a:satOff val="19906"/>
              <a:lumOff val="4314"/>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062F1196-8948-487D-BF1B-4DD2BAF3082A}">
      <dsp:nvSpPr>
        <dsp:cNvPr id="0" name=""/>
        <dsp:cNvSpPr/>
      </dsp:nvSpPr>
      <dsp:spPr>
        <a:xfrm>
          <a:off x="3585076" y="616794"/>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zh-CN" altLang="en-US" sz="1600" b="1" kern="1200" dirty="0" smtClean="0"/>
            <a:t>是否使用基于</a:t>
          </a:r>
          <a:r>
            <a:rPr lang="en-US" altLang="zh-CN" sz="1600" b="1" kern="1200" dirty="0" smtClean="0"/>
            <a:t>HAL</a:t>
          </a:r>
          <a:r>
            <a:rPr lang="zh-CN" altLang="en-US" sz="1600" b="1" kern="1200" dirty="0" smtClean="0"/>
            <a:t>库的开发选择</a:t>
          </a:r>
          <a:endParaRPr lang="zh-CN" sz="1600" b="1" kern="1200" dirty="0"/>
        </a:p>
      </dsp:txBody>
      <dsp:txXfrm>
        <a:off x="3585076" y="616794"/>
        <a:ext cx="1490572" cy="1306573"/>
      </dsp:txXfrm>
    </dsp:sp>
    <dsp:sp modelId="{4CD04B98-3956-403C-A593-966EB2B6E239}">
      <dsp:nvSpPr>
        <dsp:cNvPr id="0" name=""/>
        <dsp:cNvSpPr/>
      </dsp:nvSpPr>
      <dsp:spPr>
        <a:xfrm>
          <a:off x="4794408" y="1935"/>
          <a:ext cx="281240" cy="281240"/>
        </a:xfrm>
        <a:prstGeom prst="triangle">
          <a:avLst>
            <a:gd name="adj" fmla="val 100000"/>
          </a:avLst>
        </a:prstGeom>
        <a:solidFill>
          <a:schemeClr val="accent5">
            <a:hueOff val="-7450407"/>
            <a:satOff val="29858"/>
            <a:lumOff val="6471"/>
            <a:alphaOff val="0"/>
          </a:schemeClr>
        </a:solidFill>
        <a:ln w="25400" cap="flat" cmpd="sng" algn="ctr">
          <a:solidFill>
            <a:schemeClr val="accent5">
              <a:hueOff val="-7450407"/>
              <a:satOff val="29858"/>
              <a:lumOff val="647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09BEF6D-13A2-4556-A184-BBB39FE41AD3}">
      <dsp:nvSpPr>
        <dsp:cNvPr id="0" name=""/>
        <dsp:cNvSpPr/>
      </dsp:nvSpPr>
      <dsp:spPr>
        <a:xfrm rot="5400000">
          <a:off x="5575455" y="-328049"/>
          <a:ext cx="992227" cy="1651044"/>
        </a:xfrm>
        <a:prstGeom prst="corner">
          <a:avLst>
            <a:gd name="adj1" fmla="val 16120"/>
            <a:gd name="adj2" fmla="val 16110"/>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47620CA-CBAB-44C3-AA82-0CD774A5DFDF}">
      <dsp:nvSpPr>
        <dsp:cNvPr id="0" name=""/>
        <dsp:cNvSpPr/>
      </dsp:nvSpPr>
      <dsp:spPr>
        <a:xfrm>
          <a:off x="5409827" y="165257"/>
          <a:ext cx="1490572" cy="130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zh-CN" altLang="en-US" sz="1600" b="1" kern="1200" dirty="0" smtClean="0"/>
            <a:t>对常用的布尔类型的变量进行了定义</a:t>
          </a:r>
          <a:endParaRPr lang="zh-CN" altLang="en-US" sz="1600" b="1" kern="1200" dirty="0"/>
        </a:p>
      </dsp:txBody>
      <dsp:txXfrm>
        <a:off x="5409827" y="165257"/>
        <a:ext cx="1490572" cy="13065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FE54D-8060-4389-B7FD-2BEF839176AA}">
      <dsp:nvSpPr>
        <dsp:cNvPr id="0" name=""/>
        <dsp:cNvSpPr/>
      </dsp:nvSpPr>
      <dsp:spPr>
        <a:xfrm>
          <a:off x="4104456" y="938041"/>
          <a:ext cx="3214635" cy="371941"/>
        </a:xfrm>
        <a:custGeom>
          <a:avLst/>
          <a:gdLst/>
          <a:ahLst/>
          <a:cxnLst/>
          <a:rect l="0" t="0" r="0" b="0"/>
          <a:pathLst>
            <a:path>
              <a:moveTo>
                <a:pt x="0" y="0"/>
              </a:moveTo>
              <a:lnTo>
                <a:pt x="0" y="185970"/>
              </a:lnTo>
              <a:lnTo>
                <a:pt x="3214635" y="185970"/>
              </a:lnTo>
              <a:lnTo>
                <a:pt x="3214635"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5ED4AC-5F8A-45B3-86CF-B01F340CE2D5}">
      <dsp:nvSpPr>
        <dsp:cNvPr id="0" name=""/>
        <dsp:cNvSpPr/>
      </dsp:nvSpPr>
      <dsp:spPr>
        <a:xfrm>
          <a:off x="4104456" y="938041"/>
          <a:ext cx="1071545" cy="371941"/>
        </a:xfrm>
        <a:custGeom>
          <a:avLst/>
          <a:gdLst/>
          <a:ahLst/>
          <a:cxnLst/>
          <a:rect l="0" t="0" r="0" b="0"/>
          <a:pathLst>
            <a:path>
              <a:moveTo>
                <a:pt x="0" y="0"/>
              </a:moveTo>
              <a:lnTo>
                <a:pt x="0" y="185970"/>
              </a:lnTo>
              <a:lnTo>
                <a:pt x="1071545" y="185970"/>
              </a:lnTo>
              <a:lnTo>
                <a:pt x="1071545"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C5AF09-9249-4AC4-9A1F-42968D34271C}">
      <dsp:nvSpPr>
        <dsp:cNvPr id="0" name=""/>
        <dsp:cNvSpPr/>
      </dsp:nvSpPr>
      <dsp:spPr>
        <a:xfrm>
          <a:off x="3032910" y="938041"/>
          <a:ext cx="1071545" cy="371941"/>
        </a:xfrm>
        <a:custGeom>
          <a:avLst/>
          <a:gdLst/>
          <a:ahLst/>
          <a:cxnLst/>
          <a:rect l="0" t="0" r="0" b="0"/>
          <a:pathLst>
            <a:path>
              <a:moveTo>
                <a:pt x="1071545" y="0"/>
              </a:moveTo>
              <a:lnTo>
                <a:pt x="1071545" y="185970"/>
              </a:lnTo>
              <a:lnTo>
                <a:pt x="0" y="185970"/>
              </a:lnTo>
              <a:lnTo>
                <a:pt x="0"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6B933E-AFA2-45A9-8E9F-E8AFD21067AD}">
      <dsp:nvSpPr>
        <dsp:cNvPr id="0" name=""/>
        <dsp:cNvSpPr/>
      </dsp:nvSpPr>
      <dsp:spPr>
        <a:xfrm>
          <a:off x="889820" y="938041"/>
          <a:ext cx="3214635" cy="371941"/>
        </a:xfrm>
        <a:custGeom>
          <a:avLst/>
          <a:gdLst/>
          <a:ahLst/>
          <a:cxnLst/>
          <a:rect l="0" t="0" r="0" b="0"/>
          <a:pathLst>
            <a:path>
              <a:moveTo>
                <a:pt x="3214635" y="0"/>
              </a:moveTo>
              <a:lnTo>
                <a:pt x="3214635" y="185970"/>
              </a:lnTo>
              <a:lnTo>
                <a:pt x="0" y="185970"/>
              </a:lnTo>
              <a:lnTo>
                <a:pt x="0" y="37194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61C707-AE10-467E-862D-471A359F2020}">
      <dsp:nvSpPr>
        <dsp:cNvPr id="0" name=""/>
        <dsp:cNvSpPr/>
      </dsp:nvSpPr>
      <dsp:spPr>
        <a:xfrm>
          <a:off x="3218881" y="52466"/>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b="1" kern="1200" dirty="0" smtClean="0"/>
            <a:t>stm32f1xx_hal.c</a:t>
          </a:r>
          <a:endParaRPr lang="zh-CN" altLang="en-US" sz="1800" b="1" kern="1200" dirty="0"/>
        </a:p>
      </dsp:txBody>
      <dsp:txXfrm>
        <a:off x="3218881" y="52466"/>
        <a:ext cx="1771148" cy="885574"/>
      </dsp:txXfrm>
    </dsp:sp>
    <dsp:sp modelId="{8205E78F-1720-4E6F-9500-25D99D2A5535}">
      <dsp:nvSpPr>
        <dsp:cNvPr id="0" name=""/>
        <dsp:cNvSpPr/>
      </dsp:nvSpPr>
      <dsp:spPr>
        <a:xfrm>
          <a:off x="424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b="1" kern="1200" dirty="0" smtClean="0"/>
            <a:t>HAL</a:t>
          </a:r>
          <a:r>
            <a:rPr lang="zh-CN" altLang="en-US" sz="1800" b="1" kern="1200" dirty="0" smtClean="0"/>
            <a:t>的初始化</a:t>
          </a:r>
          <a:endParaRPr lang="en-US" altLang="zh-CN" sz="1800" b="1" kern="1200" dirty="0" smtClean="0"/>
        </a:p>
        <a:p>
          <a:pPr lvl="0" algn="ctr" defTabSz="800100">
            <a:lnSpc>
              <a:spcPct val="90000"/>
            </a:lnSpc>
            <a:spcBef>
              <a:spcPct val="0"/>
            </a:spcBef>
            <a:spcAft>
              <a:spcPct val="35000"/>
            </a:spcAft>
          </a:pPr>
          <a:r>
            <a:rPr lang="zh-CN" altLang="en-US" sz="1800" b="1" kern="1200" dirty="0" smtClean="0"/>
            <a:t>函数</a:t>
          </a:r>
          <a:r>
            <a:rPr lang="en-US" altLang="zh-CN" sz="1800" b="1" kern="1200" dirty="0" err="1" smtClean="0"/>
            <a:t>HAL_Init</a:t>
          </a:r>
          <a:r>
            <a:rPr lang="en-US" altLang="zh-CN" sz="1800" b="1" kern="1200" dirty="0" smtClean="0"/>
            <a:t>()</a:t>
          </a:r>
          <a:endParaRPr lang="zh-CN" altLang="en-US" sz="1800" b="1" kern="1200" dirty="0"/>
        </a:p>
      </dsp:txBody>
      <dsp:txXfrm>
        <a:off x="4246" y="1309982"/>
        <a:ext cx="1771148" cy="885574"/>
      </dsp:txXfrm>
    </dsp:sp>
    <dsp:sp modelId="{6693CEA8-7BA1-4ABD-8D38-07CB64A1939A}">
      <dsp:nvSpPr>
        <dsp:cNvPr id="0" name=""/>
        <dsp:cNvSpPr/>
      </dsp:nvSpPr>
      <dsp:spPr>
        <a:xfrm>
          <a:off x="214733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b="1" kern="1200" dirty="0" smtClean="0"/>
            <a:t>复位函数</a:t>
          </a:r>
          <a:r>
            <a:rPr lang="en-US" altLang="zh-CN" sz="1800" b="1" kern="1200" dirty="0" err="1" smtClean="0"/>
            <a:t>HAL_DeInit</a:t>
          </a:r>
          <a:r>
            <a:rPr lang="en-US" altLang="zh-CN" sz="1800" b="1" kern="1200" dirty="0" smtClean="0"/>
            <a:t>()</a:t>
          </a:r>
          <a:endParaRPr lang="zh-CN" altLang="en-US" sz="1800" b="1" kern="1200" dirty="0"/>
        </a:p>
      </dsp:txBody>
      <dsp:txXfrm>
        <a:off x="2147336" y="1309982"/>
        <a:ext cx="1771148" cy="885574"/>
      </dsp:txXfrm>
    </dsp:sp>
    <dsp:sp modelId="{3C1406D1-890C-4B7C-965F-0C3D0A683D9E}">
      <dsp:nvSpPr>
        <dsp:cNvPr id="0" name=""/>
        <dsp:cNvSpPr/>
      </dsp:nvSpPr>
      <dsp:spPr>
        <a:xfrm>
          <a:off x="429042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b="1" kern="1200" dirty="0" smtClean="0"/>
            <a:t>HAL</a:t>
          </a:r>
          <a:r>
            <a:rPr lang="zh-CN" altLang="en-US" sz="1800" b="1" kern="1200" dirty="0" smtClean="0"/>
            <a:t>通用的</a:t>
          </a:r>
          <a:endParaRPr lang="en-US" altLang="zh-CN" sz="1800" b="1" kern="1200" dirty="0" smtClean="0"/>
        </a:p>
        <a:p>
          <a:pPr lvl="0" algn="ctr" defTabSz="800100">
            <a:lnSpc>
              <a:spcPct val="90000"/>
            </a:lnSpc>
            <a:spcBef>
              <a:spcPct val="0"/>
            </a:spcBef>
            <a:spcAft>
              <a:spcPct val="35000"/>
            </a:spcAft>
          </a:pPr>
          <a:r>
            <a:rPr lang="en-US" altLang="zh-CN" sz="1800" b="1" kern="1200" dirty="0" smtClean="0"/>
            <a:t>API</a:t>
          </a:r>
          <a:r>
            <a:rPr lang="zh-CN" altLang="en-US" sz="1800" b="1" kern="1200" dirty="0" smtClean="0"/>
            <a:t>函数</a:t>
          </a:r>
          <a:endParaRPr lang="zh-CN" altLang="en-US" sz="1800" b="1" kern="1200" dirty="0"/>
        </a:p>
      </dsp:txBody>
      <dsp:txXfrm>
        <a:off x="4290426" y="1309982"/>
        <a:ext cx="1771148" cy="885574"/>
      </dsp:txXfrm>
    </dsp:sp>
    <dsp:sp modelId="{9CF3883A-4708-4476-9BF4-5A5F80A80E49}">
      <dsp:nvSpPr>
        <dsp:cNvPr id="0" name=""/>
        <dsp:cNvSpPr/>
      </dsp:nvSpPr>
      <dsp:spPr>
        <a:xfrm>
          <a:off x="6433516" y="1309982"/>
          <a:ext cx="1771148" cy="885574"/>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b="1" kern="1200" dirty="0" smtClean="0"/>
            <a:t>……</a:t>
          </a:r>
          <a:endParaRPr lang="zh-CN" altLang="en-US" sz="1800" b="1" kern="1200" dirty="0"/>
        </a:p>
      </dsp:txBody>
      <dsp:txXfrm>
        <a:off x="6433516" y="1309982"/>
        <a:ext cx="1771148" cy="8855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2E1F9D-5EB7-47F5-9F25-ED0620A839C8}">
      <dsp:nvSpPr>
        <dsp:cNvPr id="0" name=""/>
        <dsp:cNvSpPr/>
      </dsp:nvSpPr>
      <dsp:spPr>
        <a:xfrm>
          <a:off x="0" y="853036"/>
          <a:ext cx="7272808" cy="1137381"/>
        </a:xfrm>
        <a:prstGeom prst="notchedRightArrow">
          <a:avLst/>
        </a:prstGeom>
        <a:solidFill>
          <a:schemeClr val="accent5">
            <a:lumMod val="75000"/>
          </a:schemeClr>
        </a:solidFill>
        <a:ln>
          <a:noFill/>
        </a:ln>
        <a:effectLst/>
      </dsp:spPr>
      <dsp:style>
        <a:lnRef idx="0">
          <a:scrgbClr r="0" g="0" b="0"/>
        </a:lnRef>
        <a:fillRef idx="1">
          <a:scrgbClr r="0" g="0" b="0"/>
        </a:fillRef>
        <a:effectRef idx="0">
          <a:scrgbClr r="0" g="0" b="0"/>
        </a:effectRef>
        <a:fontRef idx="minor"/>
      </dsp:style>
    </dsp:sp>
    <dsp:sp modelId="{2CD93801-4098-4C11-A909-440ECFA383A2}">
      <dsp:nvSpPr>
        <dsp:cNvPr id="0" name=""/>
        <dsp:cNvSpPr/>
      </dsp:nvSpPr>
      <dsp:spPr>
        <a:xfrm>
          <a:off x="193336" y="0"/>
          <a:ext cx="1927074"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1">
          <a:noAutofit/>
        </a:bodyPr>
        <a:lstStyle/>
        <a:p>
          <a:pPr lvl="0" algn="l" defTabSz="711200" rtl="0">
            <a:lnSpc>
              <a:spcPct val="90000"/>
            </a:lnSpc>
            <a:spcBef>
              <a:spcPct val="0"/>
            </a:spcBef>
            <a:spcAft>
              <a:spcPct val="35000"/>
            </a:spcAft>
          </a:pPr>
          <a:r>
            <a:rPr lang="en-GB" altLang="zh-CN" sz="1600" b="1" kern="1200" dirty="0" smtClean="0"/>
            <a:t>4.1 STM32</a:t>
          </a:r>
          <a:r>
            <a:rPr lang="zh-CN" altLang="en-US" sz="1600" b="1" kern="1200" dirty="0" smtClean="0"/>
            <a:t>最小系统</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smtClean="0"/>
            <a:t>电源电路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smtClean="0"/>
            <a:t>时钟电路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smtClean="0"/>
            <a:t>复位电路</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smtClean="0"/>
            <a:t>调试和下载电路</a:t>
          </a:r>
          <a:endParaRPr lang="zh-CN" sz="1600" b="1" kern="1200" dirty="0"/>
        </a:p>
        <a:p>
          <a:pPr marL="171450" lvl="1" indent="-171450" algn="l" defTabSz="711200" rtl="0">
            <a:lnSpc>
              <a:spcPct val="90000"/>
            </a:lnSpc>
            <a:spcBef>
              <a:spcPct val="0"/>
            </a:spcBef>
            <a:spcAft>
              <a:spcPct val="15000"/>
            </a:spcAft>
            <a:buChar char="••"/>
          </a:pPr>
          <a:r>
            <a:rPr lang="en-US" altLang="zh-CN" sz="1600" b="1" kern="1200" dirty="0" smtClean="0"/>
            <a:t>LED</a:t>
          </a:r>
          <a:r>
            <a:rPr lang="zh-CN" altLang="en-US" sz="1600" b="1" kern="1200" dirty="0" smtClean="0"/>
            <a:t>指示电路</a:t>
          </a:r>
          <a:endParaRPr lang="zh-CN" sz="1600" b="1" kern="1200" dirty="0"/>
        </a:p>
      </dsp:txBody>
      <dsp:txXfrm>
        <a:off x="193336" y="0"/>
        <a:ext cx="1927074" cy="1137381"/>
      </dsp:txXfrm>
    </dsp:sp>
    <dsp:sp modelId="{D84E3730-E2CA-4A8A-8272-498570DC41F1}">
      <dsp:nvSpPr>
        <dsp:cNvPr id="0" name=""/>
        <dsp:cNvSpPr/>
      </dsp:nvSpPr>
      <dsp:spPr>
        <a:xfrm>
          <a:off x="823618" y="1279554"/>
          <a:ext cx="284345" cy="284345"/>
        </a:xfrm>
        <a:prstGeom prst="ellipse">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C78EED-C1E3-4587-B3A8-671D09A24C60}">
      <dsp:nvSpPr>
        <dsp:cNvPr id="0" name=""/>
        <dsp:cNvSpPr/>
      </dsp:nvSpPr>
      <dsp:spPr>
        <a:xfrm>
          <a:off x="1955576" y="1706072"/>
          <a:ext cx="2137491"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1">
          <a:noAutofit/>
        </a:bodyPr>
        <a:lstStyle/>
        <a:p>
          <a:pPr lvl="0" algn="l" defTabSz="711200" rtl="0">
            <a:lnSpc>
              <a:spcPct val="90000"/>
            </a:lnSpc>
            <a:spcBef>
              <a:spcPct val="0"/>
            </a:spcBef>
            <a:spcAft>
              <a:spcPct val="35000"/>
            </a:spcAft>
          </a:pPr>
          <a:r>
            <a:rPr lang="en-US" altLang="zh-CN" sz="1600" b="1" kern="1200" dirty="0" smtClean="0"/>
            <a:t>4</a:t>
          </a:r>
          <a:r>
            <a:rPr lang="en-GB" altLang="zh-CN" sz="1600" b="1" kern="1200" dirty="0" smtClean="0"/>
            <a:t>.2 </a:t>
          </a:r>
          <a:r>
            <a:rPr lang="zh-CN" altLang="en-US" sz="1600" b="1" kern="1200" dirty="0" smtClean="0"/>
            <a:t>嵌入式</a:t>
          </a:r>
          <a:r>
            <a:rPr lang="en-US" altLang="zh-CN" sz="1600" b="1" kern="1200" dirty="0" smtClean="0"/>
            <a:t>C</a:t>
          </a:r>
          <a:r>
            <a:rPr lang="zh-CN" altLang="en-US" sz="1600" b="1" kern="1200" dirty="0" smtClean="0"/>
            <a:t>语言</a:t>
          </a:r>
          <a:endParaRPr lang="zh-CN" sz="1600" b="1" kern="1200" dirty="0"/>
        </a:p>
        <a:p>
          <a:pPr marL="171450" lvl="1" indent="-171450" algn="l" defTabSz="711200" rtl="0">
            <a:lnSpc>
              <a:spcPct val="90000"/>
            </a:lnSpc>
            <a:spcBef>
              <a:spcPct val="0"/>
            </a:spcBef>
            <a:spcAft>
              <a:spcPct val="15000"/>
            </a:spcAft>
            <a:buChar char="••"/>
          </a:pPr>
          <a:r>
            <a:rPr lang="zh-CN" altLang="en-US" sz="1600" b="1" kern="1200" dirty="0" smtClean="0"/>
            <a:t>数据类型</a:t>
          </a:r>
          <a:endParaRPr lang="zh-CN" altLang="en-US" sz="1600" b="1" kern="1200" dirty="0"/>
        </a:p>
        <a:p>
          <a:pPr marL="171450" lvl="1" indent="-171450" algn="l" defTabSz="711200" rtl="0">
            <a:lnSpc>
              <a:spcPct val="90000"/>
            </a:lnSpc>
            <a:spcBef>
              <a:spcPct val="0"/>
            </a:spcBef>
            <a:spcAft>
              <a:spcPct val="15000"/>
            </a:spcAft>
            <a:buChar char="••"/>
          </a:pPr>
          <a:r>
            <a:rPr lang="zh-CN" altLang="en-US" sz="1600" b="1" kern="1200" dirty="0" smtClean="0"/>
            <a:t>各关键词</a:t>
          </a:r>
          <a:endParaRPr lang="zh-CN" altLang="en-US" sz="1600" b="1" kern="1200" dirty="0"/>
        </a:p>
        <a:p>
          <a:pPr marL="171450" lvl="1" indent="-171450" algn="l" defTabSz="711200" rtl="0">
            <a:lnSpc>
              <a:spcPct val="90000"/>
            </a:lnSpc>
            <a:spcBef>
              <a:spcPct val="0"/>
            </a:spcBef>
            <a:spcAft>
              <a:spcPct val="15000"/>
            </a:spcAft>
            <a:buChar char="••"/>
          </a:pPr>
          <a:r>
            <a:rPr lang="zh-CN" altLang="en-US" sz="1600" b="1" kern="1200" dirty="0" smtClean="0"/>
            <a:t>指针</a:t>
          </a:r>
          <a:endParaRPr lang="zh-CN" altLang="en-US" sz="1600" b="1" kern="1200" dirty="0"/>
        </a:p>
        <a:p>
          <a:pPr marL="171450" lvl="1" indent="-171450" algn="l" defTabSz="711200" rtl="0">
            <a:lnSpc>
              <a:spcPct val="90000"/>
            </a:lnSpc>
            <a:spcBef>
              <a:spcPct val="0"/>
            </a:spcBef>
            <a:spcAft>
              <a:spcPct val="15000"/>
            </a:spcAft>
            <a:buChar char="••"/>
          </a:pPr>
          <a:r>
            <a:rPr lang="zh-CN" altLang="en-US" sz="1600" b="1" kern="1200" dirty="0" smtClean="0"/>
            <a:t>回调函数</a:t>
          </a:r>
          <a:endParaRPr lang="zh-CN" altLang="en-US" sz="1600" b="1" kern="1200" dirty="0"/>
        </a:p>
      </dsp:txBody>
      <dsp:txXfrm>
        <a:off x="1955576" y="1706072"/>
        <a:ext cx="2137491" cy="1137381"/>
      </dsp:txXfrm>
    </dsp:sp>
    <dsp:sp modelId="{B3BA9797-292D-4BD6-B215-2A2809AF67DB}">
      <dsp:nvSpPr>
        <dsp:cNvPr id="0" name=""/>
        <dsp:cNvSpPr/>
      </dsp:nvSpPr>
      <dsp:spPr>
        <a:xfrm>
          <a:off x="2882149" y="1279554"/>
          <a:ext cx="284345" cy="284345"/>
        </a:xfrm>
        <a:prstGeom prst="ellipse">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967AEE-768E-418B-B9BD-64EC5DFC8B56}">
      <dsp:nvSpPr>
        <dsp:cNvPr id="0" name=""/>
        <dsp:cNvSpPr/>
      </dsp:nvSpPr>
      <dsp:spPr>
        <a:xfrm>
          <a:off x="4119315" y="0"/>
          <a:ext cx="2423957" cy="11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1">
          <a:noAutofit/>
        </a:bodyPr>
        <a:lstStyle/>
        <a:p>
          <a:pPr lvl="0" algn="l" defTabSz="711200" rtl="0">
            <a:lnSpc>
              <a:spcPct val="90000"/>
            </a:lnSpc>
            <a:spcBef>
              <a:spcPct val="0"/>
            </a:spcBef>
            <a:spcAft>
              <a:spcPct val="35000"/>
            </a:spcAft>
          </a:pPr>
          <a:r>
            <a:rPr lang="en-US" altLang="zh-CN" sz="1600" b="1" kern="1200" dirty="0" smtClean="0"/>
            <a:t>4.3 HAL</a:t>
          </a:r>
          <a:r>
            <a:rPr lang="zh-CN" altLang="en-US" sz="1600" b="1" kern="1200" dirty="0" smtClean="0"/>
            <a:t>库源码分析</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stm32f1xx.h</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stm32f103xe.h</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stm32f1xx_hal.c</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stm32f1xx_hal.</a:t>
          </a:r>
          <a:r>
            <a:rPr lang="en-US" altLang="zh-CN" sz="1600" b="1" kern="1200" dirty="0" smtClean="0"/>
            <a:t>h</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stm32f1xx_hal_gpio.c</a:t>
          </a:r>
          <a:endParaRPr lang="zh-CN" sz="1600" b="1" kern="1200" dirty="0"/>
        </a:p>
        <a:p>
          <a:pPr marL="171450" lvl="1" indent="-171450" algn="l" defTabSz="711200" rtl="0">
            <a:lnSpc>
              <a:spcPct val="90000"/>
            </a:lnSpc>
            <a:spcBef>
              <a:spcPct val="0"/>
            </a:spcBef>
            <a:spcAft>
              <a:spcPct val="15000"/>
            </a:spcAft>
            <a:buChar char="••"/>
          </a:pPr>
          <a:r>
            <a:rPr lang="en-US" sz="1600" b="1" kern="1200" dirty="0" smtClean="0"/>
            <a:t>stm32f1xx_hal_gpio.</a:t>
          </a:r>
          <a:r>
            <a:rPr lang="en-US" altLang="zh-CN" sz="1600" b="1" kern="1200" dirty="0" smtClean="0"/>
            <a:t>h</a:t>
          </a:r>
          <a:endParaRPr lang="zh-CN" sz="1600" b="1" kern="1200" dirty="0"/>
        </a:p>
      </dsp:txBody>
      <dsp:txXfrm>
        <a:off x="4119315" y="0"/>
        <a:ext cx="2423957" cy="1137381"/>
      </dsp:txXfrm>
    </dsp:sp>
    <dsp:sp modelId="{698E92A1-2510-464C-AD9E-E715F147210B}">
      <dsp:nvSpPr>
        <dsp:cNvPr id="0" name=""/>
        <dsp:cNvSpPr/>
      </dsp:nvSpPr>
      <dsp:spPr>
        <a:xfrm>
          <a:off x="5189121" y="1279554"/>
          <a:ext cx="284345" cy="284345"/>
        </a:xfrm>
        <a:prstGeom prst="ellipse">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2020/6/16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44</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45</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46</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47</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48</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49</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52</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53</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54</a:t>
            </a:fld>
            <a:endParaRPr lang="zh-CN" altLang="en-US"/>
          </a:p>
        </p:txBody>
      </p:sp>
    </p:spTree>
    <p:extLst>
      <p:ext uri="{BB962C8B-B14F-4D97-AF65-F5344CB8AC3E}">
        <p14:creationId xmlns:p14="http://schemas.microsoft.com/office/powerpoint/2010/main" val="2144967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79</a:t>
            </a:fld>
            <a:endParaRPr lang="zh-CN" altLang="en-US"/>
          </a:p>
        </p:txBody>
      </p:sp>
    </p:spTree>
    <p:extLst>
      <p:ext uri="{BB962C8B-B14F-4D97-AF65-F5344CB8AC3E}">
        <p14:creationId xmlns:p14="http://schemas.microsoft.com/office/powerpoint/2010/main" val="4096188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5" name="页脚占位符 4"/>
          <p:cNvSpPr>
            <a:spLocks noGrp="1"/>
          </p:cNvSpPr>
          <p:nvPr>
            <p:ph type="ftr" sz="quarter" idx="11"/>
          </p:nvPr>
        </p:nvSpPr>
        <p:spPr>
          <a:xfrm>
            <a:off x="3131840" y="4731990"/>
            <a:ext cx="2895600" cy="273844"/>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662464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99749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325E833-01A2-4376-8CC2-6FA6AA5AF896}" type="datetimeFigureOut">
              <a:rPr lang="zh-CN" altLang="en-US" smtClean="0"/>
              <a:pPr/>
              <a:t>2020/6/16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425390" cy="646331"/>
          </a:xfrm>
          <a:prstGeom prst="rect">
            <a:avLst/>
          </a:prstGeom>
        </p:spPr>
        <p:txBody>
          <a:bodyPr wrap="none">
            <a:spAutoFit/>
          </a:bodyPr>
          <a:lstStyle/>
          <a:p>
            <a:r>
              <a:rPr lang="zh-CN" altLang="en-US" sz="3600" b="1" dirty="0" smtClean="0">
                <a:solidFill>
                  <a:schemeClr val="bg1"/>
                </a:solidFill>
                <a:latin typeface="华文隶书" pitchFamily="2" charset="-122"/>
                <a:ea typeface="华文隶书" pitchFamily="2" charset="-122"/>
              </a:rPr>
              <a:t>第</a:t>
            </a:r>
            <a:r>
              <a:rPr lang="en-US" altLang="zh-CN" sz="3600" b="1" dirty="0" smtClean="0">
                <a:solidFill>
                  <a:schemeClr val="bg1"/>
                </a:solidFill>
                <a:latin typeface="华文隶书" pitchFamily="2" charset="-122"/>
                <a:ea typeface="华文隶书" pitchFamily="2" charset="-122"/>
              </a:rPr>
              <a:t>4</a:t>
            </a:r>
            <a:r>
              <a:rPr lang="zh-CN" altLang="en-US" sz="3600" b="1" dirty="0" smtClean="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915816" y="1898613"/>
            <a:ext cx="5256584" cy="1200329"/>
          </a:xfrm>
          <a:prstGeom prst="rect">
            <a:avLst/>
          </a:prstGeom>
          <a:solidFill>
            <a:schemeClr val="bg1"/>
          </a:solidFill>
        </p:spPr>
        <p:txBody>
          <a:bodyPr wrap="square">
            <a:spAutoFit/>
          </a:bodyPr>
          <a:lstStyle/>
          <a:p>
            <a:r>
              <a:rPr lang="en-US" altLang="zh-CN" sz="3600" b="1" dirty="0">
                <a:solidFill>
                  <a:schemeClr val="accent1">
                    <a:lumMod val="75000"/>
                  </a:schemeClr>
                </a:solidFill>
                <a:latin typeface="华文隶书" pitchFamily="2" charset="-122"/>
                <a:ea typeface="华文隶书" pitchFamily="2" charset="-122"/>
              </a:rPr>
              <a:t>STM32</a:t>
            </a:r>
            <a:r>
              <a:rPr lang="zh-CN" altLang="en-US" sz="3600" b="1" dirty="0">
                <a:solidFill>
                  <a:schemeClr val="accent1">
                    <a:lumMod val="75000"/>
                  </a:schemeClr>
                </a:solidFill>
                <a:latin typeface="华文隶书" pitchFamily="2" charset="-122"/>
                <a:ea typeface="华文隶书" pitchFamily="2" charset="-122"/>
              </a:rPr>
              <a:t>最小</a:t>
            </a:r>
            <a:r>
              <a:rPr lang="zh-CN" altLang="en-US" sz="3600" b="1" dirty="0" smtClean="0">
                <a:solidFill>
                  <a:schemeClr val="accent1">
                    <a:lumMod val="75000"/>
                  </a:schemeClr>
                </a:solidFill>
                <a:latin typeface="华文隶书" pitchFamily="2" charset="-122"/>
                <a:ea typeface="华文隶书" pitchFamily="2" charset="-122"/>
              </a:rPr>
              <a:t>系统</a:t>
            </a:r>
            <a:endParaRPr lang="en-GB" altLang="zh-CN" sz="3600" b="1" dirty="0" smtClean="0">
              <a:solidFill>
                <a:schemeClr val="accent1">
                  <a:lumMod val="75000"/>
                </a:schemeClr>
              </a:solidFill>
              <a:latin typeface="华文隶书" pitchFamily="2" charset="-122"/>
              <a:ea typeface="华文隶书" pitchFamily="2" charset="-122"/>
            </a:endParaRPr>
          </a:p>
          <a:p>
            <a:r>
              <a:rPr lang="en-GB" altLang="zh-CN" sz="3600" b="1" dirty="0">
                <a:solidFill>
                  <a:schemeClr val="accent1">
                    <a:lumMod val="75000"/>
                  </a:schemeClr>
                </a:solidFill>
                <a:latin typeface="华文隶书" pitchFamily="2" charset="-122"/>
                <a:ea typeface="华文隶书" pitchFamily="2" charset="-122"/>
              </a:rPr>
              <a:t> </a:t>
            </a:r>
            <a:r>
              <a:rPr lang="en-GB" altLang="zh-CN" sz="3600" b="1" dirty="0" smtClean="0">
                <a:solidFill>
                  <a:schemeClr val="accent1">
                    <a:lumMod val="75000"/>
                  </a:schemeClr>
                </a:solidFill>
                <a:latin typeface="华文隶书" pitchFamily="2" charset="-122"/>
                <a:ea typeface="华文隶书" pitchFamily="2" charset="-122"/>
              </a:rPr>
              <a:t>               </a:t>
            </a:r>
            <a:r>
              <a:rPr lang="zh-CN" altLang="en-US" sz="3600" b="1" dirty="0" smtClean="0">
                <a:solidFill>
                  <a:schemeClr val="accent1">
                    <a:lumMod val="75000"/>
                  </a:schemeClr>
                </a:solidFill>
                <a:latin typeface="华文隶书" pitchFamily="2" charset="-122"/>
                <a:ea typeface="华文隶书" pitchFamily="2" charset="-122"/>
              </a:rPr>
              <a:t>与</a:t>
            </a:r>
            <a:r>
              <a:rPr lang="zh-CN" altLang="en-US" sz="3600" b="1" dirty="0">
                <a:solidFill>
                  <a:schemeClr val="accent1">
                    <a:lumMod val="75000"/>
                  </a:schemeClr>
                </a:solidFill>
                <a:latin typeface="华文隶书" pitchFamily="2" charset="-122"/>
                <a:ea typeface="华文隶书" pitchFamily="2" charset="-122"/>
              </a:rPr>
              <a:t>嵌入式</a:t>
            </a:r>
            <a:r>
              <a:rPr lang="en-US" altLang="zh-CN" sz="3600" b="1" dirty="0">
                <a:solidFill>
                  <a:schemeClr val="accent1">
                    <a:lumMod val="75000"/>
                  </a:schemeClr>
                </a:solidFill>
                <a:latin typeface="华文隶书" pitchFamily="2" charset="-122"/>
                <a:ea typeface="华文隶书" pitchFamily="2" charset="-122"/>
              </a:rPr>
              <a:t>C</a:t>
            </a:r>
            <a:r>
              <a:rPr lang="zh-CN" altLang="en-US" sz="3600" b="1" dirty="0">
                <a:solidFill>
                  <a:schemeClr val="accent1">
                    <a:lumMod val="75000"/>
                  </a:schemeClr>
                </a:solidFill>
                <a:latin typeface="华文隶书" pitchFamily="2" charset="-122"/>
                <a:ea typeface="华文隶书" pitchFamily="2" charset="-122"/>
              </a:rPr>
              <a:t>语言</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472839" y="1275606"/>
            <a:ext cx="6768752" cy="3323987"/>
          </a:xfrm>
          <a:prstGeom prst="rect">
            <a:avLst/>
          </a:prstGeom>
        </p:spPr>
        <p:txBody>
          <a:bodyPr wrap="square">
            <a:spAutoFit/>
          </a:bodyPr>
          <a:lstStyle/>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最小系统设计；</a:t>
            </a:r>
          </a:p>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理解</a:t>
            </a:r>
            <a:r>
              <a:rPr lang="zh-CN" altLang="en-US" sz="2000" b="1" dirty="0">
                <a:ea typeface="华文楷体" pitchFamily="2" charset="-122"/>
                <a:cs typeface="Times New Roman" pitchFamily="18" charset="0"/>
              </a:rPr>
              <a:t>和掌握嵌入式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语言的程序结构；</a:t>
            </a:r>
          </a:p>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a:t>
            </a:r>
            <a:r>
              <a:rPr lang="zh-CN" altLang="en-US" sz="2000" b="1" dirty="0">
                <a:ea typeface="华文楷体" pitchFamily="2" charset="-122"/>
                <a:cs typeface="Times New Roman" pitchFamily="18" charset="0"/>
              </a:rPr>
              <a:t>嵌入式</a:t>
            </a:r>
            <a:r>
              <a:rPr lang="en-US" altLang="zh-CN" sz="2000" b="1" dirty="0">
                <a:ea typeface="华文楷体" pitchFamily="2" charset="-122"/>
                <a:cs typeface="Times New Roman" pitchFamily="18" charset="0"/>
              </a:rPr>
              <a:t>C</a:t>
            </a:r>
            <a:r>
              <a:rPr lang="zh-CN" altLang="en-US" sz="2000" b="1" dirty="0">
                <a:ea typeface="华文楷体" pitchFamily="2" charset="-122"/>
                <a:cs typeface="Times New Roman" pitchFamily="18" charset="0"/>
              </a:rPr>
              <a:t>语言的数据类型、</a:t>
            </a:r>
            <a:r>
              <a:rPr lang="en-US" altLang="zh-CN" sz="2000" b="1" dirty="0" err="1">
                <a:ea typeface="华文楷体" pitchFamily="2" charset="-122"/>
                <a:cs typeface="Times New Roman" pitchFamily="18" charset="0"/>
              </a:rPr>
              <a:t>const</a:t>
            </a:r>
            <a:r>
              <a:rPr lang="zh-CN" altLang="en-US" sz="2000" b="1" dirty="0">
                <a:ea typeface="华文楷体" pitchFamily="2" charset="-122"/>
                <a:cs typeface="Times New Roman" pitchFamily="18" charset="0"/>
              </a:rPr>
              <a:t>、</a:t>
            </a:r>
            <a:r>
              <a:rPr lang="en-US" altLang="zh-CN" sz="2000" b="1" dirty="0">
                <a:ea typeface="华文楷体" pitchFamily="2" charset="-122"/>
                <a:cs typeface="Times New Roman" pitchFamily="18" charset="0"/>
              </a:rPr>
              <a:t>volatile</a:t>
            </a:r>
            <a:r>
              <a:rPr lang="zh-CN" altLang="en-US" sz="2000" b="1" dirty="0">
                <a:ea typeface="华文楷体" pitchFamily="2" charset="-122"/>
                <a:cs typeface="Times New Roman" pitchFamily="18" charset="0"/>
              </a:rPr>
              <a:t>和</a:t>
            </a:r>
            <a:r>
              <a:rPr lang="en-US" altLang="zh-CN" sz="2000" b="1" dirty="0">
                <a:ea typeface="华文楷体" pitchFamily="2" charset="-122"/>
                <a:cs typeface="Times New Roman" pitchFamily="18" charset="0"/>
              </a:rPr>
              <a:t>extern</a:t>
            </a:r>
            <a:r>
              <a:rPr lang="zh-CN" altLang="en-US" sz="2000" b="1" dirty="0">
                <a:ea typeface="华文楷体" pitchFamily="2" charset="-122"/>
                <a:cs typeface="Times New Roman" pitchFamily="18" charset="0"/>
              </a:rPr>
              <a:t>等关键字的使用；</a:t>
            </a:r>
          </a:p>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掌握嵌入式</a:t>
            </a:r>
            <a:r>
              <a:rPr lang="en-US" altLang="zh-CN" sz="2000" b="1" dirty="0" smtClean="0">
                <a:ea typeface="华文楷体" pitchFamily="2" charset="-122"/>
                <a:cs typeface="Times New Roman" pitchFamily="18" charset="0"/>
              </a:rPr>
              <a:t>C</a:t>
            </a:r>
            <a:r>
              <a:rPr lang="zh-CN" altLang="en-US" sz="2000" b="1" dirty="0" smtClean="0">
                <a:ea typeface="华文楷体" pitchFamily="2" charset="-122"/>
                <a:cs typeface="Times New Roman" pitchFamily="18" charset="0"/>
              </a:rPr>
              <a:t>语言的条件编译；</a:t>
            </a:r>
          </a:p>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掌握嵌入式</a:t>
            </a:r>
            <a:r>
              <a:rPr lang="en-US" altLang="zh-CN" sz="2000" b="1" dirty="0" smtClean="0">
                <a:ea typeface="华文楷体" pitchFamily="2" charset="-122"/>
                <a:cs typeface="Times New Roman" pitchFamily="18" charset="0"/>
              </a:rPr>
              <a:t>C</a:t>
            </a:r>
            <a:r>
              <a:rPr lang="zh-CN" altLang="en-US" sz="2000" b="1" dirty="0" smtClean="0">
                <a:ea typeface="华文楷体" pitchFamily="2" charset="-122"/>
                <a:cs typeface="Times New Roman" pitchFamily="18" charset="0"/>
              </a:rPr>
              <a:t>语言指针的应用</a:t>
            </a:r>
            <a:r>
              <a:rPr lang="en-US" altLang="zh-CN" sz="2000" b="1" dirty="0" smtClean="0">
                <a:ea typeface="华文楷体" pitchFamily="2" charset="-122"/>
                <a:cs typeface="Times New Roman" pitchFamily="18" charset="0"/>
              </a:rPr>
              <a:t>;</a:t>
            </a:r>
          </a:p>
          <a:p>
            <a:pPr marL="446088" lvl="0" indent="-446088">
              <a:lnSpc>
                <a:spcPct val="150000"/>
              </a:lnSpc>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学会</a:t>
            </a:r>
            <a:r>
              <a:rPr lang="zh-CN" altLang="en-US" sz="2000" b="1" dirty="0">
                <a:ea typeface="华文楷体" pitchFamily="2" charset="-122"/>
                <a:cs typeface="Times New Roman" pitchFamily="18" charset="0"/>
              </a:rPr>
              <a:t>分析</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库文件源码。</a:t>
            </a:r>
          </a:p>
        </p:txBody>
      </p:sp>
    </p:spTree>
    <p:extLst>
      <p:ext uri="{BB962C8B-B14F-4D97-AF65-F5344CB8AC3E}">
        <p14:creationId xmlns:p14="http://schemas.microsoft.com/office/powerpoint/2010/main" val="3036208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内容占位符 9"/>
          <p:cNvGraphicFramePr>
            <a:graphicFrameLocks noGrp="1"/>
          </p:cNvGraphicFramePr>
          <p:nvPr>
            <p:ph idx="1"/>
            <p:extLst>
              <p:ext uri="{D42A27DB-BD31-4B8C-83A1-F6EECF244321}">
                <p14:modId xmlns:p14="http://schemas.microsoft.com/office/powerpoint/2010/main" val="4165824327"/>
              </p:ext>
            </p:extLst>
          </p:nvPr>
        </p:nvGraphicFramePr>
        <p:xfrm>
          <a:off x="1979712" y="1563638"/>
          <a:ext cx="5760640" cy="25554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0" y="339503"/>
            <a:ext cx="547320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437707"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4</a:t>
            </a:r>
            <a:r>
              <a:rPr lang="zh-CN" altLang="en-US" sz="2400" b="1" dirty="0">
                <a:solidFill>
                  <a:schemeClr val="bg1"/>
                </a:solidFill>
                <a:latin typeface="微软雅黑" pitchFamily="34" charset="-122"/>
                <a:ea typeface="微软雅黑" pitchFamily="34" charset="-122"/>
              </a:rPr>
              <a:t>章 </a:t>
            </a:r>
            <a:r>
              <a:rPr lang="en-US" altLang="zh-CN" sz="2400" b="1" dirty="0">
                <a:solidFill>
                  <a:schemeClr val="bg1"/>
                </a:solidFill>
                <a:latin typeface="微软雅黑" pitchFamily="34" charset="-122"/>
                <a:ea typeface="微软雅黑" pitchFamily="34" charset="-122"/>
              </a:rPr>
              <a:t>STM32</a:t>
            </a:r>
            <a:r>
              <a:rPr lang="zh-CN" altLang="en-US" sz="2400" b="1" dirty="0">
                <a:solidFill>
                  <a:schemeClr val="bg1"/>
                </a:solidFill>
                <a:latin typeface="微软雅黑" pitchFamily="34" charset="-122"/>
                <a:ea typeface="微软雅黑" pitchFamily="34" charset="-122"/>
              </a:rPr>
              <a:t>最小系统与嵌入式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endParaRPr lang="zh-CN" altLang="zh-CN"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100920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3046027"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4.1 STM32</a:t>
            </a:r>
            <a:r>
              <a:rPr lang="zh-CN" altLang="en-US" sz="2400" b="1" dirty="0">
                <a:solidFill>
                  <a:schemeClr val="bg1"/>
                </a:solidFill>
                <a:latin typeface="微软雅黑" pitchFamily="34" charset="-122"/>
                <a:ea typeface="微软雅黑" pitchFamily="34" charset="-122"/>
              </a:rPr>
              <a:t>最小系统</a:t>
            </a:r>
          </a:p>
        </p:txBody>
      </p:sp>
      <p:cxnSp>
        <p:nvCxnSpPr>
          <p:cNvPr id="188" name="Straight Connector 37"/>
          <p:cNvCxnSpPr/>
          <p:nvPr/>
        </p:nvCxnSpPr>
        <p:spPr>
          <a:xfrm flipH="1">
            <a:off x="2624147" y="2317032"/>
            <a:ext cx="2277939" cy="21391"/>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cxnSp>
        <p:nvCxnSpPr>
          <p:cNvPr id="189" name="Straight Connector 55"/>
          <p:cNvCxnSpPr/>
          <p:nvPr/>
        </p:nvCxnSpPr>
        <p:spPr>
          <a:xfrm flipH="1">
            <a:off x="2562240" y="4098067"/>
            <a:ext cx="2339846" cy="0"/>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cxnSp>
        <p:nvCxnSpPr>
          <p:cNvPr id="190" name="Straight Connector 56"/>
          <p:cNvCxnSpPr/>
          <p:nvPr/>
        </p:nvCxnSpPr>
        <p:spPr>
          <a:xfrm flipH="1">
            <a:off x="2817804" y="3225330"/>
            <a:ext cx="2084282" cy="15418"/>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grpSp>
        <p:nvGrpSpPr>
          <p:cNvPr id="191" name="Group 140"/>
          <p:cNvGrpSpPr/>
          <p:nvPr/>
        </p:nvGrpSpPr>
        <p:grpSpPr>
          <a:xfrm>
            <a:off x="608260" y="1902287"/>
            <a:ext cx="1791011" cy="1705318"/>
            <a:chOff x="964883" y="1937330"/>
            <a:chExt cx="1932410" cy="1932414"/>
          </a:xfrm>
        </p:grpSpPr>
        <p:sp>
          <p:nvSpPr>
            <p:cNvPr id="234" name="Chord 88"/>
            <p:cNvSpPr/>
            <p:nvPr/>
          </p:nvSpPr>
          <p:spPr>
            <a:xfrm rot="5400000">
              <a:off x="964881" y="1937332"/>
              <a:ext cx="1932414" cy="1932410"/>
            </a:xfrm>
            <a:prstGeom prst="chord">
              <a:avLst>
                <a:gd name="adj1" fmla="val 507123"/>
                <a:gd name="adj2" fmla="val 21551980"/>
              </a:avLst>
            </a:prstGeom>
            <a:solidFill>
              <a:schemeClr val="accent5">
                <a:lumMod val="75000"/>
              </a:schemeClr>
            </a:solidFill>
            <a:ln w="12700" cap="flat" cmpd="sng" algn="ctr">
              <a:solidFill>
                <a:sysClr val="window" lastClr="FFFFFF">
                  <a:hueOff val="0"/>
                  <a:satOff val="0"/>
                  <a:lumOff val="0"/>
                  <a:alphaOff val="0"/>
                </a:sysClr>
              </a:solidFill>
              <a:prstDash val="solid"/>
              <a:miter lim="800000"/>
            </a:ln>
            <a:effectLst/>
          </p:spPr>
          <p:txBody>
            <a:bodyPr spcFirstLastPara="0" vert="horz" wrap="square" lIns="226270" tIns="226270" rIns="226270" bIns="226270" numCol="1" spcCol="1270" anchor="b" anchorCtr="0">
              <a:noAutofit/>
            </a:bodyPr>
            <a:lstStyle/>
            <a:p>
              <a:pPr marL="0" marR="0" lvl="0" indent="0" algn="ctr" defTabSz="1718561" eaLnBrk="1" fontAlgn="auto" latinLnBrk="0" hangingPunct="1">
                <a:lnSpc>
                  <a:spcPct val="90000"/>
                </a:lnSpc>
                <a:spcBef>
                  <a:spcPct val="0"/>
                </a:spcBef>
                <a:spcAft>
                  <a:spcPct val="35000"/>
                </a:spcAft>
                <a:buClrTx/>
                <a:buSzTx/>
                <a:buFontTx/>
                <a:buNone/>
                <a:tabLst/>
                <a:defRPr/>
              </a:pPr>
              <a:endParaRPr kumimoji="0" lang="en-US" sz="7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35" name="Rectangle 32"/>
            <p:cNvSpPr/>
            <p:nvPr/>
          </p:nvSpPr>
          <p:spPr>
            <a:xfrm>
              <a:off x="1556627" y="2198272"/>
              <a:ext cx="138566" cy="75020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5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31" name="TextBox 230"/>
          <p:cNvSpPr txBox="1"/>
          <p:nvPr/>
        </p:nvSpPr>
        <p:spPr>
          <a:xfrm>
            <a:off x="5583488" y="1304258"/>
            <a:ext cx="2084856" cy="307777"/>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ysClr val="windowText" lastClr="000000">
                    <a:lumMod val="65000"/>
                    <a:lumOff val="35000"/>
                  </a:sysClr>
                </a:solidFill>
                <a:effectLst/>
                <a:uLnTx/>
                <a:uFillTx/>
                <a:latin typeface="微软雅黑"/>
                <a:ea typeface="微软雅黑"/>
                <a:cs typeface="+mn-ea"/>
              </a:rPr>
              <a:t>4.1.1 </a:t>
            </a:r>
            <a:r>
              <a:rPr kumimoji="0" lang="zh-CN" altLang="en-US" sz="2000" b="0" i="0" u="none" strike="noStrike" kern="0" cap="none" spc="0" normalizeH="0" baseline="0" noProof="0" dirty="0" smtClean="0">
                <a:ln>
                  <a:noFill/>
                </a:ln>
                <a:solidFill>
                  <a:sysClr val="windowText" lastClr="000000">
                    <a:lumMod val="65000"/>
                    <a:lumOff val="35000"/>
                  </a:sysClr>
                </a:solidFill>
                <a:effectLst/>
                <a:uLnTx/>
                <a:uFillTx/>
                <a:latin typeface="微软雅黑"/>
                <a:ea typeface="微软雅黑"/>
                <a:cs typeface="+mn-ea"/>
              </a:rPr>
              <a:t>电源电路</a:t>
            </a:r>
            <a:endParaRPr kumimoji="0" lang="en-US" altLang="zh-CN" sz="2000" b="0" i="0" u="none" strike="noStrike" kern="0" cap="none" spc="0" normalizeH="0" baseline="0" noProof="0" dirty="0">
              <a:ln>
                <a:noFill/>
              </a:ln>
              <a:solidFill>
                <a:sysClr val="windowText" lastClr="000000">
                  <a:lumMod val="65000"/>
                  <a:lumOff val="35000"/>
                </a:sysClr>
              </a:solidFill>
              <a:effectLst/>
              <a:uLnTx/>
              <a:uFillTx/>
              <a:latin typeface="微软雅黑"/>
              <a:ea typeface="微软雅黑"/>
              <a:cs typeface="+mn-ea"/>
            </a:endParaRPr>
          </a:p>
        </p:txBody>
      </p:sp>
      <p:sp>
        <p:nvSpPr>
          <p:cNvPr id="233" name="Oval 62"/>
          <p:cNvSpPr>
            <a:spLocks noChangeAspect="1"/>
          </p:cNvSpPr>
          <p:nvPr/>
        </p:nvSpPr>
        <p:spPr>
          <a:xfrm>
            <a:off x="5076056" y="1282684"/>
            <a:ext cx="434702" cy="402053"/>
          </a:xfrm>
          <a:prstGeom prst="ellipse">
            <a:avLst/>
          </a:prstGeom>
          <a:solidFill>
            <a:srgbClr val="4F91A0">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8" name="TextBox 227"/>
          <p:cNvSpPr txBox="1"/>
          <p:nvPr/>
        </p:nvSpPr>
        <p:spPr>
          <a:xfrm>
            <a:off x="5605302" y="2153708"/>
            <a:ext cx="3143162"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4.1.2 </a:t>
            </a:r>
            <a:r>
              <a:rPr lang="zh-CN" altLang="zh-CN" dirty="0"/>
              <a:t>时钟电路（晶振电路）</a:t>
            </a:r>
          </a:p>
        </p:txBody>
      </p:sp>
      <p:sp>
        <p:nvSpPr>
          <p:cNvPr id="230" name="Oval 67"/>
          <p:cNvSpPr>
            <a:spLocks noChangeAspect="1"/>
          </p:cNvSpPr>
          <p:nvPr/>
        </p:nvSpPr>
        <p:spPr>
          <a:xfrm>
            <a:off x="5097870" y="2097689"/>
            <a:ext cx="434702" cy="402053"/>
          </a:xfrm>
          <a:prstGeom prst="ellipse">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5" name="TextBox 224"/>
          <p:cNvSpPr txBox="1"/>
          <p:nvPr/>
        </p:nvSpPr>
        <p:spPr>
          <a:xfrm>
            <a:off x="5602603" y="3008279"/>
            <a:ext cx="2065741"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4.1.3 </a:t>
            </a:r>
            <a:r>
              <a:rPr lang="zh-CN" altLang="zh-CN" dirty="0"/>
              <a:t>复位电路</a:t>
            </a:r>
          </a:p>
        </p:txBody>
      </p:sp>
      <p:sp>
        <p:nvSpPr>
          <p:cNvPr id="227" name="Oval 72"/>
          <p:cNvSpPr>
            <a:spLocks noChangeAspect="1"/>
          </p:cNvSpPr>
          <p:nvPr/>
        </p:nvSpPr>
        <p:spPr>
          <a:xfrm>
            <a:off x="5095172" y="2952260"/>
            <a:ext cx="434702" cy="402053"/>
          </a:xfrm>
          <a:prstGeom prst="ellipse">
            <a:avLst/>
          </a:prstGeom>
          <a:solidFill>
            <a:srgbClr val="79B0B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22" name="TextBox 221"/>
          <p:cNvSpPr txBox="1"/>
          <p:nvPr/>
        </p:nvSpPr>
        <p:spPr>
          <a:xfrm>
            <a:off x="5583488" y="3953908"/>
            <a:ext cx="2516904" cy="307777"/>
          </a:xfrm>
          <a:prstGeom prst="rect">
            <a:avLst/>
          </a:prstGeom>
          <a:noFill/>
        </p:spPr>
        <p:txBody>
          <a:bodyPr wrap="square" lIns="0" tIns="0" rIns="0" bIns="0" rtlCol="0" anchor="t">
            <a:spAutoFit/>
          </a:bodyPr>
          <a:lstStyle>
            <a:defPPr>
              <a:defRPr lang="zh-CN"/>
            </a:defPPr>
            <a:lvl1pPr marR="0" lvl="0" indent="0" fontAlgn="auto">
              <a:lnSpc>
                <a:spcPct val="100000"/>
              </a:lnSpc>
              <a:spcBef>
                <a:spcPts val="0"/>
              </a:spcBef>
              <a:spcAft>
                <a:spcPts val="0"/>
              </a:spcAft>
              <a:buClrTx/>
              <a:buSzTx/>
              <a:buFontTx/>
              <a:buNone/>
              <a:tabLst/>
              <a:defRPr kumimoji="0" sz="2000" b="0" i="0" u="none" strike="noStrike" kern="0" cap="none" spc="0" normalizeH="0" baseline="0">
                <a:ln>
                  <a:noFill/>
                </a:ln>
                <a:solidFill>
                  <a:sysClr val="windowText" lastClr="000000">
                    <a:lumMod val="65000"/>
                    <a:lumOff val="35000"/>
                  </a:sysClr>
                </a:solidFill>
                <a:effectLst/>
                <a:uLnTx/>
                <a:uFillTx/>
                <a:latin typeface="微软雅黑"/>
                <a:ea typeface="微软雅黑"/>
                <a:cs typeface="+mn-ea"/>
              </a:defRPr>
            </a:lvl1pPr>
          </a:lstStyle>
          <a:p>
            <a:r>
              <a:rPr lang="en-US" altLang="zh-CN" dirty="0"/>
              <a:t>4.1.4 </a:t>
            </a:r>
            <a:r>
              <a:rPr lang="zh-CN" altLang="zh-CN" dirty="0"/>
              <a:t>调试和下载电路</a:t>
            </a:r>
          </a:p>
        </p:txBody>
      </p:sp>
      <p:sp>
        <p:nvSpPr>
          <p:cNvPr id="224" name="Oval 77"/>
          <p:cNvSpPr>
            <a:spLocks noChangeAspect="1"/>
          </p:cNvSpPr>
          <p:nvPr/>
        </p:nvSpPr>
        <p:spPr>
          <a:xfrm>
            <a:off x="5076056" y="3897889"/>
            <a:ext cx="434702" cy="402053"/>
          </a:xfrm>
          <a:prstGeom prst="ellipse">
            <a:avLst/>
          </a:prstGeom>
          <a:solidFill>
            <a:srgbClr val="79B0BD"/>
          </a:solidFill>
          <a:ln w="12700" cap="flat" cmpd="sng" algn="ctr">
            <a:noFill/>
            <a:prstDash val="solid"/>
            <a:miter lim="800000"/>
          </a:ln>
          <a:effectLst/>
        </p:spPr>
        <p:txBody>
          <a:bodyPr rtlCol="0" anchor="ctr"/>
          <a:lstStyle/>
          <a:p>
            <a:pPr algn="ctr"/>
            <a:endParaRPr lang="en-US" sz="1600" kern="0" dirty="0">
              <a:solidFill>
                <a:sysClr val="window" lastClr="FFFFFF"/>
              </a:solidFill>
              <a:latin typeface="微软雅黑"/>
              <a:ea typeface="微软雅黑"/>
              <a:cs typeface="+mn-ea"/>
            </a:endParaRPr>
          </a:p>
        </p:txBody>
      </p:sp>
      <p:cxnSp>
        <p:nvCxnSpPr>
          <p:cNvPr id="197" name="Straight Connector 137"/>
          <p:cNvCxnSpPr/>
          <p:nvPr/>
        </p:nvCxnSpPr>
        <p:spPr>
          <a:xfrm flipH="1">
            <a:off x="2399270" y="1530197"/>
            <a:ext cx="2502816" cy="0"/>
          </a:xfrm>
          <a:prstGeom prst="line">
            <a:avLst/>
          </a:prstGeom>
          <a:noFill/>
          <a:ln w="19050" cap="flat" cmpd="sng" algn="ctr">
            <a:solidFill>
              <a:sysClr val="windowText" lastClr="000000">
                <a:lumMod val="65000"/>
                <a:lumOff val="35000"/>
              </a:sysClr>
            </a:solidFill>
            <a:prstDash val="sysDot"/>
            <a:miter lim="800000"/>
            <a:headEnd type="oval"/>
            <a:tailEnd type="none"/>
          </a:ln>
          <a:effectLst/>
        </p:spPr>
      </p:cxnSp>
      <p:sp>
        <p:nvSpPr>
          <p:cNvPr id="199" name="Oval 82"/>
          <p:cNvSpPr>
            <a:spLocks noChangeAspect="1"/>
          </p:cNvSpPr>
          <p:nvPr/>
        </p:nvSpPr>
        <p:spPr>
          <a:xfrm>
            <a:off x="2555776" y="3030128"/>
            <a:ext cx="440605" cy="419522"/>
          </a:xfrm>
          <a:prstGeom prst="ellipse">
            <a:avLst/>
          </a:prstGeom>
          <a:solidFill>
            <a:srgbClr val="79B0BD"/>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03</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0" name="Oval 83"/>
          <p:cNvSpPr>
            <a:spLocks noChangeAspect="1"/>
          </p:cNvSpPr>
          <p:nvPr/>
        </p:nvSpPr>
        <p:spPr>
          <a:xfrm>
            <a:off x="2195736" y="3897723"/>
            <a:ext cx="440605" cy="419522"/>
          </a:xfrm>
          <a:prstGeom prst="ellipse">
            <a:avLst/>
          </a:prstGeom>
          <a:solidFill>
            <a:srgbClr val="79B0BD"/>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04</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2" name="Oval 85"/>
          <p:cNvSpPr>
            <a:spLocks noChangeAspect="1"/>
          </p:cNvSpPr>
          <p:nvPr/>
        </p:nvSpPr>
        <p:spPr>
          <a:xfrm>
            <a:off x="1913197" y="1360140"/>
            <a:ext cx="440605" cy="419522"/>
          </a:xfrm>
          <a:prstGeom prst="ellipse">
            <a:avLst/>
          </a:prstGeom>
          <a:solidFill>
            <a:srgbClr val="4F91A0">
              <a:lumMod val="75000"/>
            </a:srgbClr>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600" b="0" i="0" u="none" strike="noStrike" kern="0" cap="none" spc="0" normalizeH="0" baseline="0" noProof="0" dirty="0">
                <a:ln>
                  <a:noFill/>
                </a:ln>
                <a:solidFill>
                  <a:sysClr val="window" lastClr="FFFFFF"/>
                </a:solidFill>
                <a:effectLst/>
                <a:uLnTx/>
                <a:uFillTx/>
                <a:latin typeface="微软雅黑"/>
                <a:ea typeface="微软雅黑"/>
                <a:cs typeface="+mn-ea"/>
              </a:rPr>
              <a:t>01</a:t>
            </a:r>
            <a:endParaRPr kumimoji="0" lang="en-US" sz="16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3" name="Oval 86"/>
          <p:cNvSpPr>
            <a:spLocks noChangeAspect="1"/>
          </p:cNvSpPr>
          <p:nvPr/>
        </p:nvSpPr>
        <p:spPr>
          <a:xfrm>
            <a:off x="2534098" y="2107271"/>
            <a:ext cx="440605" cy="419522"/>
          </a:xfrm>
          <a:prstGeom prst="ellipse">
            <a:avLst/>
          </a:prstGeom>
          <a:solidFill>
            <a:srgbClr val="4F91A0"/>
          </a:solidFill>
          <a:ln w="57150" cap="flat" cmpd="sng" algn="ctr">
            <a:solidFill>
              <a:sysClr val="window" lastClr="FFFFFF">
                <a:hueOff val="0"/>
                <a:satOff val="0"/>
                <a:lumOff val="0"/>
                <a:alphaOff val="0"/>
              </a:sysClr>
            </a:solidFill>
            <a:prstDash val="solid"/>
            <a:miter lim="800000"/>
          </a:ln>
          <a:effectLst>
            <a:outerShdw blurRad="50800" dist="38100" algn="l" rotWithShape="0">
              <a:prstClr val="black">
                <a:alpha val="40000"/>
              </a:prstClr>
            </a:outerShdw>
          </a:effectLst>
        </p:spPr>
        <p:txBody>
          <a:bodyPr spcFirstLastPara="0" vert="horz" wrap="square" lIns="0" tIns="0" rIns="0" bIns="0" numCol="1" spcCol="1693" anchor="ctr" anchorCtr="0">
            <a:noAutofit/>
          </a:bodyPr>
          <a:lstStyle/>
          <a:p>
            <a:pPr marL="0" marR="0" lvl="0" indent="0" algn="ctr" defTabSz="1185215" eaLnBrk="1" fontAlgn="auto" latinLnBrk="0" hangingPunct="1">
              <a:lnSpc>
                <a:spcPct val="90000"/>
              </a:lnSpc>
              <a:spcBef>
                <a:spcPct val="0"/>
              </a:spcBef>
              <a:spcAft>
                <a:spcPct val="35000"/>
              </a:spcAft>
              <a:buClrTx/>
              <a:buSzTx/>
              <a:buFontTx/>
              <a:buNone/>
              <a:tabLst/>
              <a:defRPr/>
            </a:pPr>
            <a:r>
              <a:rPr kumimoji="0" lang="ar-SY" sz="1900" b="0" i="0" u="none" strike="noStrike" kern="0" cap="none" spc="0" normalizeH="0" baseline="0" noProof="0" dirty="0">
                <a:ln>
                  <a:noFill/>
                </a:ln>
                <a:solidFill>
                  <a:sysClr val="window" lastClr="FFFFFF"/>
                </a:solidFill>
                <a:effectLst/>
                <a:uLnTx/>
                <a:uFillTx/>
                <a:latin typeface="微软雅黑"/>
                <a:ea typeface="微软雅黑"/>
                <a:cs typeface="+mn-ea"/>
              </a:rPr>
              <a:t>02</a:t>
            </a:r>
            <a:endParaRPr kumimoji="0" lang="en-US" sz="19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05" name="Freeform 143"/>
          <p:cNvSpPr>
            <a:spLocks noEditPoints="1"/>
          </p:cNvSpPr>
          <p:nvPr/>
        </p:nvSpPr>
        <p:spPr bwMode="auto">
          <a:xfrm>
            <a:off x="5180382" y="1370756"/>
            <a:ext cx="248596" cy="218014"/>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06" name="Freeform 92"/>
          <p:cNvSpPr>
            <a:spLocks noEditPoints="1"/>
          </p:cNvSpPr>
          <p:nvPr/>
        </p:nvSpPr>
        <p:spPr bwMode="auto">
          <a:xfrm>
            <a:off x="5209283" y="2179454"/>
            <a:ext cx="234422" cy="227358"/>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5" name="Freeform 153"/>
          <p:cNvSpPr>
            <a:spLocks/>
          </p:cNvSpPr>
          <p:nvPr/>
        </p:nvSpPr>
        <p:spPr bwMode="auto">
          <a:xfrm>
            <a:off x="5224488" y="3083101"/>
            <a:ext cx="54517" cy="122503"/>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6" name="Freeform 154"/>
          <p:cNvSpPr>
            <a:spLocks/>
          </p:cNvSpPr>
          <p:nvPr/>
        </p:nvSpPr>
        <p:spPr bwMode="auto">
          <a:xfrm>
            <a:off x="5297541" y="3029117"/>
            <a:ext cx="53427" cy="176488"/>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7" name="Freeform 155"/>
          <p:cNvSpPr>
            <a:spLocks/>
          </p:cNvSpPr>
          <p:nvPr/>
        </p:nvSpPr>
        <p:spPr bwMode="auto">
          <a:xfrm>
            <a:off x="5368413" y="3111132"/>
            <a:ext cx="54517" cy="9447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18" name="Rectangle 156"/>
          <p:cNvSpPr>
            <a:spLocks noChangeArrowheads="1"/>
          </p:cNvSpPr>
          <p:nvPr/>
        </p:nvSpPr>
        <p:spPr bwMode="auto">
          <a:xfrm>
            <a:off x="5213585" y="3211834"/>
            <a:ext cx="220248" cy="134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08" name="Freeform 140"/>
          <p:cNvSpPr>
            <a:spLocks noEditPoints="1"/>
          </p:cNvSpPr>
          <p:nvPr/>
        </p:nvSpPr>
        <p:spPr bwMode="auto">
          <a:xfrm>
            <a:off x="5177456" y="3982545"/>
            <a:ext cx="244434" cy="232739"/>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微软雅黑"/>
              <a:ea typeface="微软雅黑"/>
              <a:cs typeface="+mn-ea"/>
            </a:endParaRPr>
          </a:p>
        </p:txBody>
      </p:sp>
      <p:sp>
        <p:nvSpPr>
          <p:cNvPr id="2" name="矩形 1"/>
          <p:cNvSpPr/>
          <p:nvPr/>
        </p:nvSpPr>
        <p:spPr>
          <a:xfrm>
            <a:off x="852442" y="2154781"/>
            <a:ext cx="1412134" cy="1200329"/>
          </a:xfrm>
          <a:prstGeom prst="rect">
            <a:avLst/>
          </a:prstGeom>
        </p:spPr>
        <p:txBody>
          <a:bodyPr wrap="square">
            <a:spAutoFit/>
          </a:bodyPr>
          <a:lstStyle/>
          <a:p>
            <a:r>
              <a:rPr lang="zh-CN" altLang="en-US" b="1" dirty="0">
                <a:solidFill>
                  <a:schemeClr val="bg1"/>
                </a:solidFill>
              </a:rPr>
              <a:t>用最少的元件组成单片机可以工作的系统</a:t>
            </a:r>
          </a:p>
        </p:txBody>
      </p:sp>
    </p:spTree>
    <p:extLst>
      <p:ext uri="{BB962C8B-B14F-4D97-AF65-F5344CB8AC3E}">
        <p14:creationId xmlns:p14="http://schemas.microsoft.com/office/powerpoint/2010/main" val="1247951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立方体 21"/>
          <p:cNvSpPr/>
          <p:nvPr/>
        </p:nvSpPr>
        <p:spPr>
          <a:xfrm>
            <a:off x="6117624" y="1949296"/>
            <a:ext cx="2342808" cy="1820971"/>
          </a:xfrm>
          <a:prstGeom prst="cube">
            <a:avLst>
              <a:gd name="adj" fmla="val 2758"/>
            </a:avLst>
          </a:prstGeom>
          <a:solidFill>
            <a:schemeClr val="bg1">
              <a:lumMod val="65000"/>
            </a:schemeClr>
          </a:solidFill>
          <a:ln>
            <a:solidFill>
              <a:schemeClr val="tx1">
                <a:lumMod val="95000"/>
                <a:lumOff val="5000"/>
              </a:schemeClr>
            </a:solidFill>
          </a:ln>
          <a:effectLst>
            <a:innerShdw blurRad="63500" dist="50800" dir="18900000">
              <a:prstClr val="black">
                <a:alpha val="50000"/>
              </a:prstClr>
            </a:inn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4" name="矩形 3"/>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11" name="TextBox 10"/>
          <p:cNvSpPr txBox="1"/>
          <p:nvPr/>
        </p:nvSpPr>
        <p:spPr>
          <a:xfrm>
            <a:off x="6686412" y="1275606"/>
            <a:ext cx="1121210" cy="646331"/>
          </a:xfrm>
          <a:prstGeom prst="rect">
            <a:avLst/>
          </a:prstGeom>
          <a:noFill/>
        </p:spPr>
        <p:txBody>
          <a:bodyPr wrap="square" rtlCol="0">
            <a:spAutoFit/>
          </a:bodyPr>
          <a:lstStyle/>
          <a:p>
            <a:r>
              <a:rPr lang="zh-CN" altLang="en-US" b="1" dirty="0" smtClean="0">
                <a:solidFill>
                  <a:schemeClr val="accent5">
                    <a:lumMod val="50000"/>
                  </a:schemeClr>
                </a:solidFill>
                <a:latin typeface="楷体" pitchFamily="49" charset="-122"/>
                <a:ea typeface="楷体" pitchFamily="49" charset="-122"/>
              </a:rPr>
              <a:t>微控制器工作电压</a:t>
            </a:r>
            <a:endParaRPr lang="zh-CN" altLang="en-US" b="1" dirty="0">
              <a:solidFill>
                <a:schemeClr val="accent5">
                  <a:lumMod val="50000"/>
                </a:schemeClr>
              </a:solidFill>
              <a:latin typeface="楷体" pitchFamily="49" charset="-122"/>
              <a:ea typeface="楷体" pitchFamily="49" charset="-122"/>
            </a:endParaRPr>
          </a:p>
        </p:txBody>
      </p:sp>
      <p:sp>
        <p:nvSpPr>
          <p:cNvPr id="13" name="矩形 12"/>
          <p:cNvSpPr/>
          <p:nvPr/>
        </p:nvSpPr>
        <p:spPr>
          <a:xfrm>
            <a:off x="6619951" y="2067694"/>
            <a:ext cx="1162498" cy="923330"/>
          </a:xfrm>
          <a:prstGeom prst="rect">
            <a:avLst/>
          </a:prstGeom>
        </p:spPr>
        <p:txBody>
          <a:bodyPr wrap="none">
            <a:spAutoFit/>
          </a:bodyPr>
          <a:lstStyle/>
          <a:p>
            <a:r>
              <a:rPr lang="en-US" altLang="zh-CN" b="1" dirty="0" smtClean="0"/>
              <a:t>3.4V~5.5V</a:t>
            </a:r>
          </a:p>
          <a:p>
            <a:pPr algn="ctr"/>
            <a:r>
              <a:rPr lang="zh-CN" altLang="en-US" b="1" dirty="0"/>
              <a:t>或</a:t>
            </a:r>
            <a:endParaRPr lang="en-US" altLang="zh-CN" b="1" dirty="0" smtClean="0"/>
          </a:p>
          <a:p>
            <a:r>
              <a:rPr lang="en-US" altLang="zh-CN" b="1" dirty="0"/>
              <a:t>2.7V~3.6V</a:t>
            </a:r>
            <a:endParaRPr lang="zh-CN" altLang="en-US" b="1" dirty="0"/>
          </a:p>
        </p:txBody>
      </p:sp>
      <p:sp>
        <p:nvSpPr>
          <p:cNvPr id="14" name="矩形 13"/>
          <p:cNvSpPr/>
          <p:nvPr/>
        </p:nvSpPr>
        <p:spPr>
          <a:xfrm>
            <a:off x="3134711" y="391740"/>
            <a:ext cx="3897221" cy="490519"/>
          </a:xfrm>
          <a:prstGeom prst="rect">
            <a:avLst/>
          </a:prstGeom>
        </p:spPr>
        <p:txBody>
          <a:bodyPr wrap="none">
            <a:spAutoFit/>
          </a:bodyPr>
          <a:lstStyle/>
          <a:p>
            <a:pPr lvl="0">
              <a:lnSpc>
                <a:spcPct val="125000"/>
              </a:lnSpc>
            </a:pPr>
            <a:r>
              <a:rPr lang="zh-CN" altLang="en-US" sz="2400" b="1" dirty="0">
                <a:solidFill>
                  <a:srgbClr val="CD7371"/>
                </a:solidFill>
                <a:latin typeface="楷体" pitchFamily="49" charset="-122"/>
                <a:ea typeface="楷体" pitchFamily="49" charset="-122"/>
              </a:rPr>
              <a:t>为系统提供稳定可靠的供电</a:t>
            </a:r>
            <a:endParaRPr lang="zh-CN" altLang="zh-CN" sz="2400" dirty="0">
              <a:solidFill>
                <a:srgbClr val="CD7371"/>
              </a:solidFill>
              <a:latin typeface="楷体" pitchFamily="49" charset="-122"/>
              <a:ea typeface="楷体" pitchFamily="49" charset="-122"/>
            </a:endParaRPr>
          </a:p>
        </p:txBody>
      </p:sp>
      <p:sp>
        <p:nvSpPr>
          <p:cNvPr id="15" name="矩形 14"/>
          <p:cNvSpPr/>
          <p:nvPr/>
        </p:nvSpPr>
        <p:spPr>
          <a:xfrm>
            <a:off x="6244912" y="2994084"/>
            <a:ext cx="2088232" cy="646331"/>
          </a:xfrm>
          <a:prstGeom prst="rect">
            <a:avLst/>
          </a:prstGeom>
        </p:spPr>
        <p:txBody>
          <a:bodyPr wrap="square">
            <a:spAutoFit/>
          </a:bodyPr>
          <a:lstStyle/>
          <a:p>
            <a:pPr algn="ctr"/>
            <a:r>
              <a:rPr lang="en-US" altLang="zh-CN" b="1" dirty="0"/>
              <a:t>STM32F103</a:t>
            </a:r>
            <a:r>
              <a:rPr lang="zh-CN" altLang="zh-CN" b="1" dirty="0" smtClean="0"/>
              <a:t>系列</a:t>
            </a:r>
            <a:r>
              <a:rPr lang="zh-CN" altLang="en-US" b="1" dirty="0" smtClean="0"/>
              <a:t>：</a:t>
            </a:r>
            <a:r>
              <a:rPr lang="en-US" altLang="zh-CN" b="1" dirty="0" smtClean="0"/>
              <a:t>2.0V~3.6V</a:t>
            </a:r>
            <a:endParaRPr lang="zh-CN" altLang="en-US" b="1" dirty="0"/>
          </a:p>
        </p:txBody>
      </p:sp>
      <p:sp>
        <p:nvSpPr>
          <p:cNvPr id="16" name="圆柱形 15"/>
          <p:cNvSpPr/>
          <p:nvPr/>
        </p:nvSpPr>
        <p:spPr>
          <a:xfrm>
            <a:off x="755576" y="1898259"/>
            <a:ext cx="1241884" cy="1825619"/>
          </a:xfrm>
          <a:prstGeom prst="can">
            <a:avLst/>
          </a:prstGeom>
          <a:solidFill>
            <a:schemeClr val="accent5">
              <a:lumMod val="75000"/>
            </a:schemeClr>
          </a:solidFill>
          <a:ln w="28575">
            <a:solidFill>
              <a:schemeClr val="bg1">
                <a:lumMod val="8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18" name="矩形 17"/>
          <p:cNvSpPr/>
          <p:nvPr/>
        </p:nvSpPr>
        <p:spPr>
          <a:xfrm>
            <a:off x="827584" y="1851453"/>
            <a:ext cx="1114408" cy="390941"/>
          </a:xfrm>
          <a:prstGeom prst="rect">
            <a:avLst/>
          </a:prstGeom>
        </p:spPr>
        <p:txBody>
          <a:bodyPr wrap="none">
            <a:spAutoFit/>
          </a:bodyPr>
          <a:lstStyle/>
          <a:p>
            <a:pPr lvl="0">
              <a:lnSpc>
                <a:spcPct val="125000"/>
              </a:lnSpc>
            </a:pPr>
            <a:r>
              <a:rPr lang="zh-CN" altLang="en-US" b="1" dirty="0" smtClean="0">
                <a:latin typeface="楷体" pitchFamily="49" charset="-122"/>
                <a:ea typeface="楷体" pitchFamily="49" charset="-122"/>
              </a:rPr>
              <a:t>电源电压</a:t>
            </a:r>
            <a:endParaRPr lang="zh-CN" altLang="zh-CN" b="1" dirty="0">
              <a:latin typeface="楷体" pitchFamily="49" charset="-122"/>
              <a:ea typeface="楷体" pitchFamily="49" charset="-122"/>
            </a:endParaRPr>
          </a:p>
        </p:txBody>
      </p:sp>
      <p:sp>
        <p:nvSpPr>
          <p:cNvPr id="19" name="矩形 18"/>
          <p:cNvSpPr/>
          <p:nvPr/>
        </p:nvSpPr>
        <p:spPr>
          <a:xfrm>
            <a:off x="1128960" y="2615597"/>
            <a:ext cx="444352" cy="424155"/>
          </a:xfrm>
          <a:prstGeom prst="rect">
            <a:avLst/>
          </a:prstGeom>
        </p:spPr>
        <p:txBody>
          <a:bodyPr wrap="none">
            <a:spAutoFit/>
          </a:bodyPr>
          <a:lstStyle/>
          <a:p>
            <a:pPr lvl="0">
              <a:lnSpc>
                <a:spcPct val="125000"/>
              </a:lnSpc>
            </a:pPr>
            <a:r>
              <a:rPr lang="en-US" altLang="zh-CN" sz="2000" b="1" dirty="0" smtClean="0">
                <a:latin typeface="楷体" pitchFamily="49" charset="-122"/>
                <a:ea typeface="楷体" pitchFamily="49" charset="-122"/>
              </a:rPr>
              <a:t>5V</a:t>
            </a:r>
            <a:endParaRPr lang="zh-CN" altLang="zh-CN" sz="2000" b="1" dirty="0">
              <a:latin typeface="楷体" pitchFamily="49" charset="-122"/>
              <a:ea typeface="楷体" pitchFamily="49" charset="-122"/>
            </a:endParaRPr>
          </a:p>
        </p:txBody>
      </p:sp>
      <p:sp>
        <p:nvSpPr>
          <p:cNvPr id="20" name="右箭头 19"/>
          <p:cNvSpPr/>
          <p:nvPr/>
        </p:nvSpPr>
        <p:spPr>
          <a:xfrm>
            <a:off x="2085615" y="2368006"/>
            <a:ext cx="2270361" cy="100811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
        <p:nvSpPr>
          <p:cNvPr id="21" name="矩形 20"/>
          <p:cNvSpPr/>
          <p:nvPr/>
        </p:nvSpPr>
        <p:spPr>
          <a:xfrm>
            <a:off x="2242030" y="2687396"/>
            <a:ext cx="2032929" cy="369332"/>
          </a:xfrm>
          <a:prstGeom prst="rect">
            <a:avLst/>
          </a:prstGeom>
        </p:spPr>
        <p:txBody>
          <a:bodyPr wrap="none">
            <a:spAutoFit/>
          </a:bodyPr>
          <a:lstStyle/>
          <a:p>
            <a:r>
              <a:rPr lang="en-GB" altLang="zh-CN" b="1" dirty="0"/>
              <a:t>AMS1117</a:t>
            </a:r>
            <a:r>
              <a:rPr lang="zh-CN" altLang="en-US" b="1" dirty="0"/>
              <a:t>系列芯片</a:t>
            </a:r>
          </a:p>
        </p:txBody>
      </p:sp>
      <p:sp>
        <p:nvSpPr>
          <p:cNvPr id="23" name="左大括号 22"/>
          <p:cNvSpPr/>
          <p:nvPr/>
        </p:nvSpPr>
        <p:spPr>
          <a:xfrm>
            <a:off x="4427984" y="1570959"/>
            <a:ext cx="288892" cy="2664296"/>
          </a:xfrm>
          <a:prstGeom prst="leftBrace">
            <a:avLst>
              <a:gd name="adj1" fmla="val 3064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p:cNvSpPr/>
          <p:nvPr/>
        </p:nvSpPr>
        <p:spPr>
          <a:xfrm>
            <a:off x="4716876" y="1347614"/>
            <a:ext cx="732893" cy="3000821"/>
          </a:xfrm>
          <a:prstGeom prst="rect">
            <a:avLst/>
          </a:prstGeom>
        </p:spPr>
        <p:txBody>
          <a:bodyPr wrap="none">
            <a:spAutoFit/>
          </a:bodyPr>
          <a:lstStyle/>
          <a:p>
            <a:pPr>
              <a:lnSpc>
                <a:spcPct val="150000"/>
              </a:lnSpc>
            </a:pPr>
            <a:r>
              <a:rPr lang="en-US" altLang="zh-CN" b="1" dirty="0" smtClean="0"/>
              <a:t>1.5V</a:t>
            </a:r>
          </a:p>
          <a:p>
            <a:pPr>
              <a:lnSpc>
                <a:spcPct val="150000"/>
              </a:lnSpc>
            </a:pPr>
            <a:r>
              <a:rPr lang="en-US" altLang="zh-CN" b="1" dirty="0" smtClean="0"/>
              <a:t>1.8V</a:t>
            </a:r>
          </a:p>
          <a:p>
            <a:pPr>
              <a:lnSpc>
                <a:spcPct val="150000"/>
              </a:lnSpc>
            </a:pPr>
            <a:r>
              <a:rPr lang="en-US" altLang="zh-CN" b="1" dirty="0" smtClean="0"/>
              <a:t>2.5V</a:t>
            </a:r>
          </a:p>
          <a:p>
            <a:pPr>
              <a:lnSpc>
                <a:spcPct val="150000"/>
              </a:lnSpc>
            </a:pPr>
            <a:r>
              <a:rPr lang="en-US" altLang="zh-CN" b="1" dirty="0" smtClean="0"/>
              <a:t>2.85V</a:t>
            </a:r>
          </a:p>
          <a:p>
            <a:pPr>
              <a:lnSpc>
                <a:spcPct val="150000"/>
              </a:lnSpc>
            </a:pPr>
            <a:r>
              <a:rPr lang="en-US" altLang="zh-CN" b="1" dirty="0" smtClean="0"/>
              <a:t>3.0V</a:t>
            </a:r>
          </a:p>
          <a:p>
            <a:pPr>
              <a:lnSpc>
                <a:spcPct val="150000"/>
              </a:lnSpc>
            </a:pPr>
            <a:r>
              <a:rPr lang="en-US" altLang="zh-CN" b="1" dirty="0" smtClean="0"/>
              <a:t>3.3V</a:t>
            </a:r>
          </a:p>
          <a:p>
            <a:pPr>
              <a:lnSpc>
                <a:spcPct val="150000"/>
              </a:lnSpc>
            </a:pPr>
            <a:r>
              <a:rPr lang="en-US" altLang="zh-CN" b="1" dirty="0" smtClean="0"/>
              <a:t>5.0V</a:t>
            </a:r>
            <a:endParaRPr lang="zh-CN" altLang="en-US" b="1" dirty="0"/>
          </a:p>
        </p:txBody>
      </p:sp>
      <p:sp>
        <p:nvSpPr>
          <p:cNvPr id="25" name="右箭头 24"/>
          <p:cNvSpPr/>
          <p:nvPr/>
        </p:nvSpPr>
        <p:spPr>
          <a:xfrm>
            <a:off x="5449770" y="2529359"/>
            <a:ext cx="595846" cy="70165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a:p>
        </p:txBody>
      </p:sp>
      <p:sp>
        <p:nvSpPr>
          <p:cNvPr id="26" name="矩形 25"/>
          <p:cNvSpPr/>
          <p:nvPr/>
        </p:nvSpPr>
        <p:spPr>
          <a:xfrm>
            <a:off x="5364088" y="2695519"/>
            <a:ext cx="649537" cy="369332"/>
          </a:xfrm>
          <a:prstGeom prst="rect">
            <a:avLst/>
          </a:prstGeom>
        </p:spPr>
        <p:txBody>
          <a:bodyPr wrap="none">
            <a:spAutoFit/>
          </a:bodyPr>
          <a:lstStyle/>
          <a:p>
            <a:r>
              <a:rPr lang="zh-CN" altLang="en-US" b="1" dirty="0" smtClean="0"/>
              <a:t>供电</a:t>
            </a:r>
            <a:endParaRPr lang="zh-CN" altLang="en-US" b="1" dirty="0"/>
          </a:p>
        </p:txBody>
      </p:sp>
    </p:spTree>
    <p:extLst>
      <p:ext uri="{BB962C8B-B14F-4D97-AF65-F5344CB8AC3E}">
        <p14:creationId xmlns:p14="http://schemas.microsoft.com/office/powerpoint/2010/main" val="2610053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505447"/>
            <a:ext cx="5036376" cy="1817450"/>
          </a:xfrm>
          <a:prstGeom prst="rect">
            <a:avLst/>
          </a:prstGeom>
          <a:noFill/>
          <a:ln>
            <a:noFill/>
          </a:ln>
        </p:spPr>
      </p:pic>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7" name="矩形 6"/>
          <p:cNvSpPr/>
          <p:nvPr/>
        </p:nvSpPr>
        <p:spPr>
          <a:xfrm>
            <a:off x="5306323" y="1415999"/>
            <a:ext cx="3275856" cy="1631216"/>
          </a:xfrm>
          <a:prstGeom prst="rect">
            <a:avLst/>
          </a:prstGeom>
        </p:spPr>
        <p:txBody>
          <a:bodyPr wrap="square">
            <a:spAutoFit/>
          </a:bodyPr>
          <a:lstStyle/>
          <a:p>
            <a:pPr marL="285750" indent="-285750">
              <a:spcBef>
                <a:spcPts val="1200"/>
              </a:spcBef>
              <a:buClr>
                <a:srgbClr val="CD7371"/>
              </a:buClr>
              <a:buFont typeface="Wingdings" pitchFamily="2" charset="2"/>
              <a:buChar char="Ø"/>
            </a:pPr>
            <a:r>
              <a:rPr lang="en-US" altLang="zh-CN" b="1" dirty="0" smtClean="0"/>
              <a:t>C1</a:t>
            </a:r>
            <a:r>
              <a:rPr lang="zh-CN" altLang="zh-CN" b="1" dirty="0"/>
              <a:t>、</a:t>
            </a:r>
            <a:r>
              <a:rPr lang="en-US" altLang="zh-CN" b="1" dirty="0"/>
              <a:t>C3</a:t>
            </a:r>
            <a:r>
              <a:rPr lang="zh-CN" altLang="zh-CN" b="1" dirty="0"/>
              <a:t>为输入电容，作用是防止断电后出现电压</a:t>
            </a:r>
            <a:r>
              <a:rPr lang="zh-CN" altLang="zh-CN" b="1" dirty="0" smtClean="0"/>
              <a:t>倒置</a:t>
            </a:r>
            <a:endParaRPr lang="en-US" altLang="zh-CN" b="1" dirty="0" smtClean="0"/>
          </a:p>
          <a:p>
            <a:pPr marL="285750" indent="-285750">
              <a:spcBef>
                <a:spcPts val="1200"/>
              </a:spcBef>
              <a:buClr>
                <a:srgbClr val="CD7371"/>
              </a:buClr>
              <a:buFont typeface="Wingdings" pitchFamily="2" charset="2"/>
              <a:buChar char="Ø"/>
            </a:pPr>
            <a:r>
              <a:rPr lang="en-US" altLang="zh-CN" b="1" dirty="0" smtClean="0"/>
              <a:t>C2</a:t>
            </a:r>
            <a:r>
              <a:rPr lang="zh-CN" altLang="zh-CN" b="1" dirty="0"/>
              <a:t>、</a:t>
            </a:r>
            <a:r>
              <a:rPr lang="en-US" altLang="zh-CN" b="1" dirty="0"/>
              <a:t>C4</a:t>
            </a:r>
            <a:r>
              <a:rPr lang="zh-CN" altLang="zh-CN" b="1" dirty="0"/>
              <a:t>为输出滤波电容，作用是抑制自激振荡和稳定输出</a:t>
            </a:r>
            <a:r>
              <a:rPr lang="zh-CN" altLang="zh-CN" b="1" dirty="0" smtClean="0"/>
              <a:t>电压</a:t>
            </a:r>
            <a:endParaRPr lang="zh-CN" altLang="zh-CN" b="1" dirty="0"/>
          </a:p>
        </p:txBody>
      </p:sp>
      <p:sp>
        <p:nvSpPr>
          <p:cNvPr id="8" name="矩形 7"/>
          <p:cNvSpPr/>
          <p:nvPr/>
        </p:nvSpPr>
        <p:spPr>
          <a:xfrm>
            <a:off x="3770370" y="443449"/>
            <a:ext cx="3035052" cy="400110"/>
          </a:xfrm>
          <a:prstGeom prst="rect">
            <a:avLst/>
          </a:prstGeom>
        </p:spPr>
        <p:txBody>
          <a:bodyPr wrap="square">
            <a:spAutoFit/>
          </a:bodyPr>
          <a:lstStyle/>
          <a:p>
            <a:r>
              <a:rPr lang="en-US" altLang="zh-CN" sz="2000" b="1" dirty="0">
                <a:solidFill>
                  <a:prstClr val="black"/>
                </a:solidFill>
              </a:rPr>
              <a:t>AMS1117-3.3v</a:t>
            </a:r>
            <a:r>
              <a:rPr lang="zh-CN" altLang="zh-CN" sz="2000" b="1" dirty="0">
                <a:solidFill>
                  <a:prstClr val="black"/>
                </a:solidFill>
                <a:latin typeface="楷体" pitchFamily="49" charset="-122"/>
                <a:ea typeface="楷体" pitchFamily="49" charset="-122"/>
              </a:rPr>
              <a:t>降压电路图</a:t>
            </a:r>
            <a:endParaRPr lang="zh-CN" altLang="en-US" sz="2000" b="1" dirty="0">
              <a:latin typeface="楷体" pitchFamily="49" charset="-122"/>
              <a:ea typeface="楷体" pitchFamily="49" charset="-122"/>
            </a:endParaRPr>
          </a:p>
        </p:txBody>
      </p:sp>
      <p:sp>
        <p:nvSpPr>
          <p:cNvPr id="9" name="矩形 8"/>
          <p:cNvSpPr/>
          <p:nvPr/>
        </p:nvSpPr>
        <p:spPr>
          <a:xfrm>
            <a:off x="1475656" y="3795886"/>
            <a:ext cx="6264696" cy="400110"/>
          </a:xfrm>
          <a:prstGeom prst="rect">
            <a:avLst/>
          </a:prstGeom>
        </p:spPr>
        <p:txBody>
          <a:bodyPr wrap="square">
            <a:spAutoFit/>
          </a:bodyPr>
          <a:lstStyle/>
          <a:p>
            <a:r>
              <a:rPr lang="zh-CN" altLang="en-US" sz="2000" b="1" dirty="0">
                <a:solidFill>
                  <a:schemeClr val="accent5">
                    <a:lumMod val="75000"/>
                  </a:schemeClr>
                </a:solidFill>
              </a:rPr>
              <a:t>电压转换电路提供</a:t>
            </a:r>
            <a:r>
              <a:rPr lang="en-US" altLang="zh-CN" sz="2000" b="1" dirty="0">
                <a:solidFill>
                  <a:schemeClr val="accent5">
                    <a:lumMod val="75000"/>
                  </a:schemeClr>
                </a:solidFill>
              </a:rPr>
              <a:t>3.3V</a:t>
            </a:r>
            <a:r>
              <a:rPr lang="zh-CN" altLang="en-US" sz="2000" b="1" dirty="0">
                <a:solidFill>
                  <a:schemeClr val="accent5">
                    <a:lumMod val="75000"/>
                  </a:schemeClr>
                </a:solidFill>
              </a:rPr>
              <a:t>电压供</a:t>
            </a:r>
            <a:r>
              <a:rPr lang="en-US" altLang="zh-CN" sz="2000" b="1" dirty="0">
                <a:solidFill>
                  <a:schemeClr val="accent5">
                    <a:lumMod val="75000"/>
                  </a:schemeClr>
                </a:solidFill>
              </a:rPr>
              <a:t>STM32</a:t>
            </a:r>
            <a:r>
              <a:rPr lang="zh-CN" altLang="en-US" sz="2000" b="1" dirty="0">
                <a:solidFill>
                  <a:schemeClr val="accent5">
                    <a:lumMod val="75000"/>
                  </a:schemeClr>
                </a:solidFill>
              </a:rPr>
              <a:t>主电源</a:t>
            </a:r>
            <a:r>
              <a:rPr lang="en-US" altLang="zh-CN" sz="2000" b="1" dirty="0">
                <a:solidFill>
                  <a:schemeClr val="accent5">
                    <a:lumMod val="75000"/>
                  </a:schemeClr>
                </a:solidFill>
              </a:rPr>
              <a:t>V</a:t>
            </a:r>
            <a:r>
              <a:rPr lang="en-US" altLang="zh-CN" sz="1600" b="1" dirty="0">
                <a:solidFill>
                  <a:schemeClr val="accent5">
                    <a:lumMod val="75000"/>
                  </a:schemeClr>
                </a:solidFill>
              </a:rPr>
              <a:t>DD</a:t>
            </a:r>
            <a:r>
              <a:rPr lang="zh-CN" altLang="en-US" sz="2000" b="1" dirty="0">
                <a:solidFill>
                  <a:schemeClr val="accent5">
                    <a:lumMod val="75000"/>
                  </a:schemeClr>
                </a:solidFill>
              </a:rPr>
              <a:t>使用</a:t>
            </a:r>
          </a:p>
        </p:txBody>
      </p:sp>
    </p:spTree>
    <p:extLst>
      <p:ext uri="{BB962C8B-B14F-4D97-AF65-F5344CB8AC3E}">
        <p14:creationId xmlns:p14="http://schemas.microsoft.com/office/powerpoint/2010/main" val="3538393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4.1.1 </a:t>
            </a:r>
            <a:r>
              <a:rPr lang="zh-CN" altLang="en-US" sz="2400" b="1" dirty="0">
                <a:solidFill>
                  <a:schemeClr val="bg1"/>
                </a:solidFill>
              </a:rPr>
              <a:t>电源电路</a:t>
            </a:r>
            <a:endParaRPr lang="zh-CN" altLang="zh-CN" sz="2400" b="1" dirty="0">
              <a:solidFill>
                <a:schemeClr val="bg1"/>
              </a:solidFill>
            </a:endParaRPr>
          </a:p>
        </p:txBody>
      </p:sp>
      <p:sp>
        <p:nvSpPr>
          <p:cNvPr id="7" name="矩形 6"/>
          <p:cNvSpPr/>
          <p:nvPr/>
        </p:nvSpPr>
        <p:spPr>
          <a:xfrm>
            <a:off x="539552" y="967669"/>
            <a:ext cx="4104456" cy="923330"/>
          </a:xfrm>
          <a:prstGeom prst="rect">
            <a:avLst/>
          </a:prstGeom>
        </p:spPr>
        <p:txBody>
          <a:bodyPr wrap="square">
            <a:spAutoFit/>
          </a:bodyPr>
          <a:lstStyle/>
          <a:p>
            <a:pPr>
              <a:spcBef>
                <a:spcPts val="1200"/>
              </a:spcBef>
              <a:buClr>
                <a:srgbClr val="CD7371"/>
              </a:buClr>
            </a:pPr>
            <a:r>
              <a:rPr lang="en-US" altLang="zh-CN" b="1" dirty="0" smtClean="0"/>
              <a:t>    STM32</a:t>
            </a:r>
            <a:r>
              <a:rPr lang="zh-CN" altLang="en-US" b="1" dirty="0"/>
              <a:t>内部包含一个电压调节器，将外部</a:t>
            </a:r>
            <a:r>
              <a:rPr lang="en-US" altLang="zh-CN" b="1" dirty="0"/>
              <a:t>3.3V</a:t>
            </a:r>
            <a:r>
              <a:rPr lang="zh-CN" altLang="en-US" b="1" dirty="0"/>
              <a:t>电压转换为</a:t>
            </a:r>
            <a:r>
              <a:rPr lang="en-US" altLang="zh-CN" b="1" dirty="0"/>
              <a:t>1.8V</a:t>
            </a:r>
            <a:r>
              <a:rPr lang="zh-CN" altLang="en-US" b="1" dirty="0"/>
              <a:t>提供给</a:t>
            </a:r>
            <a:r>
              <a:rPr lang="en-US" altLang="zh-CN" b="1" dirty="0"/>
              <a:t>Cortex-M3</a:t>
            </a:r>
            <a:r>
              <a:rPr lang="zh-CN" altLang="en-US" b="1" dirty="0"/>
              <a:t>内核、内存以及外设</a:t>
            </a:r>
            <a:r>
              <a:rPr lang="zh-CN" altLang="en-US" b="1" dirty="0" smtClean="0"/>
              <a:t>使用。</a:t>
            </a:r>
            <a:endParaRPr lang="zh-CN" altLang="zh-CN" b="1" dirty="0"/>
          </a:p>
        </p:txBody>
      </p:sp>
      <p:sp>
        <p:nvSpPr>
          <p:cNvPr id="8" name="矩形 7"/>
          <p:cNvSpPr/>
          <p:nvPr/>
        </p:nvSpPr>
        <p:spPr>
          <a:xfrm>
            <a:off x="5827126" y="543528"/>
            <a:ext cx="2385806" cy="400110"/>
          </a:xfrm>
          <a:prstGeom prst="rect">
            <a:avLst/>
          </a:prstGeom>
        </p:spPr>
        <p:txBody>
          <a:bodyPr wrap="square">
            <a:spAutoFit/>
          </a:bodyPr>
          <a:lstStyle/>
          <a:p>
            <a:r>
              <a:rPr lang="en-US" altLang="zh-CN" sz="2000" b="1" dirty="0" smtClean="0">
                <a:latin typeface="楷体" pitchFamily="49" charset="-122"/>
                <a:ea typeface="楷体" pitchFamily="49" charset="-122"/>
              </a:rPr>
              <a:t>STM32</a:t>
            </a:r>
            <a:r>
              <a:rPr lang="zh-CN" altLang="en-US" sz="2000" b="1" dirty="0" smtClean="0">
                <a:latin typeface="楷体" pitchFamily="49" charset="-122"/>
                <a:ea typeface="楷体" pitchFamily="49" charset="-122"/>
              </a:rPr>
              <a:t>内部电源框图</a:t>
            </a:r>
            <a:endParaRPr lang="zh-CN" altLang="en-US" sz="2000" b="1" dirty="0">
              <a:latin typeface="楷体" pitchFamily="49" charset="-122"/>
              <a:ea typeface="楷体" pitchFamily="49" charset="-122"/>
            </a:endParaRPr>
          </a:p>
        </p:txBody>
      </p:sp>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131590"/>
            <a:ext cx="3671923" cy="35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475564" y="2067694"/>
            <a:ext cx="4744508" cy="2739211"/>
          </a:xfrm>
          <a:prstGeom prst="rect">
            <a:avLst/>
          </a:prstGeom>
        </p:spPr>
        <p:txBody>
          <a:bodyPr wrap="square">
            <a:spAutoFit/>
          </a:bodyPr>
          <a:lstStyle/>
          <a:p>
            <a:pPr>
              <a:spcBef>
                <a:spcPts val="600"/>
              </a:spcBef>
            </a:pPr>
            <a:r>
              <a:rPr lang="zh-CN" altLang="en-US" b="1" dirty="0" smtClean="0"/>
              <a:t>内部有两</a:t>
            </a:r>
            <a:r>
              <a:rPr lang="zh-CN" altLang="en-US" b="1" dirty="0"/>
              <a:t>个可选电源选项：</a:t>
            </a:r>
          </a:p>
          <a:p>
            <a:pPr marL="285750" indent="-285750">
              <a:spcBef>
                <a:spcPts val="600"/>
              </a:spcBef>
              <a:buFont typeface="Wingdings" pitchFamily="2" charset="2"/>
              <a:buChar char="Ø"/>
            </a:pPr>
            <a:r>
              <a:rPr lang="en-US" altLang="zh-CN" b="1" dirty="0" smtClean="0"/>
              <a:t>ADC</a:t>
            </a:r>
            <a:r>
              <a:rPr lang="zh-CN" altLang="en-US" b="1" dirty="0"/>
              <a:t>模块所需的</a:t>
            </a:r>
            <a:r>
              <a:rPr lang="zh-CN" altLang="en-US" b="1" dirty="0">
                <a:solidFill>
                  <a:srgbClr val="C00000"/>
                </a:solidFill>
              </a:rPr>
              <a:t>参考电压</a:t>
            </a:r>
            <a:r>
              <a:rPr lang="en-US" altLang="zh-CN" b="1" dirty="0">
                <a:solidFill>
                  <a:srgbClr val="C00000"/>
                </a:solidFill>
              </a:rPr>
              <a:t>V</a:t>
            </a:r>
            <a:r>
              <a:rPr lang="en-US" altLang="zh-CN" sz="1200" b="1" dirty="0">
                <a:solidFill>
                  <a:srgbClr val="C00000"/>
                </a:solidFill>
              </a:rPr>
              <a:t>REF+</a:t>
            </a:r>
            <a:r>
              <a:rPr lang="zh-CN" altLang="en-US" b="1" dirty="0">
                <a:solidFill>
                  <a:srgbClr val="C00000"/>
                </a:solidFill>
              </a:rPr>
              <a:t>和</a:t>
            </a:r>
            <a:r>
              <a:rPr lang="en-US" altLang="zh-CN" b="1" dirty="0">
                <a:solidFill>
                  <a:srgbClr val="C00000"/>
                </a:solidFill>
              </a:rPr>
              <a:t>V</a:t>
            </a:r>
            <a:r>
              <a:rPr lang="en-US" altLang="zh-CN" sz="1200" b="1" dirty="0">
                <a:solidFill>
                  <a:srgbClr val="C00000"/>
                </a:solidFill>
              </a:rPr>
              <a:t>REF-</a:t>
            </a:r>
            <a:r>
              <a:rPr lang="zh-CN" altLang="en-US" b="1" dirty="0" smtClean="0"/>
              <a:t>。常采用独立的</a:t>
            </a:r>
            <a:r>
              <a:rPr lang="zh-CN" altLang="en-US" b="1" dirty="0"/>
              <a:t>供电</a:t>
            </a:r>
            <a:r>
              <a:rPr lang="zh-CN" altLang="en-US" b="1" dirty="0" smtClean="0"/>
              <a:t>电源。。</a:t>
            </a:r>
            <a:endParaRPr lang="zh-CN" altLang="en-US" b="1" dirty="0"/>
          </a:p>
          <a:p>
            <a:pPr marL="285750" indent="-285750">
              <a:spcBef>
                <a:spcPts val="600"/>
              </a:spcBef>
              <a:buFont typeface="Wingdings" pitchFamily="2" charset="2"/>
              <a:buChar char="Ø"/>
            </a:pPr>
            <a:r>
              <a:rPr lang="zh-CN" altLang="en-US" b="1" dirty="0">
                <a:solidFill>
                  <a:srgbClr val="C00000"/>
                </a:solidFill>
              </a:rPr>
              <a:t>备用电池电源</a:t>
            </a:r>
            <a:r>
              <a:rPr lang="en-US" altLang="zh-CN" b="1" dirty="0">
                <a:solidFill>
                  <a:srgbClr val="C00000"/>
                </a:solidFill>
              </a:rPr>
              <a:t>VBAT</a:t>
            </a:r>
            <a:r>
              <a:rPr lang="zh-CN" altLang="en-US" b="1" dirty="0" smtClean="0"/>
              <a:t>。</a:t>
            </a:r>
            <a:r>
              <a:rPr lang="zh-CN" altLang="en-US" b="1" dirty="0"/>
              <a:t>当主电源</a:t>
            </a:r>
            <a:r>
              <a:rPr lang="en-US" altLang="zh-CN" b="1" dirty="0"/>
              <a:t>V</a:t>
            </a:r>
            <a:r>
              <a:rPr lang="en-US" altLang="zh-CN" sz="1100" b="1" dirty="0"/>
              <a:t>DD</a:t>
            </a:r>
            <a:r>
              <a:rPr lang="zh-CN" altLang="en-US" b="1" dirty="0"/>
              <a:t>掉电后，通过</a:t>
            </a:r>
            <a:r>
              <a:rPr lang="en-US" altLang="zh-CN" b="1" dirty="0" smtClean="0"/>
              <a:t>V</a:t>
            </a:r>
            <a:r>
              <a:rPr lang="en-US" altLang="zh-CN" sz="1100" b="1" dirty="0" smtClean="0"/>
              <a:t>BAT</a:t>
            </a:r>
            <a:r>
              <a:rPr lang="zh-CN" altLang="en-US" b="1" dirty="0" smtClean="0"/>
              <a:t>引脚</a:t>
            </a:r>
            <a:r>
              <a:rPr lang="zh-CN" altLang="en-US" b="1" dirty="0"/>
              <a:t>为</a:t>
            </a:r>
            <a:r>
              <a:rPr lang="zh-CN" altLang="en-US" b="1" dirty="0" smtClean="0"/>
              <a:t>实时时钟和</a:t>
            </a:r>
            <a:r>
              <a:rPr lang="zh-CN" altLang="en-US" b="1" dirty="0"/>
              <a:t>备份寄存器提供</a:t>
            </a:r>
            <a:r>
              <a:rPr lang="zh-CN" altLang="en-US" b="1" dirty="0" smtClean="0"/>
              <a:t>电源。通常选择备用</a:t>
            </a:r>
            <a:r>
              <a:rPr lang="zh-CN" altLang="en-US" b="1" dirty="0"/>
              <a:t>电池作为该电源</a:t>
            </a:r>
            <a:r>
              <a:rPr lang="zh-CN" altLang="en-US" b="1" dirty="0" smtClean="0"/>
              <a:t>，电压</a:t>
            </a:r>
            <a:r>
              <a:rPr lang="zh-CN" altLang="en-US" b="1" dirty="0"/>
              <a:t>范围为</a:t>
            </a:r>
            <a:r>
              <a:rPr lang="en-US" altLang="zh-CN" b="1" dirty="0"/>
              <a:t>1.8~3.6V</a:t>
            </a:r>
            <a:r>
              <a:rPr lang="zh-CN" altLang="en-US" b="1" dirty="0" smtClean="0"/>
              <a:t>。若不</a:t>
            </a:r>
            <a:r>
              <a:rPr lang="zh-CN" altLang="en-US" b="1" dirty="0"/>
              <a:t>使用备用电池供电，则</a:t>
            </a:r>
            <a:r>
              <a:rPr lang="en-US" altLang="zh-CN" b="1" dirty="0"/>
              <a:t>V</a:t>
            </a:r>
            <a:r>
              <a:rPr lang="en-US" altLang="zh-CN" sz="1100" b="1" dirty="0"/>
              <a:t>BAT</a:t>
            </a:r>
            <a:r>
              <a:rPr lang="zh-CN" altLang="en-US" b="1" dirty="0"/>
              <a:t>引脚必须与主电源引脚</a:t>
            </a:r>
            <a:r>
              <a:rPr lang="en-US" altLang="zh-CN" b="1" dirty="0"/>
              <a:t>V</a:t>
            </a:r>
            <a:r>
              <a:rPr lang="en-US" altLang="zh-CN" sz="1100" b="1" dirty="0"/>
              <a:t>DD</a:t>
            </a:r>
            <a:r>
              <a:rPr lang="zh-CN" altLang="en-US" b="1" dirty="0"/>
              <a:t>连接。</a:t>
            </a:r>
          </a:p>
        </p:txBody>
      </p:sp>
    </p:spTree>
    <p:extLst>
      <p:ext uri="{BB962C8B-B14F-4D97-AF65-F5344CB8AC3E}">
        <p14:creationId xmlns:p14="http://schemas.microsoft.com/office/powerpoint/2010/main" val="24973227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pic>
        <p:nvPicPr>
          <p:cNvPr id="49154" name="Picture 2" descr="C:\Users\锋\Desktop\u=2097685957,1529937365&amp;fm=26&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078688">
            <a:off x="1051114" y="1813475"/>
            <a:ext cx="1290481" cy="9263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595499"/>
            <a:ext cx="21907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0" name="Picture 2" descr="C:\Users\锋\Desktop\u=270737884,348279985&amp;fm=26&amp;gp=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47566" y="1394198"/>
            <a:ext cx="2064794" cy="137437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85996" y="2859782"/>
            <a:ext cx="2861868" cy="923330"/>
          </a:xfrm>
          <a:prstGeom prst="rect">
            <a:avLst/>
          </a:prstGeom>
        </p:spPr>
        <p:txBody>
          <a:bodyPr wrap="square">
            <a:spAutoFit/>
          </a:bodyPr>
          <a:lstStyle/>
          <a:p>
            <a:r>
              <a:rPr lang="en-GB" altLang="zh-CN" b="1" dirty="0" smtClean="0"/>
              <a:t>        </a:t>
            </a:r>
            <a:r>
              <a:rPr lang="zh-CN" altLang="zh-CN" b="1" dirty="0" smtClean="0"/>
              <a:t>时钟系统产生</a:t>
            </a:r>
            <a:r>
              <a:rPr lang="zh-CN" altLang="zh-CN" b="1" dirty="0"/>
              <a:t>供系统正常工作的稳定的脉冲</a:t>
            </a:r>
            <a:r>
              <a:rPr lang="zh-CN" altLang="zh-CN" b="1" dirty="0" smtClean="0"/>
              <a:t>信号</a:t>
            </a:r>
            <a:r>
              <a:rPr lang="en-GB" altLang="zh-CN" b="1" dirty="0" smtClean="0"/>
              <a:t>.</a:t>
            </a:r>
            <a:endParaRPr lang="zh-CN" altLang="en-US" b="1" dirty="0"/>
          </a:p>
        </p:txBody>
      </p:sp>
      <p:sp>
        <p:nvSpPr>
          <p:cNvPr id="4" name="矩形 3"/>
          <p:cNvSpPr/>
          <p:nvPr/>
        </p:nvSpPr>
        <p:spPr>
          <a:xfrm>
            <a:off x="4716016" y="3141302"/>
            <a:ext cx="3834019" cy="1200329"/>
          </a:xfrm>
          <a:prstGeom prst="rect">
            <a:avLst/>
          </a:prstGeom>
        </p:spPr>
        <p:txBody>
          <a:bodyPr wrap="square">
            <a:spAutoFit/>
          </a:bodyPr>
          <a:lstStyle/>
          <a:p>
            <a:r>
              <a:rPr lang="en-GB" altLang="zh-CN" b="1" dirty="0" smtClean="0"/>
              <a:t>       </a:t>
            </a:r>
            <a:r>
              <a:rPr lang="zh-CN" altLang="zh-CN" b="1" dirty="0" smtClean="0"/>
              <a:t>单片机</a:t>
            </a:r>
            <a:r>
              <a:rPr lang="zh-CN" altLang="zh-CN" b="1" dirty="0"/>
              <a:t>的一切指令的执行都依赖于晶振提供的时钟频率，时钟频率越高，单片机运行速度越快，功耗也就越</a:t>
            </a:r>
            <a:r>
              <a:rPr lang="zh-CN" altLang="zh-CN" b="1" dirty="0" smtClean="0"/>
              <a:t>大</a:t>
            </a:r>
            <a:r>
              <a:rPr lang="zh-CN" altLang="en-US" b="1" dirty="0" smtClean="0"/>
              <a:t>。</a:t>
            </a:r>
            <a:endParaRPr lang="zh-CN" altLang="en-US" b="1" dirty="0"/>
          </a:p>
        </p:txBody>
      </p:sp>
      <p:sp>
        <p:nvSpPr>
          <p:cNvPr id="7" name="右箭头 6"/>
          <p:cNvSpPr/>
          <p:nvPr/>
        </p:nvSpPr>
        <p:spPr>
          <a:xfrm>
            <a:off x="2322449" y="1986024"/>
            <a:ext cx="432048" cy="288032"/>
          </a:xfrm>
          <a:prstGeom prst="rightArrow">
            <a:avLst/>
          </a:prstGeom>
          <a:solidFill>
            <a:schemeClr val="accent5">
              <a:lumMod val="60000"/>
              <a:lumOff val="40000"/>
            </a:schemeClr>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sp>
        <p:nvSpPr>
          <p:cNvPr id="11" name="右箭头 10"/>
          <p:cNvSpPr/>
          <p:nvPr/>
        </p:nvSpPr>
        <p:spPr>
          <a:xfrm>
            <a:off x="5220072" y="1937371"/>
            <a:ext cx="432048" cy="288032"/>
          </a:xfrm>
          <a:prstGeom prst="rightArrow">
            <a:avLst/>
          </a:prstGeom>
          <a:solidFill>
            <a:schemeClr val="accent5">
              <a:lumMod val="60000"/>
              <a:lumOff val="40000"/>
            </a:schemeClr>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pic>
        <p:nvPicPr>
          <p:cNvPr id="1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4577" y="2157064"/>
            <a:ext cx="2046734" cy="456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72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sp>
        <p:nvSpPr>
          <p:cNvPr id="2" name="矩形 1"/>
          <p:cNvSpPr/>
          <p:nvPr/>
        </p:nvSpPr>
        <p:spPr>
          <a:xfrm>
            <a:off x="831889" y="2247714"/>
            <a:ext cx="504056" cy="122413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t>晶振</a:t>
            </a:r>
          </a:p>
        </p:txBody>
      </p:sp>
      <p:sp>
        <p:nvSpPr>
          <p:cNvPr id="8" name="左大括号 7"/>
          <p:cNvSpPr/>
          <p:nvPr/>
        </p:nvSpPr>
        <p:spPr>
          <a:xfrm>
            <a:off x="1407953" y="1887674"/>
            <a:ext cx="360040" cy="1962218"/>
          </a:xfrm>
          <a:prstGeom prst="leftBrace">
            <a:avLst>
              <a:gd name="adj1" fmla="val 47708"/>
              <a:gd name="adj2" fmla="val 50000"/>
            </a:avLst>
          </a:prstGeom>
          <a:ln w="28575">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p:nvSpPr>
        <p:spPr>
          <a:xfrm>
            <a:off x="1840001" y="1635646"/>
            <a:ext cx="2016224" cy="540060"/>
          </a:xfrm>
          <a:prstGeom prst="rect">
            <a:avLst/>
          </a:prstGeom>
          <a:ln>
            <a:solidFill>
              <a:schemeClr val="accent5">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t>有源晶振（振荡器）</a:t>
            </a:r>
          </a:p>
        </p:txBody>
      </p:sp>
      <p:sp>
        <p:nvSpPr>
          <p:cNvPr id="14" name="矩形 13"/>
          <p:cNvSpPr/>
          <p:nvPr/>
        </p:nvSpPr>
        <p:spPr>
          <a:xfrm>
            <a:off x="1840001" y="3543858"/>
            <a:ext cx="2016224" cy="540060"/>
          </a:xfrm>
          <a:prstGeom prst="rect">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t>无源晶振（晶体）</a:t>
            </a:r>
          </a:p>
        </p:txBody>
      </p:sp>
      <p:sp>
        <p:nvSpPr>
          <p:cNvPr id="10" name="横卷形 9"/>
          <p:cNvSpPr/>
          <p:nvPr/>
        </p:nvSpPr>
        <p:spPr>
          <a:xfrm>
            <a:off x="4283968" y="483518"/>
            <a:ext cx="3960440" cy="2592287"/>
          </a:xfrm>
          <a:prstGeom prst="horizontalScroll">
            <a:avLst/>
          </a:prstGeom>
          <a:solidFill>
            <a:schemeClr val="accent5">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p>
            <a:pPr marL="285750" indent="-285750">
              <a:lnSpc>
                <a:spcPct val="125000"/>
              </a:lnSpc>
              <a:buClr>
                <a:schemeClr val="accent5">
                  <a:lumMod val="75000"/>
                </a:schemeClr>
              </a:buClr>
              <a:buBlip>
                <a:blip r:embed="rId2"/>
              </a:buBlip>
            </a:pPr>
            <a:r>
              <a:rPr lang="zh-CN" altLang="zh-CN" sz="1600" b="1" dirty="0" smtClean="0">
                <a:solidFill>
                  <a:sysClr val="windowText" lastClr="000000"/>
                </a:solidFill>
              </a:rPr>
              <a:t>内部</a:t>
            </a:r>
            <a:r>
              <a:rPr lang="zh-CN" altLang="zh-CN" sz="1600" b="1" dirty="0">
                <a:solidFill>
                  <a:sysClr val="windowText" lastClr="000000"/>
                </a:solidFill>
              </a:rPr>
              <a:t>包含晶体管和阻容</a:t>
            </a:r>
            <a:r>
              <a:rPr lang="zh-CN" altLang="zh-CN" sz="1600" b="1" dirty="0" smtClean="0">
                <a:solidFill>
                  <a:sysClr val="windowText" lastClr="000000"/>
                </a:solidFill>
              </a:rPr>
              <a:t>元件</a:t>
            </a:r>
            <a:endParaRPr lang="en-US" altLang="zh-CN" sz="1600" b="1" dirty="0" smtClean="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smtClean="0">
                <a:solidFill>
                  <a:sysClr val="windowText" lastClr="000000"/>
                </a:solidFill>
              </a:rPr>
              <a:t>一</a:t>
            </a:r>
            <a:r>
              <a:rPr lang="zh-CN" altLang="zh-CN" sz="1600" b="1" dirty="0">
                <a:solidFill>
                  <a:sysClr val="windowText" lastClr="000000"/>
                </a:solidFill>
              </a:rPr>
              <a:t>个完整的谐振</a:t>
            </a:r>
            <a:r>
              <a:rPr lang="zh-CN" altLang="zh-CN" sz="1600" b="1" dirty="0" smtClean="0">
                <a:solidFill>
                  <a:sysClr val="windowText" lastClr="000000"/>
                </a:solidFill>
              </a:rPr>
              <a:t>振荡器</a:t>
            </a:r>
            <a:endParaRPr lang="en-US" altLang="zh-CN" sz="1600" b="1" dirty="0" smtClean="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smtClean="0">
                <a:solidFill>
                  <a:sysClr val="windowText" lastClr="000000"/>
                </a:solidFill>
              </a:rPr>
              <a:t>只需</a:t>
            </a:r>
            <a:r>
              <a:rPr lang="zh-CN" altLang="zh-CN" sz="1600" b="1" dirty="0">
                <a:solidFill>
                  <a:sysClr val="windowText" lastClr="000000"/>
                </a:solidFill>
              </a:rPr>
              <a:t>要给它</a:t>
            </a:r>
            <a:r>
              <a:rPr lang="zh-CN" altLang="zh-CN" sz="1600" b="1" dirty="0" smtClean="0">
                <a:solidFill>
                  <a:sysClr val="windowText" lastClr="000000"/>
                </a:solidFill>
              </a:rPr>
              <a:t>供电</a:t>
            </a:r>
            <a:endParaRPr lang="en-US" altLang="zh-CN" sz="1600" b="1" dirty="0" smtClean="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smtClean="0">
                <a:solidFill>
                  <a:sysClr val="windowText" lastClr="000000"/>
                </a:solidFill>
              </a:rPr>
              <a:t>不</a:t>
            </a:r>
            <a:r>
              <a:rPr lang="zh-CN" altLang="zh-CN" sz="1600" b="1" dirty="0">
                <a:solidFill>
                  <a:sysClr val="windowText" lastClr="000000"/>
                </a:solidFill>
              </a:rPr>
              <a:t>需要外接其他</a:t>
            </a:r>
            <a:r>
              <a:rPr lang="zh-CN" altLang="zh-CN" sz="1600" b="1" dirty="0" smtClean="0">
                <a:solidFill>
                  <a:sysClr val="windowText" lastClr="000000"/>
                </a:solidFill>
              </a:rPr>
              <a:t>元件</a:t>
            </a:r>
            <a:endParaRPr lang="en-US" altLang="zh-CN" sz="1600" b="1" dirty="0" smtClean="0">
              <a:solidFill>
                <a:sysClr val="windowText" lastClr="000000"/>
              </a:solidFill>
            </a:endParaRPr>
          </a:p>
          <a:p>
            <a:pPr marL="285750" indent="-285750">
              <a:lnSpc>
                <a:spcPct val="125000"/>
              </a:lnSpc>
              <a:buClr>
                <a:schemeClr val="accent5">
                  <a:lumMod val="75000"/>
                </a:schemeClr>
              </a:buClr>
              <a:buBlip>
                <a:blip r:embed="rId2"/>
              </a:buBlip>
            </a:pPr>
            <a:r>
              <a:rPr lang="zh-CN" altLang="zh-CN" sz="1600" b="1" dirty="0" smtClean="0">
                <a:solidFill>
                  <a:sysClr val="windowText" lastClr="000000"/>
                </a:solidFill>
              </a:rPr>
              <a:t>通常</a:t>
            </a:r>
            <a:r>
              <a:rPr lang="zh-CN" altLang="zh-CN" sz="1600" b="1" dirty="0">
                <a:solidFill>
                  <a:sysClr val="windowText" lastClr="000000"/>
                </a:solidFill>
              </a:rPr>
              <a:t>有四个引脚：</a:t>
            </a:r>
            <a:r>
              <a:rPr lang="en-US" altLang="zh-CN" sz="1600" b="1" dirty="0">
                <a:solidFill>
                  <a:sysClr val="windowText" lastClr="000000"/>
                </a:solidFill>
              </a:rPr>
              <a:t>VCC</a:t>
            </a:r>
            <a:r>
              <a:rPr lang="zh-CN" altLang="zh-CN" sz="1600" b="1" dirty="0">
                <a:solidFill>
                  <a:sysClr val="windowText" lastClr="000000"/>
                </a:solidFill>
              </a:rPr>
              <a:t>、</a:t>
            </a:r>
            <a:r>
              <a:rPr lang="en-US" altLang="zh-CN" sz="1600" b="1" dirty="0">
                <a:solidFill>
                  <a:sysClr val="windowText" lastClr="000000"/>
                </a:solidFill>
              </a:rPr>
              <a:t>GND</a:t>
            </a:r>
            <a:r>
              <a:rPr lang="zh-CN" altLang="zh-CN" sz="1600" b="1" dirty="0">
                <a:solidFill>
                  <a:sysClr val="windowText" lastClr="000000"/>
                </a:solidFill>
              </a:rPr>
              <a:t>、晶振输出引脚和一个悬空的引脚。</a:t>
            </a:r>
            <a:endParaRPr lang="zh-CN" altLang="en-US" sz="1600" b="1" dirty="0" smtClean="0">
              <a:solidFill>
                <a:sysClr val="windowText" lastClr="000000"/>
              </a:solidFill>
            </a:endParaRPr>
          </a:p>
        </p:txBody>
      </p:sp>
      <p:sp>
        <p:nvSpPr>
          <p:cNvPr id="12" name="左右箭头 11"/>
          <p:cNvSpPr/>
          <p:nvPr/>
        </p:nvSpPr>
        <p:spPr>
          <a:xfrm>
            <a:off x="3896964" y="1779662"/>
            <a:ext cx="319301" cy="216024"/>
          </a:xfrm>
          <a:prstGeom prst="lef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
        <p:nvSpPr>
          <p:cNvPr id="17" name="横卷形 16"/>
          <p:cNvSpPr/>
          <p:nvPr/>
        </p:nvSpPr>
        <p:spPr>
          <a:xfrm>
            <a:off x="4283968" y="3003798"/>
            <a:ext cx="3960440" cy="1836204"/>
          </a:xfrm>
          <a:prstGeom prst="horizontalScroll">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marL="285750" indent="-285750">
              <a:lnSpc>
                <a:spcPct val="125000"/>
              </a:lnSpc>
              <a:buClr>
                <a:schemeClr val="accent5">
                  <a:lumMod val="75000"/>
                </a:schemeClr>
              </a:buClr>
              <a:buBlip>
                <a:blip r:embed="rId2"/>
              </a:buBlip>
            </a:pPr>
            <a:r>
              <a:rPr lang="zh-CN" altLang="zh-CN" sz="1600" b="1" dirty="0" smtClean="0">
                <a:solidFill>
                  <a:schemeClr val="tx1"/>
                </a:solidFill>
              </a:rPr>
              <a:t>只有</a:t>
            </a:r>
            <a:r>
              <a:rPr lang="en-US" altLang="zh-CN" sz="1600" b="1" dirty="0">
                <a:solidFill>
                  <a:schemeClr val="tx1"/>
                </a:solidFill>
              </a:rPr>
              <a:t>2</a:t>
            </a:r>
            <a:r>
              <a:rPr lang="zh-CN" altLang="zh-CN" sz="1600" b="1" dirty="0" smtClean="0">
                <a:solidFill>
                  <a:schemeClr val="tx1"/>
                </a:solidFill>
              </a:rPr>
              <a:t>个引脚</a:t>
            </a:r>
            <a:r>
              <a:rPr lang="zh-CN" altLang="zh-CN" sz="1600" b="1" dirty="0">
                <a:solidFill>
                  <a:schemeClr val="tx1"/>
                </a:solidFill>
              </a:rPr>
              <a:t>的无极性</a:t>
            </a:r>
            <a:r>
              <a:rPr lang="zh-CN" altLang="zh-CN" sz="1600" b="1" dirty="0" smtClean="0">
                <a:solidFill>
                  <a:schemeClr val="tx1"/>
                </a:solidFill>
              </a:rPr>
              <a:t>元件</a:t>
            </a:r>
            <a:endParaRPr lang="en-US" altLang="zh-CN" sz="1600" b="1" dirty="0" smtClean="0">
              <a:solidFill>
                <a:schemeClr val="tx1"/>
              </a:solidFill>
            </a:endParaRPr>
          </a:p>
          <a:p>
            <a:pPr marL="285750" indent="-285750">
              <a:lnSpc>
                <a:spcPct val="125000"/>
              </a:lnSpc>
              <a:buClr>
                <a:schemeClr val="accent5">
                  <a:lumMod val="75000"/>
                </a:schemeClr>
              </a:buClr>
              <a:buBlip>
                <a:blip r:embed="rId2"/>
              </a:buBlip>
            </a:pPr>
            <a:r>
              <a:rPr lang="zh-CN" altLang="zh-CN" sz="1600" b="1" dirty="0" smtClean="0">
                <a:solidFill>
                  <a:schemeClr val="tx1"/>
                </a:solidFill>
              </a:rPr>
              <a:t>需要</a:t>
            </a:r>
            <a:r>
              <a:rPr lang="zh-CN" altLang="zh-CN" sz="1600" b="1" dirty="0">
                <a:solidFill>
                  <a:schemeClr val="tx1"/>
                </a:solidFill>
              </a:rPr>
              <a:t>借助外部电路起</a:t>
            </a:r>
            <a:r>
              <a:rPr lang="zh-CN" altLang="zh-CN" sz="1600" b="1" dirty="0" smtClean="0">
                <a:solidFill>
                  <a:schemeClr val="tx1"/>
                </a:solidFill>
              </a:rPr>
              <a:t>振</a:t>
            </a:r>
            <a:endParaRPr lang="en-US" altLang="zh-CN" sz="1600" b="1" dirty="0" smtClean="0">
              <a:solidFill>
                <a:schemeClr val="tx1"/>
              </a:solidFill>
            </a:endParaRPr>
          </a:p>
          <a:p>
            <a:pPr marL="285750" indent="-285750">
              <a:lnSpc>
                <a:spcPct val="125000"/>
              </a:lnSpc>
              <a:buClr>
                <a:schemeClr val="accent5">
                  <a:lumMod val="75000"/>
                </a:schemeClr>
              </a:buClr>
              <a:buBlip>
                <a:blip r:embed="rId2"/>
              </a:buBlip>
            </a:pPr>
            <a:r>
              <a:rPr lang="zh-CN" altLang="zh-CN" sz="1600" b="1" dirty="0" smtClean="0">
                <a:solidFill>
                  <a:schemeClr val="tx1"/>
                </a:solidFill>
              </a:rPr>
              <a:t>精度</a:t>
            </a:r>
            <a:r>
              <a:rPr lang="zh-CN" altLang="zh-CN" sz="1600" b="1" dirty="0">
                <a:solidFill>
                  <a:schemeClr val="tx1"/>
                </a:solidFill>
              </a:rPr>
              <a:t>上差</a:t>
            </a:r>
            <a:r>
              <a:rPr lang="zh-CN" altLang="zh-CN" sz="1600" b="1" dirty="0" smtClean="0">
                <a:solidFill>
                  <a:schemeClr val="tx1"/>
                </a:solidFill>
              </a:rPr>
              <a:t>一些</a:t>
            </a:r>
            <a:endParaRPr lang="en-US" altLang="zh-CN" sz="1600" b="1" dirty="0" smtClean="0">
              <a:solidFill>
                <a:schemeClr val="tx1"/>
              </a:solidFill>
            </a:endParaRPr>
          </a:p>
          <a:p>
            <a:pPr marL="285750" indent="-285750">
              <a:lnSpc>
                <a:spcPct val="125000"/>
              </a:lnSpc>
              <a:buClr>
                <a:schemeClr val="accent5">
                  <a:lumMod val="75000"/>
                </a:schemeClr>
              </a:buClr>
              <a:buBlip>
                <a:blip r:embed="rId2"/>
              </a:buBlip>
            </a:pPr>
            <a:r>
              <a:rPr lang="zh-CN" altLang="zh-CN" sz="1600" b="1" dirty="0" smtClean="0">
                <a:solidFill>
                  <a:schemeClr val="tx1"/>
                </a:solidFill>
              </a:rPr>
              <a:t>价格便宜</a:t>
            </a:r>
            <a:endParaRPr lang="zh-CN" altLang="en-US" sz="1600" b="1" dirty="0" smtClean="0">
              <a:solidFill>
                <a:schemeClr val="tx1"/>
              </a:solidFill>
            </a:endParaRPr>
          </a:p>
        </p:txBody>
      </p:sp>
      <p:sp>
        <p:nvSpPr>
          <p:cNvPr id="18" name="左右箭头 17"/>
          <p:cNvSpPr/>
          <p:nvPr/>
        </p:nvSpPr>
        <p:spPr>
          <a:xfrm>
            <a:off x="3935884" y="3651870"/>
            <a:ext cx="319301" cy="216024"/>
          </a:xfrm>
          <a:prstGeom prst="lef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3711268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828058" y="1059582"/>
            <a:ext cx="3920405" cy="3888432"/>
          </a:xfrm>
          <a:prstGeom prst="round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7" name="圆角矩形 6"/>
          <p:cNvSpPr/>
          <p:nvPr/>
        </p:nvSpPr>
        <p:spPr>
          <a:xfrm>
            <a:off x="323528" y="1059582"/>
            <a:ext cx="4032448" cy="3888432"/>
          </a:xfrm>
          <a:prstGeom prst="roundRect">
            <a:avLst/>
          </a:prstGeom>
          <a:solidFill>
            <a:schemeClr val="accent5">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5" name="矩形 4"/>
          <p:cNvSpPr/>
          <p:nvPr/>
        </p:nvSpPr>
        <p:spPr>
          <a:xfrm>
            <a:off x="1" y="339503"/>
            <a:ext cx="40679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977371" cy="461665"/>
          </a:xfrm>
          <a:prstGeom prst="rect">
            <a:avLst/>
          </a:prstGeom>
        </p:spPr>
        <p:txBody>
          <a:bodyPr wrap="none">
            <a:spAutoFit/>
          </a:bodyPr>
          <a:lstStyle/>
          <a:p>
            <a:r>
              <a:rPr lang="en-US" altLang="zh-CN" sz="2400" b="1" dirty="0">
                <a:solidFill>
                  <a:schemeClr val="bg1"/>
                </a:solidFill>
              </a:rPr>
              <a:t>4.1.2 </a:t>
            </a:r>
            <a:r>
              <a:rPr lang="zh-CN" altLang="en-US" sz="2400" b="1" dirty="0">
                <a:solidFill>
                  <a:schemeClr val="bg1"/>
                </a:solidFill>
              </a:rPr>
              <a:t>时钟电路（晶振电路）</a:t>
            </a:r>
            <a:endParaRPr lang="zh-CN" altLang="zh-CN" sz="2400" b="1" dirty="0">
              <a:solidFill>
                <a:schemeClr val="bg1"/>
              </a:solidFill>
            </a:endParaRPr>
          </a:p>
        </p:txBody>
      </p:sp>
      <p:pic>
        <p:nvPicPr>
          <p:cNvPr id="15" name="图片 14"/>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306003"/>
            <a:ext cx="2880320" cy="1728192"/>
          </a:xfrm>
          <a:prstGeom prst="rect">
            <a:avLst/>
          </a:prstGeom>
          <a:noFill/>
          <a:ln>
            <a:noFill/>
          </a:ln>
        </p:spPr>
      </p:pic>
      <p:pic>
        <p:nvPicPr>
          <p:cNvPr id="16" name="图片 15"/>
          <p:cNvPicPr/>
          <p:nvPr/>
        </p:nvPicPr>
        <p:blipFill>
          <a:blip r:embed="rId3">
            <a:extLst>
              <a:ext uri="{28A0092B-C50C-407E-A947-70E740481C1C}">
                <a14:useLocalDpi xmlns:a14="http://schemas.microsoft.com/office/drawing/2010/main" val="0"/>
              </a:ext>
            </a:extLst>
          </a:blip>
          <a:srcRect/>
          <a:stretch>
            <a:fillRect/>
          </a:stretch>
        </p:blipFill>
        <p:spPr bwMode="auto">
          <a:xfrm>
            <a:off x="5508104" y="1378011"/>
            <a:ext cx="2664296" cy="1656184"/>
          </a:xfrm>
          <a:prstGeom prst="rect">
            <a:avLst/>
          </a:prstGeom>
          <a:noFill/>
          <a:ln>
            <a:noFill/>
          </a:ln>
        </p:spPr>
      </p:pic>
      <p:sp>
        <p:nvSpPr>
          <p:cNvPr id="3" name="矩形 2"/>
          <p:cNvSpPr/>
          <p:nvPr/>
        </p:nvSpPr>
        <p:spPr>
          <a:xfrm>
            <a:off x="467544" y="3219822"/>
            <a:ext cx="3888432" cy="1421928"/>
          </a:xfrm>
          <a:prstGeom prst="rect">
            <a:avLst/>
          </a:prstGeom>
        </p:spPr>
        <p:txBody>
          <a:bodyPr wrap="square">
            <a:spAutoFit/>
          </a:bodyPr>
          <a:lstStyle/>
          <a:p>
            <a:pPr>
              <a:lnSpc>
                <a:spcPct val="120000"/>
              </a:lnSpc>
            </a:pPr>
            <a:r>
              <a:rPr lang="zh-CN" altLang="en-US" b="1" dirty="0" smtClean="0"/>
              <a:t>      使用</a:t>
            </a:r>
            <a:r>
              <a:rPr lang="zh-CN" altLang="en-US" b="1" dirty="0"/>
              <a:t>低速晶振电路作为系统低速外部时钟源，频率为</a:t>
            </a:r>
            <a:r>
              <a:rPr lang="en-US" altLang="zh-CN" b="1" dirty="0"/>
              <a:t>32.768kHz</a:t>
            </a:r>
            <a:r>
              <a:rPr lang="zh-CN" altLang="en-US" b="1" dirty="0" smtClean="0"/>
              <a:t>，主要</a:t>
            </a:r>
            <a:r>
              <a:rPr lang="zh-CN" altLang="en-US" b="1" dirty="0"/>
              <a:t>用作</a:t>
            </a:r>
            <a:r>
              <a:rPr lang="en-US" altLang="zh-CN" b="1" dirty="0"/>
              <a:t>RTC</a:t>
            </a:r>
            <a:r>
              <a:rPr lang="zh-CN" altLang="en-US" b="1" dirty="0"/>
              <a:t>的时钟源，用于精准计时定时电路、万年历等。</a:t>
            </a:r>
          </a:p>
        </p:txBody>
      </p:sp>
      <p:sp>
        <p:nvSpPr>
          <p:cNvPr id="4" name="矩形 3"/>
          <p:cNvSpPr/>
          <p:nvPr/>
        </p:nvSpPr>
        <p:spPr>
          <a:xfrm>
            <a:off x="4828059" y="3213105"/>
            <a:ext cx="3672408" cy="1421928"/>
          </a:xfrm>
          <a:prstGeom prst="rect">
            <a:avLst/>
          </a:prstGeom>
        </p:spPr>
        <p:txBody>
          <a:bodyPr wrap="square">
            <a:spAutoFit/>
          </a:bodyPr>
          <a:lstStyle/>
          <a:p>
            <a:pPr>
              <a:lnSpc>
                <a:spcPct val="120000"/>
              </a:lnSpc>
            </a:pPr>
            <a:r>
              <a:rPr lang="en-US" altLang="zh-CN" b="1" dirty="0" smtClean="0"/>
              <a:t>       </a:t>
            </a:r>
            <a:r>
              <a:rPr lang="zh-CN" altLang="zh-CN" b="1" dirty="0" smtClean="0"/>
              <a:t>使用</a:t>
            </a:r>
            <a:r>
              <a:rPr lang="zh-CN" altLang="zh-CN" b="1" dirty="0"/>
              <a:t>外部高速晶振电路作为系统时钟源，一般称为高速外部时钟信号（</a:t>
            </a:r>
            <a:r>
              <a:rPr lang="en-US" altLang="zh-CN" b="1" dirty="0"/>
              <a:t>HSE</a:t>
            </a:r>
            <a:r>
              <a:rPr lang="zh-CN" altLang="zh-CN" b="1" dirty="0"/>
              <a:t>）</a:t>
            </a:r>
            <a:r>
              <a:rPr lang="zh-CN" altLang="zh-CN" b="1" dirty="0" smtClean="0"/>
              <a:t>。一般</a:t>
            </a:r>
            <a:r>
              <a:rPr lang="zh-CN" altLang="zh-CN" b="1" dirty="0"/>
              <a:t>选择</a:t>
            </a:r>
            <a:r>
              <a:rPr lang="en-US" altLang="zh-CN" b="1" dirty="0"/>
              <a:t>8MHz</a:t>
            </a:r>
            <a:r>
              <a:rPr lang="zh-CN" altLang="zh-CN" b="1" dirty="0"/>
              <a:t>，方便</a:t>
            </a:r>
            <a:r>
              <a:rPr lang="zh-CN" altLang="zh-CN" b="1" dirty="0" smtClean="0"/>
              <a:t>倍频。</a:t>
            </a:r>
            <a:endParaRPr lang="zh-CN" altLang="en-US" b="1" dirty="0"/>
          </a:p>
        </p:txBody>
      </p:sp>
      <p:sp>
        <p:nvSpPr>
          <p:cNvPr id="19" name="椭圆 14"/>
          <p:cNvSpPr>
            <a:spLocks noChangeArrowheads="1"/>
          </p:cNvSpPr>
          <p:nvPr/>
        </p:nvSpPr>
        <p:spPr bwMode="auto">
          <a:xfrm>
            <a:off x="417295" y="1154803"/>
            <a:ext cx="648071" cy="648072"/>
          </a:xfrm>
          <a:prstGeom prst="ellipse">
            <a:avLst/>
          </a:prstGeom>
          <a:solidFill>
            <a:schemeClr val="accent5">
              <a:lumMod val="75000"/>
            </a:schemeClr>
          </a:solidFill>
          <a:ln>
            <a:solidFill>
              <a:schemeClr val="bg1"/>
            </a:solidFill>
          </a:ln>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dirty="0">
                <a:solidFill>
                  <a:schemeClr val="bg1"/>
                </a:solidFill>
                <a:latin typeface="Arial" panose="020B0604020202020204" pitchFamily="34" charset="0"/>
                <a:ea typeface="微软雅黑" panose="020B0503020204020204" pitchFamily="34" charset="-122"/>
              </a:rPr>
              <a:t>01</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0" name="椭圆 14"/>
          <p:cNvSpPr>
            <a:spLocks noChangeArrowheads="1"/>
          </p:cNvSpPr>
          <p:nvPr/>
        </p:nvSpPr>
        <p:spPr bwMode="auto">
          <a:xfrm>
            <a:off x="4932040" y="1154803"/>
            <a:ext cx="648071" cy="648072"/>
          </a:xfrm>
          <a:prstGeom prst="ellipse">
            <a:avLst/>
          </a:prstGeom>
          <a:solidFill>
            <a:schemeClr val="accent5">
              <a:lumMod val="75000"/>
            </a:schemeClr>
          </a:solidFill>
          <a:ln>
            <a:solidFill>
              <a:schemeClr val="bg1"/>
            </a:solidFill>
          </a:ln>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dirty="0" smtClean="0">
                <a:solidFill>
                  <a:schemeClr val="bg1"/>
                </a:solidFill>
                <a:latin typeface="Arial" panose="020B0604020202020204" pitchFamily="34" charset="0"/>
                <a:ea typeface="微软雅黑" panose="020B0503020204020204" pitchFamily="34" charset="-122"/>
              </a:rPr>
              <a:t>02</a:t>
            </a:r>
            <a:endParaRPr lang="zh-CN" altLang="en-US" b="1" dirty="0">
              <a:solidFill>
                <a:schemeClr val="bg1"/>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871465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4.1.3 </a:t>
            </a:r>
            <a:r>
              <a:rPr lang="zh-CN" altLang="en-US" sz="2400" b="1" dirty="0">
                <a:solidFill>
                  <a:schemeClr val="bg1"/>
                </a:solidFill>
              </a:rPr>
              <a:t>复位电路</a:t>
            </a:r>
            <a:endParaRPr lang="zh-CN" altLang="zh-CN" sz="2400" b="1" dirty="0">
              <a:solidFill>
                <a:schemeClr val="bg1"/>
              </a:solidFill>
            </a:endParaRPr>
          </a:p>
        </p:txBody>
      </p:sp>
      <p:sp>
        <p:nvSpPr>
          <p:cNvPr id="2" name="矩形 1"/>
          <p:cNvSpPr/>
          <p:nvPr/>
        </p:nvSpPr>
        <p:spPr>
          <a:xfrm>
            <a:off x="4283968" y="426723"/>
            <a:ext cx="3023585" cy="400110"/>
          </a:xfrm>
          <a:prstGeom prst="rect">
            <a:avLst/>
          </a:prstGeom>
        </p:spPr>
        <p:txBody>
          <a:bodyPr wrap="none">
            <a:spAutoFit/>
          </a:bodyPr>
          <a:lstStyle/>
          <a:p>
            <a:r>
              <a:rPr lang="zh-CN" altLang="zh-CN" sz="2000" b="1" dirty="0">
                <a:latin typeface="黑体" pitchFamily="49" charset="-122"/>
                <a:ea typeface="黑体" pitchFamily="49" charset="-122"/>
              </a:rPr>
              <a:t>复位电路将系统进行复位</a:t>
            </a:r>
            <a:endParaRPr lang="zh-CN" altLang="en-US" sz="2000" b="1" dirty="0">
              <a:latin typeface="黑体" pitchFamily="49" charset="-122"/>
              <a:ea typeface="黑体" pitchFamily="49" charset="-122"/>
            </a:endParaRPr>
          </a:p>
        </p:txBody>
      </p:sp>
      <p:pic>
        <p:nvPicPr>
          <p:cNvPr id="13" name="图片 12" descr="C:\Users\Administrator\Desktop\Snipaste_2019-03-21_09-20-05.jpg"/>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059582"/>
            <a:ext cx="5237244" cy="1999159"/>
          </a:xfrm>
          <a:prstGeom prst="rect">
            <a:avLst/>
          </a:prstGeom>
          <a:noFill/>
          <a:ln>
            <a:noFill/>
          </a:ln>
        </p:spPr>
      </p:pic>
      <p:sp>
        <p:nvSpPr>
          <p:cNvPr id="8" name="矩形 7"/>
          <p:cNvSpPr/>
          <p:nvPr/>
        </p:nvSpPr>
        <p:spPr>
          <a:xfrm>
            <a:off x="3426023" y="3147814"/>
            <a:ext cx="2056589" cy="338554"/>
          </a:xfrm>
          <a:prstGeom prst="rect">
            <a:avLst/>
          </a:prstGeom>
        </p:spPr>
        <p:txBody>
          <a:bodyPr wrap="none">
            <a:spAutoFit/>
          </a:bodyPr>
          <a:lstStyle/>
          <a:p>
            <a:r>
              <a:rPr lang="en-US" altLang="zh-CN" sz="1600" b="1" dirty="0"/>
              <a:t> STM32</a:t>
            </a:r>
            <a:r>
              <a:rPr lang="zh-CN" altLang="zh-CN" sz="1600" b="1" dirty="0"/>
              <a:t>内部复位电路</a:t>
            </a:r>
            <a:endParaRPr lang="zh-CN" altLang="en-US" sz="1600" b="1" dirty="0"/>
          </a:p>
        </p:txBody>
      </p:sp>
      <p:sp>
        <p:nvSpPr>
          <p:cNvPr id="10" name="矩形 9"/>
          <p:cNvSpPr/>
          <p:nvPr/>
        </p:nvSpPr>
        <p:spPr>
          <a:xfrm>
            <a:off x="601889" y="3558376"/>
            <a:ext cx="7704856" cy="1062855"/>
          </a:xfrm>
          <a:prstGeom prst="rect">
            <a:avLst/>
          </a:prstGeom>
        </p:spPr>
        <p:txBody>
          <a:bodyPr wrap="square">
            <a:spAutoFit/>
          </a:bodyPr>
          <a:lstStyle/>
          <a:p>
            <a:pPr>
              <a:lnSpc>
                <a:spcPct val="120000"/>
              </a:lnSpc>
            </a:pPr>
            <a:r>
              <a:rPr lang="en-US" altLang="zh-CN" b="1" dirty="0"/>
              <a:t>      STM32</a:t>
            </a:r>
            <a:r>
              <a:rPr lang="zh-CN" altLang="zh-CN" b="1" dirty="0"/>
              <a:t>芯片复位管脚持续为低电平时复位，</a:t>
            </a:r>
            <a:r>
              <a:rPr lang="en-US" altLang="zh-CN" b="1" dirty="0"/>
              <a:t>STM32</a:t>
            </a:r>
            <a:r>
              <a:rPr lang="zh-CN" altLang="zh-CN" b="1" dirty="0"/>
              <a:t>的</a:t>
            </a:r>
            <a:r>
              <a:rPr lang="en-US" altLang="zh-CN" b="1" dirty="0"/>
              <a:t>NRST</a:t>
            </a:r>
            <a:r>
              <a:rPr lang="zh-CN" altLang="zh-CN" b="1" dirty="0"/>
              <a:t>引脚在内部已经连接了一个上拉电阻</a:t>
            </a:r>
            <a:r>
              <a:rPr lang="zh-CN" altLang="zh-CN" b="1" dirty="0" smtClean="0"/>
              <a:t>，数据</a:t>
            </a:r>
            <a:r>
              <a:rPr lang="zh-CN" altLang="zh-CN" b="1" dirty="0"/>
              <a:t>手册建议复位电路需外接一个对地电容，如果认为这个上拉电阻较小，用户也可以在复位电路中外接一个上拉电阻</a:t>
            </a:r>
            <a:endParaRPr lang="zh-CN" altLang="en-US" b="1" dirty="0"/>
          </a:p>
        </p:txBody>
      </p:sp>
      <p:sp>
        <p:nvSpPr>
          <p:cNvPr id="11" name="矩形 10"/>
          <p:cNvSpPr/>
          <p:nvPr/>
        </p:nvSpPr>
        <p:spPr>
          <a:xfrm>
            <a:off x="3491880" y="1347614"/>
            <a:ext cx="720080" cy="432048"/>
          </a:xfrm>
          <a:prstGeom prst="rect">
            <a:avLst/>
          </a:prstGeom>
          <a:solidFill>
            <a:schemeClr val="lt1">
              <a:alpha val="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1729379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33975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2121093" cy="461665"/>
          </a:xfrm>
          <a:prstGeom prst="rect">
            <a:avLst/>
          </a:prstGeom>
        </p:spPr>
        <p:txBody>
          <a:bodyPr wrap="none">
            <a:spAutoFit/>
          </a:bodyPr>
          <a:lstStyle/>
          <a:p>
            <a:r>
              <a:rPr lang="en-US" altLang="zh-CN" sz="2400" b="1" dirty="0">
                <a:solidFill>
                  <a:schemeClr val="bg1"/>
                </a:solidFill>
              </a:rPr>
              <a:t>4.1.3 </a:t>
            </a:r>
            <a:r>
              <a:rPr lang="zh-CN" altLang="en-US" sz="2400" b="1" dirty="0">
                <a:solidFill>
                  <a:schemeClr val="bg1"/>
                </a:solidFill>
              </a:rPr>
              <a:t>复位电路</a:t>
            </a:r>
            <a:endParaRPr lang="zh-CN" altLang="zh-CN" sz="2400" b="1" dirty="0">
              <a:solidFill>
                <a:schemeClr val="bg1"/>
              </a:solidFill>
            </a:endParaRPr>
          </a:p>
        </p:txBody>
      </p:sp>
      <p:sp>
        <p:nvSpPr>
          <p:cNvPr id="9" name="矩形 8"/>
          <p:cNvSpPr/>
          <p:nvPr/>
        </p:nvSpPr>
        <p:spPr>
          <a:xfrm>
            <a:off x="4932040" y="1582163"/>
            <a:ext cx="3836775" cy="757130"/>
          </a:xfrm>
          <a:prstGeom prst="rect">
            <a:avLst/>
          </a:prstGeom>
        </p:spPr>
        <p:txBody>
          <a:bodyPr wrap="square">
            <a:spAutoFit/>
          </a:bodyPr>
          <a:lstStyle/>
          <a:p>
            <a:pPr>
              <a:lnSpc>
                <a:spcPct val="120000"/>
              </a:lnSpc>
            </a:pPr>
            <a:r>
              <a:rPr lang="zh-CN" altLang="en-US" b="1" dirty="0" smtClean="0"/>
              <a:t>      按键</a:t>
            </a:r>
            <a:r>
              <a:rPr lang="en-US" altLang="zh-CN" b="1" dirty="0"/>
              <a:t>S1</a:t>
            </a:r>
            <a:r>
              <a:rPr lang="zh-CN" altLang="en-US" b="1" dirty="0"/>
              <a:t>按下时，</a:t>
            </a:r>
            <a:r>
              <a:rPr lang="en-US" altLang="zh-CN" b="1" dirty="0"/>
              <a:t>RESET</a:t>
            </a:r>
            <a:r>
              <a:rPr lang="zh-CN" altLang="en-US" b="1" dirty="0"/>
              <a:t>和地连通</a:t>
            </a:r>
            <a:r>
              <a:rPr lang="zh-CN" altLang="en-US" b="1" dirty="0" smtClean="0"/>
              <a:t>，产生低</a:t>
            </a:r>
            <a:r>
              <a:rPr lang="zh-CN" altLang="en-US" b="1" dirty="0"/>
              <a:t>电平，实现复位。</a:t>
            </a:r>
          </a:p>
        </p:txBody>
      </p:sp>
      <p:sp>
        <p:nvSpPr>
          <p:cNvPr id="12" name="矩形 11"/>
          <p:cNvSpPr/>
          <p:nvPr/>
        </p:nvSpPr>
        <p:spPr>
          <a:xfrm>
            <a:off x="323528" y="1098137"/>
            <a:ext cx="1475084"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b="1" dirty="0">
                <a:solidFill>
                  <a:prstClr val="black"/>
                </a:solidFill>
              </a:rPr>
              <a:t>上电</a:t>
            </a:r>
            <a:r>
              <a:rPr lang="zh-CN" altLang="en-US" sz="2000" b="1" dirty="0" smtClean="0">
                <a:solidFill>
                  <a:prstClr val="black"/>
                </a:solidFill>
              </a:rPr>
              <a:t>复位：</a:t>
            </a:r>
            <a:endParaRPr lang="zh-CN" altLang="en-US" sz="2000" b="1" dirty="0"/>
          </a:p>
        </p:txBody>
      </p:sp>
      <p:sp>
        <p:nvSpPr>
          <p:cNvPr id="14" name="矩形 13"/>
          <p:cNvSpPr/>
          <p:nvPr/>
        </p:nvSpPr>
        <p:spPr>
          <a:xfrm>
            <a:off x="467544" y="1559733"/>
            <a:ext cx="3888431" cy="1395254"/>
          </a:xfrm>
          <a:prstGeom prst="rect">
            <a:avLst/>
          </a:prstGeom>
        </p:spPr>
        <p:txBody>
          <a:bodyPr wrap="square">
            <a:spAutoFit/>
          </a:bodyPr>
          <a:lstStyle/>
          <a:p>
            <a:pPr lvl="0">
              <a:lnSpc>
                <a:spcPct val="120000"/>
              </a:lnSpc>
            </a:pPr>
            <a:r>
              <a:rPr lang="zh-CN" altLang="en-US" dirty="0" smtClean="0">
                <a:solidFill>
                  <a:prstClr val="black"/>
                </a:solidFill>
              </a:rPr>
              <a:t>      </a:t>
            </a:r>
            <a:r>
              <a:rPr lang="zh-CN" altLang="en-US" b="1" dirty="0"/>
              <a:t>在上电瞬间，由于电容来两端电压不能突变，</a:t>
            </a:r>
            <a:r>
              <a:rPr lang="en-US" altLang="zh-CN" b="1" dirty="0"/>
              <a:t>RESET</a:t>
            </a:r>
            <a:r>
              <a:rPr lang="zh-CN" altLang="en-US" b="1" dirty="0"/>
              <a:t>出现短暂低电平，芯片自动复位，之后电容充电，充电时间由电阻和电容共同决定：</a:t>
            </a:r>
          </a:p>
        </p:txBody>
      </p:sp>
      <p:graphicFrame>
        <p:nvGraphicFramePr>
          <p:cNvPr id="16" name="对象 15"/>
          <p:cNvGraphicFramePr>
            <a:graphicFrameLocks noChangeAspect="1"/>
          </p:cNvGraphicFramePr>
          <p:nvPr>
            <p:extLst>
              <p:ext uri="{D42A27DB-BD31-4B8C-83A1-F6EECF244321}">
                <p14:modId xmlns:p14="http://schemas.microsoft.com/office/powerpoint/2010/main" val="757362007"/>
              </p:ext>
            </p:extLst>
          </p:nvPr>
        </p:nvGraphicFramePr>
        <p:xfrm>
          <a:off x="611559" y="3219822"/>
          <a:ext cx="3254762" cy="288032"/>
        </p:xfrm>
        <a:graphic>
          <a:graphicData uri="http://schemas.openxmlformats.org/presentationml/2006/ole">
            <mc:AlternateContent xmlns:mc="http://schemas.openxmlformats.org/markup-compatibility/2006">
              <mc:Choice xmlns:v="urn:schemas-microsoft-com:vml" Requires="v">
                <p:oleObj spid="_x0000_s49301" name="Equation" r:id="rId3" imgW="2146300" imgH="203200" progId="Equation.DSMT4">
                  <p:embed/>
                </p:oleObj>
              </mc:Choice>
              <mc:Fallback>
                <p:oleObj name="Equation" r:id="rId3" imgW="2146300" imgH="203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59" y="3219822"/>
                        <a:ext cx="3254762" cy="288032"/>
                      </a:xfrm>
                      <a:prstGeom prst="rect">
                        <a:avLst/>
                      </a:prstGeom>
                      <a:noFill/>
                    </p:spPr>
                  </p:pic>
                </p:oleObj>
              </mc:Fallback>
            </mc:AlternateContent>
          </a:graphicData>
        </a:graphic>
      </p:graphicFrame>
      <p:sp>
        <p:nvSpPr>
          <p:cNvPr id="17" name="矩形 16"/>
          <p:cNvSpPr/>
          <p:nvPr/>
        </p:nvSpPr>
        <p:spPr>
          <a:xfrm>
            <a:off x="554373" y="3723878"/>
            <a:ext cx="3801602" cy="730456"/>
          </a:xfrm>
          <a:prstGeom prst="rect">
            <a:avLst/>
          </a:prstGeom>
        </p:spPr>
        <p:txBody>
          <a:bodyPr wrap="square">
            <a:spAutoFit/>
          </a:bodyPr>
          <a:lstStyle/>
          <a:p>
            <a:pPr>
              <a:lnSpc>
                <a:spcPct val="120000"/>
              </a:lnSpc>
            </a:pPr>
            <a:r>
              <a:rPr lang="zh-CN" altLang="en-US" b="1" dirty="0">
                <a:solidFill>
                  <a:prstClr val="black"/>
                </a:solidFill>
              </a:rPr>
              <a:t>     上电后约</a:t>
            </a:r>
            <a:r>
              <a:rPr lang="en-US" altLang="zh-CN" b="1" dirty="0">
                <a:solidFill>
                  <a:prstClr val="black"/>
                </a:solidFill>
              </a:rPr>
              <a:t>1ms</a:t>
            </a:r>
            <a:r>
              <a:rPr lang="zh-CN" altLang="en-US" b="1" dirty="0">
                <a:solidFill>
                  <a:prstClr val="black"/>
                </a:solidFill>
              </a:rPr>
              <a:t>左右系统完成复位，之后，单片机开始正常</a:t>
            </a:r>
            <a:r>
              <a:rPr lang="zh-CN" altLang="en-US" b="1" dirty="0" smtClean="0">
                <a:solidFill>
                  <a:prstClr val="black"/>
                </a:solidFill>
              </a:rPr>
              <a:t>工作。</a:t>
            </a:r>
            <a:endParaRPr lang="zh-CN" altLang="en-US" b="1" dirty="0">
              <a:solidFill>
                <a:prstClr val="black"/>
              </a:solidFill>
            </a:endParaRPr>
          </a:p>
        </p:txBody>
      </p:sp>
      <p:sp>
        <p:nvSpPr>
          <p:cNvPr id="18" name="矩形 17"/>
          <p:cNvSpPr/>
          <p:nvPr/>
        </p:nvSpPr>
        <p:spPr>
          <a:xfrm>
            <a:off x="4825108" y="943716"/>
            <a:ext cx="1475084"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b="1" dirty="0">
                <a:solidFill>
                  <a:prstClr val="black"/>
                </a:solidFill>
              </a:rPr>
              <a:t>手动复位：</a:t>
            </a:r>
            <a:endParaRPr lang="zh-CN" altLang="en-US" sz="2000" dirty="0"/>
          </a:p>
        </p:txBody>
      </p:sp>
      <p:cxnSp>
        <p:nvCxnSpPr>
          <p:cNvPr id="20" name="直接连接符 19"/>
          <p:cNvCxnSpPr/>
          <p:nvPr/>
        </p:nvCxnSpPr>
        <p:spPr>
          <a:xfrm>
            <a:off x="4499992" y="843559"/>
            <a:ext cx="0" cy="4104455"/>
          </a:xfrm>
          <a:prstGeom prst="line">
            <a:avLst/>
          </a:prstGeom>
          <a:ln w="19050">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21" name="图片 20"/>
          <p:cNvPicPr/>
          <p:nvPr/>
        </p:nvPicPr>
        <p:blipFill>
          <a:blip r:embed="rId5">
            <a:extLst>
              <a:ext uri="{28A0092B-C50C-407E-A947-70E740481C1C}">
                <a14:useLocalDpi xmlns:a14="http://schemas.microsoft.com/office/drawing/2010/main" val="0"/>
              </a:ext>
            </a:extLst>
          </a:blip>
          <a:srcRect/>
          <a:stretch>
            <a:fillRect/>
          </a:stretch>
        </p:blipFill>
        <p:spPr bwMode="auto">
          <a:xfrm>
            <a:off x="5580112" y="2499742"/>
            <a:ext cx="2736304" cy="2016224"/>
          </a:xfrm>
          <a:prstGeom prst="rect">
            <a:avLst/>
          </a:prstGeom>
          <a:noFill/>
          <a:ln>
            <a:noFill/>
          </a:ln>
        </p:spPr>
      </p:pic>
    </p:spTree>
    <p:extLst>
      <p:ext uri="{BB962C8B-B14F-4D97-AF65-F5344CB8AC3E}">
        <p14:creationId xmlns:p14="http://schemas.microsoft.com/office/powerpoint/2010/main" val="1196204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2" name="矩形 1"/>
          <p:cNvSpPr/>
          <p:nvPr/>
        </p:nvSpPr>
        <p:spPr>
          <a:xfrm>
            <a:off x="395536" y="1236697"/>
            <a:ext cx="3888432" cy="830997"/>
          </a:xfrm>
          <a:prstGeom prst="rect">
            <a:avLst/>
          </a:prstGeom>
          <a:solidFill>
            <a:schemeClr val="accent4">
              <a:lumMod val="20000"/>
              <a:lumOff val="80000"/>
            </a:schemeClr>
          </a:solidFill>
        </p:spPr>
        <p:txBody>
          <a:bodyPr wrap="square">
            <a:spAutoFit/>
          </a:bodyPr>
          <a:lstStyle/>
          <a:p>
            <a:pPr>
              <a:lnSpc>
                <a:spcPct val="120000"/>
              </a:lnSpc>
            </a:pPr>
            <a:r>
              <a:rPr lang="en-US" altLang="zh-CN" sz="2000" b="1" dirty="0" smtClean="0">
                <a:latin typeface="楷体" pitchFamily="49" charset="-122"/>
                <a:ea typeface="楷体" pitchFamily="49" charset="-122"/>
              </a:rPr>
              <a:t>   </a:t>
            </a:r>
            <a:r>
              <a:rPr lang="zh-CN" altLang="zh-CN" sz="2000" b="1" dirty="0" smtClean="0">
                <a:latin typeface="楷体" pitchFamily="49" charset="-122"/>
                <a:ea typeface="楷体" pitchFamily="49" charset="-122"/>
              </a:rPr>
              <a:t>将</a:t>
            </a:r>
            <a:r>
              <a:rPr lang="zh-CN" altLang="zh-CN" sz="2000" b="1" dirty="0">
                <a:latin typeface="楷体" pitchFamily="49" charset="-122"/>
                <a:ea typeface="楷体" pitchFamily="49" charset="-122"/>
              </a:rPr>
              <a:t>编译好的程序下载到单片机中运行以及进行在线调试</a:t>
            </a:r>
            <a:endParaRPr lang="zh-CN" altLang="en-US" sz="2000" b="1" dirty="0">
              <a:latin typeface="楷体" pitchFamily="49" charset="-122"/>
              <a:ea typeface="楷体" pitchFamily="49" charset="-122"/>
            </a:endParaRPr>
          </a:p>
        </p:txBody>
      </p:sp>
      <p:sp>
        <p:nvSpPr>
          <p:cNvPr id="3" name="矩形 2"/>
          <p:cNvSpPr/>
          <p:nvPr/>
        </p:nvSpPr>
        <p:spPr>
          <a:xfrm>
            <a:off x="293403" y="2283718"/>
            <a:ext cx="3990565" cy="1977464"/>
          </a:xfrm>
          <a:prstGeom prst="rect">
            <a:avLst/>
          </a:prstGeom>
          <a:solidFill>
            <a:schemeClr val="accent5">
              <a:lumMod val="20000"/>
              <a:lumOff val="80000"/>
            </a:schemeClr>
          </a:solidFill>
        </p:spPr>
        <p:txBody>
          <a:bodyPr wrap="square">
            <a:spAutoFit/>
          </a:bodyPr>
          <a:lstStyle/>
          <a:p>
            <a:pPr>
              <a:lnSpc>
                <a:spcPct val="125000"/>
              </a:lnSpc>
              <a:spcBef>
                <a:spcPts val="600"/>
              </a:spcBef>
            </a:pPr>
            <a:r>
              <a:rPr lang="en-US" altLang="zh-CN" b="1" dirty="0" smtClean="0">
                <a:solidFill>
                  <a:prstClr val="black"/>
                </a:solidFill>
              </a:rPr>
              <a:t>       STM32F103</a:t>
            </a:r>
            <a:r>
              <a:rPr lang="zh-CN" altLang="zh-CN" b="1" dirty="0">
                <a:solidFill>
                  <a:prstClr val="black"/>
                </a:solidFill>
              </a:rPr>
              <a:t>系列微控制器内核集成了</a:t>
            </a:r>
            <a:r>
              <a:rPr lang="en-US" altLang="zh-CN" b="1" dirty="0">
                <a:solidFill>
                  <a:prstClr val="black"/>
                </a:solidFill>
              </a:rPr>
              <a:t>SWD/JTAG</a:t>
            </a:r>
            <a:r>
              <a:rPr lang="zh-CN" altLang="zh-CN" b="1" dirty="0">
                <a:solidFill>
                  <a:prstClr val="black"/>
                </a:solidFill>
              </a:rPr>
              <a:t>调试端口（缩写为</a:t>
            </a:r>
            <a:r>
              <a:rPr lang="en-US" altLang="zh-CN" b="1" dirty="0">
                <a:solidFill>
                  <a:prstClr val="black"/>
                </a:solidFill>
              </a:rPr>
              <a:t>SWJ-DP</a:t>
            </a:r>
            <a:r>
              <a:rPr lang="zh-CN" altLang="zh-CN" b="1" dirty="0">
                <a:solidFill>
                  <a:prstClr val="black"/>
                </a:solidFill>
              </a:rPr>
              <a:t>）</a:t>
            </a:r>
            <a:endParaRPr lang="en-US" altLang="zh-CN" b="1" dirty="0">
              <a:solidFill>
                <a:prstClr val="black"/>
              </a:solidFill>
            </a:endParaRPr>
          </a:p>
          <a:p>
            <a:pPr marL="342900" indent="-342900">
              <a:lnSpc>
                <a:spcPct val="125000"/>
              </a:lnSpc>
              <a:spcBef>
                <a:spcPts val="600"/>
              </a:spcBef>
              <a:buBlip>
                <a:blip r:embed="rId2"/>
              </a:buBlip>
            </a:pPr>
            <a:r>
              <a:rPr lang="en-US" altLang="zh-CN" b="1" dirty="0" smtClean="0">
                <a:solidFill>
                  <a:prstClr val="black"/>
                </a:solidFill>
              </a:rPr>
              <a:t>JTAG</a:t>
            </a:r>
            <a:r>
              <a:rPr lang="zh-CN" altLang="zh-CN" b="1" dirty="0" smtClean="0">
                <a:solidFill>
                  <a:prstClr val="black"/>
                </a:solidFill>
              </a:rPr>
              <a:t>调试</a:t>
            </a:r>
            <a:r>
              <a:rPr lang="zh-CN" altLang="zh-CN" b="1" dirty="0">
                <a:solidFill>
                  <a:prstClr val="black"/>
                </a:solidFill>
              </a:rPr>
              <a:t>接口</a:t>
            </a:r>
            <a:r>
              <a:rPr lang="zh-CN" altLang="en-US" b="1" dirty="0">
                <a:solidFill>
                  <a:prstClr val="black"/>
                </a:solidFill>
              </a:rPr>
              <a:t>（</a:t>
            </a:r>
            <a:r>
              <a:rPr lang="en-US" altLang="zh-CN" b="1" dirty="0">
                <a:solidFill>
                  <a:prstClr val="black"/>
                </a:solidFill>
              </a:rPr>
              <a:t>5</a:t>
            </a:r>
            <a:r>
              <a:rPr lang="zh-CN" altLang="en-US" b="1" dirty="0">
                <a:solidFill>
                  <a:prstClr val="black"/>
                </a:solidFill>
              </a:rPr>
              <a:t>引脚的</a:t>
            </a:r>
            <a:r>
              <a:rPr lang="en-US" altLang="zh-CN" b="1" dirty="0">
                <a:solidFill>
                  <a:prstClr val="black"/>
                </a:solidFill>
              </a:rPr>
              <a:t>JTAG-DP</a:t>
            </a:r>
            <a:r>
              <a:rPr lang="zh-CN" altLang="en-US" b="1" dirty="0">
                <a:solidFill>
                  <a:prstClr val="black"/>
                </a:solidFill>
              </a:rPr>
              <a:t>）</a:t>
            </a:r>
            <a:endParaRPr lang="en-US" altLang="zh-CN" b="1" dirty="0">
              <a:solidFill>
                <a:prstClr val="black"/>
              </a:solidFill>
            </a:endParaRPr>
          </a:p>
          <a:p>
            <a:pPr marL="342900" lvl="0" indent="-342900">
              <a:lnSpc>
                <a:spcPct val="125000"/>
              </a:lnSpc>
              <a:spcBef>
                <a:spcPts val="600"/>
              </a:spcBef>
              <a:buBlip>
                <a:blip r:embed="rId2"/>
              </a:buBlip>
            </a:pPr>
            <a:r>
              <a:rPr lang="en-US" altLang="zh-CN" b="1" dirty="0">
                <a:solidFill>
                  <a:prstClr val="black"/>
                </a:solidFill>
              </a:rPr>
              <a:t>SWD</a:t>
            </a:r>
            <a:r>
              <a:rPr lang="zh-CN" altLang="zh-CN" b="1" dirty="0">
                <a:solidFill>
                  <a:prstClr val="black"/>
                </a:solidFill>
              </a:rPr>
              <a:t>（</a:t>
            </a:r>
            <a:r>
              <a:rPr lang="en-US" altLang="zh-CN" b="1" dirty="0">
                <a:solidFill>
                  <a:prstClr val="black"/>
                </a:solidFill>
              </a:rPr>
              <a:t>Serial Wire Debug</a:t>
            </a:r>
            <a:r>
              <a:rPr lang="zh-CN" altLang="zh-CN" b="1" dirty="0">
                <a:solidFill>
                  <a:prstClr val="black"/>
                </a:solidFill>
              </a:rPr>
              <a:t>，串行单总线调试）</a:t>
            </a:r>
            <a:r>
              <a:rPr lang="zh-CN" altLang="en-US" b="1" dirty="0">
                <a:solidFill>
                  <a:prstClr val="black"/>
                </a:solidFill>
              </a:rPr>
              <a:t>（</a:t>
            </a:r>
            <a:r>
              <a:rPr lang="en-US" altLang="zh-CN" b="1" dirty="0">
                <a:solidFill>
                  <a:prstClr val="black"/>
                </a:solidFill>
              </a:rPr>
              <a:t> 2</a:t>
            </a:r>
            <a:r>
              <a:rPr lang="zh-CN" altLang="zh-CN" b="1" dirty="0">
                <a:solidFill>
                  <a:prstClr val="black"/>
                </a:solidFill>
              </a:rPr>
              <a:t>引脚的</a:t>
            </a:r>
            <a:r>
              <a:rPr lang="en-US" altLang="zh-CN" b="1" dirty="0">
                <a:solidFill>
                  <a:prstClr val="black"/>
                </a:solidFill>
              </a:rPr>
              <a:t>SW-DP</a:t>
            </a:r>
            <a:r>
              <a:rPr lang="zh-CN" altLang="en-US" b="1" dirty="0">
                <a:solidFill>
                  <a:prstClr val="black"/>
                </a:solidFill>
              </a:rPr>
              <a:t>）</a:t>
            </a:r>
          </a:p>
        </p:txBody>
      </p:sp>
      <p:sp>
        <p:nvSpPr>
          <p:cNvPr id="11" name="十角星 10"/>
          <p:cNvSpPr/>
          <p:nvPr/>
        </p:nvSpPr>
        <p:spPr>
          <a:xfrm>
            <a:off x="107504" y="901898"/>
            <a:ext cx="720080" cy="669597"/>
          </a:xfrm>
          <a:prstGeom prst="star10">
            <a:avLst/>
          </a:prstGeom>
          <a:solidFill>
            <a:schemeClr val="accent5">
              <a:lumMod val="60000"/>
              <a:lumOff val="40000"/>
            </a:schemeClr>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600" b="1" dirty="0" smtClean="0">
                <a:solidFill>
                  <a:schemeClr val="tx1"/>
                </a:solidFill>
                <a:effectLst>
                  <a:outerShdw blurRad="38100" dist="38100" dir="2700000" algn="tl">
                    <a:srgbClr val="000000">
                      <a:alpha val="43137"/>
                    </a:srgbClr>
                  </a:outerShdw>
                </a:effectLst>
              </a:rPr>
              <a:t>作用</a:t>
            </a:r>
          </a:p>
        </p:txBody>
      </p:sp>
      <p:graphicFrame>
        <p:nvGraphicFramePr>
          <p:cNvPr id="22" name="表格 21"/>
          <p:cNvGraphicFramePr>
            <a:graphicFrameLocks noGrp="1"/>
          </p:cNvGraphicFramePr>
          <p:nvPr>
            <p:extLst>
              <p:ext uri="{D42A27DB-BD31-4B8C-83A1-F6EECF244321}">
                <p14:modId xmlns:p14="http://schemas.microsoft.com/office/powerpoint/2010/main" val="3958903797"/>
              </p:ext>
            </p:extLst>
          </p:nvPr>
        </p:nvGraphicFramePr>
        <p:xfrm>
          <a:off x="4644007" y="474215"/>
          <a:ext cx="4248473" cy="2011680"/>
        </p:xfrm>
        <a:graphic>
          <a:graphicData uri="http://schemas.openxmlformats.org/drawingml/2006/table">
            <a:tbl>
              <a:tblPr firstRow="1" firstCol="1" bandRow="1">
                <a:tableStyleId>{7DF18680-E054-41AD-8BC1-D1AEF772440D}</a:tableStyleId>
              </a:tblPr>
              <a:tblGrid>
                <a:gridCol w="1390410"/>
                <a:gridCol w="1081429"/>
                <a:gridCol w="1232932"/>
                <a:gridCol w="543702"/>
              </a:tblGrid>
              <a:tr h="0">
                <a:tc>
                  <a:txBody>
                    <a:bodyPr/>
                    <a:lstStyle/>
                    <a:p>
                      <a:pPr algn="ctr">
                        <a:spcAft>
                          <a:spcPts val="0"/>
                        </a:spcAft>
                      </a:pPr>
                      <a:r>
                        <a:rPr lang="en-US" sz="1100" b="1" kern="100" dirty="0">
                          <a:effectLst/>
                        </a:rPr>
                        <a:t>SWJ-DP</a:t>
                      </a:r>
                      <a:r>
                        <a:rPr lang="zh-CN" sz="1100" b="1" kern="100" dirty="0">
                          <a:effectLst/>
                        </a:rPr>
                        <a:t>引脚名称</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JTAG-DP</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SW-DP</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zh-CN" sz="1100" b="1" kern="100" dirty="0">
                          <a:effectLst/>
                        </a:rPr>
                        <a:t>引脚号</a:t>
                      </a:r>
                      <a:endParaRPr lang="zh-CN" sz="1400" b="1" kern="100" dirty="0">
                        <a:effectLst/>
                        <a:latin typeface="Times New Roman"/>
                        <a:ea typeface="宋体"/>
                        <a:cs typeface="Times New Roman"/>
                      </a:endParaRPr>
                    </a:p>
                  </a:txBody>
                  <a:tcPr marL="68580" marR="68580" marT="0" marB="0" anchor="ctr"/>
                </a:tc>
              </a:tr>
              <a:tr h="0">
                <a:tc>
                  <a:txBody>
                    <a:bodyPr/>
                    <a:lstStyle/>
                    <a:p>
                      <a:pPr algn="ctr">
                        <a:spcAft>
                          <a:spcPts val="0"/>
                        </a:spcAft>
                      </a:pPr>
                      <a:r>
                        <a:rPr lang="en-US" sz="1100" b="1" kern="100" dirty="0">
                          <a:effectLst/>
                        </a:rPr>
                        <a:t>JTMS/SWDIO</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模式选择</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zh-CN" sz="1100" b="1" kern="100">
                          <a:effectLst/>
                        </a:rPr>
                        <a:t>输入输出：串行数据输入输出</a:t>
                      </a:r>
                      <a:endParaRPr lang="zh-CN" sz="1400" b="1" kern="100">
                        <a:effectLst/>
                        <a:latin typeface="Times New Roman"/>
                        <a:ea typeface="宋体"/>
                        <a:cs typeface="Times New Roman"/>
                      </a:endParaRPr>
                    </a:p>
                  </a:txBody>
                  <a:tcPr marL="68580" marR="68580" marT="0" marB="0"/>
                </a:tc>
                <a:tc>
                  <a:txBody>
                    <a:bodyPr/>
                    <a:lstStyle/>
                    <a:p>
                      <a:pPr algn="ctr">
                        <a:spcAft>
                          <a:spcPts val="0"/>
                        </a:spcAft>
                      </a:pPr>
                      <a:r>
                        <a:rPr lang="en-US" sz="1100" b="1" kern="100" dirty="0">
                          <a:effectLst/>
                        </a:rPr>
                        <a:t>PA13</a:t>
                      </a:r>
                      <a:endParaRPr lang="zh-CN" sz="1400" b="1" kern="100" dirty="0">
                        <a:effectLst/>
                        <a:latin typeface="Times New Roman"/>
                        <a:ea typeface="宋体"/>
                        <a:cs typeface="Times New Roman"/>
                      </a:endParaRPr>
                    </a:p>
                  </a:txBody>
                  <a:tcPr marL="68580" marR="68580" marT="0" marB="0" anchor="ctr"/>
                </a:tc>
              </a:tr>
              <a:tr h="0">
                <a:tc>
                  <a:txBody>
                    <a:bodyPr/>
                    <a:lstStyle/>
                    <a:p>
                      <a:pPr algn="ctr">
                        <a:spcAft>
                          <a:spcPts val="0"/>
                        </a:spcAft>
                      </a:pPr>
                      <a:r>
                        <a:rPr lang="en-US" sz="1100" b="1" kern="100" dirty="0">
                          <a:effectLst/>
                        </a:rPr>
                        <a:t>JTCK/SWCLK</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dirty="0">
                          <a:effectLst/>
                        </a:rPr>
                        <a:t>输入：</a:t>
                      </a:r>
                      <a:r>
                        <a:rPr lang="en-US" sz="1100" b="1" kern="100" dirty="0">
                          <a:effectLst/>
                        </a:rPr>
                        <a:t>JTAG</a:t>
                      </a:r>
                      <a:r>
                        <a:rPr lang="zh-CN" sz="1100" b="1" kern="100" dirty="0">
                          <a:effectLst/>
                        </a:rPr>
                        <a:t>时钟</a:t>
                      </a:r>
                      <a:endParaRPr lang="zh-CN" sz="1400" b="1" kern="100" dirty="0">
                        <a:effectLst/>
                        <a:latin typeface="Times New Roman"/>
                        <a:ea typeface="宋体"/>
                        <a:cs typeface="Times New Roman"/>
                      </a:endParaRPr>
                    </a:p>
                  </a:txBody>
                  <a:tcPr marL="68580" marR="68580" marT="0" marB="0"/>
                </a:tc>
                <a:tc>
                  <a:txBody>
                    <a:bodyPr/>
                    <a:lstStyle/>
                    <a:p>
                      <a:pPr algn="just">
                        <a:spcAft>
                          <a:spcPts val="0"/>
                        </a:spcAft>
                      </a:pPr>
                      <a:r>
                        <a:rPr lang="zh-CN" sz="1100" b="1" kern="100" dirty="0">
                          <a:effectLst/>
                        </a:rPr>
                        <a:t>输入：串行时钟</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PA14</a:t>
                      </a:r>
                      <a:endParaRPr lang="zh-CN" sz="1400" b="1" kern="100" dirty="0">
                        <a:effectLst/>
                        <a:latin typeface="Times New Roman"/>
                        <a:ea typeface="宋体"/>
                        <a:cs typeface="Times New Roman"/>
                      </a:endParaRPr>
                    </a:p>
                  </a:txBody>
                  <a:tcPr marL="68580" marR="68580" marT="0" marB="0" anchor="ctr"/>
                </a:tc>
              </a:tr>
              <a:tr h="0">
                <a:tc>
                  <a:txBody>
                    <a:bodyPr/>
                    <a:lstStyle/>
                    <a:p>
                      <a:pPr algn="ctr">
                        <a:spcAft>
                          <a:spcPts val="0"/>
                        </a:spcAft>
                      </a:pPr>
                      <a:r>
                        <a:rPr lang="en-US" sz="1100" b="1" kern="100" dirty="0">
                          <a:effectLst/>
                        </a:rPr>
                        <a:t>JTDI</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数据输入</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en-US" sz="1100" b="1" kern="100" dirty="0">
                          <a:effectLst/>
                        </a:rPr>
                        <a:t> </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PA15</a:t>
                      </a:r>
                      <a:endParaRPr lang="zh-CN" sz="1400" b="1" kern="100" dirty="0">
                        <a:effectLst/>
                        <a:latin typeface="Times New Roman"/>
                        <a:ea typeface="宋体"/>
                        <a:cs typeface="Times New Roman"/>
                      </a:endParaRPr>
                    </a:p>
                  </a:txBody>
                  <a:tcPr marL="68580" marR="68580" marT="0" marB="0" anchor="ctr"/>
                </a:tc>
              </a:tr>
              <a:tr h="0">
                <a:tc>
                  <a:txBody>
                    <a:bodyPr/>
                    <a:lstStyle/>
                    <a:p>
                      <a:pPr algn="ctr">
                        <a:spcAft>
                          <a:spcPts val="0"/>
                        </a:spcAft>
                      </a:pPr>
                      <a:r>
                        <a:rPr lang="en-US" sz="1100" b="1" kern="100" dirty="0">
                          <a:effectLst/>
                        </a:rPr>
                        <a:t>JTDO/TRACESWO</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输出：</a:t>
                      </a:r>
                      <a:r>
                        <a:rPr lang="en-US" sz="1100" b="1" kern="100">
                          <a:effectLst/>
                        </a:rPr>
                        <a:t>JTAG</a:t>
                      </a:r>
                      <a:r>
                        <a:rPr lang="zh-CN" sz="1100" b="1" kern="100">
                          <a:effectLst/>
                        </a:rPr>
                        <a:t>数据输出</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zh-CN" sz="1100" b="1" kern="100" dirty="0">
                          <a:effectLst/>
                        </a:rPr>
                        <a:t>异步跟踪</a:t>
                      </a:r>
                      <a:endParaRPr lang="zh-CN" sz="14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100" b="1" kern="100" dirty="0">
                          <a:effectLst/>
                        </a:rPr>
                        <a:t>PB3</a:t>
                      </a:r>
                      <a:endParaRPr lang="zh-CN" sz="1400" b="1" kern="100" dirty="0">
                        <a:effectLst/>
                        <a:latin typeface="Times New Roman"/>
                        <a:ea typeface="宋体"/>
                        <a:cs typeface="Times New Roman"/>
                      </a:endParaRPr>
                    </a:p>
                  </a:txBody>
                  <a:tcPr marL="68580" marR="68580" marT="0" marB="0" anchor="ctr"/>
                </a:tc>
              </a:tr>
              <a:tr h="0">
                <a:tc>
                  <a:txBody>
                    <a:bodyPr/>
                    <a:lstStyle/>
                    <a:p>
                      <a:pPr algn="ctr">
                        <a:spcAft>
                          <a:spcPts val="0"/>
                        </a:spcAft>
                      </a:pPr>
                      <a:r>
                        <a:rPr lang="en-US" sz="1100" b="1" kern="100" dirty="0">
                          <a:effectLst/>
                        </a:rPr>
                        <a:t>JNTRST</a:t>
                      </a:r>
                      <a:endParaRPr lang="zh-CN" sz="1400" b="1" kern="100" dirty="0">
                        <a:effectLst/>
                        <a:latin typeface="Times New Roman"/>
                        <a:ea typeface="宋体"/>
                        <a:cs typeface="Times New Roman"/>
                      </a:endParaRPr>
                    </a:p>
                  </a:txBody>
                  <a:tcPr marL="68580" marR="68580" marT="0" marB="0" anchor="ctr"/>
                </a:tc>
                <a:tc>
                  <a:txBody>
                    <a:bodyPr/>
                    <a:lstStyle/>
                    <a:p>
                      <a:pPr algn="just">
                        <a:spcAft>
                          <a:spcPts val="0"/>
                        </a:spcAft>
                      </a:pPr>
                      <a:r>
                        <a:rPr lang="zh-CN" sz="1100" b="1" kern="100">
                          <a:effectLst/>
                        </a:rPr>
                        <a:t>输入：</a:t>
                      </a:r>
                      <a:r>
                        <a:rPr lang="en-US" sz="1100" b="1" kern="100">
                          <a:effectLst/>
                        </a:rPr>
                        <a:t>JTAG</a:t>
                      </a:r>
                      <a:r>
                        <a:rPr lang="zh-CN" sz="1100" b="1" kern="100">
                          <a:effectLst/>
                        </a:rPr>
                        <a:t>模块复位</a:t>
                      </a:r>
                      <a:endParaRPr lang="zh-CN" sz="1400" b="1" kern="100">
                        <a:effectLst/>
                        <a:latin typeface="Times New Roman"/>
                        <a:ea typeface="宋体"/>
                        <a:cs typeface="Times New Roman"/>
                      </a:endParaRPr>
                    </a:p>
                  </a:txBody>
                  <a:tcPr marL="68580" marR="68580" marT="0" marB="0"/>
                </a:tc>
                <a:tc>
                  <a:txBody>
                    <a:bodyPr/>
                    <a:lstStyle/>
                    <a:p>
                      <a:pPr algn="just">
                        <a:spcAft>
                          <a:spcPts val="0"/>
                        </a:spcAft>
                      </a:pPr>
                      <a:r>
                        <a:rPr lang="en-US" sz="1100" b="1" kern="100">
                          <a:effectLst/>
                        </a:rPr>
                        <a:t> </a:t>
                      </a:r>
                      <a:endParaRPr lang="zh-CN" sz="1400" b="1" kern="100">
                        <a:effectLst/>
                        <a:latin typeface="Times New Roman"/>
                        <a:ea typeface="宋体"/>
                        <a:cs typeface="Times New Roman"/>
                      </a:endParaRPr>
                    </a:p>
                  </a:txBody>
                  <a:tcPr marL="68580" marR="68580" marT="0" marB="0"/>
                </a:tc>
                <a:tc>
                  <a:txBody>
                    <a:bodyPr/>
                    <a:lstStyle/>
                    <a:p>
                      <a:pPr algn="ctr">
                        <a:spcAft>
                          <a:spcPts val="0"/>
                        </a:spcAft>
                      </a:pPr>
                      <a:r>
                        <a:rPr lang="en-US" sz="1100" b="1" kern="100" dirty="0">
                          <a:effectLst/>
                        </a:rPr>
                        <a:t>PB4</a:t>
                      </a:r>
                      <a:endParaRPr lang="zh-CN" sz="1400" b="1" kern="100" dirty="0">
                        <a:effectLst/>
                        <a:latin typeface="Times New Roman"/>
                        <a:ea typeface="宋体"/>
                        <a:cs typeface="Times New Roman"/>
                      </a:endParaRPr>
                    </a:p>
                  </a:txBody>
                  <a:tcPr marL="68580" marR="68580" marT="0" marB="0" anchor="ctr"/>
                </a:tc>
              </a:tr>
            </a:tbl>
          </a:graphicData>
        </a:graphic>
      </p:graphicFrame>
      <p:sp>
        <p:nvSpPr>
          <p:cNvPr id="24" name="矩形 23"/>
          <p:cNvSpPr/>
          <p:nvPr/>
        </p:nvSpPr>
        <p:spPr>
          <a:xfrm>
            <a:off x="5652120" y="123478"/>
            <a:ext cx="2359941" cy="338554"/>
          </a:xfrm>
          <a:prstGeom prst="rect">
            <a:avLst/>
          </a:prstGeom>
        </p:spPr>
        <p:txBody>
          <a:bodyPr wrap="none">
            <a:spAutoFit/>
          </a:bodyPr>
          <a:lstStyle/>
          <a:p>
            <a:r>
              <a:rPr lang="en-US" altLang="zh-CN" sz="1600" b="1" dirty="0">
                <a:solidFill>
                  <a:schemeClr val="accent5">
                    <a:lumMod val="75000"/>
                  </a:schemeClr>
                </a:solidFill>
                <a:latin typeface="黑体" pitchFamily="49" charset="-122"/>
                <a:ea typeface="黑体" pitchFamily="49" charset="-122"/>
              </a:rPr>
              <a:t>STM32</a:t>
            </a:r>
            <a:r>
              <a:rPr lang="zh-CN" altLang="zh-CN" sz="1600" b="1" dirty="0">
                <a:solidFill>
                  <a:schemeClr val="accent5">
                    <a:lumMod val="75000"/>
                  </a:schemeClr>
                </a:solidFill>
                <a:latin typeface="黑体" pitchFamily="49" charset="-122"/>
                <a:ea typeface="黑体" pitchFamily="49" charset="-122"/>
              </a:rPr>
              <a:t>调试端口引脚功能</a:t>
            </a:r>
            <a:endParaRPr lang="zh-CN" altLang="en-US" sz="1600" b="1" dirty="0">
              <a:solidFill>
                <a:schemeClr val="accent5">
                  <a:lumMod val="75000"/>
                </a:schemeClr>
              </a:solidFill>
              <a:latin typeface="黑体" pitchFamily="49" charset="-122"/>
              <a:ea typeface="黑体" pitchFamily="49" charset="-122"/>
            </a:endParaRPr>
          </a:p>
        </p:txBody>
      </p:sp>
      <p:pic>
        <p:nvPicPr>
          <p:cNvPr id="25" name="图片 24"/>
          <p:cNvPicPr/>
          <p:nvPr/>
        </p:nvPicPr>
        <p:blipFill>
          <a:blip r:embed="rId3">
            <a:extLst>
              <a:ext uri="{28A0092B-C50C-407E-A947-70E740481C1C}">
                <a14:useLocalDpi xmlns:a14="http://schemas.microsoft.com/office/drawing/2010/main" val="0"/>
              </a:ext>
            </a:extLst>
          </a:blip>
          <a:srcRect/>
          <a:stretch>
            <a:fillRect/>
          </a:stretch>
        </p:blipFill>
        <p:spPr bwMode="auto">
          <a:xfrm>
            <a:off x="5148064" y="2499742"/>
            <a:ext cx="3024336" cy="2304256"/>
          </a:xfrm>
          <a:prstGeom prst="rect">
            <a:avLst/>
          </a:prstGeom>
          <a:noFill/>
          <a:ln>
            <a:noFill/>
          </a:ln>
        </p:spPr>
      </p:pic>
    </p:spTree>
    <p:extLst>
      <p:ext uri="{BB962C8B-B14F-4D97-AF65-F5344CB8AC3E}">
        <p14:creationId xmlns:p14="http://schemas.microsoft.com/office/powerpoint/2010/main" val="12647352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3" name="矩形 2"/>
          <p:cNvSpPr/>
          <p:nvPr/>
        </p:nvSpPr>
        <p:spPr>
          <a:xfrm>
            <a:off x="467544" y="1059582"/>
            <a:ext cx="8225926" cy="438582"/>
          </a:xfrm>
          <a:prstGeom prst="rect">
            <a:avLst/>
          </a:prstGeom>
          <a:solidFill>
            <a:schemeClr val="accent5">
              <a:lumMod val="20000"/>
              <a:lumOff val="80000"/>
            </a:schemeClr>
          </a:solidFill>
        </p:spPr>
        <p:txBody>
          <a:bodyPr wrap="square">
            <a:spAutoFit/>
          </a:bodyPr>
          <a:lstStyle/>
          <a:p>
            <a:pPr>
              <a:lnSpc>
                <a:spcPct val="125000"/>
              </a:lnSpc>
              <a:spcBef>
                <a:spcPts val="600"/>
              </a:spcBef>
            </a:pPr>
            <a:r>
              <a:rPr lang="en-US" altLang="zh-CN" b="1" dirty="0" smtClean="0">
                <a:solidFill>
                  <a:prstClr val="black"/>
                </a:solidFill>
              </a:rPr>
              <a:t>Cortex-M3</a:t>
            </a:r>
            <a:r>
              <a:rPr lang="zh-CN" altLang="en-US" b="1" dirty="0">
                <a:solidFill>
                  <a:prstClr val="black"/>
                </a:solidFill>
              </a:rPr>
              <a:t>内核有三种启动方式，可以通过</a:t>
            </a:r>
            <a:r>
              <a:rPr lang="en-US" altLang="zh-CN" b="1" dirty="0">
                <a:solidFill>
                  <a:prstClr val="black"/>
                </a:solidFill>
              </a:rPr>
              <a:t>BOOT0</a:t>
            </a:r>
            <a:r>
              <a:rPr lang="zh-CN" altLang="en-US" b="1" dirty="0">
                <a:solidFill>
                  <a:prstClr val="black"/>
                </a:solidFill>
              </a:rPr>
              <a:t>和</a:t>
            </a:r>
            <a:r>
              <a:rPr lang="en-US" altLang="zh-CN" b="1" dirty="0">
                <a:solidFill>
                  <a:prstClr val="black"/>
                </a:solidFill>
              </a:rPr>
              <a:t>BOOT1</a:t>
            </a:r>
            <a:r>
              <a:rPr lang="zh-CN" altLang="en-US" b="1" dirty="0">
                <a:solidFill>
                  <a:prstClr val="black"/>
                </a:solidFill>
              </a:rPr>
              <a:t>的电平组合进行选择</a:t>
            </a:r>
            <a:r>
              <a:rPr lang="zh-CN" altLang="en-US" b="1" dirty="0" smtClean="0">
                <a:solidFill>
                  <a:prstClr val="black"/>
                </a:solidFill>
              </a:rPr>
              <a:t>。</a:t>
            </a:r>
            <a:endParaRPr lang="zh-CN" altLang="en-US" b="1" dirty="0">
              <a:solidFill>
                <a:prstClr val="black"/>
              </a:solidFill>
            </a:endParaRPr>
          </a:p>
        </p:txBody>
      </p:sp>
      <p:sp>
        <p:nvSpPr>
          <p:cNvPr id="24" name="矩形 23"/>
          <p:cNvSpPr/>
          <p:nvPr/>
        </p:nvSpPr>
        <p:spPr>
          <a:xfrm>
            <a:off x="6084168" y="292755"/>
            <a:ext cx="1632178" cy="338554"/>
          </a:xfrm>
          <a:prstGeom prst="rect">
            <a:avLst/>
          </a:prstGeom>
        </p:spPr>
        <p:txBody>
          <a:bodyPr wrap="none">
            <a:spAutoFit/>
          </a:bodyPr>
          <a:lstStyle/>
          <a:p>
            <a:r>
              <a:rPr lang="zh-CN" altLang="en-US" sz="1600" b="1" dirty="0">
                <a:solidFill>
                  <a:schemeClr val="accent5">
                    <a:lumMod val="75000"/>
                  </a:schemeClr>
                </a:solidFill>
                <a:latin typeface="黑体" pitchFamily="49" charset="-122"/>
                <a:ea typeface="黑体" pitchFamily="49" charset="-122"/>
              </a:rPr>
              <a:t>内核的启动模式</a:t>
            </a:r>
          </a:p>
        </p:txBody>
      </p:sp>
      <p:graphicFrame>
        <p:nvGraphicFramePr>
          <p:cNvPr id="4" name="表格 3"/>
          <p:cNvGraphicFramePr>
            <a:graphicFrameLocks noGrp="1"/>
          </p:cNvGraphicFramePr>
          <p:nvPr>
            <p:extLst>
              <p:ext uri="{D42A27DB-BD31-4B8C-83A1-F6EECF244321}">
                <p14:modId xmlns:p14="http://schemas.microsoft.com/office/powerpoint/2010/main" val="3832290162"/>
              </p:ext>
            </p:extLst>
          </p:nvPr>
        </p:nvGraphicFramePr>
        <p:xfrm>
          <a:off x="654823" y="1779662"/>
          <a:ext cx="7857380" cy="1654515"/>
        </p:xfrm>
        <a:graphic>
          <a:graphicData uri="http://schemas.openxmlformats.org/drawingml/2006/table">
            <a:tbl>
              <a:tblPr firstRow="1" firstCol="1" bandRow="1">
                <a:tableStyleId>{5C22544A-7EE6-4342-B048-85BDC9FD1C3A}</a:tableStyleId>
              </a:tblPr>
              <a:tblGrid>
                <a:gridCol w="1061201"/>
                <a:gridCol w="1034457"/>
                <a:gridCol w="2880861"/>
                <a:gridCol w="2880861"/>
              </a:tblGrid>
              <a:tr h="330903">
                <a:tc gridSpan="2">
                  <a:txBody>
                    <a:bodyPr/>
                    <a:lstStyle/>
                    <a:p>
                      <a:pPr algn="ctr">
                        <a:spcAft>
                          <a:spcPts val="0"/>
                        </a:spcAft>
                      </a:pPr>
                      <a:r>
                        <a:rPr lang="zh-CN" sz="1600" b="1" kern="100" dirty="0">
                          <a:effectLst/>
                        </a:rPr>
                        <a:t>启动模式选择引脚</a:t>
                      </a:r>
                      <a:endParaRPr lang="zh-CN" sz="3200" b="1" kern="100" dirty="0">
                        <a:effectLst/>
                        <a:latin typeface="Calibri"/>
                        <a:ea typeface="宋体"/>
                        <a:cs typeface="Times New Roman"/>
                      </a:endParaRPr>
                    </a:p>
                  </a:txBody>
                  <a:tcPr marL="68580" marR="68580" marT="0" marB="0"/>
                </a:tc>
                <a:tc hMerge="1">
                  <a:txBody>
                    <a:bodyPr/>
                    <a:lstStyle/>
                    <a:p>
                      <a:endParaRPr lang="zh-CN" altLang="en-US"/>
                    </a:p>
                  </a:txBody>
                  <a:tcPr/>
                </a:tc>
                <a:tc rowSpan="2">
                  <a:txBody>
                    <a:bodyPr/>
                    <a:lstStyle/>
                    <a:p>
                      <a:pPr algn="ctr">
                        <a:spcAft>
                          <a:spcPts val="0"/>
                        </a:spcAft>
                      </a:pPr>
                      <a:r>
                        <a:rPr lang="zh-CN" sz="1600" b="1" kern="100" dirty="0">
                          <a:effectLst/>
                        </a:rPr>
                        <a:t>启动模式对应的存储介质</a:t>
                      </a:r>
                      <a:endParaRPr lang="zh-CN" sz="3200" b="1" kern="100" dirty="0">
                        <a:effectLst/>
                        <a:latin typeface="Calibri"/>
                        <a:ea typeface="宋体"/>
                        <a:cs typeface="Times New Roman"/>
                      </a:endParaRPr>
                    </a:p>
                  </a:txBody>
                  <a:tcPr marL="68580" marR="68580" marT="0" marB="0" anchor="ctr"/>
                </a:tc>
                <a:tc rowSpan="2">
                  <a:txBody>
                    <a:bodyPr/>
                    <a:lstStyle/>
                    <a:p>
                      <a:pPr algn="ctr">
                        <a:spcAft>
                          <a:spcPts val="0"/>
                        </a:spcAft>
                      </a:pPr>
                      <a:r>
                        <a:rPr lang="zh-CN" sz="1600" b="1" kern="100">
                          <a:effectLst/>
                        </a:rPr>
                        <a:t>说明</a:t>
                      </a:r>
                      <a:endParaRPr lang="zh-CN" sz="3200" b="1" kern="100">
                        <a:effectLst/>
                        <a:latin typeface="Calibri"/>
                        <a:ea typeface="宋体"/>
                        <a:cs typeface="Times New Roman"/>
                      </a:endParaRPr>
                    </a:p>
                  </a:txBody>
                  <a:tcPr marL="68580" marR="68580" marT="0" marB="0" anchor="ctr"/>
                </a:tc>
              </a:tr>
              <a:tr h="330903">
                <a:tc>
                  <a:txBody>
                    <a:bodyPr/>
                    <a:lstStyle/>
                    <a:p>
                      <a:pPr algn="ctr">
                        <a:spcAft>
                          <a:spcPts val="0"/>
                        </a:spcAft>
                      </a:pPr>
                      <a:r>
                        <a:rPr lang="en-US" sz="1600" b="1" kern="100">
                          <a:effectLst/>
                        </a:rPr>
                        <a:t>BOOT0</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BOOT1</a:t>
                      </a:r>
                      <a:endParaRPr lang="zh-CN" sz="3200" b="1" kern="100">
                        <a:effectLst/>
                        <a:latin typeface="Calibri"/>
                        <a:ea typeface="宋体"/>
                        <a:cs typeface="Times New Roman"/>
                      </a:endParaRPr>
                    </a:p>
                  </a:txBody>
                  <a:tcPr marL="68580" marR="68580" marT="0" marB="0"/>
                </a:tc>
                <a:tc vMerge="1">
                  <a:txBody>
                    <a:bodyPr/>
                    <a:lstStyle/>
                    <a:p>
                      <a:endParaRPr lang="zh-CN" altLang="en-US"/>
                    </a:p>
                  </a:txBody>
                  <a:tcPr/>
                </a:tc>
                <a:tc vMerge="1">
                  <a:txBody>
                    <a:bodyPr/>
                    <a:lstStyle/>
                    <a:p>
                      <a:endParaRPr lang="zh-CN" altLang="en-US"/>
                    </a:p>
                  </a:txBody>
                  <a:tcPr/>
                </a:tc>
              </a:tr>
              <a:tr h="330903">
                <a:tc>
                  <a:txBody>
                    <a:bodyPr/>
                    <a:lstStyle/>
                    <a:p>
                      <a:pPr algn="ctr">
                        <a:spcAft>
                          <a:spcPts val="0"/>
                        </a:spcAft>
                      </a:pPr>
                      <a:r>
                        <a:rPr lang="en-US" sz="1600" b="1" kern="100">
                          <a:effectLst/>
                        </a:rPr>
                        <a:t>0</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x</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闪存存储器，即用户闪存</a:t>
                      </a:r>
                      <a:r>
                        <a:rPr lang="en-US" sz="1600" b="1" kern="100">
                          <a:effectLst/>
                        </a:rPr>
                        <a:t>Flash</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a:effectLst/>
                        </a:rPr>
                        <a:t>闪存存储器被选为启动区域</a:t>
                      </a:r>
                      <a:endParaRPr lang="zh-CN" sz="3200" b="1" kern="100">
                        <a:effectLst/>
                        <a:latin typeface="Calibri"/>
                        <a:ea typeface="宋体"/>
                        <a:cs typeface="Times New Roman"/>
                      </a:endParaRPr>
                    </a:p>
                  </a:txBody>
                  <a:tcPr marL="68580" marR="68580" marT="0" marB="0"/>
                </a:tc>
              </a:tr>
              <a:tr h="330903">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0</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系统存储器，即系统</a:t>
                      </a:r>
                      <a:r>
                        <a:rPr lang="en-US" sz="1600" b="1" kern="100">
                          <a:effectLst/>
                        </a:rPr>
                        <a:t>Flash</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a:effectLst/>
                        </a:rPr>
                        <a:t>系统存储器被选为启动区域</a:t>
                      </a:r>
                      <a:endParaRPr lang="zh-CN" sz="3200" b="1" kern="100">
                        <a:effectLst/>
                        <a:latin typeface="Calibri"/>
                        <a:ea typeface="宋体"/>
                        <a:cs typeface="Times New Roman"/>
                      </a:endParaRPr>
                    </a:p>
                  </a:txBody>
                  <a:tcPr marL="68580" marR="68580" marT="0" marB="0"/>
                </a:tc>
              </a:tr>
              <a:tr h="330903">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ctr">
                        <a:spcAft>
                          <a:spcPts val="0"/>
                        </a:spcAft>
                      </a:pPr>
                      <a:r>
                        <a:rPr lang="en-US" sz="1600" b="1" kern="100">
                          <a:effectLst/>
                        </a:rPr>
                        <a:t>1</a:t>
                      </a:r>
                      <a:endParaRPr lang="zh-CN" sz="3200" b="1" kern="100">
                        <a:effectLst/>
                        <a:latin typeface="Calibri"/>
                        <a:ea typeface="宋体"/>
                        <a:cs typeface="Times New Roman"/>
                      </a:endParaRPr>
                    </a:p>
                  </a:txBody>
                  <a:tcPr marL="68580" marR="68580" marT="0" marB="0"/>
                </a:tc>
                <a:tc>
                  <a:txBody>
                    <a:bodyPr/>
                    <a:lstStyle/>
                    <a:p>
                      <a:pPr algn="just">
                        <a:spcAft>
                          <a:spcPts val="0"/>
                        </a:spcAft>
                      </a:pPr>
                      <a:r>
                        <a:rPr lang="zh-CN" sz="1600" b="1" kern="100">
                          <a:effectLst/>
                        </a:rPr>
                        <a:t>内置</a:t>
                      </a:r>
                      <a:r>
                        <a:rPr lang="en-US" sz="1600" b="1" kern="100">
                          <a:effectLst/>
                        </a:rPr>
                        <a:t>SRAM</a:t>
                      </a:r>
                      <a:endParaRPr lang="zh-CN" sz="3200" b="1" kern="100">
                        <a:effectLst/>
                        <a:latin typeface="Calibri"/>
                        <a:ea typeface="宋体"/>
                        <a:cs typeface="Times New Roman"/>
                      </a:endParaRPr>
                    </a:p>
                  </a:txBody>
                  <a:tcPr marL="68580" marR="68580" marT="0" marB="0"/>
                </a:tc>
                <a:tc>
                  <a:txBody>
                    <a:bodyPr/>
                    <a:lstStyle/>
                    <a:p>
                      <a:pPr algn="l">
                        <a:spcAft>
                          <a:spcPts val="0"/>
                        </a:spcAft>
                      </a:pPr>
                      <a:r>
                        <a:rPr lang="zh-CN" sz="1600" b="1" kern="100" dirty="0">
                          <a:effectLst/>
                        </a:rPr>
                        <a:t>内置</a:t>
                      </a:r>
                      <a:r>
                        <a:rPr lang="en-US" sz="1600" b="1" kern="100" dirty="0">
                          <a:effectLst/>
                        </a:rPr>
                        <a:t>SRAM</a:t>
                      </a:r>
                      <a:r>
                        <a:rPr lang="zh-CN" sz="1600" b="1" kern="100" dirty="0">
                          <a:effectLst/>
                        </a:rPr>
                        <a:t>被选为启动区域</a:t>
                      </a:r>
                      <a:endParaRPr lang="zh-CN" sz="3200" b="1" kern="100" dirty="0">
                        <a:effectLst/>
                        <a:latin typeface="Calibri"/>
                        <a:ea typeface="宋体"/>
                        <a:cs typeface="Times New Roman"/>
                      </a:endParaRPr>
                    </a:p>
                  </a:txBody>
                  <a:tcPr marL="68580" marR="68580" marT="0" marB="0"/>
                </a:tc>
              </a:tr>
            </a:tbl>
          </a:graphicData>
        </a:graphic>
      </p:graphicFrame>
      <p:sp>
        <p:nvSpPr>
          <p:cNvPr id="8" name="矩形 7"/>
          <p:cNvSpPr/>
          <p:nvPr/>
        </p:nvSpPr>
        <p:spPr>
          <a:xfrm>
            <a:off x="437285" y="3579862"/>
            <a:ext cx="8064896" cy="1131079"/>
          </a:xfrm>
          <a:prstGeom prst="rect">
            <a:avLst/>
          </a:prstGeom>
        </p:spPr>
        <p:txBody>
          <a:bodyPr wrap="square">
            <a:spAutoFit/>
          </a:bodyPr>
          <a:lstStyle/>
          <a:p>
            <a:pPr lvl="0">
              <a:lnSpc>
                <a:spcPct val="125000"/>
              </a:lnSpc>
              <a:spcBef>
                <a:spcPts val="600"/>
              </a:spcBef>
            </a:pPr>
            <a:r>
              <a:rPr lang="zh-CN" altLang="en-US" b="1" dirty="0" smtClean="0">
                <a:solidFill>
                  <a:prstClr val="black"/>
                </a:solidFill>
              </a:rPr>
              <a:t>    在</a:t>
            </a:r>
            <a:r>
              <a:rPr lang="en-US" altLang="zh-CN" b="1" dirty="0">
                <a:solidFill>
                  <a:prstClr val="black"/>
                </a:solidFill>
              </a:rPr>
              <a:t>STM32F103</a:t>
            </a:r>
            <a:r>
              <a:rPr lang="zh-CN" altLang="en-US" b="1" dirty="0">
                <a:solidFill>
                  <a:prstClr val="black"/>
                </a:solidFill>
              </a:rPr>
              <a:t>系列微控制器中通过设置</a:t>
            </a:r>
            <a:r>
              <a:rPr lang="en-US" altLang="zh-CN" b="1" dirty="0">
                <a:solidFill>
                  <a:prstClr val="black"/>
                </a:solidFill>
              </a:rPr>
              <a:t>BOOT[1:0]</a:t>
            </a:r>
            <a:r>
              <a:rPr lang="zh-CN" altLang="en-US" b="1" dirty="0">
                <a:solidFill>
                  <a:prstClr val="black"/>
                </a:solidFill>
              </a:rPr>
              <a:t>引脚电平的高低选择三种不同启动模式，从而将</a:t>
            </a:r>
            <a:r>
              <a:rPr lang="en-US" altLang="zh-CN" b="1" dirty="0">
                <a:solidFill>
                  <a:prstClr val="black"/>
                </a:solidFill>
              </a:rPr>
              <a:t>STM32F103</a:t>
            </a:r>
            <a:r>
              <a:rPr lang="zh-CN" altLang="en-US" b="1" dirty="0">
                <a:solidFill>
                  <a:prstClr val="black"/>
                </a:solidFill>
              </a:rPr>
              <a:t>微控制器的存储空间起始地址</a:t>
            </a:r>
            <a:r>
              <a:rPr lang="en-US" altLang="zh-CN" b="1" dirty="0">
                <a:solidFill>
                  <a:prstClr val="black"/>
                </a:solidFill>
              </a:rPr>
              <a:t>0x00000000</a:t>
            </a:r>
            <a:r>
              <a:rPr lang="zh-CN" altLang="en-US" b="1" dirty="0">
                <a:solidFill>
                  <a:prstClr val="black"/>
                </a:solidFill>
              </a:rPr>
              <a:t>映射到不同存储区域的起始</a:t>
            </a:r>
            <a:r>
              <a:rPr lang="zh-CN" altLang="en-US" b="1" dirty="0" smtClean="0">
                <a:solidFill>
                  <a:prstClr val="black"/>
                </a:solidFill>
              </a:rPr>
              <a:t>地址。</a:t>
            </a:r>
            <a:endParaRPr lang="zh-CN" altLang="en-US" b="1" dirty="0">
              <a:solidFill>
                <a:prstClr val="black"/>
              </a:solidFill>
            </a:endParaRPr>
          </a:p>
        </p:txBody>
      </p:sp>
    </p:spTree>
    <p:extLst>
      <p:ext uri="{BB962C8B-B14F-4D97-AF65-F5344CB8AC3E}">
        <p14:creationId xmlns:p14="http://schemas.microsoft.com/office/powerpoint/2010/main" val="11426804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27585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39503"/>
            <a:ext cx="3049233" cy="461665"/>
          </a:xfrm>
          <a:prstGeom prst="rect">
            <a:avLst/>
          </a:prstGeom>
        </p:spPr>
        <p:txBody>
          <a:bodyPr wrap="none">
            <a:spAutoFit/>
          </a:bodyPr>
          <a:lstStyle/>
          <a:p>
            <a:r>
              <a:rPr lang="en-US" altLang="zh-CN" sz="2400" b="1" dirty="0">
                <a:solidFill>
                  <a:schemeClr val="bg1"/>
                </a:solidFill>
              </a:rPr>
              <a:t>4.1.4 </a:t>
            </a:r>
            <a:r>
              <a:rPr lang="zh-CN" altLang="en-US" sz="2400" b="1" dirty="0">
                <a:solidFill>
                  <a:schemeClr val="bg1"/>
                </a:solidFill>
              </a:rPr>
              <a:t>调试和下载电路</a:t>
            </a:r>
            <a:endParaRPr lang="zh-CN" altLang="zh-CN" sz="2400" b="1" dirty="0">
              <a:solidFill>
                <a:schemeClr val="bg1"/>
              </a:solidFill>
            </a:endParaRPr>
          </a:p>
        </p:txBody>
      </p:sp>
      <p:sp>
        <p:nvSpPr>
          <p:cNvPr id="3" name="矩形 2"/>
          <p:cNvSpPr/>
          <p:nvPr/>
        </p:nvSpPr>
        <p:spPr>
          <a:xfrm>
            <a:off x="527967" y="1131590"/>
            <a:ext cx="4536504" cy="3362459"/>
          </a:xfrm>
          <a:prstGeom prst="rect">
            <a:avLst/>
          </a:prstGeom>
          <a:solidFill>
            <a:schemeClr val="accent5">
              <a:lumMod val="20000"/>
              <a:lumOff val="80000"/>
            </a:schemeClr>
          </a:solidFill>
        </p:spPr>
        <p:txBody>
          <a:bodyPr wrap="square">
            <a:spAutoFit/>
          </a:bodyPr>
          <a:lstStyle/>
          <a:p>
            <a:pPr marL="285750" indent="-285750">
              <a:lnSpc>
                <a:spcPct val="125000"/>
              </a:lnSpc>
              <a:spcBef>
                <a:spcPts val="600"/>
              </a:spcBef>
              <a:buBlip>
                <a:blip r:embed="rId2"/>
              </a:buBlip>
            </a:pPr>
            <a:r>
              <a:rPr lang="zh-CN" altLang="en-US" b="1" dirty="0">
                <a:solidFill>
                  <a:prstClr val="black"/>
                </a:solidFill>
              </a:rPr>
              <a:t>保持</a:t>
            </a:r>
            <a:r>
              <a:rPr lang="en-US" altLang="zh-CN" b="1" dirty="0">
                <a:solidFill>
                  <a:prstClr val="black"/>
                </a:solidFill>
              </a:rPr>
              <a:t>BOOT1</a:t>
            </a:r>
            <a:r>
              <a:rPr lang="zh-CN" altLang="en-US" b="1" dirty="0">
                <a:solidFill>
                  <a:prstClr val="black"/>
                </a:solidFill>
              </a:rPr>
              <a:t>为“</a:t>
            </a:r>
            <a:r>
              <a:rPr lang="en-US" altLang="zh-CN" b="1" dirty="0">
                <a:solidFill>
                  <a:prstClr val="black"/>
                </a:solidFill>
              </a:rPr>
              <a:t>0”</a:t>
            </a:r>
            <a:r>
              <a:rPr lang="zh-CN" altLang="en-US" b="1" dirty="0">
                <a:solidFill>
                  <a:prstClr val="black"/>
                </a:solidFill>
              </a:rPr>
              <a:t>，当</a:t>
            </a:r>
            <a:r>
              <a:rPr lang="en-US" altLang="zh-CN" b="1" dirty="0">
                <a:solidFill>
                  <a:prstClr val="black"/>
                </a:solidFill>
              </a:rPr>
              <a:t>BOOT0=1</a:t>
            </a:r>
            <a:r>
              <a:rPr lang="zh-CN" altLang="en-US" b="1" dirty="0">
                <a:solidFill>
                  <a:prstClr val="black"/>
                </a:solidFill>
              </a:rPr>
              <a:t>时，</a:t>
            </a:r>
            <a:r>
              <a:rPr lang="en-US" altLang="zh-CN" b="1" dirty="0">
                <a:solidFill>
                  <a:prstClr val="black"/>
                </a:solidFill>
              </a:rPr>
              <a:t>STM32F103</a:t>
            </a:r>
            <a:r>
              <a:rPr lang="zh-CN" altLang="en-US" b="1" dirty="0">
                <a:solidFill>
                  <a:prstClr val="black"/>
                </a:solidFill>
              </a:rPr>
              <a:t>系列微控制器从系统存储器的起始地址</a:t>
            </a:r>
            <a:r>
              <a:rPr lang="en-US" altLang="zh-CN" b="1" dirty="0">
                <a:solidFill>
                  <a:prstClr val="black"/>
                </a:solidFill>
              </a:rPr>
              <a:t>0x1FFFF000</a:t>
            </a:r>
            <a:r>
              <a:rPr lang="zh-CN" altLang="en-US" b="1" dirty="0">
                <a:solidFill>
                  <a:prstClr val="black"/>
                </a:solidFill>
              </a:rPr>
              <a:t>开始启动</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spcBef>
                <a:spcPts val="600"/>
              </a:spcBef>
              <a:buBlip>
                <a:blip r:embed="rId2"/>
              </a:buBlip>
            </a:pPr>
            <a:r>
              <a:rPr lang="zh-CN" altLang="en-US" b="1" dirty="0" smtClean="0">
                <a:solidFill>
                  <a:prstClr val="black"/>
                </a:solidFill>
              </a:rPr>
              <a:t>当</a:t>
            </a:r>
            <a:r>
              <a:rPr lang="en-US" altLang="zh-CN" b="1" dirty="0">
                <a:solidFill>
                  <a:prstClr val="black"/>
                </a:solidFill>
              </a:rPr>
              <a:t>BOOT0=0</a:t>
            </a:r>
            <a:r>
              <a:rPr lang="zh-CN" altLang="en-US" b="1" dirty="0">
                <a:solidFill>
                  <a:prstClr val="black"/>
                </a:solidFill>
              </a:rPr>
              <a:t>时，</a:t>
            </a:r>
            <a:r>
              <a:rPr lang="en-US" altLang="zh-CN" b="1" dirty="0">
                <a:solidFill>
                  <a:prstClr val="black"/>
                </a:solidFill>
              </a:rPr>
              <a:t>STM32F103</a:t>
            </a:r>
            <a:r>
              <a:rPr lang="zh-CN" altLang="en-US" b="1" dirty="0">
                <a:solidFill>
                  <a:prstClr val="black"/>
                </a:solidFill>
              </a:rPr>
              <a:t>系列微控制器从用户</a:t>
            </a:r>
            <a:r>
              <a:rPr lang="en-US" altLang="zh-CN" b="1" dirty="0">
                <a:solidFill>
                  <a:prstClr val="black"/>
                </a:solidFill>
              </a:rPr>
              <a:t>Flash</a:t>
            </a:r>
            <a:r>
              <a:rPr lang="zh-CN" altLang="en-US" b="1" dirty="0">
                <a:solidFill>
                  <a:prstClr val="black"/>
                </a:solidFill>
              </a:rPr>
              <a:t>的起始地址</a:t>
            </a:r>
            <a:r>
              <a:rPr lang="en-US" altLang="zh-CN" b="1" dirty="0">
                <a:solidFill>
                  <a:prstClr val="black"/>
                </a:solidFill>
              </a:rPr>
              <a:t>0x80000000</a:t>
            </a:r>
            <a:r>
              <a:rPr lang="zh-CN" altLang="en-US" b="1" dirty="0">
                <a:solidFill>
                  <a:prstClr val="black"/>
                </a:solidFill>
              </a:rPr>
              <a:t>开始启动运行代码，这是</a:t>
            </a:r>
            <a:r>
              <a:rPr lang="en-US" altLang="zh-CN" b="1" dirty="0">
                <a:solidFill>
                  <a:prstClr val="black"/>
                </a:solidFill>
              </a:rPr>
              <a:t>STM32</a:t>
            </a:r>
            <a:r>
              <a:rPr lang="zh-CN" altLang="en-US" b="1" dirty="0">
                <a:solidFill>
                  <a:prstClr val="black"/>
                </a:solidFill>
              </a:rPr>
              <a:t>最常用的启动方式</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spcBef>
                <a:spcPts val="600"/>
              </a:spcBef>
              <a:buBlip>
                <a:blip r:embed="rId2"/>
              </a:buBlip>
            </a:pPr>
            <a:r>
              <a:rPr lang="zh-CN" altLang="en-US" b="1" dirty="0" smtClean="0">
                <a:solidFill>
                  <a:prstClr val="black"/>
                </a:solidFill>
              </a:rPr>
              <a:t>若要</a:t>
            </a:r>
            <a:r>
              <a:rPr lang="zh-CN" altLang="en-US" b="1" dirty="0">
                <a:solidFill>
                  <a:prstClr val="black"/>
                </a:solidFill>
              </a:rPr>
              <a:t>从片内</a:t>
            </a:r>
            <a:r>
              <a:rPr lang="en-US" altLang="zh-CN" b="1" dirty="0">
                <a:solidFill>
                  <a:prstClr val="black"/>
                </a:solidFill>
              </a:rPr>
              <a:t>SRAM</a:t>
            </a:r>
            <a:r>
              <a:rPr lang="zh-CN" altLang="en-US" b="1" dirty="0">
                <a:solidFill>
                  <a:prstClr val="black"/>
                </a:solidFill>
              </a:rPr>
              <a:t>起始地址</a:t>
            </a:r>
            <a:r>
              <a:rPr lang="en-US" altLang="zh-CN" b="1" dirty="0">
                <a:solidFill>
                  <a:prstClr val="black"/>
                </a:solidFill>
              </a:rPr>
              <a:t>0x20000000</a:t>
            </a:r>
            <a:r>
              <a:rPr lang="zh-CN" altLang="en-US" b="1" dirty="0">
                <a:solidFill>
                  <a:prstClr val="black"/>
                </a:solidFill>
              </a:rPr>
              <a:t>启动，则</a:t>
            </a:r>
            <a:r>
              <a:rPr lang="en-US" altLang="zh-CN" b="1" dirty="0">
                <a:solidFill>
                  <a:prstClr val="black"/>
                </a:solidFill>
              </a:rPr>
              <a:t>BOOT0</a:t>
            </a:r>
            <a:r>
              <a:rPr lang="zh-CN" altLang="en-US" b="1" dirty="0">
                <a:solidFill>
                  <a:prstClr val="black"/>
                </a:solidFill>
              </a:rPr>
              <a:t>、</a:t>
            </a:r>
            <a:r>
              <a:rPr lang="en-US" altLang="zh-CN" b="1" dirty="0">
                <a:solidFill>
                  <a:prstClr val="black"/>
                </a:solidFill>
              </a:rPr>
              <a:t>BOOT1</a:t>
            </a:r>
            <a:r>
              <a:rPr lang="zh-CN" altLang="en-US" b="1" dirty="0">
                <a:solidFill>
                  <a:prstClr val="black"/>
                </a:solidFill>
              </a:rPr>
              <a:t>均设为“</a:t>
            </a:r>
            <a:r>
              <a:rPr lang="en-US" altLang="zh-CN" b="1" dirty="0">
                <a:solidFill>
                  <a:prstClr val="black"/>
                </a:solidFill>
              </a:rPr>
              <a:t>1</a:t>
            </a:r>
            <a:r>
              <a:rPr lang="en-US" altLang="zh-CN" b="1" dirty="0" smtClean="0">
                <a:solidFill>
                  <a:prstClr val="black"/>
                </a:solidFill>
              </a:rPr>
              <a:t>”</a:t>
            </a:r>
            <a:r>
              <a:rPr lang="zh-CN" altLang="en-US" b="1" dirty="0" smtClean="0">
                <a:solidFill>
                  <a:prstClr val="black"/>
                </a:solidFill>
              </a:rPr>
              <a:t> 。</a:t>
            </a:r>
            <a:endParaRPr lang="zh-CN" altLang="en-US" b="1" dirty="0">
              <a:solidFill>
                <a:prstClr val="black"/>
              </a:solidFill>
            </a:endParaRPr>
          </a:p>
        </p:txBody>
      </p:sp>
      <p:sp>
        <p:nvSpPr>
          <p:cNvPr id="24" name="矩形 23"/>
          <p:cNvSpPr/>
          <p:nvPr/>
        </p:nvSpPr>
        <p:spPr>
          <a:xfrm>
            <a:off x="6084168" y="292755"/>
            <a:ext cx="1632178" cy="338554"/>
          </a:xfrm>
          <a:prstGeom prst="rect">
            <a:avLst/>
          </a:prstGeom>
        </p:spPr>
        <p:txBody>
          <a:bodyPr wrap="none">
            <a:spAutoFit/>
          </a:bodyPr>
          <a:lstStyle/>
          <a:p>
            <a:r>
              <a:rPr lang="zh-CN" altLang="en-US" sz="1600" b="1" dirty="0">
                <a:solidFill>
                  <a:schemeClr val="accent5">
                    <a:lumMod val="75000"/>
                  </a:schemeClr>
                </a:solidFill>
                <a:latin typeface="黑体" pitchFamily="49" charset="-122"/>
                <a:ea typeface="黑体" pitchFamily="49" charset="-122"/>
              </a:rPr>
              <a:t>内核的启动模式</a:t>
            </a:r>
          </a:p>
        </p:txBody>
      </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635646"/>
            <a:ext cx="3617414" cy="2088232"/>
          </a:xfrm>
          <a:prstGeom prst="rect">
            <a:avLst/>
          </a:prstGeom>
          <a:noFill/>
          <a:ln>
            <a:noFill/>
          </a:ln>
        </p:spPr>
      </p:pic>
    </p:spTree>
    <p:extLst>
      <p:ext uri="{BB962C8B-B14F-4D97-AF65-F5344CB8AC3E}">
        <p14:creationId xmlns:p14="http://schemas.microsoft.com/office/powerpoint/2010/main" val="884924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37" name="TextBox 36"/>
          <p:cNvSpPr txBox="1"/>
          <p:nvPr/>
        </p:nvSpPr>
        <p:spPr>
          <a:xfrm>
            <a:off x="1547664" y="1412766"/>
            <a:ext cx="2920525" cy="396134"/>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4.2.1 STM32</a:t>
            </a:r>
            <a:r>
              <a:rPr lang="zh-CN" altLang="en-US" b="1" dirty="0">
                <a:latin typeface="Arial" panose="020B0604020202020204" pitchFamily="34" charset="0"/>
                <a:ea typeface="微软雅黑" panose="020B0503020204020204" charset="-122"/>
                <a:sym typeface="Arial" panose="020B0604020202020204" pitchFamily="34" charset="0"/>
              </a:rPr>
              <a:t>的数据类型</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41" name="Group 43"/>
          <p:cNvGrpSpPr/>
          <p:nvPr/>
        </p:nvGrpSpPr>
        <p:grpSpPr>
          <a:xfrm>
            <a:off x="827584" y="1416194"/>
            <a:ext cx="439225" cy="399415"/>
            <a:chOff x="860271" y="1518068"/>
            <a:chExt cx="493370" cy="479245"/>
          </a:xfrm>
        </p:grpSpPr>
        <p:sp>
          <p:nvSpPr>
            <p:cNvPr id="42"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3"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4" name="Group 46"/>
          <p:cNvGrpSpPr/>
          <p:nvPr/>
        </p:nvGrpSpPr>
        <p:grpSpPr>
          <a:xfrm>
            <a:off x="827584" y="2086603"/>
            <a:ext cx="439225" cy="399415"/>
            <a:chOff x="840159" y="2185414"/>
            <a:chExt cx="493370" cy="479245"/>
          </a:xfrm>
        </p:grpSpPr>
        <p:sp>
          <p:nvSpPr>
            <p:cNvPr id="45"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6"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7" name="Group 49"/>
          <p:cNvGrpSpPr/>
          <p:nvPr/>
        </p:nvGrpSpPr>
        <p:grpSpPr>
          <a:xfrm>
            <a:off x="827584" y="2757012"/>
            <a:ext cx="439225" cy="399415"/>
            <a:chOff x="840159" y="2852760"/>
            <a:chExt cx="493370" cy="479245"/>
          </a:xfrm>
        </p:grpSpPr>
        <p:sp>
          <p:nvSpPr>
            <p:cNvPr id="48"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9"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0" name="Group 52"/>
          <p:cNvGrpSpPr/>
          <p:nvPr/>
        </p:nvGrpSpPr>
        <p:grpSpPr>
          <a:xfrm>
            <a:off x="827584" y="3427421"/>
            <a:ext cx="439225" cy="399415"/>
            <a:chOff x="840159" y="3520106"/>
            <a:chExt cx="493370" cy="479245"/>
          </a:xfrm>
        </p:grpSpPr>
        <p:sp>
          <p:nvSpPr>
            <p:cNvPr id="51"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52"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9" name="组合 58"/>
          <p:cNvGrpSpPr/>
          <p:nvPr/>
        </p:nvGrpSpPr>
        <p:grpSpPr>
          <a:xfrm>
            <a:off x="827584" y="4097832"/>
            <a:ext cx="442893" cy="380109"/>
            <a:chOff x="4674" y="4704"/>
            <a:chExt cx="966" cy="886"/>
          </a:xfrm>
        </p:grpSpPr>
        <p:sp>
          <p:nvSpPr>
            <p:cNvPr id="60"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1"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grpSp>
        <p:nvGrpSpPr>
          <p:cNvPr id="62" name="组合 61"/>
          <p:cNvGrpSpPr/>
          <p:nvPr/>
        </p:nvGrpSpPr>
        <p:grpSpPr>
          <a:xfrm>
            <a:off x="4788024" y="1036085"/>
            <a:ext cx="442893" cy="380109"/>
            <a:chOff x="4714" y="2996"/>
            <a:chExt cx="966" cy="886"/>
          </a:xfrm>
        </p:grpSpPr>
        <p:sp>
          <p:nvSpPr>
            <p:cNvPr id="63" name="Rounded Rectangle 44"/>
            <p:cNvSpPr/>
            <p:nvPr/>
          </p:nvSpPr>
          <p:spPr>
            <a:xfrm>
              <a:off x="4714" y="2996"/>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4" name="稻壳儿小白白(http://dwz.cn/Wu2UP)"/>
            <p:cNvSpPr>
              <a:spLocks noEditPoints="1"/>
            </p:cNvSpPr>
            <p:nvPr/>
          </p:nvSpPr>
          <p:spPr>
            <a:xfrm>
              <a:off x="4975" y="3222"/>
              <a:ext cx="445" cy="445"/>
            </a:xfrm>
            <a:custGeom>
              <a:avLst/>
              <a:gdLst/>
              <a:ahLst/>
              <a:cxnLst>
                <a:cxn ang="0">
                  <a:pos x="76093" y="138351"/>
                </a:cxn>
                <a:cxn ang="0">
                  <a:pos x="0" y="124516"/>
                </a:cxn>
                <a:cxn ang="0">
                  <a:pos x="13835" y="89928"/>
                </a:cxn>
                <a:cxn ang="0">
                  <a:pos x="89928" y="110681"/>
                </a:cxn>
                <a:cxn ang="0">
                  <a:pos x="69176" y="83010"/>
                </a:cxn>
                <a:cxn ang="0">
                  <a:pos x="20753" y="6918"/>
                </a:cxn>
                <a:cxn ang="0">
                  <a:pos x="62258" y="0"/>
                </a:cxn>
                <a:cxn ang="0">
                  <a:pos x="69176" y="83010"/>
                </a:cxn>
                <a:cxn ang="0">
                  <a:pos x="62258" y="283619"/>
                </a:cxn>
                <a:cxn ang="0">
                  <a:pos x="20753" y="276701"/>
                </a:cxn>
                <a:cxn ang="0">
                  <a:pos x="69176" y="152186"/>
                </a:cxn>
                <a:cxn ang="0">
                  <a:pos x="186774" y="214444"/>
                </a:cxn>
                <a:cxn ang="0">
                  <a:pos x="110681" y="235196"/>
                </a:cxn>
                <a:cxn ang="0">
                  <a:pos x="89928" y="207526"/>
                </a:cxn>
                <a:cxn ang="0">
                  <a:pos x="172939" y="186773"/>
                </a:cxn>
                <a:cxn ang="0">
                  <a:pos x="186774" y="214444"/>
                </a:cxn>
                <a:cxn ang="0">
                  <a:pos x="117599" y="172938"/>
                </a:cxn>
                <a:cxn ang="0">
                  <a:pos x="124516" y="0"/>
                </a:cxn>
                <a:cxn ang="0">
                  <a:pos x="166021" y="6918"/>
                </a:cxn>
                <a:cxn ang="0">
                  <a:pos x="166021" y="276701"/>
                </a:cxn>
                <a:cxn ang="0">
                  <a:pos x="124516" y="283619"/>
                </a:cxn>
                <a:cxn ang="0">
                  <a:pos x="117599" y="249031"/>
                </a:cxn>
                <a:cxn ang="0">
                  <a:pos x="166021" y="276701"/>
                </a:cxn>
                <a:cxn ang="0">
                  <a:pos x="262867" y="89928"/>
                </a:cxn>
                <a:cxn ang="0">
                  <a:pos x="186774" y="76093"/>
                </a:cxn>
                <a:cxn ang="0">
                  <a:pos x="207527" y="48423"/>
                </a:cxn>
                <a:cxn ang="0">
                  <a:pos x="283620" y="62258"/>
                </a:cxn>
                <a:cxn ang="0">
                  <a:pos x="255950" y="34588"/>
                </a:cxn>
                <a:cxn ang="0">
                  <a:pos x="214444" y="6918"/>
                </a:cxn>
                <a:cxn ang="0">
                  <a:pos x="255950" y="0"/>
                </a:cxn>
                <a:cxn ang="0">
                  <a:pos x="255950" y="34588"/>
                </a:cxn>
                <a:cxn ang="0">
                  <a:pos x="255950" y="283619"/>
                </a:cxn>
                <a:cxn ang="0">
                  <a:pos x="214444" y="276701"/>
                </a:cxn>
                <a:cxn ang="0">
                  <a:pos x="255950" y="103763"/>
                </a:cxn>
              </a:cxnLst>
              <a:rect l="0" t="0" r="0" b="0"/>
              <a:pathLst>
                <a:path w="41" h="41">
                  <a:moveTo>
                    <a:pt x="13" y="18"/>
                  </a:moveTo>
                  <a:cubicBezTo>
                    <a:pt x="13" y="19"/>
                    <a:pt x="12" y="20"/>
                    <a:pt x="11" y="20"/>
                  </a:cubicBezTo>
                  <a:cubicBezTo>
                    <a:pt x="2" y="20"/>
                    <a:pt x="2" y="20"/>
                    <a:pt x="2" y="20"/>
                  </a:cubicBezTo>
                  <a:cubicBezTo>
                    <a:pt x="1" y="20"/>
                    <a:pt x="0" y="19"/>
                    <a:pt x="0" y="18"/>
                  </a:cubicBezTo>
                  <a:cubicBezTo>
                    <a:pt x="0" y="16"/>
                    <a:pt x="0" y="16"/>
                    <a:pt x="0" y="16"/>
                  </a:cubicBezTo>
                  <a:cubicBezTo>
                    <a:pt x="0" y="15"/>
                    <a:pt x="1" y="13"/>
                    <a:pt x="2" y="13"/>
                  </a:cubicBezTo>
                  <a:cubicBezTo>
                    <a:pt x="11" y="13"/>
                    <a:pt x="11" y="13"/>
                    <a:pt x="11" y="13"/>
                  </a:cubicBezTo>
                  <a:cubicBezTo>
                    <a:pt x="12" y="13"/>
                    <a:pt x="13" y="15"/>
                    <a:pt x="13" y="16"/>
                  </a:cubicBezTo>
                  <a:lnTo>
                    <a:pt x="13" y="18"/>
                  </a:lnTo>
                  <a:close/>
                  <a:moveTo>
                    <a:pt x="10" y="12"/>
                  </a:moveTo>
                  <a:cubicBezTo>
                    <a:pt x="3" y="12"/>
                    <a:pt x="3" y="12"/>
                    <a:pt x="3" y="12"/>
                  </a:cubicBezTo>
                  <a:cubicBezTo>
                    <a:pt x="3" y="1"/>
                    <a:pt x="3" y="1"/>
                    <a:pt x="3" y="1"/>
                  </a:cubicBezTo>
                  <a:cubicBezTo>
                    <a:pt x="3" y="0"/>
                    <a:pt x="4" y="0"/>
                    <a:pt x="4" y="0"/>
                  </a:cubicBezTo>
                  <a:cubicBezTo>
                    <a:pt x="9" y="0"/>
                    <a:pt x="9" y="0"/>
                    <a:pt x="9" y="0"/>
                  </a:cubicBezTo>
                  <a:cubicBezTo>
                    <a:pt x="10" y="0"/>
                    <a:pt x="10" y="0"/>
                    <a:pt x="10" y="1"/>
                  </a:cubicBezTo>
                  <a:lnTo>
                    <a:pt x="10" y="12"/>
                  </a:lnTo>
                  <a:close/>
                  <a:moveTo>
                    <a:pt x="10" y="40"/>
                  </a:moveTo>
                  <a:cubicBezTo>
                    <a:pt x="10" y="40"/>
                    <a:pt x="10" y="41"/>
                    <a:pt x="9" y="41"/>
                  </a:cubicBezTo>
                  <a:cubicBezTo>
                    <a:pt x="4" y="41"/>
                    <a:pt x="4" y="41"/>
                    <a:pt x="4" y="41"/>
                  </a:cubicBezTo>
                  <a:cubicBezTo>
                    <a:pt x="4" y="41"/>
                    <a:pt x="3" y="40"/>
                    <a:pt x="3" y="40"/>
                  </a:cubicBezTo>
                  <a:cubicBezTo>
                    <a:pt x="3" y="22"/>
                    <a:pt x="3" y="22"/>
                    <a:pt x="3" y="22"/>
                  </a:cubicBezTo>
                  <a:cubicBezTo>
                    <a:pt x="10" y="22"/>
                    <a:pt x="10" y="22"/>
                    <a:pt x="10" y="22"/>
                  </a:cubicBezTo>
                  <a:lnTo>
                    <a:pt x="10" y="40"/>
                  </a:lnTo>
                  <a:close/>
                  <a:moveTo>
                    <a:pt x="27" y="31"/>
                  </a:moveTo>
                  <a:cubicBezTo>
                    <a:pt x="27" y="33"/>
                    <a:pt x="26" y="34"/>
                    <a:pt x="25" y="34"/>
                  </a:cubicBezTo>
                  <a:cubicBezTo>
                    <a:pt x="16" y="34"/>
                    <a:pt x="16" y="34"/>
                    <a:pt x="16" y="34"/>
                  </a:cubicBezTo>
                  <a:cubicBezTo>
                    <a:pt x="15" y="34"/>
                    <a:pt x="13" y="33"/>
                    <a:pt x="13" y="31"/>
                  </a:cubicBezTo>
                  <a:cubicBezTo>
                    <a:pt x="13" y="30"/>
                    <a:pt x="13" y="30"/>
                    <a:pt x="13" y="30"/>
                  </a:cubicBezTo>
                  <a:cubicBezTo>
                    <a:pt x="13" y="28"/>
                    <a:pt x="15" y="27"/>
                    <a:pt x="16" y="27"/>
                  </a:cubicBezTo>
                  <a:cubicBezTo>
                    <a:pt x="25" y="27"/>
                    <a:pt x="25" y="27"/>
                    <a:pt x="25" y="27"/>
                  </a:cubicBezTo>
                  <a:cubicBezTo>
                    <a:pt x="26" y="27"/>
                    <a:pt x="27" y="28"/>
                    <a:pt x="27" y="30"/>
                  </a:cubicBezTo>
                  <a:lnTo>
                    <a:pt x="27" y="31"/>
                  </a:lnTo>
                  <a:close/>
                  <a:moveTo>
                    <a:pt x="24" y="25"/>
                  </a:moveTo>
                  <a:cubicBezTo>
                    <a:pt x="17" y="25"/>
                    <a:pt x="17" y="25"/>
                    <a:pt x="17" y="25"/>
                  </a:cubicBezTo>
                  <a:cubicBezTo>
                    <a:pt x="17" y="1"/>
                    <a:pt x="17" y="1"/>
                    <a:pt x="17" y="1"/>
                  </a:cubicBezTo>
                  <a:cubicBezTo>
                    <a:pt x="17" y="0"/>
                    <a:pt x="17" y="0"/>
                    <a:pt x="18" y="0"/>
                  </a:cubicBezTo>
                  <a:cubicBezTo>
                    <a:pt x="23" y="0"/>
                    <a:pt x="23" y="0"/>
                    <a:pt x="23" y="0"/>
                  </a:cubicBezTo>
                  <a:cubicBezTo>
                    <a:pt x="23" y="0"/>
                    <a:pt x="24" y="0"/>
                    <a:pt x="24" y="1"/>
                  </a:cubicBezTo>
                  <a:lnTo>
                    <a:pt x="24" y="25"/>
                  </a:lnTo>
                  <a:close/>
                  <a:moveTo>
                    <a:pt x="24" y="40"/>
                  </a:moveTo>
                  <a:cubicBezTo>
                    <a:pt x="24" y="40"/>
                    <a:pt x="23" y="41"/>
                    <a:pt x="23" y="41"/>
                  </a:cubicBezTo>
                  <a:cubicBezTo>
                    <a:pt x="18" y="41"/>
                    <a:pt x="18" y="41"/>
                    <a:pt x="18" y="41"/>
                  </a:cubicBezTo>
                  <a:cubicBezTo>
                    <a:pt x="17" y="41"/>
                    <a:pt x="17" y="40"/>
                    <a:pt x="17" y="40"/>
                  </a:cubicBezTo>
                  <a:cubicBezTo>
                    <a:pt x="17" y="36"/>
                    <a:pt x="17" y="36"/>
                    <a:pt x="17" y="36"/>
                  </a:cubicBezTo>
                  <a:cubicBezTo>
                    <a:pt x="24" y="36"/>
                    <a:pt x="24" y="36"/>
                    <a:pt x="24" y="36"/>
                  </a:cubicBezTo>
                  <a:lnTo>
                    <a:pt x="24" y="40"/>
                  </a:lnTo>
                  <a:close/>
                  <a:moveTo>
                    <a:pt x="41" y="11"/>
                  </a:moveTo>
                  <a:cubicBezTo>
                    <a:pt x="41" y="12"/>
                    <a:pt x="40" y="13"/>
                    <a:pt x="38" y="13"/>
                  </a:cubicBezTo>
                  <a:cubicBezTo>
                    <a:pt x="30" y="13"/>
                    <a:pt x="30" y="13"/>
                    <a:pt x="30" y="13"/>
                  </a:cubicBezTo>
                  <a:cubicBezTo>
                    <a:pt x="28" y="13"/>
                    <a:pt x="27" y="12"/>
                    <a:pt x="27" y="11"/>
                  </a:cubicBezTo>
                  <a:cubicBezTo>
                    <a:pt x="27" y="9"/>
                    <a:pt x="27" y="9"/>
                    <a:pt x="27" y="9"/>
                  </a:cubicBezTo>
                  <a:cubicBezTo>
                    <a:pt x="27" y="8"/>
                    <a:pt x="28" y="7"/>
                    <a:pt x="30" y="7"/>
                  </a:cubicBezTo>
                  <a:cubicBezTo>
                    <a:pt x="38" y="7"/>
                    <a:pt x="38" y="7"/>
                    <a:pt x="38" y="7"/>
                  </a:cubicBezTo>
                  <a:cubicBezTo>
                    <a:pt x="40" y="7"/>
                    <a:pt x="41" y="8"/>
                    <a:pt x="41" y="9"/>
                  </a:cubicBezTo>
                  <a:lnTo>
                    <a:pt x="41" y="11"/>
                  </a:lnTo>
                  <a:close/>
                  <a:moveTo>
                    <a:pt x="37" y="5"/>
                  </a:moveTo>
                  <a:cubicBezTo>
                    <a:pt x="31" y="5"/>
                    <a:pt x="31" y="5"/>
                    <a:pt x="31" y="5"/>
                  </a:cubicBezTo>
                  <a:cubicBezTo>
                    <a:pt x="31" y="1"/>
                    <a:pt x="31" y="1"/>
                    <a:pt x="31" y="1"/>
                  </a:cubicBezTo>
                  <a:cubicBezTo>
                    <a:pt x="31" y="0"/>
                    <a:pt x="31" y="0"/>
                    <a:pt x="31" y="0"/>
                  </a:cubicBezTo>
                  <a:cubicBezTo>
                    <a:pt x="37" y="0"/>
                    <a:pt x="37" y="0"/>
                    <a:pt x="37" y="0"/>
                  </a:cubicBezTo>
                  <a:cubicBezTo>
                    <a:pt x="37" y="0"/>
                    <a:pt x="37" y="0"/>
                    <a:pt x="37" y="1"/>
                  </a:cubicBezTo>
                  <a:lnTo>
                    <a:pt x="37" y="5"/>
                  </a:lnTo>
                  <a:close/>
                  <a:moveTo>
                    <a:pt x="37" y="40"/>
                  </a:moveTo>
                  <a:cubicBezTo>
                    <a:pt x="37" y="40"/>
                    <a:pt x="37" y="41"/>
                    <a:pt x="37" y="41"/>
                  </a:cubicBezTo>
                  <a:cubicBezTo>
                    <a:pt x="31" y="41"/>
                    <a:pt x="31" y="41"/>
                    <a:pt x="31" y="41"/>
                  </a:cubicBezTo>
                  <a:cubicBezTo>
                    <a:pt x="31" y="41"/>
                    <a:pt x="31" y="40"/>
                    <a:pt x="31" y="40"/>
                  </a:cubicBezTo>
                  <a:cubicBezTo>
                    <a:pt x="31" y="15"/>
                    <a:pt x="31" y="15"/>
                    <a:pt x="31" y="15"/>
                  </a:cubicBezTo>
                  <a:cubicBezTo>
                    <a:pt x="37" y="15"/>
                    <a:pt x="37" y="15"/>
                    <a:pt x="37" y="15"/>
                  </a:cubicBezTo>
                  <a:lnTo>
                    <a:pt x="37" y="40"/>
                  </a:lnTo>
                  <a:close/>
                </a:path>
              </a:pathLst>
            </a:custGeom>
            <a:solidFill>
              <a:schemeClr val="bg1"/>
            </a:solidFill>
            <a:ln w="9525">
              <a:noFill/>
            </a:ln>
          </p:spPr>
          <p:txBody>
            <a:bodyPr/>
            <a:lstStyle/>
            <a:p>
              <a:endParaRPr lang="zh-CN" altLang="en-US"/>
            </a:p>
          </p:txBody>
        </p:sp>
      </p:grpSp>
      <p:sp>
        <p:nvSpPr>
          <p:cNvPr id="69" name="TextBox 68"/>
          <p:cNvSpPr txBox="1"/>
          <p:nvPr/>
        </p:nvSpPr>
        <p:spPr>
          <a:xfrm>
            <a:off x="1547664" y="2089156"/>
            <a:ext cx="2920525" cy="396134"/>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4.2.2 </a:t>
            </a:r>
            <a:r>
              <a:rPr lang="en-GB" altLang="zh-CN" b="1" dirty="0" err="1" smtClean="0">
                <a:latin typeface="Arial" panose="020B0604020202020204" pitchFamily="34" charset="0"/>
                <a:ea typeface="微软雅黑" panose="020B0503020204020204" charset="-122"/>
                <a:sym typeface="Arial" panose="020B0604020202020204" pitchFamily="34" charset="0"/>
              </a:rPr>
              <a:t>const</a:t>
            </a:r>
            <a:r>
              <a:rPr lang="en-GB" altLang="zh-CN" b="1" dirty="0" smtClean="0">
                <a:latin typeface="Arial" panose="020B0604020202020204" pitchFamily="34" charset="0"/>
                <a:ea typeface="微软雅黑" panose="020B0503020204020204" charset="-122"/>
                <a:sym typeface="Arial" panose="020B0604020202020204" pitchFamily="34" charset="0"/>
              </a:rPr>
              <a:t> </a:t>
            </a:r>
            <a:r>
              <a:rPr lang="zh-CN" altLang="en-US" b="1" dirty="0" smtClean="0">
                <a:latin typeface="Arial" panose="020B0604020202020204" pitchFamily="34" charset="0"/>
                <a:ea typeface="微软雅黑" panose="020B0503020204020204" charset="-122"/>
                <a:sym typeface="Arial" panose="020B0604020202020204" pitchFamily="34" charset="0"/>
              </a:rPr>
              <a:t>关键字</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80" name="TextBox 79"/>
          <p:cNvSpPr txBox="1"/>
          <p:nvPr/>
        </p:nvSpPr>
        <p:spPr>
          <a:xfrm>
            <a:off x="1547664" y="276554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a:latin typeface="Arial" panose="020B0604020202020204" pitchFamily="34" charset="0"/>
                <a:ea typeface="微软雅黑" panose="020B0503020204020204" charset="-122"/>
                <a:sym typeface="Arial" panose="020B0604020202020204" pitchFamily="34" charset="0"/>
              </a:rPr>
              <a:t>4.2.3 </a:t>
            </a:r>
            <a:r>
              <a:rPr lang="en-GB" altLang="zh-CN" b="1" dirty="0" smtClean="0">
                <a:latin typeface="Arial" panose="020B0604020202020204" pitchFamily="34" charset="0"/>
                <a:ea typeface="微软雅黑" panose="020B0503020204020204" charset="-122"/>
                <a:sym typeface="Arial" panose="020B0604020202020204" pitchFamily="34" charset="0"/>
              </a:rPr>
              <a:t>static </a:t>
            </a:r>
            <a:r>
              <a:rPr lang="zh-CN" altLang="en-US" b="1" dirty="0" smtClean="0">
                <a:latin typeface="Arial" panose="020B0604020202020204" pitchFamily="34" charset="0"/>
                <a:ea typeface="微软雅黑" panose="020B0503020204020204" charset="-122"/>
                <a:sym typeface="Arial" panose="020B0604020202020204" pitchFamily="34" charset="0"/>
              </a:rPr>
              <a:t>关键字</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81" name="TextBox 80"/>
          <p:cNvSpPr txBox="1"/>
          <p:nvPr/>
        </p:nvSpPr>
        <p:spPr>
          <a:xfrm>
            <a:off x="1547664" y="3441936"/>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4.2.4 </a:t>
            </a:r>
            <a:r>
              <a:rPr lang="en-GB" altLang="zh-CN" dirty="0">
                <a:sym typeface="Arial" panose="020B0604020202020204" pitchFamily="34" charset="0"/>
              </a:rPr>
              <a:t>volatile </a:t>
            </a:r>
            <a:r>
              <a:rPr lang="zh-CN" altLang="en-US" dirty="0" smtClean="0">
                <a:sym typeface="Arial" panose="020B0604020202020204" pitchFamily="34" charset="0"/>
              </a:rPr>
              <a:t>关键字</a:t>
            </a:r>
            <a:endParaRPr lang="zh-CN" altLang="zh-CN" dirty="0"/>
          </a:p>
        </p:txBody>
      </p:sp>
      <p:sp>
        <p:nvSpPr>
          <p:cNvPr id="82" name="TextBox 81"/>
          <p:cNvSpPr txBox="1"/>
          <p:nvPr/>
        </p:nvSpPr>
        <p:spPr>
          <a:xfrm>
            <a:off x="1547664" y="4116404"/>
            <a:ext cx="2920525" cy="396134"/>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a:t>4.2.5 </a:t>
            </a:r>
            <a:r>
              <a:rPr lang="en-US" altLang="zh-CN" dirty="0" smtClean="0"/>
              <a:t>extern </a:t>
            </a:r>
            <a:r>
              <a:rPr lang="zh-CN" altLang="en-US" dirty="0" smtClean="0"/>
              <a:t>关键字</a:t>
            </a:r>
            <a:endParaRPr lang="zh-CN" altLang="zh-CN" dirty="0"/>
          </a:p>
        </p:txBody>
      </p:sp>
      <p:sp>
        <p:nvSpPr>
          <p:cNvPr id="83" name="TextBox 82"/>
          <p:cNvSpPr txBox="1"/>
          <p:nvPr/>
        </p:nvSpPr>
        <p:spPr>
          <a:xfrm>
            <a:off x="5508105" y="170422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smtClean="0">
                <a:latin typeface="Arial" panose="020B0604020202020204" pitchFamily="34" charset="0"/>
                <a:ea typeface="微软雅黑" panose="020B0503020204020204" charset="-122"/>
                <a:sym typeface="Arial" panose="020B0604020202020204" pitchFamily="34" charset="0"/>
              </a:rPr>
              <a:t>4.2.</a:t>
            </a:r>
            <a:r>
              <a:rPr lang="en-US" altLang="zh-CN" b="1" dirty="0" smtClean="0">
                <a:latin typeface="Arial" panose="020B0604020202020204" pitchFamily="34" charset="0"/>
                <a:ea typeface="微软雅黑" panose="020B0503020204020204" charset="-122"/>
                <a:sym typeface="Arial" panose="020B0604020202020204" pitchFamily="34" charset="0"/>
              </a:rPr>
              <a:t>8</a:t>
            </a:r>
            <a:r>
              <a:rPr lang="en-GB" altLang="zh-CN" b="1" dirty="0" smtClean="0">
                <a:latin typeface="Arial" panose="020B0604020202020204" pitchFamily="34" charset="0"/>
                <a:ea typeface="微软雅黑" panose="020B0503020204020204" charset="-122"/>
                <a:sym typeface="Arial" panose="020B0604020202020204" pitchFamily="34" charset="0"/>
              </a:rPr>
              <a:t>  </a:t>
            </a:r>
            <a:r>
              <a:rPr lang="en-GB" altLang="zh-CN" b="1" dirty="0" err="1">
                <a:latin typeface="Arial" panose="020B0604020202020204" pitchFamily="34" charset="0"/>
                <a:ea typeface="微软雅黑" panose="020B0503020204020204" charset="-122"/>
                <a:sym typeface="Arial" panose="020B0604020202020204" pitchFamily="34" charset="0"/>
              </a:rPr>
              <a:t>typedef</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84" name="Group 43"/>
          <p:cNvGrpSpPr/>
          <p:nvPr/>
        </p:nvGrpSpPr>
        <p:grpSpPr>
          <a:xfrm>
            <a:off x="4788025" y="1707654"/>
            <a:ext cx="439225" cy="399415"/>
            <a:chOff x="860271" y="1518068"/>
            <a:chExt cx="493370" cy="479245"/>
          </a:xfrm>
        </p:grpSpPr>
        <p:sp>
          <p:nvSpPr>
            <p:cNvPr id="85"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86"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87" name="Group 46"/>
          <p:cNvGrpSpPr/>
          <p:nvPr/>
        </p:nvGrpSpPr>
        <p:grpSpPr>
          <a:xfrm>
            <a:off x="4788025" y="2378063"/>
            <a:ext cx="439225" cy="399415"/>
            <a:chOff x="840159" y="2185414"/>
            <a:chExt cx="493370" cy="479245"/>
          </a:xfrm>
        </p:grpSpPr>
        <p:sp>
          <p:nvSpPr>
            <p:cNvPr id="88"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89"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0" name="Group 49"/>
          <p:cNvGrpSpPr/>
          <p:nvPr/>
        </p:nvGrpSpPr>
        <p:grpSpPr>
          <a:xfrm>
            <a:off x="4788025" y="3048472"/>
            <a:ext cx="439225" cy="399415"/>
            <a:chOff x="840159" y="2852760"/>
            <a:chExt cx="493370" cy="479245"/>
          </a:xfrm>
        </p:grpSpPr>
        <p:sp>
          <p:nvSpPr>
            <p:cNvPr id="91"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92"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3" name="Group 52"/>
          <p:cNvGrpSpPr/>
          <p:nvPr/>
        </p:nvGrpSpPr>
        <p:grpSpPr>
          <a:xfrm>
            <a:off x="4788025" y="3718881"/>
            <a:ext cx="439225" cy="399415"/>
            <a:chOff x="840159" y="3520106"/>
            <a:chExt cx="493370" cy="479245"/>
          </a:xfrm>
        </p:grpSpPr>
        <p:sp>
          <p:nvSpPr>
            <p:cNvPr id="94"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95"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96" name="组合 95"/>
          <p:cNvGrpSpPr/>
          <p:nvPr/>
        </p:nvGrpSpPr>
        <p:grpSpPr>
          <a:xfrm>
            <a:off x="4788025" y="4389292"/>
            <a:ext cx="442893" cy="380109"/>
            <a:chOff x="4674" y="4704"/>
            <a:chExt cx="966" cy="886"/>
          </a:xfrm>
        </p:grpSpPr>
        <p:sp>
          <p:nvSpPr>
            <p:cNvPr id="97"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98"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sp>
        <p:nvSpPr>
          <p:cNvPr id="99" name="TextBox 98"/>
          <p:cNvSpPr txBox="1"/>
          <p:nvPr/>
        </p:nvSpPr>
        <p:spPr>
          <a:xfrm>
            <a:off x="5508105" y="2380616"/>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smtClean="0">
                <a:latin typeface="Arial" panose="020B0604020202020204" pitchFamily="34" charset="0"/>
                <a:ea typeface="微软雅黑" panose="020B0503020204020204" charset="-122"/>
                <a:sym typeface="Arial" panose="020B0604020202020204" pitchFamily="34" charset="0"/>
              </a:rPr>
              <a:t>4.2.</a:t>
            </a:r>
            <a:r>
              <a:rPr lang="en-US" altLang="zh-CN" b="1" dirty="0" smtClean="0">
                <a:latin typeface="Arial" panose="020B0604020202020204" pitchFamily="34" charset="0"/>
                <a:ea typeface="微软雅黑" panose="020B0503020204020204" charset="-122"/>
                <a:sym typeface="Arial" panose="020B0604020202020204" pitchFamily="34" charset="0"/>
              </a:rPr>
              <a:t>9</a:t>
            </a:r>
            <a:r>
              <a:rPr lang="en-GB" altLang="zh-CN" b="1" dirty="0" smtClean="0">
                <a:latin typeface="Arial" panose="020B0604020202020204" pitchFamily="34" charset="0"/>
                <a:ea typeface="微软雅黑" panose="020B0503020204020204" charset="-122"/>
                <a:sym typeface="Arial" panose="020B0604020202020204" pitchFamily="34" charset="0"/>
              </a:rPr>
              <a:t>  </a:t>
            </a:r>
            <a:r>
              <a:rPr lang="en-GB" altLang="zh-CN" b="1" dirty="0">
                <a:latin typeface="Arial" panose="020B0604020202020204" pitchFamily="34" charset="0"/>
                <a:ea typeface="微软雅黑" panose="020B0503020204020204" charset="-122"/>
                <a:sym typeface="Arial" panose="020B0604020202020204" pitchFamily="34" charset="0"/>
              </a:rPr>
              <a:t>#define</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100" name="TextBox 99"/>
          <p:cNvSpPr txBox="1"/>
          <p:nvPr/>
        </p:nvSpPr>
        <p:spPr>
          <a:xfrm>
            <a:off x="5488562" y="3048472"/>
            <a:ext cx="3240360" cy="424732"/>
          </a:xfrm>
          <a:prstGeom prst="rect">
            <a:avLst/>
          </a:prstGeom>
          <a:noFill/>
        </p:spPr>
        <p:txBody>
          <a:bodyPr wrap="square" rtlCol="0">
            <a:spAutoFit/>
          </a:bodyPr>
          <a:lstStyle/>
          <a:p>
            <a:pPr lvl="0" defTabSz="1216025">
              <a:lnSpc>
                <a:spcPct val="120000"/>
              </a:lnSpc>
              <a:spcBef>
                <a:spcPct val="20000"/>
              </a:spcBef>
            </a:pPr>
            <a:r>
              <a:rPr lang="en-GB" altLang="zh-CN" b="1" dirty="0" smtClean="0">
                <a:latin typeface="Arial" panose="020B0604020202020204" pitchFamily="34" charset="0"/>
                <a:ea typeface="微软雅黑" panose="020B0503020204020204" charset="-122"/>
                <a:sym typeface="Arial" panose="020B0604020202020204" pitchFamily="34" charset="0"/>
              </a:rPr>
              <a:t>4.2.</a:t>
            </a:r>
            <a:r>
              <a:rPr lang="en-US" altLang="zh-CN" b="1" dirty="0" smtClean="0">
                <a:latin typeface="Arial" panose="020B0604020202020204" pitchFamily="34" charset="0"/>
                <a:ea typeface="微软雅黑" panose="020B0503020204020204" charset="-122"/>
                <a:sym typeface="Arial" panose="020B0604020202020204" pitchFamily="34" charset="0"/>
              </a:rPr>
              <a:t>10  </a:t>
            </a:r>
            <a:r>
              <a:rPr lang="en-GB" altLang="zh-CN" b="1" dirty="0" smtClean="0">
                <a:latin typeface="Arial" panose="020B0604020202020204" pitchFamily="34" charset="0"/>
                <a:ea typeface="微软雅黑" panose="020B0503020204020204" charset="-122"/>
                <a:sym typeface="Arial" panose="020B0604020202020204" pitchFamily="34" charset="0"/>
              </a:rPr>
              <a:t>#</a:t>
            </a:r>
            <a:r>
              <a:rPr lang="en-GB" altLang="zh-CN" b="1" dirty="0" err="1" smtClean="0">
                <a:latin typeface="Arial" panose="020B0604020202020204" pitchFamily="34" charset="0"/>
                <a:ea typeface="微软雅黑" panose="020B0503020204020204" charset="-122"/>
                <a:sym typeface="Arial" panose="020B0604020202020204" pitchFamily="34" charset="0"/>
              </a:rPr>
              <a:t>ifdef</a:t>
            </a:r>
            <a:r>
              <a:rPr lang="zh-CN" altLang="en-GB" b="1" dirty="0" smtClean="0">
                <a:latin typeface="Arial" panose="020B0604020202020204" pitchFamily="34" charset="0"/>
                <a:ea typeface="微软雅黑" panose="020B0503020204020204" charset="-122"/>
                <a:sym typeface="Arial" panose="020B0604020202020204" pitchFamily="34" charset="0"/>
              </a:rPr>
              <a:t>、</a:t>
            </a:r>
            <a:r>
              <a:rPr lang="en-GB" altLang="zh-CN" b="1" dirty="0">
                <a:latin typeface="Arial" panose="020B0604020202020204" pitchFamily="34" charset="0"/>
                <a:ea typeface="微软雅黑" panose="020B0503020204020204" charset="-122"/>
                <a:sym typeface="Arial" panose="020B0604020202020204" pitchFamily="34" charset="0"/>
              </a:rPr>
              <a:t>#if</a:t>
            </a:r>
            <a:r>
              <a:rPr lang="zh-CN" altLang="en-US" b="1" dirty="0">
                <a:latin typeface="Arial" panose="020B0604020202020204" pitchFamily="34" charset="0"/>
                <a:ea typeface="微软雅黑" panose="020B0503020204020204" charset="-122"/>
                <a:sym typeface="Arial" panose="020B0604020202020204" pitchFamily="34" charset="0"/>
              </a:rPr>
              <a:t>条件编译</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sp>
        <p:nvSpPr>
          <p:cNvPr id="101" name="TextBox 100"/>
          <p:cNvSpPr txBox="1"/>
          <p:nvPr/>
        </p:nvSpPr>
        <p:spPr>
          <a:xfrm>
            <a:off x="5508105" y="3733396"/>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smtClean="0"/>
              <a:t>4.2.11 </a:t>
            </a:r>
            <a:r>
              <a:rPr lang="zh-CN" altLang="zh-CN" dirty="0"/>
              <a:t>指针</a:t>
            </a:r>
          </a:p>
        </p:txBody>
      </p:sp>
      <p:sp>
        <p:nvSpPr>
          <p:cNvPr id="102" name="TextBox 101"/>
          <p:cNvSpPr txBox="1"/>
          <p:nvPr/>
        </p:nvSpPr>
        <p:spPr>
          <a:xfrm>
            <a:off x="5508105" y="4407864"/>
            <a:ext cx="2920525" cy="424732"/>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smtClean="0"/>
              <a:t>4.2.12 </a:t>
            </a:r>
            <a:r>
              <a:rPr lang="zh-CN" altLang="zh-CN" dirty="0"/>
              <a:t>回调函数</a:t>
            </a:r>
          </a:p>
        </p:txBody>
      </p:sp>
      <p:sp>
        <p:nvSpPr>
          <p:cNvPr id="103" name="TextBox 102"/>
          <p:cNvSpPr txBox="1"/>
          <p:nvPr/>
        </p:nvSpPr>
        <p:spPr>
          <a:xfrm>
            <a:off x="5508104" y="1036085"/>
            <a:ext cx="2920525" cy="424732"/>
          </a:xfrm>
          <a:prstGeom prst="rect">
            <a:avLst/>
          </a:prstGeom>
          <a:noFill/>
        </p:spPr>
        <p:txBody>
          <a:bodyPr wrap="square" rtlCol="0">
            <a:spAutoFit/>
          </a:bodyPr>
          <a:lstStyle/>
          <a:p>
            <a:pPr lvl="0" defTabSz="1216025">
              <a:lnSpc>
                <a:spcPct val="120000"/>
              </a:lnSpc>
              <a:spcBef>
                <a:spcPct val="20000"/>
              </a:spcBef>
            </a:pPr>
            <a:r>
              <a:rPr lang="en-GB" altLang="zh-CN" b="1" dirty="0" smtClean="0">
                <a:latin typeface="Arial" panose="020B0604020202020204" pitchFamily="34" charset="0"/>
                <a:ea typeface="微软雅黑" panose="020B0503020204020204" charset="-122"/>
                <a:sym typeface="Arial" panose="020B0604020202020204" pitchFamily="34" charset="0"/>
              </a:rPr>
              <a:t>4.2.</a:t>
            </a:r>
            <a:r>
              <a:rPr lang="en-US" altLang="zh-CN" b="1" dirty="0" smtClean="0">
                <a:latin typeface="Arial" panose="020B0604020202020204" pitchFamily="34" charset="0"/>
                <a:ea typeface="微软雅黑" panose="020B0503020204020204" charset="-122"/>
                <a:sym typeface="Arial" panose="020B0604020202020204" pitchFamily="34" charset="0"/>
              </a:rPr>
              <a:t>7</a:t>
            </a:r>
            <a:r>
              <a:rPr lang="en-GB" altLang="zh-CN" b="1" dirty="0" smtClean="0">
                <a:latin typeface="Arial" panose="020B0604020202020204" pitchFamily="34" charset="0"/>
                <a:ea typeface="微软雅黑" panose="020B0503020204020204" charset="-122"/>
                <a:sym typeface="Arial" panose="020B0604020202020204" pitchFamily="34" charset="0"/>
              </a:rPr>
              <a:t>  </a:t>
            </a:r>
            <a:r>
              <a:rPr lang="en-GB" altLang="zh-CN" b="1" dirty="0" err="1">
                <a:latin typeface="Arial" panose="020B0604020202020204" pitchFamily="34" charset="0"/>
                <a:ea typeface="微软雅黑" panose="020B0503020204020204" charset="-122"/>
                <a:sym typeface="Arial" panose="020B0604020202020204" pitchFamily="34" charset="0"/>
              </a:rPr>
              <a:t>enum</a:t>
            </a:r>
            <a:endParaRPr lang="en-US" altLang="zh-CN" b="1" dirty="0">
              <a:latin typeface="Arial" panose="020B0604020202020204" pitchFamily="34" charset="0"/>
              <a:ea typeface="微软雅黑" panose="020B0503020204020204" charset="-122"/>
              <a:sym typeface="Arial" panose="020B0604020202020204" pitchFamily="34" charset="0"/>
            </a:endParaRPr>
          </a:p>
        </p:txBody>
      </p:sp>
      <p:grpSp>
        <p:nvGrpSpPr>
          <p:cNvPr id="57" name="组合 56"/>
          <p:cNvGrpSpPr/>
          <p:nvPr/>
        </p:nvGrpSpPr>
        <p:grpSpPr>
          <a:xfrm>
            <a:off x="4775572" y="344037"/>
            <a:ext cx="442893" cy="380109"/>
            <a:chOff x="4674" y="4704"/>
            <a:chExt cx="966" cy="886"/>
          </a:xfrm>
        </p:grpSpPr>
        <p:sp>
          <p:nvSpPr>
            <p:cNvPr id="58"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65"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sp>
        <p:nvSpPr>
          <p:cNvPr id="66" name="TextBox 65"/>
          <p:cNvSpPr txBox="1"/>
          <p:nvPr/>
        </p:nvSpPr>
        <p:spPr>
          <a:xfrm>
            <a:off x="5495652" y="362609"/>
            <a:ext cx="2920525" cy="396134"/>
          </a:xfrm>
          <a:prstGeom prst="rect">
            <a:avLst/>
          </a:prstGeom>
          <a:noFill/>
        </p:spPr>
        <p:txBody>
          <a:bodyPr wrap="square" rtlCol="0">
            <a:spAutoFit/>
          </a:bodyPr>
          <a:lstStyle>
            <a:defPPr>
              <a:defRPr lang="zh-CN"/>
            </a:defPPr>
            <a:lvl1pPr lvl="0" defTabSz="1216025">
              <a:lnSpc>
                <a:spcPct val="120000"/>
              </a:lnSpc>
              <a:spcBef>
                <a:spcPct val="20000"/>
              </a:spcBef>
              <a:defRPr b="1">
                <a:latin typeface="Arial" panose="020B0604020202020204" pitchFamily="34" charset="0"/>
                <a:ea typeface="微软雅黑" panose="020B0503020204020204" charset="-122"/>
              </a:defRPr>
            </a:lvl1pPr>
          </a:lstStyle>
          <a:p>
            <a:r>
              <a:rPr lang="en-US" altLang="zh-CN" dirty="0" smtClean="0"/>
              <a:t>4.2.6 </a:t>
            </a:r>
            <a:r>
              <a:rPr lang="en-US" altLang="zh-CN" dirty="0" err="1" smtClean="0"/>
              <a:t>struct</a:t>
            </a:r>
            <a:r>
              <a:rPr lang="zh-CN" altLang="en-US" dirty="0"/>
              <a:t>结构体</a:t>
            </a:r>
            <a:endParaRPr lang="zh-CN" altLang="zh-CN" dirty="0"/>
          </a:p>
        </p:txBody>
      </p:sp>
    </p:spTree>
    <p:extLst>
      <p:ext uri="{BB962C8B-B14F-4D97-AF65-F5344CB8AC3E}">
        <p14:creationId xmlns:p14="http://schemas.microsoft.com/office/powerpoint/2010/main" val="29722975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83568" y="1421570"/>
            <a:ext cx="2592288" cy="286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t> </a:t>
            </a:r>
            <a:r>
              <a:rPr lang="zh-CN" altLang="en-US" b="1" dirty="0" smtClean="0"/>
              <a:t>     嵌入式</a:t>
            </a:r>
            <a:r>
              <a:rPr lang="zh-CN" altLang="en-US" b="1" dirty="0"/>
              <a:t>开发中既有底层硬件的开发又涉及上层应用的开发，即涉及系统的硬件和软件，</a:t>
            </a:r>
            <a:r>
              <a:rPr lang="en-US" altLang="zh-CN" b="1" dirty="0"/>
              <a:t>C</a:t>
            </a:r>
            <a:r>
              <a:rPr lang="zh-CN" altLang="en-US" b="1" dirty="0"/>
              <a:t>语言既具有汇编语言操作底层的优势，又具有高级语言功能性强的</a:t>
            </a:r>
            <a:r>
              <a:rPr lang="zh-CN" altLang="en-US" b="1" dirty="0" smtClean="0"/>
              <a:t>特点。</a:t>
            </a:r>
            <a:endParaRPr lang="zh-CN" altLang="en-US" b="1" dirty="0"/>
          </a:p>
        </p:txBody>
      </p:sp>
      <p:sp>
        <p:nvSpPr>
          <p:cNvPr id="9" name="圆柱形 8"/>
          <p:cNvSpPr/>
          <p:nvPr/>
        </p:nvSpPr>
        <p:spPr>
          <a:xfrm>
            <a:off x="3851706" y="972765"/>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smtClean="0"/>
              <a:t>1</a:t>
            </a:r>
            <a:endParaRPr lang="zh-CN" altLang="en-US" sz="1600" b="1" dirty="0" smtClean="0"/>
          </a:p>
        </p:txBody>
      </p:sp>
      <p:sp>
        <p:nvSpPr>
          <p:cNvPr id="10" name="矩形 9"/>
          <p:cNvSpPr/>
          <p:nvPr/>
        </p:nvSpPr>
        <p:spPr>
          <a:xfrm>
            <a:off x="4355976" y="1011527"/>
            <a:ext cx="3672408" cy="369332"/>
          </a:xfrm>
          <a:prstGeom prst="rect">
            <a:avLst/>
          </a:prstGeom>
        </p:spPr>
        <p:txBody>
          <a:bodyPr wrap="square">
            <a:spAutoFit/>
          </a:bodyPr>
          <a:lstStyle/>
          <a:p>
            <a:r>
              <a:rPr lang="zh-CN" altLang="zh-CN" b="1" dirty="0"/>
              <a:t>程序总是从</a:t>
            </a:r>
            <a:r>
              <a:rPr lang="en-US" altLang="zh-CN" b="1" dirty="0"/>
              <a:t>main</a:t>
            </a:r>
            <a:r>
              <a:rPr lang="zh-CN" altLang="zh-CN" b="1" dirty="0"/>
              <a:t>函数开始执行；</a:t>
            </a:r>
          </a:p>
        </p:txBody>
      </p:sp>
      <p:sp>
        <p:nvSpPr>
          <p:cNvPr id="11" name="圆柱形 10"/>
          <p:cNvSpPr/>
          <p:nvPr/>
        </p:nvSpPr>
        <p:spPr>
          <a:xfrm>
            <a:off x="3851706" y="1563638"/>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smtClean="0"/>
              <a:t>2</a:t>
            </a:r>
            <a:endParaRPr lang="zh-CN" altLang="en-US" sz="1600" b="1" dirty="0" smtClean="0"/>
          </a:p>
        </p:txBody>
      </p:sp>
      <p:sp>
        <p:nvSpPr>
          <p:cNvPr id="12" name="圆柱形 11"/>
          <p:cNvSpPr/>
          <p:nvPr/>
        </p:nvSpPr>
        <p:spPr>
          <a:xfrm>
            <a:off x="3851706" y="2215991"/>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smtClean="0"/>
              <a:t>3</a:t>
            </a:r>
            <a:endParaRPr lang="zh-CN" altLang="en-US" sz="1600" b="1" dirty="0" smtClean="0"/>
          </a:p>
        </p:txBody>
      </p:sp>
      <p:sp>
        <p:nvSpPr>
          <p:cNvPr id="13" name="圆柱形 12"/>
          <p:cNvSpPr/>
          <p:nvPr/>
        </p:nvSpPr>
        <p:spPr>
          <a:xfrm>
            <a:off x="3851706" y="3059437"/>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smtClean="0"/>
              <a:t>4</a:t>
            </a:r>
            <a:endParaRPr lang="zh-CN" altLang="en-US" sz="1600" b="1" dirty="0" smtClean="0"/>
          </a:p>
        </p:txBody>
      </p:sp>
      <p:sp>
        <p:nvSpPr>
          <p:cNvPr id="14" name="圆柱形 13"/>
          <p:cNvSpPr/>
          <p:nvPr/>
        </p:nvSpPr>
        <p:spPr>
          <a:xfrm>
            <a:off x="3851706" y="3974889"/>
            <a:ext cx="360040" cy="446857"/>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smtClean="0"/>
              <a:t>5</a:t>
            </a:r>
            <a:endParaRPr lang="zh-CN" altLang="en-US" sz="1600" b="1" dirty="0" smtClean="0"/>
          </a:p>
        </p:txBody>
      </p:sp>
      <p:sp>
        <p:nvSpPr>
          <p:cNvPr id="15" name="矩形 14"/>
          <p:cNvSpPr/>
          <p:nvPr/>
        </p:nvSpPr>
        <p:spPr>
          <a:xfrm>
            <a:off x="4355976" y="1602400"/>
            <a:ext cx="3153618" cy="369332"/>
          </a:xfrm>
          <a:prstGeom prst="rect">
            <a:avLst/>
          </a:prstGeom>
        </p:spPr>
        <p:txBody>
          <a:bodyPr wrap="square">
            <a:spAutoFit/>
          </a:bodyPr>
          <a:lstStyle/>
          <a:p>
            <a:r>
              <a:rPr lang="zh-CN" altLang="zh-CN" b="1" dirty="0"/>
              <a:t>函数是</a:t>
            </a:r>
            <a:r>
              <a:rPr lang="en-US" altLang="zh-CN" b="1" dirty="0"/>
              <a:t>C</a:t>
            </a:r>
            <a:r>
              <a:rPr lang="zh-CN" altLang="zh-CN" b="1" dirty="0"/>
              <a:t>语言的基本结构；</a:t>
            </a:r>
          </a:p>
        </p:txBody>
      </p:sp>
      <p:sp>
        <p:nvSpPr>
          <p:cNvPr id="16" name="矩形 15"/>
          <p:cNvSpPr/>
          <p:nvPr/>
        </p:nvSpPr>
        <p:spPr>
          <a:xfrm>
            <a:off x="4355976" y="2116253"/>
            <a:ext cx="3319859" cy="646331"/>
          </a:xfrm>
          <a:prstGeom prst="rect">
            <a:avLst/>
          </a:prstGeom>
        </p:spPr>
        <p:txBody>
          <a:bodyPr wrap="square">
            <a:spAutoFit/>
          </a:bodyPr>
          <a:lstStyle/>
          <a:p>
            <a:r>
              <a:rPr lang="zh-CN" altLang="zh-CN" b="1" dirty="0"/>
              <a:t>函数由两部分组成：函数说明部分和函数体。</a:t>
            </a:r>
            <a:r>
              <a:rPr lang="en-US" altLang="zh-CN" b="1" dirty="0"/>
              <a:t>    </a:t>
            </a:r>
            <a:endParaRPr lang="zh-CN" altLang="zh-CN" b="1" dirty="0"/>
          </a:p>
        </p:txBody>
      </p:sp>
      <p:sp>
        <p:nvSpPr>
          <p:cNvPr id="17" name="矩形 16"/>
          <p:cNvSpPr/>
          <p:nvPr/>
        </p:nvSpPr>
        <p:spPr>
          <a:xfrm>
            <a:off x="4355976" y="2959699"/>
            <a:ext cx="4163193" cy="646331"/>
          </a:xfrm>
          <a:prstGeom prst="rect">
            <a:avLst/>
          </a:prstGeom>
        </p:spPr>
        <p:txBody>
          <a:bodyPr wrap="square">
            <a:spAutoFit/>
          </a:bodyPr>
          <a:lstStyle/>
          <a:p>
            <a:r>
              <a:rPr lang="zh-CN" altLang="zh-CN" b="1" dirty="0"/>
              <a:t>一个</a:t>
            </a:r>
            <a:r>
              <a:rPr lang="en-US" altLang="zh-CN" b="1" dirty="0"/>
              <a:t>C</a:t>
            </a:r>
            <a:r>
              <a:rPr lang="zh-CN" altLang="zh-CN" b="1" dirty="0"/>
              <a:t>语言程序包含若干个源程序文件（</a:t>
            </a:r>
            <a:r>
              <a:rPr lang="en-US" altLang="zh-CN" b="1" dirty="0"/>
              <a:t>.c</a:t>
            </a:r>
            <a:r>
              <a:rPr lang="zh-CN" altLang="zh-CN" b="1" dirty="0"/>
              <a:t>文件）和头文件（</a:t>
            </a:r>
            <a:r>
              <a:rPr lang="en-US" altLang="zh-CN" b="1" dirty="0"/>
              <a:t>.h</a:t>
            </a:r>
            <a:r>
              <a:rPr lang="zh-CN" altLang="zh-CN" b="1" dirty="0"/>
              <a:t>文件）。</a:t>
            </a:r>
          </a:p>
        </p:txBody>
      </p:sp>
      <p:sp>
        <p:nvSpPr>
          <p:cNvPr id="18" name="矩形 17"/>
          <p:cNvSpPr/>
          <p:nvPr/>
        </p:nvSpPr>
        <p:spPr>
          <a:xfrm>
            <a:off x="4355977" y="3795886"/>
            <a:ext cx="4163192" cy="923330"/>
          </a:xfrm>
          <a:prstGeom prst="rect">
            <a:avLst/>
          </a:prstGeom>
        </p:spPr>
        <p:txBody>
          <a:bodyPr wrap="square">
            <a:spAutoFit/>
          </a:bodyPr>
          <a:lstStyle/>
          <a:p>
            <a:r>
              <a:rPr lang="zh-CN" altLang="zh-CN" b="1" dirty="0"/>
              <a:t>采用外设功能模块化设计方法，一个外设功能模块包括一个源文件（</a:t>
            </a:r>
            <a:r>
              <a:rPr lang="en-US" altLang="zh-CN" b="1" dirty="0"/>
              <a:t>.c</a:t>
            </a:r>
            <a:r>
              <a:rPr lang="zh-CN" altLang="zh-CN" b="1" dirty="0"/>
              <a:t>文件）和一个头文件（</a:t>
            </a:r>
            <a:r>
              <a:rPr lang="en-US" altLang="zh-CN" b="1" dirty="0"/>
              <a:t>.h</a:t>
            </a:r>
            <a:r>
              <a:rPr lang="zh-CN" altLang="zh-CN" b="1" dirty="0"/>
              <a:t>文件）。</a:t>
            </a:r>
          </a:p>
        </p:txBody>
      </p:sp>
    </p:spTree>
    <p:extLst>
      <p:ext uri="{BB962C8B-B14F-4D97-AF65-F5344CB8AC3E}">
        <p14:creationId xmlns:p14="http://schemas.microsoft.com/office/powerpoint/2010/main" val="24668794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13183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81893"/>
            <a:ext cx="2488182"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4.2 </a:t>
            </a:r>
            <a:r>
              <a:rPr lang="zh-CN" altLang="en-US" sz="2400" b="1" dirty="0">
                <a:solidFill>
                  <a:schemeClr val="bg1"/>
                </a:solidFill>
                <a:latin typeface="微软雅黑" pitchFamily="34" charset="-122"/>
                <a:ea typeface="微软雅黑" pitchFamily="34" charset="-122"/>
              </a:rPr>
              <a:t>嵌入式</a:t>
            </a:r>
            <a:r>
              <a:rPr lang="en-US" altLang="zh-CN" sz="2400" b="1" dirty="0">
                <a:solidFill>
                  <a:schemeClr val="bg1"/>
                </a:solidFill>
                <a:latin typeface="微软雅黑" pitchFamily="34" charset="-122"/>
                <a:ea typeface="微软雅黑" pitchFamily="34" charset="-122"/>
              </a:rPr>
              <a:t>C</a:t>
            </a:r>
            <a:r>
              <a:rPr lang="zh-CN" altLang="en-US" sz="2400" b="1" dirty="0">
                <a:solidFill>
                  <a:schemeClr val="bg1"/>
                </a:solidFill>
                <a:latin typeface="微软雅黑" pitchFamily="34" charset="-122"/>
                <a:ea typeface="微软雅黑" pitchFamily="34" charset="-122"/>
              </a:rPr>
              <a:t>语言</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911175431"/>
              </p:ext>
            </p:extLst>
          </p:nvPr>
        </p:nvGraphicFramePr>
        <p:xfrm>
          <a:off x="2843808" y="914514"/>
          <a:ext cx="5969790" cy="3075806"/>
        </p:xfrm>
        <a:graphic>
          <a:graphicData uri="http://schemas.openxmlformats.org/presentationml/2006/ole">
            <mc:AlternateContent xmlns:mc="http://schemas.openxmlformats.org/markup-compatibility/2006">
              <mc:Choice xmlns:v="urn:schemas-microsoft-com:vml" Requires="v">
                <p:oleObj spid="_x0000_s52243" name="Visio" r:id="rId3" imgW="3607247" imgH="1866672" progId="Visio.Drawing.11">
                  <p:embed/>
                </p:oleObj>
              </mc:Choice>
              <mc:Fallback>
                <p:oleObj name="Visio" r:id="rId3" imgW="3607247" imgH="186667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914514"/>
                        <a:ext cx="5969790" cy="3075806"/>
                      </a:xfrm>
                      <a:prstGeom prst="rect">
                        <a:avLst/>
                      </a:prstGeom>
                      <a:noFill/>
                    </p:spPr>
                  </p:pic>
                </p:oleObj>
              </mc:Fallback>
            </mc:AlternateContent>
          </a:graphicData>
        </a:graphic>
      </p:graphicFrame>
      <p:sp>
        <p:nvSpPr>
          <p:cNvPr id="6" name="矩形 5"/>
          <p:cNvSpPr/>
          <p:nvPr/>
        </p:nvSpPr>
        <p:spPr>
          <a:xfrm>
            <a:off x="636343" y="1635646"/>
            <a:ext cx="1859153"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嵌入式</a:t>
            </a:r>
            <a:r>
              <a:rPr lang="zh-CN" altLang="en-US" b="1" dirty="0"/>
              <a:t>系统开发多采用模块化、层次化的设计思想，系统层次架构清晰，便于协同开发。</a:t>
            </a:r>
          </a:p>
        </p:txBody>
      </p:sp>
      <p:sp>
        <p:nvSpPr>
          <p:cNvPr id="7" name="矩形 6"/>
          <p:cNvSpPr/>
          <p:nvPr/>
        </p:nvSpPr>
        <p:spPr>
          <a:xfrm>
            <a:off x="4427984" y="4227934"/>
            <a:ext cx="2723823" cy="369332"/>
          </a:xfrm>
          <a:prstGeom prst="rect">
            <a:avLst/>
          </a:prstGeom>
        </p:spPr>
        <p:txBody>
          <a:bodyPr wrap="none">
            <a:spAutoFit/>
          </a:bodyPr>
          <a:lstStyle/>
          <a:p>
            <a:r>
              <a:rPr lang="zh-CN" altLang="en-US" b="1" dirty="0"/>
              <a:t>嵌入式系统软件结构框图</a:t>
            </a:r>
          </a:p>
        </p:txBody>
      </p:sp>
    </p:spTree>
    <p:extLst>
      <p:ext uri="{BB962C8B-B14F-4D97-AF65-F5344CB8AC3E}">
        <p14:creationId xmlns:p14="http://schemas.microsoft.com/office/powerpoint/2010/main" val="6680111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7" name="矩形 6"/>
          <p:cNvSpPr/>
          <p:nvPr/>
        </p:nvSpPr>
        <p:spPr>
          <a:xfrm>
            <a:off x="395536" y="1545734"/>
            <a:ext cx="2304256" cy="757195"/>
          </a:xfrm>
          <a:prstGeom prst="rect">
            <a:avLst/>
          </a:prstGeom>
          <a:ln w="19050">
            <a:solidFill>
              <a:schemeClr val="accent4">
                <a:lumMod val="60000"/>
                <a:lumOff val="40000"/>
              </a:schemeClr>
            </a:solidFill>
          </a:ln>
        </p:spPr>
        <p:txBody>
          <a:bodyPr wrap="square">
            <a:spAutoFit/>
          </a:bodyPr>
          <a:lstStyle/>
          <a:p>
            <a:pPr>
              <a:lnSpc>
                <a:spcPct val="125000"/>
              </a:lnSpc>
            </a:pPr>
            <a:r>
              <a:rPr lang="en-GB" altLang="zh-CN" b="1" dirty="0" smtClean="0"/>
              <a:t>     </a:t>
            </a:r>
            <a:r>
              <a:rPr lang="zh-CN" altLang="zh-CN" b="1" dirty="0" smtClean="0"/>
              <a:t>数据</a:t>
            </a:r>
            <a:r>
              <a:rPr lang="zh-CN" altLang="zh-CN" b="1" dirty="0"/>
              <a:t>是嵌入式</a:t>
            </a:r>
            <a:r>
              <a:rPr lang="en-US" altLang="zh-CN" b="1" dirty="0"/>
              <a:t>C</a:t>
            </a:r>
            <a:r>
              <a:rPr lang="zh-CN" altLang="zh-CN" b="1" dirty="0"/>
              <a:t>语言的基本操作</a:t>
            </a:r>
            <a:r>
              <a:rPr lang="zh-CN" altLang="zh-CN" b="1" dirty="0" smtClean="0"/>
              <a:t>对象</a:t>
            </a:r>
            <a:r>
              <a:rPr lang="zh-CN" altLang="en-US" b="1" dirty="0" smtClean="0"/>
              <a:t>。</a:t>
            </a:r>
            <a:endParaRPr lang="zh-CN" altLang="zh-CN" b="1" dirty="0">
              <a:latin typeface="华文楷体" pitchFamily="2" charset="-122"/>
              <a:ea typeface="华文楷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58849295"/>
              </p:ext>
            </p:extLst>
          </p:nvPr>
        </p:nvGraphicFramePr>
        <p:xfrm>
          <a:off x="3131840" y="860695"/>
          <a:ext cx="5754434" cy="3464207"/>
        </p:xfrm>
        <a:graphic>
          <a:graphicData uri="http://schemas.openxmlformats.org/presentationml/2006/ole">
            <mc:AlternateContent xmlns:mc="http://schemas.openxmlformats.org/markup-compatibility/2006">
              <mc:Choice xmlns:v="urn:schemas-microsoft-com:vml" Requires="v">
                <p:oleObj spid="_x0000_s47322" name="Visio" r:id="rId3" imgW="2700422" imgH="1612364" progId="Visio.Drawing.11">
                  <p:embed/>
                </p:oleObj>
              </mc:Choice>
              <mc:Fallback>
                <p:oleObj name="Visio" r:id="rId3" imgW="2700422" imgH="161236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860695"/>
                        <a:ext cx="5754434" cy="3464207"/>
                      </a:xfrm>
                      <a:prstGeom prst="rect">
                        <a:avLst/>
                      </a:prstGeom>
                      <a:noFill/>
                    </p:spPr>
                  </p:pic>
                </p:oleObj>
              </mc:Fallback>
            </mc:AlternateContent>
          </a:graphicData>
        </a:graphic>
      </p:graphicFrame>
      <p:sp>
        <p:nvSpPr>
          <p:cNvPr id="9" name="矩形 8"/>
          <p:cNvSpPr/>
          <p:nvPr/>
        </p:nvSpPr>
        <p:spPr>
          <a:xfrm>
            <a:off x="1115616" y="2592799"/>
            <a:ext cx="2448272" cy="1131079"/>
          </a:xfrm>
          <a:prstGeom prst="rect">
            <a:avLst/>
          </a:prstGeom>
          <a:ln w="19050">
            <a:solidFill>
              <a:schemeClr val="accent5">
                <a:lumMod val="75000"/>
              </a:schemeClr>
            </a:solidFill>
          </a:ln>
        </p:spPr>
        <p:txBody>
          <a:bodyPr wrap="square">
            <a:spAutoFit/>
          </a:bodyPr>
          <a:lstStyle/>
          <a:p>
            <a:pPr lvl="0">
              <a:lnSpc>
                <a:spcPct val="125000"/>
              </a:lnSpc>
            </a:pPr>
            <a:r>
              <a:rPr lang="zh-CN" altLang="en-US" b="1" dirty="0" smtClean="0"/>
              <a:t>     数据类型</a:t>
            </a:r>
            <a:r>
              <a:rPr lang="zh-CN" altLang="en-US" b="1" dirty="0"/>
              <a:t>是指数据在计算机内存中的存储方式。</a:t>
            </a:r>
            <a:endParaRPr lang="zh-CN" altLang="zh-CN" b="1" dirty="0"/>
          </a:p>
        </p:txBody>
      </p:sp>
      <p:sp>
        <p:nvSpPr>
          <p:cNvPr id="10" name="矩形 9"/>
          <p:cNvSpPr/>
          <p:nvPr/>
        </p:nvSpPr>
        <p:spPr>
          <a:xfrm>
            <a:off x="4932040" y="4430041"/>
            <a:ext cx="2616422" cy="369332"/>
          </a:xfrm>
          <a:prstGeom prst="rect">
            <a:avLst/>
          </a:prstGeom>
        </p:spPr>
        <p:txBody>
          <a:bodyPr wrap="none">
            <a:spAutoFit/>
          </a:bodyPr>
          <a:lstStyle/>
          <a:p>
            <a:r>
              <a:rPr lang="zh-CN" altLang="zh-CN" b="1" dirty="0">
                <a:solidFill>
                  <a:srgbClr val="CD7371"/>
                </a:solidFill>
                <a:latin typeface="楷体" pitchFamily="49" charset="-122"/>
                <a:ea typeface="楷体" pitchFamily="49" charset="-122"/>
              </a:rPr>
              <a:t>嵌入式</a:t>
            </a:r>
            <a:r>
              <a:rPr lang="en-US" altLang="zh-CN" b="1" dirty="0">
                <a:solidFill>
                  <a:srgbClr val="CD7371"/>
                </a:solidFill>
                <a:latin typeface="楷体" pitchFamily="49" charset="-122"/>
                <a:ea typeface="楷体" pitchFamily="49" charset="-122"/>
              </a:rPr>
              <a:t>C</a:t>
            </a:r>
            <a:r>
              <a:rPr lang="zh-CN" altLang="zh-CN" b="1" dirty="0">
                <a:solidFill>
                  <a:srgbClr val="CD7371"/>
                </a:solidFill>
                <a:latin typeface="楷体" pitchFamily="49" charset="-122"/>
                <a:ea typeface="楷体" pitchFamily="49" charset="-122"/>
              </a:rPr>
              <a:t>语言的数据类型</a:t>
            </a:r>
            <a:endParaRPr lang="zh-CN" altLang="en-US" b="1" dirty="0">
              <a:solidFill>
                <a:srgbClr val="CD7371"/>
              </a:solidFill>
              <a:latin typeface="楷体" pitchFamily="49" charset="-122"/>
              <a:ea typeface="楷体" pitchFamily="49" charset="-122"/>
            </a:endParaRPr>
          </a:p>
        </p:txBody>
      </p:sp>
    </p:spTree>
    <p:extLst>
      <p:ext uri="{BB962C8B-B14F-4D97-AF65-F5344CB8AC3E}">
        <p14:creationId xmlns:p14="http://schemas.microsoft.com/office/powerpoint/2010/main" val="30236922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755576" y="915566"/>
            <a:ext cx="7920880" cy="784830"/>
          </a:xfrm>
          <a:prstGeom prst="rect">
            <a:avLst/>
          </a:prstGeom>
          <a:ln w="19050">
            <a:noFill/>
          </a:ln>
        </p:spPr>
        <p:txBody>
          <a:bodyPr wrap="square">
            <a:spAutoFit/>
          </a:bodyPr>
          <a:lstStyle/>
          <a:p>
            <a:pPr lvl="0">
              <a:lnSpc>
                <a:spcPct val="125000"/>
              </a:lnSpc>
            </a:pPr>
            <a:r>
              <a:rPr lang="zh-CN" altLang="en-US" b="1" dirty="0" smtClean="0">
                <a:solidFill>
                  <a:prstClr val="black"/>
                </a:solidFill>
              </a:rPr>
              <a:t>      不同</a:t>
            </a:r>
            <a:r>
              <a:rPr lang="en-US" altLang="zh-CN" b="1" dirty="0">
                <a:solidFill>
                  <a:prstClr val="black"/>
                </a:solidFill>
              </a:rPr>
              <a:t>CPU</a:t>
            </a:r>
            <a:r>
              <a:rPr lang="zh-CN" altLang="en-US" b="1" dirty="0">
                <a:solidFill>
                  <a:prstClr val="black"/>
                </a:solidFill>
              </a:rPr>
              <a:t>所定义的数据类型的长度不一致，</a:t>
            </a:r>
            <a:r>
              <a:rPr lang="en-US" altLang="zh-CN" b="1" dirty="0">
                <a:solidFill>
                  <a:prstClr val="black"/>
                </a:solidFill>
              </a:rPr>
              <a:t>ST</a:t>
            </a:r>
            <a:r>
              <a:rPr lang="zh-CN" altLang="en-US" b="1" dirty="0">
                <a:solidFill>
                  <a:prstClr val="black"/>
                </a:solidFill>
              </a:rPr>
              <a:t>公司为开发人员提供了基于</a:t>
            </a:r>
            <a:r>
              <a:rPr lang="en-US" altLang="zh-CN" b="1" dirty="0">
                <a:solidFill>
                  <a:prstClr val="black"/>
                </a:solidFill>
              </a:rPr>
              <a:t>C</a:t>
            </a:r>
            <a:r>
              <a:rPr lang="zh-CN" altLang="en-US" b="1" dirty="0">
                <a:solidFill>
                  <a:prstClr val="black"/>
                </a:solidFill>
              </a:rPr>
              <a:t>语言的标准外设库</a:t>
            </a:r>
            <a:r>
              <a:rPr lang="zh-CN" altLang="en-US" b="1" dirty="0" smtClean="0">
                <a:solidFill>
                  <a:prstClr val="black"/>
                </a:solidFill>
              </a:rPr>
              <a:t>，</a:t>
            </a:r>
            <a:r>
              <a:rPr lang="zh-CN" altLang="en-US" b="1" dirty="0" smtClean="0">
                <a:solidFill>
                  <a:srgbClr val="CD7371"/>
                </a:solidFill>
              </a:rPr>
              <a:t>标准外设库</a:t>
            </a:r>
            <a:r>
              <a:rPr lang="zh-CN" altLang="en-US" b="1" dirty="0" smtClean="0"/>
              <a:t>中</a:t>
            </a:r>
            <a:r>
              <a:rPr lang="zh-CN" altLang="en-US" b="1" dirty="0" smtClean="0">
                <a:solidFill>
                  <a:prstClr val="black"/>
                </a:solidFill>
              </a:rPr>
              <a:t>定义</a:t>
            </a:r>
            <a:r>
              <a:rPr lang="zh-CN" altLang="en-US" b="1" dirty="0">
                <a:solidFill>
                  <a:prstClr val="black"/>
                </a:solidFill>
              </a:rPr>
              <a:t>的数据类型的长度</a:t>
            </a:r>
            <a:r>
              <a:rPr lang="zh-CN" altLang="en-US" b="1" dirty="0" smtClean="0">
                <a:solidFill>
                  <a:prstClr val="black"/>
                </a:solidFill>
              </a:rPr>
              <a:t>如下表所示。</a:t>
            </a:r>
            <a:endParaRPr lang="zh-CN" altLang="zh-CN" b="1" dirty="0"/>
          </a:p>
        </p:txBody>
      </p:sp>
      <p:graphicFrame>
        <p:nvGraphicFramePr>
          <p:cNvPr id="6" name="表格 5"/>
          <p:cNvGraphicFramePr>
            <a:graphicFrameLocks noGrp="1"/>
          </p:cNvGraphicFramePr>
          <p:nvPr>
            <p:extLst>
              <p:ext uri="{D42A27DB-BD31-4B8C-83A1-F6EECF244321}">
                <p14:modId xmlns:p14="http://schemas.microsoft.com/office/powerpoint/2010/main" val="1433506730"/>
              </p:ext>
            </p:extLst>
          </p:nvPr>
        </p:nvGraphicFramePr>
        <p:xfrm>
          <a:off x="827584" y="1779662"/>
          <a:ext cx="7776864" cy="2952324"/>
        </p:xfrm>
        <a:graphic>
          <a:graphicData uri="http://schemas.openxmlformats.org/drawingml/2006/table">
            <a:tbl>
              <a:tblPr firstRow="1" firstCol="1" bandRow="1">
                <a:tableStyleId>{22838BEF-8BB2-4498-84A7-C5851F593DF1}</a:tableStyleId>
              </a:tblPr>
              <a:tblGrid>
                <a:gridCol w="1987261"/>
                <a:gridCol w="2045187"/>
                <a:gridCol w="3744416"/>
              </a:tblGrid>
              <a:tr h="328036">
                <a:tc>
                  <a:txBody>
                    <a:bodyPr/>
                    <a:lstStyle/>
                    <a:p>
                      <a:pPr algn="ctr">
                        <a:spcAft>
                          <a:spcPts val="0"/>
                        </a:spcAft>
                      </a:pPr>
                      <a:r>
                        <a:rPr lang="en-US" sz="1400" b="1" kern="100" dirty="0">
                          <a:effectLst/>
                          <a:latin typeface="Times New Roman" pitchFamily="18" charset="0"/>
                          <a:cs typeface="Times New Roman" pitchFamily="18" charset="0"/>
                        </a:rPr>
                        <a:t>C</a:t>
                      </a:r>
                      <a:r>
                        <a:rPr lang="zh-CN" sz="1400" b="1" kern="100" dirty="0">
                          <a:effectLst/>
                          <a:latin typeface="Times New Roman" pitchFamily="18" charset="0"/>
                          <a:cs typeface="Times New Roman" pitchFamily="18" charset="0"/>
                        </a:rPr>
                        <a:t>语言的数据类型</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STM32</a:t>
                      </a:r>
                      <a:r>
                        <a:rPr lang="zh-CN" sz="1400" b="1" kern="100" dirty="0">
                          <a:effectLst/>
                          <a:latin typeface="Times New Roman" pitchFamily="18" charset="0"/>
                          <a:cs typeface="Times New Roman" pitchFamily="18" charset="0"/>
                        </a:rPr>
                        <a:t>对应的数据类型</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zh-CN" sz="1400" b="1" kern="100">
                          <a:effectLst/>
                          <a:latin typeface="Times New Roman" pitchFamily="18" charset="0"/>
                          <a:cs typeface="Times New Roman" pitchFamily="18" charset="0"/>
                        </a:rPr>
                        <a:t>说明</a:t>
                      </a:r>
                      <a:endParaRPr lang="zh-CN" sz="1800" b="1" kern="10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dirty="0">
                          <a:effectLst/>
                          <a:latin typeface="Times New Roman" pitchFamily="18" charset="0"/>
                          <a:cs typeface="Times New Roman" pitchFamily="18" charset="0"/>
                        </a:rPr>
                        <a:t>unsigned char</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uint8_t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8</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255</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dirty="0">
                          <a:effectLst/>
                          <a:latin typeface="Times New Roman" pitchFamily="18" charset="0"/>
                          <a:cs typeface="Times New Roman" pitchFamily="18" charset="0"/>
                        </a:rPr>
                        <a:t>unsigned short </a:t>
                      </a:r>
                      <a:r>
                        <a:rPr lang="en-US" sz="1400" b="1" kern="100" dirty="0" err="1">
                          <a:effectLst/>
                          <a:latin typeface="Times New Roman" pitchFamily="18" charset="0"/>
                          <a:cs typeface="Times New Roman" pitchFamily="18" charset="0"/>
                        </a:rPr>
                        <a:t>int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uint16_t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16</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65535</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dirty="0">
                          <a:effectLst/>
                          <a:latin typeface="Times New Roman" pitchFamily="18" charset="0"/>
                          <a:cs typeface="Times New Roman" pitchFamily="18" charset="0"/>
                        </a:rPr>
                        <a:t>unsigned </a:t>
                      </a:r>
                      <a:r>
                        <a:rPr lang="en-US" sz="1400" b="1" kern="100" dirty="0" err="1">
                          <a:effectLst/>
                          <a:latin typeface="Times New Roman" pitchFamily="18" charset="0"/>
                          <a:cs typeface="Times New Roman" pitchFamily="18" charset="0"/>
                        </a:rPr>
                        <a:t>int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uint32_t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32</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a:t>
                      </a:r>
                      <a:r>
                        <a:rPr lang="en-US" sz="1400" b="1" kern="100" baseline="30000">
                          <a:effectLst/>
                          <a:latin typeface="Times New Roman" pitchFamily="18" charset="0"/>
                          <a:cs typeface="Times New Roman" pitchFamily="18" charset="0"/>
                        </a:rPr>
                        <a:t>32</a:t>
                      </a:r>
                      <a:r>
                        <a:rPr lang="en-US" sz="1400" b="1" kern="100">
                          <a:effectLst/>
                          <a:latin typeface="Times New Roman" pitchFamily="18" charset="0"/>
                          <a:cs typeface="Times New Roman" pitchFamily="18" charset="0"/>
                        </a:rPr>
                        <a:t>-1</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a:effectLst/>
                          <a:latin typeface="Times New Roman" pitchFamily="18" charset="0"/>
                          <a:cs typeface="Times New Roman" pitchFamily="18" charset="0"/>
                        </a:rPr>
                        <a:t>unsigned long long</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uint64_t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cs typeface="Times New Roman" pitchFamily="18" charset="0"/>
                        </a:rPr>
                        <a:t>64</a:t>
                      </a:r>
                      <a:r>
                        <a:rPr lang="zh-CN" sz="1400" b="1" kern="100">
                          <a:effectLst/>
                          <a:latin typeface="Times New Roman" pitchFamily="18" charset="0"/>
                          <a:cs typeface="Times New Roman" pitchFamily="18" charset="0"/>
                        </a:rPr>
                        <a:t>位无符号数据（</a:t>
                      </a:r>
                      <a:r>
                        <a:rPr lang="en-US" sz="1400" b="1" kern="100">
                          <a:effectLst/>
                          <a:latin typeface="Times New Roman" pitchFamily="18" charset="0"/>
                          <a:cs typeface="Times New Roman" pitchFamily="18" charset="0"/>
                        </a:rPr>
                        <a:t>0 ~ 2</a:t>
                      </a:r>
                      <a:r>
                        <a:rPr lang="en-US" sz="1400" b="1" kern="100" baseline="30000">
                          <a:effectLst/>
                          <a:latin typeface="Times New Roman" pitchFamily="18" charset="0"/>
                          <a:cs typeface="Times New Roman" pitchFamily="18" charset="0"/>
                        </a:rPr>
                        <a:t>64</a:t>
                      </a:r>
                      <a:r>
                        <a:rPr lang="en-US" sz="1400" b="1" kern="100">
                          <a:effectLst/>
                          <a:latin typeface="Times New Roman" pitchFamily="18" charset="0"/>
                          <a:cs typeface="Times New Roman" pitchFamily="18" charset="0"/>
                        </a:rPr>
                        <a:t>-1</a:t>
                      </a:r>
                      <a:r>
                        <a:rPr lang="zh-CN" sz="1400" b="1" kern="100">
                          <a:effectLst/>
                          <a:latin typeface="Times New Roman" pitchFamily="18" charset="0"/>
                          <a:cs typeface="Times New Roman" pitchFamily="18" charset="0"/>
                        </a:rPr>
                        <a:t>）</a:t>
                      </a:r>
                      <a:endParaRPr lang="zh-CN" sz="1800" b="1" kern="10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a:effectLst/>
                          <a:latin typeface="Times New Roman" pitchFamily="18" charset="0"/>
                          <a:cs typeface="Times New Roman" pitchFamily="18" charset="0"/>
                        </a:rPr>
                        <a:t>signed char </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int8_t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8</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-128 ~ +127</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a:effectLst/>
                          <a:latin typeface="Times New Roman" pitchFamily="18" charset="0"/>
                          <a:cs typeface="Times New Roman" pitchFamily="18" charset="0"/>
                        </a:rPr>
                        <a:t>signed short int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int16_t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16</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-32768 ~ +32767</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a:effectLst/>
                          <a:latin typeface="Times New Roman" pitchFamily="18" charset="0"/>
                          <a:cs typeface="Times New Roman" pitchFamily="18" charset="0"/>
                        </a:rPr>
                        <a:t>signed int </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cs typeface="Times New Roman" pitchFamily="18" charset="0"/>
                        </a:rPr>
                        <a:t>int32_t</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32</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-2</a:t>
                      </a:r>
                      <a:r>
                        <a:rPr lang="en-US" sz="1400" b="1" kern="100" baseline="30000" dirty="0">
                          <a:effectLst/>
                          <a:latin typeface="Times New Roman" pitchFamily="18" charset="0"/>
                          <a:cs typeface="Times New Roman" pitchFamily="18" charset="0"/>
                        </a:rPr>
                        <a:t>31</a:t>
                      </a:r>
                      <a:r>
                        <a:rPr lang="en-US" sz="1400" b="1" kern="100" dirty="0">
                          <a:effectLst/>
                          <a:latin typeface="Times New Roman" pitchFamily="18" charset="0"/>
                          <a:cs typeface="Times New Roman" pitchFamily="18" charset="0"/>
                        </a:rPr>
                        <a:t> ~ 2</a:t>
                      </a:r>
                      <a:r>
                        <a:rPr lang="en-US" sz="1400" b="1" kern="100" baseline="30000" dirty="0">
                          <a:effectLst/>
                          <a:latin typeface="Times New Roman" pitchFamily="18" charset="0"/>
                          <a:cs typeface="Times New Roman" pitchFamily="18" charset="0"/>
                        </a:rPr>
                        <a:t>31</a:t>
                      </a:r>
                      <a:r>
                        <a:rPr lang="en-US" sz="1400" b="1" kern="100" dirty="0">
                          <a:effectLst/>
                          <a:latin typeface="Times New Roman" pitchFamily="18" charset="0"/>
                          <a:cs typeface="Times New Roman" pitchFamily="18" charset="0"/>
                        </a:rPr>
                        <a:t>-1</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tr>
              <a:tr h="328036">
                <a:tc>
                  <a:txBody>
                    <a:bodyPr/>
                    <a:lstStyle/>
                    <a:p>
                      <a:pPr algn="just">
                        <a:spcAft>
                          <a:spcPts val="0"/>
                        </a:spcAft>
                      </a:pPr>
                      <a:r>
                        <a:rPr lang="en-US" sz="1400" b="1" kern="100">
                          <a:effectLst/>
                          <a:latin typeface="Times New Roman" pitchFamily="18" charset="0"/>
                          <a:cs typeface="Times New Roman" pitchFamily="18" charset="0"/>
                        </a:rPr>
                        <a:t>signed long long</a:t>
                      </a:r>
                      <a:endParaRPr lang="zh-CN" sz="1800" b="1"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cs typeface="Times New Roman" pitchFamily="18" charset="0"/>
                        </a:rPr>
                        <a:t>int64_t</a:t>
                      </a:r>
                      <a:endParaRPr lang="zh-CN" sz="1800" b="1" kern="100" dirty="0">
                        <a:effectLst/>
                        <a:latin typeface="Times New Roman" pitchFamily="18" charset="0"/>
                        <a:ea typeface="宋体"/>
                        <a:cs typeface="Times New Roman" pitchFamily="18" charset="0"/>
                      </a:endParaRPr>
                    </a:p>
                  </a:txBody>
                  <a:tcPr marL="68580" marR="68580" marT="0" marB="0" anchor="ctr"/>
                </a:tc>
                <a:tc>
                  <a:txBody>
                    <a:bodyPr/>
                    <a:lstStyle/>
                    <a:p>
                      <a:pPr algn="just">
                        <a:spcAft>
                          <a:spcPts val="0"/>
                        </a:spcAft>
                      </a:pPr>
                      <a:r>
                        <a:rPr lang="en-US" sz="1400" b="1" kern="100" dirty="0">
                          <a:effectLst/>
                          <a:latin typeface="Times New Roman" pitchFamily="18" charset="0"/>
                          <a:cs typeface="Times New Roman" pitchFamily="18" charset="0"/>
                        </a:rPr>
                        <a:t>64</a:t>
                      </a:r>
                      <a:r>
                        <a:rPr lang="zh-CN" sz="1400" b="1" kern="100" dirty="0">
                          <a:effectLst/>
                          <a:latin typeface="Times New Roman" pitchFamily="18" charset="0"/>
                          <a:cs typeface="Times New Roman" pitchFamily="18" charset="0"/>
                        </a:rPr>
                        <a:t>位有符号数据（</a:t>
                      </a:r>
                      <a:r>
                        <a:rPr lang="en-US" sz="1400" b="1" kern="100" dirty="0">
                          <a:effectLst/>
                          <a:latin typeface="Times New Roman" pitchFamily="18" charset="0"/>
                          <a:cs typeface="Times New Roman" pitchFamily="18" charset="0"/>
                        </a:rPr>
                        <a:t>-2</a:t>
                      </a:r>
                      <a:r>
                        <a:rPr lang="en-US" sz="1400" b="1" kern="100" baseline="30000" dirty="0">
                          <a:effectLst/>
                          <a:latin typeface="Times New Roman" pitchFamily="18" charset="0"/>
                          <a:cs typeface="Times New Roman" pitchFamily="18" charset="0"/>
                        </a:rPr>
                        <a:t>63</a:t>
                      </a:r>
                      <a:r>
                        <a:rPr lang="en-US" sz="1400" b="1" kern="100" dirty="0">
                          <a:effectLst/>
                          <a:latin typeface="Times New Roman" pitchFamily="18" charset="0"/>
                          <a:cs typeface="Times New Roman" pitchFamily="18" charset="0"/>
                        </a:rPr>
                        <a:t> ~ 2</a:t>
                      </a:r>
                      <a:r>
                        <a:rPr lang="en-US" sz="1400" b="1" kern="100" baseline="30000" dirty="0">
                          <a:effectLst/>
                          <a:latin typeface="Times New Roman" pitchFamily="18" charset="0"/>
                          <a:cs typeface="Times New Roman" pitchFamily="18" charset="0"/>
                        </a:rPr>
                        <a:t>63</a:t>
                      </a:r>
                      <a:r>
                        <a:rPr lang="en-US" sz="1400" b="1" kern="100" dirty="0">
                          <a:effectLst/>
                          <a:latin typeface="Times New Roman" pitchFamily="18" charset="0"/>
                          <a:cs typeface="Times New Roman" pitchFamily="18" charset="0"/>
                        </a:rPr>
                        <a:t>-1</a:t>
                      </a:r>
                      <a:r>
                        <a:rPr lang="zh-CN" sz="1400" b="1" kern="100" dirty="0">
                          <a:effectLst/>
                          <a:latin typeface="Times New Roman" pitchFamily="18" charset="0"/>
                          <a:cs typeface="Times New Roman" pitchFamily="18" charset="0"/>
                        </a:rPr>
                        <a:t>）</a:t>
                      </a:r>
                      <a:endParaRPr lang="zh-CN" sz="1800" b="1" kern="100" dirty="0">
                        <a:effectLst/>
                        <a:latin typeface="Times New Roman" pitchFamily="18" charset="0"/>
                        <a:ea typeface="宋体"/>
                        <a:cs typeface="Times New Roman" pitchFamily="18" charset="0"/>
                      </a:endParaRPr>
                    </a:p>
                  </a:txBody>
                  <a:tcPr marL="68580" marR="68580" marT="0" marB="0" anchor="ctr"/>
                </a:tc>
              </a:tr>
            </a:tbl>
          </a:graphicData>
        </a:graphic>
      </p:graphicFrame>
    </p:spTree>
    <p:extLst>
      <p:ext uri="{BB962C8B-B14F-4D97-AF65-F5344CB8AC3E}">
        <p14:creationId xmlns:p14="http://schemas.microsoft.com/office/powerpoint/2010/main" val="33629610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571" y="3352800"/>
            <a:ext cx="458152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十角星 17"/>
          <p:cNvSpPr/>
          <p:nvPr/>
        </p:nvSpPr>
        <p:spPr>
          <a:xfrm>
            <a:off x="5259288" y="3312027"/>
            <a:ext cx="3600400" cy="1131931"/>
          </a:xfrm>
          <a:prstGeom prst="star1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600" b="1" dirty="0" smtClean="0"/>
          </a:p>
        </p:txBody>
      </p:sp>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414617" y="970876"/>
            <a:ext cx="4085375" cy="1477328"/>
          </a:xfrm>
          <a:prstGeom prst="rect">
            <a:avLst/>
          </a:prstGeom>
          <a:ln w="19050">
            <a:noFill/>
          </a:ln>
        </p:spPr>
        <p:txBody>
          <a:bodyPr wrap="square">
            <a:spAutoFit/>
          </a:bodyPr>
          <a:lstStyle/>
          <a:p>
            <a:pPr lvl="0">
              <a:lnSpc>
                <a:spcPct val="125000"/>
              </a:lnSpc>
            </a:pPr>
            <a:r>
              <a:rPr lang="en-US" altLang="zh-CN" b="1" dirty="0" smtClean="0">
                <a:solidFill>
                  <a:prstClr val="black"/>
                </a:solidFill>
              </a:rPr>
              <a:t>      v3.5.0</a:t>
            </a:r>
            <a:r>
              <a:rPr lang="zh-CN" altLang="en-US" b="1" dirty="0">
                <a:solidFill>
                  <a:prstClr val="black"/>
                </a:solidFill>
              </a:rPr>
              <a:t>版本已不再使</a:t>
            </a:r>
            <a:r>
              <a:rPr lang="zh-CN" altLang="en-US" b="1" dirty="0" smtClean="0">
                <a:solidFill>
                  <a:prstClr val="black"/>
                </a:solidFill>
              </a:rPr>
              <a:t>用旧</a:t>
            </a:r>
            <a:r>
              <a:rPr lang="zh-CN" altLang="en-US" b="1" dirty="0">
                <a:solidFill>
                  <a:prstClr val="black"/>
                </a:solidFill>
              </a:rPr>
              <a:t>的</a:t>
            </a:r>
            <a:r>
              <a:rPr lang="zh-CN" altLang="en-US" b="1" dirty="0" smtClean="0">
                <a:solidFill>
                  <a:prstClr val="black"/>
                </a:solidFill>
              </a:rPr>
              <a:t>数据类型，</a:t>
            </a:r>
            <a:r>
              <a:rPr lang="zh-CN" altLang="en-US" b="1" dirty="0">
                <a:solidFill>
                  <a:prstClr val="black"/>
                </a:solidFill>
              </a:rPr>
              <a:t>为了</a:t>
            </a:r>
            <a:r>
              <a:rPr lang="zh-CN" altLang="en-US" b="1" dirty="0">
                <a:solidFill>
                  <a:srgbClr val="CD7371"/>
                </a:solidFill>
              </a:rPr>
              <a:t>兼容</a:t>
            </a:r>
            <a:r>
              <a:rPr lang="zh-CN" altLang="en-US" b="1" dirty="0">
                <a:solidFill>
                  <a:prstClr val="black"/>
                </a:solidFill>
              </a:rPr>
              <a:t>以前</a:t>
            </a:r>
            <a:r>
              <a:rPr lang="zh-CN" altLang="en-US" b="1" dirty="0" smtClean="0">
                <a:solidFill>
                  <a:prstClr val="black"/>
                </a:solidFill>
              </a:rPr>
              <a:t>的版本，</a:t>
            </a:r>
            <a:r>
              <a:rPr lang="en-US" altLang="zh-CN" b="1" dirty="0" smtClean="0">
                <a:solidFill>
                  <a:prstClr val="black"/>
                </a:solidFill>
              </a:rPr>
              <a:t>stm32f10x.h</a:t>
            </a:r>
            <a:r>
              <a:rPr lang="zh-CN" altLang="en-US" b="1" dirty="0">
                <a:solidFill>
                  <a:prstClr val="black"/>
                </a:solidFill>
              </a:rPr>
              <a:t>头文件还对标准外设库之前版本所使用的数据类型进行了</a:t>
            </a:r>
            <a:r>
              <a:rPr lang="zh-CN" altLang="en-US" b="1" dirty="0" smtClean="0">
                <a:solidFill>
                  <a:prstClr val="black"/>
                </a:solidFill>
              </a:rPr>
              <a:t>说明。</a:t>
            </a:r>
            <a:endParaRPr lang="zh-CN" altLang="zh-CN" b="1" dirty="0"/>
          </a:p>
        </p:txBody>
      </p:sp>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571750"/>
            <a:ext cx="3192812" cy="720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012054" y="699542"/>
            <a:ext cx="3470786" cy="784830"/>
          </a:xfrm>
          <a:prstGeom prst="rect">
            <a:avLst/>
          </a:prstGeom>
        </p:spPr>
        <p:txBody>
          <a:bodyPr wrap="square">
            <a:spAutoFit/>
          </a:bodyPr>
          <a:lstStyle/>
          <a:p>
            <a:pPr>
              <a:lnSpc>
                <a:spcPct val="125000"/>
              </a:lnSpc>
            </a:pPr>
            <a:r>
              <a:rPr lang="en-US" altLang="zh-CN" dirty="0" smtClean="0"/>
              <a:t>       </a:t>
            </a:r>
            <a:r>
              <a:rPr lang="en-US" altLang="zh-CN" b="1" dirty="0">
                <a:solidFill>
                  <a:prstClr val="black"/>
                </a:solidFill>
              </a:rPr>
              <a:t>STM32</a:t>
            </a:r>
            <a:r>
              <a:rPr lang="zh-CN" altLang="en-US" b="1" dirty="0">
                <a:solidFill>
                  <a:prstClr val="black"/>
                </a:solidFill>
              </a:rPr>
              <a:t>开发</a:t>
            </a:r>
            <a:r>
              <a:rPr lang="zh-CN" altLang="en-US" b="1" dirty="0" smtClean="0">
                <a:solidFill>
                  <a:prstClr val="black"/>
                </a:solidFill>
              </a:rPr>
              <a:t>中同一</a:t>
            </a:r>
            <a:r>
              <a:rPr lang="zh-CN" altLang="en-US" b="1" dirty="0">
                <a:solidFill>
                  <a:prstClr val="black"/>
                </a:solidFill>
              </a:rPr>
              <a:t>数据类型有多种表示方式</a:t>
            </a:r>
            <a:r>
              <a:rPr lang="zh-CN" altLang="en-US" b="1" dirty="0" smtClean="0">
                <a:solidFill>
                  <a:prstClr val="black"/>
                </a:solidFill>
              </a:rPr>
              <a:t>。</a:t>
            </a:r>
            <a:endParaRPr lang="zh-CN" altLang="en-US" b="1" dirty="0">
              <a:solidFill>
                <a:prstClr val="black"/>
              </a:solidFill>
            </a:endParaRPr>
          </a:p>
        </p:txBody>
      </p:sp>
      <p:sp>
        <p:nvSpPr>
          <p:cNvPr id="6" name="矩形 5"/>
          <p:cNvSpPr/>
          <p:nvPr/>
        </p:nvSpPr>
        <p:spPr>
          <a:xfrm>
            <a:off x="5436096" y="1872719"/>
            <a:ext cx="3018576"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smtClean="0">
                <a:solidFill>
                  <a:prstClr val="black"/>
                </a:solidFill>
              </a:rPr>
              <a:t>      无</a:t>
            </a:r>
            <a:r>
              <a:rPr lang="zh-CN" altLang="en-US" b="1" dirty="0">
                <a:solidFill>
                  <a:prstClr val="black"/>
                </a:solidFill>
              </a:rPr>
              <a:t>符号</a:t>
            </a:r>
            <a:r>
              <a:rPr lang="en-US" altLang="zh-CN" b="1" dirty="0">
                <a:solidFill>
                  <a:prstClr val="black"/>
                </a:solidFill>
              </a:rPr>
              <a:t>8</a:t>
            </a:r>
            <a:r>
              <a:rPr lang="zh-CN" altLang="en-US" b="1" dirty="0">
                <a:solidFill>
                  <a:prstClr val="black"/>
                </a:solidFill>
              </a:rPr>
              <a:t>位整型数据</a:t>
            </a:r>
            <a:r>
              <a:rPr lang="zh-CN" altLang="en-US" b="1" dirty="0" smtClean="0">
                <a:solidFill>
                  <a:prstClr val="black"/>
                </a:solidFill>
              </a:rPr>
              <a:t>有</a:t>
            </a:r>
            <a:r>
              <a:rPr lang="en-US" altLang="zh-CN" b="1" dirty="0" smtClean="0">
                <a:solidFill>
                  <a:prstClr val="black"/>
                </a:solidFill>
              </a:rPr>
              <a:t>unsigned </a:t>
            </a:r>
            <a:r>
              <a:rPr lang="en-US" altLang="zh-CN" b="1" dirty="0">
                <a:solidFill>
                  <a:prstClr val="black"/>
                </a:solidFill>
              </a:rPr>
              <a:t>char</a:t>
            </a:r>
            <a:r>
              <a:rPr lang="zh-CN" altLang="en-US" b="1" dirty="0">
                <a:solidFill>
                  <a:prstClr val="black"/>
                </a:solidFill>
              </a:rPr>
              <a:t>，</a:t>
            </a:r>
            <a:r>
              <a:rPr lang="en-US" altLang="zh-CN" b="1" dirty="0">
                <a:solidFill>
                  <a:prstClr val="black"/>
                </a:solidFill>
              </a:rPr>
              <a:t>uint8_t</a:t>
            </a:r>
            <a:r>
              <a:rPr lang="zh-CN" altLang="en-US" b="1" dirty="0" smtClean="0">
                <a:solidFill>
                  <a:prstClr val="black"/>
                </a:solidFill>
              </a:rPr>
              <a:t>，</a:t>
            </a:r>
            <a:r>
              <a:rPr lang="en-US" altLang="zh-CN" b="1" dirty="0" smtClean="0">
                <a:solidFill>
                  <a:prstClr val="black"/>
                </a:solidFill>
              </a:rPr>
              <a:t>u8</a:t>
            </a:r>
            <a:r>
              <a:rPr lang="zh-CN" altLang="en-US" b="1" dirty="0" smtClean="0">
                <a:solidFill>
                  <a:prstClr val="black"/>
                </a:solidFill>
              </a:rPr>
              <a:t>三</a:t>
            </a:r>
            <a:r>
              <a:rPr lang="zh-CN" altLang="en-US" b="1" dirty="0">
                <a:solidFill>
                  <a:prstClr val="black"/>
                </a:solidFill>
              </a:rPr>
              <a:t>种表示</a:t>
            </a:r>
            <a:r>
              <a:rPr lang="zh-CN" altLang="en-US" b="1" dirty="0" smtClean="0">
                <a:solidFill>
                  <a:prstClr val="black"/>
                </a:solidFill>
              </a:rPr>
              <a:t>方式。</a:t>
            </a:r>
            <a:endParaRPr lang="zh-CN" altLang="en-US" b="1" dirty="0">
              <a:solidFill>
                <a:prstClr val="black"/>
              </a:solidFill>
            </a:endParaRPr>
          </a:p>
        </p:txBody>
      </p:sp>
      <p:sp>
        <p:nvSpPr>
          <p:cNvPr id="12" name="椭圆 11"/>
          <p:cNvSpPr/>
          <p:nvPr/>
        </p:nvSpPr>
        <p:spPr>
          <a:xfrm>
            <a:off x="4852831" y="1740641"/>
            <a:ext cx="878498" cy="432048"/>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smtClean="0">
                <a:latin typeface="楷体" pitchFamily="49" charset="-122"/>
                <a:ea typeface="楷体" pitchFamily="49" charset="-122"/>
              </a:rPr>
              <a:t>例</a:t>
            </a:r>
          </a:p>
        </p:txBody>
      </p:sp>
      <p:sp>
        <p:nvSpPr>
          <p:cNvPr id="16" name="矩形 15"/>
          <p:cNvSpPr/>
          <p:nvPr/>
        </p:nvSpPr>
        <p:spPr>
          <a:xfrm>
            <a:off x="5436096" y="3459672"/>
            <a:ext cx="3168352" cy="784830"/>
          </a:xfrm>
          <a:prstGeom prst="rect">
            <a:avLst/>
          </a:prstGeom>
        </p:spPr>
        <p:txBody>
          <a:bodyPr wrap="square">
            <a:spAutoFit/>
          </a:bodyPr>
          <a:lstStyle/>
          <a:p>
            <a:pPr>
              <a:lnSpc>
                <a:spcPct val="125000"/>
              </a:lnSpc>
            </a:pPr>
            <a:r>
              <a:rPr lang="zh-CN" altLang="en-US" b="1" dirty="0" smtClean="0">
                <a:solidFill>
                  <a:prstClr val="black"/>
                </a:solidFill>
              </a:rPr>
              <a:t>     </a:t>
            </a:r>
            <a:r>
              <a:rPr lang="zh-CN" altLang="en-US" b="1" dirty="0">
                <a:solidFill>
                  <a:prstClr val="black"/>
                </a:solidFill>
              </a:rPr>
              <a:t>最新的</a:t>
            </a:r>
            <a:r>
              <a:rPr lang="en-US" altLang="zh-CN" b="1" dirty="0">
                <a:solidFill>
                  <a:prstClr val="black"/>
                </a:solidFill>
              </a:rPr>
              <a:t>v3.5.0</a:t>
            </a:r>
            <a:r>
              <a:rPr lang="zh-CN" altLang="en-US" b="1" dirty="0">
                <a:solidFill>
                  <a:prstClr val="black"/>
                </a:solidFill>
              </a:rPr>
              <a:t>版本采用标准的</a:t>
            </a:r>
            <a:r>
              <a:rPr lang="en-US" altLang="zh-CN" b="1" dirty="0">
                <a:solidFill>
                  <a:prstClr val="black"/>
                </a:solidFill>
              </a:rPr>
              <a:t>C99</a:t>
            </a:r>
            <a:r>
              <a:rPr lang="zh-CN" altLang="en-US" b="1" dirty="0">
                <a:solidFill>
                  <a:prstClr val="black"/>
                </a:solidFill>
              </a:rPr>
              <a:t>标准，即</a:t>
            </a:r>
            <a:r>
              <a:rPr lang="en-US" altLang="zh-CN" b="1" dirty="0">
                <a:solidFill>
                  <a:prstClr val="black"/>
                </a:solidFill>
              </a:rPr>
              <a:t>uint8_t</a:t>
            </a:r>
            <a:r>
              <a:rPr lang="zh-CN" altLang="en-US" b="1" dirty="0" smtClean="0">
                <a:solidFill>
                  <a:prstClr val="black"/>
                </a:solidFill>
              </a:rPr>
              <a:t>方式。</a:t>
            </a:r>
            <a:endParaRPr lang="zh-CN" altLang="en-US" b="1" dirty="0">
              <a:solidFill>
                <a:prstClr val="black"/>
              </a:solidFill>
            </a:endParaRPr>
          </a:p>
        </p:txBody>
      </p:sp>
    </p:spTree>
    <p:extLst>
      <p:ext uri="{BB962C8B-B14F-4D97-AF65-F5344CB8AC3E}">
        <p14:creationId xmlns:p14="http://schemas.microsoft.com/office/powerpoint/2010/main" val="17302208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375363" y="1175101"/>
            <a:ext cx="3725335" cy="1131079"/>
          </a:xfrm>
          <a:prstGeom prst="rect">
            <a:avLst/>
          </a:prstGeom>
          <a:ln w="19050">
            <a:noFill/>
          </a:ln>
        </p:spPr>
        <p:txBody>
          <a:bodyPr wrap="square">
            <a:spAutoFit/>
          </a:bodyPr>
          <a:lstStyle/>
          <a:p>
            <a:pPr lvl="0">
              <a:lnSpc>
                <a:spcPct val="125000"/>
              </a:lnSpc>
            </a:pPr>
            <a:r>
              <a:rPr lang="en-US" altLang="zh-CN" b="1" dirty="0" smtClean="0">
                <a:solidFill>
                  <a:prstClr val="black"/>
                </a:solidFill>
              </a:rPr>
              <a:t>      __</a:t>
            </a:r>
            <a:r>
              <a:rPr lang="en-US" altLang="zh-CN" b="1" dirty="0">
                <a:solidFill>
                  <a:prstClr val="black"/>
                </a:solidFill>
              </a:rPr>
              <a:t>I</a:t>
            </a:r>
            <a:r>
              <a:rPr lang="zh-CN" altLang="en-US" b="1" dirty="0">
                <a:solidFill>
                  <a:prstClr val="black"/>
                </a:solidFill>
              </a:rPr>
              <a:t>、</a:t>
            </a:r>
            <a:r>
              <a:rPr lang="en-US" altLang="zh-CN" b="1" dirty="0">
                <a:solidFill>
                  <a:prstClr val="black"/>
                </a:solidFill>
              </a:rPr>
              <a:t>__O</a:t>
            </a:r>
            <a:r>
              <a:rPr lang="zh-CN" altLang="en-US" b="1" dirty="0">
                <a:solidFill>
                  <a:prstClr val="black"/>
                </a:solidFill>
              </a:rPr>
              <a:t>以及</a:t>
            </a:r>
            <a:r>
              <a:rPr lang="en-US" altLang="zh-CN" b="1" dirty="0">
                <a:solidFill>
                  <a:prstClr val="black"/>
                </a:solidFill>
              </a:rPr>
              <a:t>__IO</a:t>
            </a:r>
            <a:r>
              <a:rPr lang="zh-CN" altLang="en-US" b="1" dirty="0">
                <a:solidFill>
                  <a:prstClr val="black"/>
                </a:solidFill>
              </a:rPr>
              <a:t>为</a:t>
            </a:r>
            <a:r>
              <a:rPr lang="en-US" altLang="zh-CN" b="1" dirty="0">
                <a:solidFill>
                  <a:prstClr val="black"/>
                </a:solidFill>
              </a:rPr>
              <a:t>IO</a:t>
            </a:r>
            <a:r>
              <a:rPr lang="zh-CN" altLang="en-US" b="1" dirty="0">
                <a:solidFill>
                  <a:prstClr val="black"/>
                </a:solidFill>
              </a:rPr>
              <a:t>类型限定词，内核头文件</a:t>
            </a:r>
            <a:r>
              <a:rPr lang="en-US" altLang="zh-CN" b="1" dirty="0">
                <a:solidFill>
                  <a:prstClr val="black"/>
                </a:solidFill>
              </a:rPr>
              <a:t>core_cm3.h</a:t>
            </a:r>
            <a:r>
              <a:rPr lang="zh-CN" altLang="en-US" b="1" dirty="0">
                <a:solidFill>
                  <a:prstClr val="black"/>
                </a:solidFill>
              </a:rPr>
              <a:t>定义了标准外设库所使用的</a:t>
            </a:r>
            <a:r>
              <a:rPr lang="en-US" altLang="zh-CN" b="1" dirty="0">
                <a:solidFill>
                  <a:prstClr val="black"/>
                </a:solidFill>
              </a:rPr>
              <a:t>IO</a:t>
            </a:r>
            <a:r>
              <a:rPr lang="zh-CN" altLang="en-US" b="1" dirty="0">
                <a:solidFill>
                  <a:prstClr val="black"/>
                </a:solidFill>
              </a:rPr>
              <a:t>类型</a:t>
            </a:r>
            <a:r>
              <a:rPr lang="zh-CN" altLang="en-US" b="1" dirty="0" smtClean="0">
                <a:solidFill>
                  <a:prstClr val="black"/>
                </a:solidFill>
              </a:rPr>
              <a:t>限定词</a:t>
            </a:r>
            <a:r>
              <a:rPr lang="zh-CN" altLang="en-US" b="1" dirty="0">
                <a:solidFill>
                  <a:prstClr val="black"/>
                </a:solidFill>
              </a:rPr>
              <a:t>。</a:t>
            </a:r>
            <a:endParaRPr lang="zh-CN" altLang="zh-CN" b="1" dirty="0"/>
          </a:p>
        </p:txBody>
      </p:sp>
      <p:sp>
        <p:nvSpPr>
          <p:cNvPr id="3" name="矩形 2"/>
          <p:cNvSpPr/>
          <p:nvPr/>
        </p:nvSpPr>
        <p:spPr>
          <a:xfrm>
            <a:off x="5012054" y="699542"/>
            <a:ext cx="3470786" cy="11310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数据类型和</a:t>
            </a:r>
            <a:r>
              <a:rPr lang="en-US" altLang="zh-CN" b="1" dirty="0" smtClean="0">
                <a:solidFill>
                  <a:prstClr val="black"/>
                </a:solidFill>
              </a:rPr>
              <a:t>IO</a:t>
            </a:r>
            <a:r>
              <a:rPr lang="zh-CN" altLang="en-US" b="1" dirty="0">
                <a:solidFill>
                  <a:prstClr val="black"/>
                </a:solidFill>
              </a:rPr>
              <a:t>类型限定词结合在一起，在标准外设库中常用来定义寄存器和结构体</a:t>
            </a:r>
            <a:r>
              <a:rPr lang="zh-CN" altLang="en-US" b="1" dirty="0" smtClean="0">
                <a:solidFill>
                  <a:prstClr val="black"/>
                </a:solidFill>
              </a:rPr>
              <a:t>变量：</a:t>
            </a:r>
            <a:endParaRPr lang="zh-CN" altLang="en-US" b="1" dirty="0">
              <a:solidFill>
                <a:prstClr val="black"/>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873934041"/>
              </p:ext>
            </p:extLst>
          </p:nvPr>
        </p:nvGraphicFramePr>
        <p:xfrm>
          <a:off x="503649" y="2460414"/>
          <a:ext cx="3468762" cy="1784088"/>
        </p:xfrm>
        <a:graphic>
          <a:graphicData uri="http://schemas.openxmlformats.org/drawingml/2006/table">
            <a:tbl>
              <a:tblPr firstRow="1" firstCol="1" bandRow="1">
                <a:tableStyleId>{7DF18680-E054-41AD-8BC1-D1AEF772440D}</a:tableStyleId>
              </a:tblPr>
              <a:tblGrid>
                <a:gridCol w="1235579"/>
                <a:gridCol w="1004696"/>
                <a:gridCol w="1228487"/>
              </a:tblGrid>
              <a:tr h="0">
                <a:tc>
                  <a:txBody>
                    <a:bodyPr/>
                    <a:lstStyle/>
                    <a:p>
                      <a:pPr algn="ctr">
                        <a:spcAft>
                          <a:spcPts val="0"/>
                        </a:spcAft>
                      </a:pPr>
                      <a:r>
                        <a:rPr lang="en-US" sz="1600" b="1" kern="100" dirty="0">
                          <a:effectLst/>
                        </a:rPr>
                        <a:t>IO</a:t>
                      </a:r>
                      <a:r>
                        <a:rPr lang="zh-CN" sz="1600" b="1" kern="100" dirty="0" smtClean="0">
                          <a:effectLst/>
                        </a:rPr>
                        <a:t>类型</a:t>
                      </a:r>
                      <a:endParaRPr lang="en-GB" altLang="zh-CN" sz="1600" b="1" kern="100" dirty="0" smtClean="0">
                        <a:effectLst/>
                      </a:endParaRPr>
                    </a:p>
                    <a:p>
                      <a:pPr algn="ctr">
                        <a:spcAft>
                          <a:spcPts val="0"/>
                        </a:spcAft>
                      </a:pPr>
                      <a:r>
                        <a:rPr lang="zh-CN" sz="1600" b="1" kern="100" dirty="0" smtClean="0">
                          <a:effectLst/>
                        </a:rPr>
                        <a:t>限定词</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类型</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a:effectLst/>
                        </a:rPr>
                        <a:t>说明</a:t>
                      </a:r>
                      <a:endParaRPr lang="zh-CN" sz="3200" b="1" kern="100">
                        <a:effectLst/>
                        <a:latin typeface="Calibri"/>
                        <a:ea typeface="宋体"/>
                        <a:cs typeface="Times New Roman"/>
                      </a:endParaRPr>
                    </a:p>
                  </a:txBody>
                  <a:tcPr marL="68580" marR="68580" marT="0" marB="0" anchor="ctr"/>
                </a:tc>
              </a:tr>
              <a:tr h="0">
                <a:tc>
                  <a:txBody>
                    <a:bodyPr/>
                    <a:lstStyle/>
                    <a:p>
                      <a:pPr algn="ctr">
                        <a:spcAft>
                          <a:spcPts val="0"/>
                        </a:spcAft>
                      </a:pPr>
                      <a:r>
                        <a:rPr lang="en-US" sz="1600" b="1" kern="100" dirty="0">
                          <a:effectLst/>
                        </a:rPr>
                        <a:t>__I</a:t>
                      </a:r>
                      <a:endParaRPr lang="zh-CN" sz="3200" b="1" kern="100" dirty="0">
                        <a:effectLst/>
                        <a:latin typeface="Calibri"/>
                        <a:ea typeface="宋体"/>
                        <a:cs typeface="Times New Roman"/>
                      </a:endParaRPr>
                    </a:p>
                  </a:txBody>
                  <a:tcPr marL="68580" marR="68580" marT="0" marB="0" anchor="ctr"/>
                </a:tc>
                <a:tc>
                  <a:txBody>
                    <a:bodyPr/>
                    <a:lstStyle/>
                    <a:p>
                      <a:pPr algn="just">
                        <a:spcAft>
                          <a:spcPts val="0"/>
                        </a:spcAft>
                      </a:pPr>
                      <a:r>
                        <a:rPr lang="en-US" sz="1600" b="1" kern="100" dirty="0">
                          <a:effectLst/>
                        </a:rPr>
                        <a:t>volatile </a:t>
                      </a:r>
                      <a:r>
                        <a:rPr lang="en-US" sz="1600" b="1" kern="100" dirty="0" err="1">
                          <a:effectLst/>
                        </a:rPr>
                        <a:t>const</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a:effectLst/>
                        </a:rPr>
                        <a:t>只读操作</a:t>
                      </a:r>
                      <a:endParaRPr lang="zh-CN" sz="3200" b="1" kern="100">
                        <a:effectLst/>
                        <a:latin typeface="Calibri"/>
                        <a:ea typeface="宋体"/>
                        <a:cs typeface="Times New Roman"/>
                      </a:endParaRPr>
                    </a:p>
                  </a:txBody>
                  <a:tcPr marL="68580" marR="68580" marT="0" marB="0" anchor="ctr"/>
                </a:tc>
              </a:tr>
              <a:tr h="382268">
                <a:tc>
                  <a:txBody>
                    <a:bodyPr/>
                    <a:lstStyle/>
                    <a:p>
                      <a:pPr algn="ctr">
                        <a:spcAft>
                          <a:spcPts val="0"/>
                        </a:spcAft>
                      </a:pPr>
                      <a:r>
                        <a:rPr lang="en-US" sz="1600" b="1" kern="100">
                          <a:effectLst/>
                        </a:rPr>
                        <a:t>__O</a:t>
                      </a:r>
                      <a:endParaRPr lang="zh-CN" sz="3200" b="1" kern="100">
                        <a:effectLst/>
                        <a:latin typeface="Calibri"/>
                        <a:ea typeface="宋体"/>
                        <a:cs typeface="Times New Roman"/>
                      </a:endParaRPr>
                    </a:p>
                  </a:txBody>
                  <a:tcPr marL="68580" marR="68580" marT="0" marB="0" anchor="ctr"/>
                </a:tc>
                <a:tc>
                  <a:txBody>
                    <a:bodyPr/>
                    <a:lstStyle/>
                    <a:p>
                      <a:pPr algn="just">
                        <a:spcAft>
                          <a:spcPts val="0"/>
                        </a:spcAft>
                      </a:pPr>
                      <a:r>
                        <a:rPr lang="en-US" sz="1600" b="1" kern="100" dirty="0">
                          <a:effectLst/>
                        </a:rPr>
                        <a:t>volatile</a:t>
                      </a:r>
                      <a:endParaRPr lang="zh-CN" sz="3200" b="1" kern="100" dirty="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只写操作</a:t>
                      </a:r>
                      <a:endParaRPr lang="zh-CN" sz="3200" b="1" kern="100" dirty="0">
                        <a:effectLst/>
                        <a:latin typeface="Calibri"/>
                        <a:ea typeface="宋体"/>
                        <a:cs typeface="Times New Roman"/>
                      </a:endParaRPr>
                    </a:p>
                  </a:txBody>
                  <a:tcPr marL="68580" marR="68580" marT="0" marB="0" anchor="ctr"/>
                </a:tc>
              </a:tr>
              <a:tr h="426460">
                <a:tc>
                  <a:txBody>
                    <a:bodyPr/>
                    <a:lstStyle/>
                    <a:p>
                      <a:pPr algn="ctr">
                        <a:spcAft>
                          <a:spcPts val="0"/>
                        </a:spcAft>
                      </a:pPr>
                      <a:r>
                        <a:rPr lang="en-US" sz="1600" b="1" kern="100">
                          <a:effectLst/>
                        </a:rPr>
                        <a:t>__IO</a:t>
                      </a:r>
                      <a:endParaRPr lang="zh-CN" sz="3200" b="1" kern="100">
                        <a:effectLst/>
                        <a:latin typeface="Calibri"/>
                        <a:ea typeface="宋体"/>
                        <a:cs typeface="Times New Roman"/>
                      </a:endParaRPr>
                    </a:p>
                  </a:txBody>
                  <a:tcPr marL="68580" marR="68580" marT="0" marB="0" anchor="ctr"/>
                </a:tc>
                <a:tc>
                  <a:txBody>
                    <a:bodyPr/>
                    <a:lstStyle/>
                    <a:p>
                      <a:pPr algn="just">
                        <a:spcAft>
                          <a:spcPts val="0"/>
                        </a:spcAft>
                      </a:pPr>
                      <a:r>
                        <a:rPr lang="en-US" sz="1600" b="1" kern="100">
                          <a:effectLst/>
                        </a:rPr>
                        <a:t>Volatile</a:t>
                      </a:r>
                      <a:endParaRPr lang="zh-CN" sz="3200" b="1" kern="100">
                        <a:effectLst/>
                        <a:latin typeface="Calibri"/>
                        <a:ea typeface="宋体"/>
                        <a:cs typeface="Times New Roman"/>
                      </a:endParaRPr>
                    </a:p>
                  </a:txBody>
                  <a:tcPr marL="68580" marR="68580" marT="0" marB="0" anchor="ctr"/>
                </a:tc>
                <a:tc>
                  <a:txBody>
                    <a:bodyPr/>
                    <a:lstStyle/>
                    <a:p>
                      <a:pPr algn="ctr">
                        <a:spcAft>
                          <a:spcPts val="0"/>
                        </a:spcAft>
                      </a:pPr>
                      <a:r>
                        <a:rPr lang="zh-CN" sz="1600" b="1" kern="100" dirty="0">
                          <a:effectLst/>
                        </a:rPr>
                        <a:t>读和写操作</a:t>
                      </a:r>
                      <a:endParaRPr lang="zh-CN" sz="3200" b="1" kern="100" dirty="0">
                        <a:effectLst/>
                        <a:latin typeface="Calibri"/>
                        <a:ea typeface="宋体"/>
                        <a:cs typeface="Times New Roman"/>
                      </a:endParaRPr>
                    </a:p>
                  </a:txBody>
                  <a:tcPr marL="68580" marR="68580" marT="0" marB="0" anchor="ctr"/>
                </a:tc>
              </a:tr>
            </a:tbl>
          </a:graphicData>
        </a:graphic>
      </p:graphicFrame>
      <p:pic>
        <p:nvPicPr>
          <p:cNvPr id="5427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2067694"/>
            <a:ext cx="406717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52982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56388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294684" cy="461665"/>
          </a:xfrm>
          <a:prstGeom prst="rect">
            <a:avLst/>
          </a:prstGeom>
        </p:spPr>
        <p:txBody>
          <a:bodyPr wrap="none">
            <a:spAutoFit/>
          </a:bodyPr>
          <a:lstStyle/>
          <a:p>
            <a:r>
              <a:rPr lang="en-US" altLang="zh-CN" sz="2400" b="1" dirty="0">
                <a:solidFill>
                  <a:schemeClr val="bg1"/>
                </a:solidFill>
              </a:rPr>
              <a:t>4.2.1 STM32</a:t>
            </a:r>
            <a:r>
              <a:rPr lang="zh-CN" altLang="en-US" sz="2400" b="1" dirty="0">
                <a:solidFill>
                  <a:schemeClr val="bg1"/>
                </a:solidFill>
              </a:rPr>
              <a:t>的数据类型</a:t>
            </a:r>
            <a:endParaRPr lang="zh-CN" altLang="zh-CN" sz="2400" b="1" dirty="0">
              <a:solidFill>
                <a:schemeClr val="bg1"/>
              </a:solidFill>
            </a:endParaRPr>
          </a:p>
        </p:txBody>
      </p:sp>
      <p:sp>
        <p:nvSpPr>
          <p:cNvPr id="9" name="矩形 8"/>
          <p:cNvSpPr/>
          <p:nvPr/>
        </p:nvSpPr>
        <p:spPr>
          <a:xfrm>
            <a:off x="503661" y="970876"/>
            <a:ext cx="6912768" cy="438582"/>
          </a:xfrm>
          <a:prstGeom prst="rect">
            <a:avLst/>
          </a:prstGeom>
          <a:ln w="19050">
            <a:noFill/>
          </a:ln>
        </p:spPr>
        <p:txBody>
          <a:bodyPr wrap="square">
            <a:spAutoFit/>
          </a:bodyPr>
          <a:lstStyle/>
          <a:p>
            <a:pPr lvl="0">
              <a:lnSpc>
                <a:spcPct val="125000"/>
              </a:lnSpc>
            </a:pPr>
            <a:r>
              <a:rPr lang="zh-CN" altLang="en-US" b="1" dirty="0" smtClean="0">
                <a:solidFill>
                  <a:prstClr val="black"/>
                </a:solidFill>
              </a:rPr>
              <a:t>      </a:t>
            </a:r>
            <a:r>
              <a:rPr lang="en-US" altLang="zh-CN" b="1" dirty="0">
                <a:solidFill>
                  <a:prstClr val="black"/>
                </a:solidFill>
              </a:rPr>
              <a:t>stm32f10x.h</a:t>
            </a:r>
            <a:r>
              <a:rPr lang="zh-CN" altLang="en-US" b="1" dirty="0" smtClean="0">
                <a:solidFill>
                  <a:prstClr val="black"/>
                </a:solidFill>
              </a:rPr>
              <a:t>头文件中常用</a:t>
            </a:r>
            <a:r>
              <a:rPr lang="zh-CN" altLang="en-US" b="1" dirty="0">
                <a:solidFill>
                  <a:prstClr val="black"/>
                </a:solidFill>
              </a:rPr>
              <a:t>的布尔类型的</a:t>
            </a:r>
            <a:r>
              <a:rPr lang="zh-CN" altLang="en-US" b="1" dirty="0" smtClean="0">
                <a:solidFill>
                  <a:prstClr val="black"/>
                </a:solidFill>
              </a:rPr>
              <a:t>变量的定义</a:t>
            </a:r>
            <a:endParaRPr lang="zh-CN" altLang="zh-CN" b="1" dirty="0"/>
          </a:p>
        </p:txBody>
      </p:sp>
      <p:sp>
        <p:nvSpPr>
          <p:cNvPr id="17" name="TextBox 45"/>
          <p:cNvSpPr txBox="1"/>
          <p:nvPr/>
        </p:nvSpPr>
        <p:spPr>
          <a:xfrm>
            <a:off x="1187624" y="2150697"/>
            <a:ext cx="2257420" cy="1372683"/>
          </a:xfrm>
          <a:prstGeom prst="rect">
            <a:avLst/>
          </a:prstGeom>
          <a:noFill/>
        </p:spPr>
        <p:txBody>
          <a:bodyPr wrap="square" rtlCol="0">
            <a:spAutoFit/>
          </a:bodyPr>
          <a:lstStyle/>
          <a:p>
            <a:pPr>
              <a:lnSpc>
                <a:spcPct val="130000"/>
              </a:lnSpc>
            </a:pPr>
            <a:r>
              <a:rPr lang="en-US" altLang="zh-CN" sz="1600" dirty="0" err="1"/>
              <a:t>typedef</a:t>
            </a:r>
            <a:r>
              <a:rPr lang="en-US" altLang="zh-CN" sz="1600" dirty="0"/>
              <a:t> </a:t>
            </a:r>
            <a:r>
              <a:rPr lang="en-US" altLang="zh-CN" sz="1600" dirty="0" err="1"/>
              <a:t>enum</a:t>
            </a:r>
            <a:r>
              <a:rPr lang="en-US" altLang="zh-CN" sz="1600" dirty="0"/>
              <a:t> </a:t>
            </a:r>
          </a:p>
          <a:p>
            <a:pPr>
              <a:lnSpc>
                <a:spcPct val="130000"/>
              </a:lnSpc>
            </a:pPr>
            <a:r>
              <a:rPr lang="en-US" altLang="zh-CN" sz="1600" dirty="0"/>
              <a:t>{    DISABLE = 0, </a:t>
            </a:r>
          </a:p>
          <a:p>
            <a:pPr>
              <a:lnSpc>
                <a:spcPct val="130000"/>
              </a:lnSpc>
            </a:pPr>
            <a:r>
              <a:rPr lang="en-US" altLang="zh-CN" sz="1600" dirty="0"/>
              <a:t>     ENABLE = !DISABLE</a:t>
            </a:r>
          </a:p>
          <a:p>
            <a:pPr>
              <a:lnSpc>
                <a:spcPct val="130000"/>
              </a:lnSpc>
            </a:pPr>
            <a:r>
              <a:rPr lang="en-US" altLang="zh-CN" sz="1600" dirty="0"/>
              <a:t>} </a:t>
            </a:r>
            <a:r>
              <a:rPr lang="en-US" altLang="zh-CN" sz="1600" dirty="0" err="1"/>
              <a:t>FunctionalState</a:t>
            </a:r>
            <a:r>
              <a:rPr lang="en-US" altLang="zh-CN" sz="1600" dirty="0"/>
              <a:t>;</a:t>
            </a:r>
            <a:endParaRPr lang="zh-CN" altLang="en-US" sz="1600" dirty="0">
              <a:sym typeface="思源黑体旧字形 ExtraLight" panose="020B0200000000000000" pitchFamily="34" charset="-128"/>
            </a:endParaRPr>
          </a:p>
        </p:txBody>
      </p:sp>
      <p:sp>
        <p:nvSpPr>
          <p:cNvPr id="19" name="TextBox 47"/>
          <p:cNvSpPr txBox="1"/>
          <p:nvPr/>
        </p:nvSpPr>
        <p:spPr>
          <a:xfrm>
            <a:off x="5652119" y="1560964"/>
            <a:ext cx="2232249" cy="1077218"/>
          </a:xfrm>
          <a:prstGeom prst="rect">
            <a:avLst/>
          </a:prstGeom>
          <a:noFill/>
        </p:spPr>
        <p:txBody>
          <a:bodyPr wrap="square" rtlCol="0">
            <a:spAutoFit/>
          </a:bodyPr>
          <a:lstStyle/>
          <a:p>
            <a:r>
              <a:rPr lang="en-US" altLang="zh-CN" sz="1600" dirty="0" err="1"/>
              <a:t>typedef</a:t>
            </a:r>
            <a:r>
              <a:rPr lang="en-US" altLang="zh-CN" sz="1600" dirty="0"/>
              <a:t> </a:t>
            </a:r>
            <a:r>
              <a:rPr lang="en-US" altLang="zh-CN" sz="1600" dirty="0" err="1"/>
              <a:t>enum</a:t>
            </a:r>
            <a:r>
              <a:rPr lang="en-US" altLang="zh-CN" sz="1600" dirty="0"/>
              <a:t> </a:t>
            </a:r>
            <a:endParaRPr lang="en-US" altLang="zh-CN" sz="1600" dirty="0" smtClean="0"/>
          </a:p>
          <a:p>
            <a:r>
              <a:rPr lang="en-US" altLang="zh-CN" sz="1600" dirty="0" smtClean="0"/>
              <a:t>{    RESET </a:t>
            </a:r>
            <a:r>
              <a:rPr lang="en-US" altLang="zh-CN" sz="1600" dirty="0"/>
              <a:t>= 0, </a:t>
            </a:r>
            <a:endParaRPr lang="en-US" altLang="zh-CN" sz="1600" dirty="0" smtClean="0"/>
          </a:p>
          <a:p>
            <a:r>
              <a:rPr lang="en-US" altLang="zh-CN" sz="1600" dirty="0"/>
              <a:t> </a:t>
            </a:r>
            <a:r>
              <a:rPr lang="en-US" altLang="zh-CN" sz="1600" dirty="0" smtClean="0"/>
              <a:t>     SET </a:t>
            </a:r>
            <a:r>
              <a:rPr lang="en-US" altLang="zh-CN" sz="1600" dirty="0"/>
              <a:t>= !</a:t>
            </a:r>
            <a:r>
              <a:rPr lang="en-US" altLang="zh-CN" sz="1600" dirty="0" smtClean="0"/>
              <a:t>RESET</a:t>
            </a:r>
          </a:p>
          <a:p>
            <a:r>
              <a:rPr lang="en-US" altLang="zh-CN" sz="1600" dirty="0" smtClean="0"/>
              <a:t>} </a:t>
            </a:r>
            <a:r>
              <a:rPr lang="en-US" altLang="zh-CN" sz="1600" dirty="0" err="1"/>
              <a:t>FlagStatus</a:t>
            </a:r>
            <a:r>
              <a:rPr lang="en-US" altLang="zh-CN" sz="1600" dirty="0"/>
              <a:t>, </a:t>
            </a:r>
            <a:r>
              <a:rPr lang="en-US" altLang="zh-CN" sz="1600" dirty="0" err="1"/>
              <a:t>ITStatus</a:t>
            </a:r>
            <a:r>
              <a:rPr lang="en-US" altLang="zh-CN" sz="1600" dirty="0"/>
              <a:t>;</a:t>
            </a:r>
            <a:endParaRPr lang="zh-CN" altLang="zh-CN" sz="1600" dirty="0"/>
          </a:p>
        </p:txBody>
      </p:sp>
      <p:sp>
        <p:nvSpPr>
          <p:cNvPr id="23" name="TextBox 51"/>
          <p:cNvSpPr txBox="1"/>
          <p:nvPr/>
        </p:nvSpPr>
        <p:spPr>
          <a:xfrm>
            <a:off x="5518700" y="3046112"/>
            <a:ext cx="2466252" cy="1077218"/>
          </a:xfrm>
          <a:prstGeom prst="rect">
            <a:avLst/>
          </a:prstGeom>
          <a:noFill/>
        </p:spPr>
        <p:txBody>
          <a:bodyPr wrap="square" rtlCol="0">
            <a:spAutoFit/>
          </a:bodyPr>
          <a:lstStyle/>
          <a:p>
            <a:r>
              <a:rPr lang="en-US" altLang="zh-CN" sz="1600" dirty="0" err="1"/>
              <a:t>typedef</a:t>
            </a:r>
            <a:r>
              <a:rPr lang="en-US" altLang="zh-CN" sz="1050" dirty="0"/>
              <a:t> </a:t>
            </a:r>
            <a:r>
              <a:rPr lang="en-US" altLang="zh-CN" sz="1600" dirty="0" err="1"/>
              <a:t>enum</a:t>
            </a:r>
            <a:r>
              <a:rPr lang="en-US" altLang="zh-CN" sz="1600" dirty="0"/>
              <a:t> </a:t>
            </a:r>
          </a:p>
          <a:p>
            <a:r>
              <a:rPr lang="en-US" altLang="zh-CN" sz="1600" dirty="0"/>
              <a:t>{</a:t>
            </a:r>
            <a:r>
              <a:rPr lang="en-US" altLang="zh-CN" sz="1050" dirty="0" smtClean="0"/>
              <a:t>    </a:t>
            </a:r>
            <a:r>
              <a:rPr lang="en-US" altLang="zh-CN" sz="1600" dirty="0"/>
              <a:t>ERROR = 0, </a:t>
            </a:r>
          </a:p>
          <a:p>
            <a:r>
              <a:rPr lang="en-US" altLang="zh-CN" sz="1600" dirty="0"/>
              <a:t>     SUCCESS = !ERROR</a:t>
            </a:r>
          </a:p>
          <a:p>
            <a:r>
              <a:rPr lang="en-US" altLang="zh-CN" sz="1600" dirty="0"/>
              <a:t>} </a:t>
            </a:r>
            <a:r>
              <a:rPr lang="en-US" altLang="zh-CN" sz="1600" dirty="0" err="1"/>
              <a:t>ErrorStatus</a:t>
            </a:r>
            <a:r>
              <a:rPr lang="en-US" altLang="zh-CN" sz="1600" dirty="0"/>
              <a:t>;</a:t>
            </a:r>
            <a:endParaRPr lang="zh-CN" altLang="zh-CN" sz="1600" dirty="0"/>
          </a:p>
        </p:txBody>
      </p:sp>
      <p:sp>
        <p:nvSpPr>
          <p:cNvPr id="7" name="Freeform 7"/>
          <p:cNvSpPr>
            <a:spLocks/>
          </p:cNvSpPr>
          <p:nvPr/>
        </p:nvSpPr>
        <p:spPr bwMode="auto">
          <a:xfrm>
            <a:off x="3958837" y="1515786"/>
            <a:ext cx="846778" cy="3333258"/>
          </a:xfrm>
          <a:custGeom>
            <a:avLst/>
            <a:gdLst>
              <a:gd name="T0" fmla="*/ 0 w 777"/>
              <a:gd name="T1" fmla="*/ 2974 h 2974"/>
              <a:gd name="T2" fmla="*/ 507 w 777"/>
              <a:gd name="T3" fmla="*/ 2467 h 2974"/>
              <a:gd name="T4" fmla="*/ 388 w 777"/>
              <a:gd name="T5" fmla="*/ 2138 h 2974"/>
              <a:gd name="T6" fmla="*/ 277 w 777"/>
              <a:gd name="T7" fmla="*/ 1818 h 2974"/>
              <a:gd name="T8" fmla="*/ 398 w 777"/>
              <a:gd name="T9" fmla="*/ 1488 h 2974"/>
              <a:gd name="T10" fmla="*/ 507 w 777"/>
              <a:gd name="T11" fmla="*/ 1171 h 2974"/>
              <a:gd name="T12" fmla="*/ 390 w 777"/>
              <a:gd name="T13" fmla="*/ 844 h 2974"/>
              <a:gd name="T14" fmla="*/ 267 w 777"/>
              <a:gd name="T15" fmla="*/ 511 h 2974"/>
              <a:gd name="T16" fmla="*/ 777 w 777"/>
              <a:gd name="T17" fmla="*/ 0 h 2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7" h="2974">
                <a:moveTo>
                  <a:pt x="0" y="2974"/>
                </a:moveTo>
                <a:cubicBezTo>
                  <a:pt x="280" y="2974"/>
                  <a:pt x="507" y="2747"/>
                  <a:pt x="507" y="2467"/>
                </a:cubicBezTo>
                <a:cubicBezTo>
                  <a:pt x="507" y="2342"/>
                  <a:pt x="459" y="2227"/>
                  <a:pt x="388" y="2138"/>
                </a:cubicBezTo>
                <a:cubicBezTo>
                  <a:pt x="317" y="2049"/>
                  <a:pt x="277" y="1939"/>
                  <a:pt x="277" y="1818"/>
                </a:cubicBezTo>
                <a:cubicBezTo>
                  <a:pt x="277" y="1692"/>
                  <a:pt x="326" y="1577"/>
                  <a:pt x="398" y="1488"/>
                </a:cubicBezTo>
                <a:cubicBezTo>
                  <a:pt x="469" y="1400"/>
                  <a:pt x="507" y="1290"/>
                  <a:pt x="507" y="1171"/>
                </a:cubicBezTo>
                <a:cubicBezTo>
                  <a:pt x="507" y="1047"/>
                  <a:pt x="465" y="933"/>
                  <a:pt x="390" y="844"/>
                </a:cubicBezTo>
                <a:cubicBezTo>
                  <a:pt x="315" y="754"/>
                  <a:pt x="267" y="638"/>
                  <a:pt x="267" y="511"/>
                </a:cubicBezTo>
                <a:cubicBezTo>
                  <a:pt x="267" y="229"/>
                  <a:pt x="496" y="0"/>
                  <a:pt x="777" y="0"/>
                </a:cubicBezTo>
              </a:path>
            </a:pathLst>
          </a:custGeom>
          <a:noFill/>
          <a:ln w="12700" cap="flat">
            <a:solidFill>
              <a:schemeClr val="bg1">
                <a:lumMod val="6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8" name="Oval 12"/>
          <p:cNvSpPr>
            <a:spLocks noChangeArrowheads="1"/>
          </p:cNvSpPr>
          <p:nvPr/>
        </p:nvSpPr>
        <p:spPr bwMode="auto">
          <a:xfrm>
            <a:off x="4206179" y="1867804"/>
            <a:ext cx="118595" cy="122400"/>
          </a:xfrm>
          <a:prstGeom prst="ellipse">
            <a:avLst/>
          </a:prstGeom>
          <a:solidFill>
            <a:schemeClr val="accent5">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0" name="Oval 13"/>
          <p:cNvSpPr>
            <a:spLocks noChangeArrowheads="1"/>
          </p:cNvSpPr>
          <p:nvPr/>
        </p:nvSpPr>
        <p:spPr bwMode="auto">
          <a:xfrm>
            <a:off x="4471979" y="2776788"/>
            <a:ext cx="119057" cy="121925"/>
          </a:xfrm>
          <a:prstGeom prst="ellipse">
            <a:avLst/>
          </a:prstGeom>
          <a:solidFill>
            <a:schemeClr val="accent4">
              <a:lumMod val="7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1" name="Oval 14"/>
          <p:cNvSpPr>
            <a:spLocks noChangeArrowheads="1"/>
          </p:cNvSpPr>
          <p:nvPr/>
        </p:nvSpPr>
        <p:spPr bwMode="auto">
          <a:xfrm>
            <a:off x="4199718" y="3462796"/>
            <a:ext cx="118595" cy="121925"/>
          </a:xfrm>
          <a:prstGeom prst="ellipse">
            <a:avLst/>
          </a:prstGeom>
          <a:solidFill>
            <a:srgbClr val="CD7371"/>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3" name="Line 16"/>
          <p:cNvSpPr>
            <a:spLocks noChangeShapeType="1"/>
          </p:cNvSpPr>
          <p:nvPr/>
        </p:nvSpPr>
        <p:spPr bwMode="auto">
          <a:xfrm flipH="1">
            <a:off x="3461844" y="1929479"/>
            <a:ext cx="744335"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4" name="Line 17"/>
          <p:cNvSpPr>
            <a:spLocks noChangeShapeType="1"/>
          </p:cNvSpPr>
          <p:nvPr/>
        </p:nvSpPr>
        <p:spPr bwMode="auto">
          <a:xfrm flipH="1">
            <a:off x="4591036" y="2837039"/>
            <a:ext cx="744335" cy="0"/>
          </a:xfrm>
          <a:prstGeom prst="line">
            <a:avLst/>
          </a:prstGeom>
          <a:noFill/>
          <a:ln w="1270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15" name="Line 18"/>
          <p:cNvSpPr>
            <a:spLocks noChangeShapeType="1"/>
          </p:cNvSpPr>
          <p:nvPr/>
        </p:nvSpPr>
        <p:spPr bwMode="auto">
          <a:xfrm flipH="1">
            <a:off x="3145744" y="3523996"/>
            <a:ext cx="1054897" cy="0"/>
          </a:xfrm>
          <a:prstGeom prst="line">
            <a:avLst/>
          </a:prstGeom>
          <a:noFill/>
          <a:ln w="12700" cap="flat">
            <a:solidFill>
              <a:schemeClr val="bg1">
                <a:lumMod val="65000"/>
              </a:schemeClr>
            </a:solidFill>
            <a:prstDash val="solid"/>
            <a:miter lim="800000"/>
            <a:headEnd type="none" w="med" len="med"/>
            <a:tailEnd type="oval"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25" name="椭圆 24"/>
          <p:cNvSpPr/>
          <p:nvPr/>
        </p:nvSpPr>
        <p:spPr>
          <a:xfrm>
            <a:off x="4382745" y="1647159"/>
            <a:ext cx="858545" cy="882972"/>
          </a:xfrm>
          <a:prstGeom prst="ellipse">
            <a:avLst/>
          </a:prstGeom>
          <a:solidFill>
            <a:schemeClr val="accent5">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9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RESET</a:t>
            </a:r>
          </a:p>
          <a:p>
            <a:pPr algn="ctr"/>
            <a:r>
              <a:rPr lang="zh-CN" altLang="en-US" sz="9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与</a:t>
            </a:r>
            <a:endParaRPr lang="en-US" altLang="zh-CN" sz="9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a:p>
            <a:pPr algn="ctr"/>
            <a:r>
              <a:rPr lang="en-US" altLang="zh-CN" sz="9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SET</a:t>
            </a:r>
            <a:endParaRPr lang="zh-CN" altLang="en-US" sz="9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26" name="椭圆 25"/>
          <p:cNvSpPr/>
          <p:nvPr/>
        </p:nvSpPr>
        <p:spPr>
          <a:xfrm>
            <a:off x="3530773" y="2386065"/>
            <a:ext cx="858545" cy="882972"/>
          </a:xfrm>
          <a:prstGeom prst="ellipse">
            <a:avLst/>
          </a:prstGeom>
          <a:solidFill>
            <a:schemeClr val="accent4">
              <a:lumMod val="75000"/>
            </a:schemeClr>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7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DISABLE</a:t>
            </a:r>
          </a:p>
          <a:p>
            <a:pPr algn="ctr"/>
            <a:r>
              <a:rPr lang="zh-CN" altLang="en-US" sz="7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与</a:t>
            </a:r>
            <a:r>
              <a:rPr lang="en-US" altLang="zh-CN" sz="700" b="1" dirty="0" smtClean="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rPr>
              <a:t>ENABLE</a:t>
            </a:r>
            <a:endParaRPr lang="zh-CN" altLang="en-US"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27" name="椭圆 26"/>
          <p:cNvSpPr/>
          <p:nvPr/>
        </p:nvSpPr>
        <p:spPr>
          <a:xfrm>
            <a:off x="4382225" y="3082273"/>
            <a:ext cx="858545" cy="882972"/>
          </a:xfrm>
          <a:prstGeom prst="ellipse">
            <a:avLst/>
          </a:prstGeom>
          <a:solidFill>
            <a:srgbClr val="CD7371"/>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700" b="1" dirty="0" smtClean="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ERROR</a:t>
            </a:r>
          </a:p>
          <a:p>
            <a:pPr algn="ctr"/>
            <a:r>
              <a:rPr lang="zh-CN" altLang="en-US" sz="700" b="1" dirty="0" smtClean="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与</a:t>
            </a:r>
            <a:endParaRPr lang="en-US" altLang="zh-CN" sz="700" b="1" dirty="0" smtClean="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a:p>
            <a:pPr algn="ctr"/>
            <a:r>
              <a:rPr lang="en-US" altLang="zh-CN" sz="700" b="1" dirty="0" smtClean="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rPr>
              <a:t>SUCCESS</a:t>
            </a:r>
            <a:endParaRPr lang="zh-CN" altLang="en-US" sz="700" b="1" dirty="0">
              <a:solidFill>
                <a:schemeClr val="bg1"/>
              </a:solidFill>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sp>
        <p:nvSpPr>
          <p:cNvPr id="37" name="椭圆 36"/>
          <p:cNvSpPr/>
          <p:nvPr/>
        </p:nvSpPr>
        <p:spPr>
          <a:xfrm>
            <a:off x="3491880" y="3795886"/>
            <a:ext cx="858545" cy="882972"/>
          </a:xfrm>
          <a:prstGeom prst="ellipse">
            <a:avLst/>
          </a:prstGeom>
          <a:ln>
            <a:solidFill>
              <a:schemeClr val="accent3">
                <a:lumMod val="60000"/>
                <a:lumOff val="40000"/>
              </a:schemeClr>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00" b="1" dirty="0">
              <a:solidFill>
                <a:schemeClr val="bg1"/>
              </a:solidFill>
              <a:latin typeface="Times New Roman" pitchFamily="18" charset="0"/>
              <a:ea typeface="思源黑体旧字形 ExtraLight" panose="020B0200000000000000" pitchFamily="34" charset="-128"/>
              <a:cs typeface="Times New Roman" pitchFamily="18" charset="0"/>
              <a:sym typeface="思源黑体旧字形 ExtraLight" panose="020B0200000000000000" pitchFamily="34" charset="-128"/>
            </a:endParaRPr>
          </a:p>
        </p:txBody>
      </p:sp>
      <p:sp>
        <p:nvSpPr>
          <p:cNvPr id="38" name="矩形 37"/>
          <p:cNvSpPr/>
          <p:nvPr/>
        </p:nvSpPr>
        <p:spPr>
          <a:xfrm>
            <a:off x="173418" y="3911129"/>
            <a:ext cx="3894526" cy="732508"/>
          </a:xfrm>
          <a:prstGeom prst="rect">
            <a:avLst/>
          </a:prstGeom>
        </p:spPr>
        <p:txBody>
          <a:bodyPr wrap="square">
            <a:spAutoFit/>
          </a:bodyPr>
          <a:lstStyle/>
          <a:p>
            <a:pPr>
              <a:lnSpc>
                <a:spcPct val="130000"/>
              </a:lnSpc>
            </a:pPr>
            <a:r>
              <a:rPr lang="en-US" altLang="zh-CN" sz="1600" dirty="0"/>
              <a:t>#define IS_FUNCTIONAL_STATE(STATE) (((STATE) == DISABLE) || ((STATE) == ENABLE))</a:t>
            </a:r>
            <a:endParaRPr lang="zh-CN" altLang="en-US" sz="1600" dirty="0"/>
          </a:p>
        </p:txBody>
      </p:sp>
    </p:spTree>
    <p:extLst>
      <p:ext uri="{BB962C8B-B14F-4D97-AF65-F5344CB8AC3E}">
        <p14:creationId xmlns:p14="http://schemas.microsoft.com/office/powerpoint/2010/main" val="18456434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068" cy="461665"/>
          </a:xfrm>
          <a:prstGeom prst="rect">
            <a:avLst/>
          </a:prstGeom>
        </p:spPr>
        <p:txBody>
          <a:bodyPr wrap="none">
            <a:spAutoFit/>
          </a:bodyPr>
          <a:lstStyle/>
          <a:p>
            <a:r>
              <a:rPr lang="en-US" altLang="zh-CN" sz="2400" b="1" dirty="0">
                <a:solidFill>
                  <a:schemeClr val="bg1"/>
                </a:solidFill>
              </a:rPr>
              <a:t>4.2.2 </a:t>
            </a:r>
            <a:r>
              <a:rPr lang="en-US" altLang="zh-CN" sz="2400" b="1" dirty="0" err="1">
                <a:solidFill>
                  <a:schemeClr val="bg1"/>
                </a:solidFill>
              </a:rPr>
              <a:t>const</a:t>
            </a:r>
            <a:r>
              <a:rPr lang="zh-CN" altLang="en-US" sz="2400" b="1" dirty="0">
                <a:solidFill>
                  <a:schemeClr val="bg1"/>
                </a:solidFill>
              </a:rPr>
              <a:t>关键字</a:t>
            </a:r>
            <a:endParaRPr lang="zh-CN" altLang="zh-CN" sz="2400" b="1" dirty="0">
              <a:solidFill>
                <a:schemeClr val="bg1"/>
              </a:solidFill>
            </a:endParaRPr>
          </a:p>
        </p:txBody>
      </p:sp>
      <p:grpSp>
        <p:nvGrpSpPr>
          <p:cNvPr id="21" name="Group 6"/>
          <p:cNvGrpSpPr>
            <a:grpSpLocks/>
          </p:cNvGrpSpPr>
          <p:nvPr/>
        </p:nvGrpSpPr>
        <p:grpSpPr bwMode="auto">
          <a:xfrm>
            <a:off x="472233" y="2747735"/>
            <a:ext cx="2851601" cy="997081"/>
            <a:chOff x="-2341584" y="0"/>
            <a:chExt cx="4300282" cy="1636740"/>
          </a:xfrm>
        </p:grpSpPr>
        <p:sp>
          <p:nvSpPr>
            <p:cNvPr id="22" name="Line 25"/>
            <p:cNvSpPr>
              <a:spLocks noChangeShapeType="1"/>
            </p:cNvSpPr>
            <p:nvPr/>
          </p:nvSpPr>
          <p:spPr bwMode="auto">
            <a:xfrm flipH="1">
              <a:off x="848904" y="0"/>
              <a:ext cx="926734" cy="793582"/>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55"/>
            <p:cNvSpPr txBox="1">
              <a:spLocks noChangeArrowheads="1"/>
            </p:cNvSpPr>
            <p:nvPr/>
          </p:nvSpPr>
          <p:spPr bwMode="auto">
            <a:xfrm>
              <a:off x="-2341584" y="959211"/>
              <a:ext cx="4300282" cy="67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ko-KR" altLang="en-US" b="1" dirty="0">
                <a:latin typeface="+mn-ea"/>
                <a:ea typeface="+mn-ea"/>
              </a:endParaRPr>
            </a:p>
          </p:txBody>
        </p:sp>
      </p:grpSp>
      <p:sp>
        <p:nvSpPr>
          <p:cNvPr id="29" name="Line 26"/>
          <p:cNvSpPr>
            <a:spLocks noChangeShapeType="1"/>
          </p:cNvSpPr>
          <p:nvPr/>
        </p:nvSpPr>
        <p:spPr bwMode="auto">
          <a:xfrm flipH="1">
            <a:off x="4610013" y="3158973"/>
            <a:ext cx="0" cy="605396"/>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27"/>
          <p:cNvSpPr>
            <a:spLocks noChangeShapeType="1"/>
          </p:cNvSpPr>
          <p:nvPr/>
        </p:nvSpPr>
        <p:spPr bwMode="auto">
          <a:xfrm>
            <a:off x="5634982" y="2729557"/>
            <a:ext cx="571527" cy="522922"/>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flipH="1">
            <a:off x="6037464" y="1532217"/>
            <a:ext cx="834354" cy="0"/>
          </a:xfrm>
          <a:prstGeom prst="line">
            <a:avLst/>
          </a:prstGeom>
          <a:noFill/>
          <a:ln w="38100">
            <a:solidFill>
              <a:srgbClr val="A6A6A6"/>
            </a:solidFill>
            <a:prstDash val="sysDot"/>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39" name="Oval 62"/>
          <p:cNvSpPr>
            <a:spLocks noChangeArrowheads="1"/>
          </p:cNvSpPr>
          <p:nvPr/>
        </p:nvSpPr>
        <p:spPr bwMode="auto">
          <a:xfrm>
            <a:off x="3818166" y="2338481"/>
            <a:ext cx="1097180" cy="322878"/>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2" name="Line 28"/>
          <p:cNvSpPr>
            <a:spLocks noChangeShapeType="1"/>
          </p:cNvSpPr>
          <p:nvPr/>
        </p:nvSpPr>
        <p:spPr bwMode="auto">
          <a:xfrm flipH="1">
            <a:off x="1936624" y="1546417"/>
            <a:ext cx="921325" cy="0"/>
          </a:xfrm>
          <a:prstGeom prst="line">
            <a:avLst/>
          </a:prstGeom>
          <a:noFill/>
          <a:ln w="38100">
            <a:solidFill>
              <a:srgbClr val="A6A6A6"/>
            </a:solidFill>
            <a:prstDash val="sysDot"/>
            <a:round/>
            <a:headEnd/>
            <a:tailEnd type="oval" w="lg" len="lg"/>
          </a:ln>
          <a:extLst>
            <a:ext uri="{909E8E84-426E-40DD-AFC4-6F175D3DCCD1}">
              <a14:hiddenFill xmlns:a14="http://schemas.microsoft.com/office/drawing/2010/main">
                <a:noFill/>
              </a14:hiddenFill>
            </a:ext>
          </a:extLst>
        </p:spPr>
        <p:txBody>
          <a:bodyPr/>
          <a:lstStyle/>
          <a:p>
            <a:endParaRPr lang="zh-CN" altLang="en-US"/>
          </a:p>
        </p:txBody>
      </p:sp>
      <p:grpSp>
        <p:nvGrpSpPr>
          <p:cNvPr id="44" name="Group 23"/>
          <p:cNvGrpSpPr>
            <a:grpSpLocks/>
          </p:cNvGrpSpPr>
          <p:nvPr/>
        </p:nvGrpSpPr>
        <p:grpSpPr bwMode="auto">
          <a:xfrm>
            <a:off x="3721317" y="902432"/>
            <a:ext cx="1668707" cy="1531915"/>
            <a:chOff x="0" y="0"/>
            <a:chExt cx="2514600" cy="2514600"/>
          </a:xfrm>
        </p:grpSpPr>
        <p:sp>
          <p:nvSpPr>
            <p:cNvPr id="45" name="Freeform 42"/>
            <p:cNvSpPr>
              <a:spLocks noChangeArrowheads="1"/>
            </p:cNvSpPr>
            <p:nvPr/>
          </p:nvSpPr>
          <p:spPr bwMode="auto">
            <a:xfrm>
              <a:off x="452225" y="452225"/>
              <a:ext cx="1610151" cy="1610151"/>
            </a:xfrm>
            <a:custGeom>
              <a:avLst/>
              <a:gdLst>
                <a:gd name="T0" fmla="*/ 2147483646 w 720"/>
                <a:gd name="T1" fmla="*/ 2147483646 h 720"/>
                <a:gd name="T2" fmla="*/ 2147483646 w 720"/>
                <a:gd name="T3" fmla="*/ 2147483646 h 720"/>
                <a:gd name="T4" fmla="*/ 2147483646 w 720"/>
                <a:gd name="T5" fmla="*/ 2147483646 h 720"/>
                <a:gd name="T6" fmla="*/ 2147483646 w 720"/>
                <a:gd name="T7" fmla="*/ 2147483646 h 720"/>
                <a:gd name="T8" fmla="*/ 2147483646 w 720"/>
                <a:gd name="T9" fmla="*/ 2147483646 h 720"/>
                <a:gd name="T10" fmla="*/ 2147483646 w 720"/>
                <a:gd name="T11" fmla="*/ 2147483646 h 720"/>
                <a:gd name="T12" fmla="*/ 2147483646 w 720"/>
                <a:gd name="T13" fmla="*/ 2147483646 h 720"/>
                <a:gd name="T14" fmla="*/ 2147483646 w 720"/>
                <a:gd name="T15" fmla="*/ 2147483646 h 720"/>
                <a:gd name="T16" fmla="*/ 2147483646 w 720"/>
                <a:gd name="T17" fmla="*/ 2147483646 h 720"/>
                <a:gd name="T18" fmla="*/ 2147483646 w 720"/>
                <a:gd name="T19" fmla="*/ 2147483646 h 720"/>
                <a:gd name="T20" fmla="*/ 2147483646 w 720"/>
                <a:gd name="T21" fmla="*/ 2147483646 h 720"/>
                <a:gd name="T22" fmla="*/ 2147483646 w 720"/>
                <a:gd name="T23" fmla="*/ 2147483646 h 720"/>
                <a:gd name="T24" fmla="*/ 2147483646 w 720"/>
                <a:gd name="T25" fmla="*/ 2147483646 h 720"/>
                <a:gd name="T26" fmla="*/ 2147483646 w 720"/>
                <a:gd name="T27" fmla="*/ 2147483646 h 720"/>
                <a:gd name="T28" fmla="*/ 2147483646 w 720"/>
                <a:gd name="T29" fmla="*/ 2147483646 h 720"/>
                <a:gd name="T30" fmla="*/ 2147483646 w 720"/>
                <a:gd name="T31" fmla="*/ 2147483646 h 720"/>
                <a:gd name="T32" fmla="*/ 2147483646 w 720"/>
                <a:gd name="T33" fmla="*/ 2147483646 h 720"/>
                <a:gd name="T34" fmla="*/ 0 w 720"/>
                <a:gd name="T35" fmla="*/ 2147483646 h 720"/>
                <a:gd name="T36" fmla="*/ 2147483646 w 720"/>
                <a:gd name="T37" fmla="*/ 2147483646 h 720"/>
                <a:gd name="T38" fmla="*/ 2147483646 w 720"/>
                <a:gd name="T39" fmla="*/ 2147483646 h 720"/>
                <a:gd name="T40" fmla="*/ 2147483646 w 720"/>
                <a:gd name="T41" fmla="*/ 2147483646 h 720"/>
                <a:gd name="T42" fmla="*/ 2147483646 w 720"/>
                <a:gd name="T43" fmla="*/ 2147483646 h 720"/>
                <a:gd name="T44" fmla="*/ 2147483646 w 720"/>
                <a:gd name="T45" fmla="*/ 2147483646 h 720"/>
                <a:gd name="T46" fmla="*/ 2147483646 w 720"/>
                <a:gd name="T47" fmla="*/ 2147483646 h 720"/>
                <a:gd name="T48" fmla="*/ 2147483646 w 720"/>
                <a:gd name="T49" fmla="*/ 2147483646 h 720"/>
                <a:gd name="T50" fmla="*/ 2147483646 w 720"/>
                <a:gd name="T51" fmla="*/ 0 h 720"/>
                <a:gd name="T52" fmla="*/ 2147483646 w 720"/>
                <a:gd name="T53" fmla="*/ 2147483646 h 720"/>
                <a:gd name="T54" fmla="*/ 2147483646 w 720"/>
                <a:gd name="T55" fmla="*/ 2147483646 h 720"/>
                <a:gd name="T56" fmla="*/ 2147483646 w 720"/>
                <a:gd name="T57" fmla="*/ 2147483646 h 720"/>
                <a:gd name="T58" fmla="*/ 2147483646 w 720"/>
                <a:gd name="T59" fmla="*/ 2147483646 h 720"/>
                <a:gd name="T60" fmla="*/ 2147483646 w 720"/>
                <a:gd name="T61" fmla="*/ 2147483646 h 720"/>
                <a:gd name="T62" fmla="*/ 2147483646 w 720"/>
                <a:gd name="T63" fmla="*/ 2147483646 h 720"/>
                <a:gd name="T64" fmla="*/ 2147483646 w 720"/>
                <a:gd name="T65" fmla="*/ 2147483646 h 720"/>
                <a:gd name="T66" fmla="*/ 2147483646 w 720"/>
                <a:gd name="T67" fmla="*/ 2147483646 h 720"/>
                <a:gd name="T68" fmla="*/ 2147483646 w 720"/>
                <a:gd name="T69" fmla="*/ 2147483646 h 7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0"/>
                <a:gd name="T106" fmla="*/ 0 h 720"/>
                <a:gd name="T107" fmla="*/ 720 w 720"/>
                <a:gd name="T108" fmla="*/ 720 h 7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0" h="720">
                  <a:moveTo>
                    <a:pt x="720" y="360"/>
                  </a:moveTo>
                  <a:lnTo>
                    <a:pt x="720" y="360"/>
                  </a:lnTo>
                  <a:lnTo>
                    <a:pt x="718" y="397"/>
                  </a:lnTo>
                  <a:lnTo>
                    <a:pt x="712" y="432"/>
                  </a:lnTo>
                  <a:lnTo>
                    <a:pt x="704" y="468"/>
                  </a:lnTo>
                  <a:lnTo>
                    <a:pt x="691" y="500"/>
                  </a:lnTo>
                  <a:lnTo>
                    <a:pt x="676" y="532"/>
                  </a:lnTo>
                  <a:lnTo>
                    <a:pt x="659" y="561"/>
                  </a:lnTo>
                  <a:lnTo>
                    <a:pt x="638" y="588"/>
                  </a:lnTo>
                  <a:lnTo>
                    <a:pt x="614" y="614"/>
                  </a:lnTo>
                  <a:lnTo>
                    <a:pt x="588" y="638"/>
                  </a:lnTo>
                  <a:lnTo>
                    <a:pt x="561" y="659"/>
                  </a:lnTo>
                  <a:lnTo>
                    <a:pt x="532" y="676"/>
                  </a:lnTo>
                  <a:lnTo>
                    <a:pt x="500" y="691"/>
                  </a:lnTo>
                  <a:lnTo>
                    <a:pt x="468" y="704"/>
                  </a:lnTo>
                  <a:lnTo>
                    <a:pt x="432" y="712"/>
                  </a:lnTo>
                  <a:lnTo>
                    <a:pt x="397" y="718"/>
                  </a:lnTo>
                  <a:lnTo>
                    <a:pt x="360" y="720"/>
                  </a:lnTo>
                  <a:lnTo>
                    <a:pt x="323" y="718"/>
                  </a:lnTo>
                  <a:lnTo>
                    <a:pt x="288" y="712"/>
                  </a:lnTo>
                  <a:lnTo>
                    <a:pt x="253" y="704"/>
                  </a:lnTo>
                  <a:lnTo>
                    <a:pt x="220" y="691"/>
                  </a:lnTo>
                  <a:lnTo>
                    <a:pt x="188" y="676"/>
                  </a:lnTo>
                  <a:lnTo>
                    <a:pt x="159" y="659"/>
                  </a:lnTo>
                  <a:lnTo>
                    <a:pt x="132" y="638"/>
                  </a:lnTo>
                  <a:lnTo>
                    <a:pt x="106" y="614"/>
                  </a:lnTo>
                  <a:lnTo>
                    <a:pt x="82" y="588"/>
                  </a:lnTo>
                  <a:lnTo>
                    <a:pt x="61" y="561"/>
                  </a:lnTo>
                  <a:lnTo>
                    <a:pt x="44" y="532"/>
                  </a:lnTo>
                  <a:lnTo>
                    <a:pt x="29" y="500"/>
                  </a:lnTo>
                  <a:lnTo>
                    <a:pt x="16" y="468"/>
                  </a:lnTo>
                  <a:lnTo>
                    <a:pt x="8" y="432"/>
                  </a:lnTo>
                  <a:lnTo>
                    <a:pt x="2" y="397"/>
                  </a:lnTo>
                  <a:lnTo>
                    <a:pt x="0" y="360"/>
                  </a:lnTo>
                  <a:lnTo>
                    <a:pt x="2" y="323"/>
                  </a:lnTo>
                  <a:lnTo>
                    <a:pt x="8" y="288"/>
                  </a:lnTo>
                  <a:lnTo>
                    <a:pt x="16" y="252"/>
                  </a:lnTo>
                  <a:lnTo>
                    <a:pt x="29" y="220"/>
                  </a:lnTo>
                  <a:lnTo>
                    <a:pt x="44" y="188"/>
                  </a:lnTo>
                  <a:lnTo>
                    <a:pt x="61" y="159"/>
                  </a:lnTo>
                  <a:lnTo>
                    <a:pt x="82" y="132"/>
                  </a:lnTo>
                  <a:lnTo>
                    <a:pt x="106" y="106"/>
                  </a:lnTo>
                  <a:lnTo>
                    <a:pt x="132" y="82"/>
                  </a:lnTo>
                  <a:lnTo>
                    <a:pt x="159" y="61"/>
                  </a:lnTo>
                  <a:lnTo>
                    <a:pt x="188" y="44"/>
                  </a:lnTo>
                  <a:lnTo>
                    <a:pt x="220" y="29"/>
                  </a:lnTo>
                  <a:lnTo>
                    <a:pt x="253" y="16"/>
                  </a:lnTo>
                  <a:lnTo>
                    <a:pt x="288" y="8"/>
                  </a:lnTo>
                  <a:lnTo>
                    <a:pt x="323" y="2"/>
                  </a:lnTo>
                  <a:lnTo>
                    <a:pt x="360" y="0"/>
                  </a:lnTo>
                  <a:lnTo>
                    <a:pt x="397" y="2"/>
                  </a:lnTo>
                  <a:lnTo>
                    <a:pt x="432" y="8"/>
                  </a:lnTo>
                  <a:lnTo>
                    <a:pt x="468" y="16"/>
                  </a:lnTo>
                  <a:lnTo>
                    <a:pt x="500" y="29"/>
                  </a:lnTo>
                  <a:lnTo>
                    <a:pt x="532" y="44"/>
                  </a:lnTo>
                  <a:lnTo>
                    <a:pt x="561" y="61"/>
                  </a:lnTo>
                  <a:lnTo>
                    <a:pt x="588" y="82"/>
                  </a:lnTo>
                  <a:lnTo>
                    <a:pt x="614" y="106"/>
                  </a:lnTo>
                  <a:lnTo>
                    <a:pt x="638" y="132"/>
                  </a:lnTo>
                  <a:lnTo>
                    <a:pt x="659" y="159"/>
                  </a:lnTo>
                  <a:lnTo>
                    <a:pt x="676" y="188"/>
                  </a:lnTo>
                  <a:lnTo>
                    <a:pt x="691" y="220"/>
                  </a:lnTo>
                  <a:lnTo>
                    <a:pt x="704" y="252"/>
                  </a:lnTo>
                  <a:lnTo>
                    <a:pt x="712" y="288"/>
                  </a:lnTo>
                  <a:lnTo>
                    <a:pt x="718" y="323"/>
                  </a:lnTo>
                  <a:lnTo>
                    <a:pt x="720" y="360"/>
                  </a:lnTo>
                  <a:close/>
                </a:path>
              </a:pathLst>
            </a:custGeom>
            <a:ln>
              <a:headEnd/>
              <a:tailEnd/>
            </a:ln>
            <a:extLst/>
          </p:spPr>
          <p:style>
            <a:lnRef idx="0">
              <a:schemeClr val="accent5"/>
            </a:lnRef>
            <a:fillRef idx="3">
              <a:schemeClr val="accent5"/>
            </a:fillRef>
            <a:effectRef idx="3">
              <a:schemeClr val="accent5"/>
            </a:effectRef>
            <a:fontRef idx="minor">
              <a:schemeClr val="lt1"/>
            </a:fontRef>
          </p:style>
          <p:txBody>
            <a:bodyPr anchor="ctr" anchorCtr="1"/>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400" dirty="0" err="1" smtClean="0">
                  <a:solidFill>
                    <a:srgbClr val="F2F2F2"/>
                  </a:solidFill>
                  <a:latin typeface="微软雅黑" panose="020B0503020204020204" pitchFamily="34" charset="-122"/>
                  <a:ea typeface="微软雅黑" panose="020B0503020204020204" pitchFamily="34" charset="-122"/>
                </a:rPr>
                <a:t>const</a:t>
              </a:r>
              <a:endParaRPr lang="zh-CN" altLang="en-US" sz="2400" dirty="0">
                <a:solidFill>
                  <a:srgbClr val="F2F2F2"/>
                </a:solidFill>
                <a:latin typeface="微软雅黑" panose="020B0503020204020204" pitchFamily="34" charset="-122"/>
                <a:ea typeface="微软雅黑" panose="020B0503020204020204" pitchFamily="34" charset="-122"/>
              </a:endParaRPr>
            </a:p>
          </p:txBody>
        </p:sp>
        <p:sp>
          <p:nvSpPr>
            <p:cNvPr id="46" name="Freeform 43"/>
            <p:cNvSpPr>
              <a:spLocks noEditPoints="1"/>
            </p:cNvSpPr>
            <p:nvPr/>
          </p:nvSpPr>
          <p:spPr bwMode="auto">
            <a:xfrm>
              <a:off x="0" y="0"/>
              <a:ext cx="2514600" cy="2514600"/>
            </a:xfrm>
            <a:custGeom>
              <a:avLst/>
              <a:gdLst>
                <a:gd name="T0" fmla="*/ 30029783 w 1124"/>
                <a:gd name="T1" fmla="*/ 2147483646 h 1124"/>
                <a:gd name="T2" fmla="*/ 225224489 w 1124"/>
                <a:gd name="T3" fmla="*/ 1721724696 h 1124"/>
                <a:gd name="T4" fmla="*/ 560561165 w 1124"/>
                <a:gd name="T5" fmla="*/ 1131133748 h 1124"/>
                <a:gd name="T6" fmla="*/ 1021021562 w 1124"/>
                <a:gd name="T7" fmla="*/ 645645922 h 1124"/>
                <a:gd name="T8" fmla="*/ 1591594146 w 1124"/>
                <a:gd name="T9" fmla="*/ 280281701 h 1124"/>
                <a:gd name="T10" fmla="*/ 2147483646 w 1124"/>
                <a:gd name="T11" fmla="*/ 55054975 h 1124"/>
                <a:gd name="T12" fmla="*/ 2147483646 w 1124"/>
                <a:gd name="T13" fmla="*/ 0 h 1124"/>
                <a:gd name="T14" fmla="*/ 2147483646 w 1124"/>
                <a:gd name="T15" fmla="*/ 55054975 h 1124"/>
                <a:gd name="T16" fmla="*/ 2147483646 w 1124"/>
                <a:gd name="T17" fmla="*/ 280281701 h 1124"/>
                <a:gd name="T18" fmla="*/ 2147483646 w 1124"/>
                <a:gd name="T19" fmla="*/ 645645922 h 1124"/>
                <a:gd name="T20" fmla="*/ 2147483646 w 1124"/>
                <a:gd name="T21" fmla="*/ 1131133748 h 1124"/>
                <a:gd name="T22" fmla="*/ 2147483646 w 1124"/>
                <a:gd name="T23" fmla="*/ 1721724696 h 1124"/>
                <a:gd name="T24" fmla="*/ 2147483646 w 1124"/>
                <a:gd name="T25" fmla="*/ 2147483646 h 1124"/>
                <a:gd name="T26" fmla="*/ 2147483646 w 1124"/>
                <a:gd name="T27" fmla="*/ 2147483646 h 1124"/>
                <a:gd name="T28" fmla="*/ 2147483646 w 1124"/>
                <a:gd name="T29" fmla="*/ 2147483646 h 1124"/>
                <a:gd name="T30" fmla="*/ 2147483646 w 1124"/>
                <a:gd name="T31" fmla="*/ 2147483646 h 1124"/>
                <a:gd name="T32" fmla="*/ 2147483646 w 1124"/>
                <a:gd name="T33" fmla="*/ 2147483646 h 1124"/>
                <a:gd name="T34" fmla="*/ 2147483646 w 1124"/>
                <a:gd name="T35" fmla="*/ 2147483646 h 1124"/>
                <a:gd name="T36" fmla="*/ 2147483646 w 1124"/>
                <a:gd name="T37" fmla="*/ 2147483646 h 1124"/>
                <a:gd name="T38" fmla="*/ 2147483646 w 1124"/>
                <a:gd name="T39" fmla="*/ 2147483646 h 1124"/>
                <a:gd name="T40" fmla="*/ 2147483646 w 1124"/>
                <a:gd name="T41" fmla="*/ 2147483646 h 1124"/>
                <a:gd name="T42" fmla="*/ 1976981205 w 1124"/>
                <a:gd name="T43" fmla="*/ 2147483646 h 1124"/>
                <a:gd name="T44" fmla="*/ 1356358237 w 1124"/>
                <a:gd name="T45" fmla="*/ 2147483646 h 1124"/>
                <a:gd name="T46" fmla="*/ 825826856 w 1124"/>
                <a:gd name="T47" fmla="*/ 2147483646 h 1124"/>
                <a:gd name="T48" fmla="*/ 410410014 w 1124"/>
                <a:gd name="T49" fmla="*/ 2147483646 h 1124"/>
                <a:gd name="T50" fmla="*/ 130130550 w 1124"/>
                <a:gd name="T51" fmla="*/ 2147483646 h 1124"/>
                <a:gd name="T52" fmla="*/ 0 w 1124"/>
                <a:gd name="T53" fmla="*/ 2147483646 h 1124"/>
                <a:gd name="T54" fmla="*/ 1086087956 w 1124"/>
                <a:gd name="T55" fmla="*/ 1246248288 h 1124"/>
                <a:gd name="T56" fmla="*/ 765767290 w 1124"/>
                <a:gd name="T57" fmla="*/ 1701704095 h 1124"/>
                <a:gd name="T58" fmla="*/ 555556574 w 1124"/>
                <a:gd name="T59" fmla="*/ 2147483646 h 1124"/>
                <a:gd name="T60" fmla="*/ 480480998 w 1124"/>
                <a:gd name="T61" fmla="*/ 2147483646 h 1124"/>
                <a:gd name="T62" fmla="*/ 505506190 w 1124"/>
                <a:gd name="T63" fmla="*/ 2147483646 h 1124"/>
                <a:gd name="T64" fmla="*/ 665666523 w 1124"/>
                <a:gd name="T65" fmla="*/ 2147483646 h 1124"/>
                <a:gd name="T66" fmla="*/ 950952815 w 1124"/>
                <a:gd name="T67" fmla="*/ 2147483646 h 1124"/>
                <a:gd name="T68" fmla="*/ 1166168122 w 1124"/>
                <a:gd name="T69" fmla="*/ 2147483646 h 1124"/>
                <a:gd name="T70" fmla="*/ 1606610156 w 1124"/>
                <a:gd name="T71" fmla="*/ 2147483646 h 1124"/>
                <a:gd name="T72" fmla="*/ 2122125527 w 1124"/>
                <a:gd name="T73" fmla="*/ 2147483646 h 1124"/>
                <a:gd name="T74" fmla="*/ 2147483646 w 1124"/>
                <a:gd name="T75" fmla="*/ 2147483646 h 1124"/>
                <a:gd name="T76" fmla="*/ 2147483646 w 1124"/>
                <a:gd name="T77" fmla="*/ 2147483646 h 1124"/>
                <a:gd name="T78" fmla="*/ 2147483646 w 1124"/>
                <a:gd name="T79" fmla="*/ 2147483646 h 1124"/>
                <a:gd name="T80" fmla="*/ 2147483646 w 1124"/>
                <a:gd name="T81" fmla="*/ 2147483646 h 1124"/>
                <a:gd name="T82" fmla="*/ 2147483646 w 1124"/>
                <a:gd name="T83" fmla="*/ 2147483646 h 1124"/>
                <a:gd name="T84" fmla="*/ 2147483646 w 1124"/>
                <a:gd name="T85" fmla="*/ 2147483646 h 1124"/>
                <a:gd name="T86" fmla="*/ 2147483646 w 1124"/>
                <a:gd name="T87" fmla="*/ 2147483646 h 1124"/>
                <a:gd name="T88" fmla="*/ 2147483646 w 1124"/>
                <a:gd name="T89" fmla="*/ 2147483646 h 1124"/>
                <a:gd name="T90" fmla="*/ 2147483646 w 1124"/>
                <a:gd name="T91" fmla="*/ 2147483646 h 1124"/>
                <a:gd name="T92" fmla="*/ 2147483646 w 1124"/>
                <a:gd name="T93" fmla="*/ 2122125527 h 1124"/>
                <a:gd name="T94" fmla="*/ 2147483646 w 1124"/>
                <a:gd name="T95" fmla="*/ 1606610156 h 1124"/>
                <a:gd name="T96" fmla="*/ 2147483646 w 1124"/>
                <a:gd name="T97" fmla="*/ 1166168122 h 1124"/>
                <a:gd name="T98" fmla="*/ 2147483646 w 1124"/>
                <a:gd name="T99" fmla="*/ 950952815 h 1124"/>
                <a:gd name="T100" fmla="*/ 2147483646 w 1124"/>
                <a:gd name="T101" fmla="*/ 665666523 h 1124"/>
                <a:gd name="T102" fmla="*/ 2147483646 w 1124"/>
                <a:gd name="T103" fmla="*/ 505506190 h 1124"/>
                <a:gd name="T104" fmla="*/ 2147483646 w 1124"/>
                <a:gd name="T105" fmla="*/ 480480998 h 1124"/>
                <a:gd name="T106" fmla="*/ 2147483646 w 1124"/>
                <a:gd name="T107" fmla="*/ 555556574 h 1124"/>
                <a:gd name="T108" fmla="*/ 1701704095 w 1124"/>
                <a:gd name="T109" fmla="*/ 765767290 h 1124"/>
                <a:gd name="T110" fmla="*/ 1246248288 w 1124"/>
                <a:gd name="T111" fmla="*/ 1086087956 h 11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4"/>
                <a:gd name="T169" fmla="*/ 0 h 1124"/>
                <a:gd name="T170" fmla="*/ 1124 w 1124"/>
                <a:gd name="T171" fmla="*/ 1124 h 11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4" h="1124">
                  <a:moveTo>
                    <a:pt x="0" y="562"/>
                  </a:moveTo>
                  <a:lnTo>
                    <a:pt x="0" y="562"/>
                  </a:lnTo>
                  <a:lnTo>
                    <a:pt x="0" y="533"/>
                  </a:lnTo>
                  <a:lnTo>
                    <a:pt x="3" y="504"/>
                  </a:lnTo>
                  <a:lnTo>
                    <a:pt x="6" y="477"/>
                  </a:lnTo>
                  <a:lnTo>
                    <a:pt x="11" y="448"/>
                  </a:lnTo>
                  <a:lnTo>
                    <a:pt x="18" y="422"/>
                  </a:lnTo>
                  <a:lnTo>
                    <a:pt x="26" y="395"/>
                  </a:lnTo>
                  <a:lnTo>
                    <a:pt x="34" y="369"/>
                  </a:lnTo>
                  <a:lnTo>
                    <a:pt x="45" y="344"/>
                  </a:lnTo>
                  <a:lnTo>
                    <a:pt x="56" y="318"/>
                  </a:lnTo>
                  <a:lnTo>
                    <a:pt x="67" y="294"/>
                  </a:lnTo>
                  <a:lnTo>
                    <a:pt x="82" y="271"/>
                  </a:lnTo>
                  <a:lnTo>
                    <a:pt x="96" y="247"/>
                  </a:lnTo>
                  <a:lnTo>
                    <a:pt x="112" y="226"/>
                  </a:lnTo>
                  <a:lnTo>
                    <a:pt x="128" y="204"/>
                  </a:lnTo>
                  <a:lnTo>
                    <a:pt x="146" y="185"/>
                  </a:lnTo>
                  <a:lnTo>
                    <a:pt x="165" y="165"/>
                  </a:lnTo>
                  <a:lnTo>
                    <a:pt x="185" y="146"/>
                  </a:lnTo>
                  <a:lnTo>
                    <a:pt x="204" y="129"/>
                  </a:lnTo>
                  <a:lnTo>
                    <a:pt x="226" y="113"/>
                  </a:lnTo>
                  <a:lnTo>
                    <a:pt x="247" y="96"/>
                  </a:lnTo>
                  <a:lnTo>
                    <a:pt x="271" y="82"/>
                  </a:lnTo>
                  <a:lnTo>
                    <a:pt x="294" y="68"/>
                  </a:lnTo>
                  <a:lnTo>
                    <a:pt x="318" y="56"/>
                  </a:lnTo>
                  <a:lnTo>
                    <a:pt x="344" y="45"/>
                  </a:lnTo>
                  <a:lnTo>
                    <a:pt x="369" y="34"/>
                  </a:lnTo>
                  <a:lnTo>
                    <a:pt x="395" y="26"/>
                  </a:lnTo>
                  <a:lnTo>
                    <a:pt x="422" y="18"/>
                  </a:lnTo>
                  <a:lnTo>
                    <a:pt x="448" y="11"/>
                  </a:lnTo>
                  <a:lnTo>
                    <a:pt x="477" y="7"/>
                  </a:lnTo>
                  <a:lnTo>
                    <a:pt x="504" y="3"/>
                  </a:lnTo>
                  <a:lnTo>
                    <a:pt x="533" y="0"/>
                  </a:lnTo>
                  <a:lnTo>
                    <a:pt x="562" y="0"/>
                  </a:lnTo>
                  <a:lnTo>
                    <a:pt x="591" y="0"/>
                  </a:lnTo>
                  <a:lnTo>
                    <a:pt x="620" y="3"/>
                  </a:lnTo>
                  <a:lnTo>
                    <a:pt x="647" y="7"/>
                  </a:lnTo>
                  <a:lnTo>
                    <a:pt x="676" y="11"/>
                  </a:lnTo>
                  <a:lnTo>
                    <a:pt x="702" y="18"/>
                  </a:lnTo>
                  <a:lnTo>
                    <a:pt x="729" y="26"/>
                  </a:lnTo>
                  <a:lnTo>
                    <a:pt x="755" y="34"/>
                  </a:lnTo>
                  <a:lnTo>
                    <a:pt x="781" y="45"/>
                  </a:lnTo>
                  <a:lnTo>
                    <a:pt x="806" y="56"/>
                  </a:lnTo>
                  <a:lnTo>
                    <a:pt x="830" y="68"/>
                  </a:lnTo>
                  <a:lnTo>
                    <a:pt x="853" y="82"/>
                  </a:lnTo>
                  <a:lnTo>
                    <a:pt x="877" y="96"/>
                  </a:lnTo>
                  <a:lnTo>
                    <a:pt x="898" y="113"/>
                  </a:lnTo>
                  <a:lnTo>
                    <a:pt x="920" y="129"/>
                  </a:lnTo>
                  <a:lnTo>
                    <a:pt x="940" y="146"/>
                  </a:lnTo>
                  <a:lnTo>
                    <a:pt x="959" y="165"/>
                  </a:lnTo>
                  <a:lnTo>
                    <a:pt x="978" y="185"/>
                  </a:lnTo>
                  <a:lnTo>
                    <a:pt x="996" y="204"/>
                  </a:lnTo>
                  <a:lnTo>
                    <a:pt x="1012" y="226"/>
                  </a:lnTo>
                  <a:lnTo>
                    <a:pt x="1028" y="247"/>
                  </a:lnTo>
                  <a:lnTo>
                    <a:pt x="1042" y="271"/>
                  </a:lnTo>
                  <a:lnTo>
                    <a:pt x="1057" y="294"/>
                  </a:lnTo>
                  <a:lnTo>
                    <a:pt x="1068" y="318"/>
                  </a:lnTo>
                  <a:lnTo>
                    <a:pt x="1079" y="344"/>
                  </a:lnTo>
                  <a:lnTo>
                    <a:pt x="1090" y="369"/>
                  </a:lnTo>
                  <a:lnTo>
                    <a:pt x="1099" y="395"/>
                  </a:lnTo>
                  <a:lnTo>
                    <a:pt x="1107" y="422"/>
                  </a:lnTo>
                  <a:lnTo>
                    <a:pt x="1113" y="448"/>
                  </a:lnTo>
                  <a:lnTo>
                    <a:pt x="1118" y="477"/>
                  </a:lnTo>
                  <a:lnTo>
                    <a:pt x="1121" y="504"/>
                  </a:lnTo>
                  <a:lnTo>
                    <a:pt x="1124" y="533"/>
                  </a:lnTo>
                  <a:lnTo>
                    <a:pt x="1124" y="562"/>
                  </a:lnTo>
                  <a:lnTo>
                    <a:pt x="1124" y="591"/>
                  </a:lnTo>
                  <a:lnTo>
                    <a:pt x="1121" y="620"/>
                  </a:lnTo>
                  <a:lnTo>
                    <a:pt x="1118" y="647"/>
                  </a:lnTo>
                  <a:lnTo>
                    <a:pt x="1113" y="676"/>
                  </a:lnTo>
                  <a:lnTo>
                    <a:pt x="1107" y="702"/>
                  </a:lnTo>
                  <a:lnTo>
                    <a:pt x="1099" y="729"/>
                  </a:lnTo>
                  <a:lnTo>
                    <a:pt x="1090" y="755"/>
                  </a:lnTo>
                  <a:lnTo>
                    <a:pt x="1079" y="780"/>
                  </a:lnTo>
                  <a:lnTo>
                    <a:pt x="1068" y="806"/>
                  </a:lnTo>
                  <a:lnTo>
                    <a:pt x="1057" y="830"/>
                  </a:lnTo>
                  <a:lnTo>
                    <a:pt x="1042" y="853"/>
                  </a:lnTo>
                  <a:lnTo>
                    <a:pt x="1028" y="877"/>
                  </a:lnTo>
                  <a:lnTo>
                    <a:pt x="1012" y="898"/>
                  </a:lnTo>
                  <a:lnTo>
                    <a:pt x="996" y="920"/>
                  </a:lnTo>
                  <a:lnTo>
                    <a:pt x="978" y="939"/>
                  </a:lnTo>
                  <a:lnTo>
                    <a:pt x="959" y="959"/>
                  </a:lnTo>
                  <a:lnTo>
                    <a:pt x="940" y="978"/>
                  </a:lnTo>
                  <a:lnTo>
                    <a:pt x="920" y="996"/>
                  </a:lnTo>
                  <a:lnTo>
                    <a:pt x="898" y="1012"/>
                  </a:lnTo>
                  <a:lnTo>
                    <a:pt x="877" y="1028"/>
                  </a:lnTo>
                  <a:lnTo>
                    <a:pt x="853" y="1042"/>
                  </a:lnTo>
                  <a:lnTo>
                    <a:pt x="830" y="1057"/>
                  </a:lnTo>
                  <a:lnTo>
                    <a:pt x="806" y="1068"/>
                  </a:lnTo>
                  <a:lnTo>
                    <a:pt x="781" y="1079"/>
                  </a:lnTo>
                  <a:lnTo>
                    <a:pt x="755" y="1090"/>
                  </a:lnTo>
                  <a:lnTo>
                    <a:pt x="729" y="1098"/>
                  </a:lnTo>
                  <a:lnTo>
                    <a:pt x="702" y="1106"/>
                  </a:lnTo>
                  <a:lnTo>
                    <a:pt x="676" y="1113"/>
                  </a:lnTo>
                  <a:lnTo>
                    <a:pt x="647" y="1118"/>
                  </a:lnTo>
                  <a:lnTo>
                    <a:pt x="620" y="1121"/>
                  </a:lnTo>
                  <a:lnTo>
                    <a:pt x="591" y="1124"/>
                  </a:lnTo>
                  <a:lnTo>
                    <a:pt x="562" y="1124"/>
                  </a:lnTo>
                  <a:lnTo>
                    <a:pt x="533" y="1124"/>
                  </a:lnTo>
                  <a:lnTo>
                    <a:pt x="504" y="1121"/>
                  </a:lnTo>
                  <a:lnTo>
                    <a:pt x="477" y="1118"/>
                  </a:lnTo>
                  <a:lnTo>
                    <a:pt x="448" y="1113"/>
                  </a:lnTo>
                  <a:lnTo>
                    <a:pt x="422" y="1106"/>
                  </a:lnTo>
                  <a:lnTo>
                    <a:pt x="395" y="1098"/>
                  </a:lnTo>
                  <a:lnTo>
                    <a:pt x="369" y="1090"/>
                  </a:lnTo>
                  <a:lnTo>
                    <a:pt x="344" y="1079"/>
                  </a:lnTo>
                  <a:lnTo>
                    <a:pt x="318" y="1068"/>
                  </a:lnTo>
                  <a:lnTo>
                    <a:pt x="294" y="1057"/>
                  </a:lnTo>
                  <a:lnTo>
                    <a:pt x="271" y="1042"/>
                  </a:lnTo>
                  <a:lnTo>
                    <a:pt x="247" y="1028"/>
                  </a:lnTo>
                  <a:lnTo>
                    <a:pt x="226" y="1012"/>
                  </a:lnTo>
                  <a:lnTo>
                    <a:pt x="204" y="996"/>
                  </a:lnTo>
                  <a:lnTo>
                    <a:pt x="185" y="978"/>
                  </a:lnTo>
                  <a:lnTo>
                    <a:pt x="165" y="959"/>
                  </a:lnTo>
                  <a:lnTo>
                    <a:pt x="146" y="939"/>
                  </a:lnTo>
                  <a:lnTo>
                    <a:pt x="128" y="920"/>
                  </a:lnTo>
                  <a:lnTo>
                    <a:pt x="112" y="898"/>
                  </a:lnTo>
                  <a:lnTo>
                    <a:pt x="96" y="877"/>
                  </a:lnTo>
                  <a:lnTo>
                    <a:pt x="82" y="853"/>
                  </a:lnTo>
                  <a:lnTo>
                    <a:pt x="67" y="830"/>
                  </a:lnTo>
                  <a:lnTo>
                    <a:pt x="56" y="806"/>
                  </a:lnTo>
                  <a:lnTo>
                    <a:pt x="45" y="780"/>
                  </a:lnTo>
                  <a:lnTo>
                    <a:pt x="34" y="755"/>
                  </a:lnTo>
                  <a:lnTo>
                    <a:pt x="26" y="729"/>
                  </a:lnTo>
                  <a:lnTo>
                    <a:pt x="18" y="702"/>
                  </a:lnTo>
                  <a:lnTo>
                    <a:pt x="11" y="676"/>
                  </a:lnTo>
                  <a:lnTo>
                    <a:pt x="6" y="647"/>
                  </a:lnTo>
                  <a:lnTo>
                    <a:pt x="3" y="620"/>
                  </a:lnTo>
                  <a:lnTo>
                    <a:pt x="0" y="591"/>
                  </a:lnTo>
                  <a:lnTo>
                    <a:pt x="0" y="562"/>
                  </a:lnTo>
                  <a:close/>
                  <a:moveTo>
                    <a:pt x="233" y="233"/>
                  </a:moveTo>
                  <a:lnTo>
                    <a:pt x="233" y="233"/>
                  </a:lnTo>
                  <a:lnTo>
                    <a:pt x="217" y="249"/>
                  </a:lnTo>
                  <a:lnTo>
                    <a:pt x="202" y="267"/>
                  </a:lnTo>
                  <a:lnTo>
                    <a:pt x="190" y="284"/>
                  </a:lnTo>
                  <a:lnTo>
                    <a:pt x="177" y="302"/>
                  </a:lnTo>
                  <a:lnTo>
                    <a:pt x="164" y="321"/>
                  </a:lnTo>
                  <a:lnTo>
                    <a:pt x="153" y="340"/>
                  </a:lnTo>
                  <a:lnTo>
                    <a:pt x="143" y="360"/>
                  </a:lnTo>
                  <a:lnTo>
                    <a:pt x="133" y="381"/>
                  </a:lnTo>
                  <a:lnTo>
                    <a:pt x="125" y="402"/>
                  </a:lnTo>
                  <a:lnTo>
                    <a:pt x="117" y="424"/>
                  </a:lnTo>
                  <a:lnTo>
                    <a:pt x="111" y="446"/>
                  </a:lnTo>
                  <a:lnTo>
                    <a:pt x="106" y="469"/>
                  </a:lnTo>
                  <a:lnTo>
                    <a:pt x="101" y="491"/>
                  </a:lnTo>
                  <a:lnTo>
                    <a:pt x="98" y="514"/>
                  </a:lnTo>
                  <a:lnTo>
                    <a:pt x="96" y="538"/>
                  </a:lnTo>
                  <a:lnTo>
                    <a:pt x="96" y="562"/>
                  </a:lnTo>
                  <a:lnTo>
                    <a:pt x="96" y="586"/>
                  </a:lnTo>
                  <a:lnTo>
                    <a:pt x="98" y="610"/>
                  </a:lnTo>
                  <a:lnTo>
                    <a:pt x="101" y="633"/>
                  </a:lnTo>
                  <a:lnTo>
                    <a:pt x="106" y="655"/>
                  </a:lnTo>
                  <a:lnTo>
                    <a:pt x="111" y="678"/>
                  </a:lnTo>
                  <a:lnTo>
                    <a:pt x="117" y="700"/>
                  </a:lnTo>
                  <a:lnTo>
                    <a:pt x="125" y="723"/>
                  </a:lnTo>
                  <a:lnTo>
                    <a:pt x="133" y="743"/>
                  </a:lnTo>
                  <a:lnTo>
                    <a:pt x="143" y="764"/>
                  </a:lnTo>
                  <a:lnTo>
                    <a:pt x="153" y="784"/>
                  </a:lnTo>
                  <a:lnTo>
                    <a:pt x="164" y="803"/>
                  </a:lnTo>
                  <a:lnTo>
                    <a:pt x="177" y="822"/>
                  </a:lnTo>
                  <a:lnTo>
                    <a:pt x="190" y="840"/>
                  </a:lnTo>
                  <a:lnTo>
                    <a:pt x="202" y="857"/>
                  </a:lnTo>
                  <a:lnTo>
                    <a:pt x="217" y="875"/>
                  </a:lnTo>
                  <a:lnTo>
                    <a:pt x="233" y="891"/>
                  </a:lnTo>
                  <a:lnTo>
                    <a:pt x="249" y="907"/>
                  </a:lnTo>
                  <a:lnTo>
                    <a:pt x="267" y="922"/>
                  </a:lnTo>
                  <a:lnTo>
                    <a:pt x="284" y="935"/>
                  </a:lnTo>
                  <a:lnTo>
                    <a:pt x="302" y="947"/>
                  </a:lnTo>
                  <a:lnTo>
                    <a:pt x="321" y="960"/>
                  </a:lnTo>
                  <a:lnTo>
                    <a:pt x="340" y="971"/>
                  </a:lnTo>
                  <a:lnTo>
                    <a:pt x="360" y="981"/>
                  </a:lnTo>
                  <a:lnTo>
                    <a:pt x="381" y="991"/>
                  </a:lnTo>
                  <a:lnTo>
                    <a:pt x="402" y="999"/>
                  </a:lnTo>
                  <a:lnTo>
                    <a:pt x="424" y="1007"/>
                  </a:lnTo>
                  <a:lnTo>
                    <a:pt x="445" y="1013"/>
                  </a:lnTo>
                  <a:lnTo>
                    <a:pt x="469" y="1018"/>
                  </a:lnTo>
                  <a:lnTo>
                    <a:pt x="491" y="1023"/>
                  </a:lnTo>
                  <a:lnTo>
                    <a:pt x="514" y="1024"/>
                  </a:lnTo>
                  <a:lnTo>
                    <a:pt x="538" y="1028"/>
                  </a:lnTo>
                  <a:lnTo>
                    <a:pt x="562" y="1028"/>
                  </a:lnTo>
                  <a:lnTo>
                    <a:pt x="586" y="1028"/>
                  </a:lnTo>
                  <a:lnTo>
                    <a:pt x="610" y="1024"/>
                  </a:lnTo>
                  <a:lnTo>
                    <a:pt x="633" y="1023"/>
                  </a:lnTo>
                  <a:lnTo>
                    <a:pt x="655" y="1018"/>
                  </a:lnTo>
                  <a:lnTo>
                    <a:pt x="678" y="1013"/>
                  </a:lnTo>
                  <a:lnTo>
                    <a:pt x="700" y="1007"/>
                  </a:lnTo>
                  <a:lnTo>
                    <a:pt x="723" y="999"/>
                  </a:lnTo>
                  <a:lnTo>
                    <a:pt x="744" y="991"/>
                  </a:lnTo>
                  <a:lnTo>
                    <a:pt x="764" y="981"/>
                  </a:lnTo>
                  <a:lnTo>
                    <a:pt x="784" y="971"/>
                  </a:lnTo>
                  <a:lnTo>
                    <a:pt x="803" y="960"/>
                  </a:lnTo>
                  <a:lnTo>
                    <a:pt x="822" y="947"/>
                  </a:lnTo>
                  <a:lnTo>
                    <a:pt x="840" y="935"/>
                  </a:lnTo>
                  <a:lnTo>
                    <a:pt x="858" y="922"/>
                  </a:lnTo>
                  <a:lnTo>
                    <a:pt x="875" y="907"/>
                  </a:lnTo>
                  <a:lnTo>
                    <a:pt x="891" y="891"/>
                  </a:lnTo>
                  <a:lnTo>
                    <a:pt x="907" y="875"/>
                  </a:lnTo>
                  <a:lnTo>
                    <a:pt x="922" y="857"/>
                  </a:lnTo>
                  <a:lnTo>
                    <a:pt x="935" y="840"/>
                  </a:lnTo>
                  <a:lnTo>
                    <a:pt x="948" y="822"/>
                  </a:lnTo>
                  <a:lnTo>
                    <a:pt x="960" y="803"/>
                  </a:lnTo>
                  <a:lnTo>
                    <a:pt x="972" y="784"/>
                  </a:lnTo>
                  <a:lnTo>
                    <a:pt x="981" y="764"/>
                  </a:lnTo>
                  <a:lnTo>
                    <a:pt x="991" y="743"/>
                  </a:lnTo>
                  <a:lnTo>
                    <a:pt x="999" y="723"/>
                  </a:lnTo>
                  <a:lnTo>
                    <a:pt x="1007" y="700"/>
                  </a:lnTo>
                  <a:lnTo>
                    <a:pt x="1013" y="678"/>
                  </a:lnTo>
                  <a:lnTo>
                    <a:pt x="1018" y="655"/>
                  </a:lnTo>
                  <a:lnTo>
                    <a:pt x="1023" y="633"/>
                  </a:lnTo>
                  <a:lnTo>
                    <a:pt x="1025" y="610"/>
                  </a:lnTo>
                  <a:lnTo>
                    <a:pt x="1028" y="586"/>
                  </a:lnTo>
                  <a:lnTo>
                    <a:pt x="1028" y="562"/>
                  </a:lnTo>
                  <a:lnTo>
                    <a:pt x="1028" y="538"/>
                  </a:lnTo>
                  <a:lnTo>
                    <a:pt x="1025" y="514"/>
                  </a:lnTo>
                  <a:lnTo>
                    <a:pt x="1023" y="491"/>
                  </a:lnTo>
                  <a:lnTo>
                    <a:pt x="1018" y="469"/>
                  </a:lnTo>
                  <a:lnTo>
                    <a:pt x="1013" y="446"/>
                  </a:lnTo>
                  <a:lnTo>
                    <a:pt x="1007" y="424"/>
                  </a:lnTo>
                  <a:lnTo>
                    <a:pt x="999" y="402"/>
                  </a:lnTo>
                  <a:lnTo>
                    <a:pt x="991" y="381"/>
                  </a:lnTo>
                  <a:lnTo>
                    <a:pt x="981" y="360"/>
                  </a:lnTo>
                  <a:lnTo>
                    <a:pt x="972" y="340"/>
                  </a:lnTo>
                  <a:lnTo>
                    <a:pt x="960" y="321"/>
                  </a:lnTo>
                  <a:lnTo>
                    <a:pt x="948" y="302"/>
                  </a:lnTo>
                  <a:lnTo>
                    <a:pt x="935" y="284"/>
                  </a:lnTo>
                  <a:lnTo>
                    <a:pt x="922" y="267"/>
                  </a:lnTo>
                  <a:lnTo>
                    <a:pt x="907" y="249"/>
                  </a:lnTo>
                  <a:lnTo>
                    <a:pt x="891" y="233"/>
                  </a:lnTo>
                  <a:lnTo>
                    <a:pt x="875" y="217"/>
                  </a:lnTo>
                  <a:lnTo>
                    <a:pt x="858" y="202"/>
                  </a:lnTo>
                  <a:lnTo>
                    <a:pt x="840" y="190"/>
                  </a:lnTo>
                  <a:lnTo>
                    <a:pt x="822" y="177"/>
                  </a:lnTo>
                  <a:lnTo>
                    <a:pt x="803" y="164"/>
                  </a:lnTo>
                  <a:lnTo>
                    <a:pt x="784" y="153"/>
                  </a:lnTo>
                  <a:lnTo>
                    <a:pt x="764" y="143"/>
                  </a:lnTo>
                  <a:lnTo>
                    <a:pt x="744" y="133"/>
                  </a:lnTo>
                  <a:lnTo>
                    <a:pt x="723" y="125"/>
                  </a:lnTo>
                  <a:lnTo>
                    <a:pt x="700" y="117"/>
                  </a:lnTo>
                  <a:lnTo>
                    <a:pt x="678" y="111"/>
                  </a:lnTo>
                  <a:lnTo>
                    <a:pt x="655" y="106"/>
                  </a:lnTo>
                  <a:lnTo>
                    <a:pt x="633" y="101"/>
                  </a:lnTo>
                  <a:lnTo>
                    <a:pt x="610" y="100"/>
                  </a:lnTo>
                  <a:lnTo>
                    <a:pt x="586" y="96"/>
                  </a:lnTo>
                  <a:lnTo>
                    <a:pt x="562" y="96"/>
                  </a:lnTo>
                  <a:lnTo>
                    <a:pt x="538" y="96"/>
                  </a:lnTo>
                  <a:lnTo>
                    <a:pt x="514" y="100"/>
                  </a:lnTo>
                  <a:lnTo>
                    <a:pt x="491" y="101"/>
                  </a:lnTo>
                  <a:lnTo>
                    <a:pt x="469" y="106"/>
                  </a:lnTo>
                  <a:lnTo>
                    <a:pt x="445" y="111"/>
                  </a:lnTo>
                  <a:lnTo>
                    <a:pt x="424" y="117"/>
                  </a:lnTo>
                  <a:lnTo>
                    <a:pt x="402" y="125"/>
                  </a:lnTo>
                  <a:lnTo>
                    <a:pt x="381" y="133"/>
                  </a:lnTo>
                  <a:lnTo>
                    <a:pt x="360" y="143"/>
                  </a:lnTo>
                  <a:lnTo>
                    <a:pt x="340" y="153"/>
                  </a:lnTo>
                  <a:lnTo>
                    <a:pt x="321" y="164"/>
                  </a:lnTo>
                  <a:lnTo>
                    <a:pt x="302" y="177"/>
                  </a:lnTo>
                  <a:lnTo>
                    <a:pt x="284" y="190"/>
                  </a:lnTo>
                  <a:lnTo>
                    <a:pt x="267" y="202"/>
                  </a:lnTo>
                  <a:lnTo>
                    <a:pt x="249" y="217"/>
                  </a:lnTo>
                  <a:lnTo>
                    <a:pt x="233" y="233"/>
                  </a:lnTo>
                  <a:close/>
                </a:path>
              </a:pathLst>
            </a:custGeom>
            <a:solidFill>
              <a:schemeClr val="accent5">
                <a:lumMod val="60000"/>
                <a:lumOff val="40000"/>
              </a:schemeClr>
            </a:solidFill>
            <a:ln w="9525">
              <a:solidFill>
                <a:schemeClr val="accent5">
                  <a:lumMod val="60000"/>
                  <a:lumOff val="40000"/>
                </a:schemeClr>
              </a:solidFill>
              <a:round/>
              <a:headEnd/>
              <a:tailEnd/>
            </a:ln>
            <a:extLst/>
          </p:spPr>
          <p:txBody>
            <a:bodyPr anchor="ctr"/>
            <a:lstStyle/>
            <a:p>
              <a:endParaRPr lang="zh-CN" altLang="en-US"/>
            </a:p>
          </p:txBody>
        </p:sp>
      </p:grpSp>
      <p:sp>
        <p:nvSpPr>
          <p:cNvPr id="47" name="矩形 46"/>
          <p:cNvSpPr/>
          <p:nvPr/>
        </p:nvSpPr>
        <p:spPr>
          <a:xfrm>
            <a:off x="2024656" y="990839"/>
            <a:ext cx="870520" cy="490519"/>
          </a:xfrm>
          <a:prstGeom prst="rect">
            <a:avLst/>
          </a:prstGeom>
          <a:ln w="19050">
            <a:noFill/>
          </a:ln>
        </p:spPr>
        <p:txBody>
          <a:bodyPr wrap="square">
            <a:spAutoFit/>
          </a:bodyPr>
          <a:lstStyle/>
          <a:p>
            <a:pPr lvl="0">
              <a:lnSpc>
                <a:spcPct val="125000"/>
              </a:lnSpc>
            </a:pPr>
            <a:r>
              <a:rPr lang="zh-CN" altLang="en-US" sz="2400" b="1" dirty="0" smtClean="0">
                <a:solidFill>
                  <a:srgbClr val="CD7371"/>
                </a:solidFill>
                <a:latin typeface="楷体" pitchFamily="49" charset="-122"/>
                <a:ea typeface="楷体" pitchFamily="49" charset="-122"/>
              </a:rPr>
              <a:t>作用</a:t>
            </a:r>
            <a:endParaRPr lang="zh-CN" altLang="zh-CN" sz="2400" b="1" dirty="0">
              <a:solidFill>
                <a:srgbClr val="CD7371"/>
              </a:solidFill>
              <a:latin typeface="楷体" pitchFamily="49" charset="-122"/>
              <a:ea typeface="楷体" pitchFamily="49" charset="-122"/>
            </a:endParaRPr>
          </a:p>
        </p:txBody>
      </p:sp>
      <p:sp>
        <p:nvSpPr>
          <p:cNvPr id="3" name="矩形 2"/>
          <p:cNvSpPr/>
          <p:nvPr/>
        </p:nvSpPr>
        <p:spPr>
          <a:xfrm>
            <a:off x="1047064" y="1668389"/>
            <a:ext cx="2276770" cy="923330"/>
          </a:xfrm>
          <a:prstGeom prst="rect">
            <a:avLst/>
          </a:prstGeom>
        </p:spPr>
        <p:txBody>
          <a:bodyPr wrap="square">
            <a:spAutoFit/>
          </a:bodyPr>
          <a:lstStyle/>
          <a:p>
            <a:r>
              <a:rPr lang="zh-CN" altLang="en-US" b="1" dirty="0" smtClean="0"/>
              <a:t>    用于定义只读</a:t>
            </a:r>
            <a:r>
              <a:rPr lang="zh-CN" altLang="en-US" b="1" dirty="0"/>
              <a:t>的变量，其值在编译时不能被改变</a:t>
            </a:r>
          </a:p>
        </p:txBody>
      </p:sp>
      <p:sp>
        <p:nvSpPr>
          <p:cNvPr id="6" name="矩形 5"/>
          <p:cNvSpPr/>
          <p:nvPr/>
        </p:nvSpPr>
        <p:spPr>
          <a:xfrm>
            <a:off x="2470956" y="3998769"/>
            <a:ext cx="4340345" cy="452432"/>
          </a:xfrm>
          <a:prstGeom prst="rect">
            <a:avLst/>
          </a:prstGeom>
        </p:spPr>
        <p:txBody>
          <a:bodyPr wrap="square">
            <a:spAutoFit/>
          </a:bodyPr>
          <a:lstStyle/>
          <a:p>
            <a:pPr lvl="0" algn="ctr">
              <a:lnSpc>
                <a:spcPct val="130000"/>
              </a:lnSpc>
            </a:pPr>
            <a:r>
              <a:rPr lang="en-GB" altLang="zh-CN" b="1" dirty="0" err="1">
                <a:solidFill>
                  <a:prstClr val="black"/>
                </a:solidFill>
              </a:rPr>
              <a:t>const</a:t>
            </a:r>
            <a:r>
              <a:rPr lang="en-GB" altLang="zh-CN" b="1" dirty="0">
                <a:solidFill>
                  <a:prstClr val="black"/>
                </a:solidFill>
              </a:rPr>
              <a:t> </a:t>
            </a:r>
            <a:r>
              <a:rPr lang="zh-CN" altLang="en-US" b="1" dirty="0">
                <a:solidFill>
                  <a:prstClr val="black"/>
                </a:solidFill>
              </a:rPr>
              <a:t>常量类型 常量名</a:t>
            </a:r>
            <a:r>
              <a:rPr lang="en-US" altLang="zh-CN" b="1" dirty="0">
                <a:solidFill>
                  <a:prstClr val="black"/>
                </a:solidFill>
              </a:rPr>
              <a:t>=</a:t>
            </a:r>
            <a:r>
              <a:rPr lang="zh-CN" altLang="en-US" b="1" dirty="0">
                <a:solidFill>
                  <a:prstClr val="black"/>
                </a:solidFill>
              </a:rPr>
              <a:t>常量表达式；</a:t>
            </a:r>
            <a:endParaRPr lang="ko-KR" altLang="en-US" b="1" dirty="0">
              <a:solidFill>
                <a:prstClr val="black"/>
              </a:solidFill>
            </a:endParaRPr>
          </a:p>
        </p:txBody>
      </p:sp>
      <p:sp>
        <p:nvSpPr>
          <p:cNvPr id="48" name="矩形 47"/>
          <p:cNvSpPr/>
          <p:nvPr/>
        </p:nvSpPr>
        <p:spPr>
          <a:xfrm>
            <a:off x="3783368" y="3151079"/>
            <a:ext cx="870520" cy="490519"/>
          </a:xfrm>
          <a:prstGeom prst="rect">
            <a:avLst/>
          </a:prstGeom>
          <a:ln w="19050">
            <a:noFill/>
          </a:ln>
        </p:spPr>
        <p:txBody>
          <a:bodyPr wrap="square">
            <a:spAutoFit/>
          </a:bodyPr>
          <a:lstStyle/>
          <a:p>
            <a:pPr lvl="0">
              <a:lnSpc>
                <a:spcPct val="125000"/>
              </a:lnSpc>
            </a:pPr>
            <a:r>
              <a:rPr lang="zh-CN" altLang="en-US" sz="2400" b="1" dirty="0" smtClean="0">
                <a:solidFill>
                  <a:srgbClr val="CD7371"/>
                </a:solidFill>
                <a:latin typeface="楷体" pitchFamily="49" charset="-122"/>
                <a:ea typeface="楷体" pitchFamily="49" charset="-122"/>
              </a:rPr>
              <a:t>格式</a:t>
            </a:r>
            <a:endParaRPr lang="zh-CN" altLang="zh-CN" sz="2400" b="1" dirty="0">
              <a:solidFill>
                <a:srgbClr val="CD7371"/>
              </a:solidFill>
              <a:latin typeface="楷体" pitchFamily="49" charset="-122"/>
              <a:ea typeface="楷体" pitchFamily="49" charset="-122"/>
            </a:endParaRPr>
          </a:p>
        </p:txBody>
      </p:sp>
      <p:sp>
        <p:nvSpPr>
          <p:cNvPr id="49" name="矩形 48"/>
          <p:cNvSpPr/>
          <p:nvPr/>
        </p:nvSpPr>
        <p:spPr>
          <a:xfrm>
            <a:off x="326984" y="2969054"/>
            <a:ext cx="2262864" cy="1200329"/>
          </a:xfrm>
          <a:prstGeom prst="rect">
            <a:avLst/>
          </a:prstGeom>
        </p:spPr>
        <p:txBody>
          <a:bodyPr wrap="square">
            <a:spAutoFit/>
          </a:bodyPr>
          <a:lstStyle/>
          <a:p>
            <a:r>
              <a:rPr lang="zh-CN" altLang="en-US" b="1" dirty="0" smtClean="0"/>
              <a:t>     为了</a:t>
            </a:r>
            <a:r>
              <a:rPr lang="zh-CN" altLang="en-US" b="1" dirty="0"/>
              <a:t>在编译时防止变量的值被误修改，提高程序的安全性和可靠性。</a:t>
            </a:r>
          </a:p>
        </p:txBody>
      </p:sp>
      <p:sp>
        <p:nvSpPr>
          <p:cNvPr id="50" name="矩形 49"/>
          <p:cNvSpPr/>
          <p:nvPr/>
        </p:nvSpPr>
        <p:spPr>
          <a:xfrm rot="19381999">
            <a:off x="2331923" y="2530038"/>
            <a:ext cx="870520" cy="490519"/>
          </a:xfrm>
          <a:prstGeom prst="rect">
            <a:avLst/>
          </a:prstGeom>
          <a:ln w="19050">
            <a:noFill/>
          </a:ln>
        </p:spPr>
        <p:txBody>
          <a:bodyPr wrap="square">
            <a:spAutoFit/>
          </a:bodyPr>
          <a:lstStyle/>
          <a:p>
            <a:pPr lvl="0">
              <a:lnSpc>
                <a:spcPct val="125000"/>
              </a:lnSpc>
            </a:pPr>
            <a:r>
              <a:rPr lang="zh-CN" altLang="en-US" sz="2400" b="1" dirty="0" smtClean="0">
                <a:solidFill>
                  <a:srgbClr val="CD7371"/>
                </a:solidFill>
                <a:latin typeface="楷体" pitchFamily="49" charset="-122"/>
                <a:ea typeface="楷体" pitchFamily="49" charset="-122"/>
              </a:rPr>
              <a:t>目的</a:t>
            </a:r>
            <a:endParaRPr lang="zh-CN" altLang="zh-CN" sz="2400" b="1" dirty="0">
              <a:solidFill>
                <a:srgbClr val="CD7371"/>
              </a:solidFill>
              <a:latin typeface="楷体" pitchFamily="49" charset="-122"/>
              <a:ea typeface="楷体" pitchFamily="49" charset="-122"/>
            </a:endParaRPr>
          </a:p>
        </p:txBody>
      </p:sp>
      <p:sp>
        <p:nvSpPr>
          <p:cNvPr id="51" name="矩形 50"/>
          <p:cNvSpPr/>
          <p:nvPr/>
        </p:nvSpPr>
        <p:spPr>
          <a:xfrm>
            <a:off x="6026422" y="1041336"/>
            <a:ext cx="925298" cy="553998"/>
          </a:xfrm>
          <a:prstGeom prst="rect">
            <a:avLst/>
          </a:prstGeom>
          <a:ln w="19050">
            <a:noFill/>
          </a:ln>
        </p:spPr>
        <p:txBody>
          <a:bodyPr wrap="square">
            <a:spAutoFit/>
          </a:bodyPr>
          <a:lstStyle/>
          <a:p>
            <a:pPr lvl="0">
              <a:lnSpc>
                <a:spcPct val="125000"/>
              </a:lnSpc>
            </a:pPr>
            <a:r>
              <a:rPr lang="zh-CN" altLang="en-US" sz="2400" b="1" dirty="0" smtClean="0">
                <a:solidFill>
                  <a:srgbClr val="CD7371"/>
                </a:solidFill>
                <a:latin typeface="楷体" pitchFamily="49" charset="-122"/>
                <a:ea typeface="楷体" pitchFamily="49" charset="-122"/>
              </a:rPr>
              <a:t>要求</a:t>
            </a:r>
            <a:endParaRPr lang="zh-CN" altLang="zh-CN" sz="2400" b="1" dirty="0">
              <a:solidFill>
                <a:srgbClr val="CD7371"/>
              </a:solidFill>
              <a:latin typeface="楷体" pitchFamily="49" charset="-122"/>
              <a:ea typeface="楷体" pitchFamily="49" charset="-122"/>
            </a:endParaRPr>
          </a:p>
        </p:txBody>
      </p:sp>
      <p:sp>
        <p:nvSpPr>
          <p:cNvPr id="52" name="矩形 51"/>
          <p:cNvSpPr/>
          <p:nvPr/>
        </p:nvSpPr>
        <p:spPr>
          <a:xfrm rot="2650371">
            <a:off x="5633977" y="2638131"/>
            <a:ext cx="1000218" cy="490519"/>
          </a:xfrm>
          <a:prstGeom prst="rect">
            <a:avLst/>
          </a:prstGeom>
          <a:ln w="19050">
            <a:noFill/>
          </a:ln>
        </p:spPr>
        <p:txBody>
          <a:bodyPr wrap="square">
            <a:spAutoFit/>
          </a:bodyPr>
          <a:lstStyle/>
          <a:p>
            <a:pPr lvl="0">
              <a:lnSpc>
                <a:spcPct val="125000"/>
              </a:lnSpc>
            </a:pPr>
            <a:r>
              <a:rPr lang="zh-CN" altLang="en-US" sz="2400" b="1" dirty="0" smtClean="0">
                <a:solidFill>
                  <a:srgbClr val="CD7371"/>
                </a:solidFill>
                <a:latin typeface="楷体" pitchFamily="49" charset="-122"/>
                <a:ea typeface="楷体" pitchFamily="49" charset="-122"/>
              </a:rPr>
              <a:t>属性</a:t>
            </a:r>
            <a:endParaRPr lang="zh-CN" altLang="zh-CN" sz="2400" b="1" dirty="0">
              <a:solidFill>
                <a:srgbClr val="CD7371"/>
              </a:solidFill>
              <a:latin typeface="楷体" pitchFamily="49" charset="-122"/>
              <a:ea typeface="楷体" pitchFamily="49" charset="-122"/>
            </a:endParaRPr>
          </a:p>
        </p:txBody>
      </p:sp>
      <p:sp>
        <p:nvSpPr>
          <p:cNvPr id="53" name="矩形 52"/>
          <p:cNvSpPr/>
          <p:nvPr/>
        </p:nvSpPr>
        <p:spPr>
          <a:xfrm>
            <a:off x="6177842" y="1576590"/>
            <a:ext cx="2276770" cy="923330"/>
          </a:xfrm>
          <a:prstGeom prst="rect">
            <a:avLst/>
          </a:prstGeom>
        </p:spPr>
        <p:txBody>
          <a:bodyPr wrap="square">
            <a:spAutoFit/>
          </a:bodyPr>
          <a:lstStyle/>
          <a:p>
            <a:r>
              <a:rPr lang="zh-CN" altLang="en-US" b="1" dirty="0" smtClean="0"/>
              <a:t>    </a:t>
            </a:r>
            <a:r>
              <a:rPr lang="en-US" altLang="zh-CN" b="1" dirty="0" err="1"/>
              <a:t>const</a:t>
            </a:r>
            <a:r>
              <a:rPr lang="zh-CN" altLang="en-US" b="1" dirty="0"/>
              <a:t>关键词修饰的变量在声明时必须初始化</a:t>
            </a:r>
          </a:p>
        </p:txBody>
      </p:sp>
      <p:sp>
        <p:nvSpPr>
          <p:cNvPr id="54" name="矩形 53"/>
          <p:cNvSpPr/>
          <p:nvPr/>
        </p:nvSpPr>
        <p:spPr>
          <a:xfrm>
            <a:off x="6471694" y="3000006"/>
            <a:ext cx="2276770" cy="646331"/>
          </a:xfrm>
          <a:prstGeom prst="rect">
            <a:avLst/>
          </a:prstGeom>
        </p:spPr>
        <p:txBody>
          <a:bodyPr wrap="square">
            <a:spAutoFit/>
          </a:bodyPr>
          <a:lstStyle/>
          <a:p>
            <a:r>
              <a:rPr lang="zh-CN" altLang="en-US" b="1" dirty="0" smtClean="0"/>
              <a:t>     在</a:t>
            </a:r>
            <a:r>
              <a:rPr lang="en-US" altLang="zh-CN" b="1" dirty="0"/>
              <a:t>C</a:t>
            </a:r>
            <a:r>
              <a:rPr lang="zh-CN" altLang="en-US" b="1" dirty="0"/>
              <a:t>标准中，</a:t>
            </a:r>
            <a:r>
              <a:rPr lang="en-US" altLang="zh-CN" b="1" dirty="0" err="1"/>
              <a:t>const</a:t>
            </a:r>
            <a:r>
              <a:rPr lang="zh-CN" altLang="en-US" b="1" dirty="0"/>
              <a:t>定义的变量是全局的。</a:t>
            </a:r>
          </a:p>
        </p:txBody>
      </p:sp>
    </p:spTree>
    <p:extLst>
      <p:ext uri="{BB962C8B-B14F-4D97-AF65-F5344CB8AC3E}">
        <p14:creationId xmlns:p14="http://schemas.microsoft.com/office/powerpoint/2010/main" val="204566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smtClean="0">
                <a:solidFill>
                  <a:schemeClr val="bg1"/>
                </a:solidFill>
              </a:rPr>
              <a:t>4.2.3 static</a:t>
            </a:r>
            <a:r>
              <a:rPr lang="zh-CN" altLang="en-US" sz="2400" b="1" dirty="0" smtClean="0">
                <a:solidFill>
                  <a:schemeClr val="bg1"/>
                </a:solidFill>
              </a:rPr>
              <a:t>关键词</a:t>
            </a:r>
            <a:endParaRPr lang="zh-CN" altLang="zh-CN" sz="2400" b="1" dirty="0">
              <a:solidFill>
                <a:schemeClr val="bg1"/>
              </a:solidFill>
            </a:endParaRPr>
          </a:p>
        </p:txBody>
      </p:sp>
      <p:sp>
        <p:nvSpPr>
          <p:cNvPr id="6" name="矩形 5"/>
          <p:cNvSpPr/>
          <p:nvPr/>
        </p:nvSpPr>
        <p:spPr>
          <a:xfrm>
            <a:off x="1043608" y="1320444"/>
            <a:ext cx="5256584" cy="40844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t>       修饰变量或函数。修饰后的变量称为静态变量。</a:t>
            </a:r>
            <a:endParaRPr lang="zh-CN" altLang="en-US" b="1" dirty="0"/>
          </a:p>
        </p:txBody>
      </p:sp>
      <p:sp>
        <p:nvSpPr>
          <p:cNvPr id="7" name="矩形 6"/>
          <p:cNvSpPr/>
          <p:nvPr/>
        </p:nvSpPr>
        <p:spPr>
          <a:xfrm>
            <a:off x="735310" y="1161912"/>
            <a:ext cx="646331"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zh-CN" altLang="en-US" b="1" dirty="0" smtClean="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作用</a:t>
            </a:r>
            <a:endPar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矩形 7"/>
          <p:cNvSpPr/>
          <p:nvPr/>
        </p:nvSpPr>
        <p:spPr>
          <a:xfrm>
            <a:off x="1793922" y="2180352"/>
            <a:ext cx="5730406"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smtClean="0">
                <a:solidFill>
                  <a:schemeClr val="dk1"/>
                </a:solidFill>
              </a:rPr>
              <a:t>        </a:t>
            </a:r>
            <a:r>
              <a:rPr lang="zh-CN" altLang="en-US" b="1" dirty="0" smtClean="0">
                <a:solidFill>
                  <a:schemeClr val="dk1"/>
                </a:solidFill>
              </a:rPr>
              <a:t>在</a:t>
            </a:r>
            <a:r>
              <a:rPr lang="zh-CN" altLang="zh-CN" b="1" dirty="0" smtClean="0">
                <a:solidFill>
                  <a:schemeClr val="dk1"/>
                </a:solidFill>
              </a:rPr>
              <a:t>全局变量</a:t>
            </a:r>
            <a:r>
              <a:rPr lang="zh-CN" altLang="zh-CN" b="1" dirty="0">
                <a:solidFill>
                  <a:schemeClr val="dk1"/>
                </a:solidFill>
              </a:rPr>
              <a:t>之前加上关键字</a:t>
            </a:r>
            <a:r>
              <a:rPr lang="en-US" altLang="zh-CN" b="1" dirty="0">
                <a:solidFill>
                  <a:schemeClr val="dk1"/>
                </a:solidFill>
              </a:rPr>
              <a:t>static</a:t>
            </a:r>
            <a:r>
              <a:rPr lang="zh-CN" altLang="zh-CN" b="1" dirty="0">
                <a:solidFill>
                  <a:schemeClr val="dk1"/>
                </a:solidFill>
              </a:rPr>
              <a:t>，则该全局变量被定义成为一个静态</a:t>
            </a:r>
            <a:r>
              <a:rPr lang="zh-CN" altLang="zh-CN" b="1" dirty="0" smtClean="0">
                <a:solidFill>
                  <a:schemeClr val="dk1"/>
                </a:solidFill>
              </a:rPr>
              <a:t>全局变量</a:t>
            </a:r>
            <a:r>
              <a:rPr lang="zh-CN" altLang="en-US" b="1" dirty="0" smtClean="0">
                <a:solidFill>
                  <a:schemeClr val="dk1"/>
                </a:solidFill>
              </a:rPr>
              <a:t>。</a:t>
            </a:r>
            <a:endParaRPr lang="zh-CN" altLang="zh-CN" b="1" dirty="0">
              <a:solidFill>
                <a:schemeClr val="dk1"/>
              </a:solidFill>
            </a:endParaRPr>
          </a:p>
        </p:txBody>
      </p:sp>
      <p:sp>
        <p:nvSpPr>
          <p:cNvPr id="9" name="矩形 8"/>
          <p:cNvSpPr/>
          <p:nvPr/>
        </p:nvSpPr>
        <p:spPr>
          <a:xfrm>
            <a:off x="2771800" y="3332480"/>
            <a:ext cx="5904656" cy="113107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smtClean="0"/>
              <a:t>       </a:t>
            </a:r>
            <a:r>
              <a:rPr lang="zh-CN" altLang="zh-CN" b="1" dirty="0" smtClean="0"/>
              <a:t>作用</a:t>
            </a:r>
            <a:r>
              <a:rPr lang="zh-CN" altLang="zh-CN" b="1" dirty="0"/>
              <a:t>范围只在定义该变量的源文件内</a:t>
            </a:r>
            <a:r>
              <a:rPr lang="zh-CN" altLang="zh-CN" b="1" dirty="0" smtClean="0"/>
              <a:t>有效</a:t>
            </a:r>
            <a:r>
              <a:rPr lang="zh-CN" altLang="zh-CN" b="1" dirty="0" smtClean="0">
                <a:solidFill>
                  <a:schemeClr val="dk1"/>
                </a:solidFill>
              </a:rPr>
              <a:t>，</a:t>
            </a:r>
            <a:r>
              <a:rPr lang="zh-CN" altLang="zh-CN" b="1" dirty="0">
                <a:solidFill>
                  <a:schemeClr val="dk1"/>
                </a:solidFill>
              </a:rPr>
              <a:t>其他源文件不能引用该全局变量，避免了在其他源文件中因引用相同名字的变量而引发错误，有利于模块化程序设计。</a:t>
            </a:r>
          </a:p>
        </p:txBody>
      </p:sp>
      <p:sp>
        <p:nvSpPr>
          <p:cNvPr id="17" name="矩形 16"/>
          <p:cNvSpPr/>
          <p:nvPr/>
        </p:nvSpPr>
        <p:spPr>
          <a:xfrm>
            <a:off x="1475656" y="1995686"/>
            <a:ext cx="64327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操作</a:t>
            </a:r>
          </a:p>
        </p:txBody>
      </p:sp>
      <p:sp>
        <p:nvSpPr>
          <p:cNvPr id="18" name="矩形 17"/>
          <p:cNvSpPr/>
          <p:nvPr/>
        </p:nvSpPr>
        <p:spPr>
          <a:xfrm>
            <a:off x="2450165" y="3147814"/>
            <a:ext cx="64327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smtClean="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目的</a:t>
            </a:r>
            <a:endPar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2997418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smtClean="0">
                <a:solidFill>
                  <a:schemeClr val="bg1"/>
                </a:solidFill>
              </a:rPr>
              <a:t>4.2.3 static</a:t>
            </a:r>
            <a:r>
              <a:rPr lang="zh-CN" altLang="en-US" sz="2400" b="1" dirty="0" smtClean="0">
                <a:solidFill>
                  <a:schemeClr val="bg1"/>
                </a:solidFill>
              </a:rPr>
              <a:t>关键词</a:t>
            </a:r>
            <a:endParaRPr lang="zh-CN" altLang="zh-CN" sz="2400" b="1" dirty="0">
              <a:solidFill>
                <a:schemeClr val="bg1"/>
              </a:solidFill>
            </a:endParaRPr>
          </a:p>
        </p:txBody>
      </p:sp>
      <p:sp>
        <p:nvSpPr>
          <p:cNvPr id="10" name="矩形 9"/>
          <p:cNvSpPr/>
          <p:nvPr/>
        </p:nvSpPr>
        <p:spPr>
          <a:xfrm>
            <a:off x="3491880" y="596413"/>
            <a:ext cx="5328592" cy="35394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sz="1400" b="1" dirty="0" smtClean="0"/>
              <a:t>#</a:t>
            </a:r>
            <a:r>
              <a:rPr lang="en-US" altLang="zh-CN" sz="1400" b="1" dirty="0"/>
              <a:t>include "stm32f1xx_hal.h"</a:t>
            </a:r>
            <a:endParaRPr lang="zh-CN" altLang="zh-CN" sz="1400" b="1" dirty="0"/>
          </a:p>
          <a:p>
            <a:r>
              <a:rPr lang="en-US" altLang="zh-CN" sz="1400" b="1" dirty="0">
                <a:solidFill>
                  <a:srgbClr val="CD7371"/>
                </a:solidFill>
              </a:rPr>
              <a:t>static</a:t>
            </a:r>
            <a:r>
              <a:rPr lang="en-US" altLang="zh-CN" sz="1400" b="1" dirty="0"/>
              <a:t> void </a:t>
            </a:r>
            <a:r>
              <a:rPr lang="en-US" altLang="zh-CN" sz="1400" b="1" dirty="0" err="1"/>
              <a:t>DMA_SetConfig</a:t>
            </a:r>
            <a:r>
              <a:rPr lang="en-US" altLang="zh-CN" sz="1400" b="1" dirty="0"/>
              <a:t>(</a:t>
            </a:r>
            <a:r>
              <a:rPr lang="en-US" altLang="zh-CN" sz="1400" b="1" dirty="0" err="1"/>
              <a:t>DMA_HandleTypeDef</a:t>
            </a:r>
            <a:r>
              <a:rPr lang="en-US" altLang="zh-CN" sz="1400" b="1" dirty="0"/>
              <a:t> *</a:t>
            </a:r>
            <a:r>
              <a:rPr lang="en-US" altLang="zh-CN" sz="1400" b="1" dirty="0" err="1"/>
              <a:t>hdma</a:t>
            </a:r>
            <a:r>
              <a:rPr lang="en-US" altLang="zh-CN" sz="1400" b="1" dirty="0"/>
              <a:t>, uint32_t </a:t>
            </a:r>
            <a:r>
              <a:rPr lang="en-US" altLang="zh-CN" sz="1400" b="1" dirty="0" err="1"/>
              <a:t>SrcAddress</a:t>
            </a:r>
            <a:r>
              <a:rPr lang="en-US" altLang="zh-CN" sz="1400" b="1" dirty="0"/>
              <a:t>, uint32_t </a:t>
            </a:r>
            <a:r>
              <a:rPr lang="en-US" altLang="zh-CN" sz="1400" b="1" dirty="0" err="1"/>
              <a:t>DstAddress</a:t>
            </a:r>
            <a:r>
              <a:rPr lang="en-US" altLang="zh-CN" sz="1400" b="1" dirty="0"/>
              <a:t>, uint32_t </a:t>
            </a:r>
            <a:r>
              <a:rPr lang="en-US" altLang="zh-CN" sz="1400" b="1" dirty="0" err="1"/>
              <a:t>DataLength</a:t>
            </a:r>
            <a:r>
              <a:rPr lang="en-US" altLang="zh-CN" sz="1400" b="1" dirty="0"/>
              <a:t>);</a:t>
            </a:r>
            <a:endParaRPr lang="zh-CN" altLang="zh-CN" sz="1400" b="1" dirty="0"/>
          </a:p>
          <a:p>
            <a:r>
              <a:rPr lang="en-US" altLang="zh-CN" sz="1400" b="1" dirty="0"/>
              <a:t>… …</a:t>
            </a:r>
            <a:endParaRPr lang="zh-CN" altLang="zh-CN" sz="1400" b="1" dirty="0"/>
          </a:p>
          <a:p>
            <a:r>
              <a:rPr lang="en-US" altLang="zh-CN" sz="1400" b="1" dirty="0" err="1"/>
              <a:t>HAL_StatusTypeDef</a:t>
            </a:r>
            <a:r>
              <a:rPr lang="en-US" altLang="zh-CN" sz="1400" b="1" dirty="0"/>
              <a:t> </a:t>
            </a:r>
            <a:r>
              <a:rPr lang="en-US" altLang="zh-CN" sz="1400" b="1" dirty="0" err="1"/>
              <a:t>HAL_DMA_Start_IT</a:t>
            </a:r>
            <a:r>
              <a:rPr lang="en-US" altLang="zh-CN" sz="1400" b="1" dirty="0"/>
              <a:t>(</a:t>
            </a:r>
            <a:r>
              <a:rPr lang="en-US" altLang="zh-CN" sz="1400" b="1" dirty="0" err="1"/>
              <a:t>DMA_HandleTypeDef</a:t>
            </a:r>
            <a:r>
              <a:rPr lang="en-US" altLang="zh-CN" sz="1400" b="1" dirty="0"/>
              <a:t> *</a:t>
            </a:r>
            <a:r>
              <a:rPr lang="en-US" altLang="zh-CN" sz="1400" b="1" dirty="0" err="1"/>
              <a:t>hdma</a:t>
            </a:r>
            <a:r>
              <a:rPr lang="en-US" altLang="zh-CN" sz="1400" b="1" dirty="0"/>
              <a:t>, uint32_t </a:t>
            </a:r>
            <a:r>
              <a:rPr lang="en-US" altLang="zh-CN" sz="1400" b="1" dirty="0" err="1"/>
              <a:t>SrcAddress</a:t>
            </a:r>
            <a:r>
              <a:rPr lang="en-US" altLang="zh-CN" sz="1400" b="1" dirty="0"/>
              <a:t>, uint32_t </a:t>
            </a:r>
            <a:r>
              <a:rPr lang="en-US" altLang="zh-CN" sz="1400" b="1" dirty="0" err="1"/>
              <a:t>DstAddress</a:t>
            </a:r>
            <a:r>
              <a:rPr lang="en-US" altLang="zh-CN" sz="1400" b="1" dirty="0"/>
              <a:t>, uint32_t </a:t>
            </a:r>
            <a:r>
              <a:rPr lang="en-US" altLang="zh-CN" sz="1400" b="1" dirty="0" err="1"/>
              <a:t>DataLength</a:t>
            </a:r>
            <a:r>
              <a:rPr lang="en-US" altLang="zh-CN" sz="1400" b="1" dirty="0"/>
              <a:t>)</a:t>
            </a:r>
            <a:endParaRPr lang="zh-CN" altLang="zh-CN" sz="1400" b="1" dirty="0"/>
          </a:p>
          <a:p>
            <a:r>
              <a:rPr lang="en-US" altLang="zh-CN" sz="1400" b="1" dirty="0"/>
              <a:t>{</a:t>
            </a:r>
            <a:endParaRPr lang="zh-CN" altLang="zh-CN" sz="1400" b="1" dirty="0"/>
          </a:p>
          <a:p>
            <a:r>
              <a:rPr lang="en-US" altLang="zh-CN" sz="1400" b="1" dirty="0"/>
              <a:t>  </a:t>
            </a:r>
            <a:r>
              <a:rPr lang="en-US" altLang="zh-CN" sz="1400" b="1" dirty="0" err="1"/>
              <a:t>HAL_StatusTypeDef</a:t>
            </a:r>
            <a:r>
              <a:rPr lang="en-US" altLang="zh-CN" sz="1400" b="1" dirty="0"/>
              <a:t> status = HAL_OK;</a:t>
            </a:r>
            <a:endParaRPr lang="zh-CN" altLang="zh-CN" sz="1400" b="1" dirty="0"/>
          </a:p>
          <a:p>
            <a:r>
              <a:rPr lang="en-US" altLang="zh-CN" sz="1400" b="1" dirty="0"/>
              <a:t>… …</a:t>
            </a:r>
            <a:endParaRPr lang="zh-CN" altLang="zh-CN" sz="1400" b="1" dirty="0"/>
          </a:p>
          <a:p>
            <a:r>
              <a:rPr lang="en-US" altLang="zh-CN" sz="1400" b="1" dirty="0"/>
              <a:t>  if(HAL_DMA_STATE_READY == </a:t>
            </a:r>
            <a:r>
              <a:rPr lang="en-US" altLang="zh-CN" sz="1400" b="1" dirty="0" err="1"/>
              <a:t>hdma</a:t>
            </a:r>
            <a:r>
              <a:rPr lang="en-US" altLang="zh-CN" sz="1400" b="1" dirty="0"/>
              <a:t>-&gt;State)</a:t>
            </a:r>
            <a:endParaRPr lang="zh-CN" altLang="zh-CN" sz="1400" b="1" dirty="0"/>
          </a:p>
          <a:p>
            <a:r>
              <a:rPr lang="en-US" altLang="zh-CN" sz="1400" b="1" dirty="0"/>
              <a:t>  {</a:t>
            </a:r>
            <a:endParaRPr lang="zh-CN" altLang="zh-CN" sz="1400" b="1" dirty="0"/>
          </a:p>
          <a:p>
            <a:r>
              <a:rPr lang="en-US" altLang="zh-CN" sz="1400" b="1" dirty="0" err="1"/>
              <a:t>DMA_SetConfig</a:t>
            </a:r>
            <a:r>
              <a:rPr lang="en-US" altLang="zh-CN" sz="1400" b="1" dirty="0"/>
              <a:t>(</a:t>
            </a:r>
            <a:r>
              <a:rPr lang="en-US" altLang="zh-CN" sz="1400" b="1" dirty="0" err="1"/>
              <a:t>hdma</a:t>
            </a:r>
            <a:r>
              <a:rPr lang="en-US" altLang="zh-CN" sz="1400" b="1" dirty="0"/>
              <a:t>, </a:t>
            </a:r>
            <a:r>
              <a:rPr lang="en-US" altLang="zh-CN" sz="1400" b="1" dirty="0" err="1"/>
              <a:t>SrcAddress</a:t>
            </a:r>
            <a:r>
              <a:rPr lang="en-US" altLang="zh-CN" sz="1400" b="1" dirty="0"/>
              <a:t>, </a:t>
            </a:r>
            <a:r>
              <a:rPr lang="en-US" altLang="zh-CN" sz="1400" b="1" dirty="0" err="1"/>
              <a:t>DstAddress</a:t>
            </a:r>
            <a:r>
              <a:rPr lang="en-US" altLang="zh-CN" sz="1400" b="1" dirty="0"/>
              <a:t>, </a:t>
            </a:r>
            <a:r>
              <a:rPr lang="en-US" altLang="zh-CN" sz="1400" b="1" dirty="0" err="1"/>
              <a:t>DataLength</a:t>
            </a:r>
            <a:r>
              <a:rPr lang="en-US" altLang="zh-CN" sz="1400" b="1" dirty="0"/>
              <a:t>);</a:t>
            </a:r>
            <a:endParaRPr lang="zh-CN" altLang="zh-CN" sz="1400" b="1" dirty="0"/>
          </a:p>
          <a:p>
            <a:r>
              <a:rPr lang="en-US" altLang="zh-CN" sz="1400" b="1" dirty="0"/>
              <a:t>… …</a:t>
            </a:r>
            <a:endParaRPr lang="zh-CN" altLang="zh-CN" sz="1400" b="1" dirty="0"/>
          </a:p>
          <a:p>
            <a:r>
              <a:rPr lang="en-US" altLang="zh-CN" sz="1400" b="1" dirty="0"/>
              <a:t>}</a:t>
            </a:r>
            <a:endParaRPr lang="zh-CN" altLang="zh-CN" sz="1400" b="1" dirty="0"/>
          </a:p>
          <a:p>
            <a:r>
              <a:rPr lang="en-US" altLang="zh-CN" sz="1400" b="1" dirty="0"/>
              <a:t>… …</a:t>
            </a:r>
            <a:endParaRPr lang="zh-CN" altLang="zh-CN" sz="1400" b="1" dirty="0"/>
          </a:p>
          <a:p>
            <a:r>
              <a:rPr lang="en-US" altLang="zh-CN" sz="1400" b="1" dirty="0" smtClean="0"/>
              <a:t>}</a:t>
            </a:r>
            <a:endParaRPr lang="zh-CN" altLang="zh-CN" sz="1400" b="1" dirty="0"/>
          </a:p>
        </p:txBody>
      </p:sp>
      <p:sp>
        <p:nvSpPr>
          <p:cNvPr id="13" name="矩形 12"/>
          <p:cNvSpPr/>
          <p:nvPr/>
        </p:nvSpPr>
        <p:spPr>
          <a:xfrm>
            <a:off x="514558" y="1347614"/>
            <a:ext cx="2401258" cy="220829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2000" b="1" dirty="0" smtClean="0">
                <a:solidFill>
                  <a:srgbClr val="CD7371"/>
                </a:solidFill>
                <a:ea typeface="隶书" pitchFamily="49" charset="-122"/>
              </a:rPr>
              <a:t>static</a:t>
            </a:r>
            <a:r>
              <a:rPr lang="zh-CN" altLang="en-US" sz="2000" b="1" dirty="0" smtClean="0">
                <a:solidFill>
                  <a:srgbClr val="CD7371"/>
                </a:solidFill>
                <a:ea typeface="隶书" pitchFamily="49" charset="-122"/>
              </a:rPr>
              <a:t>编程要点</a:t>
            </a:r>
            <a:r>
              <a:rPr lang="en-US" altLang="zh-CN" sz="2000" b="1" dirty="0" smtClean="0">
                <a:solidFill>
                  <a:srgbClr val="CD7371"/>
                </a:solidFill>
                <a:ea typeface="隶书" pitchFamily="49" charset="-122"/>
              </a:rPr>
              <a:t>1</a:t>
            </a:r>
            <a:r>
              <a:rPr lang="zh-CN" altLang="en-US" sz="2000" b="1" dirty="0" smtClean="0">
                <a:solidFill>
                  <a:srgbClr val="CD7371"/>
                </a:solidFill>
                <a:ea typeface="隶书" pitchFamily="49" charset="-122"/>
              </a:rPr>
              <a:t>：</a:t>
            </a:r>
            <a:endParaRPr lang="en-US" altLang="zh-CN" sz="2000" b="1" dirty="0" smtClean="0">
              <a:solidFill>
                <a:srgbClr val="CD7371"/>
              </a:solidFill>
              <a:ea typeface="隶书" pitchFamily="49" charset="-122"/>
            </a:endParaRPr>
          </a:p>
          <a:p>
            <a:pPr>
              <a:lnSpc>
                <a:spcPct val="125000"/>
              </a:lnSpc>
            </a:pPr>
            <a:r>
              <a:rPr lang="en-US" altLang="zh-CN" b="1" dirty="0">
                <a:solidFill>
                  <a:srgbClr val="CD7371"/>
                </a:solidFill>
              </a:rPr>
              <a:t> </a:t>
            </a:r>
            <a:r>
              <a:rPr lang="en-US" altLang="zh-CN" b="1" dirty="0" smtClean="0">
                <a:solidFill>
                  <a:srgbClr val="CD7371"/>
                </a:solidFill>
              </a:rPr>
              <a:t>     </a:t>
            </a:r>
            <a:r>
              <a:rPr lang="zh-CN" altLang="zh-CN" b="1" dirty="0" smtClean="0">
                <a:solidFill>
                  <a:prstClr val="black"/>
                </a:solidFill>
              </a:rPr>
              <a:t>模块化</a:t>
            </a:r>
            <a:r>
              <a:rPr lang="zh-CN" altLang="zh-CN" b="1" dirty="0">
                <a:solidFill>
                  <a:prstClr val="black"/>
                </a:solidFill>
              </a:rPr>
              <a:t>的程序设计中，用</a:t>
            </a:r>
            <a:r>
              <a:rPr lang="en-US" altLang="zh-CN" b="1" dirty="0">
                <a:solidFill>
                  <a:prstClr val="black"/>
                </a:solidFill>
              </a:rPr>
              <a:t>static</a:t>
            </a:r>
            <a:r>
              <a:rPr lang="zh-CN" altLang="zh-CN" b="1" dirty="0">
                <a:solidFill>
                  <a:prstClr val="black"/>
                </a:solidFill>
              </a:rPr>
              <a:t>声明一个函数，则该函数只能被该模块内的其它函数调用</a:t>
            </a:r>
            <a:r>
              <a:rPr lang="zh-CN" altLang="en-US" b="1" dirty="0">
                <a:solidFill>
                  <a:prstClr val="black"/>
                </a:solidFill>
              </a:rPr>
              <a:t>。</a:t>
            </a:r>
            <a:endParaRPr lang="zh-CN" altLang="en-US" b="1" dirty="0"/>
          </a:p>
        </p:txBody>
      </p:sp>
      <p:sp>
        <p:nvSpPr>
          <p:cNvPr id="20" name="矩形 19"/>
          <p:cNvSpPr/>
          <p:nvPr/>
        </p:nvSpPr>
        <p:spPr>
          <a:xfrm>
            <a:off x="648030" y="4227934"/>
            <a:ext cx="7776864" cy="746358"/>
          </a:xfrm>
          <a:prstGeom prst="rect">
            <a:avLst/>
          </a:prstGeom>
        </p:spPr>
        <p:txBody>
          <a:bodyPr wrap="square">
            <a:spAutoFit/>
          </a:bodyPr>
          <a:lstStyle/>
          <a:p>
            <a:pPr lvl="0">
              <a:lnSpc>
                <a:spcPct val="125000"/>
              </a:lnSpc>
            </a:pPr>
            <a:r>
              <a:rPr lang="en-US" altLang="zh-CN" sz="1600" b="1" dirty="0">
                <a:solidFill>
                  <a:srgbClr val="CD7371"/>
                </a:solidFill>
                <a:latin typeface="隶书" pitchFamily="49" charset="-122"/>
                <a:ea typeface="隶书" pitchFamily="49" charset="-122"/>
              </a:rPr>
              <a:t> </a:t>
            </a:r>
            <a:r>
              <a:rPr lang="zh-CN" altLang="en-US" b="1" dirty="0" smtClean="0">
                <a:solidFill>
                  <a:srgbClr val="CD7371"/>
                </a:solidFill>
                <a:latin typeface="隶书" pitchFamily="49" charset="-122"/>
                <a:ea typeface="隶书" pitchFamily="49" charset="-122"/>
              </a:rPr>
              <a:t>解析：</a:t>
            </a:r>
            <a:r>
              <a:rPr lang="en-US" altLang="zh-CN" sz="1600" b="1" dirty="0" err="1" smtClean="0">
                <a:solidFill>
                  <a:prstClr val="black"/>
                </a:solidFill>
              </a:rPr>
              <a:t>DMA_SetConfig</a:t>
            </a:r>
            <a:r>
              <a:rPr lang="en-US" altLang="zh-CN" sz="1600" b="1" dirty="0" smtClean="0">
                <a:solidFill>
                  <a:prstClr val="black"/>
                </a:solidFill>
              </a:rPr>
              <a:t>()</a:t>
            </a:r>
            <a:r>
              <a:rPr lang="zh-CN" altLang="zh-CN" sz="1600" b="1" dirty="0" smtClean="0">
                <a:solidFill>
                  <a:prstClr val="black"/>
                </a:solidFill>
              </a:rPr>
              <a:t>函数</a:t>
            </a:r>
            <a:r>
              <a:rPr lang="zh-CN" altLang="zh-CN" sz="1600" b="1" dirty="0">
                <a:solidFill>
                  <a:prstClr val="black"/>
                </a:solidFill>
              </a:rPr>
              <a:t>只能被</a:t>
            </a:r>
            <a:r>
              <a:rPr lang="en-US" altLang="zh-CN" sz="1600" b="1" dirty="0" smtClean="0">
                <a:solidFill>
                  <a:prstClr val="black"/>
                </a:solidFill>
              </a:rPr>
              <a:t>stm32f1xx_hal_dma.c</a:t>
            </a:r>
            <a:r>
              <a:rPr lang="zh-CN" altLang="zh-CN" sz="1600" b="1" dirty="0" smtClean="0">
                <a:solidFill>
                  <a:prstClr val="black"/>
                </a:solidFill>
              </a:rPr>
              <a:t>的</a:t>
            </a:r>
            <a:r>
              <a:rPr lang="zh-CN" altLang="zh-CN" sz="1600" b="1" dirty="0">
                <a:solidFill>
                  <a:prstClr val="black"/>
                </a:solidFill>
              </a:rPr>
              <a:t>其它函数调用，不能被其它模块的文件</a:t>
            </a:r>
            <a:r>
              <a:rPr lang="zh-CN" altLang="zh-CN" sz="1600" b="1" dirty="0" smtClean="0">
                <a:solidFill>
                  <a:prstClr val="black"/>
                </a:solidFill>
              </a:rPr>
              <a:t>使用</a:t>
            </a:r>
            <a:r>
              <a:rPr lang="zh-CN" altLang="en-US" sz="1600" b="1" dirty="0" smtClean="0">
                <a:solidFill>
                  <a:prstClr val="black"/>
                </a:solidFill>
              </a:rPr>
              <a:t>。</a:t>
            </a:r>
            <a:endParaRPr lang="zh-CN" altLang="zh-CN" sz="1600" b="1" dirty="0">
              <a:solidFill>
                <a:prstClr val="black"/>
              </a:solidFill>
            </a:endParaRPr>
          </a:p>
        </p:txBody>
      </p:sp>
    </p:spTree>
    <p:extLst>
      <p:ext uri="{BB962C8B-B14F-4D97-AF65-F5344CB8AC3E}">
        <p14:creationId xmlns:p14="http://schemas.microsoft.com/office/powerpoint/2010/main" val="41475716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496453" cy="461665"/>
          </a:xfrm>
          <a:prstGeom prst="rect">
            <a:avLst/>
          </a:prstGeom>
        </p:spPr>
        <p:txBody>
          <a:bodyPr wrap="none">
            <a:spAutoFit/>
          </a:bodyPr>
          <a:lstStyle/>
          <a:p>
            <a:r>
              <a:rPr lang="en-US" altLang="zh-CN" sz="2400" b="1" dirty="0" smtClean="0">
                <a:solidFill>
                  <a:schemeClr val="bg1"/>
                </a:solidFill>
              </a:rPr>
              <a:t>4.2.3 static</a:t>
            </a:r>
            <a:r>
              <a:rPr lang="zh-CN" altLang="en-US" sz="2400" b="1" dirty="0" smtClean="0">
                <a:solidFill>
                  <a:schemeClr val="bg1"/>
                </a:solidFill>
              </a:rPr>
              <a:t>关键词</a:t>
            </a:r>
            <a:endParaRPr lang="zh-CN" altLang="zh-CN" sz="2400" b="1" dirty="0">
              <a:solidFill>
                <a:schemeClr val="bg1"/>
              </a:solidFill>
            </a:endParaRPr>
          </a:p>
        </p:txBody>
      </p:sp>
      <p:sp>
        <p:nvSpPr>
          <p:cNvPr id="10" name="矩形 9"/>
          <p:cNvSpPr/>
          <p:nvPr/>
        </p:nvSpPr>
        <p:spPr>
          <a:xfrm>
            <a:off x="3491880" y="591531"/>
            <a:ext cx="5328592" cy="35394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sz="1400" b="1" dirty="0"/>
              <a:t>void </a:t>
            </a:r>
            <a:r>
              <a:rPr lang="en-US" altLang="zh-CN" sz="1400" b="1" dirty="0" err="1"/>
              <a:t>fun_count</a:t>
            </a:r>
            <a:r>
              <a:rPr lang="en-US" altLang="zh-CN" sz="1400" b="1" dirty="0"/>
              <a:t>( )</a:t>
            </a:r>
            <a:endParaRPr lang="zh-CN" altLang="zh-CN" sz="1400" b="1" dirty="0"/>
          </a:p>
          <a:p>
            <a:r>
              <a:rPr lang="en-US" altLang="zh-CN" sz="1400" b="1" dirty="0"/>
              <a:t>{</a:t>
            </a:r>
            <a:endParaRPr lang="zh-CN" altLang="zh-CN" sz="1400" b="1" dirty="0"/>
          </a:p>
          <a:p>
            <a:r>
              <a:rPr lang="en-US" altLang="zh-CN" sz="1400" b="1" dirty="0"/>
              <a:t>    </a:t>
            </a:r>
            <a:r>
              <a:rPr lang="en-US" altLang="zh-CN" sz="1400" b="1" dirty="0">
                <a:solidFill>
                  <a:srgbClr val="C00000"/>
                </a:solidFill>
              </a:rPr>
              <a:t>static</a:t>
            </a:r>
            <a:r>
              <a:rPr lang="en-US" altLang="zh-CN" sz="1400" b="1" dirty="0"/>
              <a:t> </a:t>
            </a:r>
            <a:r>
              <a:rPr lang="en-US" altLang="zh-CN" sz="1400" b="1" dirty="0" err="1"/>
              <a:t>count_num</a:t>
            </a:r>
            <a:r>
              <a:rPr lang="en-US" altLang="zh-CN" sz="1400" b="1" dirty="0"/>
              <a:t> = 0</a:t>
            </a:r>
            <a:r>
              <a:rPr lang="en-US" altLang="zh-CN" sz="1400" b="1" dirty="0" smtClean="0"/>
              <a:t>;</a:t>
            </a:r>
          </a:p>
          <a:p>
            <a:r>
              <a:rPr lang="en-US" altLang="zh-CN" sz="1400" b="1" dirty="0"/>
              <a:t> </a:t>
            </a:r>
            <a:r>
              <a:rPr lang="en-US" altLang="zh-CN" sz="1400" b="1" dirty="0" smtClean="0"/>
              <a:t>          // </a:t>
            </a:r>
            <a:r>
              <a:rPr lang="zh-CN" altLang="zh-CN" sz="1400" b="1" dirty="0"/>
              <a:t>声明一个静态局部变量，</a:t>
            </a:r>
            <a:r>
              <a:rPr lang="en-US" altLang="zh-CN" sz="1400" b="1" dirty="0" err="1"/>
              <a:t>count_num</a:t>
            </a:r>
            <a:r>
              <a:rPr lang="zh-CN" altLang="zh-CN" sz="1400" b="1" dirty="0"/>
              <a:t>用作计数器，初值为</a:t>
            </a:r>
            <a:r>
              <a:rPr lang="en-US" altLang="zh-CN" sz="1400" b="1" dirty="0"/>
              <a:t>0</a:t>
            </a:r>
            <a:r>
              <a:rPr lang="zh-CN" altLang="zh-CN" sz="1400" b="1" dirty="0"/>
              <a:t>。</a:t>
            </a:r>
          </a:p>
          <a:p>
            <a:r>
              <a:rPr lang="en-US" altLang="zh-CN" sz="1400" b="1" dirty="0"/>
              <a:t>    </a:t>
            </a:r>
            <a:r>
              <a:rPr lang="en-US" altLang="zh-CN" sz="1400" b="1" dirty="0" err="1"/>
              <a:t>count_num</a:t>
            </a:r>
            <a:r>
              <a:rPr lang="en-US" altLang="zh-CN" sz="1400" b="1" dirty="0"/>
              <a:t> ++;</a:t>
            </a:r>
            <a:endParaRPr lang="zh-CN" altLang="zh-CN" sz="1400" b="1" dirty="0"/>
          </a:p>
          <a:p>
            <a:r>
              <a:rPr lang="en-US" altLang="zh-CN" sz="1400" b="1" dirty="0"/>
              <a:t>    </a:t>
            </a:r>
            <a:r>
              <a:rPr lang="en-US" altLang="zh-CN" sz="1400" b="1" dirty="0" err="1"/>
              <a:t>printf</a:t>
            </a:r>
            <a:r>
              <a:rPr lang="en-US" altLang="zh-CN" sz="1400" b="1" dirty="0"/>
              <a:t>("%d\n", </a:t>
            </a:r>
            <a:r>
              <a:rPr lang="en-US" altLang="zh-CN" sz="1400" b="1" dirty="0" err="1"/>
              <a:t>count_num</a:t>
            </a:r>
            <a:r>
              <a:rPr lang="en-US" altLang="zh-CN" sz="1400" b="1" dirty="0"/>
              <a:t>);</a:t>
            </a:r>
            <a:endParaRPr lang="zh-CN" altLang="zh-CN" sz="1400" b="1" dirty="0"/>
          </a:p>
          <a:p>
            <a:r>
              <a:rPr lang="en-US" altLang="zh-CN" sz="1400" b="1" dirty="0"/>
              <a:t>}</a:t>
            </a:r>
            <a:endParaRPr lang="zh-CN" altLang="zh-CN" sz="1400" b="1" dirty="0"/>
          </a:p>
          <a:p>
            <a:r>
              <a:rPr lang="en-US" altLang="zh-CN" sz="1400" b="1" dirty="0" err="1"/>
              <a:t>int</a:t>
            </a:r>
            <a:r>
              <a:rPr lang="en-US" altLang="zh-CN" sz="1400" b="1" dirty="0"/>
              <a:t> main(void)</a:t>
            </a:r>
            <a:endParaRPr lang="zh-CN" altLang="zh-CN" sz="1400" b="1" dirty="0"/>
          </a:p>
          <a:p>
            <a:r>
              <a:rPr lang="en-US" altLang="zh-CN" sz="1400" b="1" dirty="0"/>
              <a:t>{</a:t>
            </a:r>
            <a:endParaRPr lang="zh-CN" altLang="zh-CN" sz="1400" b="1" dirty="0"/>
          </a:p>
          <a:p>
            <a:r>
              <a:rPr lang="en-US" altLang="zh-CN" sz="1400" b="1" dirty="0"/>
              <a:t>    </a:t>
            </a:r>
            <a:r>
              <a:rPr lang="en-US" altLang="zh-CN" sz="1400" b="1" dirty="0" err="1"/>
              <a:t>int</a:t>
            </a:r>
            <a:r>
              <a:rPr lang="en-US" altLang="zh-CN" sz="1400" b="1" dirty="0"/>
              <a:t> </a:t>
            </a:r>
            <a:r>
              <a:rPr lang="en-US" altLang="zh-CN" sz="1400" b="1" dirty="0" err="1"/>
              <a:t>i</a:t>
            </a:r>
            <a:r>
              <a:rPr lang="en-US" altLang="zh-CN" sz="1400" b="1" dirty="0"/>
              <a:t>=0;</a:t>
            </a:r>
            <a:endParaRPr lang="zh-CN" altLang="zh-CN" sz="1400" b="1" dirty="0"/>
          </a:p>
          <a:p>
            <a:r>
              <a:rPr lang="en-US" altLang="zh-CN" sz="1400" b="1" dirty="0"/>
              <a:t>    for (</a:t>
            </a:r>
            <a:r>
              <a:rPr lang="en-US" altLang="zh-CN" sz="1400" b="1" dirty="0" err="1"/>
              <a:t>i</a:t>
            </a:r>
            <a:r>
              <a:rPr lang="en-US" altLang="zh-CN" sz="1400" b="1" dirty="0"/>
              <a:t> = 0;i &lt;= 5;i++)</a:t>
            </a:r>
            <a:endParaRPr lang="zh-CN" altLang="zh-CN" sz="1400" b="1" dirty="0"/>
          </a:p>
          <a:p>
            <a:r>
              <a:rPr lang="en-US" altLang="zh-CN" sz="1400" b="1" dirty="0"/>
              <a:t>    {</a:t>
            </a:r>
            <a:endParaRPr lang="zh-CN" altLang="zh-CN" sz="1400" b="1" dirty="0"/>
          </a:p>
          <a:p>
            <a:r>
              <a:rPr lang="en-US" altLang="zh-CN" sz="1400" b="1" dirty="0"/>
              <a:t>       </a:t>
            </a:r>
            <a:r>
              <a:rPr lang="en-US" altLang="zh-CN" sz="1400" b="1" dirty="0" err="1"/>
              <a:t>fun_count</a:t>
            </a:r>
            <a:r>
              <a:rPr lang="en-US" altLang="zh-CN" sz="1400" b="1" dirty="0"/>
              <a:t>( );</a:t>
            </a:r>
            <a:endParaRPr lang="zh-CN" altLang="zh-CN" sz="1400" b="1" dirty="0"/>
          </a:p>
          <a:p>
            <a:r>
              <a:rPr lang="en-US" altLang="zh-CN" sz="1400" b="1" dirty="0"/>
              <a:t>    }</a:t>
            </a:r>
            <a:endParaRPr lang="zh-CN" altLang="zh-CN" sz="1400" b="1" dirty="0"/>
          </a:p>
          <a:p>
            <a:r>
              <a:rPr lang="en-US" altLang="zh-CN" sz="1400" b="1" dirty="0"/>
              <a:t>    return 0;</a:t>
            </a:r>
            <a:endParaRPr lang="zh-CN" altLang="zh-CN" sz="1400" b="1" dirty="0"/>
          </a:p>
          <a:p>
            <a:r>
              <a:rPr lang="en-US" altLang="zh-CN" sz="1400" b="1" dirty="0"/>
              <a:t>}</a:t>
            </a:r>
            <a:endParaRPr lang="zh-CN" altLang="zh-CN" sz="1400" b="1" dirty="0"/>
          </a:p>
        </p:txBody>
      </p:sp>
      <p:sp>
        <p:nvSpPr>
          <p:cNvPr id="13" name="矩形 12"/>
          <p:cNvSpPr/>
          <p:nvPr/>
        </p:nvSpPr>
        <p:spPr>
          <a:xfrm>
            <a:off x="425946" y="1347614"/>
            <a:ext cx="2520280" cy="220829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2000" b="1" dirty="0" smtClean="0">
                <a:solidFill>
                  <a:srgbClr val="CD7371"/>
                </a:solidFill>
                <a:ea typeface="隶书" pitchFamily="49" charset="-122"/>
              </a:rPr>
              <a:t>static</a:t>
            </a:r>
            <a:r>
              <a:rPr lang="zh-CN" altLang="en-US" sz="2000" b="1" dirty="0" smtClean="0">
                <a:solidFill>
                  <a:srgbClr val="CD7371"/>
                </a:solidFill>
                <a:ea typeface="隶书" pitchFamily="49" charset="-122"/>
              </a:rPr>
              <a:t>编程要点</a:t>
            </a:r>
            <a:r>
              <a:rPr lang="en-US" altLang="zh-CN" sz="2000" b="1" dirty="0" smtClean="0">
                <a:solidFill>
                  <a:srgbClr val="CD7371"/>
                </a:solidFill>
                <a:ea typeface="隶书" pitchFamily="49" charset="-122"/>
              </a:rPr>
              <a:t>2</a:t>
            </a:r>
            <a:r>
              <a:rPr lang="zh-CN" altLang="en-US" sz="2000" b="1" dirty="0" smtClean="0">
                <a:solidFill>
                  <a:srgbClr val="CD7371"/>
                </a:solidFill>
                <a:ea typeface="隶书" pitchFamily="49" charset="-122"/>
              </a:rPr>
              <a:t>：</a:t>
            </a:r>
            <a:endParaRPr lang="en-US" altLang="zh-CN" sz="2000" b="1" dirty="0" smtClean="0">
              <a:solidFill>
                <a:srgbClr val="CD7371"/>
              </a:solidFill>
              <a:ea typeface="隶书" pitchFamily="49" charset="-122"/>
            </a:endParaRPr>
          </a:p>
          <a:p>
            <a:pPr>
              <a:lnSpc>
                <a:spcPct val="125000"/>
              </a:lnSpc>
            </a:pPr>
            <a:r>
              <a:rPr lang="en-US" altLang="zh-CN" b="1" dirty="0">
                <a:solidFill>
                  <a:srgbClr val="CD7371"/>
                </a:solidFill>
              </a:rPr>
              <a:t> </a:t>
            </a:r>
            <a:r>
              <a:rPr lang="en-US" altLang="zh-CN" b="1" dirty="0" smtClean="0">
                <a:solidFill>
                  <a:srgbClr val="CD7371"/>
                </a:solidFill>
              </a:rPr>
              <a:t>     </a:t>
            </a:r>
            <a:r>
              <a:rPr lang="en-US" altLang="zh-CN" b="1" dirty="0">
                <a:solidFill>
                  <a:prstClr val="black"/>
                </a:solidFill>
              </a:rPr>
              <a:t>static</a:t>
            </a:r>
            <a:r>
              <a:rPr lang="zh-CN" altLang="en-US" b="1" dirty="0">
                <a:solidFill>
                  <a:prstClr val="black"/>
                </a:solidFill>
              </a:rPr>
              <a:t>除了用于静态全局变量，还用于定义静态局部变量，保证静态局部变量在调用过程中不被重新初始化。</a:t>
            </a:r>
            <a:endParaRPr lang="zh-CN" altLang="en-US" b="1" dirty="0"/>
          </a:p>
        </p:txBody>
      </p:sp>
      <p:sp>
        <p:nvSpPr>
          <p:cNvPr id="20" name="矩形 19"/>
          <p:cNvSpPr/>
          <p:nvPr/>
        </p:nvSpPr>
        <p:spPr>
          <a:xfrm>
            <a:off x="539552" y="4227934"/>
            <a:ext cx="7776864" cy="746358"/>
          </a:xfrm>
          <a:prstGeom prst="rect">
            <a:avLst/>
          </a:prstGeom>
        </p:spPr>
        <p:txBody>
          <a:bodyPr wrap="square">
            <a:spAutoFit/>
          </a:bodyPr>
          <a:lstStyle/>
          <a:p>
            <a:pPr lvl="0">
              <a:lnSpc>
                <a:spcPct val="125000"/>
              </a:lnSpc>
            </a:pPr>
            <a:r>
              <a:rPr lang="en-US" altLang="zh-CN" b="1" dirty="0">
                <a:solidFill>
                  <a:srgbClr val="CD7371"/>
                </a:solidFill>
                <a:latin typeface="隶书" pitchFamily="49" charset="-122"/>
                <a:ea typeface="隶书" pitchFamily="49" charset="-122"/>
              </a:rPr>
              <a:t> </a:t>
            </a:r>
            <a:r>
              <a:rPr lang="zh-CN" altLang="en-US" b="1" dirty="0" smtClean="0">
                <a:solidFill>
                  <a:srgbClr val="CD7371"/>
                </a:solidFill>
                <a:latin typeface="隶书" pitchFamily="49" charset="-122"/>
                <a:ea typeface="隶书" pitchFamily="49" charset="-122"/>
              </a:rPr>
              <a:t>解析：</a:t>
            </a:r>
            <a:r>
              <a:rPr lang="zh-CN" altLang="en-US" sz="1600" b="1" dirty="0">
                <a:solidFill>
                  <a:prstClr val="black"/>
                </a:solidFill>
              </a:rPr>
              <a:t>在</a:t>
            </a:r>
            <a:r>
              <a:rPr lang="en-US" altLang="zh-CN" sz="1600" b="1" dirty="0">
                <a:solidFill>
                  <a:prstClr val="black"/>
                </a:solidFill>
              </a:rPr>
              <a:t>main</a:t>
            </a:r>
            <a:r>
              <a:rPr lang="zh-CN" altLang="en-US" sz="1600" b="1" dirty="0">
                <a:solidFill>
                  <a:prstClr val="black"/>
                </a:solidFill>
              </a:rPr>
              <a:t>函数中每调用一次</a:t>
            </a:r>
            <a:r>
              <a:rPr lang="en-US" altLang="zh-CN" sz="1600" b="1" dirty="0" err="1">
                <a:solidFill>
                  <a:prstClr val="black"/>
                </a:solidFill>
              </a:rPr>
              <a:t>fun_count</a:t>
            </a:r>
            <a:r>
              <a:rPr lang="en-US" altLang="zh-CN" sz="1600" b="1" dirty="0">
                <a:solidFill>
                  <a:prstClr val="black"/>
                </a:solidFill>
              </a:rPr>
              <a:t>( )</a:t>
            </a:r>
            <a:r>
              <a:rPr lang="zh-CN" altLang="en-US" sz="1600" b="1" dirty="0">
                <a:solidFill>
                  <a:prstClr val="black"/>
                </a:solidFill>
              </a:rPr>
              <a:t>函数，则静态局部变量</a:t>
            </a:r>
            <a:r>
              <a:rPr lang="en-US" altLang="zh-CN" sz="1600" b="1" dirty="0" err="1">
                <a:solidFill>
                  <a:prstClr val="black"/>
                </a:solidFill>
              </a:rPr>
              <a:t>count_num</a:t>
            </a:r>
            <a:r>
              <a:rPr lang="zh-CN" altLang="en-US" sz="1600" b="1" dirty="0">
                <a:solidFill>
                  <a:prstClr val="black"/>
                </a:solidFill>
              </a:rPr>
              <a:t>加</a:t>
            </a:r>
            <a:r>
              <a:rPr lang="en-US" altLang="zh-CN" sz="1600" b="1" dirty="0">
                <a:solidFill>
                  <a:prstClr val="black"/>
                </a:solidFill>
              </a:rPr>
              <a:t>1</a:t>
            </a:r>
            <a:r>
              <a:rPr lang="zh-CN" altLang="en-US" sz="1600" b="1" dirty="0">
                <a:solidFill>
                  <a:prstClr val="black"/>
                </a:solidFill>
              </a:rPr>
              <a:t>，而不是每次都被初始化为初值</a:t>
            </a:r>
            <a:r>
              <a:rPr lang="en-US" altLang="zh-CN" sz="1600" b="1" dirty="0">
                <a:solidFill>
                  <a:prstClr val="black"/>
                </a:solidFill>
              </a:rPr>
              <a:t>0</a:t>
            </a:r>
            <a:r>
              <a:rPr lang="zh-CN" altLang="en-US" sz="1600" b="1" dirty="0">
                <a:solidFill>
                  <a:prstClr val="black"/>
                </a:solidFill>
              </a:rPr>
              <a:t>。</a:t>
            </a:r>
            <a:endParaRPr lang="zh-CN" altLang="zh-CN" sz="1600" b="1" dirty="0">
              <a:solidFill>
                <a:prstClr val="black"/>
              </a:solidFill>
            </a:endParaRPr>
          </a:p>
        </p:txBody>
      </p:sp>
    </p:spTree>
    <p:extLst>
      <p:ext uri="{BB962C8B-B14F-4D97-AF65-F5344CB8AC3E}">
        <p14:creationId xmlns:p14="http://schemas.microsoft.com/office/powerpoint/2010/main" val="28556948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58127" cy="461665"/>
          </a:xfrm>
          <a:prstGeom prst="rect">
            <a:avLst/>
          </a:prstGeom>
        </p:spPr>
        <p:txBody>
          <a:bodyPr wrap="none">
            <a:spAutoFit/>
          </a:bodyPr>
          <a:lstStyle/>
          <a:p>
            <a:r>
              <a:rPr lang="en-US" altLang="zh-CN" sz="2400" b="1" dirty="0" smtClean="0">
                <a:solidFill>
                  <a:schemeClr val="bg1"/>
                </a:solidFill>
              </a:rPr>
              <a:t>4.2.4 </a:t>
            </a:r>
            <a:r>
              <a:rPr lang="en-US" altLang="zh-CN" sz="2400" b="1" dirty="0">
                <a:solidFill>
                  <a:schemeClr val="bg1"/>
                </a:solidFill>
              </a:rPr>
              <a:t>volatile</a:t>
            </a:r>
            <a:r>
              <a:rPr lang="zh-CN" altLang="en-US" sz="2400" b="1" dirty="0">
                <a:solidFill>
                  <a:schemeClr val="bg1"/>
                </a:solidFill>
              </a:rPr>
              <a:t>关键字</a:t>
            </a:r>
            <a:endParaRPr lang="zh-CN" altLang="zh-CN" sz="2400" b="1" dirty="0">
              <a:solidFill>
                <a:schemeClr val="bg1"/>
              </a:solidFill>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7"/>
          <p:cNvSpPr/>
          <p:nvPr/>
        </p:nvSpPr>
        <p:spPr>
          <a:xfrm>
            <a:off x="818002" y="1178124"/>
            <a:ext cx="4337381" cy="1631216"/>
          </a:xfrm>
          <a:prstGeom prst="rect">
            <a:avLst/>
          </a:prstGeom>
          <a:ln w="19050">
            <a:solidFill>
              <a:schemeClr val="accent4">
                <a:lumMod val="60000"/>
                <a:lumOff val="40000"/>
              </a:schemeClr>
            </a:solidFill>
          </a:ln>
        </p:spPr>
        <p:txBody>
          <a:bodyPr wrap="square">
            <a:spAutoFit/>
          </a:bodyPr>
          <a:lstStyle/>
          <a:p>
            <a:pPr>
              <a:lnSpc>
                <a:spcPct val="125000"/>
              </a:lnSpc>
            </a:pPr>
            <a:r>
              <a:rPr lang="zh-CN" altLang="en-US" sz="1600" b="1" dirty="0" smtClean="0"/>
              <a:t>        一</a:t>
            </a:r>
            <a:r>
              <a:rPr lang="zh-CN" altLang="en-US" sz="1600" b="1" dirty="0"/>
              <a:t>个类型修饰符，“易变的”</a:t>
            </a:r>
            <a:r>
              <a:rPr lang="zh-CN" altLang="en-US" sz="1600" b="1" dirty="0" smtClean="0"/>
              <a:t>。</a:t>
            </a:r>
            <a:endParaRPr lang="en-US" altLang="zh-CN" sz="1600" b="1" dirty="0" smtClean="0"/>
          </a:p>
          <a:p>
            <a:pPr>
              <a:lnSpc>
                <a:spcPct val="125000"/>
              </a:lnSpc>
            </a:pPr>
            <a:r>
              <a:rPr lang="en-US" altLang="zh-CN" sz="1600" b="1" dirty="0"/>
              <a:t> </a:t>
            </a:r>
            <a:r>
              <a:rPr lang="en-US" altLang="zh-CN" sz="1600" b="1" dirty="0" smtClean="0"/>
              <a:t>             </a:t>
            </a:r>
            <a:r>
              <a:rPr lang="en-GB" altLang="zh-CN" sz="1600" b="1" dirty="0" smtClean="0"/>
              <a:t>volatile </a:t>
            </a:r>
            <a:r>
              <a:rPr lang="en-GB" altLang="zh-CN" sz="1600" b="1" dirty="0"/>
              <a:t>char </a:t>
            </a:r>
            <a:r>
              <a:rPr lang="en-GB" altLang="zh-CN" sz="1600" b="1" dirty="0" err="1"/>
              <a:t>i</a:t>
            </a:r>
            <a:r>
              <a:rPr lang="en-GB" altLang="zh-CN" sz="1600" b="1" dirty="0" smtClean="0"/>
              <a:t>;</a:t>
            </a:r>
          </a:p>
          <a:p>
            <a:pPr>
              <a:lnSpc>
                <a:spcPct val="125000"/>
              </a:lnSpc>
            </a:pPr>
            <a:r>
              <a:rPr lang="zh-CN" altLang="en-US" sz="1600" b="1" dirty="0" smtClean="0"/>
              <a:t>       使用</a:t>
            </a:r>
            <a:r>
              <a:rPr lang="en-US" altLang="zh-CN" sz="1600" b="1" dirty="0"/>
              <a:t>volatile</a:t>
            </a:r>
            <a:r>
              <a:rPr lang="zh-CN" altLang="en-US" sz="1600" b="1" dirty="0"/>
              <a:t>关键字定义了一个字符型的变量</a:t>
            </a:r>
            <a:r>
              <a:rPr lang="en-US" altLang="zh-CN" sz="1600" b="1" dirty="0" err="1"/>
              <a:t>i</a:t>
            </a:r>
            <a:r>
              <a:rPr lang="zh-CN" altLang="en-US" sz="1600" b="1" dirty="0"/>
              <a:t>，指出</a:t>
            </a:r>
            <a:r>
              <a:rPr lang="en-US" altLang="zh-CN" sz="1600" b="1" dirty="0" err="1"/>
              <a:t>i</a:t>
            </a:r>
            <a:r>
              <a:rPr lang="zh-CN" altLang="en-US" sz="1600" b="1" dirty="0"/>
              <a:t>是随时可能发生变化的，每次使用的时候都必须从</a:t>
            </a:r>
            <a:r>
              <a:rPr lang="en-US" altLang="zh-CN" sz="1600" b="1" dirty="0" err="1"/>
              <a:t>i</a:t>
            </a:r>
            <a:r>
              <a:rPr lang="zh-CN" altLang="en-US" sz="1600" b="1" dirty="0"/>
              <a:t>的地址中读取</a:t>
            </a:r>
            <a:r>
              <a:rPr lang="zh-CN" altLang="en-US" sz="1600" b="1" dirty="0" smtClean="0"/>
              <a:t>。</a:t>
            </a:r>
            <a:endParaRPr lang="en-GB" altLang="zh-CN" sz="1600" b="1" dirty="0"/>
          </a:p>
        </p:txBody>
      </p:sp>
      <p:sp>
        <p:nvSpPr>
          <p:cNvPr id="9" name="矩形 8"/>
          <p:cNvSpPr/>
          <p:nvPr/>
        </p:nvSpPr>
        <p:spPr>
          <a:xfrm>
            <a:off x="1154730" y="3110646"/>
            <a:ext cx="4425382" cy="1477328"/>
          </a:xfrm>
          <a:prstGeom prst="rect">
            <a:avLst/>
          </a:prstGeom>
          <a:ln cap="rnd"/>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t>    </a:t>
            </a:r>
            <a:r>
              <a:rPr lang="en-US" altLang="zh-CN" b="1" dirty="0" smtClean="0"/>
              <a:t> </a:t>
            </a:r>
            <a:r>
              <a:rPr lang="zh-CN" altLang="zh-CN" b="1" dirty="0" smtClean="0"/>
              <a:t>使用</a:t>
            </a:r>
            <a:r>
              <a:rPr lang="en-US" altLang="zh-CN" b="1" dirty="0"/>
              <a:t>volatile</a:t>
            </a:r>
            <a:r>
              <a:rPr lang="zh-CN" altLang="zh-CN" b="1" dirty="0"/>
              <a:t>就是</a:t>
            </a:r>
            <a:r>
              <a:rPr lang="zh-CN" altLang="zh-CN" b="1" dirty="0">
                <a:solidFill>
                  <a:srgbClr val="CD7371"/>
                </a:solidFill>
              </a:rPr>
              <a:t>不让编译器进行优化</a:t>
            </a:r>
            <a:r>
              <a:rPr lang="zh-CN" altLang="zh-CN" b="1" dirty="0"/>
              <a:t>，即每次读取或者修改值的时候，都必须重新</a:t>
            </a:r>
            <a:r>
              <a:rPr lang="zh-CN" altLang="zh-CN" b="1" dirty="0">
                <a:solidFill>
                  <a:srgbClr val="CD7371"/>
                </a:solidFill>
              </a:rPr>
              <a:t>从内存中读取或者修改</a:t>
            </a:r>
            <a:r>
              <a:rPr lang="zh-CN" altLang="zh-CN" b="1" dirty="0"/>
              <a:t>，而不是使用保存在寄存器里的备份。</a:t>
            </a:r>
            <a:endParaRPr lang="zh-CN" altLang="en-US" b="1" dirty="0"/>
          </a:p>
        </p:txBody>
      </p:sp>
      <p:sp>
        <p:nvSpPr>
          <p:cNvPr id="11" name="矩形 10"/>
          <p:cNvSpPr/>
          <p:nvPr/>
        </p:nvSpPr>
        <p:spPr>
          <a:xfrm>
            <a:off x="5918603" y="987574"/>
            <a:ext cx="2607163" cy="3046988"/>
          </a:xfrm>
          <a:prstGeom prst="rect">
            <a:avLst/>
          </a:prstGeom>
          <a:ln w="19050">
            <a:solidFill>
              <a:schemeClr val="accent3">
                <a:lumMod val="75000"/>
              </a:schemeClr>
            </a:solidFill>
          </a:ln>
        </p:spPr>
        <p:txBody>
          <a:bodyPr wrap="square">
            <a:spAutoFit/>
          </a:bodyPr>
          <a:lstStyle/>
          <a:p>
            <a:pPr indent="-285750">
              <a:lnSpc>
                <a:spcPct val="150000"/>
              </a:lnSpc>
              <a:buClr>
                <a:schemeClr val="accent3">
                  <a:lumMod val="75000"/>
                </a:schemeClr>
              </a:buClr>
              <a:buFont typeface="Wingdings" pitchFamily="2" charset="2"/>
              <a:buChar char="Ø"/>
            </a:pPr>
            <a:r>
              <a:rPr lang="zh-CN" altLang="en-US" sz="1600" b="1" dirty="0" smtClean="0"/>
              <a:t>中断服务程序</a:t>
            </a:r>
            <a:r>
              <a:rPr lang="zh-CN" altLang="en-US" sz="1600" b="1" dirty="0"/>
              <a:t>中修改</a:t>
            </a:r>
            <a:r>
              <a:rPr lang="zh-CN" altLang="en-US" sz="1600" b="1" dirty="0" smtClean="0"/>
              <a:t>的供其他</a:t>
            </a:r>
            <a:r>
              <a:rPr lang="zh-CN" altLang="en-US" sz="1600" b="1" dirty="0"/>
              <a:t>程序检测的变量需要使用</a:t>
            </a:r>
            <a:r>
              <a:rPr lang="en-US" altLang="zh-CN" sz="1600" b="1" dirty="0"/>
              <a:t>volatile</a:t>
            </a:r>
            <a:r>
              <a:rPr lang="zh-CN" altLang="en-US" sz="1600" b="1" dirty="0"/>
              <a:t>；</a:t>
            </a:r>
          </a:p>
          <a:p>
            <a:pPr indent="-285750">
              <a:lnSpc>
                <a:spcPct val="150000"/>
              </a:lnSpc>
              <a:buClr>
                <a:schemeClr val="accent3">
                  <a:lumMod val="75000"/>
                </a:schemeClr>
              </a:buClr>
              <a:buFont typeface="Wingdings" pitchFamily="2" charset="2"/>
              <a:buChar char="Ø"/>
            </a:pPr>
            <a:r>
              <a:rPr lang="zh-CN" altLang="en-US" sz="1600" b="1" dirty="0"/>
              <a:t>多任务环境下各任务间共享的标志应添加</a:t>
            </a:r>
            <a:r>
              <a:rPr lang="en-US" altLang="zh-CN" sz="1600" b="1" dirty="0"/>
              <a:t>volatile</a:t>
            </a:r>
            <a:r>
              <a:rPr lang="zh-CN" altLang="en-US" sz="1600" b="1" dirty="0"/>
              <a:t>；</a:t>
            </a:r>
          </a:p>
          <a:p>
            <a:pPr indent="-285750">
              <a:lnSpc>
                <a:spcPct val="150000"/>
              </a:lnSpc>
              <a:buClr>
                <a:schemeClr val="accent3">
                  <a:lumMod val="75000"/>
                </a:schemeClr>
              </a:buClr>
              <a:buFont typeface="Wingdings" pitchFamily="2" charset="2"/>
              <a:buChar char="Ø"/>
            </a:pPr>
            <a:r>
              <a:rPr lang="zh-CN" altLang="en-US" sz="1600" b="1" dirty="0"/>
              <a:t>存储器映射的硬件寄存器通常也要加</a:t>
            </a:r>
            <a:r>
              <a:rPr lang="en-US" altLang="zh-CN" sz="1600" b="1" dirty="0"/>
              <a:t>volatile</a:t>
            </a:r>
            <a:r>
              <a:rPr lang="zh-CN" altLang="en-US" sz="1600" b="1" dirty="0"/>
              <a:t>进行说明。</a:t>
            </a:r>
          </a:p>
        </p:txBody>
      </p:sp>
      <p:sp>
        <p:nvSpPr>
          <p:cNvPr id="14" name="十二角星 13"/>
          <p:cNvSpPr/>
          <p:nvPr/>
        </p:nvSpPr>
        <p:spPr>
          <a:xfrm>
            <a:off x="629816" y="2900090"/>
            <a:ext cx="965014" cy="439382"/>
          </a:xfrm>
          <a:prstGeom prst="star12">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200" b="1" dirty="0" smtClean="0">
                <a:latin typeface="隶书" pitchFamily="49" charset="-122"/>
                <a:ea typeface="隶书" pitchFamily="49" charset="-122"/>
              </a:rPr>
              <a:t>作用</a:t>
            </a:r>
          </a:p>
        </p:txBody>
      </p:sp>
      <p:sp>
        <p:nvSpPr>
          <p:cNvPr id="36" name="十二角星 35"/>
          <p:cNvSpPr/>
          <p:nvPr/>
        </p:nvSpPr>
        <p:spPr>
          <a:xfrm>
            <a:off x="179512" y="987574"/>
            <a:ext cx="965014" cy="527643"/>
          </a:xfrm>
          <a:prstGeom prst="star12">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200" b="1" dirty="0" smtClean="0">
                <a:latin typeface="隶书" pitchFamily="49" charset="-122"/>
                <a:ea typeface="隶书" pitchFamily="49" charset="-122"/>
              </a:rPr>
              <a:t>使用方式</a:t>
            </a:r>
          </a:p>
        </p:txBody>
      </p:sp>
      <p:sp>
        <p:nvSpPr>
          <p:cNvPr id="37" name="十二角星 36"/>
          <p:cNvSpPr/>
          <p:nvPr/>
        </p:nvSpPr>
        <p:spPr>
          <a:xfrm>
            <a:off x="5436096" y="650481"/>
            <a:ext cx="965014" cy="527643"/>
          </a:xfrm>
          <a:prstGeom prst="star12">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1200" b="1" dirty="0" smtClean="0">
                <a:latin typeface="隶书" pitchFamily="49" charset="-122"/>
                <a:ea typeface="隶书" pitchFamily="49" charset="-122"/>
              </a:rPr>
              <a:t>应用场合</a:t>
            </a:r>
          </a:p>
        </p:txBody>
      </p:sp>
    </p:spTree>
    <p:extLst>
      <p:ext uri="{BB962C8B-B14F-4D97-AF65-F5344CB8AC3E}">
        <p14:creationId xmlns:p14="http://schemas.microsoft.com/office/powerpoint/2010/main" val="23705093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smtClean="0">
                <a:solidFill>
                  <a:schemeClr val="bg1"/>
                </a:solidFill>
              </a:rPr>
              <a:t>4.2.5 extern</a:t>
            </a:r>
            <a:r>
              <a:rPr lang="zh-CN" altLang="en-US" sz="2400" b="1" dirty="0" smtClean="0">
                <a:solidFill>
                  <a:schemeClr val="bg1"/>
                </a:solidFill>
              </a:rPr>
              <a:t>关键词</a:t>
            </a:r>
            <a:endParaRPr lang="zh-CN" altLang="zh-CN" sz="2400" b="1" dirty="0">
              <a:solidFill>
                <a:schemeClr val="bg1"/>
              </a:solidFill>
            </a:endParaRPr>
          </a:p>
        </p:txBody>
      </p:sp>
      <p:sp>
        <p:nvSpPr>
          <p:cNvPr id="3" name="矩形 2"/>
          <p:cNvSpPr/>
          <p:nvPr/>
        </p:nvSpPr>
        <p:spPr>
          <a:xfrm>
            <a:off x="794504" y="1581058"/>
            <a:ext cx="3528392" cy="665823"/>
          </a:xfrm>
          <a:prstGeom prst="rect">
            <a:avLst/>
          </a:prstGeom>
        </p:spPr>
        <p:txBody>
          <a:bodyPr wrap="square">
            <a:spAutoFit/>
          </a:bodyPr>
          <a:lstStyle/>
          <a:p>
            <a:pPr>
              <a:lnSpc>
                <a:spcPct val="250000"/>
              </a:lnSpc>
            </a:pPr>
            <a:r>
              <a:rPr lang="sv-SE" altLang="zh-CN" dirty="0">
                <a:latin typeface="Times New Roman" pitchFamily="18" charset="0"/>
                <a:cs typeface="Times New Roman" pitchFamily="18" charset="0"/>
              </a:rPr>
              <a:t>extern  int  a</a:t>
            </a:r>
            <a:r>
              <a:rPr lang="sv-SE" altLang="zh-CN" dirty="0" smtClean="0">
                <a:latin typeface="Times New Roman" pitchFamily="18" charset="0"/>
                <a:cs typeface="Times New Roman" pitchFamily="18" charset="0"/>
              </a:rPr>
              <a:t>;</a:t>
            </a:r>
            <a:endParaRPr lang="sv-SE" altLang="zh-CN" dirty="0">
              <a:latin typeface="Times New Roman" pitchFamily="18" charset="0"/>
              <a:cs typeface="Times New Roman" pitchFamily="18" charset="0"/>
            </a:endParaRPr>
          </a:p>
        </p:txBody>
      </p:sp>
      <p:sp>
        <p:nvSpPr>
          <p:cNvPr id="6" name="矩形 5"/>
          <p:cNvSpPr/>
          <p:nvPr/>
        </p:nvSpPr>
        <p:spPr>
          <a:xfrm>
            <a:off x="4032448" y="1146106"/>
            <a:ext cx="4572000" cy="110094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nSpc>
                <a:spcPct val="125000"/>
              </a:lnSpc>
            </a:pPr>
            <a:r>
              <a:rPr lang="zh-CN" altLang="en-US" b="1" dirty="0" smtClean="0"/>
              <a:t>     指明</a:t>
            </a:r>
            <a:r>
              <a:rPr lang="zh-CN" altLang="en-US" b="1" dirty="0"/>
              <a:t>此函数或变量的定义在别的文件中，提示编译器遇到此函数或变量时去其他模块中寻找其定义</a:t>
            </a:r>
            <a:r>
              <a:rPr lang="zh-CN" altLang="en-US" b="1" dirty="0" smtClean="0"/>
              <a:t>。</a:t>
            </a:r>
            <a:endParaRPr lang="zh-CN" altLang="en-US" b="1" dirty="0"/>
          </a:p>
        </p:txBody>
      </p:sp>
      <p:sp>
        <p:nvSpPr>
          <p:cNvPr id="7" name="矩形 6"/>
          <p:cNvSpPr/>
          <p:nvPr/>
        </p:nvSpPr>
        <p:spPr>
          <a:xfrm>
            <a:off x="3724150" y="987574"/>
            <a:ext cx="646331"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zh-CN" altLang="en-US" b="1" dirty="0" smtClean="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rPr>
              <a:t>作用</a:t>
            </a:r>
            <a:endParaRPr lang="zh-CN" altLang="en-US" b="1" dirty="0">
              <a:solidFill>
                <a:schemeClr val="accent5">
                  <a:lumMod val="7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1" name="横卷形 10"/>
          <p:cNvSpPr/>
          <p:nvPr/>
        </p:nvSpPr>
        <p:spPr>
          <a:xfrm>
            <a:off x="597797" y="1014309"/>
            <a:ext cx="2468711" cy="792088"/>
          </a:xfrm>
          <a:prstGeom prst="horizontalScroll">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ltLang="zh-CN" sz="1600" b="1" dirty="0" smtClean="0">
              <a:solidFill>
                <a:prstClr val="black"/>
              </a:solidFill>
            </a:endParaRPr>
          </a:p>
          <a:p>
            <a:r>
              <a:rPr lang="zh-CN" altLang="en-US" sz="1600" b="1" dirty="0" smtClean="0">
                <a:solidFill>
                  <a:prstClr val="black"/>
                </a:solidFill>
              </a:rPr>
              <a:t>使用</a:t>
            </a:r>
            <a:r>
              <a:rPr lang="en-US" altLang="zh-CN" sz="1600" b="1" dirty="0">
                <a:solidFill>
                  <a:prstClr val="black"/>
                </a:solidFill>
              </a:rPr>
              <a:t>extern</a:t>
            </a:r>
            <a:r>
              <a:rPr lang="zh-CN" altLang="en-US" sz="1600" b="1" dirty="0">
                <a:solidFill>
                  <a:prstClr val="black"/>
                </a:solidFill>
              </a:rPr>
              <a:t>是一个声明而不是重新定义</a:t>
            </a:r>
            <a:endParaRPr lang="zh-CN" altLang="en-US" sz="1600" b="1" dirty="0"/>
          </a:p>
          <a:p>
            <a:pPr algn="ctr"/>
            <a:endParaRPr lang="zh-CN" altLang="en-US" sz="1600" b="1" dirty="0" smtClean="0"/>
          </a:p>
        </p:txBody>
      </p:sp>
      <p:sp>
        <p:nvSpPr>
          <p:cNvPr id="12" name="圆角矩形标注 11"/>
          <p:cNvSpPr/>
          <p:nvPr/>
        </p:nvSpPr>
        <p:spPr>
          <a:xfrm>
            <a:off x="1259632" y="2571750"/>
            <a:ext cx="2664296" cy="576064"/>
          </a:xfrm>
          <a:prstGeom prst="wedgeRoundRectCallout">
            <a:avLst>
              <a:gd name="adj1" fmla="val -36371"/>
              <a:gd name="adj2" fmla="val -11027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smtClean="0">
                <a:solidFill>
                  <a:schemeClr val="tx1"/>
                </a:solidFill>
              </a:rPr>
              <a:t>声明变量</a:t>
            </a:r>
            <a:r>
              <a:rPr lang="en-US" altLang="zh-CN" sz="1400" b="1" dirty="0" smtClean="0">
                <a:solidFill>
                  <a:schemeClr val="tx1"/>
                </a:solidFill>
              </a:rPr>
              <a:t>a</a:t>
            </a:r>
            <a:r>
              <a:rPr lang="zh-CN" altLang="en-US" sz="1400" b="1" dirty="0" smtClean="0">
                <a:solidFill>
                  <a:schemeClr val="tx1"/>
                </a:solidFill>
              </a:rPr>
              <a:t>，</a:t>
            </a:r>
            <a:r>
              <a:rPr lang="zh-CN" altLang="zh-CN" sz="1400" b="1" dirty="0" smtClean="0">
                <a:solidFill>
                  <a:schemeClr val="tx1"/>
                </a:solidFill>
              </a:rPr>
              <a:t>而</a:t>
            </a:r>
            <a:r>
              <a:rPr lang="zh-CN" altLang="zh-CN" sz="1400" b="1" dirty="0">
                <a:solidFill>
                  <a:schemeClr val="tx1"/>
                </a:solidFill>
              </a:rPr>
              <a:t>不是在定义变量</a:t>
            </a:r>
            <a:r>
              <a:rPr lang="en-US" altLang="zh-CN" sz="1400" b="1" dirty="0">
                <a:solidFill>
                  <a:schemeClr val="tx1"/>
                </a:solidFill>
              </a:rPr>
              <a:t>a</a:t>
            </a:r>
            <a:r>
              <a:rPr lang="zh-CN" altLang="zh-CN" sz="1400" b="1" dirty="0">
                <a:solidFill>
                  <a:schemeClr val="tx1"/>
                </a:solidFill>
              </a:rPr>
              <a:t>，并未为</a:t>
            </a:r>
            <a:r>
              <a:rPr lang="en-US" altLang="zh-CN" sz="1400" b="1" dirty="0">
                <a:solidFill>
                  <a:schemeClr val="tx1"/>
                </a:solidFill>
              </a:rPr>
              <a:t>a</a:t>
            </a:r>
            <a:r>
              <a:rPr lang="zh-CN" altLang="zh-CN" sz="1400" b="1" dirty="0">
                <a:solidFill>
                  <a:schemeClr val="tx1"/>
                </a:solidFill>
              </a:rPr>
              <a:t>分配内存空间</a:t>
            </a:r>
            <a:endParaRPr lang="zh-CN" altLang="en-US" sz="1400" b="1" dirty="0" smtClean="0">
              <a:solidFill>
                <a:schemeClr val="tx1"/>
              </a:solidFill>
            </a:endParaRPr>
          </a:p>
        </p:txBody>
      </p:sp>
      <p:sp>
        <p:nvSpPr>
          <p:cNvPr id="14" name="圆角矩形标注 13"/>
          <p:cNvSpPr/>
          <p:nvPr/>
        </p:nvSpPr>
        <p:spPr>
          <a:xfrm>
            <a:off x="2549921" y="4041382"/>
            <a:ext cx="2808312" cy="576064"/>
          </a:xfrm>
          <a:prstGeom prst="wedgeRoundRectCallout">
            <a:avLst>
              <a:gd name="adj1" fmla="val -54603"/>
              <a:gd name="adj2" fmla="val -9705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en-US" sz="1400" b="1" dirty="0" smtClean="0">
                <a:solidFill>
                  <a:schemeClr val="tx1"/>
                </a:solidFill>
              </a:rPr>
              <a:t>声明函数</a:t>
            </a:r>
            <a:r>
              <a:rPr lang="en-US" altLang="zh-CN" sz="1400" b="1" dirty="0" err="1">
                <a:solidFill>
                  <a:schemeClr val="tx1"/>
                </a:solidFill>
              </a:rPr>
              <a:t>funA</a:t>
            </a:r>
            <a:r>
              <a:rPr lang="en-US" altLang="zh-CN" sz="1400" b="1" dirty="0">
                <a:solidFill>
                  <a:schemeClr val="tx1"/>
                </a:solidFill>
              </a:rPr>
              <a:t>( )</a:t>
            </a:r>
            <a:r>
              <a:rPr lang="zh-CN" altLang="en-US" sz="1400" b="1" dirty="0">
                <a:solidFill>
                  <a:schemeClr val="tx1"/>
                </a:solidFill>
              </a:rPr>
              <a:t>，此函数已在其他文件中定义。</a:t>
            </a:r>
            <a:endParaRPr lang="zh-CN" altLang="en-US" sz="1400" b="1" dirty="0" smtClean="0">
              <a:solidFill>
                <a:schemeClr val="tx1"/>
              </a:solidFill>
            </a:endParaRPr>
          </a:p>
        </p:txBody>
      </p:sp>
      <p:sp>
        <p:nvSpPr>
          <p:cNvPr id="15" name="横卷形 14"/>
          <p:cNvSpPr/>
          <p:nvPr/>
        </p:nvSpPr>
        <p:spPr>
          <a:xfrm>
            <a:off x="5580112" y="2787774"/>
            <a:ext cx="2468711" cy="1107740"/>
          </a:xfrm>
          <a:prstGeom prst="horizontalScroll">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en-US" altLang="zh-CN" sz="1600" b="1" dirty="0" smtClean="0">
                <a:solidFill>
                  <a:schemeClr val="tx1"/>
                </a:solidFill>
              </a:rPr>
              <a:t>extern </a:t>
            </a:r>
            <a:r>
              <a:rPr lang="en-US" altLang="zh-CN" sz="1600" b="1" dirty="0">
                <a:solidFill>
                  <a:schemeClr val="tx1"/>
                </a:solidFill>
              </a:rPr>
              <a:t>"C"</a:t>
            </a:r>
            <a:r>
              <a:rPr lang="zh-CN" altLang="zh-CN" sz="1600" b="1" dirty="0">
                <a:solidFill>
                  <a:schemeClr val="tx1"/>
                </a:solidFill>
              </a:rPr>
              <a:t>进行链接指定，告知编译器这是采用</a:t>
            </a:r>
            <a:r>
              <a:rPr lang="en-US" altLang="zh-CN" sz="1600" b="1" dirty="0">
                <a:solidFill>
                  <a:schemeClr val="tx1"/>
                </a:solidFill>
              </a:rPr>
              <a:t>C</a:t>
            </a:r>
            <a:r>
              <a:rPr lang="zh-CN" altLang="zh-CN" sz="1600" b="1" dirty="0">
                <a:solidFill>
                  <a:schemeClr val="tx1"/>
                </a:solidFill>
              </a:rPr>
              <a:t>语言定义的函数</a:t>
            </a:r>
            <a:endParaRPr lang="zh-CN" altLang="en-US" sz="1600" b="1" dirty="0" smtClean="0">
              <a:solidFill>
                <a:schemeClr val="tx1"/>
              </a:solidFill>
            </a:endParaRPr>
          </a:p>
        </p:txBody>
      </p:sp>
      <p:sp>
        <p:nvSpPr>
          <p:cNvPr id="16" name="矩形 15"/>
          <p:cNvSpPr/>
          <p:nvPr/>
        </p:nvSpPr>
        <p:spPr>
          <a:xfrm>
            <a:off x="1475656" y="3426554"/>
            <a:ext cx="2153154" cy="369332"/>
          </a:xfrm>
          <a:prstGeom prst="rect">
            <a:avLst/>
          </a:prstGeom>
        </p:spPr>
        <p:txBody>
          <a:bodyPr wrap="none">
            <a:spAutoFit/>
          </a:bodyPr>
          <a:lstStyle/>
          <a:p>
            <a:pPr lvl="0"/>
            <a:r>
              <a:rPr lang="sv-SE" altLang="zh-CN" dirty="0">
                <a:solidFill>
                  <a:prstClr val="black"/>
                </a:solidFill>
                <a:latin typeface="Times New Roman" pitchFamily="18" charset="0"/>
                <a:cs typeface="Times New Roman" pitchFamily="18" charset="0"/>
              </a:rPr>
              <a:t>extern  int  funA( )</a:t>
            </a:r>
            <a:r>
              <a:rPr lang="zh-CN" altLang="sv-SE" dirty="0">
                <a:solidFill>
                  <a:prstClr val="black"/>
                </a:solidFill>
                <a:latin typeface="Times New Roman" pitchFamily="18" charset="0"/>
                <a:cs typeface="Times New Roman" pitchFamily="18" charset="0"/>
              </a:rPr>
              <a:t>；</a:t>
            </a:r>
          </a:p>
        </p:txBody>
      </p:sp>
    </p:spTree>
    <p:extLst>
      <p:ext uri="{BB962C8B-B14F-4D97-AF65-F5344CB8AC3E}">
        <p14:creationId xmlns:p14="http://schemas.microsoft.com/office/powerpoint/2010/main" val="20933947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smtClean="0">
                <a:solidFill>
                  <a:schemeClr val="bg1"/>
                </a:solidFill>
              </a:rPr>
              <a:t>4.2.5 extern</a:t>
            </a:r>
            <a:r>
              <a:rPr lang="zh-CN" altLang="en-US" sz="2400" b="1" dirty="0" smtClean="0">
                <a:solidFill>
                  <a:schemeClr val="bg1"/>
                </a:solidFill>
              </a:rPr>
              <a:t>关键词</a:t>
            </a:r>
            <a:endParaRPr lang="zh-CN" altLang="zh-CN" sz="2400" b="1" dirty="0">
              <a:solidFill>
                <a:schemeClr val="bg1"/>
              </a:solidFill>
            </a:endParaRPr>
          </a:p>
        </p:txBody>
      </p:sp>
      <p:sp>
        <p:nvSpPr>
          <p:cNvPr id="6" name="矩形 5"/>
          <p:cNvSpPr/>
          <p:nvPr/>
        </p:nvSpPr>
        <p:spPr>
          <a:xfrm>
            <a:off x="400617" y="1033607"/>
            <a:ext cx="2592288"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smtClean="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extern "C"{</a:t>
            </a:r>
          </a:p>
          <a:p>
            <a:pPr>
              <a:lnSpc>
                <a:spcPct val="125000"/>
              </a:lnSpc>
            </a:pPr>
            <a:r>
              <a:rPr lang="en-US" altLang="zh-CN" b="1" dirty="0"/>
              <a:t>#</a:t>
            </a:r>
            <a:r>
              <a:rPr lang="en-US" altLang="zh-CN" b="1" dirty="0" err="1"/>
              <a:t>endif</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smtClean="0"/>
              <a:t>endif</a:t>
            </a:r>
            <a:r>
              <a:rPr lang="en-US" altLang="zh-CN" b="1" dirty="0"/>
              <a:t>	</a:t>
            </a:r>
            <a:endParaRPr lang="zh-CN" altLang="en-US" b="1" dirty="0"/>
          </a:p>
        </p:txBody>
      </p:sp>
      <p:sp>
        <p:nvSpPr>
          <p:cNvPr id="7" name="矩形 6"/>
          <p:cNvSpPr/>
          <p:nvPr/>
        </p:nvSpPr>
        <p:spPr>
          <a:xfrm>
            <a:off x="3491880" y="195486"/>
            <a:ext cx="5256584" cy="2169825"/>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smtClean="0">
                <a:solidFill>
                  <a:srgbClr val="FF0000"/>
                </a:solidFill>
              </a:rPr>
              <a:t>解析：</a:t>
            </a:r>
            <a:r>
              <a:rPr lang="zh-CN" altLang="en-US" b="1" dirty="0" smtClean="0"/>
              <a:t>如果</a:t>
            </a:r>
            <a:r>
              <a:rPr lang="zh-CN" altLang="en-US" b="1" dirty="0"/>
              <a:t>定义了</a:t>
            </a:r>
            <a:r>
              <a:rPr lang="en-US" altLang="zh-CN" b="1" dirty="0"/>
              <a:t>__</a:t>
            </a:r>
            <a:r>
              <a:rPr lang="en-US" altLang="zh-CN" b="1" dirty="0" err="1" smtClean="0"/>
              <a:t>cplusplus</a:t>
            </a:r>
            <a:r>
              <a:rPr lang="zh-CN" altLang="en-US" b="1" dirty="0"/>
              <a:t>（</a:t>
            </a:r>
            <a:r>
              <a:rPr lang="en-US" altLang="zh-CN" b="1" dirty="0" smtClean="0"/>
              <a:t>C</a:t>
            </a:r>
            <a:r>
              <a:rPr lang="en-US" altLang="zh-CN" b="1" dirty="0"/>
              <a:t>++</a:t>
            </a:r>
            <a:r>
              <a:rPr lang="zh-CN" altLang="en-US" b="1" dirty="0"/>
              <a:t>编译器中自定义的</a:t>
            </a:r>
            <a:r>
              <a:rPr lang="zh-CN" altLang="en-US" b="1" dirty="0" smtClean="0"/>
              <a:t>宏），</a:t>
            </a:r>
            <a:r>
              <a:rPr lang="zh-CN" altLang="en-US" b="1" dirty="0"/>
              <a:t>则执行</a:t>
            </a:r>
            <a:r>
              <a:rPr lang="en-US" altLang="zh-CN" b="1" dirty="0" err="1" smtClean="0"/>
              <a:t>extern“C</a:t>
            </a:r>
            <a:r>
              <a:rPr lang="en-US" altLang="zh-CN" b="1" dirty="0" smtClean="0"/>
              <a:t>”{</a:t>
            </a:r>
            <a:r>
              <a:rPr lang="zh-CN" altLang="en-US" b="1" dirty="0" smtClean="0"/>
              <a:t>语句。</a:t>
            </a:r>
            <a:r>
              <a:rPr lang="en-US" altLang="zh-CN" b="1" dirty="0"/>
              <a:t>C++</a:t>
            </a:r>
            <a:r>
              <a:rPr lang="zh-CN" altLang="en-US" b="1" dirty="0"/>
              <a:t>支持函数重载</a:t>
            </a:r>
            <a:r>
              <a:rPr lang="zh-CN" altLang="en-US" b="1" dirty="0" smtClean="0"/>
              <a:t>，而</a:t>
            </a:r>
            <a:r>
              <a:rPr lang="en-US" altLang="zh-CN" b="1" dirty="0"/>
              <a:t>C</a:t>
            </a:r>
            <a:r>
              <a:rPr lang="zh-CN" altLang="en-US" b="1" dirty="0"/>
              <a:t>语言不支持函数重载</a:t>
            </a:r>
            <a:r>
              <a:rPr lang="zh-CN" altLang="en-US" b="1" dirty="0" smtClean="0"/>
              <a:t>，在</a:t>
            </a:r>
            <a:r>
              <a:rPr lang="en-US" altLang="zh-CN" b="1" dirty="0"/>
              <a:t>C++</a:t>
            </a:r>
            <a:r>
              <a:rPr lang="zh-CN" altLang="en-US" b="1" dirty="0"/>
              <a:t>环境下使用</a:t>
            </a:r>
            <a:r>
              <a:rPr lang="en-US" altLang="zh-CN" b="1" dirty="0"/>
              <a:t>C</a:t>
            </a:r>
            <a:r>
              <a:rPr lang="zh-CN" altLang="en-US" b="1" dirty="0" smtClean="0"/>
              <a:t>函数会</a:t>
            </a:r>
            <a:r>
              <a:rPr lang="zh-CN" altLang="en-US" b="1" dirty="0"/>
              <a:t>出现链接时找不到对应函数的情况，</a:t>
            </a:r>
            <a:r>
              <a:rPr lang="zh-CN" altLang="en-US" b="1" dirty="0" smtClean="0"/>
              <a:t>这时需要</a:t>
            </a:r>
            <a:r>
              <a:rPr lang="zh-CN" altLang="en-US" b="1" dirty="0"/>
              <a:t>使用</a:t>
            </a:r>
            <a:r>
              <a:rPr lang="en-US" altLang="zh-CN" b="1" dirty="0"/>
              <a:t>extern </a:t>
            </a:r>
            <a:r>
              <a:rPr lang="en-US" altLang="zh-CN" b="1" dirty="0" smtClean="0"/>
              <a:t>“C”</a:t>
            </a:r>
            <a:r>
              <a:rPr lang="zh-CN" altLang="en-US" b="1" dirty="0" smtClean="0"/>
              <a:t>进行</a:t>
            </a:r>
            <a:r>
              <a:rPr lang="zh-CN" altLang="en-US" b="1" dirty="0"/>
              <a:t>链接指定，告知</a:t>
            </a:r>
            <a:r>
              <a:rPr lang="zh-CN" altLang="en-US" b="1" dirty="0" smtClean="0"/>
              <a:t>编译器使用</a:t>
            </a:r>
            <a:r>
              <a:rPr lang="en-US" altLang="zh-CN" b="1" dirty="0"/>
              <a:t>C</a:t>
            </a:r>
            <a:r>
              <a:rPr lang="zh-CN" altLang="en-US" b="1" dirty="0"/>
              <a:t>语言的命名规则来处理</a:t>
            </a:r>
            <a:r>
              <a:rPr lang="zh-CN" altLang="en-US" b="1" dirty="0" smtClean="0"/>
              <a:t>函数。</a:t>
            </a:r>
            <a:endParaRPr lang="zh-CN" altLang="en-US" b="1" dirty="0"/>
          </a:p>
        </p:txBody>
      </p:sp>
      <p:sp>
        <p:nvSpPr>
          <p:cNvPr id="8" name="矩形 7"/>
          <p:cNvSpPr/>
          <p:nvPr/>
        </p:nvSpPr>
        <p:spPr>
          <a:xfrm>
            <a:off x="5040560" y="2427734"/>
            <a:ext cx="2195736" cy="251607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b="1" dirty="0" smtClean="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extern "C"{</a:t>
            </a:r>
          </a:p>
          <a:p>
            <a:pPr>
              <a:lnSpc>
                <a:spcPct val="125000"/>
              </a:lnSpc>
            </a:pPr>
            <a:r>
              <a:rPr lang="en-US" altLang="zh-CN" b="1" dirty="0"/>
              <a:t>#</a:t>
            </a:r>
            <a:r>
              <a:rPr lang="en-US" altLang="zh-CN" b="1" dirty="0" err="1"/>
              <a:t>endif</a:t>
            </a:r>
            <a:endParaRPr lang="en-US" altLang="zh-CN" b="1" dirty="0"/>
          </a:p>
          <a:p>
            <a:pPr>
              <a:lnSpc>
                <a:spcPct val="125000"/>
              </a:lnSpc>
            </a:pPr>
            <a:r>
              <a:rPr lang="en-US" altLang="zh-CN" b="1" dirty="0"/>
              <a:t>//</a:t>
            </a:r>
            <a:r>
              <a:rPr lang="zh-CN" altLang="en-US" b="1" dirty="0"/>
              <a:t>函数声明</a:t>
            </a:r>
          </a:p>
          <a:p>
            <a:pPr>
              <a:lnSpc>
                <a:spcPct val="125000"/>
              </a:lnSpc>
            </a:pPr>
            <a:r>
              <a:rPr lang="en-US" altLang="zh-CN" b="1" dirty="0"/>
              <a:t>#</a:t>
            </a:r>
            <a:r>
              <a:rPr lang="en-US" altLang="zh-CN" b="1" dirty="0" err="1"/>
              <a:t>ifdef</a:t>
            </a:r>
            <a:r>
              <a:rPr lang="en-US" altLang="zh-CN" b="1" dirty="0"/>
              <a:t> __</a:t>
            </a:r>
            <a:r>
              <a:rPr lang="en-US" altLang="zh-CN" b="1" dirty="0" err="1"/>
              <a:t>cplusplus</a:t>
            </a:r>
            <a:endParaRPr lang="en-US" altLang="zh-CN" b="1" dirty="0"/>
          </a:p>
          <a:p>
            <a:pPr>
              <a:lnSpc>
                <a:spcPct val="125000"/>
              </a:lnSpc>
            </a:pPr>
            <a:r>
              <a:rPr lang="en-US" altLang="zh-CN" b="1" dirty="0"/>
              <a:t>}</a:t>
            </a:r>
          </a:p>
          <a:p>
            <a:pPr>
              <a:lnSpc>
                <a:spcPct val="125000"/>
              </a:lnSpc>
            </a:pPr>
            <a:r>
              <a:rPr lang="en-US" altLang="zh-CN" b="1" dirty="0"/>
              <a:t>#</a:t>
            </a:r>
            <a:r>
              <a:rPr lang="en-US" altLang="zh-CN" b="1" dirty="0" err="1" smtClean="0"/>
              <a:t>endif</a:t>
            </a:r>
            <a:endParaRPr lang="en-US" altLang="zh-CN" b="1" dirty="0"/>
          </a:p>
        </p:txBody>
      </p:sp>
      <p:sp>
        <p:nvSpPr>
          <p:cNvPr id="2" name="矩形 1"/>
          <p:cNvSpPr/>
          <p:nvPr/>
        </p:nvSpPr>
        <p:spPr>
          <a:xfrm>
            <a:off x="920608" y="3892608"/>
            <a:ext cx="3384376" cy="923330"/>
          </a:xfrm>
          <a:prstGeom prst="rect">
            <a:avLst/>
          </a:prstGeom>
          <a:solidFill>
            <a:schemeClr val="accent3">
              <a:lumMod val="40000"/>
              <a:lumOff val="60000"/>
            </a:schemeClr>
          </a:solidFill>
        </p:spPr>
        <p:txBody>
          <a:bodyPr wrap="square">
            <a:spAutoFit/>
          </a:bodyPr>
          <a:lstStyle/>
          <a:p>
            <a:r>
              <a:rPr lang="zh-CN" altLang="en-US" b="1" dirty="0">
                <a:solidFill>
                  <a:prstClr val="black"/>
                </a:solidFill>
              </a:rPr>
              <a:t> </a:t>
            </a:r>
            <a:r>
              <a:rPr lang="zh-CN" altLang="en-US" b="1" dirty="0" smtClean="0">
                <a:solidFill>
                  <a:prstClr val="black"/>
                </a:solidFill>
              </a:rPr>
              <a:t>   当</a:t>
            </a:r>
            <a:r>
              <a:rPr lang="zh-CN" altLang="en-US" b="1" dirty="0">
                <a:solidFill>
                  <a:prstClr val="black"/>
                </a:solidFill>
              </a:rPr>
              <a:t>函数有可能被</a:t>
            </a:r>
            <a:r>
              <a:rPr lang="en-US" altLang="zh-CN" b="1" dirty="0">
                <a:solidFill>
                  <a:prstClr val="black"/>
                </a:solidFill>
              </a:rPr>
              <a:t>C</a:t>
            </a:r>
            <a:r>
              <a:rPr lang="zh-CN" altLang="en-US" b="1" dirty="0">
                <a:solidFill>
                  <a:prstClr val="black"/>
                </a:solidFill>
              </a:rPr>
              <a:t>语言或</a:t>
            </a:r>
            <a:r>
              <a:rPr lang="en-US" altLang="zh-CN" b="1" dirty="0">
                <a:solidFill>
                  <a:prstClr val="black"/>
                </a:solidFill>
              </a:rPr>
              <a:t>C++</a:t>
            </a:r>
            <a:r>
              <a:rPr lang="zh-CN" altLang="en-US" b="1" dirty="0">
                <a:solidFill>
                  <a:prstClr val="black"/>
                </a:solidFill>
              </a:rPr>
              <a:t>使用时，将函数声明放在</a:t>
            </a:r>
            <a:r>
              <a:rPr lang="en-US" altLang="zh-CN" b="1" dirty="0">
                <a:solidFill>
                  <a:prstClr val="black"/>
                </a:solidFill>
              </a:rPr>
              <a:t>extern </a:t>
            </a:r>
            <a:r>
              <a:rPr lang="en-US" altLang="zh-CN" b="1" dirty="0" smtClean="0">
                <a:solidFill>
                  <a:prstClr val="black"/>
                </a:solidFill>
              </a:rPr>
              <a:t>“C”</a:t>
            </a:r>
            <a:r>
              <a:rPr lang="zh-CN" altLang="en-US" b="1" dirty="0" smtClean="0">
                <a:solidFill>
                  <a:prstClr val="black"/>
                </a:solidFill>
              </a:rPr>
              <a:t>中</a:t>
            </a:r>
            <a:r>
              <a:rPr lang="zh-CN" altLang="en-US" b="1" dirty="0">
                <a:solidFill>
                  <a:prstClr val="black"/>
                </a:solidFill>
              </a:rPr>
              <a:t>以免出现编译</a:t>
            </a:r>
            <a:r>
              <a:rPr lang="zh-CN" altLang="en-US" b="1" dirty="0" smtClean="0">
                <a:solidFill>
                  <a:prstClr val="black"/>
                </a:solidFill>
              </a:rPr>
              <a:t>错误。</a:t>
            </a:r>
            <a:endParaRPr lang="zh-CN" altLang="en-US" dirty="0"/>
          </a:p>
        </p:txBody>
      </p:sp>
      <p:sp>
        <p:nvSpPr>
          <p:cNvPr id="3" name="右箭头 2"/>
          <p:cNvSpPr/>
          <p:nvPr/>
        </p:nvSpPr>
        <p:spPr>
          <a:xfrm>
            <a:off x="4464496" y="4066241"/>
            <a:ext cx="356229" cy="28803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600" b="1" dirty="0" smtClean="0"/>
          </a:p>
        </p:txBody>
      </p:sp>
      <p:sp>
        <p:nvSpPr>
          <p:cNvPr id="9" name="右箭头 8"/>
          <p:cNvSpPr/>
          <p:nvPr/>
        </p:nvSpPr>
        <p:spPr>
          <a:xfrm rot="10800000">
            <a:off x="3059832" y="1491630"/>
            <a:ext cx="356229" cy="28803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37546380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84380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36684" cy="461665"/>
          </a:xfrm>
          <a:prstGeom prst="rect">
            <a:avLst/>
          </a:prstGeom>
        </p:spPr>
        <p:txBody>
          <a:bodyPr wrap="none">
            <a:spAutoFit/>
          </a:bodyPr>
          <a:lstStyle/>
          <a:p>
            <a:r>
              <a:rPr lang="en-US" altLang="zh-CN" sz="2400" b="1" dirty="0" smtClean="0">
                <a:solidFill>
                  <a:schemeClr val="bg1"/>
                </a:solidFill>
              </a:rPr>
              <a:t>4.2.5 extern</a:t>
            </a:r>
            <a:r>
              <a:rPr lang="zh-CN" altLang="en-US" sz="2400" b="1" dirty="0" smtClean="0">
                <a:solidFill>
                  <a:schemeClr val="bg1"/>
                </a:solidFill>
              </a:rPr>
              <a:t>关键词</a:t>
            </a:r>
            <a:endParaRPr lang="zh-CN" altLang="zh-CN" sz="2400" b="1" dirty="0">
              <a:solidFill>
                <a:schemeClr val="bg1"/>
              </a:solidFill>
            </a:endParaRPr>
          </a:p>
        </p:txBody>
      </p:sp>
      <p:sp>
        <p:nvSpPr>
          <p:cNvPr id="7" name="矩形 6"/>
          <p:cNvSpPr/>
          <p:nvPr/>
        </p:nvSpPr>
        <p:spPr>
          <a:xfrm>
            <a:off x="358093" y="1059582"/>
            <a:ext cx="2808312" cy="3554819"/>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zh-CN" altLang="en-US" b="1" dirty="0" smtClean="0">
                <a:solidFill>
                  <a:schemeClr val="tx1"/>
                </a:solidFill>
              </a:rPr>
              <a:t>     为</a:t>
            </a:r>
            <a:r>
              <a:rPr lang="zh-CN" altLang="en-US" b="1" dirty="0">
                <a:solidFill>
                  <a:schemeClr val="tx1"/>
                </a:solidFill>
              </a:rPr>
              <a:t>保证全局变量和功能函数的使用，</a:t>
            </a:r>
            <a:r>
              <a:rPr lang="en-US" altLang="zh-CN" b="1" dirty="0">
                <a:solidFill>
                  <a:schemeClr val="tx1"/>
                </a:solidFill>
              </a:rPr>
              <a:t>extern</a:t>
            </a:r>
            <a:r>
              <a:rPr lang="zh-CN" altLang="en-US" b="1" dirty="0">
                <a:solidFill>
                  <a:schemeClr val="tx1"/>
                </a:solidFill>
              </a:rPr>
              <a:t>一般用在</a:t>
            </a:r>
            <a:r>
              <a:rPr lang="en-US" altLang="zh-CN" b="1" dirty="0">
                <a:solidFill>
                  <a:schemeClr val="tx1"/>
                </a:solidFill>
              </a:rPr>
              <a:t>.h</a:t>
            </a:r>
            <a:r>
              <a:rPr lang="zh-CN" altLang="en-US" b="1" dirty="0">
                <a:solidFill>
                  <a:schemeClr val="tx1"/>
                </a:solidFill>
              </a:rPr>
              <a:t>头文件中对某个模块提供给其它模块调用的外部函数及变量进行声明，实际编程中只需要将该</a:t>
            </a:r>
            <a:r>
              <a:rPr lang="en-US" altLang="zh-CN" b="1" dirty="0">
                <a:solidFill>
                  <a:schemeClr val="tx1"/>
                </a:solidFill>
              </a:rPr>
              <a:t>.h</a:t>
            </a:r>
            <a:r>
              <a:rPr lang="zh-CN" altLang="en-US" b="1" dirty="0">
                <a:solidFill>
                  <a:schemeClr val="tx1"/>
                </a:solidFill>
              </a:rPr>
              <a:t>头文件包含进该模块对应的</a:t>
            </a:r>
            <a:r>
              <a:rPr lang="en-US" altLang="zh-CN" b="1" dirty="0">
                <a:solidFill>
                  <a:schemeClr val="tx1"/>
                </a:solidFill>
              </a:rPr>
              <a:t>.c</a:t>
            </a:r>
            <a:r>
              <a:rPr lang="zh-CN" altLang="en-US" b="1" dirty="0">
                <a:solidFill>
                  <a:schemeClr val="tx1"/>
                </a:solidFill>
              </a:rPr>
              <a:t>文件，即在该模块的</a:t>
            </a:r>
            <a:r>
              <a:rPr lang="en-US" altLang="zh-CN" b="1" dirty="0">
                <a:solidFill>
                  <a:schemeClr val="tx1"/>
                </a:solidFill>
              </a:rPr>
              <a:t>.c</a:t>
            </a:r>
            <a:r>
              <a:rPr lang="zh-CN" altLang="en-US" b="1" dirty="0">
                <a:solidFill>
                  <a:schemeClr val="tx1"/>
                </a:solidFill>
              </a:rPr>
              <a:t>文件中加入代码</a:t>
            </a:r>
            <a:r>
              <a:rPr lang="en-US" altLang="zh-CN" b="1" dirty="0">
                <a:solidFill>
                  <a:schemeClr val="tx1"/>
                </a:solidFill>
              </a:rPr>
              <a:t>#include "</a:t>
            </a:r>
            <a:r>
              <a:rPr lang="en-US" altLang="zh-CN" b="1" dirty="0" err="1">
                <a:solidFill>
                  <a:schemeClr val="tx1"/>
                </a:solidFill>
              </a:rPr>
              <a:t>xxx.h</a:t>
            </a:r>
            <a:r>
              <a:rPr lang="en-US" altLang="zh-CN" b="1" dirty="0">
                <a:solidFill>
                  <a:schemeClr val="tx1"/>
                </a:solidFill>
              </a:rPr>
              <a:t>"</a:t>
            </a:r>
            <a:r>
              <a:rPr lang="zh-CN" altLang="en-US" b="1" dirty="0">
                <a:solidFill>
                  <a:schemeClr val="tx1"/>
                </a:solidFill>
              </a:rPr>
              <a:t>。</a:t>
            </a:r>
          </a:p>
        </p:txBody>
      </p:sp>
      <p:graphicFrame>
        <p:nvGraphicFramePr>
          <p:cNvPr id="10" name="表格 9"/>
          <p:cNvGraphicFramePr>
            <a:graphicFrameLocks noGrp="1"/>
          </p:cNvGraphicFramePr>
          <p:nvPr>
            <p:extLst>
              <p:ext uri="{D42A27DB-BD31-4B8C-83A1-F6EECF244321}">
                <p14:modId xmlns:p14="http://schemas.microsoft.com/office/powerpoint/2010/main" val="3263686377"/>
              </p:ext>
            </p:extLst>
          </p:nvPr>
        </p:nvGraphicFramePr>
        <p:xfrm>
          <a:off x="3347864" y="123478"/>
          <a:ext cx="5544615" cy="1706880"/>
        </p:xfrm>
        <a:graphic>
          <a:graphicData uri="http://schemas.openxmlformats.org/drawingml/2006/table">
            <a:tbl>
              <a:tblPr firstRow="1" firstCol="1" bandRow="1"/>
              <a:tblGrid>
                <a:gridCol w="5544615"/>
              </a:tblGrid>
              <a:tr h="0">
                <a:tc>
                  <a:txBody>
                    <a:bodyPr/>
                    <a:lstStyle/>
                    <a:p>
                      <a:pPr algn="ctr">
                        <a:spcAft>
                          <a:spcPts val="0"/>
                        </a:spcAft>
                      </a:pPr>
                      <a:r>
                        <a:rPr lang="en-US" sz="1600" b="1" kern="100" dirty="0" err="1">
                          <a:effectLst/>
                          <a:latin typeface="+mn-lt"/>
                          <a:ea typeface="宋体"/>
                          <a:cs typeface="Times New Roman"/>
                        </a:rPr>
                        <a:t>ADCx.h</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indent="0" algn="just">
                        <a:spcAft>
                          <a:spcPts val="0"/>
                        </a:spcAft>
                      </a:pPr>
                      <a:r>
                        <a:rPr lang="en-US" sz="1600" b="1" kern="100" dirty="0">
                          <a:effectLst/>
                          <a:latin typeface="+mn-lt"/>
                          <a:ea typeface="宋体"/>
                          <a:cs typeface="Times New Roman"/>
                        </a:rPr>
                        <a:t>//</a:t>
                      </a:r>
                      <a:r>
                        <a:rPr lang="zh-CN" sz="1600" b="1" kern="100" dirty="0">
                          <a:effectLst/>
                          <a:latin typeface="+mn-lt"/>
                          <a:ea typeface="宋体"/>
                          <a:cs typeface="Times New Roman"/>
                        </a:rPr>
                        <a:t>声明全局变量</a:t>
                      </a:r>
                      <a:endParaRPr lang="zh-CN" sz="3200" b="1" kern="100" dirty="0">
                        <a:effectLst/>
                        <a:latin typeface="+mn-lt"/>
                        <a:ea typeface="宋体"/>
                        <a:cs typeface="Times New Roman"/>
                      </a:endParaRPr>
                    </a:p>
                    <a:p>
                      <a:pPr algn="just">
                        <a:spcAft>
                          <a:spcPts val="0"/>
                        </a:spcAft>
                      </a:pPr>
                      <a:r>
                        <a:rPr lang="en-US" sz="1600" b="1" kern="100" dirty="0">
                          <a:solidFill>
                            <a:schemeClr val="accent5">
                              <a:lumMod val="75000"/>
                            </a:schemeClr>
                          </a:solidFill>
                          <a:effectLst/>
                          <a:latin typeface="+mn-lt"/>
                          <a:ea typeface="宋体"/>
                          <a:cs typeface="Times New Roman"/>
                        </a:rPr>
                        <a:t>extern  uint16_t  </a:t>
                      </a:r>
                      <a:r>
                        <a:rPr lang="en-US" sz="1600" b="1" kern="100" dirty="0" err="1">
                          <a:solidFill>
                            <a:schemeClr val="accent5">
                              <a:lumMod val="75000"/>
                            </a:schemeClr>
                          </a:solidFill>
                          <a:effectLst/>
                          <a:latin typeface="+mn-lt"/>
                          <a:ea typeface="宋体"/>
                          <a:cs typeface="Times New Roman"/>
                        </a:rPr>
                        <a:t>ADC_ConvertedValue</a:t>
                      </a:r>
                      <a:r>
                        <a:rPr lang="en-US" sz="1600" b="1" kern="100" dirty="0">
                          <a:solidFill>
                            <a:schemeClr val="accent5">
                              <a:lumMod val="75000"/>
                            </a:schemeClr>
                          </a:solidFill>
                          <a:effectLst/>
                          <a:latin typeface="+mn-lt"/>
                          <a:ea typeface="宋体"/>
                          <a:cs typeface="Times New Roman"/>
                        </a:rPr>
                        <a:t>; </a:t>
                      </a:r>
                      <a:r>
                        <a:rPr lang="en-US" sz="1600" b="1" kern="100" dirty="0">
                          <a:effectLst/>
                          <a:latin typeface="+mn-lt"/>
                          <a:ea typeface="宋体"/>
                          <a:cs typeface="Times New Roman"/>
                        </a:rPr>
                        <a:t>//</a:t>
                      </a:r>
                      <a:r>
                        <a:rPr lang="zh-CN" sz="1600" b="1" kern="100" dirty="0">
                          <a:effectLst/>
                          <a:latin typeface="+mn-lt"/>
                          <a:ea typeface="宋体"/>
                          <a:cs typeface="Times New Roman"/>
                        </a:rPr>
                        <a:t>存放</a:t>
                      </a:r>
                      <a:r>
                        <a:rPr lang="en-US" sz="1600" b="1" kern="100" dirty="0">
                          <a:effectLst/>
                          <a:latin typeface="+mn-lt"/>
                          <a:ea typeface="宋体"/>
                          <a:cs typeface="Times New Roman"/>
                        </a:rPr>
                        <a:t>ADC</a:t>
                      </a:r>
                      <a:r>
                        <a:rPr lang="zh-CN" sz="1600" b="1" kern="100" dirty="0">
                          <a:effectLst/>
                          <a:latin typeface="+mn-lt"/>
                          <a:ea typeface="宋体"/>
                          <a:cs typeface="Times New Roman"/>
                        </a:rPr>
                        <a:t>的转换结果</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r>
                        <a:rPr lang="en-US" sz="1600" b="1" kern="100" dirty="0" smtClean="0">
                          <a:effectLst/>
                          <a:latin typeface="+mn-lt"/>
                          <a:ea typeface="宋体"/>
                          <a:cs typeface="Times New Roman"/>
                        </a:rPr>
                        <a:t>…</a:t>
                      </a:r>
                      <a:endParaRPr lang="en-US" sz="3200" b="1" kern="100" dirty="0" smtClean="0">
                        <a:effectLst/>
                        <a:latin typeface="+mn-lt"/>
                        <a:ea typeface="宋体"/>
                        <a:cs typeface="Times New Roman"/>
                      </a:endParaRPr>
                    </a:p>
                    <a:p>
                      <a:pPr algn="just">
                        <a:spcAft>
                          <a:spcPts val="0"/>
                        </a:spcAft>
                      </a:pPr>
                      <a:r>
                        <a:rPr lang="en-US" sz="1600" b="1" kern="100" dirty="0" smtClean="0">
                          <a:effectLst/>
                          <a:latin typeface="+mn-lt"/>
                          <a:ea typeface="宋体"/>
                          <a:cs typeface="Times New Roman"/>
                        </a:rPr>
                        <a:t>//</a:t>
                      </a:r>
                      <a:r>
                        <a:rPr lang="zh-CN" sz="1600" b="1" kern="100" dirty="0">
                          <a:effectLst/>
                          <a:latin typeface="+mn-lt"/>
                          <a:ea typeface="宋体"/>
                          <a:cs typeface="Times New Roman"/>
                        </a:rPr>
                        <a:t>外部功能函数声明</a:t>
                      </a:r>
                      <a:endParaRPr lang="zh-CN" sz="3200" b="1" kern="100" dirty="0">
                        <a:effectLst/>
                        <a:latin typeface="+mn-lt"/>
                        <a:ea typeface="宋体"/>
                        <a:cs typeface="Times New Roman"/>
                      </a:endParaRPr>
                    </a:p>
                    <a:p>
                      <a:pPr algn="just">
                        <a:spcAft>
                          <a:spcPts val="0"/>
                        </a:spcAft>
                      </a:pPr>
                      <a:r>
                        <a:rPr lang="en-US" sz="1600" b="1" kern="100" dirty="0">
                          <a:solidFill>
                            <a:schemeClr val="accent5">
                              <a:lumMod val="75000"/>
                            </a:schemeClr>
                          </a:solidFill>
                          <a:effectLst/>
                          <a:latin typeface="+mn-lt"/>
                          <a:ea typeface="宋体"/>
                          <a:cs typeface="Times New Roman"/>
                        </a:rPr>
                        <a:t>extern  void  </a:t>
                      </a:r>
                      <a:r>
                        <a:rPr lang="en-US" sz="1600" b="1" kern="100" dirty="0" err="1">
                          <a:solidFill>
                            <a:schemeClr val="accent5">
                              <a:lumMod val="75000"/>
                            </a:schemeClr>
                          </a:solidFill>
                          <a:effectLst/>
                          <a:latin typeface="+mn-lt"/>
                          <a:ea typeface="宋体"/>
                          <a:cs typeface="Times New Roman"/>
                        </a:rPr>
                        <a:t>ADC_Init</a:t>
                      </a:r>
                      <a:r>
                        <a:rPr lang="en-US" sz="1600" b="1" kern="100" dirty="0">
                          <a:solidFill>
                            <a:schemeClr val="accent5">
                              <a:lumMod val="75000"/>
                            </a:schemeClr>
                          </a:solidFill>
                          <a:effectLst/>
                          <a:latin typeface="+mn-lt"/>
                          <a:ea typeface="宋体"/>
                          <a:cs typeface="Times New Roman"/>
                        </a:rPr>
                        <a:t>(void</a:t>
                      </a:r>
                      <a:r>
                        <a:rPr lang="en-US" sz="1600" b="1" kern="100" dirty="0" smtClean="0">
                          <a:solidFill>
                            <a:schemeClr val="accent5">
                              <a:lumMod val="75000"/>
                            </a:schemeClr>
                          </a:solidFill>
                          <a:effectLst/>
                          <a:latin typeface="+mn-lt"/>
                          <a:ea typeface="宋体"/>
                          <a:cs typeface="Times New Roman"/>
                        </a:rPr>
                        <a:t>);</a:t>
                      </a:r>
                      <a:r>
                        <a:rPr lang="en-US" sz="1600" b="1" kern="100" dirty="0" smtClean="0">
                          <a:effectLst/>
                          <a:latin typeface="+mn-lt"/>
                          <a:ea typeface="宋体"/>
                          <a:cs typeface="Times New Roman"/>
                        </a:rPr>
                        <a:t>// </a:t>
                      </a:r>
                      <a:r>
                        <a:rPr lang="en-US" sz="1600" b="1" kern="100" dirty="0">
                          <a:effectLst/>
                          <a:latin typeface="+mn-lt"/>
                          <a:ea typeface="宋体"/>
                          <a:cs typeface="Times New Roman"/>
                        </a:rPr>
                        <a:t>ADC</a:t>
                      </a:r>
                      <a:r>
                        <a:rPr lang="zh-CN" sz="1600" b="1" kern="100" dirty="0">
                          <a:effectLst/>
                          <a:latin typeface="+mn-lt"/>
                          <a:ea typeface="宋体"/>
                          <a:cs typeface="Times New Roman"/>
                        </a:rPr>
                        <a:t>初始化函数</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258392247"/>
              </p:ext>
            </p:extLst>
          </p:nvPr>
        </p:nvGraphicFramePr>
        <p:xfrm>
          <a:off x="3347864" y="1932899"/>
          <a:ext cx="5544616" cy="2987040"/>
        </p:xfrm>
        <a:graphic>
          <a:graphicData uri="http://schemas.openxmlformats.org/drawingml/2006/table">
            <a:tbl>
              <a:tblPr firstRow="1" firstCol="1" bandRow="1"/>
              <a:tblGrid>
                <a:gridCol w="5544616"/>
              </a:tblGrid>
              <a:tr h="0">
                <a:tc>
                  <a:txBody>
                    <a:bodyPr/>
                    <a:lstStyle/>
                    <a:p>
                      <a:pPr algn="ctr">
                        <a:spcAft>
                          <a:spcPts val="0"/>
                        </a:spcAft>
                      </a:pPr>
                      <a:r>
                        <a:rPr lang="en-US" sz="1600" b="1" kern="100" dirty="0" err="1">
                          <a:effectLst/>
                          <a:latin typeface="+mn-lt"/>
                          <a:ea typeface="宋体"/>
                          <a:cs typeface="Times New Roman"/>
                        </a:rPr>
                        <a:t>ADCx.c</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1600" b="1" kern="100" dirty="0">
                          <a:effectLst/>
                          <a:latin typeface="+mn-lt"/>
                          <a:ea typeface="宋体"/>
                          <a:cs typeface="Times New Roman"/>
                        </a:rPr>
                        <a:t>#include  </a:t>
                      </a:r>
                      <a:r>
                        <a:rPr lang="en-US" sz="2000" b="1" kern="100" dirty="0">
                          <a:effectLst/>
                          <a:latin typeface="+mn-lt"/>
                          <a:ea typeface="宋体"/>
                          <a:cs typeface="Times New Roman"/>
                        </a:rPr>
                        <a:t>"</a:t>
                      </a:r>
                      <a:r>
                        <a:rPr lang="en-US" sz="1600" b="1" kern="100" dirty="0" err="1">
                          <a:effectLst/>
                          <a:latin typeface="+mn-lt"/>
                          <a:ea typeface="宋体"/>
                          <a:cs typeface="Times New Roman"/>
                        </a:rPr>
                        <a:t>ADCx.h</a:t>
                      </a:r>
                      <a:r>
                        <a:rPr lang="en-US" sz="20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p>
                      <a:pPr indent="228600" algn="just">
                        <a:spcAft>
                          <a:spcPts val="0"/>
                        </a:spcAft>
                      </a:pPr>
                      <a:r>
                        <a:rPr lang="en-US" sz="1600" b="1" kern="100" dirty="0">
                          <a:effectLst/>
                          <a:latin typeface="+mn-lt"/>
                          <a:ea typeface="宋体"/>
                          <a:cs typeface="Times New Roman"/>
                        </a:rPr>
                        <a:t>//</a:t>
                      </a:r>
                      <a:r>
                        <a:rPr lang="zh-CN" sz="1600" b="1" kern="100" dirty="0">
                          <a:effectLst/>
                          <a:latin typeface="+mn-lt"/>
                          <a:ea typeface="宋体"/>
                          <a:cs typeface="Times New Roman"/>
                        </a:rPr>
                        <a:t>定义变量</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static uint16_t  </a:t>
                      </a:r>
                      <a:r>
                        <a:rPr lang="en-US" sz="1600" b="1" kern="100" dirty="0" err="1">
                          <a:effectLst/>
                          <a:latin typeface="+mn-lt"/>
                          <a:ea typeface="宋体"/>
                          <a:cs typeface="Times New Roman"/>
                        </a:rPr>
                        <a:t>pwd</a:t>
                      </a:r>
                      <a:r>
                        <a:rPr lang="en-US" sz="1600" b="1" kern="100" dirty="0">
                          <a:effectLst/>
                          <a:latin typeface="+mn-lt"/>
                          <a:ea typeface="宋体"/>
                          <a:cs typeface="Times New Roman"/>
                        </a:rPr>
                        <a:t>=1;  //</a:t>
                      </a:r>
                      <a:r>
                        <a:rPr lang="zh-CN" sz="1600" b="1" kern="100" dirty="0">
                          <a:effectLst/>
                          <a:latin typeface="+mn-lt"/>
                          <a:ea typeface="宋体"/>
                          <a:cs typeface="Times New Roman"/>
                        </a:rPr>
                        <a:t>局部变量</a:t>
                      </a:r>
                      <a:r>
                        <a:rPr lang="zh-CN" sz="1600" b="1" kern="100" dirty="0" smtClean="0">
                          <a:effectLst/>
                          <a:latin typeface="+mn-lt"/>
                          <a:ea typeface="宋体"/>
                          <a:cs typeface="Times New Roman"/>
                        </a:rPr>
                        <a:t>，仅</a:t>
                      </a:r>
                      <a:r>
                        <a:rPr lang="zh-CN" sz="1600" b="1" kern="100" dirty="0">
                          <a:effectLst/>
                          <a:latin typeface="+mn-lt"/>
                          <a:ea typeface="宋体"/>
                          <a:cs typeface="Times New Roman"/>
                        </a:rPr>
                        <a:t>作用于本函数</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uint16_t  </a:t>
                      </a:r>
                      <a:r>
                        <a:rPr lang="en-US" sz="1600" b="1" kern="100" dirty="0" err="1">
                          <a:effectLst/>
                          <a:latin typeface="+mn-lt"/>
                          <a:ea typeface="宋体"/>
                          <a:cs typeface="Times New Roman"/>
                        </a:rPr>
                        <a:t>ADC_ConvertedValue</a:t>
                      </a:r>
                      <a:r>
                        <a:rPr lang="en-US" sz="1600" b="1" kern="100" dirty="0">
                          <a:effectLst/>
                          <a:latin typeface="+mn-lt"/>
                          <a:ea typeface="宋体"/>
                          <a:cs typeface="Times New Roman"/>
                        </a:rPr>
                        <a:t>; //</a:t>
                      </a:r>
                      <a:r>
                        <a:rPr lang="zh-CN" sz="1600" b="1" kern="100" dirty="0">
                          <a:effectLst/>
                          <a:latin typeface="+mn-lt"/>
                          <a:ea typeface="宋体"/>
                          <a:cs typeface="Times New Roman"/>
                        </a:rPr>
                        <a:t>全局变量</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void  </a:t>
                      </a:r>
                      <a:r>
                        <a:rPr lang="en-US" sz="1600" b="1" kern="100" dirty="0" err="1">
                          <a:effectLst/>
                          <a:latin typeface="+mn-lt"/>
                          <a:ea typeface="宋体"/>
                          <a:cs typeface="Times New Roman"/>
                        </a:rPr>
                        <a:t>ADC_Init</a:t>
                      </a:r>
                      <a:r>
                        <a:rPr lang="en-US" sz="1600" b="1" kern="100" dirty="0">
                          <a:effectLst/>
                          <a:latin typeface="+mn-lt"/>
                          <a:ea typeface="宋体"/>
                          <a:cs typeface="Times New Roman"/>
                        </a:rPr>
                        <a:t>(void)</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 … </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a:t>
                      </a:r>
                      <a:endParaRPr lang="zh-CN" sz="3200" b="1" kern="100" dirty="0">
                        <a:effectLst/>
                        <a:latin typeface="+mn-lt"/>
                        <a:ea typeface="宋体"/>
                        <a:cs typeface="Times New Roman"/>
                      </a:endParaRPr>
                    </a:p>
                    <a:p>
                      <a:pPr algn="just">
                        <a:spcAft>
                          <a:spcPts val="0"/>
                        </a:spcAft>
                      </a:pPr>
                      <a:r>
                        <a:rPr lang="en-US" sz="1600" b="1" kern="100" dirty="0">
                          <a:effectLst/>
                          <a:latin typeface="+mn-lt"/>
                          <a:ea typeface="宋体"/>
                          <a:cs typeface="Times New Roman"/>
                        </a:rPr>
                        <a:t>… … </a:t>
                      </a:r>
                      <a:endParaRPr lang="zh-CN" sz="3200" b="1" kern="100" dirty="0">
                        <a:effectLst/>
                        <a:latin typeface="+mn-lt"/>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309205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548839" cy="461665"/>
          </a:xfrm>
          <a:prstGeom prst="rect">
            <a:avLst/>
          </a:prstGeom>
        </p:spPr>
        <p:txBody>
          <a:bodyPr wrap="none">
            <a:spAutoFit/>
          </a:bodyPr>
          <a:lstStyle/>
          <a:p>
            <a:r>
              <a:rPr lang="en-US" altLang="zh-CN" sz="2400" b="1" dirty="0" smtClean="0">
                <a:solidFill>
                  <a:schemeClr val="bg1"/>
                </a:solidFill>
              </a:rPr>
              <a:t>4.2.6 </a:t>
            </a:r>
            <a:r>
              <a:rPr lang="en-US" altLang="zh-CN" sz="2400" b="1" dirty="0" err="1" smtClean="0">
                <a:solidFill>
                  <a:schemeClr val="bg1"/>
                </a:solidFill>
              </a:rPr>
              <a:t>struct</a:t>
            </a:r>
            <a:r>
              <a:rPr lang="zh-CN" altLang="en-US" sz="2400" b="1" dirty="0">
                <a:solidFill>
                  <a:schemeClr val="bg1"/>
                </a:solidFill>
              </a:rPr>
              <a:t>结构体</a:t>
            </a:r>
            <a:endParaRPr lang="zh-CN" altLang="zh-CN" sz="2400" b="1" dirty="0">
              <a:solidFill>
                <a:schemeClr val="bg1"/>
              </a:solidFill>
            </a:endParaRPr>
          </a:p>
        </p:txBody>
      </p:sp>
      <p:sp>
        <p:nvSpPr>
          <p:cNvPr id="40" name="AutoShape 40"/>
          <p:cNvSpPr>
            <a:spLocks noChangeAspect="1" noChangeArrowheads="1" noTextEdit="1"/>
          </p:cNvSpPr>
          <p:nvPr/>
        </p:nvSpPr>
        <p:spPr bwMode="auto">
          <a:xfrm>
            <a:off x="4263529" y="843558"/>
            <a:ext cx="1783708" cy="113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 name="任意多边形 53"/>
          <p:cNvSpPr>
            <a:spLocks/>
          </p:cNvSpPr>
          <p:nvPr/>
        </p:nvSpPr>
        <p:spPr bwMode="auto">
          <a:xfrm>
            <a:off x="395536" y="1733941"/>
            <a:ext cx="8352928" cy="45719"/>
          </a:xfrm>
          <a:custGeom>
            <a:avLst/>
            <a:gdLst>
              <a:gd name="T0" fmla="*/ 0 w 8374743"/>
              <a:gd name="T1" fmla="*/ 0 h 1349828"/>
              <a:gd name="T2" fmla="*/ 0 w 8374743"/>
              <a:gd name="T3" fmla="*/ 0 h 1349828"/>
              <a:gd name="T4" fmla="*/ 10004727 w 8374743"/>
              <a:gd name="T5" fmla="*/ 0 h 1349828"/>
              <a:gd name="T6" fmla="*/ 0 60000 65536"/>
              <a:gd name="T7" fmla="*/ 0 60000 65536"/>
              <a:gd name="T8" fmla="*/ 0 60000 65536"/>
              <a:gd name="T9" fmla="*/ 0 w 8374743"/>
              <a:gd name="T10" fmla="*/ 0 h 1349828"/>
              <a:gd name="T11" fmla="*/ 8374743 w 8374743"/>
              <a:gd name="T12" fmla="*/ 0 h 1349828"/>
            </a:gdLst>
            <a:ahLst/>
            <a:cxnLst>
              <a:cxn ang="T6">
                <a:pos x="T0" y="T1"/>
              </a:cxn>
              <a:cxn ang="T7">
                <a:pos x="T2" y="T3"/>
              </a:cxn>
              <a:cxn ang="T8">
                <a:pos x="T4" y="T5"/>
              </a:cxn>
            </a:cxnLst>
            <a:rect l="T9" t="T10" r="T11" b="T12"/>
            <a:pathLst>
              <a:path w="8374743" h="1349828">
                <a:moveTo>
                  <a:pt x="0" y="0"/>
                </a:moveTo>
                <a:lnTo>
                  <a:pt x="0" y="1349828"/>
                </a:lnTo>
                <a:lnTo>
                  <a:pt x="8374743" y="1349828"/>
                </a:lnTo>
              </a:path>
            </a:pathLst>
          </a:custGeom>
          <a:noFill/>
          <a:ln w="25400">
            <a:solidFill>
              <a:srgbClr val="09405E"/>
            </a:solidFill>
            <a:round/>
            <a:headEnd type="oval" w="med" len="med"/>
            <a:tailEnd type="oval" w="med" len="me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4" name="椭圆 54"/>
          <p:cNvSpPr>
            <a:spLocks noChangeArrowheads="1"/>
          </p:cNvSpPr>
          <p:nvPr/>
        </p:nvSpPr>
        <p:spPr bwMode="auto">
          <a:xfrm>
            <a:off x="7812360" y="1684412"/>
            <a:ext cx="179387"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36" name="椭圆形标注 55"/>
          <p:cNvSpPr>
            <a:spLocks noChangeArrowheads="1"/>
          </p:cNvSpPr>
          <p:nvPr/>
        </p:nvSpPr>
        <p:spPr bwMode="auto">
          <a:xfrm flipH="1">
            <a:off x="7307659" y="1059582"/>
            <a:ext cx="720725" cy="493713"/>
          </a:xfrm>
          <a:prstGeom prst="wedgeEllipseCallout">
            <a:avLst>
              <a:gd name="adj1" fmla="val -27060"/>
              <a:gd name="adj2" fmla="val 71625"/>
            </a:avLst>
          </a:prstGeom>
          <a:solidFill>
            <a:srgbClr val="7CC3D6"/>
          </a:solidFill>
          <a:ln>
            <a:noFill/>
          </a:ln>
          <a:extLst/>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smtClean="0">
                <a:solidFill>
                  <a:srgbClr val="FFFFFF"/>
                </a:solidFill>
                <a:latin typeface="Agency FB" panose="020B0503020202020204" pitchFamily="34" charset="0"/>
                <a:ea typeface="微软雅黑" panose="020B0503020204020204" pitchFamily="34" charset="-122"/>
              </a:rPr>
              <a:t>举例</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37" name="椭圆 56"/>
          <p:cNvSpPr>
            <a:spLocks noChangeArrowheads="1"/>
          </p:cNvSpPr>
          <p:nvPr/>
        </p:nvSpPr>
        <p:spPr bwMode="auto">
          <a:xfrm>
            <a:off x="1979712" y="1684412"/>
            <a:ext cx="179388"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38" name="椭圆形标注 57"/>
          <p:cNvSpPr>
            <a:spLocks noChangeArrowheads="1"/>
          </p:cNvSpPr>
          <p:nvPr/>
        </p:nvSpPr>
        <p:spPr bwMode="auto">
          <a:xfrm flipH="1">
            <a:off x="1475011" y="1041316"/>
            <a:ext cx="720725" cy="493713"/>
          </a:xfrm>
          <a:prstGeom prst="wedgeEllipseCallout">
            <a:avLst>
              <a:gd name="adj1" fmla="val -27060"/>
              <a:gd name="adj2" fmla="val 71625"/>
            </a:avLst>
          </a:prstGeom>
          <a:solidFill>
            <a:schemeClr val="accent5">
              <a:lumMod val="75000"/>
            </a:schemeClr>
          </a:solidFill>
          <a:ln>
            <a:noFill/>
          </a:ln>
          <a:extLst/>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smtClean="0">
                <a:solidFill>
                  <a:srgbClr val="FFFFFF"/>
                </a:solidFill>
                <a:latin typeface="Agency FB" panose="020B0503020202020204" pitchFamily="34" charset="0"/>
                <a:ea typeface="微软雅黑" panose="020B0503020204020204" pitchFamily="34" charset="-122"/>
              </a:rPr>
              <a:t>作用</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41" name="椭圆 58"/>
          <p:cNvSpPr>
            <a:spLocks noChangeArrowheads="1"/>
          </p:cNvSpPr>
          <p:nvPr/>
        </p:nvSpPr>
        <p:spPr bwMode="auto">
          <a:xfrm>
            <a:off x="4896669" y="1690762"/>
            <a:ext cx="179387" cy="177800"/>
          </a:xfrm>
          <a:prstGeom prst="ellipse">
            <a:avLst/>
          </a:prstGeom>
          <a:solidFill>
            <a:schemeClr val="accent2"/>
          </a:solidFill>
          <a:ln w="25400">
            <a:solidFill>
              <a:srgbClr val="FFFFFF"/>
            </a:solidFill>
            <a:round/>
            <a:headEnd/>
            <a:tailEnd/>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en-US" altLang="zh-CN" sz="1300">
              <a:solidFill>
                <a:srgbClr val="FFFFFF"/>
              </a:solidFill>
            </a:endParaRPr>
          </a:p>
        </p:txBody>
      </p:sp>
      <p:sp>
        <p:nvSpPr>
          <p:cNvPr id="43" name="椭圆形标注 59"/>
          <p:cNvSpPr>
            <a:spLocks noChangeArrowheads="1"/>
          </p:cNvSpPr>
          <p:nvPr/>
        </p:nvSpPr>
        <p:spPr bwMode="auto">
          <a:xfrm flipH="1">
            <a:off x="4427339" y="1059582"/>
            <a:ext cx="720725" cy="493713"/>
          </a:xfrm>
          <a:prstGeom prst="wedgeEllipseCallout">
            <a:avLst>
              <a:gd name="adj1" fmla="val -27060"/>
              <a:gd name="adj2" fmla="val 71625"/>
            </a:avLst>
          </a:prstGeom>
          <a:solidFill>
            <a:srgbClr val="4AABC6"/>
          </a:solidFill>
          <a:ln w="9525">
            <a:noFill/>
            <a:miter lim="800000"/>
            <a:headEnd/>
            <a:tailEnd/>
          </a:ln>
          <a:extLst/>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smtClean="0">
                <a:solidFill>
                  <a:srgbClr val="FFFFFF"/>
                </a:solidFill>
                <a:latin typeface="Agency FB" panose="020B0503020202020204" pitchFamily="34" charset="0"/>
                <a:ea typeface="微软雅黑" panose="020B0503020204020204" pitchFamily="34" charset="-122"/>
              </a:rPr>
              <a:t>格式</a:t>
            </a:r>
            <a:endParaRPr lang="en-US" altLang="zh-CN" b="1" dirty="0">
              <a:solidFill>
                <a:srgbClr val="FFFFFF"/>
              </a:solidFill>
              <a:latin typeface="Agency FB" panose="020B0503020202020204" pitchFamily="34" charset="0"/>
              <a:ea typeface="微软雅黑" panose="020B0503020204020204" pitchFamily="34" charset="-122"/>
            </a:endParaRPr>
          </a:p>
        </p:txBody>
      </p:sp>
      <p:sp>
        <p:nvSpPr>
          <p:cNvPr id="57" name="任意多边形 62"/>
          <p:cNvSpPr>
            <a:spLocks/>
          </p:cNvSpPr>
          <p:nvPr/>
        </p:nvSpPr>
        <p:spPr bwMode="auto">
          <a:xfrm>
            <a:off x="542937" y="1939999"/>
            <a:ext cx="2372879"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chemeClr val="accent5">
              <a:lumMod val="75000"/>
            </a:schemeClr>
          </a:solidFill>
          <a:ln w="3175">
            <a:solidFill>
              <a:schemeClr val="bg1"/>
            </a:solidFill>
            <a:miter lim="800000"/>
            <a:headEnd/>
            <a:tailEnd/>
          </a:ln>
          <a:effectLst>
            <a:outerShdw dist="38100" dir="2700000" algn="ctr" rotWithShape="0">
              <a:srgbClr val="000000">
                <a:alpha val="18999"/>
              </a:srgbClr>
            </a:outerShdw>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5000"/>
              </a:lnSpc>
            </a:pPr>
            <a:r>
              <a:rPr lang="en-US" altLang="zh-CN" sz="1600" b="1" dirty="0" smtClean="0">
                <a:solidFill>
                  <a:schemeClr val="bg1"/>
                </a:solidFill>
              </a:rPr>
              <a:t>     </a:t>
            </a:r>
            <a:r>
              <a:rPr lang="en-US" altLang="zh-CN" sz="1600" b="1" dirty="0" err="1" smtClean="0">
                <a:solidFill>
                  <a:schemeClr val="bg1"/>
                </a:solidFill>
              </a:rPr>
              <a:t>struct</a:t>
            </a:r>
            <a:r>
              <a:rPr lang="zh-CN" altLang="en-US" sz="1600" b="1" dirty="0">
                <a:solidFill>
                  <a:schemeClr val="bg1"/>
                </a:solidFill>
              </a:rPr>
              <a:t>用于定义结构体类型，其作用是将</a:t>
            </a:r>
            <a:r>
              <a:rPr lang="zh-CN" altLang="en-US" sz="1600" b="1" dirty="0">
                <a:solidFill>
                  <a:srgbClr val="CD7371"/>
                </a:solidFill>
              </a:rPr>
              <a:t>不同数据类型</a:t>
            </a:r>
            <a:r>
              <a:rPr lang="zh-CN" altLang="en-US" sz="1600" b="1" dirty="0">
                <a:solidFill>
                  <a:schemeClr val="bg1"/>
                </a:solidFill>
              </a:rPr>
              <a:t>的数据组合在一起，构造出一个新的数据类型。</a:t>
            </a:r>
          </a:p>
        </p:txBody>
      </p:sp>
      <p:sp>
        <p:nvSpPr>
          <p:cNvPr id="58" name="任意多边形 63"/>
          <p:cNvSpPr>
            <a:spLocks/>
          </p:cNvSpPr>
          <p:nvPr/>
        </p:nvSpPr>
        <p:spPr bwMode="auto">
          <a:xfrm>
            <a:off x="3406761" y="1949529"/>
            <a:ext cx="2461383"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rgbClr val="4AABC6"/>
          </a:solidFill>
          <a:ln w="9525">
            <a:noFill/>
            <a:miter lim="800000"/>
            <a:headEnd/>
            <a:tailEnd/>
          </a:ln>
        </p:spPr>
        <p:txBody>
          <a:bodyPr lIns="0" tIns="0" rIns="0" bIns="0" anchor="ctr"/>
          <a:lstStyle/>
          <a:p>
            <a:pPr indent="176213">
              <a:lnSpc>
                <a:spcPct val="125000"/>
              </a:lnSpc>
              <a:buFont typeface="Arial" panose="020B0604020202020204" pitchFamily="34" charset="0"/>
              <a:buNone/>
            </a:pPr>
            <a:r>
              <a:rPr lang="en-US" altLang="zh-CN" sz="1600" b="1" dirty="0" err="1">
                <a:solidFill>
                  <a:schemeClr val="bg1"/>
                </a:solidFill>
                <a:latin typeface="Calibri" panose="020F0502020204030204" pitchFamily="34" charset="0"/>
                <a:ea typeface="宋体" panose="02010600030101010101" pitchFamily="2" charset="-122"/>
              </a:rPr>
              <a:t>struct</a:t>
            </a:r>
            <a:r>
              <a:rPr lang="zh-CN" altLang="en-US" sz="1600" b="1" dirty="0">
                <a:solidFill>
                  <a:schemeClr val="bg1"/>
                </a:solidFill>
                <a:latin typeface="Calibri" panose="020F0502020204030204" pitchFamily="34" charset="0"/>
                <a:ea typeface="宋体" panose="02010600030101010101" pitchFamily="2" charset="-122"/>
              </a:rPr>
              <a:t>一般用法为：</a:t>
            </a:r>
          </a:p>
          <a:p>
            <a:pPr indent="176213">
              <a:lnSpc>
                <a:spcPct val="125000"/>
              </a:lnSpc>
              <a:buFont typeface="Arial" panose="020B0604020202020204" pitchFamily="34" charset="0"/>
              <a:buNone/>
            </a:pPr>
            <a:r>
              <a:rPr lang="en-US" altLang="zh-CN" sz="1600" b="1" dirty="0" err="1">
                <a:solidFill>
                  <a:schemeClr val="bg1"/>
                </a:solidFill>
                <a:latin typeface="Calibri" panose="020F0502020204030204" pitchFamily="34" charset="0"/>
                <a:ea typeface="宋体" panose="02010600030101010101" pitchFamily="2" charset="-122"/>
              </a:rPr>
              <a:t>struct</a:t>
            </a:r>
            <a:r>
              <a:rPr lang="en-US" altLang="zh-CN" sz="1600" b="1" dirty="0">
                <a:solidFill>
                  <a:schemeClr val="bg1"/>
                </a:solidFill>
                <a:latin typeface="Calibri" panose="020F0502020204030204" pitchFamily="34" charset="0"/>
                <a:ea typeface="宋体" panose="02010600030101010101" pitchFamily="2" charset="-122"/>
              </a:rPr>
              <a:t> [</a:t>
            </a:r>
            <a:r>
              <a:rPr lang="zh-CN" altLang="en-US" sz="1600" b="1" dirty="0">
                <a:solidFill>
                  <a:schemeClr val="bg1"/>
                </a:solidFill>
                <a:latin typeface="Calibri" panose="020F0502020204030204" pitchFamily="34" charset="0"/>
                <a:ea typeface="宋体" panose="02010600030101010101" pitchFamily="2" charset="-122"/>
              </a:rPr>
              <a:t>结构体名</a:t>
            </a:r>
            <a:r>
              <a:rPr lang="en-US" altLang="zh-CN"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     </a:t>
            </a:r>
            <a:r>
              <a:rPr lang="zh-CN" altLang="en-US" sz="1600" b="1" dirty="0">
                <a:solidFill>
                  <a:schemeClr val="bg1"/>
                </a:solidFill>
                <a:latin typeface="Calibri" panose="020F0502020204030204" pitchFamily="34" charset="0"/>
                <a:ea typeface="宋体" panose="02010600030101010101" pitchFamily="2" charset="-122"/>
              </a:rPr>
              <a:t>类型标识符  成员名</a:t>
            </a:r>
            <a:r>
              <a:rPr lang="en-US" altLang="zh-CN" sz="1600" b="1" dirty="0">
                <a:solidFill>
                  <a:schemeClr val="bg1"/>
                </a:solidFill>
                <a:latin typeface="Calibri" panose="020F0502020204030204" pitchFamily="34" charset="0"/>
                <a:ea typeface="宋体" panose="02010600030101010101" pitchFamily="2" charset="-122"/>
              </a:rPr>
              <a:t>1</a:t>
            </a:r>
            <a:r>
              <a:rPr lang="zh-CN" altLang="en-US"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zh-CN" altLang="en-US" sz="1600" b="1" dirty="0">
                <a:solidFill>
                  <a:schemeClr val="bg1"/>
                </a:solidFill>
                <a:latin typeface="Calibri" panose="020F0502020204030204" pitchFamily="34" charset="0"/>
                <a:ea typeface="宋体" panose="02010600030101010101" pitchFamily="2" charset="-122"/>
              </a:rPr>
              <a:t>     类型标识符  成员名</a:t>
            </a:r>
            <a:r>
              <a:rPr lang="en-US" altLang="zh-CN" sz="1600" b="1" dirty="0">
                <a:solidFill>
                  <a:schemeClr val="bg1"/>
                </a:solidFill>
                <a:latin typeface="Calibri" panose="020F0502020204030204" pitchFamily="34" charset="0"/>
                <a:ea typeface="宋体" panose="02010600030101010101" pitchFamily="2" charset="-122"/>
              </a:rPr>
              <a:t>2</a:t>
            </a:r>
            <a:r>
              <a:rPr lang="zh-CN" altLang="en-US" sz="1600" b="1" dirty="0">
                <a:solidFill>
                  <a:schemeClr val="bg1"/>
                </a:solidFill>
                <a:latin typeface="Calibri" panose="020F0502020204030204" pitchFamily="34" charset="0"/>
                <a:ea typeface="宋体" panose="02010600030101010101" pitchFamily="2" charset="-122"/>
              </a:rPr>
              <a:t>；</a:t>
            </a:r>
          </a:p>
          <a:p>
            <a:pPr indent="176213">
              <a:lnSpc>
                <a:spcPct val="125000"/>
              </a:lnSpc>
              <a:buFont typeface="Arial" panose="020B0604020202020204" pitchFamily="34" charset="0"/>
              <a:buNone/>
            </a:pPr>
            <a:r>
              <a:rPr lang="zh-CN" altLang="en-US" sz="1600" b="1" dirty="0">
                <a:solidFill>
                  <a:schemeClr val="bg1"/>
                </a:solidFill>
                <a:latin typeface="Calibri" panose="020F0502020204030204" pitchFamily="34" charset="0"/>
                <a:ea typeface="宋体" panose="02010600030101010101" pitchFamily="2" charset="-122"/>
              </a:rPr>
              <a:t>	</a:t>
            </a:r>
            <a:r>
              <a:rPr lang="en-US" altLang="zh-CN" sz="1600" b="1" dirty="0">
                <a:solidFill>
                  <a:schemeClr val="bg1"/>
                </a:solidFill>
                <a:latin typeface="Calibri" panose="020F0502020204030204" pitchFamily="34" charset="0"/>
                <a:ea typeface="宋体" panose="02010600030101010101" pitchFamily="2" charset="-122"/>
              </a:rPr>
              <a:t>… … </a:t>
            </a:r>
          </a:p>
          <a:p>
            <a:pPr indent="176213">
              <a:lnSpc>
                <a:spcPct val="125000"/>
              </a:lnSpc>
              <a:buFont typeface="Arial" panose="020B0604020202020204" pitchFamily="34" charset="0"/>
              <a:buNone/>
            </a:pPr>
            <a:r>
              <a:rPr lang="en-US" altLang="zh-CN" sz="1600" b="1" dirty="0">
                <a:solidFill>
                  <a:schemeClr val="bg1"/>
                </a:solidFill>
                <a:latin typeface="Calibri" panose="020F0502020204030204" pitchFamily="34" charset="0"/>
                <a:ea typeface="宋体" panose="02010600030101010101" pitchFamily="2" charset="-122"/>
              </a:rPr>
              <a:t>}</a:t>
            </a:r>
            <a:r>
              <a:rPr lang="zh-CN" altLang="en-US" sz="1600" b="1" dirty="0">
                <a:solidFill>
                  <a:schemeClr val="bg1"/>
                </a:solidFill>
                <a:latin typeface="Calibri" panose="020F0502020204030204" pitchFamily="34" charset="0"/>
                <a:ea typeface="宋体" panose="02010600030101010101" pitchFamily="2" charset="-122"/>
              </a:rPr>
              <a:t>结构体变量；</a:t>
            </a:r>
          </a:p>
        </p:txBody>
      </p:sp>
      <p:sp>
        <p:nvSpPr>
          <p:cNvPr id="60" name="任意多边形 65"/>
          <p:cNvSpPr>
            <a:spLocks/>
          </p:cNvSpPr>
          <p:nvPr/>
        </p:nvSpPr>
        <p:spPr bwMode="auto">
          <a:xfrm>
            <a:off x="6397575" y="1939999"/>
            <a:ext cx="2350889" cy="2638445"/>
          </a:xfrm>
          <a:custGeom>
            <a:avLst/>
            <a:gdLst>
              <a:gd name="T0" fmla="*/ 2155972 w 1293018"/>
              <a:gd name="T1" fmla="*/ 0 h 2000700"/>
              <a:gd name="T2" fmla="*/ 2352754 w 1293018"/>
              <a:gd name="T3" fmla="*/ 339933 h 2000700"/>
              <a:gd name="T4" fmla="*/ 3005124 w 1293018"/>
              <a:gd name="T5" fmla="*/ 339933 h 2000700"/>
              <a:gd name="T6" fmla="*/ 3343932 w 1293018"/>
              <a:gd name="T7" fmla="*/ 679393 h 2000700"/>
              <a:gd name="T8" fmla="*/ 3343932 w 1293018"/>
              <a:gd name="T9" fmla="*/ 4844584 h 2000700"/>
              <a:gd name="T10" fmla="*/ 3005124 w 1293018"/>
              <a:gd name="T11" fmla="*/ 5184044 h 2000700"/>
              <a:gd name="T12" fmla="*/ 338808 w 1293018"/>
              <a:gd name="T13" fmla="*/ 5184044 h 2000700"/>
              <a:gd name="T14" fmla="*/ 0 w 1293018"/>
              <a:gd name="T15" fmla="*/ 4844584 h 2000700"/>
              <a:gd name="T16" fmla="*/ 0 w 1293018"/>
              <a:gd name="T17" fmla="*/ 679393 h 2000700"/>
              <a:gd name="T18" fmla="*/ 338808 w 1293018"/>
              <a:gd name="T19" fmla="*/ 339933 h 2000700"/>
              <a:gd name="T20" fmla="*/ 1959186 w 1293018"/>
              <a:gd name="T21" fmla="*/ 339933 h 20007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3018"/>
              <a:gd name="T34" fmla="*/ 0 h 2000700"/>
              <a:gd name="T35" fmla="*/ 1293018 w 1293018"/>
              <a:gd name="T36" fmla="*/ 2000700 h 20007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3018" h="2000700">
                <a:moveTo>
                  <a:pt x="833662" y="0"/>
                </a:moveTo>
                <a:lnTo>
                  <a:pt x="909753" y="131192"/>
                </a:lnTo>
                <a:lnTo>
                  <a:pt x="1162009" y="131192"/>
                </a:lnTo>
                <a:cubicBezTo>
                  <a:pt x="1234363" y="131192"/>
                  <a:pt x="1293018" y="189847"/>
                  <a:pt x="1293018" y="262201"/>
                </a:cubicBezTo>
                <a:lnTo>
                  <a:pt x="1293018" y="1869691"/>
                </a:lnTo>
                <a:cubicBezTo>
                  <a:pt x="1293018" y="1942045"/>
                  <a:pt x="1234363" y="2000700"/>
                  <a:pt x="1162009" y="2000700"/>
                </a:cubicBezTo>
                <a:lnTo>
                  <a:pt x="131009" y="2000700"/>
                </a:lnTo>
                <a:cubicBezTo>
                  <a:pt x="58655" y="2000700"/>
                  <a:pt x="0" y="1942045"/>
                  <a:pt x="0" y="1869691"/>
                </a:cubicBezTo>
                <a:lnTo>
                  <a:pt x="0" y="262201"/>
                </a:lnTo>
                <a:cubicBezTo>
                  <a:pt x="0" y="189847"/>
                  <a:pt x="58655" y="131192"/>
                  <a:pt x="131009" y="131192"/>
                </a:cubicBezTo>
                <a:lnTo>
                  <a:pt x="757570" y="131192"/>
                </a:lnTo>
                <a:lnTo>
                  <a:pt x="833662" y="0"/>
                </a:lnTo>
                <a:close/>
              </a:path>
            </a:pathLst>
          </a:custGeom>
          <a:solidFill>
            <a:srgbClr val="73BED3"/>
          </a:solidFill>
          <a:ln w="3175">
            <a:solidFill>
              <a:schemeClr val="bg1"/>
            </a:solidFill>
            <a:miter lim="800000"/>
            <a:headEnd/>
            <a:tailEnd/>
          </a:ln>
          <a:effectLst>
            <a:outerShdw dist="38100" dir="2700000" algn="ctr" rotWithShape="0">
              <a:srgbClr val="000000">
                <a:alpha val="18999"/>
              </a:srgbClr>
            </a:outerShdw>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1600" dirty="0" err="1">
                <a:solidFill>
                  <a:schemeClr val="bg1"/>
                </a:solidFill>
                <a:latin typeface="微软雅黑" panose="020B0503020204020204" pitchFamily="34" charset="-122"/>
                <a:ea typeface="微软雅黑" panose="020B0503020204020204" pitchFamily="34" charset="-122"/>
              </a:rPr>
              <a:t>struct</a:t>
            </a:r>
            <a:r>
              <a:rPr lang="en-US" altLang="zh-CN" sz="1600" dirty="0">
                <a:solidFill>
                  <a:schemeClr val="bg1"/>
                </a:solidFill>
                <a:latin typeface="微软雅黑" panose="020B0503020204020204" pitchFamily="34" charset="-122"/>
                <a:ea typeface="微软雅黑" panose="020B0503020204020204" pitchFamily="34" charset="-122"/>
              </a:rPr>
              <a:t> person</a:t>
            </a:r>
          </a:p>
          <a:p>
            <a:pPr>
              <a:lnSpc>
                <a:spcPct val="150000"/>
              </a:lnSpc>
            </a:pPr>
            <a:r>
              <a:rPr lang="en-US" altLang="zh-CN" sz="1600" dirty="0" smtClean="0">
                <a:solidFill>
                  <a:schemeClr val="bg1"/>
                </a:solidFill>
                <a:latin typeface="微软雅黑" panose="020B0503020204020204" pitchFamily="34" charset="-122"/>
                <a:ea typeface="微软雅黑" panose="020B0503020204020204" pitchFamily="34" charset="-122"/>
              </a:rPr>
              <a:t>{    char </a:t>
            </a:r>
            <a:r>
              <a:rPr lang="en-US" altLang="zh-CN" sz="1600" dirty="0">
                <a:solidFill>
                  <a:schemeClr val="bg1"/>
                </a:solidFill>
                <a:latin typeface="微软雅黑" panose="020B0503020204020204" pitchFamily="34" charset="-122"/>
                <a:ea typeface="微软雅黑" panose="020B0503020204020204" pitchFamily="34" charset="-122"/>
              </a:rPr>
              <a:t>name[8];</a:t>
            </a:r>
          </a:p>
          <a:p>
            <a:pPr>
              <a:lnSpc>
                <a:spcPct val="150000"/>
              </a:lnSpc>
            </a:pPr>
            <a:r>
              <a:rPr lang="en-US" altLang="zh-CN" sz="1600" dirty="0" smtClean="0">
                <a:solidFill>
                  <a:schemeClr val="bg1"/>
                </a:solidFill>
                <a:latin typeface="微软雅黑" panose="020B0503020204020204" pitchFamily="34" charset="-122"/>
                <a:ea typeface="微软雅黑" panose="020B0503020204020204" pitchFamily="34" charset="-122"/>
              </a:rPr>
              <a:t>     </a:t>
            </a:r>
            <a:r>
              <a:rPr lang="en-US" altLang="zh-CN" sz="1600" dirty="0" err="1" smtClean="0">
                <a:solidFill>
                  <a:schemeClr val="bg1"/>
                </a:solidFill>
                <a:latin typeface="微软雅黑" panose="020B0503020204020204" pitchFamily="34" charset="-122"/>
                <a:ea typeface="微软雅黑" panose="020B0503020204020204" pitchFamily="34" charset="-122"/>
              </a:rPr>
              <a:t>int</a:t>
            </a:r>
            <a:r>
              <a:rPr lang="en-US" altLang="zh-CN" sz="1600" dirty="0" smtClean="0">
                <a:solidFill>
                  <a:schemeClr val="bg1"/>
                </a:solidFill>
                <a:latin typeface="微软雅黑" panose="020B0503020204020204" pitchFamily="34" charset="-122"/>
                <a:ea typeface="微软雅黑" panose="020B0503020204020204" pitchFamily="34" charset="-122"/>
              </a:rPr>
              <a:t> </a:t>
            </a:r>
            <a:r>
              <a:rPr lang="en-US" altLang="zh-CN" sz="1600" dirty="0">
                <a:solidFill>
                  <a:schemeClr val="bg1"/>
                </a:solidFill>
                <a:latin typeface="微软雅黑" panose="020B0503020204020204" pitchFamily="34" charset="-122"/>
                <a:ea typeface="微软雅黑" panose="020B0503020204020204" pitchFamily="34" charset="-122"/>
              </a:rPr>
              <a:t>age;</a:t>
            </a:r>
          </a:p>
          <a:p>
            <a:pPr>
              <a:lnSpc>
                <a:spcPct val="150000"/>
              </a:lnSpc>
            </a:pPr>
            <a:r>
              <a:rPr lang="en-US" altLang="zh-CN" sz="1600" dirty="0" smtClean="0">
                <a:solidFill>
                  <a:schemeClr val="bg1"/>
                </a:solidFill>
                <a:latin typeface="微软雅黑" panose="020B0503020204020204" pitchFamily="34" charset="-122"/>
                <a:ea typeface="微软雅黑" panose="020B0503020204020204" pitchFamily="34" charset="-122"/>
              </a:rPr>
              <a:t>     char </a:t>
            </a:r>
            <a:r>
              <a:rPr lang="en-US" altLang="zh-CN" sz="1600" dirty="0">
                <a:solidFill>
                  <a:schemeClr val="bg1"/>
                </a:solidFill>
                <a:latin typeface="微软雅黑" panose="020B0503020204020204" pitchFamily="34" charset="-122"/>
                <a:ea typeface="微软雅黑" panose="020B0503020204020204" pitchFamily="34" charset="-122"/>
              </a:rPr>
              <a:t>sex[8];</a:t>
            </a:r>
          </a:p>
          <a:p>
            <a:pPr>
              <a:lnSpc>
                <a:spcPct val="150000"/>
              </a:lnSpc>
            </a:pPr>
            <a:r>
              <a:rPr lang="en-US" altLang="zh-CN" sz="1600" dirty="0" smtClean="0">
                <a:solidFill>
                  <a:schemeClr val="bg1"/>
                </a:solidFill>
                <a:latin typeface="微软雅黑" panose="020B0503020204020204" pitchFamily="34" charset="-122"/>
                <a:ea typeface="微软雅黑" panose="020B0503020204020204" pitchFamily="34" charset="-122"/>
              </a:rPr>
              <a:t>     char </a:t>
            </a:r>
            <a:r>
              <a:rPr lang="en-US" altLang="zh-CN" sz="1600" dirty="0">
                <a:solidFill>
                  <a:schemeClr val="bg1"/>
                </a:solidFill>
                <a:latin typeface="微软雅黑" panose="020B0503020204020204" pitchFamily="34" charset="-122"/>
                <a:ea typeface="微软雅黑" panose="020B0503020204020204" pitchFamily="34" charset="-122"/>
              </a:rPr>
              <a:t>address[20];</a:t>
            </a: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a:t>
            </a:r>
            <a:r>
              <a:rPr lang="en-US" altLang="zh-CN" sz="1600" dirty="0" err="1">
                <a:solidFill>
                  <a:schemeClr val="bg1"/>
                </a:solidFill>
                <a:latin typeface="微软雅黑" panose="020B0503020204020204" pitchFamily="34" charset="-122"/>
                <a:ea typeface="微软雅黑" panose="020B0503020204020204" pitchFamily="34" charset="-122"/>
              </a:rPr>
              <a:t>person_liu</a:t>
            </a:r>
            <a:r>
              <a:rPr lang="zh-CN" altLang="en-US" sz="160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149730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548839" cy="461665"/>
          </a:xfrm>
          <a:prstGeom prst="rect">
            <a:avLst/>
          </a:prstGeom>
        </p:spPr>
        <p:txBody>
          <a:bodyPr wrap="none">
            <a:spAutoFit/>
          </a:bodyPr>
          <a:lstStyle/>
          <a:p>
            <a:r>
              <a:rPr lang="en-US" altLang="zh-CN" sz="2400" b="1" dirty="0" smtClean="0">
                <a:solidFill>
                  <a:schemeClr val="bg1"/>
                </a:solidFill>
              </a:rPr>
              <a:t>4.2.6 </a:t>
            </a:r>
            <a:r>
              <a:rPr lang="en-US" altLang="zh-CN" sz="2400" b="1" dirty="0" err="1">
                <a:solidFill>
                  <a:schemeClr val="bg1"/>
                </a:solidFill>
              </a:rPr>
              <a:t>struct</a:t>
            </a:r>
            <a:r>
              <a:rPr lang="zh-CN" altLang="en-US" sz="2400" b="1" dirty="0">
                <a:solidFill>
                  <a:schemeClr val="bg1"/>
                </a:solidFill>
              </a:rPr>
              <a:t>结构体</a:t>
            </a:r>
            <a:endParaRPr lang="zh-CN" altLang="zh-CN" sz="2400" b="1" dirty="0">
              <a:solidFill>
                <a:schemeClr val="bg1"/>
              </a:solidFill>
            </a:endParaRPr>
          </a:p>
        </p:txBody>
      </p:sp>
      <p:sp>
        <p:nvSpPr>
          <p:cNvPr id="3" name="矩形 2"/>
          <p:cNvSpPr/>
          <p:nvPr/>
        </p:nvSpPr>
        <p:spPr>
          <a:xfrm>
            <a:off x="4368532" y="856538"/>
            <a:ext cx="4248472" cy="230832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GB" altLang="zh-CN" b="1" dirty="0" err="1" smtClean="0"/>
              <a:t>struct</a:t>
            </a:r>
            <a:r>
              <a:rPr lang="en-GB" altLang="zh-CN" b="1" dirty="0" smtClean="0"/>
              <a:t> </a:t>
            </a:r>
            <a:r>
              <a:rPr lang="en-GB" altLang="zh-CN" b="1" dirty="0"/>
              <a:t>person</a:t>
            </a:r>
          </a:p>
          <a:p>
            <a:r>
              <a:rPr lang="en-GB" altLang="zh-CN" b="1" dirty="0"/>
              <a:t>{</a:t>
            </a:r>
          </a:p>
          <a:p>
            <a:r>
              <a:rPr lang="en-GB" altLang="zh-CN" b="1" dirty="0" smtClean="0"/>
              <a:t>         char </a:t>
            </a:r>
            <a:r>
              <a:rPr lang="en-GB" altLang="zh-CN" b="1" dirty="0"/>
              <a:t>name[8];</a:t>
            </a:r>
          </a:p>
          <a:p>
            <a:r>
              <a:rPr lang="en-GB" altLang="zh-CN" b="1" dirty="0" smtClean="0"/>
              <a:t>         </a:t>
            </a:r>
            <a:r>
              <a:rPr lang="en-GB" altLang="zh-CN" b="1" dirty="0" err="1" smtClean="0"/>
              <a:t>int</a:t>
            </a:r>
            <a:r>
              <a:rPr lang="en-GB" altLang="zh-CN" b="1" dirty="0" smtClean="0"/>
              <a:t> </a:t>
            </a:r>
            <a:r>
              <a:rPr lang="en-GB" altLang="zh-CN" b="1" dirty="0"/>
              <a:t>age;</a:t>
            </a:r>
          </a:p>
          <a:p>
            <a:r>
              <a:rPr lang="en-GB" altLang="zh-CN" b="1" dirty="0" smtClean="0"/>
              <a:t>         char </a:t>
            </a:r>
            <a:r>
              <a:rPr lang="en-GB" altLang="zh-CN" b="1" dirty="0"/>
              <a:t>sex[8];</a:t>
            </a:r>
          </a:p>
          <a:p>
            <a:r>
              <a:rPr lang="en-GB" altLang="zh-CN" b="1" dirty="0" smtClean="0"/>
              <a:t>         char </a:t>
            </a:r>
            <a:r>
              <a:rPr lang="en-GB" altLang="zh-CN" b="1" dirty="0"/>
              <a:t>address[20];</a:t>
            </a:r>
          </a:p>
          <a:p>
            <a:r>
              <a:rPr lang="en-GB" altLang="zh-CN" b="1" dirty="0"/>
              <a:t>};</a:t>
            </a:r>
          </a:p>
          <a:p>
            <a:r>
              <a:rPr lang="en-GB" altLang="zh-CN" b="1" dirty="0" err="1"/>
              <a:t>struct</a:t>
            </a:r>
            <a:r>
              <a:rPr lang="en-GB" altLang="zh-CN" b="1" dirty="0"/>
              <a:t>  person  </a:t>
            </a:r>
            <a:r>
              <a:rPr lang="en-GB" altLang="zh-CN" b="1" dirty="0" err="1" smtClean="0"/>
              <a:t>person_liu</a:t>
            </a:r>
            <a:r>
              <a:rPr lang="zh-CN" altLang="en-US" b="1" dirty="0" smtClean="0"/>
              <a:t>，</a:t>
            </a:r>
            <a:r>
              <a:rPr lang="en-US" altLang="zh-CN" b="1" dirty="0" err="1" smtClean="0"/>
              <a:t>person_zhang</a:t>
            </a:r>
            <a:r>
              <a:rPr lang="en-GB" altLang="zh-CN" b="1" dirty="0" smtClean="0"/>
              <a:t>;</a:t>
            </a:r>
            <a:endParaRPr lang="en-GB" altLang="zh-CN" b="1" dirty="0"/>
          </a:p>
        </p:txBody>
      </p:sp>
      <p:sp>
        <p:nvSpPr>
          <p:cNvPr id="6" name="矩形 5"/>
          <p:cNvSpPr/>
          <p:nvPr/>
        </p:nvSpPr>
        <p:spPr>
          <a:xfrm>
            <a:off x="323528" y="1276747"/>
            <a:ext cx="3600400" cy="1100942"/>
          </a:xfrm>
          <a:prstGeom prst="rect">
            <a:avLst/>
          </a:prstGeom>
        </p:spPr>
        <p:txBody>
          <a:bodyPr wrap="square">
            <a:spAutoFit/>
          </a:bodyPr>
          <a:lstStyle/>
          <a:p>
            <a:pPr>
              <a:lnSpc>
                <a:spcPct val="125000"/>
              </a:lnSpc>
            </a:pPr>
            <a:r>
              <a:rPr lang="zh-CN" altLang="en-US" b="1" dirty="0" smtClean="0">
                <a:solidFill>
                  <a:srgbClr val="CD7371"/>
                </a:solidFill>
              </a:rPr>
              <a:t>     结构体</a:t>
            </a:r>
            <a:r>
              <a:rPr lang="zh-CN" altLang="en-US" b="1" dirty="0">
                <a:solidFill>
                  <a:srgbClr val="CD7371"/>
                </a:solidFill>
              </a:rPr>
              <a:t>变量</a:t>
            </a:r>
            <a:r>
              <a:rPr lang="zh-CN" altLang="en-US" b="1" dirty="0">
                <a:solidFill>
                  <a:prstClr val="black"/>
                </a:solidFill>
              </a:rPr>
              <a:t>（如上例中的</a:t>
            </a:r>
            <a:r>
              <a:rPr lang="en-GB" altLang="zh-CN" b="1" dirty="0" err="1">
                <a:solidFill>
                  <a:prstClr val="black"/>
                </a:solidFill>
              </a:rPr>
              <a:t>person_liu</a:t>
            </a:r>
            <a:r>
              <a:rPr lang="zh-CN" altLang="en-GB" b="1" dirty="0">
                <a:solidFill>
                  <a:prstClr val="black"/>
                </a:solidFill>
              </a:rPr>
              <a:t>）</a:t>
            </a:r>
            <a:r>
              <a:rPr lang="zh-CN" altLang="en-US" b="1" dirty="0">
                <a:solidFill>
                  <a:prstClr val="black"/>
                </a:solidFill>
              </a:rPr>
              <a:t>可以不在定义结构体时定义，后续需要时再进行</a:t>
            </a:r>
            <a:r>
              <a:rPr lang="zh-CN" altLang="en-US" b="1" dirty="0" smtClean="0">
                <a:solidFill>
                  <a:prstClr val="black"/>
                </a:solidFill>
              </a:rPr>
              <a:t>定义。</a:t>
            </a:r>
            <a:endParaRPr lang="zh-CN" altLang="en-US" b="1" dirty="0"/>
          </a:p>
        </p:txBody>
      </p:sp>
      <p:sp>
        <p:nvSpPr>
          <p:cNvPr id="7" name="矩形 6"/>
          <p:cNvSpPr/>
          <p:nvPr/>
        </p:nvSpPr>
        <p:spPr>
          <a:xfrm>
            <a:off x="683568" y="3826420"/>
            <a:ext cx="3888432" cy="754694"/>
          </a:xfrm>
          <a:prstGeom prst="rect">
            <a:avLst/>
          </a:prstGeom>
        </p:spPr>
        <p:txBody>
          <a:bodyPr wrap="square">
            <a:spAutoFit/>
          </a:bodyPr>
          <a:lstStyle/>
          <a:p>
            <a:pPr>
              <a:lnSpc>
                <a:spcPct val="125000"/>
              </a:lnSpc>
            </a:pPr>
            <a:r>
              <a:rPr lang="zh-CN" altLang="en-US" dirty="0" smtClean="0">
                <a:solidFill>
                  <a:prstClr val="black"/>
                </a:solidFill>
              </a:rPr>
              <a:t>    </a:t>
            </a:r>
            <a:r>
              <a:rPr lang="zh-CN" altLang="en-US" b="1" dirty="0">
                <a:solidFill>
                  <a:prstClr val="black"/>
                </a:solidFill>
              </a:rPr>
              <a:t>使用这种定义方式可以很方便地同时定义多个结构体</a:t>
            </a:r>
            <a:r>
              <a:rPr lang="zh-CN" altLang="en-US" b="1" dirty="0" smtClean="0">
                <a:solidFill>
                  <a:prstClr val="black"/>
                </a:solidFill>
              </a:rPr>
              <a:t>变量。</a:t>
            </a:r>
            <a:endParaRPr lang="zh-CN" altLang="en-US" b="1" dirty="0">
              <a:solidFill>
                <a:prstClr val="black"/>
              </a:solidFill>
            </a:endParaRPr>
          </a:p>
        </p:txBody>
      </p:sp>
      <p:sp>
        <p:nvSpPr>
          <p:cNvPr id="8" name="矩形 7"/>
          <p:cNvSpPr/>
          <p:nvPr/>
        </p:nvSpPr>
        <p:spPr>
          <a:xfrm>
            <a:off x="5076056" y="3423366"/>
            <a:ext cx="3528392" cy="1131079"/>
          </a:xfrm>
          <a:prstGeom prst="rect">
            <a:avLst/>
          </a:prstGeom>
        </p:spPr>
        <p:txBody>
          <a:bodyPr wrap="square">
            <a:spAutoFit/>
          </a:bodyPr>
          <a:lstStyle/>
          <a:p>
            <a:pPr lvl="0">
              <a:lnSpc>
                <a:spcPct val="125000"/>
              </a:lnSpc>
            </a:pPr>
            <a:r>
              <a:rPr lang="zh-CN" altLang="en-US" b="1" dirty="0">
                <a:solidFill>
                  <a:srgbClr val="CD7371"/>
                </a:solidFill>
              </a:rPr>
              <a:t>结构体变量的使用</a:t>
            </a:r>
            <a:r>
              <a:rPr lang="zh-CN" altLang="en-US" b="1" dirty="0">
                <a:solidFill>
                  <a:prstClr val="black"/>
                </a:solidFill>
              </a:rPr>
              <a:t>采用如下形式：</a:t>
            </a:r>
          </a:p>
          <a:p>
            <a:pPr lvl="0">
              <a:lnSpc>
                <a:spcPct val="125000"/>
              </a:lnSpc>
            </a:pPr>
            <a:r>
              <a:rPr lang="zh-CN" altLang="en-US" b="1" dirty="0" smtClean="0">
                <a:solidFill>
                  <a:prstClr val="black"/>
                </a:solidFill>
              </a:rPr>
              <a:t>       </a:t>
            </a:r>
            <a:r>
              <a:rPr lang="zh-CN" altLang="en-US" b="1" dirty="0" smtClean="0">
                <a:solidFill>
                  <a:schemeClr val="accent5">
                    <a:lumMod val="75000"/>
                  </a:schemeClr>
                </a:solidFill>
              </a:rPr>
              <a:t>结构体</a:t>
            </a:r>
            <a:r>
              <a:rPr lang="zh-CN" altLang="en-US" b="1" dirty="0">
                <a:solidFill>
                  <a:schemeClr val="accent5">
                    <a:lumMod val="75000"/>
                  </a:schemeClr>
                </a:solidFill>
              </a:rPr>
              <a:t>变量名</a:t>
            </a:r>
            <a:r>
              <a:rPr lang="en-US" altLang="zh-CN" b="1" dirty="0">
                <a:solidFill>
                  <a:schemeClr val="accent5">
                    <a:lumMod val="75000"/>
                  </a:schemeClr>
                </a:solidFill>
              </a:rPr>
              <a:t>. </a:t>
            </a:r>
            <a:r>
              <a:rPr lang="zh-CN" altLang="en-US" b="1" dirty="0">
                <a:solidFill>
                  <a:schemeClr val="accent5">
                    <a:lumMod val="75000"/>
                  </a:schemeClr>
                </a:solidFill>
              </a:rPr>
              <a:t>成员名</a:t>
            </a:r>
          </a:p>
          <a:p>
            <a:pPr lvl="0">
              <a:lnSpc>
                <a:spcPct val="125000"/>
              </a:lnSpc>
            </a:pPr>
            <a:r>
              <a:rPr lang="zh-CN" altLang="en-US" b="1" dirty="0">
                <a:solidFill>
                  <a:prstClr val="black"/>
                </a:solidFill>
              </a:rPr>
              <a:t>如：</a:t>
            </a:r>
            <a:r>
              <a:rPr lang="en-GB" altLang="zh-CN" b="1" dirty="0" err="1">
                <a:solidFill>
                  <a:prstClr val="black"/>
                </a:solidFill>
              </a:rPr>
              <a:t>person_liu.age</a:t>
            </a:r>
            <a:r>
              <a:rPr lang="en-GB" altLang="zh-CN" b="1" dirty="0">
                <a:solidFill>
                  <a:prstClr val="black"/>
                </a:solidFill>
              </a:rPr>
              <a:t>=35;</a:t>
            </a:r>
          </a:p>
        </p:txBody>
      </p:sp>
      <p:sp>
        <p:nvSpPr>
          <p:cNvPr id="9" name="矩形 8"/>
          <p:cNvSpPr/>
          <p:nvPr/>
        </p:nvSpPr>
        <p:spPr>
          <a:xfrm>
            <a:off x="832580" y="3318512"/>
            <a:ext cx="3384376" cy="369332"/>
          </a:xfrm>
          <a:prstGeom prst="rect">
            <a:avLst/>
          </a:prstGeom>
        </p:spPr>
        <p:txBody>
          <a:bodyPr wrap="square">
            <a:spAutoFit/>
          </a:bodyPr>
          <a:lstStyle/>
          <a:p>
            <a:pPr lvl="0"/>
            <a:r>
              <a:rPr lang="en-GB" altLang="zh-CN" b="1" dirty="0" err="1">
                <a:solidFill>
                  <a:schemeClr val="accent5">
                    <a:lumMod val="75000"/>
                  </a:schemeClr>
                </a:solidFill>
              </a:rPr>
              <a:t>struct</a:t>
            </a:r>
            <a:r>
              <a:rPr lang="en-GB" altLang="zh-CN" b="1" dirty="0">
                <a:solidFill>
                  <a:schemeClr val="accent5">
                    <a:lumMod val="75000"/>
                  </a:schemeClr>
                </a:solidFill>
              </a:rPr>
              <a:t>  </a:t>
            </a:r>
            <a:r>
              <a:rPr lang="zh-CN" altLang="en-US" b="1" dirty="0">
                <a:solidFill>
                  <a:schemeClr val="accent5">
                    <a:lumMod val="75000"/>
                  </a:schemeClr>
                </a:solidFill>
              </a:rPr>
              <a:t>结构体名  结构体变量</a:t>
            </a:r>
            <a:r>
              <a:rPr lang="zh-CN" altLang="en-US" b="1" dirty="0" smtClean="0">
                <a:solidFill>
                  <a:schemeClr val="accent5">
                    <a:lumMod val="75000"/>
                  </a:schemeClr>
                </a:solidFill>
              </a:rPr>
              <a:t>；</a:t>
            </a:r>
            <a:endParaRPr lang="zh-CN" altLang="en-US" b="1" dirty="0">
              <a:solidFill>
                <a:schemeClr val="accent5">
                  <a:lumMod val="75000"/>
                </a:schemeClr>
              </a:solidFill>
            </a:endParaRPr>
          </a:p>
        </p:txBody>
      </p:sp>
      <p:sp>
        <p:nvSpPr>
          <p:cNvPr id="10" name="流程图: 多文档 9"/>
          <p:cNvSpPr/>
          <p:nvPr/>
        </p:nvSpPr>
        <p:spPr>
          <a:xfrm>
            <a:off x="539552" y="2701917"/>
            <a:ext cx="1368152" cy="517123"/>
          </a:xfrm>
          <a:prstGeom prst="flowChartMultidocumen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smtClean="0"/>
              <a:t>定义格式</a:t>
            </a:r>
          </a:p>
        </p:txBody>
      </p:sp>
    </p:spTree>
    <p:extLst>
      <p:ext uri="{BB962C8B-B14F-4D97-AF65-F5344CB8AC3E}">
        <p14:creationId xmlns:p14="http://schemas.microsoft.com/office/powerpoint/2010/main" val="18014225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77179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616422" cy="461665"/>
          </a:xfrm>
          <a:prstGeom prst="rect">
            <a:avLst/>
          </a:prstGeom>
        </p:spPr>
        <p:txBody>
          <a:bodyPr wrap="none">
            <a:spAutoFit/>
          </a:bodyPr>
          <a:lstStyle/>
          <a:p>
            <a:r>
              <a:rPr lang="en-US" altLang="zh-CN" sz="2400" b="1" dirty="0" smtClean="0">
                <a:solidFill>
                  <a:schemeClr val="bg1"/>
                </a:solidFill>
              </a:rPr>
              <a:t>4.2.7  </a:t>
            </a:r>
            <a:r>
              <a:rPr lang="en-US" altLang="zh-CN" sz="2400" b="1" dirty="0" err="1" smtClean="0">
                <a:solidFill>
                  <a:schemeClr val="bg1"/>
                </a:solidFill>
              </a:rPr>
              <a:t>enum</a:t>
            </a:r>
            <a:r>
              <a:rPr lang="zh-CN" altLang="en-US" sz="2400" b="1" dirty="0" smtClean="0">
                <a:solidFill>
                  <a:schemeClr val="bg1"/>
                </a:solidFill>
              </a:rPr>
              <a:t>关键词</a:t>
            </a:r>
            <a:endParaRPr lang="zh-CN" altLang="zh-CN" sz="2400" b="1" dirty="0">
              <a:solidFill>
                <a:schemeClr val="bg1"/>
              </a:solidFill>
            </a:endParaRPr>
          </a:p>
        </p:txBody>
      </p:sp>
      <p:sp>
        <p:nvSpPr>
          <p:cNvPr id="3" name="矩形 2"/>
          <p:cNvSpPr/>
          <p:nvPr/>
        </p:nvSpPr>
        <p:spPr>
          <a:xfrm>
            <a:off x="3491880" y="399720"/>
            <a:ext cx="2572112" cy="2862322"/>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b="1" dirty="0" err="1"/>
              <a:t>enum</a:t>
            </a:r>
            <a:r>
              <a:rPr lang="en-US" altLang="zh-CN" b="1" dirty="0"/>
              <a:t> Weekdays </a:t>
            </a:r>
          </a:p>
          <a:p>
            <a:r>
              <a:rPr lang="en-US" altLang="zh-CN" b="1" dirty="0"/>
              <a:t>{ </a:t>
            </a:r>
          </a:p>
          <a:p>
            <a:pPr lvl="1"/>
            <a:r>
              <a:rPr lang="en-US" altLang="zh-CN" b="1" dirty="0"/>
              <a:t>Monday = 1,</a:t>
            </a:r>
          </a:p>
          <a:p>
            <a:pPr lvl="1"/>
            <a:r>
              <a:rPr lang="en-US" altLang="zh-CN" b="1" dirty="0"/>
              <a:t>Tuesday, </a:t>
            </a:r>
          </a:p>
          <a:p>
            <a:pPr lvl="1"/>
            <a:r>
              <a:rPr lang="en-US" altLang="zh-CN" b="1" dirty="0"/>
              <a:t>Wednesday, </a:t>
            </a:r>
          </a:p>
          <a:p>
            <a:pPr lvl="1"/>
            <a:r>
              <a:rPr lang="en-US" altLang="zh-CN" b="1" dirty="0"/>
              <a:t>Thursday, </a:t>
            </a:r>
          </a:p>
          <a:p>
            <a:pPr lvl="1"/>
            <a:r>
              <a:rPr lang="en-US" altLang="zh-CN" b="1" dirty="0"/>
              <a:t>Friday</a:t>
            </a:r>
            <a:r>
              <a:rPr lang="zh-CN" altLang="en-US" b="1" dirty="0"/>
              <a:t>，</a:t>
            </a:r>
          </a:p>
          <a:p>
            <a:pPr lvl="1"/>
            <a:r>
              <a:rPr lang="en-US" altLang="zh-CN" b="1" dirty="0"/>
              <a:t>Saturday</a:t>
            </a:r>
            <a:r>
              <a:rPr lang="zh-CN" altLang="en-US" b="1" dirty="0"/>
              <a:t>，</a:t>
            </a:r>
          </a:p>
          <a:p>
            <a:pPr lvl="1"/>
            <a:r>
              <a:rPr lang="en-US" altLang="zh-CN" b="1" dirty="0"/>
              <a:t>Sunday </a:t>
            </a:r>
          </a:p>
          <a:p>
            <a:r>
              <a:rPr lang="en-US" altLang="zh-CN" b="1" dirty="0"/>
              <a:t>}</a:t>
            </a:r>
            <a:r>
              <a:rPr lang="en-US" altLang="zh-CN" b="1" dirty="0" err="1"/>
              <a:t>Mydays</a:t>
            </a:r>
            <a:r>
              <a:rPr lang="zh-CN" altLang="en-US" b="1" dirty="0"/>
              <a:t>，</a:t>
            </a:r>
            <a:r>
              <a:rPr lang="en-US" altLang="zh-CN" b="1" dirty="0" err="1"/>
              <a:t>Olddays</a:t>
            </a:r>
            <a:r>
              <a:rPr lang="en-US" altLang="zh-CN" b="1" dirty="0"/>
              <a:t>;</a:t>
            </a:r>
            <a:endParaRPr lang="en-US" altLang="zh-CN" b="1" dirty="0" smtClean="0"/>
          </a:p>
        </p:txBody>
      </p:sp>
      <p:sp>
        <p:nvSpPr>
          <p:cNvPr id="6" name="矩形 5"/>
          <p:cNvSpPr/>
          <p:nvPr/>
        </p:nvSpPr>
        <p:spPr>
          <a:xfrm>
            <a:off x="395536" y="1635646"/>
            <a:ext cx="2448272" cy="2169825"/>
          </a:xfrm>
          <a:prstGeom prst="rect">
            <a:avLst/>
          </a:prstGeom>
          <a:ln>
            <a:no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lvl="1">
              <a:lnSpc>
                <a:spcPct val="125000"/>
              </a:lnSpc>
            </a:pPr>
            <a:r>
              <a:rPr lang="en-US" altLang="zh-CN" b="1" dirty="0" err="1" smtClean="0"/>
              <a:t>enum</a:t>
            </a:r>
            <a:r>
              <a:rPr lang="en-US" altLang="zh-CN" b="1" dirty="0" smtClean="0"/>
              <a:t> </a:t>
            </a:r>
            <a:r>
              <a:rPr lang="zh-CN" altLang="en-US" b="1" dirty="0"/>
              <a:t>枚举名 </a:t>
            </a:r>
          </a:p>
          <a:p>
            <a:pPr lvl="1">
              <a:lnSpc>
                <a:spcPct val="125000"/>
              </a:lnSpc>
            </a:pPr>
            <a:r>
              <a:rPr lang="en-US" altLang="zh-CN" b="1" dirty="0"/>
              <a:t>{</a:t>
            </a:r>
          </a:p>
          <a:p>
            <a:pPr lvl="1">
              <a:lnSpc>
                <a:spcPct val="125000"/>
              </a:lnSpc>
            </a:pPr>
            <a:r>
              <a:rPr lang="zh-CN" altLang="en-US" b="1" dirty="0" smtClean="0"/>
              <a:t>     枚举</a:t>
            </a:r>
            <a:r>
              <a:rPr lang="zh-CN" altLang="en-US" b="1" dirty="0"/>
              <a:t>成员</a:t>
            </a:r>
            <a:r>
              <a:rPr lang="en-US" altLang="zh-CN" b="1" dirty="0"/>
              <a:t>1,</a:t>
            </a:r>
          </a:p>
          <a:p>
            <a:pPr lvl="1">
              <a:lnSpc>
                <a:spcPct val="125000"/>
              </a:lnSpc>
            </a:pPr>
            <a:r>
              <a:rPr lang="zh-CN" altLang="en-US" b="1" dirty="0" smtClean="0"/>
              <a:t>     枚举</a:t>
            </a:r>
            <a:r>
              <a:rPr lang="zh-CN" altLang="en-US" b="1" dirty="0"/>
              <a:t>成员</a:t>
            </a:r>
            <a:r>
              <a:rPr lang="en-US" altLang="zh-CN" b="1" dirty="0"/>
              <a:t>2,</a:t>
            </a:r>
          </a:p>
          <a:p>
            <a:pPr lvl="1">
              <a:lnSpc>
                <a:spcPct val="125000"/>
              </a:lnSpc>
            </a:pPr>
            <a:r>
              <a:rPr lang="en-US" altLang="zh-CN" b="1" dirty="0" smtClean="0"/>
              <a:t>      ……</a:t>
            </a:r>
            <a:endParaRPr lang="en-US" altLang="zh-CN" b="1" dirty="0"/>
          </a:p>
          <a:p>
            <a:pPr lvl="1">
              <a:lnSpc>
                <a:spcPct val="125000"/>
              </a:lnSpc>
            </a:pPr>
            <a:r>
              <a:rPr lang="en-US" altLang="zh-CN" b="1" dirty="0"/>
              <a:t>}</a:t>
            </a:r>
            <a:r>
              <a:rPr lang="zh-CN" altLang="en-US" b="1" dirty="0"/>
              <a:t>枚举变量</a:t>
            </a:r>
            <a:r>
              <a:rPr lang="en-US" altLang="zh-CN" b="1" dirty="0"/>
              <a:t>;</a:t>
            </a:r>
          </a:p>
        </p:txBody>
      </p:sp>
      <p:sp>
        <p:nvSpPr>
          <p:cNvPr id="7" name="矩形 6"/>
          <p:cNvSpPr/>
          <p:nvPr/>
        </p:nvSpPr>
        <p:spPr>
          <a:xfrm>
            <a:off x="341824" y="3988905"/>
            <a:ext cx="4075876" cy="70788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25000"/>
              </a:lnSpc>
            </a:pPr>
            <a:r>
              <a:rPr lang="zh-CN" altLang="en-US" sz="1600" b="1" dirty="0" smtClean="0">
                <a:solidFill>
                  <a:prstClr val="black"/>
                </a:solidFill>
              </a:rPr>
              <a:t>     用来</a:t>
            </a:r>
            <a:r>
              <a:rPr lang="zh-CN" altLang="en-US" sz="1600" b="1" dirty="0">
                <a:solidFill>
                  <a:prstClr val="black"/>
                </a:solidFill>
              </a:rPr>
              <a:t>将一个变量或对象的所有可能的值一一列出，变量取值只限于列举出来的值。</a:t>
            </a:r>
          </a:p>
        </p:txBody>
      </p:sp>
      <p:sp>
        <p:nvSpPr>
          <p:cNvPr id="11" name="矩形 10"/>
          <p:cNvSpPr/>
          <p:nvPr/>
        </p:nvSpPr>
        <p:spPr>
          <a:xfrm>
            <a:off x="323528" y="1131590"/>
            <a:ext cx="2736304" cy="477054"/>
          </a:xfrm>
          <a:prstGeom prst="rect">
            <a:avLst/>
          </a:prstGeom>
          <a:noFill/>
          <a:ln>
            <a:noFill/>
          </a:ln>
        </p:spPr>
        <p:txBody>
          <a:bodyPr wrap="square">
            <a:spAutoFit/>
          </a:bodyPr>
          <a:lstStyle/>
          <a:p>
            <a:pPr lvl="0">
              <a:lnSpc>
                <a:spcPct val="125000"/>
              </a:lnSpc>
            </a:pPr>
            <a:r>
              <a:rPr lang="en-US" altLang="zh-CN" sz="2000" b="1" dirty="0" err="1">
                <a:solidFill>
                  <a:srgbClr val="CD7371"/>
                </a:solidFill>
                <a:ea typeface="隶书" pitchFamily="49" charset="-122"/>
              </a:rPr>
              <a:t>enum</a:t>
            </a:r>
            <a:r>
              <a:rPr lang="zh-CN" altLang="en-US" sz="2000" b="1" dirty="0">
                <a:solidFill>
                  <a:srgbClr val="CD7371"/>
                </a:solidFill>
                <a:ea typeface="隶书" pitchFamily="49" charset="-122"/>
              </a:rPr>
              <a:t>枚举类型的用法：</a:t>
            </a:r>
          </a:p>
        </p:txBody>
      </p:sp>
      <p:sp>
        <p:nvSpPr>
          <p:cNvPr id="12" name="矩形 11"/>
          <p:cNvSpPr/>
          <p:nvPr/>
        </p:nvSpPr>
        <p:spPr>
          <a:xfrm>
            <a:off x="4496417" y="3439996"/>
            <a:ext cx="2173248" cy="1296637"/>
          </a:xfrm>
          <a:prstGeom prst="rect">
            <a:avLst/>
          </a:prstGeom>
        </p:spPr>
        <p:txBody>
          <a:bodyPr wrap="square">
            <a:spAutoFit/>
          </a:bodyPr>
          <a:lstStyle/>
          <a:p>
            <a:pPr>
              <a:lnSpc>
                <a:spcPct val="125000"/>
              </a:lnSpc>
            </a:pPr>
            <a:r>
              <a:rPr lang="zh-CN" altLang="en-US" sz="1600" b="1" dirty="0">
                <a:solidFill>
                  <a:prstClr val="black"/>
                </a:solidFill>
              </a:rPr>
              <a:t>    枚举成员的值是常量，不是变量，</a:t>
            </a:r>
            <a:r>
              <a:rPr lang="zh-CN" altLang="en-US" sz="1600" b="1" dirty="0" smtClean="0">
                <a:solidFill>
                  <a:prstClr val="black"/>
                </a:solidFill>
              </a:rPr>
              <a:t>不能</a:t>
            </a:r>
            <a:r>
              <a:rPr lang="zh-CN" altLang="en-US" sz="1600" b="1" dirty="0" smtClean="0">
                <a:solidFill>
                  <a:srgbClr val="CD7371"/>
                </a:solidFill>
              </a:rPr>
              <a:t>被赋值</a:t>
            </a:r>
            <a:r>
              <a:rPr lang="zh-CN" altLang="en-US" sz="1600" b="1" dirty="0">
                <a:solidFill>
                  <a:prstClr val="black"/>
                </a:solidFill>
              </a:rPr>
              <a:t>，但可以将枚举值赋给枚举变量。</a:t>
            </a:r>
          </a:p>
        </p:txBody>
      </p:sp>
      <p:sp>
        <p:nvSpPr>
          <p:cNvPr id="13" name="矩形 12"/>
          <p:cNvSpPr/>
          <p:nvPr/>
        </p:nvSpPr>
        <p:spPr>
          <a:xfrm>
            <a:off x="6516216" y="535273"/>
            <a:ext cx="2430016" cy="1631216"/>
          </a:xfrm>
          <a:prstGeom prst="rect">
            <a:avLst/>
          </a:prstGeom>
        </p:spPr>
        <p:txBody>
          <a:bodyPr wrap="square">
            <a:spAutoFit/>
          </a:bodyPr>
          <a:lstStyle/>
          <a:p>
            <a:pPr>
              <a:lnSpc>
                <a:spcPct val="125000"/>
              </a:lnSpc>
            </a:pPr>
            <a:r>
              <a:rPr lang="zh-CN" altLang="en-US" sz="1600" b="1" dirty="0" smtClean="0">
                <a:solidFill>
                  <a:prstClr val="black"/>
                </a:solidFill>
              </a:rPr>
              <a:t>     枚举</a:t>
            </a:r>
            <a:r>
              <a:rPr lang="zh-CN" altLang="en-US" sz="1600" b="1" dirty="0">
                <a:solidFill>
                  <a:prstClr val="black"/>
                </a:solidFill>
              </a:rPr>
              <a:t>类型具有</a:t>
            </a:r>
            <a:r>
              <a:rPr lang="zh-CN" altLang="en-US" sz="1600" b="1" dirty="0">
                <a:solidFill>
                  <a:srgbClr val="CD7371"/>
                </a:solidFill>
              </a:rPr>
              <a:t>自动编号</a:t>
            </a:r>
            <a:r>
              <a:rPr lang="zh-CN" altLang="en-US" sz="1600" b="1" dirty="0">
                <a:solidFill>
                  <a:prstClr val="black"/>
                </a:solidFill>
              </a:rPr>
              <a:t>的功能，第一个</a:t>
            </a:r>
            <a:r>
              <a:rPr lang="zh-CN" altLang="en-US" sz="1600" b="1" dirty="0" smtClean="0">
                <a:solidFill>
                  <a:prstClr val="black"/>
                </a:solidFill>
              </a:rPr>
              <a:t>枚举成员其</a:t>
            </a:r>
            <a:r>
              <a:rPr lang="zh-CN" altLang="en-US" sz="1600" b="1" dirty="0">
                <a:solidFill>
                  <a:prstClr val="black"/>
                </a:solidFill>
              </a:rPr>
              <a:t>默认值为整型的</a:t>
            </a:r>
            <a:r>
              <a:rPr lang="en-US" altLang="zh-CN" sz="1600" b="1" dirty="0">
                <a:solidFill>
                  <a:prstClr val="black"/>
                </a:solidFill>
              </a:rPr>
              <a:t>0</a:t>
            </a:r>
            <a:r>
              <a:rPr lang="zh-CN" altLang="en-US" sz="1600" b="1" dirty="0">
                <a:solidFill>
                  <a:prstClr val="black"/>
                </a:solidFill>
              </a:rPr>
              <a:t>，后续</a:t>
            </a:r>
            <a:r>
              <a:rPr lang="zh-CN" altLang="en-US" sz="1600" b="1" dirty="0" smtClean="0">
                <a:solidFill>
                  <a:prstClr val="black"/>
                </a:solidFill>
              </a:rPr>
              <a:t>枚举</a:t>
            </a:r>
            <a:r>
              <a:rPr lang="zh-CN" altLang="en-US" sz="1600" b="1" dirty="0">
                <a:solidFill>
                  <a:prstClr val="black"/>
                </a:solidFill>
              </a:rPr>
              <a:t>成员</a:t>
            </a:r>
            <a:r>
              <a:rPr lang="zh-CN" altLang="en-US" sz="1600" b="1" dirty="0" smtClean="0">
                <a:solidFill>
                  <a:prstClr val="black"/>
                </a:solidFill>
              </a:rPr>
              <a:t>的</a:t>
            </a:r>
            <a:r>
              <a:rPr lang="zh-CN" altLang="en-US" sz="1600" b="1" dirty="0">
                <a:solidFill>
                  <a:prstClr val="black"/>
                </a:solidFill>
              </a:rPr>
              <a:t>值在前一个成员上加</a:t>
            </a:r>
            <a:r>
              <a:rPr lang="en-US" altLang="zh-CN" sz="1600" b="1" dirty="0" smtClean="0">
                <a:solidFill>
                  <a:prstClr val="black"/>
                </a:solidFill>
              </a:rPr>
              <a:t>1</a:t>
            </a:r>
            <a:r>
              <a:rPr lang="zh-CN" altLang="en-US" sz="1600" b="1" dirty="0" smtClean="0">
                <a:solidFill>
                  <a:prstClr val="black"/>
                </a:solidFill>
              </a:rPr>
              <a:t>。</a:t>
            </a:r>
            <a:endParaRPr lang="zh-CN" altLang="en-US" sz="1600" b="1" dirty="0">
              <a:solidFill>
                <a:prstClr val="black"/>
              </a:solidFill>
            </a:endParaRPr>
          </a:p>
        </p:txBody>
      </p:sp>
      <p:sp>
        <p:nvSpPr>
          <p:cNvPr id="14" name="矩形 13"/>
          <p:cNvSpPr/>
          <p:nvPr/>
        </p:nvSpPr>
        <p:spPr>
          <a:xfrm>
            <a:off x="6660232" y="2316744"/>
            <a:ext cx="2286000" cy="2246769"/>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pPr lvl="0">
              <a:lnSpc>
                <a:spcPct val="125000"/>
              </a:lnSpc>
            </a:pPr>
            <a:r>
              <a:rPr lang="zh-CN" altLang="en-US" sz="1600" b="1" dirty="0" smtClean="0">
                <a:solidFill>
                  <a:prstClr val="black"/>
                </a:solidFill>
              </a:rPr>
              <a:t>     可以</a:t>
            </a:r>
            <a:r>
              <a:rPr lang="zh-CN" altLang="en-US" sz="1600" b="1" dirty="0">
                <a:solidFill>
                  <a:prstClr val="black"/>
                </a:solidFill>
              </a:rPr>
              <a:t>自定义</a:t>
            </a:r>
            <a:r>
              <a:rPr lang="zh-CN" altLang="en-US" sz="1600" b="1" dirty="0" smtClean="0">
                <a:solidFill>
                  <a:prstClr val="black"/>
                </a:solidFill>
              </a:rPr>
              <a:t>枚举</a:t>
            </a:r>
            <a:r>
              <a:rPr lang="zh-CN" altLang="en-US" sz="1600" b="1" dirty="0">
                <a:solidFill>
                  <a:prstClr val="black"/>
                </a:solidFill>
              </a:rPr>
              <a:t>成员</a:t>
            </a:r>
            <a:r>
              <a:rPr lang="zh-CN" altLang="en-US" sz="1600" b="1" dirty="0" smtClean="0">
                <a:solidFill>
                  <a:prstClr val="black"/>
                </a:solidFill>
              </a:rPr>
              <a:t>的</a:t>
            </a:r>
            <a:r>
              <a:rPr lang="zh-CN" altLang="en-US" sz="1600" b="1" dirty="0">
                <a:solidFill>
                  <a:prstClr val="black"/>
                </a:solidFill>
              </a:rPr>
              <a:t>值，如果把第一个枚举元素的值定义为</a:t>
            </a:r>
            <a:r>
              <a:rPr lang="en-US" altLang="zh-CN" sz="1600" b="1" dirty="0">
                <a:solidFill>
                  <a:prstClr val="black"/>
                </a:solidFill>
              </a:rPr>
              <a:t>1</a:t>
            </a:r>
            <a:r>
              <a:rPr lang="zh-CN" altLang="en-US" sz="1600" b="1" dirty="0">
                <a:solidFill>
                  <a:prstClr val="black"/>
                </a:solidFill>
              </a:rPr>
              <a:t>，那么第二枚举成员的值就为</a:t>
            </a:r>
            <a:r>
              <a:rPr lang="en-US" altLang="zh-CN" sz="1600" b="1" dirty="0">
                <a:solidFill>
                  <a:prstClr val="black"/>
                </a:solidFill>
              </a:rPr>
              <a:t>2</a:t>
            </a:r>
            <a:r>
              <a:rPr lang="zh-CN" altLang="en-US" sz="1600" b="1" dirty="0">
                <a:solidFill>
                  <a:prstClr val="black"/>
                </a:solidFill>
              </a:rPr>
              <a:t>，以此类推，如上述例子中</a:t>
            </a:r>
            <a:r>
              <a:rPr lang="en-US" altLang="zh-CN" sz="1600" b="1" dirty="0">
                <a:solidFill>
                  <a:prstClr val="black"/>
                </a:solidFill>
              </a:rPr>
              <a:t>Friday</a:t>
            </a:r>
            <a:r>
              <a:rPr lang="zh-CN" altLang="en-US" sz="1600" b="1" dirty="0">
                <a:solidFill>
                  <a:prstClr val="black"/>
                </a:solidFill>
              </a:rPr>
              <a:t>的值为</a:t>
            </a:r>
            <a:r>
              <a:rPr lang="en-US" altLang="zh-CN" sz="1600" b="1" dirty="0">
                <a:solidFill>
                  <a:prstClr val="black"/>
                </a:solidFill>
              </a:rPr>
              <a:t>5</a:t>
            </a:r>
            <a:r>
              <a:rPr lang="zh-CN" altLang="en-US" sz="1600" b="1" dirty="0">
                <a:solidFill>
                  <a:prstClr val="black"/>
                </a:solidFill>
              </a:rPr>
              <a:t>。</a:t>
            </a:r>
          </a:p>
        </p:txBody>
      </p:sp>
    </p:spTree>
    <p:extLst>
      <p:ext uri="{BB962C8B-B14F-4D97-AF65-F5344CB8AC3E}">
        <p14:creationId xmlns:p14="http://schemas.microsoft.com/office/powerpoint/2010/main" val="25832842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smtClean="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746418" y="2587507"/>
            <a:ext cx="3825582" cy="1015663"/>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buBlip>
                <a:blip r:embed="rId2"/>
              </a:buBlip>
            </a:pPr>
            <a:r>
              <a:rPr lang="zh-CN" altLang="en-US" sz="1600" b="1" dirty="0" smtClean="0">
                <a:solidFill>
                  <a:prstClr val="black"/>
                </a:solidFill>
              </a:rPr>
              <a:t>给变量起一个容易</a:t>
            </a:r>
            <a:r>
              <a:rPr lang="zh-CN" altLang="en-US" sz="1600" b="1" dirty="0">
                <a:solidFill>
                  <a:prstClr val="black"/>
                </a:solidFill>
              </a:rPr>
              <a:t>记且意义明确的新</a:t>
            </a:r>
            <a:r>
              <a:rPr lang="zh-CN" altLang="en-US" sz="1600" b="1" dirty="0" smtClean="0">
                <a:solidFill>
                  <a:prstClr val="black"/>
                </a:solidFill>
              </a:rPr>
              <a:t>名字；</a:t>
            </a:r>
            <a:endParaRPr lang="en-US" altLang="zh-CN" sz="1600" b="1" dirty="0" smtClean="0">
              <a:solidFill>
                <a:prstClr val="black"/>
              </a:solidFill>
            </a:endParaRPr>
          </a:p>
          <a:p>
            <a:pPr marL="285750" lvl="0" indent="-285750">
              <a:lnSpc>
                <a:spcPct val="125000"/>
              </a:lnSpc>
              <a:buBlip>
                <a:blip r:embed="rId2"/>
              </a:buBlip>
            </a:pPr>
            <a:r>
              <a:rPr lang="zh-CN" altLang="en-US" sz="1600" b="1" dirty="0" smtClean="0">
                <a:solidFill>
                  <a:prstClr val="black"/>
                </a:solidFill>
              </a:rPr>
              <a:t>简化</a:t>
            </a:r>
            <a:r>
              <a:rPr lang="zh-CN" altLang="en-US" sz="1600" b="1" dirty="0">
                <a:solidFill>
                  <a:prstClr val="black"/>
                </a:solidFill>
              </a:rPr>
              <a:t>一些比较复杂的类型声明</a:t>
            </a:r>
            <a:r>
              <a:rPr lang="zh-CN" altLang="en-US" sz="1600" b="1" dirty="0" smtClean="0">
                <a:solidFill>
                  <a:prstClr val="black"/>
                </a:solidFill>
              </a:rPr>
              <a:t>。</a:t>
            </a:r>
            <a:endParaRPr lang="en-US" altLang="zh-CN" sz="1600" b="1" dirty="0"/>
          </a:p>
        </p:txBody>
      </p:sp>
      <p:sp>
        <p:nvSpPr>
          <p:cNvPr id="10" name="矩形 9"/>
          <p:cNvSpPr/>
          <p:nvPr/>
        </p:nvSpPr>
        <p:spPr>
          <a:xfrm>
            <a:off x="480758" y="2290566"/>
            <a:ext cx="653114" cy="400110"/>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smtClean="0">
                <a:solidFill>
                  <a:prstClr val="black"/>
                </a:solidFill>
              </a:rPr>
              <a:t>目的</a:t>
            </a:r>
            <a:r>
              <a:rPr lang="en-GB" altLang="zh-CN" sz="1600" b="1" dirty="0" smtClean="0">
                <a:solidFill>
                  <a:prstClr val="black"/>
                </a:solidFill>
              </a:rPr>
              <a:t>:</a:t>
            </a:r>
            <a:endParaRPr lang="en-GB" altLang="zh-CN" sz="1600" b="1" dirty="0">
              <a:solidFill>
                <a:prstClr val="black"/>
              </a:solidFill>
            </a:endParaRPr>
          </a:p>
        </p:txBody>
      </p:sp>
      <p:sp>
        <p:nvSpPr>
          <p:cNvPr id="12" name="矩形 11"/>
          <p:cNvSpPr/>
          <p:nvPr/>
        </p:nvSpPr>
        <p:spPr>
          <a:xfrm>
            <a:off x="683568" y="1417934"/>
            <a:ext cx="3681565" cy="681084"/>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285750">
              <a:lnSpc>
                <a:spcPct val="125000"/>
              </a:lnSpc>
              <a:buBlip>
                <a:blip r:embed="rId2"/>
              </a:buBlip>
            </a:pPr>
            <a:r>
              <a:rPr lang="zh-CN" altLang="en-US" sz="1600" b="1" dirty="0">
                <a:solidFill>
                  <a:prstClr val="black"/>
                </a:solidFill>
              </a:rPr>
              <a:t>用来为复杂的声明定义一个简单的别名，方便</a:t>
            </a:r>
            <a:r>
              <a:rPr lang="zh-CN" altLang="en-US" sz="1600" b="1" dirty="0" smtClean="0">
                <a:solidFill>
                  <a:prstClr val="black"/>
                </a:solidFill>
              </a:rPr>
              <a:t>记忆</a:t>
            </a:r>
            <a:endParaRPr lang="en-US" altLang="zh-CN" sz="1600" b="1" dirty="0"/>
          </a:p>
        </p:txBody>
      </p:sp>
      <p:sp>
        <p:nvSpPr>
          <p:cNvPr id="13" name="矩形 12"/>
          <p:cNvSpPr/>
          <p:nvPr/>
        </p:nvSpPr>
        <p:spPr>
          <a:xfrm>
            <a:off x="417908" y="1120993"/>
            <a:ext cx="653114" cy="377283"/>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smtClean="0">
                <a:solidFill>
                  <a:prstClr val="black"/>
                </a:solidFill>
              </a:rPr>
              <a:t>作用：</a:t>
            </a:r>
            <a:endParaRPr lang="en-GB" altLang="zh-CN" sz="1600" b="1" dirty="0">
              <a:solidFill>
                <a:prstClr val="black"/>
              </a:solidFill>
            </a:endParaRPr>
          </a:p>
        </p:txBody>
      </p:sp>
      <p:sp>
        <p:nvSpPr>
          <p:cNvPr id="16" name="十六角星 15"/>
          <p:cNvSpPr/>
          <p:nvPr/>
        </p:nvSpPr>
        <p:spPr>
          <a:xfrm>
            <a:off x="1106488" y="3964505"/>
            <a:ext cx="2817440" cy="695477"/>
          </a:xfrm>
          <a:prstGeom prst="star16">
            <a:avLst>
              <a:gd name="adj" fmla="val 44279"/>
            </a:avLst>
          </a:prstGeom>
          <a:ln w="19050">
            <a:solidFill>
              <a:schemeClr val="accent4">
                <a:lumMod val="40000"/>
                <a:lumOff val="6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600" b="1" dirty="0">
                <a:solidFill>
                  <a:schemeClr val="bg1"/>
                </a:solidFill>
                <a:latin typeface="楷体" pitchFamily="49" charset="-122"/>
                <a:ea typeface="楷体" pitchFamily="49" charset="-122"/>
              </a:rPr>
              <a:t>不是一个真正意义上的新</a:t>
            </a:r>
            <a:r>
              <a:rPr lang="zh-CN" altLang="en-US" sz="1600" b="1" dirty="0" smtClean="0">
                <a:solidFill>
                  <a:schemeClr val="bg1"/>
                </a:solidFill>
                <a:latin typeface="楷体" pitchFamily="49" charset="-122"/>
                <a:ea typeface="楷体" pitchFamily="49" charset="-122"/>
              </a:rPr>
              <a:t>类型</a:t>
            </a:r>
          </a:p>
        </p:txBody>
      </p:sp>
      <p:sp>
        <p:nvSpPr>
          <p:cNvPr id="17" name="矩形 16"/>
          <p:cNvSpPr/>
          <p:nvPr/>
        </p:nvSpPr>
        <p:spPr>
          <a:xfrm>
            <a:off x="4932040" y="1595576"/>
            <a:ext cx="3332707" cy="400110"/>
          </a:xfrm>
          <a:prstGeom prst="rect">
            <a:avLst/>
          </a:prstGeom>
        </p:spPr>
        <p:txBody>
          <a:bodyPr wrap="none">
            <a:spAutoFit/>
          </a:bodyPr>
          <a:lstStyle/>
          <a:p>
            <a:pPr lvl="0"/>
            <a:r>
              <a:rPr lang="zh-CN" altLang="en-US" sz="2000" b="1" dirty="0" smtClean="0">
                <a:solidFill>
                  <a:srgbClr val="CD7371"/>
                </a:solidFill>
                <a:latin typeface="隶书" pitchFamily="49" charset="-122"/>
                <a:ea typeface="隶书" pitchFamily="49" charset="-122"/>
              </a:rPr>
              <a:t>用法一</a:t>
            </a:r>
            <a:r>
              <a:rPr lang="zh-CN" altLang="en-US" b="1" dirty="0">
                <a:solidFill>
                  <a:srgbClr val="CD7371"/>
                </a:solidFill>
                <a:latin typeface="+mn-ea"/>
              </a:rPr>
              <a:t>：</a:t>
            </a:r>
            <a:r>
              <a:rPr lang="en-US" altLang="zh-CN" sz="2000" b="1" dirty="0" err="1" smtClean="0">
                <a:solidFill>
                  <a:schemeClr val="accent5">
                    <a:lumMod val="50000"/>
                  </a:schemeClr>
                </a:solidFill>
                <a:ea typeface="隶书" pitchFamily="49" charset="-122"/>
              </a:rPr>
              <a:t>typedef</a:t>
            </a:r>
            <a:r>
              <a:rPr lang="zh-CN" altLang="zh-CN" sz="2000" b="1" dirty="0">
                <a:solidFill>
                  <a:schemeClr val="accent5">
                    <a:lumMod val="50000"/>
                  </a:schemeClr>
                </a:solidFill>
                <a:ea typeface="隶书" pitchFamily="49" charset="-122"/>
              </a:rPr>
              <a:t>的基本</a:t>
            </a:r>
            <a:r>
              <a:rPr lang="zh-CN" altLang="zh-CN" sz="2000" b="1" dirty="0" smtClean="0">
                <a:solidFill>
                  <a:schemeClr val="accent5">
                    <a:lumMod val="50000"/>
                  </a:schemeClr>
                </a:solidFill>
                <a:ea typeface="隶书" pitchFamily="49" charset="-122"/>
              </a:rPr>
              <a:t>应用</a:t>
            </a:r>
            <a:endParaRPr lang="zh-CN" altLang="zh-CN" sz="2000" b="1" dirty="0">
              <a:solidFill>
                <a:schemeClr val="accent5">
                  <a:lumMod val="50000"/>
                </a:schemeClr>
              </a:solidFill>
              <a:ea typeface="隶书" pitchFamily="49" charset="-122"/>
            </a:endParaRPr>
          </a:p>
        </p:txBody>
      </p:sp>
      <p:sp>
        <p:nvSpPr>
          <p:cNvPr id="18" name="矩形 17"/>
          <p:cNvSpPr/>
          <p:nvPr/>
        </p:nvSpPr>
        <p:spPr>
          <a:xfrm>
            <a:off x="5226613" y="2387664"/>
            <a:ext cx="3609557" cy="400110"/>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smtClean="0">
                <a:solidFill>
                  <a:schemeClr val="tx1"/>
                </a:solidFill>
              </a:rPr>
              <a:t>           </a:t>
            </a:r>
            <a:r>
              <a:rPr lang="en-US" altLang="zh-CN" sz="1600" b="1" dirty="0" err="1" smtClean="0">
                <a:solidFill>
                  <a:schemeClr val="tx1"/>
                </a:solidFill>
              </a:rPr>
              <a:t>typedef</a:t>
            </a:r>
            <a:r>
              <a:rPr lang="en-US" altLang="zh-CN" sz="1600" b="1" dirty="0" smtClean="0">
                <a:solidFill>
                  <a:schemeClr val="tx1"/>
                </a:solidFill>
              </a:rPr>
              <a:t>  </a:t>
            </a:r>
            <a:r>
              <a:rPr lang="zh-CN" altLang="zh-CN" sz="1600" b="1" dirty="0">
                <a:solidFill>
                  <a:schemeClr val="tx1"/>
                </a:solidFill>
              </a:rPr>
              <a:t>类型名</a:t>
            </a:r>
            <a:r>
              <a:rPr lang="en-US" altLang="zh-CN" sz="1600" b="1" dirty="0">
                <a:solidFill>
                  <a:schemeClr val="tx1"/>
                </a:solidFill>
              </a:rPr>
              <a:t>  </a:t>
            </a:r>
            <a:r>
              <a:rPr lang="zh-CN" altLang="zh-CN" sz="1600" b="1" dirty="0">
                <a:solidFill>
                  <a:schemeClr val="tx1"/>
                </a:solidFill>
              </a:rPr>
              <a:t>自定义的别名</a:t>
            </a:r>
            <a:r>
              <a:rPr lang="zh-CN" altLang="zh-CN" sz="1600" b="1" dirty="0" smtClean="0">
                <a:solidFill>
                  <a:schemeClr val="tx1"/>
                </a:solidFill>
              </a:rPr>
              <a:t>；</a:t>
            </a:r>
            <a:endParaRPr lang="zh-CN" altLang="zh-CN" sz="1600" b="1" dirty="0">
              <a:solidFill>
                <a:schemeClr val="tx1"/>
              </a:solidFill>
            </a:endParaRPr>
          </a:p>
        </p:txBody>
      </p:sp>
      <p:sp>
        <p:nvSpPr>
          <p:cNvPr id="19" name="矩形 18"/>
          <p:cNvSpPr/>
          <p:nvPr/>
        </p:nvSpPr>
        <p:spPr>
          <a:xfrm>
            <a:off x="4932040" y="2090723"/>
            <a:ext cx="653114" cy="373307"/>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smtClean="0">
                <a:solidFill>
                  <a:prstClr val="black"/>
                </a:solidFill>
              </a:rPr>
              <a:t>格式：</a:t>
            </a:r>
            <a:endParaRPr lang="en-GB" altLang="zh-CN" sz="1600" b="1" dirty="0">
              <a:solidFill>
                <a:prstClr val="black"/>
              </a:solidFill>
            </a:endParaRPr>
          </a:p>
        </p:txBody>
      </p:sp>
      <p:sp>
        <p:nvSpPr>
          <p:cNvPr id="20" name="矩形 19"/>
          <p:cNvSpPr/>
          <p:nvPr/>
        </p:nvSpPr>
        <p:spPr>
          <a:xfrm>
            <a:off x="5154605" y="3444756"/>
            <a:ext cx="3681565" cy="1169551"/>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smtClean="0">
                <a:solidFill>
                  <a:schemeClr val="tx1"/>
                </a:solidFill>
              </a:rPr>
              <a:t>          </a:t>
            </a:r>
            <a:r>
              <a:rPr lang="en-US" altLang="zh-CN" sz="1600" b="1" dirty="0" err="1">
                <a:solidFill>
                  <a:schemeClr val="tx1"/>
                </a:solidFill>
              </a:rPr>
              <a:t>typedef</a:t>
            </a:r>
            <a:r>
              <a:rPr lang="en-US" altLang="zh-CN" sz="1600" b="1" dirty="0">
                <a:solidFill>
                  <a:schemeClr val="tx1"/>
                </a:solidFill>
              </a:rPr>
              <a:t>  </a:t>
            </a:r>
            <a:r>
              <a:rPr lang="en-US" altLang="zh-CN" sz="1600" b="1" dirty="0" smtClean="0">
                <a:solidFill>
                  <a:schemeClr val="tx1"/>
                </a:solidFill>
              </a:rPr>
              <a:t>signed char  </a:t>
            </a:r>
            <a:r>
              <a:rPr lang="en-US" altLang="zh-CN" sz="1600" b="1" dirty="0">
                <a:solidFill>
                  <a:schemeClr val="tx1"/>
                </a:solidFill>
              </a:rPr>
              <a:t>int8_t</a:t>
            </a:r>
            <a:r>
              <a:rPr lang="en-US" altLang="zh-CN" sz="1600" b="1" dirty="0" smtClean="0">
                <a:solidFill>
                  <a:schemeClr val="tx1"/>
                </a:solidFill>
              </a:rPr>
              <a:t>;</a:t>
            </a:r>
          </a:p>
          <a:p>
            <a:pPr>
              <a:lnSpc>
                <a:spcPct val="125000"/>
              </a:lnSpc>
            </a:pPr>
            <a:r>
              <a:rPr lang="en-US" altLang="zh-CN" sz="1200" b="1" dirty="0" smtClean="0">
                <a:solidFill>
                  <a:schemeClr val="tx1"/>
                </a:solidFill>
              </a:rPr>
              <a:t>                   //</a:t>
            </a:r>
            <a:r>
              <a:rPr lang="zh-CN" altLang="zh-CN" sz="1200" b="1" dirty="0">
                <a:solidFill>
                  <a:schemeClr val="tx1"/>
                </a:solidFill>
              </a:rPr>
              <a:t>给数据类型</a:t>
            </a:r>
            <a:r>
              <a:rPr lang="en-US" altLang="zh-CN" sz="1200" b="1" dirty="0">
                <a:solidFill>
                  <a:schemeClr val="tx1"/>
                </a:solidFill>
              </a:rPr>
              <a:t>signed char</a:t>
            </a:r>
            <a:r>
              <a:rPr lang="zh-CN" altLang="zh-CN" sz="1200" b="1" dirty="0">
                <a:solidFill>
                  <a:schemeClr val="tx1"/>
                </a:solidFill>
              </a:rPr>
              <a:t>起个别名</a:t>
            </a:r>
            <a:r>
              <a:rPr lang="en-US" altLang="zh-CN" sz="1200" b="1" dirty="0">
                <a:solidFill>
                  <a:schemeClr val="tx1"/>
                </a:solidFill>
              </a:rPr>
              <a:t>int8_t</a:t>
            </a:r>
            <a:endParaRPr lang="zh-CN" altLang="zh-CN" sz="1200" b="1" dirty="0">
              <a:solidFill>
                <a:schemeClr val="tx1"/>
              </a:solidFill>
            </a:endParaRPr>
          </a:p>
          <a:p>
            <a:pPr>
              <a:lnSpc>
                <a:spcPct val="125000"/>
              </a:lnSpc>
            </a:pPr>
            <a:r>
              <a:rPr lang="en-US" altLang="zh-CN" sz="1600" b="1" dirty="0" smtClean="0">
                <a:solidFill>
                  <a:schemeClr val="tx1"/>
                </a:solidFill>
              </a:rPr>
              <a:t>           </a:t>
            </a:r>
            <a:r>
              <a:rPr lang="en-US" altLang="zh-CN" sz="1600" b="1" dirty="0" err="1" smtClean="0">
                <a:solidFill>
                  <a:schemeClr val="tx1"/>
                </a:solidFill>
              </a:rPr>
              <a:t>typedef</a:t>
            </a:r>
            <a:r>
              <a:rPr lang="en-US" altLang="zh-CN" sz="1600" b="1" dirty="0" smtClean="0">
                <a:solidFill>
                  <a:schemeClr val="tx1"/>
                </a:solidFill>
              </a:rPr>
              <a:t>  </a:t>
            </a:r>
            <a:r>
              <a:rPr lang="en-US" altLang="zh-CN" sz="1600" b="1" dirty="0">
                <a:solidFill>
                  <a:schemeClr val="tx1"/>
                </a:solidFill>
              </a:rPr>
              <a:t>signed  </a:t>
            </a:r>
            <a:r>
              <a:rPr lang="en-US" altLang="zh-CN" sz="1600" b="1" dirty="0" err="1" smtClean="0">
                <a:solidFill>
                  <a:schemeClr val="tx1"/>
                </a:solidFill>
              </a:rPr>
              <a:t>int</a:t>
            </a:r>
            <a:r>
              <a:rPr lang="en-US" altLang="zh-CN" sz="1600" b="1" dirty="0" smtClean="0">
                <a:solidFill>
                  <a:schemeClr val="tx1"/>
                </a:solidFill>
              </a:rPr>
              <a:t> int32_t;</a:t>
            </a:r>
          </a:p>
          <a:p>
            <a:pPr>
              <a:lnSpc>
                <a:spcPct val="125000"/>
              </a:lnSpc>
            </a:pPr>
            <a:r>
              <a:rPr lang="en-US" altLang="zh-CN" sz="1200" b="1" dirty="0" smtClean="0">
                <a:solidFill>
                  <a:schemeClr val="tx1"/>
                </a:solidFill>
              </a:rPr>
              <a:t>                    //</a:t>
            </a:r>
            <a:r>
              <a:rPr lang="zh-CN" altLang="zh-CN" sz="1200" b="1" dirty="0">
                <a:solidFill>
                  <a:schemeClr val="tx1"/>
                </a:solidFill>
              </a:rPr>
              <a:t>给数据类型</a:t>
            </a:r>
            <a:r>
              <a:rPr lang="en-US" altLang="zh-CN" sz="1200" b="1" dirty="0">
                <a:solidFill>
                  <a:schemeClr val="tx1"/>
                </a:solidFill>
              </a:rPr>
              <a:t>signed </a:t>
            </a:r>
            <a:r>
              <a:rPr lang="en-US" altLang="zh-CN" sz="1200" b="1" dirty="0" err="1">
                <a:solidFill>
                  <a:schemeClr val="tx1"/>
                </a:solidFill>
              </a:rPr>
              <a:t>int</a:t>
            </a:r>
            <a:r>
              <a:rPr lang="zh-CN" altLang="zh-CN" sz="1200" b="1" dirty="0">
                <a:solidFill>
                  <a:schemeClr val="tx1"/>
                </a:solidFill>
              </a:rPr>
              <a:t>起个别名</a:t>
            </a:r>
            <a:r>
              <a:rPr lang="en-US" altLang="zh-CN" sz="1200" b="1" dirty="0" smtClean="0">
                <a:solidFill>
                  <a:schemeClr val="tx1"/>
                </a:solidFill>
              </a:rPr>
              <a:t>int32_t</a:t>
            </a:r>
            <a:endParaRPr lang="zh-CN" altLang="zh-CN" sz="1200" b="1" dirty="0">
              <a:solidFill>
                <a:schemeClr val="tx1"/>
              </a:solidFill>
            </a:endParaRPr>
          </a:p>
        </p:txBody>
      </p:sp>
      <p:sp>
        <p:nvSpPr>
          <p:cNvPr id="21" name="矩形 20"/>
          <p:cNvSpPr/>
          <p:nvPr/>
        </p:nvSpPr>
        <p:spPr>
          <a:xfrm>
            <a:off x="4860032" y="3147814"/>
            <a:ext cx="653114" cy="373307"/>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prstClr val="black"/>
                </a:solidFill>
              </a:rPr>
              <a:t>举例</a:t>
            </a:r>
            <a:r>
              <a:rPr lang="zh-CN" altLang="en-US" sz="1600" b="1" dirty="0" smtClean="0">
                <a:solidFill>
                  <a:prstClr val="black"/>
                </a:solidFill>
              </a:rPr>
              <a:t>：</a:t>
            </a:r>
            <a:endParaRPr lang="en-GB" altLang="zh-CN" sz="1600" b="1" dirty="0">
              <a:solidFill>
                <a:prstClr val="black"/>
              </a:solidFill>
            </a:endParaRPr>
          </a:p>
        </p:txBody>
      </p:sp>
      <p:sp>
        <p:nvSpPr>
          <p:cNvPr id="22" name="云形标注 21"/>
          <p:cNvSpPr/>
          <p:nvPr/>
        </p:nvSpPr>
        <p:spPr>
          <a:xfrm>
            <a:off x="5428274" y="603833"/>
            <a:ext cx="2808312" cy="718103"/>
          </a:xfrm>
          <a:prstGeom prst="cloudCallout">
            <a:avLst>
              <a:gd name="adj1" fmla="val -39511"/>
              <a:gd name="adj2" fmla="val 89152"/>
            </a:avLst>
          </a:prstGeom>
          <a:ln w="19050">
            <a:solidFill>
              <a:schemeClr val="accent4">
                <a:lumMod val="40000"/>
                <a:lumOff val="6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zh-CN" sz="1600" b="1" dirty="0">
                <a:solidFill>
                  <a:schemeClr val="bg1"/>
                </a:solidFill>
                <a:latin typeface="楷体" pitchFamily="49" charset="-122"/>
                <a:ea typeface="楷体" pitchFamily="49" charset="-122"/>
              </a:rPr>
              <a:t>为已知的数据类型起一个简单的别名</a:t>
            </a:r>
            <a:endParaRPr lang="zh-CN" altLang="en-US" sz="1600" b="1" dirty="0">
              <a:solidFill>
                <a:schemeClr val="bg1"/>
              </a:solidFill>
              <a:latin typeface="楷体" pitchFamily="49" charset="-122"/>
              <a:ea typeface="楷体" pitchFamily="49" charset="-122"/>
            </a:endParaRPr>
          </a:p>
        </p:txBody>
      </p:sp>
    </p:spTree>
    <p:extLst>
      <p:ext uri="{BB962C8B-B14F-4D97-AF65-F5344CB8AC3E}">
        <p14:creationId xmlns:p14="http://schemas.microsoft.com/office/powerpoint/2010/main" val="2835999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smtClean="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760846" y="2355726"/>
            <a:ext cx="3517852" cy="2308324"/>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err="1"/>
              <a:t>typedef</a:t>
            </a:r>
            <a:r>
              <a:rPr lang="en-US" altLang="zh-CN" sz="1600" b="1" dirty="0"/>
              <a:t> </a:t>
            </a:r>
            <a:r>
              <a:rPr lang="en-US" altLang="zh-CN" sz="1600" b="1" dirty="0" err="1"/>
              <a:t>struct</a:t>
            </a:r>
            <a:endParaRPr lang="en-US" altLang="zh-CN" sz="1600" b="1" dirty="0"/>
          </a:p>
          <a:p>
            <a:pPr>
              <a:lnSpc>
                <a:spcPct val="150000"/>
              </a:lnSpc>
            </a:pPr>
            <a:r>
              <a:rPr lang="en-US" altLang="zh-CN" sz="1600" b="1" dirty="0" smtClean="0"/>
              <a:t>{</a:t>
            </a:r>
          </a:p>
          <a:p>
            <a:pPr>
              <a:lnSpc>
                <a:spcPct val="150000"/>
              </a:lnSpc>
            </a:pPr>
            <a:r>
              <a:rPr lang="en-US" altLang="zh-CN" sz="1600" b="1" dirty="0"/>
              <a:t> </a:t>
            </a:r>
            <a:r>
              <a:rPr lang="en-US" altLang="zh-CN" sz="1600" b="1" dirty="0" smtClean="0"/>
              <a:t>     uint16_t  </a:t>
            </a:r>
            <a:r>
              <a:rPr lang="en-US" altLang="zh-CN" sz="1600" b="1" dirty="0" err="1"/>
              <a:t>GPIO_Pin</a:t>
            </a:r>
            <a:r>
              <a:rPr lang="en-US" altLang="zh-CN" sz="1600" b="1" dirty="0"/>
              <a:t>; </a:t>
            </a:r>
            <a:endParaRPr lang="en-US" altLang="zh-CN" sz="1600" b="1" dirty="0" smtClean="0"/>
          </a:p>
          <a:p>
            <a:pPr>
              <a:lnSpc>
                <a:spcPct val="150000"/>
              </a:lnSpc>
            </a:pPr>
            <a:r>
              <a:rPr lang="en-US" altLang="zh-CN" sz="1600" b="1" dirty="0"/>
              <a:t> </a:t>
            </a:r>
            <a:r>
              <a:rPr lang="en-US" altLang="zh-CN" sz="1600" b="1" dirty="0" smtClean="0"/>
              <a:t>     </a:t>
            </a:r>
            <a:r>
              <a:rPr lang="en-US" altLang="zh-CN" sz="1600" b="1" dirty="0" err="1" smtClean="0"/>
              <a:t>GPIOSpeed_TypeDef</a:t>
            </a:r>
            <a:r>
              <a:rPr lang="en-US" altLang="zh-CN" sz="1600" b="1" dirty="0" smtClean="0"/>
              <a:t>  </a:t>
            </a:r>
            <a:r>
              <a:rPr lang="en-US" altLang="zh-CN" sz="1600" b="1" dirty="0" err="1"/>
              <a:t>GPIO_Speed</a:t>
            </a:r>
            <a:r>
              <a:rPr lang="en-US" altLang="zh-CN" sz="1600" b="1" dirty="0" smtClean="0"/>
              <a:t>; </a:t>
            </a:r>
          </a:p>
          <a:p>
            <a:pPr>
              <a:lnSpc>
                <a:spcPct val="150000"/>
              </a:lnSpc>
            </a:pPr>
            <a:r>
              <a:rPr lang="en-US" altLang="zh-CN" sz="1600" b="1" dirty="0" smtClean="0"/>
              <a:t>     </a:t>
            </a:r>
            <a:r>
              <a:rPr lang="en-US" altLang="zh-CN" sz="1600" b="1" dirty="0" err="1" smtClean="0">
                <a:solidFill>
                  <a:srgbClr val="CD7371"/>
                </a:solidFill>
              </a:rPr>
              <a:t>GPIOMode_TypeDef</a:t>
            </a:r>
            <a:r>
              <a:rPr lang="en-US" altLang="zh-CN" sz="1600" b="1" dirty="0" smtClean="0">
                <a:solidFill>
                  <a:srgbClr val="CD7371"/>
                </a:solidFill>
              </a:rPr>
              <a:t>  </a:t>
            </a:r>
            <a:r>
              <a:rPr lang="en-US" altLang="zh-CN" sz="1600" b="1" dirty="0" err="1"/>
              <a:t>GPIO_Mode</a:t>
            </a:r>
            <a:r>
              <a:rPr lang="en-US" altLang="zh-CN" sz="1600" b="1" dirty="0"/>
              <a:t>;   </a:t>
            </a:r>
          </a:p>
          <a:p>
            <a:pPr>
              <a:lnSpc>
                <a:spcPct val="150000"/>
              </a:lnSpc>
            </a:pPr>
            <a:r>
              <a:rPr lang="en-US" altLang="zh-CN" sz="1600" b="1" dirty="0"/>
              <a:t>}</a:t>
            </a:r>
            <a:r>
              <a:rPr lang="en-US" altLang="zh-CN" sz="1600" b="1" dirty="0" err="1"/>
              <a:t>GPIO_InitTypeDef</a:t>
            </a:r>
            <a:r>
              <a:rPr lang="en-US" altLang="zh-CN" sz="1600" b="1" dirty="0"/>
              <a:t>;</a:t>
            </a:r>
          </a:p>
        </p:txBody>
      </p:sp>
      <p:sp>
        <p:nvSpPr>
          <p:cNvPr id="11" name="矩形 10"/>
          <p:cNvSpPr/>
          <p:nvPr/>
        </p:nvSpPr>
        <p:spPr>
          <a:xfrm>
            <a:off x="246241" y="1398411"/>
            <a:ext cx="4536504" cy="784830"/>
          </a:xfrm>
          <a:prstGeom prst="rect">
            <a:avLst/>
          </a:prstGeom>
          <a:noFill/>
          <a:ln>
            <a:noFill/>
          </a:ln>
        </p:spPr>
        <p:txBody>
          <a:bodyPr wrap="square">
            <a:spAutoFit/>
          </a:bodyPr>
          <a:lstStyle/>
          <a:p>
            <a:pPr lvl="0">
              <a:lnSpc>
                <a:spcPct val="125000"/>
              </a:lnSpc>
            </a:pPr>
            <a:r>
              <a:rPr lang="en-US" altLang="zh-CN" b="1" dirty="0">
                <a:solidFill>
                  <a:prstClr val="black"/>
                </a:solidFill>
              </a:rPr>
              <a:t>      STM32</a:t>
            </a:r>
            <a:r>
              <a:rPr lang="zh-CN" altLang="en-US" b="1" dirty="0">
                <a:solidFill>
                  <a:prstClr val="black"/>
                </a:solidFill>
              </a:rPr>
              <a:t>标准外设库中</a:t>
            </a:r>
            <a:r>
              <a:rPr lang="en-US" altLang="zh-CN" b="1" dirty="0">
                <a:solidFill>
                  <a:prstClr val="black"/>
                </a:solidFill>
              </a:rPr>
              <a:t>stm32f10x_gpio.h</a:t>
            </a:r>
            <a:r>
              <a:rPr lang="zh-CN" altLang="en-US" b="1" dirty="0">
                <a:solidFill>
                  <a:prstClr val="black"/>
                </a:solidFill>
              </a:rPr>
              <a:t>头文件</a:t>
            </a:r>
            <a:r>
              <a:rPr lang="zh-CN" altLang="en-US" b="1" dirty="0" smtClean="0">
                <a:solidFill>
                  <a:prstClr val="black"/>
                </a:solidFill>
              </a:rPr>
              <a:t>中利用结构体</a:t>
            </a:r>
            <a:r>
              <a:rPr lang="zh-CN" altLang="en-US" b="1" dirty="0">
                <a:solidFill>
                  <a:prstClr val="black"/>
                </a:solidFill>
              </a:rPr>
              <a:t>别名</a:t>
            </a:r>
            <a:r>
              <a:rPr lang="en-US" altLang="zh-CN" b="1" dirty="0" err="1">
                <a:solidFill>
                  <a:prstClr val="black"/>
                </a:solidFill>
              </a:rPr>
              <a:t>GPIO_InitTypeDef</a:t>
            </a:r>
            <a:endParaRPr lang="zh-CN" altLang="en-US" b="1" dirty="0">
              <a:solidFill>
                <a:prstClr val="black"/>
              </a:solidFill>
            </a:endParaRPr>
          </a:p>
        </p:txBody>
      </p:sp>
      <p:sp>
        <p:nvSpPr>
          <p:cNvPr id="8" name="圆角矩形标注 7"/>
          <p:cNvSpPr/>
          <p:nvPr/>
        </p:nvSpPr>
        <p:spPr>
          <a:xfrm flipH="1">
            <a:off x="4540809" y="4011801"/>
            <a:ext cx="3744416" cy="755391"/>
          </a:xfrm>
          <a:prstGeom prst="wedgeRoundRectCallout">
            <a:avLst>
              <a:gd name="adj1" fmla="val 100428"/>
              <a:gd name="adj2" fmla="val 15193"/>
              <a:gd name="adj3" fmla="val 16667"/>
            </a:avLst>
          </a:prstGeom>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0">
              <a:lnSpc>
                <a:spcPct val="150000"/>
              </a:lnSpc>
            </a:pPr>
            <a:r>
              <a:rPr lang="zh-CN" altLang="zh-CN" sz="1600" b="1" dirty="0"/>
              <a:t>使用</a:t>
            </a:r>
            <a:r>
              <a:rPr lang="en-US" altLang="zh-CN" sz="1600" b="1" dirty="0" err="1"/>
              <a:t>typedef</a:t>
            </a:r>
            <a:r>
              <a:rPr lang="zh-CN" altLang="zh-CN" sz="1600" b="1" dirty="0"/>
              <a:t>为这个新建的结构体起了一个新的名字叫</a:t>
            </a:r>
            <a:r>
              <a:rPr lang="en-US" altLang="zh-CN" sz="1600" b="1" dirty="0" err="1"/>
              <a:t>GPIO_InitTypeDef</a:t>
            </a:r>
            <a:endParaRPr lang="zh-CN" altLang="en-US" sz="1600" b="1" dirty="0">
              <a:solidFill>
                <a:prstClr val="black"/>
              </a:solidFill>
            </a:endParaRPr>
          </a:p>
        </p:txBody>
      </p:sp>
      <p:sp>
        <p:nvSpPr>
          <p:cNvPr id="6" name="矩形 5"/>
          <p:cNvSpPr/>
          <p:nvPr/>
        </p:nvSpPr>
        <p:spPr>
          <a:xfrm>
            <a:off x="5161384" y="829425"/>
            <a:ext cx="3384376" cy="1015663"/>
          </a:xfrm>
          <a:prstGeom prst="rect">
            <a:avLst/>
          </a:prstGeom>
        </p:spPr>
        <p:txBody>
          <a:bodyPr wrap="square">
            <a:spAutoFit/>
          </a:bodyPr>
          <a:lstStyle/>
          <a:p>
            <a:pPr>
              <a:lnSpc>
                <a:spcPct val="125000"/>
              </a:lnSpc>
            </a:pPr>
            <a:r>
              <a:rPr lang="zh-CN" altLang="en-US" sz="1600" b="1" dirty="0" smtClean="0">
                <a:solidFill>
                  <a:prstClr val="black"/>
                </a:solidFill>
              </a:rPr>
              <a:t>     则</a:t>
            </a:r>
            <a:r>
              <a:rPr lang="zh-CN" altLang="zh-CN" sz="1600" b="1" dirty="0" smtClean="0">
                <a:solidFill>
                  <a:prstClr val="black"/>
                </a:solidFill>
              </a:rPr>
              <a:t>可以</a:t>
            </a:r>
            <a:r>
              <a:rPr lang="zh-CN" altLang="zh-CN" sz="1600" b="1" dirty="0">
                <a:solidFill>
                  <a:prstClr val="black"/>
                </a:solidFill>
              </a:rPr>
              <a:t>使用</a:t>
            </a:r>
            <a:r>
              <a:rPr lang="en-US" altLang="zh-CN" sz="1600" b="1" dirty="0" err="1">
                <a:solidFill>
                  <a:prstClr val="black"/>
                </a:solidFill>
              </a:rPr>
              <a:t>GPIO_InitTypeDef</a:t>
            </a:r>
            <a:r>
              <a:rPr lang="zh-CN" altLang="zh-CN" sz="1600" b="1" dirty="0">
                <a:solidFill>
                  <a:prstClr val="black"/>
                </a:solidFill>
              </a:rPr>
              <a:t>定义一个变量</a:t>
            </a:r>
            <a:r>
              <a:rPr lang="en-US" altLang="zh-CN" sz="1600" b="1" dirty="0" err="1">
                <a:solidFill>
                  <a:prstClr val="black"/>
                </a:solidFill>
              </a:rPr>
              <a:t>GPIO_InitStructure</a:t>
            </a:r>
            <a:r>
              <a:rPr lang="zh-CN" altLang="zh-CN" sz="1600" b="1" dirty="0">
                <a:solidFill>
                  <a:prstClr val="black"/>
                </a:solidFill>
              </a:rPr>
              <a:t>，从而调用</a:t>
            </a:r>
            <a:r>
              <a:rPr lang="en-US" altLang="zh-CN" sz="1600" b="1" dirty="0" err="1" smtClean="0">
                <a:solidFill>
                  <a:prstClr val="black"/>
                </a:solidFill>
              </a:rPr>
              <a:t>GPIO_Mode</a:t>
            </a:r>
            <a:r>
              <a:rPr lang="zh-CN" altLang="en-US" sz="1600" b="1" dirty="0" smtClean="0">
                <a:solidFill>
                  <a:prstClr val="black"/>
                </a:solidFill>
              </a:rPr>
              <a:t>。</a:t>
            </a:r>
            <a:endParaRPr lang="zh-CN" altLang="en-US" sz="1600" b="1" dirty="0">
              <a:solidFill>
                <a:prstClr val="black"/>
              </a:solidFill>
            </a:endParaRPr>
          </a:p>
        </p:txBody>
      </p:sp>
      <p:sp>
        <p:nvSpPr>
          <p:cNvPr id="9" name="矩形 8"/>
          <p:cNvSpPr/>
          <p:nvPr/>
        </p:nvSpPr>
        <p:spPr>
          <a:xfrm>
            <a:off x="5081326" y="2214614"/>
            <a:ext cx="3811154" cy="1200329"/>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err="1"/>
              <a:t>GPIO_InitTypeDef</a:t>
            </a:r>
            <a:r>
              <a:rPr lang="en-US" altLang="zh-CN" sz="1600" b="1" dirty="0"/>
              <a:t>  </a:t>
            </a:r>
            <a:r>
              <a:rPr lang="en-US" altLang="zh-CN" sz="1600" b="1" dirty="0" err="1"/>
              <a:t>GPIO_InitStructure</a:t>
            </a:r>
            <a:r>
              <a:rPr lang="en-US" altLang="zh-CN" sz="1600" b="1" dirty="0"/>
              <a:t>;</a:t>
            </a:r>
          </a:p>
          <a:p>
            <a:pPr>
              <a:lnSpc>
                <a:spcPct val="150000"/>
              </a:lnSpc>
            </a:pPr>
            <a:r>
              <a:rPr lang="en-US" altLang="zh-CN" sz="1600" b="1" dirty="0" err="1"/>
              <a:t>GPIO_InitStructure.</a:t>
            </a:r>
            <a:r>
              <a:rPr lang="en-US" altLang="zh-CN" sz="1600" b="1" dirty="0" err="1">
                <a:solidFill>
                  <a:srgbClr val="CD7371"/>
                </a:solidFill>
              </a:rPr>
              <a:t>GPIO_Mode</a:t>
            </a:r>
            <a:r>
              <a:rPr lang="en-US" altLang="zh-CN" sz="1600" b="1" dirty="0">
                <a:solidFill>
                  <a:srgbClr val="CD7371"/>
                </a:solidFill>
              </a:rPr>
              <a:t> </a:t>
            </a:r>
            <a:r>
              <a:rPr lang="en-US" altLang="zh-CN" sz="1600" b="1" dirty="0"/>
              <a:t>= </a:t>
            </a:r>
            <a:r>
              <a:rPr lang="en-US" altLang="zh-CN" sz="1600" b="1" dirty="0" err="1"/>
              <a:t>GPIO_Mode_Out_PP</a:t>
            </a:r>
            <a:r>
              <a:rPr lang="en-US" altLang="zh-CN" sz="1600" b="1" dirty="0"/>
              <a:t>;</a:t>
            </a:r>
          </a:p>
        </p:txBody>
      </p:sp>
      <p:sp>
        <p:nvSpPr>
          <p:cNvPr id="7" name="矩形 6"/>
          <p:cNvSpPr/>
          <p:nvPr/>
        </p:nvSpPr>
        <p:spPr>
          <a:xfrm>
            <a:off x="323528" y="987926"/>
            <a:ext cx="3894336" cy="400110"/>
          </a:xfrm>
          <a:prstGeom prst="rect">
            <a:avLst/>
          </a:prstGeom>
        </p:spPr>
        <p:txBody>
          <a:bodyPr wrap="none">
            <a:spAutoFit/>
          </a:bodyPr>
          <a:lstStyle/>
          <a:p>
            <a:r>
              <a:rPr lang="zh-CN" altLang="en-US" sz="2000" b="1" dirty="0">
                <a:solidFill>
                  <a:srgbClr val="CD7371"/>
                </a:solidFill>
                <a:latin typeface="隶书" pitchFamily="49" charset="-122"/>
                <a:ea typeface="隶书" pitchFamily="49" charset="-122"/>
              </a:rPr>
              <a:t>用法二</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与结构体</a:t>
            </a:r>
            <a:r>
              <a:rPr lang="en-US" altLang="zh-CN" sz="2000" b="1" dirty="0" err="1">
                <a:solidFill>
                  <a:schemeClr val="accent5">
                    <a:lumMod val="50000"/>
                  </a:schemeClr>
                </a:solidFill>
                <a:ea typeface="隶书" pitchFamily="49" charset="-122"/>
              </a:rPr>
              <a:t>struct</a:t>
            </a:r>
            <a:r>
              <a:rPr lang="zh-CN" altLang="en-US" sz="2000" b="1" dirty="0">
                <a:solidFill>
                  <a:schemeClr val="accent5">
                    <a:lumMod val="50000"/>
                  </a:schemeClr>
                </a:solidFill>
                <a:latin typeface="隶书" pitchFamily="49" charset="-122"/>
                <a:ea typeface="隶书" pitchFamily="49" charset="-122"/>
              </a:rPr>
              <a:t>结合使用</a:t>
            </a:r>
          </a:p>
        </p:txBody>
      </p:sp>
    </p:spTree>
    <p:extLst>
      <p:ext uri="{BB962C8B-B14F-4D97-AF65-F5344CB8AC3E}">
        <p14:creationId xmlns:p14="http://schemas.microsoft.com/office/powerpoint/2010/main" val="39928778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942519" cy="461665"/>
          </a:xfrm>
          <a:prstGeom prst="rect">
            <a:avLst/>
          </a:prstGeom>
        </p:spPr>
        <p:txBody>
          <a:bodyPr wrap="none">
            <a:spAutoFit/>
          </a:bodyPr>
          <a:lstStyle/>
          <a:p>
            <a:r>
              <a:rPr lang="en-US" altLang="zh-CN" sz="2400" b="1" dirty="0" smtClean="0">
                <a:solidFill>
                  <a:schemeClr val="bg1"/>
                </a:solidFill>
              </a:rPr>
              <a:t>4.2.8  </a:t>
            </a:r>
            <a:r>
              <a:rPr lang="en-US" altLang="zh-CN" sz="2400" b="1" dirty="0" err="1">
                <a:solidFill>
                  <a:schemeClr val="bg1"/>
                </a:solidFill>
              </a:rPr>
              <a:t>typedef</a:t>
            </a:r>
            <a:endParaRPr lang="zh-CN" altLang="zh-CN" sz="2400" b="1" dirty="0">
              <a:solidFill>
                <a:schemeClr val="bg1"/>
              </a:solidFill>
            </a:endParaRPr>
          </a:p>
        </p:txBody>
      </p:sp>
      <p:sp>
        <p:nvSpPr>
          <p:cNvPr id="3" name="矩形 2"/>
          <p:cNvSpPr/>
          <p:nvPr/>
        </p:nvSpPr>
        <p:spPr>
          <a:xfrm>
            <a:off x="622100" y="1622286"/>
            <a:ext cx="3517852" cy="2677656"/>
          </a:xfrm>
          <a:prstGeom prst="rect">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600" b="1" dirty="0"/>
              <a:t>stm32f10x_gpio.h</a:t>
            </a:r>
            <a:r>
              <a:rPr lang="zh-CN" altLang="en-US" sz="1600" b="1" dirty="0"/>
              <a:t>头文件中的代码。</a:t>
            </a:r>
          </a:p>
          <a:p>
            <a:pPr lvl="1">
              <a:lnSpc>
                <a:spcPct val="150000"/>
              </a:lnSpc>
            </a:pPr>
            <a:r>
              <a:rPr lang="en-US" altLang="zh-CN" sz="1600" b="1" dirty="0" err="1" smtClean="0"/>
              <a:t>typedef</a:t>
            </a:r>
            <a:r>
              <a:rPr lang="en-US" altLang="zh-CN" sz="1600" b="1" dirty="0" smtClean="0"/>
              <a:t>  </a:t>
            </a:r>
            <a:r>
              <a:rPr lang="en-US" altLang="zh-CN" sz="1600" b="1" dirty="0" err="1"/>
              <a:t>enum</a:t>
            </a:r>
            <a:endParaRPr lang="en-US" altLang="zh-CN" sz="1600" b="1" dirty="0"/>
          </a:p>
          <a:p>
            <a:pPr lvl="1">
              <a:lnSpc>
                <a:spcPct val="150000"/>
              </a:lnSpc>
            </a:pPr>
            <a:r>
              <a:rPr lang="en-US" altLang="zh-CN" sz="1600" b="1" dirty="0"/>
              <a:t>{ </a:t>
            </a:r>
          </a:p>
          <a:p>
            <a:pPr lvl="1">
              <a:lnSpc>
                <a:spcPct val="150000"/>
              </a:lnSpc>
            </a:pPr>
            <a:r>
              <a:rPr lang="en-US" altLang="zh-CN" sz="1600" b="1" dirty="0"/>
              <a:t>	GPIO_Speed_10MHz = 1,</a:t>
            </a:r>
          </a:p>
          <a:p>
            <a:pPr lvl="1">
              <a:lnSpc>
                <a:spcPct val="150000"/>
              </a:lnSpc>
            </a:pPr>
            <a:r>
              <a:rPr lang="en-US" altLang="zh-CN" sz="1600" b="1" dirty="0"/>
              <a:t>	GPIO_Speed_2MHz, </a:t>
            </a:r>
          </a:p>
          <a:p>
            <a:pPr lvl="1">
              <a:lnSpc>
                <a:spcPct val="150000"/>
              </a:lnSpc>
            </a:pPr>
            <a:r>
              <a:rPr lang="en-US" altLang="zh-CN" sz="1600" b="1" dirty="0"/>
              <a:t>	GPIO_Speed_50MHz</a:t>
            </a:r>
          </a:p>
          <a:p>
            <a:pPr lvl="1">
              <a:lnSpc>
                <a:spcPct val="150000"/>
              </a:lnSpc>
            </a:pPr>
            <a:r>
              <a:rPr lang="en-US" altLang="zh-CN" sz="1600" b="1" dirty="0"/>
              <a:t>}</a:t>
            </a:r>
            <a:r>
              <a:rPr lang="en-US" altLang="zh-CN" sz="1600" b="1" dirty="0" err="1"/>
              <a:t>GPIOSpeed_TypeDef</a:t>
            </a:r>
            <a:r>
              <a:rPr lang="en-US" altLang="zh-CN" sz="1600" b="1" dirty="0"/>
              <a:t>;</a:t>
            </a:r>
          </a:p>
        </p:txBody>
      </p:sp>
      <p:sp>
        <p:nvSpPr>
          <p:cNvPr id="6" name="矩形 5"/>
          <p:cNvSpPr/>
          <p:nvPr/>
        </p:nvSpPr>
        <p:spPr>
          <a:xfrm>
            <a:off x="4594925" y="1131590"/>
            <a:ext cx="3918498" cy="1361911"/>
          </a:xfrm>
          <a:prstGeom prst="rect">
            <a:avLst/>
          </a:prstGeom>
          <a:solidFill>
            <a:schemeClr val="accent3">
              <a:lumMod val="20000"/>
              <a:lumOff val="80000"/>
            </a:schemeClr>
          </a:solidFill>
        </p:spPr>
        <p:txBody>
          <a:bodyPr wrap="square">
            <a:spAutoFit/>
          </a:bodyPr>
          <a:lstStyle/>
          <a:p>
            <a:pPr>
              <a:lnSpc>
                <a:spcPct val="125000"/>
              </a:lnSpc>
            </a:pPr>
            <a:r>
              <a:rPr lang="zh-CN" altLang="en-US" sz="1600" b="1" dirty="0" smtClean="0">
                <a:solidFill>
                  <a:prstClr val="black"/>
                </a:solidFill>
              </a:rPr>
              <a:t> </a:t>
            </a:r>
            <a:r>
              <a:rPr lang="zh-CN" altLang="en-US" b="1" dirty="0" smtClean="0">
                <a:solidFill>
                  <a:srgbClr val="CD7371"/>
                </a:solidFill>
                <a:latin typeface="隶书" pitchFamily="49" charset="-122"/>
                <a:ea typeface="隶书" pitchFamily="49" charset="-122"/>
              </a:rPr>
              <a:t>解析</a:t>
            </a:r>
            <a:r>
              <a:rPr lang="en-US" altLang="zh-CN" b="1" dirty="0" smtClean="0">
                <a:solidFill>
                  <a:srgbClr val="CD7371"/>
                </a:solidFill>
                <a:latin typeface="+mj-lt"/>
                <a:ea typeface="隶书" pitchFamily="49" charset="-122"/>
              </a:rPr>
              <a:t>1</a:t>
            </a:r>
            <a:r>
              <a:rPr lang="zh-CN" altLang="en-US" b="1" dirty="0" smtClean="0">
                <a:solidFill>
                  <a:srgbClr val="CD7371"/>
                </a:solidFill>
                <a:latin typeface="隶书" pitchFamily="49" charset="-122"/>
                <a:ea typeface="隶书" pitchFamily="49" charset="-122"/>
              </a:rPr>
              <a:t>：</a:t>
            </a:r>
            <a:r>
              <a:rPr lang="zh-CN" altLang="en-US" sz="1600" b="1" dirty="0" smtClean="0">
                <a:solidFill>
                  <a:prstClr val="black"/>
                </a:solidFill>
              </a:rPr>
              <a:t>利用</a:t>
            </a:r>
            <a:r>
              <a:rPr lang="en-US" altLang="zh-CN" sz="1600" b="1" dirty="0" err="1">
                <a:solidFill>
                  <a:prstClr val="black"/>
                </a:solidFill>
              </a:rPr>
              <a:t>typedef</a:t>
            </a:r>
            <a:r>
              <a:rPr lang="zh-CN" altLang="en-US" sz="1600" b="1" dirty="0">
                <a:solidFill>
                  <a:prstClr val="black"/>
                </a:solidFill>
              </a:rPr>
              <a:t>关键字将此枚举类型定义一个别名</a:t>
            </a:r>
            <a:r>
              <a:rPr lang="en-US" altLang="zh-CN" sz="1600" b="1" dirty="0" err="1">
                <a:solidFill>
                  <a:prstClr val="black"/>
                </a:solidFill>
              </a:rPr>
              <a:t>GPIOSpeed_TypeDef</a:t>
            </a:r>
            <a:r>
              <a:rPr lang="zh-CN" altLang="en-US" sz="1600" b="1" dirty="0">
                <a:solidFill>
                  <a:prstClr val="black"/>
                </a:solidFill>
              </a:rPr>
              <a:t>，这里省略</a:t>
            </a:r>
            <a:r>
              <a:rPr lang="zh-CN" altLang="en-US" sz="1600" b="1" dirty="0" smtClean="0">
                <a:solidFill>
                  <a:prstClr val="black"/>
                </a:solidFill>
              </a:rPr>
              <a:t>了枚举</a:t>
            </a:r>
            <a:r>
              <a:rPr lang="zh-CN" altLang="en-US" sz="1600" b="1" dirty="0">
                <a:solidFill>
                  <a:prstClr val="black"/>
                </a:solidFill>
              </a:rPr>
              <a:t>类型的枚举</a:t>
            </a:r>
            <a:r>
              <a:rPr lang="zh-CN" altLang="en-US" sz="1600" b="1" dirty="0" smtClean="0">
                <a:solidFill>
                  <a:prstClr val="black"/>
                </a:solidFill>
              </a:rPr>
              <a:t>名，</a:t>
            </a:r>
            <a:r>
              <a:rPr lang="zh-CN" altLang="en-US" sz="1600" b="1" dirty="0">
                <a:solidFill>
                  <a:prstClr val="black"/>
                </a:solidFill>
              </a:rPr>
              <a:t>只用</a:t>
            </a:r>
            <a:r>
              <a:rPr lang="en-US" altLang="zh-CN" sz="1600" b="1" dirty="0" err="1">
                <a:solidFill>
                  <a:prstClr val="black"/>
                </a:solidFill>
              </a:rPr>
              <a:t>typedef</a:t>
            </a:r>
            <a:r>
              <a:rPr lang="zh-CN" altLang="en-US" sz="1600" b="1" dirty="0">
                <a:solidFill>
                  <a:prstClr val="black"/>
                </a:solidFill>
              </a:rPr>
              <a:t>起了个别名。</a:t>
            </a:r>
          </a:p>
        </p:txBody>
      </p:sp>
      <p:sp>
        <p:nvSpPr>
          <p:cNvPr id="13" name="矩形 12"/>
          <p:cNvSpPr/>
          <p:nvPr/>
        </p:nvSpPr>
        <p:spPr>
          <a:xfrm>
            <a:off x="580105" y="1010698"/>
            <a:ext cx="3121367" cy="400110"/>
          </a:xfrm>
          <a:prstGeom prst="rect">
            <a:avLst/>
          </a:prstGeom>
        </p:spPr>
        <p:txBody>
          <a:bodyPr wrap="none">
            <a:spAutoFit/>
          </a:bodyPr>
          <a:lstStyle/>
          <a:p>
            <a:r>
              <a:rPr lang="zh-CN" altLang="en-US" sz="2000" b="1" dirty="0" smtClean="0">
                <a:solidFill>
                  <a:srgbClr val="CD7371"/>
                </a:solidFill>
                <a:latin typeface="隶书" pitchFamily="49" charset="-122"/>
                <a:ea typeface="隶书" pitchFamily="49" charset="-122"/>
              </a:rPr>
              <a:t>用法三</a:t>
            </a:r>
            <a:r>
              <a:rPr lang="zh-CN" altLang="en-US" b="1" dirty="0">
                <a:solidFill>
                  <a:srgbClr val="CD7371"/>
                </a:solidFill>
                <a:latin typeface="+mn-ea"/>
              </a:rPr>
              <a:t>：</a:t>
            </a:r>
            <a:r>
              <a:rPr lang="zh-CN" altLang="en-US" sz="2000" b="1" dirty="0" smtClean="0">
                <a:solidFill>
                  <a:schemeClr val="accent5">
                    <a:lumMod val="50000"/>
                  </a:schemeClr>
                </a:solidFill>
                <a:latin typeface="隶书" pitchFamily="49" charset="-122"/>
                <a:ea typeface="隶书" pitchFamily="49" charset="-122"/>
              </a:rPr>
              <a:t>与</a:t>
            </a:r>
            <a:r>
              <a:rPr lang="en-US" altLang="zh-CN" sz="2000" b="1" dirty="0" err="1">
                <a:solidFill>
                  <a:schemeClr val="accent5">
                    <a:lumMod val="50000"/>
                  </a:schemeClr>
                </a:solidFill>
                <a:ea typeface="隶书" pitchFamily="49" charset="-122"/>
              </a:rPr>
              <a:t>enum</a:t>
            </a:r>
            <a:r>
              <a:rPr lang="zh-CN" altLang="en-US" sz="2000" b="1" dirty="0">
                <a:solidFill>
                  <a:schemeClr val="accent5">
                    <a:lumMod val="50000"/>
                  </a:schemeClr>
                </a:solidFill>
                <a:latin typeface="隶书" pitchFamily="49" charset="-122"/>
                <a:ea typeface="隶书" pitchFamily="49" charset="-122"/>
              </a:rPr>
              <a:t>结合使用</a:t>
            </a:r>
          </a:p>
        </p:txBody>
      </p:sp>
      <p:sp>
        <p:nvSpPr>
          <p:cNvPr id="14" name="矩形 13"/>
          <p:cNvSpPr/>
          <p:nvPr/>
        </p:nvSpPr>
        <p:spPr>
          <a:xfrm>
            <a:off x="4594925" y="2585805"/>
            <a:ext cx="3918498" cy="1669688"/>
          </a:xfrm>
          <a:prstGeom prst="rect">
            <a:avLst/>
          </a:prstGeom>
          <a:solidFill>
            <a:schemeClr val="accent3">
              <a:lumMod val="20000"/>
              <a:lumOff val="80000"/>
            </a:schemeClr>
          </a:solidFill>
        </p:spPr>
        <p:txBody>
          <a:bodyPr wrap="square">
            <a:spAutoFit/>
          </a:bodyPr>
          <a:lstStyle/>
          <a:p>
            <a:pPr>
              <a:lnSpc>
                <a:spcPct val="125000"/>
              </a:lnSpc>
            </a:pPr>
            <a:r>
              <a:rPr lang="zh-CN" altLang="en-US" b="1" dirty="0" smtClean="0">
                <a:solidFill>
                  <a:srgbClr val="CD7371"/>
                </a:solidFill>
                <a:latin typeface="隶书" pitchFamily="49" charset="-122"/>
                <a:ea typeface="隶书" pitchFamily="49" charset="-122"/>
              </a:rPr>
              <a:t>解析</a:t>
            </a:r>
            <a:r>
              <a:rPr lang="en-US" altLang="zh-CN" b="1" dirty="0" smtClean="0">
                <a:solidFill>
                  <a:srgbClr val="CD7371"/>
                </a:solidFill>
                <a:ea typeface="隶书" pitchFamily="49" charset="-122"/>
              </a:rPr>
              <a:t>2</a:t>
            </a:r>
            <a:r>
              <a:rPr lang="zh-CN" altLang="en-US" b="1" dirty="0" smtClean="0">
                <a:solidFill>
                  <a:srgbClr val="CD7371"/>
                </a:solidFill>
                <a:latin typeface="隶书" pitchFamily="49" charset="-122"/>
                <a:ea typeface="隶书" pitchFamily="49" charset="-122"/>
              </a:rPr>
              <a:t>： </a:t>
            </a:r>
            <a:r>
              <a:rPr lang="en-US" altLang="zh-CN" sz="1600" b="1" dirty="0" err="1">
                <a:solidFill>
                  <a:prstClr val="black"/>
                </a:solidFill>
              </a:rPr>
              <a:t>enum</a:t>
            </a:r>
            <a:r>
              <a:rPr lang="zh-CN" altLang="zh-CN" sz="1600" b="1" dirty="0">
                <a:solidFill>
                  <a:prstClr val="black"/>
                </a:solidFill>
              </a:rPr>
              <a:t>枚举类型共三个</a:t>
            </a:r>
            <a:r>
              <a:rPr lang="zh-CN" altLang="zh-CN" sz="1600" b="1" dirty="0" smtClean="0">
                <a:solidFill>
                  <a:prstClr val="black"/>
                </a:solidFill>
              </a:rPr>
              <a:t>成员</a:t>
            </a:r>
            <a:r>
              <a:rPr lang="zh-CN" altLang="en-US" sz="1600" b="1" dirty="0" smtClean="0">
                <a:solidFill>
                  <a:prstClr val="black"/>
                </a:solidFill>
              </a:rPr>
              <a:t>，</a:t>
            </a:r>
            <a:r>
              <a:rPr lang="zh-CN" altLang="zh-CN" sz="1600" b="1" dirty="0" smtClean="0">
                <a:solidFill>
                  <a:prstClr val="black"/>
                </a:solidFill>
              </a:rPr>
              <a:t>并</a:t>
            </a:r>
            <a:r>
              <a:rPr lang="zh-CN" altLang="zh-CN" sz="1600" b="1" dirty="0">
                <a:solidFill>
                  <a:prstClr val="black"/>
                </a:solidFill>
              </a:rPr>
              <a:t>将第一个枚举成员</a:t>
            </a:r>
            <a:r>
              <a:rPr lang="en-US" altLang="zh-CN" sz="1600" b="1" dirty="0">
                <a:solidFill>
                  <a:prstClr val="black"/>
                </a:solidFill>
              </a:rPr>
              <a:t>GPIO_Speed_10MHz</a:t>
            </a:r>
            <a:r>
              <a:rPr lang="zh-CN" altLang="zh-CN" sz="1600" b="1" dirty="0">
                <a:solidFill>
                  <a:prstClr val="black"/>
                </a:solidFill>
              </a:rPr>
              <a:t>赋值为</a:t>
            </a:r>
            <a:r>
              <a:rPr lang="en-US" altLang="zh-CN" sz="1600" b="1" dirty="0">
                <a:solidFill>
                  <a:prstClr val="black"/>
                </a:solidFill>
              </a:rPr>
              <a:t>1</a:t>
            </a:r>
            <a:r>
              <a:rPr lang="zh-CN" altLang="zh-CN" sz="1600" b="1" dirty="0">
                <a:solidFill>
                  <a:prstClr val="black"/>
                </a:solidFill>
              </a:rPr>
              <a:t>，</a:t>
            </a:r>
            <a:r>
              <a:rPr lang="en-US" altLang="zh-CN" sz="1600" b="1" dirty="0" err="1">
                <a:solidFill>
                  <a:prstClr val="black"/>
                </a:solidFill>
              </a:rPr>
              <a:t>enum</a:t>
            </a:r>
            <a:r>
              <a:rPr lang="zh-CN" altLang="zh-CN" sz="1600" b="1" dirty="0">
                <a:solidFill>
                  <a:prstClr val="black"/>
                </a:solidFill>
              </a:rPr>
              <a:t>枚举类型会将枚举成员的赋值在第一个枚举成员赋值的基础上加</a:t>
            </a:r>
            <a:r>
              <a:rPr lang="en-US" altLang="zh-CN" sz="1600" b="1" dirty="0">
                <a:solidFill>
                  <a:prstClr val="black"/>
                </a:solidFill>
              </a:rPr>
              <a:t>1</a:t>
            </a:r>
            <a:r>
              <a:rPr lang="zh-CN" altLang="zh-CN" sz="1600" b="1" dirty="0">
                <a:solidFill>
                  <a:prstClr val="black"/>
                </a:solidFill>
              </a:rPr>
              <a:t>，因此，</a:t>
            </a:r>
            <a:r>
              <a:rPr lang="en-US" altLang="zh-CN" sz="1600" b="1" dirty="0">
                <a:solidFill>
                  <a:prstClr val="black"/>
                </a:solidFill>
              </a:rPr>
              <a:t>GPIO_Speed_2MHz</a:t>
            </a:r>
            <a:r>
              <a:rPr lang="zh-CN" altLang="zh-CN" sz="1600" b="1" dirty="0">
                <a:solidFill>
                  <a:prstClr val="black"/>
                </a:solidFill>
              </a:rPr>
              <a:t>默认值为</a:t>
            </a:r>
            <a:r>
              <a:rPr lang="en-US" altLang="zh-CN" sz="1600" b="1" dirty="0" smtClean="0">
                <a:solidFill>
                  <a:prstClr val="black"/>
                </a:solidFill>
              </a:rPr>
              <a:t>2</a:t>
            </a:r>
            <a:r>
              <a:rPr lang="zh-CN" altLang="zh-CN" sz="1600" b="1" dirty="0" smtClean="0">
                <a:solidFill>
                  <a:prstClr val="black"/>
                </a:solidFill>
              </a:rPr>
              <a:t>。</a:t>
            </a:r>
            <a:endParaRPr lang="zh-CN" altLang="en-US" sz="1600" b="1" dirty="0">
              <a:solidFill>
                <a:prstClr val="black"/>
              </a:solidFill>
            </a:endParaRPr>
          </a:p>
        </p:txBody>
      </p:sp>
    </p:spTree>
    <p:extLst>
      <p:ext uri="{BB962C8B-B14F-4D97-AF65-F5344CB8AC3E}">
        <p14:creationId xmlns:p14="http://schemas.microsoft.com/office/powerpoint/2010/main" val="3419043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a:grpSpLocks noChangeAspect="1"/>
          </p:cNvGrpSpPr>
          <p:nvPr/>
        </p:nvGrpSpPr>
        <p:grpSpPr>
          <a:xfrm>
            <a:off x="3442406" y="1613162"/>
            <a:ext cx="2236259" cy="2236257"/>
            <a:chOff x="4333877" y="1890716"/>
            <a:chExt cx="3536950" cy="3536947"/>
          </a:xfrm>
        </p:grpSpPr>
        <p:sp>
          <p:nvSpPr>
            <p:cNvPr id="10" name="箭头1"/>
            <p:cNvSpPr>
              <a:spLocks noChangeAspect="1"/>
            </p:cNvSpPr>
            <p:nvPr/>
          </p:nvSpPr>
          <p:spPr bwMode="auto">
            <a:xfrm>
              <a:off x="6130927" y="1890716"/>
              <a:ext cx="1739900" cy="2003425"/>
            </a:xfrm>
            <a:custGeom>
              <a:avLst/>
              <a:gdLst>
                <a:gd name="T0" fmla="*/ 66738974 w 1260"/>
                <a:gd name="T1" fmla="*/ 1906775 h 1451"/>
                <a:gd name="T2" fmla="*/ 190680612 w 1260"/>
                <a:gd name="T3" fmla="*/ 11437886 h 1451"/>
                <a:gd name="T4" fmla="*/ 308902675 w 1260"/>
                <a:gd name="T5" fmla="*/ 24782547 h 1451"/>
                <a:gd name="T6" fmla="*/ 429031723 w 1260"/>
                <a:gd name="T7" fmla="*/ 43847531 h 1451"/>
                <a:gd name="T8" fmla="*/ 543441195 w 1260"/>
                <a:gd name="T9" fmla="*/ 70536852 h 1451"/>
                <a:gd name="T10" fmla="*/ 657849286 w 1260"/>
                <a:gd name="T11" fmla="*/ 101038342 h 1451"/>
                <a:gd name="T12" fmla="*/ 770351772 w 1260"/>
                <a:gd name="T13" fmla="*/ 137260156 h 1451"/>
                <a:gd name="T14" fmla="*/ 879038906 w 1260"/>
                <a:gd name="T15" fmla="*/ 179200912 h 1451"/>
                <a:gd name="T16" fmla="*/ 985820436 w 1260"/>
                <a:gd name="T17" fmla="*/ 226860612 h 1451"/>
                <a:gd name="T18" fmla="*/ 1090694979 w 1260"/>
                <a:gd name="T19" fmla="*/ 276425706 h 1451"/>
                <a:gd name="T20" fmla="*/ 1191756933 w 1260"/>
                <a:gd name="T21" fmla="*/ 333617897 h 1451"/>
                <a:gd name="T22" fmla="*/ 1289003534 w 1260"/>
                <a:gd name="T23" fmla="*/ 392715483 h 1451"/>
                <a:gd name="T24" fmla="*/ 1384344531 w 1260"/>
                <a:gd name="T25" fmla="*/ 457533393 h 1451"/>
                <a:gd name="T26" fmla="*/ 1475871556 w 1260"/>
                <a:gd name="T27" fmla="*/ 528068864 h 1451"/>
                <a:gd name="T28" fmla="*/ 1563584610 w 1260"/>
                <a:gd name="T29" fmla="*/ 602419266 h 1451"/>
                <a:gd name="T30" fmla="*/ 1651297664 w 1260"/>
                <a:gd name="T31" fmla="*/ 678673681 h 1451"/>
                <a:gd name="T32" fmla="*/ 1731384156 w 1260"/>
                <a:gd name="T33" fmla="*/ 758743025 h 1451"/>
                <a:gd name="T34" fmla="*/ 1807656677 w 1260"/>
                <a:gd name="T35" fmla="*/ 846436707 h 1451"/>
                <a:gd name="T36" fmla="*/ 1880115227 w 1260"/>
                <a:gd name="T37" fmla="*/ 934130389 h 1451"/>
                <a:gd name="T38" fmla="*/ 1950666791 w 1260"/>
                <a:gd name="T39" fmla="*/ 1025636239 h 1451"/>
                <a:gd name="T40" fmla="*/ 2015498779 w 1260"/>
                <a:gd name="T41" fmla="*/ 1122862413 h 1451"/>
                <a:gd name="T42" fmla="*/ 2074609810 w 1260"/>
                <a:gd name="T43" fmla="*/ 1220088586 h 1451"/>
                <a:gd name="T44" fmla="*/ 2129906870 w 1260"/>
                <a:gd name="T45" fmla="*/ 1321126929 h 1451"/>
                <a:gd name="T46" fmla="*/ 2147483646 w 1260"/>
                <a:gd name="T47" fmla="*/ 1425978820 h 1451"/>
                <a:gd name="T48" fmla="*/ 2147483646 w 1260"/>
                <a:gd name="T49" fmla="*/ 1532736105 h 1451"/>
                <a:gd name="T50" fmla="*/ 2147483646 w 1260"/>
                <a:gd name="T51" fmla="*/ 1641400165 h 1451"/>
                <a:gd name="T52" fmla="*/ 2147483646 w 1260"/>
                <a:gd name="T53" fmla="*/ 1755783168 h 1451"/>
                <a:gd name="T54" fmla="*/ 2147483646 w 1260"/>
                <a:gd name="T55" fmla="*/ 1868260777 h 1451"/>
                <a:gd name="T56" fmla="*/ 2147483646 w 1260"/>
                <a:gd name="T57" fmla="*/ 1986455949 h 1451"/>
                <a:gd name="T58" fmla="*/ 2147483646 w 1260"/>
                <a:gd name="T59" fmla="*/ 2104652501 h 1451"/>
                <a:gd name="T60" fmla="*/ 2147483646 w 1260"/>
                <a:gd name="T61" fmla="*/ 2147483646 h 1451"/>
                <a:gd name="T62" fmla="*/ 2147483646 w 1260"/>
                <a:gd name="T63" fmla="*/ 2147483646 h 1451"/>
                <a:gd name="T64" fmla="*/ 1756172208 w 1260"/>
                <a:gd name="T65" fmla="*/ 2147483646 h 1451"/>
                <a:gd name="T66" fmla="*/ 1186035976 w 1260"/>
                <a:gd name="T67" fmla="*/ 2147483646 h 1451"/>
                <a:gd name="T68" fmla="*/ 1174595443 w 1260"/>
                <a:gd name="T69" fmla="*/ 2147483646 h 1451"/>
                <a:gd name="T70" fmla="*/ 1159340939 w 1260"/>
                <a:gd name="T71" fmla="*/ 2147483646 h 1451"/>
                <a:gd name="T72" fmla="*/ 1138365478 w 1260"/>
                <a:gd name="T73" fmla="*/ 2089401066 h 1451"/>
                <a:gd name="T74" fmla="*/ 1121203988 w 1260"/>
                <a:gd name="T75" fmla="*/ 2034115648 h 1451"/>
                <a:gd name="T76" fmla="*/ 1090694979 w 1260"/>
                <a:gd name="T77" fmla="*/ 1954047684 h 1451"/>
                <a:gd name="T78" fmla="*/ 1065906928 w 1260"/>
                <a:gd name="T79" fmla="*/ 1902575816 h 1451"/>
                <a:gd name="T80" fmla="*/ 1027771358 w 1260"/>
                <a:gd name="T81" fmla="*/ 1828226795 h 1451"/>
                <a:gd name="T82" fmla="*/ 997262349 w 1260"/>
                <a:gd name="T83" fmla="*/ 1780567096 h 1451"/>
                <a:gd name="T84" fmla="*/ 949591851 w 1260"/>
                <a:gd name="T85" fmla="*/ 1711937018 h 1451"/>
                <a:gd name="T86" fmla="*/ 915268872 w 1260"/>
                <a:gd name="T87" fmla="*/ 1666182712 h 1451"/>
                <a:gd name="T88" fmla="*/ 879038906 w 1260"/>
                <a:gd name="T89" fmla="*/ 1624243336 h 1451"/>
                <a:gd name="T90" fmla="*/ 821834861 w 1260"/>
                <a:gd name="T91" fmla="*/ 1565144370 h 1451"/>
                <a:gd name="T92" fmla="*/ 760816844 w 1260"/>
                <a:gd name="T93" fmla="*/ 1507953559 h 1451"/>
                <a:gd name="T94" fmla="*/ 715053331 w 1260"/>
                <a:gd name="T95" fmla="*/ 1473638520 h 1451"/>
                <a:gd name="T96" fmla="*/ 671196804 w 1260"/>
                <a:gd name="T97" fmla="*/ 1439323481 h 1451"/>
                <a:gd name="T98" fmla="*/ 625433292 w 1260"/>
                <a:gd name="T99" fmla="*/ 1408820610 h 1451"/>
                <a:gd name="T100" fmla="*/ 552974742 w 1260"/>
                <a:gd name="T101" fmla="*/ 1364974460 h 1451"/>
                <a:gd name="T102" fmla="*/ 503397258 w 1260"/>
                <a:gd name="T103" fmla="*/ 1338285139 h 1451"/>
                <a:gd name="T104" fmla="*/ 425219132 w 1260"/>
                <a:gd name="T105" fmla="*/ 1303970100 h 1451"/>
                <a:gd name="T106" fmla="*/ 345132640 w 1260"/>
                <a:gd name="T107" fmla="*/ 1275374004 h 1451"/>
                <a:gd name="T108" fmla="*/ 261233557 w 1260"/>
                <a:gd name="T109" fmla="*/ 1250590076 h 1451"/>
                <a:gd name="T110" fmla="*/ 205935116 w 1260"/>
                <a:gd name="T111" fmla="*/ 1237245416 h 1451"/>
                <a:gd name="T112" fmla="*/ 120129048 w 1260"/>
                <a:gd name="T113" fmla="*/ 1223900755 h 1451"/>
                <a:gd name="T114" fmla="*/ 59111031 w 1260"/>
                <a:gd name="T115" fmla="*/ 1218181812 h 1451"/>
                <a:gd name="T116" fmla="*/ 0 w 1260"/>
                <a:gd name="T117" fmla="*/ 1214369643 h 1451"/>
                <a:gd name="T118" fmla="*/ 5720957 w 1260"/>
                <a:gd name="T119" fmla="*/ 0 h 145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60"/>
                <a:gd name="T181" fmla="*/ 0 h 1451"/>
                <a:gd name="T182" fmla="*/ 1260 w 1260"/>
                <a:gd name="T183" fmla="*/ 1451 h 145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lIns="0" rIns="0" anchor="ctr"/>
            <a:lstStyle/>
            <a:p>
              <a:endParaRPr lang="zh-CN" altLang="en-US"/>
            </a:p>
          </p:txBody>
        </p:sp>
        <p:sp>
          <p:nvSpPr>
            <p:cNvPr id="11" name="箭头4"/>
            <p:cNvSpPr>
              <a:spLocks noChangeAspect="1"/>
            </p:cNvSpPr>
            <p:nvPr/>
          </p:nvSpPr>
          <p:spPr bwMode="auto">
            <a:xfrm>
              <a:off x="4333877" y="1892300"/>
              <a:ext cx="1974851" cy="1828800"/>
            </a:xfrm>
            <a:custGeom>
              <a:avLst/>
              <a:gdLst>
                <a:gd name="T0" fmla="*/ 1213188582 w 1431"/>
                <a:gd name="T1" fmla="*/ 2147483646 h 1325"/>
                <a:gd name="T2" fmla="*/ 1213188582 w 1431"/>
                <a:gd name="T3" fmla="*/ 2147483646 h 1325"/>
                <a:gd name="T4" fmla="*/ 1218901985 w 1431"/>
                <a:gd name="T5" fmla="*/ 2147483646 h 1325"/>
                <a:gd name="T6" fmla="*/ 1230330170 w 1431"/>
                <a:gd name="T7" fmla="*/ 2147483646 h 1325"/>
                <a:gd name="T8" fmla="*/ 1247470377 w 1431"/>
                <a:gd name="T9" fmla="*/ 2143153467 h 1325"/>
                <a:gd name="T10" fmla="*/ 1262706118 w 1431"/>
                <a:gd name="T11" fmla="*/ 2086002432 h 1325"/>
                <a:gd name="T12" fmla="*/ 1291274510 w 1431"/>
                <a:gd name="T13" fmla="*/ 2004085994 h 1325"/>
                <a:gd name="T14" fmla="*/ 1312225033 w 1431"/>
                <a:gd name="T15" fmla="*/ 1950745764 h 1325"/>
                <a:gd name="T16" fmla="*/ 1348411295 w 1431"/>
                <a:gd name="T17" fmla="*/ 1872640132 h 1325"/>
                <a:gd name="T18" fmla="*/ 1378882776 w 1431"/>
                <a:gd name="T19" fmla="*/ 1823109326 h 1325"/>
                <a:gd name="T20" fmla="*/ 1407451168 w 1431"/>
                <a:gd name="T21" fmla="*/ 1775483234 h 1325"/>
                <a:gd name="T22" fmla="*/ 1439828496 w 1431"/>
                <a:gd name="T23" fmla="*/ 1727857141 h 1325"/>
                <a:gd name="T24" fmla="*/ 1472205823 w 1431"/>
                <a:gd name="T25" fmla="*/ 1684041854 h 1325"/>
                <a:gd name="T26" fmla="*/ 1508392086 w 1431"/>
                <a:gd name="T27" fmla="*/ 1638321854 h 1325"/>
                <a:gd name="T28" fmla="*/ 1565527491 w 1431"/>
                <a:gd name="T29" fmla="*/ 1575455301 h 1325"/>
                <a:gd name="T30" fmla="*/ 1605522689 w 1431"/>
                <a:gd name="T31" fmla="*/ 1537355531 h 1325"/>
                <a:gd name="T32" fmla="*/ 1670277344 w 1431"/>
                <a:gd name="T33" fmla="*/ 1482109208 h 1325"/>
                <a:gd name="T34" fmla="*/ 1715985944 w 1431"/>
                <a:gd name="T35" fmla="*/ 1447818863 h 1325"/>
                <a:gd name="T36" fmla="*/ 1786454002 w 1431"/>
                <a:gd name="T37" fmla="*/ 1400192770 h 1325"/>
                <a:gd name="T38" fmla="*/ 1858826527 w 1431"/>
                <a:gd name="T39" fmla="*/ 1354472770 h 1325"/>
                <a:gd name="T40" fmla="*/ 1910248530 w 1431"/>
                <a:gd name="T41" fmla="*/ 1329707368 h 1325"/>
                <a:gd name="T42" fmla="*/ 1961670533 w 1431"/>
                <a:gd name="T43" fmla="*/ 1306846678 h 1325"/>
                <a:gd name="T44" fmla="*/ 2016902851 w 1431"/>
                <a:gd name="T45" fmla="*/ 1285892080 h 1325"/>
                <a:gd name="T46" fmla="*/ 2127366106 w 1431"/>
                <a:gd name="T47" fmla="*/ 1251601735 h 1325"/>
                <a:gd name="T48" fmla="*/ 2147483646 w 1431"/>
                <a:gd name="T49" fmla="*/ 1236361275 h 1325"/>
                <a:gd name="T50" fmla="*/ 2147483646 w 1431"/>
                <a:gd name="T51" fmla="*/ 1223025528 h 1325"/>
                <a:gd name="T52" fmla="*/ 2147483646 w 1431"/>
                <a:gd name="T53" fmla="*/ 1215405298 h 1325"/>
                <a:gd name="T54" fmla="*/ 2147483646 w 1431"/>
                <a:gd name="T55" fmla="*/ 636278856 h 1325"/>
                <a:gd name="T56" fmla="*/ 2147483646 w 1431"/>
                <a:gd name="T57" fmla="*/ 1904712 h 1325"/>
                <a:gd name="T58" fmla="*/ 2147483646 w 1431"/>
                <a:gd name="T59" fmla="*/ 11429655 h 1325"/>
                <a:gd name="T60" fmla="*/ 2056898048 w 1431"/>
                <a:gd name="T61" fmla="*/ 28574827 h 1325"/>
                <a:gd name="T62" fmla="*/ 1938816923 w 1431"/>
                <a:gd name="T63" fmla="*/ 49530805 h 1325"/>
                <a:gd name="T64" fmla="*/ 1822640265 w 1431"/>
                <a:gd name="T65" fmla="*/ 76200920 h 1325"/>
                <a:gd name="T66" fmla="*/ 1710272542 w 1431"/>
                <a:gd name="T67" fmla="*/ 108586553 h 1325"/>
                <a:gd name="T68" fmla="*/ 1597904819 w 1431"/>
                <a:gd name="T69" fmla="*/ 144781610 h 1325"/>
                <a:gd name="T70" fmla="*/ 1491250498 w 1431"/>
                <a:gd name="T71" fmla="*/ 190502990 h 1325"/>
                <a:gd name="T72" fmla="*/ 1386502026 w 1431"/>
                <a:gd name="T73" fmla="*/ 238127703 h 1325"/>
                <a:gd name="T74" fmla="*/ 1281752173 w 1431"/>
                <a:gd name="T75" fmla="*/ 289563221 h 1325"/>
                <a:gd name="T76" fmla="*/ 1180811255 w 1431"/>
                <a:gd name="T77" fmla="*/ 346714256 h 1325"/>
                <a:gd name="T78" fmla="*/ 1085585119 w 1431"/>
                <a:gd name="T79" fmla="*/ 407674716 h 1325"/>
                <a:gd name="T80" fmla="*/ 990357604 w 1431"/>
                <a:gd name="T81" fmla="*/ 476256786 h 1325"/>
                <a:gd name="T82" fmla="*/ 898940404 w 1431"/>
                <a:gd name="T83" fmla="*/ 546742189 h 1325"/>
                <a:gd name="T84" fmla="*/ 813236606 w 1431"/>
                <a:gd name="T85" fmla="*/ 619133684 h 1325"/>
                <a:gd name="T86" fmla="*/ 727532808 w 1431"/>
                <a:gd name="T87" fmla="*/ 697239317 h 1325"/>
                <a:gd name="T88" fmla="*/ 649446880 w 1431"/>
                <a:gd name="T89" fmla="*/ 781060467 h 1325"/>
                <a:gd name="T90" fmla="*/ 573265420 w 1431"/>
                <a:gd name="T91" fmla="*/ 866786329 h 1325"/>
                <a:gd name="T92" fmla="*/ 500892895 w 1431"/>
                <a:gd name="T93" fmla="*/ 956322997 h 1325"/>
                <a:gd name="T94" fmla="*/ 432329304 w 1431"/>
                <a:gd name="T95" fmla="*/ 1047764377 h 1325"/>
                <a:gd name="T96" fmla="*/ 369479116 w 1431"/>
                <a:gd name="T97" fmla="*/ 1146824607 h 1325"/>
                <a:gd name="T98" fmla="*/ 310439244 w 1431"/>
                <a:gd name="T99" fmla="*/ 1243981505 h 1325"/>
                <a:gd name="T100" fmla="*/ 257112774 w 1431"/>
                <a:gd name="T101" fmla="*/ 1346852540 h 1325"/>
                <a:gd name="T102" fmla="*/ 207593858 w 1431"/>
                <a:gd name="T103" fmla="*/ 1451629668 h 1325"/>
                <a:gd name="T104" fmla="*/ 163789726 w 1431"/>
                <a:gd name="T105" fmla="*/ 1560214841 h 1325"/>
                <a:gd name="T106" fmla="*/ 121890060 w 1431"/>
                <a:gd name="T107" fmla="*/ 1668801394 h 1325"/>
                <a:gd name="T108" fmla="*/ 89512733 w 1431"/>
                <a:gd name="T109" fmla="*/ 1783103464 h 1325"/>
                <a:gd name="T110" fmla="*/ 59041253 w 1431"/>
                <a:gd name="T111" fmla="*/ 1897405534 h 1325"/>
                <a:gd name="T112" fmla="*/ 36186263 w 1431"/>
                <a:gd name="T113" fmla="*/ 2015517029 h 1325"/>
                <a:gd name="T114" fmla="*/ 19044675 w 1431"/>
                <a:gd name="T115" fmla="*/ 2133628525 h 1325"/>
                <a:gd name="T116" fmla="*/ 7617870 w 1431"/>
                <a:gd name="T117" fmla="*/ 2147483646 h 1325"/>
                <a:gd name="T118" fmla="*/ 1904468 w 1431"/>
                <a:gd name="T119" fmla="*/ 2147483646 h 1325"/>
                <a:gd name="T120" fmla="*/ 1904468 w 1431"/>
                <a:gd name="T121" fmla="*/ 2147483646 h 1325"/>
                <a:gd name="T122" fmla="*/ 638018695 w 1431"/>
                <a:gd name="T123" fmla="*/ 2147483646 h 132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31"/>
                <a:gd name="T187" fmla="*/ 0 h 1325"/>
                <a:gd name="T188" fmla="*/ 1431 w 1431"/>
                <a:gd name="T189" fmla="*/ 1325 h 132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chemeClr val="accent4">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12" name="箭头3"/>
            <p:cNvSpPr>
              <a:spLocks noChangeAspect="1"/>
            </p:cNvSpPr>
            <p:nvPr/>
          </p:nvSpPr>
          <p:spPr bwMode="auto">
            <a:xfrm>
              <a:off x="4338639" y="3543300"/>
              <a:ext cx="1790700" cy="1884363"/>
            </a:xfrm>
            <a:custGeom>
              <a:avLst/>
              <a:gdLst>
                <a:gd name="T0" fmla="*/ 2095640308 w 1295"/>
                <a:gd name="T1" fmla="*/ 1952432160 h 1364"/>
                <a:gd name="T2" fmla="*/ 2147483646 w 1295"/>
                <a:gd name="T3" fmla="*/ 1389413783 h 1364"/>
                <a:gd name="T4" fmla="*/ 2147483646 w 1295"/>
                <a:gd name="T5" fmla="*/ 1385596705 h 1364"/>
                <a:gd name="T6" fmla="*/ 2147483646 w 1295"/>
                <a:gd name="T7" fmla="*/ 1377962548 h 1364"/>
                <a:gd name="T8" fmla="*/ 2147483646 w 1295"/>
                <a:gd name="T9" fmla="*/ 1356969307 h 1364"/>
                <a:gd name="T10" fmla="*/ 2109024235 w 1295"/>
                <a:gd name="T11" fmla="*/ 1343608842 h 1364"/>
                <a:gd name="T12" fmla="*/ 2007684443 w 1295"/>
                <a:gd name="T13" fmla="*/ 1311164366 h 1364"/>
                <a:gd name="T14" fmla="*/ 1956058354 w 1295"/>
                <a:gd name="T15" fmla="*/ 1292078974 h 1364"/>
                <a:gd name="T16" fmla="*/ 1860454333 w 1295"/>
                <a:gd name="T17" fmla="*/ 1246274033 h 1364"/>
                <a:gd name="T18" fmla="*/ 1814564016 w 1295"/>
                <a:gd name="T19" fmla="*/ 1217646635 h 1364"/>
                <a:gd name="T20" fmla="*/ 1724695766 w 1295"/>
                <a:gd name="T21" fmla="*/ 1160390459 h 1364"/>
                <a:gd name="T22" fmla="*/ 1682630218 w 1295"/>
                <a:gd name="T23" fmla="*/ 1127944602 h 1364"/>
                <a:gd name="T24" fmla="*/ 1600411506 w 1295"/>
                <a:gd name="T25" fmla="*/ 1061146420 h 1364"/>
                <a:gd name="T26" fmla="*/ 1527751953 w 1295"/>
                <a:gd name="T27" fmla="*/ 986712700 h 1364"/>
                <a:gd name="T28" fmla="*/ 1493334560 w 1295"/>
                <a:gd name="T29" fmla="*/ 946634067 h 1364"/>
                <a:gd name="T30" fmla="*/ 1428324545 w 1295"/>
                <a:gd name="T31" fmla="*/ 860750494 h 1364"/>
                <a:gd name="T32" fmla="*/ 1386257614 w 1295"/>
                <a:gd name="T33" fmla="*/ 795860160 h 1364"/>
                <a:gd name="T34" fmla="*/ 1344192066 w 1295"/>
                <a:gd name="T35" fmla="*/ 725243519 h 1364"/>
                <a:gd name="T36" fmla="*/ 1300214134 w 1295"/>
                <a:gd name="T37" fmla="*/ 629816558 h 1364"/>
                <a:gd name="T38" fmla="*/ 1281094436 w 1295"/>
                <a:gd name="T39" fmla="*/ 578286690 h 1364"/>
                <a:gd name="T40" fmla="*/ 1256236201 w 1295"/>
                <a:gd name="T41" fmla="*/ 501945122 h 1364"/>
                <a:gd name="T42" fmla="*/ 1235204118 w 1295"/>
                <a:gd name="T43" fmla="*/ 421786475 h 1364"/>
                <a:gd name="T44" fmla="*/ 615689675 w 1295"/>
                <a:gd name="T45" fmla="*/ 0 h 1364"/>
                <a:gd name="T46" fmla="*/ 3824769 w 1295"/>
                <a:gd name="T47" fmla="*/ 423695705 h 1364"/>
                <a:gd name="T48" fmla="*/ 19121081 w 1295"/>
                <a:gd name="T49" fmla="*/ 538206676 h 1364"/>
                <a:gd name="T50" fmla="*/ 40153163 w 1295"/>
                <a:gd name="T51" fmla="*/ 654628259 h 1364"/>
                <a:gd name="T52" fmla="*/ 66922400 w 1295"/>
                <a:gd name="T53" fmla="*/ 765323533 h 1364"/>
                <a:gd name="T54" fmla="*/ 97516406 w 1295"/>
                <a:gd name="T55" fmla="*/ 874109577 h 1364"/>
                <a:gd name="T56" fmla="*/ 131933798 w 1295"/>
                <a:gd name="T57" fmla="*/ 984804852 h 1364"/>
                <a:gd name="T58" fmla="*/ 173999346 w 1295"/>
                <a:gd name="T59" fmla="*/ 1089773818 h 1364"/>
                <a:gd name="T60" fmla="*/ 219889663 w 1295"/>
                <a:gd name="T61" fmla="*/ 1190927086 h 1364"/>
                <a:gd name="T62" fmla="*/ 269603367 w 1295"/>
                <a:gd name="T63" fmla="*/ 1293988204 h 1364"/>
                <a:gd name="T64" fmla="*/ 323141840 w 1295"/>
                <a:gd name="T65" fmla="*/ 1391323013 h 1364"/>
                <a:gd name="T66" fmla="*/ 382416084 w 1295"/>
                <a:gd name="T67" fmla="*/ 1486749974 h 1364"/>
                <a:gd name="T68" fmla="*/ 445515098 w 1295"/>
                <a:gd name="T69" fmla="*/ 1580267704 h 1364"/>
                <a:gd name="T70" fmla="*/ 512437498 w 1295"/>
                <a:gd name="T71" fmla="*/ 1668060508 h 1364"/>
                <a:gd name="T72" fmla="*/ 583184667 w 1295"/>
                <a:gd name="T73" fmla="*/ 1753944082 h 1364"/>
                <a:gd name="T74" fmla="*/ 657755223 w 1295"/>
                <a:gd name="T75" fmla="*/ 1836011958 h 1364"/>
                <a:gd name="T76" fmla="*/ 736150547 w 1295"/>
                <a:gd name="T77" fmla="*/ 1916170605 h 1364"/>
                <a:gd name="T78" fmla="*/ 818370642 w 1295"/>
                <a:gd name="T79" fmla="*/ 1990602944 h 1364"/>
                <a:gd name="T80" fmla="*/ 904414122 w 1295"/>
                <a:gd name="T81" fmla="*/ 2063127434 h 1364"/>
                <a:gd name="T82" fmla="*/ 992369988 w 1295"/>
                <a:gd name="T83" fmla="*/ 2129926997 h 1364"/>
                <a:gd name="T84" fmla="*/ 1084149240 w 1295"/>
                <a:gd name="T85" fmla="*/ 2147483646 h 1364"/>
                <a:gd name="T86" fmla="*/ 1177840876 w 1295"/>
                <a:gd name="T87" fmla="*/ 2147483646 h 1364"/>
                <a:gd name="T88" fmla="*/ 1275357282 w 1295"/>
                <a:gd name="T89" fmla="*/ 2147483646 h 1364"/>
                <a:gd name="T90" fmla="*/ 1376698457 w 1295"/>
                <a:gd name="T91" fmla="*/ 2147483646 h 1364"/>
                <a:gd name="T92" fmla="*/ 1479950634 w 1295"/>
                <a:gd name="T93" fmla="*/ 2147483646 h 1364"/>
                <a:gd name="T94" fmla="*/ 1583202810 w 1295"/>
                <a:gd name="T95" fmla="*/ 2147483646 h 1364"/>
                <a:gd name="T96" fmla="*/ 1692190758 w 1295"/>
                <a:gd name="T97" fmla="*/ 2147483646 h 1364"/>
                <a:gd name="T98" fmla="*/ 1801180089 w 1295"/>
                <a:gd name="T99" fmla="*/ 2147483646 h 1364"/>
                <a:gd name="T100" fmla="*/ 1913992806 w 1295"/>
                <a:gd name="T101" fmla="*/ 2147483646 h 1364"/>
                <a:gd name="T102" fmla="*/ 2028716525 w 1295"/>
                <a:gd name="T103" fmla="*/ 2147483646 h 1364"/>
                <a:gd name="T104" fmla="*/ 2143441627 w 1295"/>
                <a:gd name="T105" fmla="*/ 2147483646 h 1364"/>
                <a:gd name="T106" fmla="*/ 2147483646 w 1295"/>
                <a:gd name="T107" fmla="*/ 2147483646 h 1364"/>
                <a:gd name="T108" fmla="*/ 2147483646 w 1295"/>
                <a:gd name="T109" fmla="*/ 2147483646 h 1364"/>
                <a:gd name="T110" fmla="*/ 2147483646 w 1295"/>
                <a:gd name="T111" fmla="*/ 2147483646 h 1364"/>
                <a:gd name="T112" fmla="*/ 2147483646 w 1295"/>
                <a:gd name="T113" fmla="*/ 2147483646 h 136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95"/>
                <a:gd name="T172" fmla="*/ 0 h 1364"/>
                <a:gd name="T173" fmla="*/ 1295 w 1295"/>
                <a:gd name="T174" fmla="*/ 1364 h 136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15" name="箭头2"/>
            <p:cNvSpPr>
              <a:spLocks noChangeAspect="1"/>
            </p:cNvSpPr>
            <p:nvPr/>
          </p:nvSpPr>
          <p:spPr bwMode="auto">
            <a:xfrm>
              <a:off x="5956301" y="3721100"/>
              <a:ext cx="1912939" cy="1703388"/>
            </a:xfrm>
            <a:custGeom>
              <a:avLst/>
              <a:gdLst>
                <a:gd name="T0" fmla="*/ 0 w 1385"/>
                <a:gd name="T1" fmla="*/ 1723410062 h 1233"/>
                <a:gd name="T2" fmla="*/ 421593580 w 1385"/>
                <a:gd name="T3" fmla="*/ 1122220473 h 1233"/>
                <a:gd name="T4" fmla="*/ 499808573 w 1385"/>
                <a:gd name="T5" fmla="*/ 1105044299 h 1233"/>
                <a:gd name="T6" fmla="*/ 576114772 w 1385"/>
                <a:gd name="T7" fmla="*/ 1082141812 h 1233"/>
                <a:gd name="T8" fmla="*/ 675314074 w 1385"/>
                <a:gd name="T9" fmla="*/ 1045878851 h 1233"/>
                <a:gd name="T10" fmla="*/ 745896652 w 1385"/>
                <a:gd name="T11" fmla="*/ 1013434352 h 1233"/>
                <a:gd name="T12" fmla="*/ 814573198 w 1385"/>
                <a:gd name="T13" fmla="*/ 975263540 h 1233"/>
                <a:gd name="T14" fmla="*/ 900417845 w 1385"/>
                <a:gd name="T15" fmla="*/ 919915173 h 1233"/>
                <a:gd name="T16" fmla="*/ 965278183 w 1385"/>
                <a:gd name="T17" fmla="*/ 874110199 h 1233"/>
                <a:gd name="T18" fmla="*/ 1003431973 w 1385"/>
                <a:gd name="T19" fmla="*/ 841665700 h 1233"/>
                <a:gd name="T20" fmla="*/ 1041585763 w 1385"/>
                <a:gd name="T21" fmla="*/ 807311970 h 1233"/>
                <a:gd name="T22" fmla="*/ 1077830759 w 1385"/>
                <a:gd name="T23" fmla="*/ 772958240 h 1233"/>
                <a:gd name="T24" fmla="*/ 1114077136 w 1385"/>
                <a:gd name="T25" fmla="*/ 734787428 h 1233"/>
                <a:gd name="T26" fmla="*/ 1163675406 w 1385"/>
                <a:gd name="T27" fmla="*/ 673714130 h 1233"/>
                <a:gd name="T28" fmla="*/ 1224720917 w 1385"/>
                <a:gd name="T29" fmla="*/ 591647576 h 1233"/>
                <a:gd name="T30" fmla="*/ 1280044189 w 1385"/>
                <a:gd name="T31" fmla="*/ 503854710 h 1233"/>
                <a:gd name="T32" fmla="*/ 1314381772 w 1385"/>
                <a:gd name="T33" fmla="*/ 435147250 h 1233"/>
                <a:gd name="T34" fmla="*/ 1344904527 w 1385"/>
                <a:gd name="T35" fmla="*/ 360713477 h 1233"/>
                <a:gd name="T36" fmla="*/ 1379242110 w 1385"/>
                <a:gd name="T37" fmla="*/ 263378599 h 1233"/>
                <a:gd name="T38" fmla="*/ 1405950039 w 1385"/>
                <a:gd name="T39" fmla="*/ 160317408 h 1233"/>
                <a:gd name="T40" fmla="*/ 1423118140 w 1385"/>
                <a:gd name="T41" fmla="*/ 53439136 h 1233"/>
                <a:gd name="T42" fmla="*/ 1426934347 w 1385"/>
                <a:gd name="T43" fmla="*/ 0 h 1233"/>
                <a:gd name="T44" fmla="*/ 2147483646 w 1385"/>
                <a:gd name="T45" fmla="*/ 7634162 h 1233"/>
                <a:gd name="T46" fmla="*/ 2147483646 w 1385"/>
                <a:gd name="T47" fmla="*/ 125963678 h 1233"/>
                <a:gd name="T48" fmla="*/ 2147483646 w 1385"/>
                <a:gd name="T49" fmla="*/ 240476112 h 1233"/>
                <a:gd name="T50" fmla="*/ 2147483646 w 1385"/>
                <a:gd name="T51" fmla="*/ 353079315 h 1233"/>
                <a:gd name="T52" fmla="*/ 2147483646 w 1385"/>
                <a:gd name="T53" fmla="*/ 467591749 h 1233"/>
                <a:gd name="T54" fmla="*/ 2147483646 w 1385"/>
                <a:gd name="T55" fmla="*/ 576379252 h 1233"/>
                <a:gd name="T56" fmla="*/ 2147483646 w 1385"/>
                <a:gd name="T57" fmla="*/ 685165374 h 1233"/>
                <a:gd name="T58" fmla="*/ 2147483646 w 1385"/>
                <a:gd name="T59" fmla="*/ 790134414 h 1233"/>
                <a:gd name="T60" fmla="*/ 2147483646 w 1385"/>
                <a:gd name="T61" fmla="*/ 893195605 h 1233"/>
                <a:gd name="T62" fmla="*/ 2147483646 w 1385"/>
                <a:gd name="T63" fmla="*/ 996256796 h 1233"/>
                <a:gd name="T64" fmla="*/ 2147483646 w 1385"/>
                <a:gd name="T65" fmla="*/ 1093593055 h 1233"/>
                <a:gd name="T66" fmla="*/ 2147483646 w 1385"/>
                <a:gd name="T67" fmla="*/ 1189020084 h 1233"/>
                <a:gd name="T68" fmla="*/ 2147483646 w 1385"/>
                <a:gd name="T69" fmla="*/ 1280630031 h 1233"/>
                <a:gd name="T70" fmla="*/ 2147483646 w 1385"/>
                <a:gd name="T71" fmla="*/ 1372239979 h 1233"/>
                <a:gd name="T72" fmla="*/ 2096524801 w 1385"/>
                <a:gd name="T73" fmla="*/ 1458123613 h 1233"/>
                <a:gd name="T74" fmla="*/ 2025940841 w 1385"/>
                <a:gd name="T75" fmla="*/ 1542099399 h 1233"/>
                <a:gd name="T76" fmla="*/ 1951542056 w 1385"/>
                <a:gd name="T77" fmla="*/ 1624165952 h 1233"/>
                <a:gd name="T78" fmla="*/ 1873327062 w 1385"/>
                <a:gd name="T79" fmla="*/ 1700507575 h 1233"/>
                <a:gd name="T80" fmla="*/ 1791298623 w 1385"/>
                <a:gd name="T81" fmla="*/ 1773032117 h 1233"/>
                <a:gd name="T82" fmla="*/ 1707360009 w 1385"/>
                <a:gd name="T83" fmla="*/ 1841739577 h 1233"/>
                <a:gd name="T84" fmla="*/ 1619607949 w 1385"/>
                <a:gd name="T85" fmla="*/ 1908539188 h 1233"/>
                <a:gd name="T86" fmla="*/ 1528039681 w 1385"/>
                <a:gd name="T87" fmla="*/ 1969612486 h 1233"/>
                <a:gd name="T88" fmla="*/ 1434564001 w 1385"/>
                <a:gd name="T89" fmla="*/ 2028776553 h 1233"/>
                <a:gd name="T90" fmla="*/ 1337273493 w 1385"/>
                <a:gd name="T91" fmla="*/ 2080307839 h 1233"/>
                <a:gd name="T92" fmla="*/ 1238075573 w 1385"/>
                <a:gd name="T93" fmla="*/ 2129929894 h 1233"/>
                <a:gd name="T94" fmla="*/ 1135061444 w 1385"/>
                <a:gd name="T95" fmla="*/ 2147483646 h 1233"/>
                <a:gd name="T96" fmla="*/ 1032047316 w 1385"/>
                <a:gd name="T97" fmla="*/ 2147483646 h 1233"/>
                <a:gd name="T98" fmla="*/ 925218361 w 1385"/>
                <a:gd name="T99" fmla="*/ 2147483646 h 1233"/>
                <a:gd name="T100" fmla="*/ 816480612 w 1385"/>
                <a:gd name="T101" fmla="*/ 2147483646 h 1233"/>
                <a:gd name="T102" fmla="*/ 705836830 w 1385"/>
                <a:gd name="T103" fmla="*/ 2147483646 h 1233"/>
                <a:gd name="T104" fmla="*/ 593284254 w 1385"/>
                <a:gd name="T105" fmla="*/ 2147483646 h 1233"/>
                <a:gd name="T106" fmla="*/ 478824265 w 1385"/>
                <a:gd name="T107" fmla="*/ 2147483646 h 1233"/>
                <a:gd name="T108" fmla="*/ 364364276 w 1385"/>
                <a:gd name="T109" fmla="*/ 2147483646 h 12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85"/>
                <a:gd name="T166" fmla="*/ 0 h 1233"/>
                <a:gd name="T167" fmla="*/ 1385 w 1385"/>
                <a:gd name="T168" fmla="*/ 1233 h 12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chemeClr val="accent3">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lIns="0" tIns="33605" rIns="0" bIns="33605" anchor="ctr"/>
            <a:lstStyle/>
            <a:p>
              <a:endParaRPr lang="zh-CN" altLang="en-US"/>
            </a:p>
          </p:txBody>
        </p:sp>
        <p:sp>
          <p:nvSpPr>
            <p:cNvPr id="16" name="中心文本"/>
            <p:cNvSpPr txBox="1">
              <a:spLocks noChangeArrowheads="1"/>
            </p:cNvSpPr>
            <p:nvPr/>
          </p:nvSpPr>
          <p:spPr bwMode="auto">
            <a:xfrm>
              <a:off x="5151765" y="3250282"/>
              <a:ext cx="2001541" cy="79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800" dirty="0" smtClean="0">
                  <a:latin typeface="微软雅黑" panose="020B0503020204020204" pitchFamily="34" charset="-122"/>
                  <a:ea typeface="微软雅黑" panose="020B0503020204020204" pitchFamily="34" charset="-122"/>
                </a:rPr>
                <a:t>define</a:t>
              </a:r>
              <a:endParaRPr lang="zh-CN" altLang="en-US" sz="2800" dirty="0">
                <a:latin typeface="微软雅黑" panose="020B0503020204020204" pitchFamily="34" charset="-122"/>
                <a:ea typeface="微软雅黑" panose="020B0503020204020204" pitchFamily="34" charset="-122"/>
              </a:endParaRPr>
            </a:p>
          </p:txBody>
        </p:sp>
      </p:grpSp>
      <p:sp>
        <p:nvSpPr>
          <p:cNvPr id="17" name="TextBox 10"/>
          <p:cNvSpPr txBox="1">
            <a:spLocks noChangeArrowheads="1"/>
          </p:cNvSpPr>
          <p:nvPr/>
        </p:nvSpPr>
        <p:spPr bwMode="auto">
          <a:xfrm>
            <a:off x="434797" y="987574"/>
            <a:ext cx="3201099" cy="1585699"/>
          </a:xfrm>
          <a:prstGeom prst="rect">
            <a:avLst/>
          </a:prstGeom>
          <a:solidFill>
            <a:schemeClr val="accent4">
              <a:lumMod val="40000"/>
              <a:lumOff val="60000"/>
            </a:schemeClr>
          </a:solidFill>
          <a:ln>
            <a:noFill/>
          </a:ln>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en-US" altLang="zh-CN" sz="1600" b="1" dirty="0" smtClean="0">
                <a:latin typeface="+mj-lt"/>
                <a:ea typeface="+mj-ea"/>
              </a:rPr>
              <a:t>      #</a:t>
            </a:r>
            <a:r>
              <a:rPr lang="en-US" altLang="zh-CN" sz="1600" b="1" dirty="0">
                <a:latin typeface="+mj-lt"/>
                <a:ea typeface="+mj-ea"/>
              </a:rPr>
              <a:t>define</a:t>
            </a:r>
            <a:r>
              <a:rPr lang="zh-CN" altLang="en-US" sz="1600" b="1" dirty="0">
                <a:latin typeface="+mj-lt"/>
                <a:ea typeface="+mj-ea"/>
              </a:rPr>
              <a:t>是</a:t>
            </a:r>
            <a:r>
              <a:rPr lang="en-US" altLang="zh-CN" sz="1600" b="1" dirty="0">
                <a:latin typeface="+mj-lt"/>
                <a:ea typeface="+mj-ea"/>
              </a:rPr>
              <a:t>C</a:t>
            </a:r>
            <a:r>
              <a:rPr lang="zh-CN" altLang="en-US" sz="1600" b="1" dirty="0">
                <a:latin typeface="+mj-lt"/>
                <a:ea typeface="+mj-ea"/>
              </a:rPr>
              <a:t>语言中的预处理命令，它用于宏定义，用来将一个标识符定义为一个字符串，该标识符称为宏名，被定义的字符串称为替换</a:t>
            </a:r>
            <a:r>
              <a:rPr lang="zh-CN" altLang="en-US" sz="1600" b="1" dirty="0" smtClean="0">
                <a:latin typeface="+mj-lt"/>
                <a:ea typeface="+mj-ea"/>
              </a:rPr>
              <a:t>文本。</a:t>
            </a:r>
            <a:endParaRPr lang="en-US" altLang="zh-CN" sz="1600" b="1" dirty="0">
              <a:latin typeface="+mj-lt"/>
              <a:ea typeface="+mj-ea"/>
            </a:endParaRPr>
          </a:p>
        </p:txBody>
      </p:sp>
      <p:sp>
        <p:nvSpPr>
          <p:cNvPr id="18" name="TextBox 10"/>
          <p:cNvSpPr txBox="1">
            <a:spLocks noChangeArrowheads="1"/>
          </p:cNvSpPr>
          <p:nvPr/>
        </p:nvSpPr>
        <p:spPr bwMode="auto">
          <a:xfrm>
            <a:off x="5508104" y="915566"/>
            <a:ext cx="3146544" cy="1659412"/>
          </a:xfrm>
          <a:prstGeom prst="rect">
            <a:avLst/>
          </a:prstGeom>
          <a:solidFill>
            <a:schemeClr val="accent5">
              <a:lumMod val="60000"/>
              <a:lumOff val="40000"/>
            </a:schemeClr>
          </a:solidFill>
          <a:ln>
            <a:noFill/>
          </a:ln>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zh-CN" altLang="en-US" sz="1600" b="1" dirty="0" smtClean="0">
                <a:latin typeface="+mj-lt"/>
                <a:ea typeface="+mj-ea"/>
              </a:rPr>
              <a:t>     所谓</a:t>
            </a:r>
            <a:r>
              <a:rPr lang="zh-CN" altLang="en-US" sz="1600" b="1" dirty="0">
                <a:latin typeface="+mj-lt"/>
                <a:ea typeface="+mj-ea"/>
              </a:rPr>
              <a:t>预处理是指</a:t>
            </a:r>
            <a:r>
              <a:rPr lang="zh-CN" altLang="en-US" sz="1600" b="1" dirty="0" smtClean="0">
                <a:latin typeface="+mj-lt"/>
                <a:ea typeface="+mj-ea"/>
              </a:rPr>
              <a:t>在编译</a:t>
            </a:r>
            <a:r>
              <a:rPr lang="zh-CN" altLang="en-US" sz="1600" b="1" dirty="0">
                <a:latin typeface="+mj-lt"/>
                <a:ea typeface="+mj-ea"/>
              </a:rPr>
              <a:t>之前所做的工作，由预处理程序负责完成，编译时，系统将自动引用预处理程序对源程序中的预处理部分进行处理</a:t>
            </a:r>
            <a:r>
              <a:rPr lang="zh-CN" altLang="en-US" sz="1600" b="1" dirty="0" smtClean="0">
                <a:latin typeface="+mj-lt"/>
                <a:ea typeface="+mj-ea"/>
              </a:rPr>
              <a:t>。</a:t>
            </a:r>
            <a:endParaRPr lang="en-US" altLang="zh-CN" sz="1600" dirty="0">
              <a:solidFill>
                <a:srgbClr val="094162"/>
              </a:solidFill>
              <a:latin typeface="微软雅黑" panose="020B0503020204020204" pitchFamily="34" charset="-122"/>
              <a:ea typeface="微软雅黑" panose="020B0503020204020204" pitchFamily="34" charset="-122"/>
            </a:endParaRPr>
          </a:p>
        </p:txBody>
      </p:sp>
      <p:sp>
        <p:nvSpPr>
          <p:cNvPr id="19" name="TextBox 10"/>
          <p:cNvSpPr txBox="1">
            <a:spLocks noChangeArrowheads="1"/>
          </p:cNvSpPr>
          <p:nvPr/>
        </p:nvSpPr>
        <p:spPr bwMode="auto">
          <a:xfrm>
            <a:off x="878744" y="3393166"/>
            <a:ext cx="3099355" cy="1108075"/>
          </a:xfrm>
          <a:prstGeom prst="rect">
            <a:avLst/>
          </a:prstGeom>
          <a:solidFill>
            <a:schemeClr val="accent6">
              <a:lumMod val="60000"/>
              <a:lumOff val="40000"/>
            </a:schemeClr>
          </a:solidFill>
          <a:ln>
            <a:noFill/>
          </a:ln>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pPr>
            <a:r>
              <a:rPr lang="zh-CN" altLang="en-US" sz="1600" b="1" dirty="0" smtClean="0">
                <a:latin typeface="+mj-lt"/>
                <a:ea typeface="+mj-ea"/>
              </a:rPr>
              <a:t>    采用</a:t>
            </a:r>
            <a:r>
              <a:rPr lang="zh-CN" altLang="en-US" sz="1600" b="1" dirty="0">
                <a:latin typeface="+mj-lt"/>
                <a:ea typeface="+mj-ea"/>
              </a:rPr>
              <a:t>宏定义的目的主要是方便程序编写，一般放在源文件的前面，称为预处理部分。</a:t>
            </a:r>
            <a:endParaRPr lang="en-US" altLang="zh-CN" sz="1600" b="1" dirty="0">
              <a:latin typeface="+mj-lt"/>
              <a:ea typeface="+mj-ea"/>
            </a:endParaRPr>
          </a:p>
        </p:txBody>
      </p:sp>
      <p:sp>
        <p:nvSpPr>
          <p:cNvPr id="9" name="矩形 8"/>
          <p:cNvSpPr/>
          <p:nvPr/>
        </p:nvSpPr>
        <p:spPr>
          <a:xfrm>
            <a:off x="5148064" y="3435846"/>
            <a:ext cx="3312368" cy="1052596"/>
          </a:xfrm>
          <a:prstGeom prst="rect">
            <a:avLst/>
          </a:prstGeom>
          <a:solidFill>
            <a:schemeClr val="accent3">
              <a:lumMod val="40000"/>
              <a:lumOff val="60000"/>
            </a:schemeClr>
          </a:solidFill>
          <a:ln>
            <a:noFill/>
          </a:ln>
        </p:spPr>
        <p:txBody>
          <a:bodyPr wrap="square">
            <a:spAutoFit/>
          </a:bodyPr>
          <a:lstStyle/>
          <a:p>
            <a:pPr lvl="0">
              <a:lnSpc>
                <a:spcPct val="130000"/>
              </a:lnSpc>
            </a:pPr>
            <a:r>
              <a:rPr lang="en-US" altLang="zh-CN" sz="1600" b="1" dirty="0" smtClean="0">
                <a:latin typeface="+mj-lt"/>
                <a:ea typeface="+mj-ea"/>
              </a:rPr>
              <a:t>     </a:t>
            </a:r>
            <a:r>
              <a:rPr lang="en-US" altLang="zh-CN" sz="1600" b="1" dirty="0" err="1" smtClean="0">
                <a:latin typeface="+mj-lt"/>
                <a:ea typeface="+mj-ea"/>
              </a:rPr>
              <a:t>typedef</a:t>
            </a:r>
            <a:r>
              <a:rPr lang="zh-CN" altLang="en-US" sz="1600" b="1" dirty="0">
                <a:latin typeface="+mj-lt"/>
                <a:ea typeface="+mj-ea"/>
              </a:rPr>
              <a:t>与</a:t>
            </a:r>
            <a:r>
              <a:rPr lang="en-US" altLang="zh-CN" sz="1600" b="1" dirty="0">
                <a:latin typeface="+mj-lt"/>
                <a:ea typeface="+mj-ea"/>
              </a:rPr>
              <a:t>#define</a:t>
            </a:r>
            <a:r>
              <a:rPr lang="zh-CN" altLang="en-US" sz="1600" b="1" dirty="0">
                <a:latin typeface="+mj-lt"/>
                <a:ea typeface="+mj-ea"/>
              </a:rPr>
              <a:t>的区别</a:t>
            </a:r>
            <a:r>
              <a:rPr lang="zh-CN" altLang="en-US" sz="1600" b="1" dirty="0" smtClean="0">
                <a:latin typeface="+mj-lt"/>
                <a:ea typeface="+mj-ea"/>
              </a:rPr>
              <a:t>：</a:t>
            </a:r>
            <a:endParaRPr lang="en-US" altLang="zh-CN" sz="1600" b="1" dirty="0" smtClean="0">
              <a:latin typeface="+mj-lt"/>
              <a:ea typeface="+mj-ea"/>
            </a:endParaRPr>
          </a:p>
          <a:p>
            <a:pPr marL="285750" lvl="0" indent="-285750">
              <a:lnSpc>
                <a:spcPct val="130000"/>
              </a:lnSpc>
              <a:buFont typeface="Wingdings" pitchFamily="2" charset="2"/>
              <a:buChar char="Ø"/>
            </a:pPr>
            <a:r>
              <a:rPr lang="en-US" altLang="zh-CN" sz="1600" b="1" dirty="0" err="1" smtClean="0">
                <a:latin typeface="+mj-lt"/>
                <a:ea typeface="+mj-ea"/>
              </a:rPr>
              <a:t>typedef</a:t>
            </a:r>
            <a:r>
              <a:rPr lang="zh-CN" altLang="en-US" sz="1600" b="1" dirty="0">
                <a:latin typeface="+mj-lt"/>
                <a:ea typeface="+mj-ea"/>
              </a:rPr>
              <a:t>是在编译阶段处理</a:t>
            </a:r>
            <a:r>
              <a:rPr lang="zh-CN" altLang="en-US" sz="1600" b="1" dirty="0" smtClean="0">
                <a:latin typeface="+mj-lt"/>
                <a:ea typeface="+mj-ea"/>
              </a:rPr>
              <a:t>的</a:t>
            </a:r>
            <a:r>
              <a:rPr lang="en-US" altLang="zh-CN" sz="1600" b="1" dirty="0" smtClean="0">
                <a:latin typeface="+mj-lt"/>
                <a:ea typeface="+mj-ea"/>
              </a:rPr>
              <a:t>;</a:t>
            </a:r>
          </a:p>
          <a:p>
            <a:pPr marL="285750" lvl="0" indent="-285750">
              <a:lnSpc>
                <a:spcPct val="130000"/>
              </a:lnSpc>
              <a:buFont typeface="Wingdings" pitchFamily="2" charset="2"/>
              <a:buChar char="Ø"/>
            </a:pPr>
            <a:r>
              <a:rPr lang="en-US" altLang="zh-CN" sz="1600" b="1" dirty="0" smtClean="0">
                <a:latin typeface="+mj-lt"/>
                <a:ea typeface="+mj-ea"/>
              </a:rPr>
              <a:t>#</a:t>
            </a:r>
            <a:r>
              <a:rPr lang="en-US" altLang="zh-CN" sz="1600" b="1" dirty="0">
                <a:latin typeface="+mj-lt"/>
                <a:ea typeface="+mj-ea"/>
              </a:rPr>
              <a:t>define</a:t>
            </a:r>
            <a:r>
              <a:rPr lang="zh-CN" altLang="en-US" sz="1600" b="1" dirty="0">
                <a:latin typeface="+mj-lt"/>
                <a:ea typeface="+mj-ea"/>
              </a:rPr>
              <a:t>是在预处理阶段处理的。</a:t>
            </a:r>
          </a:p>
        </p:txBody>
      </p:sp>
    </p:spTree>
    <p:extLst>
      <p:ext uri="{BB962C8B-B14F-4D97-AF65-F5344CB8AC3E}">
        <p14:creationId xmlns:p14="http://schemas.microsoft.com/office/powerpoint/2010/main" val="2375383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580105" y="1010698"/>
            <a:ext cx="2765501" cy="400110"/>
          </a:xfrm>
          <a:prstGeom prst="rect">
            <a:avLst/>
          </a:prstGeom>
        </p:spPr>
        <p:txBody>
          <a:bodyPr wrap="none">
            <a:spAutoFit/>
          </a:bodyPr>
          <a:lstStyle/>
          <a:p>
            <a:r>
              <a:rPr lang="zh-CN" altLang="en-US" sz="2000" b="1" dirty="0" smtClean="0">
                <a:solidFill>
                  <a:srgbClr val="CD7371"/>
                </a:solidFill>
                <a:latin typeface="隶书" pitchFamily="49" charset="-122"/>
                <a:ea typeface="隶书" pitchFamily="49" charset="-122"/>
              </a:rPr>
              <a:t>用法一</a:t>
            </a:r>
            <a:r>
              <a:rPr lang="zh-CN" altLang="en-US" b="1" dirty="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无参数宏定义</a:t>
            </a:r>
          </a:p>
        </p:txBody>
      </p:sp>
      <p:sp>
        <p:nvSpPr>
          <p:cNvPr id="22" name="矩形 21"/>
          <p:cNvSpPr/>
          <p:nvPr/>
        </p:nvSpPr>
        <p:spPr>
          <a:xfrm>
            <a:off x="3725111" y="1010698"/>
            <a:ext cx="5040560" cy="3170099"/>
          </a:xfrm>
          <a:prstGeom prst="rect">
            <a:avLst/>
          </a:prstGeom>
        </p:spPr>
        <p:txBody>
          <a:bodyPr wrap="square">
            <a:spAutoFit/>
          </a:bodyPr>
          <a:lstStyle/>
          <a:p>
            <a:pPr>
              <a:lnSpc>
                <a:spcPct val="125000"/>
              </a:lnSpc>
            </a:pPr>
            <a:r>
              <a:rPr lang="zh-CN" altLang="en-US" b="1" dirty="0" smtClean="0">
                <a:latin typeface="+mj-lt"/>
                <a:ea typeface="隶书" pitchFamily="49" charset="-122"/>
              </a:rPr>
              <a:t>例</a:t>
            </a:r>
            <a:r>
              <a:rPr lang="en-US" altLang="zh-CN" b="1" dirty="0">
                <a:latin typeface="+mj-lt"/>
                <a:ea typeface="隶书" pitchFamily="49" charset="-122"/>
              </a:rPr>
              <a:t>1</a:t>
            </a:r>
            <a:r>
              <a:rPr lang="zh-CN" altLang="en-US" b="1" dirty="0"/>
              <a:t>：</a:t>
            </a:r>
            <a:r>
              <a:rPr lang="en-US" altLang="zh-CN" b="1" dirty="0">
                <a:solidFill>
                  <a:schemeClr val="accent5">
                    <a:lumMod val="75000"/>
                  </a:schemeClr>
                </a:solidFill>
              </a:rPr>
              <a:t>#</a:t>
            </a:r>
            <a:r>
              <a:rPr lang="en-GB" altLang="zh-CN" b="1" dirty="0">
                <a:solidFill>
                  <a:schemeClr val="accent5">
                    <a:lumMod val="75000"/>
                  </a:schemeClr>
                </a:solidFill>
              </a:rPr>
              <a:t>define  UINT8_MAX  255</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smtClean="0">
                <a:solidFill>
                  <a:srgbClr val="CD7371"/>
                </a:solidFill>
                <a:latin typeface="+mn-ea"/>
              </a:rPr>
              <a:t>：</a:t>
            </a:r>
            <a:r>
              <a:rPr lang="zh-CN" altLang="en-US" b="1" dirty="0" smtClean="0">
                <a:latin typeface="+mn-ea"/>
              </a:rPr>
              <a:t>定义宏名</a:t>
            </a:r>
            <a:r>
              <a:rPr lang="en-GB" altLang="zh-CN" b="1" dirty="0" smtClean="0"/>
              <a:t>UINT8_MAX</a:t>
            </a:r>
            <a:r>
              <a:rPr lang="zh-CN" altLang="en-US" b="1" dirty="0" smtClean="0"/>
              <a:t>，代表</a:t>
            </a:r>
            <a:r>
              <a:rPr lang="en-US" altLang="zh-CN" b="1" dirty="0" smtClean="0"/>
              <a:t>255</a:t>
            </a:r>
            <a:r>
              <a:rPr lang="zh-CN" altLang="en-US" b="1" dirty="0"/>
              <a:t>。</a:t>
            </a:r>
          </a:p>
          <a:p>
            <a:pPr>
              <a:lnSpc>
                <a:spcPct val="125000"/>
              </a:lnSpc>
              <a:spcBef>
                <a:spcPts val="1200"/>
              </a:spcBef>
            </a:pPr>
            <a:r>
              <a:rPr lang="zh-CN" altLang="en-US" b="1" dirty="0">
                <a:latin typeface="+mj-lt"/>
                <a:ea typeface="隶书" pitchFamily="49" charset="-122"/>
              </a:rPr>
              <a:t>例</a:t>
            </a:r>
            <a:r>
              <a:rPr lang="en-US" altLang="zh-CN" b="1" dirty="0">
                <a:latin typeface="+mj-lt"/>
                <a:ea typeface="隶书" pitchFamily="49" charset="-122"/>
              </a:rPr>
              <a:t>2</a:t>
            </a:r>
            <a:r>
              <a:rPr lang="zh-CN" altLang="en-US" b="1" dirty="0"/>
              <a:t>：</a:t>
            </a:r>
            <a:r>
              <a:rPr lang="en-US" altLang="zh-CN" b="1" dirty="0">
                <a:solidFill>
                  <a:schemeClr val="accent5">
                    <a:lumMod val="75000"/>
                  </a:schemeClr>
                </a:solidFill>
              </a:rPr>
              <a:t>#</a:t>
            </a:r>
            <a:r>
              <a:rPr lang="en-GB" altLang="zh-CN" b="1" dirty="0">
                <a:solidFill>
                  <a:schemeClr val="accent5">
                    <a:lumMod val="75000"/>
                  </a:schemeClr>
                </a:solidFill>
              </a:rPr>
              <a:t>define  _ _IO   volatile;</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smtClean="0">
                <a:solidFill>
                  <a:srgbClr val="CD7371"/>
                </a:solidFill>
                <a:latin typeface="+mn-ea"/>
              </a:rPr>
              <a:t>：</a:t>
            </a:r>
            <a:r>
              <a:rPr lang="zh-CN" altLang="en-US" b="1" dirty="0" smtClean="0">
                <a:latin typeface="+mn-ea"/>
              </a:rPr>
              <a:t>定义宏名</a:t>
            </a:r>
            <a:r>
              <a:rPr lang="en-US" altLang="zh-CN" b="1" dirty="0" smtClean="0"/>
              <a:t>_ </a:t>
            </a:r>
            <a:r>
              <a:rPr lang="en-US" altLang="zh-CN" b="1" dirty="0"/>
              <a:t>_</a:t>
            </a:r>
            <a:r>
              <a:rPr lang="en-GB" altLang="zh-CN" b="1" dirty="0" smtClean="0"/>
              <a:t>IO</a:t>
            </a:r>
            <a:r>
              <a:rPr lang="zh-CN" altLang="en-US" b="1" dirty="0" smtClean="0"/>
              <a:t>，表示</a:t>
            </a:r>
            <a:r>
              <a:rPr lang="en-GB" altLang="zh-CN" b="1" dirty="0" smtClean="0"/>
              <a:t>volatile</a:t>
            </a:r>
            <a:r>
              <a:rPr lang="zh-CN" altLang="en-GB" b="1" dirty="0"/>
              <a:t>，</a:t>
            </a:r>
            <a:r>
              <a:rPr lang="zh-CN" altLang="en-US" b="1" dirty="0"/>
              <a:t>以后程序中</a:t>
            </a:r>
            <a:r>
              <a:rPr lang="zh-CN" altLang="en-US" b="1" dirty="0" smtClean="0"/>
              <a:t>再需要用</a:t>
            </a:r>
            <a:r>
              <a:rPr lang="zh-CN" altLang="en-US" b="1" dirty="0"/>
              <a:t>到</a:t>
            </a:r>
            <a:r>
              <a:rPr lang="en-GB" altLang="zh-CN" b="1" dirty="0"/>
              <a:t>volatile</a:t>
            </a:r>
            <a:r>
              <a:rPr lang="zh-CN" altLang="en-GB" b="1" dirty="0"/>
              <a:t>，</a:t>
            </a:r>
            <a:r>
              <a:rPr lang="zh-CN" altLang="en-US" b="1" dirty="0"/>
              <a:t>就可以使用</a:t>
            </a:r>
            <a:r>
              <a:rPr lang="en-US" altLang="zh-CN" b="1" dirty="0"/>
              <a:t>_ _</a:t>
            </a:r>
            <a:r>
              <a:rPr lang="en-GB" altLang="zh-CN" b="1" dirty="0" smtClean="0"/>
              <a:t>IO</a:t>
            </a:r>
            <a:r>
              <a:rPr lang="zh-CN" altLang="en-GB" b="1" dirty="0" smtClean="0"/>
              <a:t>。</a:t>
            </a:r>
            <a:endParaRPr lang="zh-CN" altLang="en-GB" b="1" dirty="0"/>
          </a:p>
          <a:p>
            <a:pPr>
              <a:lnSpc>
                <a:spcPct val="125000"/>
              </a:lnSpc>
              <a:spcBef>
                <a:spcPts val="1200"/>
              </a:spcBef>
            </a:pPr>
            <a:r>
              <a:rPr lang="zh-CN" altLang="en-US" b="1" dirty="0">
                <a:latin typeface="+mj-lt"/>
                <a:ea typeface="隶书" pitchFamily="49" charset="-122"/>
              </a:rPr>
              <a:t>例</a:t>
            </a:r>
            <a:r>
              <a:rPr lang="en-US" altLang="zh-CN" b="1" dirty="0">
                <a:latin typeface="+mj-lt"/>
                <a:ea typeface="隶书" pitchFamily="49" charset="-122"/>
              </a:rPr>
              <a:t>3</a:t>
            </a:r>
            <a:r>
              <a:rPr lang="zh-CN" altLang="en-US" b="1" dirty="0"/>
              <a:t>：</a:t>
            </a:r>
            <a:r>
              <a:rPr lang="en-US" altLang="zh-CN" sz="1400" b="1" dirty="0">
                <a:solidFill>
                  <a:schemeClr val="accent5">
                    <a:lumMod val="75000"/>
                  </a:schemeClr>
                </a:solidFill>
              </a:rPr>
              <a:t>#</a:t>
            </a:r>
            <a:r>
              <a:rPr lang="en-GB" altLang="zh-CN" sz="1400" b="1" dirty="0">
                <a:solidFill>
                  <a:schemeClr val="accent5">
                    <a:lumMod val="75000"/>
                  </a:schemeClr>
                </a:solidFill>
              </a:rPr>
              <a:t>define   RCC_AHBPeriph_DMA1   ((uint32_t)0x00000001)</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smtClean="0">
                <a:solidFill>
                  <a:srgbClr val="CD7371"/>
                </a:solidFill>
                <a:latin typeface="+mn-ea"/>
              </a:rPr>
              <a:t>：定义</a:t>
            </a:r>
            <a:r>
              <a:rPr lang="en-GB" altLang="zh-CN" b="1" dirty="0" smtClean="0"/>
              <a:t>RCC_AHBPeriph_DMA1</a:t>
            </a:r>
            <a:r>
              <a:rPr lang="zh-CN" altLang="en-US" b="1" dirty="0" smtClean="0"/>
              <a:t>宏名，代表</a:t>
            </a:r>
            <a:r>
              <a:rPr lang="en-US" altLang="zh-CN" b="1" dirty="0" smtClean="0"/>
              <a:t>32</a:t>
            </a:r>
            <a:r>
              <a:rPr lang="zh-CN" altLang="en-US" b="1" dirty="0"/>
              <a:t>位的无符号数据</a:t>
            </a:r>
            <a:r>
              <a:rPr lang="en-US" altLang="zh-CN" b="1" dirty="0"/>
              <a:t>0</a:t>
            </a:r>
            <a:r>
              <a:rPr lang="en-GB" altLang="zh-CN" b="1" dirty="0"/>
              <a:t>x00000001</a:t>
            </a:r>
            <a:r>
              <a:rPr lang="zh-CN" altLang="en-GB" b="1" dirty="0" smtClean="0"/>
              <a:t>。</a:t>
            </a:r>
            <a:endParaRPr lang="zh-CN" altLang="en-GB" b="1" dirty="0"/>
          </a:p>
        </p:txBody>
      </p:sp>
      <p:sp>
        <p:nvSpPr>
          <p:cNvPr id="23" name="矩形 22"/>
          <p:cNvSpPr/>
          <p:nvPr/>
        </p:nvSpPr>
        <p:spPr>
          <a:xfrm>
            <a:off x="179513" y="1562565"/>
            <a:ext cx="3294838" cy="861774"/>
          </a:xfrm>
          <a:prstGeom prst="rect">
            <a:avLst/>
          </a:prstGeom>
          <a:solidFill>
            <a:schemeClr val="accent5">
              <a:lumMod val="20000"/>
              <a:lumOff val="80000"/>
            </a:schemeClr>
          </a:solidFill>
        </p:spPr>
        <p:txBody>
          <a:bodyPr wrap="square">
            <a:spAutoFit/>
          </a:bodyPr>
          <a:lstStyle/>
          <a:p>
            <a:pPr lvl="0">
              <a:lnSpc>
                <a:spcPct val="125000"/>
              </a:lnSpc>
            </a:pPr>
            <a:r>
              <a:rPr lang="zh-CN" altLang="en-US" sz="2000" b="1" dirty="0" smtClean="0">
                <a:solidFill>
                  <a:schemeClr val="accent5">
                    <a:lumMod val="75000"/>
                  </a:schemeClr>
                </a:solidFill>
                <a:latin typeface="隶书" pitchFamily="49" charset="-122"/>
                <a:ea typeface="隶书" pitchFamily="49" charset="-122"/>
              </a:rPr>
              <a:t>定义格式：</a:t>
            </a:r>
            <a:endParaRPr lang="en-US" altLang="zh-CN" sz="2000" b="1" dirty="0" smtClean="0">
              <a:solidFill>
                <a:schemeClr val="accent5">
                  <a:lumMod val="75000"/>
                </a:schemeClr>
              </a:solidFill>
              <a:latin typeface="隶书" pitchFamily="49" charset="-122"/>
              <a:ea typeface="隶书" pitchFamily="49" charset="-122"/>
            </a:endParaRPr>
          </a:p>
          <a:p>
            <a:pPr lvl="0">
              <a:lnSpc>
                <a:spcPct val="125000"/>
              </a:lnSpc>
            </a:pPr>
            <a:r>
              <a:rPr lang="en-US" altLang="zh-CN" sz="2000" b="1" dirty="0">
                <a:solidFill>
                  <a:prstClr val="black"/>
                </a:solidFill>
              </a:rPr>
              <a:t> </a:t>
            </a:r>
            <a:r>
              <a:rPr lang="en-US" altLang="zh-CN" sz="2000" b="1" dirty="0" smtClean="0">
                <a:solidFill>
                  <a:prstClr val="black"/>
                </a:solidFill>
              </a:rPr>
              <a:t>      </a:t>
            </a:r>
            <a:r>
              <a:rPr lang="en-US" altLang="zh-CN" sz="2000" b="1" dirty="0">
                <a:solidFill>
                  <a:prstClr val="black"/>
                </a:solidFill>
              </a:rPr>
              <a:t>#define &lt;</a:t>
            </a:r>
            <a:r>
              <a:rPr lang="zh-CN" altLang="en-US" sz="2000" b="1" dirty="0">
                <a:solidFill>
                  <a:prstClr val="black"/>
                </a:solidFill>
              </a:rPr>
              <a:t>宏名</a:t>
            </a:r>
            <a:r>
              <a:rPr lang="en-US" altLang="zh-CN" sz="2000" b="1" dirty="0">
                <a:solidFill>
                  <a:prstClr val="black"/>
                </a:solidFill>
              </a:rPr>
              <a:t>&gt; &lt;</a:t>
            </a:r>
            <a:r>
              <a:rPr lang="zh-CN" altLang="en-US" sz="2000" b="1" dirty="0">
                <a:solidFill>
                  <a:prstClr val="black"/>
                </a:solidFill>
              </a:rPr>
              <a:t>字符串</a:t>
            </a:r>
            <a:r>
              <a:rPr lang="en-US" altLang="zh-CN" sz="2000" b="1" dirty="0">
                <a:solidFill>
                  <a:prstClr val="black"/>
                </a:solidFill>
              </a:rPr>
              <a:t>&gt;</a:t>
            </a:r>
            <a:endParaRPr lang="zh-CN" altLang="en-US" sz="2000" b="1" dirty="0">
              <a:solidFill>
                <a:schemeClr val="accent4">
                  <a:lumMod val="50000"/>
                </a:schemeClr>
              </a:solidFill>
            </a:endParaRPr>
          </a:p>
        </p:txBody>
      </p:sp>
      <p:sp>
        <p:nvSpPr>
          <p:cNvPr id="26" name="椭圆形标注 25"/>
          <p:cNvSpPr/>
          <p:nvPr/>
        </p:nvSpPr>
        <p:spPr>
          <a:xfrm>
            <a:off x="440279" y="2734048"/>
            <a:ext cx="1512168" cy="629790"/>
          </a:xfrm>
          <a:prstGeom prst="wedgeEllipseCallout">
            <a:avLst>
              <a:gd name="adj1" fmla="val 46668"/>
              <a:gd name="adj2" fmla="val -11261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600" b="1" dirty="0">
                <a:solidFill>
                  <a:schemeClr val="accent3">
                    <a:lumMod val="50000"/>
                  </a:schemeClr>
                </a:solidFill>
              </a:rPr>
              <a:t>所定义的宏</a:t>
            </a:r>
            <a:r>
              <a:rPr lang="zh-CN" altLang="en-US" sz="1600" b="1" dirty="0" smtClean="0">
                <a:solidFill>
                  <a:schemeClr val="accent3">
                    <a:lumMod val="50000"/>
                  </a:schemeClr>
                </a:solidFill>
              </a:rPr>
              <a:t>名</a:t>
            </a:r>
          </a:p>
        </p:txBody>
      </p:sp>
      <p:sp>
        <p:nvSpPr>
          <p:cNvPr id="30" name="圆角矩形标注 29"/>
          <p:cNvSpPr/>
          <p:nvPr/>
        </p:nvSpPr>
        <p:spPr>
          <a:xfrm>
            <a:off x="988480" y="3659206"/>
            <a:ext cx="1908960" cy="676404"/>
          </a:xfrm>
          <a:prstGeom prst="wedgeRoundRectCallout">
            <a:avLst>
              <a:gd name="adj1" fmla="val 39249"/>
              <a:gd name="adj2" fmla="val -237292"/>
              <a:gd name="adj3" fmla="val 16667"/>
            </a:avLst>
          </a:prstGeom>
          <a:ln>
            <a:solidFill>
              <a:schemeClr val="accent4">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chemeClr val="accent4">
                    <a:lumMod val="75000"/>
                  </a:schemeClr>
                </a:solidFill>
              </a:rPr>
              <a:t>可以是常数、字符串、表达式</a:t>
            </a:r>
            <a:r>
              <a:rPr lang="zh-CN" altLang="en-US" sz="1600" b="1" dirty="0" smtClean="0">
                <a:solidFill>
                  <a:schemeClr val="accent4">
                    <a:lumMod val="75000"/>
                  </a:schemeClr>
                </a:solidFill>
              </a:rPr>
              <a:t>等</a:t>
            </a:r>
          </a:p>
        </p:txBody>
      </p:sp>
    </p:spTree>
    <p:extLst>
      <p:ext uri="{BB962C8B-B14F-4D97-AF65-F5344CB8AC3E}">
        <p14:creationId xmlns:p14="http://schemas.microsoft.com/office/powerpoint/2010/main" val="2523284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1" name="矩形 20"/>
          <p:cNvSpPr/>
          <p:nvPr/>
        </p:nvSpPr>
        <p:spPr>
          <a:xfrm>
            <a:off x="445788" y="1275606"/>
            <a:ext cx="2765501" cy="400110"/>
          </a:xfrm>
          <a:prstGeom prst="rect">
            <a:avLst/>
          </a:prstGeom>
        </p:spPr>
        <p:txBody>
          <a:bodyPr wrap="none">
            <a:spAutoFit/>
          </a:bodyPr>
          <a:lstStyle/>
          <a:p>
            <a:r>
              <a:rPr lang="zh-CN" altLang="en-US" sz="2000" b="1" dirty="0" smtClean="0">
                <a:solidFill>
                  <a:srgbClr val="CD7371"/>
                </a:solidFill>
                <a:latin typeface="隶书" pitchFamily="49" charset="-122"/>
                <a:ea typeface="隶书" pitchFamily="49" charset="-122"/>
              </a:rPr>
              <a:t>用法一：</a:t>
            </a:r>
            <a:r>
              <a:rPr lang="zh-CN" altLang="en-US" sz="2000" b="1" dirty="0">
                <a:solidFill>
                  <a:schemeClr val="accent5">
                    <a:lumMod val="50000"/>
                  </a:schemeClr>
                </a:solidFill>
                <a:latin typeface="隶书" pitchFamily="49" charset="-122"/>
                <a:ea typeface="隶书" pitchFamily="49" charset="-122"/>
              </a:rPr>
              <a:t>无参数宏定义</a:t>
            </a:r>
          </a:p>
        </p:txBody>
      </p:sp>
      <p:sp>
        <p:nvSpPr>
          <p:cNvPr id="22" name="矩形 21"/>
          <p:cNvSpPr/>
          <p:nvPr/>
        </p:nvSpPr>
        <p:spPr>
          <a:xfrm>
            <a:off x="971600" y="2211710"/>
            <a:ext cx="259228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t>     标准外设库</a:t>
            </a:r>
            <a:r>
              <a:rPr lang="en-GB" altLang="zh-CN" b="1" dirty="0" smtClean="0"/>
              <a:t>v3.5.0</a:t>
            </a:r>
            <a:r>
              <a:rPr lang="zh-CN" altLang="en-US" b="1" dirty="0" smtClean="0"/>
              <a:t>的</a:t>
            </a:r>
            <a:r>
              <a:rPr lang="en-GB" altLang="zh-CN" b="1" dirty="0" smtClean="0"/>
              <a:t>stm32f10x_rcc.h</a:t>
            </a:r>
            <a:r>
              <a:rPr lang="zh-CN" altLang="en-US" b="1" dirty="0"/>
              <a:t>文件中</a:t>
            </a:r>
            <a:r>
              <a:rPr lang="en-GB" altLang="zh-CN" b="1" dirty="0"/>
              <a:t>APB2_peripheral</a:t>
            </a:r>
            <a:r>
              <a:rPr lang="zh-CN" altLang="en-US" b="1" dirty="0"/>
              <a:t>外设基地址的</a:t>
            </a:r>
            <a:r>
              <a:rPr lang="zh-CN" altLang="en-US" b="1" dirty="0" smtClean="0"/>
              <a:t>定义</a:t>
            </a:r>
            <a:endParaRPr lang="zh-CN" altLang="en-US" b="1" dirty="0"/>
          </a:p>
        </p:txBody>
      </p:sp>
      <p:pic>
        <p:nvPicPr>
          <p:cNvPr id="10" name="图片 9" descr="C:\Users\DELL\Desktop\Snipaste_2019-02-13_11-33-33.png"/>
          <p:cNvPicPr/>
          <p:nvPr/>
        </p:nvPicPr>
        <p:blipFill>
          <a:blip r:embed="rId2">
            <a:extLst>
              <a:ext uri="{28A0092B-C50C-407E-A947-70E740481C1C}">
                <a14:useLocalDpi xmlns:a14="http://schemas.microsoft.com/office/drawing/2010/main" val="0"/>
              </a:ext>
            </a:extLst>
          </a:blip>
          <a:srcRect/>
          <a:stretch>
            <a:fillRect/>
          </a:stretch>
        </p:blipFill>
        <p:spPr bwMode="auto">
          <a:xfrm>
            <a:off x="3923928" y="843558"/>
            <a:ext cx="4543038" cy="3552255"/>
          </a:xfrm>
          <a:prstGeom prst="rect">
            <a:avLst/>
          </a:prstGeom>
          <a:noFill/>
          <a:ln>
            <a:noFill/>
          </a:ln>
        </p:spPr>
      </p:pic>
      <p:sp>
        <p:nvSpPr>
          <p:cNvPr id="3" name="矩形 2"/>
          <p:cNvSpPr/>
          <p:nvPr/>
        </p:nvSpPr>
        <p:spPr>
          <a:xfrm>
            <a:off x="4860032" y="4403924"/>
            <a:ext cx="3147015" cy="307777"/>
          </a:xfrm>
          <a:prstGeom prst="rect">
            <a:avLst/>
          </a:prstGeom>
        </p:spPr>
        <p:txBody>
          <a:bodyPr wrap="none">
            <a:spAutoFit/>
          </a:bodyPr>
          <a:lstStyle/>
          <a:p>
            <a:r>
              <a:rPr lang="en-US" altLang="zh-CN" sz="1400" b="1" kern="0" dirty="0">
                <a:latin typeface="Times New Roman"/>
                <a:ea typeface="黑体"/>
              </a:rPr>
              <a:t>APB2_peripheral</a:t>
            </a:r>
            <a:r>
              <a:rPr lang="zh-CN" altLang="zh-CN" sz="1400" b="1" kern="0" dirty="0">
                <a:latin typeface="Times New Roman"/>
                <a:ea typeface="黑体"/>
                <a:cs typeface="Times New Roman"/>
              </a:rPr>
              <a:t>各外设基地址的定义</a:t>
            </a:r>
            <a:endParaRPr lang="zh-CN" altLang="en-US" sz="1400" b="1" dirty="0"/>
          </a:p>
        </p:txBody>
      </p:sp>
    </p:spTree>
    <p:extLst>
      <p:ext uri="{BB962C8B-B14F-4D97-AF65-F5344CB8AC3E}">
        <p14:creationId xmlns:p14="http://schemas.microsoft.com/office/powerpoint/2010/main" val="3229443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3377943" y="430438"/>
            <a:ext cx="2997937" cy="400110"/>
          </a:xfrm>
          <a:prstGeom prst="rect">
            <a:avLst/>
          </a:prstGeom>
        </p:spPr>
        <p:txBody>
          <a:bodyPr wrap="none">
            <a:spAutoFit/>
          </a:bodyPr>
          <a:lstStyle/>
          <a:p>
            <a:r>
              <a:rPr lang="zh-CN" altLang="en-US" sz="2000" b="1" dirty="0" smtClean="0">
                <a:solidFill>
                  <a:srgbClr val="CD7371"/>
                </a:solidFill>
                <a:latin typeface="隶书" pitchFamily="49" charset="-122"/>
                <a:ea typeface="隶书" pitchFamily="49" charset="-122"/>
              </a:rPr>
              <a:t>用法</a:t>
            </a:r>
            <a:r>
              <a:rPr lang="zh-CN" altLang="en-US" sz="2000" b="1" dirty="0">
                <a:solidFill>
                  <a:srgbClr val="CD7371"/>
                </a:solidFill>
                <a:latin typeface="隶书" pitchFamily="49" charset="-122"/>
                <a:ea typeface="隶书" pitchFamily="49" charset="-122"/>
              </a:rPr>
              <a:t>二</a:t>
            </a:r>
            <a:r>
              <a:rPr lang="zh-CN" altLang="en-US" b="1" dirty="0" smtClean="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带参数的宏定义</a:t>
            </a:r>
          </a:p>
        </p:txBody>
      </p:sp>
      <p:sp>
        <p:nvSpPr>
          <p:cNvPr id="22" name="矩形 21"/>
          <p:cNvSpPr/>
          <p:nvPr/>
        </p:nvSpPr>
        <p:spPr>
          <a:xfrm>
            <a:off x="594696" y="1826238"/>
            <a:ext cx="7992888" cy="2862322"/>
          </a:xfrm>
          <a:prstGeom prst="rect">
            <a:avLst/>
          </a:prstGeom>
          <a:ln w="19050">
            <a:solidFill>
              <a:schemeClr val="accent4">
                <a:lumMod val="60000"/>
                <a:lumOff val="40000"/>
              </a:schemeClr>
            </a:solidFill>
            <a:prstDash val="sysDot"/>
          </a:ln>
        </p:spPr>
        <p:txBody>
          <a:bodyPr wrap="square">
            <a:spAutoFit/>
          </a:bodyPr>
          <a:lstStyle/>
          <a:p>
            <a:pPr>
              <a:lnSpc>
                <a:spcPct val="125000"/>
              </a:lnSpc>
            </a:pPr>
            <a:r>
              <a:rPr lang="zh-CN" altLang="en-US" b="1" dirty="0">
                <a:solidFill>
                  <a:srgbClr val="CD7371"/>
                </a:solidFill>
                <a:latin typeface="隶书" pitchFamily="49" charset="-122"/>
                <a:ea typeface="隶书" pitchFamily="49" charset="-122"/>
              </a:rPr>
              <a:t>例</a:t>
            </a:r>
            <a:r>
              <a:rPr lang="en-US" altLang="zh-CN" b="1" dirty="0">
                <a:solidFill>
                  <a:srgbClr val="CD7371"/>
                </a:solidFill>
                <a:ea typeface="隶书" pitchFamily="49" charset="-122"/>
              </a:rPr>
              <a:t>4</a:t>
            </a:r>
            <a:r>
              <a:rPr lang="zh-CN" altLang="en-US" b="1" dirty="0">
                <a:solidFill>
                  <a:srgbClr val="CD7371"/>
                </a:solidFill>
                <a:latin typeface="+mn-ea"/>
              </a:rPr>
              <a:t>：</a:t>
            </a:r>
            <a:r>
              <a:rPr lang="en-US" altLang="zh-CN" sz="1600" b="1" dirty="0">
                <a:solidFill>
                  <a:schemeClr val="accent5">
                    <a:lumMod val="75000"/>
                  </a:schemeClr>
                </a:solidFill>
              </a:rPr>
              <a:t>#</a:t>
            </a:r>
            <a:r>
              <a:rPr lang="en-GB" altLang="zh-CN" sz="1600" b="1" dirty="0">
                <a:solidFill>
                  <a:schemeClr val="accent5">
                    <a:lumMod val="75000"/>
                  </a:schemeClr>
                </a:solidFill>
              </a:rPr>
              <a:t>define   SUM(</a:t>
            </a:r>
            <a:r>
              <a:rPr lang="en-GB" altLang="zh-CN" sz="1600" b="1" dirty="0" err="1">
                <a:solidFill>
                  <a:schemeClr val="accent5">
                    <a:lumMod val="75000"/>
                  </a:schemeClr>
                </a:solidFill>
              </a:rPr>
              <a:t>x,y</a:t>
            </a:r>
            <a:r>
              <a:rPr lang="en-GB" altLang="zh-CN" sz="1600" b="1" dirty="0">
                <a:solidFill>
                  <a:schemeClr val="accent5">
                    <a:lumMod val="75000"/>
                  </a:schemeClr>
                </a:solidFill>
              </a:rPr>
              <a:t>)   (</a:t>
            </a:r>
            <a:r>
              <a:rPr lang="en-GB" altLang="zh-CN" sz="1600" b="1" dirty="0" err="1">
                <a:solidFill>
                  <a:schemeClr val="accent5">
                    <a:lumMod val="75000"/>
                  </a:schemeClr>
                </a:solidFill>
              </a:rPr>
              <a:t>x+y</a:t>
            </a:r>
            <a:r>
              <a:rPr lang="en-GB" altLang="zh-CN" sz="1600" b="1" dirty="0">
                <a:solidFill>
                  <a:schemeClr val="accent5">
                    <a:lumMod val="75000"/>
                  </a:schemeClr>
                </a:solidFill>
              </a:rPr>
              <a:t>)</a:t>
            </a:r>
          </a:p>
          <a:p>
            <a:pPr lvl="1">
              <a:lnSpc>
                <a:spcPct val="125000"/>
              </a:lnSpc>
            </a:pPr>
            <a:r>
              <a:rPr lang="en-GB" altLang="zh-CN" sz="1600" b="1" dirty="0" smtClean="0">
                <a:solidFill>
                  <a:schemeClr val="accent5">
                    <a:lumMod val="75000"/>
                  </a:schemeClr>
                </a:solidFill>
              </a:rPr>
              <a:t>  ……</a:t>
            </a:r>
            <a:endParaRPr lang="en-GB" altLang="zh-CN" sz="1600" b="1" dirty="0">
              <a:solidFill>
                <a:schemeClr val="accent5">
                  <a:lumMod val="75000"/>
                </a:schemeClr>
              </a:solidFill>
            </a:endParaRPr>
          </a:p>
          <a:p>
            <a:pPr lvl="1">
              <a:lnSpc>
                <a:spcPct val="125000"/>
              </a:lnSpc>
            </a:pPr>
            <a:r>
              <a:rPr lang="en-GB" altLang="zh-CN" sz="1600" b="1" dirty="0" smtClean="0">
                <a:solidFill>
                  <a:schemeClr val="accent5">
                    <a:lumMod val="75000"/>
                  </a:schemeClr>
                </a:solidFill>
              </a:rPr>
              <a:t>  a </a:t>
            </a:r>
            <a:r>
              <a:rPr lang="en-GB" altLang="zh-CN" sz="1600" b="1" dirty="0">
                <a:solidFill>
                  <a:schemeClr val="accent5">
                    <a:lumMod val="75000"/>
                  </a:schemeClr>
                </a:solidFill>
              </a:rPr>
              <a:t>= SUM(2,2)</a:t>
            </a:r>
            <a:r>
              <a:rPr lang="zh-CN" altLang="en-GB" sz="1600" b="1" dirty="0">
                <a:solidFill>
                  <a:schemeClr val="accent5">
                    <a:lumMod val="75000"/>
                  </a:schemeClr>
                </a:solidFill>
              </a:rPr>
              <a:t>；</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sz="1600" b="1" dirty="0" smtClean="0"/>
              <a:t>将</a:t>
            </a:r>
            <a:r>
              <a:rPr lang="en-GB" altLang="zh-CN" sz="1600" b="1" dirty="0"/>
              <a:t>SUM(</a:t>
            </a:r>
            <a:r>
              <a:rPr lang="en-GB" altLang="zh-CN" sz="1600" b="1" dirty="0" err="1"/>
              <a:t>x,y</a:t>
            </a:r>
            <a:r>
              <a:rPr lang="en-GB" altLang="zh-CN" sz="1600" b="1" dirty="0"/>
              <a:t>)</a:t>
            </a:r>
            <a:r>
              <a:rPr lang="zh-CN" altLang="en-US" sz="1600" b="1" dirty="0"/>
              <a:t>定义为</a:t>
            </a:r>
            <a:r>
              <a:rPr lang="en-GB" altLang="zh-CN" sz="1600" b="1" dirty="0" err="1"/>
              <a:t>x+y</a:t>
            </a:r>
            <a:r>
              <a:rPr lang="zh-CN" altLang="en-GB" sz="1600" b="1" dirty="0" smtClean="0"/>
              <a:t>，</a:t>
            </a:r>
            <a:r>
              <a:rPr lang="zh-CN" altLang="en-US" sz="1600" b="1" dirty="0" smtClean="0"/>
              <a:t>预编译时会</a:t>
            </a:r>
            <a:r>
              <a:rPr lang="zh-CN" altLang="en-US" sz="1600" b="1" dirty="0"/>
              <a:t>将</a:t>
            </a:r>
            <a:r>
              <a:rPr lang="en-GB" altLang="zh-CN" sz="1600" b="1" dirty="0"/>
              <a:t>SUM(</a:t>
            </a:r>
            <a:r>
              <a:rPr lang="en-GB" altLang="zh-CN" sz="1600" b="1" dirty="0" err="1"/>
              <a:t>x,y</a:t>
            </a:r>
            <a:r>
              <a:rPr lang="en-GB" altLang="zh-CN" sz="1600" b="1" dirty="0"/>
              <a:t>)</a:t>
            </a:r>
            <a:r>
              <a:rPr lang="zh-CN" altLang="en-US" sz="1600" b="1" dirty="0"/>
              <a:t>替换为</a:t>
            </a:r>
            <a:r>
              <a:rPr lang="en-GB" altLang="zh-CN" sz="1600" b="1" dirty="0" err="1" smtClean="0"/>
              <a:t>x+y</a:t>
            </a:r>
            <a:r>
              <a:rPr lang="zh-CN" altLang="en-US" sz="1600" b="1" dirty="0" smtClean="0"/>
              <a:t>，</a:t>
            </a:r>
            <a:r>
              <a:rPr lang="en-GB" altLang="zh-CN" sz="1600" b="1" dirty="0" smtClean="0"/>
              <a:t>a</a:t>
            </a:r>
            <a:r>
              <a:rPr lang="zh-CN" altLang="en-US" sz="1600" b="1" dirty="0"/>
              <a:t>的结果是</a:t>
            </a:r>
            <a:r>
              <a:rPr lang="en-US" altLang="zh-CN" sz="1600" b="1" dirty="0" smtClean="0"/>
              <a:t>4</a:t>
            </a:r>
            <a:endParaRPr lang="zh-CN" altLang="en-GB" sz="1600" b="1" dirty="0"/>
          </a:p>
          <a:p>
            <a:pPr>
              <a:lnSpc>
                <a:spcPct val="125000"/>
              </a:lnSpc>
              <a:spcBef>
                <a:spcPts val="1200"/>
              </a:spcBef>
            </a:pPr>
            <a:r>
              <a:rPr lang="zh-CN" altLang="en-US" b="1" dirty="0">
                <a:solidFill>
                  <a:srgbClr val="CD7371"/>
                </a:solidFill>
                <a:latin typeface="隶书" pitchFamily="49" charset="-122"/>
                <a:ea typeface="隶书" pitchFamily="49" charset="-122"/>
              </a:rPr>
              <a:t>例</a:t>
            </a:r>
            <a:r>
              <a:rPr lang="en-US" altLang="zh-CN" b="1" dirty="0">
                <a:solidFill>
                  <a:srgbClr val="CD7371"/>
                </a:solidFill>
                <a:ea typeface="隶书" pitchFamily="49" charset="-122"/>
              </a:rPr>
              <a:t>5</a:t>
            </a:r>
            <a:r>
              <a:rPr lang="zh-CN" altLang="en-US" b="1" dirty="0">
                <a:solidFill>
                  <a:srgbClr val="CD7371"/>
                </a:solidFill>
                <a:latin typeface="+mn-ea"/>
              </a:rPr>
              <a:t>：</a:t>
            </a:r>
            <a:r>
              <a:rPr lang="en-US" altLang="zh-CN" sz="1600" b="1" dirty="0">
                <a:solidFill>
                  <a:schemeClr val="accent5">
                    <a:lumMod val="75000"/>
                  </a:schemeClr>
                </a:solidFill>
              </a:rPr>
              <a:t>#</a:t>
            </a:r>
            <a:r>
              <a:rPr lang="en-GB" altLang="zh-CN" sz="1600" b="1" dirty="0">
                <a:solidFill>
                  <a:schemeClr val="accent5">
                    <a:lumMod val="75000"/>
                  </a:schemeClr>
                </a:solidFill>
              </a:rPr>
              <a:t>define   IS_GPIO_SPEED(SPEED)    (((SPEED) == GPIO_Speed_10MHz) || ((SPEED)</a:t>
            </a:r>
          </a:p>
          <a:p>
            <a:pPr>
              <a:lnSpc>
                <a:spcPct val="125000"/>
              </a:lnSpc>
            </a:pPr>
            <a:r>
              <a:rPr lang="en-GB" altLang="zh-CN" sz="1600" b="1" dirty="0">
                <a:solidFill>
                  <a:schemeClr val="accent5">
                    <a:lumMod val="75000"/>
                  </a:schemeClr>
                </a:solidFill>
              </a:rPr>
              <a:t>== GPIO_Speed_2MHz) || ((SPEED) == GPIO_Speed_50MHz))</a:t>
            </a:r>
          </a:p>
          <a:p>
            <a:pPr>
              <a:lnSpc>
                <a:spcPct val="125000"/>
              </a:lnSpc>
            </a:pPr>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sz="1600" b="1" dirty="0" smtClean="0"/>
              <a:t>使用</a:t>
            </a:r>
            <a:r>
              <a:rPr lang="zh-CN" altLang="en-US" sz="1600" b="1" dirty="0"/>
              <a:t>宏定义</a:t>
            </a:r>
            <a:r>
              <a:rPr lang="en-US" altLang="zh-CN" sz="1600" b="1" dirty="0"/>
              <a:t>#</a:t>
            </a:r>
            <a:r>
              <a:rPr lang="en-GB" altLang="zh-CN" sz="1600" b="1" dirty="0"/>
              <a:t>define</a:t>
            </a:r>
            <a:r>
              <a:rPr lang="zh-CN" altLang="en-US" sz="1600" b="1" dirty="0"/>
              <a:t>将</a:t>
            </a:r>
            <a:r>
              <a:rPr lang="en-GB" altLang="zh-CN" sz="1600" b="1" dirty="0"/>
              <a:t>IS_GPIO_SPEED(SPEED)</a:t>
            </a:r>
            <a:r>
              <a:rPr lang="zh-CN" altLang="en-US" sz="1600" b="1" dirty="0"/>
              <a:t>替换为</a:t>
            </a:r>
            <a:r>
              <a:rPr lang="en-GB" altLang="zh-CN" sz="1600" b="1" dirty="0"/>
              <a:t>GPIO_Speed_10MHz</a:t>
            </a:r>
            <a:r>
              <a:rPr lang="zh-CN" altLang="en-US" sz="1600" b="1" dirty="0"/>
              <a:t>或者</a:t>
            </a:r>
            <a:r>
              <a:rPr lang="en-GB" altLang="zh-CN" sz="1600" b="1" dirty="0"/>
              <a:t>GPIO_Speed_2MHz</a:t>
            </a:r>
            <a:r>
              <a:rPr lang="zh-CN" altLang="en-US" sz="1600" b="1" dirty="0"/>
              <a:t>或者</a:t>
            </a:r>
            <a:r>
              <a:rPr lang="en-GB" altLang="zh-CN" sz="1600" b="1" dirty="0"/>
              <a:t>GPIO_Speed_50MHz</a:t>
            </a:r>
            <a:r>
              <a:rPr lang="zh-CN" altLang="en-GB" sz="1600" b="1" dirty="0" smtClean="0"/>
              <a:t>。</a:t>
            </a:r>
            <a:endParaRPr lang="zh-CN" altLang="en-GB" sz="1600" b="1" dirty="0"/>
          </a:p>
        </p:txBody>
      </p:sp>
      <p:sp>
        <p:nvSpPr>
          <p:cNvPr id="23" name="矩形 22"/>
          <p:cNvSpPr/>
          <p:nvPr/>
        </p:nvSpPr>
        <p:spPr>
          <a:xfrm>
            <a:off x="1763688" y="873078"/>
            <a:ext cx="6606480" cy="861774"/>
          </a:xfrm>
          <a:prstGeom prst="rect">
            <a:avLst/>
          </a:prstGeom>
          <a:solidFill>
            <a:schemeClr val="accent5">
              <a:lumMod val="20000"/>
              <a:lumOff val="80000"/>
            </a:schemeClr>
          </a:solidFill>
        </p:spPr>
        <p:txBody>
          <a:bodyPr wrap="square">
            <a:spAutoFit/>
          </a:bodyPr>
          <a:lstStyle/>
          <a:p>
            <a:pPr lvl="0">
              <a:lnSpc>
                <a:spcPct val="125000"/>
              </a:lnSpc>
            </a:pPr>
            <a:r>
              <a:rPr lang="zh-CN" altLang="en-US" sz="2000" b="1" dirty="0" smtClean="0">
                <a:solidFill>
                  <a:schemeClr val="accent5">
                    <a:lumMod val="75000"/>
                  </a:schemeClr>
                </a:solidFill>
                <a:latin typeface="隶书" pitchFamily="49" charset="-122"/>
                <a:ea typeface="隶书" pitchFamily="49" charset="-122"/>
              </a:rPr>
              <a:t>定义格式：</a:t>
            </a:r>
            <a:endParaRPr lang="en-US" altLang="zh-CN" sz="2000" b="1" dirty="0" smtClean="0">
              <a:solidFill>
                <a:schemeClr val="accent5">
                  <a:lumMod val="75000"/>
                </a:schemeClr>
              </a:solidFill>
              <a:latin typeface="隶书" pitchFamily="49" charset="-122"/>
              <a:ea typeface="隶书" pitchFamily="49" charset="-122"/>
            </a:endParaRPr>
          </a:p>
          <a:p>
            <a:pPr lvl="0">
              <a:lnSpc>
                <a:spcPct val="125000"/>
              </a:lnSpc>
            </a:pPr>
            <a:r>
              <a:rPr lang="en-US" altLang="zh-CN" sz="2000" b="1" dirty="0">
                <a:solidFill>
                  <a:prstClr val="black"/>
                </a:solidFill>
              </a:rPr>
              <a:t>       #define&lt;</a:t>
            </a:r>
            <a:r>
              <a:rPr lang="zh-CN" altLang="en-US" sz="2000" b="1" dirty="0">
                <a:solidFill>
                  <a:prstClr val="black"/>
                </a:solidFill>
              </a:rPr>
              <a:t>宏名</a:t>
            </a:r>
            <a:r>
              <a:rPr lang="en-US" altLang="zh-CN" sz="2000" b="1" dirty="0">
                <a:solidFill>
                  <a:prstClr val="black"/>
                </a:solidFill>
              </a:rPr>
              <a:t>&gt;</a:t>
            </a:r>
            <a:r>
              <a:rPr lang="zh-CN" altLang="en-US" sz="2000" b="1" dirty="0">
                <a:solidFill>
                  <a:prstClr val="black"/>
                </a:solidFill>
              </a:rPr>
              <a:t>（参数</a:t>
            </a:r>
            <a:r>
              <a:rPr lang="en-US" altLang="zh-CN" sz="2000" b="1" dirty="0">
                <a:solidFill>
                  <a:prstClr val="black"/>
                </a:solidFill>
              </a:rPr>
              <a:t>1</a:t>
            </a:r>
            <a:r>
              <a:rPr lang="zh-CN" altLang="en-US" sz="2000" b="1" dirty="0">
                <a:solidFill>
                  <a:prstClr val="black"/>
                </a:solidFill>
              </a:rPr>
              <a:t>，参数</a:t>
            </a:r>
            <a:r>
              <a:rPr lang="en-US" altLang="zh-CN" sz="2000" b="1" dirty="0">
                <a:solidFill>
                  <a:prstClr val="black"/>
                </a:solidFill>
              </a:rPr>
              <a:t>2</a:t>
            </a:r>
            <a:r>
              <a:rPr lang="zh-CN" altLang="en-US" sz="2000" b="1" dirty="0">
                <a:solidFill>
                  <a:prstClr val="black"/>
                </a:solidFill>
              </a:rPr>
              <a:t>，</a:t>
            </a:r>
            <a:r>
              <a:rPr lang="en-US" altLang="zh-CN" sz="2000" b="1" dirty="0">
                <a:solidFill>
                  <a:prstClr val="black"/>
                </a:solidFill>
              </a:rPr>
              <a:t>…</a:t>
            </a:r>
            <a:r>
              <a:rPr lang="zh-CN" altLang="en-US" sz="2000" b="1" dirty="0">
                <a:solidFill>
                  <a:prstClr val="black"/>
                </a:solidFill>
              </a:rPr>
              <a:t>参数</a:t>
            </a:r>
            <a:r>
              <a:rPr lang="en-US" altLang="zh-CN" sz="2000" b="1" dirty="0">
                <a:solidFill>
                  <a:prstClr val="black"/>
                </a:solidFill>
              </a:rPr>
              <a:t>n</a:t>
            </a:r>
            <a:r>
              <a:rPr lang="zh-CN" altLang="en-US" sz="2000" b="1" dirty="0">
                <a:solidFill>
                  <a:prstClr val="black"/>
                </a:solidFill>
              </a:rPr>
              <a:t>）</a:t>
            </a:r>
            <a:r>
              <a:rPr lang="en-US" altLang="zh-CN" sz="2000" b="1" dirty="0">
                <a:solidFill>
                  <a:prstClr val="black"/>
                </a:solidFill>
              </a:rPr>
              <a:t>&lt;</a:t>
            </a:r>
            <a:r>
              <a:rPr lang="zh-CN" altLang="en-US" sz="2000" b="1" dirty="0">
                <a:solidFill>
                  <a:prstClr val="black"/>
                </a:solidFill>
              </a:rPr>
              <a:t>替换列表</a:t>
            </a:r>
            <a:r>
              <a:rPr lang="en-US" altLang="zh-CN" sz="2000" b="1" dirty="0">
                <a:solidFill>
                  <a:prstClr val="black"/>
                </a:solidFill>
              </a:rPr>
              <a:t>&gt;</a:t>
            </a:r>
            <a:endParaRPr lang="zh-CN" altLang="en-US" sz="2000" b="1" dirty="0">
              <a:solidFill>
                <a:schemeClr val="accent4">
                  <a:lumMod val="50000"/>
                </a:schemeClr>
              </a:solidFill>
            </a:endParaRPr>
          </a:p>
        </p:txBody>
      </p:sp>
    </p:spTree>
    <p:extLst>
      <p:ext uri="{BB962C8B-B14F-4D97-AF65-F5344CB8AC3E}">
        <p14:creationId xmlns:p14="http://schemas.microsoft.com/office/powerpoint/2010/main" val="2094199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flipV="1">
            <a:off x="3779912" y="1491630"/>
            <a:ext cx="1224136" cy="216024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 y="339503"/>
            <a:ext cx="22677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849545" cy="461665"/>
          </a:xfrm>
          <a:prstGeom prst="rect">
            <a:avLst/>
          </a:prstGeom>
        </p:spPr>
        <p:txBody>
          <a:bodyPr wrap="none">
            <a:spAutoFit/>
          </a:bodyPr>
          <a:lstStyle/>
          <a:p>
            <a:r>
              <a:rPr lang="en-US" altLang="zh-CN" sz="2400" b="1" dirty="0">
                <a:solidFill>
                  <a:schemeClr val="bg1"/>
                </a:solidFill>
              </a:rPr>
              <a:t>4.2.9 #define</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125188" y="898466"/>
            <a:ext cx="2997937" cy="400110"/>
          </a:xfrm>
          <a:prstGeom prst="rect">
            <a:avLst/>
          </a:prstGeom>
        </p:spPr>
        <p:txBody>
          <a:bodyPr wrap="none">
            <a:spAutoFit/>
          </a:bodyPr>
          <a:lstStyle/>
          <a:p>
            <a:r>
              <a:rPr lang="zh-CN" altLang="en-US" sz="2000" b="1" dirty="0" smtClean="0">
                <a:solidFill>
                  <a:srgbClr val="CD7371"/>
                </a:solidFill>
                <a:latin typeface="隶书" pitchFamily="49" charset="-122"/>
                <a:ea typeface="隶书" pitchFamily="49" charset="-122"/>
              </a:rPr>
              <a:t>用法</a:t>
            </a:r>
            <a:r>
              <a:rPr lang="zh-CN" altLang="en-US" sz="2000" b="1" dirty="0">
                <a:solidFill>
                  <a:srgbClr val="CD7371"/>
                </a:solidFill>
                <a:latin typeface="隶书" pitchFamily="49" charset="-122"/>
                <a:ea typeface="隶书" pitchFamily="49" charset="-122"/>
              </a:rPr>
              <a:t>二</a:t>
            </a:r>
            <a:r>
              <a:rPr lang="zh-CN" altLang="en-US" b="1" dirty="0" smtClean="0">
                <a:solidFill>
                  <a:srgbClr val="CD7371"/>
                </a:solidFill>
                <a:latin typeface="+mn-ea"/>
              </a:rPr>
              <a:t>：</a:t>
            </a:r>
            <a:r>
              <a:rPr lang="zh-CN" altLang="en-US" sz="2000" b="1" dirty="0">
                <a:solidFill>
                  <a:schemeClr val="accent5">
                    <a:lumMod val="50000"/>
                  </a:schemeClr>
                </a:solidFill>
                <a:latin typeface="隶书" pitchFamily="49" charset="-122"/>
                <a:ea typeface="隶书" pitchFamily="49" charset="-122"/>
              </a:rPr>
              <a:t>带参数的宏定义</a:t>
            </a:r>
          </a:p>
        </p:txBody>
      </p:sp>
      <p:sp>
        <p:nvSpPr>
          <p:cNvPr id="3" name="矩形 2"/>
          <p:cNvSpPr/>
          <p:nvPr/>
        </p:nvSpPr>
        <p:spPr>
          <a:xfrm>
            <a:off x="3959424" y="1219465"/>
            <a:ext cx="5184576" cy="3785652"/>
          </a:xfrm>
          <a:prstGeom prst="rect">
            <a:avLst/>
          </a:prstGeom>
        </p:spPr>
        <p:txBody>
          <a:bodyPr wrap="square">
            <a:spAutoFit/>
          </a:bodyPr>
          <a:lstStyle/>
          <a:p>
            <a:r>
              <a:rPr lang="en-GB" altLang="zh-CN" sz="1600" b="1" dirty="0" smtClean="0"/>
              <a:t>void </a:t>
            </a:r>
            <a:r>
              <a:rPr lang="en-GB" altLang="zh-CN" sz="1600" b="1" dirty="0"/>
              <a:t>RCC_APB2PeriphClockCmd(uint32_t RCC_APB2Periph, </a:t>
            </a:r>
            <a:r>
              <a:rPr lang="en-GB" altLang="zh-CN" sz="1600" b="1" dirty="0" err="1"/>
              <a:t>FunctionalState</a:t>
            </a:r>
            <a:r>
              <a:rPr lang="en-GB" altLang="zh-CN" sz="1600" b="1" dirty="0"/>
              <a:t> </a:t>
            </a:r>
            <a:r>
              <a:rPr lang="en-GB" altLang="zh-CN" sz="1600" b="1" dirty="0" err="1"/>
              <a:t>NewState</a:t>
            </a:r>
            <a:r>
              <a:rPr lang="en-GB" altLang="zh-CN" sz="1600" b="1" dirty="0"/>
              <a:t>)</a:t>
            </a:r>
          </a:p>
          <a:p>
            <a:r>
              <a:rPr lang="en-GB" altLang="zh-CN" sz="1600" b="1" dirty="0"/>
              <a:t>{</a:t>
            </a:r>
          </a:p>
          <a:p>
            <a:r>
              <a:rPr lang="en-GB" altLang="zh-CN" sz="1600" b="1" dirty="0"/>
              <a:t>  </a:t>
            </a:r>
            <a:r>
              <a:rPr lang="en-GB" altLang="zh-CN" sz="1600" b="1" dirty="0" smtClean="0"/>
              <a:t>        /* </a:t>
            </a:r>
            <a:r>
              <a:rPr lang="en-GB" altLang="zh-CN" sz="1600" b="1" dirty="0"/>
              <a:t>Check the parameters */</a:t>
            </a:r>
          </a:p>
          <a:p>
            <a:r>
              <a:rPr lang="en-GB" altLang="zh-CN" sz="1600" b="1" dirty="0"/>
              <a:t>  </a:t>
            </a:r>
            <a:r>
              <a:rPr lang="en-GB" altLang="zh-CN" sz="1600" b="1" dirty="0" err="1"/>
              <a:t>assert_param</a:t>
            </a:r>
            <a:r>
              <a:rPr lang="en-GB" altLang="zh-CN" sz="1600" b="1" dirty="0"/>
              <a:t>(IS_RCC_APB2_PERIPH(RCC_APB2Periph));</a:t>
            </a:r>
          </a:p>
          <a:p>
            <a:r>
              <a:rPr lang="en-GB" altLang="zh-CN" sz="1600" b="1" dirty="0"/>
              <a:t>  </a:t>
            </a:r>
            <a:r>
              <a:rPr lang="en-GB" altLang="zh-CN" sz="1600" b="1" dirty="0" err="1"/>
              <a:t>assert_param</a:t>
            </a:r>
            <a:r>
              <a:rPr lang="en-GB" altLang="zh-CN" sz="1600" b="1" dirty="0"/>
              <a:t>(IS_FUNCTIONAL_STATE(</a:t>
            </a:r>
            <a:r>
              <a:rPr lang="en-GB" altLang="zh-CN" sz="1600" b="1" dirty="0" err="1"/>
              <a:t>NewState</a:t>
            </a:r>
            <a:r>
              <a:rPr lang="en-GB" altLang="zh-CN" sz="1600" b="1" dirty="0"/>
              <a:t>));</a:t>
            </a:r>
          </a:p>
          <a:p>
            <a:pPr indent="92075"/>
            <a:r>
              <a:rPr lang="en-GB" altLang="zh-CN" sz="1600" b="1" dirty="0"/>
              <a:t>if (</a:t>
            </a:r>
            <a:r>
              <a:rPr lang="en-GB" altLang="zh-CN" sz="1600" b="1" dirty="0" err="1"/>
              <a:t>NewState</a:t>
            </a:r>
            <a:r>
              <a:rPr lang="en-GB" altLang="zh-CN" sz="1600" b="1" dirty="0"/>
              <a:t> != DISABLE)</a:t>
            </a:r>
          </a:p>
          <a:p>
            <a:pPr indent="92075"/>
            <a:r>
              <a:rPr lang="en-GB" altLang="zh-CN" sz="1600" b="1" dirty="0"/>
              <a:t>  {</a:t>
            </a:r>
          </a:p>
          <a:p>
            <a:pPr indent="92075"/>
            <a:r>
              <a:rPr lang="en-GB" altLang="zh-CN" sz="1600" b="1" dirty="0"/>
              <a:t>    RCC-&gt;APB2ENR |= RCC_APB2Periph;</a:t>
            </a:r>
          </a:p>
          <a:p>
            <a:pPr indent="92075"/>
            <a:r>
              <a:rPr lang="en-GB" altLang="zh-CN" sz="1600" b="1" dirty="0"/>
              <a:t>  }</a:t>
            </a:r>
          </a:p>
          <a:p>
            <a:pPr indent="92075"/>
            <a:r>
              <a:rPr lang="en-GB" altLang="zh-CN" sz="1600" b="1" dirty="0"/>
              <a:t>else</a:t>
            </a:r>
          </a:p>
          <a:p>
            <a:pPr indent="92075"/>
            <a:r>
              <a:rPr lang="en-GB" altLang="zh-CN" sz="1600" b="1" dirty="0"/>
              <a:t>  {</a:t>
            </a:r>
          </a:p>
          <a:p>
            <a:pPr indent="92075"/>
            <a:r>
              <a:rPr lang="en-GB" altLang="zh-CN" sz="1600" b="1" dirty="0"/>
              <a:t>    RCC-&gt;APB2ENR &amp;= ~RCC_APB2Periph;</a:t>
            </a:r>
          </a:p>
          <a:p>
            <a:pPr indent="92075"/>
            <a:r>
              <a:rPr lang="en-GB" altLang="zh-CN" sz="1600" b="1" dirty="0"/>
              <a:t>  }</a:t>
            </a:r>
          </a:p>
          <a:p>
            <a:r>
              <a:rPr lang="en-GB" altLang="zh-CN" sz="1600" b="1" dirty="0" smtClean="0"/>
              <a:t>}</a:t>
            </a:r>
            <a:endParaRPr lang="en-GB" altLang="zh-CN" sz="1600" b="1" dirty="0"/>
          </a:p>
        </p:txBody>
      </p:sp>
      <p:sp>
        <p:nvSpPr>
          <p:cNvPr id="6" name="矩形 5"/>
          <p:cNvSpPr/>
          <p:nvPr/>
        </p:nvSpPr>
        <p:spPr>
          <a:xfrm>
            <a:off x="323528" y="1563638"/>
            <a:ext cx="3024336" cy="646331"/>
          </a:xfrm>
          <a:prstGeom prst="rect">
            <a:avLst/>
          </a:prstGeom>
          <a:ln w="19050">
            <a:solidFill>
              <a:schemeClr val="accent5">
                <a:lumMod val="60000"/>
                <a:lumOff val="40000"/>
              </a:schemeClr>
            </a:solidFill>
          </a:ln>
        </p:spPr>
        <p:txBody>
          <a:bodyPr wrap="square">
            <a:spAutoFit/>
          </a:bodyPr>
          <a:lstStyle/>
          <a:p>
            <a:r>
              <a:rPr lang="en-GB" altLang="zh-CN" b="1" dirty="0" smtClean="0">
                <a:solidFill>
                  <a:prstClr val="black"/>
                </a:solidFill>
              </a:rPr>
              <a:t>    STM32</a:t>
            </a:r>
            <a:r>
              <a:rPr lang="zh-CN" altLang="en-US" b="1" dirty="0">
                <a:solidFill>
                  <a:prstClr val="black"/>
                </a:solidFill>
              </a:rPr>
              <a:t>标准外设库</a:t>
            </a:r>
            <a:r>
              <a:rPr lang="en-GB" altLang="zh-CN" b="1" dirty="0">
                <a:solidFill>
                  <a:prstClr val="black"/>
                </a:solidFill>
              </a:rPr>
              <a:t>stm32f10x.h</a:t>
            </a:r>
            <a:r>
              <a:rPr lang="zh-CN" altLang="en-US" b="1" dirty="0">
                <a:solidFill>
                  <a:prstClr val="black"/>
                </a:solidFill>
              </a:rPr>
              <a:t>头文件中的</a:t>
            </a:r>
            <a:r>
              <a:rPr lang="zh-CN" altLang="en-US" b="1" dirty="0" smtClean="0">
                <a:solidFill>
                  <a:prstClr val="black"/>
                </a:solidFill>
              </a:rPr>
              <a:t>代码：</a:t>
            </a:r>
            <a:endParaRPr lang="zh-CN" altLang="en-US" b="1" dirty="0"/>
          </a:p>
        </p:txBody>
      </p:sp>
      <p:sp>
        <p:nvSpPr>
          <p:cNvPr id="7" name="矩形 6"/>
          <p:cNvSpPr/>
          <p:nvPr/>
        </p:nvSpPr>
        <p:spPr>
          <a:xfrm>
            <a:off x="251520" y="3651870"/>
            <a:ext cx="3528392" cy="923330"/>
          </a:xfrm>
          <a:prstGeom prst="rect">
            <a:avLst/>
          </a:prstGeom>
          <a:ln w="19050">
            <a:solidFill>
              <a:schemeClr val="accent4">
                <a:lumMod val="60000"/>
                <a:lumOff val="40000"/>
              </a:schemeClr>
            </a:solidFill>
            <a:prstDash val="dash"/>
          </a:ln>
        </p:spPr>
        <p:txBody>
          <a:bodyPr wrap="square">
            <a:spAutoFit/>
          </a:bodyPr>
          <a:lstStyle/>
          <a:p>
            <a:pPr lvl="0"/>
            <a:r>
              <a:rPr lang="zh-CN" altLang="en-US" b="1" dirty="0">
                <a:solidFill>
                  <a:srgbClr val="CD7371"/>
                </a:solidFill>
                <a:latin typeface="隶书" pitchFamily="49" charset="-122"/>
                <a:ea typeface="隶书" pitchFamily="49" charset="-122"/>
              </a:rPr>
              <a:t>解析</a:t>
            </a:r>
            <a:r>
              <a:rPr lang="zh-CN" altLang="en-US" b="1" dirty="0">
                <a:solidFill>
                  <a:srgbClr val="CD7371"/>
                </a:solidFill>
                <a:latin typeface="+mn-ea"/>
              </a:rPr>
              <a:t>：</a:t>
            </a:r>
            <a:r>
              <a:rPr lang="zh-CN" altLang="en-US" b="1" dirty="0" smtClean="0">
                <a:solidFill>
                  <a:prstClr val="black"/>
                </a:solidFill>
                <a:latin typeface="+mn-ea"/>
              </a:rPr>
              <a:t>该</a:t>
            </a:r>
            <a:r>
              <a:rPr lang="zh-CN" altLang="en-US" b="1" dirty="0">
                <a:solidFill>
                  <a:prstClr val="black"/>
                </a:solidFill>
                <a:latin typeface="+mn-ea"/>
              </a:rPr>
              <a:t>函数为外设时钟使能函数，第一个参数为要使能的外设，第二个参数为是否使能</a:t>
            </a:r>
            <a:r>
              <a:rPr lang="zh-CN" altLang="en-US" b="1" dirty="0" smtClean="0">
                <a:solidFill>
                  <a:prstClr val="black"/>
                </a:solidFill>
                <a:latin typeface="+mn-ea"/>
              </a:rPr>
              <a:t>。</a:t>
            </a:r>
            <a:endParaRPr lang="zh-CN" altLang="en-US" b="1" dirty="0">
              <a:solidFill>
                <a:prstClr val="black"/>
              </a:solidFill>
              <a:latin typeface="+mn-ea"/>
            </a:endParaRPr>
          </a:p>
        </p:txBody>
      </p:sp>
      <p:sp>
        <p:nvSpPr>
          <p:cNvPr id="8" name="矩形 7"/>
          <p:cNvSpPr/>
          <p:nvPr/>
        </p:nvSpPr>
        <p:spPr>
          <a:xfrm>
            <a:off x="92134" y="2665824"/>
            <a:ext cx="3893546" cy="553998"/>
          </a:xfrm>
          <a:prstGeom prst="rect">
            <a:avLst/>
          </a:prstGeom>
          <a:ln w="19050">
            <a:solidFill>
              <a:schemeClr val="accent5">
                <a:lumMod val="60000"/>
                <a:lumOff val="40000"/>
              </a:schemeClr>
            </a:solidFill>
          </a:ln>
        </p:spPr>
        <p:txBody>
          <a:bodyPr wrap="square">
            <a:spAutoFit/>
          </a:bodyPr>
          <a:lstStyle/>
          <a:p>
            <a:pPr lvl="0"/>
            <a:r>
              <a:rPr lang="en-US" altLang="zh-CN" sz="1500" b="1" dirty="0">
                <a:solidFill>
                  <a:prstClr val="black"/>
                </a:solidFill>
              </a:rPr>
              <a:t>#</a:t>
            </a:r>
            <a:r>
              <a:rPr lang="en-GB" altLang="zh-CN" sz="1500" b="1" dirty="0">
                <a:solidFill>
                  <a:prstClr val="black"/>
                </a:solidFill>
              </a:rPr>
              <a:t>define  IS_FUNCTIONAL_STATE(STATE)  (((STATE) == DISABLE) || ((STATE) == ENABLE))</a:t>
            </a:r>
          </a:p>
        </p:txBody>
      </p:sp>
      <p:sp>
        <p:nvSpPr>
          <p:cNvPr id="9" name="矩形 8"/>
          <p:cNvSpPr/>
          <p:nvPr/>
        </p:nvSpPr>
        <p:spPr>
          <a:xfrm>
            <a:off x="3416156" y="230605"/>
            <a:ext cx="5688632" cy="988860"/>
          </a:xfrm>
          <a:prstGeom prst="rect">
            <a:avLst/>
          </a:prstGeom>
        </p:spPr>
        <p:txBody>
          <a:bodyPr wrap="square">
            <a:spAutoFit/>
          </a:bodyPr>
          <a:lstStyle/>
          <a:p>
            <a:pPr>
              <a:lnSpc>
                <a:spcPct val="125000"/>
              </a:lnSpc>
            </a:pPr>
            <a:r>
              <a:rPr lang="zh-CN" altLang="en-US" sz="1600" b="1" dirty="0" smtClean="0">
                <a:solidFill>
                  <a:prstClr val="black"/>
                </a:solidFill>
              </a:rPr>
              <a:t>     在</a:t>
            </a:r>
            <a:r>
              <a:rPr lang="en-GB" altLang="zh-CN" sz="1600" b="1" dirty="0">
                <a:solidFill>
                  <a:prstClr val="black"/>
                </a:solidFill>
              </a:rPr>
              <a:t>stm32f10x_rcc.c</a:t>
            </a:r>
            <a:r>
              <a:rPr lang="zh-CN" altLang="en-US" sz="1600" b="1" dirty="0">
                <a:solidFill>
                  <a:prstClr val="black"/>
                </a:solidFill>
              </a:rPr>
              <a:t>源文件中函数</a:t>
            </a:r>
            <a:r>
              <a:rPr lang="en-GB" altLang="zh-CN" sz="1600" b="1" dirty="0">
                <a:solidFill>
                  <a:prstClr val="black"/>
                </a:solidFill>
              </a:rPr>
              <a:t>RCC_APB2PeriphClockCmd()</a:t>
            </a:r>
            <a:r>
              <a:rPr lang="zh-CN" altLang="en-US" sz="1600" b="1" dirty="0">
                <a:solidFill>
                  <a:prstClr val="black"/>
                </a:solidFill>
              </a:rPr>
              <a:t>使用了</a:t>
            </a:r>
            <a:r>
              <a:rPr lang="en-GB" altLang="zh-CN" sz="1600" b="1" dirty="0">
                <a:solidFill>
                  <a:prstClr val="black"/>
                </a:solidFill>
              </a:rPr>
              <a:t>IS_FUNCTIONAL_STATE(STATE)</a:t>
            </a:r>
            <a:r>
              <a:rPr lang="zh-CN" altLang="en-US" sz="1600" b="1" dirty="0">
                <a:solidFill>
                  <a:prstClr val="black"/>
                </a:solidFill>
              </a:rPr>
              <a:t>这个</a:t>
            </a:r>
            <a:r>
              <a:rPr lang="zh-CN" altLang="en-US" sz="1600" b="1" dirty="0" smtClean="0">
                <a:solidFill>
                  <a:prstClr val="black"/>
                </a:solidFill>
              </a:rPr>
              <a:t>宏</a:t>
            </a:r>
            <a:endParaRPr lang="en-US" altLang="zh-CN" sz="1600" b="1" dirty="0" smtClean="0">
              <a:solidFill>
                <a:prstClr val="black"/>
              </a:solidFill>
            </a:endParaRPr>
          </a:p>
          <a:p>
            <a:pPr>
              <a:lnSpc>
                <a:spcPct val="125000"/>
              </a:lnSpc>
            </a:pPr>
            <a:r>
              <a:rPr lang="en-US" altLang="zh-CN" sz="1600" b="1" dirty="0">
                <a:solidFill>
                  <a:prstClr val="black"/>
                </a:solidFill>
              </a:rPr>
              <a:t> </a:t>
            </a:r>
            <a:r>
              <a:rPr lang="en-US" altLang="zh-CN" sz="1600" b="1" dirty="0" smtClean="0">
                <a:solidFill>
                  <a:prstClr val="black"/>
                </a:solidFill>
              </a:rPr>
              <a:t>    </a:t>
            </a:r>
            <a:r>
              <a:rPr lang="en-GB" altLang="zh-CN" sz="1600" b="1" dirty="0" smtClean="0">
                <a:solidFill>
                  <a:prstClr val="black"/>
                </a:solidFill>
              </a:rPr>
              <a:t>RCC_APB2PeriphClockCm</a:t>
            </a:r>
            <a:r>
              <a:rPr lang="en-GB" altLang="zh-CN" sz="1600" b="1" dirty="0">
                <a:solidFill>
                  <a:prstClr val="black"/>
                </a:solidFill>
              </a:rPr>
              <a:t>()</a:t>
            </a:r>
            <a:r>
              <a:rPr lang="zh-CN" altLang="en-US" sz="1600" b="1" dirty="0">
                <a:solidFill>
                  <a:prstClr val="black"/>
                </a:solidFill>
              </a:rPr>
              <a:t>源码</a:t>
            </a:r>
            <a:r>
              <a:rPr lang="zh-CN" altLang="en-US" sz="1600" b="1" dirty="0" smtClean="0">
                <a:solidFill>
                  <a:prstClr val="black"/>
                </a:solidFill>
              </a:rPr>
              <a:t>如下：</a:t>
            </a:r>
            <a:endParaRPr lang="zh-CN" altLang="en-US" b="1" dirty="0"/>
          </a:p>
        </p:txBody>
      </p:sp>
      <p:sp>
        <p:nvSpPr>
          <p:cNvPr id="11" name="右箭头 10"/>
          <p:cNvSpPr/>
          <p:nvPr/>
        </p:nvSpPr>
        <p:spPr>
          <a:xfrm rot="5400000">
            <a:off x="1655428" y="2314991"/>
            <a:ext cx="350577" cy="288032"/>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41063621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a:solidFill>
                  <a:schemeClr val="bg1"/>
                </a:solidFill>
              </a:rPr>
              <a:t>4.2.10 #</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351738" y="1223438"/>
            <a:ext cx="2590738" cy="923330"/>
          </a:xfrm>
          <a:prstGeom prst="rect">
            <a:avLst/>
          </a:prstGeom>
          <a:ln w="19050">
            <a:solidFill>
              <a:schemeClr val="accent5">
                <a:lumMod val="60000"/>
                <a:lumOff val="40000"/>
              </a:schemeClr>
            </a:solidFill>
          </a:ln>
        </p:spPr>
        <p:txBody>
          <a:bodyPr wrap="square">
            <a:spAutoFit/>
          </a:bodyPr>
          <a:lstStyle/>
          <a:p>
            <a:r>
              <a:rPr lang="zh-CN" altLang="en-US" b="1" dirty="0" smtClean="0">
                <a:solidFill>
                  <a:prstClr val="black"/>
                </a:solidFill>
              </a:rPr>
              <a:t>      只有</a:t>
            </a:r>
            <a:r>
              <a:rPr lang="zh-CN" altLang="en-US" b="1" dirty="0">
                <a:solidFill>
                  <a:srgbClr val="CD7371"/>
                </a:solidFill>
              </a:rPr>
              <a:t>满足一定条件</a:t>
            </a:r>
            <a:r>
              <a:rPr lang="zh-CN" altLang="en-US" b="1" dirty="0">
                <a:solidFill>
                  <a:prstClr val="black"/>
                </a:solidFill>
              </a:rPr>
              <a:t>才进行编译</a:t>
            </a:r>
            <a:r>
              <a:rPr lang="zh-CN" altLang="en-US" b="1" dirty="0" smtClean="0">
                <a:solidFill>
                  <a:prstClr val="black"/>
                </a:solidFill>
              </a:rPr>
              <a:t>，一般</a:t>
            </a:r>
            <a:r>
              <a:rPr lang="zh-CN" altLang="en-US" b="1" dirty="0">
                <a:solidFill>
                  <a:prstClr val="black"/>
                </a:solidFill>
              </a:rPr>
              <a:t>用在</a:t>
            </a:r>
            <a:r>
              <a:rPr lang="zh-CN" altLang="en-US" b="1" dirty="0" smtClean="0">
                <a:solidFill>
                  <a:srgbClr val="CD7371"/>
                </a:solidFill>
              </a:rPr>
              <a:t>头文件</a:t>
            </a:r>
            <a:r>
              <a:rPr lang="zh-CN" altLang="en-US" b="1" dirty="0" smtClean="0"/>
              <a:t>或</a:t>
            </a:r>
            <a:r>
              <a:rPr lang="zh-CN" altLang="en-US" b="1" dirty="0" smtClean="0">
                <a:solidFill>
                  <a:srgbClr val="CD7371"/>
                </a:solidFill>
              </a:rPr>
              <a:t>文件</a:t>
            </a:r>
            <a:r>
              <a:rPr lang="zh-CN" altLang="en-US" b="1" dirty="0">
                <a:solidFill>
                  <a:srgbClr val="CD7371"/>
                </a:solidFill>
              </a:rPr>
              <a:t>开头</a:t>
            </a:r>
            <a:r>
              <a:rPr lang="zh-CN" altLang="en-US" b="1" dirty="0">
                <a:solidFill>
                  <a:prstClr val="black"/>
                </a:solidFill>
              </a:rPr>
              <a:t>部分</a:t>
            </a:r>
            <a:endParaRPr lang="zh-CN" altLang="en-US" b="1" dirty="0"/>
          </a:p>
        </p:txBody>
      </p:sp>
      <p:sp>
        <p:nvSpPr>
          <p:cNvPr id="9" name="矩形 8"/>
          <p:cNvSpPr/>
          <p:nvPr/>
        </p:nvSpPr>
        <p:spPr>
          <a:xfrm>
            <a:off x="251520" y="2476024"/>
            <a:ext cx="2794275" cy="2169825"/>
          </a:xfrm>
          <a:prstGeom prst="rect">
            <a:avLst/>
          </a:prstGeom>
        </p:spPr>
        <p:txBody>
          <a:bodyPr wrap="square">
            <a:spAutoFit/>
          </a:bodyPr>
          <a:lstStyle/>
          <a:p>
            <a:pPr>
              <a:lnSpc>
                <a:spcPct val="125000"/>
              </a:lnSpc>
            </a:pPr>
            <a:r>
              <a:rPr lang="zh-CN" altLang="en-US" b="1" dirty="0" smtClean="0">
                <a:solidFill>
                  <a:prstClr val="black"/>
                </a:solidFill>
              </a:rPr>
              <a:t>     嵌入式</a:t>
            </a:r>
            <a:r>
              <a:rPr lang="en-US" altLang="zh-CN" b="1" dirty="0">
                <a:solidFill>
                  <a:prstClr val="black"/>
                </a:solidFill>
              </a:rPr>
              <a:t>C</a:t>
            </a:r>
            <a:r>
              <a:rPr lang="zh-CN" altLang="en-US" b="1" dirty="0" smtClean="0">
                <a:solidFill>
                  <a:prstClr val="black"/>
                </a:solidFill>
              </a:rPr>
              <a:t>语言常</a:t>
            </a:r>
            <a:r>
              <a:rPr lang="zh-CN" altLang="en-US" b="1" dirty="0">
                <a:solidFill>
                  <a:prstClr val="black"/>
                </a:solidFill>
              </a:rPr>
              <a:t>使用条件编译，通过条件判断</a:t>
            </a:r>
            <a:r>
              <a:rPr lang="zh-CN" altLang="en-US" b="1" dirty="0" smtClean="0">
                <a:solidFill>
                  <a:prstClr val="black"/>
                </a:solidFill>
              </a:rPr>
              <a:t>来确定是否</a:t>
            </a:r>
            <a:r>
              <a:rPr lang="zh-CN" altLang="en-US" b="1" dirty="0">
                <a:solidFill>
                  <a:prstClr val="black"/>
                </a:solidFill>
              </a:rPr>
              <a:t>对某段源程序进行编译</a:t>
            </a:r>
            <a:r>
              <a:rPr lang="zh-CN" altLang="en-US" b="1" dirty="0" smtClean="0">
                <a:solidFill>
                  <a:prstClr val="black"/>
                </a:solidFill>
              </a:rPr>
              <a:t>。</a:t>
            </a:r>
            <a:endParaRPr lang="en-US" altLang="zh-CN" b="1" dirty="0" smtClean="0">
              <a:solidFill>
                <a:prstClr val="black"/>
              </a:solidFill>
            </a:endParaRPr>
          </a:p>
          <a:p>
            <a:pPr>
              <a:lnSpc>
                <a:spcPct val="125000"/>
              </a:lnSpc>
            </a:pPr>
            <a:r>
              <a:rPr lang="en-US" altLang="zh-CN" b="1" dirty="0">
                <a:solidFill>
                  <a:prstClr val="black"/>
                </a:solidFill>
              </a:rPr>
              <a:t> </a:t>
            </a:r>
            <a:r>
              <a:rPr lang="en-US" altLang="zh-CN" b="1" dirty="0" smtClean="0">
                <a:solidFill>
                  <a:prstClr val="black"/>
                </a:solidFill>
              </a:rPr>
              <a:t>   </a:t>
            </a:r>
            <a:r>
              <a:rPr lang="zh-CN" altLang="en-US" b="1" dirty="0" smtClean="0">
                <a:solidFill>
                  <a:prstClr val="black"/>
                </a:solidFill>
              </a:rPr>
              <a:t>条件</a:t>
            </a:r>
            <a:r>
              <a:rPr lang="zh-CN" altLang="en-US" b="1" dirty="0">
                <a:solidFill>
                  <a:prstClr val="black"/>
                </a:solidFill>
              </a:rPr>
              <a:t>编译的</a:t>
            </a:r>
            <a:r>
              <a:rPr lang="zh-CN" altLang="en-US" b="1" dirty="0">
                <a:solidFill>
                  <a:srgbClr val="CD7371"/>
                </a:solidFill>
              </a:rPr>
              <a:t>用途</a:t>
            </a:r>
            <a:r>
              <a:rPr lang="zh-CN" altLang="en-US" b="1" dirty="0">
                <a:solidFill>
                  <a:prstClr val="black"/>
                </a:solidFill>
              </a:rPr>
              <a:t>：可以用源程序产生不同版本</a:t>
            </a:r>
            <a:r>
              <a:rPr lang="zh-CN" altLang="en-US" b="1" dirty="0" smtClean="0">
                <a:solidFill>
                  <a:prstClr val="black"/>
                </a:solidFill>
              </a:rPr>
              <a:t>。</a:t>
            </a:r>
            <a:endParaRPr lang="zh-CN" altLang="en-US" sz="2000" b="1" dirty="0"/>
          </a:p>
        </p:txBody>
      </p:sp>
      <p:graphicFrame>
        <p:nvGraphicFramePr>
          <p:cNvPr id="10" name="表格 9"/>
          <p:cNvGraphicFramePr>
            <a:graphicFrameLocks noGrp="1"/>
          </p:cNvGraphicFramePr>
          <p:nvPr>
            <p:extLst>
              <p:ext uri="{D42A27DB-BD31-4B8C-83A1-F6EECF244321}">
                <p14:modId xmlns:p14="http://schemas.microsoft.com/office/powerpoint/2010/main" val="1552900093"/>
              </p:ext>
            </p:extLst>
          </p:nvPr>
        </p:nvGraphicFramePr>
        <p:xfrm>
          <a:off x="3491880" y="1310375"/>
          <a:ext cx="5256584" cy="3417527"/>
        </p:xfrm>
        <a:graphic>
          <a:graphicData uri="http://schemas.openxmlformats.org/drawingml/2006/table">
            <a:tbl>
              <a:tblPr firstRow="1" firstCol="1" bandRow="1">
                <a:tableStyleId>{7DF18680-E054-41AD-8BC1-D1AEF772440D}</a:tableStyleId>
              </a:tblPr>
              <a:tblGrid>
                <a:gridCol w="899153"/>
                <a:gridCol w="4357431"/>
              </a:tblGrid>
              <a:tr h="471462">
                <a:tc>
                  <a:txBody>
                    <a:bodyPr/>
                    <a:lstStyle/>
                    <a:p>
                      <a:pPr algn="ctr">
                        <a:spcAft>
                          <a:spcPts val="0"/>
                        </a:spcAft>
                      </a:pPr>
                      <a:r>
                        <a:rPr lang="zh-CN" sz="1400" b="1" kern="100" dirty="0">
                          <a:effectLst/>
                        </a:rPr>
                        <a:t>条件编译</a:t>
                      </a:r>
                      <a:endParaRPr lang="zh-CN" sz="1800" b="1" kern="100" dirty="0">
                        <a:effectLst/>
                        <a:latin typeface="Times New Roman"/>
                        <a:ea typeface="宋体"/>
                        <a:cs typeface="Times New Roman"/>
                      </a:endParaRPr>
                    </a:p>
                  </a:txBody>
                  <a:tcPr marL="68580" marR="68580" marT="0" marB="0" anchor="ctr"/>
                </a:tc>
                <a:tc>
                  <a:txBody>
                    <a:bodyPr/>
                    <a:lstStyle/>
                    <a:p>
                      <a:pPr algn="ctr">
                        <a:spcAft>
                          <a:spcPts val="0"/>
                        </a:spcAft>
                      </a:pPr>
                      <a:r>
                        <a:rPr lang="zh-CN" sz="1400" b="1" kern="100" dirty="0">
                          <a:effectLst/>
                        </a:rPr>
                        <a:t>说明</a:t>
                      </a:r>
                      <a:endParaRPr lang="zh-CN" sz="1800" b="1" kern="100" dirty="0">
                        <a:effectLst/>
                        <a:latin typeface="Times New Roman"/>
                        <a:ea typeface="宋体"/>
                        <a:cs typeface="Times New Roman"/>
                      </a:endParaRPr>
                    </a:p>
                  </a:txBody>
                  <a:tcPr marL="68580" marR="68580" marT="0" marB="0" anchor="ctr"/>
                </a:tc>
              </a:tr>
              <a:tr h="276447">
                <a:tc>
                  <a:txBody>
                    <a:bodyPr/>
                    <a:lstStyle/>
                    <a:p>
                      <a:pPr indent="20320" algn="l">
                        <a:spcAft>
                          <a:spcPts val="0"/>
                        </a:spcAft>
                      </a:pPr>
                      <a:r>
                        <a:rPr lang="en-US" sz="1400" b="1" kern="100">
                          <a:effectLst/>
                        </a:rPr>
                        <a:t>#define</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宏定义</a:t>
                      </a:r>
                      <a:endParaRPr lang="zh-CN" sz="1800" b="1" kern="100" dirty="0">
                        <a:effectLst/>
                        <a:latin typeface="Times New Roman"/>
                        <a:ea typeface="宋体"/>
                        <a:cs typeface="Times New Roman"/>
                      </a:endParaRPr>
                    </a:p>
                  </a:txBody>
                  <a:tcPr marL="68580" marR="68580" marT="0" marB="0" anchor="ctr"/>
                </a:tc>
              </a:tr>
              <a:tr h="276447">
                <a:tc>
                  <a:txBody>
                    <a:bodyPr/>
                    <a:lstStyle/>
                    <a:p>
                      <a:pPr indent="20320" algn="l">
                        <a:spcAft>
                          <a:spcPts val="0"/>
                        </a:spcAft>
                      </a:pPr>
                      <a:r>
                        <a:rPr lang="en-US" sz="1400" b="1" kern="100">
                          <a:effectLst/>
                        </a:rPr>
                        <a:t>#undef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撤销已定义的宏名</a:t>
                      </a:r>
                      <a:endParaRPr lang="zh-CN" sz="1800" b="1" kern="100" dirty="0">
                        <a:effectLst/>
                        <a:latin typeface="Times New Roman"/>
                        <a:ea typeface="宋体"/>
                        <a:cs typeface="Times New Roman"/>
                      </a:endParaRPr>
                    </a:p>
                  </a:txBody>
                  <a:tcPr marL="68580" marR="68580" marT="0" marB="0" anchor="ctr"/>
                </a:tc>
              </a:tr>
              <a:tr h="505467">
                <a:tc>
                  <a:txBody>
                    <a:bodyPr/>
                    <a:lstStyle/>
                    <a:p>
                      <a:pPr indent="20320" algn="l">
                        <a:spcAft>
                          <a:spcPts val="0"/>
                        </a:spcAft>
                      </a:pPr>
                      <a:r>
                        <a:rPr lang="en-US" sz="1400" b="1" kern="100">
                          <a:effectLst/>
                        </a:rPr>
                        <a:t>#if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条件编译命令，如果</a:t>
                      </a:r>
                      <a:r>
                        <a:rPr lang="en-US" sz="1400" b="1" kern="100" dirty="0">
                          <a:effectLst/>
                        </a:rPr>
                        <a:t># if</a:t>
                      </a:r>
                      <a:r>
                        <a:rPr lang="zh-CN" sz="1400" b="1" kern="100" dirty="0">
                          <a:effectLst/>
                        </a:rPr>
                        <a:t>后面的表达式为</a:t>
                      </a:r>
                      <a:r>
                        <a:rPr lang="en-US" sz="1400" b="1" kern="100" dirty="0">
                          <a:effectLst/>
                        </a:rPr>
                        <a:t>true</a:t>
                      </a:r>
                      <a:r>
                        <a:rPr lang="zh-CN" sz="1400" b="1" kern="100" dirty="0">
                          <a:effectLst/>
                        </a:rPr>
                        <a:t>，则执行语句</a:t>
                      </a:r>
                      <a:endParaRPr lang="zh-CN" sz="1800" b="1" kern="100" dirty="0">
                        <a:effectLst/>
                        <a:latin typeface="Times New Roman"/>
                        <a:ea typeface="宋体"/>
                        <a:cs typeface="Times New Roman"/>
                      </a:endParaRPr>
                    </a:p>
                  </a:txBody>
                  <a:tcPr marL="68580" marR="68580" marT="0" marB="0" anchor="ctr"/>
                </a:tc>
              </a:tr>
              <a:tr h="276447">
                <a:tc>
                  <a:txBody>
                    <a:bodyPr/>
                    <a:lstStyle/>
                    <a:p>
                      <a:pPr indent="20320" algn="l">
                        <a:spcAft>
                          <a:spcPts val="0"/>
                        </a:spcAft>
                      </a:pPr>
                      <a:r>
                        <a:rPr lang="en-US" sz="1400" b="1" kern="100">
                          <a:effectLst/>
                        </a:rPr>
                        <a:t>#ifdef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判断某个宏是否被定义，若被定义，则执行语句</a:t>
                      </a:r>
                      <a:endParaRPr lang="zh-CN" sz="1800" b="1" kern="100" dirty="0">
                        <a:effectLst/>
                        <a:latin typeface="Times New Roman"/>
                        <a:ea typeface="宋体"/>
                        <a:cs typeface="Times New Roman"/>
                      </a:endParaRPr>
                    </a:p>
                  </a:txBody>
                  <a:tcPr marL="68580" marR="68580" marT="0" marB="0" anchor="ctr"/>
                </a:tc>
              </a:tr>
              <a:tr h="552895">
                <a:tc>
                  <a:txBody>
                    <a:bodyPr/>
                    <a:lstStyle/>
                    <a:p>
                      <a:pPr indent="20320" algn="l">
                        <a:spcAft>
                          <a:spcPts val="0"/>
                        </a:spcAft>
                      </a:pPr>
                      <a:r>
                        <a:rPr lang="en-US" sz="1400" b="1" kern="100">
                          <a:effectLst/>
                        </a:rPr>
                        <a:t>#ifndef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判断某个宏是否未被定义，若未被定义，则执行语句，与</a:t>
                      </a:r>
                      <a:r>
                        <a:rPr lang="en-US" sz="1400" b="1" kern="100" dirty="0">
                          <a:effectLst/>
                        </a:rPr>
                        <a:t>#</a:t>
                      </a:r>
                      <a:r>
                        <a:rPr lang="en-US" sz="1400" b="1" kern="100" dirty="0" err="1">
                          <a:effectLst/>
                        </a:rPr>
                        <a:t>ifdef</a:t>
                      </a:r>
                      <a:r>
                        <a:rPr lang="zh-CN" sz="1400" b="1" kern="100" dirty="0">
                          <a:effectLst/>
                        </a:rPr>
                        <a:t>相反</a:t>
                      </a:r>
                      <a:endParaRPr lang="zh-CN" sz="1800" b="1" kern="100" dirty="0">
                        <a:effectLst/>
                        <a:latin typeface="Times New Roman"/>
                        <a:ea typeface="宋体"/>
                        <a:cs typeface="Times New Roman"/>
                      </a:endParaRPr>
                    </a:p>
                  </a:txBody>
                  <a:tcPr marL="68580" marR="68580" marT="0" marB="0" anchor="ctr"/>
                </a:tc>
              </a:tr>
              <a:tr h="552895">
                <a:tc>
                  <a:txBody>
                    <a:bodyPr/>
                    <a:lstStyle/>
                    <a:p>
                      <a:pPr indent="20320" algn="l">
                        <a:spcAft>
                          <a:spcPts val="0"/>
                        </a:spcAft>
                      </a:pPr>
                      <a:r>
                        <a:rPr lang="en-US" sz="1400" b="1" kern="100">
                          <a:effectLst/>
                        </a:rPr>
                        <a:t>#elif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en-US" sz="1400" b="1" kern="100" dirty="0">
                          <a:effectLst/>
                        </a:rPr>
                        <a:t>#else</a:t>
                      </a:r>
                      <a:r>
                        <a:rPr lang="zh-CN" sz="1400" b="1" kern="100" dirty="0">
                          <a:effectLst/>
                        </a:rPr>
                        <a:t>指令用于</a:t>
                      </a:r>
                      <a:r>
                        <a:rPr lang="en-US" sz="1400" b="1" kern="100" dirty="0">
                          <a:effectLst/>
                        </a:rPr>
                        <a:t>#if</a:t>
                      </a:r>
                      <a:r>
                        <a:rPr lang="zh-CN" sz="1400" b="1" kern="100" dirty="0">
                          <a:effectLst/>
                        </a:rPr>
                        <a:t>指令之后，当</a:t>
                      </a:r>
                      <a:r>
                        <a:rPr lang="en-US" sz="1400" b="1" kern="100" dirty="0">
                          <a:effectLst/>
                        </a:rPr>
                        <a:t>#if</a:t>
                      </a:r>
                      <a:r>
                        <a:rPr lang="zh-CN" sz="1400" b="1" kern="100" dirty="0">
                          <a:effectLst/>
                        </a:rPr>
                        <a:t>指令的条件不为真时，就编译</a:t>
                      </a:r>
                      <a:r>
                        <a:rPr lang="en-US" sz="1400" b="1" kern="100" dirty="0">
                          <a:effectLst/>
                        </a:rPr>
                        <a:t>#else</a:t>
                      </a:r>
                      <a:r>
                        <a:rPr lang="zh-CN" sz="1400" b="1" kern="100" dirty="0">
                          <a:effectLst/>
                        </a:rPr>
                        <a:t>后面的代码，</a:t>
                      </a:r>
                      <a:r>
                        <a:rPr lang="en-US" sz="1400" b="1" kern="100" dirty="0" err="1">
                          <a:effectLst/>
                        </a:rPr>
                        <a:t>elif</a:t>
                      </a:r>
                      <a:r>
                        <a:rPr lang="zh-CN" sz="1400" b="1" kern="100" dirty="0">
                          <a:effectLst/>
                        </a:rPr>
                        <a:t>相当于</a:t>
                      </a:r>
                      <a:r>
                        <a:rPr lang="en-US" sz="1400" b="1" kern="100" dirty="0">
                          <a:effectLst/>
                        </a:rPr>
                        <a:t>else if</a:t>
                      </a:r>
                      <a:endParaRPr lang="zh-CN" sz="1800" b="1" kern="100" dirty="0">
                        <a:effectLst/>
                        <a:latin typeface="Times New Roman"/>
                        <a:ea typeface="宋体"/>
                        <a:cs typeface="Times New Roman"/>
                      </a:endParaRPr>
                    </a:p>
                  </a:txBody>
                  <a:tcPr marL="68580" marR="68580" marT="0" marB="0" anchor="ctr"/>
                </a:tc>
              </a:tr>
              <a:tr h="505467">
                <a:tc>
                  <a:txBody>
                    <a:bodyPr/>
                    <a:lstStyle/>
                    <a:p>
                      <a:pPr indent="20320" algn="l">
                        <a:spcAft>
                          <a:spcPts val="0"/>
                        </a:spcAft>
                      </a:pPr>
                      <a:r>
                        <a:rPr lang="en-US" sz="1400" b="1" kern="100">
                          <a:effectLst/>
                        </a:rPr>
                        <a:t>#endif</a:t>
                      </a:r>
                      <a:endParaRPr lang="zh-CN" sz="1800" b="1" kern="100">
                        <a:effectLst/>
                        <a:latin typeface="Times New Roman"/>
                        <a:ea typeface="宋体"/>
                        <a:cs typeface="Times New Roman"/>
                      </a:endParaRPr>
                    </a:p>
                  </a:txBody>
                  <a:tcPr marL="68580" marR="68580" marT="0" marB="0" anchor="ctr"/>
                </a:tc>
                <a:tc>
                  <a:txBody>
                    <a:bodyPr/>
                    <a:lstStyle/>
                    <a:p>
                      <a:pPr algn="just">
                        <a:spcAft>
                          <a:spcPts val="0"/>
                        </a:spcAft>
                      </a:pPr>
                      <a:r>
                        <a:rPr lang="zh-CN" sz="1400" b="1" kern="100" dirty="0">
                          <a:effectLst/>
                        </a:rPr>
                        <a:t>条件编译的结束命令，用在</a:t>
                      </a:r>
                      <a:r>
                        <a:rPr lang="en-US" sz="1400" b="1" kern="100" dirty="0">
                          <a:effectLst/>
                        </a:rPr>
                        <a:t>#if</a:t>
                      </a:r>
                      <a:r>
                        <a:rPr lang="zh-CN" sz="1400" b="1" kern="100" dirty="0">
                          <a:effectLst/>
                        </a:rPr>
                        <a:t>、</a:t>
                      </a:r>
                      <a:r>
                        <a:rPr lang="en-US" sz="1400" b="1" kern="100" dirty="0">
                          <a:effectLst/>
                        </a:rPr>
                        <a:t>#</a:t>
                      </a:r>
                      <a:r>
                        <a:rPr lang="en-US" sz="1400" b="1" kern="100" dirty="0" err="1">
                          <a:effectLst/>
                        </a:rPr>
                        <a:t>ifdef</a:t>
                      </a:r>
                      <a:r>
                        <a:rPr lang="zh-CN" sz="1400" b="1" kern="100" dirty="0">
                          <a:effectLst/>
                        </a:rPr>
                        <a:t>、</a:t>
                      </a:r>
                      <a:r>
                        <a:rPr lang="en-US" sz="1400" b="1" kern="100" dirty="0">
                          <a:effectLst/>
                        </a:rPr>
                        <a:t>#</a:t>
                      </a:r>
                      <a:r>
                        <a:rPr lang="en-US" sz="1400" b="1" kern="100" dirty="0" err="1">
                          <a:effectLst/>
                        </a:rPr>
                        <a:t>ifndef</a:t>
                      </a:r>
                      <a:r>
                        <a:rPr lang="zh-CN" sz="1400" b="1" kern="100" dirty="0">
                          <a:effectLst/>
                        </a:rPr>
                        <a:t>之后</a:t>
                      </a:r>
                      <a:endParaRPr lang="zh-CN" sz="1800" b="1" kern="100" dirty="0">
                        <a:effectLst/>
                        <a:latin typeface="Times New Roman"/>
                        <a:ea typeface="宋体"/>
                        <a:cs typeface="Times New Roman"/>
                      </a:endParaRPr>
                    </a:p>
                  </a:txBody>
                  <a:tcPr marL="68580" marR="68580" marT="0" marB="0" anchor="ctr"/>
                </a:tc>
              </a:tr>
            </a:tbl>
          </a:graphicData>
        </a:graphic>
      </p:graphicFrame>
      <p:sp>
        <p:nvSpPr>
          <p:cNvPr id="12" name="矩形 11"/>
          <p:cNvSpPr/>
          <p:nvPr/>
        </p:nvSpPr>
        <p:spPr>
          <a:xfrm>
            <a:off x="4571999" y="899042"/>
            <a:ext cx="3284811" cy="373307"/>
          </a:xfrm>
          <a:prstGeom prst="rect">
            <a:avLst/>
          </a:prstGeom>
        </p:spPr>
        <p:txBody>
          <a:bodyPr wrap="square">
            <a:spAutoFit/>
          </a:bodyPr>
          <a:lstStyle/>
          <a:p>
            <a:pPr lvl="0">
              <a:lnSpc>
                <a:spcPct val="125000"/>
              </a:lnSpc>
            </a:pPr>
            <a:r>
              <a:rPr lang="zh-CN" altLang="en-US" sz="1600" b="1" dirty="0">
                <a:solidFill>
                  <a:schemeClr val="accent5">
                    <a:lumMod val="75000"/>
                  </a:schemeClr>
                </a:solidFill>
              </a:rPr>
              <a:t>嵌入式</a:t>
            </a:r>
            <a:r>
              <a:rPr lang="en-US" altLang="zh-CN" sz="1600" b="1" dirty="0">
                <a:solidFill>
                  <a:schemeClr val="accent5">
                    <a:lumMod val="75000"/>
                  </a:schemeClr>
                </a:solidFill>
              </a:rPr>
              <a:t>C</a:t>
            </a:r>
            <a:r>
              <a:rPr lang="zh-CN" altLang="en-US" sz="1600" b="1" dirty="0">
                <a:solidFill>
                  <a:schemeClr val="accent5">
                    <a:lumMod val="75000"/>
                  </a:schemeClr>
                </a:solidFill>
              </a:rPr>
              <a:t>语言常用的条件编译</a:t>
            </a:r>
            <a:r>
              <a:rPr lang="zh-CN" altLang="en-US" sz="1600" b="1" dirty="0" smtClean="0">
                <a:solidFill>
                  <a:schemeClr val="accent5">
                    <a:lumMod val="75000"/>
                  </a:schemeClr>
                </a:solidFill>
              </a:rPr>
              <a:t>命令</a:t>
            </a:r>
            <a:endParaRPr lang="zh-CN" altLang="en-US" b="1" dirty="0">
              <a:solidFill>
                <a:schemeClr val="accent5">
                  <a:lumMod val="75000"/>
                </a:schemeClr>
              </a:solidFill>
            </a:endParaRPr>
          </a:p>
        </p:txBody>
      </p:sp>
    </p:spTree>
    <p:extLst>
      <p:ext uri="{BB962C8B-B14F-4D97-AF65-F5344CB8AC3E}">
        <p14:creationId xmlns:p14="http://schemas.microsoft.com/office/powerpoint/2010/main" val="6736935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smtClean="0">
                <a:solidFill>
                  <a:schemeClr val="bg1"/>
                </a:solidFill>
              </a:rPr>
              <a:t>4.2.10 </a:t>
            </a:r>
            <a:r>
              <a:rPr lang="en-US" altLang="zh-CN" sz="2400" b="1" dirty="0">
                <a:solidFill>
                  <a:schemeClr val="bg1"/>
                </a:solidFill>
              </a:rPr>
              <a:t>#</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a:solidFill>
                  <a:srgbClr val="CD7371"/>
                </a:solidFill>
                <a:latin typeface="隶书" pitchFamily="49" charset="-122"/>
                <a:ea typeface="隶书" pitchFamily="49" charset="-122"/>
              </a:rPr>
              <a:t>形式一</a:t>
            </a:r>
            <a:r>
              <a:rPr lang="zh-CN" altLang="zh-CN" sz="2400" b="1" dirty="0">
                <a:solidFill>
                  <a:srgbClr val="CD7371"/>
                </a:solidFill>
              </a:rPr>
              <a:t>：</a:t>
            </a:r>
            <a:endParaRPr lang="zh-CN" altLang="zh-CN" sz="2400" dirty="0">
              <a:solidFill>
                <a:srgbClr val="CD7371"/>
              </a:solidFill>
            </a:endParaRPr>
          </a:p>
        </p:txBody>
      </p:sp>
      <p:sp>
        <p:nvSpPr>
          <p:cNvPr id="8" name="矩形 7"/>
          <p:cNvSpPr/>
          <p:nvPr/>
        </p:nvSpPr>
        <p:spPr>
          <a:xfrm>
            <a:off x="1179880" y="1550805"/>
            <a:ext cx="2376264" cy="1354217"/>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smtClean="0">
                <a:solidFill>
                  <a:prstClr val="black"/>
                </a:solidFill>
              </a:rPr>
              <a:t>ifdef</a:t>
            </a:r>
            <a:r>
              <a:rPr lang="en-US" altLang="zh-CN" sz="1600" b="1" dirty="0" smtClean="0">
                <a:solidFill>
                  <a:prstClr val="black"/>
                </a:solidFill>
              </a:rPr>
              <a:t>  </a:t>
            </a:r>
            <a:r>
              <a:rPr lang="zh-CN" altLang="zh-CN" sz="1600" b="1" dirty="0">
                <a:solidFill>
                  <a:prstClr val="black"/>
                </a:solidFill>
              </a:rPr>
              <a:t>标识符</a:t>
            </a:r>
          </a:p>
          <a:p>
            <a:pPr lvl="0"/>
            <a:r>
              <a:rPr lang="en-GB" altLang="zh-CN" sz="1600" b="1" dirty="0">
                <a:solidFill>
                  <a:prstClr val="black"/>
                </a:solidFill>
              </a:rPr>
              <a:t> </a:t>
            </a:r>
            <a:r>
              <a:rPr lang="en-GB" altLang="zh-CN" sz="1600" b="1" dirty="0" smtClean="0">
                <a:solidFill>
                  <a:prstClr val="black"/>
                </a:solidFill>
              </a:rPr>
              <a:t>     </a:t>
            </a:r>
            <a:r>
              <a:rPr lang="zh-CN" altLang="zh-CN" sz="1600" b="1" dirty="0" smtClean="0">
                <a:solidFill>
                  <a:prstClr val="black"/>
                </a:solidFill>
              </a:rPr>
              <a:t>程序段</a:t>
            </a:r>
            <a:r>
              <a:rPr lang="en-US" altLang="zh-CN" sz="1600" b="1" dirty="0">
                <a:solidFill>
                  <a:prstClr val="black"/>
                </a:solidFill>
              </a:rPr>
              <a:t>1</a:t>
            </a:r>
            <a:endParaRPr lang="zh-CN" altLang="zh-CN" sz="1600" b="1" dirty="0">
              <a:solidFill>
                <a:prstClr val="black"/>
              </a:solidFill>
            </a:endParaRPr>
          </a:p>
          <a:p>
            <a:pPr lvl="0"/>
            <a:r>
              <a:rPr lang="en-US" altLang="zh-CN" sz="1600" b="1" dirty="0" smtClean="0">
                <a:solidFill>
                  <a:prstClr val="black"/>
                </a:solidFill>
              </a:rPr>
              <a:t>#</a:t>
            </a:r>
            <a:r>
              <a:rPr lang="en-US" altLang="zh-CN" sz="1600" b="1" dirty="0">
                <a:solidFill>
                  <a:prstClr val="black"/>
                </a:solidFill>
              </a:rPr>
              <a:t>else</a:t>
            </a:r>
            <a:endParaRPr lang="zh-CN" altLang="zh-CN" sz="1600" b="1" dirty="0">
              <a:solidFill>
                <a:prstClr val="black"/>
              </a:solidFill>
            </a:endParaRPr>
          </a:p>
          <a:p>
            <a:pPr lvl="0"/>
            <a:r>
              <a:rPr lang="en-GB" altLang="zh-CN" sz="1600" b="1" dirty="0" smtClean="0">
                <a:solidFill>
                  <a:prstClr val="black"/>
                </a:solidFill>
              </a:rPr>
              <a:t>     </a:t>
            </a:r>
            <a:r>
              <a:rPr lang="zh-CN" altLang="zh-CN" sz="1600" b="1" dirty="0" smtClean="0">
                <a:solidFill>
                  <a:prstClr val="black"/>
                </a:solidFill>
              </a:rPr>
              <a:t>程序段</a:t>
            </a:r>
            <a:r>
              <a:rPr lang="en-US" altLang="zh-CN" sz="1600" b="1" dirty="0">
                <a:solidFill>
                  <a:prstClr val="black"/>
                </a:solidFill>
              </a:rPr>
              <a:t>2</a:t>
            </a:r>
            <a:endParaRPr lang="zh-CN" altLang="zh-CN" sz="1600" b="1" dirty="0">
              <a:solidFill>
                <a:prstClr val="black"/>
              </a:solidFill>
            </a:endParaRPr>
          </a:p>
          <a:p>
            <a:pPr lvl="0"/>
            <a:r>
              <a:rPr lang="en-US" altLang="zh-CN" sz="1600" b="1" dirty="0" smtClean="0">
                <a:solidFill>
                  <a:prstClr val="black"/>
                </a:solidFill>
              </a:rPr>
              <a:t>#</a:t>
            </a:r>
            <a:r>
              <a:rPr lang="en-US" altLang="zh-CN" sz="1600" b="1" dirty="0" err="1">
                <a:solidFill>
                  <a:prstClr val="black"/>
                </a:solidFill>
              </a:rPr>
              <a:t>endif</a:t>
            </a:r>
            <a:endParaRPr lang="zh-CN" altLang="zh-CN" sz="1600" b="1" dirty="0">
              <a:solidFill>
                <a:prstClr val="black"/>
              </a:solidFill>
            </a:endParaRPr>
          </a:p>
        </p:txBody>
      </p:sp>
      <p:sp>
        <p:nvSpPr>
          <p:cNvPr id="11" name="矩形 10"/>
          <p:cNvSpPr/>
          <p:nvPr/>
        </p:nvSpPr>
        <p:spPr>
          <a:xfrm>
            <a:off x="1028120" y="3315920"/>
            <a:ext cx="2679784"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zh-CN" b="1" dirty="0">
                <a:solidFill>
                  <a:prstClr val="black"/>
                </a:solidFill>
                <a:ea typeface="楷体" pitchFamily="49" charset="-122"/>
              </a:rPr>
              <a:t>当指定的标识符已被</a:t>
            </a:r>
            <a:r>
              <a:rPr lang="en-US" altLang="zh-CN" b="1" dirty="0">
                <a:solidFill>
                  <a:prstClr val="black"/>
                </a:solidFill>
                <a:ea typeface="楷体" pitchFamily="49" charset="-122"/>
              </a:rPr>
              <a:t>#define</a:t>
            </a:r>
            <a:r>
              <a:rPr lang="zh-CN" altLang="zh-CN" b="1" dirty="0">
                <a:solidFill>
                  <a:prstClr val="black"/>
                </a:solidFill>
                <a:ea typeface="楷体" pitchFamily="49" charset="-122"/>
              </a:rPr>
              <a:t>定义过，则只编译程序段</a:t>
            </a:r>
            <a:r>
              <a:rPr lang="en-US" altLang="zh-CN" b="1" dirty="0">
                <a:solidFill>
                  <a:prstClr val="black"/>
                </a:solidFill>
                <a:ea typeface="楷体" pitchFamily="49" charset="-122"/>
              </a:rPr>
              <a:t>1</a:t>
            </a:r>
            <a:r>
              <a:rPr lang="zh-CN" altLang="zh-CN" b="1" dirty="0">
                <a:solidFill>
                  <a:prstClr val="black"/>
                </a:solidFill>
                <a:ea typeface="楷体" pitchFamily="49" charset="-122"/>
              </a:rPr>
              <a:t>，否则编译程序段</a:t>
            </a:r>
            <a:r>
              <a:rPr lang="en-US" altLang="zh-CN" b="1" dirty="0">
                <a:solidFill>
                  <a:prstClr val="black"/>
                </a:solidFill>
                <a:ea typeface="楷体" pitchFamily="49" charset="-122"/>
              </a:rPr>
              <a:t>2</a:t>
            </a:r>
            <a:r>
              <a:rPr lang="zh-CN" altLang="zh-CN" b="1" dirty="0">
                <a:solidFill>
                  <a:prstClr val="black"/>
                </a:solidFill>
                <a:ea typeface="楷体" pitchFamily="49" charset="-122"/>
              </a:rPr>
              <a:t>。</a:t>
            </a:r>
          </a:p>
        </p:txBody>
      </p:sp>
      <p:sp>
        <p:nvSpPr>
          <p:cNvPr id="14" name="右箭头 13"/>
          <p:cNvSpPr/>
          <p:nvPr/>
        </p:nvSpPr>
        <p:spPr>
          <a:xfrm rot="5400000">
            <a:off x="2231551" y="3004386"/>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smtClean="0"/>
          </a:p>
        </p:txBody>
      </p:sp>
      <p:sp>
        <p:nvSpPr>
          <p:cNvPr id="15" name="矩形 14"/>
          <p:cNvSpPr/>
          <p:nvPr/>
        </p:nvSpPr>
        <p:spPr>
          <a:xfrm>
            <a:off x="4860032" y="1563638"/>
            <a:ext cx="2880320" cy="160043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a:t>
            </a:r>
            <a:r>
              <a:rPr lang="en-US" altLang="zh-CN" sz="1400" b="1" dirty="0">
                <a:solidFill>
                  <a:prstClr val="black"/>
                </a:solidFill>
              </a:rPr>
              <a:t>IN_XXX</a:t>
            </a:r>
          </a:p>
          <a:p>
            <a:pPr lvl="0"/>
            <a:r>
              <a:rPr lang="en-US" altLang="zh-CN" sz="1400" b="1" dirty="0">
                <a:solidFill>
                  <a:prstClr val="black"/>
                </a:solidFill>
              </a:rPr>
              <a:t>    #define  XXX_EXT</a:t>
            </a:r>
          </a:p>
          <a:p>
            <a:pPr lvl="0"/>
            <a:r>
              <a:rPr lang="en-US" altLang="zh-CN" sz="1400" b="1" dirty="0">
                <a:solidFill>
                  <a:schemeClr val="accent5">
                    <a:lumMod val="75000"/>
                  </a:schemeClr>
                </a:solidFill>
              </a:rPr>
              <a:t>#else</a:t>
            </a:r>
          </a:p>
          <a:p>
            <a:pPr lvl="0"/>
            <a:r>
              <a:rPr lang="en-US" altLang="zh-CN" sz="1400" b="1" dirty="0">
                <a:solidFill>
                  <a:prstClr val="black"/>
                </a:solidFill>
              </a:rPr>
              <a:t>    #define  XXX_EXT </a:t>
            </a:r>
            <a:r>
              <a:rPr lang="en-US" altLang="zh-CN" sz="1400" b="1" dirty="0" smtClean="0">
                <a:solidFill>
                  <a:prstClr val="black"/>
                </a:solidFill>
              </a:rPr>
              <a:t> extern </a:t>
            </a:r>
            <a:endParaRPr lang="en-US" altLang="zh-CN" sz="1400" b="1" dirty="0">
              <a:solidFill>
                <a:prstClr val="black"/>
              </a:solidFill>
            </a:endParaRP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pPr lvl="0"/>
            <a:r>
              <a:rPr lang="en-US" altLang="zh-CN" sz="1400" b="1" dirty="0">
                <a:solidFill>
                  <a:prstClr val="black"/>
                </a:solidFill>
              </a:rPr>
              <a:t>…….</a:t>
            </a:r>
          </a:p>
          <a:p>
            <a:pPr lvl="0"/>
            <a:r>
              <a:rPr lang="en-US" altLang="zh-CN" sz="1400" b="1" dirty="0">
                <a:solidFill>
                  <a:prstClr val="black"/>
                </a:solidFill>
              </a:rPr>
              <a:t>XXX_EXT  volatile  u16  Name;</a:t>
            </a:r>
          </a:p>
        </p:txBody>
      </p:sp>
      <p:sp>
        <p:nvSpPr>
          <p:cNvPr id="17" name="圆角矩形标注 16"/>
          <p:cNvSpPr/>
          <p:nvPr/>
        </p:nvSpPr>
        <p:spPr>
          <a:xfrm>
            <a:off x="4716016" y="3538896"/>
            <a:ext cx="3672408" cy="761046"/>
          </a:xfrm>
          <a:prstGeom prst="wedgeRoundRectCallout">
            <a:avLst>
              <a:gd name="adj1" fmla="val 23512"/>
              <a:gd name="adj2" fmla="val -9667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600" b="1" dirty="0" smtClean="0">
                <a:solidFill>
                  <a:schemeClr val="tx1"/>
                </a:solidFill>
                <a:ea typeface="楷体" pitchFamily="49" charset="-122"/>
              </a:rPr>
              <a:t>如果</a:t>
            </a:r>
            <a:r>
              <a:rPr lang="zh-CN" altLang="en-US" sz="1600" b="1" dirty="0">
                <a:solidFill>
                  <a:schemeClr val="tx1"/>
                </a:solidFill>
                <a:ea typeface="楷体" pitchFamily="49" charset="-122"/>
              </a:rPr>
              <a:t>定义了</a:t>
            </a:r>
            <a:r>
              <a:rPr lang="en-US" altLang="zh-CN" sz="1600" b="1" dirty="0">
                <a:solidFill>
                  <a:schemeClr val="tx1"/>
                </a:solidFill>
                <a:ea typeface="楷体" pitchFamily="49" charset="-122"/>
              </a:rPr>
              <a:t>IN_XXX</a:t>
            </a:r>
            <a:r>
              <a:rPr lang="zh-CN" altLang="en-US" sz="1600" b="1" dirty="0">
                <a:solidFill>
                  <a:schemeClr val="tx1"/>
                </a:solidFill>
                <a:ea typeface="楷体" pitchFamily="49" charset="-122"/>
              </a:rPr>
              <a:t>，则定义</a:t>
            </a:r>
            <a:r>
              <a:rPr lang="en-US" altLang="zh-CN" sz="1600" b="1" dirty="0">
                <a:solidFill>
                  <a:schemeClr val="tx1"/>
                </a:solidFill>
                <a:ea typeface="楷体" pitchFamily="49" charset="-122"/>
              </a:rPr>
              <a:t>XXX_EXT</a:t>
            </a:r>
            <a:r>
              <a:rPr lang="zh-CN" altLang="en-US" sz="1600" b="1" dirty="0">
                <a:solidFill>
                  <a:schemeClr val="tx1"/>
                </a:solidFill>
                <a:ea typeface="楷体" pitchFamily="49" charset="-122"/>
              </a:rPr>
              <a:t>，否则定义</a:t>
            </a:r>
            <a:r>
              <a:rPr lang="en-US" altLang="zh-CN" sz="1600" b="1" dirty="0">
                <a:solidFill>
                  <a:schemeClr val="tx1"/>
                </a:solidFill>
                <a:ea typeface="楷体" pitchFamily="49" charset="-122"/>
              </a:rPr>
              <a:t>XXX_EXT</a:t>
            </a:r>
            <a:r>
              <a:rPr lang="zh-CN" altLang="en-US" sz="1600" b="1" dirty="0">
                <a:solidFill>
                  <a:schemeClr val="tx1"/>
                </a:solidFill>
                <a:ea typeface="楷体" pitchFamily="49" charset="-122"/>
              </a:rPr>
              <a:t>为</a:t>
            </a:r>
            <a:r>
              <a:rPr lang="en-US" altLang="zh-CN" sz="1600" b="1" dirty="0">
                <a:solidFill>
                  <a:schemeClr val="tx1"/>
                </a:solidFill>
                <a:ea typeface="楷体" pitchFamily="49" charset="-122"/>
              </a:rPr>
              <a:t>extern</a:t>
            </a:r>
            <a:r>
              <a:rPr lang="zh-CN" altLang="en-US" sz="1600" b="1" dirty="0">
                <a:solidFill>
                  <a:schemeClr val="tx1"/>
                </a:solidFill>
                <a:ea typeface="楷体" pitchFamily="49" charset="-122"/>
              </a:rPr>
              <a:t>。</a:t>
            </a:r>
            <a:endParaRPr lang="zh-CN" altLang="en-US" b="1" dirty="0" smtClean="0">
              <a:solidFill>
                <a:schemeClr val="tx1"/>
              </a:solidFill>
            </a:endParaRPr>
          </a:p>
        </p:txBody>
      </p:sp>
    </p:spTree>
    <p:extLst>
      <p:ext uri="{BB962C8B-B14F-4D97-AF65-F5344CB8AC3E}">
        <p14:creationId xmlns:p14="http://schemas.microsoft.com/office/powerpoint/2010/main" val="41786386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smtClean="0">
                <a:solidFill>
                  <a:schemeClr val="bg1"/>
                </a:solidFill>
              </a:rPr>
              <a:t>4.2.10 </a:t>
            </a:r>
            <a:r>
              <a:rPr lang="en-US" altLang="zh-CN" sz="2400" b="1" dirty="0">
                <a:solidFill>
                  <a:schemeClr val="bg1"/>
                </a:solidFill>
              </a:rPr>
              <a:t>#</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smtClean="0">
                <a:solidFill>
                  <a:srgbClr val="CD7371"/>
                </a:solidFill>
                <a:latin typeface="隶书" pitchFamily="49" charset="-122"/>
                <a:ea typeface="隶书" pitchFamily="49" charset="-122"/>
              </a:rPr>
              <a:t>形式</a:t>
            </a:r>
            <a:r>
              <a:rPr lang="zh-CN" altLang="en-US" sz="2000" b="1" dirty="0" smtClean="0">
                <a:solidFill>
                  <a:srgbClr val="CD7371"/>
                </a:solidFill>
                <a:latin typeface="隶书" pitchFamily="49" charset="-122"/>
                <a:ea typeface="隶书" pitchFamily="49" charset="-122"/>
              </a:rPr>
              <a:t>二</a:t>
            </a:r>
            <a:r>
              <a:rPr lang="zh-CN" altLang="zh-CN" sz="2400" b="1" dirty="0" smtClean="0">
                <a:solidFill>
                  <a:srgbClr val="CD7371"/>
                </a:solidFill>
              </a:rPr>
              <a:t>：</a:t>
            </a:r>
            <a:endParaRPr lang="zh-CN" altLang="zh-CN" sz="2400" dirty="0">
              <a:solidFill>
                <a:srgbClr val="CD7371"/>
              </a:solidFill>
            </a:endParaRPr>
          </a:p>
        </p:txBody>
      </p:sp>
      <p:sp>
        <p:nvSpPr>
          <p:cNvPr id="8" name="矩形 7"/>
          <p:cNvSpPr/>
          <p:nvPr/>
        </p:nvSpPr>
        <p:spPr>
          <a:xfrm>
            <a:off x="691312" y="1550805"/>
            <a:ext cx="2376264" cy="1323439"/>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a:solidFill>
                  <a:prstClr val="black"/>
                </a:solidFill>
              </a:rPr>
              <a:t>ifndef</a:t>
            </a:r>
            <a:r>
              <a:rPr lang="en-US" altLang="zh-CN" sz="1600" b="1" dirty="0">
                <a:solidFill>
                  <a:prstClr val="black"/>
                </a:solidFill>
              </a:rPr>
              <a:t> </a:t>
            </a:r>
            <a:r>
              <a:rPr lang="en-US" altLang="zh-CN" sz="1600" b="1" dirty="0" smtClean="0">
                <a:solidFill>
                  <a:prstClr val="black"/>
                </a:solidFill>
              </a:rPr>
              <a:t> </a:t>
            </a:r>
            <a:r>
              <a:rPr lang="zh-CN" altLang="en-US" sz="1600" b="1" dirty="0" smtClean="0">
                <a:solidFill>
                  <a:prstClr val="black"/>
                </a:solidFill>
              </a:rPr>
              <a:t>标识符</a:t>
            </a:r>
            <a:endParaRPr lang="zh-CN" altLang="en-US" sz="1600" b="1" dirty="0">
              <a:solidFill>
                <a:prstClr val="black"/>
              </a:solidFill>
            </a:endParaRPr>
          </a:p>
          <a:p>
            <a:pPr lvl="0"/>
            <a:r>
              <a:rPr lang="zh-CN" altLang="en-US" sz="1600" b="1" dirty="0" smtClean="0">
                <a:solidFill>
                  <a:prstClr val="black"/>
                </a:solidFill>
              </a:rPr>
              <a:t>      程序段</a:t>
            </a:r>
            <a:r>
              <a:rPr lang="en-US" altLang="zh-CN" sz="1600" b="1" dirty="0">
                <a:solidFill>
                  <a:prstClr val="black"/>
                </a:solidFill>
              </a:rPr>
              <a:t>1</a:t>
            </a:r>
          </a:p>
          <a:p>
            <a:pPr lvl="0"/>
            <a:r>
              <a:rPr lang="en-US" altLang="zh-CN" sz="1600" b="1" dirty="0" smtClean="0">
                <a:solidFill>
                  <a:prstClr val="black"/>
                </a:solidFill>
              </a:rPr>
              <a:t>#</a:t>
            </a:r>
            <a:r>
              <a:rPr lang="en-US" altLang="zh-CN" sz="1600" b="1" dirty="0">
                <a:solidFill>
                  <a:prstClr val="black"/>
                </a:solidFill>
              </a:rPr>
              <a:t>else</a:t>
            </a:r>
          </a:p>
          <a:p>
            <a:pPr lvl="0"/>
            <a:r>
              <a:rPr lang="en-US" altLang="zh-CN" sz="1600" b="1" dirty="0" smtClean="0">
                <a:solidFill>
                  <a:prstClr val="black"/>
                </a:solidFill>
              </a:rPr>
              <a:t>       </a:t>
            </a:r>
            <a:r>
              <a:rPr lang="zh-CN" altLang="en-US" sz="1600" b="1" dirty="0" smtClean="0">
                <a:solidFill>
                  <a:prstClr val="black"/>
                </a:solidFill>
              </a:rPr>
              <a:t>程序段</a:t>
            </a:r>
            <a:r>
              <a:rPr lang="en-US" altLang="zh-CN" sz="1600" b="1" dirty="0">
                <a:solidFill>
                  <a:prstClr val="black"/>
                </a:solidFill>
              </a:rPr>
              <a:t>2</a:t>
            </a:r>
          </a:p>
          <a:p>
            <a:pPr lvl="0"/>
            <a:r>
              <a:rPr lang="en-US" altLang="zh-CN" sz="1600" b="1" dirty="0" smtClean="0">
                <a:solidFill>
                  <a:prstClr val="black"/>
                </a:solidFill>
              </a:rPr>
              <a:t>#</a:t>
            </a:r>
            <a:r>
              <a:rPr lang="en-US" altLang="zh-CN" sz="1600" b="1" dirty="0" err="1">
                <a:solidFill>
                  <a:prstClr val="black"/>
                </a:solidFill>
              </a:rPr>
              <a:t>endif</a:t>
            </a:r>
            <a:endParaRPr lang="en-US" altLang="zh-CN" sz="1600" b="1" dirty="0">
              <a:solidFill>
                <a:prstClr val="black"/>
              </a:solidFill>
            </a:endParaRPr>
          </a:p>
        </p:txBody>
      </p:sp>
      <p:sp>
        <p:nvSpPr>
          <p:cNvPr id="11" name="矩形 10"/>
          <p:cNvSpPr/>
          <p:nvPr/>
        </p:nvSpPr>
        <p:spPr>
          <a:xfrm>
            <a:off x="539552" y="3315920"/>
            <a:ext cx="2679784"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zh-CN" sz="2000" b="1" dirty="0" smtClean="0">
                <a:solidFill>
                  <a:srgbClr val="CD7371"/>
                </a:solidFill>
                <a:latin typeface="楷体" pitchFamily="49" charset="-122"/>
                <a:ea typeface="楷体" pitchFamily="49" charset="-122"/>
              </a:rPr>
              <a:t>：</a:t>
            </a:r>
            <a:r>
              <a:rPr lang="zh-CN" altLang="en-US" b="1" dirty="0">
                <a:solidFill>
                  <a:prstClr val="black"/>
                </a:solidFill>
                <a:ea typeface="楷体" pitchFamily="49" charset="-122"/>
              </a:rPr>
              <a:t>当指定的标识符没有被</a:t>
            </a:r>
            <a:r>
              <a:rPr lang="en-US" altLang="zh-CN" b="1" dirty="0">
                <a:solidFill>
                  <a:prstClr val="black"/>
                </a:solidFill>
                <a:ea typeface="楷体" pitchFamily="49" charset="-122"/>
              </a:rPr>
              <a:t>#define</a:t>
            </a:r>
            <a:r>
              <a:rPr lang="zh-CN" altLang="en-US" b="1" dirty="0">
                <a:solidFill>
                  <a:prstClr val="black"/>
                </a:solidFill>
                <a:ea typeface="楷体" pitchFamily="49" charset="-122"/>
              </a:rPr>
              <a:t>定义过，则编译程序段</a:t>
            </a:r>
            <a:r>
              <a:rPr lang="en-US" altLang="zh-CN" b="1" dirty="0">
                <a:solidFill>
                  <a:prstClr val="black"/>
                </a:solidFill>
                <a:ea typeface="楷体" pitchFamily="49" charset="-122"/>
              </a:rPr>
              <a:t>1</a:t>
            </a:r>
            <a:r>
              <a:rPr lang="zh-CN" altLang="en-US" b="1" dirty="0">
                <a:solidFill>
                  <a:prstClr val="black"/>
                </a:solidFill>
                <a:ea typeface="楷体" pitchFamily="49" charset="-122"/>
              </a:rPr>
              <a:t>，否则编译程序段</a:t>
            </a:r>
            <a:r>
              <a:rPr lang="en-US" altLang="zh-CN" b="1" dirty="0" smtClean="0">
                <a:solidFill>
                  <a:prstClr val="black"/>
                </a:solidFill>
                <a:ea typeface="楷体" pitchFamily="49" charset="-122"/>
              </a:rPr>
              <a:t>2</a:t>
            </a:r>
            <a:r>
              <a:rPr lang="zh-CN" altLang="en-US" b="1" dirty="0" smtClean="0">
                <a:solidFill>
                  <a:prstClr val="black"/>
                </a:solidFill>
                <a:ea typeface="楷体" pitchFamily="49" charset="-122"/>
              </a:rPr>
              <a:t>。</a:t>
            </a:r>
            <a:endParaRPr lang="zh-CN" altLang="zh-CN" b="1" dirty="0">
              <a:solidFill>
                <a:prstClr val="black"/>
              </a:solidFill>
              <a:ea typeface="楷体" pitchFamily="49" charset="-122"/>
            </a:endParaRPr>
          </a:p>
        </p:txBody>
      </p:sp>
      <p:sp>
        <p:nvSpPr>
          <p:cNvPr id="14" name="右箭头 13"/>
          <p:cNvSpPr/>
          <p:nvPr/>
        </p:nvSpPr>
        <p:spPr>
          <a:xfrm rot="5400000">
            <a:off x="1742983" y="3004386"/>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smtClean="0"/>
          </a:p>
        </p:txBody>
      </p:sp>
      <p:sp>
        <p:nvSpPr>
          <p:cNvPr id="15" name="矩形 14"/>
          <p:cNvSpPr/>
          <p:nvPr/>
        </p:nvSpPr>
        <p:spPr>
          <a:xfrm>
            <a:off x="3779912" y="1653926"/>
            <a:ext cx="5040560" cy="289310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smtClean="0">
                <a:solidFill>
                  <a:schemeClr val="accent5">
                    <a:lumMod val="75000"/>
                  </a:schemeClr>
                </a:solidFill>
              </a:rPr>
              <a:t>#</a:t>
            </a:r>
            <a:r>
              <a:rPr lang="en-US" altLang="zh-CN" sz="1400" b="1" dirty="0" err="1">
                <a:solidFill>
                  <a:schemeClr val="accent5">
                    <a:lumMod val="75000"/>
                  </a:schemeClr>
                </a:solidFill>
              </a:rPr>
              <a:t>ifndef</a:t>
            </a:r>
            <a:r>
              <a:rPr lang="en-US" altLang="zh-CN" sz="1400" b="1" dirty="0">
                <a:solidFill>
                  <a:schemeClr val="accent5">
                    <a:lumMod val="75000"/>
                  </a:schemeClr>
                </a:solidFill>
              </a:rPr>
              <a:t> STM32F10X_CL</a:t>
            </a:r>
          </a:p>
          <a:p>
            <a:pPr lvl="0" indent="177800"/>
            <a:r>
              <a:rPr lang="en-US" altLang="zh-CN" sz="1400" b="1" dirty="0">
                <a:solidFill>
                  <a:prstClr val="black"/>
                </a:solidFill>
              </a:rPr>
              <a:t>#define RCC_USBCLKSource_PLLCLK_1Div5  ((uint8_t)0x00)</a:t>
            </a:r>
          </a:p>
          <a:p>
            <a:pPr lvl="0" indent="177800"/>
            <a:r>
              <a:rPr lang="en-US" altLang="zh-CN" sz="1400" b="1" dirty="0">
                <a:solidFill>
                  <a:prstClr val="black"/>
                </a:solidFill>
              </a:rPr>
              <a:t>#define RCC_USBCLKSource_PLLCLK_Div1  ((uint8_t)0x01)</a:t>
            </a:r>
          </a:p>
          <a:p>
            <a:pPr marL="177800" lvl="0"/>
            <a:r>
              <a:rPr lang="en-US" altLang="zh-CN" sz="1400" b="1" dirty="0">
                <a:solidFill>
                  <a:prstClr val="black"/>
                </a:solidFill>
              </a:rPr>
              <a:t>#define IS_RCC_USBCLK_SOURCE(SOURCE) (((SOURCE) == RCC_USBCLKSource_PLLCLK_1Div5) ||\</a:t>
            </a:r>
          </a:p>
          <a:p>
            <a:pPr lvl="0" indent="177800"/>
            <a:r>
              <a:rPr lang="en-US" altLang="zh-CN" sz="1400" b="1" dirty="0">
                <a:solidFill>
                  <a:prstClr val="black"/>
                </a:solidFill>
              </a:rPr>
              <a:t>((SOURCE) == RCC_USBCLKSource_PLLCLK_Div1))</a:t>
            </a:r>
          </a:p>
          <a:p>
            <a:pPr lvl="0"/>
            <a:r>
              <a:rPr lang="en-US" altLang="zh-CN" sz="1400" b="1" dirty="0">
                <a:solidFill>
                  <a:schemeClr val="accent5">
                    <a:lumMod val="75000"/>
                  </a:schemeClr>
                </a:solidFill>
              </a:rPr>
              <a:t>#else</a:t>
            </a:r>
          </a:p>
          <a:p>
            <a:pPr lvl="0" indent="177800"/>
            <a:r>
              <a:rPr lang="en-US" altLang="zh-CN" sz="1400" b="1" dirty="0">
                <a:solidFill>
                  <a:prstClr val="black"/>
                </a:solidFill>
              </a:rPr>
              <a:t>#define RCC_OTGFSCLKSource_PLLVCO_Div3  ((uint8_t)0x00)</a:t>
            </a:r>
          </a:p>
          <a:p>
            <a:pPr lvl="0" indent="177800"/>
            <a:r>
              <a:rPr lang="en-US" altLang="zh-CN" sz="1400" b="1" dirty="0">
                <a:solidFill>
                  <a:prstClr val="black"/>
                </a:solidFill>
              </a:rPr>
              <a:t>#define RCC_OTGFSCLKSource_PLLVCO_Div2  ((uint8_t)0x01)</a:t>
            </a:r>
          </a:p>
          <a:p>
            <a:pPr lvl="0" indent="177800"/>
            <a:r>
              <a:rPr lang="en-US" altLang="zh-CN" sz="1400" b="1" dirty="0">
                <a:solidFill>
                  <a:prstClr val="black"/>
                </a:solidFill>
              </a:rPr>
              <a:t>#define IS_RCC_OTGFSCLK_SOURCE(SOURCE) (((SOURCE) == RCC_OTGFSCLKSource_PLLVCO_Div3)||\</a:t>
            </a:r>
          </a:p>
          <a:p>
            <a:pPr lvl="0" indent="177800"/>
            <a:r>
              <a:rPr lang="en-US" altLang="zh-CN" sz="1400" b="1" dirty="0">
                <a:solidFill>
                  <a:prstClr val="black"/>
                </a:solidFill>
              </a:rPr>
              <a:t>((SOURCE) == RCC_OTGFSCLKSource_PLLVCO_Div2))</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p:txBody>
      </p:sp>
      <p:sp>
        <p:nvSpPr>
          <p:cNvPr id="6" name="矩形 5"/>
          <p:cNvSpPr/>
          <p:nvPr/>
        </p:nvSpPr>
        <p:spPr>
          <a:xfrm>
            <a:off x="3599892" y="1097741"/>
            <a:ext cx="5400600" cy="338554"/>
          </a:xfrm>
          <a:prstGeom prst="rect">
            <a:avLst/>
          </a:prstGeom>
        </p:spPr>
        <p:txBody>
          <a:bodyPr wrap="square">
            <a:spAutoFit/>
          </a:bodyPr>
          <a:lstStyle/>
          <a:p>
            <a:pPr lvl="0"/>
            <a:r>
              <a:rPr lang="zh-CN" altLang="en-US" sz="1600" b="1" dirty="0" smtClean="0">
                <a:solidFill>
                  <a:prstClr val="black"/>
                </a:solidFill>
              </a:rPr>
              <a:t>标准</a:t>
            </a:r>
            <a:r>
              <a:rPr lang="zh-CN" altLang="en-US" sz="1600" b="1" dirty="0">
                <a:solidFill>
                  <a:prstClr val="black"/>
                </a:solidFill>
              </a:rPr>
              <a:t>外设库</a:t>
            </a:r>
            <a:r>
              <a:rPr lang="en-US" altLang="zh-CN" sz="1600" b="1" dirty="0">
                <a:solidFill>
                  <a:prstClr val="black"/>
                </a:solidFill>
              </a:rPr>
              <a:t>v3.5.0</a:t>
            </a:r>
            <a:r>
              <a:rPr lang="zh-CN" altLang="en-US" sz="1600" b="1" dirty="0">
                <a:solidFill>
                  <a:prstClr val="black"/>
                </a:solidFill>
              </a:rPr>
              <a:t>版本中的</a:t>
            </a:r>
            <a:r>
              <a:rPr lang="en-US" altLang="zh-CN" sz="1600" b="1" dirty="0">
                <a:solidFill>
                  <a:prstClr val="black"/>
                </a:solidFill>
              </a:rPr>
              <a:t>stm32f10x_rcc.h</a:t>
            </a:r>
            <a:r>
              <a:rPr lang="zh-CN" altLang="en-US" sz="1600" b="1" dirty="0">
                <a:solidFill>
                  <a:prstClr val="black"/>
                </a:solidFill>
              </a:rPr>
              <a:t>头文件中的</a:t>
            </a:r>
            <a:r>
              <a:rPr lang="zh-CN" altLang="en-US" sz="1600" b="1" dirty="0" smtClean="0">
                <a:solidFill>
                  <a:prstClr val="black"/>
                </a:solidFill>
              </a:rPr>
              <a:t>源码</a:t>
            </a:r>
            <a:endParaRPr lang="zh-CN" altLang="en-US" sz="1600" b="1" dirty="0">
              <a:solidFill>
                <a:prstClr val="black"/>
              </a:solidFill>
            </a:endParaRPr>
          </a:p>
        </p:txBody>
      </p:sp>
    </p:spTree>
    <p:extLst>
      <p:ext uri="{BB962C8B-B14F-4D97-AF65-F5344CB8AC3E}">
        <p14:creationId xmlns:p14="http://schemas.microsoft.com/office/powerpoint/2010/main" val="28532289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9664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841214" cy="461665"/>
          </a:xfrm>
          <a:prstGeom prst="rect">
            <a:avLst/>
          </a:prstGeom>
        </p:spPr>
        <p:txBody>
          <a:bodyPr wrap="none">
            <a:spAutoFit/>
          </a:bodyPr>
          <a:lstStyle/>
          <a:p>
            <a:r>
              <a:rPr lang="en-US" altLang="zh-CN" sz="2400" b="1" dirty="0" smtClean="0">
                <a:solidFill>
                  <a:schemeClr val="bg1"/>
                </a:solidFill>
              </a:rPr>
              <a:t>4.2.10 </a:t>
            </a:r>
            <a:r>
              <a:rPr lang="en-US" altLang="zh-CN" sz="2400" b="1" dirty="0">
                <a:solidFill>
                  <a:schemeClr val="bg1"/>
                </a:solidFill>
              </a:rPr>
              <a:t>#</a:t>
            </a:r>
            <a:r>
              <a:rPr lang="en-US" altLang="zh-CN" sz="2400" b="1" dirty="0" err="1">
                <a:solidFill>
                  <a:schemeClr val="bg1"/>
                </a:solidFill>
              </a:rPr>
              <a:t>ifdef</a:t>
            </a:r>
            <a:r>
              <a:rPr lang="zh-CN" altLang="en-US" sz="2400" b="1" dirty="0">
                <a:solidFill>
                  <a:schemeClr val="bg1"/>
                </a:solidFill>
              </a:rPr>
              <a:t>、</a:t>
            </a:r>
            <a:r>
              <a:rPr lang="en-US" altLang="zh-CN" sz="2400" b="1" dirty="0">
                <a:solidFill>
                  <a:schemeClr val="bg1"/>
                </a:solidFill>
              </a:rPr>
              <a:t>#</a:t>
            </a:r>
            <a:r>
              <a:rPr lang="en-US" altLang="zh-CN" sz="2400" b="1" dirty="0" err="1">
                <a:solidFill>
                  <a:schemeClr val="bg1"/>
                </a:solidFill>
              </a:rPr>
              <a:t>ifndef</a:t>
            </a:r>
            <a:r>
              <a:rPr lang="zh-CN" altLang="en-US" sz="2400" b="1" dirty="0">
                <a:solidFill>
                  <a:schemeClr val="bg1"/>
                </a:solidFill>
              </a:rPr>
              <a:t>、</a:t>
            </a:r>
            <a:r>
              <a:rPr lang="en-US" altLang="zh-CN" sz="2400" b="1" dirty="0">
                <a:solidFill>
                  <a:schemeClr val="bg1"/>
                </a:solidFill>
              </a:rPr>
              <a:t>#else</a:t>
            </a:r>
            <a:r>
              <a:rPr lang="zh-CN" altLang="en-US" sz="2400" b="1" dirty="0">
                <a:solidFill>
                  <a:schemeClr val="bg1"/>
                </a:solidFill>
              </a:rPr>
              <a:t>、</a:t>
            </a:r>
            <a:r>
              <a:rPr lang="en-US" altLang="zh-CN" sz="2400" b="1" dirty="0">
                <a:solidFill>
                  <a:schemeClr val="bg1"/>
                </a:solidFill>
              </a:rPr>
              <a:t>#if</a:t>
            </a:r>
            <a:r>
              <a:rPr lang="zh-CN" altLang="en-US" sz="2400" b="1" dirty="0">
                <a:solidFill>
                  <a:schemeClr val="bg1"/>
                </a:solidFill>
              </a:rPr>
              <a:t>条件编译</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539552" y="987000"/>
            <a:ext cx="1268296" cy="461665"/>
          </a:xfrm>
          <a:prstGeom prst="rect">
            <a:avLst/>
          </a:prstGeom>
        </p:spPr>
        <p:txBody>
          <a:bodyPr wrap="none">
            <a:spAutoFit/>
          </a:bodyPr>
          <a:lstStyle/>
          <a:p>
            <a:pPr lvl="0"/>
            <a:r>
              <a:rPr lang="zh-CN" altLang="zh-CN" sz="2000" b="1" dirty="0" smtClean="0">
                <a:solidFill>
                  <a:srgbClr val="CD7371"/>
                </a:solidFill>
                <a:latin typeface="隶书" pitchFamily="49" charset="-122"/>
                <a:ea typeface="隶书" pitchFamily="49" charset="-122"/>
              </a:rPr>
              <a:t>形式</a:t>
            </a:r>
            <a:r>
              <a:rPr lang="zh-CN" altLang="en-US" sz="2000" b="1" dirty="0" smtClean="0">
                <a:solidFill>
                  <a:srgbClr val="CD7371"/>
                </a:solidFill>
                <a:latin typeface="隶书" pitchFamily="49" charset="-122"/>
                <a:ea typeface="隶书" pitchFamily="49" charset="-122"/>
              </a:rPr>
              <a:t>三</a:t>
            </a:r>
            <a:r>
              <a:rPr lang="zh-CN" altLang="zh-CN" sz="2400" b="1" dirty="0" smtClean="0">
                <a:solidFill>
                  <a:srgbClr val="CD7371"/>
                </a:solidFill>
              </a:rPr>
              <a:t>：</a:t>
            </a:r>
            <a:endParaRPr lang="zh-CN" altLang="zh-CN" sz="2400" dirty="0">
              <a:solidFill>
                <a:srgbClr val="CD7371"/>
              </a:solidFill>
            </a:endParaRPr>
          </a:p>
        </p:txBody>
      </p:sp>
      <p:sp>
        <p:nvSpPr>
          <p:cNvPr id="8" name="矩形 7"/>
          <p:cNvSpPr/>
          <p:nvPr/>
        </p:nvSpPr>
        <p:spPr>
          <a:xfrm>
            <a:off x="539552" y="1550805"/>
            <a:ext cx="2686565" cy="1323439"/>
          </a:xfrm>
          <a:prstGeom prst="rect">
            <a:avLst/>
          </a:prstGeom>
          <a:solidFill>
            <a:schemeClr val="accent5">
              <a:lumMod val="40000"/>
              <a:lumOff val="60000"/>
            </a:schemeClr>
          </a:solidFill>
        </p:spPr>
        <p:txBody>
          <a:bodyPr wrap="square">
            <a:spAutoFit/>
          </a:bodyPr>
          <a:lstStyle/>
          <a:p>
            <a:pPr lvl="0"/>
            <a:r>
              <a:rPr lang="en-US" altLang="zh-CN" sz="1600" b="1" dirty="0">
                <a:solidFill>
                  <a:prstClr val="black"/>
                </a:solidFill>
              </a:rPr>
              <a:t>#</a:t>
            </a:r>
            <a:r>
              <a:rPr lang="en-US" altLang="zh-CN" sz="1600" b="1" dirty="0" err="1" smtClean="0">
                <a:solidFill>
                  <a:prstClr val="black"/>
                </a:solidFill>
              </a:rPr>
              <a:t>ifdef</a:t>
            </a:r>
            <a:r>
              <a:rPr lang="en-US" altLang="zh-CN" sz="1600" b="1" dirty="0" smtClean="0">
                <a:solidFill>
                  <a:prstClr val="black"/>
                </a:solidFill>
              </a:rPr>
              <a:t>  </a:t>
            </a:r>
            <a:r>
              <a:rPr lang="zh-CN" altLang="en-US" sz="1600" b="1" dirty="0" smtClean="0">
                <a:solidFill>
                  <a:prstClr val="black"/>
                </a:solidFill>
              </a:rPr>
              <a:t>标识符</a:t>
            </a:r>
            <a:r>
              <a:rPr lang="en-US" altLang="zh-CN" sz="1600" b="1" dirty="0" smtClean="0">
                <a:solidFill>
                  <a:prstClr val="black"/>
                </a:solidFill>
              </a:rPr>
              <a:t>1</a:t>
            </a:r>
            <a:r>
              <a:rPr lang="zh-CN" altLang="en-US" sz="1600" b="1" dirty="0" smtClean="0">
                <a:solidFill>
                  <a:prstClr val="black"/>
                </a:solidFill>
              </a:rPr>
              <a:t>（</a:t>
            </a:r>
            <a:r>
              <a:rPr lang="zh-CN" altLang="en-US" sz="1600" b="1" dirty="0">
                <a:solidFill>
                  <a:prstClr val="black"/>
                </a:solidFill>
              </a:rPr>
              <a:t>或</a:t>
            </a:r>
            <a:r>
              <a:rPr lang="zh-CN" altLang="en-US" sz="1600" b="1" dirty="0" smtClean="0">
                <a:solidFill>
                  <a:prstClr val="black"/>
                </a:solidFill>
              </a:rPr>
              <a:t>表达式</a:t>
            </a:r>
            <a:r>
              <a:rPr lang="en-US" altLang="zh-CN" sz="1600" b="1" dirty="0" smtClean="0">
                <a:solidFill>
                  <a:prstClr val="black"/>
                </a:solidFill>
              </a:rPr>
              <a:t>1</a:t>
            </a:r>
            <a:r>
              <a:rPr lang="zh-CN" altLang="en-US" sz="1600" b="1" dirty="0" smtClean="0">
                <a:solidFill>
                  <a:prstClr val="black"/>
                </a:solidFill>
              </a:rPr>
              <a:t>）</a:t>
            </a:r>
            <a:endParaRPr lang="zh-CN" altLang="en-US" sz="1600" b="1" dirty="0">
              <a:solidFill>
                <a:prstClr val="black"/>
              </a:solidFill>
            </a:endParaRPr>
          </a:p>
          <a:p>
            <a:pPr lvl="0"/>
            <a:r>
              <a:rPr lang="zh-CN" altLang="en-US" sz="1600" b="1" dirty="0" smtClean="0">
                <a:solidFill>
                  <a:prstClr val="black"/>
                </a:solidFill>
              </a:rPr>
              <a:t>     程序段</a:t>
            </a:r>
            <a:r>
              <a:rPr lang="en-US" altLang="zh-CN" sz="1600" b="1" dirty="0">
                <a:solidFill>
                  <a:prstClr val="black"/>
                </a:solidFill>
              </a:rPr>
              <a:t>1</a:t>
            </a:r>
          </a:p>
          <a:p>
            <a:pPr lvl="0"/>
            <a:r>
              <a:rPr lang="en-US" altLang="zh-CN" sz="1600" b="1" dirty="0">
                <a:solidFill>
                  <a:prstClr val="black"/>
                </a:solidFill>
              </a:rPr>
              <a:t>#</a:t>
            </a:r>
            <a:r>
              <a:rPr lang="en-US" altLang="zh-CN" sz="1600" b="1" dirty="0" err="1" smtClean="0">
                <a:solidFill>
                  <a:prstClr val="black"/>
                </a:solidFill>
              </a:rPr>
              <a:t>elif</a:t>
            </a:r>
            <a:r>
              <a:rPr lang="en-US" altLang="zh-CN" sz="1600" b="1" dirty="0" smtClean="0">
                <a:solidFill>
                  <a:prstClr val="black"/>
                </a:solidFill>
              </a:rPr>
              <a:t>  </a:t>
            </a:r>
            <a:r>
              <a:rPr lang="zh-CN" altLang="en-US" sz="1600" b="1" dirty="0" smtClean="0">
                <a:solidFill>
                  <a:prstClr val="black"/>
                </a:solidFill>
              </a:rPr>
              <a:t>标识符</a:t>
            </a:r>
            <a:r>
              <a:rPr lang="en-US" altLang="zh-CN" sz="1600" b="1" dirty="0" smtClean="0">
                <a:solidFill>
                  <a:prstClr val="black"/>
                </a:solidFill>
              </a:rPr>
              <a:t>2</a:t>
            </a:r>
            <a:r>
              <a:rPr lang="zh-CN" altLang="en-US" sz="1600" b="1" dirty="0" smtClean="0">
                <a:solidFill>
                  <a:prstClr val="black"/>
                </a:solidFill>
              </a:rPr>
              <a:t>（</a:t>
            </a:r>
            <a:r>
              <a:rPr lang="zh-CN" altLang="en-US" sz="1600" b="1" dirty="0">
                <a:solidFill>
                  <a:prstClr val="black"/>
                </a:solidFill>
              </a:rPr>
              <a:t>或</a:t>
            </a:r>
            <a:r>
              <a:rPr lang="zh-CN" altLang="en-US" sz="1600" b="1" dirty="0" smtClean="0">
                <a:solidFill>
                  <a:prstClr val="black"/>
                </a:solidFill>
              </a:rPr>
              <a:t>表达式</a:t>
            </a:r>
            <a:r>
              <a:rPr lang="en-US" altLang="zh-CN" sz="1600" b="1" dirty="0" smtClean="0">
                <a:solidFill>
                  <a:prstClr val="black"/>
                </a:solidFill>
              </a:rPr>
              <a:t>2</a:t>
            </a:r>
            <a:r>
              <a:rPr lang="zh-CN" altLang="en-US" sz="1600" b="1" dirty="0" smtClean="0">
                <a:solidFill>
                  <a:prstClr val="black"/>
                </a:solidFill>
              </a:rPr>
              <a:t>）</a:t>
            </a:r>
            <a:endParaRPr lang="zh-CN" altLang="en-US" sz="1600" b="1" dirty="0">
              <a:solidFill>
                <a:prstClr val="black"/>
              </a:solidFill>
            </a:endParaRPr>
          </a:p>
          <a:p>
            <a:pPr lvl="0"/>
            <a:r>
              <a:rPr lang="zh-CN" altLang="en-US" sz="1600" b="1" dirty="0" smtClean="0">
                <a:solidFill>
                  <a:prstClr val="black"/>
                </a:solidFill>
              </a:rPr>
              <a:t>     程序段</a:t>
            </a:r>
            <a:r>
              <a:rPr lang="en-US" altLang="zh-CN" sz="1600" b="1" dirty="0">
                <a:solidFill>
                  <a:prstClr val="black"/>
                </a:solidFill>
              </a:rPr>
              <a:t>2</a:t>
            </a:r>
          </a:p>
          <a:p>
            <a:pPr lvl="0"/>
            <a:r>
              <a:rPr lang="en-US" altLang="zh-CN" sz="1600" b="1" dirty="0">
                <a:solidFill>
                  <a:prstClr val="black"/>
                </a:solidFill>
              </a:rPr>
              <a:t>#</a:t>
            </a:r>
            <a:r>
              <a:rPr lang="en-US" altLang="zh-CN" sz="1600" b="1" dirty="0" err="1">
                <a:solidFill>
                  <a:prstClr val="black"/>
                </a:solidFill>
              </a:rPr>
              <a:t>endif</a:t>
            </a:r>
            <a:endParaRPr lang="en-US" altLang="zh-CN" sz="1600" b="1" dirty="0">
              <a:solidFill>
                <a:prstClr val="black"/>
              </a:solidFill>
            </a:endParaRPr>
          </a:p>
        </p:txBody>
      </p:sp>
      <p:sp>
        <p:nvSpPr>
          <p:cNvPr id="11" name="矩形 10"/>
          <p:cNvSpPr/>
          <p:nvPr/>
        </p:nvSpPr>
        <p:spPr>
          <a:xfrm>
            <a:off x="395536" y="3315920"/>
            <a:ext cx="2952328" cy="123110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zh-CN" sz="2000" b="1" dirty="0">
                <a:solidFill>
                  <a:srgbClr val="CD7371"/>
                </a:solidFill>
                <a:latin typeface="楷体" pitchFamily="49" charset="-122"/>
                <a:ea typeface="楷体" pitchFamily="49" charset="-122"/>
              </a:rPr>
              <a:t>功能</a:t>
            </a:r>
            <a:r>
              <a:rPr lang="zh-CN" altLang="zh-CN" sz="2000" b="1" dirty="0" smtClean="0">
                <a:solidFill>
                  <a:srgbClr val="CD7371"/>
                </a:solidFill>
                <a:latin typeface="楷体" pitchFamily="49" charset="-122"/>
                <a:ea typeface="楷体" pitchFamily="49" charset="-122"/>
              </a:rPr>
              <a:t>：</a:t>
            </a:r>
            <a:r>
              <a:rPr lang="zh-CN" altLang="en-US" b="1" dirty="0">
                <a:solidFill>
                  <a:prstClr val="black"/>
                </a:solidFill>
                <a:ea typeface="楷体" pitchFamily="49" charset="-122"/>
              </a:rPr>
              <a:t>当定义了标识符</a:t>
            </a:r>
            <a:r>
              <a:rPr lang="en-US" altLang="zh-CN" b="1" dirty="0">
                <a:solidFill>
                  <a:prstClr val="black"/>
                </a:solidFill>
                <a:ea typeface="楷体" pitchFamily="49" charset="-122"/>
              </a:rPr>
              <a:t>1</a:t>
            </a:r>
            <a:r>
              <a:rPr lang="zh-CN" altLang="en-US" b="1" dirty="0">
                <a:solidFill>
                  <a:prstClr val="black"/>
                </a:solidFill>
                <a:ea typeface="楷体" pitchFamily="49" charset="-122"/>
              </a:rPr>
              <a:t>或表达式</a:t>
            </a:r>
            <a:r>
              <a:rPr lang="en-US" altLang="zh-CN" b="1" dirty="0">
                <a:solidFill>
                  <a:prstClr val="black"/>
                </a:solidFill>
                <a:ea typeface="楷体" pitchFamily="49" charset="-122"/>
              </a:rPr>
              <a:t>1</a:t>
            </a:r>
            <a:r>
              <a:rPr lang="zh-CN" altLang="en-US" b="1" dirty="0">
                <a:solidFill>
                  <a:prstClr val="black"/>
                </a:solidFill>
                <a:ea typeface="楷体" pitchFamily="49" charset="-122"/>
              </a:rPr>
              <a:t>，则编译程序段</a:t>
            </a:r>
            <a:r>
              <a:rPr lang="en-US" altLang="zh-CN" b="1" dirty="0">
                <a:solidFill>
                  <a:prstClr val="black"/>
                </a:solidFill>
                <a:ea typeface="楷体" pitchFamily="49" charset="-122"/>
              </a:rPr>
              <a:t>1</a:t>
            </a:r>
            <a:r>
              <a:rPr lang="zh-CN" altLang="en-US" b="1" dirty="0">
                <a:solidFill>
                  <a:prstClr val="black"/>
                </a:solidFill>
                <a:ea typeface="楷体" pitchFamily="49" charset="-122"/>
              </a:rPr>
              <a:t>；否则，如果定义了标识符</a:t>
            </a:r>
            <a:r>
              <a:rPr lang="en-US" altLang="zh-CN" b="1" dirty="0">
                <a:solidFill>
                  <a:prstClr val="black"/>
                </a:solidFill>
                <a:ea typeface="楷体" pitchFamily="49" charset="-122"/>
              </a:rPr>
              <a:t>2</a:t>
            </a:r>
            <a:r>
              <a:rPr lang="zh-CN" altLang="en-US" b="1" dirty="0">
                <a:solidFill>
                  <a:prstClr val="black"/>
                </a:solidFill>
                <a:ea typeface="楷体" pitchFamily="49" charset="-122"/>
              </a:rPr>
              <a:t>或表达式</a:t>
            </a:r>
            <a:r>
              <a:rPr lang="en-US" altLang="zh-CN" b="1" dirty="0">
                <a:solidFill>
                  <a:prstClr val="black"/>
                </a:solidFill>
                <a:ea typeface="楷体" pitchFamily="49" charset="-122"/>
              </a:rPr>
              <a:t>2</a:t>
            </a:r>
            <a:r>
              <a:rPr lang="zh-CN" altLang="en-US" b="1" dirty="0">
                <a:solidFill>
                  <a:prstClr val="black"/>
                </a:solidFill>
                <a:ea typeface="楷体" pitchFamily="49" charset="-122"/>
              </a:rPr>
              <a:t>，则编译程序段</a:t>
            </a:r>
            <a:r>
              <a:rPr lang="en-US" altLang="zh-CN" b="1" dirty="0">
                <a:solidFill>
                  <a:prstClr val="black"/>
                </a:solidFill>
                <a:ea typeface="楷体" pitchFamily="49" charset="-122"/>
              </a:rPr>
              <a:t>2</a:t>
            </a:r>
            <a:r>
              <a:rPr lang="zh-CN" altLang="en-US" b="1" dirty="0">
                <a:solidFill>
                  <a:prstClr val="black"/>
                </a:solidFill>
                <a:ea typeface="楷体" pitchFamily="49" charset="-122"/>
              </a:rPr>
              <a:t>。</a:t>
            </a:r>
            <a:endParaRPr lang="zh-CN" altLang="zh-CN" b="1" dirty="0">
              <a:solidFill>
                <a:prstClr val="black"/>
              </a:solidFill>
              <a:ea typeface="楷体" pitchFamily="49" charset="-122"/>
            </a:endParaRPr>
          </a:p>
        </p:txBody>
      </p:sp>
      <p:sp>
        <p:nvSpPr>
          <p:cNvPr id="14" name="右箭头 13"/>
          <p:cNvSpPr/>
          <p:nvPr/>
        </p:nvSpPr>
        <p:spPr>
          <a:xfrm rot="5400000">
            <a:off x="1671387" y="2949493"/>
            <a:ext cx="272920" cy="301967"/>
          </a:xfrm>
          <a:prstGeom prst="rightArrow">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600" b="1" dirty="0" smtClean="0"/>
          </a:p>
        </p:txBody>
      </p:sp>
      <p:sp>
        <p:nvSpPr>
          <p:cNvPr id="15" name="矩形 14"/>
          <p:cNvSpPr/>
          <p:nvPr/>
        </p:nvSpPr>
        <p:spPr>
          <a:xfrm>
            <a:off x="3491880" y="1633141"/>
            <a:ext cx="5508612" cy="289310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STM32F10X_CL</a:t>
            </a:r>
          </a:p>
          <a:p>
            <a:pPr lvl="0"/>
            <a:r>
              <a:rPr lang="en-US" altLang="zh-CN" sz="1400" b="1" dirty="0" smtClean="0">
                <a:solidFill>
                  <a:schemeClr val="tx1"/>
                </a:solidFill>
              </a:rPr>
              <a:t>    /* </a:t>
            </a:r>
            <a:r>
              <a:rPr lang="en-US" altLang="zh-CN" sz="1400" b="1" dirty="0">
                <a:solidFill>
                  <a:schemeClr val="tx1"/>
                </a:solidFill>
              </a:rPr>
              <a:t>PREDIV1 clock source (for STM32 connectivity line devices) */</a:t>
            </a:r>
          </a:p>
          <a:p>
            <a:pPr marL="177800" lvl="0"/>
            <a:r>
              <a:rPr lang="en-US" altLang="zh-CN" sz="1400" b="1" dirty="0">
                <a:solidFill>
                  <a:schemeClr val="tx1"/>
                </a:solidFill>
              </a:rPr>
              <a:t>#define  RCC_PREDIV1_Source_HSE   ((uint32_t)0x00000000) </a:t>
            </a:r>
          </a:p>
          <a:p>
            <a:pPr marL="177800" lvl="0"/>
            <a:r>
              <a:rPr lang="en-US" altLang="zh-CN" sz="1400" b="1" dirty="0">
                <a:solidFill>
                  <a:schemeClr val="tx1"/>
                </a:solidFill>
              </a:rPr>
              <a:t>#define  RCC_PREDIV1_Source_PLL2   ((uint32_t)0x00010000) </a:t>
            </a:r>
          </a:p>
          <a:p>
            <a:pPr marL="177800" lvl="0"/>
            <a:r>
              <a:rPr lang="en-US" altLang="zh-CN" sz="1400" b="1" dirty="0">
                <a:solidFill>
                  <a:schemeClr val="tx1"/>
                </a:solidFill>
              </a:rPr>
              <a:t>#define IS_RCC_PREDIV1_SOURCE(SOURCE) (((SOURCE)==RCC_PREDIV1_Source_HSE) ||\</a:t>
            </a:r>
          </a:p>
          <a:p>
            <a:pPr marL="177800" lvl="0"/>
            <a:r>
              <a:rPr lang="en-US" altLang="zh-CN" sz="1400" b="1" dirty="0">
                <a:solidFill>
                  <a:schemeClr val="tx1"/>
                </a:solidFill>
              </a:rPr>
              <a:t>      ((SOURCE) == RCC_PREDIV1_Source_PLL2)) </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a:t>
            </a:r>
            <a:r>
              <a:rPr lang="en-US" altLang="zh-CN" sz="1400" b="1" dirty="0">
                <a:solidFill>
                  <a:schemeClr val="tx1"/>
                </a:solidFill>
              </a:rPr>
              <a:t>defined (STM32F10X_LD_VL) || defined (STM32F10X_MD_VL) ||\</a:t>
            </a:r>
          </a:p>
          <a:p>
            <a:pPr marL="177800" lvl="0"/>
            <a:r>
              <a:rPr lang="en-US" altLang="zh-CN" sz="1400" b="1" dirty="0">
                <a:solidFill>
                  <a:schemeClr val="tx1"/>
                </a:solidFill>
              </a:rPr>
              <a:t>defined (STM32F10X_HD_VL)</a:t>
            </a:r>
          </a:p>
          <a:p>
            <a:pPr marL="177800" lvl="0"/>
            <a:r>
              <a:rPr lang="en-US" altLang="zh-CN" sz="1400" b="1" dirty="0">
                <a:solidFill>
                  <a:schemeClr val="tx1"/>
                </a:solidFill>
              </a:rPr>
              <a:t>#define  RCC_PREDIV1_Source_HSE   ((uint32_t)0x00000000) </a:t>
            </a:r>
          </a:p>
          <a:p>
            <a:pPr marL="177800" lvl="0"/>
            <a:r>
              <a:rPr lang="en-US" altLang="zh-CN" sz="1400" b="1" dirty="0">
                <a:solidFill>
                  <a:schemeClr val="tx1"/>
                </a:solidFill>
              </a:rPr>
              <a:t>#define IS_RCC_PREDIV1_SOURCE(SOURCE) (((SOURCE) == RCC_PREDIV1_Source_HSE)) </a:t>
            </a:r>
          </a:p>
          <a:p>
            <a:pPr lvl="0"/>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p:txBody>
      </p:sp>
      <p:sp>
        <p:nvSpPr>
          <p:cNvPr id="6" name="矩形 5"/>
          <p:cNvSpPr/>
          <p:nvPr/>
        </p:nvSpPr>
        <p:spPr>
          <a:xfrm>
            <a:off x="3419872" y="1096784"/>
            <a:ext cx="5400600" cy="338554"/>
          </a:xfrm>
          <a:prstGeom prst="rect">
            <a:avLst/>
          </a:prstGeom>
        </p:spPr>
        <p:txBody>
          <a:bodyPr wrap="square">
            <a:spAutoFit/>
          </a:bodyPr>
          <a:lstStyle/>
          <a:p>
            <a:pPr lvl="0"/>
            <a:r>
              <a:rPr lang="zh-CN" altLang="en-US" sz="1600" b="1" dirty="0">
                <a:solidFill>
                  <a:prstClr val="black"/>
                </a:solidFill>
              </a:rPr>
              <a:t>标准外设库</a:t>
            </a:r>
            <a:r>
              <a:rPr lang="en-US" altLang="zh-CN" sz="1600" b="1" dirty="0">
                <a:solidFill>
                  <a:prstClr val="black"/>
                </a:solidFill>
              </a:rPr>
              <a:t>v3.5.0</a:t>
            </a:r>
            <a:r>
              <a:rPr lang="zh-CN" altLang="en-US" sz="1600" b="1" dirty="0">
                <a:solidFill>
                  <a:prstClr val="black"/>
                </a:solidFill>
              </a:rPr>
              <a:t>版本中的</a:t>
            </a:r>
            <a:r>
              <a:rPr lang="en-US" altLang="zh-CN" sz="1600" b="1" dirty="0">
                <a:solidFill>
                  <a:prstClr val="black"/>
                </a:solidFill>
              </a:rPr>
              <a:t>stm32f10x_rcc.h</a:t>
            </a:r>
            <a:r>
              <a:rPr lang="zh-CN" altLang="en-US" sz="1600" b="1" dirty="0">
                <a:solidFill>
                  <a:prstClr val="black"/>
                </a:solidFill>
              </a:rPr>
              <a:t>头文件中的源码。</a:t>
            </a:r>
          </a:p>
        </p:txBody>
      </p:sp>
    </p:spTree>
    <p:extLst>
      <p:ext uri="{BB962C8B-B14F-4D97-AF65-F5344CB8AC3E}">
        <p14:creationId xmlns:p14="http://schemas.microsoft.com/office/powerpoint/2010/main" val="6763893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937968" y="1266376"/>
            <a:ext cx="3129976" cy="677108"/>
          </a:xfrm>
          <a:prstGeom prst="rect">
            <a:avLst/>
          </a:prstGeom>
        </p:spPr>
        <p:txBody>
          <a:bodyPr wrap="square">
            <a:spAutoFit/>
          </a:bodyPr>
          <a:lstStyle/>
          <a:p>
            <a:r>
              <a:rPr lang="zh-CN" altLang="en-US" sz="2000" b="1" dirty="0" smtClean="0">
                <a:solidFill>
                  <a:srgbClr val="CD7371"/>
                </a:solidFill>
                <a:latin typeface="隶书" pitchFamily="49" charset="-122"/>
                <a:ea typeface="隶书" pitchFamily="49" charset="-122"/>
                <a:cs typeface="Nirmala UI" pitchFamily="34" charset="0"/>
              </a:rPr>
              <a:t>指针</a:t>
            </a:r>
            <a:endParaRPr lang="en-US" altLang="zh-CN" sz="2000" b="1" dirty="0" smtClean="0">
              <a:solidFill>
                <a:srgbClr val="CD7371"/>
              </a:solidFill>
              <a:latin typeface="隶书" pitchFamily="49" charset="-122"/>
              <a:ea typeface="隶书" pitchFamily="49" charset="-122"/>
              <a:cs typeface="Nirmala UI" pitchFamily="34" charset="0"/>
            </a:endParaRPr>
          </a:p>
          <a:p>
            <a:r>
              <a:rPr lang="zh-CN" altLang="en-US" b="1" dirty="0" smtClean="0">
                <a:latin typeface="+mn-ea"/>
                <a:cs typeface="Open Sans" panose="020B0606030504020204" pitchFamily="34" charset="0"/>
              </a:rPr>
              <a:t>   用于存放地址</a:t>
            </a:r>
            <a:r>
              <a:rPr lang="zh-CN" altLang="en-US" b="1" dirty="0">
                <a:latin typeface="+mn-ea"/>
                <a:cs typeface="Open Sans" panose="020B0606030504020204" pitchFamily="34" charset="0"/>
              </a:rPr>
              <a:t>的变量</a:t>
            </a:r>
            <a:endParaRPr lang="en-US" b="1" dirty="0">
              <a:latin typeface="+mn-ea"/>
              <a:cs typeface="Open Sans" panose="020B0606030504020204" pitchFamily="34" charset="0"/>
            </a:endParaRPr>
          </a:p>
        </p:txBody>
      </p:sp>
      <p:sp>
        <p:nvSpPr>
          <p:cNvPr id="61"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4951512" y="51470"/>
            <a:ext cx="2952328" cy="1938992"/>
          </a:xfrm>
          <a:prstGeom prst="rect">
            <a:avLst/>
          </a:prstGeom>
        </p:spPr>
        <p:txBody>
          <a:bodyPr wrap="square">
            <a:spAutoFit/>
          </a:bodyPr>
          <a:lstStyle/>
          <a:p>
            <a:pPr>
              <a:lnSpc>
                <a:spcPct val="200000"/>
              </a:lnSpc>
            </a:pPr>
            <a:r>
              <a:rPr lang="zh-CN" altLang="en-US" sz="2000" b="1" dirty="0">
                <a:solidFill>
                  <a:srgbClr val="CD7371"/>
                </a:solidFill>
                <a:latin typeface="隶书" pitchFamily="49" charset="-122"/>
                <a:ea typeface="隶书" pitchFamily="49" charset="-122"/>
                <a:cs typeface="Nirmala UI" pitchFamily="34" charset="0"/>
              </a:rPr>
              <a:t>两个要素</a:t>
            </a:r>
            <a:r>
              <a:rPr lang="zh-CN" altLang="en-US" sz="2000" b="1" dirty="0">
                <a:solidFill>
                  <a:srgbClr val="CD7371"/>
                </a:solidFill>
                <a:latin typeface="+mn-ea"/>
                <a:cs typeface="Nirmala UI" pitchFamily="34" charset="0"/>
              </a:rPr>
              <a:t>：</a:t>
            </a:r>
            <a:endParaRPr lang="en-US" altLang="zh-CN" sz="2000" b="1" dirty="0">
              <a:solidFill>
                <a:srgbClr val="CD7371"/>
              </a:solidFill>
              <a:latin typeface="+mn-ea"/>
              <a:cs typeface="Nirmala UI" pitchFamily="34" charset="0"/>
            </a:endParaRPr>
          </a:p>
          <a:p>
            <a:pPr marL="285750" indent="-285750">
              <a:lnSpc>
                <a:spcPct val="125000"/>
              </a:lnSpc>
              <a:buClr>
                <a:schemeClr val="accent5">
                  <a:lumMod val="60000"/>
                  <a:lumOff val="40000"/>
                </a:schemeClr>
              </a:buClr>
              <a:buFont typeface="Wingdings" pitchFamily="2" charset="2"/>
              <a:buChar char="u"/>
            </a:pPr>
            <a:r>
              <a:rPr lang="zh-CN" altLang="en-US" sz="1600" b="1" dirty="0" smtClean="0">
                <a:latin typeface="Open Sans" panose="020B0606030504020204" pitchFamily="34" charset="0"/>
                <a:ea typeface="Open Sans" panose="020B0606030504020204" pitchFamily="34" charset="0"/>
                <a:cs typeface="Open Sans" panose="020B0606030504020204" pitchFamily="34" charset="0"/>
              </a:rPr>
              <a:t>值：指</a:t>
            </a:r>
            <a:r>
              <a:rPr lang="zh-CN" altLang="en-US" sz="1600" b="1" dirty="0">
                <a:latin typeface="Open Sans" panose="020B0606030504020204" pitchFamily="34" charset="0"/>
                <a:ea typeface="Open Sans" panose="020B0606030504020204" pitchFamily="34" charset="0"/>
                <a:cs typeface="Open Sans" panose="020B0606030504020204" pitchFamily="34" charset="0"/>
              </a:rPr>
              <a:t>的是某个对象的位置（即内存地址</a:t>
            </a:r>
            <a:r>
              <a:rPr lang="zh-CN" altLang="en-US" sz="1600" b="1" dirty="0" smtClean="0">
                <a:latin typeface="Open Sans" panose="020B0606030504020204" pitchFamily="34" charset="0"/>
                <a:ea typeface="Open Sans" panose="020B0606030504020204" pitchFamily="34" charset="0"/>
                <a:cs typeface="Open Sans" panose="020B0606030504020204" pitchFamily="34" charset="0"/>
              </a:rPr>
              <a:t>）；</a:t>
            </a:r>
            <a:endParaRPr lang="en-US" altLang="zh-CN" sz="1600" b="1" dirty="0" smtClean="0">
              <a:latin typeface="Open Sans" panose="020B0606030504020204" pitchFamily="34" charset="0"/>
              <a:ea typeface="Open Sans" panose="020B0606030504020204" pitchFamily="34" charset="0"/>
              <a:cs typeface="Open Sans" panose="020B0606030504020204" pitchFamily="34" charset="0"/>
            </a:endParaRPr>
          </a:p>
          <a:p>
            <a:pPr marL="285750" indent="-285750">
              <a:lnSpc>
                <a:spcPct val="125000"/>
              </a:lnSpc>
              <a:buClr>
                <a:schemeClr val="accent5">
                  <a:lumMod val="60000"/>
                  <a:lumOff val="40000"/>
                </a:schemeClr>
              </a:buClr>
              <a:buFont typeface="Wingdings" pitchFamily="2" charset="2"/>
              <a:buChar char="u"/>
            </a:pPr>
            <a:r>
              <a:rPr lang="zh-CN" altLang="en-US" sz="1600" b="1" dirty="0" smtClean="0">
                <a:latin typeface="Open Sans" panose="020B0606030504020204" pitchFamily="34" charset="0"/>
                <a:ea typeface="Open Sans" panose="020B0606030504020204" pitchFamily="34" charset="0"/>
                <a:cs typeface="Open Sans" panose="020B0606030504020204" pitchFamily="34" charset="0"/>
              </a:rPr>
              <a:t>类型：是</a:t>
            </a:r>
            <a:r>
              <a:rPr lang="zh-CN" altLang="en-US" sz="1600" b="1" dirty="0">
                <a:latin typeface="Open Sans" panose="020B0606030504020204" pitchFamily="34" charset="0"/>
                <a:ea typeface="Open Sans" panose="020B0606030504020204" pitchFamily="34" charset="0"/>
                <a:cs typeface="Open Sans" panose="020B0606030504020204" pitchFamily="34" charset="0"/>
              </a:rPr>
              <a:t>指对象所在位置上所存储数据的</a:t>
            </a:r>
            <a:r>
              <a:rPr lang="zh-CN" altLang="en-US" sz="1600" b="1" dirty="0" smtClean="0">
                <a:latin typeface="Open Sans" panose="020B0606030504020204" pitchFamily="34" charset="0"/>
                <a:ea typeface="Open Sans" panose="020B0606030504020204" pitchFamily="34" charset="0"/>
                <a:cs typeface="Open Sans" panose="020B0606030504020204" pitchFamily="34" charset="0"/>
              </a:rPr>
              <a:t>类型。</a:t>
            </a:r>
            <a:endParaRPr lang="en-US" sz="11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2" name="椭圆 61"/>
          <p:cNvSpPr/>
          <p:nvPr/>
        </p:nvSpPr>
        <p:spPr>
          <a:xfrm>
            <a:off x="635057" y="1408248"/>
            <a:ext cx="158895" cy="158895"/>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4673513" y="400763"/>
            <a:ext cx="158895" cy="158895"/>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任意多边形 5"/>
          <p:cNvSpPr/>
          <p:nvPr/>
        </p:nvSpPr>
        <p:spPr>
          <a:xfrm>
            <a:off x="3522921" y="482009"/>
            <a:ext cx="290623" cy="1346791"/>
          </a:xfrm>
          <a:custGeom>
            <a:avLst/>
            <a:gdLst>
              <a:gd name="connsiteX0" fmla="*/ 0 w 290623"/>
              <a:gd name="connsiteY0" fmla="*/ 0 h 1346791"/>
              <a:gd name="connsiteX1" fmla="*/ 141767 w 290623"/>
              <a:gd name="connsiteY1" fmla="*/ 226828 h 1346791"/>
              <a:gd name="connsiteX2" fmla="*/ 56707 w 290623"/>
              <a:gd name="connsiteY2" fmla="*/ 375684 h 1346791"/>
              <a:gd name="connsiteX3" fmla="*/ 262270 w 290623"/>
              <a:gd name="connsiteY3" fmla="*/ 999461 h 1346791"/>
              <a:gd name="connsiteX4" fmla="*/ 262270 w 290623"/>
              <a:gd name="connsiteY4" fmla="*/ 999461 h 1346791"/>
              <a:gd name="connsiteX5" fmla="*/ 290623 w 290623"/>
              <a:gd name="connsiteY5" fmla="*/ 1346791 h 134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23" h="1346791">
                <a:moveTo>
                  <a:pt x="0" y="0"/>
                </a:moveTo>
                <a:cubicBezTo>
                  <a:pt x="66158" y="82107"/>
                  <a:pt x="132316" y="164214"/>
                  <a:pt x="141767" y="226828"/>
                </a:cubicBezTo>
                <a:cubicBezTo>
                  <a:pt x="151218" y="289442"/>
                  <a:pt x="36623" y="246912"/>
                  <a:pt x="56707" y="375684"/>
                </a:cubicBezTo>
                <a:cubicBezTo>
                  <a:pt x="76791" y="504456"/>
                  <a:pt x="262270" y="999461"/>
                  <a:pt x="262270" y="999461"/>
                </a:cubicBezTo>
                <a:lnTo>
                  <a:pt x="262270" y="999461"/>
                </a:lnTo>
                <a:lnTo>
                  <a:pt x="290623" y="1346791"/>
                </a:lnTo>
              </a:path>
            </a:pathLst>
          </a:custGeom>
          <a:no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任意多边形 6"/>
          <p:cNvSpPr/>
          <p:nvPr/>
        </p:nvSpPr>
        <p:spPr>
          <a:xfrm>
            <a:off x="3418567" y="623777"/>
            <a:ext cx="2046568" cy="4381903"/>
          </a:xfrm>
          <a:custGeom>
            <a:avLst/>
            <a:gdLst>
              <a:gd name="connsiteX0" fmla="*/ 76000 w 2046568"/>
              <a:gd name="connsiteY0" fmla="*/ 0 h 4381903"/>
              <a:gd name="connsiteX1" fmla="*/ 97266 w 2046568"/>
              <a:gd name="connsiteY1" fmla="*/ 1275907 h 4381903"/>
              <a:gd name="connsiteX2" fmla="*/ 1032931 w 2046568"/>
              <a:gd name="connsiteY2" fmla="*/ 2402958 h 4381903"/>
              <a:gd name="connsiteX3" fmla="*/ 912428 w 2046568"/>
              <a:gd name="connsiteY3" fmla="*/ 3430772 h 4381903"/>
              <a:gd name="connsiteX4" fmla="*/ 1841005 w 2046568"/>
              <a:gd name="connsiteY4" fmla="*/ 4330995 h 4381903"/>
              <a:gd name="connsiteX5" fmla="*/ 1968596 w 2046568"/>
              <a:gd name="connsiteY5" fmla="*/ 4274288 h 4381903"/>
              <a:gd name="connsiteX6" fmla="*/ 2046568 w 2046568"/>
              <a:gd name="connsiteY6" fmla="*/ 4316818 h 438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6568" h="4381903">
                <a:moveTo>
                  <a:pt x="76000" y="0"/>
                </a:moveTo>
                <a:cubicBezTo>
                  <a:pt x="6888" y="437707"/>
                  <a:pt x="-62223" y="875414"/>
                  <a:pt x="97266" y="1275907"/>
                </a:cubicBezTo>
                <a:cubicBezTo>
                  <a:pt x="256755" y="1676400"/>
                  <a:pt x="897071" y="2043814"/>
                  <a:pt x="1032931" y="2402958"/>
                </a:cubicBezTo>
                <a:cubicBezTo>
                  <a:pt x="1168791" y="2762102"/>
                  <a:pt x="777749" y="3109433"/>
                  <a:pt x="912428" y="3430772"/>
                </a:cubicBezTo>
                <a:cubicBezTo>
                  <a:pt x="1047107" y="3752111"/>
                  <a:pt x="1664977" y="4190409"/>
                  <a:pt x="1841005" y="4330995"/>
                </a:cubicBezTo>
                <a:cubicBezTo>
                  <a:pt x="2017033" y="4471581"/>
                  <a:pt x="1934336" y="4276651"/>
                  <a:pt x="1968596" y="4274288"/>
                </a:cubicBezTo>
                <a:cubicBezTo>
                  <a:pt x="2002856" y="4271925"/>
                  <a:pt x="2024712" y="4294371"/>
                  <a:pt x="2046568" y="4316818"/>
                </a:cubicBezTo>
              </a:path>
            </a:pathLst>
          </a:custGeom>
          <a:no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8" name="矩形 17"/>
          <p:cNvSpPr/>
          <p:nvPr/>
        </p:nvSpPr>
        <p:spPr>
          <a:xfrm>
            <a:off x="716909" y="2734298"/>
            <a:ext cx="3188019" cy="1493636"/>
          </a:xfrm>
          <a:prstGeom prst="rect">
            <a:avLst/>
          </a:prstGeom>
          <a:noFill/>
          <a:ln w="28575">
            <a:solidFill>
              <a:schemeClr val="accent4">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
        <p:nvSpPr>
          <p:cNvPr id="19" name="文本框 111"/>
          <p:cNvSpPr txBox="1"/>
          <p:nvPr/>
        </p:nvSpPr>
        <p:spPr>
          <a:xfrm>
            <a:off x="1130838" y="2779179"/>
            <a:ext cx="2198559" cy="1261884"/>
          </a:xfrm>
          <a:prstGeom prst="rect">
            <a:avLst/>
          </a:prstGeom>
          <a:noFill/>
        </p:spPr>
        <p:txBody>
          <a:bodyPr wrap="square" rtlCol="0">
            <a:spAutoFit/>
          </a:bodyPr>
          <a:lstStyle/>
          <a:p>
            <a:pPr marL="285750" indent="-285750">
              <a:lnSpc>
                <a:spcPct val="125000"/>
              </a:lnSpc>
              <a:buFont typeface="Wingdings" pitchFamily="2" charset="2"/>
              <a:buChar char="u"/>
            </a:pPr>
            <a:r>
              <a:rPr lang="zh-CN" altLang="zh-CN" sz="1600" b="1" dirty="0" smtClean="0">
                <a:solidFill>
                  <a:srgbClr val="CD7371"/>
                </a:solidFill>
              </a:rPr>
              <a:t>有确定</a:t>
            </a:r>
            <a:r>
              <a:rPr lang="zh-CN" altLang="zh-CN" sz="1600" b="1" dirty="0">
                <a:solidFill>
                  <a:srgbClr val="CD7371"/>
                </a:solidFill>
              </a:rPr>
              <a:t>的</a:t>
            </a:r>
            <a:r>
              <a:rPr lang="zh-CN" altLang="zh-CN" sz="1600" b="1" dirty="0" smtClean="0">
                <a:solidFill>
                  <a:srgbClr val="CD7371"/>
                </a:solidFill>
              </a:rPr>
              <a:t>数据类型</a:t>
            </a:r>
            <a:endParaRPr lang="en-US" altLang="zh-CN" sz="1600" b="1" dirty="0" smtClean="0">
              <a:solidFill>
                <a:srgbClr val="CD7371"/>
              </a:solidFill>
            </a:endParaRPr>
          </a:p>
          <a:p>
            <a:pPr>
              <a:lnSpc>
                <a:spcPct val="125000"/>
              </a:lnSpc>
            </a:pPr>
            <a:r>
              <a:rPr lang="en-US" altLang="zh-CN" sz="1600" b="1" dirty="0" smtClean="0"/>
              <a:t>      </a:t>
            </a:r>
            <a:r>
              <a:rPr lang="zh-CN" altLang="zh-CN" sz="1600" b="1" dirty="0" smtClean="0"/>
              <a:t>数据类型</a:t>
            </a:r>
            <a:r>
              <a:rPr lang="en-US" altLang="zh-CN" sz="1600" b="1" dirty="0" smtClean="0"/>
              <a:t> </a:t>
            </a:r>
            <a:r>
              <a:rPr lang="en-US" altLang="zh-CN" sz="1600" b="1" dirty="0"/>
              <a:t>*</a:t>
            </a:r>
            <a:r>
              <a:rPr lang="zh-CN" altLang="zh-CN" sz="1600" b="1" dirty="0"/>
              <a:t>变量名；</a:t>
            </a:r>
          </a:p>
          <a:p>
            <a:pPr>
              <a:lnSpc>
                <a:spcPct val="125000"/>
              </a:lnSpc>
            </a:pPr>
            <a:r>
              <a:rPr lang="en-US" altLang="zh-CN" sz="1600" b="1" dirty="0" smtClean="0"/>
              <a:t>     </a:t>
            </a:r>
            <a:r>
              <a:rPr lang="zh-CN" altLang="zh-CN" sz="1600" b="1" dirty="0" smtClean="0"/>
              <a:t>如 </a:t>
            </a:r>
            <a:r>
              <a:rPr lang="en-US" altLang="zh-CN" sz="1600" b="1" dirty="0" err="1">
                <a:solidFill>
                  <a:schemeClr val="accent5">
                    <a:lumMod val="75000"/>
                  </a:schemeClr>
                </a:solidFill>
              </a:rPr>
              <a:t>int</a:t>
            </a:r>
            <a:r>
              <a:rPr lang="en-US" altLang="zh-CN" sz="1600" b="1" dirty="0">
                <a:solidFill>
                  <a:schemeClr val="accent5">
                    <a:lumMod val="75000"/>
                  </a:schemeClr>
                </a:solidFill>
              </a:rPr>
              <a:t>  *p ;</a:t>
            </a:r>
            <a:endParaRPr lang="zh-CN" altLang="en-US" sz="1600" b="1" dirty="0">
              <a:solidFill>
                <a:schemeClr val="accent5">
                  <a:lumMod val="75000"/>
                </a:schemeClr>
              </a:solidFill>
              <a:latin typeface="+mn-ea"/>
            </a:endParaRPr>
          </a:p>
          <a:p>
            <a:pPr algn="ctr"/>
            <a:endParaRPr lang="zh-CN" altLang="en-US" sz="1600" b="1" dirty="0">
              <a:solidFill>
                <a:schemeClr val="bg2">
                  <a:lumMod val="50000"/>
                </a:schemeClr>
              </a:solidFill>
              <a:latin typeface="文泉驿微米黑" panose="020B0606030804020204" pitchFamily="34" charset="-122"/>
              <a:ea typeface="文泉驿微米黑" panose="020B0606030804020204" pitchFamily="34" charset="-122"/>
            </a:endParaRPr>
          </a:p>
        </p:txBody>
      </p:sp>
      <p:sp>
        <p:nvSpPr>
          <p:cNvPr id="20" name="矩形 19"/>
          <p:cNvSpPr/>
          <p:nvPr/>
        </p:nvSpPr>
        <p:spPr>
          <a:xfrm>
            <a:off x="716909" y="3787307"/>
            <a:ext cx="3324309" cy="338554"/>
          </a:xfrm>
          <a:prstGeom prst="rect">
            <a:avLst/>
          </a:prstGeom>
        </p:spPr>
        <p:txBody>
          <a:bodyPr wrap="square">
            <a:spAutoFit/>
          </a:bodyPr>
          <a:lstStyle/>
          <a:p>
            <a:pPr lvl="0"/>
            <a:r>
              <a:rPr lang="zh-CN" altLang="zh-CN" sz="1600" b="1" dirty="0" smtClean="0">
                <a:solidFill>
                  <a:prstClr val="black"/>
                </a:solidFill>
              </a:rPr>
              <a:t>特殊的</a:t>
            </a:r>
            <a:r>
              <a:rPr lang="zh-CN" altLang="en-US" sz="1600" b="1" dirty="0">
                <a:solidFill>
                  <a:prstClr val="black"/>
                </a:solidFill>
              </a:rPr>
              <a:t>：</a:t>
            </a:r>
            <a:r>
              <a:rPr lang="en-US" altLang="zh-CN" sz="1600" b="1" dirty="0" smtClean="0">
                <a:solidFill>
                  <a:prstClr val="black"/>
                </a:solidFill>
              </a:rPr>
              <a:t>void </a:t>
            </a:r>
            <a:r>
              <a:rPr lang="en-US" altLang="zh-CN" sz="1600" b="1" dirty="0">
                <a:solidFill>
                  <a:prstClr val="black"/>
                </a:solidFill>
              </a:rPr>
              <a:t>* </a:t>
            </a:r>
            <a:r>
              <a:rPr lang="zh-CN" altLang="zh-CN" sz="1600" b="1" dirty="0">
                <a:solidFill>
                  <a:prstClr val="black"/>
                </a:solidFill>
              </a:rPr>
              <a:t>类型代表通用指针</a:t>
            </a:r>
            <a:endParaRPr lang="zh-CN" altLang="en-US" sz="1600" b="1" dirty="0">
              <a:solidFill>
                <a:srgbClr val="EEECE1">
                  <a:lumMod val="50000"/>
                </a:srgbClr>
              </a:solidFill>
              <a:latin typeface="文泉驿微米黑" panose="020B0606030804020204" pitchFamily="34" charset="-122"/>
              <a:ea typeface="文泉驿微米黑" panose="020B0606030804020204" pitchFamily="34" charset="-122"/>
            </a:endParaRPr>
          </a:p>
        </p:txBody>
      </p:sp>
      <p:grpSp>
        <p:nvGrpSpPr>
          <p:cNvPr id="21" name="组合 20"/>
          <p:cNvGrpSpPr>
            <a:grpSpLocks noChangeAspect="1"/>
          </p:cNvGrpSpPr>
          <p:nvPr/>
        </p:nvGrpSpPr>
        <p:grpSpPr>
          <a:xfrm>
            <a:off x="323528" y="2348231"/>
            <a:ext cx="690817" cy="620756"/>
            <a:chOff x="3736020" y="2312998"/>
            <a:chExt cx="2544505" cy="2388075"/>
          </a:xfrm>
        </p:grpSpPr>
        <p:grpSp>
          <p:nvGrpSpPr>
            <p:cNvPr id="22" name="Group 26"/>
            <p:cNvGrpSpPr>
              <a:grpSpLocks noChangeAspect="1"/>
            </p:cNvGrpSpPr>
            <p:nvPr/>
          </p:nvGrpSpPr>
          <p:grpSpPr>
            <a:xfrm>
              <a:off x="3736020" y="2312998"/>
              <a:ext cx="2544505" cy="2388075"/>
              <a:chOff x="993017" y="1073968"/>
              <a:chExt cx="1908379" cy="1791056"/>
            </a:xfrm>
          </p:grpSpPr>
          <p:sp>
            <p:nvSpPr>
              <p:cNvPr id="2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2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7"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8"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smtClean="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smtClean="0">
                    <a:ln>
                      <a:noFill/>
                    </a:ln>
                    <a:solidFill>
                      <a:sysClr val="window" lastClr="FFFFFF"/>
                    </a:solidFill>
                    <a:effectLst/>
                    <a:uLnTx/>
                    <a:uFillTx/>
                    <a:latin typeface="微软雅黑"/>
                    <a:ea typeface="微软雅黑"/>
                    <a:cs typeface="+mn-ea"/>
                  </a:rPr>
                  <a:t>1</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3"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
        <p:nvSpPr>
          <p:cNvPr id="29" name="矩形 28"/>
          <p:cNvSpPr/>
          <p:nvPr/>
        </p:nvSpPr>
        <p:spPr>
          <a:xfrm>
            <a:off x="5017915" y="2544455"/>
            <a:ext cx="3514525"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160338">
              <a:lnSpc>
                <a:spcPct val="125000"/>
              </a:lnSpc>
              <a:buFont typeface="Wingdings" pitchFamily="2" charset="2"/>
              <a:buChar char="u"/>
            </a:pPr>
            <a:r>
              <a:rPr lang="zh-CN" altLang="zh-CN" sz="1600" b="1" dirty="0" smtClean="0">
                <a:solidFill>
                  <a:srgbClr val="CD7371"/>
                </a:solidFill>
              </a:rPr>
              <a:t>取地址</a:t>
            </a:r>
            <a:r>
              <a:rPr lang="zh-CN" altLang="zh-CN" sz="1600" b="1" dirty="0">
                <a:solidFill>
                  <a:srgbClr val="CD7371"/>
                </a:solidFill>
              </a:rPr>
              <a:t>运算符</a:t>
            </a:r>
            <a:r>
              <a:rPr lang="en-US" altLang="zh-CN" sz="1600" b="1" dirty="0" smtClean="0">
                <a:solidFill>
                  <a:srgbClr val="CD7371"/>
                </a:solidFill>
              </a:rPr>
              <a:t>&amp;</a:t>
            </a:r>
            <a:r>
              <a:rPr lang="zh-CN" altLang="zh-CN" sz="1600" b="1" dirty="0" smtClean="0">
                <a:solidFill>
                  <a:srgbClr val="CD7371"/>
                </a:solidFill>
              </a:rPr>
              <a:t>指向</a:t>
            </a:r>
            <a:r>
              <a:rPr lang="zh-CN" altLang="zh-CN" sz="1600" b="1" dirty="0">
                <a:solidFill>
                  <a:srgbClr val="CD7371"/>
                </a:solidFill>
              </a:rPr>
              <a:t>一个变量的存储地址；</a:t>
            </a:r>
          </a:p>
          <a:p>
            <a:pPr>
              <a:lnSpc>
                <a:spcPct val="125000"/>
              </a:lnSpc>
            </a:pPr>
            <a:r>
              <a:rPr lang="en-US" altLang="zh-CN" sz="1600" b="1" dirty="0" smtClean="0"/>
              <a:t>            </a:t>
            </a:r>
            <a:r>
              <a:rPr lang="en-US" altLang="zh-CN" sz="1600" b="1" dirty="0" err="1" smtClean="0">
                <a:solidFill>
                  <a:schemeClr val="accent5">
                    <a:lumMod val="75000"/>
                  </a:schemeClr>
                </a:solidFill>
              </a:rPr>
              <a:t>int</a:t>
            </a:r>
            <a:r>
              <a:rPr lang="en-US" altLang="zh-CN" sz="1600" b="1" dirty="0" smtClean="0">
                <a:solidFill>
                  <a:schemeClr val="accent5">
                    <a:lumMod val="75000"/>
                  </a:schemeClr>
                </a:solidFill>
              </a:rPr>
              <a:t>  </a:t>
            </a:r>
            <a:r>
              <a:rPr lang="en-US" altLang="zh-CN" sz="1600" b="1" dirty="0" err="1">
                <a:solidFill>
                  <a:schemeClr val="accent5">
                    <a:lumMod val="75000"/>
                  </a:schemeClr>
                </a:solidFill>
              </a:rPr>
              <a:t>i</a:t>
            </a:r>
            <a:r>
              <a:rPr lang="en-US" altLang="zh-CN" sz="1600" b="1" dirty="0">
                <a:solidFill>
                  <a:schemeClr val="accent5">
                    <a:lumMod val="75000"/>
                  </a:schemeClr>
                </a:solidFill>
              </a:rPr>
              <a:t>;</a:t>
            </a:r>
            <a:endParaRPr lang="zh-CN" altLang="zh-CN" sz="1600" b="1" dirty="0">
              <a:solidFill>
                <a:schemeClr val="accent5">
                  <a:lumMod val="75000"/>
                </a:schemeClr>
              </a:solidFill>
            </a:endParaRPr>
          </a:p>
          <a:p>
            <a:pPr>
              <a:lnSpc>
                <a:spcPct val="125000"/>
              </a:lnSpc>
            </a:pPr>
            <a:r>
              <a:rPr lang="en-US" altLang="zh-CN" sz="1600" b="1" dirty="0" smtClean="0">
                <a:solidFill>
                  <a:schemeClr val="accent5">
                    <a:lumMod val="75000"/>
                  </a:schemeClr>
                </a:solidFill>
              </a:rPr>
              <a:t>             </a:t>
            </a:r>
            <a:r>
              <a:rPr lang="en-US" altLang="zh-CN" sz="1600" b="1" dirty="0" err="1" smtClean="0">
                <a:solidFill>
                  <a:schemeClr val="accent5">
                    <a:lumMod val="75000"/>
                  </a:schemeClr>
                </a:solidFill>
              </a:rPr>
              <a:t>int</a:t>
            </a:r>
            <a:r>
              <a:rPr lang="en-US" altLang="zh-CN" sz="1600" b="1" dirty="0" smtClean="0">
                <a:solidFill>
                  <a:schemeClr val="accent5">
                    <a:lumMod val="75000"/>
                  </a:schemeClr>
                </a:solidFill>
              </a:rPr>
              <a:t>  </a:t>
            </a:r>
            <a:r>
              <a:rPr lang="en-US" altLang="zh-CN" sz="1600" b="1" dirty="0">
                <a:solidFill>
                  <a:schemeClr val="accent5">
                    <a:lumMod val="75000"/>
                  </a:schemeClr>
                </a:solidFill>
              </a:rPr>
              <a:t>*p;</a:t>
            </a:r>
            <a:endParaRPr lang="zh-CN" altLang="zh-CN" sz="1600" b="1" dirty="0">
              <a:solidFill>
                <a:schemeClr val="accent5">
                  <a:lumMod val="75000"/>
                </a:schemeClr>
              </a:solidFill>
            </a:endParaRPr>
          </a:p>
          <a:p>
            <a:pPr>
              <a:lnSpc>
                <a:spcPct val="125000"/>
              </a:lnSpc>
            </a:pPr>
            <a:r>
              <a:rPr lang="en-US" altLang="zh-CN" sz="1600" b="1" dirty="0" smtClean="0">
                <a:solidFill>
                  <a:schemeClr val="accent5">
                    <a:lumMod val="75000"/>
                  </a:schemeClr>
                </a:solidFill>
              </a:rPr>
              <a:t>             p </a:t>
            </a:r>
            <a:r>
              <a:rPr lang="en-US" altLang="zh-CN" sz="1600" b="1" dirty="0">
                <a:solidFill>
                  <a:schemeClr val="accent5">
                    <a:lumMod val="75000"/>
                  </a:schemeClr>
                </a:solidFill>
              </a:rPr>
              <a:t>= &amp;</a:t>
            </a:r>
            <a:r>
              <a:rPr lang="en-US" altLang="zh-CN" sz="1600" b="1" dirty="0" err="1">
                <a:solidFill>
                  <a:schemeClr val="accent5">
                    <a:lumMod val="75000"/>
                  </a:schemeClr>
                </a:solidFill>
              </a:rPr>
              <a:t>i</a:t>
            </a:r>
            <a:r>
              <a:rPr lang="en-US" altLang="zh-CN" sz="1600" b="1" dirty="0">
                <a:solidFill>
                  <a:schemeClr val="accent5">
                    <a:lumMod val="75000"/>
                  </a:schemeClr>
                </a:solidFill>
              </a:rPr>
              <a:t>; </a:t>
            </a:r>
            <a:endParaRPr lang="en-US" altLang="zh-CN" sz="1600" b="1" dirty="0" smtClean="0">
              <a:solidFill>
                <a:schemeClr val="accent5">
                  <a:lumMod val="75000"/>
                </a:schemeClr>
              </a:solidFill>
            </a:endParaRPr>
          </a:p>
          <a:p>
            <a:pPr>
              <a:lnSpc>
                <a:spcPct val="125000"/>
              </a:lnSpc>
            </a:pPr>
            <a:r>
              <a:rPr lang="en-US" altLang="zh-CN" sz="1600" b="1" dirty="0">
                <a:solidFill>
                  <a:schemeClr val="accent5">
                    <a:lumMod val="75000"/>
                  </a:schemeClr>
                </a:solidFill>
              </a:rPr>
              <a:t> </a:t>
            </a:r>
            <a:r>
              <a:rPr lang="en-US" altLang="zh-CN" sz="1600" b="1" dirty="0" smtClean="0">
                <a:solidFill>
                  <a:schemeClr val="accent5">
                    <a:lumMod val="75000"/>
                  </a:schemeClr>
                </a:solidFill>
              </a:rPr>
              <a:t>     </a:t>
            </a:r>
            <a:r>
              <a:rPr lang="en-US" altLang="zh-CN" sz="1400" b="1" dirty="0" smtClean="0"/>
              <a:t>//</a:t>
            </a:r>
            <a:r>
              <a:rPr lang="zh-CN" altLang="zh-CN" sz="1400" b="1" dirty="0"/>
              <a:t>将</a:t>
            </a:r>
            <a:r>
              <a:rPr lang="en-US" altLang="zh-CN" sz="1400" b="1" dirty="0" err="1"/>
              <a:t>int</a:t>
            </a:r>
            <a:r>
              <a:rPr lang="zh-CN" altLang="zh-CN" sz="1400" b="1" dirty="0"/>
              <a:t>类型的指针</a:t>
            </a:r>
            <a:r>
              <a:rPr lang="en-US" altLang="zh-CN" sz="1400" b="1" dirty="0"/>
              <a:t>p</a:t>
            </a:r>
            <a:r>
              <a:rPr lang="zh-CN" altLang="zh-CN" sz="1400" b="1" dirty="0"/>
              <a:t>指向变量</a:t>
            </a:r>
            <a:r>
              <a:rPr lang="en-US" altLang="zh-CN" sz="1400" b="1" dirty="0" err="1" smtClean="0"/>
              <a:t>i</a:t>
            </a:r>
            <a:r>
              <a:rPr lang="zh-CN" altLang="zh-CN" sz="1400" b="1" dirty="0" smtClean="0"/>
              <a:t>的</a:t>
            </a:r>
            <a:r>
              <a:rPr lang="zh-CN" altLang="zh-CN" sz="1400" b="1" dirty="0"/>
              <a:t>地址</a:t>
            </a:r>
          </a:p>
        </p:txBody>
      </p:sp>
      <p:grpSp>
        <p:nvGrpSpPr>
          <p:cNvPr id="30" name="组合 29"/>
          <p:cNvGrpSpPr>
            <a:grpSpLocks noChangeAspect="1"/>
          </p:cNvGrpSpPr>
          <p:nvPr/>
        </p:nvGrpSpPr>
        <p:grpSpPr>
          <a:xfrm>
            <a:off x="4673271" y="2139702"/>
            <a:ext cx="690817" cy="620756"/>
            <a:chOff x="3736020" y="2312998"/>
            <a:chExt cx="2544505" cy="2388075"/>
          </a:xfrm>
        </p:grpSpPr>
        <p:grpSp>
          <p:nvGrpSpPr>
            <p:cNvPr id="31" name="Group 26"/>
            <p:cNvGrpSpPr>
              <a:grpSpLocks noChangeAspect="1"/>
            </p:cNvGrpSpPr>
            <p:nvPr/>
          </p:nvGrpSpPr>
          <p:grpSpPr>
            <a:xfrm>
              <a:off x="3736020" y="2312998"/>
              <a:ext cx="2544505" cy="2388075"/>
              <a:chOff x="993017" y="1073968"/>
              <a:chExt cx="1908379" cy="1791056"/>
            </a:xfrm>
          </p:grpSpPr>
          <p:sp>
            <p:nvSpPr>
              <p:cNvPr id="3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3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3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39"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0"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smtClean="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smtClean="0">
                    <a:ln>
                      <a:noFill/>
                    </a:ln>
                    <a:solidFill>
                      <a:sysClr val="window" lastClr="FFFFFF"/>
                    </a:solidFill>
                    <a:effectLst/>
                    <a:uLnTx/>
                    <a:uFillTx/>
                    <a:latin typeface="微软雅黑"/>
                    <a:ea typeface="微软雅黑"/>
                    <a:cs typeface="+mn-ea"/>
                  </a:rPr>
                  <a:t>2</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32"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Tree>
    <p:extLst>
      <p:ext uri="{BB962C8B-B14F-4D97-AF65-F5344CB8AC3E}">
        <p14:creationId xmlns:p14="http://schemas.microsoft.com/office/powerpoint/2010/main" val="4080757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7" name="矩形 56"/>
          <p:cNvSpPr/>
          <p:nvPr/>
        </p:nvSpPr>
        <p:spPr>
          <a:xfrm>
            <a:off x="545769" y="1659161"/>
            <a:ext cx="3594183" cy="300082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indent="160338">
              <a:lnSpc>
                <a:spcPct val="125000"/>
              </a:lnSpc>
              <a:buFont typeface="Wingdings" pitchFamily="2" charset="2"/>
              <a:buChar char="u"/>
            </a:pPr>
            <a:r>
              <a:rPr lang="zh-CN" altLang="en-US" b="1" dirty="0" smtClean="0">
                <a:solidFill>
                  <a:srgbClr val="CD7371"/>
                </a:solidFill>
              </a:rPr>
              <a:t>取值</a:t>
            </a:r>
            <a:r>
              <a:rPr lang="zh-CN" altLang="en-US" b="1" dirty="0">
                <a:solidFill>
                  <a:srgbClr val="CD7371"/>
                </a:solidFill>
              </a:rPr>
              <a:t>运算符</a:t>
            </a:r>
            <a:r>
              <a:rPr lang="zh-CN" altLang="en-US" b="1" dirty="0" smtClean="0">
                <a:solidFill>
                  <a:srgbClr val="CD7371"/>
                </a:solidFill>
              </a:rPr>
              <a:t>*访问</a:t>
            </a:r>
            <a:r>
              <a:rPr lang="zh-CN" altLang="en-US" b="1" dirty="0">
                <a:solidFill>
                  <a:srgbClr val="CD7371"/>
                </a:solidFill>
              </a:rPr>
              <a:t>指针变量所指向地址单元的内容；</a:t>
            </a:r>
          </a:p>
          <a:p>
            <a:r>
              <a:rPr lang="en-US" altLang="zh-CN" b="1" dirty="0" err="1">
                <a:solidFill>
                  <a:schemeClr val="accent5">
                    <a:lumMod val="75000"/>
                  </a:schemeClr>
                </a:solidFill>
              </a:rPr>
              <a:t>int</a:t>
            </a:r>
            <a:r>
              <a:rPr lang="en-US" altLang="zh-CN" b="1" dirty="0">
                <a:solidFill>
                  <a:schemeClr val="accent5">
                    <a:lumMod val="75000"/>
                  </a:schemeClr>
                </a:solidFill>
              </a:rPr>
              <a:t> </a:t>
            </a:r>
            <a:r>
              <a:rPr lang="en-US" altLang="zh-CN" b="1" dirty="0" err="1">
                <a:solidFill>
                  <a:schemeClr val="accent5">
                    <a:lumMod val="75000"/>
                  </a:schemeClr>
                </a:solidFill>
              </a:rPr>
              <a:t>i</a:t>
            </a:r>
            <a:r>
              <a:rPr lang="en-US" altLang="zh-CN" b="1" dirty="0">
                <a:solidFill>
                  <a:schemeClr val="accent5">
                    <a:lumMod val="75000"/>
                  </a:schemeClr>
                </a:solidFill>
              </a:rPr>
              <a:t> = 0;</a:t>
            </a:r>
            <a:endParaRPr lang="zh-CN" altLang="zh-CN" b="1" dirty="0">
              <a:solidFill>
                <a:schemeClr val="accent5">
                  <a:lumMod val="75000"/>
                </a:schemeClr>
              </a:solidFill>
            </a:endParaRPr>
          </a:p>
          <a:p>
            <a:r>
              <a:rPr lang="en-US" altLang="zh-CN" b="1" dirty="0" err="1">
                <a:solidFill>
                  <a:schemeClr val="accent5">
                    <a:lumMod val="75000"/>
                  </a:schemeClr>
                </a:solidFill>
              </a:rPr>
              <a:t>int</a:t>
            </a:r>
            <a:r>
              <a:rPr lang="en-US" altLang="zh-CN" b="1" dirty="0">
                <a:solidFill>
                  <a:schemeClr val="accent5">
                    <a:lumMod val="75000"/>
                  </a:schemeClr>
                </a:solidFill>
              </a:rPr>
              <a:t> *p;</a:t>
            </a:r>
            <a:endParaRPr lang="zh-CN" altLang="zh-CN" b="1" dirty="0">
              <a:solidFill>
                <a:schemeClr val="accent5">
                  <a:lumMod val="75000"/>
                </a:schemeClr>
              </a:solidFill>
            </a:endParaRPr>
          </a:p>
          <a:p>
            <a:r>
              <a:rPr lang="en-US" altLang="zh-CN" b="1" dirty="0">
                <a:solidFill>
                  <a:schemeClr val="accent5">
                    <a:lumMod val="75000"/>
                  </a:schemeClr>
                </a:solidFill>
              </a:rPr>
              <a:t>p = &amp;</a:t>
            </a:r>
            <a:r>
              <a:rPr lang="en-US" altLang="zh-CN" b="1" dirty="0" err="1">
                <a:solidFill>
                  <a:schemeClr val="accent5">
                    <a:lumMod val="75000"/>
                  </a:schemeClr>
                </a:solidFill>
              </a:rPr>
              <a:t>i</a:t>
            </a:r>
            <a:r>
              <a:rPr lang="en-US" altLang="zh-CN" b="1" dirty="0">
                <a:solidFill>
                  <a:schemeClr val="accent5">
                    <a:lumMod val="75000"/>
                  </a:schemeClr>
                </a:solidFill>
              </a:rPr>
              <a:t>;</a:t>
            </a:r>
            <a:endParaRPr lang="zh-CN" altLang="zh-CN" b="1" dirty="0">
              <a:solidFill>
                <a:schemeClr val="accent5">
                  <a:lumMod val="75000"/>
                </a:schemeClr>
              </a:solidFill>
            </a:endParaRPr>
          </a:p>
          <a:p>
            <a:r>
              <a:rPr lang="en-US" altLang="zh-CN" b="1" dirty="0" err="1">
                <a:solidFill>
                  <a:schemeClr val="accent5">
                    <a:lumMod val="75000"/>
                  </a:schemeClr>
                </a:solidFill>
              </a:rPr>
              <a:t>printf</a:t>
            </a:r>
            <a:r>
              <a:rPr lang="en-US" altLang="zh-CN" b="1" dirty="0">
                <a:solidFill>
                  <a:schemeClr val="accent5">
                    <a:lumMod val="75000"/>
                  </a:schemeClr>
                </a:solidFill>
              </a:rPr>
              <a:t>("%d \n", *p); </a:t>
            </a:r>
            <a:endParaRPr lang="en-US" altLang="zh-CN" b="1" dirty="0" smtClean="0">
              <a:solidFill>
                <a:schemeClr val="accent5">
                  <a:lumMod val="75000"/>
                </a:schemeClr>
              </a:solidFill>
            </a:endParaRPr>
          </a:p>
          <a:p>
            <a:r>
              <a:rPr lang="en-US" altLang="zh-CN" b="1" dirty="0">
                <a:solidFill>
                  <a:schemeClr val="accent5">
                    <a:lumMod val="75000"/>
                  </a:schemeClr>
                </a:solidFill>
              </a:rPr>
              <a:t> </a:t>
            </a:r>
            <a:r>
              <a:rPr lang="en-US" altLang="zh-CN" b="1" dirty="0" smtClean="0">
                <a:solidFill>
                  <a:schemeClr val="accent5">
                    <a:lumMod val="75000"/>
                  </a:schemeClr>
                </a:solidFill>
              </a:rPr>
              <a:t> </a:t>
            </a:r>
            <a:r>
              <a:rPr lang="en-US" altLang="zh-CN" b="1" dirty="0"/>
              <a:t>//</a:t>
            </a:r>
            <a:r>
              <a:rPr lang="zh-CN" altLang="zh-CN" b="1" dirty="0"/>
              <a:t>通过</a:t>
            </a:r>
            <a:r>
              <a:rPr lang="en-US" altLang="zh-CN" b="1" dirty="0"/>
              <a:t>*p</a:t>
            </a:r>
            <a:r>
              <a:rPr lang="zh-CN" altLang="zh-CN" b="1" dirty="0"/>
              <a:t>获取</a:t>
            </a:r>
            <a:r>
              <a:rPr lang="en-US" altLang="zh-CN" b="1" dirty="0" err="1"/>
              <a:t>i</a:t>
            </a:r>
            <a:r>
              <a:rPr lang="zh-CN" altLang="zh-CN" b="1" dirty="0"/>
              <a:t>的值用于输出</a:t>
            </a:r>
          </a:p>
          <a:p>
            <a:r>
              <a:rPr lang="en-US" altLang="zh-CN" b="1" dirty="0">
                <a:solidFill>
                  <a:schemeClr val="accent5">
                    <a:lumMod val="75000"/>
                  </a:schemeClr>
                </a:solidFill>
              </a:rPr>
              <a:t>*p = 200;   </a:t>
            </a:r>
            <a:r>
              <a:rPr lang="en-US" altLang="zh-CN" b="1" dirty="0"/>
              <a:t>//</a:t>
            </a:r>
            <a:r>
              <a:rPr lang="zh-CN" altLang="zh-CN" b="1" dirty="0"/>
              <a:t>通过</a:t>
            </a:r>
            <a:r>
              <a:rPr lang="en-US" altLang="zh-CN" b="1" dirty="0"/>
              <a:t>*p</a:t>
            </a:r>
            <a:r>
              <a:rPr lang="zh-CN" altLang="zh-CN" b="1" dirty="0"/>
              <a:t>修改变量</a:t>
            </a:r>
            <a:r>
              <a:rPr lang="en-US" altLang="zh-CN" b="1" dirty="0" err="1"/>
              <a:t>i</a:t>
            </a:r>
            <a:r>
              <a:rPr lang="zh-CN" altLang="zh-CN" b="1" dirty="0"/>
              <a:t>的值</a:t>
            </a:r>
          </a:p>
          <a:p>
            <a:r>
              <a:rPr lang="en-US" altLang="zh-CN" b="1" dirty="0" err="1">
                <a:solidFill>
                  <a:schemeClr val="accent5">
                    <a:lumMod val="75000"/>
                  </a:schemeClr>
                </a:solidFill>
              </a:rPr>
              <a:t>printf</a:t>
            </a:r>
            <a:r>
              <a:rPr lang="en-US" altLang="zh-CN" b="1" dirty="0">
                <a:solidFill>
                  <a:schemeClr val="accent5">
                    <a:lumMod val="75000"/>
                  </a:schemeClr>
                </a:solidFill>
              </a:rPr>
              <a:t>("%d \n", </a:t>
            </a:r>
            <a:r>
              <a:rPr lang="en-US" altLang="zh-CN" b="1" dirty="0" err="1">
                <a:solidFill>
                  <a:schemeClr val="accent5">
                    <a:lumMod val="75000"/>
                  </a:schemeClr>
                </a:solidFill>
              </a:rPr>
              <a:t>i</a:t>
            </a:r>
            <a:r>
              <a:rPr lang="en-US" altLang="zh-CN" b="1" dirty="0">
                <a:solidFill>
                  <a:schemeClr val="accent5">
                    <a:lumMod val="75000"/>
                  </a:schemeClr>
                </a:solidFill>
              </a:rPr>
              <a:t>); </a:t>
            </a:r>
            <a:endParaRPr lang="en-US" altLang="zh-CN" b="1" dirty="0" smtClean="0">
              <a:solidFill>
                <a:schemeClr val="accent5">
                  <a:lumMod val="75000"/>
                </a:schemeClr>
              </a:solidFill>
            </a:endParaRPr>
          </a:p>
          <a:p>
            <a:r>
              <a:rPr lang="en-US" altLang="zh-CN" b="1" dirty="0">
                <a:solidFill>
                  <a:schemeClr val="accent5">
                    <a:lumMod val="75000"/>
                  </a:schemeClr>
                </a:solidFill>
              </a:rPr>
              <a:t> </a:t>
            </a:r>
            <a:r>
              <a:rPr lang="en-US" altLang="zh-CN" b="1" dirty="0" smtClean="0">
                <a:solidFill>
                  <a:schemeClr val="accent5">
                    <a:lumMod val="75000"/>
                  </a:schemeClr>
                </a:solidFill>
              </a:rPr>
              <a:t> </a:t>
            </a:r>
            <a:r>
              <a:rPr lang="en-US" altLang="zh-CN" b="1" dirty="0" smtClean="0"/>
              <a:t>//</a:t>
            </a:r>
            <a:r>
              <a:rPr lang="zh-CN" altLang="zh-CN" b="1" dirty="0"/>
              <a:t>输入</a:t>
            </a:r>
            <a:r>
              <a:rPr lang="en-US" altLang="zh-CN" b="1" dirty="0" err="1"/>
              <a:t>i</a:t>
            </a:r>
            <a:r>
              <a:rPr lang="en-US" altLang="zh-CN" b="1" dirty="0"/>
              <a:t> </a:t>
            </a:r>
            <a:r>
              <a:rPr lang="zh-CN" altLang="zh-CN" b="1" dirty="0"/>
              <a:t>的值，</a:t>
            </a:r>
            <a:r>
              <a:rPr lang="en-US" altLang="zh-CN" b="1" dirty="0" err="1"/>
              <a:t>i</a:t>
            </a:r>
            <a:r>
              <a:rPr lang="en-US" altLang="zh-CN" b="1" dirty="0"/>
              <a:t>=200</a:t>
            </a:r>
            <a:endParaRPr lang="zh-CN" altLang="zh-CN" b="1" dirty="0"/>
          </a:p>
        </p:txBody>
      </p:sp>
      <p:grpSp>
        <p:nvGrpSpPr>
          <p:cNvPr id="82" name="组合 81"/>
          <p:cNvGrpSpPr>
            <a:grpSpLocks noChangeAspect="1"/>
          </p:cNvGrpSpPr>
          <p:nvPr/>
        </p:nvGrpSpPr>
        <p:grpSpPr>
          <a:xfrm>
            <a:off x="179512" y="1270485"/>
            <a:ext cx="690817" cy="620756"/>
            <a:chOff x="3736020" y="2312998"/>
            <a:chExt cx="2544505" cy="2388075"/>
          </a:xfrm>
        </p:grpSpPr>
        <p:grpSp>
          <p:nvGrpSpPr>
            <p:cNvPr id="83" name="Group 26"/>
            <p:cNvGrpSpPr>
              <a:grpSpLocks noChangeAspect="1"/>
            </p:cNvGrpSpPr>
            <p:nvPr/>
          </p:nvGrpSpPr>
          <p:grpSpPr>
            <a:xfrm>
              <a:off x="3736020" y="2312998"/>
              <a:ext cx="2544505" cy="2388075"/>
              <a:chOff x="993017" y="1073968"/>
              <a:chExt cx="1908379" cy="1791056"/>
            </a:xfrm>
          </p:grpSpPr>
          <p:sp>
            <p:nvSpPr>
              <p:cNvPr id="85"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86"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87"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88"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89"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smtClean="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smtClean="0">
                    <a:ln>
                      <a:noFill/>
                    </a:ln>
                    <a:solidFill>
                      <a:sysClr val="window" lastClr="FFFFFF"/>
                    </a:solidFill>
                    <a:effectLst/>
                    <a:uLnTx/>
                    <a:uFillTx/>
                    <a:latin typeface="微软雅黑"/>
                    <a:ea typeface="微软雅黑"/>
                    <a:cs typeface="+mn-ea"/>
                  </a:rPr>
                  <a:t>3</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84"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
        <p:nvSpPr>
          <p:cNvPr id="35" name="矩形 34"/>
          <p:cNvSpPr/>
          <p:nvPr/>
        </p:nvSpPr>
        <p:spPr>
          <a:xfrm>
            <a:off x="4644008" y="925031"/>
            <a:ext cx="4139169" cy="378565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61950">
              <a:lnSpc>
                <a:spcPct val="125000"/>
              </a:lnSpc>
              <a:buFont typeface="Wingdings" pitchFamily="2" charset="2"/>
              <a:buChar char="u"/>
            </a:pPr>
            <a:r>
              <a:rPr lang="zh-CN" altLang="en-US" sz="1600" b="1" dirty="0" smtClean="0">
                <a:solidFill>
                  <a:srgbClr val="CD7371"/>
                </a:solidFill>
              </a:rPr>
              <a:t>指针</a:t>
            </a:r>
            <a:r>
              <a:rPr lang="zh-CN" altLang="en-US" sz="1600" b="1" dirty="0">
                <a:solidFill>
                  <a:srgbClr val="CD7371"/>
                </a:solidFill>
              </a:rPr>
              <a:t>和数组</a:t>
            </a:r>
          </a:p>
          <a:p>
            <a:pPr>
              <a:lnSpc>
                <a:spcPct val="125000"/>
              </a:lnSpc>
            </a:pPr>
            <a:r>
              <a:rPr lang="zh-CN" altLang="en-US" sz="1600" b="1" dirty="0" smtClean="0">
                <a:solidFill>
                  <a:schemeClr val="tx1"/>
                </a:solidFill>
              </a:rPr>
              <a:t>在</a:t>
            </a:r>
            <a:r>
              <a:rPr lang="zh-CN" altLang="en-US" sz="1600" b="1" dirty="0">
                <a:solidFill>
                  <a:schemeClr val="tx1"/>
                </a:solidFill>
              </a:rPr>
              <a:t>数组中使用指针，可以通过移动指针，对数组中的元素进行搜索</a:t>
            </a:r>
            <a:r>
              <a:rPr lang="zh-CN" altLang="en-US" sz="1600" b="1" dirty="0" smtClean="0">
                <a:solidFill>
                  <a:schemeClr val="tx1"/>
                </a:solidFill>
              </a:rPr>
              <a:t>。</a:t>
            </a:r>
            <a:endParaRPr lang="zh-CN" altLang="en-US" sz="1600" b="1" dirty="0">
              <a:solidFill>
                <a:schemeClr val="tx1"/>
              </a:solidFill>
            </a:endParaRPr>
          </a:p>
          <a:p>
            <a:pPr>
              <a:lnSpc>
                <a:spcPct val="125000"/>
              </a:lnSpc>
            </a:pPr>
            <a:r>
              <a:rPr lang="en-US" altLang="zh-CN" sz="1600" b="1" dirty="0" smtClean="0">
                <a:solidFill>
                  <a:schemeClr val="accent5">
                    <a:lumMod val="75000"/>
                  </a:schemeClr>
                </a:solidFill>
              </a:rPr>
              <a:t>     </a:t>
            </a:r>
            <a:r>
              <a:rPr lang="en-US" altLang="zh-CN" sz="1600" b="1" dirty="0" err="1" smtClean="0">
                <a:solidFill>
                  <a:schemeClr val="accent5">
                    <a:lumMod val="75000"/>
                  </a:schemeClr>
                </a:solidFill>
              </a:rPr>
              <a:t>int</a:t>
            </a:r>
            <a:r>
              <a:rPr lang="en-US" altLang="zh-CN" sz="1600" b="1" dirty="0" smtClean="0">
                <a:solidFill>
                  <a:schemeClr val="accent5">
                    <a:lumMod val="75000"/>
                  </a:schemeClr>
                </a:solidFill>
              </a:rPr>
              <a:t> </a:t>
            </a:r>
            <a:r>
              <a:rPr lang="en-US" altLang="zh-CN" sz="1600" b="1" dirty="0" err="1">
                <a:solidFill>
                  <a:schemeClr val="accent5">
                    <a:lumMod val="75000"/>
                  </a:schemeClr>
                </a:solidFill>
              </a:rPr>
              <a:t>Data_Array</a:t>
            </a:r>
            <a:r>
              <a:rPr lang="en-US" altLang="zh-CN" sz="1600" b="1" dirty="0">
                <a:solidFill>
                  <a:schemeClr val="accent5">
                    <a:lumMod val="75000"/>
                  </a:schemeClr>
                </a:solidFill>
              </a:rPr>
              <a:t>[] = {1,2,3,4,5,6}; </a:t>
            </a:r>
            <a:endParaRPr lang="en-US" altLang="zh-CN" sz="1600" b="1" dirty="0" smtClean="0">
              <a:solidFill>
                <a:schemeClr val="accent5">
                  <a:lumMod val="75000"/>
                </a:schemeClr>
              </a:solidFill>
            </a:endParaRPr>
          </a:p>
          <a:p>
            <a:pPr>
              <a:lnSpc>
                <a:spcPct val="125000"/>
              </a:lnSpc>
            </a:pPr>
            <a:r>
              <a:rPr lang="en-US" altLang="zh-CN" sz="1600" b="1" dirty="0">
                <a:solidFill>
                  <a:schemeClr val="accent5">
                    <a:lumMod val="75000"/>
                  </a:schemeClr>
                </a:solidFill>
              </a:rPr>
              <a:t> </a:t>
            </a:r>
            <a:r>
              <a:rPr lang="en-US" altLang="zh-CN" sz="1600" b="1" dirty="0" smtClean="0">
                <a:solidFill>
                  <a:schemeClr val="accent5">
                    <a:lumMod val="75000"/>
                  </a:schemeClr>
                </a:solidFill>
              </a:rPr>
              <a:t>         </a:t>
            </a:r>
            <a:r>
              <a:rPr lang="en-US" altLang="zh-CN" sz="1400" b="1" dirty="0" smtClean="0">
                <a:solidFill>
                  <a:schemeClr val="tx1"/>
                </a:solidFill>
              </a:rPr>
              <a:t>//</a:t>
            </a:r>
            <a:r>
              <a:rPr lang="zh-CN" altLang="en-US" sz="1400" b="1" dirty="0">
                <a:solidFill>
                  <a:schemeClr val="tx1"/>
                </a:solidFill>
              </a:rPr>
              <a:t>定义一个数组</a:t>
            </a:r>
          </a:p>
          <a:p>
            <a:pPr>
              <a:lnSpc>
                <a:spcPct val="125000"/>
              </a:lnSpc>
            </a:pPr>
            <a:r>
              <a:rPr lang="en-US" altLang="zh-CN" sz="1600" b="1" dirty="0" smtClean="0">
                <a:solidFill>
                  <a:schemeClr val="accent5">
                    <a:lumMod val="75000"/>
                  </a:schemeClr>
                </a:solidFill>
              </a:rPr>
              <a:t>     </a:t>
            </a:r>
            <a:r>
              <a:rPr lang="en-US" altLang="zh-CN" sz="1600" b="1" dirty="0" err="1" smtClean="0">
                <a:solidFill>
                  <a:schemeClr val="accent5">
                    <a:lumMod val="75000"/>
                  </a:schemeClr>
                </a:solidFill>
              </a:rPr>
              <a:t>int</a:t>
            </a:r>
            <a:r>
              <a:rPr lang="en-US" altLang="zh-CN" sz="1600" b="1" dirty="0" smtClean="0">
                <a:solidFill>
                  <a:schemeClr val="accent5">
                    <a:lumMod val="75000"/>
                  </a:schemeClr>
                </a:solidFill>
              </a:rPr>
              <a:t> </a:t>
            </a:r>
            <a:r>
              <a:rPr lang="en-US" altLang="zh-CN"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 </a:t>
            </a:r>
            <a:r>
              <a:rPr lang="en-US" altLang="zh-CN" sz="1400" b="1" dirty="0">
                <a:solidFill>
                  <a:schemeClr val="tx1"/>
                </a:solidFill>
              </a:rPr>
              <a:t>//</a:t>
            </a:r>
            <a:r>
              <a:rPr lang="zh-CN" altLang="en-US" sz="1400" b="1" dirty="0">
                <a:solidFill>
                  <a:schemeClr val="tx1"/>
                </a:solidFill>
              </a:rPr>
              <a:t>定义一个指针</a:t>
            </a:r>
            <a:r>
              <a:rPr lang="en-US" altLang="zh-CN" sz="1400" b="1" dirty="0" err="1">
                <a:solidFill>
                  <a:schemeClr val="tx1"/>
                </a:solidFill>
              </a:rPr>
              <a:t>pr</a:t>
            </a:r>
            <a:endParaRPr lang="en-US" altLang="zh-CN" sz="1400" b="1" dirty="0">
              <a:solidFill>
                <a:schemeClr val="tx1"/>
              </a:solidFill>
            </a:endParaRPr>
          </a:p>
          <a:p>
            <a:pPr>
              <a:lnSpc>
                <a:spcPct val="125000"/>
              </a:lnSpc>
            </a:pPr>
            <a:r>
              <a:rPr lang="en-US" altLang="zh-CN" sz="1600" b="1" dirty="0" smtClean="0">
                <a:solidFill>
                  <a:schemeClr val="accent5">
                    <a:lumMod val="75000"/>
                  </a:schemeClr>
                </a:solidFill>
              </a:rPr>
              <a:t>     </a:t>
            </a:r>
            <a:r>
              <a:rPr lang="en-US" altLang="zh-CN" sz="1600" b="1" dirty="0" err="1" smtClean="0">
                <a:solidFill>
                  <a:schemeClr val="accent5">
                    <a:lumMod val="75000"/>
                  </a:schemeClr>
                </a:solidFill>
              </a:rPr>
              <a:t>pr</a:t>
            </a:r>
            <a:r>
              <a:rPr lang="en-US" altLang="zh-CN" sz="1600" b="1" dirty="0" smtClean="0">
                <a:solidFill>
                  <a:schemeClr val="accent5">
                    <a:lumMod val="75000"/>
                  </a:schemeClr>
                </a:solidFill>
              </a:rPr>
              <a:t> </a:t>
            </a:r>
            <a:r>
              <a:rPr lang="en-US" altLang="zh-CN" sz="1600" b="1" dirty="0">
                <a:solidFill>
                  <a:schemeClr val="accent5">
                    <a:lumMod val="75000"/>
                  </a:schemeClr>
                </a:solidFill>
              </a:rPr>
              <a:t>= &amp; </a:t>
            </a:r>
            <a:r>
              <a:rPr lang="en-US" altLang="zh-CN" sz="1600" b="1" dirty="0" err="1">
                <a:solidFill>
                  <a:schemeClr val="accent5">
                    <a:lumMod val="75000"/>
                  </a:schemeClr>
                </a:solidFill>
              </a:rPr>
              <a:t>Data_Array</a:t>
            </a:r>
            <a:r>
              <a:rPr lang="en-US" altLang="zh-CN" sz="1600" b="1" dirty="0">
                <a:solidFill>
                  <a:schemeClr val="accent5">
                    <a:lumMod val="75000"/>
                  </a:schemeClr>
                </a:solidFill>
              </a:rPr>
              <a:t>[0]; </a:t>
            </a:r>
            <a:endParaRPr lang="en-US" altLang="zh-CN" sz="1600" b="1" dirty="0" smtClean="0">
              <a:solidFill>
                <a:schemeClr val="accent5">
                  <a:lumMod val="75000"/>
                </a:schemeClr>
              </a:solidFill>
            </a:endParaRPr>
          </a:p>
          <a:p>
            <a:pPr>
              <a:lnSpc>
                <a:spcPct val="125000"/>
              </a:lnSpc>
            </a:pPr>
            <a:r>
              <a:rPr lang="en-US" altLang="zh-CN" sz="1600" b="1" dirty="0">
                <a:solidFill>
                  <a:schemeClr val="accent5">
                    <a:lumMod val="75000"/>
                  </a:schemeClr>
                </a:solidFill>
              </a:rPr>
              <a:t> </a:t>
            </a:r>
            <a:r>
              <a:rPr lang="en-US" altLang="zh-CN" sz="1600" b="1" dirty="0" smtClean="0">
                <a:solidFill>
                  <a:schemeClr val="accent5">
                    <a:lumMod val="75000"/>
                  </a:schemeClr>
                </a:solidFill>
              </a:rPr>
              <a:t>            </a:t>
            </a:r>
            <a:r>
              <a:rPr lang="en-US" altLang="zh-CN" sz="1400" b="1" dirty="0">
                <a:solidFill>
                  <a:schemeClr val="tx1"/>
                </a:solidFill>
              </a:rPr>
              <a:t>//</a:t>
            </a:r>
            <a:r>
              <a:rPr lang="zh-CN" altLang="en-US" sz="1400" b="1" dirty="0">
                <a:solidFill>
                  <a:schemeClr val="tx1"/>
                </a:solidFill>
              </a:rPr>
              <a:t>将指针指向数组的首地址</a:t>
            </a:r>
          </a:p>
          <a:p>
            <a:pPr>
              <a:lnSpc>
                <a:spcPct val="125000"/>
              </a:lnSpc>
            </a:pPr>
            <a:r>
              <a:rPr lang="zh-CN" altLang="en-US" sz="1600" b="1" dirty="0">
                <a:solidFill>
                  <a:schemeClr val="tx1"/>
                </a:solidFill>
              </a:rPr>
              <a:t>则，可以利用指针对数组的元素进行赋值</a:t>
            </a:r>
          </a:p>
          <a:p>
            <a:pPr indent="177800">
              <a:lnSpc>
                <a:spcPct val="125000"/>
              </a:lnSpc>
            </a:pPr>
            <a:r>
              <a:rPr lang="zh-CN" altLang="en-US"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=8;  </a:t>
            </a:r>
            <a:r>
              <a:rPr lang="en-US" altLang="zh-CN" sz="1400" b="1" dirty="0">
                <a:solidFill>
                  <a:schemeClr val="tx1"/>
                </a:solidFill>
              </a:rPr>
              <a:t>//</a:t>
            </a:r>
            <a:r>
              <a:rPr lang="zh-CN" altLang="en-US" sz="1400" b="1" dirty="0">
                <a:solidFill>
                  <a:schemeClr val="tx1"/>
                </a:solidFill>
              </a:rPr>
              <a:t>用指针给数组的第一个元素赋值</a:t>
            </a:r>
          </a:p>
          <a:p>
            <a:pPr indent="177800">
              <a:lnSpc>
                <a:spcPct val="125000"/>
              </a:lnSpc>
            </a:pPr>
            <a:r>
              <a:rPr lang="zh-CN" altLang="en-US" sz="1600" b="1" dirty="0">
                <a:solidFill>
                  <a:schemeClr val="accent5">
                    <a:lumMod val="75000"/>
                  </a:schemeClr>
                </a:solidFill>
              </a:rPr>
              <a:t>*</a:t>
            </a:r>
            <a:r>
              <a:rPr lang="en-US" altLang="zh-CN"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 + 1)=9;  </a:t>
            </a:r>
            <a:r>
              <a:rPr lang="en-US" altLang="zh-CN" sz="1400" b="1" dirty="0">
                <a:solidFill>
                  <a:schemeClr val="tx1"/>
                </a:solidFill>
              </a:rPr>
              <a:t>//</a:t>
            </a:r>
            <a:r>
              <a:rPr lang="zh-CN" altLang="en-US" sz="1400" b="1" dirty="0">
                <a:solidFill>
                  <a:schemeClr val="tx1"/>
                </a:solidFill>
              </a:rPr>
              <a:t>用指针给数组的第二个元素赋值</a:t>
            </a:r>
          </a:p>
          <a:p>
            <a:pPr indent="177800">
              <a:lnSpc>
                <a:spcPct val="125000"/>
              </a:lnSpc>
            </a:pPr>
            <a:r>
              <a:rPr lang="zh-CN" altLang="en-US" sz="1600" b="1" dirty="0">
                <a:solidFill>
                  <a:schemeClr val="accent5">
                    <a:lumMod val="75000"/>
                  </a:schemeClr>
                </a:solidFill>
              </a:rPr>
              <a:t>*</a:t>
            </a:r>
            <a:r>
              <a:rPr lang="en-US" altLang="zh-CN" sz="1600" b="1" dirty="0">
                <a:solidFill>
                  <a:schemeClr val="accent5">
                    <a:lumMod val="75000"/>
                  </a:schemeClr>
                </a:solidFill>
              </a:rPr>
              <a:t>(</a:t>
            </a:r>
            <a:r>
              <a:rPr lang="en-US" altLang="zh-CN" sz="1600" b="1" dirty="0" err="1">
                <a:solidFill>
                  <a:schemeClr val="accent5">
                    <a:lumMod val="75000"/>
                  </a:schemeClr>
                </a:solidFill>
              </a:rPr>
              <a:t>pr</a:t>
            </a:r>
            <a:r>
              <a:rPr lang="en-US" altLang="zh-CN" sz="1600" b="1" dirty="0">
                <a:solidFill>
                  <a:schemeClr val="accent5">
                    <a:lumMod val="75000"/>
                  </a:schemeClr>
                </a:solidFill>
              </a:rPr>
              <a:t> + 2)=7;  </a:t>
            </a:r>
            <a:r>
              <a:rPr lang="en-US" altLang="zh-CN" sz="1400" b="1" dirty="0">
                <a:solidFill>
                  <a:schemeClr val="tx1"/>
                </a:solidFill>
              </a:rPr>
              <a:t>//</a:t>
            </a:r>
            <a:r>
              <a:rPr lang="zh-CN" altLang="en-US" sz="1400" b="1" dirty="0">
                <a:solidFill>
                  <a:schemeClr val="tx1"/>
                </a:solidFill>
              </a:rPr>
              <a:t>用指针给数组的第三个元素</a:t>
            </a:r>
            <a:r>
              <a:rPr lang="zh-CN" altLang="en-US" sz="1400" b="1" dirty="0" smtClean="0">
                <a:solidFill>
                  <a:schemeClr val="tx1"/>
                </a:solidFill>
              </a:rPr>
              <a:t>赋值</a:t>
            </a:r>
            <a:endParaRPr lang="zh-CN" altLang="en-US" sz="1400" b="1" dirty="0">
              <a:solidFill>
                <a:schemeClr val="tx1"/>
              </a:solidFill>
            </a:endParaRPr>
          </a:p>
        </p:txBody>
      </p:sp>
      <p:grpSp>
        <p:nvGrpSpPr>
          <p:cNvPr id="36" name="组合 35"/>
          <p:cNvGrpSpPr>
            <a:grpSpLocks noChangeAspect="1"/>
          </p:cNvGrpSpPr>
          <p:nvPr/>
        </p:nvGrpSpPr>
        <p:grpSpPr>
          <a:xfrm>
            <a:off x="4283968" y="513152"/>
            <a:ext cx="690817" cy="620756"/>
            <a:chOff x="3736020" y="2312998"/>
            <a:chExt cx="2544505" cy="2388075"/>
          </a:xfrm>
        </p:grpSpPr>
        <p:grpSp>
          <p:nvGrpSpPr>
            <p:cNvPr id="37" name="Group 26"/>
            <p:cNvGrpSpPr>
              <a:grpSpLocks noChangeAspect="1"/>
            </p:cNvGrpSpPr>
            <p:nvPr/>
          </p:nvGrpSpPr>
          <p:grpSpPr>
            <a:xfrm>
              <a:off x="3736020" y="2312998"/>
              <a:ext cx="2544505" cy="2388075"/>
              <a:chOff x="993017" y="1073968"/>
              <a:chExt cx="1908379" cy="1791056"/>
            </a:xfrm>
          </p:grpSpPr>
          <p:sp>
            <p:nvSpPr>
              <p:cNvPr id="39"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40" name="Round Same Side Corner Rectangle 23"/>
              <p:cNvSpPr/>
              <p:nvPr/>
            </p:nvSpPr>
            <p:spPr>
              <a:xfrm>
                <a:off x="1206992" y="1073968"/>
                <a:ext cx="1480427"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42"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3"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44"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smtClean="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smtClean="0">
                    <a:ln>
                      <a:noFill/>
                    </a:ln>
                    <a:solidFill>
                      <a:sysClr val="window" lastClr="FFFFFF"/>
                    </a:solidFill>
                    <a:effectLst/>
                    <a:uLnTx/>
                    <a:uFillTx/>
                    <a:latin typeface="微软雅黑"/>
                    <a:ea typeface="微软雅黑"/>
                    <a:cs typeface="+mn-ea"/>
                  </a:rPr>
                  <a:t>4</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38"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spTree>
    <p:extLst>
      <p:ext uri="{BB962C8B-B14F-4D97-AF65-F5344CB8AC3E}">
        <p14:creationId xmlns:p14="http://schemas.microsoft.com/office/powerpoint/2010/main" val="3892192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45230" y="773102"/>
            <a:ext cx="3975242"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285750" lvl="0" indent="-15875">
              <a:lnSpc>
                <a:spcPct val="125000"/>
              </a:lnSpc>
              <a:buFont typeface="Wingdings" pitchFamily="2" charset="2"/>
              <a:buChar char="u"/>
            </a:pPr>
            <a:r>
              <a:rPr lang="zh-CN" altLang="en-US" sz="1600" b="1" dirty="0" smtClean="0">
                <a:solidFill>
                  <a:srgbClr val="CD7371"/>
                </a:solidFill>
              </a:rPr>
              <a:t> 将</a:t>
            </a:r>
            <a:r>
              <a:rPr lang="zh-CN" altLang="en-US" sz="1600" b="1" dirty="0">
                <a:solidFill>
                  <a:srgbClr val="CD7371"/>
                </a:solidFill>
              </a:rPr>
              <a:t>指针从一种类型强制转换成另外一种类型。</a:t>
            </a:r>
          </a:p>
          <a:p>
            <a:pPr lvl="0">
              <a:lnSpc>
                <a:spcPct val="125000"/>
              </a:lnSpc>
            </a:pPr>
            <a:r>
              <a:rPr lang="en-US" altLang="zh-CN" sz="1600" b="1" dirty="0" smtClean="0">
                <a:solidFill>
                  <a:srgbClr val="4BACC6">
                    <a:lumMod val="75000"/>
                  </a:srgbClr>
                </a:solidFill>
              </a:rPr>
              <a:t>      </a:t>
            </a:r>
            <a:r>
              <a:rPr lang="en-US" altLang="zh-CN" sz="1600" b="1" dirty="0" err="1" smtClean="0">
                <a:solidFill>
                  <a:srgbClr val="4BACC6">
                    <a:lumMod val="75000"/>
                  </a:srgbClr>
                </a:solidFill>
              </a:rPr>
              <a:t>pr</a:t>
            </a:r>
            <a:r>
              <a:rPr lang="en-US" altLang="zh-CN" sz="1600" b="1" dirty="0">
                <a:solidFill>
                  <a:srgbClr val="4BACC6">
                    <a:lumMod val="75000"/>
                  </a:srgbClr>
                </a:solidFill>
              </a:rPr>
              <a:t>=</a:t>
            </a:r>
            <a:r>
              <a:rPr lang="zh-CN" altLang="en-US" sz="1600" b="1" dirty="0">
                <a:solidFill>
                  <a:srgbClr val="4BACC6">
                    <a:lumMod val="75000"/>
                  </a:srgbClr>
                </a:solidFill>
              </a:rPr>
              <a:t>（</a:t>
            </a:r>
            <a:r>
              <a:rPr lang="en-US" altLang="zh-CN" sz="1600" b="1" dirty="0" err="1">
                <a:solidFill>
                  <a:srgbClr val="4BACC6">
                    <a:lumMod val="75000"/>
                  </a:srgbClr>
                </a:solidFill>
              </a:rPr>
              <a:t>int</a:t>
            </a:r>
            <a:r>
              <a:rPr lang="en-US" altLang="zh-CN" sz="1600" b="1" dirty="0">
                <a:solidFill>
                  <a:srgbClr val="4BACC6">
                    <a:lumMod val="75000"/>
                  </a:srgbClr>
                </a:solidFill>
              </a:rPr>
              <a:t> *</a:t>
            </a:r>
            <a:r>
              <a:rPr lang="zh-CN" altLang="en-US" sz="1600" b="1" dirty="0">
                <a:solidFill>
                  <a:srgbClr val="4BACC6">
                    <a:lumMod val="75000"/>
                  </a:srgbClr>
                </a:solidFill>
              </a:rPr>
              <a:t>）</a:t>
            </a:r>
            <a:r>
              <a:rPr lang="en-US" altLang="zh-CN" sz="1600" b="1" dirty="0">
                <a:solidFill>
                  <a:srgbClr val="4BACC6">
                    <a:lumMod val="75000"/>
                  </a:srgbClr>
                </a:solidFill>
              </a:rPr>
              <a:t>0x42210188;</a:t>
            </a:r>
          </a:p>
          <a:p>
            <a:pPr lvl="0">
              <a:lnSpc>
                <a:spcPct val="125000"/>
              </a:lnSpc>
            </a:pPr>
            <a:r>
              <a:rPr lang="zh-CN" altLang="en-US" sz="1600" b="1" dirty="0" smtClean="0">
                <a:solidFill>
                  <a:srgbClr val="CD7371"/>
                </a:solidFill>
                <a:latin typeface="隶书" pitchFamily="49" charset="-122"/>
                <a:ea typeface="隶书" pitchFamily="49" charset="-122"/>
              </a:rPr>
              <a:t>解析</a:t>
            </a:r>
            <a:r>
              <a:rPr lang="zh-CN" altLang="en-US" sz="1600" b="1" dirty="0" smtClean="0">
                <a:solidFill>
                  <a:srgbClr val="CD7371"/>
                </a:solidFill>
              </a:rPr>
              <a:t>：</a:t>
            </a:r>
            <a:r>
              <a:rPr lang="en-US" altLang="zh-CN" sz="1600" b="1" dirty="0" smtClean="0"/>
              <a:t>0x42210188</a:t>
            </a:r>
            <a:r>
              <a:rPr lang="zh-CN" altLang="en-US" sz="1600" b="1" dirty="0" smtClean="0"/>
              <a:t>是一个</a:t>
            </a:r>
            <a:r>
              <a:rPr lang="en-US" altLang="zh-CN" sz="1600" b="1" dirty="0" smtClean="0"/>
              <a:t>32</a:t>
            </a:r>
            <a:r>
              <a:rPr lang="zh-CN" altLang="en-US" sz="1600" b="1" dirty="0" smtClean="0"/>
              <a:t>位的数据，表示的是存储空间中的一个地址，但是在程序中如果写成</a:t>
            </a:r>
            <a:endParaRPr lang="en-US" altLang="zh-CN" sz="1600" b="1" dirty="0" smtClean="0"/>
          </a:p>
          <a:p>
            <a:pPr lvl="0">
              <a:lnSpc>
                <a:spcPct val="125000"/>
              </a:lnSpc>
            </a:pPr>
            <a:r>
              <a:rPr lang="en-US" altLang="zh-CN" sz="1600" b="1" dirty="0" smtClean="0"/>
              <a:t>         </a:t>
            </a:r>
            <a:r>
              <a:rPr lang="en-US" altLang="zh-CN" sz="1600" b="1" dirty="0" err="1" smtClean="0"/>
              <a:t>pr</a:t>
            </a:r>
            <a:r>
              <a:rPr lang="en-US" altLang="zh-CN" sz="1600" b="1" dirty="0" smtClean="0"/>
              <a:t>=0x42210188</a:t>
            </a:r>
            <a:r>
              <a:rPr lang="zh-CN" altLang="en-US" sz="1600" b="1" dirty="0" smtClean="0"/>
              <a:t>；</a:t>
            </a:r>
            <a:endParaRPr lang="en-US" altLang="zh-CN" sz="1600" b="1" dirty="0" smtClean="0"/>
          </a:p>
          <a:p>
            <a:pPr lvl="0">
              <a:lnSpc>
                <a:spcPct val="125000"/>
              </a:lnSpc>
            </a:pPr>
            <a:r>
              <a:rPr lang="zh-CN" altLang="en-US" sz="1600" b="1" dirty="0" smtClean="0"/>
              <a:t>只是将</a:t>
            </a:r>
            <a:r>
              <a:rPr lang="en-US" altLang="zh-CN" sz="1600" b="1" dirty="0" smtClean="0"/>
              <a:t>0x42210188</a:t>
            </a:r>
            <a:r>
              <a:rPr lang="zh-CN" altLang="en-US" sz="1600" b="1" dirty="0" smtClean="0"/>
              <a:t>这个</a:t>
            </a:r>
            <a:r>
              <a:rPr lang="en-US" altLang="zh-CN" sz="1600" b="1" dirty="0" smtClean="0"/>
              <a:t>32</a:t>
            </a:r>
            <a:r>
              <a:rPr lang="zh-CN" altLang="en-US" sz="1600" b="1" dirty="0" smtClean="0"/>
              <a:t>位的数据赋给</a:t>
            </a:r>
            <a:r>
              <a:rPr lang="en-US" altLang="zh-CN" sz="1600" b="1" dirty="0" err="1" smtClean="0"/>
              <a:t>pr</a:t>
            </a:r>
            <a:r>
              <a:rPr lang="zh-CN" altLang="en-US" sz="1600" b="1" dirty="0" smtClean="0"/>
              <a:t>，而使用强制类型转换（</a:t>
            </a:r>
            <a:r>
              <a:rPr lang="en-US" altLang="zh-CN" sz="1600" b="1" dirty="0" err="1" smtClean="0"/>
              <a:t>int</a:t>
            </a:r>
            <a:r>
              <a:rPr lang="en-US" altLang="zh-CN" sz="1600" b="1" dirty="0" smtClean="0"/>
              <a:t> *</a:t>
            </a:r>
            <a:r>
              <a:rPr lang="zh-CN" altLang="en-US" sz="1600" b="1" dirty="0" smtClean="0"/>
              <a:t>），则是告知编译器这是一个整型数据所占内存空间的首地址，如果没有这个类型转换，则编译器会报</a:t>
            </a:r>
            <a:r>
              <a:rPr lang="zh-CN" altLang="en-US" sz="1600" b="1" dirty="0"/>
              <a:t>错。*</a:t>
            </a:r>
            <a:r>
              <a:rPr lang="en-US" altLang="zh-CN" sz="1600" b="1" dirty="0" err="1"/>
              <a:t>pr</a:t>
            </a:r>
            <a:r>
              <a:rPr lang="zh-CN" altLang="en-US" sz="1600" b="1" dirty="0"/>
              <a:t>表示取这个指针所指向内存空间中存储的数据</a:t>
            </a:r>
            <a:r>
              <a:rPr lang="zh-CN" altLang="en-US" sz="1600" b="1" dirty="0" smtClean="0"/>
              <a:t>，</a:t>
            </a:r>
            <a:r>
              <a:rPr lang="zh-CN" altLang="en-US" sz="1600" b="1" dirty="0"/>
              <a:t>如</a:t>
            </a:r>
            <a:r>
              <a:rPr lang="zh-CN" altLang="en-US" sz="1600" b="1" dirty="0" smtClean="0"/>
              <a:t>图，*</a:t>
            </a:r>
            <a:r>
              <a:rPr lang="en-US" altLang="zh-CN" sz="1600" b="1" dirty="0" err="1"/>
              <a:t>pr</a:t>
            </a:r>
            <a:r>
              <a:rPr lang="en-US" altLang="zh-CN" sz="1600" b="1" dirty="0"/>
              <a:t>=0x0055</a:t>
            </a:r>
            <a:r>
              <a:rPr lang="zh-CN" altLang="en-US" sz="1600" b="1" dirty="0"/>
              <a:t>。</a:t>
            </a:r>
          </a:p>
        </p:txBody>
      </p:sp>
      <p:grpSp>
        <p:nvGrpSpPr>
          <p:cNvPr id="91" name="组合 90"/>
          <p:cNvGrpSpPr>
            <a:grpSpLocks noChangeAspect="1"/>
          </p:cNvGrpSpPr>
          <p:nvPr/>
        </p:nvGrpSpPr>
        <p:grpSpPr>
          <a:xfrm>
            <a:off x="4499992" y="339502"/>
            <a:ext cx="690817" cy="620756"/>
            <a:chOff x="3736020" y="2312998"/>
            <a:chExt cx="2544505" cy="2388075"/>
          </a:xfrm>
        </p:grpSpPr>
        <p:grpSp>
          <p:nvGrpSpPr>
            <p:cNvPr id="92" name="Group 26"/>
            <p:cNvGrpSpPr>
              <a:grpSpLocks noChangeAspect="1"/>
            </p:cNvGrpSpPr>
            <p:nvPr/>
          </p:nvGrpSpPr>
          <p:grpSpPr>
            <a:xfrm>
              <a:off x="3736020" y="2312998"/>
              <a:ext cx="2544505" cy="2388075"/>
              <a:chOff x="993017" y="1073968"/>
              <a:chExt cx="1908379" cy="1791056"/>
            </a:xfrm>
          </p:grpSpPr>
          <p:sp>
            <p:nvSpPr>
              <p:cNvPr id="94" name="Round Same Side Corner Rectangle 24"/>
              <p:cNvSpPr/>
              <p:nvPr/>
            </p:nvSpPr>
            <p:spPr>
              <a:xfrm rot="10800000">
                <a:off x="1206993" y="2514143"/>
                <a:ext cx="1480428" cy="350881"/>
              </a:xfrm>
              <a:prstGeom prst="round2SameRect">
                <a:avLst>
                  <a:gd name="adj1" fmla="val 27402"/>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95" name="Round Same Side Corner Rectangle 23"/>
              <p:cNvSpPr/>
              <p:nvPr/>
            </p:nvSpPr>
            <p:spPr>
              <a:xfrm>
                <a:off x="1206993" y="1073968"/>
                <a:ext cx="1480428" cy="979319"/>
              </a:xfrm>
              <a:prstGeom prst="round2SameRect">
                <a:avLst>
                  <a:gd name="adj1" fmla="val 8400"/>
                  <a:gd name="adj2" fmla="val 0"/>
                </a:avLst>
              </a:prstGeom>
              <a:solidFill>
                <a:srgbClr val="4F91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 lastClr="FFFFFF"/>
                  </a:solidFill>
                  <a:effectLst/>
                  <a:uLnTx/>
                  <a:uFillTx/>
                  <a:latin typeface="微软雅黑"/>
                  <a:ea typeface="微软雅黑"/>
                  <a:cs typeface="+mn-ea"/>
                </a:endParaRPr>
              </a:p>
            </p:txBody>
          </p:sp>
          <p:sp>
            <p:nvSpPr>
              <p:cNvPr id="96"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97"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98" name="Rectangle 35"/>
              <p:cNvSpPr/>
              <p:nvPr/>
            </p:nvSpPr>
            <p:spPr>
              <a:xfrm>
                <a:off x="993018"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dirty="0" smtClean="0">
                    <a:ln>
                      <a:noFill/>
                    </a:ln>
                    <a:solidFill>
                      <a:sysClr val="window" lastClr="FFFFFF"/>
                    </a:solidFill>
                    <a:effectLst/>
                    <a:uLnTx/>
                    <a:uFillTx/>
                    <a:latin typeface="微软雅黑"/>
                    <a:ea typeface="微软雅黑"/>
                    <a:cs typeface="+mn-ea"/>
                  </a:rPr>
                  <a:t>指针理解</a:t>
                </a:r>
                <a:r>
                  <a:rPr kumimoji="0" lang="en-US" altLang="zh-CN" sz="800" b="1" i="0" u="none" strike="noStrike" kern="0" cap="none" spc="0" normalizeH="0" baseline="0" noProof="0" dirty="0" smtClean="0">
                    <a:ln>
                      <a:noFill/>
                    </a:ln>
                    <a:solidFill>
                      <a:sysClr val="window" lastClr="FFFFFF"/>
                    </a:solidFill>
                    <a:effectLst/>
                    <a:uLnTx/>
                    <a:uFillTx/>
                    <a:latin typeface="微软雅黑"/>
                    <a:ea typeface="微软雅黑"/>
                    <a:cs typeface="+mn-ea"/>
                  </a:rPr>
                  <a:t>5</a:t>
                </a:r>
                <a:endParaRPr kumimoji="0" lang="en-US" sz="8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93" name="Freeform 143"/>
            <p:cNvSpPr>
              <a:spLocks noChangeAspect="1" noEditPoints="1"/>
            </p:cNvSpPr>
            <p:nvPr/>
          </p:nvSpPr>
          <p:spPr bwMode="auto">
            <a:xfrm>
              <a:off x="4674843" y="2699847"/>
              <a:ext cx="665602" cy="61305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ysClr val="window" lastClr="FFFFFF"/>
            </a:solidFill>
            <a:ln>
              <a:noFill/>
            </a:ln>
            <a:extLst/>
          </p:spPr>
          <p:txBody>
            <a:bodyPr vert="horz" wrap="square" lIns="121908" tIns="60954" rIns="121908" bIns="6095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ysClr val="windowText" lastClr="000000"/>
                </a:solidFill>
                <a:effectLst/>
                <a:uLnTx/>
                <a:uFillTx/>
                <a:latin typeface="微软雅黑"/>
                <a:ea typeface="微软雅黑"/>
                <a:cs typeface="+mn-ea"/>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1338844661"/>
              </p:ext>
            </p:extLst>
          </p:nvPr>
        </p:nvGraphicFramePr>
        <p:xfrm>
          <a:off x="343983" y="1768659"/>
          <a:ext cx="4405312" cy="2846387"/>
        </p:xfrm>
        <a:graphic>
          <a:graphicData uri="http://schemas.openxmlformats.org/presentationml/2006/ole">
            <mc:AlternateContent xmlns:mc="http://schemas.openxmlformats.org/markup-compatibility/2006">
              <mc:Choice xmlns:v="urn:schemas-microsoft-com:vml" Requires="v">
                <p:oleObj spid="_x0000_s54280" name="Visio" r:id="rId4" imgW="3073802" imgH="2002953" progId="Visio.Drawing.11">
                  <p:embed/>
                </p:oleObj>
              </mc:Choice>
              <mc:Fallback>
                <p:oleObj name="Visio" r:id="rId4" imgW="3073802" imgH="2002953" progId="Visio.Drawing.11">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983" y="1768659"/>
                        <a:ext cx="4405312"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395536" y="1059582"/>
            <a:ext cx="3744416" cy="784830"/>
          </a:xfrm>
          <a:prstGeom prst="rect">
            <a:avLst/>
          </a:prstGeom>
        </p:spPr>
        <p:txBody>
          <a:bodyPr wrap="square">
            <a:spAutoFit/>
          </a:bodyPr>
          <a:lstStyle/>
          <a:p>
            <a:pPr>
              <a:lnSpc>
                <a:spcPct val="125000"/>
              </a:lnSpc>
            </a:pPr>
            <a:r>
              <a:rPr lang="en-US" altLang="zh-CN" b="1" dirty="0" smtClean="0"/>
              <a:t>     32</a:t>
            </a:r>
            <a:r>
              <a:rPr lang="zh-CN" altLang="en-US" b="1" dirty="0"/>
              <a:t>位微处理器中</a:t>
            </a:r>
            <a:r>
              <a:rPr lang="en-US" altLang="zh-CN" b="1" dirty="0" err="1"/>
              <a:t>int</a:t>
            </a:r>
            <a:r>
              <a:rPr lang="zh-CN" altLang="en-US" b="1" dirty="0"/>
              <a:t>类型的变量占</a:t>
            </a:r>
            <a:r>
              <a:rPr lang="en-US" altLang="zh-CN" b="1" dirty="0"/>
              <a:t>4</a:t>
            </a:r>
            <a:r>
              <a:rPr lang="zh-CN" altLang="en-US" b="1" dirty="0"/>
              <a:t>个字节的空间。</a:t>
            </a:r>
          </a:p>
        </p:txBody>
      </p:sp>
    </p:spTree>
    <p:extLst>
      <p:ext uri="{BB962C8B-B14F-4D97-AF65-F5344CB8AC3E}">
        <p14:creationId xmlns:p14="http://schemas.microsoft.com/office/powerpoint/2010/main" val="2354613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9029979" y="2811893"/>
            <a:ext cx="2507458" cy="2568896"/>
          </a:xfrm>
          <a:prstGeom prst="rect">
            <a:avLst/>
          </a:prstGeom>
        </p:spPr>
        <p:txBody>
          <a:bodyPr wrap="square" lIns="121908" tIns="60954" rIns="121908" bIns="60954">
            <a:spAutoFit/>
          </a:bodyPr>
          <a:lstStyle/>
          <a:p>
            <a:pPr marL="0" marR="0" lvl="0" indent="0" algn="ctr" defTabSz="914400" eaLnBrk="1" fontAlgn="auto" latinLnBrk="0" hangingPunct="1">
              <a:lnSpc>
                <a:spcPct val="130000"/>
              </a:lnSpc>
              <a:spcBef>
                <a:spcPts val="0"/>
              </a:spcBef>
              <a:spcAft>
                <a:spcPts val="800"/>
              </a:spcAft>
              <a:buClrTx/>
              <a:buSzTx/>
              <a:buFontTx/>
              <a:buNone/>
              <a:tabLst/>
              <a:defRPr/>
            </a:pPr>
            <a:r>
              <a:rPr kumimoji="0" lang="zh-CN" altLang="en-US" sz="1300" b="0" i="0" u="none" strike="noStrike" kern="0" cap="none" spc="0" normalizeH="0" baseline="0" noProof="0" dirty="0">
                <a:ln>
                  <a:noFill/>
                </a:ln>
                <a:solidFill>
                  <a:srgbClr val="4F91A0"/>
                </a:solidFill>
                <a:effectLst/>
                <a:uLnTx/>
                <a:uFillTx/>
                <a:latin typeface="微软雅黑"/>
                <a:ea typeface="微软雅黑"/>
                <a:cs typeface="+mn-ea"/>
              </a:rPr>
              <a:t>在此输入您的标题</a:t>
            </a:r>
            <a:endParaRPr kumimoji="0" lang="en-US" altLang="zh-CN" sz="1300" b="0" i="0" u="none" strike="noStrike" kern="0" cap="none" spc="0" normalizeH="0" baseline="0" noProof="0" dirty="0">
              <a:ln>
                <a:noFill/>
              </a:ln>
              <a:solidFill>
                <a:srgbClr val="4F91A0"/>
              </a:solidFill>
              <a:effectLst/>
              <a:uLnTx/>
              <a:uFillTx/>
              <a:latin typeface="微软雅黑"/>
              <a:ea typeface="微软雅黑"/>
              <a:cs typeface="+mn-ea"/>
            </a:endParaRPr>
          </a:p>
          <a:p>
            <a:pPr marL="0" marR="0" lvl="0" indent="0" algn="ctr" defTabSz="914400" eaLnBrk="1" fontAlgn="auto" latinLnBrk="0" hangingPunct="1">
              <a:lnSpc>
                <a:spcPct val="130000"/>
              </a:lnSpc>
              <a:spcBef>
                <a:spcPts val="0"/>
              </a:spcBef>
              <a:spcAft>
                <a:spcPts val="800"/>
              </a:spcAft>
              <a:buClrTx/>
              <a:buSzTx/>
              <a:buFontTx/>
              <a:buNone/>
              <a:tabLst/>
              <a:defRPr/>
            </a:pPr>
            <a:r>
              <a:rPr kumimoji="0" lang="zh-CN" altLang="en-US" sz="1100" b="0" i="0" u="none" strike="noStrike" kern="0" cap="none" spc="0" normalizeH="0" baseline="0" noProof="0" dirty="0">
                <a:ln>
                  <a:noFill/>
                </a:ln>
                <a:solidFill>
                  <a:sysClr val="window" lastClr="FFFFFF">
                    <a:lumMod val="65000"/>
                  </a:sysClr>
                </a:solidFill>
                <a:effectLst/>
                <a:uLnTx/>
                <a:uFillTx/>
                <a:latin typeface="微软雅黑"/>
                <a:ea typeface="微软雅黑"/>
                <a:cs typeface="+mn-ea"/>
              </a:rPr>
              <a:t>在此输入您的文字，在此输入您的文字，在此输入您的文字，在此输入您的文字，在此输入您的文字，在此输入您的文字，在此输入您的文字</a:t>
            </a:r>
            <a:endParaRPr kumimoji="0" lang="en-US" altLang="zh-CN" sz="1100" b="0" i="0" u="none" strike="noStrike" kern="0" cap="none" spc="0" normalizeH="0" baseline="0" noProof="0" dirty="0">
              <a:ln>
                <a:noFill/>
              </a:ln>
              <a:solidFill>
                <a:sysClr val="window" lastClr="FFFFFF">
                  <a:lumMod val="65000"/>
                </a:sysClr>
              </a:solidFill>
              <a:effectLst/>
              <a:uLnTx/>
              <a:uFillTx/>
              <a:latin typeface="微软雅黑"/>
              <a:ea typeface="微软雅黑"/>
              <a:cs typeface="+mn-ea"/>
            </a:endParaRPr>
          </a:p>
          <a:p>
            <a:pPr marL="0" marR="0" lvl="0" indent="0" algn="ctr" defTabSz="914400" eaLnBrk="1" fontAlgn="auto" latinLnBrk="0" hangingPunct="1">
              <a:lnSpc>
                <a:spcPct val="130000"/>
              </a:lnSpc>
              <a:spcBef>
                <a:spcPts val="0"/>
              </a:spcBef>
              <a:spcAft>
                <a:spcPts val="800"/>
              </a:spcAft>
              <a:buClrTx/>
              <a:buSzTx/>
              <a:buFontTx/>
              <a:buNone/>
              <a:tabLst/>
              <a:defRPr/>
            </a:pPr>
            <a:r>
              <a:rPr kumimoji="0" lang="zh-CN" altLang="en-US" sz="1100" b="0" i="0" u="none" strike="noStrike" kern="0" cap="none" spc="0" normalizeH="0" baseline="0" noProof="0" dirty="0">
                <a:ln>
                  <a:noFill/>
                </a:ln>
                <a:solidFill>
                  <a:sysClr val="window" lastClr="FFFFFF">
                    <a:lumMod val="65000"/>
                  </a:sysClr>
                </a:solidFill>
                <a:effectLst/>
                <a:uLnTx/>
                <a:uFillTx/>
                <a:latin typeface="微软雅黑"/>
                <a:ea typeface="微软雅黑"/>
                <a:cs typeface="+mn-ea"/>
              </a:rPr>
              <a:t>在此输入您的文字，在此输入您的文字，在此输入您的文字，在此输入您的文字，在此输入您的文字，在此输入您的文字，在此输入您的文字，在此输入您的文字，在此输入您的文字</a:t>
            </a:r>
            <a:endParaRPr kumimoji="0" lang="en-US" altLang="zh-CN" sz="1100" b="0" i="0" u="none" strike="noStrike" kern="0" cap="none" spc="0" normalizeH="0" baseline="0" noProof="0" dirty="0">
              <a:ln>
                <a:noFill/>
              </a:ln>
              <a:solidFill>
                <a:sysClr val="window" lastClr="FFFFFF">
                  <a:lumMod val="65000"/>
                </a:sysClr>
              </a:solidFill>
              <a:effectLst/>
              <a:uLnTx/>
              <a:uFillTx/>
              <a:latin typeface="微软雅黑"/>
              <a:ea typeface="微软雅黑"/>
              <a:cs typeface="+mn-ea"/>
            </a:endParaRPr>
          </a:p>
        </p:txBody>
      </p:sp>
      <p:grpSp>
        <p:nvGrpSpPr>
          <p:cNvPr id="50" name="组合 49"/>
          <p:cNvGrpSpPr>
            <a:grpSpLocks noChangeAspect="1"/>
          </p:cNvGrpSpPr>
          <p:nvPr/>
        </p:nvGrpSpPr>
        <p:grpSpPr>
          <a:xfrm>
            <a:off x="467544" y="1275606"/>
            <a:ext cx="7920271" cy="853562"/>
            <a:chOff x="720701" y="1557332"/>
            <a:chExt cx="10835466" cy="1167731"/>
          </a:xfrm>
        </p:grpSpPr>
        <p:grpSp>
          <p:nvGrpSpPr>
            <p:cNvPr id="4" name="组合 3"/>
            <p:cNvGrpSpPr/>
            <p:nvPr/>
          </p:nvGrpSpPr>
          <p:grpSpPr>
            <a:xfrm>
              <a:off x="7148598" y="1557332"/>
              <a:ext cx="743182" cy="743181"/>
              <a:chOff x="4293355" y="3074389"/>
              <a:chExt cx="440084" cy="440084"/>
            </a:xfrm>
          </p:grpSpPr>
          <p:sp>
            <p:nvSpPr>
              <p:cNvPr id="5" name="椭圆 4"/>
              <p:cNvSpPr/>
              <p:nvPr/>
            </p:nvSpPr>
            <p:spPr>
              <a:xfrm>
                <a:off x="4293355" y="3074389"/>
                <a:ext cx="440084" cy="440084"/>
              </a:xfrm>
              <a:prstGeom prst="ellipse">
                <a:avLst/>
              </a:prstGeom>
              <a:solidFill>
                <a:srgbClr val="79B0BD"/>
              </a:solidFill>
              <a:ln w="19050" cap="flat" cmpd="sng" algn="ctr">
                <a:solidFill>
                  <a:srgbClr val="79B0BD">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6" name="组合 5"/>
              <p:cNvGrpSpPr/>
              <p:nvPr/>
            </p:nvGrpSpPr>
            <p:grpSpPr>
              <a:xfrm>
                <a:off x="4437444" y="3184699"/>
                <a:ext cx="151907" cy="219466"/>
                <a:chOff x="6689725" y="4826000"/>
                <a:chExt cx="588963" cy="850901"/>
              </a:xfrm>
            </p:grpSpPr>
            <p:sp>
              <p:nvSpPr>
                <p:cNvPr id="7" name="Freeform 5"/>
                <p:cNvSpPr>
                  <a:spLocks/>
                </p:cNvSpPr>
                <p:nvPr/>
              </p:nvSpPr>
              <p:spPr bwMode="auto">
                <a:xfrm>
                  <a:off x="6689725" y="4826000"/>
                  <a:ext cx="588963" cy="706438"/>
                </a:xfrm>
                <a:custGeom>
                  <a:avLst/>
                  <a:gdLst>
                    <a:gd name="T0" fmla="*/ 101 w 371"/>
                    <a:gd name="T1" fmla="*/ 410 h 445"/>
                    <a:gd name="T2" fmla="*/ 101 w 371"/>
                    <a:gd name="T3" fmla="*/ 351 h 445"/>
                    <a:gd name="T4" fmla="*/ 80 w 371"/>
                    <a:gd name="T5" fmla="*/ 338 h 445"/>
                    <a:gd name="T6" fmla="*/ 60 w 371"/>
                    <a:gd name="T7" fmla="*/ 322 h 445"/>
                    <a:gd name="T8" fmla="*/ 43 w 371"/>
                    <a:gd name="T9" fmla="*/ 304 h 445"/>
                    <a:gd name="T10" fmla="*/ 28 w 371"/>
                    <a:gd name="T11" fmla="*/ 284 h 445"/>
                    <a:gd name="T12" fmla="*/ 16 w 371"/>
                    <a:gd name="T13" fmla="*/ 262 h 445"/>
                    <a:gd name="T14" fmla="*/ 7 w 371"/>
                    <a:gd name="T15" fmla="*/ 238 h 445"/>
                    <a:gd name="T16" fmla="*/ 2 w 371"/>
                    <a:gd name="T17" fmla="*/ 212 h 445"/>
                    <a:gd name="T18" fmla="*/ 0 w 371"/>
                    <a:gd name="T19" fmla="*/ 185 h 445"/>
                    <a:gd name="T20" fmla="*/ 1 w 371"/>
                    <a:gd name="T21" fmla="*/ 166 h 445"/>
                    <a:gd name="T22" fmla="*/ 8 w 371"/>
                    <a:gd name="T23" fmla="*/ 130 h 445"/>
                    <a:gd name="T24" fmla="*/ 22 w 371"/>
                    <a:gd name="T25" fmla="*/ 97 h 445"/>
                    <a:gd name="T26" fmla="*/ 42 w 371"/>
                    <a:gd name="T27" fmla="*/ 67 h 445"/>
                    <a:gd name="T28" fmla="*/ 67 w 371"/>
                    <a:gd name="T29" fmla="*/ 42 h 445"/>
                    <a:gd name="T30" fmla="*/ 97 w 371"/>
                    <a:gd name="T31" fmla="*/ 22 h 445"/>
                    <a:gd name="T32" fmla="*/ 130 w 371"/>
                    <a:gd name="T33" fmla="*/ 8 h 445"/>
                    <a:gd name="T34" fmla="*/ 166 w 371"/>
                    <a:gd name="T35" fmla="*/ 1 h 445"/>
                    <a:gd name="T36" fmla="*/ 186 w 371"/>
                    <a:gd name="T37" fmla="*/ 0 h 445"/>
                    <a:gd name="T38" fmla="*/ 224 w 371"/>
                    <a:gd name="T39" fmla="*/ 4 h 445"/>
                    <a:gd name="T40" fmla="*/ 258 w 371"/>
                    <a:gd name="T41" fmla="*/ 14 h 445"/>
                    <a:gd name="T42" fmla="*/ 290 w 371"/>
                    <a:gd name="T43" fmla="*/ 32 h 445"/>
                    <a:gd name="T44" fmla="*/ 317 w 371"/>
                    <a:gd name="T45" fmla="*/ 54 h 445"/>
                    <a:gd name="T46" fmla="*/ 340 w 371"/>
                    <a:gd name="T47" fmla="*/ 82 h 445"/>
                    <a:gd name="T48" fmla="*/ 357 w 371"/>
                    <a:gd name="T49" fmla="*/ 113 h 445"/>
                    <a:gd name="T50" fmla="*/ 368 w 371"/>
                    <a:gd name="T51" fmla="*/ 148 h 445"/>
                    <a:gd name="T52" fmla="*/ 371 w 371"/>
                    <a:gd name="T53" fmla="*/ 185 h 445"/>
                    <a:gd name="T54" fmla="*/ 371 w 371"/>
                    <a:gd name="T55" fmla="*/ 199 h 445"/>
                    <a:gd name="T56" fmla="*/ 367 w 371"/>
                    <a:gd name="T57" fmla="*/ 225 h 445"/>
                    <a:gd name="T58" fmla="*/ 360 w 371"/>
                    <a:gd name="T59" fmla="*/ 250 h 445"/>
                    <a:gd name="T60" fmla="*/ 349 w 371"/>
                    <a:gd name="T61" fmla="*/ 274 h 445"/>
                    <a:gd name="T62" fmla="*/ 336 w 371"/>
                    <a:gd name="T63" fmla="*/ 295 h 445"/>
                    <a:gd name="T64" fmla="*/ 320 w 371"/>
                    <a:gd name="T65" fmla="*/ 314 h 445"/>
                    <a:gd name="T66" fmla="*/ 301 w 371"/>
                    <a:gd name="T67" fmla="*/ 331 h 445"/>
                    <a:gd name="T68" fmla="*/ 280 w 371"/>
                    <a:gd name="T69" fmla="*/ 346 h 445"/>
                    <a:gd name="T70" fmla="*/ 269 w 371"/>
                    <a:gd name="T71" fmla="*/ 39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1" h="445">
                      <a:moveTo>
                        <a:pt x="260" y="445"/>
                      </a:moveTo>
                      <a:lnTo>
                        <a:pt x="101" y="410"/>
                      </a:lnTo>
                      <a:lnTo>
                        <a:pt x="101" y="351"/>
                      </a:lnTo>
                      <a:lnTo>
                        <a:pt x="101" y="351"/>
                      </a:lnTo>
                      <a:lnTo>
                        <a:pt x="90" y="345"/>
                      </a:lnTo>
                      <a:lnTo>
                        <a:pt x="80" y="338"/>
                      </a:lnTo>
                      <a:lnTo>
                        <a:pt x="70" y="331"/>
                      </a:lnTo>
                      <a:lnTo>
                        <a:pt x="60" y="322"/>
                      </a:lnTo>
                      <a:lnTo>
                        <a:pt x="51" y="314"/>
                      </a:lnTo>
                      <a:lnTo>
                        <a:pt x="43" y="304"/>
                      </a:lnTo>
                      <a:lnTo>
                        <a:pt x="35" y="294"/>
                      </a:lnTo>
                      <a:lnTo>
                        <a:pt x="28" y="284"/>
                      </a:lnTo>
                      <a:lnTo>
                        <a:pt x="22" y="273"/>
                      </a:lnTo>
                      <a:lnTo>
                        <a:pt x="16" y="262"/>
                      </a:lnTo>
                      <a:lnTo>
                        <a:pt x="11" y="250"/>
                      </a:lnTo>
                      <a:lnTo>
                        <a:pt x="7" y="238"/>
                      </a:lnTo>
                      <a:lnTo>
                        <a:pt x="4" y="224"/>
                      </a:lnTo>
                      <a:lnTo>
                        <a:pt x="2" y="212"/>
                      </a:lnTo>
                      <a:lnTo>
                        <a:pt x="1" y="198"/>
                      </a:lnTo>
                      <a:lnTo>
                        <a:pt x="0" y="185"/>
                      </a:lnTo>
                      <a:lnTo>
                        <a:pt x="0" y="185"/>
                      </a:lnTo>
                      <a:lnTo>
                        <a:pt x="1" y="166"/>
                      </a:lnTo>
                      <a:lnTo>
                        <a:pt x="4" y="148"/>
                      </a:lnTo>
                      <a:lnTo>
                        <a:pt x="8" y="130"/>
                      </a:lnTo>
                      <a:lnTo>
                        <a:pt x="15" y="113"/>
                      </a:lnTo>
                      <a:lnTo>
                        <a:pt x="22" y="97"/>
                      </a:lnTo>
                      <a:lnTo>
                        <a:pt x="32" y="82"/>
                      </a:lnTo>
                      <a:lnTo>
                        <a:pt x="42" y="67"/>
                      </a:lnTo>
                      <a:lnTo>
                        <a:pt x="54" y="54"/>
                      </a:lnTo>
                      <a:lnTo>
                        <a:pt x="67" y="42"/>
                      </a:lnTo>
                      <a:lnTo>
                        <a:pt x="82" y="32"/>
                      </a:lnTo>
                      <a:lnTo>
                        <a:pt x="97" y="22"/>
                      </a:lnTo>
                      <a:lnTo>
                        <a:pt x="113" y="14"/>
                      </a:lnTo>
                      <a:lnTo>
                        <a:pt x="130" y="8"/>
                      </a:lnTo>
                      <a:lnTo>
                        <a:pt x="148" y="4"/>
                      </a:lnTo>
                      <a:lnTo>
                        <a:pt x="166" y="1"/>
                      </a:lnTo>
                      <a:lnTo>
                        <a:pt x="186" y="0"/>
                      </a:lnTo>
                      <a:lnTo>
                        <a:pt x="186" y="0"/>
                      </a:lnTo>
                      <a:lnTo>
                        <a:pt x="205" y="1"/>
                      </a:lnTo>
                      <a:lnTo>
                        <a:pt x="224" y="4"/>
                      </a:lnTo>
                      <a:lnTo>
                        <a:pt x="241" y="8"/>
                      </a:lnTo>
                      <a:lnTo>
                        <a:pt x="258" y="14"/>
                      </a:lnTo>
                      <a:lnTo>
                        <a:pt x="274" y="22"/>
                      </a:lnTo>
                      <a:lnTo>
                        <a:pt x="290" y="32"/>
                      </a:lnTo>
                      <a:lnTo>
                        <a:pt x="304" y="42"/>
                      </a:lnTo>
                      <a:lnTo>
                        <a:pt x="317" y="54"/>
                      </a:lnTo>
                      <a:lnTo>
                        <a:pt x="329" y="67"/>
                      </a:lnTo>
                      <a:lnTo>
                        <a:pt x="340" y="82"/>
                      </a:lnTo>
                      <a:lnTo>
                        <a:pt x="349" y="97"/>
                      </a:lnTo>
                      <a:lnTo>
                        <a:pt x="357" y="113"/>
                      </a:lnTo>
                      <a:lnTo>
                        <a:pt x="363" y="130"/>
                      </a:lnTo>
                      <a:lnTo>
                        <a:pt x="368" y="148"/>
                      </a:lnTo>
                      <a:lnTo>
                        <a:pt x="370" y="166"/>
                      </a:lnTo>
                      <a:lnTo>
                        <a:pt x="371" y="185"/>
                      </a:lnTo>
                      <a:lnTo>
                        <a:pt x="371" y="185"/>
                      </a:lnTo>
                      <a:lnTo>
                        <a:pt x="371" y="199"/>
                      </a:lnTo>
                      <a:lnTo>
                        <a:pt x="369" y="212"/>
                      </a:lnTo>
                      <a:lnTo>
                        <a:pt x="367" y="225"/>
                      </a:lnTo>
                      <a:lnTo>
                        <a:pt x="364" y="238"/>
                      </a:lnTo>
                      <a:lnTo>
                        <a:pt x="360" y="250"/>
                      </a:lnTo>
                      <a:lnTo>
                        <a:pt x="355" y="262"/>
                      </a:lnTo>
                      <a:lnTo>
                        <a:pt x="349" y="274"/>
                      </a:lnTo>
                      <a:lnTo>
                        <a:pt x="343" y="285"/>
                      </a:lnTo>
                      <a:lnTo>
                        <a:pt x="336" y="295"/>
                      </a:lnTo>
                      <a:lnTo>
                        <a:pt x="328" y="305"/>
                      </a:lnTo>
                      <a:lnTo>
                        <a:pt x="320" y="314"/>
                      </a:lnTo>
                      <a:lnTo>
                        <a:pt x="311" y="323"/>
                      </a:lnTo>
                      <a:lnTo>
                        <a:pt x="301" y="331"/>
                      </a:lnTo>
                      <a:lnTo>
                        <a:pt x="291" y="339"/>
                      </a:lnTo>
                      <a:lnTo>
                        <a:pt x="280" y="346"/>
                      </a:lnTo>
                      <a:lnTo>
                        <a:pt x="269" y="352"/>
                      </a:lnTo>
                      <a:lnTo>
                        <a:pt x="269" y="394"/>
                      </a:lnTo>
                      <a:lnTo>
                        <a:pt x="176" y="37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8" name="Line 6"/>
                <p:cNvSpPr>
                  <a:spLocks noChangeShapeType="1"/>
                </p:cNvSpPr>
                <p:nvPr/>
              </p:nvSpPr>
              <p:spPr bwMode="auto">
                <a:xfrm flipH="1" flipV="1">
                  <a:off x="6850063" y="5551488"/>
                  <a:ext cx="252413" cy="555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9" name="Line 7"/>
                <p:cNvSpPr>
                  <a:spLocks noChangeShapeType="1"/>
                </p:cNvSpPr>
                <p:nvPr/>
              </p:nvSpPr>
              <p:spPr bwMode="auto">
                <a:xfrm flipH="1" flipV="1">
                  <a:off x="6870700" y="5630863"/>
                  <a:ext cx="211138" cy="46038"/>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10" name="组合 9"/>
            <p:cNvGrpSpPr/>
            <p:nvPr/>
          </p:nvGrpSpPr>
          <p:grpSpPr>
            <a:xfrm>
              <a:off x="9912119" y="1557332"/>
              <a:ext cx="743182" cy="743181"/>
              <a:chOff x="6438167" y="2632898"/>
              <a:chExt cx="440084" cy="440084"/>
            </a:xfrm>
          </p:grpSpPr>
          <p:sp>
            <p:nvSpPr>
              <p:cNvPr id="11" name="椭圆 10"/>
              <p:cNvSpPr/>
              <p:nvPr/>
            </p:nvSpPr>
            <p:spPr>
              <a:xfrm>
                <a:off x="6438167" y="2632898"/>
                <a:ext cx="440084" cy="440084"/>
              </a:xfrm>
              <a:prstGeom prst="ellipse">
                <a:avLst/>
              </a:prstGeom>
              <a:solidFill>
                <a:srgbClr val="4F91A0"/>
              </a:solidFill>
              <a:ln w="19050" cap="flat" cmpd="sng" algn="ctr">
                <a:solidFill>
                  <a:srgbClr val="4F91A0">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12" name="组合 11"/>
              <p:cNvGrpSpPr/>
              <p:nvPr/>
            </p:nvGrpSpPr>
            <p:grpSpPr>
              <a:xfrm>
                <a:off x="6546634" y="2743208"/>
                <a:ext cx="223152" cy="219466"/>
                <a:chOff x="5294313" y="6135688"/>
                <a:chExt cx="865188" cy="850900"/>
              </a:xfrm>
            </p:grpSpPr>
            <p:sp>
              <p:nvSpPr>
                <p:cNvPr id="13" name="Freeform 28"/>
                <p:cNvSpPr>
                  <a:spLocks/>
                </p:cNvSpPr>
                <p:nvPr/>
              </p:nvSpPr>
              <p:spPr bwMode="auto">
                <a:xfrm>
                  <a:off x="5495925" y="6199188"/>
                  <a:ext cx="463550" cy="544513"/>
                </a:xfrm>
                <a:custGeom>
                  <a:avLst/>
                  <a:gdLst>
                    <a:gd name="T0" fmla="*/ 292 w 292"/>
                    <a:gd name="T1" fmla="*/ 0 h 343"/>
                    <a:gd name="T2" fmla="*/ 292 w 292"/>
                    <a:gd name="T3" fmla="*/ 0 h 343"/>
                    <a:gd name="T4" fmla="*/ 292 w 292"/>
                    <a:gd name="T5" fmla="*/ 170 h 343"/>
                    <a:gd name="T6" fmla="*/ 292 w 292"/>
                    <a:gd name="T7" fmla="*/ 170 h 343"/>
                    <a:gd name="T8" fmla="*/ 291 w 292"/>
                    <a:gd name="T9" fmla="*/ 177 h 343"/>
                    <a:gd name="T10" fmla="*/ 290 w 292"/>
                    <a:gd name="T11" fmla="*/ 186 h 343"/>
                    <a:gd name="T12" fmla="*/ 287 w 292"/>
                    <a:gd name="T13" fmla="*/ 195 h 343"/>
                    <a:gd name="T14" fmla="*/ 283 w 292"/>
                    <a:gd name="T15" fmla="*/ 206 h 343"/>
                    <a:gd name="T16" fmla="*/ 278 w 292"/>
                    <a:gd name="T17" fmla="*/ 217 h 343"/>
                    <a:gd name="T18" fmla="*/ 272 w 292"/>
                    <a:gd name="T19" fmla="*/ 229 h 343"/>
                    <a:gd name="T20" fmla="*/ 264 w 292"/>
                    <a:gd name="T21" fmla="*/ 242 h 343"/>
                    <a:gd name="T22" fmla="*/ 256 w 292"/>
                    <a:gd name="T23" fmla="*/ 255 h 343"/>
                    <a:gd name="T24" fmla="*/ 246 w 292"/>
                    <a:gd name="T25" fmla="*/ 267 h 343"/>
                    <a:gd name="T26" fmla="*/ 235 w 292"/>
                    <a:gd name="T27" fmla="*/ 281 h 343"/>
                    <a:gd name="T28" fmla="*/ 223 w 292"/>
                    <a:gd name="T29" fmla="*/ 293 h 343"/>
                    <a:gd name="T30" fmla="*/ 210 w 292"/>
                    <a:gd name="T31" fmla="*/ 305 h 343"/>
                    <a:gd name="T32" fmla="*/ 196 w 292"/>
                    <a:gd name="T33" fmla="*/ 316 h 343"/>
                    <a:gd name="T34" fmla="*/ 180 w 292"/>
                    <a:gd name="T35" fmla="*/ 326 h 343"/>
                    <a:gd name="T36" fmla="*/ 164 w 292"/>
                    <a:gd name="T37" fmla="*/ 335 h 343"/>
                    <a:gd name="T38" fmla="*/ 146 w 292"/>
                    <a:gd name="T39" fmla="*/ 343 h 343"/>
                    <a:gd name="T40" fmla="*/ 146 w 292"/>
                    <a:gd name="T41" fmla="*/ 343 h 343"/>
                    <a:gd name="T42" fmla="*/ 129 w 292"/>
                    <a:gd name="T43" fmla="*/ 335 h 343"/>
                    <a:gd name="T44" fmla="*/ 111 w 292"/>
                    <a:gd name="T45" fmla="*/ 326 h 343"/>
                    <a:gd name="T46" fmla="*/ 96 w 292"/>
                    <a:gd name="T47" fmla="*/ 316 h 343"/>
                    <a:gd name="T48" fmla="*/ 82 w 292"/>
                    <a:gd name="T49" fmla="*/ 305 h 343"/>
                    <a:gd name="T50" fmla="*/ 69 w 292"/>
                    <a:gd name="T51" fmla="*/ 293 h 343"/>
                    <a:gd name="T52" fmla="*/ 57 w 292"/>
                    <a:gd name="T53" fmla="*/ 281 h 343"/>
                    <a:gd name="T54" fmla="*/ 46 w 292"/>
                    <a:gd name="T55" fmla="*/ 267 h 343"/>
                    <a:gd name="T56" fmla="*/ 36 w 292"/>
                    <a:gd name="T57" fmla="*/ 255 h 343"/>
                    <a:gd name="T58" fmla="*/ 28 w 292"/>
                    <a:gd name="T59" fmla="*/ 242 h 343"/>
                    <a:gd name="T60" fmla="*/ 20 w 292"/>
                    <a:gd name="T61" fmla="*/ 229 h 343"/>
                    <a:gd name="T62" fmla="*/ 14 w 292"/>
                    <a:gd name="T63" fmla="*/ 217 h 343"/>
                    <a:gd name="T64" fmla="*/ 9 w 292"/>
                    <a:gd name="T65" fmla="*/ 206 h 343"/>
                    <a:gd name="T66" fmla="*/ 5 w 292"/>
                    <a:gd name="T67" fmla="*/ 195 h 343"/>
                    <a:gd name="T68" fmla="*/ 2 w 292"/>
                    <a:gd name="T69" fmla="*/ 186 h 343"/>
                    <a:gd name="T70" fmla="*/ 0 w 292"/>
                    <a:gd name="T71" fmla="*/ 177 h 343"/>
                    <a:gd name="T72" fmla="*/ 0 w 292"/>
                    <a:gd name="T73" fmla="*/ 170 h 343"/>
                    <a:gd name="T74" fmla="*/ 0 w 292"/>
                    <a:gd name="T75" fmla="*/ 170 h 343"/>
                    <a:gd name="T76" fmla="*/ 0 w 292"/>
                    <a:gd name="T77" fmla="*/ 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2" h="343">
                      <a:moveTo>
                        <a:pt x="292" y="0"/>
                      </a:moveTo>
                      <a:lnTo>
                        <a:pt x="292" y="0"/>
                      </a:lnTo>
                      <a:lnTo>
                        <a:pt x="292" y="170"/>
                      </a:lnTo>
                      <a:lnTo>
                        <a:pt x="292" y="170"/>
                      </a:lnTo>
                      <a:lnTo>
                        <a:pt x="291" y="177"/>
                      </a:lnTo>
                      <a:lnTo>
                        <a:pt x="290" y="186"/>
                      </a:lnTo>
                      <a:lnTo>
                        <a:pt x="287" y="195"/>
                      </a:lnTo>
                      <a:lnTo>
                        <a:pt x="283" y="206"/>
                      </a:lnTo>
                      <a:lnTo>
                        <a:pt x="278" y="217"/>
                      </a:lnTo>
                      <a:lnTo>
                        <a:pt x="272" y="229"/>
                      </a:lnTo>
                      <a:lnTo>
                        <a:pt x="264" y="242"/>
                      </a:lnTo>
                      <a:lnTo>
                        <a:pt x="256" y="255"/>
                      </a:lnTo>
                      <a:lnTo>
                        <a:pt x="246" y="267"/>
                      </a:lnTo>
                      <a:lnTo>
                        <a:pt x="235" y="281"/>
                      </a:lnTo>
                      <a:lnTo>
                        <a:pt x="223" y="293"/>
                      </a:lnTo>
                      <a:lnTo>
                        <a:pt x="210" y="305"/>
                      </a:lnTo>
                      <a:lnTo>
                        <a:pt x="196" y="316"/>
                      </a:lnTo>
                      <a:lnTo>
                        <a:pt x="180" y="326"/>
                      </a:lnTo>
                      <a:lnTo>
                        <a:pt x="164" y="335"/>
                      </a:lnTo>
                      <a:lnTo>
                        <a:pt x="146" y="343"/>
                      </a:lnTo>
                      <a:lnTo>
                        <a:pt x="146" y="343"/>
                      </a:lnTo>
                      <a:lnTo>
                        <a:pt x="129" y="335"/>
                      </a:lnTo>
                      <a:lnTo>
                        <a:pt x="111" y="326"/>
                      </a:lnTo>
                      <a:lnTo>
                        <a:pt x="96" y="316"/>
                      </a:lnTo>
                      <a:lnTo>
                        <a:pt x="82" y="305"/>
                      </a:lnTo>
                      <a:lnTo>
                        <a:pt x="69" y="293"/>
                      </a:lnTo>
                      <a:lnTo>
                        <a:pt x="57" y="281"/>
                      </a:lnTo>
                      <a:lnTo>
                        <a:pt x="46" y="267"/>
                      </a:lnTo>
                      <a:lnTo>
                        <a:pt x="36" y="255"/>
                      </a:lnTo>
                      <a:lnTo>
                        <a:pt x="28" y="242"/>
                      </a:lnTo>
                      <a:lnTo>
                        <a:pt x="20" y="229"/>
                      </a:lnTo>
                      <a:lnTo>
                        <a:pt x="14" y="217"/>
                      </a:lnTo>
                      <a:lnTo>
                        <a:pt x="9" y="206"/>
                      </a:lnTo>
                      <a:lnTo>
                        <a:pt x="5" y="195"/>
                      </a:lnTo>
                      <a:lnTo>
                        <a:pt x="2" y="186"/>
                      </a:lnTo>
                      <a:lnTo>
                        <a:pt x="0" y="177"/>
                      </a:lnTo>
                      <a:lnTo>
                        <a:pt x="0" y="170"/>
                      </a:lnTo>
                      <a:lnTo>
                        <a:pt x="0" y="170"/>
                      </a:lnTo>
                      <a:lnTo>
                        <a:pt x="0" y="0"/>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4" name="Freeform 29"/>
                <p:cNvSpPr>
                  <a:spLocks/>
                </p:cNvSpPr>
                <p:nvPr/>
              </p:nvSpPr>
              <p:spPr bwMode="auto">
                <a:xfrm>
                  <a:off x="5294313" y="6199188"/>
                  <a:ext cx="865188" cy="334963"/>
                </a:xfrm>
                <a:custGeom>
                  <a:avLst/>
                  <a:gdLst>
                    <a:gd name="T0" fmla="*/ 447 w 545"/>
                    <a:gd name="T1" fmla="*/ 211 h 211"/>
                    <a:gd name="T2" fmla="*/ 447 w 545"/>
                    <a:gd name="T3" fmla="*/ 211 h 211"/>
                    <a:gd name="T4" fmla="*/ 462 w 545"/>
                    <a:gd name="T5" fmla="*/ 200 h 211"/>
                    <a:gd name="T6" fmla="*/ 478 w 545"/>
                    <a:gd name="T7" fmla="*/ 187 h 211"/>
                    <a:gd name="T8" fmla="*/ 496 w 545"/>
                    <a:gd name="T9" fmla="*/ 170 h 211"/>
                    <a:gd name="T10" fmla="*/ 505 w 545"/>
                    <a:gd name="T11" fmla="*/ 160 h 211"/>
                    <a:gd name="T12" fmla="*/ 514 w 545"/>
                    <a:gd name="T13" fmla="*/ 150 h 211"/>
                    <a:gd name="T14" fmla="*/ 523 w 545"/>
                    <a:gd name="T15" fmla="*/ 138 h 211"/>
                    <a:gd name="T16" fmla="*/ 530 w 545"/>
                    <a:gd name="T17" fmla="*/ 126 h 211"/>
                    <a:gd name="T18" fmla="*/ 536 w 545"/>
                    <a:gd name="T19" fmla="*/ 114 h 211"/>
                    <a:gd name="T20" fmla="*/ 541 w 545"/>
                    <a:gd name="T21" fmla="*/ 101 h 211"/>
                    <a:gd name="T22" fmla="*/ 544 w 545"/>
                    <a:gd name="T23" fmla="*/ 87 h 211"/>
                    <a:gd name="T24" fmla="*/ 545 w 545"/>
                    <a:gd name="T25" fmla="*/ 74 h 211"/>
                    <a:gd name="T26" fmla="*/ 545 w 545"/>
                    <a:gd name="T27" fmla="*/ 74 h 211"/>
                    <a:gd name="T28" fmla="*/ 544 w 545"/>
                    <a:gd name="T29" fmla="*/ 60 h 211"/>
                    <a:gd name="T30" fmla="*/ 541 w 545"/>
                    <a:gd name="T31" fmla="*/ 49 h 211"/>
                    <a:gd name="T32" fmla="*/ 536 w 545"/>
                    <a:gd name="T33" fmla="*/ 39 h 211"/>
                    <a:gd name="T34" fmla="*/ 530 w 545"/>
                    <a:gd name="T35" fmla="*/ 30 h 211"/>
                    <a:gd name="T36" fmla="*/ 522 w 545"/>
                    <a:gd name="T37" fmla="*/ 23 h 211"/>
                    <a:gd name="T38" fmla="*/ 512 w 545"/>
                    <a:gd name="T39" fmla="*/ 17 h 211"/>
                    <a:gd name="T40" fmla="*/ 502 w 545"/>
                    <a:gd name="T41" fmla="*/ 12 h 211"/>
                    <a:gd name="T42" fmla="*/ 491 w 545"/>
                    <a:gd name="T43" fmla="*/ 9 h 211"/>
                    <a:gd name="T44" fmla="*/ 479 w 545"/>
                    <a:gd name="T45" fmla="*/ 6 h 211"/>
                    <a:gd name="T46" fmla="*/ 467 w 545"/>
                    <a:gd name="T47" fmla="*/ 3 h 211"/>
                    <a:gd name="T48" fmla="*/ 442 w 545"/>
                    <a:gd name="T49" fmla="*/ 1 h 211"/>
                    <a:gd name="T50" fmla="*/ 418 w 545"/>
                    <a:gd name="T51" fmla="*/ 0 h 211"/>
                    <a:gd name="T52" fmla="*/ 395 w 545"/>
                    <a:gd name="T53" fmla="*/ 0 h 211"/>
                    <a:gd name="T54" fmla="*/ 395 w 545"/>
                    <a:gd name="T55" fmla="*/ 0 h 211"/>
                    <a:gd name="T56" fmla="*/ 273 w 545"/>
                    <a:gd name="T57" fmla="*/ 0 h 211"/>
                    <a:gd name="T58" fmla="*/ 273 w 545"/>
                    <a:gd name="T59" fmla="*/ 0 h 211"/>
                    <a:gd name="T60" fmla="*/ 150 w 545"/>
                    <a:gd name="T61" fmla="*/ 0 h 211"/>
                    <a:gd name="T62" fmla="*/ 150 w 545"/>
                    <a:gd name="T63" fmla="*/ 0 h 211"/>
                    <a:gd name="T64" fmla="*/ 128 w 545"/>
                    <a:gd name="T65" fmla="*/ 0 h 211"/>
                    <a:gd name="T66" fmla="*/ 104 w 545"/>
                    <a:gd name="T67" fmla="*/ 1 h 211"/>
                    <a:gd name="T68" fmla="*/ 79 w 545"/>
                    <a:gd name="T69" fmla="*/ 3 h 211"/>
                    <a:gd name="T70" fmla="*/ 67 w 545"/>
                    <a:gd name="T71" fmla="*/ 6 h 211"/>
                    <a:gd name="T72" fmla="*/ 55 w 545"/>
                    <a:gd name="T73" fmla="*/ 9 h 211"/>
                    <a:gd name="T74" fmla="*/ 44 w 545"/>
                    <a:gd name="T75" fmla="*/ 12 h 211"/>
                    <a:gd name="T76" fmla="*/ 33 w 545"/>
                    <a:gd name="T77" fmla="*/ 17 h 211"/>
                    <a:gd name="T78" fmla="*/ 24 w 545"/>
                    <a:gd name="T79" fmla="*/ 23 h 211"/>
                    <a:gd name="T80" fmla="*/ 16 w 545"/>
                    <a:gd name="T81" fmla="*/ 30 h 211"/>
                    <a:gd name="T82" fmla="*/ 9 w 545"/>
                    <a:gd name="T83" fmla="*/ 39 h 211"/>
                    <a:gd name="T84" fmla="*/ 4 w 545"/>
                    <a:gd name="T85" fmla="*/ 49 h 211"/>
                    <a:gd name="T86" fmla="*/ 1 w 545"/>
                    <a:gd name="T87" fmla="*/ 60 h 211"/>
                    <a:gd name="T88" fmla="*/ 0 w 545"/>
                    <a:gd name="T89" fmla="*/ 74 h 211"/>
                    <a:gd name="T90" fmla="*/ 0 w 545"/>
                    <a:gd name="T91" fmla="*/ 74 h 211"/>
                    <a:gd name="T92" fmla="*/ 1 w 545"/>
                    <a:gd name="T93" fmla="*/ 87 h 211"/>
                    <a:gd name="T94" fmla="*/ 5 w 545"/>
                    <a:gd name="T95" fmla="*/ 101 h 211"/>
                    <a:gd name="T96" fmla="*/ 9 w 545"/>
                    <a:gd name="T97" fmla="*/ 114 h 211"/>
                    <a:gd name="T98" fmla="*/ 16 w 545"/>
                    <a:gd name="T99" fmla="*/ 126 h 211"/>
                    <a:gd name="T100" fmla="*/ 23 w 545"/>
                    <a:gd name="T101" fmla="*/ 138 h 211"/>
                    <a:gd name="T102" fmla="*/ 32 w 545"/>
                    <a:gd name="T103" fmla="*/ 150 h 211"/>
                    <a:gd name="T104" fmla="*/ 40 w 545"/>
                    <a:gd name="T105" fmla="*/ 160 h 211"/>
                    <a:gd name="T106" fmla="*/ 50 w 545"/>
                    <a:gd name="T107" fmla="*/ 170 h 211"/>
                    <a:gd name="T108" fmla="*/ 68 w 545"/>
                    <a:gd name="T109" fmla="*/ 187 h 211"/>
                    <a:gd name="T110" fmla="*/ 84 w 545"/>
                    <a:gd name="T111" fmla="*/ 200 h 211"/>
                    <a:gd name="T112" fmla="*/ 99 w 545"/>
                    <a:gd name="T113"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45" h="211">
                      <a:moveTo>
                        <a:pt x="447" y="211"/>
                      </a:moveTo>
                      <a:lnTo>
                        <a:pt x="447" y="211"/>
                      </a:lnTo>
                      <a:lnTo>
                        <a:pt x="462" y="200"/>
                      </a:lnTo>
                      <a:lnTo>
                        <a:pt x="478" y="187"/>
                      </a:lnTo>
                      <a:lnTo>
                        <a:pt x="496" y="170"/>
                      </a:lnTo>
                      <a:lnTo>
                        <a:pt x="505" y="160"/>
                      </a:lnTo>
                      <a:lnTo>
                        <a:pt x="514" y="150"/>
                      </a:lnTo>
                      <a:lnTo>
                        <a:pt x="523" y="138"/>
                      </a:lnTo>
                      <a:lnTo>
                        <a:pt x="530" y="126"/>
                      </a:lnTo>
                      <a:lnTo>
                        <a:pt x="536" y="114"/>
                      </a:lnTo>
                      <a:lnTo>
                        <a:pt x="541" y="101"/>
                      </a:lnTo>
                      <a:lnTo>
                        <a:pt x="544" y="87"/>
                      </a:lnTo>
                      <a:lnTo>
                        <a:pt x="545" y="74"/>
                      </a:lnTo>
                      <a:lnTo>
                        <a:pt x="545" y="74"/>
                      </a:lnTo>
                      <a:lnTo>
                        <a:pt x="544" y="60"/>
                      </a:lnTo>
                      <a:lnTo>
                        <a:pt x="541" y="49"/>
                      </a:lnTo>
                      <a:lnTo>
                        <a:pt x="536" y="39"/>
                      </a:lnTo>
                      <a:lnTo>
                        <a:pt x="530" y="30"/>
                      </a:lnTo>
                      <a:lnTo>
                        <a:pt x="522" y="23"/>
                      </a:lnTo>
                      <a:lnTo>
                        <a:pt x="512" y="17"/>
                      </a:lnTo>
                      <a:lnTo>
                        <a:pt x="502" y="12"/>
                      </a:lnTo>
                      <a:lnTo>
                        <a:pt x="491" y="9"/>
                      </a:lnTo>
                      <a:lnTo>
                        <a:pt x="479" y="6"/>
                      </a:lnTo>
                      <a:lnTo>
                        <a:pt x="467" y="3"/>
                      </a:lnTo>
                      <a:lnTo>
                        <a:pt x="442" y="1"/>
                      </a:lnTo>
                      <a:lnTo>
                        <a:pt x="418" y="0"/>
                      </a:lnTo>
                      <a:lnTo>
                        <a:pt x="395" y="0"/>
                      </a:lnTo>
                      <a:lnTo>
                        <a:pt x="395" y="0"/>
                      </a:lnTo>
                      <a:lnTo>
                        <a:pt x="273" y="0"/>
                      </a:lnTo>
                      <a:lnTo>
                        <a:pt x="273" y="0"/>
                      </a:lnTo>
                      <a:lnTo>
                        <a:pt x="150" y="0"/>
                      </a:lnTo>
                      <a:lnTo>
                        <a:pt x="150" y="0"/>
                      </a:lnTo>
                      <a:lnTo>
                        <a:pt x="128" y="0"/>
                      </a:lnTo>
                      <a:lnTo>
                        <a:pt x="104" y="1"/>
                      </a:lnTo>
                      <a:lnTo>
                        <a:pt x="79" y="3"/>
                      </a:lnTo>
                      <a:lnTo>
                        <a:pt x="67" y="6"/>
                      </a:lnTo>
                      <a:lnTo>
                        <a:pt x="55" y="9"/>
                      </a:lnTo>
                      <a:lnTo>
                        <a:pt x="44" y="12"/>
                      </a:lnTo>
                      <a:lnTo>
                        <a:pt x="33" y="17"/>
                      </a:lnTo>
                      <a:lnTo>
                        <a:pt x="24" y="23"/>
                      </a:lnTo>
                      <a:lnTo>
                        <a:pt x="16" y="30"/>
                      </a:lnTo>
                      <a:lnTo>
                        <a:pt x="9" y="39"/>
                      </a:lnTo>
                      <a:lnTo>
                        <a:pt x="4" y="49"/>
                      </a:lnTo>
                      <a:lnTo>
                        <a:pt x="1" y="60"/>
                      </a:lnTo>
                      <a:lnTo>
                        <a:pt x="0" y="74"/>
                      </a:lnTo>
                      <a:lnTo>
                        <a:pt x="0" y="74"/>
                      </a:lnTo>
                      <a:lnTo>
                        <a:pt x="1" y="87"/>
                      </a:lnTo>
                      <a:lnTo>
                        <a:pt x="5" y="101"/>
                      </a:lnTo>
                      <a:lnTo>
                        <a:pt x="9" y="114"/>
                      </a:lnTo>
                      <a:lnTo>
                        <a:pt x="16" y="126"/>
                      </a:lnTo>
                      <a:lnTo>
                        <a:pt x="23" y="138"/>
                      </a:lnTo>
                      <a:lnTo>
                        <a:pt x="32" y="150"/>
                      </a:lnTo>
                      <a:lnTo>
                        <a:pt x="40" y="160"/>
                      </a:lnTo>
                      <a:lnTo>
                        <a:pt x="50" y="170"/>
                      </a:lnTo>
                      <a:lnTo>
                        <a:pt x="68" y="187"/>
                      </a:lnTo>
                      <a:lnTo>
                        <a:pt x="84" y="200"/>
                      </a:lnTo>
                      <a:lnTo>
                        <a:pt x="99" y="21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5" name="Line 30"/>
                <p:cNvSpPr>
                  <a:spLocks noChangeShapeType="1"/>
                </p:cNvSpPr>
                <p:nvPr/>
              </p:nvSpPr>
              <p:spPr bwMode="auto">
                <a:xfrm>
                  <a:off x="5495925" y="6135688"/>
                  <a:ext cx="463550" cy="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6" name="Line 31"/>
                <p:cNvSpPr>
                  <a:spLocks noChangeShapeType="1"/>
                </p:cNvSpPr>
                <p:nvPr/>
              </p:nvSpPr>
              <p:spPr bwMode="auto">
                <a:xfrm>
                  <a:off x="5727700" y="6743700"/>
                  <a:ext cx="0" cy="9207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17" name="Freeform 32"/>
                <p:cNvSpPr>
                  <a:spLocks/>
                </p:cNvSpPr>
                <p:nvPr/>
              </p:nvSpPr>
              <p:spPr bwMode="auto">
                <a:xfrm>
                  <a:off x="5549900" y="6878638"/>
                  <a:ext cx="355600" cy="107950"/>
                </a:xfrm>
                <a:custGeom>
                  <a:avLst/>
                  <a:gdLst>
                    <a:gd name="T0" fmla="*/ 0 w 224"/>
                    <a:gd name="T1" fmla="*/ 68 h 68"/>
                    <a:gd name="T2" fmla="*/ 0 w 224"/>
                    <a:gd name="T3" fmla="*/ 32 h 68"/>
                    <a:gd name="T4" fmla="*/ 0 w 224"/>
                    <a:gd name="T5" fmla="*/ 32 h 68"/>
                    <a:gd name="T6" fmla="*/ 0 w 224"/>
                    <a:gd name="T7" fmla="*/ 25 h 68"/>
                    <a:gd name="T8" fmla="*/ 2 w 224"/>
                    <a:gd name="T9" fmla="*/ 19 h 68"/>
                    <a:gd name="T10" fmla="*/ 5 w 224"/>
                    <a:gd name="T11" fmla="*/ 14 h 68"/>
                    <a:gd name="T12" fmla="*/ 9 w 224"/>
                    <a:gd name="T13" fmla="*/ 10 h 68"/>
                    <a:gd name="T14" fmla="*/ 13 w 224"/>
                    <a:gd name="T15" fmla="*/ 6 h 68"/>
                    <a:gd name="T16" fmla="*/ 19 w 224"/>
                    <a:gd name="T17" fmla="*/ 3 h 68"/>
                    <a:gd name="T18" fmla="*/ 24 w 224"/>
                    <a:gd name="T19" fmla="*/ 1 h 68"/>
                    <a:gd name="T20" fmla="*/ 31 w 224"/>
                    <a:gd name="T21" fmla="*/ 0 h 68"/>
                    <a:gd name="T22" fmla="*/ 193 w 224"/>
                    <a:gd name="T23" fmla="*/ 0 h 68"/>
                    <a:gd name="T24" fmla="*/ 193 w 224"/>
                    <a:gd name="T25" fmla="*/ 0 h 68"/>
                    <a:gd name="T26" fmla="*/ 199 w 224"/>
                    <a:gd name="T27" fmla="*/ 1 h 68"/>
                    <a:gd name="T28" fmla="*/ 205 w 224"/>
                    <a:gd name="T29" fmla="*/ 3 h 68"/>
                    <a:gd name="T30" fmla="*/ 210 w 224"/>
                    <a:gd name="T31" fmla="*/ 6 h 68"/>
                    <a:gd name="T32" fmla="*/ 215 w 224"/>
                    <a:gd name="T33" fmla="*/ 10 h 68"/>
                    <a:gd name="T34" fmla="*/ 219 w 224"/>
                    <a:gd name="T35" fmla="*/ 14 h 68"/>
                    <a:gd name="T36" fmla="*/ 222 w 224"/>
                    <a:gd name="T37" fmla="*/ 19 h 68"/>
                    <a:gd name="T38" fmla="*/ 224 w 224"/>
                    <a:gd name="T39" fmla="*/ 25 h 68"/>
                    <a:gd name="T40" fmla="*/ 224 w 224"/>
                    <a:gd name="T41" fmla="*/ 32 h 68"/>
                    <a:gd name="T42" fmla="*/ 224 w 224"/>
                    <a:gd name="T43" fmla="*/ 68 h 68"/>
                    <a:gd name="T44" fmla="*/ 0 w 224"/>
                    <a:gd name="T45"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4" h="68">
                      <a:moveTo>
                        <a:pt x="0" y="68"/>
                      </a:moveTo>
                      <a:lnTo>
                        <a:pt x="0" y="32"/>
                      </a:lnTo>
                      <a:lnTo>
                        <a:pt x="0" y="32"/>
                      </a:lnTo>
                      <a:lnTo>
                        <a:pt x="0" y="25"/>
                      </a:lnTo>
                      <a:lnTo>
                        <a:pt x="2" y="19"/>
                      </a:lnTo>
                      <a:lnTo>
                        <a:pt x="5" y="14"/>
                      </a:lnTo>
                      <a:lnTo>
                        <a:pt x="9" y="10"/>
                      </a:lnTo>
                      <a:lnTo>
                        <a:pt x="13" y="6"/>
                      </a:lnTo>
                      <a:lnTo>
                        <a:pt x="19" y="3"/>
                      </a:lnTo>
                      <a:lnTo>
                        <a:pt x="24" y="1"/>
                      </a:lnTo>
                      <a:lnTo>
                        <a:pt x="31" y="0"/>
                      </a:lnTo>
                      <a:lnTo>
                        <a:pt x="193" y="0"/>
                      </a:lnTo>
                      <a:lnTo>
                        <a:pt x="193" y="0"/>
                      </a:lnTo>
                      <a:lnTo>
                        <a:pt x="199" y="1"/>
                      </a:lnTo>
                      <a:lnTo>
                        <a:pt x="205" y="3"/>
                      </a:lnTo>
                      <a:lnTo>
                        <a:pt x="210" y="6"/>
                      </a:lnTo>
                      <a:lnTo>
                        <a:pt x="215" y="10"/>
                      </a:lnTo>
                      <a:lnTo>
                        <a:pt x="219" y="14"/>
                      </a:lnTo>
                      <a:lnTo>
                        <a:pt x="222" y="19"/>
                      </a:lnTo>
                      <a:lnTo>
                        <a:pt x="224" y="25"/>
                      </a:lnTo>
                      <a:lnTo>
                        <a:pt x="224" y="32"/>
                      </a:lnTo>
                      <a:lnTo>
                        <a:pt x="224" y="68"/>
                      </a:lnTo>
                      <a:lnTo>
                        <a:pt x="0" y="68"/>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18" name="组合 17"/>
            <p:cNvGrpSpPr/>
            <p:nvPr/>
          </p:nvGrpSpPr>
          <p:grpSpPr>
            <a:xfrm>
              <a:off x="4385077" y="1557332"/>
              <a:ext cx="743182" cy="743181"/>
              <a:chOff x="3225712" y="2624053"/>
              <a:chExt cx="440084" cy="440084"/>
            </a:xfrm>
          </p:grpSpPr>
          <p:sp>
            <p:nvSpPr>
              <p:cNvPr id="19" name="椭圆 18"/>
              <p:cNvSpPr/>
              <p:nvPr/>
            </p:nvSpPr>
            <p:spPr>
              <a:xfrm>
                <a:off x="3225712" y="2624053"/>
                <a:ext cx="440084" cy="440084"/>
              </a:xfrm>
              <a:prstGeom prst="ellipse">
                <a:avLst/>
              </a:prstGeom>
              <a:solidFill>
                <a:srgbClr val="4F91A0"/>
              </a:solidFill>
              <a:ln w="19050" cap="flat" cmpd="sng" algn="ctr">
                <a:solidFill>
                  <a:srgbClr val="4F91A0">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20" name="组合 19"/>
              <p:cNvGrpSpPr/>
              <p:nvPr/>
            </p:nvGrpSpPr>
            <p:grpSpPr>
              <a:xfrm>
                <a:off x="3335817" y="2734363"/>
                <a:ext cx="219875" cy="219466"/>
                <a:chOff x="4064000" y="6135688"/>
                <a:chExt cx="852488" cy="850900"/>
              </a:xfrm>
            </p:grpSpPr>
            <p:sp>
              <p:nvSpPr>
                <p:cNvPr id="21" name="Freeform 11"/>
                <p:cNvSpPr>
                  <a:spLocks/>
                </p:cNvSpPr>
                <p:nvPr/>
              </p:nvSpPr>
              <p:spPr bwMode="auto">
                <a:xfrm>
                  <a:off x="4064000" y="6135688"/>
                  <a:ext cx="852488" cy="850900"/>
                </a:xfrm>
                <a:custGeom>
                  <a:avLst/>
                  <a:gdLst>
                    <a:gd name="T0" fmla="*/ 529 w 537"/>
                    <a:gd name="T1" fmla="*/ 80 h 536"/>
                    <a:gd name="T2" fmla="*/ 456 w 537"/>
                    <a:gd name="T3" fmla="*/ 7 h 536"/>
                    <a:gd name="T4" fmla="*/ 456 w 537"/>
                    <a:gd name="T5" fmla="*/ 7 h 536"/>
                    <a:gd name="T6" fmla="*/ 452 w 537"/>
                    <a:gd name="T7" fmla="*/ 3 h 536"/>
                    <a:gd name="T8" fmla="*/ 447 w 537"/>
                    <a:gd name="T9" fmla="*/ 1 h 536"/>
                    <a:gd name="T10" fmla="*/ 442 w 537"/>
                    <a:gd name="T11" fmla="*/ 0 h 536"/>
                    <a:gd name="T12" fmla="*/ 437 w 537"/>
                    <a:gd name="T13" fmla="*/ 0 h 536"/>
                    <a:gd name="T14" fmla="*/ 432 w 537"/>
                    <a:gd name="T15" fmla="*/ 0 h 536"/>
                    <a:gd name="T16" fmla="*/ 427 w 537"/>
                    <a:gd name="T17" fmla="*/ 2 h 536"/>
                    <a:gd name="T18" fmla="*/ 422 w 537"/>
                    <a:gd name="T19" fmla="*/ 5 h 536"/>
                    <a:gd name="T20" fmla="*/ 417 w 537"/>
                    <a:gd name="T21" fmla="*/ 8 h 536"/>
                    <a:gd name="T22" fmla="*/ 367 w 537"/>
                    <a:gd name="T23" fmla="*/ 59 h 536"/>
                    <a:gd name="T24" fmla="*/ 43 w 537"/>
                    <a:gd name="T25" fmla="*/ 383 h 536"/>
                    <a:gd name="T26" fmla="*/ 0 w 537"/>
                    <a:gd name="T27" fmla="*/ 536 h 536"/>
                    <a:gd name="T28" fmla="*/ 153 w 537"/>
                    <a:gd name="T29" fmla="*/ 494 h 536"/>
                    <a:gd name="T30" fmla="*/ 478 w 537"/>
                    <a:gd name="T31" fmla="*/ 169 h 536"/>
                    <a:gd name="T32" fmla="*/ 528 w 537"/>
                    <a:gd name="T33" fmla="*/ 119 h 536"/>
                    <a:gd name="T34" fmla="*/ 528 w 537"/>
                    <a:gd name="T35" fmla="*/ 119 h 536"/>
                    <a:gd name="T36" fmla="*/ 531 w 537"/>
                    <a:gd name="T37" fmla="*/ 115 h 536"/>
                    <a:gd name="T38" fmla="*/ 534 w 537"/>
                    <a:gd name="T39" fmla="*/ 110 h 536"/>
                    <a:gd name="T40" fmla="*/ 536 w 537"/>
                    <a:gd name="T41" fmla="*/ 105 h 536"/>
                    <a:gd name="T42" fmla="*/ 537 w 537"/>
                    <a:gd name="T43" fmla="*/ 99 h 536"/>
                    <a:gd name="T44" fmla="*/ 536 w 537"/>
                    <a:gd name="T45" fmla="*/ 94 h 536"/>
                    <a:gd name="T46" fmla="*/ 535 w 537"/>
                    <a:gd name="T47" fmla="*/ 89 h 536"/>
                    <a:gd name="T48" fmla="*/ 533 w 537"/>
                    <a:gd name="T49" fmla="*/ 85 h 536"/>
                    <a:gd name="T50" fmla="*/ 529 w 537"/>
                    <a:gd name="T51" fmla="*/ 80 h 536"/>
                    <a:gd name="T52" fmla="*/ 529 w 537"/>
                    <a:gd name="T53" fmla="*/ 8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37" h="536">
                      <a:moveTo>
                        <a:pt x="529" y="80"/>
                      </a:moveTo>
                      <a:lnTo>
                        <a:pt x="456" y="7"/>
                      </a:lnTo>
                      <a:lnTo>
                        <a:pt x="456" y="7"/>
                      </a:lnTo>
                      <a:lnTo>
                        <a:pt x="452" y="3"/>
                      </a:lnTo>
                      <a:lnTo>
                        <a:pt x="447" y="1"/>
                      </a:lnTo>
                      <a:lnTo>
                        <a:pt x="442" y="0"/>
                      </a:lnTo>
                      <a:lnTo>
                        <a:pt x="437" y="0"/>
                      </a:lnTo>
                      <a:lnTo>
                        <a:pt x="432" y="0"/>
                      </a:lnTo>
                      <a:lnTo>
                        <a:pt x="427" y="2"/>
                      </a:lnTo>
                      <a:lnTo>
                        <a:pt x="422" y="5"/>
                      </a:lnTo>
                      <a:lnTo>
                        <a:pt x="417" y="8"/>
                      </a:lnTo>
                      <a:lnTo>
                        <a:pt x="367" y="59"/>
                      </a:lnTo>
                      <a:lnTo>
                        <a:pt x="43" y="383"/>
                      </a:lnTo>
                      <a:lnTo>
                        <a:pt x="0" y="536"/>
                      </a:lnTo>
                      <a:lnTo>
                        <a:pt x="153" y="494"/>
                      </a:lnTo>
                      <a:lnTo>
                        <a:pt x="478" y="169"/>
                      </a:lnTo>
                      <a:lnTo>
                        <a:pt x="528" y="119"/>
                      </a:lnTo>
                      <a:lnTo>
                        <a:pt x="528" y="119"/>
                      </a:lnTo>
                      <a:lnTo>
                        <a:pt x="531" y="115"/>
                      </a:lnTo>
                      <a:lnTo>
                        <a:pt x="534" y="110"/>
                      </a:lnTo>
                      <a:lnTo>
                        <a:pt x="536" y="105"/>
                      </a:lnTo>
                      <a:lnTo>
                        <a:pt x="537" y="99"/>
                      </a:lnTo>
                      <a:lnTo>
                        <a:pt x="536" y="94"/>
                      </a:lnTo>
                      <a:lnTo>
                        <a:pt x="535" y="89"/>
                      </a:lnTo>
                      <a:lnTo>
                        <a:pt x="533" y="85"/>
                      </a:lnTo>
                      <a:lnTo>
                        <a:pt x="529" y="80"/>
                      </a:lnTo>
                      <a:lnTo>
                        <a:pt x="529" y="80"/>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2" name="Line 12"/>
                <p:cNvSpPr>
                  <a:spLocks noChangeShapeType="1"/>
                </p:cNvSpPr>
                <p:nvPr/>
              </p:nvSpPr>
              <p:spPr bwMode="auto">
                <a:xfrm>
                  <a:off x="4646613" y="6229350"/>
                  <a:ext cx="176213" cy="17462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3" name="Line 13"/>
                <p:cNvSpPr>
                  <a:spLocks noChangeShapeType="1"/>
                </p:cNvSpPr>
                <p:nvPr/>
              </p:nvSpPr>
              <p:spPr bwMode="auto">
                <a:xfrm flipH="1">
                  <a:off x="4210050" y="6272213"/>
                  <a:ext cx="479425" cy="48101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4" name="Line 14"/>
                <p:cNvSpPr>
                  <a:spLocks noChangeShapeType="1"/>
                </p:cNvSpPr>
                <p:nvPr/>
              </p:nvSpPr>
              <p:spPr bwMode="auto">
                <a:xfrm flipH="1">
                  <a:off x="4297363" y="6361113"/>
                  <a:ext cx="481013" cy="479425"/>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5" name="Freeform 15"/>
                <p:cNvSpPr>
                  <a:spLocks/>
                </p:cNvSpPr>
                <p:nvPr/>
              </p:nvSpPr>
              <p:spPr bwMode="auto">
                <a:xfrm>
                  <a:off x="4132263" y="6743700"/>
                  <a:ext cx="174625" cy="176213"/>
                </a:xfrm>
                <a:custGeom>
                  <a:avLst/>
                  <a:gdLst>
                    <a:gd name="T0" fmla="*/ 0 w 110"/>
                    <a:gd name="T1" fmla="*/ 0 h 111"/>
                    <a:gd name="T2" fmla="*/ 49 w 110"/>
                    <a:gd name="T3" fmla="*/ 6 h 111"/>
                    <a:gd name="T4" fmla="*/ 55 w 110"/>
                    <a:gd name="T5" fmla="*/ 55 h 111"/>
                    <a:gd name="T6" fmla="*/ 104 w 110"/>
                    <a:gd name="T7" fmla="*/ 61 h 111"/>
                    <a:gd name="T8" fmla="*/ 110 w 110"/>
                    <a:gd name="T9" fmla="*/ 111 h 111"/>
                  </a:gdLst>
                  <a:ahLst/>
                  <a:cxnLst>
                    <a:cxn ang="0">
                      <a:pos x="T0" y="T1"/>
                    </a:cxn>
                    <a:cxn ang="0">
                      <a:pos x="T2" y="T3"/>
                    </a:cxn>
                    <a:cxn ang="0">
                      <a:pos x="T4" y="T5"/>
                    </a:cxn>
                    <a:cxn ang="0">
                      <a:pos x="T6" y="T7"/>
                    </a:cxn>
                    <a:cxn ang="0">
                      <a:pos x="T8" y="T9"/>
                    </a:cxn>
                  </a:cxnLst>
                  <a:rect l="0" t="0" r="r" b="b"/>
                  <a:pathLst>
                    <a:path w="110" h="111">
                      <a:moveTo>
                        <a:pt x="0" y="0"/>
                      </a:moveTo>
                      <a:lnTo>
                        <a:pt x="49" y="6"/>
                      </a:lnTo>
                      <a:lnTo>
                        <a:pt x="55" y="55"/>
                      </a:lnTo>
                      <a:lnTo>
                        <a:pt x="104" y="61"/>
                      </a:lnTo>
                      <a:lnTo>
                        <a:pt x="110" y="111"/>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6" name="Line 16"/>
                <p:cNvSpPr>
                  <a:spLocks noChangeShapeType="1"/>
                </p:cNvSpPr>
                <p:nvPr/>
              </p:nvSpPr>
              <p:spPr bwMode="auto">
                <a:xfrm flipV="1">
                  <a:off x="4149725" y="6269038"/>
                  <a:ext cx="117475" cy="1190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7" name="Line 17"/>
                <p:cNvSpPr>
                  <a:spLocks noChangeShapeType="1"/>
                </p:cNvSpPr>
                <p:nvPr/>
              </p:nvSpPr>
              <p:spPr bwMode="auto">
                <a:xfrm flipV="1">
                  <a:off x="4214813" y="6370638"/>
                  <a:ext cx="82550" cy="8255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8" name="Line 18"/>
                <p:cNvSpPr>
                  <a:spLocks noChangeShapeType="1"/>
                </p:cNvSpPr>
                <p:nvPr/>
              </p:nvSpPr>
              <p:spPr bwMode="auto">
                <a:xfrm flipV="1">
                  <a:off x="4662488" y="6783388"/>
                  <a:ext cx="119063" cy="119063"/>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29" name="Line 19"/>
                <p:cNvSpPr>
                  <a:spLocks noChangeShapeType="1"/>
                </p:cNvSpPr>
                <p:nvPr/>
              </p:nvSpPr>
              <p:spPr bwMode="auto">
                <a:xfrm flipV="1">
                  <a:off x="4597400" y="6753225"/>
                  <a:ext cx="82550" cy="82550"/>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0" name="Freeform 20"/>
                <p:cNvSpPr>
                  <a:spLocks/>
                </p:cNvSpPr>
                <p:nvPr/>
              </p:nvSpPr>
              <p:spPr bwMode="auto">
                <a:xfrm>
                  <a:off x="4084638" y="6157913"/>
                  <a:ext cx="369888" cy="368300"/>
                </a:xfrm>
                <a:custGeom>
                  <a:avLst/>
                  <a:gdLst>
                    <a:gd name="T0" fmla="*/ 233 w 233"/>
                    <a:gd name="T1" fmla="*/ 128 h 232"/>
                    <a:gd name="T2" fmla="*/ 111 w 233"/>
                    <a:gd name="T3" fmla="*/ 7 h 232"/>
                    <a:gd name="T4" fmla="*/ 111 w 233"/>
                    <a:gd name="T5" fmla="*/ 7 h 232"/>
                    <a:gd name="T6" fmla="*/ 107 w 233"/>
                    <a:gd name="T7" fmla="*/ 4 h 232"/>
                    <a:gd name="T8" fmla="*/ 103 w 233"/>
                    <a:gd name="T9" fmla="*/ 2 h 232"/>
                    <a:gd name="T10" fmla="*/ 98 w 233"/>
                    <a:gd name="T11" fmla="*/ 0 h 232"/>
                    <a:gd name="T12" fmla="*/ 94 w 233"/>
                    <a:gd name="T13" fmla="*/ 0 h 232"/>
                    <a:gd name="T14" fmla="*/ 89 w 233"/>
                    <a:gd name="T15" fmla="*/ 0 h 232"/>
                    <a:gd name="T16" fmla="*/ 84 w 233"/>
                    <a:gd name="T17" fmla="*/ 2 h 232"/>
                    <a:gd name="T18" fmla="*/ 80 w 233"/>
                    <a:gd name="T19" fmla="*/ 4 h 232"/>
                    <a:gd name="T20" fmla="*/ 76 w 233"/>
                    <a:gd name="T21" fmla="*/ 7 h 232"/>
                    <a:gd name="T22" fmla="*/ 7 w 233"/>
                    <a:gd name="T23" fmla="*/ 77 h 232"/>
                    <a:gd name="T24" fmla="*/ 7 w 233"/>
                    <a:gd name="T25" fmla="*/ 77 h 232"/>
                    <a:gd name="T26" fmla="*/ 4 w 233"/>
                    <a:gd name="T27" fmla="*/ 80 h 232"/>
                    <a:gd name="T28" fmla="*/ 2 w 233"/>
                    <a:gd name="T29" fmla="*/ 85 h 232"/>
                    <a:gd name="T30" fmla="*/ 0 w 233"/>
                    <a:gd name="T31" fmla="*/ 89 h 232"/>
                    <a:gd name="T32" fmla="*/ 0 w 233"/>
                    <a:gd name="T33" fmla="*/ 94 h 232"/>
                    <a:gd name="T34" fmla="*/ 0 w 233"/>
                    <a:gd name="T35" fmla="*/ 99 h 232"/>
                    <a:gd name="T36" fmla="*/ 2 w 233"/>
                    <a:gd name="T37" fmla="*/ 103 h 232"/>
                    <a:gd name="T38" fmla="*/ 4 w 233"/>
                    <a:gd name="T39" fmla="*/ 107 h 232"/>
                    <a:gd name="T40" fmla="*/ 7 w 233"/>
                    <a:gd name="T41" fmla="*/ 111 h 232"/>
                    <a:gd name="T42" fmla="*/ 128 w 233"/>
                    <a:gd name="T43" fmla="*/ 23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3" h="232">
                      <a:moveTo>
                        <a:pt x="233" y="128"/>
                      </a:moveTo>
                      <a:lnTo>
                        <a:pt x="111" y="7"/>
                      </a:lnTo>
                      <a:lnTo>
                        <a:pt x="111" y="7"/>
                      </a:lnTo>
                      <a:lnTo>
                        <a:pt x="107" y="4"/>
                      </a:lnTo>
                      <a:lnTo>
                        <a:pt x="103" y="2"/>
                      </a:lnTo>
                      <a:lnTo>
                        <a:pt x="98" y="0"/>
                      </a:lnTo>
                      <a:lnTo>
                        <a:pt x="94" y="0"/>
                      </a:lnTo>
                      <a:lnTo>
                        <a:pt x="89" y="0"/>
                      </a:lnTo>
                      <a:lnTo>
                        <a:pt x="84" y="2"/>
                      </a:lnTo>
                      <a:lnTo>
                        <a:pt x="80" y="4"/>
                      </a:lnTo>
                      <a:lnTo>
                        <a:pt x="76" y="7"/>
                      </a:lnTo>
                      <a:lnTo>
                        <a:pt x="7" y="77"/>
                      </a:lnTo>
                      <a:lnTo>
                        <a:pt x="7" y="77"/>
                      </a:lnTo>
                      <a:lnTo>
                        <a:pt x="4" y="80"/>
                      </a:lnTo>
                      <a:lnTo>
                        <a:pt x="2" y="85"/>
                      </a:lnTo>
                      <a:lnTo>
                        <a:pt x="0" y="89"/>
                      </a:lnTo>
                      <a:lnTo>
                        <a:pt x="0" y="94"/>
                      </a:lnTo>
                      <a:lnTo>
                        <a:pt x="0" y="99"/>
                      </a:lnTo>
                      <a:lnTo>
                        <a:pt x="2" y="103"/>
                      </a:lnTo>
                      <a:lnTo>
                        <a:pt x="4" y="107"/>
                      </a:lnTo>
                      <a:lnTo>
                        <a:pt x="7" y="111"/>
                      </a:lnTo>
                      <a:lnTo>
                        <a:pt x="128" y="232"/>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1" name="Freeform 21"/>
                <p:cNvSpPr>
                  <a:spLocks/>
                </p:cNvSpPr>
                <p:nvPr/>
              </p:nvSpPr>
              <p:spPr bwMode="auto">
                <a:xfrm>
                  <a:off x="4524375" y="6596063"/>
                  <a:ext cx="368300" cy="369888"/>
                </a:xfrm>
                <a:custGeom>
                  <a:avLst/>
                  <a:gdLst>
                    <a:gd name="T0" fmla="*/ 0 w 232"/>
                    <a:gd name="T1" fmla="*/ 106 h 233"/>
                    <a:gd name="T2" fmla="*/ 121 w 232"/>
                    <a:gd name="T3" fmla="*/ 226 h 233"/>
                    <a:gd name="T4" fmla="*/ 121 w 232"/>
                    <a:gd name="T5" fmla="*/ 226 h 233"/>
                    <a:gd name="T6" fmla="*/ 125 w 232"/>
                    <a:gd name="T7" fmla="*/ 229 h 233"/>
                    <a:gd name="T8" fmla="*/ 129 w 232"/>
                    <a:gd name="T9" fmla="*/ 232 h 233"/>
                    <a:gd name="T10" fmla="*/ 134 w 232"/>
                    <a:gd name="T11" fmla="*/ 233 h 233"/>
                    <a:gd name="T12" fmla="*/ 138 w 232"/>
                    <a:gd name="T13" fmla="*/ 233 h 233"/>
                    <a:gd name="T14" fmla="*/ 143 w 232"/>
                    <a:gd name="T15" fmla="*/ 233 h 233"/>
                    <a:gd name="T16" fmla="*/ 148 w 232"/>
                    <a:gd name="T17" fmla="*/ 232 h 233"/>
                    <a:gd name="T18" fmla="*/ 152 w 232"/>
                    <a:gd name="T19" fmla="*/ 229 h 233"/>
                    <a:gd name="T20" fmla="*/ 156 w 232"/>
                    <a:gd name="T21" fmla="*/ 226 h 233"/>
                    <a:gd name="T22" fmla="*/ 225 w 232"/>
                    <a:gd name="T23" fmla="*/ 157 h 233"/>
                    <a:gd name="T24" fmla="*/ 225 w 232"/>
                    <a:gd name="T25" fmla="*/ 157 h 233"/>
                    <a:gd name="T26" fmla="*/ 228 w 232"/>
                    <a:gd name="T27" fmla="*/ 153 h 233"/>
                    <a:gd name="T28" fmla="*/ 230 w 232"/>
                    <a:gd name="T29" fmla="*/ 149 h 233"/>
                    <a:gd name="T30" fmla="*/ 232 w 232"/>
                    <a:gd name="T31" fmla="*/ 144 h 233"/>
                    <a:gd name="T32" fmla="*/ 232 w 232"/>
                    <a:gd name="T33" fmla="*/ 140 h 233"/>
                    <a:gd name="T34" fmla="*/ 232 w 232"/>
                    <a:gd name="T35" fmla="*/ 135 h 233"/>
                    <a:gd name="T36" fmla="*/ 230 w 232"/>
                    <a:gd name="T37" fmla="*/ 130 h 233"/>
                    <a:gd name="T38" fmla="*/ 228 w 232"/>
                    <a:gd name="T39" fmla="*/ 126 h 233"/>
                    <a:gd name="T40" fmla="*/ 225 w 232"/>
                    <a:gd name="T41" fmla="*/ 122 h 233"/>
                    <a:gd name="T42" fmla="*/ 104 w 232"/>
                    <a:gd name="T43" fmla="*/ 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2" h="233">
                      <a:moveTo>
                        <a:pt x="0" y="106"/>
                      </a:moveTo>
                      <a:lnTo>
                        <a:pt x="121" y="226"/>
                      </a:lnTo>
                      <a:lnTo>
                        <a:pt x="121" y="226"/>
                      </a:lnTo>
                      <a:lnTo>
                        <a:pt x="125" y="229"/>
                      </a:lnTo>
                      <a:lnTo>
                        <a:pt x="129" y="232"/>
                      </a:lnTo>
                      <a:lnTo>
                        <a:pt x="134" y="233"/>
                      </a:lnTo>
                      <a:lnTo>
                        <a:pt x="138" y="233"/>
                      </a:lnTo>
                      <a:lnTo>
                        <a:pt x="143" y="233"/>
                      </a:lnTo>
                      <a:lnTo>
                        <a:pt x="148" y="232"/>
                      </a:lnTo>
                      <a:lnTo>
                        <a:pt x="152" y="229"/>
                      </a:lnTo>
                      <a:lnTo>
                        <a:pt x="156" y="226"/>
                      </a:lnTo>
                      <a:lnTo>
                        <a:pt x="225" y="157"/>
                      </a:lnTo>
                      <a:lnTo>
                        <a:pt x="225" y="157"/>
                      </a:lnTo>
                      <a:lnTo>
                        <a:pt x="228" y="153"/>
                      </a:lnTo>
                      <a:lnTo>
                        <a:pt x="230" y="149"/>
                      </a:lnTo>
                      <a:lnTo>
                        <a:pt x="232" y="144"/>
                      </a:lnTo>
                      <a:lnTo>
                        <a:pt x="232" y="140"/>
                      </a:lnTo>
                      <a:lnTo>
                        <a:pt x="232" y="135"/>
                      </a:lnTo>
                      <a:lnTo>
                        <a:pt x="230" y="130"/>
                      </a:lnTo>
                      <a:lnTo>
                        <a:pt x="228" y="126"/>
                      </a:lnTo>
                      <a:lnTo>
                        <a:pt x="225" y="122"/>
                      </a:lnTo>
                      <a:lnTo>
                        <a:pt x="104" y="0"/>
                      </a:lnTo>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grpSp>
          <p:nvGrpSpPr>
            <p:cNvPr id="33" name="组合 32"/>
            <p:cNvGrpSpPr/>
            <p:nvPr/>
          </p:nvGrpSpPr>
          <p:grpSpPr>
            <a:xfrm>
              <a:off x="1621557" y="1557332"/>
              <a:ext cx="743182" cy="743181"/>
              <a:chOff x="2139017" y="3437940"/>
              <a:chExt cx="440084" cy="440084"/>
            </a:xfrm>
          </p:grpSpPr>
          <p:sp>
            <p:nvSpPr>
              <p:cNvPr id="34" name="椭圆 33"/>
              <p:cNvSpPr/>
              <p:nvPr/>
            </p:nvSpPr>
            <p:spPr>
              <a:xfrm>
                <a:off x="2139017" y="3437940"/>
                <a:ext cx="440084" cy="440084"/>
              </a:xfrm>
              <a:prstGeom prst="ellipse">
                <a:avLst/>
              </a:prstGeom>
              <a:solidFill>
                <a:srgbClr val="79B0BD"/>
              </a:solidFill>
              <a:ln w="19050" cap="flat" cmpd="sng" algn="ctr">
                <a:solidFill>
                  <a:srgbClr val="79B0BD">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HelveticaInserat-Roman-SemiB"/>
                  <a:ea typeface="微软雅黑"/>
                  <a:cs typeface="+mn-ea"/>
                </a:endParaRPr>
              </a:p>
            </p:txBody>
          </p:sp>
          <p:grpSp>
            <p:nvGrpSpPr>
              <p:cNvPr id="35" name="组合 34"/>
              <p:cNvGrpSpPr/>
              <p:nvPr/>
            </p:nvGrpSpPr>
            <p:grpSpPr>
              <a:xfrm>
                <a:off x="2248713" y="3548250"/>
                <a:ext cx="220694" cy="219466"/>
                <a:chOff x="4083050" y="4826000"/>
                <a:chExt cx="855663" cy="850900"/>
              </a:xfrm>
            </p:grpSpPr>
            <p:sp>
              <p:nvSpPr>
                <p:cNvPr id="36" name="Freeform 25"/>
                <p:cNvSpPr>
                  <a:spLocks/>
                </p:cNvSpPr>
                <p:nvPr/>
              </p:nvSpPr>
              <p:spPr bwMode="auto">
                <a:xfrm>
                  <a:off x="4083050" y="4826000"/>
                  <a:ext cx="855663" cy="850900"/>
                </a:xfrm>
                <a:custGeom>
                  <a:avLst/>
                  <a:gdLst>
                    <a:gd name="T0" fmla="*/ 217 w 539"/>
                    <a:gd name="T1" fmla="*/ 202 h 536"/>
                    <a:gd name="T2" fmla="*/ 206 w 539"/>
                    <a:gd name="T3" fmla="*/ 199 h 536"/>
                    <a:gd name="T4" fmla="*/ 182 w 539"/>
                    <a:gd name="T5" fmla="*/ 196 h 536"/>
                    <a:gd name="T6" fmla="*/ 169 w 539"/>
                    <a:gd name="T7" fmla="*/ 195 h 536"/>
                    <a:gd name="T8" fmla="*/ 135 w 539"/>
                    <a:gd name="T9" fmla="*/ 199 h 536"/>
                    <a:gd name="T10" fmla="*/ 103 w 539"/>
                    <a:gd name="T11" fmla="*/ 209 h 536"/>
                    <a:gd name="T12" fmla="*/ 74 w 539"/>
                    <a:gd name="T13" fmla="*/ 224 h 536"/>
                    <a:gd name="T14" fmla="*/ 49 w 539"/>
                    <a:gd name="T15" fmla="*/ 246 h 536"/>
                    <a:gd name="T16" fmla="*/ 29 w 539"/>
                    <a:gd name="T17" fmla="*/ 271 h 536"/>
                    <a:gd name="T18" fmla="*/ 13 w 539"/>
                    <a:gd name="T19" fmla="*/ 300 h 536"/>
                    <a:gd name="T20" fmla="*/ 3 w 539"/>
                    <a:gd name="T21" fmla="*/ 332 h 536"/>
                    <a:gd name="T22" fmla="*/ 0 w 539"/>
                    <a:gd name="T23" fmla="*/ 366 h 536"/>
                    <a:gd name="T24" fmla="*/ 0 w 539"/>
                    <a:gd name="T25" fmla="*/ 383 h 536"/>
                    <a:gd name="T26" fmla="*/ 7 w 539"/>
                    <a:gd name="T27" fmla="*/ 417 h 536"/>
                    <a:gd name="T28" fmla="*/ 20 w 539"/>
                    <a:gd name="T29" fmla="*/ 447 h 536"/>
                    <a:gd name="T30" fmla="*/ 38 w 539"/>
                    <a:gd name="T31" fmla="*/ 474 h 536"/>
                    <a:gd name="T32" fmla="*/ 61 w 539"/>
                    <a:gd name="T33" fmla="*/ 497 h 536"/>
                    <a:gd name="T34" fmla="*/ 88 w 539"/>
                    <a:gd name="T35" fmla="*/ 516 h 536"/>
                    <a:gd name="T36" fmla="*/ 119 w 539"/>
                    <a:gd name="T37" fmla="*/ 528 h 536"/>
                    <a:gd name="T38" fmla="*/ 152 w 539"/>
                    <a:gd name="T39" fmla="*/ 535 h 536"/>
                    <a:gd name="T40" fmla="*/ 169 w 539"/>
                    <a:gd name="T41" fmla="*/ 536 h 536"/>
                    <a:gd name="T42" fmla="*/ 204 w 539"/>
                    <a:gd name="T43" fmla="*/ 533 h 536"/>
                    <a:gd name="T44" fmla="*/ 237 w 539"/>
                    <a:gd name="T45" fmla="*/ 523 h 536"/>
                    <a:gd name="T46" fmla="*/ 265 w 539"/>
                    <a:gd name="T47" fmla="*/ 507 h 536"/>
                    <a:gd name="T48" fmla="*/ 291 w 539"/>
                    <a:gd name="T49" fmla="*/ 486 h 536"/>
                    <a:gd name="T50" fmla="*/ 311 w 539"/>
                    <a:gd name="T51" fmla="*/ 461 h 536"/>
                    <a:gd name="T52" fmla="*/ 327 w 539"/>
                    <a:gd name="T53" fmla="*/ 432 h 536"/>
                    <a:gd name="T54" fmla="*/ 337 w 539"/>
                    <a:gd name="T55" fmla="*/ 400 h 536"/>
                    <a:gd name="T56" fmla="*/ 340 w 539"/>
                    <a:gd name="T57" fmla="*/ 366 h 536"/>
                    <a:gd name="T58" fmla="*/ 340 w 539"/>
                    <a:gd name="T59" fmla="*/ 354 h 536"/>
                    <a:gd name="T60" fmla="*/ 337 w 539"/>
                    <a:gd name="T61" fmla="*/ 332 h 536"/>
                    <a:gd name="T62" fmla="*/ 394 w 539"/>
                    <a:gd name="T63" fmla="*/ 261 h 536"/>
                    <a:gd name="T64" fmla="*/ 468 w 539"/>
                    <a:gd name="T65" fmla="*/ 189 h 536"/>
                    <a:gd name="T66" fmla="*/ 539 w 539"/>
                    <a:gd name="T67" fmla="*/ 108 h 536"/>
                    <a:gd name="T68" fmla="*/ 443 w 539"/>
                    <a:gd name="T6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9" h="536">
                      <a:moveTo>
                        <a:pt x="443" y="0"/>
                      </a:moveTo>
                      <a:lnTo>
                        <a:pt x="217" y="202"/>
                      </a:lnTo>
                      <a:lnTo>
                        <a:pt x="217" y="202"/>
                      </a:lnTo>
                      <a:lnTo>
                        <a:pt x="206" y="199"/>
                      </a:lnTo>
                      <a:lnTo>
                        <a:pt x="194" y="197"/>
                      </a:lnTo>
                      <a:lnTo>
                        <a:pt x="182" y="196"/>
                      </a:lnTo>
                      <a:lnTo>
                        <a:pt x="169" y="195"/>
                      </a:lnTo>
                      <a:lnTo>
                        <a:pt x="169" y="195"/>
                      </a:lnTo>
                      <a:lnTo>
                        <a:pt x="152" y="196"/>
                      </a:lnTo>
                      <a:lnTo>
                        <a:pt x="135" y="199"/>
                      </a:lnTo>
                      <a:lnTo>
                        <a:pt x="119" y="203"/>
                      </a:lnTo>
                      <a:lnTo>
                        <a:pt x="103" y="209"/>
                      </a:lnTo>
                      <a:lnTo>
                        <a:pt x="88" y="216"/>
                      </a:lnTo>
                      <a:lnTo>
                        <a:pt x="74" y="224"/>
                      </a:lnTo>
                      <a:lnTo>
                        <a:pt x="61" y="235"/>
                      </a:lnTo>
                      <a:lnTo>
                        <a:pt x="49" y="246"/>
                      </a:lnTo>
                      <a:lnTo>
                        <a:pt x="38" y="258"/>
                      </a:lnTo>
                      <a:lnTo>
                        <a:pt x="29" y="271"/>
                      </a:lnTo>
                      <a:lnTo>
                        <a:pt x="20" y="285"/>
                      </a:lnTo>
                      <a:lnTo>
                        <a:pt x="13" y="300"/>
                      </a:lnTo>
                      <a:lnTo>
                        <a:pt x="7" y="316"/>
                      </a:lnTo>
                      <a:lnTo>
                        <a:pt x="3" y="332"/>
                      </a:lnTo>
                      <a:lnTo>
                        <a:pt x="0" y="349"/>
                      </a:lnTo>
                      <a:lnTo>
                        <a:pt x="0" y="366"/>
                      </a:lnTo>
                      <a:lnTo>
                        <a:pt x="0" y="366"/>
                      </a:lnTo>
                      <a:lnTo>
                        <a:pt x="0" y="383"/>
                      </a:lnTo>
                      <a:lnTo>
                        <a:pt x="3" y="400"/>
                      </a:lnTo>
                      <a:lnTo>
                        <a:pt x="7" y="417"/>
                      </a:lnTo>
                      <a:lnTo>
                        <a:pt x="13" y="432"/>
                      </a:lnTo>
                      <a:lnTo>
                        <a:pt x="20" y="447"/>
                      </a:lnTo>
                      <a:lnTo>
                        <a:pt x="29" y="461"/>
                      </a:lnTo>
                      <a:lnTo>
                        <a:pt x="38" y="474"/>
                      </a:lnTo>
                      <a:lnTo>
                        <a:pt x="49" y="486"/>
                      </a:lnTo>
                      <a:lnTo>
                        <a:pt x="61" y="497"/>
                      </a:lnTo>
                      <a:lnTo>
                        <a:pt x="74" y="507"/>
                      </a:lnTo>
                      <a:lnTo>
                        <a:pt x="88" y="516"/>
                      </a:lnTo>
                      <a:lnTo>
                        <a:pt x="103" y="523"/>
                      </a:lnTo>
                      <a:lnTo>
                        <a:pt x="119" y="528"/>
                      </a:lnTo>
                      <a:lnTo>
                        <a:pt x="135" y="533"/>
                      </a:lnTo>
                      <a:lnTo>
                        <a:pt x="152" y="535"/>
                      </a:lnTo>
                      <a:lnTo>
                        <a:pt x="169" y="536"/>
                      </a:lnTo>
                      <a:lnTo>
                        <a:pt x="169" y="536"/>
                      </a:lnTo>
                      <a:lnTo>
                        <a:pt x="187" y="535"/>
                      </a:lnTo>
                      <a:lnTo>
                        <a:pt x="204" y="533"/>
                      </a:lnTo>
                      <a:lnTo>
                        <a:pt x="221" y="528"/>
                      </a:lnTo>
                      <a:lnTo>
                        <a:pt x="237" y="523"/>
                      </a:lnTo>
                      <a:lnTo>
                        <a:pt x="251" y="516"/>
                      </a:lnTo>
                      <a:lnTo>
                        <a:pt x="265" y="507"/>
                      </a:lnTo>
                      <a:lnTo>
                        <a:pt x="279" y="497"/>
                      </a:lnTo>
                      <a:lnTo>
                        <a:pt x="291" y="486"/>
                      </a:lnTo>
                      <a:lnTo>
                        <a:pt x="302" y="474"/>
                      </a:lnTo>
                      <a:lnTo>
                        <a:pt x="311" y="461"/>
                      </a:lnTo>
                      <a:lnTo>
                        <a:pt x="320" y="447"/>
                      </a:lnTo>
                      <a:lnTo>
                        <a:pt x="327" y="432"/>
                      </a:lnTo>
                      <a:lnTo>
                        <a:pt x="333" y="417"/>
                      </a:lnTo>
                      <a:lnTo>
                        <a:pt x="337" y="400"/>
                      </a:lnTo>
                      <a:lnTo>
                        <a:pt x="340" y="383"/>
                      </a:lnTo>
                      <a:lnTo>
                        <a:pt x="340" y="366"/>
                      </a:lnTo>
                      <a:lnTo>
                        <a:pt x="340" y="366"/>
                      </a:lnTo>
                      <a:lnTo>
                        <a:pt x="340" y="354"/>
                      </a:lnTo>
                      <a:lnTo>
                        <a:pt x="339" y="343"/>
                      </a:lnTo>
                      <a:lnTo>
                        <a:pt x="337" y="332"/>
                      </a:lnTo>
                      <a:lnTo>
                        <a:pt x="334" y="321"/>
                      </a:lnTo>
                      <a:lnTo>
                        <a:pt x="394" y="261"/>
                      </a:lnTo>
                      <a:lnTo>
                        <a:pt x="394" y="189"/>
                      </a:lnTo>
                      <a:lnTo>
                        <a:pt x="468" y="189"/>
                      </a:lnTo>
                      <a:lnTo>
                        <a:pt x="468" y="104"/>
                      </a:lnTo>
                      <a:lnTo>
                        <a:pt x="539" y="108"/>
                      </a:lnTo>
                      <a:lnTo>
                        <a:pt x="539" y="7"/>
                      </a:lnTo>
                      <a:lnTo>
                        <a:pt x="443" y="0"/>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7" name="Freeform 26"/>
                <p:cNvSpPr>
                  <a:spLocks/>
                </p:cNvSpPr>
                <p:nvPr/>
              </p:nvSpPr>
              <p:spPr bwMode="auto">
                <a:xfrm>
                  <a:off x="4219575" y="5362575"/>
                  <a:ext cx="184150" cy="184150"/>
                </a:xfrm>
                <a:custGeom>
                  <a:avLst/>
                  <a:gdLst>
                    <a:gd name="T0" fmla="*/ 116 w 116"/>
                    <a:gd name="T1" fmla="*/ 58 h 116"/>
                    <a:gd name="T2" fmla="*/ 116 w 116"/>
                    <a:gd name="T3" fmla="*/ 58 h 116"/>
                    <a:gd name="T4" fmla="*/ 116 w 116"/>
                    <a:gd name="T5" fmla="*/ 64 h 116"/>
                    <a:gd name="T6" fmla="*/ 115 w 116"/>
                    <a:gd name="T7" fmla="*/ 69 h 116"/>
                    <a:gd name="T8" fmla="*/ 111 w 116"/>
                    <a:gd name="T9" fmla="*/ 80 h 116"/>
                    <a:gd name="T10" fmla="*/ 106 w 116"/>
                    <a:gd name="T11" fmla="*/ 90 h 116"/>
                    <a:gd name="T12" fmla="*/ 99 w 116"/>
                    <a:gd name="T13" fmla="*/ 99 h 116"/>
                    <a:gd name="T14" fmla="*/ 90 w 116"/>
                    <a:gd name="T15" fmla="*/ 106 h 116"/>
                    <a:gd name="T16" fmla="*/ 81 w 116"/>
                    <a:gd name="T17" fmla="*/ 111 h 116"/>
                    <a:gd name="T18" fmla="*/ 70 w 116"/>
                    <a:gd name="T19" fmla="*/ 114 h 116"/>
                    <a:gd name="T20" fmla="*/ 64 w 116"/>
                    <a:gd name="T21" fmla="*/ 115 h 116"/>
                    <a:gd name="T22" fmla="*/ 58 w 116"/>
                    <a:gd name="T23" fmla="*/ 116 h 116"/>
                    <a:gd name="T24" fmla="*/ 58 w 116"/>
                    <a:gd name="T25" fmla="*/ 116 h 116"/>
                    <a:gd name="T26" fmla="*/ 52 w 116"/>
                    <a:gd name="T27" fmla="*/ 115 h 116"/>
                    <a:gd name="T28" fmla="*/ 46 w 116"/>
                    <a:gd name="T29" fmla="*/ 114 h 116"/>
                    <a:gd name="T30" fmla="*/ 36 w 116"/>
                    <a:gd name="T31" fmla="*/ 111 h 116"/>
                    <a:gd name="T32" fmla="*/ 26 w 116"/>
                    <a:gd name="T33" fmla="*/ 106 h 116"/>
                    <a:gd name="T34" fmla="*/ 17 w 116"/>
                    <a:gd name="T35" fmla="*/ 99 h 116"/>
                    <a:gd name="T36" fmla="*/ 10 w 116"/>
                    <a:gd name="T37" fmla="*/ 90 h 116"/>
                    <a:gd name="T38" fmla="*/ 5 w 116"/>
                    <a:gd name="T39" fmla="*/ 80 h 116"/>
                    <a:gd name="T40" fmla="*/ 1 w 116"/>
                    <a:gd name="T41" fmla="*/ 69 h 116"/>
                    <a:gd name="T42" fmla="*/ 1 w 116"/>
                    <a:gd name="T43" fmla="*/ 64 h 116"/>
                    <a:gd name="T44" fmla="*/ 0 w 116"/>
                    <a:gd name="T45" fmla="*/ 58 h 116"/>
                    <a:gd name="T46" fmla="*/ 0 w 116"/>
                    <a:gd name="T47" fmla="*/ 58 h 116"/>
                    <a:gd name="T48" fmla="*/ 1 w 116"/>
                    <a:gd name="T49" fmla="*/ 52 h 116"/>
                    <a:gd name="T50" fmla="*/ 1 w 116"/>
                    <a:gd name="T51" fmla="*/ 46 h 116"/>
                    <a:gd name="T52" fmla="*/ 5 w 116"/>
                    <a:gd name="T53" fmla="*/ 35 h 116"/>
                    <a:gd name="T54" fmla="*/ 10 w 116"/>
                    <a:gd name="T55" fmla="*/ 25 h 116"/>
                    <a:gd name="T56" fmla="*/ 17 w 116"/>
                    <a:gd name="T57" fmla="*/ 17 h 116"/>
                    <a:gd name="T58" fmla="*/ 26 w 116"/>
                    <a:gd name="T59" fmla="*/ 10 h 116"/>
                    <a:gd name="T60" fmla="*/ 36 w 116"/>
                    <a:gd name="T61" fmla="*/ 4 h 116"/>
                    <a:gd name="T62" fmla="*/ 46 w 116"/>
                    <a:gd name="T63" fmla="*/ 1 h 116"/>
                    <a:gd name="T64" fmla="*/ 52 w 116"/>
                    <a:gd name="T65" fmla="*/ 0 h 116"/>
                    <a:gd name="T66" fmla="*/ 58 w 116"/>
                    <a:gd name="T67" fmla="*/ 0 h 116"/>
                    <a:gd name="T68" fmla="*/ 58 w 116"/>
                    <a:gd name="T69" fmla="*/ 0 h 116"/>
                    <a:gd name="T70" fmla="*/ 64 w 116"/>
                    <a:gd name="T71" fmla="*/ 0 h 116"/>
                    <a:gd name="T72" fmla="*/ 70 w 116"/>
                    <a:gd name="T73" fmla="*/ 1 h 116"/>
                    <a:gd name="T74" fmla="*/ 81 w 116"/>
                    <a:gd name="T75" fmla="*/ 4 h 116"/>
                    <a:gd name="T76" fmla="*/ 90 w 116"/>
                    <a:gd name="T77" fmla="*/ 10 h 116"/>
                    <a:gd name="T78" fmla="*/ 99 w 116"/>
                    <a:gd name="T79" fmla="*/ 17 h 116"/>
                    <a:gd name="T80" fmla="*/ 106 w 116"/>
                    <a:gd name="T81" fmla="*/ 25 h 116"/>
                    <a:gd name="T82" fmla="*/ 111 w 116"/>
                    <a:gd name="T83" fmla="*/ 35 h 116"/>
                    <a:gd name="T84" fmla="*/ 115 w 116"/>
                    <a:gd name="T85" fmla="*/ 46 h 116"/>
                    <a:gd name="T86" fmla="*/ 116 w 116"/>
                    <a:gd name="T87" fmla="*/ 52 h 116"/>
                    <a:gd name="T88" fmla="*/ 116 w 116"/>
                    <a:gd name="T89" fmla="*/ 58 h 116"/>
                    <a:gd name="T90" fmla="*/ 116 w 116"/>
                    <a:gd name="T9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6" h="116">
                      <a:moveTo>
                        <a:pt x="116" y="58"/>
                      </a:moveTo>
                      <a:lnTo>
                        <a:pt x="116" y="58"/>
                      </a:lnTo>
                      <a:lnTo>
                        <a:pt x="116" y="64"/>
                      </a:lnTo>
                      <a:lnTo>
                        <a:pt x="115" y="69"/>
                      </a:lnTo>
                      <a:lnTo>
                        <a:pt x="111" y="80"/>
                      </a:lnTo>
                      <a:lnTo>
                        <a:pt x="106" y="90"/>
                      </a:lnTo>
                      <a:lnTo>
                        <a:pt x="99" y="99"/>
                      </a:lnTo>
                      <a:lnTo>
                        <a:pt x="90" y="106"/>
                      </a:lnTo>
                      <a:lnTo>
                        <a:pt x="81" y="111"/>
                      </a:lnTo>
                      <a:lnTo>
                        <a:pt x="70" y="114"/>
                      </a:lnTo>
                      <a:lnTo>
                        <a:pt x="64" y="115"/>
                      </a:lnTo>
                      <a:lnTo>
                        <a:pt x="58" y="116"/>
                      </a:lnTo>
                      <a:lnTo>
                        <a:pt x="58" y="116"/>
                      </a:lnTo>
                      <a:lnTo>
                        <a:pt x="52" y="115"/>
                      </a:lnTo>
                      <a:lnTo>
                        <a:pt x="46" y="114"/>
                      </a:lnTo>
                      <a:lnTo>
                        <a:pt x="36" y="111"/>
                      </a:lnTo>
                      <a:lnTo>
                        <a:pt x="26" y="106"/>
                      </a:lnTo>
                      <a:lnTo>
                        <a:pt x="17" y="99"/>
                      </a:lnTo>
                      <a:lnTo>
                        <a:pt x="10" y="90"/>
                      </a:lnTo>
                      <a:lnTo>
                        <a:pt x="5" y="80"/>
                      </a:lnTo>
                      <a:lnTo>
                        <a:pt x="1" y="69"/>
                      </a:lnTo>
                      <a:lnTo>
                        <a:pt x="1" y="64"/>
                      </a:lnTo>
                      <a:lnTo>
                        <a:pt x="0" y="58"/>
                      </a:lnTo>
                      <a:lnTo>
                        <a:pt x="0" y="58"/>
                      </a:lnTo>
                      <a:lnTo>
                        <a:pt x="1" y="52"/>
                      </a:lnTo>
                      <a:lnTo>
                        <a:pt x="1" y="46"/>
                      </a:lnTo>
                      <a:lnTo>
                        <a:pt x="5" y="35"/>
                      </a:lnTo>
                      <a:lnTo>
                        <a:pt x="10" y="25"/>
                      </a:lnTo>
                      <a:lnTo>
                        <a:pt x="17" y="17"/>
                      </a:lnTo>
                      <a:lnTo>
                        <a:pt x="26" y="10"/>
                      </a:lnTo>
                      <a:lnTo>
                        <a:pt x="36" y="4"/>
                      </a:lnTo>
                      <a:lnTo>
                        <a:pt x="46" y="1"/>
                      </a:lnTo>
                      <a:lnTo>
                        <a:pt x="52" y="0"/>
                      </a:lnTo>
                      <a:lnTo>
                        <a:pt x="58" y="0"/>
                      </a:lnTo>
                      <a:lnTo>
                        <a:pt x="58" y="0"/>
                      </a:lnTo>
                      <a:lnTo>
                        <a:pt x="64" y="0"/>
                      </a:lnTo>
                      <a:lnTo>
                        <a:pt x="70" y="1"/>
                      </a:lnTo>
                      <a:lnTo>
                        <a:pt x="81" y="4"/>
                      </a:lnTo>
                      <a:lnTo>
                        <a:pt x="90" y="10"/>
                      </a:lnTo>
                      <a:lnTo>
                        <a:pt x="99" y="17"/>
                      </a:lnTo>
                      <a:lnTo>
                        <a:pt x="106" y="25"/>
                      </a:lnTo>
                      <a:lnTo>
                        <a:pt x="111" y="35"/>
                      </a:lnTo>
                      <a:lnTo>
                        <a:pt x="115" y="46"/>
                      </a:lnTo>
                      <a:lnTo>
                        <a:pt x="116" y="52"/>
                      </a:lnTo>
                      <a:lnTo>
                        <a:pt x="116" y="58"/>
                      </a:lnTo>
                      <a:lnTo>
                        <a:pt x="116" y="58"/>
                      </a:lnTo>
                      <a:close/>
                    </a:path>
                  </a:pathLst>
                </a:custGeom>
                <a:noFill/>
                <a:ln w="6350">
                  <a:solidFill>
                    <a:sysClr val="window" lastClr="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sp>
              <p:nvSpPr>
                <p:cNvPr id="38" name="Line 27"/>
                <p:cNvSpPr>
                  <a:spLocks noChangeShapeType="1"/>
                </p:cNvSpPr>
                <p:nvPr/>
              </p:nvSpPr>
              <p:spPr bwMode="auto">
                <a:xfrm flipH="1">
                  <a:off x="4481513" y="4926013"/>
                  <a:ext cx="303213" cy="274638"/>
                </a:xfrm>
                <a:prstGeom prst="line">
                  <a:avLst/>
                </a:prstGeom>
                <a:noFill/>
                <a:ln w="6350">
                  <a:solidFill>
                    <a:sysClr val="window" lastClr="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a typeface="微软雅黑"/>
                    <a:cs typeface="+mn-ea"/>
                  </a:endParaRPr>
                </a:p>
              </p:txBody>
            </p:sp>
          </p:grpSp>
        </p:grpSp>
        <p:sp>
          <p:nvSpPr>
            <p:cNvPr id="39" name="右大括号 38"/>
            <p:cNvSpPr/>
            <p:nvPr/>
          </p:nvSpPr>
          <p:spPr>
            <a:xfrm rot="16200000">
              <a:off x="1893770" y="1256854"/>
              <a:ext cx="198764" cy="2544901"/>
            </a:xfrm>
            <a:prstGeom prst="rightBrace">
              <a:avLst>
                <a:gd name="adj1" fmla="val 49086"/>
                <a:gd name="adj2" fmla="val 50000"/>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0" name="左中括号 39"/>
            <p:cNvSpPr/>
            <p:nvPr/>
          </p:nvSpPr>
          <p:spPr>
            <a:xfrm rot="16200000">
              <a:off x="1944969" y="1404424"/>
              <a:ext cx="96373" cy="2544902"/>
            </a:xfrm>
            <a:prstGeom prst="leftBracket">
              <a:avLst>
                <a:gd name="adj" fmla="val 97793"/>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2" name="右大括号 41"/>
            <p:cNvSpPr/>
            <p:nvPr/>
          </p:nvSpPr>
          <p:spPr>
            <a:xfrm rot="16200000">
              <a:off x="4657291" y="1256855"/>
              <a:ext cx="198764" cy="2544901"/>
            </a:xfrm>
            <a:prstGeom prst="rightBrace">
              <a:avLst>
                <a:gd name="adj1" fmla="val 49086"/>
                <a:gd name="adj2" fmla="val 50000"/>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3" name="左中括号 42"/>
            <p:cNvSpPr/>
            <p:nvPr/>
          </p:nvSpPr>
          <p:spPr>
            <a:xfrm rot="16200000">
              <a:off x="4708490" y="1404426"/>
              <a:ext cx="96373" cy="2544902"/>
            </a:xfrm>
            <a:prstGeom prst="leftBracket">
              <a:avLst>
                <a:gd name="adj" fmla="val 97793"/>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5" name="右大括号 44"/>
            <p:cNvSpPr/>
            <p:nvPr/>
          </p:nvSpPr>
          <p:spPr>
            <a:xfrm rot="16200000">
              <a:off x="7420813" y="1256855"/>
              <a:ext cx="198764" cy="2544901"/>
            </a:xfrm>
            <a:prstGeom prst="rightBrace">
              <a:avLst>
                <a:gd name="adj1" fmla="val 49086"/>
                <a:gd name="adj2" fmla="val 50000"/>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6" name="左中括号 45"/>
            <p:cNvSpPr/>
            <p:nvPr/>
          </p:nvSpPr>
          <p:spPr>
            <a:xfrm rot="16200000">
              <a:off x="7472011" y="1404426"/>
              <a:ext cx="96373" cy="2544902"/>
            </a:xfrm>
            <a:prstGeom prst="leftBracket">
              <a:avLst>
                <a:gd name="adj" fmla="val 97793"/>
              </a:avLst>
            </a:prstGeom>
            <a:noFill/>
            <a:ln w="9525" cap="flat" cmpd="sng" algn="ctr">
              <a:solidFill>
                <a:srgbClr val="79B0BD"/>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8" name="右大括号 47"/>
            <p:cNvSpPr/>
            <p:nvPr/>
          </p:nvSpPr>
          <p:spPr>
            <a:xfrm rot="16200000">
              <a:off x="10184330" y="1256855"/>
              <a:ext cx="198764" cy="2544901"/>
            </a:xfrm>
            <a:prstGeom prst="rightBrace">
              <a:avLst>
                <a:gd name="adj1" fmla="val 49086"/>
                <a:gd name="adj2" fmla="val 50000"/>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sp>
          <p:nvSpPr>
            <p:cNvPr id="49" name="左中括号 48"/>
            <p:cNvSpPr/>
            <p:nvPr/>
          </p:nvSpPr>
          <p:spPr>
            <a:xfrm rot="16200000">
              <a:off x="10235529" y="1404426"/>
              <a:ext cx="96373" cy="2544902"/>
            </a:xfrm>
            <a:prstGeom prst="leftBracket">
              <a:avLst>
                <a:gd name="adj" fmla="val 97793"/>
              </a:avLst>
            </a:prstGeom>
            <a:noFill/>
            <a:ln w="9525" cap="flat" cmpd="sng" algn="ctr">
              <a:solidFill>
                <a:srgbClr val="4F91A0"/>
              </a:solidFill>
              <a:prstDash val="solid"/>
              <a:miter lim="800000"/>
            </a:ln>
            <a:effectLst/>
          </p:spPr>
          <p:txBody>
            <a:bodyPr lIns="121908" tIns="60954" rIns="121908" bIns="6095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lumMod val="65000"/>
                  </a:sysClr>
                </a:solidFill>
                <a:effectLst/>
                <a:uLnTx/>
                <a:uFillTx/>
                <a:latin typeface="HelveticaInserat-Roman-SemiB"/>
                <a:ea typeface="微软雅黑"/>
                <a:cs typeface="+mn-ea"/>
              </a:endParaRPr>
            </a:p>
          </p:txBody>
        </p:sp>
      </p:grpSp>
      <p:sp>
        <p:nvSpPr>
          <p:cNvPr id="52" name="矩形 51"/>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3" name="矩形 52"/>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54" name="矩形 53"/>
          <p:cNvSpPr/>
          <p:nvPr/>
        </p:nvSpPr>
        <p:spPr>
          <a:xfrm>
            <a:off x="512786" y="2211710"/>
            <a:ext cx="1701498" cy="1938992"/>
          </a:xfrm>
          <a:prstGeom prst="rect">
            <a:avLst/>
          </a:prstGeom>
        </p:spPr>
        <p:txBody>
          <a:bodyPr wrap="square">
            <a:spAutoFit/>
          </a:bodyPr>
          <a:lstStyle/>
          <a:p>
            <a:pPr>
              <a:lnSpc>
                <a:spcPct val="125000"/>
              </a:lnSpc>
            </a:pPr>
            <a:r>
              <a:rPr lang="zh-CN" altLang="en-US" sz="1600" b="1" dirty="0" smtClean="0">
                <a:latin typeface="+mn-ea"/>
                <a:cs typeface="Nirmala UI" pitchFamily="34" charset="0"/>
              </a:rPr>
              <a:t>  编译器</a:t>
            </a:r>
            <a:r>
              <a:rPr lang="zh-CN" altLang="en-US" sz="1600" b="1" dirty="0">
                <a:latin typeface="+mn-ea"/>
                <a:cs typeface="Nirmala UI" pitchFamily="34" charset="0"/>
              </a:rPr>
              <a:t>会为函数分配一段连续的存储空间，其</a:t>
            </a:r>
            <a:r>
              <a:rPr lang="zh-CN" altLang="en-US" sz="1600" b="1" dirty="0">
                <a:solidFill>
                  <a:srgbClr val="CD7371"/>
                </a:solidFill>
                <a:latin typeface="+mn-ea"/>
                <a:cs typeface="Nirmala UI" pitchFamily="34" charset="0"/>
              </a:rPr>
              <a:t>首地址</a:t>
            </a:r>
            <a:r>
              <a:rPr lang="zh-CN" altLang="en-US" sz="1600" b="1" dirty="0">
                <a:latin typeface="+mn-ea"/>
                <a:cs typeface="Nirmala UI" pitchFamily="34" charset="0"/>
              </a:rPr>
              <a:t>就是这个函数名所定义的变量的地址</a:t>
            </a:r>
            <a:endParaRPr lang="zh-CN" altLang="en-US" dirty="0">
              <a:latin typeface="+mn-ea"/>
            </a:endParaRPr>
          </a:p>
        </p:txBody>
      </p:sp>
      <p:sp>
        <p:nvSpPr>
          <p:cNvPr id="55" name="矩形 54"/>
          <p:cNvSpPr/>
          <p:nvPr/>
        </p:nvSpPr>
        <p:spPr>
          <a:xfrm>
            <a:off x="2589574" y="2218967"/>
            <a:ext cx="1656184" cy="1938992"/>
          </a:xfrm>
          <a:prstGeom prst="rect">
            <a:avLst/>
          </a:prstGeom>
        </p:spPr>
        <p:txBody>
          <a:bodyPr wrap="square">
            <a:spAutoFit/>
          </a:bodyPr>
          <a:lstStyle/>
          <a:p>
            <a:pPr>
              <a:lnSpc>
                <a:spcPct val="125000"/>
              </a:lnSpc>
            </a:pPr>
            <a:r>
              <a:rPr lang="zh-CN" altLang="en-US" sz="1600" b="1" dirty="0" smtClean="0">
                <a:latin typeface="+mn-ea"/>
                <a:cs typeface="Nirmala UI" pitchFamily="34" charset="0"/>
              </a:rPr>
              <a:t>  定义</a:t>
            </a:r>
            <a:r>
              <a:rPr lang="zh-CN" altLang="en-US" sz="1600" b="1" dirty="0">
                <a:latin typeface="+mn-ea"/>
                <a:cs typeface="Nirmala UI" pitchFamily="34" charset="0"/>
              </a:rPr>
              <a:t>一个指针变量来存放该地址，这个指针变量就叫作</a:t>
            </a:r>
            <a:r>
              <a:rPr lang="zh-CN" altLang="en-US" sz="1600" b="1" dirty="0">
                <a:solidFill>
                  <a:srgbClr val="CD7371"/>
                </a:solidFill>
                <a:latin typeface="+mn-ea"/>
                <a:cs typeface="Nirmala UI" pitchFamily="34" charset="0"/>
              </a:rPr>
              <a:t>函数指针变量</a:t>
            </a:r>
            <a:r>
              <a:rPr lang="zh-CN" altLang="en-US" sz="1600" b="1" dirty="0">
                <a:latin typeface="+mn-ea"/>
                <a:cs typeface="Nirmala UI" pitchFamily="34" charset="0"/>
              </a:rPr>
              <a:t>，简称函数指针。</a:t>
            </a:r>
          </a:p>
        </p:txBody>
      </p:sp>
      <p:sp>
        <p:nvSpPr>
          <p:cNvPr id="56" name="矩形 55"/>
          <p:cNvSpPr/>
          <p:nvPr/>
        </p:nvSpPr>
        <p:spPr>
          <a:xfrm>
            <a:off x="4612182" y="2211710"/>
            <a:ext cx="1726314" cy="1281120"/>
          </a:xfrm>
          <a:prstGeom prst="rect">
            <a:avLst/>
          </a:prstGeom>
        </p:spPr>
        <p:txBody>
          <a:bodyPr wrap="square">
            <a:spAutoFit/>
          </a:bodyPr>
          <a:lstStyle/>
          <a:p>
            <a:pPr lvl="0">
              <a:lnSpc>
                <a:spcPct val="125000"/>
              </a:lnSpc>
              <a:buClr>
                <a:srgbClr val="4F81BD">
                  <a:lumMod val="75000"/>
                </a:srgbClr>
              </a:buClr>
            </a:pPr>
            <a:r>
              <a:rPr lang="zh-CN" altLang="en-US" sz="1600" b="1" dirty="0" smtClean="0">
                <a:latin typeface="+mn-ea"/>
                <a:cs typeface="Nirmala UI" pitchFamily="34" charset="0"/>
              </a:rPr>
              <a:t>  在</a:t>
            </a:r>
            <a:r>
              <a:rPr lang="zh-CN" altLang="en-US" sz="1600" b="1" dirty="0">
                <a:latin typeface="+mn-ea"/>
                <a:cs typeface="Nirmala UI" pitchFamily="34" charset="0"/>
              </a:rPr>
              <a:t>程序中可以通过这个函数指针变量</a:t>
            </a:r>
            <a:r>
              <a:rPr lang="zh-CN" altLang="en-US" sz="1600" b="1" dirty="0">
                <a:solidFill>
                  <a:srgbClr val="CD7371"/>
                </a:solidFill>
                <a:latin typeface="+mn-ea"/>
                <a:cs typeface="Nirmala UI" pitchFamily="34" charset="0"/>
              </a:rPr>
              <a:t>调用</a:t>
            </a:r>
            <a:r>
              <a:rPr lang="zh-CN" altLang="en-US" sz="1600" b="1" dirty="0">
                <a:latin typeface="+mn-ea"/>
                <a:cs typeface="Nirmala UI" pitchFamily="34" charset="0"/>
              </a:rPr>
              <a:t>这个函数</a:t>
            </a:r>
            <a:r>
              <a:rPr lang="zh-CN" altLang="en-US" sz="1600" b="1" dirty="0" smtClean="0">
                <a:latin typeface="+mn-ea"/>
                <a:cs typeface="Nirmala UI" pitchFamily="34" charset="0"/>
              </a:rPr>
              <a:t>。</a:t>
            </a:r>
            <a:endParaRPr lang="zh-CN" altLang="en-US" sz="1600" b="1" dirty="0">
              <a:latin typeface="+mn-ea"/>
              <a:cs typeface="Nirmala UI" pitchFamily="34" charset="0"/>
            </a:endParaRPr>
          </a:p>
        </p:txBody>
      </p:sp>
      <p:sp>
        <p:nvSpPr>
          <p:cNvPr id="57" name="矩形 56"/>
          <p:cNvSpPr/>
          <p:nvPr/>
        </p:nvSpPr>
        <p:spPr>
          <a:xfrm>
            <a:off x="2910411" y="339503"/>
            <a:ext cx="4853503" cy="707886"/>
          </a:xfrm>
          <a:prstGeom prst="rect">
            <a:avLst/>
          </a:prstGeom>
          <a:solidFill>
            <a:schemeClr val="accent5">
              <a:lumMod val="20000"/>
              <a:lumOff val="80000"/>
            </a:schemeClr>
          </a:solidFill>
        </p:spPr>
        <p:txBody>
          <a:bodyPr wrap="square">
            <a:spAutoFit/>
          </a:bodyPr>
          <a:lstStyle/>
          <a:p>
            <a:pPr lvl="0">
              <a:lnSpc>
                <a:spcPct val="125000"/>
              </a:lnSpc>
              <a:buClr>
                <a:srgbClr val="4F81BD">
                  <a:lumMod val="75000"/>
                </a:srgbClr>
              </a:buClr>
            </a:pPr>
            <a:r>
              <a:rPr lang="zh-CN" altLang="en-US" sz="1600" b="1" dirty="0" smtClean="0">
                <a:solidFill>
                  <a:srgbClr val="CD7371"/>
                </a:solidFill>
                <a:latin typeface="宋体"/>
                <a:cs typeface="Nirmala UI" pitchFamily="34" charset="0"/>
              </a:rPr>
              <a:t>函数</a:t>
            </a:r>
            <a:r>
              <a:rPr lang="zh-CN" altLang="en-US" sz="1600" b="1" dirty="0">
                <a:solidFill>
                  <a:srgbClr val="CD7371"/>
                </a:solidFill>
                <a:latin typeface="宋体"/>
                <a:cs typeface="Nirmala UI" pitchFamily="34" charset="0"/>
              </a:rPr>
              <a:t>指针</a:t>
            </a:r>
            <a:r>
              <a:rPr lang="zh-CN" altLang="en-US" sz="1600" b="1" dirty="0" smtClean="0">
                <a:latin typeface="宋体"/>
                <a:cs typeface="Nirmala UI" pitchFamily="34" charset="0"/>
              </a:rPr>
              <a:t>的</a:t>
            </a:r>
            <a:r>
              <a:rPr lang="zh-CN" altLang="en-US" sz="1600" b="1" dirty="0">
                <a:latin typeface="宋体"/>
                <a:cs typeface="Nirmala UI" pitchFamily="34" charset="0"/>
              </a:rPr>
              <a:t>定义方式为：</a:t>
            </a:r>
          </a:p>
          <a:p>
            <a:pPr lvl="0">
              <a:lnSpc>
                <a:spcPct val="125000"/>
              </a:lnSpc>
              <a:buClr>
                <a:srgbClr val="4F81BD">
                  <a:lumMod val="75000"/>
                </a:srgbClr>
              </a:buClr>
            </a:pPr>
            <a:r>
              <a:rPr lang="zh-CN" altLang="en-US" sz="1600" b="1" dirty="0" smtClean="0">
                <a:latin typeface="宋体"/>
                <a:cs typeface="Nirmala UI" pitchFamily="34" charset="0"/>
              </a:rPr>
              <a:t>  函数</a:t>
            </a:r>
            <a:r>
              <a:rPr lang="zh-CN" altLang="en-US" sz="1600" b="1" dirty="0">
                <a:latin typeface="宋体"/>
                <a:cs typeface="Nirmala UI" pitchFamily="34" charset="0"/>
              </a:rPr>
              <a:t>返回值类型 </a:t>
            </a:r>
            <a:r>
              <a:rPr lang="en-US" altLang="zh-CN" sz="1600" b="1" dirty="0">
                <a:latin typeface="宋体"/>
                <a:cs typeface="Nirmala UI" pitchFamily="34" charset="0"/>
              </a:rPr>
              <a:t>(*</a:t>
            </a:r>
            <a:r>
              <a:rPr lang="zh-CN" altLang="en-US" sz="1600" b="1" dirty="0">
                <a:latin typeface="宋体"/>
                <a:cs typeface="Nirmala UI" pitchFamily="34" charset="0"/>
              </a:rPr>
              <a:t>指针变量名</a:t>
            </a:r>
            <a:r>
              <a:rPr lang="en-US" altLang="zh-CN" sz="1600" b="1" dirty="0">
                <a:latin typeface="宋体"/>
                <a:cs typeface="Nirmala UI" pitchFamily="34" charset="0"/>
              </a:rPr>
              <a:t>) (</a:t>
            </a:r>
            <a:r>
              <a:rPr lang="zh-CN" altLang="en-US" sz="1600" b="1" dirty="0">
                <a:latin typeface="宋体"/>
                <a:cs typeface="Nirmala UI" pitchFamily="34" charset="0"/>
              </a:rPr>
              <a:t>函数参数列表</a:t>
            </a:r>
            <a:r>
              <a:rPr lang="en-US" altLang="zh-CN" sz="1600" b="1" dirty="0">
                <a:latin typeface="宋体"/>
                <a:cs typeface="Nirmala UI" pitchFamily="34" charset="0"/>
              </a:rPr>
              <a:t>);</a:t>
            </a:r>
            <a:endParaRPr lang="zh-CN" altLang="en-US" sz="1600" b="1" dirty="0">
              <a:latin typeface="宋体"/>
              <a:cs typeface="Nirmala UI" pitchFamily="34" charset="0"/>
            </a:endParaRPr>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6554759" y="2138613"/>
            <a:ext cx="1953980" cy="2708434"/>
          </a:xfrm>
          <a:prstGeom prst="rect">
            <a:avLst/>
          </a:prstGeom>
        </p:spPr>
        <p:txBody>
          <a:bodyPr wrap="square">
            <a:spAutoFit/>
          </a:bodyPr>
          <a:lstStyle/>
          <a:p>
            <a:pPr>
              <a:lnSpc>
                <a:spcPct val="125000"/>
              </a:lnSpc>
              <a:buClr>
                <a:schemeClr val="accent1">
                  <a:lumMod val="75000"/>
                </a:schemeClr>
              </a:buClr>
            </a:pPr>
            <a:r>
              <a:rPr lang="zh-CN" altLang="en-US" sz="1600" b="1" dirty="0" smtClean="0">
                <a:solidFill>
                  <a:srgbClr val="CD7371"/>
                </a:solidFill>
                <a:latin typeface="隶书" pitchFamily="49" charset="-122"/>
                <a:ea typeface="隶书" pitchFamily="49" charset="-122"/>
                <a:cs typeface="Nirmala UI" pitchFamily="34" charset="0"/>
              </a:rPr>
              <a:t>例如：</a:t>
            </a:r>
            <a:endParaRPr lang="zh-CN" altLang="en-US" sz="1600" b="1" dirty="0">
              <a:solidFill>
                <a:srgbClr val="CD7371"/>
              </a:solidFill>
              <a:latin typeface="隶书" pitchFamily="49" charset="-122"/>
              <a:ea typeface="隶书" pitchFamily="49" charset="-122"/>
              <a:cs typeface="Nirmala UI" pitchFamily="34" charset="0"/>
            </a:endParaRP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f</a:t>
            </a:r>
            <a:r>
              <a:rPr lang="zh-CN" altLang="en-US" sz="1200" b="1" dirty="0">
                <a:solidFill>
                  <a:schemeClr val="accent5">
                    <a:lumMod val="75000"/>
                  </a:schemeClr>
                </a:solidFill>
                <a:cs typeface="Nirmala UI" pitchFamily="34" charset="0"/>
              </a:rPr>
              <a:t>（</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x, </a:t>
            </a: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*p</a:t>
            </a:r>
            <a:r>
              <a:rPr lang="zh-CN" altLang="en-US" sz="1200" b="1" dirty="0">
                <a:solidFill>
                  <a:schemeClr val="accent5">
                    <a:lumMod val="75000"/>
                  </a:schemeClr>
                </a:solidFill>
                <a:cs typeface="Nirmala UI" pitchFamily="34" charset="0"/>
              </a:rPr>
              <a:t>）</a:t>
            </a:r>
            <a:r>
              <a:rPr lang="en-US" altLang="zh-CN" sz="1200" b="1" dirty="0" smtClean="0">
                <a:solidFill>
                  <a:schemeClr val="accent5">
                    <a:lumMod val="75000"/>
                  </a:schemeClr>
                </a:solidFill>
                <a:cs typeface="Nirmala UI" pitchFamily="34" charset="0"/>
              </a:rPr>
              <a:t>;</a:t>
            </a:r>
            <a:r>
              <a:rPr lang="en-US" altLang="zh-CN" sz="1200" b="1" dirty="0">
                <a:cs typeface="Nirmala UI" pitchFamily="34" charset="0"/>
              </a:rPr>
              <a:t>/</a:t>
            </a:r>
            <a:r>
              <a:rPr lang="en-US" altLang="zh-CN" sz="1200" b="1" dirty="0" smtClean="0">
                <a:cs typeface="Nirmala UI" pitchFamily="34" charset="0"/>
              </a:rPr>
              <a:t>/</a:t>
            </a:r>
            <a:r>
              <a:rPr lang="zh-CN" altLang="en-US" sz="1200" b="1" dirty="0" smtClean="0">
                <a:cs typeface="Nirmala UI" pitchFamily="34" charset="0"/>
              </a:rPr>
              <a:t>函数</a:t>
            </a:r>
            <a:endParaRPr lang="en-US" altLang="zh-CN" sz="1200" b="1" dirty="0">
              <a:cs typeface="Nirmala UI" pitchFamily="34" charset="0"/>
            </a:endParaRP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 </a:t>
            </a:r>
            <a:r>
              <a:rPr lang="en-US" altLang="zh-CN" sz="1200" b="1" dirty="0" err="1">
                <a:solidFill>
                  <a:schemeClr val="accent5">
                    <a:lumMod val="75000"/>
                  </a:schemeClr>
                </a:solidFill>
                <a:cs typeface="Nirmala UI" pitchFamily="34" charset="0"/>
              </a:rPr>
              <a:t>fp</a:t>
            </a:r>
            <a:r>
              <a:rPr lang="en-US" altLang="zh-CN" sz="1200" b="1" dirty="0" smtClean="0">
                <a:solidFill>
                  <a:schemeClr val="accent5">
                    <a:lumMod val="75000"/>
                  </a:schemeClr>
                </a:solidFill>
                <a:cs typeface="Nirmala UI" pitchFamily="34" charset="0"/>
              </a:rPr>
              <a:t>) (</a:t>
            </a:r>
            <a:r>
              <a:rPr lang="en-US" altLang="zh-CN" sz="1200" b="1" dirty="0" err="1">
                <a:solidFill>
                  <a:schemeClr val="accent5">
                    <a:lumMod val="75000"/>
                  </a:schemeClr>
                </a:solidFill>
                <a:cs typeface="Nirmala UI" pitchFamily="34" charset="0"/>
              </a:rPr>
              <a:t>int</a:t>
            </a:r>
            <a:r>
              <a:rPr lang="en-US" altLang="zh-CN" sz="1200" b="1" dirty="0" smtClean="0">
                <a:solidFill>
                  <a:schemeClr val="accent5">
                    <a:lumMod val="75000"/>
                  </a:schemeClr>
                </a:solidFill>
                <a:cs typeface="Nirmala UI" pitchFamily="34" charset="0"/>
              </a:rPr>
              <a:t>, </a:t>
            </a:r>
            <a:r>
              <a:rPr lang="en-US" altLang="zh-CN" sz="1200" b="1" dirty="0" err="1" smtClean="0">
                <a:solidFill>
                  <a:schemeClr val="accent5">
                    <a:lumMod val="75000"/>
                  </a:schemeClr>
                </a:solidFill>
                <a:cs typeface="Nirmala UI" pitchFamily="34" charset="0"/>
              </a:rPr>
              <a:t>int</a:t>
            </a:r>
            <a:r>
              <a:rPr lang="en-US" altLang="zh-CN" sz="1200" b="1" dirty="0" smtClean="0">
                <a:solidFill>
                  <a:schemeClr val="accent5">
                    <a:lumMod val="75000"/>
                  </a:schemeClr>
                </a:solidFill>
                <a:cs typeface="Nirmala UI" pitchFamily="34" charset="0"/>
              </a:rPr>
              <a:t> *);</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smtClean="0">
                <a:solidFill>
                  <a:schemeClr val="accent5">
                    <a:lumMod val="75000"/>
                  </a:schemeClr>
                </a:solidFill>
                <a:cs typeface="Nirmala UI" pitchFamily="34" charset="0"/>
              </a:rPr>
              <a:t>    </a:t>
            </a:r>
            <a:r>
              <a:rPr lang="en-US" altLang="zh-CN" sz="1200" b="1" dirty="0" smtClean="0">
                <a:cs typeface="Nirmala UI" pitchFamily="34" charset="0"/>
              </a:rPr>
              <a:t>//</a:t>
            </a:r>
            <a:r>
              <a:rPr lang="zh-CN" altLang="en-US" sz="1200" b="1" dirty="0">
                <a:cs typeface="Nirmala UI" pitchFamily="34" charset="0"/>
              </a:rPr>
              <a:t>声明一个指针</a:t>
            </a:r>
            <a:r>
              <a:rPr lang="en-US" altLang="zh-CN" sz="1200" b="1" dirty="0" err="1">
                <a:cs typeface="Nirmala UI" pitchFamily="34" charset="0"/>
              </a:rPr>
              <a:t>fp</a:t>
            </a:r>
            <a:r>
              <a:rPr lang="en-US" altLang="zh-CN" sz="1200" b="1" dirty="0" smtClean="0">
                <a:cs typeface="Nirmala UI" pitchFamily="34" charset="0"/>
              </a:rPr>
              <a:t> </a:t>
            </a:r>
            <a:endParaRPr lang="en-US" altLang="zh-CN" sz="1200" b="1" dirty="0">
              <a:cs typeface="Nirmala UI" pitchFamily="34" charset="0"/>
            </a:endParaRP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fp</a:t>
            </a:r>
            <a:r>
              <a:rPr lang="en-US" altLang="zh-CN" sz="1200" b="1" dirty="0">
                <a:solidFill>
                  <a:schemeClr val="accent5">
                    <a:lumMod val="75000"/>
                  </a:schemeClr>
                </a:solidFill>
                <a:cs typeface="Nirmala UI" pitchFamily="34" charset="0"/>
              </a:rPr>
              <a:t> = f</a:t>
            </a:r>
            <a:r>
              <a:rPr lang="en-US" altLang="zh-CN" sz="1200" b="1" dirty="0" smtClean="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smtClean="0">
                <a:solidFill>
                  <a:schemeClr val="accent5">
                    <a:lumMod val="75000"/>
                  </a:schemeClr>
                </a:solidFill>
                <a:cs typeface="Nirmala UI" pitchFamily="34" charset="0"/>
              </a:rPr>
              <a:t>    </a:t>
            </a:r>
            <a:r>
              <a:rPr lang="en-US" altLang="zh-CN" sz="1200" b="1" dirty="0" smtClean="0">
                <a:cs typeface="Nirmala UI" pitchFamily="34" charset="0"/>
              </a:rPr>
              <a:t>//</a:t>
            </a:r>
            <a:r>
              <a:rPr lang="zh-CN" altLang="en-US" sz="1200" b="1" dirty="0">
                <a:cs typeface="Nirmala UI" pitchFamily="34" charset="0"/>
              </a:rPr>
              <a:t>将函数</a:t>
            </a:r>
            <a:r>
              <a:rPr lang="en-US" altLang="zh-CN" sz="1200" b="1" dirty="0">
                <a:cs typeface="Nirmala UI" pitchFamily="34" charset="0"/>
              </a:rPr>
              <a:t>f</a:t>
            </a:r>
            <a:r>
              <a:rPr lang="zh-CN" altLang="en-US" sz="1200" b="1" dirty="0">
                <a:cs typeface="Nirmala UI" pitchFamily="34" charset="0"/>
              </a:rPr>
              <a:t>赋给该指针</a:t>
            </a:r>
            <a:endParaRPr lang="en-US" altLang="zh-CN" sz="1200" b="1" dirty="0">
              <a:cs typeface="Nirmala UI" pitchFamily="34" charset="0"/>
            </a:endParaRP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y = 1;</a:t>
            </a:r>
          </a:p>
          <a:p>
            <a:pPr>
              <a:lnSpc>
                <a:spcPct val="125000"/>
              </a:lnSpc>
              <a:buClr>
                <a:schemeClr val="accent1">
                  <a:lumMod val="75000"/>
                </a:schemeClr>
              </a:buClr>
            </a:pPr>
            <a:r>
              <a:rPr lang="en-US" altLang="zh-CN" sz="1200" b="1" dirty="0" err="1">
                <a:solidFill>
                  <a:schemeClr val="accent5">
                    <a:lumMod val="75000"/>
                  </a:schemeClr>
                </a:solidFill>
                <a:cs typeface="Nirmala UI" pitchFamily="34" charset="0"/>
              </a:rPr>
              <a:t>int</a:t>
            </a:r>
            <a:r>
              <a:rPr lang="en-US" altLang="zh-CN" sz="1200" b="1" dirty="0">
                <a:solidFill>
                  <a:schemeClr val="accent5">
                    <a:lumMod val="75000"/>
                  </a:schemeClr>
                </a:solidFill>
                <a:cs typeface="Nirmala UI" pitchFamily="34" charset="0"/>
              </a:rPr>
              <a:t> result = </a:t>
            </a:r>
            <a:r>
              <a:rPr lang="en-US" altLang="zh-CN" sz="1200" b="1" dirty="0" err="1">
                <a:solidFill>
                  <a:schemeClr val="accent5">
                    <a:lumMod val="75000"/>
                  </a:schemeClr>
                </a:solidFill>
                <a:cs typeface="Nirmala UI" pitchFamily="34" charset="0"/>
              </a:rPr>
              <a:t>fp</a:t>
            </a:r>
            <a:r>
              <a:rPr lang="en-US" altLang="zh-CN" sz="1200" b="1" dirty="0">
                <a:solidFill>
                  <a:schemeClr val="accent5">
                    <a:lumMod val="75000"/>
                  </a:schemeClr>
                </a:solidFill>
                <a:cs typeface="Nirmala UI" pitchFamily="34" charset="0"/>
              </a:rPr>
              <a:t>(3, &amp;y</a:t>
            </a:r>
            <a:r>
              <a:rPr lang="en-US" altLang="zh-CN" sz="1200" b="1" dirty="0" smtClean="0">
                <a:solidFill>
                  <a:schemeClr val="accent5">
                    <a:lumMod val="75000"/>
                  </a:schemeClr>
                </a:solidFill>
                <a:cs typeface="Nirmala UI" pitchFamily="34" charset="0"/>
              </a:rPr>
              <a:t>);</a:t>
            </a:r>
          </a:p>
          <a:p>
            <a:pPr>
              <a:lnSpc>
                <a:spcPct val="125000"/>
              </a:lnSpc>
              <a:buClr>
                <a:schemeClr val="accent1">
                  <a:lumMod val="75000"/>
                </a:schemeClr>
              </a:buClr>
            </a:pPr>
            <a:r>
              <a:rPr lang="en-US" altLang="zh-CN" sz="1200" b="1" dirty="0">
                <a:solidFill>
                  <a:schemeClr val="accent5">
                    <a:lumMod val="75000"/>
                  </a:schemeClr>
                </a:solidFill>
                <a:cs typeface="Nirmala UI" pitchFamily="34" charset="0"/>
              </a:rPr>
              <a:t> </a:t>
            </a:r>
            <a:r>
              <a:rPr lang="en-US" altLang="zh-CN" sz="1200" b="1" dirty="0" smtClean="0">
                <a:solidFill>
                  <a:schemeClr val="accent5">
                    <a:lumMod val="75000"/>
                  </a:schemeClr>
                </a:solidFill>
                <a:cs typeface="Nirmala UI" pitchFamily="34" charset="0"/>
              </a:rPr>
              <a:t>    </a:t>
            </a:r>
            <a:r>
              <a:rPr lang="en-US" altLang="zh-CN" sz="1200" b="1" dirty="0" smtClean="0">
                <a:cs typeface="Nirmala UI" pitchFamily="34" charset="0"/>
              </a:rPr>
              <a:t>//</a:t>
            </a:r>
            <a:r>
              <a:rPr lang="zh-CN" altLang="en-US" sz="1200" b="1" dirty="0">
                <a:cs typeface="Nirmala UI" pitchFamily="34" charset="0"/>
              </a:rPr>
              <a:t>用指针来调用</a:t>
            </a:r>
            <a:r>
              <a:rPr lang="en-US" altLang="zh-CN" sz="1200" b="1" dirty="0">
                <a:cs typeface="Nirmala UI" pitchFamily="34" charset="0"/>
              </a:rPr>
              <a:t>f</a:t>
            </a:r>
            <a:r>
              <a:rPr lang="zh-CN" altLang="en-US" sz="1200" b="1" dirty="0">
                <a:cs typeface="Nirmala UI" pitchFamily="34" charset="0"/>
              </a:rPr>
              <a:t>函数</a:t>
            </a:r>
            <a:endParaRPr lang="en-US" altLang="zh-CN" sz="1200" b="1" dirty="0">
              <a:cs typeface="Nirmala UI" pitchFamily="34" charset="0"/>
            </a:endParaRPr>
          </a:p>
        </p:txBody>
      </p:sp>
    </p:spTree>
    <p:extLst>
      <p:ext uri="{BB962C8B-B14F-4D97-AF65-F5344CB8AC3E}">
        <p14:creationId xmlns:p14="http://schemas.microsoft.com/office/powerpoint/2010/main" val="239595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300"/>
                                        <p:tgtEl>
                                          <p:spTgt spid="47"/>
                                        </p:tgtEl>
                                      </p:cBhvr>
                                    </p:animEffect>
                                  </p:childTnLst>
                                </p:cTn>
                              </p:par>
                              <p:par>
                                <p:cTn id="8" presetID="22" presetClass="entr" presetSubtype="8" fill="hold" grpId="0" nodeType="withEffect">
                                  <p:stCondLst>
                                    <p:cond delay="3500"/>
                                  </p:stCondLst>
                                  <p:childTnLst>
                                    <p:set>
                                      <p:cBhvr>
                                        <p:cTn id="9" dur="1" fill="hold">
                                          <p:stCondLst>
                                            <p:cond delay="0"/>
                                          </p:stCondLst>
                                        </p:cTn>
                                        <p:tgtEl>
                                          <p:spTgt spid="59"/>
                                        </p:tgtEl>
                                        <p:attrNameLst>
                                          <p:attrName>style.visibility</p:attrName>
                                        </p:attrNameLst>
                                      </p:cBhvr>
                                      <p:to>
                                        <p:strVal val="visible"/>
                                      </p:to>
                                    </p:set>
                                    <p:animEffect transition="in" filter="wipe(left)">
                                      <p:cBhvr>
                                        <p:cTn id="1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505023" y="1275606"/>
            <a:ext cx="3024336" cy="784830"/>
          </a:xfrm>
          <a:prstGeom prst="rect">
            <a:avLst/>
          </a:prstGeom>
        </p:spPr>
        <p:txBody>
          <a:bodyPr wrap="square">
            <a:spAutoFit/>
          </a:bodyPr>
          <a:lstStyle/>
          <a:p>
            <a:pPr>
              <a:lnSpc>
                <a:spcPct val="125000"/>
              </a:lnSpc>
            </a:pPr>
            <a:r>
              <a:rPr lang="en-US" altLang="zh-CN" b="1" dirty="0" smtClean="0"/>
              <a:t>     STM32</a:t>
            </a:r>
            <a:r>
              <a:rPr lang="zh-CN" altLang="zh-CN" b="1" dirty="0"/>
              <a:t>标准外设库中，指针的类型为</a:t>
            </a:r>
            <a:r>
              <a:rPr lang="en-US" altLang="zh-CN" b="1" dirty="0"/>
              <a:t>32</a:t>
            </a:r>
            <a:r>
              <a:rPr lang="zh-CN" altLang="zh-CN" b="1" dirty="0"/>
              <a:t>位整型数据</a:t>
            </a:r>
            <a:endParaRPr lang="zh-CN" altLang="en-US" b="1" dirty="0"/>
          </a:p>
        </p:txBody>
      </p:sp>
      <p:sp>
        <p:nvSpPr>
          <p:cNvPr id="11" name="矩形 10"/>
          <p:cNvSpPr/>
          <p:nvPr/>
        </p:nvSpPr>
        <p:spPr>
          <a:xfrm>
            <a:off x="505022" y="2295950"/>
            <a:ext cx="3024337" cy="1823576"/>
          </a:xfrm>
          <a:prstGeom prst="rect">
            <a:avLst/>
          </a:prstGeom>
        </p:spPr>
        <p:txBody>
          <a:bodyPr wrap="square">
            <a:spAutoFit/>
          </a:bodyPr>
          <a:lstStyle/>
          <a:p>
            <a:pPr>
              <a:lnSpc>
                <a:spcPct val="125000"/>
              </a:lnSpc>
            </a:pPr>
            <a:r>
              <a:rPr lang="en-US" altLang="zh-CN" b="1" dirty="0" smtClean="0"/>
              <a:t>    STM32</a:t>
            </a:r>
            <a:r>
              <a:rPr lang="zh-CN" altLang="zh-CN" b="1" dirty="0"/>
              <a:t>中片上外设都是挂接在不同的总线上的，</a:t>
            </a:r>
            <a:r>
              <a:rPr lang="en-US" altLang="zh-CN" b="1" dirty="0"/>
              <a:t>stm32f10x.h</a:t>
            </a:r>
            <a:r>
              <a:rPr lang="zh-CN" altLang="zh-CN" b="1" dirty="0"/>
              <a:t>文件中利用</a:t>
            </a:r>
            <a:r>
              <a:rPr lang="en-US" altLang="zh-CN" b="1" dirty="0"/>
              <a:t>C</a:t>
            </a:r>
            <a:r>
              <a:rPr lang="zh-CN" altLang="zh-CN" b="1" dirty="0"/>
              <a:t>语言的</a:t>
            </a:r>
            <a:r>
              <a:rPr lang="zh-CN" altLang="zh-CN" b="1" dirty="0">
                <a:solidFill>
                  <a:srgbClr val="CD7371"/>
                </a:solidFill>
              </a:rPr>
              <a:t>宏定义和指针</a:t>
            </a:r>
            <a:r>
              <a:rPr lang="zh-CN" altLang="zh-CN" b="1" dirty="0"/>
              <a:t>来一步步地</a:t>
            </a:r>
            <a:r>
              <a:rPr lang="zh-CN" altLang="zh-CN" b="1" dirty="0">
                <a:solidFill>
                  <a:srgbClr val="CD7371"/>
                </a:solidFill>
              </a:rPr>
              <a:t>封装总线和外设的基地址</a:t>
            </a:r>
            <a:r>
              <a:rPr lang="zh-CN" altLang="zh-CN" b="1" dirty="0"/>
              <a:t>。</a:t>
            </a:r>
          </a:p>
        </p:txBody>
      </p:sp>
      <p:sp>
        <p:nvSpPr>
          <p:cNvPr id="12" name="矩形 11"/>
          <p:cNvSpPr/>
          <p:nvPr/>
        </p:nvSpPr>
        <p:spPr>
          <a:xfrm>
            <a:off x="3851920" y="801168"/>
            <a:ext cx="4865348" cy="1938992"/>
          </a:xfrm>
          <a:prstGeom prst="rect">
            <a:avLst/>
          </a:prstGeom>
          <a:solidFill>
            <a:schemeClr val="accent3">
              <a:lumMod val="20000"/>
              <a:lumOff val="80000"/>
            </a:schemeClr>
          </a:solidFill>
        </p:spPr>
        <p:txBody>
          <a:bodyPr wrap="square">
            <a:spAutoFit/>
          </a:bodyPr>
          <a:lstStyle/>
          <a:p>
            <a:pPr>
              <a:lnSpc>
                <a:spcPct val="125000"/>
              </a:lnSpc>
            </a:pPr>
            <a:r>
              <a:rPr lang="zh-CN" altLang="en-US" sz="1600" b="1" dirty="0" smtClean="0"/>
              <a:t>      通过</a:t>
            </a:r>
            <a:r>
              <a:rPr lang="zh-CN" altLang="en-US" sz="1600" b="1" dirty="0"/>
              <a:t>宏定义为外设基地址</a:t>
            </a:r>
            <a:r>
              <a:rPr lang="en-US" altLang="zh-CN" sz="1600" b="1" dirty="0"/>
              <a:t>0</a:t>
            </a:r>
            <a:r>
              <a:rPr lang="en-GB" altLang="zh-CN" sz="1600" b="1" dirty="0"/>
              <a:t>x40000000</a:t>
            </a:r>
            <a:r>
              <a:rPr lang="zh-CN" altLang="en-US" sz="1600" b="1" dirty="0"/>
              <a:t>取一个宏名</a:t>
            </a:r>
            <a:r>
              <a:rPr lang="en-GB" altLang="zh-CN" sz="1600" b="1" dirty="0"/>
              <a:t>PERIPH_BASE</a:t>
            </a:r>
            <a:r>
              <a:rPr lang="zh-CN" altLang="en-GB" sz="1600" b="1" dirty="0"/>
              <a:t>，</a:t>
            </a:r>
            <a:r>
              <a:rPr lang="zh-CN" altLang="en-US" sz="1600" b="1" dirty="0"/>
              <a:t>方便使用，</a:t>
            </a:r>
            <a:r>
              <a:rPr lang="en-GB" altLang="zh-CN" sz="1600" b="1" dirty="0"/>
              <a:t>stm32f10x.h</a:t>
            </a:r>
            <a:r>
              <a:rPr lang="zh-CN" altLang="en-US" sz="1600" b="1" dirty="0"/>
              <a:t>中</a:t>
            </a:r>
            <a:r>
              <a:rPr lang="en-GB" altLang="zh-CN" sz="1600" b="1" dirty="0"/>
              <a:t>FLASH</a:t>
            </a:r>
            <a:r>
              <a:rPr lang="zh-CN" altLang="en-GB" sz="1600" b="1" dirty="0"/>
              <a:t>、</a:t>
            </a:r>
            <a:r>
              <a:rPr lang="en-GB" altLang="zh-CN" sz="1600" b="1" dirty="0"/>
              <a:t>SRAM</a:t>
            </a:r>
            <a:r>
              <a:rPr lang="zh-CN" altLang="en-US" sz="1600" b="1" dirty="0"/>
              <a:t>和</a:t>
            </a:r>
            <a:r>
              <a:rPr lang="en-GB" altLang="zh-CN" sz="1600" b="1" dirty="0"/>
              <a:t>PERIPH</a:t>
            </a:r>
            <a:r>
              <a:rPr lang="zh-CN" altLang="en-GB" sz="1600" b="1" dirty="0"/>
              <a:t>（</a:t>
            </a:r>
            <a:r>
              <a:rPr lang="zh-CN" altLang="en-US" sz="1600" b="1" dirty="0"/>
              <a:t>外设）的基地址定义如下：</a:t>
            </a:r>
          </a:p>
          <a:p>
            <a:pPr>
              <a:lnSpc>
                <a:spcPct val="125000"/>
              </a:lnSpc>
            </a:pPr>
            <a:r>
              <a:rPr lang="en-US" altLang="zh-CN" sz="1600" b="1" dirty="0" smtClean="0">
                <a:solidFill>
                  <a:schemeClr val="accent5">
                    <a:lumMod val="75000"/>
                  </a:schemeClr>
                </a:solidFill>
              </a:rPr>
              <a:t>     #</a:t>
            </a:r>
            <a:r>
              <a:rPr lang="en-GB" altLang="zh-CN" sz="1600" b="1" dirty="0">
                <a:solidFill>
                  <a:schemeClr val="accent5">
                    <a:lumMod val="75000"/>
                  </a:schemeClr>
                </a:solidFill>
              </a:rPr>
              <a:t>define FLASH_BASE  ((uint32_t)0x08000000)</a:t>
            </a:r>
          </a:p>
          <a:p>
            <a:pPr>
              <a:lnSpc>
                <a:spcPct val="125000"/>
              </a:lnSpc>
            </a:pPr>
            <a:r>
              <a:rPr lang="en-GB" altLang="zh-CN" sz="1600" b="1" dirty="0" smtClean="0">
                <a:solidFill>
                  <a:schemeClr val="accent5">
                    <a:lumMod val="75000"/>
                  </a:schemeClr>
                </a:solidFill>
              </a:rPr>
              <a:t>     #</a:t>
            </a:r>
            <a:r>
              <a:rPr lang="en-GB" altLang="zh-CN" sz="1600" b="1" dirty="0">
                <a:solidFill>
                  <a:schemeClr val="accent5">
                    <a:lumMod val="75000"/>
                  </a:schemeClr>
                </a:solidFill>
              </a:rPr>
              <a:t>define SRAM_BASE  ((uint32_t)0x20000000) </a:t>
            </a:r>
          </a:p>
          <a:p>
            <a:pPr>
              <a:lnSpc>
                <a:spcPct val="125000"/>
              </a:lnSpc>
            </a:pPr>
            <a:r>
              <a:rPr lang="en-GB" altLang="zh-CN" sz="1600" b="1" dirty="0" smtClean="0">
                <a:solidFill>
                  <a:schemeClr val="accent5">
                    <a:lumMod val="75000"/>
                  </a:schemeClr>
                </a:solidFill>
              </a:rPr>
              <a:t>     #</a:t>
            </a:r>
            <a:r>
              <a:rPr lang="en-GB" altLang="zh-CN" sz="1600" b="1" dirty="0">
                <a:solidFill>
                  <a:schemeClr val="accent5">
                    <a:lumMod val="75000"/>
                  </a:schemeClr>
                </a:solidFill>
              </a:rPr>
              <a:t>define PERIPH_BASE  ((uint32_t)0x40000000) </a:t>
            </a:r>
          </a:p>
        </p:txBody>
      </p:sp>
      <p:sp>
        <p:nvSpPr>
          <p:cNvPr id="13" name="矩形 12"/>
          <p:cNvSpPr/>
          <p:nvPr/>
        </p:nvSpPr>
        <p:spPr>
          <a:xfrm>
            <a:off x="3849667" y="2931790"/>
            <a:ext cx="4867602" cy="1685333"/>
          </a:xfrm>
          <a:prstGeom prst="rect">
            <a:avLst/>
          </a:prstGeom>
          <a:solidFill>
            <a:schemeClr val="accent3">
              <a:lumMod val="20000"/>
              <a:lumOff val="80000"/>
            </a:schemeClr>
          </a:solidFill>
        </p:spPr>
        <p:txBody>
          <a:bodyPr wrap="square">
            <a:spAutoFit/>
          </a:bodyPr>
          <a:lstStyle/>
          <a:p>
            <a:pPr>
              <a:lnSpc>
                <a:spcPct val="125000"/>
              </a:lnSpc>
            </a:pPr>
            <a:r>
              <a:rPr lang="en-GB" altLang="zh-CN" sz="1600" b="1" dirty="0" smtClean="0"/>
              <a:t>     STM32</a:t>
            </a:r>
            <a:r>
              <a:rPr lang="zh-CN" altLang="en-US" sz="1600" b="1" dirty="0"/>
              <a:t>的总线有</a:t>
            </a:r>
            <a:r>
              <a:rPr lang="en-GB" altLang="zh-CN" sz="1600" b="1" dirty="0"/>
              <a:t>APB1</a:t>
            </a:r>
            <a:r>
              <a:rPr lang="zh-CN" altLang="en-GB" sz="1600" b="1" dirty="0"/>
              <a:t>、</a:t>
            </a:r>
            <a:r>
              <a:rPr lang="en-GB" altLang="zh-CN" sz="1600" b="1" dirty="0"/>
              <a:t>APB2</a:t>
            </a:r>
            <a:r>
              <a:rPr lang="zh-CN" altLang="en-US" sz="1600" b="1" dirty="0"/>
              <a:t>和</a:t>
            </a:r>
            <a:r>
              <a:rPr lang="en-GB" altLang="zh-CN" sz="1600" b="1" dirty="0"/>
              <a:t>AHB</a:t>
            </a:r>
            <a:r>
              <a:rPr lang="zh-CN" altLang="en-US" sz="1600" b="1" dirty="0"/>
              <a:t>总线组成，各自的总线基地址定义如下：</a:t>
            </a:r>
          </a:p>
          <a:p>
            <a:pPr>
              <a:lnSpc>
                <a:spcPct val="125000"/>
              </a:lnSpc>
            </a:pPr>
            <a:r>
              <a:rPr lang="en-US" altLang="zh-CN" sz="1600" b="1" dirty="0" smtClean="0">
                <a:solidFill>
                  <a:schemeClr val="accent5">
                    <a:lumMod val="75000"/>
                  </a:schemeClr>
                </a:solidFill>
              </a:rPr>
              <a:t>   #</a:t>
            </a:r>
            <a:r>
              <a:rPr lang="en-GB" altLang="zh-CN" sz="1600" b="1" dirty="0">
                <a:solidFill>
                  <a:schemeClr val="accent5">
                    <a:lumMod val="75000"/>
                  </a:schemeClr>
                </a:solidFill>
              </a:rPr>
              <a:t>define APB1PERIPH_BASE  PERIPH_BASE</a:t>
            </a:r>
          </a:p>
          <a:p>
            <a:pPr>
              <a:lnSpc>
                <a:spcPct val="125000"/>
              </a:lnSpc>
            </a:pPr>
            <a:r>
              <a:rPr lang="en-GB" altLang="zh-CN" sz="1600" b="1" dirty="0" smtClean="0">
                <a:solidFill>
                  <a:schemeClr val="accent5">
                    <a:lumMod val="75000"/>
                  </a:schemeClr>
                </a:solidFill>
              </a:rPr>
              <a:t>   #</a:t>
            </a:r>
            <a:r>
              <a:rPr lang="en-GB" altLang="zh-CN" sz="1600" b="1" dirty="0">
                <a:solidFill>
                  <a:schemeClr val="accent5">
                    <a:lumMod val="75000"/>
                  </a:schemeClr>
                </a:solidFill>
              </a:rPr>
              <a:t>define APB2PERIPH_BASE  (PERIPH_BASE + 0x10000)</a:t>
            </a:r>
          </a:p>
          <a:p>
            <a:pPr>
              <a:lnSpc>
                <a:spcPct val="125000"/>
              </a:lnSpc>
            </a:pPr>
            <a:r>
              <a:rPr lang="en-GB" altLang="zh-CN" sz="1600" b="1" dirty="0" smtClean="0">
                <a:solidFill>
                  <a:schemeClr val="accent5">
                    <a:lumMod val="75000"/>
                  </a:schemeClr>
                </a:solidFill>
              </a:rPr>
              <a:t>   #</a:t>
            </a:r>
            <a:r>
              <a:rPr lang="en-GB" altLang="zh-CN" sz="1600" b="1" dirty="0">
                <a:solidFill>
                  <a:schemeClr val="accent5">
                    <a:lumMod val="75000"/>
                  </a:schemeClr>
                </a:solidFill>
              </a:rPr>
              <a:t>define AHBPERIPH_BASE  (PERIPH_BASE + 0x20000)</a:t>
            </a:r>
          </a:p>
        </p:txBody>
      </p:sp>
      <p:sp>
        <p:nvSpPr>
          <p:cNvPr id="14" name="矩形 13"/>
          <p:cNvSpPr/>
          <p:nvPr/>
        </p:nvSpPr>
        <p:spPr>
          <a:xfrm>
            <a:off x="4572000" y="319813"/>
            <a:ext cx="3371436" cy="369332"/>
          </a:xfrm>
          <a:prstGeom prst="rect">
            <a:avLst/>
          </a:prstGeom>
        </p:spPr>
        <p:txBody>
          <a:bodyPr wrap="none">
            <a:spAutoFit/>
          </a:bodyPr>
          <a:lstStyle/>
          <a:p>
            <a:r>
              <a:rPr lang="en-US" altLang="zh-CN" b="1" dirty="0">
                <a:solidFill>
                  <a:schemeClr val="accent3">
                    <a:lumMod val="75000"/>
                  </a:schemeClr>
                </a:solidFill>
                <a:latin typeface="楷体" pitchFamily="49" charset="-122"/>
                <a:ea typeface="楷体" pitchFamily="49" charset="-122"/>
              </a:rPr>
              <a:t>STM32</a:t>
            </a:r>
            <a:r>
              <a:rPr lang="zh-CN" altLang="en-US" b="1" dirty="0">
                <a:solidFill>
                  <a:schemeClr val="accent3">
                    <a:lumMod val="75000"/>
                  </a:schemeClr>
                </a:solidFill>
                <a:latin typeface="楷体" pitchFamily="49" charset="-122"/>
                <a:ea typeface="楷体" pitchFamily="49" charset="-122"/>
              </a:rPr>
              <a:t>标准外设库中的指针应用</a:t>
            </a:r>
          </a:p>
        </p:txBody>
      </p:sp>
    </p:spTree>
    <p:extLst>
      <p:ext uri="{BB962C8B-B14F-4D97-AF65-F5344CB8AC3E}">
        <p14:creationId xmlns:p14="http://schemas.microsoft.com/office/powerpoint/2010/main" val="2929685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125188" y="1347614"/>
            <a:ext cx="4248472" cy="2408352"/>
          </a:xfrm>
          <a:prstGeom prst="rect">
            <a:avLst/>
          </a:prstGeom>
          <a:solidFill>
            <a:schemeClr val="accent5">
              <a:lumMod val="20000"/>
              <a:lumOff val="80000"/>
            </a:schemeClr>
          </a:solidFill>
        </p:spPr>
        <p:txBody>
          <a:bodyPr wrap="square">
            <a:spAutoFit/>
          </a:bodyPr>
          <a:lstStyle/>
          <a:p>
            <a:r>
              <a:rPr lang="en-GB" altLang="zh-CN" sz="1400" b="1" dirty="0" smtClean="0"/>
              <a:t>     stm32f10x.h</a:t>
            </a:r>
            <a:r>
              <a:rPr lang="zh-CN" altLang="en-US" sz="1400" b="1" dirty="0"/>
              <a:t>文件中定义了这</a:t>
            </a:r>
            <a:r>
              <a:rPr lang="en-US" altLang="zh-CN" sz="1400" b="1" dirty="0"/>
              <a:t>7</a:t>
            </a:r>
            <a:r>
              <a:rPr lang="zh-CN" altLang="en-US" sz="1400" b="1" dirty="0"/>
              <a:t>组</a:t>
            </a:r>
            <a:r>
              <a:rPr lang="en-GB" altLang="zh-CN" sz="1400" b="1" dirty="0"/>
              <a:t>GPIO</a:t>
            </a:r>
            <a:r>
              <a:rPr lang="zh-CN" altLang="en-US" sz="1400" b="1" dirty="0"/>
              <a:t>端口的基地址的宏。</a:t>
            </a:r>
          </a:p>
          <a:p>
            <a:pPr indent="177800">
              <a:lnSpc>
                <a:spcPct val="125000"/>
              </a:lnSpc>
            </a:pPr>
            <a:r>
              <a:rPr lang="en-US" altLang="zh-CN" sz="1400" b="1" dirty="0">
                <a:solidFill>
                  <a:schemeClr val="accent5">
                    <a:lumMod val="75000"/>
                  </a:schemeClr>
                </a:solidFill>
              </a:rPr>
              <a:t>#</a:t>
            </a:r>
            <a:r>
              <a:rPr lang="en-GB" altLang="zh-CN" sz="1400" b="1" dirty="0">
                <a:solidFill>
                  <a:schemeClr val="accent5">
                    <a:lumMod val="75000"/>
                  </a:schemeClr>
                </a:solidFill>
              </a:rPr>
              <a:t>define GPIOA_BASE   (APB2PERIPH_BASE + 0x0800)</a:t>
            </a:r>
          </a:p>
          <a:p>
            <a:pPr indent="177800">
              <a:lnSpc>
                <a:spcPct val="125000"/>
              </a:lnSpc>
            </a:pPr>
            <a:r>
              <a:rPr lang="en-GB" altLang="zh-CN" sz="1400" b="1" dirty="0">
                <a:solidFill>
                  <a:schemeClr val="accent5">
                    <a:lumMod val="75000"/>
                  </a:schemeClr>
                </a:solidFill>
              </a:rPr>
              <a:t>#define GPIOB_BASE   (APB2PERIPH_BASE + 0x0C00)</a:t>
            </a:r>
          </a:p>
          <a:p>
            <a:pPr indent="177800">
              <a:lnSpc>
                <a:spcPct val="125000"/>
              </a:lnSpc>
            </a:pPr>
            <a:r>
              <a:rPr lang="en-GB" altLang="zh-CN" sz="1400" b="1" dirty="0">
                <a:solidFill>
                  <a:schemeClr val="accent5">
                    <a:lumMod val="75000"/>
                  </a:schemeClr>
                </a:solidFill>
              </a:rPr>
              <a:t>#define GPIOC_BASE   (APB2PERIPH_BASE + 0x1000)</a:t>
            </a:r>
          </a:p>
          <a:p>
            <a:pPr indent="177800">
              <a:lnSpc>
                <a:spcPct val="125000"/>
              </a:lnSpc>
            </a:pPr>
            <a:r>
              <a:rPr lang="en-GB" altLang="zh-CN" sz="1400" b="1" dirty="0">
                <a:solidFill>
                  <a:schemeClr val="accent5">
                    <a:lumMod val="75000"/>
                  </a:schemeClr>
                </a:solidFill>
              </a:rPr>
              <a:t>#define GPIOD_BASE   (APB2PERIPH_BASE + 0x1400)</a:t>
            </a:r>
          </a:p>
          <a:p>
            <a:pPr indent="177800">
              <a:lnSpc>
                <a:spcPct val="125000"/>
              </a:lnSpc>
            </a:pPr>
            <a:r>
              <a:rPr lang="en-GB" altLang="zh-CN" sz="1400" b="1" dirty="0">
                <a:solidFill>
                  <a:schemeClr val="accent5">
                    <a:lumMod val="75000"/>
                  </a:schemeClr>
                </a:solidFill>
              </a:rPr>
              <a:t>#define GPIOE_BASE  (APB2PERIPH_BASE + 0x1800)</a:t>
            </a:r>
          </a:p>
          <a:p>
            <a:pPr indent="177800">
              <a:lnSpc>
                <a:spcPct val="125000"/>
              </a:lnSpc>
            </a:pPr>
            <a:r>
              <a:rPr lang="en-GB" altLang="zh-CN" sz="1400" b="1" dirty="0">
                <a:solidFill>
                  <a:schemeClr val="accent5">
                    <a:lumMod val="75000"/>
                  </a:schemeClr>
                </a:solidFill>
              </a:rPr>
              <a:t>#define GPIOF_BASE   (APB2PERIPH_BASE + 0x1C00)</a:t>
            </a:r>
          </a:p>
          <a:p>
            <a:pPr indent="177800">
              <a:lnSpc>
                <a:spcPct val="125000"/>
              </a:lnSpc>
            </a:pPr>
            <a:r>
              <a:rPr lang="en-GB" altLang="zh-CN" sz="1400" b="1" dirty="0">
                <a:solidFill>
                  <a:schemeClr val="accent5">
                    <a:lumMod val="75000"/>
                  </a:schemeClr>
                </a:solidFill>
              </a:rPr>
              <a:t>#define GPIOG_BASE   (APB2PERIPH_BASE + 0x2000)</a:t>
            </a:r>
          </a:p>
        </p:txBody>
      </p:sp>
      <p:sp>
        <p:nvSpPr>
          <p:cNvPr id="6" name="矩形 5"/>
          <p:cNvSpPr/>
          <p:nvPr/>
        </p:nvSpPr>
        <p:spPr>
          <a:xfrm>
            <a:off x="4716016" y="627534"/>
            <a:ext cx="3984847" cy="2419188"/>
          </a:xfrm>
          <a:prstGeom prst="rect">
            <a:avLst/>
          </a:prstGeom>
          <a:solidFill>
            <a:schemeClr val="accent5">
              <a:lumMod val="20000"/>
              <a:lumOff val="80000"/>
            </a:schemeClr>
          </a:solidFill>
        </p:spPr>
        <p:txBody>
          <a:bodyPr wrap="square">
            <a:spAutoFit/>
          </a:bodyPr>
          <a:lstStyle/>
          <a:p>
            <a:r>
              <a:rPr lang="en-GB" altLang="zh-CN" sz="1600" b="1" dirty="0" smtClean="0"/>
              <a:t>        </a:t>
            </a:r>
            <a:r>
              <a:rPr lang="en-GB" altLang="zh-CN" sz="1400" b="1" dirty="0" smtClean="0"/>
              <a:t>ST</a:t>
            </a:r>
            <a:r>
              <a:rPr lang="zh-CN" altLang="en-US" sz="1400" b="1" dirty="0"/>
              <a:t>公司的工程师采用了</a:t>
            </a:r>
            <a:r>
              <a:rPr lang="en-GB" altLang="zh-CN" sz="1400" b="1" dirty="0"/>
              <a:t>C</a:t>
            </a:r>
            <a:r>
              <a:rPr lang="zh-CN" altLang="en-US" sz="1400" b="1" dirty="0"/>
              <a:t>语言结构体的形式封装了这些寄存器</a:t>
            </a:r>
            <a:r>
              <a:rPr lang="zh-CN" altLang="en-US" sz="1400" b="1" dirty="0" smtClean="0"/>
              <a:t>组：</a:t>
            </a:r>
            <a:endParaRPr lang="zh-CN" altLang="en-US" sz="1400" b="1" dirty="0"/>
          </a:p>
          <a:p>
            <a:pPr indent="177800">
              <a:lnSpc>
                <a:spcPct val="125000"/>
              </a:lnSpc>
            </a:pPr>
            <a:r>
              <a:rPr lang="en-US" altLang="zh-CN" sz="1400" b="1" dirty="0">
                <a:solidFill>
                  <a:schemeClr val="accent5">
                    <a:lumMod val="75000"/>
                  </a:schemeClr>
                </a:solidFill>
              </a:rPr>
              <a:t>#</a:t>
            </a:r>
            <a:r>
              <a:rPr lang="en-GB" altLang="zh-CN" sz="1400" b="1" dirty="0">
                <a:solidFill>
                  <a:schemeClr val="accent5">
                    <a:lumMod val="75000"/>
                  </a:schemeClr>
                </a:solidFill>
              </a:rPr>
              <a:t>define GPIOA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GPIOA_BASE)</a:t>
            </a:r>
          </a:p>
          <a:p>
            <a:pPr indent="177800">
              <a:lnSpc>
                <a:spcPct val="125000"/>
              </a:lnSpc>
            </a:pPr>
            <a:r>
              <a:rPr lang="en-GB" altLang="zh-CN" sz="1400" b="1" dirty="0">
                <a:solidFill>
                  <a:schemeClr val="accent5">
                    <a:lumMod val="75000"/>
                  </a:schemeClr>
                </a:solidFill>
              </a:rPr>
              <a:t>#define GPIOB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GPIOB_BASE)</a:t>
            </a:r>
          </a:p>
          <a:p>
            <a:pPr indent="177800">
              <a:lnSpc>
                <a:spcPct val="125000"/>
              </a:lnSpc>
            </a:pPr>
            <a:r>
              <a:rPr lang="en-GB" altLang="zh-CN" sz="1400" b="1" dirty="0">
                <a:solidFill>
                  <a:schemeClr val="accent5">
                    <a:lumMod val="75000"/>
                  </a:schemeClr>
                </a:solidFill>
              </a:rPr>
              <a:t>#define GPIOC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GPIOC_BASE)</a:t>
            </a:r>
          </a:p>
          <a:p>
            <a:pPr indent="177800">
              <a:lnSpc>
                <a:spcPct val="125000"/>
              </a:lnSpc>
            </a:pPr>
            <a:r>
              <a:rPr lang="en-GB" altLang="zh-CN" sz="1400" b="1" dirty="0">
                <a:solidFill>
                  <a:schemeClr val="accent5">
                    <a:lumMod val="75000"/>
                  </a:schemeClr>
                </a:solidFill>
              </a:rPr>
              <a:t>#define GPIOD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GPIOD_BASE)</a:t>
            </a:r>
          </a:p>
          <a:p>
            <a:pPr indent="177800">
              <a:lnSpc>
                <a:spcPct val="125000"/>
              </a:lnSpc>
            </a:pPr>
            <a:r>
              <a:rPr lang="en-GB" altLang="zh-CN" sz="1400" b="1" dirty="0">
                <a:solidFill>
                  <a:schemeClr val="accent5">
                    <a:lumMod val="75000"/>
                  </a:schemeClr>
                </a:solidFill>
              </a:rPr>
              <a:t>#define GPIOE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GPIOE_BASE)</a:t>
            </a:r>
          </a:p>
          <a:p>
            <a:pPr indent="177800">
              <a:lnSpc>
                <a:spcPct val="125000"/>
              </a:lnSpc>
            </a:pPr>
            <a:r>
              <a:rPr lang="en-GB" altLang="zh-CN" sz="1400" b="1" dirty="0">
                <a:solidFill>
                  <a:schemeClr val="accent5">
                    <a:lumMod val="75000"/>
                  </a:schemeClr>
                </a:solidFill>
              </a:rPr>
              <a:t>#define GPIOF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GPIOF_BASE)</a:t>
            </a:r>
          </a:p>
          <a:p>
            <a:pPr indent="177800">
              <a:lnSpc>
                <a:spcPct val="125000"/>
              </a:lnSpc>
            </a:pPr>
            <a:r>
              <a:rPr lang="en-GB" altLang="zh-CN" sz="1400" b="1" dirty="0">
                <a:solidFill>
                  <a:schemeClr val="accent5">
                    <a:lumMod val="75000"/>
                  </a:schemeClr>
                </a:solidFill>
              </a:rPr>
              <a:t>#define GPIOG  ((</a:t>
            </a:r>
            <a:r>
              <a:rPr lang="en-GB" altLang="zh-CN" sz="1400" b="1" dirty="0" err="1">
                <a:solidFill>
                  <a:schemeClr val="accent5">
                    <a:lumMod val="75000"/>
                  </a:schemeClr>
                </a:solidFill>
              </a:rPr>
              <a:t>GPIO_TypeDef</a:t>
            </a:r>
            <a:r>
              <a:rPr lang="en-GB" altLang="zh-CN" sz="1400" b="1" dirty="0">
                <a:solidFill>
                  <a:schemeClr val="accent5">
                    <a:lumMod val="75000"/>
                  </a:schemeClr>
                </a:solidFill>
              </a:rPr>
              <a:t> *) GPIOG_BASE</a:t>
            </a:r>
            <a:r>
              <a:rPr lang="en-GB" altLang="zh-CN" sz="1400" b="1" dirty="0" smtClean="0">
                <a:solidFill>
                  <a:schemeClr val="accent5">
                    <a:lumMod val="75000"/>
                  </a:schemeClr>
                </a:solidFill>
              </a:rPr>
              <a:t>)</a:t>
            </a:r>
            <a:endParaRPr lang="en-GB" altLang="zh-CN" sz="1400" b="1" dirty="0">
              <a:solidFill>
                <a:schemeClr val="accent5">
                  <a:lumMod val="75000"/>
                </a:schemeClr>
              </a:solidFill>
            </a:endParaRPr>
          </a:p>
        </p:txBody>
      </p:sp>
      <p:sp>
        <p:nvSpPr>
          <p:cNvPr id="15" name="圆角矩形标注 14"/>
          <p:cNvSpPr/>
          <p:nvPr/>
        </p:nvSpPr>
        <p:spPr>
          <a:xfrm>
            <a:off x="4962053" y="3579862"/>
            <a:ext cx="3096344" cy="1296144"/>
          </a:xfrm>
          <a:prstGeom prst="wedgeRoundRectCallout">
            <a:avLst>
              <a:gd name="adj1" fmla="val 3580"/>
              <a:gd name="adj2" fmla="val -9397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200" b="1" dirty="0" smtClean="0">
                <a:solidFill>
                  <a:prstClr val="black"/>
                </a:solidFill>
              </a:rPr>
              <a:t>       结构体</a:t>
            </a:r>
            <a:r>
              <a:rPr lang="zh-CN" altLang="en-US" sz="1200" b="1" dirty="0">
                <a:solidFill>
                  <a:prstClr val="black"/>
                </a:solidFill>
              </a:rPr>
              <a:t>类型后面</a:t>
            </a:r>
            <a:r>
              <a:rPr lang="zh-CN" altLang="en-US" sz="1200" b="1" dirty="0" smtClean="0">
                <a:solidFill>
                  <a:prstClr val="black"/>
                </a:solidFill>
              </a:rPr>
              <a:t>加上“*”号，表示</a:t>
            </a:r>
            <a:r>
              <a:rPr lang="zh-CN" altLang="en-US" sz="1200" b="1" dirty="0">
                <a:solidFill>
                  <a:prstClr val="black"/>
                </a:solidFill>
              </a:rPr>
              <a:t>是结构体类型的指针，</a:t>
            </a:r>
            <a:r>
              <a:rPr lang="en-US" altLang="zh-CN" sz="1200" b="1" dirty="0">
                <a:solidFill>
                  <a:prstClr val="black"/>
                </a:solidFill>
              </a:rPr>
              <a:t>(</a:t>
            </a:r>
            <a:r>
              <a:rPr lang="en-US" altLang="zh-CN" sz="1200" b="1" dirty="0" err="1">
                <a:solidFill>
                  <a:prstClr val="black"/>
                </a:solidFill>
              </a:rPr>
              <a:t>GPIO_TypeDef</a:t>
            </a:r>
            <a:r>
              <a:rPr lang="en-US" altLang="zh-CN" sz="1200" b="1" dirty="0">
                <a:solidFill>
                  <a:prstClr val="black"/>
                </a:solidFill>
              </a:rPr>
              <a:t> *)</a:t>
            </a:r>
            <a:r>
              <a:rPr lang="zh-CN" altLang="en-US" sz="1200" b="1" dirty="0">
                <a:solidFill>
                  <a:prstClr val="black"/>
                </a:solidFill>
              </a:rPr>
              <a:t>则是把</a:t>
            </a:r>
            <a:r>
              <a:rPr lang="en-US" altLang="zh-CN" sz="1200" b="1" dirty="0">
                <a:solidFill>
                  <a:prstClr val="black"/>
                </a:solidFill>
              </a:rPr>
              <a:t>GPIOA_BASE</a:t>
            </a:r>
            <a:r>
              <a:rPr lang="zh-CN" altLang="en-US" sz="1200" b="1" dirty="0">
                <a:solidFill>
                  <a:prstClr val="black"/>
                </a:solidFill>
              </a:rPr>
              <a:t>等的地址强制转换为</a:t>
            </a:r>
            <a:r>
              <a:rPr lang="en-US" altLang="zh-CN" sz="1200" b="1" dirty="0" err="1">
                <a:solidFill>
                  <a:prstClr val="black"/>
                </a:solidFill>
              </a:rPr>
              <a:t>GPIO_TypeDef</a:t>
            </a:r>
            <a:r>
              <a:rPr lang="zh-CN" altLang="en-US" sz="1200" b="1" dirty="0">
                <a:solidFill>
                  <a:prstClr val="black"/>
                </a:solidFill>
              </a:rPr>
              <a:t>结构体类型的指针，实际</a:t>
            </a:r>
            <a:r>
              <a:rPr lang="zh-CN" altLang="en-US" sz="1200" b="1" dirty="0" smtClean="0">
                <a:solidFill>
                  <a:prstClr val="black"/>
                </a:solidFill>
              </a:rPr>
              <a:t>编程时可以</a:t>
            </a:r>
            <a:r>
              <a:rPr lang="zh-CN" altLang="en-US" sz="1200" b="1" dirty="0">
                <a:solidFill>
                  <a:prstClr val="black"/>
                </a:solidFill>
              </a:rPr>
              <a:t>直接用该宏名访问寄存器。</a:t>
            </a:r>
          </a:p>
        </p:txBody>
      </p:sp>
    </p:spTree>
    <p:extLst>
      <p:ext uri="{BB962C8B-B14F-4D97-AF65-F5344CB8AC3E}">
        <p14:creationId xmlns:p14="http://schemas.microsoft.com/office/powerpoint/2010/main" val="3589079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1807847"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1657826" cy="461665"/>
          </a:xfrm>
          <a:prstGeom prst="rect">
            <a:avLst/>
          </a:prstGeom>
        </p:spPr>
        <p:txBody>
          <a:bodyPr wrap="none">
            <a:spAutoFit/>
          </a:bodyPr>
          <a:lstStyle/>
          <a:p>
            <a:r>
              <a:rPr lang="en-US" altLang="zh-CN" sz="2400" b="1" dirty="0">
                <a:solidFill>
                  <a:schemeClr val="bg1"/>
                </a:solidFill>
              </a:rPr>
              <a:t>4.2.11 </a:t>
            </a:r>
            <a:r>
              <a:rPr lang="zh-CN" altLang="en-US" sz="2400" b="1" dirty="0">
                <a:solidFill>
                  <a:schemeClr val="bg1"/>
                </a:solidFill>
              </a:rPr>
              <a:t>指针</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605923" y="987574"/>
            <a:ext cx="2597925" cy="3054682"/>
          </a:xfrm>
          <a:prstGeom prst="rect">
            <a:avLst/>
          </a:prstGeom>
          <a:solidFill>
            <a:schemeClr val="accent5">
              <a:lumMod val="20000"/>
              <a:lumOff val="80000"/>
            </a:schemeClr>
          </a:solidFill>
        </p:spPr>
        <p:txBody>
          <a:bodyPr wrap="square">
            <a:spAutoFit/>
          </a:bodyPr>
          <a:lstStyle/>
          <a:p>
            <a:pPr indent="177800">
              <a:lnSpc>
                <a:spcPct val="125000"/>
              </a:lnSpc>
            </a:pPr>
            <a:r>
              <a:rPr lang="en-US" altLang="zh-CN" sz="1400" b="1" dirty="0" err="1" smtClean="0"/>
              <a:t>GPIO_TypeDef</a:t>
            </a:r>
            <a:r>
              <a:rPr lang="zh-CN" altLang="en-US" sz="1400" b="1" dirty="0"/>
              <a:t>的相关</a:t>
            </a:r>
            <a:r>
              <a:rPr lang="zh-CN" altLang="en-US" sz="1400" b="1" dirty="0" smtClean="0"/>
              <a:t>定义：</a:t>
            </a:r>
            <a:endParaRPr lang="zh-CN" altLang="en-US" sz="1400" b="1" dirty="0"/>
          </a:p>
          <a:p>
            <a:pPr indent="177800">
              <a:lnSpc>
                <a:spcPct val="125000"/>
              </a:lnSpc>
            </a:pPr>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en-US" altLang="zh-CN" sz="1400" b="1" dirty="0">
              <a:solidFill>
                <a:schemeClr val="accent5">
                  <a:lumMod val="75000"/>
                </a:schemeClr>
              </a:solidFill>
            </a:endParaRPr>
          </a:p>
          <a:p>
            <a:pPr indent="177800">
              <a:lnSpc>
                <a:spcPct val="125000"/>
              </a:lnSpc>
            </a:pPr>
            <a:r>
              <a:rPr lang="en-US" altLang="zh-CN" sz="1400" b="1" dirty="0">
                <a:solidFill>
                  <a:schemeClr val="accent5">
                    <a:lumMod val="75000"/>
                  </a:schemeClr>
                </a:solidFill>
              </a:rPr>
              <a:t>{</a:t>
            </a:r>
          </a:p>
          <a:p>
            <a:pPr indent="177800">
              <a:lnSpc>
                <a:spcPct val="125000"/>
              </a:lnSpc>
            </a:pPr>
            <a:r>
              <a:rPr lang="en-US" altLang="zh-CN" sz="1400" b="1" dirty="0">
                <a:solidFill>
                  <a:schemeClr val="accent5">
                    <a:lumMod val="75000"/>
                  </a:schemeClr>
                </a:solidFill>
              </a:rPr>
              <a:t>  __IO uint32_t CRL;</a:t>
            </a:r>
          </a:p>
          <a:p>
            <a:pPr indent="177800">
              <a:lnSpc>
                <a:spcPct val="125000"/>
              </a:lnSpc>
            </a:pPr>
            <a:r>
              <a:rPr lang="en-US" altLang="zh-CN" sz="1400" b="1" dirty="0">
                <a:solidFill>
                  <a:schemeClr val="accent5">
                    <a:lumMod val="75000"/>
                  </a:schemeClr>
                </a:solidFill>
              </a:rPr>
              <a:t>  __IO uint32_t CRH;</a:t>
            </a:r>
          </a:p>
          <a:p>
            <a:pPr indent="177800">
              <a:lnSpc>
                <a:spcPct val="125000"/>
              </a:lnSpc>
            </a:pPr>
            <a:r>
              <a:rPr lang="en-US" altLang="zh-CN" sz="1400" b="1" dirty="0">
                <a:solidFill>
                  <a:schemeClr val="accent5">
                    <a:lumMod val="75000"/>
                  </a:schemeClr>
                </a:solidFill>
              </a:rPr>
              <a:t>  __IO uint32_t IDR;</a:t>
            </a:r>
          </a:p>
          <a:p>
            <a:pPr indent="177800">
              <a:lnSpc>
                <a:spcPct val="125000"/>
              </a:lnSpc>
            </a:pPr>
            <a:r>
              <a:rPr lang="en-US" altLang="zh-CN" sz="1400" b="1" dirty="0">
                <a:solidFill>
                  <a:schemeClr val="accent5">
                    <a:lumMod val="75000"/>
                  </a:schemeClr>
                </a:solidFill>
              </a:rPr>
              <a:t>  __IO uint32_t ODR;</a:t>
            </a:r>
          </a:p>
          <a:p>
            <a:pPr indent="177800">
              <a:lnSpc>
                <a:spcPct val="125000"/>
              </a:lnSpc>
            </a:pPr>
            <a:r>
              <a:rPr lang="en-US" altLang="zh-CN" sz="1400" b="1" dirty="0">
                <a:solidFill>
                  <a:schemeClr val="accent5">
                    <a:lumMod val="75000"/>
                  </a:schemeClr>
                </a:solidFill>
              </a:rPr>
              <a:t>  __IO uint32_t BSRR;</a:t>
            </a:r>
          </a:p>
          <a:p>
            <a:pPr indent="177800">
              <a:lnSpc>
                <a:spcPct val="125000"/>
              </a:lnSpc>
            </a:pPr>
            <a:r>
              <a:rPr lang="en-US" altLang="zh-CN" sz="1400" b="1" dirty="0">
                <a:solidFill>
                  <a:schemeClr val="accent5">
                    <a:lumMod val="75000"/>
                  </a:schemeClr>
                </a:solidFill>
              </a:rPr>
              <a:t>  __IO uint32_t BRR;</a:t>
            </a:r>
          </a:p>
          <a:p>
            <a:pPr indent="177800">
              <a:lnSpc>
                <a:spcPct val="125000"/>
              </a:lnSpc>
            </a:pPr>
            <a:r>
              <a:rPr lang="en-US" altLang="zh-CN" sz="1400" b="1" dirty="0">
                <a:solidFill>
                  <a:schemeClr val="accent5">
                    <a:lumMod val="75000"/>
                  </a:schemeClr>
                </a:solidFill>
              </a:rPr>
              <a:t>  __IO uint32_t LCKR;</a:t>
            </a:r>
          </a:p>
          <a:p>
            <a:pPr indent="177800">
              <a:lnSpc>
                <a:spcPct val="125000"/>
              </a:lnSpc>
            </a:pPr>
            <a:r>
              <a:rPr lang="en-US" altLang="zh-CN" sz="1400" b="1" dirty="0">
                <a:solidFill>
                  <a:schemeClr val="accent5">
                    <a:lumMod val="75000"/>
                  </a:schemeClr>
                </a:solidFill>
              </a:rPr>
              <a:t>} </a:t>
            </a:r>
            <a:r>
              <a:rPr lang="en-US" altLang="zh-CN" sz="1400" b="1" dirty="0" err="1">
                <a:solidFill>
                  <a:schemeClr val="accent5">
                    <a:lumMod val="75000"/>
                  </a:schemeClr>
                </a:solidFill>
              </a:rPr>
              <a:t>GPIO_TypeDef</a:t>
            </a:r>
            <a:r>
              <a:rPr lang="en-US" altLang="zh-CN" sz="1400" b="1" dirty="0">
                <a:solidFill>
                  <a:schemeClr val="accent5">
                    <a:lumMod val="75000"/>
                  </a:schemeClr>
                </a:solidFill>
              </a:rPr>
              <a:t>;</a:t>
            </a:r>
          </a:p>
        </p:txBody>
      </p:sp>
      <p:sp>
        <p:nvSpPr>
          <p:cNvPr id="15" name="圆角矩形标注 14"/>
          <p:cNvSpPr/>
          <p:nvPr/>
        </p:nvSpPr>
        <p:spPr>
          <a:xfrm>
            <a:off x="323528" y="4227934"/>
            <a:ext cx="3484524" cy="576660"/>
          </a:xfrm>
          <a:prstGeom prst="wedgeRoundRectCallout">
            <a:avLst>
              <a:gd name="adj1" fmla="val -12859"/>
              <a:gd name="adj2" fmla="val -9456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200" b="1" dirty="0" smtClean="0">
                <a:solidFill>
                  <a:prstClr val="black"/>
                </a:solidFill>
              </a:rPr>
              <a:t>声明了名</a:t>
            </a:r>
            <a:r>
              <a:rPr lang="zh-CN" altLang="en-US" sz="1200" b="1" dirty="0">
                <a:solidFill>
                  <a:prstClr val="black"/>
                </a:solidFill>
              </a:rPr>
              <a:t>为</a:t>
            </a:r>
            <a:r>
              <a:rPr lang="en-US" altLang="zh-CN" sz="1200" b="1" dirty="0" err="1">
                <a:solidFill>
                  <a:prstClr val="black"/>
                </a:solidFill>
              </a:rPr>
              <a:t>GPIO_TypeDef</a:t>
            </a:r>
            <a:r>
              <a:rPr lang="zh-CN" altLang="en-US" sz="1200" b="1" dirty="0">
                <a:solidFill>
                  <a:prstClr val="black"/>
                </a:solidFill>
              </a:rPr>
              <a:t>的结构体类型</a:t>
            </a:r>
            <a:r>
              <a:rPr lang="zh-CN" altLang="en-US" sz="1200" b="1" dirty="0" smtClean="0">
                <a:solidFill>
                  <a:prstClr val="black"/>
                </a:solidFill>
              </a:rPr>
              <a:t>，</a:t>
            </a:r>
            <a:r>
              <a:rPr lang="en-US" altLang="zh-CN" sz="1200" b="1" dirty="0" smtClean="0">
                <a:solidFill>
                  <a:prstClr val="black"/>
                </a:solidFill>
              </a:rPr>
              <a:t>C</a:t>
            </a:r>
            <a:r>
              <a:rPr lang="zh-CN" altLang="en-US" sz="1200" b="1" dirty="0">
                <a:solidFill>
                  <a:prstClr val="black"/>
                </a:solidFill>
              </a:rPr>
              <a:t>语言中</a:t>
            </a:r>
            <a:r>
              <a:rPr lang="en-US" altLang="zh-CN" sz="1200" b="1" dirty="0" err="1">
                <a:solidFill>
                  <a:prstClr val="black"/>
                </a:solidFill>
              </a:rPr>
              <a:t>struct</a:t>
            </a:r>
            <a:r>
              <a:rPr lang="zh-CN" altLang="en-US" sz="1200" b="1" dirty="0">
                <a:solidFill>
                  <a:prstClr val="black"/>
                </a:solidFill>
              </a:rPr>
              <a:t>结构体中成员在内存中是按顺序存储</a:t>
            </a:r>
            <a:r>
              <a:rPr lang="zh-CN" altLang="en-US" sz="1200" b="1" dirty="0" smtClean="0">
                <a:solidFill>
                  <a:prstClr val="black"/>
                </a:solidFill>
              </a:rPr>
              <a:t>的。</a:t>
            </a:r>
            <a:endParaRPr lang="zh-CN" altLang="en-US" sz="1200" b="1" dirty="0">
              <a:solidFill>
                <a:prstClr val="black"/>
              </a:solidFill>
            </a:endParaRPr>
          </a:p>
        </p:txBody>
      </p:sp>
      <p:sp>
        <p:nvSpPr>
          <p:cNvPr id="7" name="矩形 6"/>
          <p:cNvSpPr/>
          <p:nvPr/>
        </p:nvSpPr>
        <p:spPr>
          <a:xfrm>
            <a:off x="4283968" y="1869093"/>
            <a:ext cx="4581679" cy="3054682"/>
          </a:xfrm>
          <a:prstGeom prst="rect">
            <a:avLst/>
          </a:prstGeom>
        </p:spPr>
        <p:txBody>
          <a:bodyPr wrap="square">
            <a:spAutoFit/>
          </a:bodyPr>
          <a:lstStyle/>
          <a:p>
            <a:pPr>
              <a:lnSpc>
                <a:spcPct val="125000"/>
              </a:lnSpc>
            </a:pPr>
            <a:r>
              <a:rPr lang="en-US" altLang="zh-CN" sz="1400" b="1" dirty="0" smtClean="0"/>
              <a:t>      ST</a:t>
            </a:r>
            <a:r>
              <a:rPr lang="zh-CN" altLang="en-US" sz="1400" b="1" dirty="0"/>
              <a:t>工程师把对底层寄存器的操作进行了封装，以</a:t>
            </a:r>
            <a:r>
              <a:rPr lang="en-US" altLang="zh-CN" sz="1400" b="1" dirty="0"/>
              <a:t>API</a:t>
            </a:r>
            <a:r>
              <a:rPr lang="zh-CN" altLang="en-US" sz="1400" b="1" dirty="0"/>
              <a:t>的形式供开发人员调用</a:t>
            </a:r>
            <a:r>
              <a:rPr lang="zh-CN" altLang="en-US" sz="1400" b="1" dirty="0" smtClean="0"/>
              <a:t>，如</a:t>
            </a:r>
            <a:r>
              <a:rPr lang="en-US" altLang="zh-CN" sz="1400" b="1" dirty="0"/>
              <a:t>STM32</a:t>
            </a:r>
            <a:r>
              <a:rPr lang="zh-CN" altLang="en-US" sz="1400" b="1" dirty="0"/>
              <a:t>提供的库函数</a:t>
            </a:r>
            <a:r>
              <a:rPr lang="en-US" altLang="zh-CN" sz="1400" b="1" dirty="0" err="1"/>
              <a:t>GPIO_SetBits</a:t>
            </a:r>
            <a:r>
              <a:rPr lang="en-US" altLang="zh-CN" sz="1400" b="1" dirty="0"/>
              <a:t>()</a:t>
            </a:r>
            <a:r>
              <a:rPr lang="zh-CN" altLang="en-US" sz="1400" b="1" dirty="0"/>
              <a:t>，用于设置某位引脚为高</a:t>
            </a:r>
            <a:r>
              <a:rPr lang="zh-CN" altLang="en-US" sz="1400" b="1" dirty="0" smtClean="0"/>
              <a:t>电平：</a:t>
            </a:r>
            <a:endParaRPr lang="zh-CN" altLang="en-US" sz="1400" b="1" dirty="0"/>
          </a:p>
          <a:p>
            <a:pPr indent="177800">
              <a:lnSpc>
                <a:spcPct val="125000"/>
              </a:lnSpc>
            </a:pPr>
            <a:r>
              <a:rPr lang="en-US" altLang="zh-CN" sz="1400" b="1" dirty="0">
                <a:solidFill>
                  <a:srgbClr val="4BACC6">
                    <a:lumMod val="75000"/>
                  </a:srgbClr>
                </a:solidFill>
              </a:rPr>
              <a:t>void </a:t>
            </a:r>
            <a:r>
              <a:rPr lang="en-US" altLang="zh-CN" sz="1400" b="1" dirty="0" err="1">
                <a:solidFill>
                  <a:srgbClr val="4BACC6">
                    <a:lumMod val="75000"/>
                  </a:srgbClr>
                </a:solidFill>
              </a:rPr>
              <a:t>GPIO_SetBits</a:t>
            </a:r>
            <a:r>
              <a:rPr lang="en-US" altLang="zh-CN" sz="1400" b="1" dirty="0">
                <a:solidFill>
                  <a:srgbClr val="4BACC6">
                    <a:lumMod val="75000"/>
                  </a:srgbClr>
                </a:solidFill>
              </a:rPr>
              <a:t>(</a:t>
            </a:r>
            <a:r>
              <a:rPr lang="en-US" altLang="zh-CN" sz="1400" b="1" dirty="0" err="1">
                <a:solidFill>
                  <a:srgbClr val="4BACC6">
                    <a:lumMod val="75000"/>
                  </a:srgbClr>
                </a:solidFill>
              </a:rPr>
              <a:t>GPIO_TypeDef</a:t>
            </a:r>
            <a:r>
              <a:rPr lang="en-US" altLang="zh-CN" sz="1400" b="1" dirty="0">
                <a:solidFill>
                  <a:srgbClr val="4BACC6">
                    <a:lumMod val="75000"/>
                  </a:srgbClr>
                </a:solidFill>
              </a:rPr>
              <a:t>* </a:t>
            </a:r>
            <a:r>
              <a:rPr lang="en-US" altLang="zh-CN" sz="1400" b="1" dirty="0" err="1">
                <a:solidFill>
                  <a:srgbClr val="4BACC6">
                    <a:lumMod val="75000"/>
                  </a:srgbClr>
                </a:solidFill>
              </a:rPr>
              <a:t>GPIOx</a:t>
            </a:r>
            <a:r>
              <a:rPr lang="en-US" altLang="zh-CN" sz="1400" b="1" dirty="0">
                <a:solidFill>
                  <a:srgbClr val="4BACC6">
                    <a:lumMod val="75000"/>
                  </a:srgbClr>
                </a:solidFill>
              </a:rPr>
              <a:t>, uint16_t </a:t>
            </a:r>
            <a:r>
              <a:rPr lang="en-US" altLang="zh-CN" sz="1400" b="1" dirty="0" err="1">
                <a:solidFill>
                  <a:srgbClr val="4BACC6">
                    <a:lumMod val="75000"/>
                  </a:srgbClr>
                </a:solidFill>
              </a:rPr>
              <a:t>GPIO_Pin</a:t>
            </a: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 </a:t>
            </a:r>
            <a:r>
              <a:rPr lang="en-US" altLang="zh-CN" sz="1400" b="1" dirty="0" smtClean="0">
                <a:solidFill>
                  <a:srgbClr val="4BACC6">
                    <a:lumMod val="75000"/>
                  </a:srgbClr>
                </a:solidFill>
              </a:rPr>
              <a:t>     </a:t>
            </a:r>
            <a:r>
              <a:rPr lang="en-US" altLang="zh-CN" sz="1400" b="1" dirty="0" err="1">
                <a:solidFill>
                  <a:srgbClr val="4BACC6">
                    <a:lumMod val="75000"/>
                  </a:srgbClr>
                </a:solidFill>
              </a:rPr>
              <a:t>GPIOx</a:t>
            </a:r>
            <a:r>
              <a:rPr lang="en-US" altLang="zh-CN" sz="1400" b="1" dirty="0">
                <a:solidFill>
                  <a:srgbClr val="4BACC6">
                    <a:lumMod val="75000"/>
                  </a:srgbClr>
                </a:solidFill>
              </a:rPr>
              <a:t>-&gt;BSRR = </a:t>
            </a:r>
            <a:r>
              <a:rPr lang="en-US" altLang="zh-CN" sz="1400" b="1" dirty="0" err="1">
                <a:solidFill>
                  <a:srgbClr val="4BACC6">
                    <a:lumMod val="75000"/>
                  </a:srgbClr>
                </a:solidFill>
              </a:rPr>
              <a:t>GPIO_Pin</a:t>
            </a:r>
            <a:r>
              <a:rPr lang="en-US" altLang="zh-CN" sz="1400" b="1" dirty="0">
                <a:solidFill>
                  <a:srgbClr val="4BACC6">
                    <a:lumMod val="75000"/>
                  </a:srgbClr>
                </a:solidFill>
              </a:rPr>
              <a:t>;</a:t>
            </a:r>
          </a:p>
          <a:p>
            <a:pPr indent="177800">
              <a:lnSpc>
                <a:spcPct val="125000"/>
              </a:lnSpc>
            </a:pPr>
            <a:r>
              <a:rPr lang="en-US" altLang="zh-CN" sz="1400" b="1" dirty="0">
                <a:solidFill>
                  <a:srgbClr val="4BACC6">
                    <a:lumMod val="75000"/>
                  </a:srgbClr>
                </a:solidFill>
              </a:rPr>
              <a:t>}</a:t>
            </a:r>
          </a:p>
          <a:p>
            <a:pPr>
              <a:lnSpc>
                <a:spcPct val="125000"/>
              </a:lnSpc>
            </a:pPr>
            <a:r>
              <a:rPr lang="zh-CN" altLang="en-US" sz="1400" dirty="0" smtClean="0"/>
              <a:t>       </a:t>
            </a:r>
            <a:r>
              <a:rPr lang="zh-CN" altLang="en-US" sz="1400" b="1" dirty="0" smtClean="0"/>
              <a:t>库</a:t>
            </a:r>
            <a:r>
              <a:rPr lang="zh-CN" altLang="en-US" sz="1400" b="1" dirty="0"/>
              <a:t>函数</a:t>
            </a:r>
            <a:r>
              <a:rPr lang="en-US" altLang="zh-CN" sz="1400" b="1" dirty="0" err="1"/>
              <a:t>GPIO_SetBits</a:t>
            </a:r>
            <a:r>
              <a:rPr lang="en-US" altLang="zh-CN" sz="1400" b="1" dirty="0"/>
              <a:t>()</a:t>
            </a:r>
            <a:r>
              <a:rPr lang="zh-CN" altLang="en-US" sz="1400" b="1" dirty="0" smtClean="0"/>
              <a:t>实质上还是</a:t>
            </a:r>
            <a:r>
              <a:rPr lang="zh-CN" altLang="en-US" sz="1400" b="1" dirty="0"/>
              <a:t>对寄存器</a:t>
            </a:r>
            <a:r>
              <a:rPr lang="en-US" altLang="zh-CN" sz="1400" b="1" dirty="0"/>
              <a:t>BSRR</a:t>
            </a:r>
            <a:r>
              <a:rPr lang="zh-CN" altLang="en-US" sz="1400" b="1" dirty="0" smtClean="0"/>
              <a:t>进行读写</a:t>
            </a:r>
            <a:r>
              <a:rPr lang="zh-CN" altLang="en-US" sz="1400" b="1" dirty="0"/>
              <a:t>操作，只是进行了封装，开发人员只需调用此函数</a:t>
            </a:r>
            <a:r>
              <a:rPr lang="zh-CN" altLang="en-US" sz="1400" b="1" dirty="0" smtClean="0"/>
              <a:t>就可以实现对</a:t>
            </a:r>
            <a:r>
              <a:rPr lang="en-US" altLang="zh-CN" sz="1400" b="1" dirty="0"/>
              <a:t>BSRR</a:t>
            </a:r>
            <a:r>
              <a:rPr lang="zh-CN" altLang="en-US" sz="1400" b="1" dirty="0"/>
              <a:t>寄存器的操作。</a:t>
            </a:r>
          </a:p>
        </p:txBody>
      </p:sp>
      <p:sp>
        <p:nvSpPr>
          <p:cNvPr id="8" name="矩形 7"/>
          <p:cNvSpPr/>
          <p:nvPr/>
        </p:nvSpPr>
        <p:spPr>
          <a:xfrm>
            <a:off x="4211960" y="411510"/>
            <a:ext cx="4536503" cy="361637"/>
          </a:xfrm>
          <a:prstGeom prst="rect">
            <a:avLst/>
          </a:prstGeom>
        </p:spPr>
        <p:txBody>
          <a:bodyPr wrap="square">
            <a:spAutoFit/>
          </a:bodyPr>
          <a:lstStyle/>
          <a:p>
            <a:pPr lvl="0">
              <a:lnSpc>
                <a:spcPct val="125000"/>
              </a:lnSpc>
            </a:pPr>
            <a:r>
              <a:rPr lang="zh-CN" altLang="en-US" sz="1400" b="1" dirty="0"/>
              <a:t>有了寄存器的地址，就可以使用指针进行读写操作了。</a:t>
            </a:r>
            <a:endParaRPr lang="en-US" altLang="zh-CN" sz="1400" b="1" dirty="0"/>
          </a:p>
        </p:txBody>
      </p:sp>
      <p:sp>
        <p:nvSpPr>
          <p:cNvPr id="9" name="矩形 8"/>
          <p:cNvSpPr/>
          <p:nvPr/>
        </p:nvSpPr>
        <p:spPr>
          <a:xfrm>
            <a:off x="4449345" y="699542"/>
            <a:ext cx="3672408" cy="1169551"/>
          </a:xfrm>
          <a:prstGeom prst="rect">
            <a:avLst/>
          </a:prstGeom>
        </p:spPr>
        <p:txBody>
          <a:bodyPr wrap="square">
            <a:spAutoFit/>
          </a:bodyPr>
          <a:lstStyle/>
          <a:p>
            <a:pPr lvl="0" indent="177800">
              <a:lnSpc>
                <a:spcPct val="125000"/>
              </a:lnSpc>
            </a:pPr>
            <a:r>
              <a:rPr lang="en-US" altLang="zh-CN" sz="1400" b="1" dirty="0">
                <a:solidFill>
                  <a:srgbClr val="4BACC6">
                    <a:lumMod val="75000"/>
                  </a:srgbClr>
                </a:solidFill>
              </a:rPr>
              <a:t>GPIOA_&gt;BSRR | = (1 &lt;&lt; 10) ;</a:t>
            </a:r>
          </a:p>
          <a:p>
            <a:pPr lvl="0" indent="177800">
              <a:lnSpc>
                <a:spcPct val="125000"/>
              </a:lnSpc>
            </a:pPr>
            <a:r>
              <a:rPr lang="en-US" altLang="zh-CN" sz="1400" b="1" dirty="0">
                <a:solidFill>
                  <a:srgbClr val="4BACC6">
                    <a:lumMod val="75000"/>
                  </a:srgbClr>
                </a:solidFill>
              </a:rPr>
              <a:t>     </a:t>
            </a:r>
            <a:r>
              <a:rPr lang="en-US" altLang="zh-CN" sz="1200" b="1" dirty="0"/>
              <a:t>//</a:t>
            </a:r>
            <a:r>
              <a:rPr lang="zh-CN" altLang="en-US" sz="1200" b="1" dirty="0"/>
              <a:t>等同于 *</a:t>
            </a:r>
            <a:r>
              <a:rPr lang="en-US" altLang="zh-CN" sz="1200" b="1" dirty="0"/>
              <a:t>((</a:t>
            </a:r>
            <a:r>
              <a:rPr lang="en-US" altLang="zh-CN" sz="1200" b="1" dirty="0" err="1"/>
              <a:t>int</a:t>
            </a:r>
            <a:r>
              <a:rPr lang="en-US" altLang="zh-CN" sz="1200" b="1" dirty="0"/>
              <a:t> *) (0x 0x4001 0810) ) | = (1 &lt;&lt;10);</a:t>
            </a:r>
            <a:endParaRPr lang="en-US" altLang="zh-CN" sz="1400" b="1" dirty="0"/>
          </a:p>
          <a:p>
            <a:pPr lvl="0" indent="177800">
              <a:lnSpc>
                <a:spcPct val="125000"/>
              </a:lnSpc>
            </a:pPr>
            <a:r>
              <a:rPr lang="en-US" altLang="zh-CN" sz="1400" b="1" dirty="0">
                <a:solidFill>
                  <a:srgbClr val="4BACC6">
                    <a:lumMod val="75000"/>
                  </a:srgbClr>
                </a:solidFill>
              </a:rPr>
              <a:t>GPIOA-&gt;ODR =0xFF; </a:t>
            </a:r>
          </a:p>
          <a:p>
            <a:pPr lvl="0" indent="177800">
              <a:lnSpc>
                <a:spcPct val="125000"/>
              </a:lnSpc>
            </a:pPr>
            <a:r>
              <a:rPr lang="en-US" altLang="zh-CN" sz="1400" b="1" dirty="0">
                <a:solidFill>
                  <a:srgbClr val="4BACC6">
                    <a:lumMod val="75000"/>
                  </a:srgbClr>
                </a:solidFill>
              </a:rPr>
              <a:t>     </a:t>
            </a:r>
            <a:r>
              <a:rPr lang="en-US" altLang="zh-CN" sz="1200" b="1" dirty="0"/>
              <a:t>//</a:t>
            </a:r>
            <a:r>
              <a:rPr lang="zh-CN" altLang="en-US" sz="1200" b="1" dirty="0"/>
              <a:t>等同于 *</a:t>
            </a:r>
            <a:r>
              <a:rPr lang="en-US" altLang="zh-CN" sz="1200" b="1" dirty="0"/>
              <a:t>((</a:t>
            </a:r>
            <a:r>
              <a:rPr lang="en-US" altLang="zh-CN" sz="1200" b="1" dirty="0" err="1"/>
              <a:t>int</a:t>
            </a:r>
            <a:r>
              <a:rPr lang="en-US" altLang="zh-CN" sz="1200" b="1" dirty="0"/>
              <a:t> *) (0x 0x4001 080C) )  = 0xFF;</a:t>
            </a:r>
          </a:p>
        </p:txBody>
      </p:sp>
      <p:sp>
        <p:nvSpPr>
          <p:cNvPr id="20" name="五边形 19"/>
          <p:cNvSpPr/>
          <p:nvPr/>
        </p:nvSpPr>
        <p:spPr>
          <a:xfrm rot="5400000">
            <a:off x="2439570" y="2696668"/>
            <a:ext cx="2931826" cy="107125"/>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十字星 21"/>
          <p:cNvSpPr/>
          <p:nvPr/>
        </p:nvSpPr>
        <p:spPr>
          <a:xfrm>
            <a:off x="3762664" y="773147"/>
            <a:ext cx="274937" cy="430451"/>
          </a:xfrm>
          <a:prstGeom prst="star4">
            <a:avLst/>
          </a:prstGeom>
          <a:solidFill>
            <a:schemeClr val="bg1">
              <a:lumMod val="85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481447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55577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276585" cy="461665"/>
          </a:xfrm>
          <a:prstGeom prst="rect">
            <a:avLst/>
          </a:prstGeom>
        </p:spPr>
        <p:txBody>
          <a:bodyPr wrap="none">
            <a:spAutoFit/>
          </a:bodyPr>
          <a:lstStyle/>
          <a:p>
            <a:r>
              <a:rPr lang="en-US" altLang="zh-CN" sz="2400" b="1" dirty="0" smtClean="0">
                <a:solidFill>
                  <a:schemeClr val="bg1"/>
                </a:solidFill>
              </a:rPr>
              <a:t>4.2.12 </a:t>
            </a:r>
            <a:r>
              <a:rPr lang="zh-CN" altLang="en-US" sz="2400" b="1" dirty="0" smtClean="0">
                <a:solidFill>
                  <a:schemeClr val="bg1"/>
                </a:solidFill>
              </a:rPr>
              <a:t>回调函数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1520" y="1152837"/>
            <a:ext cx="3240360" cy="3262432"/>
          </a:xfrm>
          <a:prstGeom prst="rect">
            <a:avLst/>
          </a:prstGeom>
        </p:spPr>
        <p:txBody>
          <a:bodyPr wrap="square">
            <a:spAutoFit/>
          </a:bodyPr>
          <a:lstStyle/>
          <a:p>
            <a:pPr marL="285750" indent="-285750">
              <a:spcBef>
                <a:spcPts val="600"/>
              </a:spcBef>
              <a:buClr>
                <a:schemeClr val="accent4">
                  <a:lumMod val="75000"/>
                </a:schemeClr>
              </a:buClr>
              <a:buFont typeface="Wingdings" pitchFamily="2" charset="2"/>
              <a:buChar char="u"/>
            </a:pPr>
            <a:r>
              <a:rPr lang="zh-CN" altLang="en-US" sz="1600" b="1" dirty="0" smtClean="0">
                <a:latin typeface="+mn-ea"/>
                <a:cs typeface="Open Sans" panose="020B0606030504020204" pitchFamily="34" charset="0"/>
              </a:rPr>
              <a:t>通过</a:t>
            </a:r>
            <a:r>
              <a:rPr lang="zh-CN" altLang="en-US" sz="1600" b="1" dirty="0">
                <a:latin typeface="+mn-ea"/>
                <a:cs typeface="Open Sans" panose="020B0606030504020204" pitchFamily="34" charset="0"/>
              </a:rPr>
              <a:t>函数指针调用的函数</a:t>
            </a:r>
            <a:r>
              <a:rPr lang="zh-CN" altLang="en-US" sz="1600" b="1" dirty="0" smtClean="0">
                <a:latin typeface="+mn-ea"/>
                <a:cs typeface="Open Sans" panose="020B0606030504020204" pitchFamily="34" charset="0"/>
              </a:rPr>
              <a:t>。</a:t>
            </a:r>
            <a:endParaRPr lang="en-GB" altLang="zh-CN" sz="1600" b="1" dirty="0" smtClean="0">
              <a:latin typeface="+mn-ea"/>
              <a:cs typeface="Open Sans" panose="020B0606030504020204" pitchFamily="34" charset="0"/>
            </a:endParaRPr>
          </a:p>
          <a:p>
            <a:pPr marL="285750" indent="-285750">
              <a:lnSpc>
                <a:spcPct val="125000"/>
              </a:lnSpc>
              <a:spcBef>
                <a:spcPts val="600"/>
              </a:spcBef>
              <a:buClr>
                <a:schemeClr val="accent4">
                  <a:lumMod val="75000"/>
                </a:schemeClr>
              </a:buClr>
              <a:buFont typeface="Wingdings" pitchFamily="2" charset="2"/>
              <a:buChar char="u"/>
            </a:pPr>
            <a:r>
              <a:rPr lang="zh-CN" altLang="en-US" sz="1600" b="1" dirty="0" smtClean="0">
                <a:latin typeface="+mn-ea"/>
                <a:cs typeface="Open Sans" panose="020B0606030504020204" pitchFamily="34" charset="0"/>
              </a:rPr>
              <a:t>操作系统</a:t>
            </a:r>
            <a:r>
              <a:rPr lang="zh-CN" altLang="en-US" sz="1600" b="1" dirty="0">
                <a:latin typeface="+mn-ea"/>
                <a:cs typeface="Open Sans" panose="020B0606030504020204" pitchFamily="34" charset="0"/>
              </a:rPr>
              <a:t>中的某些函数常需要调用用户定义的函数来实现其功能，由于与常用的用户程序调用系统函数的调用方向相反，因此将这种调用称为“回调”（</a:t>
            </a:r>
            <a:r>
              <a:rPr lang="en-US" altLang="zh-CN" sz="1600" b="1" dirty="0">
                <a:latin typeface="+mn-ea"/>
                <a:cs typeface="Open Sans" panose="020B0606030504020204" pitchFamily="34" charset="0"/>
              </a:rPr>
              <a:t>Callback</a:t>
            </a:r>
            <a:r>
              <a:rPr lang="zh-CN" altLang="en-US" sz="1600" b="1" dirty="0">
                <a:latin typeface="+mn-ea"/>
                <a:cs typeface="Open Sans" panose="020B0606030504020204" pitchFamily="34" charset="0"/>
              </a:rPr>
              <a:t>），而被系统函数调用的函数称为“回调函数”</a:t>
            </a:r>
            <a:r>
              <a:rPr lang="zh-CN" altLang="en-US" sz="1600" b="1" dirty="0" smtClean="0">
                <a:latin typeface="+mn-ea"/>
                <a:cs typeface="Open Sans" panose="020B0606030504020204" pitchFamily="34" charset="0"/>
              </a:rPr>
              <a:t>。</a:t>
            </a:r>
            <a:endParaRPr lang="en-GB" altLang="zh-CN" sz="1600" b="1" dirty="0" smtClean="0">
              <a:latin typeface="+mn-ea"/>
              <a:cs typeface="Open Sans" panose="020B0606030504020204" pitchFamily="34" charset="0"/>
            </a:endParaRPr>
          </a:p>
          <a:p>
            <a:pPr marL="285750" indent="-285750">
              <a:lnSpc>
                <a:spcPct val="125000"/>
              </a:lnSpc>
              <a:spcBef>
                <a:spcPts val="600"/>
              </a:spcBef>
              <a:buClr>
                <a:schemeClr val="accent4">
                  <a:lumMod val="75000"/>
                </a:schemeClr>
              </a:buClr>
              <a:buFont typeface="Wingdings" pitchFamily="2" charset="2"/>
              <a:buChar char="u"/>
            </a:pPr>
            <a:r>
              <a:rPr lang="zh-CN" altLang="en-US" sz="1600" b="1" dirty="0" smtClean="0">
                <a:solidFill>
                  <a:schemeClr val="accent5">
                    <a:lumMod val="75000"/>
                  </a:schemeClr>
                </a:solidFill>
                <a:latin typeface="+mn-ea"/>
                <a:cs typeface="Open Sans" panose="020B0606030504020204" pitchFamily="34" charset="0"/>
              </a:rPr>
              <a:t>回</a:t>
            </a:r>
            <a:r>
              <a:rPr lang="zh-CN" altLang="en-US" sz="1600" b="1" dirty="0">
                <a:solidFill>
                  <a:schemeClr val="accent5">
                    <a:lumMod val="75000"/>
                  </a:schemeClr>
                </a:solidFill>
                <a:latin typeface="+mn-ea"/>
                <a:cs typeface="Open Sans" panose="020B0606030504020204" pitchFamily="34" charset="0"/>
              </a:rPr>
              <a:t>调函数是指通过调用其他函数反过来调用某个函数。</a:t>
            </a:r>
            <a:endParaRPr lang="en-US" sz="1600" b="1" dirty="0">
              <a:solidFill>
                <a:schemeClr val="accent5">
                  <a:lumMod val="75000"/>
                </a:schemeClr>
              </a:solidFill>
              <a:latin typeface="+mn-ea"/>
              <a:cs typeface="Open Sans" panose="020B0606030504020204" pitchFamily="34" charset="0"/>
            </a:endParaRPr>
          </a:p>
        </p:txBody>
      </p:sp>
      <p:sp>
        <p:nvSpPr>
          <p:cNvPr id="6" name="矩形 5"/>
          <p:cNvSpPr/>
          <p:nvPr/>
        </p:nvSpPr>
        <p:spPr>
          <a:xfrm>
            <a:off x="4283968" y="1259441"/>
            <a:ext cx="4113763" cy="2492990"/>
          </a:xfrm>
          <a:prstGeom prst="rect">
            <a:avLst/>
          </a:prstGeom>
          <a:solidFill>
            <a:schemeClr val="accent4">
              <a:lumMod val="20000"/>
              <a:lumOff val="80000"/>
            </a:schemeClr>
          </a:solidFill>
        </p:spPr>
        <p:txBody>
          <a:bodyPr wrap="square">
            <a:spAutoFit/>
          </a:bodyPr>
          <a:lstStyle/>
          <a:p>
            <a:pPr lvl="0"/>
            <a:r>
              <a:rPr lang="en-GB" altLang="zh-CN" sz="1200" b="1" dirty="0" smtClean="0">
                <a:solidFill>
                  <a:prstClr val="black"/>
                </a:solidFill>
              </a:rPr>
              <a:t>void </a:t>
            </a:r>
            <a:r>
              <a:rPr lang="en-GB" altLang="zh-CN" sz="1200" b="1" dirty="0" err="1">
                <a:solidFill>
                  <a:prstClr val="black"/>
                </a:solidFill>
              </a:rPr>
              <a:t>HAL_GPIO_EXTI_IRQHandler</a:t>
            </a:r>
            <a:r>
              <a:rPr lang="en-GB" altLang="zh-CN" sz="1200" b="1" dirty="0">
                <a:solidFill>
                  <a:prstClr val="black"/>
                </a:solidFill>
              </a:rPr>
              <a:t>(uint16_t </a:t>
            </a:r>
            <a:r>
              <a:rPr lang="en-GB" altLang="zh-CN" sz="1200" b="1" dirty="0" err="1">
                <a:solidFill>
                  <a:prstClr val="black"/>
                </a:solidFill>
              </a:rPr>
              <a:t>GPIO_Pin</a:t>
            </a:r>
            <a:r>
              <a:rPr lang="en-GB" altLang="zh-CN" sz="1200" b="1" dirty="0">
                <a:solidFill>
                  <a:prstClr val="black"/>
                </a:solidFill>
              </a:rPr>
              <a:t>)</a:t>
            </a:r>
          </a:p>
          <a:p>
            <a:pPr lvl="0"/>
            <a:r>
              <a:rPr lang="en-GB" altLang="zh-CN" sz="1200" b="1" dirty="0">
                <a:solidFill>
                  <a:prstClr val="black"/>
                </a:solidFill>
              </a:rPr>
              <a:t>{</a:t>
            </a:r>
          </a:p>
          <a:p>
            <a:pPr lvl="0" indent="180975"/>
            <a:r>
              <a:rPr lang="en-GB" altLang="zh-CN" sz="1200" b="1" dirty="0">
                <a:solidFill>
                  <a:prstClr val="black"/>
                </a:solidFill>
              </a:rPr>
              <a:t>  if (__HAL_GPIO_EXTI_GET_IT(</a:t>
            </a:r>
            <a:r>
              <a:rPr lang="en-GB" altLang="zh-CN" sz="1200" b="1" dirty="0" err="1">
                <a:solidFill>
                  <a:prstClr val="black"/>
                </a:solidFill>
              </a:rPr>
              <a:t>GPIO_Pin</a:t>
            </a:r>
            <a:r>
              <a:rPr lang="en-GB" altLang="zh-CN" sz="1200" b="1" dirty="0">
                <a:solidFill>
                  <a:prstClr val="black"/>
                </a:solidFill>
              </a:rPr>
              <a:t>) != RESET)</a:t>
            </a:r>
          </a:p>
          <a:p>
            <a:pPr lvl="0" indent="180975"/>
            <a:r>
              <a:rPr lang="en-GB" altLang="zh-CN" sz="1200" b="1" dirty="0">
                <a:solidFill>
                  <a:prstClr val="black"/>
                </a:solidFill>
              </a:rPr>
              <a:t>  {</a:t>
            </a:r>
          </a:p>
          <a:p>
            <a:pPr lvl="0" indent="180975"/>
            <a:r>
              <a:rPr lang="en-GB" altLang="zh-CN" sz="1200" b="1" dirty="0">
                <a:solidFill>
                  <a:prstClr val="black"/>
                </a:solidFill>
              </a:rPr>
              <a:t>   </a:t>
            </a:r>
            <a:r>
              <a:rPr lang="en-GB" altLang="zh-CN" sz="1200" b="1" dirty="0" smtClean="0">
                <a:solidFill>
                  <a:prstClr val="black"/>
                </a:solidFill>
              </a:rPr>
              <a:t>     </a:t>
            </a:r>
            <a:r>
              <a:rPr lang="en-GB" altLang="zh-CN" sz="1200" b="1" dirty="0">
                <a:solidFill>
                  <a:prstClr val="black"/>
                </a:solidFill>
              </a:rPr>
              <a:t>__HAL_GPIO_EXTI_CLEAR_IT(</a:t>
            </a:r>
            <a:r>
              <a:rPr lang="en-GB" altLang="zh-CN" sz="1200" b="1" dirty="0" err="1">
                <a:solidFill>
                  <a:prstClr val="black"/>
                </a:solidFill>
              </a:rPr>
              <a:t>GPIO_Pin</a:t>
            </a:r>
            <a:r>
              <a:rPr lang="en-GB" altLang="zh-CN" sz="1200" b="1" dirty="0">
                <a:solidFill>
                  <a:prstClr val="black"/>
                </a:solidFill>
              </a:rPr>
              <a:t>);</a:t>
            </a:r>
          </a:p>
          <a:p>
            <a:pPr lvl="0" indent="180975"/>
            <a:r>
              <a:rPr lang="en-GB" altLang="zh-CN" sz="1200" b="1" dirty="0">
                <a:solidFill>
                  <a:prstClr val="black"/>
                </a:solidFill>
              </a:rPr>
              <a:t>   </a:t>
            </a:r>
            <a:r>
              <a:rPr lang="en-GB" altLang="zh-CN" sz="1200" b="1" dirty="0" smtClean="0">
                <a:solidFill>
                  <a:prstClr val="black"/>
                </a:solidFill>
              </a:rPr>
              <a:t>     </a:t>
            </a:r>
            <a:r>
              <a:rPr lang="en-GB" altLang="zh-CN" sz="1200" b="1" dirty="0" err="1">
                <a:solidFill>
                  <a:prstClr val="black"/>
                </a:solidFill>
              </a:rPr>
              <a:t>HAL_GPIO_EXTI_Callback</a:t>
            </a:r>
            <a:r>
              <a:rPr lang="en-GB" altLang="zh-CN" sz="1200" b="1" dirty="0">
                <a:solidFill>
                  <a:prstClr val="black"/>
                </a:solidFill>
              </a:rPr>
              <a:t>(</a:t>
            </a:r>
            <a:r>
              <a:rPr lang="en-GB" altLang="zh-CN" sz="1200" b="1" dirty="0" err="1">
                <a:solidFill>
                  <a:prstClr val="black"/>
                </a:solidFill>
              </a:rPr>
              <a:t>GPIO_Pin</a:t>
            </a:r>
            <a:r>
              <a:rPr lang="en-GB" altLang="zh-CN" sz="1200" b="1" dirty="0">
                <a:solidFill>
                  <a:prstClr val="black"/>
                </a:solidFill>
              </a:rPr>
              <a:t>);</a:t>
            </a:r>
          </a:p>
          <a:p>
            <a:pPr lvl="0" indent="180975"/>
            <a:r>
              <a:rPr lang="en-GB" altLang="zh-CN" sz="1200" b="1" dirty="0">
                <a:solidFill>
                  <a:prstClr val="black"/>
                </a:solidFill>
              </a:rPr>
              <a:t>  }</a:t>
            </a:r>
          </a:p>
          <a:p>
            <a:pPr lvl="0"/>
            <a:r>
              <a:rPr lang="en-GB" altLang="zh-CN" sz="1200" b="1" dirty="0" smtClean="0">
                <a:solidFill>
                  <a:prstClr val="black"/>
                </a:solidFill>
              </a:rPr>
              <a:t>}</a:t>
            </a:r>
          </a:p>
          <a:p>
            <a:pPr lvl="0"/>
            <a:endParaRPr lang="en-GB" altLang="zh-CN" sz="1200" b="1" dirty="0">
              <a:solidFill>
                <a:prstClr val="black"/>
              </a:solidFill>
            </a:endParaRPr>
          </a:p>
          <a:p>
            <a:pPr lvl="0"/>
            <a:r>
              <a:rPr lang="en-GB" altLang="zh-CN" sz="1200" b="1" dirty="0">
                <a:solidFill>
                  <a:prstClr val="black"/>
                </a:solidFill>
              </a:rPr>
              <a:t>__weak void </a:t>
            </a:r>
            <a:r>
              <a:rPr lang="en-GB" altLang="zh-CN" sz="1200" b="1" dirty="0" err="1">
                <a:solidFill>
                  <a:prstClr val="black"/>
                </a:solidFill>
              </a:rPr>
              <a:t>HAL_GPIO_EXTI_Callback</a:t>
            </a:r>
            <a:r>
              <a:rPr lang="en-GB" altLang="zh-CN" sz="1200" b="1" dirty="0">
                <a:solidFill>
                  <a:prstClr val="black"/>
                </a:solidFill>
              </a:rPr>
              <a:t>(uint16_t </a:t>
            </a:r>
            <a:r>
              <a:rPr lang="en-GB" altLang="zh-CN" sz="1200" b="1" dirty="0" err="1">
                <a:solidFill>
                  <a:prstClr val="black"/>
                </a:solidFill>
              </a:rPr>
              <a:t>GPIO_Pin</a:t>
            </a:r>
            <a:r>
              <a:rPr lang="en-GB" altLang="zh-CN" sz="1200" b="1" dirty="0">
                <a:solidFill>
                  <a:prstClr val="black"/>
                </a:solidFill>
              </a:rPr>
              <a:t>)</a:t>
            </a:r>
          </a:p>
          <a:p>
            <a:pPr lvl="0"/>
            <a:r>
              <a:rPr lang="en-GB" altLang="zh-CN" sz="1200" b="1" dirty="0">
                <a:solidFill>
                  <a:prstClr val="black"/>
                </a:solidFill>
              </a:rPr>
              <a:t>{</a:t>
            </a:r>
          </a:p>
          <a:p>
            <a:pPr lvl="0"/>
            <a:r>
              <a:rPr lang="en-GB" altLang="zh-CN" sz="1200" b="1" dirty="0" smtClean="0">
                <a:solidFill>
                  <a:prstClr val="black"/>
                </a:solidFill>
              </a:rPr>
              <a:t>        UNUSED(</a:t>
            </a:r>
            <a:r>
              <a:rPr lang="en-GB" altLang="zh-CN" sz="1200" b="1" dirty="0" err="1" smtClean="0">
                <a:solidFill>
                  <a:prstClr val="black"/>
                </a:solidFill>
              </a:rPr>
              <a:t>GPIO_Pin</a:t>
            </a:r>
            <a:r>
              <a:rPr lang="en-GB" altLang="zh-CN" sz="1200" b="1" dirty="0">
                <a:solidFill>
                  <a:prstClr val="black"/>
                </a:solidFill>
              </a:rPr>
              <a:t>);</a:t>
            </a:r>
          </a:p>
          <a:p>
            <a:pPr lvl="0"/>
            <a:r>
              <a:rPr lang="en-GB" altLang="zh-CN" sz="1200" b="1" dirty="0">
                <a:solidFill>
                  <a:prstClr val="black"/>
                </a:solidFill>
              </a:rPr>
              <a:t>}</a:t>
            </a:r>
          </a:p>
        </p:txBody>
      </p:sp>
      <p:sp>
        <p:nvSpPr>
          <p:cNvPr id="7" name="圆角矩形标注 6"/>
          <p:cNvSpPr/>
          <p:nvPr/>
        </p:nvSpPr>
        <p:spPr>
          <a:xfrm>
            <a:off x="6804248" y="3654850"/>
            <a:ext cx="1915035" cy="471388"/>
          </a:xfrm>
          <a:prstGeom prst="wedgeRoundRectCallout">
            <a:avLst>
              <a:gd name="adj1" fmla="val -40150"/>
              <a:gd name="adj2" fmla="val -148415"/>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altLang="zh-CN" sz="1200" b="1" dirty="0">
                <a:solidFill>
                  <a:prstClr val="black"/>
                </a:solidFill>
              </a:rPr>
              <a:t>STM32</a:t>
            </a:r>
            <a:r>
              <a:rPr lang="zh-CN" altLang="en-US" sz="1200" b="1" dirty="0">
                <a:solidFill>
                  <a:prstClr val="black"/>
                </a:solidFill>
              </a:rPr>
              <a:t>的</a:t>
            </a:r>
            <a:r>
              <a:rPr lang="en-GB" altLang="zh-CN" sz="1200" b="1" dirty="0">
                <a:solidFill>
                  <a:prstClr val="black"/>
                </a:solidFill>
              </a:rPr>
              <a:t>HAL</a:t>
            </a:r>
            <a:r>
              <a:rPr lang="zh-CN" altLang="en-US" sz="1200" b="1" dirty="0">
                <a:solidFill>
                  <a:prstClr val="black"/>
                </a:solidFill>
              </a:rPr>
              <a:t>库中</a:t>
            </a:r>
            <a:r>
              <a:rPr lang="en-GB" altLang="zh-CN" sz="1200" b="1" dirty="0">
                <a:solidFill>
                  <a:prstClr val="black"/>
                </a:solidFill>
              </a:rPr>
              <a:t>GPIO</a:t>
            </a:r>
            <a:r>
              <a:rPr lang="zh-CN" altLang="en-US" sz="1200" b="1" dirty="0">
                <a:solidFill>
                  <a:prstClr val="black"/>
                </a:solidFill>
              </a:rPr>
              <a:t>引脚触发中断后的回调函数</a:t>
            </a:r>
          </a:p>
        </p:txBody>
      </p:sp>
      <p:sp>
        <p:nvSpPr>
          <p:cNvPr id="32" name="圆角矩形标注 31"/>
          <p:cNvSpPr/>
          <p:nvPr/>
        </p:nvSpPr>
        <p:spPr>
          <a:xfrm>
            <a:off x="6700755" y="801168"/>
            <a:ext cx="1471645" cy="378133"/>
          </a:xfrm>
          <a:prstGeom prst="wedgeRoundRectCallout">
            <a:avLst>
              <a:gd name="adj1" fmla="val -105513"/>
              <a:gd name="adj2" fmla="val 89602"/>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altLang="zh-CN" sz="1200" b="1" dirty="0">
                <a:solidFill>
                  <a:prstClr val="black"/>
                </a:solidFill>
              </a:rPr>
              <a:t>GPIO</a:t>
            </a:r>
            <a:r>
              <a:rPr lang="zh-CN" altLang="en-US" sz="1200" b="1" dirty="0">
                <a:solidFill>
                  <a:prstClr val="black"/>
                </a:solidFill>
              </a:rPr>
              <a:t>中断处理函数</a:t>
            </a:r>
            <a:endParaRPr lang="zh-CN" altLang="en-US" sz="1200" b="1" dirty="0"/>
          </a:p>
        </p:txBody>
      </p:sp>
      <p:sp>
        <p:nvSpPr>
          <p:cNvPr id="10" name="矩形 9"/>
          <p:cNvSpPr/>
          <p:nvPr/>
        </p:nvSpPr>
        <p:spPr>
          <a:xfrm>
            <a:off x="4149261" y="266042"/>
            <a:ext cx="3960438" cy="338554"/>
          </a:xfrm>
          <a:prstGeom prst="rect">
            <a:avLst/>
          </a:prstGeom>
        </p:spPr>
        <p:txBody>
          <a:bodyPr wrap="square">
            <a:spAutoFit/>
          </a:bodyPr>
          <a:lstStyle/>
          <a:p>
            <a:pPr algn="ctr"/>
            <a:r>
              <a:rPr lang="en-GB" altLang="zh-CN" sz="1600" b="1" dirty="0">
                <a:solidFill>
                  <a:schemeClr val="accent5">
                    <a:lumMod val="75000"/>
                  </a:schemeClr>
                </a:solidFill>
              </a:rPr>
              <a:t>STM32</a:t>
            </a:r>
            <a:r>
              <a:rPr lang="zh-CN" altLang="en-US" sz="1600" b="1" dirty="0">
                <a:solidFill>
                  <a:schemeClr val="accent5">
                    <a:lumMod val="75000"/>
                  </a:schemeClr>
                </a:solidFill>
              </a:rPr>
              <a:t>的</a:t>
            </a:r>
            <a:r>
              <a:rPr lang="en-GB" altLang="zh-CN" sz="1600" b="1" dirty="0">
                <a:solidFill>
                  <a:schemeClr val="accent5">
                    <a:lumMod val="75000"/>
                  </a:schemeClr>
                </a:solidFill>
              </a:rPr>
              <a:t>HAL</a:t>
            </a:r>
            <a:r>
              <a:rPr lang="zh-CN" altLang="en-US" sz="1600" b="1" dirty="0">
                <a:solidFill>
                  <a:schemeClr val="accent5">
                    <a:lumMod val="75000"/>
                  </a:schemeClr>
                </a:solidFill>
              </a:rPr>
              <a:t>库</a:t>
            </a:r>
            <a:r>
              <a:rPr lang="en-GB" altLang="zh-CN" sz="1600" b="1" dirty="0">
                <a:solidFill>
                  <a:schemeClr val="accent5">
                    <a:lumMod val="75000"/>
                  </a:schemeClr>
                </a:solidFill>
              </a:rPr>
              <a:t>stm32f1xx_hal_gpio.c</a:t>
            </a:r>
            <a:r>
              <a:rPr lang="zh-CN" altLang="en-US" sz="1600" b="1" dirty="0">
                <a:solidFill>
                  <a:schemeClr val="accent5">
                    <a:lumMod val="75000"/>
                  </a:schemeClr>
                </a:solidFill>
              </a:rPr>
              <a:t>源码</a:t>
            </a:r>
            <a:endParaRPr lang="zh-CN" altLang="en-US" sz="3200" b="1" dirty="0">
              <a:solidFill>
                <a:schemeClr val="accent5">
                  <a:lumMod val="75000"/>
                </a:schemeClr>
              </a:solidFill>
            </a:endParaRPr>
          </a:p>
        </p:txBody>
      </p:sp>
      <p:sp>
        <p:nvSpPr>
          <p:cNvPr id="35" name="圆角矩形标注 34"/>
          <p:cNvSpPr/>
          <p:nvPr/>
        </p:nvSpPr>
        <p:spPr>
          <a:xfrm>
            <a:off x="6638054" y="2501561"/>
            <a:ext cx="1471645" cy="378133"/>
          </a:xfrm>
          <a:prstGeom prst="wedgeRoundRectCallout">
            <a:avLst>
              <a:gd name="adj1" fmla="val -122279"/>
              <a:gd name="adj2" fmla="val -67773"/>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1200" b="1" dirty="0" smtClean="0">
                <a:solidFill>
                  <a:prstClr val="black"/>
                </a:solidFill>
              </a:rPr>
              <a:t>调用回调函数</a:t>
            </a:r>
            <a:endParaRPr lang="zh-CN" altLang="en-US" sz="1200" b="1" dirty="0"/>
          </a:p>
        </p:txBody>
      </p:sp>
      <p:sp>
        <p:nvSpPr>
          <p:cNvPr id="36" name="圆角矩形标注 35"/>
          <p:cNvSpPr/>
          <p:nvPr/>
        </p:nvSpPr>
        <p:spPr>
          <a:xfrm>
            <a:off x="3604411" y="4126238"/>
            <a:ext cx="3096344" cy="758874"/>
          </a:xfrm>
          <a:prstGeom prst="wedgeRoundRectCallout">
            <a:avLst>
              <a:gd name="adj1" fmla="val 2206"/>
              <a:gd name="adj2" fmla="val -124023"/>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sz="1200" b="1" dirty="0" smtClean="0">
                <a:solidFill>
                  <a:prstClr val="black"/>
                </a:solidFill>
              </a:rPr>
              <a:t>      STM32</a:t>
            </a:r>
            <a:r>
              <a:rPr lang="zh-CN" altLang="en-US" sz="1200" b="1" dirty="0">
                <a:solidFill>
                  <a:prstClr val="black"/>
                </a:solidFill>
              </a:rPr>
              <a:t>的</a:t>
            </a:r>
            <a:r>
              <a:rPr lang="en-US" altLang="zh-CN" sz="1200" b="1" dirty="0">
                <a:solidFill>
                  <a:prstClr val="black"/>
                </a:solidFill>
              </a:rPr>
              <a:t>HAL</a:t>
            </a:r>
            <a:r>
              <a:rPr lang="zh-CN" altLang="en-US" sz="1200" b="1" dirty="0">
                <a:solidFill>
                  <a:prstClr val="black"/>
                </a:solidFill>
              </a:rPr>
              <a:t>库的回调函数的函数体需要用户自己编写，其实质是通过中断处理</a:t>
            </a:r>
            <a:r>
              <a:rPr lang="zh-CN" altLang="en-US" sz="1200" b="1" dirty="0" smtClean="0">
                <a:solidFill>
                  <a:prstClr val="black"/>
                </a:solidFill>
              </a:rPr>
              <a:t>函数调用</a:t>
            </a:r>
            <a:r>
              <a:rPr lang="zh-CN" altLang="en-US" sz="1200" b="1" dirty="0">
                <a:solidFill>
                  <a:prstClr val="black"/>
                </a:solidFill>
              </a:rPr>
              <a:t>回调函数来实现中断服务功能</a:t>
            </a:r>
          </a:p>
        </p:txBody>
      </p:sp>
    </p:spTree>
    <p:extLst>
      <p:ext uri="{BB962C8B-B14F-4D97-AF65-F5344CB8AC3E}">
        <p14:creationId xmlns:p14="http://schemas.microsoft.com/office/powerpoint/2010/main" val="1924814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79512" y="360698"/>
            <a:ext cx="3549370"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4.3 HAL</a:t>
            </a:r>
            <a:r>
              <a:rPr lang="zh-CN" altLang="en-US" sz="2400" b="1" dirty="0">
                <a:solidFill>
                  <a:schemeClr val="bg1"/>
                </a:solidFill>
                <a:latin typeface="微软雅黑" pitchFamily="34" charset="-122"/>
                <a:ea typeface="微软雅黑" pitchFamily="34" charset="-122"/>
              </a:rPr>
              <a:t>库文件源码分析</a:t>
            </a:r>
            <a:endParaRPr lang="zh-CN" altLang="zh-CN" sz="2400" b="1" dirty="0">
              <a:solidFill>
                <a:schemeClr val="bg1"/>
              </a:solidFill>
              <a:latin typeface="微软雅黑" pitchFamily="34" charset="-122"/>
              <a:ea typeface="微软雅黑" pitchFamily="34" charset="-122"/>
            </a:endParaRPr>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559864152"/>
              </p:ext>
            </p:extLst>
          </p:nvPr>
        </p:nvGraphicFramePr>
        <p:xfrm>
          <a:off x="1954196" y="1203598"/>
          <a:ext cx="6362219" cy="3256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04"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3728" y="1563638"/>
            <a:ext cx="360040" cy="272797"/>
          </a:xfrm>
          <a:prstGeom prst="rect">
            <a:avLst/>
          </a:prstGeom>
          <a:solidFill>
            <a:schemeClr val="accent4">
              <a:lumMod val="75000"/>
            </a:schemeClr>
          </a:solidFill>
          <a:ln>
            <a:noFill/>
          </a:ln>
          <a:effectLst/>
        </p:spPr>
      </p:pic>
      <p:sp>
        <p:nvSpPr>
          <p:cNvPr id="10" name="Freeform 28"/>
          <p:cNvSpPr>
            <a:spLocks noEditPoints="1"/>
          </p:cNvSpPr>
          <p:nvPr/>
        </p:nvSpPr>
        <p:spPr bwMode="auto">
          <a:xfrm>
            <a:off x="2411760" y="2283718"/>
            <a:ext cx="388937" cy="388938"/>
          </a:xfrm>
          <a:custGeom>
            <a:avLst/>
            <a:gdLst>
              <a:gd name="T0" fmla="*/ 2147483646 w 207"/>
              <a:gd name="T1" fmla="*/ 720191999 h 207"/>
              <a:gd name="T2" fmla="*/ 2005245257 w 207"/>
              <a:gd name="T3" fmla="*/ 1807544755 h 207"/>
              <a:gd name="T4" fmla="*/ 2147483646 w 207"/>
              <a:gd name="T5" fmla="*/ 1835788758 h 207"/>
              <a:gd name="T6" fmla="*/ 2147483646 w 207"/>
              <a:gd name="T7" fmla="*/ 1525116005 h 207"/>
              <a:gd name="T8" fmla="*/ 2147483646 w 207"/>
              <a:gd name="T9" fmla="*/ 819042249 h 207"/>
              <a:gd name="T10" fmla="*/ 1934635251 w 207"/>
              <a:gd name="T11" fmla="*/ 381279001 h 207"/>
              <a:gd name="T12" fmla="*/ 1073230755 w 207"/>
              <a:gd name="T13" fmla="*/ 423645005 h 207"/>
              <a:gd name="T14" fmla="*/ 437763248 w 207"/>
              <a:gd name="T15" fmla="*/ 1044986753 h 207"/>
              <a:gd name="T16" fmla="*/ 423645005 w 207"/>
              <a:gd name="T17" fmla="*/ 1962879253 h 207"/>
              <a:gd name="T18" fmla="*/ 1002620749 w 207"/>
              <a:gd name="T19" fmla="*/ 2147483646 h 207"/>
              <a:gd name="T20" fmla="*/ 1708694505 w 207"/>
              <a:gd name="T21" fmla="*/ 2147483646 h 207"/>
              <a:gd name="T22" fmla="*/ 2019367258 w 207"/>
              <a:gd name="T23" fmla="*/ 2147483646 h 207"/>
              <a:gd name="T24" fmla="*/ 1440387755 w 207"/>
              <a:gd name="T25" fmla="*/ 2147483646 h 207"/>
              <a:gd name="T26" fmla="*/ 409523004 w 207"/>
              <a:gd name="T27" fmla="*/ 2147483646 h 207"/>
              <a:gd name="T28" fmla="*/ 0 w 207"/>
              <a:gd name="T29" fmla="*/ 1525116005 h 207"/>
              <a:gd name="T30" fmla="*/ 451885249 w 207"/>
              <a:gd name="T31" fmla="*/ 409523004 h 207"/>
              <a:gd name="T32" fmla="*/ 1539238006 w 207"/>
              <a:gd name="T33" fmla="*/ 0 h 207"/>
              <a:gd name="T34" fmla="*/ 2147483646 w 207"/>
              <a:gd name="T35" fmla="*/ 324794754 h 207"/>
              <a:gd name="T36" fmla="*/ 2147483646 w 207"/>
              <a:gd name="T37" fmla="*/ 1228565253 h 207"/>
              <a:gd name="T38" fmla="*/ 2147483646 w 207"/>
              <a:gd name="T39" fmla="*/ 1934635251 h 207"/>
              <a:gd name="T40" fmla="*/ 1991123255 w 207"/>
              <a:gd name="T41" fmla="*/ 2147483646 h 207"/>
              <a:gd name="T42" fmla="*/ 1736938507 w 207"/>
              <a:gd name="T43" fmla="*/ 2132335752 h 207"/>
              <a:gd name="T44" fmla="*/ 1652206500 w 207"/>
              <a:gd name="T45" fmla="*/ 1864029002 h 207"/>
              <a:gd name="T46" fmla="*/ 1539238006 w 207"/>
              <a:gd name="T47" fmla="*/ 1991123255 h 207"/>
              <a:gd name="T48" fmla="*/ 1256809255 w 207"/>
              <a:gd name="T49" fmla="*/ 2147483646 h 207"/>
              <a:gd name="T50" fmla="*/ 932014501 w 207"/>
              <a:gd name="T51" fmla="*/ 2147483646 h 207"/>
              <a:gd name="T52" fmla="*/ 734314000 w 207"/>
              <a:gd name="T53" fmla="*/ 1934635251 h 207"/>
              <a:gd name="T54" fmla="*/ 762558002 w 207"/>
              <a:gd name="T55" fmla="*/ 1355659506 h 207"/>
              <a:gd name="T56" fmla="*/ 1200321251 w 207"/>
              <a:gd name="T57" fmla="*/ 790802005 h 207"/>
              <a:gd name="T58" fmla="*/ 1694572504 w 207"/>
              <a:gd name="T59" fmla="*/ 734314000 h 207"/>
              <a:gd name="T60" fmla="*/ 1934635251 w 207"/>
              <a:gd name="T61" fmla="*/ 720191999 h 207"/>
              <a:gd name="T62" fmla="*/ 1652206500 w 207"/>
              <a:gd name="T63" fmla="*/ 1059108754 h 207"/>
              <a:gd name="T64" fmla="*/ 1355659506 w 207"/>
              <a:gd name="T65" fmla="*/ 1101471000 h 207"/>
              <a:gd name="T66" fmla="*/ 1129715002 w 207"/>
              <a:gd name="T67" fmla="*/ 1426265754 h 207"/>
              <a:gd name="T68" fmla="*/ 1143837004 w 207"/>
              <a:gd name="T69" fmla="*/ 1807544755 h 207"/>
              <a:gd name="T70" fmla="*/ 1383899751 w 207"/>
              <a:gd name="T71" fmla="*/ 1849907001 h 207"/>
              <a:gd name="T72" fmla="*/ 1581600252 w 207"/>
              <a:gd name="T73" fmla="*/ 1680450502 h 207"/>
              <a:gd name="T74" fmla="*/ 1736938507 w 207"/>
              <a:gd name="T75" fmla="*/ 1115593001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7"/>
              <a:gd name="T115" fmla="*/ 0 h 207"/>
              <a:gd name="T116" fmla="*/ 207 w 207"/>
              <a:gd name="T117" fmla="*/ 207 h 2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rgbClr val="5F5BAE"/>
          </a:solidFill>
          <a:ln>
            <a:noFill/>
          </a:ln>
          <a:extLst/>
        </p:spPr>
        <p:txBody>
          <a:bodyPr/>
          <a:lstStyle/>
          <a:p>
            <a:endParaRPr lang="zh-CN" altLang="en-US" b="1"/>
          </a:p>
        </p:txBody>
      </p:sp>
      <p:sp>
        <p:nvSpPr>
          <p:cNvPr id="12" name="Freeform 12"/>
          <p:cNvSpPr>
            <a:spLocks noEditPoints="1"/>
          </p:cNvSpPr>
          <p:nvPr/>
        </p:nvSpPr>
        <p:spPr bwMode="auto">
          <a:xfrm>
            <a:off x="2419998" y="2987322"/>
            <a:ext cx="409591" cy="432048"/>
          </a:xfrm>
          <a:custGeom>
            <a:avLst/>
            <a:gdLst>
              <a:gd name="T0" fmla="*/ 1297096711 w 96"/>
              <a:gd name="T1" fmla="*/ 2147483646 h 101"/>
              <a:gd name="T2" fmla="*/ 453985862 w 96"/>
              <a:gd name="T3" fmla="*/ 2147483646 h 101"/>
              <a:gd name="T4" fmla="*/ 1167391067 w 96"/>
              <a:gd name="T5" fmla="*/ 1885459107 h 101"/>
              <a:gd name="T6" fmla="*/ 2147483646 w 96"/>
              <a:gd name="T7" fmla="*/ 1105268297 h 101"/>
              <a:gd name="T8" fmla="*/ 2147483646 w 96"/>
              <a:gd name="T9" fmla="*/ 585141091 h 101"/>
              <a:gd name="T10" fmla="*/ 2147483646 w 96"/>
              <a:gd name="T11" fmla="*/ 650154976 h 101"/>
              <a:gd name="T12" fmla="*/ 2147483646 w 96"/>
              <a:gd name="T13" fmla="*/ 325077488 h 101"/>
              <a:gd name="T14" fmla="*/ 2147483646 w 96"/>
              <a:gd name="T15" fmla="*/ 195049718 h 101"/>
              <a:gd name="T16" fmla="*/ 2147483646 w 96"/>
              <a:gd name="T17" fmla="*/ 520127206 h 101"/>
              <a:gd name="T18" fmla="*/ 2147483646 w 96"/>
              <a:gd name="T19" fmla="*/ 585141091 h 101"/>
              <a:gd name="T20" fmla="*/ 2147483646 w 96"/>
              <a:gd name="T21" fmla="*/ 1040254412 h 101"/>
              <a:gd name="T22" fmla="*/ 2147483646 w 96"/>
              <a:gd name="T23" fmla="*/ 1755423273 h 101"/>
              <a:gd name="T24" fmla="*/ 2147483646 w 96"/>
              <a:gd name="T25" fmla="*/ 2147483646 h 101"/>
              <a:gd name="T26" fmla="*/ 2147483646 w 96"/>
              <a:gd name="T27" fmla="*/ 2147483646 h 101"/>
              <a:gd name="T28" fmla="*/ 2147483646 w 96"/>
              <a:gd name="T29" fmla="*/ 2147483646 h 101"/>
              <a:gd name="T30" fmla="*/ 2147483646 w 96"/>
              <a:gd name="T31" fmla="*/ 2147483646 h 101"/>
              <a:gd name="T32" fmla="*/ 2147483646 w 96"/>
              <a:gd name="T33" fmla="*/ 2147483646 h 101"/>
              <a:gd name="T34" fmla="*/ 2147483646 w 96"/>
              <a:gd name="T35" fmla="*/ 2147483646 h 101"/>
              <a:gd name="T36" fmla="*/ 2147483646 w 96"/>
              <a:gd name="T37" fmla="*/ 2147483646 h 101"/>
              <a:gd name="T38" fmla="*/ 2075354738 w 96"/>
              <a:gd name="T39" fmla="*/ 2147483646 h 101"/>
              <a:gd name="T40" fmla="*/ 1426810409 w 96"/>
              <a:gd name="T41" fmla="*/ 2147483646 h 101"/>
              <a:gd name="T42" fmla="*/ 1102530191 w 96"/>
              <a:gd name="T43" fmla="*/ 2147483646 h 101"/>
              <a:gd name="T44" fmla="*/ 1361949534 w 96"/>
              <a:gd name="T45" fmla="*/ 2147483646 h 101"/>
              <a:gd name="T46" fmla="*/ 1297096711 w 96"/>
              <a:gd name="T47" fmla="*/ 2147483646 h 101"/>
              <a:gd name="T48" fmla="*/ 2147483646 w 96"/>
              <a:gd name="T49" fmla="*/ 390091373 h 101"/>
              <a:gd name="T50" fmla="*/ 2147483646 w 96"/>
              <a:gd name="T51" fmla="*/ 715176924 h 101"/>
              <a:gd name="T52" fmla="*/ 2147483646 w 96"/>
              <a:gd name="T53" fmla="*/ 2015486876 h 101"/>
              <a:gd name="T54" fmla="*/ 2147483646 w 96"/>
              <a:gd name="T55" fmla="*/ 585141091 h 101"/>
              <a:gd name="T56" fmla="*/ 2147483646 w 96"/>
              <a:gd name="T57" fmla="*/ 195049718 h 101"/>
              <a:gd name="T58" fmla="*/ 2147483646 w 96"/>
              <a:gd name="T59" fmla="*/ 0 h 101"/>
              <a:gd name="T60" fmla="*/ 2147483646 w 96"/>
              <a:gd name="T61" fmla="*/ 390091373 h 101"/>
              <a:gd name="T62" fmla="*/ 907971725 w 96"/>
              <a:gd name="T63" fmla="*/ 390091373 h 101"/>
              <a:gd name="T64" fmla="*/ 648552382 w 96"/>
              <a:gd name="T65" fmla="*/ 0 h 101"/>
              <a:gd name="T66" fmla="*/ 259419342 w 96"/>
              <a:gd name="T67" fmla="*/ 195049718 h 101"/>
              <a:gd name="T68" fmla="*/ 518838685 w 96"/>
              <a:gd name="T69" fmla="*/ 585141091 h 101"/>
              <a:gd name="T70" fmla="*/ 259419342 w 96"/>
              <a:gd name="T71" fmla="*/ 2015486876 h 101"/>
              <a:gd name="T72" fmla="*/ 2147483646 w 96"/>
              <a:gd name="T73" fmla="*/ 715176924 h 101"/>
              <a:gd name="T74" fmla="*/ 907971725 w 96"/>
              <a:gd name="T75" fmla="*/ 390091373 h 101"/>
              <a:gd name="T76" fmla="*/ 2147483646 w 96"/>
              <a:gd name="T77" fmla="*/ 2147483646 h 101"/>
              <a:gd name="T78" fmla="*/ 2147483646 w 96"/>
              <a:gd name="T79" fmla="*/ 2147483646 h 101"/>
              <a:gd name="T80" fmla="*/ 1426810409 w 96"/>
              <a:gd name="T81" fmla="*/ 2147483646 h 101"/>
              <a:gd name="T82" fmla="*/ 1426810409 w 96"/>
              <a:gd name="T83" fmla="*/ 2147483646 h 101"/>
              <a:gd name="T84" fmla="*/ 2147483646 w 96"/>
              <a:gd name="T85" fmla="*/ 2147483646 h 101"/>
              <a:gd name="T86" fmla="*/ 2147483646 w 96"/>
              <a:gd name="T87" fmla="*/ 2147483646 h 101"/>
              <a:gd name="T88" fmla="*/ 2147483646 w 96"/>
              <a:gd name="T89" fmla="*/ 2147483646 h 101"/>
              <a:gd name="T90" fmla="*/ 2147483646 w 96"/>
              <a:gd name="T91" fmla="*/ 2147483646 h 101"/>
              <a:gd name="T92" fmla="*/ 2147483646 w 96"/>
              <a:gd name="T93" fmla="*/ 2147483646 h 101"/>
              <a:gd name="T94" fmla="*/ 2147483646 w 96"/>
              <a:gd name="T95" fmla="*/ 2147483646 h 101"/>
              <a:gd name="T96" fmla="*/ 2147483646 w 96"/>
              <a:gd name="T97" fmla="*/ 2147483646 h 101"/>
              <a:gd name="T98" fmla="*/ 2147483646 w 96"/>
              <a:gd name="T99" fmla="*/ 2147483646 h 101"/>
              <a:gd name="T100" fmla="*/ 2147483646 w 96"/>
              <a:gd name="T101" fmla="*/ 2147483646 h 101"/>
              <a:gd name="T102" fmla="*/ 1167391067 w 96"/>
              <a:gd name="T103" fmla="*/ 2147483646 h 101"/>
              <a:gd name="T104" fmla="*/ 1815935396 w 96"/>
              <a:gd name="T105" fmla="*/ 2147483646 h 101"/>
              <a:gd name="T106" fmla="*/ 2147483646 w 96"/>
              <a:gd name="T107" fmla="*/ 2147483646 h 101"/>
              <a:gd name="T108" fmla="*/ 2147483646 w 96"/>
              <a:gd name="T109" fmla="*/ 2147483646 h 101"/>
              <a:gd name="T110" fmla="*/ 2147483646 w 96"/>
              <a:gd name="T111" fmla="*/ 2147483646 h 101"/>
              <a:gd name="T112" fmla="*/ 2147483646 w 96"/>
              <a:gd name="T113" fmla="*/ 2147483646 h 101"/>
              <a:gd name="T114" fmla="*/ 2147483646 w 96"/>
              <a:gd name="T115" fmla="*/ 1755423273 h 101"/>
              <a:gd name="T116" fmla="*/ 1686229751 w 96"/>
              <a:gd name="T117" fmla="*/ 2147483646 h 101"/>
              <a:gd name="T118" fmla="*/ 1167391067 w 96"/>
              <a:gd name="T119" fmla="*/ 2147483646 h 1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01"/>
              <a:gd name="T182" fmla="*/ 96 w 96"/>
              <a:gd name="T183" fmla="*/ 101 h 10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rgbClr val="557ABA"/>
          </a:solidFill>
          <a:ln>
            <a:noFill/>
          </a:ln>
          <a:extLst/>
        </p:spPr>
        <p:txBody>
          <a:bodyPr/>
          <a:lstStyle/>
          <a:p>
            <a:endParaRPr lang="zh-CN" altLang="en-US" b="1"/>
          </a:p>
        </p:txBody>
      </p:sp>
      <p:sp>
        <p:nvSpPr>
          <p:cNvPr id="13" name="Freeform 10"/>
          <p:cNvSpPr>
            <a:spLocks noEditPoints="1"/>
          </p:cNvSpPr>
          <p:nvPr/>
        </p:nvSpPr>
        <p:spPr bwMode="auto">
          <a:xfrm>
            <a:off x="2126239" y="3723878"/>
            <a:ext cx="432047" cy="422275"/>
          </a:xfrm>
          <a:custGeom>
            <a:avLst/>
            <a:gdLst>
              <a:gd name="T0" fmla="*/ 958112862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2147483646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0 w 90"/>
              <a:gd name="T19" fmla="*/ 2147483646 h 102"/>
              <a:gd name="T20" fmla="*/ 0 w 90"/>
              <a:gd name="T21" fmla="*/ 2147483646 h 102"/>
              <a:gd name="T22" fmla="*/ 0 w 90"/>
              <a:gd name="T23" fmla="*/ 2147483646 h 102"/>
              <a:gd name="T24" fmla="*/ 68439587 w 90"/>
              <a:gd name="T25" fmla="*/ 1919587631 h 102"/>
              <a:gd name="T26" fmla="*/ 479060567 w 90"/>
              <a:gd name="T27" fmla="*/ 1371135205 h 102"/>
              <a:gd name="T28" fmla="*/ 547491882 w 90"/>
              <a:gd name="T29" fmla="*/ 1302577617 h 102"/>
              <a:gd name="T30" fmla="*/ 684362784 w 90"/>
              <a:gd name="T31" fmla="*/ 1302577617 h 102"/>
              <a:gd name="T32" fmla="*/ 2053096626 w 90"/>
              <a:gd name="T33" fmla="*/ 1302577617 h 102"/>
              <a:gd name="T34" fmla="*/ 2147483646 w 90"/>
              <a:gd name="T35" fmla="*/ 205672765 h 102"/>
              <a:gd name="T36" fmla="*/ 2147483646 w 90"/>
              <a:gd name="T37" fmla="*/ 0 h 102"/>
              <a:gd name="T38" fmla="*/ 2147483646 w 90"/>
              <a:gd name="T39" fmla="*/ 205672765 h 102"/>
              <a:gd name="T40" fmla="*/ 2147483646 w 90"/>
              <a:gd name="T41" fmla="*/ 1302577617 h 102"/>
              <a:gd name="T42" fmla="*/ 2147483646 w 90"/>
              <a:gd name="T43" fmla="*/ 1302577617 h 102"/>
              <a:gd name="T44" fmla="*/ 2147483646 w 90"/>
              <a:gd name="T45" fmla="*/ 1576807970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822682779 h 102"/>
              <a:gd name="T58" fmla="*/ 1710915233 w 90"/>
              <a:gd name="T59" fmla="*/ 2147483646 h 102"/>
              <a:gd name="T60" fmla="*/ 889673274 w 90"/>
              <a:gd name="T61" fmla="*/ 2147483646 h 102"/>
              <a:gd name="T62" fmla="*/ 1505604744 w 90"/>
              <a:gd name="T63" fmla="*/ 1919587631 h 102"/>
              <a:gd name="T64" fmla="*/ 752802372 w 90"/>
              <a:gd name="T65" fmla="*/ 1919587631 h 102"/>
              <a:gd name="T66" fmla="*/ 615931469 w 90"/>
              <a:gd name="T67" fmla="*/ 2125260396 h 102"/>
              <a:gd name="T68" fmla="*/ 615931469 w 90"/>
              <a:gd name="T69" fmla="*/ 2147483646 h 102"/>
              <a:gd name="T70" fmla="*/ 684362784 w 90"/>
              <a:gd name="T71" fmla="*/ 2147483646 h 102"/>
              <a:gd name="T72" fmla="*/ 958112862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0"/>
              <a:gd name="T127" fmla="*/ 0 h 102"/>
              <a:gd name="T128" fmla="*/ 90 w 90"/>
              <a:gd name="T129" fmla="*/ 102 h 10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0" h="102">
                <a:moveTo>
                  <a:pt x="14" y="40"/>
                </a:moveTo>
                <a:cubicBezTo>
                  <a:pt x="65" y="40"/>
                  <a:pt x="65" y="40"/>
                  <a:pt x="65" y="40"/>
                </a:cubicBezTo>
                <a:cubicBezTo>
                  <a:pt x="72" y="40"/>
                  <a:pt x="79" y="47"/>
                  <a:pt x="79" y="54"/>
                </a:cubicBezTo>
                <a:cubicBezTo>
                  <a:pt x="79" y="63"/>
                  <a:pt x="79" y="63"/>
                  <a:pt x="79" y="63"/>
                </a:cubicBezTo>
                <a:cubicBezTo>
                  <a:pt x="44" y="63"/>
                  <a:pt x="44" y="63"/>
                  <a:pt x="44" y="63"/>
                </a:cubicBezTo>
                <a:cubicBezTo>
                  <a:pt x="44" y="81"/>
                  <a:pt x="44" y="81"/>
                  <a:pt x="44" y="81"/>
                </a:cubicBezTo>
                <a:cubicBezTo>
                  <a:pt x="79" y="81"/>
                  <a:pt x="79" y="81"/>
                  <a:pt x="79" y="81"/>
                </a:cubicBezTo>
                <a:cubicBezTo>
                  <a:pt x="79" y="89"/>
                  <a:pt x="79" y="89"/>
                  <a:pt x="79" y="89"/>
                </a:cubicBezTo>
                <a:cubicBezTo>
                  <a:pt x="79" y="96"/>
                  <a:pt x="72" y="102"/>
                  <a:pt x="65" y="102"/>
                </a:cubicBezTo>
                <a:cubicBezTo>
                  <a:pt x="0" y="102"/>
                  <a:pt x="0" y="102"/>
                  <a:pt x="0" y="102"/>
                </a:cubicBezTo>
                <a:cubicBezTo>
                  <a:pt x="0" y="36"/>
                  <a:pt x="0" y="36"/>
                  <a:pt x="0" y="36"/>
                </a:cubicBezTo>
                <a:cubicBezTo>
                  <a:pt x="0" y="36"/>
                  <a:pt x="0" y="35"/>
                  <a:pt x="0" y="35"/>
                </a:cubicBezTo>
                <a:cubicBezTo>
                  <a:pt x="0" y="33"/>
                  <a:pt x="0" y="30"/>
                  <a:pt x="1" y="28"/>
                </a:cubicBezTo>
                <a:cubicBezTo>
                  <a:pt x="3" y="24"/>
                  <a:pt x="5" y="22"/>
                  <a:pt x="7" y="20"/>
                </a:cubicBezTo>
                <a:cubicBezTo>
                  <a:pt x="8" y="19"/>
                  <a:pt x="8" y="19"/>
                  <a:pt x="8" y="19"/>
                </a:cubicBezTo>
                <a:cubicBezTo>
                  <a:pt x="10" y="19"/>
                  <a:pt x="10" y="19"/>
                  <a:pt x="10" y="19"/>
                </a:cubicBezTo>
                <a:cubicBezTo>
                  <a:pt x="30" y="19"/>
                  <a:pt x="30" y="19"/>
                  <a:pt x="30" y="19"/>
                </a:cubicBezTo>
                <a:cubicBezTo>
                  <a:pt x="45" y="3"/>
                  <a:pt x="45" y="3"/>
                  <a:pt x="45" y="3"/>
                </a:cubicBezTo>
                <a:cubicBezTo>
                  <a:pt x="48" y="0"/>
                  <a:pt x="48" y="0"/>
                  <a:pt x="48" y="0"/>
                </a:cubicBezTo>
                <a:cubicBezTo>
                  <a:pt x="51" y="3"/>
                  <a:pt x="51" y="3"/>
                  <a:pt x="51" y="3"/>
                </a:cubicBezTo>
                <a:cubicBezTo>
                  <a:pt x="70" y="19"/>
                  <a:pt x="70" y="19"/>
                  <a:pt x="70" y="19"/>
                </a:cubicBezTo>
                <a:cubicBezTo>
                  <a:pt x="74" y="19"/>
                  <a:pt x="74" y="19"/>
                  <a:pt x="74" y="19"/>
                </a:cubicBezTo>
                <a:cubicBezTo>
                  <a:pt x="74" y="23"/>
                  <a:pt x="74" y="23"/>
                  <a:pt x="74" y="23"/>
                </a:cubicBezTo>
                <a:cubicBezTo>
                  <a:pt x="87" y="34"/>
                  <a:pt x="87" y="34"/>
                  <a:pt x="87" y="34"/>
                </a:cubicBezTo>
                <a:cubicBezTo>
                  <a:pt x="90" y="37"/>
                  <a:pt x="90" y="37"/>
                  <a:pt x="90" y="37"/>
                </a:cubicBezTo>
                <a:cubicBezTo>
                  <a:pt x="81" y="47"/>
                  <a:pt x="81" y="47"/>
                  <a:pt x="81" y="47"/>
                </a:cubicBezTo>
                <a:cubicBezTo>
                  <a:pt x="75" y="41"/>
                  <a:pt x="75" y="41"/>
                  <a:pt x="75" y="41"/>
                </a:cubicBezTo>
                <a:cubicBezTo>
                  <a:pt x="78" y="38"/>
                  <a:pt x="78" y="38"/>
                  <a:pt x="78" y="38"/>
                </a:cubicBezTo>
                <a:cubicBezTo>
                  <a:pt x="49" y="12"/>
                  <a:pt x="49" y="12"/>
                  <a:pt x="49" y="12"/>
                </a:cubicBezTo>
                <a:cubicBezTo>
                  <a:pt x="25" y="37"/>
                  <a:pt x="25" y="37"/>
                  <a:pt x="25" y="37"/>
                </a:cubicBezTo>
                <a:cubicBezTo>
                  <a:pt x="13" y="37"/>
                  <a:pt x="13" y="37"/>
                  <a:pt x="13" y="37"/>
                </a:cubicBezTo>
                <a:cubicBezTo>
                  <a:pt x="22" y="28"/>
                  <a:pt x="22" y="28"/>
                  <a:pt x="22" y="28"/>
                </a:cubicBezTo>
                <a:cubicBezTo>
                  <a:pt x="11" y="28"/>
                  <a:pt x="11" y="28"/>
                  <a:pt x="11" y="28"/>
                </a:cubicBezTo>
                <a:cubicBezTo>
                  <a:pt x="10" y="29"/>
                  <a:pt x="10" y="30"/>
                  <a:pt x="9" y="31"/>
                </a:cubicBezTo>
                <a:cubicBezTo>
                  <a:pt x="9" y="32"/>
                  <a:pt x="9" y="33"/>
                  <a:pt x="9" y="34"/>
                </a:cubicBezTo>
                <a:cubicBezTo>
                  <a:pt x="9" y="36"/>
                  <a:pt x="9" y="37"/>
                  <a:pt x="10" y="38"/>
                </a:cubicBezTo>
                <a:cubicBezTo>
                  <a:pt x="11" y="39"/>
                  <a:pt x="12" y="40"/>
                  <a:pt x="14" y="40"/>
                </a:cubicBezTo>
                <a:close/>
                <a:moveTo>
                  <a:pt x="57" y="67"/>
                </a:moveTo>
                <a:cubicBezTo>
                  <a:pt x="53" y="67"/>
                  <a:pt x="51" y="69"/>
                  <a:pt x="51" y="73"/>
                </a:cubicBezTo>
                <a:cubicBezTo>
                  <a:pt x="51" y="76"/>
                  <a:pt x="53" y="79"/>
                  <a:pt x="57" y="79"/>
                </a:cubicBezTo>
                <a:cubicBezTo>
                  <a:pt x="60" y="79"/>
                  <a:pt x="63" y="76"/>
                  <a:pt x="63" y="73"/>
                </a:cubicBezTo>
                <a:cubicBezTo>
                  <a:pt x="63" y="69"/>
                  <a:pt x="60" y="67"/>
                  <a:pt x="57" y="67"/>
                </a:cubicBezTo>
                <a:close/>
              </a:path>
            </a:pathLst>
          </a:custGeom>
          <a:solidFill>
            <a:srgbClr val="4BACC6"/>
          </a:solidFill>
          <a:ln>
            <a:noFill/>
          </a:ln>
          <a:extLst/>
        </p:spPr>
        <p:txBody>
          <a:bodyPr/>
          <a:lstStyle/>
          <a:p>
            <a:endParaRPr lang="zh-CN" altLang="en-US" b="1"/>
          </a:p>
        </p:txBody>
      </p:sp>
    </p:spTree>
    <p:extLst>
      <p:ext uri="{BB962C8B-B14F-4D97-AF65-F5344CB8AC3E}">
        <p14:creationId xmlns:p14="http://schemas.microsoft.com/office/powerpoint/2010/main" val="186236181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graphicFrame>
        <p:nvGraphicFramePr>
          <p:cNvPr id="9" name="图示 8"/>
          <p:cNvGraphicFramePr/>
          <p:nvPr>
            <p:extLst>
              <p:ext uri="{D42A27DB-BD31-4B8C-83A1-F6EECF244321}">
                <p14:modId xmlns:p14="http://schemas.microsoft.com/office/powerpoint/2010/main" val="2150270293"/>
              </p:ext>
            </p:extLst>
          </p:nvPr>
        </p:nvGraphicFramePr>
        <p:xfrm>
          <a:off x="251520" y="2259933"/>
          <a:ext cx="8496944" cy="2376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899592" y="1131590"/>
            <a:ext cx="7416824" cy="1131079"/>
          </a:xfrm>
          <a:prstGeom prst="rect">
            <a:avLst/>
          </a:prstGeom>
        </p:spPr>
        <p:txBody>
          <a:bodyPr wrap="square">
            <a:spAutoFit/>
          </a:bodyPr>
          <a:lstStyle/>
          <a:p>
            <a:pPr>
              <a:lnSpc>
                <a:spcPct val="125000"/>
              </a:lnSpc>
            </a:pPr>
            <a:r>
              <a:rPr lang="en-US" altLang="zh-CN" b="1" dirty="0" smtClean="0"/>
              <a:t>          stm32f1xx.h</a:t>
            </a:r>
            <a:r>
              <a:rPr lang="zh-CN" altLang="en-US" b="1" dirty="0"/>
              <a:t>是</a:t>
            </a:r>
            <a:r>
              <a:rPr lang="en-US" altLang="zh-CN" b="1" dirty="0"/>
              <a:t>HAL</a:t>
            </a:r>
            <a:r>
              <a:rPr lang="zh-CN" altLang="en-US" b="1" dirty="0"/>
              <a:t>库中非常重要</a:t>
            </a:r>
            <a:r>
              <a:rPr lang="zh-CN" altLang="en-US" b="1" dirty="0" smtClean="0"/>
              <a:t>的头文件</a:t>
            </a:r>
            <a:r>
              <a:rPr lang="zh-CN" altLang="en-US" b="1" dirty="0"/>
              <a:t>，是</a:t>
            </a:r>
            <a:r>
              <a:rPr lang="en-US" altLang="zh-CN" b="1" dirty="0"/>
              <a:t>STM32F1xx</a:t>
            </a:r>
            <a:r>
              <a:rPr lang="zh-CN" altLang="en-US" b="1" dirty="0"/>
              <a:t>系列</a:t>
            </a:r>
            <a:r>
              <a:rPr lang="en-US" altLang="zh-CN" b="1" dirty="0"/>
              <a:t>MCU</a:t>
            </a:r>
            <a:r>
              <a:rPr lang="zh-CN" altLang="en-US" b="1" dirty="0"/>
              <a:t>的顶层头文件，</a:t>
            </a:r>
            <a:r>
              <a:rPr lang="zh-CN" altLang="en-US" b="1" dirty="0" smtClean="0"/>
              <a:t>意味着凡是使用</a:t>
            </a:r>
            <a:r>
              <a:rPr lang="en-US" altLang="zh-CN" b="1" dirty="0"/>
              <a:t>STM32F1xx</a:t>
            </a:r>
            <a:r>
              <a:rPr lang="zh-CN" altLang="en-US" b="1" dirty="0"/>
              <a:t>系列的芯片，其应用程序都需要包含这个头</a:t>
            </a:r>
            <a:r>
              <a:rPr lang="zh-CN" altLang="en-US" b="1" dirty="0" smtClean="0"/>
              <a:t>文件。</a:t>
            </a:r>
            <a:endParaRPr lang="zh-CN" altLang="en-US" b="1" dirty="0"/>
          </a:p>
        </p:txBody>
      </p:sp>
    </p:spTree>
    <p:extLst>
      <p:ext uri="{BB962C8B-B14F-4D97-AF65-F5344CB8AC3E}">
        <p14:creationId xmlns:p14="http://schemas.microsoft.com/office/powerpoint/2010/main" val="15089296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3" name="矩形 2"/>
          <p:cNvSpPr/>
          <p:nvPr/>
        </p:nvSpPr>
        <p:spPr>
          <a:xfrm>
            <a:off x="795717" y="1347614"/>
            <a:ext cx="2736304" cy="2585323"/>
          </a:xfrm>
          <a:prstGeom prst="rect">
            <a:avLst/>
          </a:prstGeom>
          <a:solidFill>
            <a:schemeClr val="accent6">
              <a:lumMod val="20000"/>
              <a:lumOff val="80000"/>
            </a:schemeClr>
          </a:solidFill>
        </p:spPr>
        <p:txBody>
          <a:bodyPr wrap="square">
            <a:spAutoFit/>
          </a:bodyPr>
          <a:lstStyle/>
          <a:p>
            <a:r>
              <a:rPr lang="en-US" altLang="zh-CN" b="1" dirty="0">
                <a:solidFill>
                  <a:schemeClr val="accent5">
                    <a:lumMod val="75000"/>
                  </a:schemeClr>
                </a:solidFill>
              </a:rPr>
              <a:t>#</a:t>
            </a:r>
            <a:r>
              <a:rPr lang="en-US" altLang="zh-CN" b="1" dirty="0" err="1">
                <a:solidFill>
                  <a:schemeClr val="accent5">
                    <a:lumMod val="75000"/>
                  </a:schemeClr>
                </a:solidFill>
              </a:rPr>
              <a:t>ifndef</a:t>
            </a:r>
            <a:r>
              <a:rPr lang="en-US" altLang="zh-CN" b="1" dirty="0">
                <a:solidFill>
                  <a:schemeClr val="accent5">
                    <a:lumMod val="75000"/>
                  </a:schemeClr>
                </a:solidFill>
              </a:rPr>
              <a:t> __STM32F1XX_H</a:t>
            </a:r>
          </a:p>
          <a:p>
            <a:r>
              <a:rPr lang="en-US" altLang="zh-CN" b="1" dirty="0">
                <a:solidFill>
                  <a:schemeClr val="accent5">
                    <a:lumMod val="75000"/>
                  </a:schemeClr>
                </a:solidFill>
              </a:rPr>
              <a:t>#define __STM32F1XX_H</a:t>
            </a:r>
          </a:p>
          <a:p>
            <a:endParaRPr lang="en-US" altLang="zh-CN" b="1" dirty="0" smtClean="0">
              <a:solidFill>
                <a:schemeClr val="accent5">
                  <a:lumMod val="75000"/>
                </a:schemeClr>
              </a:solidFill>
            </a:endParaRPr>
          </a:p>
          <a:p>
            <a:r>
              <a:rPr lang="en-US" altLang="zh-CN" b="1" dirty="0" smtClean="0">
                <a:solidFill>
                  <a:schemeClr val="accent5">
                    <a:lumMod val="75000"/>
                  </a:schemeClr>
                </a:solidFill>
              </a:rPr>
              <a:t>#</a:t>
            </a:r>
            <a:r>
              <a:rPr lang="en-US" altLang="zh-CN" b="1" dirty="0" err="1">
                <a:solidFill>
                  <a:schemeClr val="accent5">
                    <a:lumMod val="75000"/>
                  </a:schemeClr>
                </a:solidFill>
              </a:rPr>
              <a:t>ifdef</a:t>
            </a:r>
            <a:r>
              <a:rPr lang="en-US" altLang="zh-CN" b="1" dirty="0">
                <a:solidFill>
                  <a:schemeClr val="accent5">
                    <a:lumMod val="75000"/>
                  </a:schemeClr>
                </a:solidFill>
              </a:rPr>
              <a:t> __</a:t>
            </a:r>
            <a:r>
              <a:rPr lang="en-US" altLang="zh-CN" b="1" dirty="0" err="1">
                <a:solidFill>
                  <a:schemeClr val="accent5">
                    <a:lumMod val="75000"/>
                  </a:schemeClr>
                </a:solidFill>
              </a:rPr>
              <a:t>cplusplus</a:t>
            </a:r>
            <a:endParaRPr lang="en-US" altLang="zh-CN" b="1" dirty="0">
              <a:solidFill>
                <a:schemeClr val="accent5">
                  <a:lumMod val="75000"/>
                </a:schemeClr>
              </a:solidFill>
            </a:endParaRPr>
          </a:p>
          <a:p>
            <a:r>
              <a:rPr lang="en-US" altLang="zh-CN" b="1" dirty="0">
                <a:solidFill>
                  <a:schemeClr val="accent5">
                    <a:lumMod val="75000"/>
                  </a:schemeClr>
                </a:solidFill>
              </a:rPr>
              <a:t>extern "C" {</a:t>
            </a:r>
          </a:p>
          <a:p>
            <a:endParaRPr lang="en-US" altLang="zh-CN" b="1" dirty="0">
              <a:solidFill>
                <a:schemeClr val="accent5">
                  <a:lumMod val="75000"/>
                </a:schemeClr>
              </a:solidFill>
            </a:endParaRPr>
          </a:p>
          <a:p>
            <a:r>
              <a:rPr lang="en-US" altLang="zh-CN" b="1" dirty="0">
                <a:solidFill>
                  <a:schemeClr val="accent5">
                    <a:lumMod val="75000"/>
                  </a:schemeClr>
                </a:solidFill>
              </a:rPr>
              <a:t>#if !defined (STM32F1)</a:t>
            </a:r>
          </a:p>
          <a:p>
            <a:r>
              <a:rPr lang="en-US" altLang="zh-CN" b="1" dirty="0">
                <a:solidFill>
                  <a:schemeClr val="accent5">
                    <a:lumMod val="75000"/>
                  </a:schemeClr>
                </a:solidFill>
              </a:rPr>
              <a:t>#define STM32F1</a:t>
            </a:r>
          </a:p>
          <a:p>
            <a:r>
              <a:rPr lang="en-US" altLang="zh-CN" b="1" dirty="0">
                <a:solidFill>
                  <a:schemeClr val="accent5">
                    <a:lumMod val="75000"/>
                  </a:schemeClr>
                </a:solidFill>
              </a:rPr>
              <a:t>#</a:t>
            </a:r>
            <a:r>
              <a:rPr lang="en-US" altLang="zh-CN" b="1" dirty="0" err="1">
                <a:solidFill>
                  <a:schemeClr val="accent5">
                    <a:lumMod val="75000"/>
                  </a:schemeClr>
                </a:solidFill>
              </a:rPr>
              <a:t>endif</a:t>
            </a:r>
            <a:r>
              <a:rPr lang="en-US" altLang="zh-CN" b="1" dirty="0">
                <a:solidFill>
                  <a:schemeClr val="accent5">
                    <a:lumMod val="75000"/>
                  </a:schemeClr>
                </a:solidFill>
              </a:rPr>
              <a:t> </a:t>
            </a:r>
            <a:r>
              <a:rPr lang="en-US" altLang="zh-CN" b="1" dirty="0"/>
              <a:t>/* STM32F1 </a:t>
            </a:r>
            <a:r>
              <a:rPr lang="en-US" altLang="zh-CN" b="1" dirty="0" smtClean="0"/>
              <a:t>*/</a:t>
            </a:r>
            <a:endParaRPr lang="en-US" altLang="zh-CN" b="1" dirty="0"/>
          </a:p>
        </p:txBody>
      </p:sp>
      <p:sp>
        <p:nvSpPr>
          <p:cNvPr id="12" name="圆角矩形标注 11"/>
          <p:cNvSpPr/>
          <p:nvPr/>
        </p:nvSpPr>
        <p:spPr>
          <a:xfrm>
            <a:off x="3995936" y="1131590"/>
            <a:ext cx="4392488" cy="864096"/>
          </a:xfrm>
          <a:prstGeom prst="wedgeRoundRectCallout">
            <a:avLst>
              <a:gd name="adj1" fmla="val -65233"/>
              <a:gd name="adj2" fmla="val 20649"/>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lvl="0"/>
            <a:r>
              <a:rPr lang="zh-CN" altLang="en-US" sz="1600" b="1" dirty="0">
                <a:solidFill>
                  <a:srgbClr val="CD7371"/>
                </a:solidFill>
                <a:latin typeface="楷体" pitchFamily="49" charset="-122"/>
                <a:ea typeface="楷体" pitchFamily="49" charset="-122"/>
              </a:rPr>
              <a:t>解析：</a:t>
            </a:r>
            <a:r>
              <a:rPr lang="zh-CN" altLang="en-US" sz="1600" b="1" dirty="0">
                <a:solidFill>
                  <a:prstClr val="black"/>
                </a:solidFill>
                <a:ea typeface="楷体" pitchFamily="49" charset="-122"/>
              </a:rPr>
              <a:t>如果没有定义宏</a:t>
            </a:r>
            <a:r>
              <a:rPr lang="en-US" altLang="zh-CN" sz="1600" b="1" dirty="0">
                <a:solidFill>
                  <a:prstClr val="black"/>
                </a:solidFill>
                <a:ea typeface="楷体" pitchFamily="49" charset="-122"/>
              </a:rPr>
              <a:t>__STM32F1XX_H</a:t>
            </a:r>
            <a:r>
              <a:rPr lang="zh-CN" altLang="en-US" sz="1600" b="1" dirty="0">
                <a:solidFill>
                  <a:prstClr val="black"/>
                </a:solidFill>
                <a:ea typeface="楷体" pitchFamily="49" charset="-122"/>
              </a:rPr>
              <a:t>，则定义宏</a:t>
            </a:r>
            <a:r>
              <a:rPr lang="en-US" altLang="zh-CN" sz="1600" b="1" dirty="0">
                <a:solidFill>
                  <a:prstClr val="black"/>
                </a:solidFill>
                <a:ea typeface="楷体" pitchFamily="49" charset="-122"/>
              </a:rPr>
              <a:t>__STM32F1XX_H</a:t>
            </a:r>
            <a:r>
              <a:rPr lang="zh-CN" altLang="en-US" sz="1600" b="1" dirty="0">
                <a:solidFill>
                  <a:prstClr val="black"/>
                </a:solidFill>
                <a:ea typeface="楷体" pitchFamily="49" charset="-122"/>
              </a:rPr>
              <a:t>。这是个条件编译，目的是防止头文件被重复包含</a:t>
            </a:r>
            <a:r>
              <a:rPr lang="zh-CN" altLang="en-US" sz="1600" b="1" dirty="0" smtClean="0">
                <a:solidFill>
                  <a:prstClr val="black"/>
                </a:solidFill>
                <a:ea typeface="楷体" pitchFamily="49" charset="-122"/>
              </a:rPr>
              <a:t>。</a:t>
            </a:r>
            <a:endParaRPr lang="zh-CN" altLang="en-US" sz="1600" b="1" dirty="0" smtClean="0">
              <a:ea typeface="楷体" pitchFamily="49" charset="-122"/>
            </a:endParaRPr>
          </a:p>
        </p:txBody>
      </p:sp>
      <p:sp>
        <p:nvSpPr>
          <p:cNvPr id="14" name="圆角矩形标注 13"/>
          <p:cNvSpPr/>
          <p:nvPr/>
        </p:nvSpPr>
        <p:spPr>
          <a:xfrm>
            <a:off x="4180093" y="2427734"/>
            <a:ext cx="4208331" cy="2232247"/>
          </a:xfrm>
          <a:prstGeom prst="wedgeRoundRectCallout">
            <a:avLst>
              <a:gd name="adj1" fmla="val -86649"/>
              <a:gd name="adj2" fmla="val -5048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lvl="0"/>
            <a:r>
              <a:rPr lang="zh-CN" altLang="en-US" sz="1600" b="1" dirty="0">
                <a:solidFill>
                  <a:srgbClr val="CD7371"/>
                </a:solidFill>
                <a:ea typeface="楷体" pitchFamily="49" charset="-122"/>
              </a:rPr>
              <a:t>解析</a:t>
            </a:r>
            <a:r>
              <a:rPr lang="zh-CN" altLang="en-US" sz="1600" b="1" dirty="0" smtClean="0">
                <a:solidFill>
                  <a:srgbClr val="CD7371"/>
                </a:solidFill>
                <a:ea typeface="楷体" pitchFamily="49" charset="-122"/>
              </a:rPr>
              <a:t>：</a:t>
            </a:r>
            <a:r>
              <a:rPr lang="zh-CN" altLang="en-US" sz="1600" b="1" dirty="0">
                <a:solidFill>
                  <a:prstClr val="black"/>
                </a:solidFill>
                <a:ea typeface="楷体" pitchFamily="49" charset="-122"/>
              </a:rPr>
              <a:t>这是一个条件编译，</a:t>
            </a:r>
            <a:r>
              <a:rPr lang="en-US" altLang="zh-CN" sz="1600" b="1" dirty="0">
                <a:solidFill>
                  <a:prstClr val="black"/>
                </a:solidFill>
                <a:ea typeface="楷体" pitchFamily="49" charset="-122"/>
              </a:rPr>
              <a:t>__</a:t>
            </a:r>
            <a:r>
              <a:rPr lang="en-US" altLang="zh-CN" sz="1600" b="1" dirty="0" err="1">
                <a:solidFill>
                  <a:prstClr val="black"/>
                </a:solidFill>
                <a:ea typeface="楷体" pitchFamily="49" charset="-122"/>
              </a:rPr>
              <a:t>cplusplus</a:t>
            </a:r>
            <a:r>
              <a:rPr lang="zh-CN" altLang="en-US" sz="1600" b="1" dirty="0">
                <a:solidFill>
                  <a:prstClr val="black"/>
                </a:solidFill>
                <a:ea typeface="楷体" pitchFamily="49" charset="-122"/>
              </a:rPr>
              <a:t>是</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中自定义的一个宏，</a:t>
            </a:r>
            <a:r>
              <a:rPr lang="en-US" altLang="zh-CN" sz="1600" b="1" dirty="0">
                <a:solidFill>
                  <a:prstClr val="black"/>
                </a:solidFill>
                <a:ea typeface="楷体" pitchFamily="49" charset="-122"/>
              </a:rPr>
              <a:t>plus</a:t>
            </a:r>
            <a:r>
              <a:rPr lang="zh-CN" altLang="en-US" sz="1600" b="1" dirty="0">
                <a:solidFill>
                  <a:prstClr val="black"/>
                </a:solidFill>
                <a:ea typeface="楷体" pitchFamily="49" charset="-122"/>
              </a:rPr>
              <a:t>是“</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的意思。这段代码的作用是如果定义了</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，则用</a:t>
            </a:r>
            <a:r>
              <a:rPr lang="en-US" altLang="zh-CN" sz="1600" b="1" dirty="0" err="1">
                <a:solidFill>
                  <a:prstClr val="black"/>
                </a:solidFill>
                <a:ea typeface="楷体" pitchFamily="49" charset="-122"/>
              </a:rPr>
              <a:t>extern"C</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和 </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来告诉编译器</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这是一个用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语言写成的库函数，请用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语言的方式来链接编译它们。主要是因为</a:t>
            </a:r>
            <a:r>
              <a:rPr lang="en-US" altLang="zh-CN" sz="1600" b="1" dirty="0" err="1">
                <a:solidFill>
                  <a:prstClr val="black"/>
                </a:solidFill>
                <a:ea typeface="楷体" pitchFamily="49" charset="-122"/>
              </a:rPr>
              <a:t>c++</a:t>
            </a:r>
            <a:r>
              <a:rPr lang="zh-CN" altLang="en-US" sz="1600" b="1" dirty="0">
                <a:solidFill>
                  <a:prstClr val="black"/>
                </a:solidFill>
                <a:ea typeface="楷体" pitchFamily="49" charset="-122"/>
              </a:rPr>
              <a:t>中存在重载，</a:t>
            </a:r>
            <a:r>
              <a:rPr lang="en-US" altLang="zh-CN" sz="1600" b="1" dirty="0" err="1">
                <a:solidFill>
                  <a:prstClr val="black"/>
                </a:solidFill>
                <a:ea typeface="楷体" pitchFamily="49" charset="-122"/>
              </a:rPr>
              <a:t>c++</a:t>
            </a:r>
            <a:r>
              <a:rPr lang="zh-CN" altLang="en-US" sz="1600" b="1" dirty="0">
                <a:solidFill>
                  <a:prstClr val="black"/>
                </a:solidFill>
                <a:ea typeface="楷体" pitchFamily="49" charset="-122"/>
              </a:rPr>
              <a:t>编译时会把函数参数一起编译，而</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语言只编译函数名。</a:t>
            </a:r>
            <a:endParaRPr lang="zh-CN" altLang="en-US" sz="1600" b="1" dirty="0" smtClean="0">
              <a:ea typeface="楷体" pitchFamily="49" charset="-122"/>
            </a:endParaRPr>
          </a:p>
        </p:txBody>
      </p:sp>
      <p:sp>
        <p:nvSpPr>
          <p:cNvPr id="15" name="圆角矩形标注 14"/>
          <p:cNvSpPr/>
          <p:nvPr/>
        </p:nvSpPr>
        <p:spPr>
          <a:xfrm>
            <a:off x="900572" y="4047957"/>
            <a:ext cx="2181145" cy="864096"/>
          </a:xfrm>
          <a:prstGeom prst="wedgeRoundRectCallout">
            <a:avLst>
              <a:gd name="adj1" fmla="val -26152"/>
              <a:gd name="adj2" fmla="val -68966"/>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CD7371"/>
                </a:solidFill>
                <a:latin typeface="楷体" pitchFamily="49" charset="-122"/>
                <a:ea typeface="楷体" pitchFamily="49" charset="-122"/>
              </a:rPr>
              <a:t>解析</a:t>
            </a:r>
            <a:r>
              <a:rPr lang="zh-CN" altLang="en-US" sz="1600" b="1" dirty="0" smtClean="0">
                <a:solidFill>
                  <a:srgbClr val="CD7371"/>
                </a:solidFill>
                <a:latin typeface="楷体" pitchFamily="49" charset="-122"/>
                <a:ea typeface="楷体" pitchFamily="49" charset="-122"/>
              </a:rPr>
              <a:t>：</a:t>
            </a:r>
            <a:endParaRPr lang="en-US" altLang="zh-CN" sz="1600" b="1" dirty="0" smtClean="0">
              <a:solidFill>
                <a:srgbClr val="CD7371"/>
              </a:solidFill>
              <a:latin typeface="楷体" pitchFamily="49" charset="-122"/>
              <a:ea typeface="楷体" pitchFamily="49" charset="-122"/>
            </a:endParaRPr>
          </a:p>
          <a:p>
            <a:r>
              <a:rPr lang="zh-CN" altLang="en-US" sz="1600" b="1" dirty="0" smtClean="0">
                <a:solidFill>
                  <a:prstClr val="black"/>
                </a:solidFill>
                <a:ea typeface="楷体" pitchFamily="49" charset="-122"/>
              </a:rPr>
              <a:t>如果</a:t>
            </a:r>
            <a:r>
              <a:rPr lang="zh-CN" altLang="en-US" sz="1600" b="1" dirty="0">
                <a:solidFill>
                  <a:prstClr val="black"/>
                </a:solidFill>
                <a:ea typeface="楷体" pitchFamily="49" charset="-122"/>
              </a:rPr>
              <a:t>没定义</a:t>
            </a:r>
            <a:r>
              <a:rPr lang="en-US" altLang="zh-CN" sz="1600" b="1" dirty="0">
                <a:solidFill>
                  <a:prstClr val="black"/>
                </a:solidFill>
                <a:ea typeface="楷体" pitchFamily="49" charset="-122"/>
              </a:rPr>
              <a:t>STM32F1</a:t>
            </a:r>
            <a:r>
              <a:rPr lang="zh-CN" altLang="en-US" sz="1600" b="1" dirty="0">
                <a:solidFill>
                  <a:prstClr val="black"/>
                </a:solidFill>
                <a:ea typeface="楷体" pitchFamily="49" charset="-122"/>
              </a:rPr>
              <a:t>，则定义</a:t>
            </a:r>
            <a:r>
              <a:rPr lang="en-US" altLang="zh-CN" sz="1600" b="1" dirty="0">
                <a:solidFill>
                  <a:prstClr val="black"/>
                </a:solidFill>
                <a:ea typeface="楷体" pitchFamily="49" charset="-122"/>
              </a:rPr>
              <a:t>STM32F1</a:t>
            </a:r>
            <a:r>
              <a:rPr lang="zh-CN" altLang="en-US" sz="1600" b="1" dirty="0" smtClean="0">
                <a:solidFill>
                  <a:prstClr val="black"/>
                </a:solidFill>
                <a:ea typeface="楷体" pitchFamily="49" charset="-122"/>
              </a:rPr>
              <a:t>。</a:t>
            </a:r>
            <a:endParaRPr lang="zh-CN" altLang="en-US" sz="1600" b="1" dirty="0">
              <a:solidFill>
                <a:prstClr val="black"/>
              </a:solidFill>
              <a:ea typeface="楷体" pitchFamily="49" charset="-122"/>
            </a:endParaRPr>
          </a:p>
        </p:txBody>
      </p:sp>
    </p:spTree>
    <p:extLst>
      <p:ext uri="{BB962C8B-B14F-4D97-AF65-F5344CB8AC3E}">
        <p14:creationId xmlns:p14="http://schemas.microsoft.com/office/powerpoint/2010/main" val="30481247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689673" y="916732"/>
            <a:ext cx="7416824" cy="3785652"/>
          </a:xfrm>
          <a:prstGeom prst="rect">
            <a:avLst/>
          </a:prstGeom>
        </p:spPr>
        <p:txBody>
          <a:bodyPr wrap="square">
            <a:spAutoFit/>
          </a:bodyPr>
          <a:lstStyle/>
          <a:p>
            <a:r>
              <a:rPr lang="en-GB" altLang="zh-CN" sz="1200" b="1" dirty="0">
                <a:solidFill>
                  <a:schemeClr val="accent5">
                    <a:lumMod val="75000"/>
                  </a:schemeClr>
                </a:solidFill>
              </a:rPr>
              <a:t>#if !defined (STM32F100xB) &amp;&amp; !defined (STM32F100xE) &amp;&amp; !defined (STM32F101x6) &amp;&amp; \</a:t>
            </a:r>
          </a:p>
          <a:p>
            <a:r>
              <a:rPr lang="en-GB" altLang="zh-CN" sz="1200" b="1" dirty="0">
                <a:solidFill>
                  <a:schemeClr val="accent5">
                    <a:lumMod val="75000"/>
                  </a:schemeClr>
                </a:solidFill>
              </a:rPr>
              <a:t>!defined (STM32F101xB) &amp;&amp; !defined (STM32F101xE) &amp;&amp; !defined (STM32F101xG) &amp;&amp; !defined (STM32F102x6) &amp;&amp; !defined (STM32F102xB) &amp;&amp; !defined (STM32F103x6) &amp;&amp; \</a:t>
            </a:r>
          </a:p>
          <a:p>
            <a:r>
              <a:rPr lang="en-GB" altLang="zh-CN" sz="1200" b="1" dirty="0">
                <a:solidFill>
                  <a:schemeClr val="accent5">
                    <a:lumMod val="75000"/>
                  </a:schemeClr>
                </a:solidFill>
              </a:rPr>
              <a:t>!defined (STM32F103xB) &amp;&amp; !defined (STM32F103xE) &amp;&amp; !defined (STM32F103xG) &amp;&amp; !defined (STM32F105xC) &amp;&amp; !defined (STM32F107xC)</a:t>
            </a:r>
          </a:p>
          <a:p>
            <a:r>
              <a:rPr lang="en-GB" altLang="zh-CN" sz="1200" b="1" dirty="0"/>
              <a:t>  /* #define STM32F100xB  */  </a:t>
            </a:r>
          </a:p>
          <a:p>
            <a:r>
              <a:rPr lang="en-GB" altLang="zh-CN" sz="1200" b="1" dirty="0"/>
              <a:t>  /* #define STM32F100xE */   </a:t>
            </a:r>
          </a:p>
          <a:p>
            <a:r>
              <a:rPr lang="en-GB" altLang="zh-CN" sz="1200" b="1" dirty="0"/>
              <a:t>  /* #define STM32F101x6  */  </a:t>
            </a:r>
          </a:p>
          <a:p>
            <a:r>
              <a:rPr lang="en-GB" altLang="zh-CN" sz="1200" b="1" dirty="0"/>
              <a:t>  /* #define STM32F101xB  */   </a:t>
            </a:r>
          </a:p>
          <a:p>
            <a:r>
              <a:rPr lang="en-GB" altLang="zh-CN" sz="1200" b="1" dirty="0"/>
              <a:t>  /* #define STM32F101xE */   </a:t>
            </a:r>
          </a:p>
          <a:p>
            <a:r>
              <a:rPr lang="en-GB" altLang="zh-CN" sz="1200" b="1" dirty="0"/>
              <a:t>  /* #define STM32F101xG  */   </a:t>
            </a:r>
          </a:p>
          <a:p>
            <a:r>
              <a:rPr lang="en-GB" altLang="zh-CN" sz="1200" b="1" dirty="0"/>
              <a:t>  /* #define STM32F102x6 */   </a:t>
            </a:r>
          </a:p>
          <a:p>
            <a:r>
              <a:rPr lang="en-GB" altLang="zh-CN" sz="1200" b="1" dirty="0"/>
              <a:t>  /* #define STM32F102xB  */   </a:t>
            </a:r>
          </a:p>
          <a:p>
            <a:r>
              <a:rPr lang="en-GB" altLang="zh-CN" sz="1200" b="1" dirty="0"/>
              <a:t>  /* #define STM32F103x6  </a:t>
            </a:r>
            <a:r>
              <a:rPr lang="en-GB" altLang="zh-CN" sz="1200" b="1" dirty="0" smtClean="0"/>
              <a:t>*/  </a:t>
            </a:r>
            <a:endParaRPr lang="en-GB" altLang="zh-CN" sz="1200" b="1" dirty="0"/>
          </a:p>
          <a:p>
            <a:r>
              <a:rPr lang="en-GB" altLang="zh-CN" sz="1200" b="1" dirty="0"/>
              <a:t>  /* #define STM32F103xB  */  </a:t>
            </a:r>
          </a:p>
          <a:p>
            <a:r>
              <a:rPr lang="en-GB" altLang="zh-CN" sz="1200" b="1" dirty="0">
                <a:solidFill>
                  <a:srgbClr val="D38583"/>
                </a:solidFill>
              </a:rPr>
              <a:t>  /* #define STM32F103xE */   </a:t>
            </a:r>
          </a:p>
          <a:p>
            <a:r>
              <a:rPr lang="en-GB" altLang="zh-CN" sz="1200" b="1" dirty="0"/>
              <a:t>  /* #define STM32F103xG  */  </a:t>
            </a:r>
          </a:p>
          <a:p>
            <a:r>
              <a:rPr lang="en-GB" altLang="zh-CN" sz="1200" b="1" dirty="0"/>
              <a:t>  /* #define STM32F105xC */    </a:t>
            </a:r>
          </a:p>
          <a:p>
            <a:r>
              <a:rPr lang="en-GB" altLang="zh-CN" sz="1200" b="1" dirty="0"/>
              <a:t>  /* #define STM32F107xC  */  </a:t>
            </a:r>
          </a:p>
          <a:p>
            <a:r>
              <a:rPr lang="en-GB" altLang="zh-CN" sz="1200" b="1" dirty="0">
                <a:solidFill>
                  <a:schemeClr val="accent5">
                    <a:lumMod val="75000"/>
                  </a:schemeClr>
                </a:solidFill>
              </a:rPr>
              <a:t>#</a:t>
            </a:r>
            <a:r>
              <a:rPr lang="en-GB" altLang="zh-CN" sz="1200" b="1" dirty="0" err="1">
                <a:solidFill>
                  <a:schemeClr val="accent5">
                    <a:lumMod val="75000"/>
                  </a:schemeClr>
                </a:solidFill>
              </a:rPr>
              <a:t>endif</a:t>
            </a:r>
            <a:endParaRPr lang="en-GB" altLang="zh-CN" sz="1200" b="1" dirty="0">
              <a:solidFill>
                <a:schemeClr val="accent5">
                  <a:lumMod val="75000"/>
                </a:schemeClr>
              </a:solidFill>
            </a:endParaRPr>
          </a:p>
        </p:txBody>
      </p:sp>
      <p:sp>
        <p:nvSpPr>
          <p:cNvPr id="6" name="矩形 5"/>
          <p:cNvSpPr/>
          <p:nvPr/>
        </p:nvSpPr>
        <p:spPr>
          <a:xfrm>
            <a:off x="3842937" y="2211710"/>
            <a:ext cx="4572000" cy="2308324"/>
          </a:xfrm>
          <a:prstGeom prst="rect">
            <a:avLst/>
          </a:prstGeom>
          <a:solidFill>
            <a:schemeClr val="accent4">
              <a:lumMod val="20000"/>
              <a:lumOff val="80000"/>
            </a:schemeClr>
          </a:solidFill>
        </p:spPr>
        <p:txBody>
          <a:bodyPr>
            <a:spAutoFit/>
          </a:bodyPr>
          <a:lstStyle/>
          <a:p>
            <a:pPr indent="229235" algn="just">
              <a:spcBef>
                <a:spcPts val="600"/>
              </a:spcBef>
              <a:spcAft>
                <a:spcPts val="0"/>
              </a:spcAft>
            </a:pPr>
            <a:r>
              <a:rPr lang="zh-CN" altLang="zh-CN" sz="1600" b="1" dirty="0">
                <a:solidFill>
                  <a:srgbClr val="CD7371"/>
                </a:solidFill>
                <a:ea typeface="楷体" pitchFamily="49" charset="-122"/>
              </a:rPr>
              <a:t>解析：</a:t>
            </a:r>
            <a:r>
              <a:rPr lang="zh-CN" altLang="zh-CN" sz="1600" b="1" kern="100" dirty="0">
                <a:latin typeface="Times New Roman"/>
                <a:ea typeface="楷体"/>
                <a:cs typeface="Times New Roman"/>
              </a:rPr>
              <a:t>这段宏定义作用是编译器提示进行设备选型，如果没有发现任何</a:t>
            </a:r>
            <a:r>
              <a:rPr lang="en-US" altLang="zh-CN" sz="1600" b="1" kern="100" dirty="0">
                <a:latin typeface="Times New Roman"/>
                <a:ea typeface="楷体"/>
                <a:cs typeface="Times New Roman"/>
              </a:rPr>
              <a:t>STM32</a:t>
            </a:r>
            <a:r>
              <a:rPr lang="zh-CN" altLang="zh-CN" sz="1600" b="1" kern="100" dirty="0">
                <a:latin typeface="Times New Roman"/>
                <a:ea typeface="楷体"/>
                <a:cs typeface="Times New Roman"/>
              </a:rPr>
              <a:t>设备，则编译器在编译时会提示</a:t>
            </a:r>
            <a:r>
              <a:rPr lang="zh-CN" altLang="zh-CN" sz="1600" b="1" kern="100" dirty="0" smtClean="0">
                <a:latin typeface="Times New Roman"/>
                <a:ea typeface="楷体"/>
                <a:cs typeface="Times New Roman"/>
              </a:rPr>
              <a:t>错误信息，如：</a:t>
            </a:r>
            <a:r>
              <a:rPr lang="en-US" altLang="zh-CN" sz="1600" b="1" kern="100" dirty="0" smtClean="0">
                <a:latin typeface="Times New Roman"/>
                <a:ea typeface="楷体"/>
                <a:cs typeface="Times New Roman"/>
              </a:rPr>
              <a:t> #error "Please select first the target STM32F1xx device used in your application (in stm32f1xx.h file)"</a:t>
            </a:r>
            <a:r>
              <a:rPr lang="zh-CN" altLang="zh-CN" sz="1600" b="1" kern="100" dirty="0" smtClean="0">
                <a:latin typeface="Times New Roman"/>
                <a:ea typeface="楷体"/>
                <a:cs typeface="Times New Roman"/>
              </a:rPr>
              <a:t>，</a:t>
            </a:r>
            <a:r>
              <a:rPr lang="zh-CN" altLang="zh-CN" sz="1600" b="1" kern="100" dirty="0">
                <a:latin typeface="Times New Roman"/>
                <a:ea typeface="楷体"/>
                <a:cs typeface="Times New Roman"/>
              </a:rPr>
              <a:t>这时就需要在这段代码中找到所使用的</a:t>
            </a:r>
            <a:r>
              <a:rPr lang="en-US" altLang="zh-CN" sz="1600" b="1" kern="100" dirty="0">
                <a:latin typeface="Times New Roman"/>
                <a:ea typeface="楷体"/>
                <a:cs typeface="Times New Roman"/>
              </a:rPr>
              <a:t>MCU</a:t>
            </a:r>
            <a:r>
              <a:rPr lang="zh-CN" altLang="zh-CN" sz="1600" b="1" kern="100" dirty="0">
                <a:latin typeface="Times New Roman"/>
                <a:ea typeface="楷体"/>
                <a:cs typeface="Times New Roman"/>
              </a:rPr>
              <a:t>，把相应系列的</a:t>
            </a:r>
            <a:r>
              <a:rPr lang="en-US" altLang="zh-CN" sz="1600" b="1" kern="100" dirty="0">
                <a:latin typeface="Times New Roman"/>
                <a:ea typeface="楷体"/>
                <a:cs typeface="Times New Roman"/>
              </a:rPr>
              <a:t>STM32</a:t>
            </a:r>
            <a:r>
              <a:rPr lang="zh-CN" altLang="zh-CN" sz="1600" b="1" kern="100" dirty="0">
                <a:latin typeface="Times New Roman"/>
                <a:ea typeface="楷体"/>
                <a:cs typeface="Times New Roman"/>
              </a:rPr>
              <a:t>芯片的注释去掉，就可以了，</a:t>
            </a:r>
            <a:r>
              <a:rPr lang="zh-CN" altLang="zh-CN" sz="1600" b="1" kern="100" dirty="0" smtClean="0">
                <a:latin typeface="Times New Roman"/>
                <a:ea typeface="楷体"/>
                <a:cs typeface="Times New Roman"/>
              </a:rPr>
              <a:t>如使用</a:t>
            </a:r>
            <a:r>
              <a:rPr lang="zh-CN" altLang="zh-CN" sz="1600" b="1" kern="100" dirty="0">
                <a:latin typeface="Times New Roman"/>
                <a:ea typeface="楷体"/>
                <a:cs typeface="Times New Roman"/>
              </a:rPr>
              <a:t>的是</a:t>
            </a:r>
            <a:r>
              <a:rPr lang="en-US" altLang="zh-CN" sz="1600" b="1" kern="100" dirty="0">
                <a:latin typeface="Times New Roman"/>
                <a:ea typeface="楷体"/>
                <a:cs typeface="Times New Roman"/>
              </a:rPr>
              <a:t>STM32F103ZET6</a:t>
            </a:r>
            <a:r>
              <a:rPr lang="zh-CN" altLang="zh-CN" sz="1600" b="1" kern="100" dirty="0">
                <a:latin typeface="Times New Roman"/>
                <a:ea typeface="楷体"/>
                <a:cs typeface="Times New Roman"/>
              </a:rPr>
              <a:t>芯片，则需要把</a:t>
            </a:r>
            <a:r>
              <a:rPr lang="en-US" altLang="zh-CN" sz="1600" b="1" kern="100" dirty="0" smtClean="0">
                <a:latin typeface="Times New Roman"/>
                <a:ea typeface="楷体"/>
                <a:cs typeface="Times New Roman"/>
              </a:rPr>
              <a:t>STM32F103xE</a:t>
            </a:r>
            <a:r>
              <a:rPr lang="zh-CN" altLang="zh-CN" sz="1600" b="1" kern="100" dirty="0" smtClean="0">
                <a:latin typeface="Times New Roman"/>
                <a:ea typeface="楷体"/>
                <a:cs typeface="Times New Roman"/>
              </a:rPr>
              <a:t>这</a:t>
            </a:r>
            <a:r>
              <a:rPr lang="zh-CN" altLang="zh-CN" sz="1600" b="1" kern="100" dirty="0">
                <a:latin typeface="Times New Roman"/>
                <a:ea typeface="楷体"/>
                <a:cs typeface="Times New Roman"/>
              </a:rPr>
              <a:t>段代码前后的注释去掉。</a:t>
            </a:r>
            <a:endParaRPr lang="zh-CN" altLang="zh-CN" sz="2000" b="1" kern="100" dirty="0">
              <a:latin typeface="Times New Roman"/>
              <a:cs typeface="Times New Roman"/>
            </a:endParaRPr>
          </a:p>
        </p:txBody>
      </p:sp>
    </p:spTree>
    <p:extLst>
      <p:ext uri="{BB962C8B-B14F-4D97-AF65-F5344CB8AC3E}">
        <p14:creationId xmlns:p14="http://schemas.microsoft.com/office/powerpoint/2010/main" val="41414980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755576" y="909046"/>
            <a:ext cx="3312368" cy="2462213"/>
          </a:xfrm>
          <a:prstGeom prst="rect">
            <a:avLst/>
          </a:prstGeom>
        </p:spPr>
        <p:txBody>
          <a:bodyPr wrap="square">
            <a:spAutoFit/>
          </a:bodyPr>
          <a:lstStyle/>
          <a:p>
            <a:r>
              <a:rPr lang="en-US" altLang="zh-CN" sz="1400" b="1" dirty="0">
                <a:solidFill>
                  <a:schemeClr val="accent5">
                    <a:lumMod val="75000"/>
                  </a:schemeClr>
                </a:solidFill>
              </a:rPr>
              <a:t>#if !defined  (USE_HAL_DRIVER)</a:t>
            </a:r>
          </a:p>
          <a:p>
            <a:r>
              <a:rPr lang="en-US" altLang="zh-CN" sz="1400" b="1" dirty="0"/>
              <a:t>/**</a:t>
            </a:r>
          </a:p>
          <a:p>
            <a:r>
              <a:rPr lang="en-US" altLang="zh-CN" sz="1400" b="1" dirty="0"/>
              <a:t> * @brief Comment the line below if you will not use the peripherals drivers.</a:t>
            </a:r>
          </a:p>
          <a:p>
            <a:r>
              <a:rPr lang="en-US" altLang="zh-CN" sz="1400" b="1" dirty="0"/>
              <a:t>   In this case, these drivers will not be included and the application code will </a:t>
            </a:r>
          </a:p>
          <a:p>
            <a:r>
              <a:rPr lang="en-US" altLang="zh-CN" sz="1400" b="1" dirty="0"/>
              <a:t>be based on direct access to peripherals registers </a:t>
            </a:r>
          </a:p>
          <a:p>
            <a:r>
              <a:rPr lang="en-US" altLang="zh-CN" sz="1400" b="1" dirty="0"/>
              <a:t>   */</a:t>
            </a:r>
          </a:p>
          <a:p>
            <a:r>
              <a:rPr lang="en-US" altLang="zh-CN" sz="1400" b="1" dirty="0"/>
              <a:t>  /*#define USE_HAL_DRIVER */</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a:t>
            </a:r>
            <a:r>
              <a:rPr lang="en-US" altLang="zh-CN" sz="1400" b="1" dirty="0"/>
              <a:t>/* USE_HAL_DRIVER */</a:t>
            </a:r>
          </a:p>
        </p:txBody>
      </p:sp>
      <p:sp>
        <p:nvSpPr>
          <p:cNvPr id="6" name="矩形 5"/>
          <p:cNvSpPr/>
          <p:nvPr/>
        </p:nvSpPr>
        <p:spPr>
          <a:xfrm>
            <a:off x="323528" y="3364801"/>
            <a:ext cx="4040978" cy="1438855"/>
          </a:xfrm>
          <a:prstGeom prst="rect">
            <a:avLst/>
          </a:prstGeom>
          <a:solidFill>
            <a:schemeClr val="accent4">
              <a:lumMod val="20000"/>
              <a:lumOff val="80000"/>
            </a:schemeClr>
          </a:solidFill>
        </p:spPr>
        <p:txBody>
          <a:bodyPr wrap="square">
            <a:spAutoFit/>
          </a:bodyPr>
          <a:lstStyle/>
          <a:p>
            <a:pPr indent="229235" algn="just">
              <a:lnSpc>
                <a:spcPct val="125000"/>
              </a:lnSpc>
              <a:spcBef>
                <a:spcPts val="600"/>
              </a:spcBef>
              <a:spcAft>
                <a:spcPts val="0"/>
              </a:spcAft>
            </a:pPr>
            <a:r>
              <a:rPr lang="zh-CN" altLang="zh-CN" sz="1400" b="1" dirty="0">
                <a:solidFill>
                  <a:srgbClr val="CD7371"/>
                </a:solidFill>
                <a:ea typeface="楷体" pitchFamily="49" charset="-122"/>
              </a:rPr>
              <a:t>解析</a:t>
            </a:r>
            <a:r>
              <a:rPr lang="zh-CN" altLang="zh-CN" sz="1400" b="1" dirty="0" smtClean="0">
                <a:solidFill>
                  <a:srgbClr val="CD7371"/>
                </a:solidFill>
                <a:ea typeface="楷体" pitchFamily="49" charset="-122"/>
              </a:rPr>
              <a:t>：</a:t>
            </a:r>
            <a:r>
              <a:rPr lang="zh-CN" altLang="en-US" sz="1400" b="1" kern="100" dirty="0">
                <a:ea typeface="楷体"/>
                <a:cs typeface="Times New Roman"/>
              </a:rPr>
              <a:t>这段代码用于定义是否使用外设驱动</a:t>
            </a:r>
            <a:r>
              <a:rPr lang="zh-CN" altLang="en-US" sz="1400" b="1" kern="100" dirty="0" smtClean="0">
                <a:ea typeface="楷体"/>
                <a:cs typeface="Times New Roman"/>
              </a:rPr>
              <a:t>库编写</a:t>
            </a:r>
            <a:r>
              <a:rPr lang="zh-CN" altLang="en-US" sz="1400" b="1" kern="100" dirty="0">
                <a:ea typeface="楷体"/>
                <a:cs typeface="Times New Roman"/>
              </a:rPr>
              <a:t>外设应用程序（</a:t>
            </a:r>
            <a:r>
              <a:rPr lang="zh-CN" altLang="en-US" sz="1400" b="1" kern="100" dirty="0" smtClean="0">
                <a:ea typeface="楷体"/>
                <a:cs typeface="Times New Roman"/>
              </a:rPr>
              <a:t>这儿指</a:t>
            </a:r>
            <a:r>
              <a:rPr lang="en-US" altLang="zh-CN" sz="1400" b="1" kern="100" dirty="0">
                <a:ea typeface="楷体"/>
                <a:cs typeface="Times New Roman"/>
              </a:rPr>
              <a:t>HAL</a:t>
            </a:r>
            <a:r>
              <a:rPr lang="zh-CN" altLang="en-US" sz="1400" b="1" kern="100" dirty="0">
                <a:ea typeface="楷体"/>
                <a:cs typeface="Times New Roman"/>
              </a:rPr>
              <a:t>库或标准外设库，即调用</a:t>
            </a:r>
            <a:r>
              <a:rPr lang="en-US" altLang="zh-CN" sz="1400" b="1" kern="100" dirty="0">
                <a:ea typeface="楷体"/>
                <a:cs typeface="Times New Roman"/>
              </a:rPr>
              <a:t>API</a:t>
            </a:r>
            <a:r>
              <a:rPr lang="zh-CN" altLang="en-US" sz="1400" b="1" kern="100" dirty="0">
                <a:ea typeface="楷体"/>
                <a:cs typeface="Times New Roman"/>
              </a:rPr>
              <a:t>函数的开发方式），如果想使用基于寄存器的开发方式，即不使用</a:t>
            </a:r>
            <a:r>
              <a:rPr lang="en-US" altLang="zh-CN" sz="1400" b="1" kern="100" dirty="0">
                <a:ea typeface="楷体"/>
                <a:cs typeface="Times New Roman"/>
              </a:rPr>
              <a:t>ST</a:t>
            </a:r>
            <a:r>
              <a:rPr lang="zh-CN" altLang="en-US" sz="1400" b="1" kern="100" dirty="0">
                <a:ea typeface="楷体"/>
                <a:cs typeface="Times New Roman"/>
              </a:rPr>
              <a:t>提供的</a:t>
            </a:r>
            <a:r>
              <a:rPr lang="en-US" altLang="zh-CN" sz="1400" b="1" kern="100" dirty="0">
                <a:ea typeface="楷体"/>
                <a:cs typeface="Times New Roman"/>
              </a:rPr>
              <a:t>HAL</a:t>
            </a:r>
            <a:r>
              <a:rPr lang="zh-CN" altLang="en-US" sz="1400" b="1" kern="100" dirty="0">
                <a:ea typeface="楷体"/>
                <a:cs typeface="Times New Roman"/>
              </a:rPr>
              <a:t>库，则把下面的代码注释掉。</a:t>
            </a:r>
            <a:endParaRPr lang="zh-CN" altLang="zh-CN" b="1" kern="100" dirty="0">
              <a:cs typeface="Times New Roman"/>
            </a:endParaRPr>
          </a:p>
        </p:txBody>
      </p:sp>
      <p:sp>
        <p:nvSpPr>
          <p:cNvPr id="3" name="矩形 2"/>
          <p:cNvSpPr/>
          <p:nvPr/>
        </p:nvSpPr>
        <p:spPr>
          <a:xfrm>
            <a:off x="4716016" y="902588"/>
            <a:ext cx="4104456" cy="2893100"/>
          </a:xfrm>
          <a:prstGeom prst="rect">
            <a:avLst/>
          </a:prstGeom>
          <a:solidFill>
            <a:srgbClr val="F7EAE9"/>
          </a:solidFill>
        </p:spPr>
        <p:txBody>
          <a:bodyPr wrap="square">
            <a:spAutoFit/>
          </a:bodyPr>
          <a:lstStyle/>
          <a:p>
            <a:r>
              <a:rPr lang="en-GB" altLang="zh-CN" sz="1400" b="1" dirty="0">
                <a:solidFill>
                  <a:schemeClr val="accent5">
                    <a:lumMod val="75000"/>
                  </a:schemeClr>
                </a:solidFill>
              </a:rPr>
              <a:t>#define __STM32F1_CMSIS_VERSION_MAIN   (0x04) </a:t>
            </a:r>
            <a:endParaRPr lang="en-GB" altLang="zh-CN" sz="1400" b="1" dirty="0" smtClean="0">
              <a:solidFill>
                <a:schemeClr val="accent5">
                  <a:lumMod val="75000"/>
                </a:schemeClr>
              </a:solidFill>
            </a:endParaRPr>
          </a:p>
          <a:p>
            <a:r>
              <a:rPr lang="en-GB" altLang="zh-CN" sz="1400" b="1" dirty="0"/>
              <a:t> </a:t>
            </a:r>
            <a:r>
              <a:rPr lang="en-GB" altLang="zh-CN" sz="1400" b="1" dirty="0" smtClean="0"/>
              <a:t>        /*!&lt; </a:t>
            </a:r>
            <a:r>
              <a:rPr lang="en-GB" altLang="zh-CN" sz="1400" b="1" dirty="0"/>
              <a:t>[31:24] main version */</a:t>
            </a:r>
          </a:p>
          <a:p>
            <a:r>
              <a:rPr lang="en-GB" altLang="zh-CN" sz="1400" b="1" dirty="0">
                <a:solidFill>
                  <a:schemeClr val="accent5">
                    <a:lumMod val="75000"/>
                  </a:schemeClr>
                </a:solidFill>
              </a:rPr>
              <a:t>#define __STM32F1_CMSIS_VERSION_SUB1   (0x03) </a:t>
            </a:r>
          </a:p>
          <a:p>
            <a:r>
              <a:rPr lang="en-GB" altLang="zh-CN" sz="1400" b="1" dirty="0"/>
              <a:t> </a:t>
            </a:r>
            <a:r>
              <a:rPr lang="en-GB" altLang="zh-CN" sz="1400" b="1" dirty="0" smtClean="0"/>
              <a:t>        /*!&lt; </a:t>
            </a:r>
            <a:r>
              <a:rPr lang="en-GB" altLang="zh-CN" sz="1400" b="1" dirty="0"/>
              <a:t>[23:16] sub1 version */</a:t>
            </a:r>
          </a:p>
          <a:p>
            <a:r>
              <a:rPr lang="en-GB" altLang="zh-CN" sz="1400" b="1" dirty="0">
                <a:solidFill>
                  <a:schemeClr val="accent5">
                    <a:lumMod val="75000"/>
                  </a:schemeClr>
                </a:solidFill>
              </a:rPr>
              <a:t>#define __STM32F1_CMSIS_VERSION_SUB2   (0x01) </a:t>
            </a:r>
            <a:endParaRPr lang="en-GB" altLang="zh-CN" sz="1400" b="1" dirty="0" smtClean="0">
              <a:solidFill>
                <a:schemeClr val="accent5">
                  <a:lumMod val="75000"/>
                </a:schemeClr>
              </a:solidFill>
            </a:endParaRPr>
          </a:p>
          <a:p>
            <a:r>
              <a:rPr lang="en-GB" altLang="zh-CN" sz="1400" b="1" dirty="0"/>
              <a:t> </a:t>
            </a:r>
            <a:r>
              <a:rPr lang="en-GB" altLang="zh-CN" sz="1400" b="1" dirty="0" smtClean="0"/>
              <a:t>         /*!&lt; </a:t>
            </a:r>
            <a:r>
              <a:rPr lang="en-GB" altLang="zh-CN" sz="1400" b="1" dirty="0"/>
              <a:t>[15:8]  sub2 version */</a:t>
            </a:r>
          </a:p>
          <a:p>
            <a:r>
              <a:rPr lang="en-GB" altLang="zh-CN" sz="1400" b="1" dirty="0">
                <a:solidFill>
                  <a:schemeClr val="accent5">
                    <a:lumMod val="75000"/>
                  </a:schemeClr>
                </a:solidFill>
              </a:rPr>
              <a:t>#define __STM32F1_CMSIS_VERSION_RC     (0x00) </a:t>
            </a:r>
            <a:endParaRPr lang="en-GB" altLang="zh-CN" sz="1400" b="1" dirty="0" smtClean="0">
              <a:solidFill>
                <a:schemeClr val="accent5">
                  <a:lumMod val="75000"/>
                </a:schemeClr>
              </a:solidFill>
            </a:endParaRPr>
          </a:p>
          <a:p>
            <a:r>
              <a:rPr lang="en-GB" altLang="zh-CN" sz="1400" b="1" dirty="0"/>
              <a:t> </a:t>
            </a:r>
            <a:r>
              <a:rPr lang="en-GB" altLang="zh-CN" sz="1400" b="1" dirty="0" smtClean="0"/>
              <a:t>         /*!&lt; </a:t>
            </a:r>
            <a:r>
              <a:rPr lang="en-GB" altLang="zh-CN" sz="1400" b="1" dirty="0"/>
              <a:t>[7:0]  release candidate */ </a:t>
            </a:r>
          </a:p>
          <a:p>
            <a:r>
              <a:rPr lang="en-GB" altLang="zh-CN" sz="1400" b="1" dirty="0">
                <a:solidFill>
                  <a:schemeClr val="accent5">
                    <a:lumMod val="75000"/>
                  </a:schemeClr>
                </a:solidFill>
              </a:rPr>
              <a:t>#define __STM32F1_CMSIS_VERSION        ((__STM32F1_CMSIS_VERSION_MAIN &lt;&lt; 24)\</a:t>
            </a:r>
          </a:p>
          <a:p>
            <a:r>
              <a:rPr lang="en-GB" altLang="zh-CN" sz="1400" b="1" dirty="0">
                <a:solidFill>
                  <a:schemeClr val="accent5">
                    <a:lumMod val="75000"/>
                  </a:schemeClr>
                </a:solidFill>
              </a:rPr>
              <a:t>|(__STM32F1_CMSIS_VERSION_SUB1 &lt;&lt; 16)\</a:t>
            </a:r>
          </a:p>
          <a:p>
            <a:r>
              <a:rPr lang="en-GB" altLang="zh-CN" sz="1400" b="1" dirty="0">
                <a:solidFill>
                  <a:schemeClr val="accent5">
                    <a:lumMod val="75000"/>
                  </a:schemeClr>
                </a:solidFill>
              </a:rPr>
              <a:t>|(__STM32F1_CMSIS_VERSION_SUB2 &lt;&lt; 8 )\</a:t>
            </a:r>
          </a:p>
          <a:p>
            <a:r>
              <a:rPr lang="en-GB" altLang="zh-CN" sz="1400" b="1" dirty="0">
                <a:solidFill>
                  <a:schemeClr val="accent5">
                    <a:lumMod val="75000"/>
                  </a:schemeClr>
                </a:solidFill>
              </a:rPr>
              <a:t>|(__STM32F1_CMSIS_VERSION_RC</a:t>
            </a:r>
            <a:r>
              <a:rPr lang="en-GB" altLang="zh-CN" sz="1400" b="1" dirty="0" smtClean="0">
                <a:solidFill>
                  <a:schemeClr val="accent5">
                    <a:lumMod val="75000"/>
                  </a:schemeClr>
                </a:solidFill>
              </a:rPr>
              <a:t>))</a:t>
            </a:r>
            <a:endParaRPr lang="en-GB" altLang="zh-CN" sz="1400" b="1" dirty="0">
              <a:solidFill>
                <a:schemeClr val="accent5">
                  <a:lumMod val="75000"/>
                </a:schemeClr>
              </a:solidFill>
            </a:endParaRPr>
          </a:p>
        </p:txBody>
      </p:sp>
      <p:sp>
        <p:nvSpPr>
          <p:cNvPr id="7" name="矩形 6"/>
          <p:cNvSpPr/>
          <p:nvPr/>
        </p:nvSpPr>
        <p:spPr>
          <a:xfrm>
            <a:off x="5040052" y="3975137"/>
            <a:ext cx="3312368" cy="338554"/>
          </a:xfrm>
          <a:prstGeom prst="rect">
            <a:avLst/>
          </a:prstGeom>
        </p:spPr>
        <p:txBody>
          <a:bodyPr wrap="square">
            <a:spAutoFit/>
          </a:bodyPr>
          <a:lstStyle/>
          <a:p>
            <a:pPr lvl="0"/>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CMSIS</a:t>
            </a:r>
            <a:r>
              <a:rPr lang="zh-CN" altLang="en-US" sz="1600" b="1" dirty="0">
                <a:solidFill>
                  <a:prstClr val="black"/>
                </a:solidFill>
                <a:ea typeface="楷体" pitchFamily="49" charset="-122"/>
              </a:rPr>
              <a:t>设备版本号的定义。</a:t>
            </a:r>
          </a:p>
        </p:txBody>
      </p:sp>
    </p:spTree>
    <p:extLst>
      <p:ext uri="{BB962C8B-B14F-4D97-AF65-F5344CB8AC3E}">
        <p14:creationId xmlns:p14="http://schemas.microsoft.com/office/powerpoint/2010/main" val="9056343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3419872" y="1048161"/>
            <a:ext cx="2592288" cy="3539430"/>
          </a:xfrm>
          <a:prstGeom prst="rect">
            <a:avLst/>
          </a:prstGeom>
          <a:solidFill>
            <a:schemeClr val="accent3">
              <a:lumMod val="20000"/>
              <a:lumOff val="80000"/>
            </a:schemeClr>
          </a:solidFill>
        </p:spPr>
        <p:txBody>
          <a:bodyPr wrap="square">
            <a:spAutoFit/>
          </a:bodyPr>
          <a:lstStyle/>
          <a:p>
            <a:r>
              <a:rPr lang="en-US" altLang="zh-CN" sz="1400" b="1" dirty="0">
                <a:solidFill>
                  <a:schemeClr val="accent5">
                    <a:lumMod val="75000"/>
                  </a:schemeClr>
                </a:solidFill>
              </a:rPr>
              <a:t>#if defined(STM32F100xB)</a:t>
            </a:r>
          </a:p>
          <a:p>
            <a:r>
              <a:rPr lang="en-US" altLang="zh-CN" sz="1400" b="1" dirty="0">
                <a:solidFill>
                  <a:schemeClr val="accent5">
                    <a:lumMod val="75000"/>
                  </a:schemeClr>
                </a:solidFill>
              </a:rPr>
              <a:t>  #include "stm32f100xb.h"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defined(STM32F100xE)</a:t>
            </a:r>
          </a:p>
          <a:p>
            <a:r>
              <a:rPr lang="en-US" altLang="zh-CN" sz="1400" b="1" dirty="0">
                <a:solidFill>
                  <a:schemeClr val="accent5">
                    <a:lumMod val="75000"/>
                  </a:schemeClr>
                </a:solidFill>
              </a:rPr>
              <a:t>  #include "stm32f100xe.h"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defined(STM32F101x6)</a:t>
            </a:r>
          </a:p>
          <a:p>
            <a:r>
              <a:rPr lang="en-US" altLang="zh-CN" sz="1400" b="1" dirty="0">
                <a:solidFill>
                  <a:schemeClr val="accent5">
                    <a:lumMod val="75000"/>
                  </a:schemeClr>
                </a:solidFill>
              </a:rPr>
              <a:t>  #include "stm32f101x6.h"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defined(STM32F101xB)</a:t>
            </a:r>
          </a:p>
          <a:p>
            <a:r>
              <a:rPr lang="en-US" altLang="zh-CN" sz="1400" b="1" dirty="0">
                <a:solidFill>
                  <a:schemeClr val="accent5">
                    <a:lumMod val="75000"/>
                  </a:schemeClr>
                </a:solidFill>
              </a:rPr>
              <a:t>  #include "stm32f101xb.h"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defined(STM32F101xE)</a:t>
            </a:r>
          </a:p>
          <a:p>
            <a:r>
              <a:rPr lang="en-US" altLang="zh-CN" sz="1400" b="1" dirty="0">
                <a:solidFill>
                  <a:schemeClr val="accent5">
                    <a:lumMod val="75000"/>
                  </a:schemeClr>
                </a:solidFill>
              </a:rPr>
              <a:t>  #include "stm32f101xe.h"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defined(STM32F101xG)</a:t>
            </a:r>
          </a:p>
          <a:p>
            <a:r>
              <a:rPr lang="en-US" altLang="zh-CN" sz="1400" b="1" dirty="0">
                <a:solidFill>
                  <a:schemeClr val="accent5">
                    <a:lumMod val="75000"/>
                  </a:schemeClr>
                </a:solidFill>
              </a:rPr>
              <a:t>  #include "stm32f101xg.h"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defined(STM32F102x6)</a:t>
            </a:r>
          </a:p>
          <a:p>
            <a:r>
              <a:rPr lang="en-US" altLang="zh-CN" sz="1400" b="1" dirty="0">
                <a:solidFill>
                  <a:schemeClr val="accent5">
                    <a:lumMod val="75000"/>
                  </a:schemeClr>
                </a:solidFill>
              </a:rPr>
              <a:t>  #include "stm32f102x6.h"</a:t>
            </a:r>
          </a:p>
          <a:p>
            <a:r>
              <a:rPr lang="en-US" altLang="zh-CN" sz="1400" b="1" dirty="0">
                <a:solidFill>
                  <a:schemeClr val="accent5">
                    <a:lumMod val="75000"/>
                  </a:schemeClr>
                </a:solidFill>
              </a:rPr>
              <a:t>#</a:t>
            </a:r>
            <a:r>
              <a:rPr lang="en-US" altLang="zh-CN" sz="1400" b="1" dirty="0" err="1">
                <a:solidFill>
                  <a:schemeClr val="accent5">
                    <a:lumMod val="75000"/>
                  </a:schemeClr>
                </a:solidFill>
              </a:rPr>
              <a:t>elif</a:t>
            </a:r>
            <a:r>
              <a:rPr lang="en-US" altLang="zh-CN" sz="1400" b="1" dirty="0">
                <a:solidFill>
                  <a:schemeClr val="accent5">
                    <a:lumMod val="75000"/>
                  </a:schemeClr>
                </a:solidFill>
              </a:rPr>
              <a:t> defined(STM32F102xB)</a:t>
            </a:r>
          </a:p>
          <a:p>
            <a:r>
              <a:rPr lang="en-US" altLang="zh-CN" sz="1400" b="1" dirty="0">
                <a:solidFill>
                  <a:schemeClr val="accent5">
                    <a:lumMod val="75000"/>
                  </a:schemeClr>
                </a:solidFill>
              </a:rPr>
              <a:t>  #include "stm32f102xb.h</a:t>
            </a:r>
            <a:r>
              <a:rPr lang="en-US" altLang="zh-CN" sz="1400" b="1" dirty="0" smtClean="0">
                <a:solidFill>
                  <a:schemeClr val="accent5">
                    <a:lumMod val="75000"/>
                  </a:schemeClr>
                </a:solidFill>
              </a:rPr>
              <a:t>"</a:t>
            </a:r>
            <a:endParaRPr lang="en-US" altLang="zh-CN" sz="1400" b="1" dirty="0">
              <a:solidFill>
                <a:schemeClr val="accent5">
                  <a:lumMod val="75000"/>
                </a:schemeClr>
              </a:solidFill>
            </a:endParaRPr>
          </a:p>
        </p:txBody>
      </p:sp>
      <p:sp>
        <p:nvSpPr>
          <p:cNvPr id="7" name="矩形 6"/>
          <p:cNvSpPr/>
          <p:nvPr/>
        </p:nvSpPr>
        <p:spPr>
          <a:xfrm>
            <a:off x="504600" y="1061239"/>
            <a:ext cx="2771256" cy="3539430"/>
          </a:xfrm>
          <a:prstGeom prst="rect">
            <a:avLst/>
          </a:prstGeom>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GB" altLang="zh-CN" sz="1600" b="1" dirty="0">
                <a:solidFill>
                  <a:prstClr val="black"/>
                </a:solidFill>
                <a:ea typeface="楷体" pitchFamily="49" charset="-122"/>
              </a:rPr>
              <a:t>stm32f1xx.h</a:t>
            </a:r>
            <a:r>
              <a:rPr lang="zh-CN" altLang="en-US" sz="1600" b="1" dirty="0">
                <a:solidFill>
                  <a:prstClr val="black"/>
                </a:solidFill>
                <a:ea typeface="楷体" pitchFamily="49" charset="-122"/>
              </a:rPr>
              <a:t>是</a:t>
            </a:r>
            <a:r>
              <a:rPr lang="en-GB" altLang="zh-CN" sz="1600" b="1" dirty="0">
                <a:solidFill>
                  <a:prstClr val="black"/>
                </a:solidFill>
                <a:ea typeface="楷体" pitchFamily="49" charset="-122"/>
              </a:rPr>
              <a:t>STM32F1 MCU</a:t>
            </a:r>
            <a:r>
              <a:rPr lang="zh-CN" altLang="en-US" sz="1600" b="1" dirty="0">
                <a:solidFill>
                  <a:prstClr val="black"/>
                </a:solidFill>
                <a:ea typeface="楷体" pitchFamily="49" charset="-122"/>
              </a:rPr>
              <a:t>的顶层头文件，由于</a:t>
            </a:r>
            <a:r>
              <a:rPr lang="en-GB" altLang="zh-CN" sz="1600" b="1" dirty="0">
                <a:solidFill>
                  <a:prstClr val="black"/>
                </a:solidFill>
                <a:ea typeface="楷体" pitchFamily="49" charset="-122"/>
              </a:rPr>
              <a:t>STM32F1xx</a:t>
            </a:r>
            <a:r>
              <a:rPr lang="zh-CN" altLang="en-US" sz="1600" b="1" dirty="0">
                <a:solidFill>
                  <a:prstClr val="black"/>
                </a:solidFill>
                <a:ea typeface="楷体" pitchFamily="49" charset="-122"/>
              </a:rPr>
              <a:t>系列的芯片特别多，</a:t>
            </a:r>
            <a:r>
              <a:rPr lang="en-GB" altLang="zh-CN" sz="1600" b="1" dirty="0">
                <a:solidFill>
                  <a:prstClr val="black"/>
                </a:solidFill>
                <a:ea typeface="楷体" pitchFamily="49" charset="-122"/>
              </a:rPr>
              <a:t>ST</a:t>
            </a:r>
            <a:r>
              <a:rPr lang="zh-CN" altLang="en-US" sz="1600" b="1" dirty="0">
                <a:solidFill>
                  <a:prstClr val="black"/>
                </a:solidFill>
                <a:ea typeface="楷体" pitchFamily="49" charset="-122"/>
              </a:rPr>
              <a:t>针对每种</a:t>
            </a:r>
            <a:r>
              <a:rPr lang="zh-CN" altLang="en-US" sz="1600" b="1" dirty="0" smtClean="0">
                <a:solidFill>
                  <a:prstClr val="black"/>
                </a:solidFill>
                <a:ea typeface="楷体" pitchFamily="49" charset="-122"/>
              </a:rPr>
              <a:t>具体芯片</a:t>
            </a:r>
            <a:r>
              <a:rPr lang="zh-CN" altLang="en-US" sz="1600" b="1" dirty="0">
                <a:solidFill>
                  <a:prstClr val="black"/>
                </a:solidFill>
                <a:ea typeface="楷体" pitchFamily="49" charset="-122"/>
              </a:rPr>
              <a:t>型号定义了一个特有的设备驱动头文件，用户在使用某种</a:t>
            </a:r>
            <a:r>
              <a:rPr lang="zh-CN" altLang="en-US" sz="1600" b="1" dirty="0" smtClean="0">
                <a:solidFill>
                  <a:prstClr val="black"/>
                </a:solidFill>
                <a:ea typeface="楷体" pitchFamily="49" charset="-122"/>
              </a:rPr>
              <a:t>具体芯片</a:t>
            </a:r>
            <a:r>
              <a:rPr lang="zh-CN" altLang="en-US" sz="1600" b="1" dirty="0">
                <a:solidFill>
                  <a:prstClr val="black"/>
                </a:solidFill>
                <a:ea typeface="楷体" pitchFamily="49" charset="-122"/>
              </a:rPr>
              <a:t>进行开发时，需要在这里选择包含</a:t>
            </a:r>
            <a:r>
              <a:rPr lang="zh-CN" altLang="en-US" sz="1600" b="1" dirty="0" smtClean="0">
                <a:solidFill>
                  <a:prstClr val="black"/>
                </a:solidFill>
                <a:ea typeface="楷体" pitchFamily="49" charset="-122"/>
              </a:rPr>
              <a:t>具体芯片</a:t>
            </a:r>
            <a:r>
              <a:rPr lang="zh-CN" altLang="en-US" sz="1600" b="1" dirty="0">
                <a:solidFill>
                  <a:prstClr val="black"/>
                </a:solidFill>
                <a:ea typeface="楷体" pitchFamily="49" charset="-122"/>
              </a:rPr>
              <a:t>头文件，如果没有定义，则提示错误信息：</a:t>
            </a:r>
            <a:r>
              <a:rPr lang="en-GB" altLang="zh-CN" sz="1600" b="1" dirty="0">
                <a:solidFill>
                  <a:prstClr val="black"/>
                </a:solidFill>
                <a:ea typeface="楷体" pitchFamily="49" charset="-122"/>
              </a:rPr>
              <a:t>Please select first the target STM32F1xx device used in your application (in stm32f1xx.h file)</a:t>
            </a:r>
            <a:r>
              <a:rPr lang="zh-CN" altLang="en-GB" sz="1600" b="1" dirty="0">
                <a:solidFill>
                  <a:prstClr val="black"/>
                </a:solidFill>
                <a:ea typeface="楷体" pitchFamily="49" charset="-122"/>
              </a:rPr>
              <a:t>。</a:t>
            </a:r>
            <a:endParaRPr lang="zh-CN" altLang="en-US" sz="1600" b="1" dirty="0">
              <a:solidFill>
                <a:prstClr val="black"/>
              </a:solidFill>
              <a:ea typeface="楷体" pitchFamily="49" charset="-122"/>
            </a:endParaRPr>
          </a:p>
        </p:txBody>
      </p:sp>
      <p:sp>
        <p:nvSpPr>
          <p:cNvPr id="8" name="矩形 7"/>
          <p:cNvSpPr/>
          <p:nvPr/>
        </p:nvSpPr>
        <p:spPr>
          <a:xfrm>
            <a:off x="6516216" y="570335"/>
            <a:ext cx="2286000" cy="4185761"/>
          </a:xfrm>
          <a:prstGeom prst="rect">
            <a:avLst/>
          </a:prstGeom>
          <a:solidFill>
            <a:schemeClr val="accent3">
              <a:lumMod val="20000"/>
              <a:lumOff val="80000"/>
            </a:schemeClr>
          </a:solidFill>
        </p:spPr>
        <p:txBody>
          <a:bodyPr>
            <a:spAutoFit/>
          </a:bodyPr>
          <a:lstStyle/>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defined(STM32F103x6)</a:t>
            </a:r>
          </a:p>
          <a:p>
            <a:pPr lvl="0"/>
            <a:r>
              <a:rPr lang="en-US" altLang="zh-CN" sz="1400" b="1" dirty="0">
                <a:solidFill>
                  <a:srgbClr val="4BACC6">
                    <a:lumMod val="75000"/>
                  </a:srgbClr>
                </a:solidFill>
              </a:rPr>
              <a:t>  #include "stm32f103x6.h"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defined(STM32F103xB)</a:t>
            </a:r>
          </a:p>
          <a:p>
            <a:pPr lvl="0"/>
            <a:r>
              <a:rPr lang="en-US" altLang="zh-CN" sz="1400" b="1" dirty="0">
                <a:solidFill>
                  <a:srgbClr val="4BACC6">
                    <a:lumMod val="75000"/>
                  </a:srgbClr>
                </a:solidFill>
              </a:rPr>
              <a:t>  #include "stm32f103xb.h"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defined(STM32F103xE)</a:t>
            </a:r>
          </a:p>
          <a:p>
            <a:pPr lvl="0"/>
            <a:r>
              <a:rPr lang="en-US" altLang="zh-CN" sz="1400" b="1" dirty="0">
                <a:solidFill>
                  <a:srgbClr val="4BACC6">
                    <a:lumMod val="75000"/>
                  </a:srgbClr>
                </a:solidFill>
              </a:rPr>
              <a:t>  #include "stm32f103xe.h"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defined(STM32F103xG)</a:t>
            </a:r>
          </a:p>
          <a:p>
            <a:pPr lvl="0"/>
            <a:r>
              <a:rPr lang="en-US" altLang="zh-CN" sz="1400" b="1" dirty="0">
                <a:solidFill>
                  <a:srgbClr val="4BACC6">
                    <a:lumMod val="75000"/>
                  </a:srgbClr>
                </a:solidFill>
              </a:rPr>
              <a:t>  #include "stm32f103xg.h"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defined(STM32F105xC)</a:t>
            </a:r>
          </a:p>
          <a:p>
            <a:pPr lvl="0"/>
            <a:r>
              <a:rPr lang="en-US" altLang="zh-CN" sz="1400" b="1" dirty="0">
                <a:solidFill>
                  <a:srgbClr val="4BACC6">
                    <a:lumMod val="75000"/>
                  </a:srgbClr>
                </a:solidFill>
              </a:rPr>
              <a:t>  #include "stm32f105xc.h"</a:t>
            </a:r>
          </a:p>
          <a:p>
            <a:pPr lvl="0"/>
            <a:r>
              <a:rPr lang="en-US" altLang="zh-CN" sz="1400" b="1" dirty="0">
                <a:solidFill>
                  <a:srgbClr val="4BACC6">
                    <a:lumMod val="75000"/>
                  </a:srgbClr>
                </a:solidFill>
              </a:rPr>
              <a:t>#</a:t>
            </a:r>
            <a:r>
              <a:rPr lang="en-US" altLang="zh-CN" sz="1400" b="1" dirty="0" err="1">
                <a:solidFill>
                  <a:srgbClr val="4BACC6">
                    <a:lumMod val="75000"/>
                  </a:srgbClr>
                </a:solidFill>
              </a:rPr>
              <a:t>elif</a:t>
            </a:r>
            <a:r>
              <a:rPr lang="en-US" altLang="zh-CN" sz="1400" b="1" dirty="0">
                <a:solidFill>
                  <a:srgbClr val="4BACC6">
                    <a:lumMod val="75000"/>
                  </a:srgbClr>
                </a:solidFill>
              </a:rPr>
              <a:t> defined(STM32F107xC)</a:t>
            </a:r>
          </a:p>
          <a:p>
            <a:pPr lvl="0"/>
            <a:r>
              <a:rPr lang="en-US" altLang="zh-CN" sz="1400" b="1" dirty="0">
                <a:solidFill>
                  <a:srgbClr val="4BACC6">
                    <a:lumMod val="75000"/>
                  </a:srgbClr>
                </a:solidFill>
              </a:rPr>
              <a:t>  #include "stm32f107xc.h"</a:t>
            </a:r>
          </a:p>
          <a:p>
            <a:pPr lvl="0"/>
            <a:r>
              <a:rPr lang="en-US" altLang="zh-CN" sz="1400" b="1" dirty="0">
                <a:solidFill>
                  <a:srgbClr val="4BACC6">
                    <a:lumMod val="75000"/>
                  </a:srgbClr>
                </a:solidFill>
              </a:rPr>
              <a:t>#else</a:t>
            </a:r>
          </a:p>
          <a:p>
            <a:pPr lvl="0"/>
            <a:r>
              <a:rPr lang="en-US" altLang="zh-CN" sz="1400" b="1" dirty="0">
                <a:solidFill>
                  <a:srgbClr val="4BACC6">
                    <a:lumMod val="75000"/>
                  </a:srgbClr>
                </a:solidFill>
              </a:rPr>
              <a:t> #error "Please select first the target STM32F1xx device used in your application (in stm32f1xx.h file)"</a:t>
            </a:r>
          </a:p>
          <a:p>
            <a:pPr lvl="0"/>
            <a:r>
              <a:rPr lang="en-US" altLang="zh-CN" sz="1400" b="1" dirty="0">
                <a:solidFill>
                  <a:srgbClr val="4BACC6">
                    <a:lumMod val="75000"/>
                  </a:srgbClr>
                </a:solidFill>
              </a:rPr>
              <a:t>#</a:t>
            </a:r>
            <a:r>
              <a:rPr lang="en-US" altLang="zh-CN" sz="1400" b="1" dirty="0" err="1">
                <a:solidFill>
                  <a:srgbClr val="4BACC6">
                    <a:lumMod val="75000"/>
                  </a:srgbClr>
                </a:solidFill>
              </a:rPr>
              <a:t>endif</a:t>
            </a:r>
            <a:endParaRPr lang="en-US" altLang="zh-CN" sz="1400" b="1" dirty="0">
              <a:solidFill>
                <a:srgbClr val="4BACC6">
                  <a:lumMod val="75000"/>
                </a:srgbClr>
              </a:solidFill>
            </a:endParaRPr>
          </a:p>
        </p:txBody>
      </p:sp>
      <p:sp>
        <p:nvSpPr>
          <p:cNvPr id="16" name="燕尾形箭头 15"/>
          <p:cNvSpPr/>
          <p:nvPr/>
        </p:nvSpPr>
        <p:spPr>
          <a:xfrm>
            <a:off x="6074176" y="2427734"/>
            <a:ext cx="432048" cy="390142"/>
          </a:xfrm>
          <a:prstGeom prst="notchedRightArrow">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1078837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3419872" y="1048161"/>
            <a:ext cx="2592288" cy="3754874"/>
          </a:xfrm>
          <a:prstGeom prst="rect">
            <a:avLst/>
          </a:prstGeom>
          <a:noFill/>
        </p:spPr>
        <p:txBody>
          <a:bodyPr wrap="square">
            <a:spAutoFit/>
          </a:bodyPr>
          <a:lstStyle/>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r>
              <a:rPr lang="en-US" altLang="zh-CN" sz="1400" b="1" dirty="0">
                <a:solidFill>
                  <a:schemeClr val="accent5">
                    <a:lumMod val="75000"/>
                  </a:schemeClr>
                </a:solidFill>
              </a:rPr>
              <a:t> </a:t>
            </a:r>
          </a:p>
          <a:p>
            <a:r>
              <a:rPr lang="en-US" altLang="zh-CN" sz="1400" b="1" dirty="0">
                <a:solidFill>
                  <a:schemeClr val="accent5">
                    <a:lumMod val="75000"/>
                  </a:schemeClr>
                </a:solidFill>
              </a:rPr>
              <a:t>{</a:t>
            </a:r>
          </a:p>
          <a:p>
            <a:r>
              <a:rPr lang="en-US" altLang="zh-CN" sz="1400" b="1" dirty="0">
                <a:solidFill>
                  <a:schemeClr val="accent5">
                    <a:lumMod val="75000"/>
                  </a:schemeClr>
                </a:solidFill>
              </a:rPr>
              <a:t>  RESET = 0, </a:t>
            </a:r>
          </a:p>
          <a:p>
            <a:r>
              <a:rPr lang="en-US" altLang="zh-CN" sz="1400" b="1" dirty="0">
                <a:solidFill>
                  <a:schemeClr val="accent5">
                    <a:lumMod val="75000"/>
                  </a:schemeClr>
                </a:solidFill>
              </a:rPr>
              <a:t>  SET = !RESET</a:t>
            </a:r>
          </a:p>
          <a:p>
            <a:r>
              <a:rPr lang="en-US" altLang="zh-CN" sz="1400" b="1" dirty="0">
                <a:solidFill>
                  <a:schemeClr val="accent5">
                    <a:lumMod val="75000"/>
                  </a:schemeClr>
                </a:solidFill>
              </a:rPr>
              <a:t>} </a:t>
            </a:r>
            <a:r>
              <a:rPr lang="en-US" altLang="zh-CN" sz="1400" b="1" dirty="0" err="1">
                <a:solidFill>
                  <a:schemeClr val="accent5">
                    <a:lumMod val="75000"/>
                  </a:schemeClr>
                </a:solidFill>
              </a:rPr>
              <a:t>FlagStatus</a:t>
            </a:r>
            <a:r>
              <a:rPr lang="en-US" altLang="zh-CN" sz="1400" b="1" dirty="0">
                <a:solidFill>
                  <a:schemeClr val="accent5">
                    <a:lumMod val="75000"/>
                  </a:schemeClr>
                </a:solidFill>
              </a:rPr>
              <a:t>, </a:t>
            </a:r>
            <a:r>
              <a:rPr lang="en-US" altLang="zh-CN" sz="1400" b="1" dirty="0" err="1">
                <a:solidFill>
                  <a:schemeClr val="accent5">
                    <a:lumMod val="75000"/>
                  </a:schemeClr>
                </a:solidFill>
              </a:rPr>
              <a:t>ITStatus</a:t>
            </a:r>
            <a:r>
              <a:rPr lang="en-US" altLang="zh-CN" sz="1400" b="1" dirty="0" smtClean="0">
                <a:solidFill>
                  <a:schemeClr val="accent5">
                    <a:lumMod val="75000"/>
                  </a:schemeClr>
                </a:solidFill>
              </a:rPr>
              <a:t>;</a:t>
            </a:r>
          </a:p>
          <a:p>
            <a:endParaRPr lang="en-US"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r>
              <a:rPr lang="en-US" altLang="zh-CN" sz="1400" b="1" dirty="0">
                <a:solidFill>
                  <a:schemeClr val="accent5">
                    <a:lumMod val="75000"/>
                  </a:schemeClr>
                </a:solidFill>
              </a:rPr>
              <a:t> </a:t>
            </a:r>
          </a:p>
          <a:p>
            <a:r>
              <a:rPr lang="en-US" altLang="zh-CN" sz="1400" b="1" dirty="0">
                <a:solidFill>
                  <a:schemeClr val="accent5">
                    <a:lumMod val="75000"/>
                  </a:schemeClr>
                </a:solidFill>
              </a:rPr>
              <a:t>{</a:t>
            </a:r>
          </a:p>
          <a:p>
            <a:r>
              <a:rPr lang="en-US" altLang="zh-CN" sz="1400" b="1" dirty="0">
                <a:solidFill>
                  <a:schemeClr val="accent5">
                    <a:lumMod val="75000"/>
                  </a:schemeClr>
                </a:solidFill>
              </a:rPr>
              <a:t>  DISABLE = 0, </a:t>
            </a:r>
          </a:p>
          <a:p>
            <a:r>
              <a:rPr lang="en-US" altLang="zh-CN" sz="1400" b="1" dirty="0">
                <a:solidFill>
                  <a:schemeClr val="accent5">
                    <a:lumMod val="75000"/>
                  </a:schemeClr>
                </a:solidFill>
              </a:rPr>
              <a:t>  ENABLE = !DISABLE</a:t>
            </a:r>
          </a:p>
          <a:p>
            <a:r>
              <a:rPr lang="en-US" altLang="zh-CN" sz="1400" b="1" dirty="0">
                <a:solidFill>
                  <a:schemeClr val="accent5">
                    <a:lumMod val="75000"/>
                  </a:schemeClr>
                </a:solidFill>
              </a:rPr>
              <a:t>} </a:t>
            </a:r>
            <a:r>
              <a:rPr lang="en-US" altLang="zh-CN" sz="1400" b="1" dirty="0" err="1">
                <a:solidFill>
                  <a:schemeClr val="accent5">
                    <a:lumMod val="75000"/>
                  </a:schemeClr>
                </a:solidFill>
              </a:rPr>
              <a:t>FunctionalState</a:t>
            </a:r>
            <a:r>
              <a:rPr lang="en-US" altLang="zh-CN" sz="1400" b="1" dirty="0">
                <a:solidFill>
                  <a:schemeClr val="accent5">
                    <a:lumMod val="75000"/>
                  </a:schemeClr>
                </a:solidFill>
              </a:rPr>
              <a:t>;</a:t>
            </a:r>
          </a:p>
          <a:p>
            <a:endParaRPr lang="en-US" altLang="zh-CN" sz="1400" b="1" dirty="0" smtClean="0">
              <a:solidFill>
                <a:schemeClr val="accent5">
                  <a:lumMod val="75000"/>
                </a:schemeClr>
              </a:solidFill>
            </a:endParaRPr>
          </a:p>
          <a:p>
            <a:r>
              <a:rPr lang="en-US" altLang="zh-CN" sz="1400" b="1" dirty="0">
                <a:solidFill>
                  <a:schemeClr val="accent5">
                    <a:lumMod val="75000"/>
                  </a:schemeClr>
                </a:solidFill>
              </a:rPr>
              <a:t>#define IS_FUNCTIONAL_STATE(STATE) (((STATE) == DISABLE) || ((STATE) == ENABLE))</a:t>
            </a:r>
          </a:p>
          <a:p>
            <a:endParaRPr lang="en-US" altLang="zh-CN" sz="1400" b="1" dirty="0">
              <a:solidFill>
                <a:schemeClr val="accent5">
                  <a:lumMod val="75000"/>
                </a:schemeClr>
              </a:solidFill>
            </a:endParaRPr>
          </a:p>
        </p:txBody>
      </p:sp>
      <p:sp>
        <p:nvSpPr>
          <p:cNvPr id="7" name="矩形 6"/>
          <p:cNvSpPr/>
          <p:nvPr/>
        </p:nvSpPr>
        <p:spPr>
          <a:xfrm>
            <a:off x="251520" y="1647324"/>
            <a:ext cx="2771256" cy="2308324"/>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a:solidFill>
                  <a:prstClr val="black"/>
                </a:solidFill>
                <a:ea typeface="楷体" pitchFamily="49" charset="-122"/>
              </a:rPr>
              <a:t>为</a:t>
            </a:r>
            <a:r>
              <a:rPr lang="zh-CN" altLang="en-US" sz="1600" b="1" dirty="0" smtClean="0">
                <a:solidFill>
                  <a:prstClr val="black"/>
                </a:solidFill>
                <a:ea typeface="楷体" pitchFamily="49" charset="-122"/>
              </a:rPr>
              <a:t>枚举类型</a:t>
            </a:r>
            <a:r>
              <a:rPr lang="en-GB" altLang="zh-CN" sz="1600" b="1" dirty="0" err="1" smtClean="0">
                <a:solidFill>
                  <a:prstClr val="black"/>
                </a:solidFill>
                <a:ea typeface="楷体" pitchFamily="49" charset="-122"/>
              </a:rPr>
              <a:t>enum</a:t>
            </a:r>
            <a:r>
              <a:rPr lang="en-GB" altLang="zh-CN" sz="1600" b="1" dirty="0" smtClean="0">
                <a:solidFill>
                  <a:prstClr val="black"/>
                </a:solidFill>
                <a:ea typeface="楷体" pitchFamily="49" charset="-122"/>
              </a:rPr>
              <a:t>{RESET=0</a:t>
            </a:r>
            <a:r>
              <a:rPr lang="en-GB" altLang="zh-CN" sz="1600" b="1" dirty="0">
                <a:solidFill>
                  <a:prstClr val="black"/>
                </a:solidFill>
                <a:ea typeface="楷体" pitchFamily="49" charset="-122"/>
              </a:rPr>
              <a:t>, SET = !RESET}</a:t>
            </a:r>
            <a:r>
              <a:rPr lang="zh-CN" altLang="en-US" sz="1600" b="1" dirty="0">
                <a:solidFill>
                  <a:prstClr val="black"/>
                </a:solidFill>
                <a:ea typeface="楷体" pitchFamily="49" charset="-122"/>
              </a:rPr>
              <a:t>定义了两个别名</a:t>
            </a:r>
            <a:r>
              <a:rPr lang="en-GB" altLang="zh-CN" sz="1600" b="1" dirty="0" err="1">
                <a:solidFill>
                  <a:prstClr val="black"/>
                </a:solidFill>
                <a:ea typeface="楷体" pitchFamily="49" charset="-122"/>
              </a:rPr>
              <a:t>FlagStatus</a:t>
            </a:r>
            <a:r>
              <a:rPr lang="zh-CN" altLang="en-US" sz="1600" b="1" dirty="0">
                <a:solidFill>
                  <a:prstClr val="black"/>
                </a:solidFill>
                <a:ea typeface="楷体" pitchFamily="49" charset="-122"/>
              </a:rPr>
              <a:t>和</a:t>
            </a:r>
            <a:r>
              <a:rPr lang="en-GB" altLang="zh-CN" sz="1600" b="1" dirty="0" err="1">
                <a:solidFill>
                  <a:prstClr val="black"/>
                </a:solidFill>
                <a:ea typeface="楷体" pitchFamily="49" charset="-122"/>
              </a:rPr>
              <a:t>ITStatus</a:t>
            </a:r>
            <a:r>
              <a:rPr lang="zh-CN" altLang="en-GB" sz="1600" b="1" dirty="0">
                <a:solidFill>
                  <a:prstClr val="black"/>
                </a:solidFill>
                <a:ea typeface="楷体" pitchFamily="49" charset="-122"/>
              </a:rPr>
              <a:t>，</a:t>
            </a:r>
            <a:r>
              <a:rPr lang="en-GB" altLang="zh-CN" sz="1600" b="1" dirty="0" err="1">
                <a:solidFill>
                  <a:prstClr val="black"/>
                </a:solidFill>
                <a:ea typeface="楷体" pitchFamily="49" charset="-122"/>
              </a:rPr>
              <a:t>FlagStatus</a:t>
            </a:r>
            <a:r>
              <a:rPr lang="zh-CN" altLang="en-US" sz="1600" b="1" dirty="0">
                <a:solidFill>
                  <a:prstClr val="black"/>
                </a:solidFill>
                <a:ea typeface="楷体" pitchFamily="49" charset="-122"/>
              </a:rPr>
              <a:t>为标志状态</a:t>
            </a:r>
            <a:r>
              <a:rPr lang="en-US" altLang="zh-CN" sz="1600" b="1" dirty="0">
                <a:solidFill>
                  <a:prstClr val="black"/>
                </a:solidFill>
                <a:ea typeface="楷体" pitchFamily="49" charset="-122"/>
              </a:rPr>
              <a:t>,</a:t>
            </a:r>
            <a:r>
              <a:rPr lang="zh-CN" altLang="en-US" sz="1600" b="1" dirty="0">
                <a:solidFill>
                  <a:prstClr val="black"/>
                </a:solidFill>
                <a:ea typeface="楷体" pitchFamily="49" charset="-122"/>
              </a:rPr>
              <a:t>其值有两种</a:t>
            </a:r>
            <a:r>
              <a:rPr lang="en-GB" altLang="zh-CN" sz="1600" b="1" dirty="0">
                <a:solidFill>
                  <a:prstClr val="black"/>
                </a:solidFill>
                <a:ea typeface="楷体" pitchFamily="49" charset="-122"/>
              </a:rPr>
              <a:t>RESET=0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重置）和 </a:t>
            </a:r>
            <a:r>
              <a:rPr lang="en-GB" altLang="zh-CN" sz="1600" b="1" dirty="0">
                <a:solidFill>
                  <a:prstClr val="black"/>
                </a:solidFill>
                <a:ea typeface="楷体" pitchFamily="49" charset="-122"/>
              </a:rPr>
              <a:t>SET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置位）；</a:t>
            </a:r>
            <a:r>
              <a:rPr lang="en-GB" altLang="zh-CN" sz="1600" b="1" dirty="0" err="1">
                <a:solidFill>
                  <a:prstClr val="black"/>
                </a:solidFill>
                <a:ea typeface="楷体" pitchFamily="49" charset="-122"/>
              </a:rPr>
              <a:t>ITStatus</a:t>
            </a:r>
            <a:r>
              <a:rPr lang="zh-CN" altLang="en-US" sz="1600" b="1" dirty="0">
                <a:solidFill>
                  <a:prstClr val="black"/>
                </a:solidFill>
                <a:ea typeface="楷体" pitchFamily="49" charset="-122"/>
              </a:rPr>
              <a:t>为中断标志类型，其值有两种</a:t>
            </a:r>
            <a:r>
              <a:rPr lang="en-GB" altLang="zh-CN" sz="1600" b="1" dirty="0">
                <a:solidFill>
                  <a:prstClr val="black"/>
                </a:solidFill>
                <a:ea typeface="楷体" pitchFamily="49" charset="-122"/>
              </a:rPr>
              <a:t>RESET = 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重置）和</a:t>
            </a:r>
            <a:r>
              <a:rPr lang="en-GB" altLang="zh-CN" sz="1600" b="1" dirty="0">
                <a:solidFill>
                  <a:prstClr val="black"/>
                </a:solidFill>
                <a:ea typeface="楷体" pitchFamily="49" charset="-122"/>
              </a:rPr>
              <a:t>SET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置位）。</a:t>
            </a:r>
          </a:p>
        </p:txBody>
      </p:sp>
      <p:sp>
        <p:nvSpPr>
          <p:cNvPr id="6" name="左大括号 5"/>
          <p:cNvSpPr/>
          <p:nvPr/>
        </p:nvSpPr>
        <p:spPr>
          <a:xfrm>
            <a:off x="3203849" y="1203598"/>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左大括号 10"/>
          <p:cNvSpPr/>
          <p:nvPr/>
        </p:nvSpPr>
        <p:spPr>
          <a:xfrm rot="10800000">
            <a:off x="5076056" y="2499742"/>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圆角矩形标注 8"/>
          <p:cNvSpPr/>
          <p:nvPr/>
        </p:nvSpPr>
        <p:spPr>
          <a:xfrm>
            <a:off x="6156176" y="843559"/>
            <a:ext cx="2664296" cy="1008112"/>
          </a:xfrm>
          <a:prstGeom prst="wedgeRoundRectCallout">
            <a:avLst>
              <a:gd name="adj1" fmla="val -80829"/>
              <a:gd name="adj2" fmla="val 156473"/>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lvl="0" algn="ctr"/>
            <a:r>
              <a:rPr lang="zh-CN" altLang="en-US" sz="1600" b="1" dirty="0">
                <a:solidFill>
                  <a:srgbClr val="D38583"/>
                </a:solidFill>
                <a:ea typeface="楷体" pitchFamily="49" charset="-122"/>
              </a:rPr>
              <a:t>解析：</a:t>
            </a:r>
            <a:r>
              <a:rPr lang="en-GB" altLang="zh-CN" sz="1600" b="1" dirty="0" err="1">
                <a:solidFill>
                  <a:prstClr val="black"/>
                </a:solidFill>
                <a:ea typeface="楷体" pitchFamily="49" charset="-122"/>
              </a:rPr>
              <a:t>FunctionalState</a:t>
            </a:r>
            <a:r>
              <a:rPr lang="zh-CN" altLang="en-US" sz="1600" b="1" dirty="0">
                <a:solidFill>
                  <a:prstClr val="black"/>
                </a:solidFill>
                <a:ea typeface="楷体" pitchFamily="49" charset="-122"/>
              </a:rPr>
              <a:t>为函数状态，有两种状态，分别是</a:t>
            </a:r>
            <a:r>
              <a:rPr lang="en-GB" altLang="zh-CN" sz="1600" b="1" dirty="0">
                <a:solidFill>
                  <a:prstClr val="black"/>
                </a:solidFill>
                <a:ea typeface="楷体" pitchFamily="49" charset="-122"/>
              </a:rPr>
              <a:t>DISABLE = 0</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失能），</a:t>
            </a:r>
            <a:r>
              <a:rPr lang="en-GB" altLang="zh-CN" sz="1600" b="1" dirty="0">
                <a:solidFill>
                  <a:prstClr val="black"/>
                </a:solidFill>
                <a:ea typeface="楷体" pitchFamily="49" charset="-122"/>
              </a:rPr>
              <a:t>ENABLE = 1</a:t>
            </a:r>
            <a:r>
              <a:rPr lang="zh-CN" altLang="en-GB" sz="1600" b="1" dirty="0">
                <a:solidFill>
                  <a:prstClr val="black"/>
                </a:solidFill>
                <a:ea typeface="楷体" pitchFamily="49" charset="-122"/>
              </a:rPr>
              <a:t>（</a:t>
            </a:r>
            <a:r>
              <a:rPr lang="zh-CN" altLang="en-US" sz="1600" b="1" dirty="0">
                <a:solidFill>
                  <a:prstClr val="black"/>
                </a:solidFill>
                <a:ea typeface="楷体" pitchFamily="49" charset="-122"/>
              </a:rPr>
              <a:t>使能）</a:t>
            </a:r>
            <a:r>
              <a:rPr lang="zh-CN" altLang="en-US" sz="1600" b="1" dirty="0" smtClean="0">
                <a:solidFill>
                  <a:prstClr val="black"/>
                </a:solidFill>
                <a:ea typeface="楷体" pitchFamily="49" charset="-122"/>
              </a:rPr>
              <a:t>。</a:t>
            </a:r>
            <a:endParaRPr lang="zh-CN" altLang="en-US" sz="1600" b="1" dirty="0" smtClean="0"/>
          </a:p>
        </p:txBody>
      </p:sp>
      <p:sp>
        <p:nvSpPr>
          <p:cNvPr id="13" name="矩形 12"/>
          <p:cNvSpPr/>
          <p:nvPr/>
        </p:nvSpPr>
        <p:spPr>
          <a:xfrm>
            <a:off x="6166340" y="2859782"/>
            <a:ext cx="2771256" cy="1815882"/>
          </a:xfrm>
          <a:prstGeom prst="rect">
            <a:avLst/>
          </a:prstGeom>
          <a:solidFill>
            <a:schemeClr val="accent6">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a:solidFill>
                  <a:prstClr val="black"/>
                </a:solidFill>
                <a:ea typeface="楷体" pitchFamily="49" charset="-122"/>
              </a:rPr>
              <a:t>带参数的宏定义，用于功能状态参数判断，在函数中调用它来判断所输入的状态参数是不是</a:t>
            </a:r>
            <a:r>
              <a:rPr lang="en-US" altLang="zh-CN" sz="1600" b="1" dirty="0">
                <a:solidFill>
                  <a:prstClr val="black"/>
                </a:solidFill>
                <a:ea typeface="楷体" pitchFamily="49" charset="-122"/>
              </a:rPr>
              <a:t>ENABLE</a:t>
            </a:r>
            <a:r>
              <a:rPr lang="zh-CN" altLang="en-US" sz="1600" b="1" dirty="0">
                <a:solidFill>
                  <a:prstClr val="black"/>
                </a:solidFill>
                <a:ea typeface="楷体" pitchFamily="49" charset="-122"/>
              </a:rPr>
              <a:t>（使能）或</a:t>
            </a:r>
            <a:r>
              <a:rPr lang="en-US" altLang="zh-CN" sz="1600" b="1" dirty="0">
                <a:solidFill>
                  <a:prstClr val="black"/>
                </a:solidFill>
                <a:ea typeface="楷体" pitchFamily="49" charset="-122"/>
              </a:rPr>
              <a:t>DISABLE</a:t>
            </a:r>
            <a:r>
              <a:rPr lang="zh-CN" altLang="en-US" sz="1600" b="1" dirty="0">
                <a:solidFill>
                  <a:prstClr val="black"/>
                </a:solidFill>
                <a:ea typeface="楷体" pitchFamily="49" charset="-122"/>
              </a:rPr>
              <a:t>（失能），如果是则返回</a:t>
            </a:r>
            <a:r>
              <a:rPr lang="en-US" altLang="zh-CN" sz="1600" b="1" dirty="0">
                <a:solidFill>
                  <a:prstClr val="black"/>
                </a:solidFill>
                <a:ea typeface="楷体" pitchFamily="49" charset="-122"/>
              </a:rPr>
              <a:t>1</a:t>
            </a:r>
            <a:r>
              <a:rPr lang="zh-CN" altLang="en-US" sz="1600" b="1" dirty="0">
                <a:solidFill>
                  <a:prstClr val="black"/>
                </a:solidFill>
                <a:ea typeface="楷体" pitchFamily="49" charset="-122"/>
              </a:rPr>
              <a:t>，如果参数不合法则返回</a:t>
            </a:r>
            <a:r>
              <a:rPr lang="en-US" altLang="zh-CN" sz="1600" b="1" dirty="0">
                <a:solidFill>
                  <a:prstClr val="black"/>
                </a:solidFill>
                <a:ea typeface="楷体" pitchFamily="49" charset="-122"/>
              </a:rPr>
              <a:t>0</a:t>
            </a:r>
            <a:r>
              <a:rPr lang="zh-CN" altLang="en-US" sz="1600" b="1" dirty="0">
                <a:solidFill>
                  <a:prstClr val="black"/>
                </a:solidFill>
                <a:ea typeface="楷体" pitchFamily="49" charset="-122"/>
              </a:rPr>
              <a:t>。</a:t>
            </a:r>
          </a:p>
        </p:txBody>
      </p:sp>
      <p:sp>
        <p:nvSpPr>
          <p:cNvPr id="14" name="左大括号 13"/>
          <p:cNvSpPr/>
          <p:nvPr/>
        </p:nvSpPr>
        <p:spPr>
          <a:xfrm rot="10800000">
            <a:off x="5904148" y="3739560"/>
            <a:ext cx="216024" cy="936104"/>
          </a:xfrm>
          <a:prstGeom prst="leftBrace">
            <a:avLst>
              <a:gd name="adj1" fmla="val 49248"/>
              <a:gd name="adj2" fmla="val 50000"/>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654595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38519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3691780" cy="461665"/>
          </a:xfrm>
          <a:prstGeom prst="rect">
            <a:avLst/>
          </a:prstGeom>
        </p:spPr>
        <p:txBody>
          <a:bodyPr wrap="none">
            <a:spAutoFit/>
          </a:bodyPr>
          <a:lstStyle/>
          <a:p>
            <a:r>
              <a:rPr lang="en-US" altLang="zh-CN" sz="2400" b="1" dirty="0">
                <a:solidFill>
                  <a:schemeClr val="bg1"/>
                </a:solidFill>
              </a:rPr>
              <a:t>4.3.1 stm32f1xx.h</a:t>
            </a:r>
            <a:r>
              <a:rPr lang="zh-CN" altLang="en-US" sz="2400" b="1" dirty="0">
                <a:solidFill>
                  <a:schemeClr val="bg1"/>
                </a:solidFill>
              </a:rPr>
              <a:t>源码分析</a:t>
            </a:r>
            <a:endParaRPr lang="zh-CN" altLang="zh-CN" sz="2400" b="1" dirty="0">
              <a:solidFill>
                <a:schemeClr val="bg1"/>
              </a:solidFill>
            </a:endParaRPr>
          </a:p>
        </p:txBody>
      </p:sp>
      <p:sp>
        <p:nvSpPr>
          <p:cNvPr id="2" name="矩形 1"/>
          <p:cNvSpPr/>
          <p:nvPr/>
        </p:nvSpPr>
        <p:spPr>
          <a:xfrm>
            <a:off x="5876654" y="1491630"/>
            <a:ext cx="2664296" cy="2031325"/>
          </a:xfrm>
          <a:prstGeom prst="rect">
            <a:avLst/>
          </a:prstGeom>
          <a:noFill/>
        </p:spPr>
        <p:txBody>
          <a:bodyPr wrap="square">
            <a:spAutoFit/>
          </a:bodyPr>
          <a:lstStyle/>
          <a:p>
            <a:pPr lvl="0"/>
            <a:r>
              <a:rPr lang="en-US" altLang="zh-CN" sz="1400" b="1" dirty="0">
                <a:solidFill>
                  <a:srgbClr val="4BACC6">
                    <a:lumMod val="75000"/>
                  </a:srgbClr>
                </a:solidFill>
              </a:rPr>
              <a:t>#if defined (USE_HAL_DRIVER)</a:t>
            </a:r>
          </a:p>
          <a:p>
            <a:r>
              <a:rPr lang="en-US" altLang="zh-CN" sz="1400" b="1" dirty="0" smtClean="0">
                <a:solidFill>
                  <a:schemeClr val="accent5">
                    <a:lumMod val="75000"/>
                  </a:schemeClr>
                </a:solidFill>
              </a:rPr>
              <a:t>#</a:t>
            </a:r>
            <a:r>
              <a:rPr lang="en-US" altLang="zh-CN" sz="1400" b="1" dirty="0">
                <a:solidFill>
                  <a:schemeClr val="accent5">
                    <a:lumMod val="75000"/>
                  </a:schemeClr>
                </a:solidFill>
              </a:rPr>
              <a:t>include "stm32f1xx_hal.h"</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USE_HAL_DRIVER */</a:t>
            </a:r>
          </a:p>
          <a:p>
            <a:endParaRPr lang="en-US" altLang="zh-CN" sz="1400" b="1" dirty="0" smtClean="0">
              <a:solidFill>
                <a:schemeClr val="accent5">
                  <a:lumMod val="75000"/>
                </a:schemeClr>
              </a:solidFill>
            </a:endParaRPr>
          </a:p>
          <a:p>
            <a:r>
              <a:rPr lang="en-US" altLang="zh-CN" sz="1400" b="1" dirty="0" smtClean="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__</a:t>
            </a:r>
            <a:r>
              <a:rPr lang="en-US" altLang="zh-CN" sz="1400" b="1" dirty="0" err="1">
                <a:solidFill>
                  <a:schemeClr val="accent5">
                    <a:lumMod val="75000"/>
                  </a:schemeClr>
                </a:solidFill>
              </a:rPr>
              <a:t>cplusplus</a:t>
            </a:r>
            <a:endParaRPr lang="en-US" altLang="zh-CN" sz="1400" b="1" dirty="0">
              <a:solidFill>
                <a:schemeClr val="accent5">
                  <a:lumMod val="75000"/>
                </a:schemeClr>
              </a:solidFill>
            </a:endParaRPr>
          </a:p>
          <a:p>
            <a:r>
              <a:rPr lang="en-US" altLang="zh-CN" sz="1400" b="1" dirty="0">
                <a:solidFill>
                  <a:schemeClr val="accent5">
                    <a:lumMod val="75000"/>
                  </a:schemeClr>
                </a:solidFill>
              </a:rPr>
              <a:t>}</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__</a:t>
            </a:r>
            <a:r>
              <a:rPr lang="en-US" altLang="zh-CN" sz="1400" b="1" dirty="0" err="1">
                <a:solidFill>
                  <a:schemeClr val="accent5">
                    <a:lumMod val="75000"/>
                  </a:schemeClr>
                </a:solidFill>
              </a:rPr>
              <a:t>cplusplus</a:t>
            </a:r>
            <a:r>
              <a:rPr lang="en-US" altLang="zh-CN" sz="1400" b="1" dirty="0">
                <a:solidFill>
                  <a:schemeClr val="accent5">
                    <a:lumMod val="75000"/>
                  </a:schemeClr>
                </a:solidFill>
              </a:rPr>
              <a:t>*/</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 __STM32F1xx_H */</a:t>
            </a:r>
          </a:p>
          <a:p>
            <a:endParaRPr lang="en-US" altLang="zh-CN" sz="1400" b="1" dirty="0">
              <a:solidFill>
                <a:schemeClr val="accent5">
                  <a:lumMod val="75000"/>
                </a:schemeClr>
              </a:solidFill>
            </a:endParaRPr>
          </a:p>
        </p:txBody>
      </p:sp>
      <p:sp>
        <p:nvSpPr>
          <p:cNvPr id="11" name="左大括号 10"/>
          <p:cNvSpPr/>
          <p:nvPr/>
        </p:nvSpPr>
        <p:spPr>
          <a:xfrm rot="10800000">
            <a:off x="1817948" y="1316679"/>
            <a:ext cx="216024" cy="936104"/>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圆角矩形标注 8"/>
          <p:cNvSpPr/>
          <p:nvPr/>
        </p:nvSpPr>
        <p:spPr>
          <a:xfrm>
            <a:off x="2390067" y="1378899"/>
            <a:ext cx="2607993" cy="811663"/>
          </a:xfrm>
          <a:prstGeom prst="wedgeRoundRectCallout">
            <a:avLst>
              <a:gd name="adj1" fmla="val -62896"/>
              <a:gd name="adj2" fmla="val 7751"/>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err="1" smtClean="0">
                <a:solidFill>
                  <a:prstClr val="black"/>
                </a:solidFill>
                <a:ea typeface="楷体" pitchFamily="49" charset="-122"/>
              </a:rPr>
              <a:t>ErrorStatus</a:t>
            </a:r>
            <a:r>
              <a:rPr lang="zh-CN" altLang="en-US" sz="1600" b="1" dirty="0">
                <a:solidFill>
                  <a:prstClr val="black"/>
                </a:solidFill>
                <a:ea typeface="楷体" pitchFamily="49" charset="-122"/>
              </a:rPr>
              <a:t>错误状态，</a:t>
            </a:r>
            <a:r>
              <a:rPr lang="en-US" altLang="zh-CN" sz="1600" b="1" dirty="0">
                <a:solidFill>
                  <a:prstClr val="black"/>
                </a:solidFill>
                <a:ea typeface="楷体" pitchFamily="49" charset="-122"/>
              </a:rPr>
              <a:t>SUCCESS = 0</a:t>
            </a:r>
            <a:r>
              <a:rPr lang="zh-CN" altLang="en-US" sz="1600" b="1" dirty="0">
                <a:solidFill>
                  <a:prstClr val="black"/>
                </a:solidFill>
                <a:ea typeface="楷体" pitchFamily="49" charset="-122"/>
              </a:rPr>
              <a:t>（正确），</a:t>
            </a:r>
            <a:r>
              <a:rPr lang="en-US" altLang="zh-CN" sz="1600" b="1" dirty="0">
                <a:solidFill>
                  <a:prstClr val="black"/>
                </a:solidFill>
                <a:ea typeface="楷体" pitchFamily="49" charset="-122"/>
              </a:rPr>
              <a:t>ERROR =1</a:t>
            </a:r>
            <a:r>
              <a:rPr lang="zh-CN" altLang="en-US" sz="1600" b="1" dirty="0">
                <a:solidFill>
                  <a:prstClr val="black"/>
                </a:solidFill>
                <a:ea typeface="楷体" pitchFamily="49" charset="-122"/>
              </a:rPr>
              <a:t>（错误）</a:t>
            </a:r>
            <a:r>
              <a:rPr lang="zh-CN" altLang="en-US" sz="1600" b="1" dirty="0" smtClean="0">
                <a:solidFill>
                  <a:prstClr val="black"/>
                </a:solidFill>
                <a:ea typeface="楷体" pitchFamily="49" charset="-122"/>
              </a:rPr>
              <a:t>。</a:t>
            </a:r>
            <a:endParaRPr lang="zh-CN" altLang="en-US" sz="1600" b="1" dirty="0" smtClean="0"/>
          </a:p>
        </p:txBody>
      </p:sp>
      <p:sp>
        <p:nvSpPr>
          <p:cNvPr id="10" name="矩形 9"/>
          <p:cNvSpPr/>
          <p:nvPr/>
        </p:nvSpPr>
        <p:spPr>
          <a:xfrm>
            <a:off x="299516" y="1121132"/>
            <a:ext cx="4181103" cy="3754874"/>
          </a:xfrm>
          <a:prstGeom prst="rect">
            <a:avLst/>
          </a:prstGeom>
        </p:spPr>
        <p:txBody>
          <a:bodyPr wrap="square">
            <a:spAutoFit/>
          </a:bodyPr>
          <a:lstStyle/>
          <a:p>
            <a:pPr lvl="0"/>
            <a:r>
              <a:rPr lang="en-US" altLang="zh-CN" sz="1400" b="1" dirty="0" err="1">
                <a:solidFill>
                  <a:srgbClr val="4BACC6">
                    <a:lumMod val="75000"/>
                  </a:srgbClr>
                </a:solidFill>
              </a:rPr>
              <a:t>typedef</a:t>
            </a:r>
            <a:r>
              <a:rPr lang="en-US" altLang="zh-CN" sz="1400" b="1" dirty="0">
                <a:solidFill>
                  <a:srgbClr val="4BACC6">
                    <a:lumMod val="75000"/>
                  </a:srgbClr>
                </a:solidFill>
              </a:rPr>
              <a:t> </a:t>
            </a:r>
            <a:r>
              <a:rPr lang="en-US" altLang="zh-CN" sz="1400" b="1" dirty="0" err="1">
                <a:solidFill>
                  <a:srgbClr val="4BACC6">
                    <a:lumMod val="75000"/>
                  </a:srgbClr>
                </a:solidFill>
              </a:rPr>
              <a:t>enum</a:t>
            </a:r>
            <a:endParaRPr lang="en-US" altLang="zh-CN" sz="1400" b="1" dirty="0">
              <a:solidFill>
                <a:srgbClr val="4BACC6">
                  <a:lumMod val="75000"/>
                </a:srgbClr>
              </a:solidFill>
            </a:endParaRPr>
          </a:p>
          <a:p>
            <a:pPr lvl="0"/>
            <a:r>
              <a:rPr lang="en-US" altLang="zh-CN" sz="1400" b="1" dirty="0">
                <a:solidFill>
                  <a:srgbClr val="4BACC6">
                    <a:lumMod val="75000"/>
                  </a:srgbClr>
                </a:solidFill>
              </a:rPr>
              <a:t>{</a:t>
            </a:r>
          </a:p>
          <a:p>
            <a:pPr lvl="0"/>
            <a:r>
              <a:rPr lang="en-US" altLang="zh-CN" sz="1400" b="1" dirty="0">
                <a:solidFill>
                  <a:srgbClr val="4BACC6">
                    <a:lumMod val="75000"/>
                  </a:srgbClr>
                </a:solidFill>
              </a:rPr>
              <a:t>  SUCCESS = 0U,</a:t>
            </a:r>
          </a:p>
          <a:p>
            <a:pPr lvl="0"/>
            <a:r>
              <a:rPr lang="en-US" altLang="zh-CN" sz="1400" b="1" dirty="0">
                <a:solidFill>
                  <a:srgbClr val="4BACC6">
                    <a:lumMod val="75000"/>
                  </a:srgbClr>
                </a:solidFill>
              </a:rPr>
              <a:t>  ERROR = !SUCCESS</a:t>
            </a:r>
          </a:p>
          <a:p>
            <a:pPr lvl="0"/>
            <a:r>
              <a:rPr lang="en-US" altLang="zh-CN" sz="1400" b="1" dirty="0">
                <a:solidFill>
                  <a:srgbClr val="4BACC6">
                    <a:lumMod val="75000"/>
                  </a:srgbClr>
                </a:solidFill>
              </a:rPr>
              <a:t>} </a:t>
            </a:r>
            <a:r>
              <a:rPr lang="en-US" altLang="zh-CN" sz="1400" b="1" dirty="0" err="1">
                <a:solidFill>
                  <a:srgbClr val="4BACC6">
                    <a:lumMod val="75000"/>
                  </a:srgbClr>
                </a:solidFill>
              </a:rPr>
              <a:t>ErrorStatus</a:t>
            </a:r>
            <a:r>
              <a:rPr lang="en-US" altLang="zh-CN" sz="1400" b="1" dirty="0">
                <a:solidFill>
                  <a:srgbClr val="4BACC6">
                    <a:lumMod val="75000"/>
                  </a:srgbClr>
                </a:solidFill>
              </a:rPr>
              <a:t>;</a:t>
            </a: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#define SET_BIT(REG, BIT)     ((REG) |= (BIT))</a:t>
            </a:r>
          </a:p>
          <a:p>
            <a:pPr lvl="0"/>
            <a:r>
              <a:rPr lang="en-US" altLang="zh-CN" sz="1400" b="1" dirty="0">
                <a:solidFill>
                  <a:srgbClr val="4BACC6">
                    <a:lumMod val="75000"/>
                  </a:srgbClr>
                </a:solidFill>
              </a:rPr>
              <a:t>#define CLEAR_BIT(REG, BIT)   ((REG) &amp;= ~(BIT))</a:t>
            </a:r>
          </a:p>
          <a:p>
            <a:pPr lvl="0"/>
            <a:r>
              <a:rPr lang="en-US" altLang="zh-CN" sz="1400" b="1" dirty="0">
                <a:solidFill>
                  <a:srgbClr val="4BACC6">
                    <a:lumMod val="75000"/>
                  </a:srgbClr>
                </a:solidFill>
              </a:rPr>
              <a:t>#define READ_BIT(REG, BIT)    ((REG) &amp; (BIT))</a:t>
            </a:r>
          </a:p>
          <a:p>
            <a:pPr lvl="0"/>
            <a:r>
              <a:rPr lang="en-US" altLang="zh-CN" sz="1400" b="1" dirty="0">
                <a:solidFill>
                  <a:srgbClr val="4BACC6">
                    <a:lumMod val="75000"/>
                  </a:srgbClr>
                </a:solidFill>
              </a:rPr>
              <a:t>#define CLEAR_REG(REG)        ((REG) = (0x0))</a:t>
            </a:r>
          </a:p>
          <a:p>
            <a:pPr lvl="0"/>
            <a:r>
              <a:rPr lang="en-US" altLang="zh-CN" sz="1400" b="1" dirty="0">
                <a:solidFill>
                  <a:srgbClr val="4BACC6">
                    <a:lumMod val="75000"/>
                  </a:srgbClr>
                </a:solidFill>
              </a:rPr>
              <a:t>#define WRITE_REG(REG, VAL)   ((REG) = (VAL))</a:t>
            </a:r>
          </a:p>
          <a:p>
            <a:pPr lvl="0"/>
            <a:r>
              <a:rPr lang="en-US" altLang="zh-CN" sz="1400" b="1" dirty="0">
                <a:solidFill>
                  <a:srgbClr val="4BACC6">
                    <a:lumMod val="75000"/>
                  </a:srgbClr>
                </a:solidFill>
              </a:rPr>
              <a:t>#define READ_REG(REG)         ((REG))</a:t>
            </a:r>
          </a:p>
          <a:p>
            <a:pPr lvl="0"/>
            <a:r>
              <a:rPr lang="en-US" altLang="zh-CN" sz="1400" b="1" dirty="0">
                <a:solidFill>
                  <a:srgbClr val="4BACC6">
                    <a:lumMod val="75000"/>
                  </a:srgbClr>
                </a:solidFill>
              </a:rPr>
              <a:t>#define MODIFY_REG(REG, CLEARMASK, SETMASK)  WRITE_REG((REG), (((READ_REG(REG)) &amp; (~(CLEARMASK))) | (SETMASK)))</a:t>
            </a:r>
          </a:p>
          <a:p>
            <a:pPr lvl="0"/>
            <a:r>
              <a:rPr lang="en-US" altLang="zh-CN" sz="1400" b="1" dirty="0">
                <a:solidFill>
                  <a:srgbClr val="4BACC6">
                    <a:lumMod val="75000"/>
                  </a:srgbClr>
                </a:solidFill>
              </a:rPr>
              <a:t>#define POSITION_VAL(VAL)     (__CLZ(__RBIT(VAL)))</a:t>
            </a:r>
          </a:p>
          <a:p>
            <a:pPr lvl="0"/>
            <a:endParaRPr lang="en-US" altLang="zh-CN" sz="1400" b="1" dirty="0">
              <a:solidFill>
                <a:srgbClr val="4BACC6">
                  <a:lumMod val="75000"/>
                </a:srgbClr>
              </a:solidFill>
            </a:endParaRPr>
          </a:p>
        </p:txBody>
      </p:sp>
      <p:sp>
        <p:nvSpPr>
          <p:cNvPr id="15" name="圆角矩形标注 14"/>
          <p:cNvSpPr/>
          <p:nvPr/>
        </p:nvSpPr>
        <p:spPr>
          <a:xfrm>
            <a:off x="4860032" y="3939902"/>
            <a:ext cx="2879267" cy="673326"/>
          </a:xfrm>
          <a:prstGeom prst="wedgeRoundRectCallout">
            <a:avLst>
              <a:gd name="adj1" fmla="val -61179"/>
              <a:gd name="adj2" fmla="val -121935"/>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lgn="ctr"/>
            <a:r>
              <a:rPr lang="zh-CN" altLang="en-US" sz="1600" b="1" dirty="0">
                <a:solidFill>
                  <a:srgbClr val="D38583"/>
                </a:solidFill>
                <a:ea typeface="楷体" pitchFamily="49" charset="-122"/>
              </a:rPr>
              <a:t>解析：</a:t>
            </a:r>
            <a:r>
              <a:rPr lang="en-GB" altLang="zh-CN" sz="1600" b="1" dirty="0">
                <a:solidFill>
                  <a:prstClr val="black"/>
                </a:solidFill>
                <a:ea typeface="楷体" pitchFamily="49" charset="-122"/>
              </a:rPr>
              <a:t>STM32</a:t>
            </a:r>
            <a:r>
              <a:rPr lang="zh-CN" altLang="en-US" sz="1600" b="1" dirty="0">
                <a:solidFill>
                  <a:prstClr val="black"/>
                </a:solidFill>
                <a:ea typeface="楷体" pitchFamily="49" charset="-122"/>
              </a:rPr>
              <a:t>寄存器位的宏定义，其作用相当于函数</a:t>
            </a:r>
            <a:r>
              <a:rPr lang="zh-CN" altLang="en-US" sz="1600" b="1" dirty="0" smtClean="0">
                <a:solidFill>
                  <a:prstClr val="black"/>
                </a:solidFill>
                <a:ea typeface="楷体" pitchFamily="49" charset="-122"/>
              </a:rPr>
              <a:t>。</a:t>
            </a:r>
            <a:endParaRPr lang="zh-CN" altLang="en-US" sz="1600" b="1" dirty="0" smtClean="0"/>
          </a:p>
        </p:txBody>
      </p:sp>
      <p:sp>
        <p:nvSpPr>
          <p:cNvPr id="16" name="左大括号 15"/>
          <p:cNvSpPr/>
          <p:nvPr/>
        </p:nvSpPr>
        <p:spPr>
          <a:xfrm rot="10800000">
            <a:off x="4283968" y="2355726"/>
            <a:ext cx="216024" cy="2204501"/>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7" name="左大括号 16"/>
          <p:cNvSpPr/>
          <p:nvPr/>
        </p:nvSpPr>
        <p:spPr>
          <a:xfrm rot="10800000">
            <a:off x="8414784" y="1563638"/>
            <a:ext cx="216024" cy="626924"/>
          </a:xfrm>
          <a:prstGeom prst="leftBrace">
            <a:avLst>
              <a:gd name="adj1" fmla="val 49248"/>
              <a:gd name="adj2" fmla="val 50000"/>
            </a:avLst>
          </a:prstGeom>
          <a:ln w="28575">
            <a:solidFill>
              <a:schemeClr val="accent2">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8" name="圆角矩形标注 17"/>
          <p:cNvSpPr/>
          <p:nvPr/>
        </p:nvSpPr>
        <p:spPr>
          <a:xfrm>
            <a:off x="5876654" y="434265"/>
            <a:ext cx="2879267" cy="818588"/>
          </a:xfrm>
          <a:prstGeom prst="wedgeRoundRectCallout">
            <a:avLst>
              <a:gd name="adj1" fmla="val 34667"/>
              <a:gd name="adj2" fmla="val 83359"/>
              <a:gd name="adj3" fmla="val 16667"/>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如果使用</a:t>
            </a:r>
            <a:r>
              <a:rPr lang="en-US" altLang="zh-CN" sz="1600" b="1" dirty="0">
                <a:solidFill>
                  <a:prstClr val="black"/>
                </a:solidFill>
                <a:ea typeface="楷体" pitchFamily="49" charset="-122"/>
              </a:rPr>
              <a:t>HAL</a:t>
            </a:r>
            <a:r>
              <a:rPr lang="zh-CN" altLang="en-US" sz="1600" b="1" dirty="0">
                <a:solidFill>
                  <a:prstClr val="black"/>
                </a:solidFill>
                <a:ea typeface="楷体" pitchFamily="49" charset="-122"/>
              </a:rPr>
              <a:t>驱动函数库，则应用程序中要</a:t>
            </a:r>
            <a:r>
              <a:rPr lang="en-US" altLang="zh-CN" sz="1600" b="1" dirty="0">
                <a:solidFill>
                  <a:prstClr val="black"/>
                </a:solidFill>
                <a:ea typeface="楷体" pitchFamily="49" charset="-122"/>
              </a:rPr>
              <a:t>include</a:t>
            </a:r>
            <a:r>
              <a:rPr lang="zh-CN" altLang="en-US" sz="1600" b="1" dirty="0">
                <a:solidFill>
                  <a:prstClr val="black"/>
                </a:solidFill>
                <a:ea typeface="楷体" pitchFamily="49" charset="-122"/>
              </a:rPr>
              <a:t>一个</a:t>
            </a:r>
            <a:r>
              <a:rPr lang="en-US" altLang="zh-CN" sz="1600" b="1" dirty="0">
                <a:solidFill>
                  <a:prstClr val="black"/>
                </a:solidFill>
                <a:ea typeface="楷体" pitchFamily="49" charset="-122"/>
              </a:rPr>
              <a:t>stm32f1xx_hal.h</a:t>
            </a:r>
            <a:r>
              <a:rPr lang="zh-CN" altLang="en-US" sz="1600" b="1" dirty="0">
                <a:solidFill>
                  <a:prstClr val="black"/>
                </a:solidFill>
                <a:ea typeface="楷体" pitchFamily="49" charset="-122"/>
              </a:rPr>
              <a:t>头文件。</a:t>
            </a:r>
          </a:p>
        </p:txBody>
      </p:sp>
    </p:spTree>
    <p:extLst>
      <p:ext uri="{BB962C8B-B14F-4D97-AF65-F5344CB8AC3E}">
        <p14:creationId xmlns:p14="http://schemas.microsoft.com/office/powerpoint/2010/main" val="33888717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3" name="矩形 2"/>
          <p:cNvSpPr/>
          <p:nvPr/>
        </p:nvSpPr>
        <p:spPr>
          <a:xfrm>
            <a:off x="683568" y="1203598"/>
            <a:ext cx="3024336" cy="2862322"/>
          </a:xfrm>
          <a:prstGeom prst="rect">
            <a:avLst/>
          </a:prstGeom>
        </p:spPr>
        <p:txBody>
          <a:bodyPr wrap="square">
            <a:spAutoFit/>
          </a:bodyPr>
          <a:lstStyle/>
          <a:p>
            <a:pPr>
              <a:lnSpc>
                <a:spcPct val="125000"/>
              </a:lnSpc>
            </a:pPr>
            <a:r>
              <a:rPr lang="en-US" altLang="zh-CN" b="1" dirty="0" smtClean="0"/>
              <a:t>      stm32f103xe.h</a:t>
            </a:r>
            <a:r>
              <a:rPr lang="zh-CN" altLang="en-US" b="1" dirty="0"/>
              <a:t>是</a:t>
            </a:r>
            <a:r>
              <a:rPr lang="en-US" altLang="zh-CN" b="1" dirty="0"/>
              <a:t>STM32F1</a:t>
            </a:r>
            <a:r>
              <a:rPr lang="zh-CN" altLang="en-US" b="1" dirty="0"/>
              <a:t>系列专门针对</a:t>
            </a:r>
            <a:r>
              <a:rPr lang="en-US" altLang="zh-CN" b="1" dirty="0"/>
              <a:t>STM32F103xE</a:t>
            </a:r>
            <a:r>
              <a:rPr lang="zh-CN" altLang="en-US" b="1" dirty="0"/>
              <a:t>芯片定义</a:t>
            </a:r>
            <a:r>
              <a:rPr lang="zh-CN" altLang="en-US" b="1" dirty="0" smtClean="0"/>
              <a:t>的特有</a:t>
            </a:r>
            <a:r>
              <a:rPr lang="zh-CN" altLang="en-US" b="1" dirty="0"/>
              <a:t>的片上外设头文件。它包含了整个</a:t>
            </a:r>
            <a:r>
              <a:rPr lang="en-US" altLang="zh-CN" b="1" dirty="0"/>
              <a:t>HAL</a:t>
            </a:r>
            <a:r>
              <a:rPr lang="zh-CN" altLang="en-US" b="1" dirty="0"/>
              <a:t>库所共用的配置（中断向量、寄存器的定义等</a:t>
            </a:r>
            <a:r>
              <a:rPr lang="zh-CN" altLang="en-US" b="1" dirty="0" smtClean="0"/>
              <a:t>），也</a:t>
            </a:r>
            <a:r>
              <a:rPr lang="zh-CN" altLang="en-US" b="1" dirty="0"/>
              <a:t>是所有外设与用户函数的头文件所必须包含的一个头文件。</a:t>
            </a:r>
          </a:p>
        </p:txBody>
      </p:sp>
      <p:sp>
        <p:nvSpPr>
          <p:cNvPr id="7" name="横卷形 6"/>
          <p:cNvSpPr/>
          <p:nvPr/>
        </p:nvSpPr>
        <p:spPr>
          <a:xfrm>
            <a:off x="4392023" y="1203598"/>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600" b="1" dirty="0">
                <a:solidFill>
                  <a:schemeClr val="tx1"/>
                </a:solidFill>
              </a:rPr>
              <a:t>STM32F10x</a:t>
            </a:r>
            <a:r>
              <a:rPr lang="zh-CN" altLang="zh-CN" sz="1600" b="1" dirty="0">
                <a:solidFill>
                  <a:schemeClr val="tx1"/>
                </a:solidFill>
              </a:rPr>
              <a:t>系列</a:t>
            </a:r>
            <a:r>
              <a:rPr lang="en-US" altLang="zh-CN" sz="1600" b="1" dirty="0">
                <a:solidFill>
                  <a:schemeClr val="tx1"/>
                </a:solidFill>
              </a:rPr>
              <a:t>MCU</a:t>
            </a:r>
            <a:r>
              <a:rPr lang="zh-CN" altLang="zh-CN" sz="1600" b="1" dirty="0">
                <a:solidFill>
                  <a:schemeClr val="tx1"/>
                </a:solidFill>
              </a:rPr>
              <a:t>的中断向量的</a:t>
            </a:r>
            <a:r>
              <a:rPr lang="zh-CN" altLang="zh-CN" sz="1600" b="1" dirty="0" smtClean="0">
                <a:solidFill>
                  <a:schemeClr val="tx1"/>
                </a:solidFill>
              </a:rPr>
              <a:t>定义</a:t>
            </a:r>
            <a:endParaRPr lang="zh-CN" altLang="en-US" sz="1600" b="1" dirty="0" smtClean="0">
              <a:solidFill>
                <a:schemeClr val="tx1"/>
              </a:solidFill>
            </a:endParaRPr>
          </a:p>
        </p:txBody>
      </p:sp>
      <p:sp>
        <p:nvSpPr>
          <p:cNvPr id="19" name="横卷形 18"/>
          <p:cNvSpPr/>
          <p:nvPr/>
        </p:nvSpPr>
        <p:spPr>
          <a:xfrm>
            <a:off x="5004048" y="2283718"/>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a:solidFill>
                  <a:schemeClr val="tx1"/>
                </a:solidFill>
              </a:rPr>
              <a:t>存储空间的地址映射</a:t>
            </a:r>
          </a:p>
        </p:txBody>
      </p:sp>
      <p:sp>
        <p:nvSpPr>
          <p:cNvPr id="20" name="横卷形 19"/>
          <p:cNvSpPr/>
          <p:nvPr/>
        </p:nvSpPr>
        <p:spPr>
          <a:xfrm>
            <a:off x="5652120" y="3435846"/>
            <a:ext cx="2448272" cy="792088"/>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b="1" dirty="0">
                <a:solidFill>
                  <a:schemeClr val="tx1"/>
                </a:solidFill>
              </a:rPr>
              <a:t>所有片上外设寄存器的结构体定义</a:t>
            </a:r>
          </a:p>
        </p:txBody>
      </p:sp>
    </p:spTree>
    <p:extLst>
      <p:ext uri="{BB962C8B-B14F-4D97-AF65-F5344CB8AC3E}">
        <p14:creationId xmlns:p14="http://schemas.microsoft.com/office/powerpoint/2010/main" val="2717354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9" name="左大括号 8"/>
          <p:cNvSpPr/>
          <p:nvPr/>
        </p:nvSpPr>
        <p:spPr>
          <a:xfrm>
            <a:off x="2573778" y="1076620"/>
            <a:ext cx="108012" cy="468052"/>
          </a:xfrm>
          <a:prstGeom prst="leftBrace">
            <a:avLst>
              <a:gd name="adj1" fmla="val 49248"/>
              <a:gd name="adj2" fmla="val 50000"/>
            </a:avLst>
          </a:prstGeom>
          <a:ln w="28575">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圆角矩形标注 9"/>
          <p:cNvSpPr/>
          <p:nvPr/>
        </p:nvSpPr>
        <p:spPr>
          <a:xfrm>
            <a:off x="352070" y="3568027"/>
            <a:ext cx="1872207" cy="811663"/>
          </a:xfrm>
          <a:prstGeom prst="wedgeRoundRectCallout">
            <a:avLst>
              <a:gd name="adj1" fmla="val 58546"/>
              <a:gd name="adj2" fmla="val -80549"/>
              <a:gd name="adj3" fmla="val 16667"/>
            </a:avLst>
          </a:prstGeom>
          <a:ln>
            <a:solidFill>
              <a:srgbClr val="D38583"/>
            </a:solidFill>
          </a:ln>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smtClean="0">
                <a:solidFill>
                  <a:prstClr val="black"/>
                </a:solidFill>
                <a:ea typeface="楷体" pitchFamily="49" charset="-122"/>
              </a:rPr>
              <a:t>与</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内核相关的宏定义。</a:t>
            </a:r>
            <a:endParaRPr lang="zh-CN" altLang="en-US" sz="1600" b="1" dirty="0" smtClean="0"/>
          </a:p>
        </p:txBody>
      </p:sp>
      <p:sp>
        <p:nvSpPr>
          <p:cNvPr id="11" name="矩形 10"/>
          <p:cNvSpPr/>
          <p:nvPr/>
        </p:nvSpPr>
        <p:spPr>
          <a:xfrm>
            <a:off x="2627784" y="1020550"/>
            <a:ext cx="5688632" cy="3754874"/>
          </a:xfrm>
          <a:prstGeom prst="rect">
            <a:avLst/>
          </a:prstGeom>
        </p:spPr>
        <p:txBody>
          <a:bodyPr wrap="square">
            <a:spAutoFit/>
          </a:bodyPr>
          <a:lstStyle/>
          <a:p>
            <a:pPr lvl="0"/>
            <a:r>
              <a:rPr lang="en-US" altLang="zh-CN" sz="1400" b="1" dirty="0">
                <a:solidFill>
                  <a:srgbClr val="4BACC6">
                    <a:lumMod val="75000"/>
                  </a:srgbClr>
                </a:solidFill>
              </a:rPr>
              <a:t>#</a:t>
            </a:r>
            <a:r>
              <a:rPr lang="en-US" altLang="zh-CN" sz="1400" b="1" dirty="0" err="1">
                <a:solidFill>
                  <a:srgbClr val="4BACC6">
                    <a:lumMod val="75000"/>
                  </a:srgbClr>
                </a:solidFill>
              </a:rPr>
              <a:t>ifndef</a:t>
            </a:r>
            <a:r>
              <a:rPr lang="en-US" altLang="zh-CN" sz="1400" b="1" dirty="0">
                <a:solidFill>
                  <a:srgbClr val="4BACC6">
                    <a:lumMod val="75000"/>
                  </a:srgbClr>
                </a:solidFill>
              </a:rPr>
              <a:t> __STM32F103xE_H</a:t>
            </a:r>
          </a:p>
          <a:p>
            <a:pPr lvl="0"/>
            <a:r>
              <a:rPr lang="en-US" altLang="zh-CN" sz="1400" b="1" dirty="0">
                <a:solidFill>
                  <a:srgbClr val="4BACC6">
                    <a:lumMod val="75000"/>
                  </a:srgbClr>
                </a:solidFill>
              </a:rPr>
              <a:t>#define __STM32F103xE_H</a:t>
            </a: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a:t>
            </a:r>
            <a:r>
              <a:rPr lang="en-US" altLang="zh-CN" sz="1400" b="1" dirty="0" err="1">
                <a:solidFill>
                  <a:srgbClr val="4BACC6">
                    <a:lumMod val="75000"/>
                  </a:srgbClr>
                </a:solidFill>
              </a:rPr>
              <a:t>ifdef</a:t>
            </a:r>
            <a:r>
              <a:rPr lang="en-US" altLang="zh-CN" sz="1400" b="1" dirty="0">
                <a:solidFill>
                  <a:srgbClr val="4BACC6">
                    <a:lumMod val="75000"/>
                  </a:srgbClr>
                </a:solidFill>
              </a:rPr>
              <a:t> __</a:t>
            </a:r>
            <a:r>
              <a:rPr lang="en-US" altLang="zh-CN" sz="1400" b="1" dirty="0" err="1">
                <a:solidFill>
                  <a:srgbClr val="4BACC6">
                    <a:lumMod val="75000"/>
                  </a:srgbClr>
                </a:solidFill>
              </a:rPr>
              <a:t>cplusplus</a:t>
            </a:r>
            <a:endParaRPr lang="en-US" altLang="zh-CN" sz="1400" b="1" dirty="0">
              <a:solidFill>
                <a:srgbClr val="4BACC6">
                  <a:lumMod val="75000"/>
                </a:srgbClr>
              </a:solidFill>
            </a:endParaRPr>
          </a:p>
          <a:p>
            <a:pPr lvl="0"/>
            <a:r>
              <a:rPr lang="en-US" altLang="zh-CN" sz="1400" b="1" dirty="0">
                <a:solidFill>
                  <a:srgbClr val="4BACC6">
                    <a:lumMod val="75000"/>
                  </a:srgbClr>
                </a:solidFill>
              </a:rPr>
              <a:t>extern "C" {</a:t>
            </a:r>
          </a:p>
          <a:p>
            <a:pPr lvl="0"/>
            <a:r>
              <a:rPr lang="en-US" altLang="zh-CN" sz="1400" b="1" dirty="0">
                <a:solidFill>
                  <a:srgbClr val="4BACC6">
                    <a:lumMod val="75000"/>
                  </a:srgbClr>
                </a:solidFill>
              </a:rPr>
              <a:t>#</a:t>
            </a:r>
            <a:r>
              <a:rPr lang="en-US" altLang="zh-CN" sz="1400" b="1" dirty="0" err="1">
                <a:solidFill>
                  <a:srgbClr val="4BACC6">
                    <a:lumMod val="75000"/>
                  </a:srgbClr>
                </a:solidFill>
              </a:rPr>
              <a:t>endif</a:t>
            </a:r>
            <a:r>
              <a:rPr lang="en-US" altLang="zh-CN" sz="1400" b="1" dirty="0">
                <a:solidFill>
                  <a:srgbClr val="4BACC6">
                    <a:lumMod val="75000"/>
                  </a:srgbClr>
                </a:solidFill>
              </a:rPr>
              <a:t> </a:t>
            </a:r>
            <a:endParaRPr lang="en-US" altLang="zh-CN" sz="1400" b="1" dirty="0" smtClean="0">
              <a:solidFill>
                <a:srgbClr val="4BACC6">
                  <a:lumMod val="75000"/>
                </a:srgbClr>
              </a:solidFill>
            </a:endParaRPr>
          </a:p>
          <a:p>
            <a:pPr lvl="0"/>
            <a:endParaRPr lang="en-US" altLang="zh-CN" sz="1400" b="1" dirty="0">
              <a:solidFill>
                <a:srgbClr val="4BACC6">
                  <a:lumMod val="75000"/>
                </a:srgbClr>
              </a:solidFill>
            </a:endParaRPr>
          </a:p>
          <a:p>
            <a:pPr lvl="0"/>
            <a:r>
              <a:rPr lang="en-US" altLang="zh-CN" sz="1400" b="1" dirty="0">
                <a:solidFill>
                  <a:srgbClr val="4BACC6">
                    <a:lumMod val="75000"/>
                  </a:srgbClr>
                </a:solidFill>
              </a:rPr>
              <a:t>#define __CM3_REV   0x0200U  </a:t>
            </a:r>
            <a:endParaRPr lang="en-US" altLang="zh-CN" sz="1400" b="1" dirty="0" smtClean="0">
              <a:solidFill>
                <a:srgbClr val="4BACC6">
                  <a:lumMod val="75000"/>
                </a:srgbClr>
              </a:solidFill>
            </a:endParaRPr>
          </a:p>
          <a:p>
            <a:pPr lvl="0"/>
            <a:r>
              <a:rPr lang="en-US" altLang="zh-CN" sz="1400" b="1" dirty="0">
                <a:solidFill>
                  <a:srgbClr val="4BACC6">
                    <a:lumMod val="75000"/>
                  </a:srgbClr>
                </a:solidFill>
              </a:rPr>
              <a:t> </a:t>
            </a:r>
            <a:r>
              <a:rPr lang="en-US" altLang="zh-CN" sz="1400" b="1" dirty="0" smtClean="0">
                <a:solidFill>
                  <a:srgbClr val="4BACC6">
                    <a:lumMod val="75000"/>
                  </a:srgbClr>
                </a:solidFill>
              </a:rPr>
              <a:t>     </a:t>
            </a:r>
            <a:r>
              <a:rPr lang="en-US" altLang="zh-CN" sz="1400" b="1" dirty="0" smtClean="0"/>
              <a:t>/*!&lt; </a:t>
            </a:r>
            <a:r>
              <a:rPr lang="en-US" altLang="zh-CN" sz="1400" b="1" dirty="0"/>
              <a:t>Core Revision r2p0      </a:t>
            </a:r>
            <a:r>
              <a:rPr lang="en-US" altLang="zh-CN" sz="1400" b="1" dirty="0" smtClean="0"/>
              <a:t>       </a:t>
            </a:r>
            <a:r>
              <a:rPr lang="en-US" altLang="zh-CN" sz="1400" b="1" dirty="0"/>
              <a:t>*/</a:t>
            </a:r>
          </a:p>
          <a:p>
            <a:pPr lvl="0"/>
            <a:r>
              <a:rPr lang="en-US" altLang="zh-CN" sz="1400" b="1" dirty="0">
                <a:solidFill>
                  <a:srgbClr val="4BACC6">
                    <a:lumMod val="75000"/>
                  </a:srgbClr>
                </a:solidFill>
              </a:rPr>
              <a:t>#define __MPU_PRESENT   0U </a:t>
            </a:r>
            <a:endParaRPr lang="en-US" altLang="zh-CN" sz="1400" b="1" dirty="0" smtClean="0">
              <a:solidFill>
                <a:srgbClr val="4BACC6">
                  <a:lumMod val="75000"/>
                </a:srgbClr>
              </a:solidFill>
            </a:endParaRPr>
          </a:p>
          <a:p>
            <a:pPr lvl="0"/>
            <a:r>
              <a:rPr lang="en-US" altLang="zh-CN" sz="1400" b="1" dirty="0">
                <a:solidFill>
                  <a:srgbClr val="4BACC6">
                    <a:lumMod val="75000"/>
                  </a:srgbClr>
                </a:solidFill>
              </a:rPr>
              <a:t> </a:t>
            </a:r>
            <a:r>
              <a:rPr lang="en-US" altLang="zh-CN" sz="1400" b="1" dirty="0" smtClean="0">
                <a:solidFill>
                  <a:srgbClr val="4BACC6">
                    <a:lumMod val="75000"/>
                  </a:srgbClr>
                </a:solidFill>
              </a:rPr>
              <a:t>    </a:t>
            </a:r>
            <a:r>
              <a:rPr lang="en-US" altLang="zh-CN" sz="1400" b="1" dirty="0" smtClean="0"/>
              <a:t> </a:t>
            </a:r>
            <a:r>
              <a:rPr lang="en-US" altLang="zh-CN" sz="1400" b="1" dirty="0"/>
              <a:t>/*!&lt; Other STM32 devices does not provide an MPU  */</a:t>
            </a:r>
          </a:p>
          <a:p>
            <a:pPr lvl="0"/>
            <a:r>
              <a:rPr lang="en-US" altLang="zh-CN" sz="1400" b="1" dirty="0">
                <a:solidFill>
                  <a:srgbClr val="4BACC6">
                    <a:lumMod val="75000"/>
                  </a:srgbClr>
                </a:solidFill>
              </a:rPr>
              <a:t>#define __NVIC_PRIO_BITS  4U  </a:t>
            </a:r>
            <a:endParaRPr lang="en-US" altLang="zh-CN" sz="1400" b="1" dirty="0" smtClean="0">
              <a:solidFill>
                <a:srgbClr val="4BACC6">
                  <a:lumMod val="75000"/>
                </a:srgbClr>
              </a:solidFill>
            </a:endParaRPr>
          </a:p>
          <a:p>
            <a:pPr lvl="0"/>
            <a:r>
              <a:rPr lang="en-US" altLang="zh-CN" sz="1400" b="1" dirty="0"/>
              <a:t> </a:t>
            </a:r>
            <a:r>
              <a:rPr lang="en-US" altLang="zh-CN" sz="1400" b="1" dirty="0" smtClean="0"/>
              <a:t>     </a:t>
            </a:r>
            <a:r>
              <a:rPr lang="en-US" altLang="zh-CN" sz="1400" b="1" dirty="0"/>
              <a:t>/*!&lt; STM32 uses 4 Bits for the Priority Levels    */</a:t>
            </a:r>
          </a:p>
          <a:p>
            <a:pPr lvl="0"/>
            <a:r>
              <a:rPr lang="en-US" altLang="zh-CN" sz="1400" b="1" dirty="0">
                <a:solidFill>
                  <a:srgbClr val="4BACC6">
                    <a:lumMod val="75000"/>
                  </a:srgbClr>
                </a:solidFill>
              </a:rPr>
              <a:t>#define __</a:t>
            </a:r>
            <a:r>
              <a:rPr lang="en-US" altLang="zh-CN" sz="1400" b="1" dirty="0" err="1">
                <a:solidFill>
                  <a:srgbClr val="4BACC6">
                    <a:lumMod val="75000"/>
                  </a:srgbClr>
                </a:solidFill>
              </a:rPr>
              <a:t>Vendor_SysTickConfig</a:t>
            </a:r>
            <a:r>
              <a:rPr lang="en-US" altLang="zh-CN" sz="1400" b="1" dirty="0">
                <a:solidFill>
                  <a:srgbClr val="4BACC6">
                    <a:lumMod val="75000"/>
                  </a:srgbClr>
                </a:solidFill>
              </a:rPr>
              <a:t>   0U </a:t>
            </a:r>
            <a:endParaRPr lang="en-US" altLang="zh-CN" sz="1400" b="1" dirty="0" smtClean="0">
              <a:solidFill>
                <a:srgbClr val="4BACC6">
                  <a:lumMod val="75000"/>
                </a:srgbClr>
              </a:solidFill>
            </a:endParaRPr>
          </a:p>
          <a:p>
            <a:pPr lvl="0"/>
            <a:r>
              <a:rPr lang="en-US" altLang="zh-CN" sz="1400" b="1" dirty="0"/>
              <a:t> </a:t>
            </a:r>
            <a:r>
              <a:rPr lang="en-US" altLang="zh-CN" sz="1400" b="1" dirty="0" smtClean="0"/>
              <a:t>      </a:t>
            </a:r>
            <a:r>
              <a:rPr lang="en-US" altLang="zh-CN" sz="1400" b="1" dirty="0"/>
              <a:t>/*!&lt; Set to 1 if different </a:t>
            </a:r>
            <a:r>
              <a:rPr lang="en-US" altLang="zh-CN" sz="1400" b="1" dirty="0" err="1"/>
              <a:t>SysTick</a:t>
            </a:r>
            <a:r>
              <a:rPr lang="en-US" altLang="zh-CN" sz="1400" b="1" dirty="0"/>
              <a:t> </a:t>
            </a:r>
            <a:r>
              <a:rPr lang="en-US" altLang="zh-CN" sz="1400" b="1" dirty="0" err="1"/>
              <a:t>Config</a:t>
            </a:r>
            <a:r>
              <a:rPr lang="en-US" altLang="zh-CN" sz="1400" b="1" dirty="0"/>
              <a:t> is used */</a:t>
            </a:r>
          </a:p>
          <a:p>
            <a:pPr lvl="0"/>
            <a:endParaRPr lang="en-US" altLang="zh-CN" sz="1400" b="1" dirty="0" smtClean="0">
              <a:solidFill>
                <a:srgbClr val="4BACC6">
                  <a:lumMod val="75000"/>
                </a:srgbClr>
              </a:solidFill>
            </a:endParaRPr>
          </a:p>
          <a:p>
            <a:pPr lvl="0"/>
            <a:endParaRPr lang="en-US" altLang="zh-CN" sz="1400" b="1" dirty="0">
              <a:solidFill>
                <a:srgbClr val="4BACC6">
                  <a:lumMod val="75000"/>
                </a:srgbClr>
              </a:solidFill>
            </a:endParaRPr>
          </a:p>
        </p:txBody>
      </p:sp>
      <p:sp>
        <p:nvSpPr>
          <p:cNvPr id="12" name="圆角矩形标注 11"/>
          <p:cNvSpPr/>
          <p:nvPr/>
        </p:nvSpPr>
        <p:spPr>
          <a:xfrm>
            <a:off x="5524787" y="937696"/>
            <a:ext cx="3024336" cy="1418029"/>
          </a:xfrm>
          <a:prstGeom prst="wedgeRoundRectCallout">
            <a:avLst>
              <a:gd name="adj1" fmla="val -84060"/>
              <a:gd name="adj2" fmla="val 28528"/>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a:solidFill>
                  <a:prstClr val="black"/>
                </a:solidFill>
                <a:ea typeface="楷体" pitchFamily="49" charset="-122"/>
              </a:rPr>
              <a:t>条件编译，类似</a:t>
            </a:r>
            <a:r>
              <a:rPr lang="en-US" altLang="zh-CN" sz="1600" b="1" dirty="0">
                <a:solidFill>
                  <a:prstClr val="black"/>
                </a:solidFill>
                <a:ea typeface="楷体" pitchFamily="49" charset="-122"/>
              </a:rPr>
              <a:t>if-else</a:t>
            </a:r>
            <a:r>
              <a:rPr lang="zh-CN" altLang="en-US" sz="1600" b="1" dirty="0">
                <a:solidFill>
                  <a:prstClr val="black"/>
                </a:solidFill>
                <a:ea typeface="楷体" pitchFamily="49" charset="-122"/>
              </a:rPr>
              <a:t>结构。当用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编译器编译时，</a:t>
            </a:r>
            <a:r>
              <a:rPr lang="en-US" altLang="zh-CN" sz="1600" b="1" dirty="0">
                <a:solidFill>
                  <a:prstClr val="black"/>
                </a:solidFill>
                <a:ea typeface="楷体" pitchFamily="49" charset="-122"/>
              </a:rPr>
              <a:t>extern "C" { </a:t>
            </a:r>
            <a:r>
              <a:rPr lang="zh-CN" altLang="en-US" sz="1600" b="1" dirty="0">
                <a:solidFill>
                  <a:prstClr val="black"/>
                </a:solidFill>
                <a:ea typeface="楷体" pitchFamily="49" charset="-122"/>
              </a:rPr>
              <a:t>告知编译器下面这段程序是用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语言编写的，请用</a:t>
            </a:r>
            <a:r>
              <a:rPr lang="en-US" altLang="zh-CN" sz="1600" b="1" dirty="0">
                <a:solidFill>
                  <a:prstClr val="black"/>
                </a:solidFill>
                <a:ea typeface="楷体" pitchFamily="49" charset="-122"/>
              </a:rPr>
              <a:t>C</a:t>
            </a:r>
            <a:r>
              <a:rPr lang="zh-CN" altLang="en-US" sz="1600" b="1" dirty="0">
                <a:solidFill>
                  <a:prstClr val="black"/>
                </a:solidFill>
                <a:ea typeface="楷体" pitchFamily="49" charset="-122"/>
              </a:rPr>
              <a:t>的方式进行编译。</a:t>
            </a:r>
            <a:endParaRPr lang="zh-CN" altLang="en-US" sz="1600" b="1" dirty="0" smtClean="0"/>
          </a:p>
        </p:txBody>
      </p:sp>
      <p:sp>
        <p:nvSpPr>
          <p:cNvPr id="13" name="左大括号 12"/>
          <p:cNvSpPr/>
          <p:nvPr/>
        </p:nvSpPr>
        <p:spPr>
          <a:xfrm rot="10800000">
            <a:off x="4211960" y="1707654"/>
            <a:ext cx="216024" cy="648072"/>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4" name="左大括号 13"/>
          <p:cNvSpPr/>
          <p:nvPr/>
        </p:nvSpPr>
        <p:spPr>
          <a:xfrm>
            <a:off x="2438900" y="2607262"/>
            <a:ext cx="216024" cy="1692680"/>
          </a:xfrm>
          <a:prstGeom prst="leftBrace">
            <a:avLst>
              <a:gd name="adj1" fmla="val 49248"/>
              <a:gd name="adj2" fmla="val 50000"/>
            </a:avLst>
          </a:prstGeom>
          <a:ln w="28575">
            <a:solidFill>
              <a:schemeClr val="accent2">
                <a:lumMod val="60000"/>
                <a:lumOff val="4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5" name="圆角矩形标注 14"/>
          <p:cNvSpPr/>
          <p:nvPr/>
        </p:nvSpPr>
        <p:spPr>
          <a:xfrm>
            <a:off x="316852" y="1650005"/>
            <a:ext cx="1907425" cy="910809"/>
          </a:xfrm>
          <a:prstGeom prst="wedgeRoundRectCallout">
            <a:avLst>
              <a:gd name="adj1" fmla="val 65292"/>
              <a:gd name="adj2" fmla="val -81707"/>
              <a:gd name="adj3" fmla="val 16667"/>
            </a:avLst>
          </a:prstGeom>
          <a:ln>
            <a:solidFill>
              <a:schemeClr val="accent4">
                <a:lumMod val="40000"/>
                <a:lumOff val="60000"/>
              </a:schemeClr>
            </a:solidFill>
          </a:ln>
        </p:spPr>
        <p:style>
          <a:lnRef idx="2">
            <a:schemeClr val="accent5"/>
          </a:lnRef>
          <a:fillRef idx="1">
            <a:schemeClr val="lt1"/>
          </a:fillRef>
          <a:effectRef idx="0">
            <a:schemeClr val="accent5"/>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a:solidFill>
                  <a:prstClr val="black"/>
                </a:solidFill>
                <a:ea typeface="楷体" pitchFamily="49" charset="-122"/>
              </a:rPr>
              <a:t>条件编译，防止头文件被重复包含。</a:t>
            </a:r>
            <a:endParaRPr lang="zh-CN" altLang="en-US" sz="1600" b="1" dirty="0" smtClean="0"/>
          </a:p>
        </p:txBody>
      </p:sp>
    </p:spTree>
    <p:extLst>
      <p:ext uri="{BB962C8B-B14F-4D97-AF65-F5344CB8AC3E}">
        <p14:creationId xmlns:p14="http://schemas.microsoft.com/office/powerpoint/2010/main" val="2594290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618164" y="915566"/>
            <a:ext cx="2674130" cy="461665"/>
          </a:xfrm>
          <a:prstGeom prst="rect">
            <a:avLst/>
          </a:prstGeom>
        </p:spPr>
        <p:txBody>
          <a:bodyPr wrap="none">
            <a:spAutoFit/>
          </a:bodyPr>
          <a:lstStyle/>
          <a:p>
            <a:r>
              <a:rPr lang="en-US" altLang="zh-CN" sz="2400" b="1" dirty="0">
                <a:solidFill>
                  <a:srgbClr val="D38583"/>
                </a:solidFill>
                <a:ea typeface="隶书" pitchFamily="49" charset="-122"/>
              </a:rPr>
              <a:t>MCU</a:t>
            </a:r>
            <a:r>
              <a:rPr lang="zh-CN" altLang="zh-CN" sz="2400" b="1" dirty="0">
                <a:solidFill>
                  <a:srgbClr val="D38583"/>
                </a:solidFill>
                <a:ea typeface="隶书" pitchFamily="49" charset="-122"/>
              </a:rPr>
              <a:t>中断向量定义</a:t>
            </a:r>
            <a:endParaRPr lang="zh-CN" altLang="zh-CN" sz="2400" dirty="0">
              <a:solidFill>
                <a:srgbClr val="D38583"/>
              </a:solidFill>
              <a:ea typeface="隶书" pitchFamily="49" charset="-122"/>
            </a:endParaRPr>
          </a:p>
        </p:txBody>
      </p:sp>
      <p:sp>
        <p:nvSpPr>
          <p:cNvPr id="3" name="矩形 2"/>
          <p:cNvSpPr/>
          <p:nvPr/>
        </p:nvSpPr>
        <p:spPr>
          <a:xfrm>
            <a:off x="3851920" y="195486"/>
            <a:ext cx="4680520" cy="4832092"/>
          </a:xfrm>
          <a:prstGeom prst="rect">
            <a:avLst/>
          </a:prstGeom>
        </p:spPr>
        <p:txBody>
          <a:bodyPr wrap="square">
            <a:spAutoFit/>
          </a:bodyPr>
          <a:lstStyle/>
          <a:p>
            <a:r>
              <a:rPr lang="en-GB" altLang="zh-CN" sz="1400" b="1" dirty="0" smtClean="0"/>
              <a:t>     /*!&lt; </a:t>
            </a:r>
            <a:r>
              <a:rPr lang="en-GB" altLang="zh-CN" sz="1400" b="1" dirty="0"/>
              <a:t>Interrupt Number Definition */</a:t>
            </a:r>
          </a:p>
          <a:p>
            <a:r>
              <a:rPr lang="en-GB" altLang="zh-CN" sz="1400" b="1" dirty="0" err="1">
                <a:solidFill>
                  <a:schemeClr val="accent5">
                    <a:lumMod val="75000"/>
                  </a:schemeClr>
                </a:solidFill>
              </a:rPr>
              <a:t>typedef</a:t>
            </a:r>
            <a:r>
              <a:rPr lang="en-GB" altLang="zh-CN" sz="1400" b="1" dirty="0">
                <a:solidFill>
                  <a:schemeClr val="accent5">
                    <a:lumMod val="75000"/>
                  </a:schemeClr>
                </a:solidFill>
              </a:rPr>
              <a:t> </a:t>
            </a:r>
            <a:r>
              <a:rPr lang="en-GB" altLang="zh-CN" sz="1400" b="1" dirty="0" err="1">
                <a:solidFill>
                  <a:schemeClr val="accent5">
                    <a:lumMod val="75000"/>
                  </a:schemeClr>
                </a:solidFill>
              </a:rPr>
              <a:t>enum</a:t>
            </a:r>
            <a:endParaRPr lang="en-GB" altLang="zh-CN" sz="1400" b="1" dirty="0">
              <a:solidFill>
                <a:schemeClr val="accent5">
                  <a:lumMod val="75000"/>
                </a:schemeClr>
              </a:solidFill>
            </a:endParaRPr>
          </a:p>
          <a:p>
            <a:r>
              <a:rPr lang="en-GB" altLang="zh-CN" sz="1400" b="1" dirty="0" smtClean="0">
                <a:solidFill>
                  <a:schemeClr val="accent5">
                    <a:lumMod val="75000"/>
                  </a:schemeClr>
                </a:solidFill>
              </a:rPr>
              <a:t>{</a:t>
            </a:r>
          </a:p>
          <a:p>
            <a:r>
              <a:rPr lang="en-GB" altLang="zh-CN" sz="1400" b="1" dirty="0" smtClean="0"/>
              <a:t>      /***  Cortex-M3 Processor Exceptions Numbers ***/</a:t>
            </a:r>
          </a:p>
          <a:p>
            <a:r>
              <a:rPr lang="en-GB" altLang="zh-CN" sz="1400" b="1" dirty="0" smtClean="0">
                <a:solidFill>
                  <a:schemeClr val="accent5">
                    <a:lumMod val="75000"/>
                  </a:schemeClr>
                </a:solidFill>
              </a:rPr>
              <a:t>  </a:t>
            </a:r>
            <a:r>
              <a:rPr lang="en-GB" altLang="zh-CN" sz="1400" b="1" dirty="0" err="1">
                <a:solidFill>
                  <a:schemeClr val="accent5">
                    <a:lumMod val="75000"/>
                  </a:schemeClr>
                </a:solidFill>
              </a:rPr>
              <a:t>NonMaskableInt_IRQn</a:t>
            </a:r>
            <a:r>
              <a:rPr lang="en-GB" altLang="zh-CN" sz="1400" b="1" dirty="0">
                <a:solidFill>
                  <a:schemeClr val="accent5">
                    <a:lumMod val="75000"/>
                  </a:schemeClr>
                </a:solidFill>
              </a:rPr>
              <a:t>   = -14</a:t>
            </a:r>
            <a:r>
              <a:rPr lang="en-GB" altLang="zh-CN" sz="1400" b="1" dirty="0" smtClean="0">
                <a:solidFill>
                  <a:schemeClr val="accent5">
                    <a:lumMod val="75000"/>
                  </a:schemeClr>
                </a:solidFill>
              </a:rPr>
              <a:t>,</a:t>
            </a: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2 Non </a:t>
            </a:r>
            <a:r>
              <a:rPr lang="en-GB" altLang="zh-CN" sz="1400" b="1" dirty="0" err="1"/>
              <a:t>Maskable</a:t>
            </a:r>
            <a:r>
              <a:rPr lang="en-GB" altLang="zh-CN" sz="1400" b="1" dirty="0"/>
              <a:t> Interrupt    </a:t>
            </a:r>
            <a:r>
              <a:rPr lang="en-GB" altLang="zh-CN" sz="1400" b="1" dirty="0" smtClean="0"/>
              <a:t>          </a:t>
            </a:r>
            <a:r>
              <a:rPr lang="en-GB" altLang="zh-CN" sz="1400" b="1" dirty="0"/>
              <a:t>*/</a:t>
            </a:r>
          </a:p>
          <a:p>
            <a:r>
              <a:rPr lang="en-GB" altLang="zh-CN" sz="1400" b="1" dirty="0"/>
              <a:t>  </a:t>
            </a:r>
            <a:r>
              <a:rPr lang="en-GB" altLang="zh-CN" sz="1400" b="1" dirty="0" err="1">
                <a:solidFill>
                  <a:schemeClr val="accent5">
                    <a:lumMod val="75000"/>
                  </a:schemeClr>
                </a:solidFill>
              </a:rPr>
              <a:t>HardFault_IRQn</a:t>
            </a:r>
            <a:r>
              <a:rPr lang="en-GB" altLang="zh-CN" sz="1400" b="1" dirty="0">
                <a:solidFill>
                  <a:schemeClr val="accent5">
                    <a:lumMod val="75000"/>
                  </a:schemeClr>
                </a:solidFill>
              </a:rPr>
              <a:t>         = -13,</a:t>
            </a:r>
            <a:r>
              <a:rPr lang="en-GB" altLang="zh-CN" sz="1400" b="1" dirty="0"/>
              <a:t> </a:t>
            </a:r>
            <a:endParaRPr lang="en-GB" altLang="zh-CN" sz="1400" b="1" dirty="0" smtClean="0"/>
          </a:p>
          <a:p>
            <a:r>
              <a:rPr lang="en-GB" altLang="zh-CN" sz="1400" b="1" dirty="0" smtClean="0"/>
              <a:t>     /*!&lt; </a:t>
            </a:r>
            <a:r>
              <a:rPr lang="en-GB" altLang="zh-CN" sz="1400" b="1" dirty="0"/>
              <a:t>3 Cortex-M3 Hard Fault Interrupt          */</a:t>
            </a:r>
          </a:p>
          <a:p>
            <a:r>
              <a:rPr lang="en-GB" altLang="zh-CN" sz="1400" b="1" dirty="0"/>
              <a:t>  </a:t>
            </a:r>
            <a:r>
              <a:rPr lang="en-GB" altLang="zh-CN" sz="1400" b="1" dirty="0" err="1">
                <a:solidFill>
                  <a:schemeClr val="accent5">
                    <a:lumMod val="75000"/>
                  </a:schemeClr>
                </a:solidFill>
              </a:rPr>
              <a:t>MemoryManagement_IRQn</a:t>
            </a:r>
            <a:r>
              <a:rPr lang="en-GB" altLang="zh-CN" sz="1400" b="1" dirty="0">
                <a:solidFill>
                  <a:schemeClr val="accent5">
                    <a:lumMod val="75000"/>
                  </a:schemeClr>
                </a:solidFill>
              </a:rPr>
              <a:t>= -12,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smtClean="0"/>
              <a:t>/*!&lt; </a:t>
            </a:r>
            <a:r>
              <a:rPr lang="en-GB" altLang="zh-CN" sz="1400" b="1" dirty="0"/>
              <a:t>4 Cortex-M3 Memory Management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BusFault_IRQn</a:t>
            </a:r>
            <a:r>
              <a:rPr lang="en-GB" altLang="zh-CN" sz="1400" b="1" dirty="0">
                <a:solidFill>
                  <a:schemeClr val="accent5">
                    <a:lumMod val="75000"/>
                  </a:schemeClr>
                </a:solidFill>
              </a:rPr>
              <a:t>         = -11,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5 Cortex-M3 Bus Fault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UsageFault_IRQn</a:t>
            </a:r>
            <a:r>
              <a:rPr lang="en-GB" altLang="zh-CN" sz="1400" b="1" dirty="0">
                <a:solidFill>
                  <a:schemeClr val="accent5">
                    <a:lumMod val="75000"/>
                  </a:schemeClr>
                </a:solidFill>
              </a:rPr>
              <a:t>        = -10,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6 Cortex-M3 Usage Fault Interrupt         */</a:t>
            </a:r>
          </a:p>
          <a:p>
            <a:r>
              <a:rPr lang="en-GB" altLang="zh-CN" sz="1400" b="1" dirty="0"/>
              <a:t>  </a:t>
            </a:r>
            <a:r>
              <a:rPr lang="en-GB" altLang="zh-CN" sz="1400" b="1" dirty="0" err="1">
                <a:solidFill>
                  <a:schemeClr val="accent5">
                    <a:lumMod val="75000"/>
                  </a:schemeClr>
                </a:solidFill>
              </a:rPr>
              <a:t>SVCall_IRQn</a:t>
            </a:r>
            <a:r>
              <a:rPr lang="en-GB" altLang="zh-CN" sz="1400" b="1" dirty="0">
                <a:solidFill>
                  <a:schemeClr val="accent5">
                    <a:lumMod val="75000"/>
                  </a:schemeClr>
                </a:solidFill>
              </a:rPr>
              <a:t>           = -5,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11 Cortex-M3 SV Call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DebugMonitor_IRQn</a:t>
            </a:r>
            <a:r>
              <a:rPr lang="en-GB" altLang="zh-CN" sz="1400" b="1" dirty="0">
                <a:solidFill>
                  <a:schemeClr val="accent5">
                    <a:lumMod val="75000"/>
                  </a:schemeClr>
                </a:solidFill>
              </a:rPr>
              <a:t>     = -4,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12 Cortex-M3 Debug Monitor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PendSV_IRQn</a:t>
            </a:r>
            <a:r>
              <a:rPr lang="en-GB" altLang="zh-CN" sz="1400" b="1" dirty="0">
                <a:solidFill>
                  <a:schemeClr val="accent5">
                    <a:lumMod val="75000"/>
                  </a:schemeClr>
                </a:solidFill>
              </a:rPr>
              <a:t>           = -2,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smtClean="0"/>
              <a:t>/*!&lt; </a:t>
            </a:r>
            <a:r>
              <a:rPr lang="en-GB" altLang="zh-CN" sz="1400" b="1" dirty="0"/>
              <a:t>14 Cortex-M3 Pend SV Interrupt          */</a:t>
            </a:r>
          </a:p>
          <a:p>
            <a:r>
              <a:rPr lang="en-GB" altLang="zh-CN" sz="1400" b="1" dirty="0"/>
              <a:t>  </a:t>
            </a:r>
            <a:r>
              <a:rPr lang="en-GB" altLang="zh-CN" sz="1400" b="1" dirty="0" err="1">
                <a:solidFill>
                  <a:schemeClr val="accent5">
                    <a:lumMod val="75000"/>
                  </a:schemeClr>
                </a:solidFill>
              </a:rPr>
              <a:t>SysTick_IRQn</a:t>
            </a:r>
            <a:r>
              <a:rPr lang="en-GB" altLang="zh-CN" sz="1400" b="1" dirty="0">
                <a:solidFill>
                  <a:schemeClr val="accent5">
                    <a:lumMod val="75000"/>
                  </a:schemeClr>
                </a:solidFill>
              </a:rPr>
              <a:t>         = -1,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15 Cortex-M3 System Tick Interrupt        */</a:t>
            </a:r>
          </a:p>
        </p:txBody>
      </p:sp>
      <p:sp>
        <p:nvSpPr>
          <p:cNvPr id="16" name="矩形 15"/>
          <p:cNvSpPr/>
          <p:nvPr/>
        </p:nvSpPr>
        <p:spPr>
          <a:xfrm>
            <a:off x="216916" y="1345792"/>
            <a:ext cx="3476626" cy="3539430"/>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smtClean="0">
                <a:solidFill>
                  <a:prstClr val="black"/>
                </a:solidFill>
                <a:ea typeface="楷体" pitchFamily="49" charset="-122"/>
              </a:rPr>
              <a:t>与</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内核有关的异常中断</a:t>
            </a:r>
            <a:r>
              <a:rPr lang="zh-CN" altLang="en-US" sz="1600" b="1" dirty="0" smtClean="0">
                <a:solidFill>
                  <a:prstClr val="black"/>
                </a:solidFill>
                <a:ea typeface="楷体" pitchFamily="49" charset="-122"/>
              </a:rPr>
              <a:t>，由</a:t>
            </a:r>
            <a:r>
              <a:rPr lang="en-US" altLang="zh-CN" sz="1600" b="1" dirty="0">
                <a:solidFill>
                  <a:prstClr val="black"/>
                </a:solidFill>
                <a:ea typeface="楷体" pitchFamily="49" charset="-122"/>
              </a:rPr>
              <a:t>ARM</a:t>
            </a:r>
            <a:r>
              <a:rPr lang="zh-CN" altLang="en-US" sz="1600" b="1" dirty="0">
                <a:solidFill>
                  <a:prstClr val="black"/>
                </a:solidFill>
                <a:ea typeface="楷体" pitchFamily="49" charset="-122"/>
              </a:rPr>
              <a:t>公司统一</a:t>
            </a:r>
            <a:r>
              <a:rPr lang="zh-CN" altLang="en-US" sz="1600" b="1" dirty="0" smtClean="0">
                <a:solidFill>
                  <a:prstClr val="black"/>
                </a:solidFill>
                <a:ea typeface="楷体" pitchFamily="49" charset="-122"/>
              </a:rPr>
              <a:t>定义，</a:t>
            </a:r>
            <a:r>
              <a:rPr lang="zh-CN" altLang="en-US" sz="1600" b="1" dirty="0">
                <a:solidFill>
                  <a:prstClr val="black"/>
                </a:solidFill>
                <a:ea typeface="楷体" pitchFamily="49" charset="-122"/>
              </a:rPr>
              <a:t>编号均小于</a:t>
            </a:r>
            <a:r>
              <a:rPr lang="en-US" altLang="zh-CN" sz="1600" b="1" dirty="0">
                <a:solidFill>
                  <a:prstClr val="black"/>
                </a:solidFill>
                <a:ea typeface="楷体" pitchFamily="49" charset="-122"/>
              </a:rPr>
              <a:t>0</a:t>
            </a:r>
            <a:r>
              <a:rPr lang="zh-CN" altLang="en-US" sz="1600" b="1" dirty="0">
                <a:solidFill>
                  <a:prstClr val="black"/>
                </a:solidFill>
                <a:ea typeface="楷体" pitchFamily="49" charset="-122"/>
              </a:rPr>
              <a:t>，编号越小，意味着中断优先级越高。</a:t>
            </a:r>
            <a:r>
              <a:rPr lang="en-US" altLang="zh-CN" sz="1600" b="1" dirty="0">
                <a:solidFill>
                  <a:prstClr val="black"/>
                </a:solidFill>
                <a:ea typeface="楷体" pitchFamily="49" charset="-122"/>
              </a:rPr>
              <a:t>ARM</a:t>
            </a:r>
            <a:r>
              <a:rPr lang="zh-CN" altLang="en-US" sz="1600" b="1" dirty="0">
                <a:solidFill>
                  <a:prstClr val="black"/>
                </a:solidFill>
                <a:ea typeface="楷体" pitchFamily="49" charset="-122"/>
              </a:rPr>
              <a:t>公司设计的</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内核可支持</a:t>
            </a:r>
            <a:r>
              <a:rPr lang="en-US" altLang="zh-CN" sz="1600" b="1" dirty="0">
                <a:solidFill>
                  <a:prstClr val="black"/>
                </a:solidFill>
                <a:ea typeface="楷体" pitchFamily="49" charset="-122"/>
              </a:rPr>
              <a:t>256</a:t>
            </a:r>
            <a:r>
              <a:rPr lang="zh-CN" altLang="en-US" sz="1600" b="1" dirty="0">
                <a:solidFill>
                  <a:prstClr val="black"/>
                </a:solidFill>
                <a:ea typeface="楷体" pitchFamily="49" charset="-122"/>
              </a:rPr>
              <a:t>个中断，包括</a:t>
            </a:r>
            <a:r>
              <a:rPr lang="en-US" altLang="zh-CN" sz="1600" b="1" dirty="0">
                <a:solidFill>
                  <a:prstClr val="black"/>
                </a:solidFill>
                <a:ea typeface="楷体" pitchFamily="49" charset="-122"/>
              </a:rPr>
              <a:t>15</a:t>
            </a:r>
            <a:r>
              <a:rPr lang="zh-CN" altLang="en-US" sz="1600" b="1" dirty="0">
                <a:solidFill>
                  <a:prstClr val="black"/>
                </a:solidFill>
                <a:ea typeface="楷体" pitchFamily="49" charset="-122"/>
              </a:rPr>
              <a:t>个内核中断和</a:t>
            </a:r>
            <a:r>
              <a:rPr lang="en-US" altLang="zh-CN" sz="1600" b="1" dirty="0">
                <a:solidFill>
                  <a:prstClr val="black"/>
                </a:solidFill>
                <a:ea typeface="楷体" pitchFamily="49" charset="-122"/>
              </a:rPr>
              <a:t>240</a:t>
            </a:r>
            <a:r>
              <a:rPr lang="zh-CN" altLang="en-US" sz="1600" b="1" dirty="0">
                <a:solidFill>
                  <a:prstClr val="black"/>
                </a:solidFill>
                <a:ea typeface="楷体" pitchFamily="49" charset="-122"/>
              </a:rPr>
              <a:t>个外部中断，并具有</a:t>
            </a:r>
            <a:r>
              <a:rPr lang="en-US" altLang="zh-CN" sz="1600" b="1" dirty="0">
                <a:solidFill>
                  <a:prstClr val="black"/>
                </a:solidFill>
                <a:ea typeface="楷体" pitchFamily="49" charset="-122"/>
              </a:rPr>
              <a:t>256</a:t>
            </a:r>
            <a:r>
              <a:rPr lang="zh-CN" altLang="en-US" sz="1600" b="1" dirty="0">
                <a:solidFill>
                  <a:prstClr val="black"/>
                </a:solidFill>
                <a:ea typeface="楷体" pitchFamily="49" charset="-122"/>
              </a:rPr>
              <a:t>级的可编程中断优先级设置，即除了</a:t>
            </a:r>
            <a:r>
              <a:rPr lang="en-US" altLang="zh-CN" sz="1600" b="1" dirty="0">
                <a:solidFill>
                  <a:prstClr val="black"/>
                </a:solidFill>
                <a:ea typeface="楷体" pitchFamily="49" charset="-122"/>
              </a:rPr>
              <a:t>3</a:t>
            </a:r>
            <a:r>
              <a:rPr lang="zh-CN" altLang="en-US" sz="1600" b="1" dirty="0">
                <a:solidFill>
                  <a:prstClr val="black"/>
                </a:solidFill>
                <a:ea typeface="楷体" pitchFamily="49" charset="-122"/>
              </a:rPr>
              <a:t>个固定的高优先级（</a:t>
            </a:r>
            <a:r>
              <a:rPr lang="en-US" altLang="zh-CN" sz="1600" b="1" dirty="0">
                <a:solidFill>
                  <a:prstClr val="black"/>
                </a:solidFill>
                <a:ea typeface="楷体" pitchFamily="49" charset="-122"/>
              </a:rPr>
              <a:t>Reset</a:t>
            </a:r>
            <a:r>
              <a:rPr lang="zh-CN" altLang="en-US" sz="1600" b="1" dirty="0">
                <a:solidFill>
                  <a:prstClr val="black"/>
                </a:solidFill>
                <a:ea typeface="楷体" pitchFamily="49" charset="-122"/>
              </a:rPr>
              <a:t>、</a:t>
            </a:r>
            <a:r>
              <a:rPr lang="en-US" altLang="zh-CN" sz="1600" b="1" dirty="0">
                <a:solidFill>
                  <a:prstClr val="black"/>
                </a:solidFill>
                <a:ea typeface="楷体" pitchFamily="49" charset="-122"/>
              </a:rPr>
              <a:t>NMI</a:t>
            </a:r>
            <a:r>
              <a:rPr lang="zh-CN" altLang="en-US" sz="1600" b="1" dirty="0">
                <a:solidFill>
                  <a:prstClr val="black"/>
                </a:solidFill>
                <a:ea typeface="楷体" pitchFamily="49" charset="-122"/>
              </a:rPr>
              <a:t>、硬件失效），其他中断和异常的优先级是可以由用户设置的。</a:t>
            </a:r>
            <a:r>
              <a:rPr lang="zh-CN" altLang="en-US" sz="1600" b="1" dirty="0" smtClean="0">
                <a:solidFill>
                  <a:prstClr val="black"/>
                </a:solidFill>
                <a:ea typeface="楷体" pitchFamily="49" charset="-122"/>
              </a:rPr>
              <a:t>但使用</a:t>
            </a:r>
            <a:r>
              <a:rPr lang="en-US" altLang="zh-CN" sz="1600" b="1" dirty="0">
                <a:solidFill>
                  <a:prstClr val="black"/>
                </a:solidFill>
                <a:ea typeface="楷体" pitchFamily="49" charset="-122"/>
              </a:rPr>
              <a:t>Cortex-M3</a:t>
            </a:r>
            <a:r>
              <a:rPr lang="zh-CN" altLang="en-US" sz="1600" b="1" dirty="0">
                <a:solidFill>
                  <a:prstClr val="black"/>
                </a:solidFill>
                <a:ea typeface="楷体" pitchFamily="49" charset="-122"/>
              </a:rPr>
              <a:t>内核的芯片制造商（如</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a:t>
            </a:r>
            <a:r>
              <a:rPr lang="en-US" altLang="zh-CN" sz="1600" b="1" dirty="0">
                <a:solidFill>
                  <a:prstClr val="black"/>
                </a:solidFill>
                <a:ea typeface="楷体" pitchFamily="49" charset="-122"/>
              </a:rPr>
              <a:t>NXP</a:t>
            </a:r>
            <a:r>
              <a:rPr lang="zh-CN" altLang="en-US" sz="1600" b="1" dirty="0">
                <a:solidFill>
                  <a:prstClr val="black"/>
                </a:solidFill>
                <a:ea typeface="楷体" pitchFamily="49" charset="-122"/>
              </a:rPr>
              <a:t>公司等</a:t>
            </a:r>
            <a:r>
              <a:rPr lang="zh-CN" altLang="en-US" sz="1600" b="1" dirty="0" smtClean="0">
                <a:solidFill>
                  <a:prstClr val="black"/>
                </a:solidFill>
                <a:ea typeface="楷体" pitchFamily="49" charset="-122"/>
              </a:rPr>
              <a:t>）往往不</a:t>
            </a:r>
            <a:r>
              <a:rPr lang="zh-CN" altLang="en-US" sz="1600" b="1" dirty="0">
                <a:solidFill>
                  <a:prstClr val="black"/>
                </a:solidFill>
                <a:ea typeface="楷体" pitchFamily="49" charset="-122"/>
              </a:rPr>
              <a:t>需要用到那么多中断，</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根据需求针对具体的</a:t>
            </a:r>
            <a:r>
              <a:rPr lang="en-US" altLang="zh-CN" sz="1600" b="1" dirty="0">
                <a:solidFill>
                  <a:prstClr val="black"/>
                </a:solidFill>
                <a:ea typeface="楷体" pitchFamily="49" charset="-122"/>
              </a:rPr>
              <a:t>MCU</a:t>
            </a:r>
            <a:r>
              <a:rPr lang="zh-CN" altLang="en-US" sz="1600" b="1" dirty="0">
                <a:solidFill>
                  <a:prstClr val="black"/>
                </a:solidFill>
                <a:ea typeface="楷体" pitchFamily="49" charset="-122"/>
              </a:rPr>
              <a:t>进行了裁剪。</a:t>
            </a:r>
          </a:p>
        </p:txBody>
      </p:sp>
    </p:spTree>
    <p:extLst>
      <p:ext uri="{BB962C8B-B14F-4D97-AF65-F5344CB8AC3E}">
        <p14:creationId xmlns:p14="http://schemas.microsoft.com/office/powerpoint/2010/main" val="14353318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623512" y="1139326"/>
            <a:ext cx="2674130" cy="461665"/>
          </a:xfrm>
          <a:prstGeom prst="rect">
            <a:avLst/>
          </a:prstGeom>
        </p:spPr>
        <p:txBody>
          <a:bodyPr wrap="none">
            <a:spAutoFit/>
          </a:bodyPr>
          <a:lstStyle/>
          <a:p>
            <a:r>
              <a:rPr lang="en-US" altLang="zh-CN" sz="2400" b="1" dirty="0">
                <a:solidFill>
                  <a:srgbClr val="D38583"/>
                </a:solidFill>
                <a:ea typeface="隶书" pitchFamily="49" charset="-122"/>
              </a:rPr>
              <a:t>MCU</a:t>
            </a:r>
            <a:r>
              <a:rPr lang="zh-CN" altLang="zh-CN" sz="2400" b="1" dirty="0">
                <a:solidFill>
                  <a:srgbClr val="D38583"/>
                </a:solidFill>
                <a:ea typeface="隶书" pitchFamily="49" charset="-122"/>
              </a:rPr>
              <a:t>中断向量定义</a:t>
            </a:r>
            <a:endParaRPr lang="zh-CN" altLang="zh-CN" sz="2400" dirty="0">
              <a:solidFill>
                <a:srgbClr val="D38583"/>
              </a:solidFill>
              <a:ea typeface="隶书" pitchFamily="49" charset="-122"/>
            </a:endParaRPr>
          </a:p>
        </p:txBody>
      </p:sp>
      <p:sp>
        <p:nvSpPr>
          <p:cNvPr id="3" name="矩形 2"/>
          <p:cNvSpPr/>
          <p:nvPr/>
        </p:nvSpPr>
        <p:spPr>
          <a:xfrm>
            <a:off x="3851920" y="622260"/>
            <a:ext cx="5112568" cy="4185761"/>
          </a:xfrm>
          <a:prstGeom prst="rect">
            <a:avLst/>
          </a:prstGeom>
        </p:spPr>
        <p:txBody>
          <a:bodyPr wrap="square">
            <a:spAutoFit/>
          </a:bodyPr>
          <a:lstStyle/>
          <a:p>
            <a:r>
              <a:rPr lang="en-GB" altLang="zh-CN" sz="1400" b="1" dirty="0" smtClean="0"/>
              <a:t>       /**  </a:t>
            </a:r>
            <a:r>
              <a:rPr lang="en-GB" altLang="zh-CN" sz="1400" b="1" dirty="0"/>
              <a:t>STM32 specific Interrupt Numbers </a:t>
            </a:r>
            <a:r>
              <a:rPr lang="en-GB" altLang="zh-CN" sz="1400" b="1" dirty="0" smtClean="0"/>
              <a:t>******/</a:t>
            </a:r>
            <a:endParaRPr lang="en-GB" altLang="zh-CN" sz="1400" b="1" dirty="0"/>
          </a:p>
          <a:p>
            <a:r>
              <a:rPr lang="en-GB" altLang="zh-CN" sz="1400" b="1" dirty="0"/>
              <a:t>  </a:t>
            </a:r>
            <a:r>
              <a:rPr lang="en-GB" altLang="zh-CN" sz="1400" b="1" dirty="0" err="1">
                <a:solidFill>
                  <a:schemeClr val="accent5">
                    <a:lumMod val="75000"/>
                  </a:schemeClr>
                </a:solidFill>
              </a:rPr>
              <a:t>WWDG_IRQn</a:t>
            </a:r>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solidFill>
                  <a:schemeClr val="accent5">
                    <a:lumMod val="75000"/>
                  </a:schemeClr>
                </a:solidFill>
              </a:rPr>
              <a:t>= 0,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Window </a:t>
            </a:r>
            <a:r>
              <a:rPr lang="en-GB" altLang="zh-CN" sz="1400" b="1" dirty="0" err="1"/>
              <a:t>WatchDog</a:t>
            </a:r>
            <a:r>
              <a:rPr lang="en-GB" altLang="zh-CN" sz="1400" b="1" dirty="0"/>
              <a:t> Interrupt            */</a:t>
            </a:r>
          </a:p>
          <a:p>
            <a:r>
              <a:rPr lang="en-GB" altLang="zh-CN" sz="1400" b="1" dirty="0"/>
              <a:t>  </a:t>
            </a:r>
            <a:r>
              <a:rPr lang="en-GB" altLang="zh-CN" sz="1400" b="1" dirty="0" err="1">
                <a:solidFill>
                  <a:schemeClr val="accent5">
                    <a:lumMod val="75000"/>
                  </a:schemeClr>
                </a:solidFill>
              </a:rPr>
              <a:t>PVD_IRQn</a:t>
            </a:r>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solidFill>
                  <a:schemeClr val="accent5">
                    <a:lumMod val="75000"/>
                  </a:schemeClr>
                </a:solidFill>
              </a:rPr>
              <a:t>= 1,    </a:t>
            </a:r>
            <a:endParaRPr lang="en-GB" altLang="zh-CN" sz="1400" b="1" dirty="0" smtClean="0">
              <a:solidFill>
                <a:schemeClr val="accent5">
                  <a:lumMod val="75000"/>
                </a:schemeClr>
              </a:solidFill>
            </a:endParaRPr>
          </a:p>
          <a:p>
            <a:r>
              <a:rPr lang="en-GB" altLang="zh-CN" sz="1400" b="1" dirty="0"/>
              <a:t> </a:t>
            </a:r>
            <a:r>
              <a:rPr lang="en-GB" altLang="zh-CN" sz="1400" b="1" dirty="0" smtClean="0"/>
              <a:t>      </a:t>
            </a:r>
            <a:r>
              <a:rPr lang="en-GB" altLang="zh-CN" sz="1400" b="1" dirty="0"/>
              <a:t>/*!&lt; PVD through EXTI Line detection Interrupt  */</a:t>
            </a:r>
          </a:p>
          <a:p>
            <a:r>
              <a:rPr lang="en-GB" altLang="zh-CN" sz="1400" b="1" dirty="0"/>
              <a:t>  </a:t>
            </a:r>
            <a:r>
              <a:rPr lang="en-GB" altLang="zh-CN" sz="1400" b="1" dirty="0" err="1">
                <a:solidFill>
                  <a:schemeClr val="accent5">
                    <a:lumMod val="75000"/>
                  </a:schemeClr>
                </a:solidFill>
              </a:rPr>
              <a:t>TAMPER_IRQn</a:t>
            </a:r>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solidFill>
                  <a:schemeClr val="accent5">
                    <a:lumMod val="75000"/>
                  </a:schemeClr>
                </a:solidFill>
              </a:rPr>
              <a:t>= 2,      </a:t>
            </a:r>
            <a:r>
              <a:rPr lang="en-GB" altLang="zh-CN" sz="1400" b="1" dirty="0"/>
              <a:t>/*!&lt; Tamper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RTC_IRQn</a:t>
            </a:r>
            <a:r>
              <a:rPr lang="en-GB" altLang="zh-CN" sz="1400" b="1" dirty="0">
                <a:solidFill>
                  <a:schemeClr val="accent5">
                    <a:lumMod val="75000"/>
                  </a:schemeClr>
                </a:solidFill>
              </a:rPr>
              <a:t>                    = 3,      </a:t>
            </a:r>
            <a:r>
              <a:rPr lang="en-GB" altLang="zh-CN" sz="1400" b="1" dirty="0"/>
              <a:t>/*!&lt; RTC global Interrupt                  */</a:t>
            </a:r>
          </a:p>
          <a:p>
            <a:r>
              <a:rPr lang="en-GB" altLang="zh-CN" sz="1400" b="1" dirty="0"/>
              <a:t>  </a:t>
            </a:r>
            <a:r>
              <a:rPr lang="en-GB" altLang="zh-CN" sz="1400" b="1" dirty="0" err="1">
                <a:solidFill>
                  <a:schemeClr val="accent5">
                    <a:lumMod val="75000"/>
                  </a:schemeClr>
                </a:solidFill>
              </a:rPr>
              <a:t>FLASH_IRQn</a:t>
            </a:r>
            <a:r>
              <a:rPr lang="en-GB" altLang="zh-CN" sz="1400" b="1" dirty="0">
                <a:solidFill>
                  <a:schemeClr val="accent5">
                    <a:lumMod val="75000"/>
                  </a:schemeClr>
                </a:solidFill>
              </a:rPr>
              <a:t>                  = 4,      </a:t>
            </a:r>
            <a:r>
              <a:rPr lang="en-GB" altLang="zh-CN" sz="1400" b="1" dirty="0"/>
              <a:t>/*!&lt; FLASH global Interrupt            */</a:t>
            </a:r>
          </a:p>
          <a:p>
            <a:r>
              <a:rPr lang="en-GB" altLang="zh-CN" sz="1400" b="1" dirty="0"/>
              <a:t>  </a:t>
            </a:r>
            <a:r>
              <a:rPr lang="en-GB" altLang="zh-CN" sz="1400" b="1" dirty="0" err="1">
                <a:solidFill>
                  <a:schemeClr val="accent5">
                    <a:lumMod val="75000"/>
                  </a:schemeClr>
                </a:solidFill>
              </a:rPr>
              <a:t>RCC_IRQn</a:t>
            </a:r>
            <a:r>
              <a:rPr lang="en-GB" altLang="zh-CN" sz="1400" b="1" dirty="0">
                <a:solidFill>
                  <a:schemeClr val="accent5">
                    <a:lumMod val="75000"/>
                  </a:schemeClr>
                </a:solidFill>
              </a:rPr>
              <a:t>                    = 5,      </a:t>
            </a:r>
            <a:r>
              <a:rPr lang="en-GB" altLang="zh-CN" sz="1400" b="1" dirty="0"/>
              <a:t>/*!&lt; RCC global Interrupt               */</a:t>
            </a:r>
          </a:p>
          <a:p>
            <a:r>
              <a:rPr lang="en-GB" altLang="zh-CN" sz="1400" b="1" dirty="0"/>
              <a:t>  </a:t>
            </a:r>
            <a:r>
              <a:rPr lang="en-GB" altLang="zh-CN" sz="1400" b="1" dirty="0">
                <a:solidFill>
                  <a:schemeClr val="accent5">
                    <a:lumMod val="75000"/>
                  </a:schemeClr>
                </a:solidFill>
              </a:rPr>
              <a:t>EXTI0_IRQn                  = 6,      </a:t>
            </a:r>
            <a:r>
              <a:rPr lang="en-GB" altLang="zh-CN" sz="1400" b="1" dirty="0"/>
              <a:t>/*!&lt; EXTI Line0 Interrupt            */</a:t>
            </a:r>
          </a:p>
          <a:p>
            <a:r>
              <a:rPr lang="en-GB" altLang="zh-CN" sz="1400" b="1" dirty="0"/>
              <a:t>  </a:t>
            </a:r>
            <a:r>
              <a:rPr lang="en-GB" altLang="zh-CN" sz="1400" b="1" dirty="0">
                <a:solidFill>
                  <a:schemeClr val="accent5">
                    <a:lumMod val="75000"/>
                  </a:schemeClr>
                </a:solidFill>
              </a:rPr>
              <a:t>EXTI1_IRQn                  = 7,      </a:t>
            </a:r>
            <a:r>
              <a:rPr lang="en-GB" altLang="zh-CN" sz="1400" b="1" dirty="0"/>
              <a:t>/*!&lt; EXTI Line1 Interrupt                  */</a:t>
            </a:r>
          </a:p>
          <a:p>
            <a:r>
              <a:rPr lang="en-GB" altLang="zh-CN" sz="1400" b="1" dirty="0" smtClean="0">
                <a:solidFill>
                  <a:schemeClr val="accent5">
                    <a:lumMod val="75000"/>
                  </a:schemeClr>
                </a:solidFill>
              </a:rPr>
              <a:t>  </a:t>
            </a:r>
          </a:p>
          <a:p>
            <a:r>
              <a:rPr lang="en-GB" altLang="zh-CN" sz="1400" b="1" dirty="0" smtClean="0">
                <a:solidFill>
                  <a:schemeClr val="accent5">
                    <a:lumMod val="75000"/>
                  </a:schemeClr>
                </a:solidFill>
              </a:rPr>
              <a:t>     …… ………    ..</a:t>
            </a:r>
          </a:p>
          <a:p>
            <a:endParaRPr lang="en-GB" altLang="zh-CN" sz="1400" b="1" dirty="0" smtClean="0">
              <a:solidFill>
                <a:schemeClr val="accent5">
                  <a:lumMod val="75000"/>
                </a:schemeClr>
              </a:solidFill>
            </a:endParaRPr>
          </a:p>
          <a:p>
            <a:r>
              <a:rPr lang="en-GB" altLang="zh-CN" sz="1400" b="1" dirty="0" smtClean="0">
                <a:solidFill>
                  <a:schemeClr val="accent5">
                    <a:lumMod val="75000"/>
                  </a:schemeClr>
                </a:solidFill>
              </a:rPr>
              <a:t>  DMA2_Channel3_IRQn     </a:t>
            </a:r>
            <a:r>
              <a:rPr lang="en-GB" altLang="zh-CN" sz="1400" b="1" dirty="0">
                <a:solidFill>
                  <a:schemeClr val="accent5">
                    <a:lumMod val="75000"/>
                  </a:schemeClr>
                </a:solidFill>
              </a:rPr>
              <a:t>= 58,   </a:t>
            </a:r>
            <a:endParaRPr lang="en-GB" altLang="zh-CN" sz="1400" b="1" dirty="0" smtClean="0">
              <a:solidFill>
                <a:schemeClr val="accent5">
                  <a:lumMod val="75000"/>
                </a:schemeClr>
              </a:solidFill>
            </a:endParaRPr>
          </a:p>
          <a:p>
            <a:r>
              <a:rPr lang="en-GB" altLang="zh-CN" sz="1400" b="1" dirty="0" smtClean="0"/>
              <a:t>        /*!&lt; </a:t>
            </a:r>
            <a:r>
              <a:rPr lang="en-GB" altLang="zh-CN" sz="1400" b="1" dirty="0"/>
              <a:t>DMA2 Channel 3 global Interrupt                      */</a:t>
            </a:r>
          </a:p>
          <a:p>
            <a:r>
              <a:rPr lang="en-GB" altLang="zh-CN" sz="1400" b="1" dirty="0"/>
              <a:t>  </a:t>
            </a:r>
            <a:r>
              <a:rPr lang="en-GB" altLang="zh-CN" sz="1400" b="1" dirty="0">
                <a:solidFill>
                  <a:schemeClr val="accent5">
                    <a:lumMod val="75000"/>
                  </a:schemeClr>
                </a:solidFill>
              </a:rPr>
              <a:t>DMA2_Channel4_5_IRQn   = 59,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/*!&lt; DMA2 Channel 4 and Channel 5 global Interrupt        */</a:t>
            </a:r>
          </a:p>
          <a:p>
            <a:r>
              <a:rPr lang="en-GB" altLang="zh-CN" sz="1400" b="1" dirty="0">
                <a:solidFill>
                  <a:schemeClr val="accent5">
                    <a:lumMod val="75000"/>
                  </a:schemeClr>
                </a:solidFill>
              </a:rPr>
              <a:t>} </a:t>
            </a:r>
            <a:r>
              <a:rPr lang="en-GB" altLang="zh-CN" sz="1400" b="1" dirty="0" err="1">
                <a:solidFill>
                  <a:schemeClr val="accent5">
                    <a:lumMod val="75000"/>
                  </a:schemeClr>
                </a:solidFill>
              </a:rPr>
              <a:t>IRQn_Type</a:t>
            </a:r>
            <a:r>
              <a:rPr lang="en-GB" altLang="zh-CN" sz="1400" b="1" dirty="0">
                <a:solidFill>
                  <a:schemeClr val="accent5">
                    <a:lumMod val="75000"/>
                  </a:schemeClr>
                </a:solidFill>
              </a:rPr>
              <a:t>;</a:t>
            </a:r>
          </a:p>
        </p:txBody>
      </p:sp>
      <p:sp>
        <p:nvSpPr>
          <p:cNvPr id="16" name="矩形 15"/>
          <p:cNvSpPr/>
          <p:nvPr/>
        </p:nvSpPr>
        <p:spPr>
          <a:xfrm>
            <a:off x="623512" y="1930310"/>
            <a:ext cx="2956388" cy="1569660"/>
          </a:xfrm>
          <a:prstGeom prst="rect">
            <a:avLst/>
          </a:prstGeom>
          <a:solidFill>
            <a:srgbClr val="F7EAE9"/>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a:solidFill>
                  <a:prstClr val="black"/>
                </a:solidFill>
                <a:ea typeface="楷体" pitchFamily="49" charset="-122"/>
              </a:rPr>
              <a:t>STM32</a:t>
            </a:r>
            <a:r>
              <a:rPr lang="zh-CN" altLang="en-US" sz="1600" b="1" dirty="0">
                <a:solidFill>
                  <a:prstClr val="black"/>
                </a:solidFill>
                <a:ea typeface="楷体" pitchFamily="49" charset="-122"/>
              </a:rPr>
              <a:t>的中断向量表，这个是由</a:t>
            </a:r>
            <a:r>
              <a:rPr lang="en-US" altLang="zh-CN" sz="1600" b="1" dirty="0">
                <a:solidFill>
                  <a:prstClr val="black"/>
                </a:solidFill>
                <a:ea typeface="楷体" pitchFamily="49" charset="-122"/>
              </a:rPr>
              <a:t>ST</a:t>
            </a:r>
            <a:r>
              <a:rPr lang="zh-CN" altLang="en-US" sz="1600" b="1" dirty="0">
                <a:solidFill>
                  <a:prstClr val="black"/>
                </a:solidFill>
                <a:ea typeface="楷体" pitchFamily="49" charset="-122"/>
              </a:rPr>
              <a:t>公司针对具体的</a:t>
            </a:r>
            <a:r>
              <a:rPr lang="en-US" altLang="zh-CN" sz="1600" b="1" dirty="0">
                <a:solidFill>
                  <a:prstClr val="black"/>
                </a:solidFill>
                <a:ea typeface="楷体" pitchFamily="49" charset="-122"/>
              </a:rPr>
              <a:t>STM32</a:t>
            </a:r>
            <a:r>
              <a:rPr lang="zh-CN" altLang="en-US" sz="1600" b="1" dirty="0">
                <a:solidFill>
                  <a:prstClr val="black"/>
                </a:solidFill>
                <a:ea typeface="楷体" pitchFamily="49" charset="-122"/>
              </a:rPr>
              <a:t>芯片设计的中断，</a:t>
            </a:r>
            <a:r>
              <a:rPr lang="en-US" altLang="zh-CN" sz="1600" b="1" dirty="0">
                <a:solidFill>
                  <a:prstClr val="black"/>
                </a:solidFill>
                <a:ea typeface="楷体" pitchFamily="49" charset="-122"/>
              </a:rPr>
              <a:t>STM32F103</a:t>
            </a:r>
            <a:r>
              <a:rPr lang="zh-CN" altLang="en-US" sz="1600" b="1" dirty="0">
                <a:solidFill>
                  <a:prstClr val="black"/>
                </a:solidFill>
                <a:ea typeface="楷体" pitchFamily="49" charset="-122"/>
              </a:rPr>
              <a:t>系列芯片有</a:t>
            </a:r>
            <a:r>
              <a:rPr lang="en-US" altLang="zh-CN" sz="1600" b="1" dirty="0">
                <a:solidFill>
                  <a:prstClr val="black"/>
                </a:solidFill>
                <a:ea typeface="楷体" pitchFamily="49" charset="-122"/>
              </a:rPr>
              <a:t>60</a:t>
            </a:r>
            <a:r>
              <a:rPr lang="zh-CN" altLang="en-US" sz="1600" b="1" dirty="0">
                <a:solidFill>
                  <a:prstClr val="black"/>
                </a:solidFill>
                <a:ea typeface="楷体" pitchFamily="49" charset="-122"/>
              </a:rPr>
              <a:t>个可屏蔽中断，中断向量编号为</a:t>
            </a:r>
            <a:r>
              <a:rPr lang="en-US" altLang="zh-CN" sz="1600" b="1" dirty="0">
                <a:solidFill>
                  <a:prstClr val="black"/>
                </a:solidFill>
                <a:ea typeface="楷体" pitchFamily="49" charset="-122"/>
              </a:rPr>
              <a:t>0~59</a:t>
            </a:r>
            <a:r>
              <a:rPr lang="zh-CN" altLang="en-US" sz="1600" b="1" dirty="0">
                <a:solidFill>
                  <a:prstClr val="black"/>
                </a:solidFill>
                <a:ea typeface="楷体" pitchFamily="49" charset="-122"/>
              </a:rPr>
              <a:t>。</a:t>
            </a:r>
          </a:p>
        </p:txBody>
      </p:sp>
    </p:spTree>
    <p:extLst>
      <p:ext uri="{BB962C8B-B14F-4D97-AF65-F5344CB8AC3E}">
        <p14:creationId xmlns:p14="http://schemas.microsoft.com/office/powerpoint/2010/main" val="1758958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635896" y="742295"/>
            <a:ext cx="5049090" cy="4401205"/>
          </a:xfrm>
          <a:prstGeom prst="rect">
            <a:avLst/>
          </a:prstGeom>
        </p:spPr>
        <p:txBody>
          <a:bodyPr wrap="square">
            <a:spAutoFit/>
          </a:bodyPr>
          <a:lstStyle/>
          <a:p>
            <a:pPr lvl="0"/>
            <a:r>
              <a:rPr lang="en-US" altLang="zh-CN" sz="1400" b="1" dirty="0" smtClean="0">
                <a:solidFill>
                  <a:srgbClr val="4BACC6">
                    <a:lumMod val="75000"/>
                  </a:srgbClr>
                </a:solidFill>
              </a:rPr>
              <a:t>  __</a:t>
            </a:r>
            <a:r>
              <a:rPr lang="en-US" altLang="zh-CN" sz="1400" b="1" dirty="0">
                <a:solidFill>
                  <a:srgbClr val="4BACC6">
                    <a:lumMod val="75000"/>
                  </a:srgbClr>
                </a:solidFill>
              </a:rPr>
              <a:t>IO uint32_t SQR2;</a:t>
            </a:r>
          </a:p>
          <a:p>
            <a:pPr lvl="0"/>
            <a:r>
              <a:rPr lang="en-US" altLang="zh-CN" sz="1400" b="1" dirty="0">
                <a:solidFill>
                  <a:srgbClr val="4BACC6">
                    <a:lumMod val="75000"/>
                  </a:srgbClr>
                </a:solidFill>
              </a:rPr>
              <a:t>  __IO uint32_t SQR3;</a:t>
            </a:r>
          </a:p>
          <a:p>
            <a:pPr lvl="0"/>
            <a:r>
              <a:rPr lang="en-US" altLang="zh-CN" sz="1400" b="1" dirty="0">
                <a:solidFill>
                  <a:srgbClr val="4BACC6">
                    <a:lumMod val="75000"/>
                  </a:srgbClr>
                </a:solidFill>
              </a:rPr>
              <a:t>  __IO uint32_t JSQR;</a:t>
            </a:r>
          </a:p>
          <a:p>
            <a:pPr lvl="0"/>
            <a:r>
              <a:rPr lang="en-US" altLang="zh-CN" sz="1400" b="1" dirty="0">
                <a:solidFill>
                  <a:srgbClr val="4BACC6">
                    <a:lumMod val="75000"/>
                  </a:srgbClr>
                </a:solidFill>
              </a:rPr>
              <a:t>  __IO uint32_t JDR1;</a:t>
            </a:r>
          </a:p>
          <a:p>
            <a:pPr lvl="0"/>
            <a:r>
              <a:rPr lang="en-US" altLang="zh-CN" sz="1400" b="1" dirty="0">
                <a:solidFill>
                  <a:srgbClr val="4BACC6">
                    <a:lumMod val="75000"/>
                  </a:srgbClr>
                </a:solidFill>
              </a:rPr>
              <a:t>  __IO uint32_t JDR2;</a:t>
            </a:r>
          </a:p>
          <a:p>
            <a:pPr lvl="0"/>
            <a:r>
              <a:rPr lang="en-US" altLang="zh-CN" sz="1400" b="1" dirty="0">
                <a:solidFill>
                  <a:srgbClr val="4BACC6">
                    <a:lumMod val="75000"/>
                  </a:srgbClr>
                </a:solidFill>
              </a:rPr>
              <a:t>  __IO uint32_t JDR3;</a:t>
            </a:r>
          </a:p>
          <a:p>
            <a:pPr lvl="0"/>
            <a:r>
              <a:rPr lang="en-US" altLang="zh-CN" sz="1400" b="1" dirty="0">
                <a:solidFill>
                  <a:srgbClr val="4BACC6">
                    <a:lumMod val="75000"/>
                  </a:srgbClr>
                </a:solidFill>
              </a:rPr>
              <a:t>  __IO uint32_t JDR4;</a:t>
            </a:r>
          </a:p>
          <a:p>
            <a:pPr lvl="0"/>
            <a:r>
              <a:rPr lang="en-US" altLang="zh-CN" sz="1400" b="1" dirty="0">
                <a:solidFill>
                  <a:srgbClr val="4BACC6">
                    <a:lumMod val="75000"/>
                  </a:srgbClr>
                </a:solidFill>
              </a:rPr>
              <a:t>  __IO uint32_t DR;</a:t>
            </a:r>
          </a:p>
          <a:p>
            <a:pPr lvl="0"/>
            <a:r>
              <a:rPr lang="en-US" altLang="zh-CN" sz="1400" b="1" dirty="0">
                <a:solidFill>
                  <a:srgbClr val="4BACC6">
                    <a:lumMod val="75000"/>
                  </a:srgbClr>
                </a:solidFill>
              </a:rPr>
              <a:t>} </a:t>
            </a:r>
            <a:r>
              <a:rPr lang="en-US" altLang="zh-CN" sz="1400" b="1" dirty="0" err="1">
                <a:solidFill>
                  <a:srgbClr val="4BACC6">
                    <a:lumMod val="75000"/>
                  </a:srgbClr>
                </a:solidFill>
              </a:rPr>
              <a:t>ADC_TypeDef</a:t>
            </a:r>
            <a:r>
              <a:rPr lang="en-US" altLang="zh-CN" sz="1400" b="1" dirty="0">
                <a:solidFill>
                  <a:srgbClr val="4BACC6">
                    <a:lumMod val="75000"/>
                  </a:srgbClr>
                </a:solidFill>
              </a:rPr>
              <a:t>;</a:t>
            </a:r>
          </a:p>
          <a:p>
            <a:pPr lvl="0"/>
            <a:r>
              <a:rPr lang="en-US" altLang="zh-CN" sz="1400" b="1" dirty="0" smtClean="0">
                <a:solidFill>
                  <a:srgbClr val="4BACC6">
                    <a:lumMod val="75000"/>
                  </a:srgbClr>
                </a:solidFill>
              </a:rPr>
              <a:t>……</a:t>
            </a:r>
          </a:p>
          <a:p>
            <a:pPr lvl="0"/>
            <a:r>
              <a:rPr lang="en-US" altLang="zh-CN" sz="1400" b="1" dirty="0" err="1" smtClean="0">
                <a:solidFill>
                  <a:srgbClr val="4BACC6">
                    <a:lumMod val="75000"/>
                  </a:srgbClr>
                </a:solidFill>
              </a:rPr>
              <a:t>typedef</a:t>
            </a:r>
            <a:r>
              <a:rPr lang="en-US" altLang="zh-CN" sz="1400" b="1" dirty="0" smtClean="0">
                <a:solidFill>
                  <a:srgbClr val="4BACC6">
                    <a:lumMod val="75000"/>
                  </a:srgbClr>
                </a:solidFill>
              </a:rPr>
              <a:t> </a:t>
            </a:r>
            <a:r>
              <a:rPr lang="en-US" altLang="zh-CN" sz="1400" b="1" dirty="0" err="1">
                <a:solidFill>
                  <a:srgbClr val="4BACC6">
                    <a:lumMod val="75000"/>
                  </a:srgbClr>
                </a:solidFill>
              </a:rPr>
              <a:t>struct</a:t>
            </a:r>
            <a:endParaRPr lang="en-US" altLang="zh-CN" sz="1400" b="1" dirty="0">
              <a:solidFill>
                <a:srgbClr val="4BACC6">
                  <a:lumMod val="75000"/>
                </a:srgbClr>
              </a:solidFill>
            </a:endParaRPr>
          </a:p>
          <a:p>
            <a:pPr lvl="0"/>
            <a:r>
              <a:rPr lang="en-US" altLang="zh-CN" sz="1400" b="1" dirty="0">
                <a:solidFill>
                  <a:srgbClr val="4BACC6">
                    <a:lumMod val="75000"/>
                  </a:srgbClr>
                </a:solidFill>
              </a:rPr>
              <a:t>{</a:t>
            </a:r>
          </a:p>
          <a:p>
            <a:pPr lvl="0"/>
            <a:r>
              <a:rPr lang="en-US" altLang="zh-CN" sz="1400" b="1" dirty="0">
                <a:solidFill>
                  <a:srgbClr val="4BACC6">
                    <a:lumMod val="75000"/>
                  </a:srgbClr>
                </a:solidFill>
              </a:rPr>
              <a:t>  __IO uint32_t CR;  </a:t>
            </a:r>
            <a:endParaRPr lang="en-US" altLang="zh-CN" sz="1400" b="1" dirty="0" smtClean="0">
              <a:solidFill>
                <a:srgbClr val="4BACC6">
                  <a:lumMod val="75000"/>
                </a:srgbClr>
              </a:solidFill>
            </a:endParaRPr>
          </a:p>
          <a:p>
            <a:pPr lvl="0"/>
            <a:r>
              <a:rPr lang="en-US" altLang="zh-CN" sz="1400" b="1" dirty="0"/>
              <a:t> </a:t>
            </a:r>
            <a:r>
              <a:rPr lang="en-US" altLang="zh-CN" sz="1400" b="1" dirty="0" smtClean="0"/>
              <a:t>     </a:t>
            </a:r>
            <a:r>
              <a:rPr lang="en-US" altLang="zh-CN" sz="1400" b="1" dirty="0"/>
              <a:t>/*!&lt; WWDG Control register,       Address offset: 0x00 */</a:t>
            </a:r>
          </a:p>
          <a:p>
            <a:pPr lvl="0"/>
            <a:r>
              <a:rPr lang="en-US" altLang="zh-CN" sz="1400" b="1" dirty="0">
                <a:solidFill>
                  <a:srgbClr val="4BACC6">
                    <a:lumMod val="75000"/>
                  </a:srgbClr>
                </a:solidFill>
              </a:rPr>
              <a:t>  __IO uint32_t CFR; </a:t>
            </a:r>
            <a:endParaRPr lang="en-US" altLang="zh-CN" sz="1400" b="1" dirty="0" smtClean="0">
              <a:solidFill>
                <a:srgbClr val="4BACC6">
                  <a:lumMod val="75000"/>
                </a:srgbClr>
              </a:solidFill>
            </a:endParaRPr>
          </a:p>
          <a:p>
            <a:pPr lvl="0"/>
            <a:r>
              <a:rPr lang="en-US" altLang="zh-CN" sz="1400" b="1" dirty="0"/>
              <a:t> </a:t>
            </a:r>
            <a:r>
              <a:rPr lang="en-US" altLang="zh-CN" sz="1400" b="1" dirty="0" smtClean="0"/>
              <a:t>    </a:t>
            </a:r>
            <a:r>
              <a:rPr lang="en-US" altLang="zh-CN" sz="1400" b="1" dirty="0"/>
              <a:t>/*!&lt; WWDG Configuration register, Address offset: 0x04 */</a:t>
            </a:r>
          </a:p>
          <a:p>
            <a:pPr lvl="0"/>
            <a:r>
              <a:rPr lang="en-US" altLang="zh-CN" sz="1400" b="1" dirty="0">
                <a:solidFill>
                  <a:srgbClr val="4BACC6">
                    <a:lumMod val="75000"/>
                  </a:srgbClr>
                </a:solidFill>
              </a:rPr>
              <a:t>  __IO uint32_t SR;  </a:t>
            </a:r>
            <a:endParaRPr lang="en-US" altLang="zh-CN" sz="1400" b="1" dirty="0" smtClean="0">
              <a:solidFill>
                <a:srgbClr val="4BACC6">
                  <a:lumMod val="75000"/>
                </a:srgbClr>
              </a:solidFill>
            </a:endParaRPr>
          </a:p>
          <a:p>
            <a:pPr lvl="0"/>
            <a:r>
              <a:rPr lang="en-US" altLang="zh-CN" sz="1400" b="1" dirty="0">
                <a:solidFill>
                  <a:srgbClr val="4BACC6">
                    <a:lumMod val="75000"/>
                  </a:srgbClr>
                </a:solidFill>
              </a:rPr>
              <a:t> </a:t>
            </a:r>
            <a:r>
              <a:rPr lang="en-US" altLang="zh-CN" sz="1400" b="1" dirty="0" smtClean="0">
                <a:solidFill>
                  <a:srgbClr val="4BACC6">
                    <a:lumMod val="75000"/>
                  </a:srgbClr>
                </a:solidFill>
              </a:rPr>
              <a:t>    </a:t>
            </a:r>
            <a:r>
              <a:rPr lang="en-US" altLang="zh-CN" sz="1400" b="1" dirty="0"/>
              <a:t>/*!&lt; WWDG Status register,        Address offset: 0x08 */</a:t>
            </a:r>
          </a:p>
          <a:p>
            <a:pPr lvl="0"/>
            <a:r>
              <a:rPr lang="en-US" altLang="zh-CN" sz="1400" b="1" dirty="0">
                <a:solidFill>
                  <a:srgbClr val="4BACC6">
                    <a:lumMod val="75000"/>
                  </a:srgbClr>
                </a:solidFill>
              </a:rPr>
              <a:t>} </a:t>
            </a:r>
            <a:r>
              <a:rPr lang="en-US" altLang="zh-CN" sz="1400" b="1" dirty="0" err="1">
                <a:solidFill>
                  <a:srgbClr val="4BACC6">
                    <a:lumMod val="75000"/>
                  </a:srgbClr>
                </a:solidFill>
              </a:rPr>
              <a:t>WWDG_TypeDef</a:t>
            </a:r>
            <a:r>
              <a:rPr lang="en-US" altLang="zh-CN" sz="1400" b="1" dirty="0">
                <a:solidFill>
                  <a:srgbClr val="4BACC6">
                    <a:lumMod val="75000"/>
                  </a:srgbClr>
                </a:solidFill>
              </a:rPr>
              <a:t>;</a:t>
            </a:r>
          </a:p>
          <a:p>
            <a:pPr lvl="0"/>
            <a:endParaRPr lang="en-US" altLang="zh-CN" sz="1400" b="1" dirty="0">
              <a:solidFill>
                <a:srgbClr val="4BACC6">
                  <a:lumMod val="75000"/>
                </a:srgb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3491880" y="171337"/>
            <a:ext cx="4825360" cy="461665"/>
          </a:xfrm>
          <a:prstGeom prst="rect">
            <a:avLst/>
          </a:prstGeom>
        </p:spPr>
        <p:txBody>
          <a:bodyPr wrap="none">
            <a:spAutoFit/>
          </a:bodyPr>
          <a:lstStyle/>
          <a:p>
            <a:r>
              <a:rPr lang="zh-CN" altLang="en-US" sz="2400" b="1" dirty="0">
                <a:solidFill>
                  <a:srgbClr val="D38583"/>
                </a:solidFill>
                <a:ea typeface="隶书" pitchFamily="49" charset="-122"/>
              </a:rPr>
              <a:t>所有片上外设寄存器的结构体定义</a:t>
            </a:r>
            <a:endParaRPr lang="zh-CN" altLang="zh-CN" sz="2400" dirty="0">
              <a:solidFill>
                <a:srgbClr val="D38583"/>
              </a:solidFill>
              <a:ea typeface="隶书" pitchFamily="49" charset="-122"/>
            </a:endParaRPr>
          </a:p>
        </p:txBody>
      </p:sp>
      <p:sp>
        <p:nvSpPr>
          <p:cNvPr id="3" name="矩形 2"/>
          <p:cNvSpPr/>
          <p:nvPr/>
        </p:nvSpPr>
        <p:spPr>
          <a:xfrm>
            <a:off x="539552" y="987574"/>
            <a:ext cx="2592288" cy="3970318"/>
          </a:xfrm>
          <a:prstGeom prst="rect">
            <a:avLst/>
          </a:prstGeom>
          <a:solidFill>
            <a:schemeClr val="accent6">
              <a:lumMod val="20000"/>
              <a:lumOff val="80000"/>
            </a:schemeClr>
          </a:solidFill>
        </p:spPr>
        <p:txBody>
          <a:bodyPr wrap="square">
            <a:spAutoFit/>
          </a:bodyPr>
          <a:lstStyle/>
          <a:p>
            <a:r>
              <a:rPr lang="en-US" altLang="zh-CN" sz="1400" b="1" dirty="0" smtClean="0">
                <a:solidFill>
                  <a:schemeClr val="accent5">
                    <a:lumMod val="75000"/>
                  </a:schemeClr>
                </a:solidFill>
              </a:rPr>
              <a:t>#</a:t>
            </a:r>
            <a:r>
              <a:rPr lang="en-US" altLang="zh-CN" sz="1400" b="1" dirty="0">
                <a:solidFill>
                  <a:schemeClr val="accent5">
                    <a:lumMod val="75000"/>
                  </a:schemeClr>
                </a:solidFill>
              </a:rPr>
              <a:t>include "core_cm3.h"</a:t>
            </a:r>
          </a:p>
          <a:p>
            <a:r>
              <a:rPr lang="en-US" altLang="zh-CN" sz="1400" b="1" dirty="0">
                <a:solidFill>
                  <a:schemeClr val="accent5">
                    <a:lumMod val="75000"/>
                  </a:schemeClr>
                </a:solidFill>
              </a:rPr>
              <a:t>#include "system_stm32f1xx.h"</a:t>
            </a:r>
          </a:p>
          <a:p>
            <a:r>
              <a:rPr lang="en-US" altLang="zh-CN" sz="1400" b="1" dirty="0">
                <a:solidFill>
                  <a:schemeClr val="accent5">
                    <a:lumMod val="75000"/>
                  </a:schemeClr>
                </a:solidFill>
              </a:rPr>
              <a:t>#include &lt;</a:t>
            </a:r>
            <a:r>
              <a:rPr lang="en-US" altLang="zh-CN" sz="1400" b="1" dirty="0" err="1">
                <a:solidFill>
                  <a:schemeClr val="accent5">
                    <a:lumMod val="75000"/>
                  </a:schemeClr>
                </a:solidFill>
              </a:rPr>
              <a:t>stdint.h</a:t>
            </a:r>
            <a:r>
              <a:rPr lang="en-US" altLang="zh-CN" sz="1400" b="1" dirty="0" smtClean="0">
                <a:solidFill>
                  <a:schemeClr val="accent5">
                    <a:lumMod val="75000"/>
                  </a:schemeClr>
                </a:solidFill>
              </a:rPr>
              <a:t>&gt;</a:t>
            </a:r>
          </a:p>
          <a:p>
            <a:endParaRPr lang="en-US"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en-US" altLang="zh-CN" sz="1400" b="1" dirty="0">
              <a:solidFill>
                <a:schemeClr val="accent5">
                  <a:lumMod val="75000"/>
                </a:schemeClr>
              </a:solidFill>
            </a:endParaRPr>
          </a:p>
          <a:p>
            <a:r>
              <a:rPr lang="en-US" altLang="zh-CN" sz="1400" b="1" dirty="0">
                <a:solidFill>
                  <a:schemeClr val="accent5">
                    <a:lumMod val="75000"/>
                  </a:schemeClr>
                </a:solidFill>
              </a:rPr>
              <a:t>{</a:t>
            </a:r>
          </a:p>
          <a:p>
            <a:r>
              <a:rPr lang="en-US" altLang="zh-CN" sz="1400" b="1" dirty="0">
                <a:solidFill>
                  <a:schemeClr val="accent5">
                    <a:lumMod val="75000"/>
                  </a:schemeClr>
                </a:solidFill>
              </a:rPr>
              <a:t>  __IO uint32_t SR;</a:t>
            </a:r>
          </a:p>
          <a:p>
            <a:r>
              <a:rPr lang="en-US" altLang="zh-CN" sz="1400" b="1" dirty="0">
                <a:solidFill>
                  <a:schemeClr val="accent5">
                    <a:lumMod val="75000"/>
                  </a:schemeClr>
                </a:solidFill>
              </a:rPr>
              <a:t>  __IO uint32_t CR1;</a:t>
            </a:r>
          </a:p>
          <a:p>
            <a:r>
              <a:rPr lang="en-US" altLang="zh-CN" sz="1400" b="1" dirty="0">
                <a:solidFill>
                  <a:schemeClr val="accent5">
                    <a:lumMod val="75000"/>
                  </a:schemeClr>
                </a:solidFill>
              </a:rPr>
              <a:t>  __IO uint32_t CR2;</a:t>
            </a:r>
          </a:p>
          <a:p>
            <a:r>
              <a:rPr lang="en-US" altLang="zh-CN" sz="1400" b="1" dirty="0">
                <a:solidFill>
                  <a:schemeClr val="accent5">
                    <a:lumMod val="75000"/>
                  </a:schemeClr>
                </a:solidFill>
              </a:rPr>
              <a:t>  __IO uint32_t SMPR1;</a:t>
            </a:r>
          </a:p>
          <a:p>
            <a:r>
              <a:rPr lang="en-US" altLang="zh-CN" sz="1400" b="1" dirty="0">
                <a:solidFill>
                  <a:schemeClr val="accent5">
                    <a:lumMod val="75000"/>
                  </a:schemeClr>
                </a:solidFill>
              </a:rPr>
              <a:t>  __IO uint32_t SMPR2;</a:t>
            </a:r>
          </a:p>
          <a:p>
            <a:r>
              <a:rPr lang="en-US" altLang="zh-CN" sz="1400" b="1" dirty="0">
                <a:solidFill>
                  <a:schemeClr val="accent5">
                    <a:lumMod val="75000"/>
                  </a:schemeClr>
                </a:solidFill>
              </a:rPr>
              <a:t>  __IO uint32_t JOFR1;</a:t>
            </a:r>
          </a:p>
          <a:p>
            <a:r>
              <a:rPr lang="en-US" altLang="zh-CN" sz="1400" b="1" dirty="0">
                <a:solidFill>
                  <a:schemeClr val="accent5">
                    <a:lumMod val="75000"/>
                  </a:schemeClr>
                </a:solidFill>
              </a:rPr>
              <a:t>  __IO uint32_t JOFR2;</a:t>
            </a:r>
          </a:p>
          <a:p>
            <a:pPr lvl="0"/>
            <a:r>
              <a:rPr lang="en-US" altLang="zh-CN" sz="1400" b="1" dirty="0">
                <a:solidFill>
                  <a:schemeClr val="accent5">
                    <a:lumMod val="75000"/>
                  </a:schemeClr>
                </a:solidFill>
              </a:rPr>
              <a:t>  __IO uint32_t JOFR3</a:t>
            </a:r>
            <a:r>
              <a:rPr lang="en-US" altLang="zh-CN" sz="1400" b="1" dirty="0" smtClean="0">
                <a:solidFill>
                  <a:schemeClr val="accent5">
                    <a:lumMod val="75000"/>
                  </a:schemeClr>
                </a:solidFill>
              </a:rPr>
              <a:t>;</a:t>
            </a:r>
          </a:p>
          <a:p>
            <a:pPr lvl="0"/>
            <a:r>
              <a:rPr lang="en-US" altLang="zh-CN" sz="1400" b="1" dirty="0">
                <a:solidFill>
                  <a:schemeClr val="accent5">
                    <a:lumMod val="75000"/>
                  </a:schemeClr>
                </a:solidFill>
              </a:rPr>
              <a:t> </a:t>
            </a:r>
            <a:r>
              <a:rPr lang="en-US" altLang="zh-CN" sz="1400" b="1" dirty="0" smtClean="0">
                <a:solidFill>
                  <a:srgbClr val="4BACC6">
                    <a:lumMod val="75000"/>
                  </a:srgbClr>
                </a:solidFill>
              </a:rPr>
              <a:t> </a:t>
            </a:r>
            <a:r>
              <a:rPr lang="en-US" altLang="zh-CN" sz="1400" b="1" dirty="0">
                <a:solidFill>
                  <a:srgbClr val="4BACC6">
                    <a:lumMod val="75000"/>
                  </a:srgbClr>
                </a:solidFill>
              </a:rPr>
              <a:t>__IO uint32_t JOFR4;</a:t>
            </a:r>
          </a:p>
          <a:p>
            <a:pPr lvl="0"/>
            <a:r>
              <a:rPr lang="en-US" altLang="zh-CN" sz="1400" b="1" dirty="0">
                <a:solidFill>
                  <a:srgbClr val="4BACC6">
                    <a:lumMod val="75000"/>
                  </a:srgbClr>
                </a:solidFill>
              </a:rPr>
              <a:t>  __IO uint32_t HTR;</a:t>
            </a:r>
          </a:p>
          <a:p>
            <a:r>
              <a:rPr lang="en-US" altLang="zh-CN" sz="1400" b="1" dirty="0" smtClean="0">
                <a:solidFill>
                  <a:srgbClr val="4BACC6">
                    <a:lumMod val="75000"/>
                  </a:srgbClr>
                </a:solidFill>
              </a:rPr>
              <a:t>  __</a:t>
            </a:r>
            <a:r>
              <a:rPr lang="en-US" altLang="zh-CN" sz="1400" b="1" dirty="0">
                <a:solidFill>
                  <a:srgbClr val="4BACC6">
                    <a:lumMod val="75000"/>
                  </a:srgbClr>
                </a:solidFill>
              </a:rPr>
              <a:t>IO uint32_t LTR</a:t>
            </a:r>
            <a:r>
              <a:rPr lang="en-US" altLang="zh-CN" sz="1400" b="1" dirty="0" smtClean="0">
                <a:solidFill>
                  <a:srgbClr val="4BACC6">
                    <a:lumMod val="75000"/>
                  </a:srgbClr>
                </a:solidFill>
              </a:rPr>
              <a:t>;</a:t>
            </a:r>
            <a:r>
              <a:rPr lang="en-US" altLang="zh-CN" sz="1400" b="1" dirty="0">
                <a:solidFill>
                  <a:srgbClr val="4BACC6">
                    <a:lumMod val="75000"/>
                  </a:srgbClr>
                </a:solidFill>
              </a:rPr>
              <a:t> </a:t>
            </a:r>
          </a:p>
          <a:p>
            <a:r>
              <a:rPr lang="en-US" altLang="zh-CN" sz="1400" b="1" dirty="0" smtClean="0">
                <a:solidFill>
                  <a:srgbClr val="4BACC6">
                    <a:lumMod val="75000"/>
                  </a:srgbClr>
                </a:solidFill>
              </a:rPr>
              <a:t>  __</a:t>
            </a:r>
            <a:r>
              <a:rPr lang="en-US" altLang="zh-CN" sz="1400" b="1" dirty="0">
                <a:solidFill>
                  <a:srgbClr val="4BACC6">
                    <a:lumMod val="75000"/>
                  </a:srgbClr>
                </a:solidFill>
              </a:rPr>
              <a:t>IO uint32_t SQR1</a:t>
            </a:r>
            <a:r>
              <a:rPr lang="en-US" altLang="zh-CN" sz="1400" b="1" dirty="0" smtClean="0">
                <a:solidFill>
                  <a:srgbClr val="4BACC6">
                    <a:lumMod val="75000"/>
                  </a:srgbClr>
                </a:solidFill>
              </a:rPr>
              <a:t>;</a:t>
            </a:r>
            <a:endParaRPr lang="en-US" altLang="zh-CN" sz="1400" b="1" dirty="0">
              <a:solidFill>
                <a:schemeClr val="accent5">
                  <a:lumMod val="75000"/>
                </a:schemeClr>
              </a:solidFill>
            </a:endParaRPr>
          </a:p>
        </p:txBody>
      </p:sp>
      <p:sp>
        <p:nvSpPr>
          <p:cNvPr id="16" name="矩形 15"/>
          <p:cNvSpPr/>
          <p:nvPr/>
        </p:nvSpPr>
        <p:spPr>
          <a:xfrm>
            <a:off x="5724128" y="1851670"/>
            <a:ext cx="2808312" cy="584775"/>
          </a:xfrm>
          <a:prstGeom prst="rect">
            <a:avLst/>
          </a:prstGeom>
          <a:solidFill>
            <a:schemeClr val="accent2">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smtClean="0">
                <a:solidFill>
                  <a:prstClr val="black"/>
                </a:solidFill>
                <a:ea typeface="楷体" pitchFamily="49" charset="-122"/>
              </a:rPr>
              <a:t>STM32F103xE</a:t>
            </a:r>
            <a:r>
              <a:rPr lang="zh-CN" altLang="en-US" sz="1600" b="1" dirty="0">
                <a:solidFill>
                  <a:prstClr val="black"/>
                </a:solidFill>
                <a:ea typeface="楷体" pitchFamily="49" charset="-122"/>
              </a:rPr>
              <a:t>芯片的片上外设寄存器的结构体</a:t>
            </a:r>
            <a:r>
              <a:rPr lang="zh-CN" altLang="en-US" sz="1600" b="1" dirty="0" smtClean="0">
                <a:solidFill>
                  <a:prstClr val="black"/>
                </a:solidFill>
                <a:ea typeface="楷体" pitchFamily="49" charset="-122"/>
              </a:rPr>
              <a:t>定义。</a:t>
            </a:r>
            <a:endParaRPr lang="zh-CN" altLang="en-US" sz="1600" b="1" dirty="0">
              <a:solidFill>
                <a:prstClr val="black"/>
              </a:solidFill>
              <a:ea typeface="楷体" pitchFamily="49" charset="-122"/>
            </a:endParaRPr>
          </a:p>
        </p:txBody>
      </p:sp>
    </p:spTree>
    <p:extLst>
      <p:ext uri="{BB962C8B-B14F-4D97-AF65-F5344CB8AC3E}">
        <p14:creationId xmlns:p14="http://schemas.microsoft.com/office/powerpoint/2010/main" val="394644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19600" y="165023"/>
            <a:ext cx="5924400" cy="5047536"/>
          </a:xfrm>
          <a:prstGeom prst="rect">
            <a:avLst/>
          </a:prstGeom>
        </p:spPr>
        <p:txBody>
          <a:bodyPr wrap="square">
            <a:spAutoFit/>
          </a:bodyPr>
          <a:lstStyle/>
          <a:p>
            <a:r>
              <a:rPr lang="en-US" altLang="zh-CN" sz="1400" b="1" dirty="0">
                <a:solidFill>
                  <a:schemeClr val="accent5">
                    <a:lumMod val="75000"/>
                  </a:schemeClr>
                </a:solidFill>
              </a:rPr>
              <a:t>#define FLASH_BASE         0x08000000UL  </a:t>
            </a:r>
            <a:r>
              <a:rPr lang="en-US" altLang="zh-CN" sz="1400" b="1" dirty="0"/>
              <a:t>/*FLASH </a:t>
            </a:r>
            <a:r>
              <a:rPr lang="zh-CN" altLang="en-US" sz="1400" b="1" dirty="0"/>
              <a:t>基地址*</a:t>
            </a:r>
            <a:r>
              <a:rPr lang="en-US" altLang="zh-CN" sz="1400" b="1" dirty="0"/>
              <a:t>/</a:t>
            </a:r>
          </a:p>
          <a:p>
            <a:r>
              <a:rPr lang="en-US" altLang="zh-CN" sz="1400" b="1" dirty="0">
                <a:solidFill>
                  <a:schemeClr val="accent5">
                    <a:lumMod val="75000"/>
                  </a:schemeClr>
                </a:solidFill>
              </a:rPr>
              <a:t>#define FLASH_BANK1_END  0x0807FFFFUL  </a:t>
            </a:r>
            <a:r>
              <a:rPr lang="en-US" altLang="zh-CN" sz="1400" b="1" dirty="0"/>
              <a:t>/* FLASH bank1</a:t>
            </a:r>
            <a:r>
              <a:rPr lang="zh-CN" altLang="en-US" sz="1400" b="1" dirty="0"/>
              <a:t>结束地址 *</a:t>
            </a:r>
            <a:r>
              <a:rPr lang="en-US" altLang="zh-CN" sz="1400" b="1" dirty="0"/>
              <a:t>/</a:t>
            </a:r>
          </a:p>
          <a:p>
            <a:r>
              <a:rPr lang="en-US" altLang="zh-CN" sz="1400" b="1" dirty="0">
                <a:solidFill>
                  <a:schemeClr val="accent5">
                    <a:lumMod val="75000"/>
                  </a:schemeClr>
                </a:solidFill>
              </a:rPr>
              <a:t>#define SRAM_BASE         0x20000000UL  </a:t>
            </a:r>
            <a:r>
              <a:rPr lang="en-US" altLang="zh-CN" sz="1400" b="1" dirty="0"/>
              <a:t>/*SRAM </a:t>
            </a:r>
            <a:r>
              <a:rPr lang="zh-CN" altLang="en-US" sz="1400" b="1" dirty="0"/>
              <a:t>基地址 *</a:t>
            </a:r>
            <a:r>
              <a:rPr lang="en-US" altLang="zh-CN" sz="1400" b="1" dirty="0"/>
              <a:t>/</a:t>
            </a:r>
          </a:p>
          <a:p>
            <a:r>
              <a:rPr lang="en-US" altLang="zh-CN" sz="1400" b="1" dirty="0">
                <a:solidFill>
                  <a:schemeClr val="accent5">
                    <a:lumMod val="75000"/>
                  </a:schemeClr>
                </a:solidFill>
              </a:rPr>
              <a:t>#define PERIPH_BASE        0x40000000UL </a:t>
            </a:r>
            <a:r>
              <a:rPr lang="en-US" altLang="zh-CN" sz="1400" b="1" dirty="0"/>
              <a:t>/*</a:t>
            </a:r>
            <a:r>
              <a:rPr lang="zh-CN" altLang="en-US" sz="1400" b="1" dirty="0"/>
              <a:t>外设基地址*</a:t>
            </a:r>
            <a:r>
              <a:rPr lang="en-US" altLang="zh-CN" sz="1400" b="1" dirty="0"/>
              <a:t>/</a:t>
            </a:r>
          </a:p>
          <a:p>
            <a:r>
              <a:rPr lang="en-US" altLang="zh-CN" sz="1400" b="1" dirty="0" smtClean="0"/>
              <a:t>    /*!</a:t>
            </a:r>
            <a:r>
              <a:rPr lang="zh-CN" altLang="en-US" sz="1400" b="1" dirty="0"/>
              <a:t>外设总线地址*</a:t>
            </a:r>
            <a:r>
              <a:rPr lang="en-US" altLang="zh-CN" sz="1400" b="1" dirty="0"/>
              <a:t>/</a:t>
            </a:r>
          </a:p>
          <a:p>
            <a:r>
              <a:rPr lang="en-US" altLang="zh-CN" sz="1400" b="1" dirty="0">
                <a:solidFill>
                  <a:schemeClr val="accent5">
                    <a:lumMod val="75000"/>
                  </a:schemeClr>
                </a:solidFill>
              </a:rPr>
              <a:t>#define APB1PERIPH_BASE       PERIPH_BASE</a:t>
            </a:r>
          </a:p>
          <a:p>
            <a:r>
              <a:rPr lang="en-US" altLang="zh-CN" sz="1400" b="1" dirty="0">
                <a:solidFill>
                  <a:schemeClr val="accent5">
                    <a:lumMod val="75000"/>
                  </a:schemeClr>
                </a:solidFill>
              </a:rPr>
              <a:t>#define APB2PERIPH_BASE       (PERIPH_BASE + 0x00010000UL)</a:t>
            </a:r>
          </a:p>
          <a:p>
            <a:r>
              <a:rPr lang="en-US" altLang="zh-CN" sz="1400" b="1" dirty="0">
                <a:solidFill>
                  <a:schemeClr val="accent5">
                    <a:lumMod val="75000"/>
                  </a:schemeClr>
                </a:solidFill>
              </a:rPr>
              <a:t>#define AHBPERIPH_BASE        (PERIPH_BASE + 0x00020000UL</a:t>
            </a:r>
            <a:r>
              <a:rPr lang="en-US" altLang="zh-CN" sz="1400" b="1" dirty="0" smtClean="0">
                <a:solidFill>
                  <a:schemeClr val="accent5">
                    <a:lumMod val="75000"/>
                  </a:schemeClr>
                </a:solidFill>
              </a:rPr>
              <a:t>)</a:t>
            </a:r>
          </a:p>
          <a:p>
            <a:endParaRPr lang="en-US" altLang="zh-CN" sz="1400" b="1" dirty="0">
              <a:solidFill>
                <a:schemeClr val="accent5">
                  <a:lumMod val="75000"/>
                </a:schemeClr>
              </a:solidFill>
            </a:endParaRPr>
          </a:p>
          <a:p>
            <a:r>
              <a:rPr lang="en-US" altLang="zh-CN" sz="1400" b="1" dirty="0">
                <a:solidFill>
                  <a:schemeClr val="accent5">
                    <a:lumMod val="75000"/>
                  </a:schemeClr>
                </a:solidFill>
              </a:rPr>
              <a:t>#define TIM2_BASE      (APB1PERIPH_BASE + 0x00000000UL)</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GPIOA_BASE     (APB2PERIPH_BASE + 0x00000800UL)</a:t>
            </a:r>
          </a:p>
          <a:p>
            <a:r>
              <a:rPr lang="en-US" altLang="zh-CN" sz="1400" b="1" dirty="0" smtClean="0">
                <a:solidFill>
                  <a:schemeClr val="accent5">
                    <a:lumMod val="75000"/>
                  </a:schemeClr>
                </a:solidFill>
              </a:rPr>
              <a:t>……</a:t>
            </a:r>
          </a:p>
          <a:p>
            <a:r>
              <a:rPr lang="en-US" altLang="zh-CN" sz="1400" b="1" dirty="0" smtClean="0">
                <a:solidFill>
                  <a:schemeClr val="accent5">
                    <a:lumMod val="75000"/>
                  </a:schemeClr>
                </a:solidFill>
              </a:rPr>
              <a:t>#</a:t>
            </a:r>
            <a:r>
              <a:rPr lang="en-US" altLang="zh-CN" sz="1400" b="1" dirty="0">
                <a:solidFill>
                  <a:schemeClr val="accent5">
                    <a:lumMod val="75000"/>
                  </a:schemeClr>
                </a:solidFill>
              </a:rPr>
              <a:t>define ADC1_BASE      (APB2PERIPH_BASE + 0x00002400UL)</a:t>
            </a:r>
          </a:p>
          <a:p>
            <a:r>
              <a:rPr lang="en-US" altLang="zh-CN" sz="1400" b="1" dirty="0">
                <a:solidFill>
                  <a:schemeClr val="accent5">
                    <a:lumMod val="75000"/>
                  </a:schemeClr>
                </a:solidFill>
              </a:rPr>
              <a:t>……</a:t>
            </a:r>
          </a:p>
          <a:p>
            <a:r>
              <a:rPr lang="en-US" altLang="zh-CN" sz="1400" b="1" dirty="0">
                <a:solidFill>
                  <a:schemeClr val="accent5">
                    <a:lumMod val="75000"/>
                  </a:schemeClr>
                </a:solidFill>
              </a:rPr>
              <a:t>#define USART1_BASE           (APB2PERIPH_BASE + 0x00003800UL)</a:t>
            </a:r>
          </a:p>
          <a:p>
            <a:endParaRPr lang="en-US" altLang="zh-CN" sz="1400" b="1" dirty="0">
              <a:solidFill>
                <a:schemeClr val="accent5">
                  <a:lumMod val="75000"/>
                </a:schemeClr>
              </a:solidFill>
            </a:endParaRPr>
          </a:p>
          <a:p>
            <a:r>
              <a:rPr lang="en-US" altLang="zh-CN" sz="1400" b="1" dirty="0">
                <a:solidFill>
                  <a:schemeClr val="accent5">
                    <a:lumMod val="75000"/>
                  </a:schemeClr>
                </a:solidFill>
              </a:rPr>
              <a:t>#define TIM2             ((</a:t>
            </a:r>
            <a:r>
              <a:rPr lang="en-US" altLang="zh-CN" sz="1400" b="1" dirty="0" err="1">
                <a:solidFill>
                  <a:schemeClr val="accent5">
                    <a:lumMod val="75000"/>
                  </a:schemeClr>
                </a:solidFill>
              </a:rPr>
              <a:t>TIM_TypeDef</a:t>
            </a:r>
            <a:r>
              <a:rPr lang="en-US" altLang="zh-CN" sz="1400" b="1" dirty="0">
                <a:solidFill>
                  <a:schemeClr val="accent5">
                    <a:lumMod val="75000"/>
                  </a:schemeClr>
                </a:solidFill>
              </a:rPr>
              <a:t> *)TIM2_BASE)</a:t>
            </a:r>
          </a:p>
          <a:p>
            <a:r>
              <a:rPr lang="en-US" altLang="zh-CN" sz="1400" b="1" dirty="0">
                <a:solidFill>
                  <a:schemeClr val="accent5">
                    <a:lumMod val="75000"/>
                  </a:schemeClr>
                </a:solidFill>
              </a:rPr>
              <a:t>.. …</a:t>
            </a:r>
          </a:p>
          <a:p>
            <a:r>
              <a:rPr lang="en-US" altLang="zh-CN" sz="1400" b="1" dirty="0">
                <a:solidFill>
                  <a:schemeClr val="accent5">
                    <a:lumMod val="75000"/>
                  </a:schemeClr>
                </a:solidFill>
              </a:rPr>
              <a:t>#define GPIOA           ((</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*)GPIOA_BASE)</a:t>
            </a:r>
          </a:p>
          <a:p>
            <a:r>
              <a:rPr lang="en-US" altLang="zh-CN" sz="1400" b="1" dirty="0" smtClean="0">
                <a:solidFill>
                  <a:schemeClr val="accent5">
                    <a:lumMod val="75000"/>
                  </a:schemeClr>
                </a:solidFill>
              </a:rPr>
              <a:t>……</a:t>
            </a:r>
            <a:endParaRPr lang="en-US" altLang="zh-CN" sz="1400" b="1" dirty="0">
              <a:solidFill>
                <a:schemeClr val="accent5">
                  <a:lumMod val="75000"/>
                </a:schemeClr>
              </a:solidFill>
            </a:endParaRPr>
          </a:p>
          <a:p>
            <a:r>
              <a:rPr lang="en-US" altLang="zh-CN" sz="1400" b="1" dirty="0" smtClean="0">
                <a:solidFill>
                  <a:schemeClr val="accent5">
                    <a:lumMod val="75000"/>
                  </a:schemeClr>
                </a:solidFill>
              </a:rPr>
              <a:t>#</a:t>
            </a:r>
            <a:r>
              <a:rPr lang="en-US" altLang="zh-CN" sz="1400" b="1" dirty="0">
                <a:solidFill>
                  <a:schemeClr val="accent5">
                    <a:lumMod val="75000"/>
                  </a:schemeClr>
                </a:solidFill>
              </a:rPr>
              <a:t>define DMA1_Channel2   ((</a:t>
            </a:r>
            <a:r>
              <a:rPr lang="en-US" altLang="zh-CN" sz="1400" b="1" dirty="0" err="1">
                <a:solidFill>
                  <a:schemeClr val="accent5">
                    <a:lumMod val="75000"/>
                  </a:schemeClr>
                </a:solidFill>
              </a:rPr>
              <a:t>DMA_Channel_TypeDef</a:t>
            </a:r>
            <a:r>
              <a:rPr lang="en-US" altLang="zh-CN" sz="1400" b="1" dirty="0">
                <a:solidFill>
                  <a:schemeClr val="accent5">
                    <a:lumMod val="75000"/>
                  </a:schemeClr>
                </a:solidFill>
              </a:rPr>
              <a:t> *)DMA1_Channel2_BASE)</a:t>
            </a:r>
          </a:p>
          <a:p>
            <a:endParaRPr lang="en-US" altLang="zh-CN" sz="1400" b="1" dirty="0">
              <a:solidFill>
                <a:schemeClr val="accent5">
                  <a:lumMod val="75000"/>
                </a:scheme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179512" y="987574"/>
            <a:ext cx="2969083" cy="461665"/>
          </a:xfrm>
          <a:prstGeom prst="rect">
            <a:avLst/>
          </a:prstGeom>
        </p:spPr>
        <p:txBody>
          <a:bodyPr wrap="none">
            <a:spAutoFit/>
          </a:bodyPr>
          <a:lstStyle/>
          <a:p>
            <a:r>
              <a:rPr lang="zh-CN" altLang="en-US" sz="2400" b="1" dirty="0">
                <a:solidFill>
                  <a:srgbClr val="D38583"/>
                </a:solidFill>
                <a:ea typeface="隶书" pitchFamily="49" charset="-122"/>
              </a:rPr>
              <a:t>存储空间的地址映射</a:t>
            </a:r>
            <a:endParaRPr lang="zh-CN" altLang="zh-CN" sz="2400" dirty="0">
              <a:solidFill>
                <a:srgbClr val="D38583"/>
              </a:solidFill>
              <a:ea typeface="隶书" pitchFamily="49" charset="-122"/>
            </a:endParaRPr>
          </a:p>
        </p:txBody>
      </p:sp>
      <p:sp>
        <p:nvSpPr>
          <p:cNvPr id="16" name="矩形 15"/>
          <p:cNvSpPr/>
          <p:nvPr/>
        </p:nvSpPr>
        <p:spPr>
          <a:xfrm>
            <a:off x="259897" y="1590180"/>
            <a:ext cx="2808312" cy="3046988"/>
          </a:xfrm>
          <a:prstGeom prst="rect">
            <a:avLst/>
          </a:prstGeom>
          <a:solidFill>
            <a:schemeClr val="accent2">
              <a:lumMod val="20000"/>
              <a:lumOff val="80000"/>
            </a:schemeClr>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zh-CN" altLang="en-US" sz="1600" b="1" dirty="0">
                <a:solidFill>
                  <a:prstClr val="black"/>
                </a:solidFill>
                <a:ea typeface="楷体" pitchFamily="49" charset="-122"/>
              </a:rPr>
              <a:t>应用程序的编写是通过调用</a:t>
            </a:r>
            <a:r>
              <a:rPr lang="en-US" altLang="zh-CN" sz="1600" b="1" dirty="0">
                <a:solidFill>
                  <a:prstClr val="black"/>
                </a:solidFill>
                <a:ea typeface="楷体" pitchFamily="49" charset="-122"/>
              </a:rPr>
              <a:t>HAL</a:t>
            </a:r>
            <a:r>
              <a:rPr lang="zh-CN" altLang="en-US" sz="1600" b="1" dirty="0">
                <a:solidFill>
                  <a:prstClr val="black"/>
                </a:solidFill>
                <a:ea typeface="楷体" pitchFamily="49" charset="-122"/>
              </a:rPr>
              <a:t>库的接口函数实现相应的功能，其实质是</a:t>
            </a:r>
            <a:r>
              <a:rPr lang="zh-CN" altLang="en-US" sz="1600" b="1" dirty="0" smtClean="0">
                <a:solidFill>
                  <a:prstClr val="black"/>
                </a:solidFill>
                <a:ea typeface="楷体" pitchFamily="49" charset="-122"/>
              </a:rPr>
              <a:t>调用标准外设库函数</a:t>
            </a:r>
            <a:r>
              <a:rPr lang="zh-CN" altLang="en-US" sz="1600" b="1" dirty="0">
                <a:solidFill>
                  <a:prstClr val="black"/>
                </a:solidFill>
                <a:ea typeface="楷体" pitchFamily="49" charset="-122"/>
              </a:rPr>
              <a:t>来完成相应寄存器的操作</a:t>
            </a:r>
            <a:r>
              <a:rPr lang="zh-CN" altLang="en-US" sz="1600" b="1" dirty="0" smtClean="0">
                <a:solidFill>
                  <a:prstClr val="black"/>
                </a:solidFill>
                <a:ea typeface="楷体" pitchFamily="49" charset="-122"/>
              </a:rPr>
              <a:t>。</a:t>
            </a:r>
            <a:endParaRPr lang="en-US" altLang="zh-CN" sz="1600" b="1" dirty="0" smtClean="0">
              <a:solidFill>
                <a:prstClr val="black"/>
              </a:solidFill>
              <a:ea typeface="楷体" pitchFamily="49" charset="-122"/>
            </a:endParaRPr>
          </a:p>
          <a:p>
            <a:pPr lvl="0"/>
            <a:r>
              <a:rPr lang="en-US" altLang="zh-CN" sz="1600" b="1" dirty="0">
                <a:solidFill>
                  <a:prstClr val="black"/>
                </a:solidFill>
                <a:ea typeface="楷体" pitchFamily="49" charset="-122"/>
              </a:rPr>
              <a:t> </a:t>
            </a:r>
            <a:r>
              <a:rPr lang="en-US" altLang="zh-CN" sz="1600" b="1" dirty="0" smtClean="0">
                <a:solidFill>
                  <a:prstClr val="black"/>
                </a:solidFill>
                <a:ea typeface="楷体" pitchFamily="49" charset="-122"/>
              </a:rPr>
              <a:t>     </a:t>
            </a:r>
            <a:r>
              <a:rPr lang="zh-CN" altLang="en-US" sz="1600" b="1" dirty="0" smtClean="0">
                <a:solidFill>
                  <a:prstClr val="black"/>
                </a:solidFill>
                <a:ea typeface="楷体" pitchFamily="49" charset="-122"/>
              </a:rPr>
              <a:t>地址利用指针转换</a:t>
            </a:r>
            <a:r>
              <a:rPr lang="zh-CN" altLang="en-US" sz="1600" b="1" dirty="0">
                <a:solidFill>
                  <a:prstClr val="black"/>
                </a:solidFill>
                <a:ea typeface="楷体" pitchFamily="49" charset="-122"/>
              </a:rPr>
              <a:t>为</a:t>
            </a:r>
            <a:r>
              <a:rPr lang="zh-CN" altLang="en-US" sz="1600" b="1" dirty="0" smtClean="0">
                <a:solidFill>
                  <a:prstClr val="black"/>
                </a:solidFill>
                <a:ea typeface="楷体" pitchFamily="49" charset="-122"/>
              </a:rPr>
              <a:t>寄存器，：通过</a:t>
            </a:r>
            <a:r>
              <a:rPr lang="zh-CN" altLang="en-US" sz="1600" b="1" dirty="0">
                <a:solidFill>
                  <a:prstClr val="black"/>
                </a:solidFill>
                <a:ea typeface="楷体" pitchFamily="49" charset="-122"/>
              </a:rPr>
              <a:t>宏定义</a:t>
            </a:r>
            <a:r>
              <a:rPr lang="en-US" altLang="zh-CN" sz="1600" b="1" dirty="0">
                <a:solidFill>
                  <a:prstClr val="black"/>
                </a:solidFill>
                <a:ea typeface="楷体" pitchFamily="49" charset="-122"/>
              </a:rPr>
              <a:t>#define GPIOB  ((</a:t>
            </a:r>
            <a:r>
              <a:rPr lang="en-US" altLang="zh-CN" sz="1600" b="1" dirty="0" err="1">
                <a:solidFill>
                  <a:prstClr val="black"/>
                </a:solidFill>
                <a:ea typeface="楷体" pitchFamily="49" charset="-122"/>
              </a:rPr>
              <a:t>GPIO_TypeDef</a:t>
            </a:r>
            <a:r>
              <a:rPr lang="en-US" altLang="zh-CN" sz="1600" b="1" dirty="0">
                <a:solidFill>
                  <a:prstClr val="black"/>
                </a:solidFill>
                <a:ea typeface="楷体" pitchFamily="49" charset="-122"/>
              </a:rPr>
              <a:t> *)GPIOB_BASE)</a:t>
            </a:r>
            <a:r>
              <a:rPr lang="zh-CN" altLang="en-US" sz="1600" b="1" dirty="0">
                <a:solidFill>
                  <a:prstClr val="black"/>
                </a:solidFill>
                <a:ea typeface="楷体" pitchFamily="49" charset="-122"/>
              </a:rPr>
              <a:t>，转换为</a:t>
            </a:r>
            <a:r>
              <a:rPr lang="en-US" altLang="zh-CN" sz="1600" b="1" dirty="0">
                <a:solidFill>
                  <a:prstClr val="black"/>
                </a:solidFill>
                <a:ea typeface="楷体" pitchFamily="49" charset="-122"/>
              </a:rPr>
              <a:t>GPIO</a:t>
            </a:r>
            <a:r>
              <a:rPr lang="zh-CN" altLang="en-US" sz="1600" b="1" dirty="0">
                <a:solidFill>
                  <a:prstClr val="black"/>
                </a:solidFill>
                <a:ea typeface="楷体" pitchFamily="49" charset="-122"/>
              </a:rPr>
              <a:t>结构体的指针，这样就可以操作结构体的成员（也即寄存器）。</a:t>
            </a:r>
            <a:endParaRPr lang="en-US" altLang="zh-CN" sz="1600" b="1" dirty="0">
              <a:solidFill>
                <a:prstClr val="black"/>
              </a:solidFill>
              <a:ea typeface="楷体" pitchFamily="49" charset="-122"/>
            </a:endParaRPr>
          </a:p>
        </p:txBody>
      </p:sp>
    </p:spTree>
    <p:extLst>
      <p:ext uri="{BB962C8B-B14F-4D97-AF65-F5344CB8AC3E}">
        <p14:creationId xmlns:p14="http://schemas.microsoft.com/office/powerpoint/2010/main" val="39991926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03648" y="1779662"/>
            <a:ext cx="6984776" cy="1815882"/>
          </a:xfrm>
          <a:prstGeom prst="rect">
            <a:avLst/>
          </a:prstGeom>
          <a:solidFill>
            <a:schemeClr val="accent3">
              <a:lumMod val="20000"/>
              <a:lumOff val="80000"/>
            </a:schemeClr>
          </a:solidFill>
        </p:spPr>
        <p:txBody>
          <a:bodyPr wrap="square">
            <a:spAutoFit/>
          </a:bodyPr>
          <a:lstStyle/>
          <a:p>
            <a:r>
              <a:rPr lang="en-US" altLang="zh-CN" sz="1600" b="1" dirty="0">
                <a:solidFill>
                  <a:schemeClr val="accent5">
                    <a:lumMod val="75000"/>
                  </a:schemeClr>
                </a:solidFill>
              </a:rPr>
              <a:t>#define </a:t>
            </a:r>
            <a:r>
              <a:rPr lang="en-US" altLang="zh-CN" sz="1600" b="1" dirty="0" err="1">
                <a:solidFill>
                  <a:schemeClr val="accent5">
                    <a:lumMod val="75000"/>
                  </a:schemeClr>
                </a:solidFill>
              </a:rPr>
              <a:t>GPIO_CRL_MODE_Pos</a:t>
            </a:r>
            <a:r>
              <a:rPr lang="en-US" altLang="zh-CN" sz="1600" b="1" dirty="0">
                <a:solidFill>
                  <a:schemeClr val="accent5">
                    <a:lumMod val="75000"/>
                  </a:schemeClr>
                </a:solidFill>
              </a:rPr>
              <a:t>     (0U)                              </a:t>
            </a:r>
          </a:p>
          <a:p>
            <a:r>
              <a:rPr lang="en-US" altLang="zh-CN" sz="1600" b="1" dirty="0">
                <a:solidFill>
                  <a:schemeClr val="accent5">
                    <a:lumMod val="75000"/>
                  </a:schemeClr>
                </a:solidFill>
              </a:rPr>
              <a:t>#define </a:t>
            </a:r>
            <a:r>
              <a:rPr lang="en-US" altLang="zh-CN" sz="1600" b="1" dirty="0" err="1">
                <a:solidFill>
                  <a:schemeClr val="accent5">
                    <a:lumMod val="75000"/>
                  </a:schemeClr>
                </a:solidFill>
              </a:rPr>
              <a:t>GPIO_CRL_MODE_Msk</a:t>
            </a:r>
            <a:r>
              <a:rPr lang="en-US" altLang="zh-CN" sz="1600" b="1" dirty="0">
                <a:solidFill>
                  <a:schemeClr val="accent5">
                    <a:lumMod val="75000"/>
                  </a:schemeClr>
                </a:solidFill>
              </a:rPr>
              <a:t>     (0x33333333UL &lt;&lt; </a:t>
            </a:r>
            <a:r>
              <a:rPr lang="en-US" altLang="zh-CN" sz="1600" b="1" dirty="0" err="1">
                <a:solidFill>
                  <a:schemeClr val="accent5">
                    <a:lumMod val="75000"/>
                  </a:schemeClr>
                </a:solidFill>
              </a:rPr>
              <a:t>GPIO_CRL_MODE_Pos</a:t>
            </a:r>
            <a:r>
              <a:rPr lang="en-US" altLang="zh-CN" sz="1600" b="1" dirty="0">
                <a:solidFill>
                  <a:schemeClr val="accent5">
                    <a:lumMod val="75000"/>
                  </a:schemeClr>
                </a:solidFill>
              </a:rPr>
              <a:t>) </a:t>
            </a:r>
            <a:r>
              <a:rPr lang="en-US" altLang="zh-CN" sz="1600" b="1" dirty="0" smtClean="0">
                <a:solidFill>
                  <a:schemeClr val="accent5">
                    <a:lumMod val="75000"/>
                  </a:schemeClr>
                </a:solidFill>
              </a:rPr>
              <a:t>   </a:t>
            </a:r>
          </a:p>
          <a:p>
            <a:r>
              <a:rPr lang="en-US" altLang="zh-CN" sz="1600" b="1" dirty="0">
                <a:solidFill>
                  <a:schemeClr val="accent5">
                    <a:lumMod val="75000"/>
                  </a:schemeClr>
                </a:solidFill>
              </a:rPr>
              <a:t> </a:t>
            </a:r>
            <a:r>
              <a:rPr lang="en-US" altLang="zh-CN" sz="1600" b="1" dirty="0" smtClean="0">
                <a:solidFill>
                  <a:schemeClr val="accent5">
                    <a:lumMod val="75000"/>
                  </a:schemeClr>
                </a:solidFill>
              </a:rPr>
              <a:t>   </a:t>
            </a:r>
            <a:r>
              <a:rPr lang="en-US" altLang="zh-CN" sz="1600" b="1" dirty="0" smtClean="0"/>
              <a:t>/*!&lt; </a:t>
            </a:r>
            <a:r>
              <a:rPr lang="en-US" altLang="zh-CN" sz="1600" b="1" dirty="0"/>
              <a:t>0x33333333 */</a:t>
            </a:r>
          </a:p>
          <a:p>
            <a:r>
              <a:rPr lang="en-US" altLang="zh-CN" sz="1600" b="1" dirty="0">
                <a:solidFill>
                  <a:schemeClr val="accent5">
                    <a:lumMod val="75000"/>
                  </a:schemeClr>
                </a:solidFill>
              </a:rPr>
              <a:t>#define GPIO_CRL_MODE       </a:t>
            </a:r>
            <a:r>
              <a:rPr lang="en-US" altLang="zh-CN" sz="1600" b="1" dirty="0" err="1">
                <a:solidFill>
                  <a:schemeClr val="accent5">
                    <a:lumMod val="75000"/>
                  </a:schemeClr>
                </a:solidFill>
              </a:rPr>
              <a:t>GPIO_CRL_MODE_Msk</a:t>
            </a:r>
            <a:r>
              <a:rPr lang="en-US" altLang="zh-CN" sz="1600" b="1" dirty="0">
                <a:solidFill>
                  <a:schemeClr val="accent5">
                    <a:lumMod val="75000"/>
                  </a:schemeClr>
                </a:solidFill>
              </a:rPr>
              <a:t>   </a:t>
            </a:r>
            <a:endParaRPr lang="en-US" altLang="zh-CN" sz="1600" b="1" dirty="0" smtClean="0">
              <a:solidFill>
                <a:schemeClr val="accent5">
                  <a:lumMod val="75000"/>
                </a:schemeClr>
              </a:solidFill>
            </a:endParaRPr>
          </a:p>
          <a:p>
            <a:r>
              <a:rPr lang="en-US" altLang="zh-CN" sz="1600" b="1" dirty="0" smtClean="0"/>
              <a:t>    </a:t>
            </a:r>
            <a:r>
              <a:rPr lang="en-US" altLang="zh-CN" sz="1600" b="1" dirty="0"/>
              <a:t>/*!&lt; Port x mode bits */</a:t>
            </a:r>
          </a:p>
          <a:p>
            <a:r>
              <a:rPr lang="en-US" altLang="zh-CN" sz="1600" b="1" dirty="0">
                <a:solidFill>
                  <a:schemeClr val="accent5">
                    <a:lumMod val="75000"/>
                  </a:schemeClr>
                </a:solidFill>
              </a:rPr>
              <a:t>… …</a:t>
            </a:r>
          </a:p>
          <a:p>
            <a:endParaRPr lang="en-US" altLang="zh-CN" sz="1600" b="1" dirty="0">
              <a:solidFill>
                <a:schemeClr val="accent5">
                  <a:lumMod val="75000"/>
                </a:schemeClr>
              </a:solidFill>
            </a:endParaRPr>
          </a:p>
        </p:txBody>
      </p:sp>
      <p:sp>
        <p:nvSpPr>
          <p:cNvPr id="4" name="矩形 3"/>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2772297" cy="461665"/>
          </a:xfrm>
          <a:prstGeom prst="rect">
            <a:avLst/>
          </a:prstGeom>
        </p:spPr>
        <p:txBody>
          <a:bodyPr wrap="none">
            <a:spAutoFit/>
          </a:bodyPr>
          <a:lstStyle/>
          <a:p>
            <a:r>
              <a:rPr lang="en-US" altLang="zh-CN" sz="2400" b="1" dirty="0">
                <a:solidFill>
                  <a:schemeClr val="bg1"/>
                </a:solidFill>
              </a:rPr>
              <a:t>4.3.2 stm32f103xe.h</a:t>
            </a:r>
            <a:endParaRPr lang="zh-CN" altLang="zh-CN" sz="2400" b="1" dirty="0">
              <a:solidFill>
                <a:schemeClr val="bg1"/>
              </a:solidFill>
            </a:endParaRPr>
          </a:p>
        </p:txBody>
      </p:sp>
      <p:sp>
        <p:nvSpPr>
          <p:cNvPr id="2" name="矩形 1"/>
          <p:cNvSpPr/>
          <p:nvPr/>
        </p:nvSpPr>
        <p:spPr>
          <a:xfrm>
            <a:off x="3417979" y="1098875"/>
            <a:ext cx="2659702" cy="461665"/>
          </a:xfrm>
          <a:prstGeom prst="rect">
            <a:avLst/>
          </a:prstGeom>
        </p:spPr>
        <p:txBody>
          <a:bodyPr wrap="none">
            <a:spAutoFit/>
          </a:bodyPr>
          <a:lstStyle/>
          <a:p>
            <a:r>
              <a:rPr lang="zh-CN" altLang="en-US" sz="2400" b="1" dirty="0">
                <a:solidFill>
                  <a:srgbClr val="D38583"/>
                </a:solidFill>
                <a:ea typeface="隶书" pitchFamily="49" charset="-122"/>
              </a:rPr>
              <a:t>外设寄存器位定义</a:t>
            </a:r>
            <a:endParaRPr lang="zh-CN" altLang="zh-CN" sz="2400" dirty="0">
              <a:solidFill>
                <a:srgbClr val="D38583"/>
              </a:solidFill>
              <a:ea typeface="隶书" pitchFamily="49" charset="-122"/>
            </a:endParaRPr>
          </a:p>
        </p:txBody>
      </p:sp>
      <p:sp>
        <p:nvSpPr>
          <p:cNvPr id="16" name="矩形 15"/>
          <p:cNvSpPr/>
          <p:nvPr/>
        </p:nvSpPr>
        <p:spPr>
          <a:xfrm>
            <a:off x="1187623" y="3723878"/>
            <a:ext cx="7120415" cy="584775"/>
          </a:xfrm>
          <a:prstGeom prst="rect">
            <a:avLst/>
          </a:prstGeom>
          <a:solidFill>
            <a:schemeClr val="bg1"/>
          </a:solidFill>
        </p:spPr>
        <p:txBody>
          <a:bodyPr wrap="square">
            <a:spAutoFit/>
          </a:bodyP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GB" altLang="zh-CN" sz="1600" b="1" dirty="0">
                <a:solidFill>
                  <a:prstClr val="black"/>
                </a:solidFill>
                <a:ea typeface="楷体" pitchFamily="49" charset="-122"/>
              </a:rPr>
              <a:t>stm32f103xe.h</a:t>
            </a:r>
            <a:r>
              <a:rPr lang="zh-CN" altLang="en-US" sz="1600" b="1" dirty="0">
                <a:solidFill>
                  <a:prstClr val="black"/>
                </a:solidFill>
                <a:ea typeface="楷体" pitchFamily="49" charset="-122"/>
              </a:rPr>
              <a:t>文件中包含了片上外设的寄存器位定义，比如：</a:t>
            </a:r>
            <a:r>
              <a:rPr lang="en-GB" altLang="zh-CN" sz="1600" b="1" dirty="0">
                <a:solidFill>
                  <a:prstClr val="black"/>
                </a:solidFill>
                <a:ea typeface="楷体" pitchFamily="49" charset="-122"/>
              </a:rPr>
              <a:t>CRC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GPIO</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EXTI</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DMA</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ADC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DAC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TIM</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IIC</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SPI</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CAN</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USB</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SDIO</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FSMC</a:t>
            </a:r>
            <a:r>
              <a:rPr lang="zh-CN" altLang="en-US" sz="1600" b="1" dirty="0">
                <a:solidFill>
                  <a:prstClr val="black"/>
                </a:solidFill>
                <a:ea typeface="楷体" pitchFamily="49" charset="-122"/>
              </a:rPr>
              <a:t>等。</a:t>
            </a:r>
            <a:endParaRPr lang="en-US" altLang="zh-CN" sz="1600" b="1" dirty="0">
              <a:solidFill>
                <a:prstClr val="black"/>
              </a:solidFill>
              <a:ea typeface="楷体" pitchFamily="49" charset="-122"/>
            </a:endParaRPr>
          </a:p>
        </p:txBody>
      </p:sp>
    </p:spTree>
    <p:extLst>
      <p:ext uri="{BB962C8B-B14F-4D97-AF65-F5344CB8AC3E}">
        <p14:creationId xmlns:p14="http://schemas.microsoft.com/office/powerpoint/2010/main" val="623055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2" name="矩形 1"/>
          <p:cNvSpPr/>
          <p:nvPr/>
        </p:nvSpPr>
        <p:spPr>
          <a:xfrm>
            <a:off x="899592" y="1131590"/>
            <a:ext cx="7416824" cy="784830"/>
          </a:xfrm>
          <a:prstGeom prst="rect">
            <a:avLst/>
          </a:prstGeom>
        </p:spPr>
        <p:txBody>
          <a:bodyPr wrap="square">
            <a:spAutoFit/>
          </a:bodyPr>
          <a:lstStyle/>
          <a:p>
            <a:pPr>
              <a:lnSpc>
                <a:spcPct val="125000"/>
              </a:lnSpc>
            </a:pPr>
            <a:r>
              <a:rPr lang="en-US" altLang="zh-CN" b="1" dirty="0" smtClean="0"/>
              <a:t>      stm32f1xx_hal.c</a:t>
            </a:r>
            <a:r>
              <a:rPr lang="zh-CN" altLang="en-US" b="1" dirty="0"/>
              <a:t>和</a:t>
            </a:r>
            <a:r>
              <a:rPr lang="en-US" altLang="zh-CN" b="1" dirty="0"/>
              <a:t>stm32f1xx_hal.h</a:t>
            </a:r>
            <a:r>
              <a:rPr lang="zh-CN" altLang="en-US" b="1" dirty="0"/>
              <a:t>是</a:t>
            </a:r>
            <a:r>
              <a:rPr lang="en-US" altLang="zh-CN" b="1" dirty="0"/>
              <a:t>STM32F1</a:t>
            </a:r>
            <a:r>
              <a:rPr lang="zh-CN" altLang="en-US" b="1" dirty="0"/>
              <a:t>系列</a:t>
            </a:r>
            <a:r>
              <a:rPr lang="en-US" altLang="zh-CN" b="1" dirty="0"/>
              <a:t>MCU</a:t>
            </a:r>
            <a:r>
              <a:rPr lang="zh-CN" altLang="en-US" b="1" dirty="0"/>
              <a:t>的</a:t>
            </a:r>
            <a:r>
              <a:rPr lang="en-US" altLang="zh-CN" b="1" dirty="0"/>
              <a:t>HAL</a:t>
            </a:r>
            <a:r>
              <a:rPr lang="zh-CN" altLang="en-US" b="1" dirty="0"/>
              <a:t>库相关的源文件和头文件</a:t>
            </a:r>
            <a:r>
              <a:rPr lang="zh-CN" altLang="en-US" b="1" dirty="0" smtClean="0"/>
              <a:t>。</a:t>
            </a:r>
            <a:endParaRPr lang="zh-CN" altLang="en-US" b="1" dirty="0"/>
          </a:p>
        </p:txBody>
      </p:sp>
      <p:graphicFrame>
        <p:nvGraphicFramePr>
          <p:cNvPr id="3" name="图示 2"/>
          <p:cNvGraphicFramePr/>
          <p:nvPr>
            <p:extLst>
              <p:ext uri="{D42A27DB-BD31-4B8C-83A1-F6EECF244321}">
                <p14:modId xmlns:p14="http://schemas.microsoft.com/office/powerpoint/2010/main" val="1207812398"/>
              </p:ext>
            </p:extLst>
          </p:nvPr>
        </p:nvGraphicFramePr>
        <p:xfrm>
          <a:off x="539552" y="1940838"/>
          <a:ext cx="8208912" cy="2248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95859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251520" y="1003083"/>
            <a:ext cx="4968552" cy="2031325"/>
          </a:xfrm>
          <a:prstGeom prst="rect">
            <a:avLst/>
          </a:prstGeom>
          <a:solidFill>
            <a:schemeClr val="accent6">
              <a:lumMod val="20000"/>
              <a:lumOff val="80000"/>
            </a:schemeClr>
          </a:solidFill>
        </p:spPr>
        <p:txBody>
          <a:bodyPr wrap="square">
            <a:spAutoFit/>
          </a:bodyPr>
          <a:lstStyle/>
          <a:p>
            <a:r>
              <a:rPr lang="en-US" altLang="zh-CN" sz="1400" b="1" dirty="0" smtClean="0"/>
              <a:t>   /* </a:t>
            </a:r>
            <a:r>
              <a:rPr lang="en-US" altLang="zh-CN" sz="1400" b="1" dirty="0"/>
              <a:t>----</a:t>
            </a:r>
            <a:r>
              <a:rPr lang="zh-CN" altLang="en-US" sz="1400" b="1" dirty="0"/>
              <a:t>包含的头文件</a:t>
            </a:r>
            <a:r>
              <a:rPr lang="en-US" altLang="zh-CN" sz="1400" b="1" dirty="0"/>
              <a:t>--*/</a:t>
            </a:r>
          </a:p>
          <a:p>
            <a:r>
              <a:rPr lang="en-US" altLang="zh-CN" sz="1400" b="1" dirty="0">
                <a:solidFill>
                  <a:schemeClr val="accent5">
                    <a:lumMod val="75000"/>
                  </a:schemeClr>
                </a:solidFill>
              </a:rPr>
              <a:t>#</a:t>
            </a:r>
            <a:r>
              <a:rPr lang="en-GB" altLang="zh-CN" sz="1400" b="1" dirty="0">
                <a:solidFill>
                  <a:schemeClr val="accent5">
                    <a:lumMod val="75000"/>
                  </a:schemeClr>
                </a:solidFill>
              </a:rPr>
              <a:t>include  "stm32f1xx_hal.h"</a:t>
            </a:r>
          </a:p>
          <a:p>
            <a:r>
              <a:rPr lang="en-GB" altLang="zh-CN" sz="1400" b="1" dirty="0">
                <a:solidFill>
                  <a:schemeClr val="accent5">
                    <a:lumMod val="75000"/>
                  </a:schemeClr>
                </a:solidFill>
              </a:rPr>
              <a:t>… …</a:t>
            </a:r>
          </a:p>
          <a:p>
            <a:r>
              <a:rPr lang="en-GB" altLang="zh-CN" sz="1400" b="1" dirty="0">
                <a:solidFill>
                  <a:schemeClr val="accent5">
                    <a:lumMod val="75000"/>
                  </a:schemeClr>
                </a:solidFill>
              </a:rPr>
              <a:t>__IO uint32_t  </a:t>
            </a:r>
            <a:r>
              <a:rPr lang="en-GB" altLang="zh-CN" sz="1400" b="1" dirty="0" err="1">
                <a:solidFill>
                  <a:schemeClr val="accent5">
                    <a:lumMod val="75000"/>
                  </a:schemeClr>
                </a:solidFill>
              </a:rPr>
              <a:t>uwTick</a:t>
            </a:r>
            <a:r>
              <a:rPr lang="en-GB" altLang="zh-CN" sz="1400" b="1" dirty="0" smtClean="0">
                <a:solidFill>
                  <a:schemeClr val="accent5">
                    <a:lumMod val="75000"/>
                  </a:schemeClr>
                </a:solidFill>
              </a:rPr>
              <a:t>;</a:t>
            </a: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a:t>
            </a:r>
            <a:r>
              <a:rPr lang="zh-CN" altLang="en-US" sz="1400" b="1" dirty="0"/>
              <a:t>定义一个</a:t>
            </a:r>
            <a:r>
              <a:rPr lang="en-US" altLang="zh-CN" sz="1400" b="1" dirty="0"/>
              <a:t>32</a:t>
            </a:r>
            <a:r>
              <a:rPr lang="zh-CN" altLang="en-US" sz="1400" b="1" dirty="0"/>
              <a:t>位的无符号整型变量</a:t>
            </a:r>
            <a:r>
              <a:rPr lang="en-GB" altLang="zh-CN" sz="1400" b="1" dirty="0" err="1"/>
              <a:t>uwTick</a:t>
            </a:r>
            <a:endParaRPr lang="en-GB" altLang="zh-CN" sz="1400" b="1" dirty="0"/>
          </a:p>
          <a:p>
            <a:r>
              <a:rPr lang="en-GB" altLang="zh-CN" sz="1400" b="1" dirty="0">
                <a:solidFill>
                  <a:schemeClr val="accent5">
                    <a:lumMod val="75000"/>
                  </a:schemeClr>
                </a:solidFill>
              </a:rPr>
              <a:t>uint32_t  </a:t>
            </a:r>
            <a:r>
              <a:rPr lang="en-GB" altLang="zh-CN" sz="1400" b="1" dirty="0" err="1">
                <a:solidFill>
                  <a:schemeClr val="accent5">
                    <a:lumMod val="75000"/>
                  </a:schemeClr>
                </a:solidFill>
              </a:rPr>
              <a:t>uwTickPrio</a:t>
            </a:r>
            <a:r>
              <a:rPr lang="en-GB" altLang="zh-CN" sz="1400" b="1" dirty="0">
                <a:solidFill>
                  <a:schemeClr val="accent5">
                    <a:lumMod val="75000"/>
                  </a:schemeClr>
                </a:solidFill>
              </a:rPr>
              <a:t>   = (1UL &lt;&lt; __NVIC_PRIO_BITS);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smtClean="0"/>
              <a:t>/* </a:t>
            </a:r>
            <a:r>
              <a:rPr lang="zh-CN" altLang="en-US" sz="1400" b="1" dirty="0"/>
              <a:t>无效的优先级</a:t>
            </a:r>
            <a:r>
              <a:rPr lang="en-GB" altLang="zh-CN" sz="1400" b="1" dirty="0"/>
              <a:t>PRIO */</a:t>
            </a:r>
          </a:p>
          <a:p>
            <a:r>
              <a:rPr lang="en-GB" altLang="zh-CN" sz="1400" b="1" dirty="0" err="1">
                <a:solidFill>
                  <a:schemeClr val="accent5">
                    <a:lumMod val="75000"/>
                  </a:schemeClr>
                </a:solidFill>
              </a:rPr>
              <a:t>HAL_TickFreqTypeDef</a:t>
            </a:r>
            <a:r>
              <a:rPr lang="en-GB" altLang="zh-CN" sz="1400" b="1" dirty="0">
                <a:solidFill>
                  <a:schemeClr val="accent5">
                    <a:lumMod val="75000"/>
                  </a:schemeClr>
                </a:solidFill>
              </a:rPr>
              <a:t>   </a:t>
            </a:r>
            <a:r>
              <a:rPr lang="en-GB" altLang="zh-CN" sz="1400" b="1" dirty="0" err="1">
                <a:solidFill>
                  <a:schemeClr val="accent5">
                    <a:lumMod val="75000"/>
                  </a:schemeClr>
                </a:solidFill>
              </a:rPr>
              <a:t>uwTickFreq</a:t>
            </a:r>
            <a:r>
              <a:rPr lang="en-GB" altLang="zh-CN" sz="1400" b="1" dirty="0">
                <a:solidFill>
                  <a:schemeClr val="accent5">
                    <a:lumMod val="75000"/>
                  </a:schemeClr>
                </a:solidFill>
              </a:rPr>
              <a:t> = HAL_TICK_FREQ_DEFAULT; </a:t>
            </a:r>
            <a:endParaRPr lang="en-GB" altLang="zh-CN" sz="1400" b="1" dirty="0" smtClean="0">
              <a:solidFill>
                <a:schemeClr val="accent5">
                  <a:lumMod val="75000"/>
                </a:schemeClr>
              </a:solidFill>
            </a:endParaRPr>
          </a:p>
          <a:p>
            <a:r>
              <a:rPr lang="en-GB" altLang="zh-CN" sz="1400" b="1" dirty="0">
                <a:solidFill>
                  <a:schemeClr val="accent5">
                    <a:lumMod val="75000"/>
                  </a:schemeClr>
                </a:solidFill>
              </a:rPr>
              <a:t> </a:t>
            </a:r>
            <a:r>
              <a:rPr lang="en-GB" altLang="zh-CN" sz="1400" b="1" dirty="0" smtClean="0">
                <a:solidFill>
                  <a:schemeClr val="accent5">
                    <a:lumMod val="75000"/>
                  </a:schemeClr>
                </a:solidFill>
              </a:rPr>
              <a:t>     </a:t>
            </a:r>
            <a:r>
              <a:rPr lang="en-GB" altLang="zh-CN" sz="1400" b="1" dirty="0"/>
              <a:t>/* 1KHz </a:t>
            </a:r>
            <a:r>
              <a:rPr lang="en-GB" altLang="zh-CN" sz="1400" b="1" dirty="0" smtClean="0"/>
              <a:t>*/</a:t>
            </a:r>
            <a:endParaRPr lang="en-GB" altLang="zh-CN" sz="1400" b="1" dirty="0"/>
          </a:p>
        </p:txBody>
      </p:sp>
      <p:sp>
        <p:nvSpPr>
          <p:cNvPr id="7" name="矩形 6"/>
          <p:cNvSpPr/>
          <p:nvPr/>
        </p:nvSpPr>
        <p:spPr>
          <a:xfrm>
            <a:off x="5509065" y="1480136"/>
            <a:ext cx="3024336" cy="1296637"/>
          </a:xfrm>
          <a:prstGeom prst="rect">
            <a:avLst/>
          </a:prstGeom>
        </p:spPr>
        <p:txBody>
          <a:bodyPr wrap="square">
            <a:spAutoFit/>
          </a:bodyPr>
          <a:lstStyle/>
          <a:p>
            <a:pPr lvl="0">
              <a:lnSpc>
                <a:spcPct val="125000"/>
              </a:lnSpc>
            </a:pPr>
            <a:r>
              <a:rPr lang="en-GB" altLang="zh-CN" sz="1600" b="1" dirty="0" smtClean="0">
                <a:solidFill>
                  <a:prstClr val="black"/>
                </a:solidFill>
              </a:rPr>
              <a:t>     HAL_TICK_FREQ_DEFAULT</a:t>
            </a:r>
            <a:r>
              <a:rPr lang="zh-CN" altLang="en-US" sz="1600" b="1" dirty="0">
                <a:solidFill>
                  <a:prstClr val="black"/>
                </a:solidFill>
              </a:rPr>
              <a:t>定义在</a:t>
            </a:r>
            <a:r>
              <a:rPr lang="en-GB" altLang="zh-CN" sz="1600" b="1" dirty="0">
                <a:solidFill>
                  <a:prstClr val="black"/>
                </a:solidFill>
              </a:rPr>
              <a:t>stm32f1xx_hal.h</a:t>
            </a:r>
            <a:r>
              <a:rPr lang="zh-CN" altLang="en-US" sz="1600" b="1" dirty="0">
                <a:solidFill>
                  <a:prstClr val="black"/>
                </a:solidFill>
              </a:rPr>
              <a:t>头文件中，是别名为</a:t>
            </a:r>
            <a:r>
              <a:rPr lang="en-GB" altLang="zh-CN" sz="1600" b="1" dirty="0" err="1">
                <a:solidFill>
                  <a:prstClr val="black"/>
                </a:solidFill>
              </a:rPr>
              <a:t>HAL_TickFreqTypeDef</a:t>
            </a:r>
            <a:r>
              <a:rPr lang="zh-CN" altLang="en-US" sz="1600" b="1" dirty="0">
                <a:solidFill>
                  <a:prstClr val="black"/>
                </a:solidFill>
              </a:rPr>
              <a:t>的一个枚举成员，其值为</a:t>
            </a:r>
            <a:r>
              <a:rPr lang="en-US" altLang="zh-CN" sz="1600" b="1" dirty="0">
                <a:solidFill>
                  <a:prstClr val="black"/>
                </a:solidFill>
              </a:rPr>
              <a:t>1</a:t>
            </a:r>
            <a:r>
              <a:rPr lang="en-GB" altLang="zh-CN" sz="1600" b="1" dirty="0" err="1" smtClean="0">
                <a:solidFill>
                  <a:prstClr val="black"/>
                </a:solidFill>
              </a:rPr>
              <a:t>ms</a:t>
            </a:r>
            <a:r>
              <a:rPr lang="zh-CN" altLang="en-US" sz="1600" b="1" dirty="0" smtClean="0">
                <a:solidFill>
                  <a:prstClr val="black"/>
                </a:solidFill>
              </a:rPr>
              <a:t>：</a:t>
            </a:r>
            <a:endParaRPr lang="zh-CN" altLang="en-US" sz="1600" b="1" dirty="0">
              <a:solidFill>
                <a:prstClr val="black"/>
              </a:solidFill>
            </a:endParaRPr>
          </a:p>
        </p:txBody>
      </p:sp>
      <p:sp>
        <p:nvSpPr>
          <p:cNvPr id="8" name="矩形 7"/>
          <p:cNvSpPr/>
          <p:nvPr/>
        </p:nvSpPr>
        <p:spPr>
          <a:xfrm>
            <a:off x="4860032" y="3104320"/>
            <a:ext cx="3960440" cy="1600438"/>
          </a:xfrm>
          <a:prstGeom prst="rect">
            <a:avLst/>
          </a:prstGeom>
          <a:solidFill>
            <a:schemeClr val="accent6">
              <a:lumMod val="20000"/>
              <a:lumOff val="80000"/>
            </a:schemeClr>
          </a:solidFill>
        </p:spPr>
        <p:txBody>
          <a:bodyPr wrap="square">
            <a:spAutoFit/>
          </a:bodyPr>
          <a:lstStyle/>
          <a:p>
            <a:pPr lvl="0"/>
            <a:r>
              <a:rPr lang="en-GB" altLang="zh-CN" sz="1400" b="1" dirty="0" err="1">
                <a:solidFill>
                  <a:srgbClr val="4BACC6">
                    <a:lumMod val="75000"/>
                  </a:srgbClr>
                </a:solidFill>
              </a:rPr>
              <a:t>typedef</a:t>
            </a:r>
            <a:r>
              <a:rPr lang="en-GB" altLang="zh-CN" sz="1400" b="1" dirty="0">
                <a:solidFill>
                  <a:srgbClr val="4BACC6">
                    <a:lumMod val="75000"/>
                  </a:srgbClr>
                </a:solidFill>
              </a:rPr>
              <a:t> </a:t>
            </a:r>
            <a:r>
              <a:rPr lang="en-GB" altLang="zh-CN" sz="1400" b="1" dirty="0" err="1">
                <a:solidFill>
                  <a:srgbClr val="4BACC6">
                    <a:lumMod val="75000"/>
                  </a:srgbClr>
                </a:solidFill>
              </a:rPr>
              <a:t>enum</a:t>
            </a:r>
            <a:endParaRPr lang="en-GB" altLang="zh-CN" sz="1400" b="1" dirty="0">
              <a:solidFill>
                <a:srgbClr val="4BACC6">
                  <a:lumMod val="75000"/>
                </a:srgbClr>
              </a:solidFill>
            </a:endParaRPr>
          </a:p>
          <a:p>
            <a:pPr lvl="0"/>
            <a:r>
              <a:rPr lang="en-GB" altLang="zh-CN" sz="1400" b="1" dirty="0">
                <a:solidFill>
                  <a:srgbClr val="4BACC6">
                    <a:lumMod val="75000"/>
                  </a:srgbClr>
                </a:solidFill>
              </a:rPr>
              <a:t>{</a:t>
            </a:r>
          </a:p>
          <a:p>
            <a:pPr lvl="0"/>
            <a:r>
              <a:rPr lang="en-GB" altLang="zh-CN" sz="1400" b="1" dirty="0">
                <a:solidFill>
                  <a:srgbClr val="4BACC6">
                    <a:lumMod val="75000"/>
                  </a:srgbClr>
                </a:solidFill>
              </a:rPr>
              <a:t>  HAL_TICK_FREQ_10HZ  </a:t>
            </a:r>
            <a:r>
              <a:rPr lang="en-GB" altLang="zh-CN" sz="1400" b="1" dirty="0" smtClean="0">
                <a:solidFill>
                  <a:srgbClr val="4BACC6">
                    <a:lumMod val="75000"/>
                  </a:srgbClr>
                </a:solidFill>
              </a:rPr>
              <a:t>= </a:t>
            </a:r>
            <a:r>
              <a:rPr lang="en-GB" altLang="zh-CN" sz="1400" b="1" dirty="0">
                <a:solidFill>
                  <a:srgbClr val="4BACC6">
                    <a:lumMod val="75000"/>
                  </a:srgbClr>
                </a:solidFill>
              </a:rPr>
              <a:t>100U,</a:t>
            </a:r>
          </a:p>
          <a:p>
            <a:pPr lvl="0"/>
            <a:r>
              <a:rPr lang="en-GB" altLang="zh-CN" sz="1400" b="1" dirty="0">
                <a:solidFill>
                  <a:srgbClr val="4BACC6">
                    <a:lumMod val="75000"/>
                  </a:srgbClr>
                </a:solidFill>
              </a:rPr>
              <a:t>  HAL_TICK_FREQ_100HZ  </a:t>
            </a:r>
            <a:r>
              <a:rPr lang="en-GB" altLang="zh-CN" sz="1400" b="1" dirty="0" smtClean="0">
                <a:solidFill>
                  <a:srgbClr val="4BACC6">
                    <a:lumMod val="75000"/>
                  </a:srgbClr>
                </a:solidFill>
              </a:rPr>
              <a:t>= </a:t>
            </a:r>
            <a:r>
              <a:rPr lang="en-GB" altLang="zh-CN" sz="1400" b="1" dirty="0">
                <a:solidFill>
                  <a:srgbClr val="4BACC6">
                    <a:lumMod val="75000"/>
                  </a:srgbClr>
                </a:solidFill>
              </a:rPr>
              <a:t>10U,</a:t>
            </a:r>
          </a:p>
          <a:p>
            <a:pPr lvl="0"/>
            <a:r>
              <a:rPr lang="en-GB" altLang="zh-CN" sz="1400" b="1" dirty="0">
                <a:solidFill>
                  <a:srgbClr val="4BACC6">
                    <a:lumMod val="75000"/>
                  </a:srgbClr>
                </a:solidFill>
              </a:rPr>
              <a:t>  HAL_TICK_FREQ_1KHZ   </a:t>
            </a:r>
            <a:r>
              <a:rPr lang="en-GB" altLang="zh-CN" sz="1400" b="1" dirty="0" smtClean="0">
                <a:solidFill>
                  <a:srgbClr val="4BACC6">
                    <a:lumMod val="75000"/>
                  </a:srgbClr>
                </a:solidFill>
              </a:rPr>
              <a:t>= </a:t>
            </a:r>
            <a:r>
              <a:rPr lang="en-GB" altLang="zh-CN" sz="1400" b="1" dirty="0">
                <a:solidFill>
                  <a:srgbClr val="4BACC6">
                    <a:lumMod val="75000"/>
                  </a:srgbClr>
                </a:solidFill>
              </a:rPr>
              <a:t>1U,</a:t>
            </a:r>
          </a:p>
          <a:p>
            <a:pPr lvl="0"/>
            <a:r>
              <a:rPr lang="en-GB" altLang="zh-CN" sz="1400" b="1" dirty="0">
                <a:solidFill>
                  <a:srgbClr val="4BACC6">
                    <a:lumMod val="75000"/>
                  </a:srgbClr>
                </a:solidFill>
              </a:rPr>
              <a:t>  HAL_TICK_FREQ_DEFAULT </a:t>
            </a:r>
            <a:r>
              <a:rPr lang="en-GB" altLang="zh-CN" sz="1400" b="1" dirty="0" smtClean="0">
                <a:solidFill>
                  <a:srgbClr val="4BACC6">
                    <a:lumMod val="75000"/>
                  </a:srgbClr>
                </a:solidFill>
              </a:rPr>
              <a:t> </a:t>
            </a:r>
            <a:r>
              <a:rPr lang="en-GB" altLang="zh-CN" sz="1400" b="1" dirty="0">
                <a:solidFill>
                  <a:srgbClr val="4BACC6">
                    <a:lumMod val="75000"/>
                  </a:srgbClr>
                </a:solidFill>
              </a:rPr>
              <a:t>= </a:t>
            </a:r>
            <a:r>
              <a:rPr lang="en-GB" altLang="zh-CN" sz="1400" b="1" dirty="0" smtClean="0">
                <a:solidFill>
                  <a:srgbClr val="4BACC6">
                    <a:lumMod val="75000"/>
                  </a:srgbClr>
                </a:solidFill>
              </a:rPr>
              <a:t>AL_TICK_FREQ_1KHZ</a:t>
            </a:r>
            <a:endParaRPr lang="en-GB" altLang="zh-CN" sz="1400" b="1" dirty="0">
              <a:solidFill>
                <a:srgbClr val="4BACC6">
                  <a:lumMod val="75000"/>
                </a:srgbClr>
              </a:solidFill>
            </a:endParaRPr>
          </a:p>
          <a:p>
            <a:pPr lvl="0"/>
            <a:r>
              <a:rPr lang="en-GB" altLang="zh-CN" sz="1400" b="1" dirty="0">
                <a:solidFill>
                  <a:srgbClr val="4BACC6">
                    <a:lumMod val="75000"/>
                  </a:srgbClr>
                </a:solidFill>
              </a:rPr>
              <a:t>} </a:t>
            </a:r>
            <a:r>
              <a:rPr lang="en-GB" altLang="zh-CN" sz="1400" b="1" dirty="0" err="1">
                <a:solidFill>
                  <a:srgbClr val="4BACC6">
                    <a:lumMod val="75000"/>
                  </a:srgbClr>
                </a:solidFill>
              </a:rPr>
              <a:t>HAL_TickFreqTypeDef</a:t>
            </a:r>
            <a:r>
              <a:rPr lang="en-GB" altLang="zh-CN" sz="1400" b="1" dirty="0">
                <a:solidFill>
                  <a:srgbClr val="4BACC6">
                    <a:lumMod val="75000"/>
                  </a:srgbClr>
                </a:solidFill>
              </a:rPr>
              <a:t>;</a:t>
            </a:r>
          </a:p>
        </p:txBody>
      </p:sp>
      <p:sp>
        <p:nvSpPr>
          <p:cNvPr id="9" name="矩形 8"/>
          <p:cNvSpPr/>
          <p:nvPr/>
        </p:nvSpPr>
        <p:spPr>
          <a:xfrm>
            <a:off x="827584" y="3517765"/>
            <a:ext cx="3384376" cy="1077218"/>
          </a:xfrm>
          <a:prstGeom prst="rect">
            <a:avLst/>
          </a:prstGeom>
        </p:spPr>
        <p:txBody>
          <a:bodyPr wrap="square">
            <a:spAutoFit/>
          </a:bodyPr>
          <a:lstStyle/>
          <a:p>
            <a:pPr marL="268288" lvl="0" indent="-268288"/>
            <a:r>
              <a:rPr lang="zh-CN" altLang="en-US" sz="1600" b="1" dirty="0">
                <a:solidFill>
                  <a:srgbClr val="D38583"/>
                </a:solidFill>
                <a:ea typeface="楷体" pitchFamily="49" charset="-122"/>
              </a:rPr>
              <a:t>解析：</a:t>
            </a:r>
            <a:r>
              <a:rPr lang="zh-CN" altLang="en-US" sz="1600" b="1" dirty="0">
                <a:solidFill>
                  <a:prstClr val="black"/>
                </a:solidFill>
                <a:ea typeface="楷体" pitchFamily="49" charset="-122"/>
              </a:rPr>
              <a:t>定义滴答定时器的时基，</a:t>
            </a:r>
            <a:r>
              <a:rPr lang="en-GB" altLang="zh-CN" sz="1600" b="1" dirty="0">
                <a:solidFill>
                  <a:prstClr val="black"/>
                </a:solidFill>
                <a:ea typeface="楷体" pitchFamily="49" charset="-122"/>
              </a:rPr>
              <a:t>HAL_TICK_FREQ_1KHZ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HAL_TICK_FREQ_100HZ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10</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r>
              <a:rPr lang="en-GB" altLang="zh-CN" sz="1600" b="1" dirty="0">
                <a:solidFill>
                  <a:prstClr val="black"/>
                </a:solidFill>
                <a:ea typeface="楷体" pitchFamily="49" charset="-122"/>
              </a:rPr>
              <a:t>HAL_TICK_FREQ_10HZ</a:t>
            </a:r>
            <a:r>
              <a:rPr lang="zh-CN" altLang="en-US" sz="1600" b="1" dirty="0">
                <a:solidFill>
                  <a:prstClr val="black"/>
                </a:solidFill>
                <a:ea typeface="楷体" pitchFamily="49" charset="-122"/>
              </a:rPr>
              <a:t>为</a:t>
            </a:r>
            <a:r>
              <a:rPr lang="en-US" altLang="zh-CN" sz="1600" b="1" dirty="0">
                <a:solidFill>
                  <a:prstClr val="black"/>
                </a:solidFill>
                <a:ea typeface="楷体" pitchFamily="49" charset="-122"/>
              </a:rPr>
              <a:t>100</a:t>
            </a:r>
            <a:r>
              <a:rPr lang="en-GB" altLang="zh-CN" sz="1600" b="1" dirty="0" err="1">
                <a:solidFill>
                  <a:prstClr val="black"/>
                </a:solidFill>
                <a:ea typeface="楷体" pitchFamily="49" charset="-122"/>
              </a:rPr>
              <a:t>ms</a:t>
            </a:r>
            <a:r>
              <a:rPr lang="zh-CN" altLang="en-GB" sz="1600" b="1" dirty="0">
                <a:solidFill>
                  <a:prstClr val="black"/>
                </a:solidFill>
                <a:ea typeface="楷体" pitchFamily="49" charset="-122"/>
              </a:rPr>
              <a:t>。</a:t>
            </a:r>
          </a:p>
        </p:txBody>
      </p:sp>
      <p:sp>
        <p:nvSpPr>
          <p:cNvPr id="10" name="燕尾形箭头 9"/>
          <p:cNvSpPr/>
          <p:nvPr/>
        </p:nvSpPr>
        <p:spPr>
          <a:xfrm>
            <a:off x="3995936" y="3904539"/>
            <a:ext cx="720080" cy="323395"/>
          </a:xfrm>
          <a:prstGeom prst="notched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solidFill>
                <a:schemeClr val="accent5">
                  <a:lumMod val="20000"/>
                  <a:lumOff val="80000"/>
                </a:schemeClr>
              </a:solidFill>
            </a:endParaRPr>
          </a:p>
        </p:txBody>
      </p:sp>
    </p:spTree>
    <p:extLst>
      <p:ext uri="{BB962C8B-B14F-4D97-AF65-F5344CB8AC3E}">
        <p14:creationId xmlns:p14="http://schemas.microsoft.com/office/powerpoint/2010/main" val="2288889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485800" y="961763"/>
            <a:ext cx="4518248" cy="3970318"/>
          </a:xfrm>
          <a:prstGeom prst="rect">
            <a:avLst/>
          </a:prstGeom>
          <a:solidFill>
            <a:schemeClr val="bg1">
              <a:lumMod val="85000"/>
            </a:schemeClr>
          </a:solidFill>
        </p:spPr>
        <p:txBody>
          <a:bodyPr wrap="square">
            <a:spAutoFit/>
          </a:bodyPr>
          <a:lstStyle/>
          <a:p>
            <a:r>
              <a:rPr lang="en-US" altLang="zh-CN" sz="1400" b="1" dirty="0" err="1" smtClean="0">
                <a:solidFill>
                  <a:schemeClr val="accent5">
                    <a:lumMod val="75000"/>
                  </a:schemeClr>
                </a:solidFill>
              </a:rPr>
              <a:t>HAL_StatusTypeDef</a:t>
            </a:r>
            <a:r>
              <a:rPr lang="en-US" altLang="zh-CN" sz="1400" b="1" dirty="0" smtClean="0">
                <a:solidFill>
                  <a:schemeClr val="accent5">
                    <a:lumMod val="75000"/>
                  </a:schemeClr>
                </a:solidFill>
              </a:rPr>
              <a:t> </a:t>
            </a:r>
            <a:r>
              <a:rPr lang="en-US" altLang="zh-CN" sz="1400" b="1" dirty="0" err="1">
                <a:solidFill>
                  <a:schemeClr val="accent5">
                    <a:lumMod val="75000"/>
                  </a:schemeClr>
                </a:solidFill>
              </a:rPr>
              <a:t>HAL_Init</a:t>
            </a:r>
            <a:r>
              <a:rPr lang="en-US" altLang="zh-CN" sz="1400" b="1" dirty="0">
                <a:solidFill>
                  <a:schemeClr val="accent5">
                    <a:lumMod val="75000"/>
                  </a:schemeClr>
                </a:solidFill>
              </a:rPr>
              <a:t>(void)</a:t>
            </a:r>
          </a:p>
          <a:p>
            <a:r>
              <a:rPr lang="en-US" altLang="zh-CN" sz="1400" b="1" dirty="0">
                <a:solidFill>
                  <a:schemeClr val="accent5">
                    <a:lumMod val="75000"/>
                  </a:schemeClr>
                </a:solidFill>
              </a:rPr>
              <a:t>{</a:t>
            </a:r>
          </a:p>
          <a:p>
            <a:r>
              <a:rPr lang="en-US" altLang="zh-CN" sz="1400" b="1" dirty="0">
                <a:solidFill>
                  <a:schemeClr val="accent5">
                    <a:lumMod val="75000"/>
                  </a:schemeClr>
                </a:solidFill>
              </a:rPr>
              <a:t>#if (PREFETCH_ENABLE != 0)</a:t>
            </a:r>
          </a:p>
          <a:p>
            <a:r>
              <a:rPr lang="en-US" altLang="zh-CN" sz="1400" b="1" dirty="0">
                <a:solidFill>
                  <a:schemeClr val="accent5">
                    <a:lumMod val="75000"/>
                  </a:schemeClr>
                </a:solidFill>
              </a:rPr>
              <a:t>#if defined(STM32F101x6) || defined(STM32F101xB) || defined(STM32F101xE) || defined(STM32F101xG) || \</a:t>
            </a:r>
          </a:p>
          <a:p>
            <a:r>
              <a:rPr lang="en-US" altLang="zh-CN" sz="1400" b="1" dirty="0">
                <a:solidFill>
                  <a:schemeClr val="accent5">
                    <a:lumMod val="75000"/>
                  </a:schemeClr>
                </a:solidFill>
              </a:rPr>
              <a:t>defined(STM32F102x6) || defined(STM32F102xB) || \</a:t>
            </a:r>
          </a:p>
          <a:p>
            <a:r>
              <a:rPr lang="en-US" altLang="zh-CN" sz="1400" b="1" dirty="0">
                <a:solidFill>
                  <a:schemeClr val="accent5">
                    <a:lumMod val="75000"/>
                  </a:schemeClr>
                </a:solidFill>
              </a:rPr>
              <a:t>defined(STM32F103x6) || defined(STM32F103xB) || defined(STM32F103xE) || defined(STM32F103xG) || \</a:t>
            </a:r>
          </a:p>
          <a:p>
            <a:r>
              <a:rPr lang="en-US" altLang="zh-CN" sz="1400" b="1" dirty="0">
                <a:solidFill>
                  <a:schemeClr val="accent5">
                    <a:lumMod val="75000"/>
                  </a:schemeClr>
                </a:solidFill>
              </a:rPr>
              <a:t>defined(STM32F105xC) || defined(STM32F107xC)</a:t>
            </a:r>
          </a:p>
          <a:p>
            <a:r>
              <a:rPr lang="en-US" altLang="zh-CN" sz="1400" b="1" dirty="0">
                <a:solidFill>
                  <a:schemeClr val="accent5">
                    <a:lumMod val="75000"/>
                  </a:schemeClr>
                </a:solidFill>
              </a:rPr>
              <a:t>  __HAL_FLASH_PREFETCH_BUFFER_ENABLE();</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r>
              <a:rPr lang="en-US" altLang="zh-CN" sz="1400" b="1" dirty="0">
                <a:solidFill>
                  <a:schemeClr val="accent5">
                    <a:lumMod val="75000"/>
                  </a:schemeClr>
                </a:solidFill>
              </a:rPr>
              <a:t> </a:t>
            </a:r>
            <a:r>
              <a:rPr lang="en-US" altLang="zh-CN" sz="1400" b="1" dirty="0"/>
              <a:t>/* PREFETCH_ENABLE */</a:t>
            </a:r>
          </a:p>
          <a:p>
            <a:r>
              <a:rPr lang="en-US" altLang="zh-CN" sz="1400" b="1" dirty="0">
                <a:solidFill>
                  <a:schemeClr val="accent5">
                    <a:lumMod val="75000"/>
                  </a:schemeClr>
                </a:solidFill>
              </a:rPr>
              <a:t>  </a:t>
            </a:r>
            <a:r>
              <a:rPr lang="en-US" altLang="zh-CN" sz="1400" b="1" dirty="0" err="1">
                <a:solidFill>
                  <a:schemeClr val="accent5">
                    <a:lumMod val="75000"/>
                  </a:schemeClr>
                </a:solidFill>
              </a:rPr>
              <a:t>HAL_NVIC_SetPriorityGrouping</a:t>
            </a:r>
            <a:r>
              <a:rPr lang="en-US" altLang="zh-CN" sz="1400" b="1" dirty="0">
                <a:solidFill>
                  <a:schemeClr val="accent5">
                    <a:lumMod val="75000"/>
                  </a:schemeClr>
                </a:solidFill>
              </a:rPr>
              <a:t>(NVIC_PRIORITYGROUP_4);</a:t>
            </a:r>
          </a:p>
          <a:p>
            <a:r>
              <a:rPr lang="en-US" altLang="zh-CN" sz="1400" b="1" dirty="0">
                <a:solidFill>
                  <a:schemeClr val="accent5">
                    <a:lumMod val="75000"/>
                  </a:schemeClr>
                </a:solidFill>
              </a:rPr>
              <a:t>  </a:t>
            </a:r>
            <a:r>
              <a:rPr lang="en-US" altLang="zh-CN" sz="1400" b="1" dirty="0" err="1">
                <a:solidFill>
                  <a:schemeClr val="accent5">
                    <a:lumMod val="75000"/>
                  </a:schemeClr>
                </a:solidFill>
              </a:rPr>
              <a:t>HAL_InitTick</a:t>
            </a:r>
            <a:r>
              <a:rPr lang="en-US" altLang="zh-CN" sz="1400" b="1" dirty="0">
                <a:solidFill>
                  <a:schemeClr val="accent5">
                    <a:lumMod val="75000"/>
                  </a:schemeClr>
                </a:solidFill>
              </a:rPr>
              <a:t>(TICK_INT_PRIORITY);</a:t>
            </a:r>
          </a:p>
          <a:p>
            <a:r>
              <a:rPr lang="en-US" altLang="zh-CN" sz="1400" b="1" dirty="0">
                <a:solidFill>
                  <a:schemeClr val="accent5">
                    <a:lumMod val="75000"/>
                  </a:schemeClr>
                </a:solidFill>
              </a:rPr>
              <a:t>  </a:t>
            </a:r>
            <a:r>
              <a:rPr lang="en-US" altLang="zh-CN" sz="1400" b="1" dirty="0" err="1">
                <a:solidFill>
                  <a:schemeClr val="accent5">
                    <a:lumMod val="75000"/>
                  </a:schemeClr>
                </a:solidFill>
              </a:rPr>
              <a:t>HAL_MspInit</a:t>
            </a:r>
            <a:r>
              <a:rPr lang="en-US" altLang="zh-CN" sz="1400" b="1" dirty="0">
                <a:solidFill>
                  <a:schemeClr val="accent5">
                    <a:lumMod val="75000"/>
                  </a:schemeClr>
                </a:solidFill>
              </a:rPr>
              <a:t>();</a:t>
            </a:r>
          </a:p>
          <a:p>
            <a:r>
              <a:rPr lang="en-US" altLang="zh-CN" sz="1400" b="1" dirty="0">
                <a:solidFill>
                  <a:schemeClr val="accent5">
                    <a:lumMod val="75000"/>
                  </a:schemeClr>
                </a:solidFill>
              </a:rPr>
              <a:t>return HAL_OK;</a:t>
            </a:r>
          </a:p>
          <a:p>
            <a:r>
              <a:rPr lang="en-US" altLang="zh-CN" sz="1400" b="1" dirty="0">
                <a:solidFill>
                  <a:schemeClr val="accent5">
                    <a:lumMod val="75000"/>
                  </a:schemeClr>
                </a:solidFill>
              </a:rPr>
              <a:t>}</a:t>
            </a:r>
          </a:p>
        </p:txBody>
      </p:sp>
      <p:sp>
        <p:nvSpPr>
          <p:cNvPr id="9" name="矩形 8"/>
          <p:cNvSpPr/>
          <p:nvPr/>
        </p:nvSpPr>
        <p:spPr>
          <a:xfrm>
            <a:off x="5148064" y="1131590"/>
            <a:ext cx="3744416" cy="3416320"/>
          </a:xfrm>
          <a:prstGeom prst="rect">
            <a:avLst/>
          </a:prstGeom>
        </p:spPr>
        <p:txBody>
          <a:bodyPr wrap="square">
            <a:spAutoFit/>
          </a:bodyPr>
          <a:lstStyle/>
          <a:p>
            <a:pPr marL="268288" lvl="0" indent="-268288"/>
            <a:r>
              <a:rPr lang="zh-CN" altLang="en-US" b="1" dirty="0">
                <a:solidFill>
                  <a:srgbClr val="D38583"/>
                </a:solidFill>
                <a:ea typeface="楷体" pitchFamily="49" charset="-122"/>
              </a:rPr>
              <a:t>解析</a:t>
            </a:r>
            <a:r>
              <a:rPr lang="zh-CN" altLang="en-US" b="1" dirty="0" smtClean="0">
                <a:solidFill>
                  <a:srgbClr val="D38583"/>
                </a:solidFill>
                <a:ea typeface="楷体" pitchFamily="49" charset="-122"/>
              </a:rPr>
              <a:t>：</a:t>
            </a:r>
            <a:r>
              <a:rPr lang="en-GB" altLang="zh-CN" b="1" dirty="0">
                <a:solidFill>
                  <a:prstClr val="black"/>
                </a:solidFill>
                <a:ea typeface="楷体" pitchFamily="49" charset="-122"/>
              </a:rPr>
              <a:t>HAL</a:t>
            </a:r>
            <a:r>
              <a:rPr lang="zh-CN" altLang="en-US" b="1" dirty="0">
                <a:solidFill>
                  <a:prstClr val="black"/>
                </a:solidFill>
                <a:ea typeface="楷体" pitchFamily="49" charset="-122"/>
              </a:rPr>
              <a:t>的初始化函数</a:t>
            </a:r>
            <a:r>
              <a:rPr lang="en-GB" altLang="zh-CN" b="1" dirty="0" err="1">
                <a:solidFill>
                  <a:prstClr val="black"/>
                </a:solidFill>
                <a:ea typeface="楷体" pitchFamily="49" charset="-122"/>
              </a:rPr>
              <a:t>HAL_Init</a:t>
            </a:r>
            <a:r>
              <a:rPr lang="en-GB" altLang="zh-CN" b="1" dirty="0">
                <a:solidFill>
                  <a:prstClr val="black"/>
                </a:solidFill>
                <a:ea typeface="楷体" pitchFamily="49" charset="-122"/>
              </a:rPr>
              <a:t>()</a:t>
            </a:r>
            <a:r>
              <a:rPr lang="zh-CN" altLang="en-GB" b="1" dirty="0">
                <a:solidFill>
                  <a:prstClr val="black"/>
                </a:solidFill>
                <a:ea typeface="楷体" pitchFamily="49" charset="-122"/>
              </a:rPr>
              <a:t>，</a:t>
            </a:r>
            <a:r>
              <a:rPr lang="zh-CN" altLang="en-US" b="1" dirty="0">
                <a:solidFill>
                  <a:prstClr val="black"/>
                </a:solidFill>
                <a:ea typeface="楷体" pitchFamily="49" charset="-122"/>
              </a:rPr>
              <a:t>通过配置</a:t>
            </a:r>
            <a:r>
              <a:rPr lang="en-GB" altLang="zh-CN" b="1" dirty="0">
                <a:solidFill>
                  <a:prstClr val="black"/>
                </a:solidFill>
                <a:ea typeface="楷体" pitchFamily="49" charset="-122"/>
              </a:rPr>
              <a:t>Flash</a:t>
            </a:r>
            <a:r>
              <a:rPr lang="zh-CN" altLang="en-US" b="1" dirty="0">
                <a:solidFill>
                  <a:prstClr val="black"/>
                </a:solidFill>
                <a:ea typeface="楷体" pitchFamily="49" charset="-122"/>
              </a:rPr>
              <a:t>预取功能实现指令和数据的预取缓存</a:t>
            </a:r>
            <a:r>
              <a:rPr lang="zh-CN" altLang="en-US" b="1" dirty="0" smtClean="0">
                <a:solidFill>
                  <a:prstClr val="black"/>
                </a:solidFill>
                <a:ea typeface="楷体" pitchFamily="49" charset="-122"/>
              </a:rPr>
              <a:t>。</a:t>
            </a:r>
            <a:endParaRPr lang="en-US" altLang="zh-CN" b="1" dirty="0" smtClean="0">
              <a:solidFill>
                <a:prstClr val="black"/>
              </a:solidFill>
              <a:ea typeface="楷体" pitchFamily="49" charset="-122"/>
            </a:endParaRPr>
          </a:p>
          <a:p>
            <a:pPr marL="268288" lvl="0" indent="-268288"/>
            <a:endParaRPr lang="en-US" altLang="zh-CN" b="1" dirty="0" smtClean="0">
              <a:solidFill>
                <a:prstClr val="black"/>
              </a:solidFill>
              <a:ea typeface="楷体" pitchFamily="49" charset="-122"/>
            </a:endParaRPr>
          </a:p>
          <a:p>
            <a:pPr lvl="0"/>
            <a:r>
              <a:rPr lang="zh-CN" altLang="en-US" b="1" dirty="0" smtClean="0">
                <a:solidFill>
                  <a:prstClr val="black"/>
                </a:solidFill>
                <a:ea typeface="楷体" pitchFamily="49" charset="-122"/>
              </a:rPr>
              <a:t>通过</a:t>
            </a:r>
            <a:r>
              <a:rPr lang="en-GB" altLang="zh-CN" b="1" dirty="0" err="1">
                <a:solidFill>
                  <a:prstClr val="black"/>
                </a:solidFill>
                <a:ea typeface="楷体" pitchFamily="49" charset="-122"/>
              </a:rPr>
              <a:t>HAL_NVIC_SetPriorityGrouping</a:t>
            </a:r>
            <a:r>
              <a:rPr lang="en-GB" altLang="zh-CN" b="1" dirty="0">
                <a:solidFill>
                  <a:prstClr val="black"/>
                </a:solidFill>
                <a:ea typeface="楷体" pitchFamily="49" charset="-122"/>
              </a:rPr>
              <a:t>( )</a:t>
            </a:r>
            <a:r>
              <a:rPr lang="zh-CN" altLang="en-US" b="1" dirty="0">
                <a:solidFill>
                  <a:prstClr val="black"/>
                </a:solidFill>
                <a:ea typeface="楷体" pitchFamily="49" charset="-122"/>
              </a:rPr>
              <a:t>函数设置中断优先级分组为</a:t>
            </a:r>
            <a:r>
              <a:rPr lang="en-GB" altLang="zh-CN" b="1" dirty="0">
                <a:solidFill>
                  <a:prstClr val="black"/>
                </a:solidFill>
                <a:ea typeface="楷体" pitchFamily="49" charset="-122"/>
              </a:rPr>
              <a:t>NVIC_PRIORITYGROUP_4</a:t>
            </a:r>
            <a:r>
              <a:rPr lang="zh-CN" altLang="en-GB" b="1" dirty="0">
                <a:solidFill>
                  <a:prstClr val="black"/>
                </a:solidFill>
                <a:ea typeface="楷体" pitchFamily="49" charset="-122"/>
              </a:rPr>
              <a:t>，</a:t>
            </a:r>
            <a:r>
              <a:rPr lang="zh-CN" altLang="en-US" b="1" dirty="0">
                <a:solidFill>
                  <a:prstClr val="black"/>
                </a:solidFill>
                <a:ea typeface="楷体" pitchFamily="49" charset="-122"/>
              </a:rPr>
              <a:t>调用</a:t>
            </a:r>
            <a:r>
              <a:rPr lang="en-GB" altLang="zh-CN" b="1" dirty="0" err="1">
                <a:solidFill>
                  <a:prstClr val="black"/>
                </a:solidFill>
                <a:ea typeface="楷体" pitchFamily="49" charset="-122"/>
              </a:rPr>
              <a:t>HAL_InitTick</a:t>
            </a:r>
            <a:r>
              <a:rPr lang="en-GB" altLang="zh-CN" b="1" dirty="0">
                <a:solidFill>
                  <a:prstClr val="black"/>
                </a:solidFill>
                <a:ea typeface="楷体" pitchFamily="49" charset="-122"/>
              </a:rPr>
              <a:t>()</a:t>
            </a:r>
            <a:r>
              <a:rPr lang="zh-CN" altLang="en-US" b="1" dirty="0">
                <a:solidFill>
                  <a:prstClr val="black"/>
                </a:solidFill>
                <a:ea typeface="楷体" pitchFamily="49" charset="-122"/>
              </a:rPr>
              <a:t>函数配置系统滴答定时器</a:t>
            </a:r>
            <a:r>
              <a:rPr lang="en-GB" altLang="zh-CN" b="1" dirty="0" err="1">
                <a:solidFill>
                  <a:prstClr val="black"/>
                </a:solidFill>
                <a:ea typeface="楷体" pitchFamily="49" charset="-122"/>
              </a:rPr>
              <a:t>SysTick</a:t>
            </a:r>
            <a:r>
              <a:rPr lang="zh-CN" altLang="en-US" b="1" dirty="0">
                <a:solidFill>
                  <a:prstClr val="black"/>
                </a:solidFill>
                <a:ea typeface="楷体" pitchFamily="49" charset="-122"/>
              </a:rPr>
              <a:t>产生</a:t>
            </a:r>
            <a:r>
              <a:rPr lang="en-US" altLang="zh-CN" b="1" dirty="0">
                <a:solidFill>
                  <a:prstClr val="black"/>
                </a:solidFill>
                <a:ea typeface="楷体" pitchFamily="49" charset="-122"/>
              </a:rPr>
              <a:t>1</a:t>
            </a:r>
            <a:r>
              <a:rPr lang="en-GB" altLang="zh-CN" b="1" dirty="0" err="1">
                <a:solidFill>
                  <a:prstClr val="black"/>
                </a:solidFill>
                <a:ea typeface="楷体" pitchFamily="49" charset="-122"/>
              </a:rPr>
              <a:t>ms</a:t>
            </a:r>
            <a:r>
              <a:rPr lang="zh-CN" altLang="en-US" b="1" dirty="0">
                <a:solidFill>
                  <a:prstClr val="black"/>
                </a:solidFill>
                <a:ea typeface="楷体" pitchFamily="49" charset="-122"/>
              </a:rPr>
              <a:t>的时间基准，调用</a:t>
            </a:r>
            <a:r>
              <a:rPr lang="en-GB" altLang="zh-CN" b="1" dirty="0" err="1">
                <a:solidFill>
                  <a:prstClr val="black"/>
                </a:solidFill>
                <a:ea typeface="楷体" pitchFamily="49" charset="-122"/>
              </a:rPr>
              <a:t>HAL_MspInit</a:t>
            </a:r>
            <a:r>
              <a:rPr lang="zh-CN" altLang="en-US" b="1" dirty="0">
                <a:solidFill>
                  <a:prstClr val="black"/>
                </a:solidFill>
                <a:ea typeface="楷体" pitchFamily="49" charset="-122"/>
              </a:rPr>
              <a:t>回调函数，执行外设驱动的初始化（如</a:t>
            </a:r>
            <a:r>
              <a:rPr lang="en-GB" altLang="zh-CN" b="1" dirty="0">
                <a:solidFill>
                  <a:prstClr val="black"/>
                </a:solidFill>
                <a:ea typeface="楷体" pitchFamily="49" charset="-122"/>
              </a:rPr>
              <a:t>GPIO</a:t>
            </a:r>
            <a:r>
              <a:rPr lang="zh-CN" altLang="en-GB" b="1" dirty="0">
                <a:solidFill>
                  <a:prstClr val="black"/>
                </a:solidFill>
                <a:ea typeface="楷体" pitchFamily="49" charset="-122"/>
              </a:rPr>
              <a:t>、</a:t>
            </a:r>
            <a:r>
              <a:rPr lang="zh-CN" altLang="en-US" b="1" dirty="0">
                <a:solidFill>
                  <a:prstClr val="black"/>
                </a:solidFill>
                <a:ea typeface="楷体" pitchFamily="49" charset="-122"/>
              </a:rPr>
              <a:t>串口、</a:t>
            </a:r>
            <a:r>
              <a:rPr lang="en-GB" altLang="zh-CN" b="1" dirty="0">
                <a:solidFill>
                  <a:prstClr val="black"/>
                </a:solidFill>
                <a:ea typeface="楷体" pitchFamily="49" charset="-122"/>
              </a:rPr>
              <a:t>DMA</a:t>
            </a:r>
            <a:r>
              <a:rPr lang="zh-CN" altLang="en-US" b="1" dirty="0">
                <a:solidFill>
                  <a:prstClr val="black"/>
                </a:solidFill>
                <a:ea typeface="楷体" pitchFamily="49" charset="-122"/>
              </a:rPr>
              <a:t>等），从而完成系统初始化。</a:t>
            </a:r>
          </a:p>
        </p:txBody>
      </p:sp>
    </p:spTree>
    <p:extLst>
      <p:ext uri="{BB962C8B-B14F-4D97-AF65-F5344CB8AC3E}">
        <p14:creationId xmlns:p14="http://schemas.microsoft.com/office/powerpoint/2010/main" val="688446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315443" y="961763"/>
            <a:ext cx="4616597" cy="1600438"/>
          </a:xfrm>
          <a:prstGeom prst="rect">
            <a:avLst/>
          </a:prstGeom>
          <a:solidFill>
            <a:schemeClr val="accent6">
              <a:lumMod val="20000"/>
              <a:lumOff val="80000"/>
            </a:schemeClr>
          </a:solidFill>
        </p:spPr>
        <p:txBody>
          <a:bodyPr wrap="square">
            <a:spAutoFit/>
          </a:bodyPr>
          <a:lstStyle/>
          <a:p>
            <a:r>
              <a:rPr lang="en-US" altLang="zh-CN" sz="1400" b="1" dirty="0">
                <a:solidFill>
                  <a:schemeClr val="accent5">
                    <a:lumMod val="75000"/>
                  </a:schemeClr>
                </a:solidFill>
              </a:rPr>
              <a:t>__weak void </a:t>
            </a:r>
            <a:r>
              <a:rPr lang="en-US" altLang="zh-CN" sz="1400" b="1" dirty="0" err="1">
                <a:solidFill>
                  <a:schemeClr val="accent5">
                    <a:lumMod val="75000"/>
                  </a:schemeClr>
                </a:solidFill>
              </a:rPr>
              <a:t>HAL_MspInit</a:t>
            </a:r>
            <a:r>
              <a:rPr lang="en-US" altLang="zh-CN" sz="1400" b="1" dirty="0">
                <a:solidFill>
                  <a:schemeClr val="accent5">
                    <a:lumMod val="75000"/>
                  </a:schemeClr>
                </a:solidFill>
              </a:rPr>
              <a:t>(void)</a:t>
            </a:r>
          </a:p>
          <a:p>
            <a:r>
              <a:rPr lang="en-US" altLang="zh-CN" sz="1400" b="1" dirty="0">
                <a:solidFill>
                  <a:schemeClr val="accent5">
                    <a:lumMod val="75000"/>
                  </a:schemeClr>
                </a:solidFill>
              </a:rPr>
              <a:t>{</a:t>
            </a:r>
          </a:p>
          <a:p>
            <a:r>
              <a:rPr lang="en-US" altLang="zh-CN" sz="1400" b="1" dirty="0">
                <a:solidFill>
                  <a:schemeClr val="accent5">
                    <a:lumMod val="75000"/>
                  </a:schemeClr>
                </a:solidFill>
              </a:rPr>
              <a:t>  </a:t>
            </a:r>
            <a:r>
              <a:rPr lang="en-US" altLang="zh-CN" sz="1400" b="1" dirty="0"/>
              <a:t>/* NOTE : This function should not be modified, when the callback is needed,</a:t>
            </a:r>
          </a:p>
          <a:p>
            <a:r>
              <a:rPr lang="en-US" altLang="zh-CN" sz="1400" b="1" dirty="0"/>
              <a:t>the </a:t>
            </a:r>
            <a:r>
              <a:rPr lang="en-US" altLang="zh-CN" sz="1400" b="1" dirty="0" err="1"/>
              <a:t>HAL_MspInit</a:t>
            </a:r>
            <a:r>
              <a:rPr lang="en-US" altLang="zh-CN" sz="1400" b="1" dirty="0"/>
              <a:t> could be implemented in the user file</a:t>
            </a:r>
          </a:p>
          <a:p>
            <a:r>
              <a:rPr lang="en-US" altLang="zh-CN" sz="1400" b="1" dirty="0"/>
              <a:t>   */</a:t>
            </a:r>
          </a:p>
          <a:p>
            <a:r>
              <a:rPr lang="en-US" altLang="zh-CN" sz="1400" b="1" dirty="0">
                <a:solidFill>
                  <a:schemeClr val="accent5">
                    <a:lumMod val="75000"/>
                  </a:schemeClr>
                </a:solidFill>
              </a:rPr>
              <a:t>}</a:t>
            </a:r>
            <a:endParaRPr lang="en-US" altLang="zh-CN" sz="1400" b="1" dirty="0" smtClean="0">
              <a:solidFill>
                <a:schemeClr val="accent5">
                  <a:lumMod val="75000"/>
                </a:schemeClr>
              </a:solidFill>
            </a:endParaRPr>
          </a:p>
        </p:txBody>
      </p:sp>
      <p:sp>
        <p:nvSpPr>
          <p:cNvPr id="7" name="圆角矩形标注 6"/>
          <p:cNvSpPr/>
          <p:nvPr/>
        </p:nvSpPr>
        <p:spPr>
          <a:xfrm>
            <a:off x="5668803" y="790356"/>
            <a:ext cx="3024336" cy="1277338"/>
          </a:xfrm>
          <a:prstGeom prst="wedgeRoundRectCallout">
            <a:avLst>
              <a:gd name="adj1" fmla="val -65343"/>
              <a:gd name="adj2" fmla="val 33073"/>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lvl="0"/>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err="1">
                <a:solidFill>
                  <a:prstClr val="black"/>
                </a:solidFill>
                <a:ea typeface="楷体" pitchFamily="49" charset="-122"/>
              </a:rPr>
              <a:t>HAL_MspInit</a:t>
            </a:r>
            <a:r>
              <a:rPr lang="en-US" altLang="zh-CN" sz="1600" b="1" dirty="0">
                <a:solidFill>
                  <a:prstClr val="black"/>
                </a:solidFill>
                <a:ea typeface="楷体" pitchFamily="49" charset="-122"/>
              </a:rPr>
              <a:t>( )</a:t>
            </a:r>
            <a:r>
              <a:rPr lang="zh-CN" altLang="en-US" sz="1600" b="1" dirty="0">
                <a:solidFill>
                  <a:prstClr val="black"/>
                </a:solidFill>
                <a:ea typeface="楷体" pitchFamily="49" charset="-122"/>
              </a:rPr>
              <a:t>为回调函数，函数体内部是空的，由程序开发人员完成。注意：函数有个前缀</a:t>
            </a:r>
            <a:r>
              <a:rPr lang="en-US" altLang="zh-CN" sz="1600" b="1" dirty="0">
                <a:solidFill>
                  <a:prstClr val="black"/>
                </a:solidFill>
                <a:ea typeface="楷体" pitchFamily="49" charset="-122"/>
              </a:rPr>
              <a:t>__weak</a:t>
            </a:r>
            <a:r>
              <a:rPr lang="zh-CN" altLang="en-US" sz="1600" b="1" dirty="0">
                <a:solidFill>
                  <a:prstClr val="black"/>
                </a:solidFill>
                <a:ea typeface="楷体" pitchFamily="49" charset="-122"/>
              </a:rPr>
              <a:t>，表示弱定义，用户可以重定义。</a:t>
            </a:r>
            <a:endParaRPr lang="zh-CN" altLang="en-US" sz="1600" b="1" dirty="0" smtClean="0"/>
          </a:p>
        </p:txBody>
      </p:sp>
      <p:sp>
        <p:nvSpPr>
          <p:cNvPr id="8" name="左大括号 7"/>
          <p:cNvSpPr/>
          <p:nvPr/>
        </p:nvSpPr>
        <p:spPr>
          <a:xfrm rot="10800000">
            <a:off x="5004048" y="1059582"/>
            <a:ext cx="216024" cy="1440160"/>
          </a:xfrm>
          <a:prstGeom prst="leftBrace">
            <a:avLst>
              <a:gd name="adj1" fmla="val 49248"/>
              <a:gd name="adj2" fmla="val 50000"/>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0" name="矩形 9"/>
          <p:cNvSpPr/>
          <p:nvPr/>
        </p:nvSpPr>
        <p:spPr>
          <a:xfrm>
            <a:off x="315443" y="2643758"/>
            <a:ext cx="4040533" cy="2246769"/>
          </a:xfrm>
          <a:prstGeom prst="rect">
            <a:avLst/>
          </a:prstGeom>
          <a:solidFill>
            <a:schemeClr val="accent6">
              <a:lumMod val="20000"/>
              <a:lumOff val="80000"/>
            </a:schemeClr>
          </a:solidFill>
        </p:spPr>
        <p:txBody>
          <a:bodyPr wrap="square">
            <a:spAutoFit/>
          </a:bodyPr>
          <a:lstStyle/>
          <a:p>
            <a:r>
              <a:rPr lang="en-US" altLang="zh-CN" sz="1400" b="1" dirty="0">
                <a:solidFill>
                  <a:schemeClr val="accent5">
                    <a:lumMod val="75000"/>
                  </a:schemeClr>
                </a:solidFill>
              </a:rPr>
              <a:t>__weak </a:t>
            </a:r>
            <a:r>
              <a:rPr lang="en-US" altLang="zh-CN" sz="1400" b="1" dirty="0" err="1">
                <a:solidFill>
                  <a:schemeClr val="accent5">
                    <a:lumMod val="75000"/>
                  </a:schemeClr>
                </a:solidFill>
              </a:rPr>
              <a:t>HAL_StatusTypeDef</a:t>
            </a:r>
            <a:r>
              <a:rPr lang="en-US" altLang="zh-CN" sz="1400" b="1" dirty="0">
                <a:solidFill>
                  <a:schemeClr val="accent5">
                    <a:lumMod val="75000"/>
                  </a:schemeClr>
                </a:solidFill>
              </a:rPr>
              <a:t>  </a:t>
            </a:r>
            <a:r>
              <a:rPr lang="en-US" altLang="zh-CN" sz="1400" b="1" dirty="0" err="1">
                <a:solidFill>
                  <a:schemeClr val="accent5">
                    <a:lumMod val="75000"/>
                  </a:schemeClr>
                </a:solidFill>
              </a:rPr>
              <a:t>HAL_InitTick</a:t>
            </a:r>
            <a:r>
              <a:rPr lang="en-US" altLang="zh-CN" sz="1400" b="1" dirty="0">
                <a:solidFill>
                  <a:schemeClr val="accent5">
                    <a:lumMod val="75000"/>
                  </a:schemeClr>
                </a:solidFill>
              </a:rPr>
              <a:t>(uint32_t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a:t>
            </a:r>
          </a:p>
          <a:p>
            <a:r>
              <a:rPr lang="en-US" altLang="zh-CN" sz="1400" b="1" dirty="0" smtClean="0">
                <a:solidFill>
                  <a:schemeClr val="accent5">
                    <a:lumMod val="75000"/>
                  </a:schemeClr>
                </a:solidFill>
              </a:rPr>
              <a:t>{</a:t>
            </a:r>
          </a:p>
          <a:p>
            <a:r>
              <a:rPr lang="en-US" altLang="zh-CN" sz="1400" b="1" dirty="0" smtClean="0"/>
              <a:t>    /*</a:t>
            </a:r>
            <a:r>
              <a:rPr lang="zh-CN" altLang="en-US" sz="1400" b="1" dirty="0" smtClean="0"/>
              <a:t>配置系统滴答定时器产生时基为</a:t>
            </a:r>
            <a:r>
              <a:rPr lang="en-US" altLang="zh-CN" sz="1400" b="1" dirty="0" smtClean="0"/>
              <a:t>1ms</a:t>
            </a:r>
            <a:r>
              <a:rPr lang="zh-CN" altLang="en-US" sz="1400" b="1" dirty="0" smtClean="0"/>
              <a:t>的中断*</a:t>
            </a:r>
            <a:r>
              <a:rPr lang="en-US" altLang="zh-CN" sz="1400" b="1" dirty="0" smtClean="0"/>
              <a:t>/</a:t>
            </a:r>
          </a:p>
          <a:p>
            <a:r>
              <a:rPr lang="en-US" altLang="zh-CN" sz="1400" b="1" dirty="0" smtClean="0">
                <a:solidFill>
                  <a:schemeClr val="accent5">
                    <a:lumMod val="75000"/>
                  </a:schemeClr>
                </a:solidFill>
              </a:rPr>
              <a:t>if </a:t>
            </a:r>
            <a:r>
              <a:rPr lang="en-US" altLang="zh-CN" sz="1400" b="1" dirty="0">
                <a:solidFill>
                  <a:schemeClr val="accent5">
                    <a:lumMod val="75000"/>
                  </a:schemeClr>
                </a:solidFill>
              </a:rPr>
              <a:t>(</a:t>
            </a:r>
            <a:r>
              <a:rPr lang="en-US" altLang="zh-CN" sz="1400" b="1" dirty="0" err="1">
                <a:solidFill>
                  <a:schemeClr val="accent5">
                    <a:lumMod val="75000"/>
                  </a:schemeClr>
                </a:solidFill>
              </a:rPr>
              <a:t>HAL_SYSTICK_Config</a:t>
            </a:r>
            <a:r>
              <a:rPr lang="en-US" altLang="zh-CN" sz="1400" b="1" dirty="0">
                <a:solidFill>
                  <a:schemeClr val="accent5">
                    <a:lumMod val="75000"/>
                  </a:schemeClr>
                </a:solidFill>
              </a:rPr>
              <a:t>(</a:t>
            </a:r>
            <a:r>
              <a:rPr lang="en-US" altLang="zh-CN" sz="1400" b="1" dirty="0" err="1">
                <a:solidFill>
                  <a:schemeClr val="accent5">
                    <a:lumMod val="75000"/>
                  </a:schemeClr>
                </a:solidFill>
              </a:rPr>
              <a:t>SystemCoreClock</a:t>
            </a:r>
            <a:r>
              <a:rPr lang="en-US" altLang="zh-CN" sz="1400" b="1" dirty="0">
                <a:solidFill>
                  <a:schemeClr val="accent5">
                    <a:lumMod val="75000"/>
                  </a:schemeClr>
                </a:solidFill>
              </a:rPr>
              <a:t> / (1000U / </a:t>
            </a:r>
            <a:r>
              <a:rPr lang="en-US" altLang="zh-CN" sz="1400" b="1" dirty="0" err="1">
                <a:solidFill>
                  <a:schemeClr val="accent5">
                    <a:lumMod val="75000"/>
                  </a:schemeClr>
                </a:solidFill>
              </a:rPr>
              <a:t>uwTickFreq</a:t>
            </a:r>
            <a:r>
              <a:rPr lang="en-US" altLang="zh-CN" sz="1400" b="1" dirty="0">
                <a:solidFill>
                  <a:schemeClr val="accent5">
                    <a:lumMod val="75000"/>
                  </a:schemeClr>
                </a:solidFill>
              </a:rPr>
              <a:t>)) &gt; 0U)</a:t>
            </a:r>
          </a:p>
          <a:p>
            <a:r>
              <a:rPr lang="en-US" altLang="zh-CN" sz="1400" b="1" dirty="0">
                <a:solidFill>
                  <a:schemeClr val="accent5">
                    <a:lumMod val="75000"/>
                  </a:schemeClr>
                </a:solidFill>
              </a:rPr>
              <a:t>  {</a:t>
            </a:r>
          </a:p>
          <a:p>
            <a:r>
              <a:rPr lang="en-US" altLang="zh-CN" sz="1400" b="1" dirty="0">
                <a:solidFill>
                  <a:schemeClr val="accent5">
                    <a:lumMod val="75000"/>
                  </a:schemeClr>
                </a:solidFill>
              </a:rPr>
              <a:t>return HAL_ERROR;</a:t>
            </a: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p>
          <a:p>
            <a:endParaRPr lang="en-US" altLang="zh-CN" sz="1400" b="1" dirty="0">
              <a:solidFill>
                <a:schemeClr val="accent5">
                  <a:lumMod val="75000"/>
                </a:schemeClr>
              </a:solidFill>
            </a:endParaRPr>
          </a:p>
        </p:txBody>
      </p:sp>
      <p:sp>
        <p:nvSpPr>
          <p:cNvPr id="3" name="矩形 2"/>
          <p:cNvSpPr/>
          <p:nvPr/>
        </p:nvSpPr>
        <p:spPr>
          <a:xfrm>
            <a:off x="4540742" y="2652925"/>
            <a:ext cx="4351738" cy="2246769"/>
          </a:xfrm>
          <a:prstGeom prst="rect">
            <a:avLst/>
          </a:prstGeom>
          <a:solidFill>
            <a:schemeClr val="accent6">
              <a:lumMod val="20000"/>
              <a:lumOff val="80000"/>
            </a:schemeClr>
          </a:solidFill>
        </p:spPr>
        <p:txBody>
          <a:bodyPr wrap="square">
            <a:spAutoFit/>
          </a:bodyPr>
          <a:lstStyle/>
          <a:p>
            <a:r>
              <a:rPr lang="en-US" altLang="zh-CN" sz="1400" b="1" dirty="0" smtClean="0"/>
              <a:t>     /*</a:t>
            </a:r>
            <a:r>
              <a:rPr lang="zh-CN" altLang="en-US" sz="1400" b="1" dirty="0"/>
              <a:t>配置系统滴答定时器</a:t>
            </a:r>
            <a:r>
              <a:rPr lang="en-US" altLang="zh-CN" sz="1400" b="1" dirty="0" err="1"/>
              <a:t>SysTick</a:t>
            </a:r>
            <a:r>
              <a:rPr lang="zh-CN" altLang="en-US" sz="1400" b="1" dirty="0"/>
              <a:t>的中断优先级*</a:t>
            </a:r>
            <a:r>
              <a:rPr lang="en-US" altLang="zh-CN" sz="1400" b="1" dirty="0"/>
              <a:t>/</a:t>
            </a:r>
          </a:p>
          <a:p>
            <a:r>
              <a:rPr lang="en-US" altLang="zh-CN" sz="1400" b="1" dirty="0">
                <a:solidFill>
                  <a:schemeClr val="accent5">
                    <a:lumMod val="75000"/>
                  </a:schemeClr>
                </a:solidFill>
              </a:rPr>
              <a:t>if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 &lt; (1UL &lt;&lt; __NVIC_PRIO_BITS))</a:t>
            </a:r>
          </a:p>
          <a:p>
            <a:r>
              <a:rPr lang="en-US" altLang="zh-CN" sz="1400" b="1" dirty="0">
                <a:solidFill>
                  <a:schemeClr val="accent5">
                    <a:lumMod val="75000"/>
                  </a:schemeClr>
                </a:solidFill>
              </a:rPr>
              <a:t>  {</a:t>
            </a:r>
          </a:p>
          <a:p>
            <a:r>
              <a:rPr lang="en-US" altLang="zh-CN" sz="1400" b="1" dirty="0">
                <a:solidFill>
                  <a:schemeClr val="accent5">
                    <a:lumMod val="75000"/>
                  </a:schemeClr>
                </a:solidFill>
              </a:rPr>
              <a:t>    </a:t>
            </a:r>
            <a:r>
              <a:rPr lang="en-US" altLang="zh-CN" sz="1400" b="1" dirty="0" err="1">
                <a:solidFill>
                  <a:schemeClr val="accent5">
                    <a:lumMod val="75000"/>
                  </a:schemeClr>
                </a:solidFill>
              </a:rPr>
              <a:t>HAL_NVIC_SetPriority</a:t>
            </a:r>
            <a:r>
              <a:rPr lang="en-US" altLang="zh-CN" sz="1400" b="1" dirty="0">
                <a:solidFill>
                  <a:schemeClr val="accent5">
                    <a:lumMod val="75000"/>
                  </a:schemeClr>
                </a:solidFill>
              </a:rPr>
              <a:t>(</a:t>
            </a:r>
            <a:r>
              <a:rPr lang="en-US" altLang="zh-CN" sz="1400" b="1" dirty="0" err="1">
                <a:solidFill>
                  <a:schemeClr val="accent5">
                    <a:lumMod val="75000"/>
                  </a:schemeClr>
                </a:solidFill>
              </a:rPr>
              <a:t>SysTick_IRQn</a:t>
            </a:r>
            <a:r>
              <a:rPr lang="en-US" altLang="zh-CN" sz="1400" b="1" dirty="0">
                <a:solidFill>
                  <a:schemeClr val="accent5">
                    <a:lumMod val="75000"/>
                  </a:schemeClr>
                </a:solidFill>
              </a:rPr>
              <a:t>,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 0U);</a:t>
            </a:r>
          </a:p>
          <a:p>
            <a:r>
              <a:rPr lang="en-US" altLang="zh-CN" sz="1400" b="1" dirty="0" smtClean="0">
                <a:solidFill>
                  <a:schemeClr val="accent5">
                    <a:lumMod val="75000"/>
                  </a:schemeClr>
                </a:solidFill>
              </a:rPr>
              <a:t>    </a:t>
            </a:r>
            <a:r>
              <a:rPr lang="en-US" altLang="zh-CN" sz="1400" b="1" dirty="0" err="1" smtClean="0">
                <a:solidFill>
                  <a:schemeClr val="accent5">
                    <a:lumMod val="75000"/>
                  </a:schemeClr>
                </a:solidFill>
              </a:rPr>
              <a:t>uwTickPrio</a:t>
            </a:r>
            <a:r>
              <a:rPr lang="en-US" altLang="zh-CN" sz="1400" b="1" dirty="0" smtClean="0">
                <a:solidFill>
                  <a:schemeClr val="accent5">
                    <a:lumMod val="75000"/>
                  </a:schemeClr>
                </a:solidFill>
              </a:rPr>
              <a:t> </a:t>
            </a:r>
            <a:r>
              <a:rPr lang="en-US" altLang="zh-CN" sz="1400" b="1" dirty="0">
                <a:solidFill>
                  <a:schemeClr val="accent5">
                    <a:lumMod val="75000"/>
                  </a:schemeClr>
                </a:solidFill>
              </a:rPr>
              <a:t>= </a:t>
            </a:r>
            <a:r>
              <a:rPr lang="en-US" altLang="zh-CN" sz="1400" b="1" dirty="0" err="1">
                <a:solidFill>
                  <a:schemeClr val="accent5">
                    <a:lumMod val="75000"/>
                  </a:schemeClr>
                </a:solidFill>
              </a:rPr>
              <a:t>TickPriority</a:t>
            </a:r>
            <a:r>
              <a:rPr lang="en-US" altLang="zh-CN" sz="1400" b="1" dirty="0">
                <a:solidFill>
                  <a:schemeClr val="accent5">
                    <a:lumMod val="75000"/>
                  </a:schemeClr>
                </a:solidFill>
              </a:rPr>
              <a:t>;</a:t>
            </a:r>
          </a:p>
          <a:p>
            <a:r>
              <a:rPr lang="en-US" altLang="zh-CN" sz="1400" b="1" dirty="0">
                <a:solidFill>
                  <a:schemeClr val="accent5">
                    <a:lumMod val="75000"/>
                  </a:schemeClr>
                </a:solidFill>
              </a:rPr>
              <a:t>  }</a:t>
            </a:r>
          </a:p>
          <a:p>
            <a:r>
              <a:rPr lang="en-US" altLang="zh-CN" sz="1400" b="1" dirty="0">
                <a:solidFill>
                  <a:schemeClr val="accent5">
                    <a:lumMod val="75000"/>
                  </a:schemeClr>
                </a:solidFill>
              </a:rPr>
              <a:t>else</a:t>
            </a:r>
          </a:p>
          <a:p>
            <a:r>
              <a:rPr lang="en-US" altLang="zh-CN" sz="1400" b="1" dirty="0">
                <a:solidFill>
                  <a:schemeClr val="accent5">
                    <a:lumMod val="75000"/>
                  </a:schemeClr>
                </a:solidFill>
              </a:rPr>
              <a:t>  </a:t>
            </a:r>
            <a:r>
              <a:rPr lang="en-US" altLang="zh-CN" sz="1400" b="1" dirty="0" smtClean="0">
                <a:solidFill>
                  <a:schemeClr val="accent5">
                    <a:lumMod val="75000"/>
                  </a:schemeClr>
                </a:solidFill>
              </a:rPr>
              <a:t>{     return </a:t>
            </a:r>
            <a:r>
              <a:rPr lang="en-US" altLang="zh-CN" sz="1400" b="1" dirty="0">
                <a:solidFill>
                  <a:schemeClr val="accent5">
                    <a:lumMod val="75000"/>
                  </a:schemeClr>
                </a:solidFill>
              </a:rPr>
              <a:t>HAL_ERROR</a:t>
            </a:r>
            <a:r>
              <a:rPr lang="en-US" altLang="zh-CN" sz="1400" b="1" dirty="0" smtClean="0">
                <a:solidFill>
                  <a:schemeClr val="accent5">
                    <a:lumMod val="75000"/>
                  </a:schemeClr>
                </a:solidFill>
              </a:rPr>
              <a:t>;  </a:t>
            </a:r>
            <a:r>
              <a:rPr lang="en-US" altLang="zh-CN" sz="1400" b="1" dirty="0">
                <a:solidFill>
                  <a:schemeClr val="accent5">
                    <a:lumMod val="75000"/>
                  </a:schemeClr>
                </a:solidFill>
              </a:rPr>
              <a:t>}</a:t>
            </a:r>
          </a:p>
          <a:p>
            <a:r>
              <a:rPr lang="en-US" altLang="zh-CN" sz="1400" b="1" dirty="0">
                <a:solidFill>
                  <a:schemeClr val="accent5">
                    <a:lumMod val="75000"/>
                  </a:schemeClr>
                </a:solidFill>
              </a:rPr>
              <a:t>return HAL_OK;</a:t>
            </a:r>
          </a:p>
          <a:p>
            <a:r>
              <a:rPr lang="en-US" altLang="zh-CN" sz="1400" b="1" dirty="0">
                <a:solidFill>
                  <a:schemeClr val="accent5">
                    <a:lumMod val="75000"/>
                  </a:schemeClr>
                </a:solidFill>
              </a:rPr>
              <a:t>}</a:t>
            </a:r>
          </a:p>
        </p:txBody>
      </p:sp>
    </p:spTree>
    <p:extLst>
      <p:ext uri="{BB962C8B-B14F-4D97-AF65-F5344CB8AC3E}">
        <p14:creationId xmlns:p14="http://schemas.microsoft.com/office/powerpoint/2010/main" val="2273319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565211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5390706" cy="461665"/>
          </a:xfrm>
          <a:prstGeom prst="rect">
            <a:avLst/>
          </a:prstGeom>
        </p:spPr>
        <p:txBody>
          <a:bodyPr wrap="none">
            <a:spAutoFit/>
          </a:bodyPr>
          <a:lstStyle/>
          <a:p>
            <a:r>
              <a:rPr lang="en-US" altLang="zh-CN" sz="2400" b="1" dirty="0">
                <a:solidFill>
                  <a:schemeClr val="bg1"/>
                </a:solidFill>
              </a:rPr>
              <a:t>4.3.3 stm32f1xx_hal.c</a:t>
            </a:r>
            <a:r>
              <a:rPr lang="zh-CN" altLang="en-US" sz="2400" b="1" dirty="0">
                <a:solidFill>
                  <a:schemeClr val="bg1"/>
                </a:solidFill>
              </a:rPr>
              <a:t>和</a:t>
            </a:r>
            <a:r>
              <a:rPr lang="en-US" altLang="zh-CN" sz="2400" b="1" dirty="0">
                <a:solidFill>
                  <a:schemeClr val="bg1"/>
                </a:solidFill>
              </a:rPr>
              <a:t>stm32f1xx_hal.h</a:t>
            </a:r>
            <a:endParaRPr lang="zh-CN" altLang="zh-CN" sz="2400" b="1" dirty="0">
              <a:solidFill>
                <a:schemeClr val="bg1"/>
              </a:solidFill>
            </a:endParaRPr>
          </a:p>
        </p:txBody>
      </p:sp>
      <p:sp>
        <p:nvSpPr>
          <p:cNvPr id="6" name="矩形 5"/>
          <p:cNvSpPr/>
          <p:nvPr/>
        </p:nvSpPr>
        <p:spPr>
          <a:xfrm>
            <a:off x="755577" y="1059582"/>
            <a:ext cx="3672408" cy="3970318"/>
          </a:xfrm>
          <a:prstGeom prst="rect">
            <a:avLst/>
          </a:prstGeom>
          <a:noFill/>
        </p:spPr>
        <p:txBody>
          <a:bodyPr wrap="square">
            <a:spAutoFit/>
          </a:bodyPr>
          <a:lstStyle/>
          <a:p>
            <a:r>
              <a:rPr lang="en-US" altLang="zh-CN" sz="1400" b="1" dirty="0">
                <a:solidFill>
                  <a:schemeClr val="accent5">
                    <a:lumMod val="75000"/>
                  </a:schemeClr>
                </a:solidFill>
              </a:rPr>
              <a:t>__weak  void  </a:t>
            </a:r>
            <a:r>
              <a:rPr lang="en-US" altLang="zh-CN" sz="1400" b="1" dirty="0" err="1">
                <a:solidFill>
                  <a:schemeClr val="accent5">
                    <a:lumMod val="75000"/>
                  </a:schemeClr>
                </a:solidFill>
              </a:rPr>
              <a:t>HAL_IncTick</a:t>
            </a:r>
            <a:r>
              <a:rPr lang="en-US" altLang="zh-CN" sz="1400" b="1" dirty="0">
                <a:solidFill>
                  <a:schemeClr val="accent5">
                    <a:lumMod val="75000"/>
                  </a:schemeClr>
                </a:solidFill>
              </a:rPr>
              <a:t>(void)</a:t>
            </a:r>
          </a:p>
          <a:p>
            <a:r>
              <a:rPr lang="en-US" altLang="zh-CN" sz="1400" b="1" dirty="0" smtClean="0">
                <a:solidFill>
                  <a:schemeClr val="accent5">
                    <a:lumMod val="75000"/>
                  </a:schemeClr>
                </a:solidFill>
              </a:rPr>
              <a:t>{     </a:t>
            </a:r>
            <a:r>
              <a:rPr lang="en-US" altLang="zh-CN" sz="1400" b="1" dirty="0" err="1" smtClean="0">
                <a:solidFill>
                  <a:schemeClr val="accent5">
                    <a:lumMod val="75000"/>
                  </a:schemeClr>
                </a:solidFill>
              </a:rPr>
              <a:t>uwTick</a:t>
            </a:r>
            <a:r>
              <a:rPr lang="en-US" altLang="zh-CN" sz="1400" b="1" dirty="0" smtClean="0">
                <a:solidFill>
                  <a:schemeClr val="accent5">
                    <a:lumMod val="75000"/>
                  </a:schemeClr>
                </a:solidFill>
              </a:rPr>
              <a:t> </a:t>
            </a:r>
            <a:r>
              <a:rPr lang="en-US" altLang="zh-CN" sz="1400" b="1" dirty="0">
                <a:solidFill>
                  <a:schemeClr val="accent5">
                    <a:lumMod val="75000"/>
                  </a:schemeClr>
                </a:solidFill>
              </a:rPr>
              <a:t>+= </a:t>
            </a:r>
            <a:r>
              <a:rPr lang="en-US" altLang="zh-CN" sz="1400" b="1" dirty="0" err="1">
                <a:solidFill>
                  <a:schemeClr val="accent5">
                    <a:lumMod val="75000"/>
                  </a:schemeClr>
                </a:solidFill>
              </a:rPr>
              <a:t>uwTickFreq</a:t>
            </a:r>
            <a:r>
              <a:rPr lang="en-US" altLang="zh-CN" sz="1400" b="1" dirty="0">
                <a:solidFill>
                  <a:schemeClr val="accent5">
                    <a:lumMod val="75000"/>
                  </a:schemeClr>
                </a:solidFill>
              </a:rPr>
              <a:t>;</a:t>
            </a:r>
          </a:p>
          <a:p>
            <a:r>
              <a:rPr lang="en-US" altLang="zh-CN" sz="1400" b="1" dirty="0" smtClean="0">
                <a:solidFill>
                  <a:schemeClr val="accent5">
                    <a:lumMod val="75000"/>
                  </a:schemeClr>
                </a:solidFill>
              </a:rPr>
              <a:t>}</a:t>
            </a:r>
          </a:p>
          <a:p>
            <a:endParaRPr lang="en-US" altLang="zh-CN" sz="1400" b="1" dirty="0">
              <a:solidFill>
                <a:schemeClr val="accent5">
                  <a:lumMod val="75000"/>
                </a:schemeClr>
              </a:solidFill>
            </a:endParaRPr>
          </a:p>
          <a:p>
            <a:r>
              <a:rPr lang="en-US" altLang="zh-CN" sz="1400" b="1" dirty="0" smtClean="0">
                <a:solidFill>
                  <a:schemeClr val="accent4">
                    <a:lumMod val="75000"/>
                  </a:schemeClr>
                </a:solidFill>
              </a:rPr>
              <a:t>__</a:t>
            </a:r>
            <a:r>
              <a:rPr lang="en-US" altLang="zh-CN" sz="1400" b="1" dirty="0">
                <a:solidFill>
                  <a:schemeClr val="accent4">
                    <a:lumMod val="75000"/>
                  </a:schemeClr>
                </a:solidFill>
              </a:rPr>
              <a:t>weak  uint32_t  </a:t>
            </a:r>
            <a:r>
              <a:rPr lang="en-US" altLang="zh-CN" sz="1400" b="1" dirty="0" err="1">
                <a:solidFill>
                  <a:schemeClr val="accent4">
                    <a:lumMod val="75000"/>
                  </a:schemeClr>
                </a:solidFill>
              </a:rPr>
              <a:t>HAL_GetTick</a:t>
            </a:r>
            <a:r>
              <a:rPr lang="en-US" altLang="zh-CN" sz="1400" b="1" dirty="0">
                <a:solidFill>
                  <a:schemeClr val="accent4">
                    <a:lumMod val="75000"/>
                  </a:schemeClr>
                </a:solidFill>
              </a:rPr>
              <a:t>(void)</a:t>
            </a:r>
          </a:p>
          <a:p>
            <a:r>
              <a:rPr lang="en-US" altLang="zh-CN" sz="1400" b="1" dirty="0" smtClean="0">
                <a:solidFill>
                  <a:schemeClr val="accent4">
                    <a:lumMod val="75000"/>
                  </a:schemeClr>
                </a:solidFill>
              </a:rPr>
              <a:t>{    return </a:t>
            </a:r>
            <a:r>
              <a:rPr lang="en-US" altLang="zh-CN" sz="1400" b="1" dirty="0" err="1">
                <a:solidFill>
                  <a:schemeClr val="accent4">
                    <a:lumMod val="75000"/>
                  </a:schemeClr>
                </a:solidFill>
              </a:rPr>
              <a:t>uwTick</a:t>
            </a:r>
            <a:r>
              <a:rPr lang="en-US" altLang="zh-CN" sz="1400" b="1" dirty="0">
                <a:solidFill>
                  <a:schemeClr val="accent4">
                    <a:lumMod val="75000"/>
                  </a:schemeClr>
                </a:solidFill>
              </a:rPr>
              <a:t>;</a:t>
            </a:r>
          </a:p>
          <a:p>
            <a:r>
              <a:rPr lang="en-US" altLang="zh-CN" sz="1400" b="1" dirty="0" smtClean="0">
                <a:solidFill>
                  <a:schemeClr val="accent4">
                    <a:lumMod val="75000"/>
                  </a:schemeClr>
                </a:solidFill>
              </a:rPr>
              <a:t>}</a:t>
            </a:r>
          </a:p>
          <a:p>
            <a:endParaRPr lang="en-US" altLang="zh-CN" sz="1400" b="1" dirty="0">
              <a:solidFill>
                <a:schemeClr val="accent5">
                  <a:lumMod val="75000"/>
                </a:schemeClr>
              </a:solidFill>
            </a:endParaRPr>
          </a:p>
          <a:p>
            <a:r>
              <a:rPr lang="en-US" altLang="zh-CN" sz="1400" b="1" dirty="0" smtClean="0">
                <a:solidFill>
                  <a:schemeClr val="accent3">
                    <a:lumMod val="50000"/>
                  </a:schemeClr>
                </a:solidFill>
              </a:rPr>
              <a:t>__</a:t>
            </a:r>
            <a:r>
              <a:rPr lang="en-US" altLang="zh-CN" sz="1400" b="1" dirty="0">
                <a:solidFill>
                  <a:schemeClr val="accent3">
                    <a:lumMod val="50000"/>
                  </a:schemeClr>
                </a:solidFill>
              </a:rPr>
              <a:t>weak  void  </a:t>
            </a:r>
            <a:r>
              <a:rPr lang="en-US" altLang="zh-CN" sz="1400" b="1" dirty="0" err="1">
                <a:solidFill>
                  <a:schemeClr val="accent3">
                    <a:lumMod val="50000"/>
                  </a:schemeClr>
                </a:solidFill>
              </a:rPr>
              <a:t>HAL_Delay</a:t>
            </a:r>
            <a:r>
              <a:rPr lang="en-US" altLang="zh-CN" sz="1400" b="1" dirty="0">
                <a:solidFill>
                  <a:schemeClr val="accent3">
                    <a:lumMod val="50000"/>
                  </a:schemeClr>
                </a:solidFill>
              </a:rPr>
              <a:t>(uint32_t Delay)</a:t>
            </a:r>
          </a:p>
          <a:p>
            <a:r>
              <a:rPr lang="en-US" altLang="zh-CN" sz="1400" b="1" dirty="0">
                <a:solidFill>
                  <a:schemeClr val="accent3">
                    <a:lumMod val="50000"/>
                  </a:schemeClr>
                </a:solidFill>
              </a:rPr>
              <a:t>{</a:t>
            </a:r>
          </a:p>
          <a:p>
            <a:r>
              <a:rPr lang="en-US" altLang="zh-CN" sz="1400" b="1" dirty="0">
                <a:solidFill>
                  <a:schemeClr val="accent3">
                    <a:lumMod val="50000"/>
                  </a:schemeClr>
                </a:solidFill>
              </a:rPr>
              <a:t>uint32_t </a:t>
            </a:r>
            <a:r>
              <a:rPr lang="en-US" altLang="zh-CN" sz="1400" b="1" dirty="0" err="1">
                <a:solidFill>
                  <a:schemeClr val="accent3">
                    <a:lumMod val="50000"/>
                  </a:schemeClr>
                </a:solidFill>
              </a:rPr>
              <a:t>tickstart</a:t>
            </a:r>
            <a:r>
              <a:rPr lang="en-US" altLang="zh-CN" sz="1400" b="1" dirty="0">
                <a:solidFill>
                  <a:schemeClr val="accent3">
                    <a:lumMod val="50000"/>
                  </a:schemeClr>
                </a:solidFill>
              </a:rPr>
              <a:t> = </a:t>
            </a:r>
            <a:r>
              <a:rPr lang="en-US" altLang="zh-CN" sz="1400" b="1" dirty="0" err="1">
                <a:solidFill>
                  <a:schemeClr val="accent3">
                    <a:lumMod val="50000"/>
                  </a:schemeClr>
                </a:solidFill>
              </a:rPr>
              <a:t>HAL_GetTick</a:t>
            </a:r>
            <a:r>
              <a:rPr lang="en-US" altLang="zh-CN" sz="1400" b="1" dirty="0">
                <a:solidFill>
                  <a:schemeClr val="accent3">
                    <a:lumMod val="50000"/>
                  </a:schemeClr>
                </a:solidFill>
              </a:rPr>
              <a:t>();</a:t>
            </a:r>
          </a:p>
          <a:p>
            <a:r>
              <a:rPr lang="en-US" altLang="zh-CN" sz="1400" b="1" dirty="0">
                <a:solidFill>
                  <a:schemeClr val="accent3">
                    <a:lumMod val="50000"/>
                  </a:schemeClr>
                </a:solidFill>
              </a:rPr>
              <a:t>uint32_t wait = Delay;</a:t>
            </a:r>
          </a:p>
          <a:p>
            <a:r>
              <a:rPr lang="en-US" altLang="zh-CN" sz="1400" b="1" dirty="0">
                <a:solidFill>
                  <a:schemeClr val="accent3">
                    <a:lumMod val="50000"/>
                  </a:schemeClr>
                </a:solidFill>
              </a:rPr>
              <a:t>if (wait &lt; HAL_MAX_DELAY)</a:t>
            </a:r>
          </a:p>
          <a:p>
            <a:r>
              <a:rPr lang="en-US" altLang="zh-CN" sz="1400" b="1" dirty="0">
                <a:solidFill>
                  <a:schemeClr val="accent3">
                    <a:lumMod val="50000"/>
                  </a:schemeClr>
                </a:solidFill>
              </a:rPr>
              <a:t>  </a:t>
            </a:r>
            <a:r>
              <a:rPr lang="en-US" altLang="zh-CN" sz="1400" b="1" dirty="0" smtClean="0">
                <a:solidFill>
                  <a:schemeClr val="accent3">
                    <a:lumMod val="50000"/>
                  </a:schemeClr>
                </a:solidFill>
              </a:rPr>
              <a:t>{    wait </a:t>
            </a:r>
            <a:r>
              <a:rPr lang="en-US" altLang="zh-CN" sz="1400" b="1" dirty="0">
                <a:solidFill>
                  <a:schemeClr val="accent3">
                    <a:lumMod val="50000"/>
                  </a:schemeClr>
                </a:solidFill>
              </a:rPr>
              <a:t>+= (uint32_t)(</a:t>
            </a:r>
            <a:r>
              <a:rPr lang="en-US" altLang="zh-CN" sz="1400" b="1" dirty="0" err="1">
                <a:solidFill>
                  <a:schemeClr val="accent3">
                    <a:lumMod val="50000"/>
                  </a:schemeClr>
                </a:solidFill>
              </a:rPr>
              <a:t>uwTickFreq</a:t>
            </a:r>
            <a:r>
              <a:rPr lang="en-US" altLang="zh-CN" sz="1400" b="1" dirty="0">
                <a:solidFill>
                  <a:schemeClr val="accent3">
                    <a:lumMod val="50000"/>
                  </a:schemeClr>
                </a:solidFill>
              </a:rPr>
              <a:t>);</a:t>
            </a:r>
          </a:p>
          <a:p>
            <a:r>
              <a:rPr lang="en-US" altLang="zh-CN" sz="1400" b="1" dirty="0">
                <a:solidFill>
                  <a:schemeClr val="accent3">
                    <a:lumMod val="50000"/>
                  </a:schemeClr>
                </a:solidFill>
              </a:rPr>
              <a:t>  }</a:t>
            </a:r>
          </a:p>
          <a:p>
            <a:r>
              <a:rPr lang="en-US" altLang="zh-CN" sz="1400" b="1" dirty="0">
                <a:solidFill>
                  <a:schemeClr val="accent3">
                    <a:lumMod val="50000"/>
                  </a:schemeClr>
                </a:solidFill>
              </a:rPr>
              <a:t>while ((</a:t>
            </a:r>
            <a:r>
              <a:rPr lang="en-US" altLang="zh-CN" sz="1400" b="1" dirty="0" err="1">
                <a:solidFill>
                  <a:schemeClr val="accent3">
                    <a:lumMod val="50000"/>
                  </a:schemeClr>
                </a:solidFill>
              </a:rPr>
              <a:t>HAL_GetTick</a:t>
            </a:r>
            <a:r>
              <a:rPr lang="en-US" altLang="zh-CN" sz="1400" b="1" dirty="0">
                <a:solidFill>
                  <a:schemeClr val="accent3">
                    <a:lumMod val="50000"/>
                  </a:schemeClr>
                </a:solidFill>
              </a:rPr>
              <a:t>() - </a:t>
            </a:r>
            <a:r>
              <a:rPr lang="en-US" altLang="zh-CN" sz="1400" b="1" dirty="0" err="1">
                <a:solidFill>
                  <a:schemeClr val="accent3">
                    <a:lumMod val="50000"/>
                  </a:schemeClr>
                </a:solidFill>
              </a:rPr>
              <a:t>tickstart</a:t>
            </a:r>
            <a:r>
              <a:rPr lang="en-US" altLang="zh-CN" sz="1400" b="1" dirty="0">
                <a:solidFill>
                  <a:schemeClr val="accent3">
                    <a:lumMod val="50000"/>
                  </a:schemeClr>
                </a:solidFill>
              </a:rPr>
              <a:t>) &lt; wait)</a:t>
            </a:r>
          </a:p>
          <a:p>
            <a:r>
              <a:rPr lang="en-US" altLang="zh-CN" sz="1400" b="1" dirty="0">
                <a:solidFill>
                  <a:schemeClr val="accent3">
                    <a:lumMod val="50000"/>
                  </a:schemeClr>
                </a:solidFill>
              </a:rPr>
              <a:t>  </a:t>
            </a:r>
            <a:r>
              <a:rPr lang="en-US" altLang="zh-CN" sz="1400" b="1" dirty="0" smtClean="0">
                <a:solidFill>
                  <a:schemeClr val="accent3">
                    <a:lumMod val="50000"/>
                  </a:schemeClr>
                </a:solidFill>
              </a:rPr>
              <a:t>{     </a:t>
            </a:r>
            <a:r>
              <a:rPr lang="en-US" altLang="zh-CN" sz="1400" b="1" dirty="0">
                <a:solidFill>
                  <a:schemeClr val="accent3">
                    <a:lumMod val="50000"/>
                  </a:schemeClr>
                </a:solidFill>
              </a:rPr>
              <a:t>}</a:t>
            </a:r>
          </a:p>
          <a:p>
            <a:r>
              <a:rPr lang="en-US" altLang="zh-CN" sz="1400" b="1" dirty="0" smtClean="0">
                <a:solidFill>
                  <a:schemeClr val="accent3">
                    <a:lumMod val="50000"/>
                  </a:schemeClr>
                </a:solidFill>
              </a:rPr>
              <a:t>}</a:t>
            </a:r>
            <a:endParaRPr lang="zh-CN" altLang="en-US" sz="1400" b="1" dirty="0">
              <a:solidFill>
                <a:schemeClr val="accent5">
                  <a:lumMod val="75000"/>
                </a:schemeClr>
              </a:solidFill>
            </a:endParaRPr>
          </a:p>
        </p:txBody>
      </p:sp>
      <p:sp>
        <p:nvSpPr>
          <p:cNvPr id="9" name="矩形 8"/>
          <p:cNvSpPr/>
          <p:nvPr/>
        </p:nvSpPr>
        <p:spPr>
          <a:xfrm>
            <a:off x="4427985" y="1131590"/>
            <a:ext cx="3888431" cy="523220"/>
          </a:xfrm>
          <a:prstGeom prst="rect">
            <a:avLst/>
          </a:prstGeom>
        </p:spPr>
        <p:txBody>
          <a:bodyPr wrap="square">
            <a:spAutoFit/>
          </a:bodyPr>
          <a:lstStyle/>
          <a:p>
            <a:pPr lvl="0"/>
            <a:r>
              <a:rPr lang="zh-CN" altLang="en-US" sz="1400" b="1" dirty="0">
                <a:solidFill>
                  <a:srgbClr val="D38583"/>
                </a:solidFill>
                <a:ea typeface="楷体" pitchFamily="49" charset="-122"/>
              </a:rPr>
              <a:t>解析：</a:t>
            </a:r>
            <a:r>
              <a:rPr lang="zh-CN" altLang="en-US" sz="1400" b="1" dirty="0">
                <a:solidFill>
                  <a:srgbClr val="4BACC6">
                    <a:lumMod val="75000"/>
                  </a:srgbClr>
                </a:solidFill>
                <a:ea typeface="楷体" pitchFamily="49" charset="-122"/>
              </a:rPr>
              <a:t>调用了函数 </a:t>
            </a:r>
            <a:r>
              <a:rPr lang="en-US" altLang="zh-CN" sz="1400" b="1" dirty="0" err="1">
                <a:solidFill>
                  <a:srgbClr val="4BACC6">
                    <a:lumMod val="75000"/>
                  </a:srgbClr>
                </a:solidFill>
                <a:ea typeface="楷体" pitchFamily="49" charset="-122"/>
              </a:rPr>
              <a:t>HAL_Init</a:t>
            </a:r>
            <a:r>
              <a:rPr lang="en-US" altLang="zh-CN" sz="1400" b="1" dirty="0">
                <a:solidFill>
                  <a:srgbClr val="4BACC6">
                    <a:lumMod val="75000"/>
                  </a:srgbClr>
                </a:solidFill>
                <a:ea typeface="楷体" pitchFamily="49" charset="-122"/>
              </a:rPr>
              <a:t> </a:t>
            </a:r>
            <a:r>
              <a:rPr lang="zh-CN" altLang="en-US" sz="1400" b="1" dirty="0">
                <a:solidFill>
                  <a:srgbClr val="4BACC6">
                    <a:lumMod val="75000"/>
                  </a:srgbClr>
                </a:solidFill>
                <a:ea typeface="楷体" pitchFamily="49" charset="-122"/>
              </a:rPr>
              <a:t>后，</a:t>
            </a:r>
            <a:r>
              <a:rPr lang="en-US" altLang="zh-CN" sz="1400" b="1" dirty="0" err="1">
                <a:solidFill>
                  <a:srgbClr val="4BACC6">
                    <a:lumMod val="75000"/>
                  </a:srgbClr>
                </a:solidFill>
                <a:ea typeface="楷体" pitchFamily="49" charset="-122"/>
              </a:rPr>
              <a:t>SysTick</a:t>
            </a:r>
            <a:r>
              <a:rPr lang="en-US" altLang="zh-CN" sz="1400" b="1" dirty="0">
                <a:solidFill>
                  <a:srgbClr val="4BACC6">
                    <a:lumMod val="75000"/>
                  </a:srgbClr>
                </a:solidFill>
                <a:ea typeface="楷体" pitchFamily="49" charset="-122"/>
              </a:rPr>
              <a:t> </a:t>
            </a:r>
            <a:r>
              <a:rPr lang="zh-CN" altLang="en-US" sz="1400" b="1" dirty="0">
                <a:solidFill>
                  <a:srgbClr val="4BACC6">
                    <a:lumMod val="75000"/>
                  </a:srgbClr>
                </a:solidFill>
                <a:ea typeface="楷体" pitchFamily="49" charset="-122"/>
              </a:rPr>
              <a:t>相关的函数就可以</a:t>
            </a:r>
            <a:r>
              <a:rPr lang="zh-CN" altLang="en-US" sz="1400" b="1" dirty="0" smtClean="0">
                <a:solidFill>
                  <a:srgbClr val="4BACC6">
                    <a:lumMod val="75000"/>
                  </a:srgbClr>
                </a:solidFill>
                <a:ea typeface="楷体" pitchFamily="49" charset="-122"/>
              </a:rPr>
              <a:t>使用</a:t>
            </a:r>
            <a:endParaRPr lang="zh-CN" altLang="en-US" sz="1400" b="1" dirty="0">
              <a:solidFill>
                <a:srgbClr val="4BACC6">
                  <a:lumMod val="75000"/>
                </a:srgbClr>
              </a:solidFill>
              <a:ea typeface="楷体" pitchFamily="49" charset="-122"/>
            </a:endParaRPr>
          </a:p>
        </p:txBody>
      </p:sp>
      <p:sp>
        <p:nvSpPr>
          <p:cNvPr id="11" name="矩形 10"/>
          <p:cNvSpPr/>
          <p:nvPr/>
        </p:nvSpPr>
        <p:spPr>
          <a:xfrm>
            <a:off x="4463988" y="1923678"/>
            <a:ext cx="3852428" cy="523220"/>
          </a:xfrm>
          <a:prstGeom prst="rect">
            <a:avLst/>
          </a:prstGeom>
        </p:spPr>
        <p:txBody>
          <a:bodyPr wrap="square">
            <a:spAutoFit/>
          </a:bodyPr>
          <a:lstStyle/>
          <a:p>
            <a:r>
              <a:rPr lang="zh-CN" altLang="en-US" sz="1400" b="1" dirty="0">
                <a:solidFill>
                  <a:srgbClr val="D38583"/>
                </a:solidFill>
                <a:ea typeface="楷体" pitchFamily="49" charset="-122"/>
              </a:rPr>
              <a:t>解析：</a:t>
            </a:r>
            <a:r>
              <a:rPr lang="en-US" altLang="zh-CN" sz="1400" b="1" dirty="0" err="1">
                <a:solidFill>
                  <a:schemeClr val="accent4">
                    <a:lumMod val="75000"/>
                  </a:schemeClr>
                </a:solidFill>
                <a:ea typeface="楷体" pitchFamily="49" charset="-122"/>
              </a:rPr>
              <a:t>HAL_GetTic</a:t>
            </a:r>
            <a:r>
              <a:rPr lang="en-US" altLang="zh-CN" sz="1400" b="1" dirty="0">
                <a:solidFill>
                  <a:schemeClr val="accent4">
                    <a:lumMod val="75000"/>
                  </a:schemeClr>
                </a:solidFill>
                <a:ea typeface="楷体" pitchFamily="49" charset="-122"/>
              </a:rPr>
              <a:t>( )</a:t>
            </a:r>
            <a:r>
              <a:rPr lang="zh-CN" altLang="en-US" sz="1400" b="1" dirty="0">
                <a:solidFill>
                  <a:schemeClr val="accent4">
                    <a:lumMod val="75000"/>
                  </a:schemeClr>
                </a:solidFill>
                <a:ea typeface="楷体" pitchFamily="49" charset="-122"/>
              </a:rPr>
              <a:t>函数用于获取计数器</a:t>
            </a:r>
            <a:r>
              <a:rPr lang="en-US" altLang="zh-CN" sz="1400" b="1" dirty="0" err="1">
                <a:solidFill>
                  <a:schemeClr val="accent4">
                    <a:lumMod val="75000"/>
                  </a:schemeClr>
                </a:solidFill>
                <a:ea typeface="楷体" pitchFamily="49" charset="-122"/>
              </a:rPr>
              <a:t>uwTick</a:t>
            </a:r>
            <a:r>
              <a:rPr lang="zh-CN" altLang="en-US" sz="1400" b="1" dirty="0">
                <a:solidFill>
                  <a:schemeClr val="accent4">
                    <a:lumMod val="75000"/>
                  </a:schemeClr>
                </a:solidFill>
                <a:ea typeface="楷体" pitchFamily="49" charset="-122"/>
              </a:rPr>
              <a:t>的值。</a:t>
            </a:r>
          </a:p>
        </p:txBody>
      </p:sp>
      <p:sp>
        <p:nvSpPr>
          <p:cNvPr id="12" name="矩形 11"/>
          <p:cNvSpPr/>
          <p:nvPr/>
        </p:nvSpPr>
        <p:spPr>
          <a:xfrm>
            <a:off x="4463988" y="3030131"/>
            <a:ext cx="4032448" cy="1384995"/>
          </a:xfrm>
          <a:prstGeom prst="rect">
            <a:avLst/>
          </a:prstGeom>
        </p:spPr>
        <p:txBody>
          <a:bodyPr wrap="square">
            <a:spAutoFit/>
          </a:bodyPr>
          <a:lstStyle/>
          <a:p>
            <a:r>
              <a:rPr lang="zh-CN" altLang="en-US" sz="1400" b="1" dirty="0">
                <a:solidFill>
                  <a:srgbClr val="D38583"/>
                </a:solidFill>
                <a:ea typeface="楷体" pitchFamily="49" charset="-122"/>
              </a:rPr>
              <a:t>解析：</a:t>
            </a:r>
            <a:r>
              <a:rPr lang="en-US" altLang="zh-CN" sz="1400" b="1" dirty="0" err="1">
                <a:solidFill>
                  <a:schemeClr val="accent3">
                    <a:lumMod val="50000"/>
                  </a:schemeClr>
                </a:solidFill>
                <a:ea typeface="楷体" pitchFamily="49" charset="-122"/>
              </a:rPr>
              <a:t>HAL_Delay</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延时函数通过循环读取</a:t>
            </a:r>
            <a:r>
              <a:rPr lang="en-US" altLang="zh-CN" sz="1400" b="1" dirty="0" err="1">
                <a:solidFill>
                  <a:schemeClr val="accent3">
                    <a:lumMod val="50000"/>
                  </a:schemeClr>
                </a:solidFill>
                <a:ea typeface="楷体" pitchFamily="49" charset="-122"/>
              </a:rPr>
              <a:t>uwTick</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计数器的值与输入</a:t>
            </a:r>
            <a:r>
              <a:rPr lang="en-US" altLang="zh-CN" sz="1400" b="1" dirty="0">
                <a:solidFill>
                  <a:schemeClr val="accent3">
                    <a:lumMod val="50000"/>
                  </a:schemeClr>
                </a:solidFill>
                <a:ea typeface="楷体" pitchFamily="49" charset="-122"/>
              </a:rPr>
              <a:t>Delay</a:t>
            </a:r>
            <a:r>
              <a:rPr lang="zh-CN" altLang="en-US" sz="1400" b="1" dirty="0">
                <a:solidFill>
                  <a:schemeClr val="accent3">
                    <a:lumMod val="50000"/>
                  </a:schemeClr>
                </a:solidFill>
                <a:ea typeface="楷体" pitchFamily="49" charset="-122"/>
              </a:rPr>
              <a:t>的值相比较，根据差值来实现延迟功能，输入参数</a:t>
            </a:r>
            <a:r>
              <a:rPr lang="en-US" altLang="zh-CN" sz="1400" b="1" dirty="0">
                <a:solidFill>
                  <a:schemeClr val="accent3">
                    <a:lumMod val="50000"/>
                  </a:schemeClr>
                </a:solidFill>
                <a:ea typeface="楷体" pitchFamily="49" charset="-122"/>
              </a:rPr>
              <a:t>Delay</a:t>
            </a:r>
            <a:r>
              <a:rPr lang="zh-CN" altLang="en-US" sz="1400" b="1" dirty="0">
                <a:solidFill>
                  <a:schemeClr val="accent3">
                    <a:lumMod val="50000"/>
                  </a:schemeClr>
                </a:solidFill>
                <a:ea typeface="楷体" pitchFamily="49" charset="-122"/>
              </a:rPr>
              <a:t>为需要延时的时间，单位为毫秒（</a:t>
            </a:r>
            <a:r>
              <a:rPr lang="en-US" altLang="zh-CN" sz="1400" b="1" dirty="0" err="1">
                <a:solidFill>
                  <a:schemeClr val="accent3">
                    <a:lumMod val="50000"/>
                  </a:schemeClr>
                </a:solidFill>
                <a:ea typeface="楷体" pitchFamily="49" charset="-122"/>
              </a:rPr>
              <a:t>ms</a:t>
            </a:r>
            <a:r>
              <a:rPr lang="zh-CN" altLang="en-US" sz="1400" b="1" dirty="0">
                <a:solidFill>
                  <a:schemeClr val="accent3">
                    <a:lumMod val="50000"/>
                  </a:schemeClr>
                </a:solidFill>
                <a:ea typeface="楷体" pitchFamily="49" charset="-122"/>
              </a:rPr>
              <a:t>）</a:t>
            </a:r>
          </a:p>
          <a:p>
            <a:r>
              <a:rPr lang="en-US" altLang="zh-CN" sz="1400" b="1" dirty="0" smtClean="0">
                <a:solidFill>
                  <a:schemeClr val="accent3">
                    <a:lumMod val="50000"/>
                  </a:schemeClr>
                </a:solidFill>
                <a:ea typeface="楷体" pitchFamily="49" charset="-122"/>
              </a:rPr>
              <a:t>      </a:t>
            </a:r>
            <a:r>
              <a:rPr lang="en-US" altLang="zh-CN" sz="1400" b="1" dirty="0" err="1" smtClean="0">
                <a:solidFill>
                  <a:schemeClr val="accent3">
                    <a:lumMod val="50000"/>
                  </a:schemeClr>
                </a:solidFill>
                <a:ea typeface="楷体" pitchFamily="49" charset="-122"/>
              </a:rPr>
              <a:t>HAL_Delay</a:t>
            </a:r>
            <a:r>
              <a:rPr lang="en-US" altLang="zh-CN" sz="1400" b="1" dirty="0">
                <a:solidFill>
                  <a:schemeClr val="accent3">
                    <a:lumMod val="50000"/>
                  </a:schemeClr>
                </a:solidFill>
                <a:ea typeface="楷体" pitchFamily="49" charset="-122"/>
              </a:rPr>
              <a:t>( )</a:t>
            </a:r>
            <a:r>
              <a:rPr lang="zh-CN" altLang="en-US" sz="1400" b="1" dirty="0">
                <a:solidFill>
                  <a:schemeClr val="accent3">
                    <a:lumMod val="50000"/>
                  </a:schemeClr>
                </a:solidFill>
                <a:ea typeface="楷体" pitchFamily="49" charset="-122"/>
              </a:rPr>
              <a:t>延时函数是在应用程序中调用较多的一个函数。</a:t>
            </a:r>
          </a:p>
        </p:txBody>
      </p:sp>
      <p:sp>
        <p:nvSpPr>
          <p:cNvPr id="14" name="左箭头 13"/>
          <p:cNvSpPr/>
          <p:nvPr/>
        </p:nvSpPr>
        <p:spPr>
          <a:xfrm>
            <a:off x="3707904" y="127560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
        <p:nvSpPr>
          <p:cNvPr id="15" name="左箭头 14"/>
          <p:cNvSpPr/>
          <p:nvPr/>
        </p:nvSpPr>
        <p:spPr>
          <a:xfrm>
            <a:off x="3711848" y="207727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
        <p:nvSpPr>
          <p:cNvPr id="16" name="左箭头 15"/>
          <p:cNvSpPr/>
          <p:nvPr/>
        </p:nvSpPr>
        <p:spPr>
          <a:xfrm>
            <a:off x="3779912" y="3614616"/>
            <a:ext cx="576064" cy="216024"/>
          </a:xfrm>
          <a:prstGeom prst="leftArrow">
            <a:avLst/>
          </a:prstGeom>
          <a:solidFill>
            <a:schemeClr val="bg1">
              <a:lumMod val="85000"/>
            </a:schemeClr>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039267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grpSp>
        <p:nvGrpSpPr>
          <p:cNvPr id="12" name="Group 26"/>
          <p:cNvGrpSpPr/>
          <p:nvPr/>
        </p:nvGrpSpPr>
        <p:grpSpPr>
          <a:xfrm>
            <a:off x="881336" y="1419622"/>
            <a:ext cx="2754560" cy="858639"/>
            <a:chOff x="993017" y="1922533"/>
            <a:chExt cx="1908379" cy="643979"/>
          </a:xfrm>
        </p:grpSpPr>
        <p:sp>
          <p:nvSpPr>
            <p:cNvPr id="15"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16"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17" name="Rectangle 35"/>
            <p:cNvSpPr/>
            <p:nvPr/>
          </p:nvSpPr>
          <p:spPr>
            <a:xfrm>
              <a:off x="993017"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lvl="0" algn="ctr"/>
              <a:r>
                <a:rPr lang="en-GB" altLang="zh-CN" sz="1900" b="1" kern="0" dirty="0">
                  <a:solidFill>
                    <a:sysClr val="window" lastClr="FFFFFF"/>
                  </a:solidFill>
                  <a:latin typeface="微软雅黑"/>
                  <a:ea typeface="微软雅黑"/>
                  <a:cs typeface="+mn-ea"/>
                </a:rPr>
                <a:t>stm32f1xx_hal_xxx.h</a:t>
              </a:r>
              <a:endParaRPr kumimoji="0" lang="en-US" sz="19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18" name="矩形 17"/>
          <p:cNvSpPr/>
          <p:nvPr/>
        </p:nvSpPr>
        <p:spPr>
          <a:xfrm>
            <a:off x="1103910" y="2455678"/>
            <a:ext cx="2308048" cy="1477328"/>
          </a:xfrm>
          <a:prstGeom prst="rect">
            <a:avLst/>
          </a:prstGeom>
        </p:spPr>
        <p:txBody>
          <a:bodyPr wrap="square">
            <a:spAutoFit/>
          </a:bodyPr>
          <a:lstStyle/>
          <a:p>
            <a:r>
              <a:rPr lang="zh-CN" altLang="en-US" b="1" dirty="0" smtClean="0"/>
              <a:t>某</a:t>
            </a:r>
            <a:r>
              <a:rPr lang="zh-CN" altLang="en-US" b="1" dirty="0"/>
              <a:t>一个具体外设的头文件，主要包含具体外设功能的结构体的定义以及外设</a:t>
            </a:r>
            <a:r>
              <a:rPr lang="en-US" altLang="zh-CN" b="1" dirty="0"/>
              <a:t>HAL</a:t>
            </a:r>
            <a:r>
              <a:rPr lang="zh-CN" altLang="en-US" b="1" dirty="0"/>
              <a:t>库函数的声明。</a:t>
            </a:r>
          </a:p>
        </p:txBody>
      </p:sp>
      <p:grpSp>
        <p:nvGrpSpPr>
          <p:cNvPr id="20" name="Group 26"/>
          <p:cNvGrpSpPr/>
          <p:nvPr/>
        </p:nvGrpSpPr>
        <p:grpSpPr>
          <a:xfrm>
            <a:off x="4913784" y="1869708"/>
            <a:ext cx="2754560" cy="858639"/>
            <a:chOff x="993017" y="1922533"/>
            <a:chExt cx="1908379" cy="643979"/>
          </a:xfrm>
        </p:grpSpPr>
        <p:sp>
          <p:nvSpPr>
            <p:cNvPr id="21" name="Flowchart: Data 44"/>
            <p:cNvSpPr/>
            <p:nvPr/>
          </p:nvSpPr>
          <p:spPr>
            <a:xfrm rot="16200000" flipH="1" flipV="1">
              <a:off x="2474369" y="2135586"/>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2" name="Flowchart: Data 50"/>
            <p:cNvSpPr/>
            <p:nvPr/>
          </p:nvSpPr>
          <p:spPr>
            <a:xfrm rot="5400000" flipV="1">
              <a:off x="779965" y="2135585"/>
              <a:ext cx="640080" cy="213975"/>
            </a:xfrm>
            <a:prstGeom prst="flowChartInputOutput">
              <a:avLst/>
            </a:prstGeom>
            <a:solidFill>
              <a:srgbClr val="4F91A0">
                <a:lumMod val="90000"/>
                <a:lumOff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sysClr val="window" lastClr="FFFFFF"/>
                </a:solidFill>
                <a:effectLst/>
                <a:uLnTx/>
                <a:uFillTx/>
                <a:latin typeface="微软雅黑"/>
                <a:ea typeface="微软雅黑"/>
                <a:cs typeface="+mn-ea"/>
              </a:endParaRPr>
            </a:p>
          </p:txBody>
        </p:sp>
        <p:sp>
          <p:nvSpPr>
            <p:cNvPr id="23" name="Rectangle 35"/>
            <p:cNvSpPr/>
            <p:nvPr/>
          </p:nvSpPr>
          <p:spPr>
            <a:xfrm>
              <a:off x="993017" y="2053288"/>
              <a:ext cx="1907435" cy="513224"/>
            </a:xfrm>
            <a:prstGeom prst="rect">
              <a:avLst/>
            </a:prstGeom>
            <a:solidFill>
              <a:srgbClr val="4F91A0">
                <a:lumMod val="75000"/>
              </a:srgbClr>
            </a:solidFill>
            <a:ln w="12700" cap="flat" cmpd="sng" algn="ctr">
              <a:solidFill>
                <a:sysClr val="window" lastClr="FFFFFF">
                  <a:lumMod val="95000"/>
                </a:sysClr>
              </a:solidFill>
              <a:prstDash val="solid"/>
              <a:miter lim="800000"/>
            </a:ln>
            <a:effectLst/>
          </p:spPr>
          <p:txBody>
            <a:bodyPr rtlCol="0" anchor="ctr"/>
            <a:lstStyle/>
            <a:p>
              <a:pPr lvl="0" algn="ctr"/>
              <a:r>
                <a:rPr lang="en-GB" altLang="zh-CN" sz="1900" b="1" kern="0" dirty="0">
                  <a:solidFill>
                    <a:sysClr val="window" lastClr="FFFFFF"/>
                  </a:solidFill>
                  <a:latin typeface="微软雅黑"/>
                  <a:ea typeface="微软雅黑"/>
                  <a:cs typeface="+mn-ea"/>
                </a:rPr>
                <a:t>stm32f1xx_hal_xxx.c</a:t>
              </a:r>
              <a:endParaRPr kumimoji="0" lang="en-US" sz="1900" b="1" i="0" u="none" strike="noStrike" kern="0" cap="none" spc="0" normalizeH="0" baseline="0" noProof="0" dirty="0">
                <a:ln>
                  <a:noFill/>
                </a:ln>
                <a:solidFill>
                  <a:sysClr val="window" lastClr="FFFFFF"/>
                </a:solidFill>
                <a:effectLst/>
                <a:uLnTx/>
                <a:uFillTx/>
                <a:latin typeface="微软雅黑"/>
                <a:ea typeface="微软雅黑"/>
                <a:cs typeface="+mn-ea"/>
              </a:endParaRPr>
            </a:p>
          </p:txBody>
        </p:sp>
      </p:grpSp>
      <p:sp>
        <p:nvSpPr>
          <p:cNvPr id="24" name="矩形 23"/>
          <p:cNvSpPr/>
          <p:nvPr/>
        </p:nvSpPr>
        <p:spPr>
          <a:xfrm>
            <a:off x="5068211" y="2859782"/>
            <a:ext cx="2553212" cy="1200329"/>
          </a:xfrm>
          <a:prstGeom prst="rect">
            <a:avLst/>
          </a:prstGeom>
        </p:spPr>
        <p:txBody>
          <a:bodyPr wrap="square">
            <a:spAutoFit/>
          </a:bodyPr>
          <a:lstStyle/>
          <a:p>
            <a:r>
              <a:rPr lang="zh-CN" altLang="zh-CN" b="1" dirty="0" smtClean="0"/>
              <a:t>某</a:t>
            </a:r>
            <a:r>
              <a:rPr lang="zh-CN" altLang="zh-CN" b="1" dirty="0"/>
              <a:t>一个功能外设硬件驱动</a:t>
            </a:r>
            <a:r>
              <a:rPr lang="en-US" altLang="zh-CN" b="1" dirty="0"/>
              <a:t>HAL</a:t>
            </a:r>
            <a:r>
              <a:rPr lang="zh-CN" altLang="zh-CN" b="1" dirty="0"/>
              <a:t>库函数的源文件，是</a:t>
            </a:r>
            <a:r>
              <a:rPr lang="en-US" altLang="zh-CN" b="1" dirty="0"/>
              <a:t>xxx</a:t>
            </a:r>
            <a:r>
              <a:rPr lang="zh-CN" altLang="zh-CN" b="1" dirty="0"/>
              <a:t>外设所用</a:t>
            </a:r>
            <a:r>
              <a:rPr lang="en-US" altLang="zh-CN" b="1" dirty="0"/>
              <a:t>HAL</a:t>
            </a:r>
            <a:r>
              <a:rPr lang="zh-CN" altLang="zh-CN" b="1" dirty="0"/>
              <a:t>库函数的具体</a:t>
            </a:r>
            <a:r>
              <a:rPr lang="zh-CN" altLang="zh-CN" b="1" dirty="0" smtClean="0"/>
              <a:t>实现</a:t>
            </a:r>
            <a:r>
              <a:rPr lang="zh-CN" altLang="en-US" b="1" dirty="0" smtClean="0"/>
              <a:t>。</a:t>
            </a:r>
            <a:endParaRPr lang="zh-CN" altLang="en-US" b="1" dirty="0"/>
          </a:p>
        </p:txBody>
      </p:sp>
    </p:spTree>
    <p:extLst>
      <p:ext uri="{BB962C8B-B14F-4D97-AF65-F5344CB8AC3E}">
        <p14:creationId xmlns:p14="http://schemas.microsoft.com/office/powerpoint/2010/main" val="921730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accel="50000" decel="50000"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787490" y="1074135"/>
            <a:ext cx="3672408" cy="3754874"/>
          </a:xfrm>
          <a:prstGeom prst="rect">
            <a:avLst/>
          </a:prstGeom>
          <a:noFill/>
        </p:spPr>
        <p:txBody>
          <a:bodyPr wrap="square">
            <a:spAutoFit/>
          </a:bodyPr>
          <a:lstStyle/>
          <a:p>
            <a:r>
              <a:rPr lang="en-US" altLang="zh-CN" sz="1400" b="1" dirty="0" smtClean="0"/>
              <a:t>    /* </a:t>
            </a:r>
            <a:r>
              <a:rPr lang="en-US" altLang="zh-CN" sz="1400" b="1" dirty="0"/>
              <a:t>Define to prevent recursive inclusion ---*/</a:t>
            </a:r>
          </a:p>
          <a:p>
            <a:r>
              <a:rPr lang="en-US" altLang="zh-CN" sz="1400" b="1" dirty="0">
                <a:solidFill>
                  <a:schemeClr val="accent5">
                    <a:lumMod val="75000"/>
                  </a:schemeClr>
                </a:solidFill>
              </a:rPr>
              <a:t>#</a:t>
            </a:r>
            <a:r>
              <a:rPr lang="en-US" altLang="zh-CN" sz="1400" b="1" dirty="0" err="1">
                <a:solidFill>
                  <a:schemeClr val="accent5">
                    <a:lumMod val="75000"/>
                  </a:schemeClr>
                </a:solidFill>
              </a:rPr>
              <a:t>ifndef</a:t>
            </a:r>
            <a:r>
              <a:rPr lang="en-US" altLang="zh-CN" sz="1400" b="1" dirty="0">
                <a:solidFill>
                  <a:schemeClr val="accent5">
                    <a:lumMod val="75000"/>
                  </a:schemeClr>
                </a:solidFill>
              </a:rPr>
              <a:t> STM32F1xx_HAL_GPIO_H</a:t>
            </a:r>
          </a:p>
          <a:p>
            <a:r>
              <a:rPr lang="en-US" altLang="zh-CN" sz="1400" b="1" dirty="0">
                <a:solidFill>
                  <a:schemeClr val="accent5">
                    <a:lumMod val="75000"/>
                  </a:schemeClr>
                </a:solidFill>
              </a:rPr>
              <a:t>#define STM32F1xx_HAL_GPIO_H</a:t>
            </a:r>
          </a:p>
          <a:p>
            <a:r>
              <a:rPr lang="en-US" altLang="zh-CN" sz="1400" b="1" dirty="0">
                <a:solidFill>
                  <a:schemeClr val="accent5">
                    <a:lumMod val="75000"/>
                  </a:schemeClr>
                </a:solidFill>
              </a:rPr>
              <a:t>#</a:t>
            </a:r>
            <a:r>
              <a:rPr lang="en-US" altLang="zh-CN" sz="1400" b="1" dirty="0" err="1">
                <a:solidFill>
                  <a:schemeClr val="accent5">
                    <a:lumMod val="75000"/>
                  </a:schemeClr>
                </a:solidFill>
              </a:rPr>
              <a:t>ifdef</a:t>
            </a:r>
            <a:r>
              <a:rPr lang="en-US" altLang="zh-CN" sz="1400" b="1" dirty="0">
                <a:solidFill>
                  <a:schemeClr val="accent5">
                    <a:lumMod val="75000"/>
                  </a:schemeClr>
                </a:solidFill>
              </a:rPr>
              <a:t> __</a:t>
            </a:r>
            <a:r>
              <a:rPr lang="en-US" altLang="zh-CN" sz="1400" b="1" dirty="0" err="1">
                <a:solidFill>
                  <a:schemeClr val="accent5">
                    <a:lumMod val="75000"/>
                  </a:schemeClr>
                </a:solidFill>
              </a:rPr>
              <a:t>cplusplus</a:t>
            </a:r>
            <a:endParaRPr lang="en-US" altLang="zh-CN" sz="1400" b="1" dirty="0">
              <a:solidFill>
                <a:schemeClr val="accent5">
                  <a:lumMod val="75000"/>
                </a:schemeClr>
              </a:solidFill>
            </a:endParaRPr>
          </a:p>
          <a:p>
            <a:r>
              <a:rPr lang="en-US" altLang="zh-CN" sz="1400" b="1" dirty="0">
                <a:solidFill>
                  <a:schemeClr val="accent5">
                    <a:lumMod val="75000"/>
                  </a:schemeClr>
                </a:solidFill>
              </a:rPr>
              <a:t>extern "C" {</a:t>
            </a:r>
          </a:p>
          <a:p>
            <a:r>
              <a:rPr lang="en-US" altLang="zh-CN" sz="1400" b="1" dirty="0">
                <a:solidFill>
                  <a:schemeClr val="accent5">
                    <a:lumMod val="75000"/>
                  </a:schemeClr>
                </a:solidFill>
              </a:rPr>
              <a:t>#</a:t>
            </a:r>
            <a:r>
              <a:rPr lang="en-US" altLang="zh-CN" sz="1400" b="1" dirty="0" err="1">
                <a:solidFill>
                  <a:schemeClr val="accent5">
                    <a:lumMod val="75000"/>
                  </a:schemeClr>
                </a:solidFill>
              </a:rPr>
              <a:t>endif</a:t>
            </a:r>
            <a:endParaRPr lang="en-US" altLang="zh-CN" sz="1400" b="1" dirty="0">
              <a:solidFill>
                <a:schemeClr val="accent5">
                  <a:lumMod val="75000"/>
                </a:schemeClr>
              </a:solidFill>
            </a:endParaRPr>
          </a:p>
          <a:p>
            <a:r>
              <a:rPr lang="en-US" altLang="zh-CN" sz="1400" b="1" dirty="0">
                <a:solidFill>
                  <a:schemeClr val="accent5">
                    <a:lumMod val="75000"/>
                  </a:schemeClr>
                </a:solidFill>
              </a:rPr>
              <a:t>#include "</a:t>
            </a:r>
            <a:r>
              <a:rPr lang="en-US" altLang="zh-CN" sz="1400" b="1" dirty="0" smtClean="0">
                <a:solidFill>
                  <a:schemeClr val="accent5">
                    <a:lumMod val="75000"/>
                  </a:schemeClr>
                </a:solidFill>
              </a:rPr>
              <a:t>stm32f1xx_hal_def.h</a:t>
            </a:r>
            <a:r>
              <a:rPr lang="en-US" altLang="zh-CN" sz="1400" b="1" dirty="0">
                <a:solidFill>
                  <a:schemeClr val="accent5">
                    <a:lumMod val="75000"/>
                  </a:schemeClr>
                </a:solidFill>
              </a:rPr>
              <a:t> </a:t>
            </a:r>
            <a:r>
              <a:rPr lang="en-US" altLang="zh-CN" sz="1400" b="1" dirty="0" smtClean="0">
                <a:solidFill>
                  <a:schemeClr val="accent5">
                    <a:lumMod val="75000"/>
                  </a:schemeClr>
                </a:solidFill>
              </a:rPr>
              <a:t>“</a:t>
            </a: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struct</a:t>
            </a:r>
            <a:endParaRPr lang="zh-CN" altLang="zh-CN" sz="1400" b="1" dirty="0">
              <a:solidFill>
                <a:schemeClr val="accent5">
                  <a:lumMod val="75000"/>
                </a:schemeClr>
              </a:solidFill>
            </a:endParaRPr>
          </a:p>
          <a:p>
            <a:r>
              <a:rPr lang="en-US" altLang="zh-CN" sz="1400" b="1" dirty="0" smtClean="0">
                <a:solidFill>
                  <a:schemeClr val="accent5">
                    <a:lumMod val="75000"/>
                  </a:schemeClr>
                </a:solidFill>
              </a:rPr>
              <a:t>{   uint32_t </a:t>
            </a:r>
            <a:r>
              <a:rPr lang="en-US" altLang="zh-CN" sz="1400" b="1" dirty="0">
                <a:solidFill>
                  <a:schemeClr val="accent5">
                    <a:lumMod val="75000"/>
                  </a:schemeClr>
                </a:solidFill>
              </a:rPr>
              <a:t>Pin;   </a:t>
            </a:r>
            <a:endParaRPr lang="zh-CN" altLang="zh-CN" sz="1400" b="1" dirty="0">
              <a:solidFill>
                <a:schemeClr val="accent5">
                  <a:lumMod val="75000"/>
                </a:schemeClr>
              </a:solidFill>
            </a:endParaRPr>
          </a:p>
          <a:p>
            <a:r>
              <a:rPr lang="en-US" altLang="zh-CN" sz="1400" b="1" dirty="0" smtClean="0">
                <a:solidFill>
                  <a:schemeClr val="accent5">
                    <a:lumMod val="75000"/>
                  </a:schemeClr>
                </a:solidFill>
              </a:rPr>
              <a:t>     uint32_t </a:t>
            </a:r>
            <a:r>
              <a:rPr lang="en-US" altLang="zh-CN" sz="1400" b="1" dirty="0">
                <a:solidFill>
                  <a:schemeClr val="accent5">
                    <a:lumMod val="75000"/>
                  </a:schemeClr>
                </a:solidFill>
              </a:rPr>
              <a:t>Mode;     </a:t>
            </a:r>
            <a:endParaRPr lang="zh-CN" altLang="zh-CN" sz="1400" b="1" dirty="0">
              <a:solidFill>
                <a:schemeClr val="accent5">
                  <a:lumMod val="75000"/>
                </a:schemeClr>
              </a:solidFill>
            </a:endParaRPr>
          </a:p>
          <a:p>
            <a:r>
              <a:rPr lang="en-US" altLang="zh-CN" sz="1400" b="1" dirty="0" smtClean="0">
                <a:solidFill>
                  <a:schemeClr val="accent5">
                    <a:lumMod val="75000"/>
                  </a:schemeClr>
                </a:solidFill>
              </a:rPr>
              <a:t>     uint32_t </a:t>
            </a:r>
            <a:r>
              <a:rPr lang="en-US" altLang="zh-CN" sz="1400" b="1" dirty="0">
                <a:solidFill>
                  <a:schemeClr val="accent5">
                    <a:lumMod val="75000"/>
                  </a:schemeClr>
                </a:solidFill>
              </a:rPr>
              <a:t>Pull;    </a:t>
            </a:r>
            <a:endParaRPr lang="zh-CN" altLang="zh-CN" sz="1400" b="1" dirty="0">
              <a:solidFill>
                <a:schemeClr val="accent5">
                  <a:lumMod val="75000"/>
                </a:schemeClr>
              </a:solidFill>
            </a:endParaRPr>
          </a:p>
          <a:p>
            <a:r>
              <a:rPr lang="en-US" altLang="zh-CN" sz="1400" b="1" dirty="0" smtClean="0">
                <a:solidFill>
                  <a:schemeClr val="accent5">
                    <a:lumMod val="75000"/>
                  </a:schemeClr>
                </a:solidFill>
              </a:rPr>
              <a:t>     uint32_t </a:t>
            </a:r>
            <a:r>
              <a:rPr lang="en-US" altLang="zh-CN" sz="1400" b="1" dirty="0">
                <a:solidFill>
                  <a:schemeClr val="accent5">
                    <a:lumMod val="75000"/>
                  </a:schemeClr>
                </a:solidFill>
              </a:rPr>
              <a:t>Speed;     </a:t>
            </a:r>
            <a:endParaRPr lang="zh-CN" altLang="zh-CN" sz="1400" b="1" dirty="0">
              <a:solidFill>
                <a:schemeClr val="accent5">
                  <a:lumMod val="75000"/>
                </a:schemeClr>
              </a:solidFill>
            </a:endParaRPr>
          </a:p>
          <a:p>
            <a:r>
              <a:rPr lang="en-US" altLang="zh-CN" sz="1400" b="1" dirty="0">
                <a:solidFill>
                  <a:schemeClr val="accent5">
                    <a:lumMod val="75000"/>
                  </a:schemeClr>
                </a:solidFill>
              </a:rPr>
              <a:t>} </a:t>
            </a:r>
            <a:r>
              <a:rPr lang="en-US" altLang="zh-CN" sz="1400" b="1" dirty="0" err="1">
                <a:solidFill>
                  <a:schemeClr val="accent5">
                    <a:lumMod val="75000"/>
                  </a:schemeClr>
                </a:solidFill>
              </a:rPr>
              <a:t>GPIO_InitTypeDef</a:t>
            </a:r>
            <a:r>
              <a:rPr lang="en-US" altLang="zh-CN" sz="1400" b="1" dirty="0">
                <a:solidFill>
                  <a:schemeClr val="accent5">
                    <a:lumMod val="75000"/>
                  </a:schemeClr>
                </a:solidFill>
              </a:rPr>
              <a:t>;</a:t>
            </a:r>
            <a:endParaRPr lang="zh-CN" altLang="zh-CN" sz="1400" b="1" dirty="0">
              <a:solidFill>
                <a:schemeClr val="accent5">
                  <a:lumMod val="75000"/>
                </a:schemeClr>
              </a:solidFill>
            </a:endParaRPr>
          </a:p>
          <a:p>
            <a:r>
              <a:rPr lang="en-US" altLang="zh-CN" sz="1400" b="1" dirty="0" err="1">
                <a:solidFill>
                  <a:schemeClr val="accent5">
                    <a:lumMod val="75000"/>
                  </a:schemeClr>
                </a:solidFill>
              </a:rPr>
              <a:t>typedef</a:t>
            </a:r>
            <a:r>
              <a:rPr lang="en-US" altLang="zh-CN" sz="1400" b="1" dirty="0">
                <a:solidFill>
                  <a:schemeClr val="accent5">
                    <a:lumMod val="75000"/>
                  </a:schemeClr>
                </a:solidFill>
              </a:rPr>
              <a:t> </a:t>
            </a:r>
            <a:r>
              <a:rPr lang="en-US" altLang="zh-CN" sz="1400" b="1" dirty="0" err="1">
                <a:solidFill>
                  <a:schemeClr val="accent5">
                    <a:lumMod val="75000"/>
                  </a:schemeClr>
                </a:solidFill>
              </a:rPr>
              <a:t>enum</a:t>
            </a:r>
            <a:endParaRPr lang="en-US" altLang="zh-CN" sz="1400" b="1" dirty="0">
              <a:solidFill>
                <a:schemeClr val="accent5">
                  <a:lumMod val="75000"/>
                </a:schemeClr>
              </a:solidFill>
            </a:endParaRPr>
          </a:p>
          <a:p>
            <a:r>
              <a:rPr lang="en-US" altLang="zh-CN" sz="1400" b="1" dirty="0" smtClean="0">
                <a:solidFill>
                  <a:schemeClr val="accent5">
                    <a:lumMod val="75000"/>
                  </a:schemeClr>
                </a:solidFill>
              </a:rPr>
              <a:t>{  </a:t>
            </a:r>
            <a:r>
              <a:rPr lang="en-US" altLang="zh-CN" sz="1400" b="1" dirty="0">
                <a:solidFill>
                  <a:schemeClr val="accent5">
                    <a:lumMod val="75000"/>
                  </a:schemeClr>
                </a:solidFill>
              </a:rPr>
              <a:t>GPIO_PIN_RESET = 0u,</a:t>
            </a:r>
          </a:p>
          <a:p>
            <a:r>
              <a:rPr lang="en-US" altLang="zh-CN" sz="1400" b="1" dirty="0">
                <a:solidFill>
                  <a:schemeClr val="accent5">
                    <a:lumMod val="75000"/>
                  </a:schemeClr>
                </a:solidFill>
              </a:rPr>
              <a:t>  </a:t>
            </a:r>
            <a:r>
              <a:rPr lang="en-US" altLang="zh-CN" sz="1400" b="1" dirty="0" smtClean="0">
                <a:solidFill>
                  <a:schemeClr val="accent5">
                    <a:lumMod val="75000"/>
                  </a:schemeClr>
                </a:solidFill>
              </a:rPr>
              <a:t>   GPIO_PIN_SET</a:t>
            </a:r>
            <a:endParaRPr lang="en-US" altLang="zh-CN" sz="1400" b="1" dirty="0">
              <a:solidFill>
                <a:schemeClr val="accent5">
                  <a:lumMod val="75000"/>
                </a:schemeClr>
              </a:solidFill>
            </a:endParaRPr>
          </a:p>
          <a:p>
            <a:r>
              <a:rPr lang="en-US" altLang="zh-CN" sz="1400" b="1" dirty="0">
                <a:solidFill>
                  <a:schemeClr val="accent5">
                    <a:lumMod val="75000"/>
                  </a:schemeClr>
                </a:solidFill>
              </a:rPr>
              <a:t>} </a:t>
            </a:r>
            <a:r>
              <a:rPr lang="en-US" altLang="zh-CN" sz="1400" b="1" dirty="0" err="1">
                <a:solidFill>
                  <a:schemeClr val="accent5">
                    <a:lumMod val="75000"/>
                  </a:schemeClr>
                </a:solidFill>
              </a:rPr>
              <a:t>GPIO_PinState</a:t>
            </a:r>
            <a:r>
              <a:rPr lang="en-US" altLang="zh-CN" sz="1400" b="1" dirty="0" smtClean="0">
                <a:solidFill>
                  <a:schemeClr val="accent5">
                    <a:lumMod val="75000"/>
                  </a:schemeClr>
                </a:solidFill>
              </a:rPr>
              <a:t>;</a:t>
            </a:r>
            <a:endParaRPr lang="en-US" altLang="zh-CN" sz="1400" b="1" dirty="0">
              <a:solidFill>
                <a:schemeClr val="accent5">
                  <a:lumMod val="75000"/>
                </a:schemeClr>
              </a:solidFill>
            </a:endParaRPr>
          </a:p>
        </p:txBody>
      </p:sp>
      <p:sp>
        <p:nvSpPr>
          <p:cNvPr id="3" name="矩形标注 2"/>
          <p:cNvSpPr/>
          <p:nvPr/>
        </p:nvSpPr>
        <p:spPr>
          <a:xfrm>
            <a:off x="4211960" y="3291830"/>
            <a:ext cx="3960440" cy="1537179"/>
          </a:xfrm>
          <a:prstGeom prst="wedgeRectCallout">
            <a:avLst>
              <a:gd name="adj1" fmla="val -75858"/>
              <a:gd name="adj2" fmla="val 23316"/>
            </a:avLst>
          </a:prstGeom>
          <a:ln>
            <a:solidFill>
              <a:schemeClr val="accent2">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schemeClr val="tx1"/>
                </a:solidFill>
                <a:ea typeface="楷体" pitchFamily="49" charset="-122"/>
              </a:rPr>
              <a:t>定义一个</a:t>
            </a:r>
            <a:r>
              <a:rPr lang="en-US" altLang="zh-CN" sz="1600" b="1" dirty="0" err="1">
                <a:solidFill>
                  <a:schemeClr val="tx1"/>
                </a:solidFill>
                <a:ea typeface="楷体" pitchFamily="49" charset="-122"/>
              </a:rPr>
              <a:t>enum</a:t>
            </a:r>
            <a:r>
              <a:rPr lang="zh-CN" altLang="en-US" sz="1600" b="1" dirty="0">
                <a:solidFill>
                  <a:schemeClr val="tx1"/>
                </a:solidFill>
                <a:ea typeface="楷体" pitchFamily="49" charset="-122"/>
              </a:rPr>
              <a:t>枚举类型的别名</a:t>
            </a:r>
            <a:r>
              <a:rPr lang="en-US" altLang="zh-CN" sz="1600" b="1" dirty="0" err="1">
                <a:solidFill>
                  <a:schemeClr val="tx1"/>
                </a:solidFill>
                <a:ea typeface="楷体" pitchFamily="49" charset="-122"/>
              </a:rPr>
              <a:t>GPIO_PinState</a:t>
            </a:r>
            <a:r>
              <a:rPr lang="zh-CN" altLang="en-US" sz="1600" b="1" dirty="0">
                <a:solidFill>
                  <a:schemeClr val="tx1"/>
                </a:solidFill>
                <a:ea typeface="楷体" pitchFamily="49" charset="-122"/>
              </a:rPr>
              <a:t>，用于表示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引脚置位和复位的定义，</a:t>
            </a:r>
            <a:r>
              <a:rPr lang="en-US" altLang="zh-CN" sz="1600" b="1" dirty="0">
                <a:solidFill>
                  <a:schemeClr val="tx1"/>
                </a:solidFill>
                <a:ea typeface="楷体" pitchFamily="49" charset="-122"/>
              </a:rPr>
              <a:t>GPIO_PIN_RESET</a:t>
            </a:r>
            <a:r>
              <a:rPr lang="zh-CN" altLang="en-US" sz="1600" b="1" dirty="0">
                <a:solidFill>
                  <a:schemeClr val="tx1"/>
                </a:solidFill>
                <a:ea typeface="楷体" pitchFamily="49" charset="-122"/>
              </a:rPr>
              <a:t>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引脚复位，即置“</a:t>
            </a:r>
            <a:r>
              <a:rPr lang="en-US" altLang="zh-CN" sz="1600" b="1" dirty="0">
                <a:solidFill>
                  <a:schemeClr val="tx1"/>
                </a:solidFill>
                <a:ea typeface="楷体" pitchFamily="49" charset="-122"/>
              </a:rPr>
              <a:t>0”</a:t>
            </a:r>
            <a:r>
              <a:rPr lang="zh-CN" altLang="en-US" sz="1600" b="1" dirty="0">
                <a:solidFill>
                  <a:schemeClr val="tx1"/>
                </a:solidFill>
                <a:ea typeface="楷体" pitchFamily="49" charset="-122"/>
              </a:rPr>
              <a:t>；</a:t>
            </a:r>
            <a:r>
              <a:rPr lang="en-US" altLang="zh-CN" sz="1600" b="1" dirty="0">
                <a:solidFill>
                  <a:schemeClr val="tx1"/>
                </a:solidFill>
                <a:ea typeface="楷体" pitchFamily="49" charset="-122"/>
              </a:rPr>
              <a:t>GPIO_PIN_SET</a:t>
            </a:r>
            <a:r>
              <a:rPr lang="zh-CN" altLang="en-US" sz="1600" b="1" dirty="0">
                <a:solidFill>
                  <a:schemeClr val="tx1"/>
                </a:solidFill>
                <a:ea typeface="楷体" pitchFamily="49" charset="-122"/>
              </a:rPr>
              <a:t>表示</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引脚置位，即置“</a:t>
            </a:r>
            <a:r>
              <a:rPr lang="en-US" altLang="zh-CN" sz="1600" b="1" dirty="0">
                <a:solidFill>
                  <a:schemeClr val="tx1"/>
                </a:solidFill>
                <a:ea typeface="楷体" pitchFamily="49" charset="-122"/>
              </a:rPr>
              <a:t>1”</a:t>
            </a:r>
            <a:r>
              <a:rPr lang="zh-CN" altLang="en-US" sz="1600" b="1" dirty="0">
                <a:solidFill>
                  <a:schemeClr val="tx1"/>
                </a:solidFill>
                <a:ea typeface="楷体" pitchFamily="49" charset="-122"/>
              </a:rPr>
              <a:t>。</a:t>
            </a:r>
          </a:p>
          <a:p>
            <a:endParaRPr lang="zh-CN" altLang="en-US" sz="1600" b="1" dirty="0" smtClean="0">
              <a:solidFill>
                <a:schemeClr val="tx1"/>
              </a:solidFill>
            </a:endParaRPr>
          </a:p>
        </p:txBody>
      </p:sp>
      <p:sp>
        <p:nvSpPr>
          <p:cNvPr id="6" name="右大括号 5"/>
          <p:cNvSpPr/>
          <p:nvPr/>
        </p:nvSpPr>
        <p:spPr>
          <a:xfrm>
            <a:off x="2915816" y="4011910"/>
            <a:ext cx="216024" cy="817099"/>
          </a:xfrm>
          <a:prstGeom prst="rightBrace">
            <a:avLst>
              <a:gd name="adj1" fmla="val 45287"/>
              <a:gd name="adj2" fmla="val 50000"/>
            </a:avLst>
          </a:prstGeom>
          <a:ln w="28575">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矩形标注 35"/>
          <p:cNvSpPr/>
          <p:nvPr/>
        </p:nvSpPr>
        <p:spPr>
          <a:xfrm>
            <a:off x="4751512" y="1074135"/>
            <a:ext cx="3420888" cy="1281591"/>
          </a:xfrm>
          <a:prstGeom prst="wedgeRectCallout">
            <a:avLst>
              <a:gd name="adj1" fmla="val -108952"/>
              <a:gd name="adj2" fmla="val 125809"/>
            </a:avLst>
          </a:prstGeom>
          <a:ln>
            <a:solidFill>
              <a:schemeClr val="accent6">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a:solidFill>
                  <a:schemeClr val="tx1"/>
                </a:solidFill>
                <a:ea typeface="楷体" pitchFamily="49" charset="-122"/>
              </a:rPr>
              <a:t>定义一个</a:t>
            </a:r>
            <a:r>
              <a:rPr lang="en-US" altLang="zh-CN" sz="1600" b="1" dirty="0" err="1">
                <a:solidFill>
                  <a:schemeClr val="tx1"/>
                </a:solidFill>
                <a:ea typeface="楷体" pitchFamily="49" charset="-122"/>
              </a:rPr>
              <a:t>struct</a:t>
            </a:r>
            <a:r>
              <a:rPr lang="zh-CN" altLang="en-US" sz="1600" b="1" dirty="0">
                <a:solidFill>
                  <a:schemeClr val="tx1"/>
                </a:solidFill>
                <a:ea typeface="楷体" pitchFamily="49" charset="-122"/>
              </a:rPr>
              <a:t>结构体的别名</a:t>
            </a:r>
            <a:r>
              <a:rPr lang="en-US" altLang="zh-CN" sz="1600" b="1" dirty="0" err="1">
                <a:solidFill>
                  <a:schemeClr val="tx1"/>
                </a:solidFill>
                <a:ea typeface="楷体" pitchFamily="49" charset="-122"/>
              </a:rPr>
              <a:t>GPIO_InitTypeDef</a:t>
            </a:r>
            <a:r>
              <a:rPr lang="zh-CN" altLang="en-US" sz="1600" b="1" dirty="0">
                <a:solidFill>
                  <a:schemeClr val="tx1"/>
                </a:solidFill>
                <a:ea typeface="楷体" pitchFamily="49" charset="-122"/>
              </a:rPr>
              <a:t>，其成员变量有四个，</a:t>
            </a:r>
            <a:r>
              <a:rPr lang="en-US" altLang="zh-CN" sz="1600" b="1" dirty="0">
                <a:solidFill>
                  <a:schemeClr val="tx1"/>
                </a:solidFill>
                <a:ea typeface="楷体" pitchFamily="49" charset="-122"/>
              </a:rPr>
              <a:t>Pin</a:t>
            </a:r>
            <a:r>
              <a:rPr lang="zh-CN" altLang="en-US" sz="1600" b="1" dirty="0">
                <a:solidFill>
                  <a:schemeClr val="tx1"/>
                </a:solidFill>
                <a:ea typeface="楷体" pitchFamily="49" charset="-122"/>
              </a:rPr>
              <a:t>代表引脚，</a:t>
            </a:r>
            <a:r>
              <a:rPr lang="en-US" altLang="zh-CN" sz="1600" b="1" dirty="0">
                <a:solidFill>
                  <a:schemeClr val="tx1"/>
                </a:solidFill>
                <a:ea typeface="楷体" pitchFamily="49" charset="-122"/>
              </a:rPr>
              <a:t>Mode</a:t>
            </a:r>
            <a:r>
              <a:rPr lang="zh-CN" altLang="en-US" sz="1600" b="1" dirty="0">
                <a:solidFill>
                  <a:schemeClr val="tx1"/>
                </a:solidFill>
                <a:ea typeface="楷体" pitchFamily="49" charset="-122"/>
              </a:rPr>
              <a:t>表示输入输出模式，</a:t>
            </a:r>
            <a:r>
              <a:rPr lang="en-US" altLang="zh-CN" sz="1600" b="1" dirty="0">
                <a:solidFill>
                  <a:schemeClr val="tx1"/>
                </a:solidFill>
                <a:ea typeface="楷体" pitchFamily="49" charset="-122"/>
              </a:rPr>
              <a:t>Pull</a:t>
            </a:r>
            <a:r>
              <a:rPr lang="zh-CN" altLang="en-US" sz="1600" b="1" dirty="0">
                <a:solidFill>
                  <a:schemeClr val="tx1"/>
                </a:solidFill>
                <a:ea typeface="楷体" pitchFamily="49" charset="-122"/>
              </a:rPr>
              <a:t>表示上拉下拉，</a:t>
            </a:r>
            <a:r>
              <a:rPr lang="en-US" altLang="zh-CN" sz="1600" b="1" dirty="0">
                <a:solidFill>
                  <a:schemeClr val="tx1"/>
                </a:solidFill>
                <a:ea typeface="楷体" pitchFamily="49" charset="-122"/>
              </a:rPr>
              <a:t>Speed</a:t>
            </a:r>
            <a:r>
              <a:rPr lang="zh-CN" altLang="en-US" sz="1600" b="1" dirty="0">
                <a:solidFill>
                  <a:schemeClr val="tx1"/>
                </a:solidFill>
                <a:ea typeface="楷体" pitchFamily="49" charset="-122"/>
              </a:rPr>
              <a:t>表示速度</a:t>
            </a:r>
            <a:r>
              <a:rPr lang="zh-CN" altLang="en-US" sz="1600" b="1" dirty="0" smtClean="0">
                <a:solidFill>
                  <a:schemeClr val="tx1"/>
                </a:solidFill>
                <a:ea typeface="楷体" pitchFamily="49" charset="-122"/>
              </a:rPr>
              <a:t>。</a:t>
            </a:r>
            <a:endParaRPr lang="zh-CN" altLang="en-US" sz="1600" b="1" dirty="0" smtClean="0">
              <a:solidFill>
                <a:schemeClr val="tx1"/>
              </a:solidFill>
            </a:endParaRPr>
          </a:p>
        </p:txBody>
      </p:sp>
      <p:sp>
        <p:nvSpPr>
          <p:cNvPr id="37" name="右大括号 36"/>
          <p:cNvSpPr/>
          <p:nvPr/>
        </p:nvSpPr>
        <p:spPr>
          <a:xfrm>
            <a:off x="2483768" y="2715766"/>
            <a:ext cx="216024" cy="1152128"/>
          </a:xfrm>
          <a:prstGeom prst="rightBrace">
            <a:avLst>
              <a:gd name="adj1" fmla="val 45287"/>
              <a:gd name="adj2" fmla="val 50000"/>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363553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251520" y="987574"/>
            <a:ext cx="4072542" cy="2677656"/>
          </a:xfrm>
          <a:prstGeom prst="rect">
            <a:avLst/>
          </a:prstGeom>
          <a:solidFill>
            <a:schemeClr val="accent6">
              <a:lumMod val="20000"/>
              <a:lumOff val="80000"/>
            </a:schemeClr>
          </a:solidFill>
        </p:spPr>
        <p:txBody>
          <a:bodyPr wrap="square">
            <a:spAutoFit/>
          </a:bodyPr>
          <a:lstStyle/>
          <a:p>
            <a:r>
              <a:rPr lang="en-US" altLang="zh-CN" sz="1400" b="1" dirty="0" smtClean="0"/>
              <a:t>    /* </a:t>
            </a:r>
            <a:r>
              <a:rPr lang="en-US" altLang="zh-CN" sz="1400" b="1" dirty="0"/>
              <a:t>Define to prevent recursive inclusion ---*/</a:t>
            </a:r>
          </a:p>
          <a:p>
            <a:r>
              <a:rPr lang="en-US" altLang="zh-CN" sz="1400" b="1" dirty="0">
                <a:solidFill>
                  <a:schemeClr val="accent5">
                    <a:lumMod val="75000"/>
                  </a:schemeClr>
                </a:solidFill>
              </a:rPr>
              <a:t>#define GPIO_PIN_0     ((uint16_t)0x0001)  </a:t>
            </a:r>
            <a:endParaRPr lang="en-US" altLang="zh-CN" sz="1400" b="1" dirty="0" smtClean="0">
              <a:solidFill>
                <a:schemeClr val="accent5">
                  <a:lumMod val="75000"/>
                </a:schemeClr>
              </a:solidFill>
            </a:endParaRP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r>
              <a:rPr lang="en-US" altLang="zh-CN" sz="1400" b="1" dirty="0" smtClean="0"/>
              <a:t>/* </a:t>
            </a:r>
            <a:r>
              <a:rPr lang="en-US" altLang="zh-CN" sz="1400" b="1" dirty="0"/>
              <a:t>Pin 0 selected    */</a:t>
            </a:r>
          </a:p>
          <a:p>
            <a:r>
              <a:rPr lang="en-US" altLang="zh-CN" sz="1400" b="1" dirty="0">
                <a:solidFill>
                  <a:schemeClr val="accent5">
                    <a:lumMod val="75000"/>
                  </a:schemeClr>
                </a:solidFill>
              </a:rPr>
              <a:t>#define GPIO_PIN_1     ((uint16_t)0x0002)  </a:t>
            </a:r>
            <a:endParaRPr lang="en-US" altLang="zh-CN" sz="1400" b="1" dirty="0" smtClean="0">
              <a:solidFill>
                <a:schemeClr val="accent5">
                  <a:lumMod val="75000"/>
                </a:schemeClr>
              </a:solidFill>
            </a:endParaRPr>
          </a:p>
          <a:p>
            <a:r>
              <a:rPr lang="en-US" altLang="zh-CN" sz="1400" b="1" dirty="0"/>
              <a:t> </a:t>
            </a:r>
            <a:r>
              <a:rPr lang="en-US" altLang="zh-CN" sz="1400" b="1" dirty="0" smtClean="0"/>
              <a:t>    /* </a:t>
            </a:r>
            <a:r>
              <a:rPr lang="en-US" altLang="zh-CN" sz="1400" b="1" dirty="0"/>
              <a:t>Pin 1 selected    */</a:t>
            </a:r>
          </a:p>
          <a:p>
            <a:r>
              <a:rPr lang="en-US" altLang="zh-CN" sz="1400" b="1" dirty="0" smtClean="0">
                <a:solidFill>
                  <a:schemeClr val="accent5">
                    <a:lumMod val="75000"/>
                  </a:schemeClr>
                </a:solidFill>
              </a:rPr>
              <a:t>…….</a:t>
            </a:r>
          </a:p>
          <a:p>
            <a:r>
              <a:rPr lang="en-US" altLang="zh-CN" sz="1400" b="1" dirty="0" smtClean="0">
                <a:solidFill>
                  <a:schemeClr val="accent5">
                    <a:lumMod val="75000"/>
                  </a:schemeClr>
                </a:solidFill>
              </a:rPr>
              <a:t> #</a:t>
            </a:r>
            <a:r>
              <a:rPr lang="en-US" altLang="zh-CN" sz="1400" b="1" dirty="0">
                <a:solidFill>
                  <a:schemeClr val="accent5">
                    <a:lumMod val="75000"/>
                  </a:schemeClr>
                </a:solidFill>
              </a:rPr>
              <a:t>define GPIO_PIN_15    ((uint16_t)0x8000)  </a:t>
            </a:r>
            <a:endParaRPr lang="en-US" altLang="zh-CN" sz="1400" b="1" dirty="0" smtClean="0">
              <a:solidFill>
                <a:schemeClr val="accent5">
                  <a:lumMod val="75000"/>
                </a:schemeClr>
              </a:solidFill>
            </a:endParaRPr>
          </a:p>
          <a:p>
            <a:r>
              <a:rPr lang="en-US" altLang="zh-CN" sz="1400" b="1" dirty="0"/>
              <a:t> </a:t>
            </a:r>
            <a:r>
              <a:rPr lang="en-US" altLang="zh-CN" sz="1400" b="1" dirty="0" smtClean="0"/>
              <a:t>    /* </a:t>
            </a:r>
            <a:r>
              <a:rPr lang="en-US" altLang="zh-CN" sz="1400" b="1" dirty="0"/>
              <a:t>Pin 15 selected   */</a:t>
            </a:r>
          </a:p>
          <a:p>
            <a:r>
              <a:rPr lang="en-US" altLang="zh-CN" sz="1400" b="1" dirty="0">
                <a:solidFill>
                  <a:schemeClr val="accent5">
                    <a:lumMod val="75000"/>
                  </a:schemeClr>
                </a:solidFill>
              </a:rPr>
              <a:t>#define </a:t>
            </a:r>
            <a:r>
              <a:rPr lang="en-US" altLang="zh-CN" sz="1400" b="1" dirty="0" err="1">
                <a:solidFill>
                  <a:schemeClr val="accent5">
                    <a:lumMod val="75000"/>
                  </a:schemeClr>
                </a:solidFill>
              </a:rPr>
              <a:t>GPIO_PIN_All</a:t>
            </a:r>
            <a:r>
              <a:rPr lang="en-US" altLang="zh-CN" sz="1400" b="1" dirty="0">
                <a:solidFill>
                  <a:schemeClr val="accent5">
                    <a:lumMod val="75000"/>
                  </a:schemeClr>
                </a:solidFill>
              </a:rPr>
              <a:t>    ((uint16_t)0xFFFF) </a:t>
            </a:r>
            <a:endParaRPr lang="en-US" altLang="zh-CN" sz="1400" b="1" dirty="0" smtClean="0">
              <a:solidFill>
                <a:schemeClr val="accent5">
                  <a:lumMod val="75000"/>
                </a:schemeClr>
              </a:solidFill>
            </a:endParaRP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r>
              <a:rPr lang="en-US" altLang="zh-CN" sz="1400" b="1" dirty="0"/>
              <a:t>/* All pins selected */</a:t>
            </a:r>
          </a:p>
          <a:p>
            <a:r>
              <a:rPr lang="en-US" altLang="zh-CN" sz="1400" b="1" dirty="0">
                <a:solidFill>
                  <a:schemeClr val="accent5">
                    <a:lumMod val="75000"/>
                  </a:schemeClr>
                </a:solidFill>
              </a:rPr>
              <a:t>#define GPIO_PIN_MASK    0x0000FFFFu </a:t>
            </a:r>
            <a:endParaRPr lang="en-US" altLang="zh-CN" sz="1400" b="1" dirty="0" smtClean="0">
              <a:solidFill>
                <a:schemeClr val="accent5">
                  <a:lumMod val="75000"/>
                </a:schemeClr>
              </a:solidFill>
            </a:endParaRP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r>
              <a:rPr lang="en-US" altLang="zh-CN" sz="1400" b="1" dirty="0" smtClean="0"/>
              <a:t>/* </a:t>
            </a:r>
            <a:r>
              <a:rPr lang="en-US" altLang="zh-CN" sz="1400" b="1" dirty="0"/>
              <a:t>PIN mask for assert test */</a:t>
            </a:r>
          </a:p>
        </p:txBody>
      </p:sp>
      <p:sp>
        <p:nvSpPr>
          <p:cNvPr id="3" name="矩形标注 2"/>
          <p:cNvSpPr/>
          <p:nvPr/>
        </p:nvSpPr>
        <p:spPr>
          <a:xfrm>
            <a:off x="467544" y="4083918"/>
            <a:ext cx="3528392" cy="731699"/>
          </a:xfrm>
          <a:prstGeom prst="wedgeRectCallout">
            <a:avLst>
              <a:gd name="adj1" fmla="val 66011"/>
              <a:gd name="adj2" fmla="val -109609"/>
            </a:avLst>
          </a:prstGeom>
          <a:ln>
            <a:solidFill>
              <a:schemeClr val="accent3">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引脚输入输出模式定义，输出模式主要有推挽、开漏模式。</a:t>
            </a:r>
            <a:endParaRPr lang="zh-CN" altLang="en-US" sz="1600" b="1" dirty="0" smtClean="0">
              <a:solidFill>
                <a:schemeClr val="tx1"/>
              </a:solidFill>
            </a:endParaRPr>
          </a:p>
        </p:txBody>
      </p:sp>
      <p:sp>
        <p:nvSpPr>
          <p:cNvPr id="36" name="矩形标注 35"/>
          <p:cNvSpPr/>
          <p:nvPr/>
        </p:nvSpPr>
        <p:spPr>
          <a:xfrm>
            <a:off x="4932040" y="981621"/>
            <a:ext cx="2228158" cy="320397"/>
          </a:xfrm>
          <a:prstGeom prst="wedgeRectCallout">
            <a:avLst>
              <a:gd name="adj1" fmla="val -108952"/>
              <a:gd name="adj2" fmla="val 125809"/>
            </a:avLst>
          </a:prstGeom>
          <a:ln>
            <a:solidFill>
              <a:schemeClr val="accent6">
                <a:lumMod val="40000"/>
                <a:lumOff val="6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GB" altLang="zh-CN" sz="1600" b="1" dirty="0">
                <a:solidFill>
                  <a:schemeClr val="tx1"/>
                </a:solidFill>
                <a:ea typeface="楷体" pitchFamily="49" charset="-122"/>
              </a:rPr>
              <a:t>GPIO</a:t>
            </a:r>
            <a:r>
              <a:rPr lang="zh-CN" altLang="en-US" sz="1600" b="1" dirty="0">
                <a:solidFill>
                  <a:schemeClr val="tx1"/>
                </a:solidFill>
                <a:ea typeface="楷体" pitchFamily="49" charset="-122"/>
              </a:rPr>
              <a:t>引脚</a:t>
            </a:r>
            <a:r>
              <a:rPr lang="zh-CN" altLang="en-US" sz="1600" b="1" dirty="0" smtClean="0">
                <a:solidFill>
                  <a:schemeClr val="tx1"/>
                </a:solidFill>
                <a:ea typeface="楷体" pitchFamily="49" charset="-122"/>
              </a:rPr>
              <a:t>定义。</a:t>
            </a:r>
            <a:endParaRPr lang="zh-CN" altLang="en-US" sz="1600" b="1" dirty="0" smtClean="0">
              <a:solidFill>
                <a:schemeClr val="tx1"/>
              </a:solidFill>
            </a:endParaRPr>
          </a:p>
        </p:txBody>
      </p:sp>
      <p:sp>
        <p:nvSpPr>
          <p:cNvPr id="2" name="矩形 1"/>
          <p:cNvSpPr/>
          <p:nvPr/>
        </p:nvSpPr>
        <p:spPr>
          <a:xfrm>
            <a:off x="4499992" y="1491630"/>
            <a:ext cx="4464496" cy="3323987"/>
          </a:xfrm>
          <a:prstGeom prst="rect">
            <a:avLst/>
          </a:prstGeom>
          <a:solidFill>
            <a:schemeClr val="accent3">
              <a:lumMod val="20000"/>
              <a:lumOff val="80000"/>
            </a:schemeClr>
          </a:solidFill>
        </p:spPr>
        <p:txBody>
          <a:bodyPr wrap="square">
            <a:spAutoFit/>
          </a:bodyPr>
          <a:lstStyle/>
          <a:p>
            <a:r>
              <a:rPr lang="en-US" altLang="zh-CN" sz="1400" b="1" dirty="0">
                <a:solidFill>
                  <a:schemeClr val="accent5">
                    <a:lumMod val="75000"/>
                  </a:schemeClr>
                </a:solidFill>
              </a:rPr>
              <a:t>#define  GPIO_MODE_INPUT   </a:t>
            </a:r>
            <a:r>
              <a:rPr lang="en-US" altLang="zh-CN" sz="1400" b="1" dirty="0" smtClean="0">
                <a:solidFill>
                  <a:schemeClr val="accent5">
                    <a:lumMod val="75000"/>
                  </a:schemeClr>
                </a:solidFill>
              </a:rPr>
              <a:t>  </a:t>
            </a:r>
            <a:r>
              <a:rPr lang="en-US" altLang="zh-CN" sz="1400" b="1" dirty="0">
                <a:solidFill>
                  <a:schemeClr val="accent5">
                    <a:lumMod val="75000"/>
                  </a:schemeClr>
                </a:solidFill>
              </a:rPr>
              <a:t>0x00000000u  </a:t>
            </a:r>
            <a:endParaRPr lang="en-US" altLang="zh-CN" sz="1400" b="1" dirty="0" smtClean="0">
              <a:solidFill>
                <a:schemeClr val="accent5">
                  <a:lumMod val="75000"/>
                </a:schemeClr>
              </a:solidFill>
            </a:endParaRPr>
          </a:p>
          <a:p>
            <a:r>
              <a:rPr lang="en-US" altLang="zh-CN" sz="1400" b="1" dirty="0"/>
              <a:t> </a:t>
            </a:r>
            <a:r>
              <a:rPr lang="en-US" altLang="zh-CN" sz="1400" b="1" dirty="0" smtClean="0"/>
              <a:t>       </a:t>
            </a:r>
            <a:r>
              <a:rPr lang="en-US" altLang="zh-CN" sz="1400" b="1" dirty="0"/>
              <a:t>/*</a:t>
            </a:r>
            <a:r>
              <a:rPr lang="zh-CN" altLang="zh-CN" sz="1400" b="1" dirty="0"/>
              <a:t>输入模式</a:t>
            </a:r>
            <a:r>
              <a:rPr lang="en-US" altLang="zh-CN" sz="1400" b="1" dirty="0"/>
              <a:t> */</a:t>
            </a:r>
            <a:endParaRPr lang="zh-CN" altLang="zh-CN" sz="1400" b="1" dirty="0"/>
          </a:p>
          <a:p>
            <a:r>
              <a:rPr lang="en-US" altLang="zh-CN" sz="1400" b="1" dirty="0">
                <a:solidFill>
                  <a:schemeClr val="accent5">
                    <a:lumMod val="75000"/>
                  </a:schemeClr>
                </a:solidFill>
              </a:rPr>
              <a:t>#define  GPIO_MODE_OUTPUT_PP       0x00000001u  </a:t>
            </a:r>
            <a:endParaRPr lang="en-US" altLang="zh-CN" sz="1400" b="1" dirty="0" smtClean="0">
              <a:solidFill>
                <a:schemeClr val="accent5">
                  <a:lumMod val="75000"/>
                </a:schemeClr>
              </a:solidFill>
            </a:endParaRPr>
          </a:p>
          <a:p>
            <a:r>
              <a:rPr lang="en-US" altLang="zh-CN" sz="1400" b="1" dirty="0"/>
              <a:t> </a:t>
            </a:r>
            <a:r>
              <a:rPr lang="en-US" altLang="zh-CN" sz="1400" b="1" dirty="0" smtClean="0"/>
              <a:t>       </a:t>
            </a:r>
            <a:r>
              <a:rPr lang="en-US" altLang="zh-CN" sz="1400" b="1" dirty="0"/>
              <a:t>/*</a:t>
            </a:r>
            <a:r>
              <a:rPr lang="zh-CN" altLang="zh-CN" sz="1400" b="1" dirty="0"/>
              <a:t>推挽输出模式</a:t>
            </a:r>
            <a:r>
              <a:rPr lang="en-US" altLang="zh-CN" sz="1400" b="1" dirty="0"/>
              <a:t>  */</a:t>
            </a:r>
            <a:endParaRPr lang="zh-CN" altLang="zh-CN" sz="1400" b="1" dirty="0"/>
          </a:p>
          <a:p>
            <a:r>
              <a:rPr lang="en-US" altLang="zh-CN" sz="1400" b="1" dirty="0">
                <a:solidFill>
                  <a:schemeClr val="accent5">
                    <a:lumMod val="75000"/>
                  </a:schemeClr>
                </a:solidFill>
              </a:rPr>
              <a:t>#define  GPIO_MODE_OUTPUT_OD      0x00000011u   </a:t>
            </a:r>
            <a:endParaRPr lang="en-US" altLang="zh-CN" sz="1400" b="1" dirty="0" smtClean="0">
              <a:solidFill>
                <a:schemeClr val="accent5">
                  <a:lumMod val="75000"/>
                </a:schemeClr>
              </a:solidFill>
            </a:endParaRPr>
          </a:p>
          <a:p>
            <a:r>
              <a:rPr lang="en-US" altLang="zh-CN" sz="1400" b="1" dirty="0"/>
              <a:t> </a:t>
            </a:r>
            <a:r>
              <a:rPr lang="en-US" altLang="zh-CN" sz="1400" b="1" dirty="0" smtClean="0"/>
              <a:t>      /*</a:t>
            </a:r>
            <a:r>
              <a:rPr lang="zh-CN" altLang="zh-CN" sz="1400" b="1" dirty="0"/>
              <a:t>开漏输出模式</a:t>
            </a:r>
            <a:r>
              <a:rPr lang="en-US" altLang="zh-CN" sz="1400" b="1" dirty="0"/>
              <a:t>  */</a:t>
            </a:r>
            <a:endParaRPr lang="zh-CN" altLang="zh-CN" sz="1400" b="1" dirty="0"/>
          </a:p>
          <a:p>
            <a:r>
              <a:rPr lang="en-US" altLang="zh-CN" sz="1400" b="1" dirty="0">
                <a:solidFill>
                  <a:schemeClr val="accent5">
                    <a:lumMod val="75000"/>
                  </a:schemeClr>
                </a:solidFill>
              </a:rPr>
              <a:t>#define  GPIO_MODE_AF_PP            0x00000002u  </a:t>
            </a:r>
            <a:endParaRPr lang="en-US" altLang="zh-CN" sz="1400" b="1" dirty="0" smtClean="0">
              <a:solidFill>
                <a:schemeClr val="accent5">
                  <a:lumMod val="75000"/>
                </a:schemeClr>
              </a:solidFill>
            </a:endParaRP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r>
              <a:rPr lang="en-US" altLang="zh-CN" sz="1400" b="1" dirty="0"/>
              <a:t>/*</a:t>
            </a:r>
            <a:r>
              <a:rPr lang="zh-CN" altLang="zh-CN" sz="1400" b="1" dirty="0"/>
              <a:t>复用推挽输出模式</a:t>
            </a:r>
            <a:r>
              <a:rPr lang="en-US" altLang="zh-CN" sz="1400" b="1" dirty="0"/>
              <a:t>  */</a:t>
            </a:r>
            <a:endParaRPr lang="zh-CN" altLang="zh-CN" sz="1400" b="1" dirty="0"/>
          </a:p>
          <a:p>
            <a:r>
              <a:rPr lang="en-US" altLang="zh-CN" sz="1400" b="1" dirty="0">
                <a:solidFill>
                  <a:schemeClr val="accent5">
                    <a:lumMod val="75000"/>
                  </a:schemeClr>
                </a:solidFill>
              </a:rPr>
              <a:t>#define  GPIO_MODE_AF_OD           0x00000012u   </a:t>
            </a:r>
            <a:endParaRPr lang="en-US" altLang="zh-CN" sz="1400" b="1" dirty="0" smtClean="0">
              <a:solidFill>
                <a:schemeClr val="accent5">
                  <a:lumMod val="75000"/>
                </a:schemeClr>
              </a:solidFill>
            </a:endParaRPr>
          </a:p>
          <a:p>
            <a:r>
              <a:rPr lang="en-US" altLang="zh-CN" sz="1400" b="1" dirty="0"/>
              <a:t> </a:t>
            </a:r>
            <a:r>
              <a:rPr lang="en-US" altLang="zh-CN" sz="1400" b="1" dirty="0" smtClean="0"/>
              <a:t>      /*</a:t>
            </a:r>
            <a:r>
              <a:rPr lang="zh-CN" altLang="zh-CN" sz="1400" b="1" dirty="0"/>
              <a:t>复用开漏输出模式</a:t>
            </a:r>
            <a:r>
              <a:rPr lang="en-US" altLang="zh-CN" sz="1400" b="1" dirty="0"/>
              <a:t>   */</a:t>
            </a:r>
            <a:endParaRPr lang="zh-CN" altLang="zh-CN" sz="1400" b="1" dirty="0"/>
          </a:p>
          <a:p>
            <a:r>
              <a:rPr lang="en-US" altLang="zh-CN" sz="1400" b="1" dirty="0">
                <a:solidFill>
                  <a:schemeClr val="accent5">
                    <a:lumMod val="75000"/>
                  </a:schemeClr>
                </a:solidFill>
              </a:rPr>
              <a:t>#define  GPIO_MODE_AF_INPUT    </a:t>
            </a:r>
            <a:r>
              <a:rPr lang="en-US" altLang="zh-CN" sz="1400" b="1" dirty="0" smtClean="0">
                <a:solidFill>
                  <a:schemeClr val="accent5">
                    <a:lumMod val="75000"/>
                  </a:schemeClr>
                </a:solidFill>
              </a:rPr>
              <a:t>  </a:t>
            </a:r>
            <a:r>
              <a:rPr lang="en-US" altLang="zh-CN" sz="1400" b="1" dirty="0">
                <a:solidFill>
                  <a:schemeClr val="accent5">
                    <a:lumMod val="75000"/>
                  </a:schemeClr>
                </a:solidFill>
              </a:rPr>
              <a:t>GPIO_MODE_INPUT  </a:t>
            </a:r>
            <a:endParaRPr lang="en-US" altLang="zh-CN" sz="1400" b="1" dirty="0" smtClean="0">
              <a:solidFill>
                <a:schemeClr val="accent5">
                  <a:lumMod val="75000"/>
                </a:schemeClr>
              </a:solidFill>
            </a:endParaRPr>
          </a:p>
          <a:p>
            <a:r>
              <a:rPr lang="en-US" altLang="zh-CN" sz="1400" b="1" dirty="0">
                <a:solidFill>
                  <a:schemeClr val="accent5">
                    <a:lumMod val="75000"/>
                  </a:schemeClr>
                </a:solidFill>
              </a:rPr>
              <a:t> </a:t>
            </a:r>
            <a:r>
              <a:rPr lang="en-US" altLang="zh-CN" sz="1400" b="1" dirty="0" smtClean="0">
                <a:solidFill>
                  <a:schemeClr val="accent5">
                    <a:lumMod val="75000"/>
                  </a:schemeClr>
                </a:solidFill>
              </a:rPr>
              <a:t>     </a:t>
            </a:r>
            <a:r>
              <a:rPr lang="en-US" altLang="zh-CN" sz="1400" b="1" dirty="0" smtClean="0"/>
              <a:t>/*</a:t>
            </a:r>
            <a:r>
              <a:rPr lang="zh-CN" altLang="zh-CN" sz="1400" b="1" dirty="0"/>
              <a:t>复用输入模式</a:t>
            </a:r>
            <a:r>
              <a:rPr lang="en-US" altLang="zh-CN" sz="1400" b="1" dirty="0"/>
              <a:t> */</a:t>
            </a:r>
            <a:endParaRPr lang="zh-CN" altLang="zh-CN" sz="1400" b="1" dirty="0"/>
          </a:p>
          <a:p>
            <a:r>
              <a:rPr lang="en-US" altLang="zh-CN" sz="1400" b="1" dirty="0">
                <a:solidFill>
                  <a:schemeClr val="accent5">
                    <a:lumMod val="75000"/>
                  </a:schemeClr>
                </a:solidFill>
              </a:rPr>
              <a:t>… …</a:t>
            </a:r>
            <a:endParaRPr lang="zh-CN" altLang="zh-CN" sz="1400" b="1" dirty="0">
              <a:solidFill>
                <a:schemeClr val="accent5">
                  <a:lumMod val="75000"/>
                </a:schemeClr>
              </a:solidFill>
            </a:endParaRPr>
          </a:p>
          <a:p>
            <a:r>
              <a:rPr lang="en-US" altLang="zh-CN" sz="1400" b="1" dirty="0">
                <a:solidFill>
                  <a:schemeClr val="accent5">
                    <a:lumMod val="75000"/>
                  </a:schemeClr>
                </a:solidFill>
              </a:rPr>
              <a:t>#define  GPIO_MODE_EVT_RISING_FALLING     0x10320000u</a:t>
            </a:r>
            <a:endParaRPr lang="zh-CN" altLang="zh-CN" sz="1400" b="1" dirty="0">
              <a:solidFill>
                <a:schemeClr val="accent5">
                  <a:lumMod val="75000"/>
                </a:schemeClr>
              </a:solidFill>
            </a:endParaRPr>
          </a:p>
        </p:txBody>
      </p:sp>
    </p:spTree>
    <p:extLst>
      <p:ext uri="{BB962C8B-B14F-4D97-AF65-F5344CB8AC3E}">
        <p14:creationId xmlns:p14="http://schemas.microsoft.com/office/powerpoint/2010/main" val="27514510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339503"/>
            <a:ext cx="70202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39503"/>
            <a:ext cx="7571303" cy="461665"/>
          </a:xfrm>
          <a:prstGeom prst="rect">
            <a:avLst/>
          </a:prstGeom>
        </p:spPr>
        <p:txBody>
          <a:bodyPr wrap="none">
            <a:spAutoFit/>
          </a:bodyPr>
          <a:lstStyle/>
          <a:p>
            <a:r>
              <a:rPr lang="en-US" altLang="zh-CN" sz="2400" b="1" dirty="0">
                <a:solidFill>
                  <a:schemeClr val="bg1"/>
                </a:solidFill>
              </a:rPr>
              <a:t>4.3.4 stm32f1xx_hal_gpio.c </a:t>
            </a:r>
            <a:r>
              <a:rPr lang="zh-CN" altLang="en-US" sz="2400" b="1" dirty="0">
                <a:solidFill>
                  <a:schemeClr val="bg1"/>
                </a:solidFill>
              </a:rPr>
              <a:t>和</a:t>
            </a:r>
            <a:r>
              <a:rPr lang="en-US" altLang="zh-CN" sz="2400" b="1" dirty="0">
                <a:solidFill>
                  <a:schemeClr val="bg1"/>
                </a:solidFill>
              </a:rPr>
              <a:t>stm32f1xx_hal_gpio.h	</a:t>
            </a:r>
            <a:endParaRPr lang="zh-CN" altLang="zh-CN" sz="2400" b="1" dirty="0">
              <a:solidFill>
                <a:schemeClr val="bg1"/>
              </a:solidFill>
            </a:endParaRPr>
          </a:p>
        </p:txBody>
      </p:sp>
      <p:sp>
        <p:nvSpPr>
          <p:cNvPr id="29" name="矩形 28"/>
          <p:cNvSpPr/>
          <p:nvPr/>
        </p:nvSpPr>
        <p:spPr>
          <a:xfrm>
            <a:off x="251519" y="915566"/>
            <a:ext cx="4896545" cy="1600438"/>
          </a:xfrm>
          <a:prstGeom prst="rect">
            <a:avLst/>
          </a:prstGeom>
          <a:solidFill>
            <a:schemeClr val="accent6">
              <a:lumMod val="20000"/>
              <a:lumOff val="80000"/>
            </a:schemeClr>
          </a:solidFill>
        </p:spPr>
        <p:txBody>
          <a:bodyPr wrap="square">
            <a:spAutoFit/>
          </a:bodyPr>
          <a:lstStyle/>
          <a:p>
            <a:r>
              <a:rPr lang="en-US" altLang="zh-CN" sz="1400" b="1" dirty="0" smtClean="0"/>
              <a:t>    /* </a:t>
            </a:r>
            <a:r>
              <a:rPr lang="en-US" altLang="zh-CN" sz="1400" b="1" dirty="0"/>
              <a:t>Define to prevent recursive inclusion ---*/</a:t>
            </a:r>
          </a:p>
          <a:p>
            <a:r>
              <a:rPr lang="en-US" altLang="zh-CN" sz="1400" b="1" dirty="0">
                <a:solidFill>
                  <a:schemeClr val="accent5">
                    <a:lumMod val="75000"/>
                  </a:schemeClr>
                </a:solidFill>
              </a:rPr>
              <a:t>#define  GPIO_SPEED_FREQ_LOW      (GPIO_CRL_MODE0_1) </a:t>
            </a:r>
            <a:endParaRPr lang="en-US" altLang="zh-CN" sz="1400" b="1" dirty="0" smtClean="0">
              <a:solidFill>
                <a:schemeClr val="accent5">
                  <a:lumMod val="75000"/>
                </a:schemeClr>
              </a:solidFill>
            </a:endParaRPr>
          </a:p>
          <a:p>
            <a:r>
              <a:rPr lang="en-US" altLang="zh-CN" sz="1400" b="1" dirty="0"/>
              <a:t> </a:t>
            </a:r>
            <a:r>
              <a:rPr lang="en-US" altLang="zh-CN" sz="1400" b="1" dirty="0" smtClean="0"/>
              <a:t>   /*!&lt; </a:t>
            </a:r>
            <a:r>
              <a:rPr lang="en-US" altLang="zh-CN" sz="1400" b="1" dirty="0"/>
              <a:t>Low speed */</a:t>
            </a:r>
          </a:p>
          <a:p>
            <a:r>
              <a:rPr lang="en-US" altLang="zh-CN" sz="1400" b="1" dirty="0">
                <a:solidFill>
                  <a:schemeClr val="accent5">
                    <a:lumMod val="75000"/>
                  </a:schemeClr>
                </a:solidFill>
              </a:rPr>
              <a:t>#define  GPIO_SPEED_FREQ_MEDIUM  (GPIO_CRL_MODE0_0) </a:t>
            </a:r>
            <a:endParaRPr lang="en-US" altLang="zh-CN" sz="1400" b="1" dirty="0" smtClean="0">
              <a:solidFill>
                <a:schemeClr val="accent5">
                  <a:lumMod val="75000"/>
                </a:schemeClr>
              </a:solidFill>
            </a:endParaRPr>
          </a:p>
          <a:p>
            <a:r>
              <a:rPr lang="en-US" altLang="zh-CN" sz="1400" b="1" dirty="0"/>
              <a:t> </a:t>
            </a:r>
            <a:r>
              <a:rPr lang="en-US" altLang="zh-CN" sz="1400" b="1" dirty="0" smtClean="0"/>
              <a:t>   /*!&lt; </a:t>
            </a:r>
            <a:r>
              <a:rPr lang="en-US" altLang="zh-CN" sz="1400" b="1" dirty="0"/>
              <a:t>Medium speed */</a:t>
            </a:r>
          </a:p>
          <a:p>
            <a:r>
              <a:rPr lang="en-US" altLang="zh-CN" sz="1400" b="1" dirty="0">
                <a:solidFill>
                  <a:schemeClr val="accent5">
                    <a:lumMod val="75000"/>
                  </a:schemeClr>
                </a:solidFill>
              </a:rPr>
              <a:t>#define  GPIO_SPEED_FREQ_HIGH     (GPIO_CRL_MODE0) </a:t>
            </a:r>
            <a:endParaRPr lang="en-US" altLang="zh-CN" sz="1400" b="1" dirty="0" smtClean="0">
              <a:solidFill>
                <a:schemeClr val="accent5">
                  <a:lumMod val="75000"/>
                </a:schemeClr>
              </a:solidFill>
            </a:endParaRPr>
          </a:p>
          <a:p>
            <a:r>
              <a:rPr lang="en-US" altLang="zh-CN" sz="1400" b="1" dirty="0"/>
              <a:t> </a:t>
            </a:r>
            <a:r>
              <a:rPr lang="en-US" altLang="zh-CN" sz="1400" b="1" dirty="0" smtClean="0"/>
              <a:t>   </a:t>
            </a:r>
            <a:r>
              <a:rPr lang="en-US" altLang="zh-CN" sz="1400" b="1" dirty="0"/>
              <a:t>/*!&lt; High speed */</a:t>
            </a:r>
          </a:p>
        </p:txBody>
      </p:sp>
      <p:sp>
        <p:nvSpPr>
          <p:cNvPr id="3" name="矩形标注 2"/>
          <p:cNvSpPr/>
          <p:nvPr/>
        </p:nvSpPr>
        <p:spPr>
          <a:xfrm>
            <a:off x="5256076" y="1563638"/>
            <a:ext cx="3528392" cy="733606"/>
          </a:xfrm>
          <a:prstGeom prst="wedgeRectCallout">
            <a:avLst>
              <a:gd name="adj1" fmla="val -57190"/>
              <a:gd name="adj2" fmla="val -19588"/>
            </a:avLst>
          </a:prstGeom>
          <a:ln>
            <a:solidFill>
              <a:schemeClr val="accent3">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zh-CN" altLang="en-US" sz="1600" b="1" dirty="0">
                <a:solidFill>
                  <a:srgbClr val="D38583"/>
                </a:solidFill>
                <a:ea typeface="楷体" pitchFamily="49" charset="-122"/>
              </a:rPr>
              <a:t>解析</a:t>
            </a:r>
            <a:r>
              <a:rPr lang="zh-CN" altLang="en-US" sz="1600" b="1" dirty="0" smtClean="0">
                <a:solidFill>
                  <a:srgbClr val="D38583"/>
                </a:solidFill>
                <a:ea typeface="楷体" pitchFamily="49" charset="-122"/>
              </a:rPr>
              <a:t>：</a:t>
            </a:r>
            <a:r>
              <a:rPr lang="en-US" altLang="zh-CN" sz="1600" b="1" dirty="0">
                <a:solidFill>
                  <a:schemeClr val="tx1"/>
                </a:solidFill>
                <a:ea typeface="楷体" pitchFamily="49" charset="-122"/>
              </a:rPr>
              <a:t>GPIO</a:t>
            </a:r>
            <a:r>
              <a:rPr lang="zh-CN" altLang="en-US" sz="1600" b="1" dirty="0">
                <a:solidFill>
                  <a:schemeClr val="tx1"/>
                </a:solidFill>
                <a:ea typeface="楷体" pitchFamily="49" charset="-122"/>
              </a:rPr>
              <a:t>引脚输出速度的定义，有三种：低速、中速、高速，这里的输出速度指的是</a:t>
            </a:r>
            <a:r>
              <a:rPr lang="en-US" altLang="zh-CN" sz="1600" b="1" dirty="0">
                <a:solidFill>
                  <a:schemeClr val="tx1"/>
                </a:solidFill>
                <a:ea typeface="楷体" pitchFamily="49" charset="-122"/>
              </a:rPr>
              <a:t>I/O</a:t>
            </a:r>
            <a:r>
              <a:rPr lang="zh-CN" altLang="en-US" sz="1600" b="1" dirty="0">
                <a:solidFill>
                  <a:schemeClr val="tx1"/>
                </a:solidFill>
                <a:ea typeface="楷体" pitchFamily="49" charset="-122"/>
              </a:rPr>
              <a:t>引脚的响应速度。</a:t>
            </a:r>
            <a:endParaRPr lang="zh-CN" altLang="en-US" sz="1600" b="1" dirty="0" smtClean="0">
              <a:solidFill>
                <a:schemeClr val="tx1"/>
              </a:solidFill>
            </a:endParaRPr>
          </a:p>
        </p:txBody>
      </p:sp>
      <p:sp>
        <p:nvSpPr>
          <p:cNvPr id="2" name="矩形 1"/>
          <p:cNvSpPr/>
          <p:nvPr/>
        </p:nvSpPr>
        <p:spPr>
          <a:xfrm>
            <a:off x="2393933" y="2585224"/>
            <a:ext cx="6570555" cy="2462213"/>
          </a:xfrm>
          <a:prstGeom prst="rect">
            <a:avLst/>
          </a:prstGeom>
          <a:solidFill>
            <a:schemeClr val="accent3">
              <a:lumMod val="20000"/>
              <a:lumOff val="80000"/>
            </a:schemeClr>
          </a:solidFill>
        </p:spPr>
        <p:txBody>
          <a:bodyPr wrap="square">
            <a:spAutoFit/>
          </a:bodyPr>
          <a:lstStyle/>
          <a:p>
            <a:r>
              <a:rPr lang="en-US" altLang="zh-CN" sz="1400" b="1" dirty="0"/>
              <a:t>/*--- GPIO</a:t>
            </a:r>
            <a:r>
              <a:rPr lang="zh-CN" altLang="en-US" sz="1400" b="1" dirty="0"/>
              <a:t>初始化及复位函数</a:t>
            </a:r>
            <a:r>
              <a:rPr lang="en-US" altLang="zh-CN" sz="1400" b="1" dirty="0"/>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HAL_GPIO_Init</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a:t>
            </a:r>
            <a:r>
              <a:rPr lang="en-US" altLang="zh-CN" sz="1400" b="1" dirty="0" err="1">
                <a:solidFill>
                  <a:schemeClr val="accent5">
                    <a:lumMod val="75000"/>
                  </a:schemeClr>
                </a:solidFill>
              </a:rPr>
              <a:t>GPIO_InitTypeDef</a:t>
            </a:r>
            <a:r>
              <a:rPr lang="en-US" altLang="zh-CN" sz="1400" b="1" dirty="0">
                <a:solidFill>
                  <a:schemeClr val="accent5">
                    <a:lumMod val="75000"/>
                  </a:schemeClr>
                </a:solidFill>
              </a:rPr>
              <a:t> *</a:t>
            </a:r>
            <a:r>
              <a:rPr lang="en-US" altLang="zh-CN" sz="1400" b="1" dirty="0" err="1">
                <a:solidFill>
                  <a:schemeClr val="accent5">
                    <a:lumMod val="75000"/>
                  </a:schemeClr>
                </a:solidFill>
              </a:rPr>
              <a:t>GPIO_Init</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HAL_GPIO_DeInit</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uint32_t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 ---GPIO</a:t>
            </a:r>
            <a:r>
              <a:rPr lang="zh-CN" altLang="en-US" sz="1400" b="1" dirty="0">
                <a:solidFill>
                  <a:schemeClr val="accent5">
                    <a:lumMod val="75000"/>
                  </a:schemeClr>
                </a:solidFill>
              </a:rPr>
              <a:t>引脚功能操作函数</a:t>
            </a:r>
            <a:r>
              <a:rPr lang="en-US" altLang="zh-CN" sz="1400" b="1" dirty="0">
                <a:solidFill>
                  <a:schemeClr val="accent5">
                    <a:lumMod val="75000"/>
                  </a:schemeClr>
                </a:solidFill>
              </a:rPr>
              <a:t>---*/</a:t>
            </a:r>
          </a:p>
          <a:p>
            <a:r>
              <a:rPr lang="en-US" altLang="zh-CN" sz="1400" b="1" dirty="0" err="1">
                <a:solidFill>
                  <a:schemeClr val="accent5">
                    <a:lumMod val="75000"/>
                  </a:schemeClr>
                </a:solidFill>
              </a:rPr>
              <a:t>GPIO_PinState</a:t>
            </a:r>
            <a:r>
              <a:rPr lang="en-US" altLang="zh-CN" sz="1400" b="1" dirty="0">
                <a:solidFill>
                  <a:schemeClr val="accent5">
                    <a:lumMod val="75000"/>
                  </a:schemeClr>
                </a:solidFill>
              </a:rPr>
              <a:t> </a:t>
            </a:r>
            <a:r>
              <a:rPr lang="en-US" altLang="zh-CN" sz="1400" b="1" dirty="0" err="1">
                <a:solidFill>
                  <a:schemeClr val="accent5">
                    <a:lumMod val="75000"/>
                  </a:schemeClr>
                </a:solidFill>
              </a:rPr>
              <a:t>HAL_GPIO_ReadPin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HAL_GPIO_WritePin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 </a:t>
            </a:r>
            <a:r>
              <a:rPr lang="en-US" altLang="zh-CN" sz="1400" b="1" dirty="0" err="1">
                <a:solidFill>
                  <a:schemeClr val="accent5">
                    <a:lumMod val="75000"/>
                  </a:schemeClr>
                </a:solidFill>
              </a:rPr>
              <a:t>GPIO_PinState</a:t>
            </a:r>
            <a:r>
              <a:rPr lang="en-US" altLang="zh-CN" sz="1400" b="1" dirty="0">
                <a:solidFill>
                  <a:schemeClr val="accent5">
                    <a:lumMod val="75000"/>
                  </a:schemeClr>
                </a:solidFill>
              </a:rPr>
              <a:t> </a:t>
            </a:r>
            <a:r>
              <a:rPr lang="en-US" altLang="zh-CN" sz="1400" b="1" dirty="0" err="1">
                <a:solidFill>
                  <a:schemeClr val="accent5">
                    <a:lumMod val="75000"/>
                  </a:schemeClr>
                </a:solidFill>
              </a:rPr>
              <a:t>PinState</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HAL_GPIO_TogglePin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err="1">
                <a:solidFill>
                  <a:schemeClr val="accent5">
                    <a:lumMod val="75000"/>
                  </a:schemeClr>
                </a:solidFill>
              </a:rPr>
              <a:t>HAL_StatusTypeDef</a:t>
            </a:r>
            <a:r>
              <a:rPr lang="en-US" altLang="zh-CN" sz="1400" b="1" dirty="0">
                <a:solidFill>
                  <a:schemeClr val="accent5">
                    <a:lumMod val="75000"/>
                  </a:schemeClr>
                </a:solidFill>
              </a:rPr>
              <a:t> </a:t>
            </a:r>
            <a:r>
              <a:rPr lang="en-US" altLang="zh-CN" sz="1400" b="1" dirty="0" err="1">
                <a:solidFill>
                  <a:schemeClr val="accent5">
                    <a:lumMod val="75000"/>
                  </a:schemeClr>
                </a:solidFill>
              </a:rPr>
              <a:t>HAL_GPIO_LockPin</a:t>
            </a:r>
            <a:r>
              <a:rPr lang="en-US" altLang="zh-CN" sz="1400" b="1" dirty="0">
                <a:solidFill>
                  <a:schemeClr val="accent5">
                    <a:lumMod val="75000"/>
                  </a:schemeClr>
                </a:solidFill>
              </a:rPr>
              <a:t>(</a:t>
            </a:r>
            <a:r>
              <a:rPr lang="en-US" altLang="zh-CN" sz="1400" b="1" dirty="0" err="1">
                <a:solidFill>
                  <a:schemeClr val="accent5">
                    <a:lumMod val="75000"/>
                  </a:schemeClr>
                </a:solidFill>
              </a:rPr>
              <a:t>GPIO_TypeDef</a:t>
            </a:r>
            <a:r>
              <a:rPr lang="en-US" altLang="zh-CN" sz="1400" b="1" dirty="0">
                <a:solidFill>
                  <a:schemeClr val="accent5">
                    <a:lumMod val="75000"/>
                  </a:schemeClr>
                </a:solidFill>
              </a:rPr>
              <a:t> *</a:t>
            </a:r>
            <a:r>
              <a:rPr lang="en-US" altLang="zh-CN" sz="1400" b="1" dirty="0" err="1">
                <a:solidFill>
                  <a:schemeClr val="accent5">
                    <a:lumMod val="75000"/>
                  </a:schemeClr>
                </a:solidFill>
              </a:rPr>
              <a:t>GPIOx</a:t>
            </a:r>
            <a:r>
              <a:rPr lang="en-US" altLang="zh-CN" sz="1400" b="1" dirty="0">
                <a:solidFill>
                  <a:schemeClr val="accent5">
                    <a:lumMod val="75000"/>
                  </a:schemeClr>
                </a:solidFill>
              </a:rPr>
              <a:t>, 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HAL_GPIO_EXTI_IRQHandler</a:t>
            </a:r>
            <a:r>
              <a:rPr lang="en-US" altLang="zh-CN" sz="1400" b="1" dirty="0">
                <a:solidFill>
                  <a:schemeClr val="accent5">
                    <a:lumMod val="75000"/>
                  </a:schemeClr>
                </a:solidFill>
              </a:rPr>
              <a:t>(uint16_t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a:p>
            <a:r>
              <a:rPr lang="en-US" altLang="zh-CN" sz="1400" b="1" dirty="0">
                <a:solidFill>
                  <a:schemeClr val="accent5">
                    <a:lumMod val="75000"/>
                  </a:schemeClr>
                </a:solidFill>
              </a:rPr>
              <a:t>void </a:t>
            </a:r>
            <a:r>
              <a:rPr lang="en-US" altLang="zh-CN" sz="1400" b="1" dirty="0" err="1">
                <a:solidFill>
                  <a:schemeClr val="accent5">
                    <a:lumMod val="75000"/>
                  </a:schemeClr>
                </a:solidFill>
              </a:rPr>
              <a:t>HAL_GPIO_EXTI_Callback</a:t>
            </a:r>
            <a:r>
              <a:rPr lang="en-US" altLang="zh-CN" sz="1400" b="1" dirty="0">
                <a:solidFill>
                  <a:schemeClr val="accent5">
                    <a:lumMod val="75000"/>
                  </a:schemeClr>
                </a:solidFill>
              </a:rPr>
              <a:t>(uint16_t </a:t>
            </a:r>
            <a:r>
              <a:rPr lang="en-US" altLang="zh-CN" sz="1400" b="1" dirty="0" err="1">
                <a:solidFill>
                  <a:schemeClr val="accent5">
                    <a:lumMod val="75000"/>
                  </a:schemeClr>
                </a:solidFill>
              </a:rPr>
              <a:t>GPIO_Pin</a:t>
            </a:r>
            <a:r>
              <a:rPr lang="en-US" altLang="zh-CN" sz="1400" b="1" dirty="0">
                <a:solidFill>
                  <a:schemeClr val="accent5">
                    <a:lumMod val="75000"/>
                  </a:schemeClr>
                </a:solidFill>
              </a:rPr>
              <a:t>);</a:t>
            </a:r>
          </a:p>
        </p:txBody>
      </p:sp>
      <p:sp>
        <p:nvSpPr>
          <p:cNvPr id="6" name="矩形 5"/>
          <p:cNvSpPr/>
          <p:nvPr/>
        </p:nvSpPr>
        <p:spPr>
          <a:xfrm>
            <a:off x="242202" y="3019076"/>
            <a:ext cx="1853952" cy="156966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b="1" dirty="0" smtClean="0"/>
              <a:t>stm32f1xx_hal_gpio.h</a:t>
            </a:r>
            <a:r>
              <a:rPr lang="zh-CN" altLang="en-US" sz="1600" b="1" dirty="0"/>
              <a:t>头文件中除了相应的宏定义，源码最后一部分是</a:t>
            </a:r>
            <a:r>
              <a:rPr lang="en-US" altLang="zh-CN" sz="1600" b="1" dirty="0"/>
              <a:t>GPIO HAL</a:t>
            </a:r>
            <a:r>
              <a:rPr lang="zh-CN" altLang="en-US" sz="1600" b="1" dirty="0"/>
              <a:t>库的函数</a:t>
            </a:r>
            <a:r>
              <a:rPr lang="zh-CN" altLang="en-US" sz="1600" b="1" dirty="0" smtClean="0"/>
              <a:t>声明。</a:t>
            </a:r>
            <a:endParaRPr lang="zh-CN" altLang="en-US" sz="1600" b="1" dirty="0"/>
          </a:p>
        </p:txBody>
      </p:sp>
      <p:sp>
        <p:nvSpPr>
          <p:cNvPr id="7" name="右箭头 6"/>
          <p:cNvSpPr/>
          <p:nvPr/>
        </p:nvSpPr>
        <p:spPr>
          <a:xfrm>
            <a:off x="2168162" y="3579862"/>
            <a:ext cx="243598" cy="224044"/>
          </a:xfrm>
          <a:prstGeom prst="rightArrow">
            <a:avLst/>
          </a:prstGeom>
          <a:solidFill>
            <a:schemeClr val="bg1">
              <a:lumMod val="85000"/>
            </a:schemeClr>
          </a:solidFill>
          <a:ln>
            <a:solidFill>
              <a:schemeClr val="bg1">
                <a:lumMod val="8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530259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 y="339503"/>
            <a:ext cx="16196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矩形 8"/>
          <p:cNvSpPr/>
          <p:nvPr/>
        </p:nvSpPr>
        <p:spPr>
          <a:xfrm>
            <a:off x="35497" y="339503"/>
            <a:ext cx="5688631" cy="461665"/>
          </a:xfrm>
          <a:prstGeom prst="rect">
            <a:avLst/>
          </a:prstGeom>
        </p:spPr>
        <p:txBody>
          <a:bodyPr wrap="square">
            <a:spAutoFit/>
          </a:bodyPr>
          <a:lstStyle/>
          <a:p>
            <a:r>
              <a:rPr lang="zh-CN" altLang="en-US" sz="2400" b="1" dirty="0" smtClean="0">
                <a:solidFill>
                  <a:schemeClr val="bg1"/>
                </a:solidFill>
                <a:latin typeface="黑体" pitchFamily="49" charset="-122"/>
                <a:ea typeface="黑体" pitchFamily="49" charset="-122"/>
              </a:rPr>
              <a:t>本章小结</a:t>
            </a:r>
          </a:p>
        </p:txBody>
      </p:sp>
      <p:sp>
        <p:nvSpPr>
          <p:cNvPr id="378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内容占位符 9"/>
          <p:cNvGraphicFramePr>
            <a:graphicFrameLocks noGrp="1"/>
          </p:cNvGraphicFramePr>
          <p:nvPr>
            <p:extLst>
              <p:ext uri="{D42A27DB-BD31-4B8C-83A1-F6EECF244321}">
                <p14:modId xmlns:p14="http://schemas.microsoft.com/office/powerpoint/2010/main" val="105913523"/>
              </p:ext>
            </p:extLst>
          </p:nvPr>
        </p:nvGraphicFramePr>
        <p:xfrm>
          <a:off x="1403648" y="1707654"/>
          <a:ext cx="7272808" cy="2843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888835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smtClean="0">
                <a:solidFill>
                  <a:schemeClr val="accent1">
                    <a:lumMod val="75000"/>
                  </a:schemeClr>
                </a:solidFill>
                <a:latin typeface="华文隶书" pitchFamily="2" charset="-122"/>
                <a:ea typeface="华文隶书" pitchFamily="2" charset="-122"/>
              </a:rPr>
              <a:t>T</a:t>
            </a:r>
            <a:r>
              <a:rPr lang="en-GB" altLang="zh-CN" sz="6000" b="1" dirty="0" smtClean="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4132</TotalTime>
  <Words>9689</Words>
  <Application>Microsoft Office PowerPoint</Application>
  <PresentationFormat>全屏显示(16:9)</PresentationFormat>
  <Paragraphs>1227</Paragraphs>
  <Slides>80</Slides>
  <Notes>11</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83" baseType="lpstr">
      <vt:lpstr>Office 主题​​</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TF</cp:lastModifiedBy>
  <cp:revision>354</cp:revision>
  <dcterms:created xsi:type="dcterms:W3CDTF">2019-08-08T08:45:05Z</dcterms:created>
  <dcterms:modified xsi:type="dcterms:W3CDTF">2020-06-16T00:09:55Z</dcterms:modified>
</cp:coreProperties>
</file>