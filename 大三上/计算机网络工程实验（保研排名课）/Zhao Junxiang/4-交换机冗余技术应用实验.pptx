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4"/>
  </p:notesMasterIdLst>
  <p:sldIdLst>
    <p:sldId id="353" r:id="rId2"/>
    <p:sldId id="552" r:id="rId3"/>
    <p:sldId id="540" r:id="rId4"/>
    <p:sldId id="494" r:id="rId5"/>
    <p:sldId id="495" r:id="rId6"/>
    <p:sldId id="496" r:id="rId7"/>
    <p:sldId id="497" r:id="rId8"/>
    <p:sldId id="541" r:id="rId9"/>
    <p:sldId id="498" r:id="rId10"/>
    <p:sldId id="500" r:id="rId11"/>
    <p:sldId id="597" r:id="rId12"/>
    <p:sldId id="544" r:id="rId13"/>
    <p:sldId id="612" r:id="rId14"/>
    <p:sldId id="609" r:id="rId15"/>
    <p:sldId id="528" r:id="rId16"/>
    <p:sldId id="522" r:id="rId17"/>
    <p:sldId id="523" r:id="rId18"/>
    <p:sldId id="524" r:id="rId19"/>
    <p:sldId id="525" r:id="rId20"/>
    <p:sldId id="611" r:id="rId21"/>
    <p:sldId id="545" r:id="rId22"/>
    <p:sldId id="531" r:id="rId23"/>
    <p:sldId id="532" r:id="rId24"/>
    <p:sldId id="533" r:id="rId25"/>
    <p:sldId id="534" r:id="rId26"/>
    <p:sldId id="546" r:id="rId27"/>
    <p:sldId id="539" r:id="rId28"/>
    <p:sldId id="610" r:id="rId29"/>
    <p:sldId id="535" r:id="rId30"/>
    <p:sldId id="595" r:id="rId31"/>
    <p:sldId id="536" r:id="rId32"/>
    <p:sldId id="608" r:id="rId33"/>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E0000"/>
    <a:srgbClr val="333399"/>
    <a:srgbClr val="6600FF"/>
    <a:srgbClr val="666699"/>
    <a:srgbClr val="6600CC"/>
    <a:srgbClr val="9966FF"/>
    <a:srgbClr val="01FD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581" autoAdjust="0"/>
  </p:normalViewPr>
  <p:slideViewPr>
    <p:cSldViewPr>
      <p:cViewPr varScale="1">
        <p:scale>
          <a:sx n="153" d="100"/>
          <a:sy n="153" d="100"/>
        </p:scale>
        <p:origin x="1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788" y="-9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47ED3491-0E1C-4FED-822B-CC7F432E3312}"/>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157699" name="Rectangle 3">
            <a:extLst>
              <a:ext uri="{FF2B5EF4-FFF2-40B4-BE49-F238E27FC236}">
                <a16:creationId xmlns:a16="http://schemas.microsoft.com/office/drawing/2014/main" id="{1F1CFEFB-123D-430A-A200-A50628FC3F7A}"/>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lgn="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BF9F6AE7-1338-47AB-99DA-79D255F00C8A}"/>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701" name="Rectangle 5">
            <a:extLst>
              <a:ext uri="{FF2B5EF4-FFF2-40B4-BE49-F238E27FC236}">
                <a16:creationId xmlns:a16="http://schemas.microsoft.com/office/drawing/2014/main" id="{872D98D4-54F2-4AB5-8B56-C87E45E0247D}"/>
              </a:ext>
            </a:extLst>
          </p:cNvPr>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7702" name="Rectangle 6">
            <a:extLst>
              <a:ext uri="{FF2B5EF4-FFF2-40B4-BE49-F238E27FC236}">
                <a16:creationId xmlns:a16="http://schemas.microsoft.com/office/drawing/2014/main" id="{76268E77-2C60-45A8-9E2A-FB6F2722045F}"/>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157703" name="Rectangle 7">
            <a:extLst>
              <a:ext uri="{FF2B5EF4-FFF2-40B4-BE49-F238E27FC236}">
                <a16:creationId xmlns:a16="http://schemas.microsoft.com/office/drawing/2014/main" id="{13896BDE-F2ED-45D4-A89B-A03678C5EFD8}"/>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lgn="r" defTabSz="990600" eaLnBrk="1" hangingPunct="1">
              <a:defRPr kumimoji="1" sz="1300">
                <a:latin typeface="Times New Roman" panose="02020603050405020304" pitchFamily="18" charset="0"/>
              </a:defRPr>
            </a:lvl1pPr>
          </a:lstStyle>
          <a:p>
            <a:pPr>
              <a:defRPr/>
            </a:pPr>
            <a:fld id="{24AB97A6-3B3D-4029-9C53-ADE5F77029E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60844547-865E-440A-A8FD-378537F15B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17576F5-4021-41E0-8C3F-9E54D1760745}" type="slidenum">
              <a:rPr lang="en-US" altLang="zh-CN" smtClean="0">
                <a:latin typeface="Times New Roman" panose="02020603050405020304" pitchFamily="18" charset="0"/>
              </a:rPr>
              <a:pPr/>
              <a:t>1</a:t>
            </a:fld>
            <a:endParaRPr lang="en-US" altLang="zh-CN">
              <a:latin typeface="Times New Roman" panose="02020603050405020304" pitchFamily="18" charset="0"/>
            </a:endParaRPr>
          </a:p>
        </p:txBody>
      </p:sp>
      <p:sp>
        <p:nvSpPr>
          <p:cNvPr id="5123" name="Rectangle 2">
            <a:extLst>
              <a:ext uri="{FF2B5EF4-FFF2-40B4-BE49-F238E27FC236}">
                <a16:creationId xmlns:a16="http://schemas.microsoft.com/office/drawing/2014/main" id="{AE86906A-54DB-4D80-A237-43D58F1C7B66}"/>
              </a:ext>
            </a:extLst>
          </p:cNvPr>
          <p:cNvSpPr>
            <a:spLocks noGrp="1" noRot="1" noChangeAspect="1" noChangeArrowheads="1" noTextEdit="1"/>
          </p:cNvSpPr>
          <p:nvPr>
            <p:ph type="sldImg"/>
          </p:nvPr>
        </p:nvSpPr>
        <p:spPr>
          <a:xfrm>
            <a:off x="992188" y="768350"/>
            <a:ext cx="5114925" cy="3836988"/>
          </a:xfrm>
          <a:ln/>
        </p:spPr>
      </p:sp>
      <p:sp>
        <p:nvSpPr>
          <p:cNvPr id="5124" name="Rectangle 3">
            <a:extLst>
              <a:ext uri="{FF2B5EF4-FFF2-40B4-BE49-F238E27FC236}">
                <a16:creationId xmlns:a16="http://schemas.microsoft.com/office/drawing/2014/main" id="{A7400D3F-71FF-4536-908D-AE7FC9567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教学安排</a:t>
            </a:r>
            <a:r>
              <a:rPr lang="en-US" altLang="zh-CN"/>
              <a:t>:</a:t>
            </a:r>
          </a:p>
          <a:p>
            <a:pPr eaLnBrk="1" hangingPunct="1"/>
            <a:r>
              <a:rPr lang="zh-CN" altLang="en-US"/>
              <a:t>共</a:t>
            </a:r>
            <a:r>
              <a:rPr lang="en-US" altLang="zh-CN"/>
              <a:t>8</a:t>
            </a:r>
            <a:r>
              <a:rPr lang="zh-CN" altLang="en-US"/>
              <a:t>学时（教学大纲实验</a:t>
            </a:r>
            <a:r>
              <a:rPr lang="en-US" altLang="zh-CN"/>
              <a:t>4</a:t>
            </a:r>
            <a:r>
              <a:rPr lang="zh-CN" altLang="en-US"/>
              <a:t>和实验</a:t>
            </a:r>
            <a:r>
              <a:rPr lang="en-US" altLang="zh-CN"/>
              <a:t>6</a:t>
            </a:r>
            <a:r>
              <a:rPr lang="zh-CN" altLang="en-US"/>
              <a:t>）</a:t>
            </a:r>
            <a:endParaRPr lang="en-US" altLang="zh-CN"/>
          </a:p>
          <a:p>
            <a:pPr eaLnBrk="1" hangingPunct="1"/>
            <a:r>
              <a:rPr lang="en-US" altLang="zh-CN"/>
              <a:t>1</a:t>
            </a:r>
            <a:r>
              <a:rPr lang="zh-CN" altLang="en-US"/>
              <a:t>、实验准备</a:t>
            </a:r>
            <a:r>
              <a:rPr lang="en-US" altLang="zh-CN"/>
              <a:t>---</a:t>
            </a:r>
            <a:r>
              <a:rPr lang="zh-CN" altLang="en-US"/>
              <a:t>网络互联设备</a:t>
            </a:r>
            <a:r>
              <a:rPr lang="en-US" altLang="zh-CN"/>
              <a:t>,1</a:t>
            </a:r>
            <a:r>
              <a:rPr lang="zh-CN" altLang="en-US"/>
              <a:t>学时</a:t>
            </a:r>
            <a:endParaRPr lang="en-US" altLang="zh-CN"/>
          </a:p>
          <a:p>
            <a:pPr eaLnBrk="1" hangingPunct="1"/>
            <a:r>
              <a:rPr lang="en-US" altLang="zh-CN"/>
              <a:t>2</a:t>
            </a:r>
            <a:r>
              <a:rPr lang="zh-CN" altLang="en-US"/>
              <a:t>、原理和交换机命令，</a:t>
            </a:r>
            <a:r>
              <a:rPr lang="en-US" altLang="zh-CN"/>
              <a:t>2</a:t>
            </a:r>
            <a:r>
              <a:rPr lang="zh-CN" altLang="en-US"/>
              <a:t>学时</a:t>
            </a:r>
            <a:endParaRPr lang="en-US" altLang="zh-CN"/>
          </a:p>
          <a:p>
            <a:pPr eaLnBrk="1" hangingPunct="1"/>
            <a:r>
              <a:rPr lang="en-US" altLang="zh-CN"/>
              <a:t>3</a:t>
            </a:r>
            <a:r>
              <a:rPr lang="zh-CN" altLang="en-US"/>
              <a:t>、实验，</a:t>
            </a:r>
            <a:r>
              <a:rPr lang="en-US" altLang="zh-CN"/>
              <a:t>5</a:t>
            </a:r>
            <a:r>
              <a:rPr lang="zh-CN" altLang="en-US"/>
              <a:t>学时，共</a:t>
            </a:r>
            <a:r>
              <a:rPr lang="en-US" altLang="zh-CN"/>
              <a:t>6</a:t>
            </a:r>
            <a:r>
              <a:rPr lang="zh-CN" altLang="en-US"/>
              <a:t>个实验（主机互联，相同交换机上划分</a:t>
            </a:r>
            <a:r>
              <a:rPr lang="en-US" altLang="zh-CN"/>
              <a:t>VLAN</a:t>
            </a:r>
            <a:r>
              <a:rPr lang="zh-CN" altLang="en-US"/>
              <a:t>，不同交换机上划分</a:t>
            </a:r>
            <a:r>
              <a:rPr lang="en-US" altLang="zh-CN"/>
              <a:t>VLAN</a:t>
            </a:r>
            <a:r>
              <a:rPr lang="zh-CN" altLang="en-US"/>
              <a:t>，三层交换机实现</a:t>
            </a:r>
            <a:r>
              <a:rPr lang="en-US" altLang="zh-CN"/>
              <a:t>VLAN</a:t>
            </a:r>
            <a:r>
              <a:rPr lang="zh-CN" altLang="en-US"/>
              <a:t>间通信，</a:t>
            </a:r>
            <a:r>
              <a:rPr lang="en-US" altLang="zh-CN"/>
              <a:t>RSTP</a:t>
            </a:r>
            <a:r>
              <a:rPr lang="zh-CN" altLang="en-US"/>
              <a:t>，链路聚合）</a:t>
            </a:r>
            <a:endParaRPr lang="en-US" altLang="zh-CN"/>
          </a:p>
          <a:p>
            <a:pPr eaLnBrk="1" hangingPunct="1"/>
            <a:r>
              <a:rPr lang="en-US" altLang="zh-CN"/>
              <a:t>4</a:t>
            </a:r>
            <a:r>
              <a:rPr lang="zh-CN" altLang="en-US"/>
              <a:t>、完成实验报告</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563ED8A-32A5-4C94-9D99-69E2DFDE1B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0E48465-6A95-4DF9-8DD8-68EE49FAD285}" type="slidenum">
              <a:rPr lang="en-US" altLang="zh-CN" smtClean="0">
                <a:latin typeface="Times New Roman" panose="02020603050405020304" pitchFamily="18" charset="0"/>
              </a:rPr>
              <a:pPr/>
              <a:t>3</a:t>
            </a:fld>
            <a:endParaRPr lang="en-US" altLang="zh-CN">
              <a:latin typeface="Times New Roman" panose="02020603050405020304" pitchFamily="18" charset="0"/>
            </a:endParaRPr>
          </a:p>
        </p:txBody>
      </p:sp>
      <p:sp>
        <p:nvSpPr>
          <p:cNvPr id="8195" name="Rectangle 2">
            <a:extLst>
              <a:ext uri="{FF2B5EF4-FFF2-40B4-BE49-F238E27FC236}">
                <a16:creationId xmlns:a16="http://schemas.microsoft.com/office/drawing/2014/main" id="{D139B2C8-CC7F-4FE8-9E58-02AD797F01BE}"/>
              </a:ext>
            </a:extLst>
          </p:cNvPr>
          <p:cNvSpPr>
            <a:spLocks noGrp="1" noRot="1" noChangeAspect="1" noChangeArrowheads="1" noTextEdit="1"/>
          </p:cNvSpPr>
          <p:nvPr>
            <p:ph type="sldImg"/>
          </p:nvPr>
        </p:nvSpPr>
        <p:spPr>
          <a:xfrm>
            <a:off x="992188" y="768350"/>
            <a:ext cx="5114925" cy="3836988"/>
          </a:xfrm>
          <a:ln/>
        </p:spPr>
      </p:sp>
      <p:sp>
        <p:nvSpPr>
          <p:cNvPr id="8196" name="Rectangle 3">
            <a:extLst>
              <a:ext uri="{FF2B5EF4-FFF2-40B4-BE49-F238E27FC236}">
                <a16:creationId xmlns:a16="http://schemas.microsoft.com/office/drawing/2014/main" id="{7D80AA60-265A-4EE5-8420-23285E907E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a:extLst>
              <a:ext uri="{FF2B5EF4-FFF2-40B4-BE49-F238E27FC236}">
                <a16:creationId xmlns:a16="http://schemas.microsoft.com/office/drawing/2014/main" id="{6AA6FDE5-E551-4927-967D-54C7FA5FBE2B}"/>
              </a:ext>
            </a:extLst>
          </p:cNvPr>
          <p:cNvSpPr>
            <a:spLocks noGrp="1" noRot="1" noChangeAspect="1" noTextEdit="1"/>
          </p:cNvSpPr>
          <p:nvPr>
            <p:ph type="sldImg"/>
          </p:nvPr>
        </p:nvSpPr>
        <p:spPr>
          <a:xfrm>
            <a:off x="992188" y="768350"/>
            <a:ext cx="5114925" cy="3836988"/>
          </a:xfrm>
          <a:ln/>
        </p:spPr>
      </p:sp>
      <p:sp>
        <p:nvSpPr>
          <p:cNvPr id="10243" name="备注占位符 2">
            <a:extLst>
              <a:ext uri="{FF2B5EF4-FFF2-40B4-BE49-F238E27FC236}">
                <a16:creationId xmlns:a16="http://schemas.microsoft.com/office/drawing/2014/main" id="{76A73343-0275-45F7-8A1A-48B72DB373E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4" name="灯片编号占位符 3">
            <a:extLst>
              <a:ext uri="{FF2B5EF4-FFF2-40B4-BE49-F238E27FC236}">
                <a16:creationId xmlns:a16="http://schemas.microsoft.com/office/drawing/2014/main" id="{500B01E0-D49C-49FA-9CF6-C7797638A8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8E1F8CEF-F9F3-47E4-9328-B3EB35170724}"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58757842-897C-425B-97EB-563255A967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50FB7DA-BEB8-4434-8F19-C23FC5E09626}" type="slidenum">
              <a:rPr lang="en-US" altLang="zh-CN" smtClean="0">
                <a:latin typeface="Times New Roman" panose="02020603050405020304" pitchFamily="18" charset="0"/>
              </a:rPr>
              <a:pPr/>
              <a:t>8</a:t>
            </a:fld>
            <a:endParaRPr lang="en-US" altLang="zh-CN">
              <a:latin typeface="Times New Roman" panose="02020603050405020304" pitchFamily="18" charset="0"/>
            </a:endParaRPr>
          </a:p>
        </p:txBody>
      </p:sp>
      <p:sp>
        <p:nvSpPr>
          <p:cNvPr id="15363" name="Rectangle 2">
            <a:extLst>
              <a:ext uri="{FF2B5EF4-FFF2-40B4-BE49-F238E27FC236}">
                <a16:creationId xmlns:a16="http://schemas.microsoft.com/office/drawing/2014/main" id="{09061331-CC05-4378-9057-69D79536F0CB}"/>
              </a:ext>
            </a:extLst>
          </p:cNvPr>
          <p:cNvSpPr>
            <a:spLocks noGrp="1" noRot="1" noChangeAspect="1" noChangeArrowheads="1" noTextEdit="1"/>
          </p:cNvSpPr>
          <p:nvPr>
            <p:ph type="sldImg"/>
          </p:nvPr>
        </p:nvSpPr>
        <p:spPr>
          <a:xfrm>
            <a:off x="992188" y="768350"/>
            <a:ext cx="5114925" cy="3836988"/>
          </a:xfrm>
          <a:ln/>
        </p:spPr>
      </p:sp>
      <p:sp>
        <p:nvSpPr>
          <p:cNvPr id="15364" name="Rectangle 3">
            <a:extLst>
              <a:ext uri="{FF2B5EF4-FFF2-40B4-BE49-F238E27FC236}">
                <a16:creationId xmlns:a16="http://schemas.microsoft.com/office/drawing/2014/main" id="{2E9A3F8E-3713-42AC-9D30-BFAFBE8ABD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6CAD6F6-7723-4D67-8EA8-AFC7F3FB8C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65643E-8688-41BE-869A-96EF8C7B447D}" type="slidenum">
              <a:rPr lang="en-US" altLang="zh-CN" smtClean="0">
                <a:latin typeface="Times New Roman" panose="02020603050405020304" pitchFamily="18" charset="0"/>
              </a:rPr>
              <a:pPr/>
              <a:t>12</a:t>
            </a:fld>
            <a:endParaRPr lang="en-US" altLang="zh-CN">
              <a:latin typeface="Times New Roman" panose="02020603050405020304" pitchFamily="18" charset="0"/>
            </a:endParaRPr>
          </a:p>
        </p:txBody>
      </p:sp>
      <p:sp>
        <p:nvSpPr>
          <p:cNvPr id="20483" name="Rectangle 2">
            <a:extLst>
              <a:ext uri="{FF2B5EF4-FFF2-40B4-BE49-F238E27FC236}">
                <a16:creationId xmlns:a16="http://schemas.microsoft.com/office/drawing/2014/main" id="{3D0890AA-6CC8-4630-B741-B90C4FCA60E6}"/>
              </a:ext>
            </a:extLst>
          </p:cNvPr>
          <p:cNvSpPr>
            <a:spLocks noGrp="1" noRot="1" noChangeAspect="1" noChangeArrowheads="1" noTextEdit="1"/>
          </p:cNvSpPr>
          <p:nvPr>
            <p:ph type="sldImg"/>
          </p:nvPr>
        </p:nvSpPr>
        <p:spPr>
          <a:xfrm>
            <a:off x="992188" y="768350"/>
            <a:ext cx="5114925" cy="3836988"/>
          </a:xfrm>
          <a:ln/>
        </p:spPr>
      </p:sp>
      <p:sp>
        <p:nvSpPr>
          <p:cNvPr id="20484" name="Rectangle 3">
            <a:extLst>
              <a:ext uri="{FF2B5EF4-FFF2-40B4-BE49-F238E27FC236}">
                <a16:creationId xmlns:a16="http://schemas.microsoft.com/office/drawing/2014/main" id="{B54B2F87-5EA6-479D-A153-2F6D11E0BE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871004C-D59B-43C3-9E12-DE8A9A8D2A4E}"/>
              </a:ext>
            </a:extLst>
          </p:cNvPr>
          <p:cNvSpPr>
            <a:spLocks noGrp="1" noRot="1" noChangeAspect="1" noChangeArrowheads="1" noTextEdit="1"/>
          </p:cNvSpPr>
          <p:nvPr>
            <p:ph type="sldImg"/>
          </p:nvPr>
        </p:nvSpPr>
        <p:spPr>
          <a:xfrm>
            <a:off x="992188" y="768350"/>
            <a:ext cx="5114925" cy="3836988"/>
          </a:xfrm>
          <a:ln/>
        </p:spPr>
      </p:sp>
      <p:sp>
        <p:nvSpPr>
          <p:cNvPr id="23555" name="Rectangle 3">
            <a:extLst>
              <a:ext uri="{FF2B5EF4-FFF2-40B4-BE49-F238E27FC236}">
                <a16:creationId xmlns:a16="http://schemas.microsoft.com/office/drawing/2014/main" id="{77CDBF4A-077D-45F6-9EE0-8823D18F81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先连上线缆，在配置交换机，可能产生网络风暴。</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FB41C5B-E461-446F-8B2A-0F764324E9C8}"/>
              </a:ext>
            </a:extLst>
          </p:cNvPr>
          <p:cNvSpPr>
            <a:spLocks noGrp="1" noRot="1" noChangeAspect="1" noChangeArrowheads="1" noTextEdit="1"/>
          </p:cNvSpPr>
          <p:nvPr>
            <p:ph type="sldImg"/>
          </p:nvPr>
        </p:nvSpPr>
        <p:spPr>
          <a:xfrm>
            <a:off x="992188" y="768350"/>
            <a:ext cx="5114925" cy="3836988"/>
          </a:xfrm>
          <a:ln/>
        </p:spPr>
      </p:sp>
      <p:sp>
        <p:nvSpPr>
          <p:cNvPr id="25603" name="Rectangle 3">
            <a:extLst>
              <a:ext uri="{FF2B5EF4-FFF2-40B4-BE49-F238E27FC236}">
                <a16:creationId xmlns:a16="http://schemas.microsoft.com/office/drawing/2014/main" id="{ABCCBD84-E632-461E-9912-CD5494DE01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先连上线缆，在配置交换机，可能产生网络风暴。</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D42DBA1-69D5-471D-A567-922517BE9098}"/>
              </a:ext>
            </a:extLst>
          </p:cNvPr>
          <p:cNvSpPr>
            <a:spLocks noGrp="1" noRot="1" noChangeAspect="1" noChangeArrowheads="1" noTextEdit="1"/>
          </p:cNvSpPr>
          <p:nvPr>
            <p:ph type="sldImg"/>
          </p:nvPr>
        </p:nvSpPr>
        <p:spPr>
          <a:xfrm>
            <a:off x="992188" y="768350"/>
            <a:ext cx="5114925" cy="3836988"/>
          </a:xfrm>
          <a:ln/>
        </p:spPr>
      </p:sp>
      <p:sp>
        <p:nvSpPr>
          <p:cNvPr id="29699" name="Rectangle 3">
            <a:extLst>
              <a:ext uri="{FF2B5EF4-FFF2-40B4-BE49-F238E27FC236}">
                <a16:creationId xmlns:a16="http://schemas.microsoft.com/office/drawing/2014/main" id="{A993E2C6-3289-45F8-BE61-C88AF9234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52E7CD0-09EC-494F-813A-8A1252FCD0CF}"/>
              </a:ext>
            </a:extLst>
          </p:cNvPr>
          <p:cNvSpPr>
            <a:spLocks noGrp="1" noRot="1" noChangeAspect="1" noChangeArrowheads="1" noTextEdit="1"/>
          </p:cNvSpPr>
          <p:nvPr>
            <p:ph type="sldImg"/>
          </p:nvPr>
        </p:nvSpPr>
        <p:spPr>
          <a:xfrm>
            <a:off x="992188" y="768350"/>
            <a:ext cx="5114925" cy="3836988"/>
          </a:xfrm>
          <a:ln/>
        </p:spPr>
      </p:sp>
      <p:sp>
        <p:nvSpPr>
          <p:cNvPr id="31747" name="Rectangle 3">
            <a:extLst>
              <a:ext uri="{FF2B5EF4-FFF2-40B4-BE49-F238E27FC236}">
                <a16:creationId xmlns:a16="http://schemas.microsoft.com/office/drawing/2014/main" id="{31F0C28B-48B3-4A06-B3D1-EE2B8A7BDC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加</a:t>
            </a:r>
            <a:r>
              <a:rPr lang="en-US" altLang="zh-CN"/>
              <a:t>show spanning </a:t>
            </a:r>
            <a:r>
              <a:rPr lang="zh-CN" altLang="en-US"/>
              <a:t>的结果</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4299F9B-6EFE-4A2F-8351-174663B7A743}"/>
              </a:ext>
            </a:extLst>
          </p:cNvPr>
          <p:cNvSpPr>
            <a:spLocks noGrp="1" noRot="1" noChangeAspect="1" noChangeArrowheads="1" noTextEdit="1"/>
          </p:cNvSpPr>
          <p:nvPr>
            <p:ph type="sldImg"/>
          </p:nvPr>
        </p:nvSpPr>
        <p:spPr>
          <a:xfrm>
            <a:off x="992188" y="768350"/>
            <a:ext cx="5114925" cy="3836988"/>
          </a:xfrm>
          <a:ln/>
        </p:spPr>
      </p:sp>
      <p:sp>
        <p:nvSpPr>
          <p:cNvPr id="33795" name="Rectangle 3">
            <a:extLst>
              <a:ext uri="{FF2B5EF4-FFF2-40B4-BE49-F238E27FC236}">
                <a16:creationId xmlns:a16="http://schemas.microsoft.com/office/drawing/2014/main" id="{6EA57692-2874-46E2-9007-716614F76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加</a:t>
            </a:r>
            <a:r>
              <a:rPr lang="en-US" altLang="zh-CN"/>
              <a:t>show spanning </a:t>
            </a:r>
            <a:r>
              <a:rPr lang="zh-CN" altLang="en-US"/>
              <a:t>的结果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A1E462C1-18ED-4531-B3CB-93B8365053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8CC3C3F-E988-412F-99F2-74220417ECBB}" type="slidenum">
              <a:rPr lang="en-US" altLang="zh-CN" smtClean="0">
                <a:latin typeface="Times New Roman" panose="02020603050405020304" pitchFamily="18" charset="0"/>
              </a:rPr>
              <a:pPr/>
              <a:t>21</a:t>
            </a:fld>
            <a:endParaRPr lang="en-US" altLang="zh-CN">
              <a:latin typeface="Times New Roman" panose="02020603050405020304" pitchFamily="18" charset="0"/>
            </a:endParaRPr>
          </a:p>
        </p:txBody>
      </p:sp>
      <p:sp>
        <p:nvSpPr>
          <p:cNvPr id="35843" name="Rectangle 2">
            <a:extLst>
              <a:ext uri="{FF2B5EF4-FFF2-40B4-BE49-F238E27FC236}">
                <a16:creationId xmlns:a16="http://schemas.microsoft.com/office/drawing/2014/main" id="{C65B1BDF-6C90-4344-A0F9-944C395EA8B0}"/>
              </a:ext>
            </a:extLst>
          </p:cNvPr>
          <p:cNvSpPr>
            <a:spLocks noGrp="1" noRot="1" noChangeAspect="1" noChangeArrowheads="1" noTextEdit="1"/>
          </p:cNvSpPr>
          <p:nvPr>
            <p:ph type="sldImg"/>
          </p:nvPr>
        </p:nvSpPr>
        <p:spPr>
          <a:xfrm>
            <a:off x="992188" y="768350"/>
            <a:ext cx="5114925" cy="3836988"/>
          </a:xfrm>
          <a:ln/>
        </p:spPr>
      </p:sp>
      <p:sp>
        <p:nvSpPr>
          <p:cNvPr id="35844" name="Rectangle 3">
            <a:extLst>
              <a:ext uri="{FF2B5EF4-FFF2-40B4-BE49-F238E27FC236}">
                <a16:creationId xmlns:a16="http://schemas.microsoft.com/office/drawing/2014/main" id="{4BFBB97A-E993-4D42-BEBF-640C8672AC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531391A-7A1D-4B24-893E-5FD915C2E0F8}"/>
              </a:ext>
            </a:extLst>
          </p:cNvPr>
          <p:cNvSpPr>
            <a:spLocks noGrp="1" noRot="1" noChangeAspect="1" noChangeArrowheads="1" noTextEdit="1"/>
          </p:cNvSpPr>
          <p:nvPr>
            <p:ph type="sldImg"/>
          </p:nvPr>
        </p:nvSpPr>
        <p:spPr>
          <a:xfrm>
            <a:off x="992188" y="768350"/>
            <a:ext cx="5114925" cy="3836988"/>
          </a:xfrm>
          <a:ln/>
        </p:spPr>
      </p:sp>
      <p:sp>
        <p:nvSpPr>
          <p:cNvPr id="38915" name="Rectangle 3">
            <a:extLst>
              <a:ext uri="{FF2B5EF4-FFF2-40B4-BE49-F238E27FC236}">
                <a16:creationId xmlns:a16="http://schemas.microsoft.com/office/drawing/2014/main" id="{D3DBEF97-2BA2-434F-AE53-B8F35B502C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2C46109-27C2-4C1A-8ECF-7A4782A41623}"/>
              </a:ext>
            </a:extLst>
          </p:cNvPr>
          <p:cNvSpPr>
            <a:spLocks noGrp="1" noRot="1" noChangeAspect="1" noChangeArrowheads="1" noTextEdit="1"/>
          </p:cNvSpPr>
          <p:nvPr>
            <p:ph type="sldImg"/>
          </p:nvPr>
        </p:nvSpPr>
        <p:spPr>
          <a:xfrm>
            <a:off x="992188" y="768350"/>
            <a:ext cx="5114925" cy="3836988"/>
          </a:xfrm>
          <a:ln/>
        </p:spPr>
      </p:sp>
      <p:sp>
        <p:nvSpPr>
          <p:cNvPr id="40963" name="Rectangle 3">
            <a:extLst>
              <a:ext uri="{FF2B5EF4-FFF2-40B4-BE49-F238E27FC236}">
                <a16:creationId xmlns:a16="http://schemas.microsoft.com/office/drawing/2014/main" id="{9070FA49-8542-4AE4-B70D-0D6DE9AB39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例如，将几个同学分为一组。以组的名义完成任务，每人分担组里的任务。</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91F65FE-0254-4D9F-B29C-91557E768B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B74A9DA-A61D-4831-9185-021E4688FFA2}"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
        <p:nvSpPr>
          <p:cNvPr id="44035" name="Rectangle 2">
            <a:extLst>
              <a:ext uri="{FF2B5EF4-FFF2-40B4-BE49-F238E27FC236}">
                <a16:creationId xmlns:a16="http://schemas.microsoft.com/office/drawing/2014/main" id="{CB2D7F72-2544-4128-8744-F8AF2881BB77}"/>
              </a:ext>
            </a:extLst>
          </p:cNvPr>
          <p:cNvSpPr>
            <a:spLocks noGrp="1" noRot="1" noChangeAspect="1" noChangeArrowheads="1" noTextEdit="1"/>
          </p:cNvSpPr>
          <p:nvPr>
            <p:ph type="sldImg"/>
          </p:nvPr>
        </p:nvSpPr>
        <p:spPr>
          <a:xfrm>
            <a:off x="992188" y="768350"/>
            <a:ext cx="5114925" cy="3836988"/>
          </a:xfrm>
          <a:ln/>
        </p:spPr>
      </p:sp>
      <p:sp>
        <p:nvSpPr>
          <p:cNvPr id="44036" name="Rectangle 3">
            <a:extLst>
              <a:ext uri="{FF2B5EF4-FFF2-40B4-BE49-F238E27FC236}">
                <a16:creationId xmlns:a16="http://schemas.microsoft.com/office/drawing/2014/main" id="{5802F891-51AA-4324-A06D-3F94921FCE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B9B7842-EA99-4FB3-B1F5-9FEA83DD1362}"/>
              </a:ext>
            </a:extLst>
          </p:cNvPr>
          <p:cNvSpPr>
            <a:spLocks noGrp="1" noRot="1" noChangeAspect="1" noChangeArrowheads="1" noTextEdit="1"/>
          </p:cNvSpPr>
          <p:nvPr>
            <p:ph type="sldImg"/>
          </p:nvPr>
        </p:nvSpPr>
        <p:spPr>
          <a:xfrm>
            <a:off x="992188" y="768350"/>
            <a:ext cx="5114925" cy="3836988"/>
          </a:xfrm>
          <a:ln/>
        </p:spPr>
      </p:sp>
      <p:sp>
        <p:nvSpPr>
          <p:cNvPr id="48131" name="Rectangle 3">
            <a:extLst>
              <a:ext uri="{FF2B5EF4-FFF2-40B4-BE49-F238E27FC236}">
                <a16:creationId xmlns:a16="http://schemas.microsoft.com/office/drawing/2014/main" id="{3721ED5E-76A3-4629-9346-BB8FCC0761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链路聚合</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B8F2EA2-7894-47B0-9302-9C847E300725}"/>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4200B8A9-43B6-4260-B2B1-053FD53897B9}"/>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a:extLst>
                <a:ext uri="{FF2B5EF4-FFF2-40B4-BE49-F238E27FC236}">
                  <a16:creationId xmlns:a16="http://schemas.microsoft.com/office/drawing/2014/main" id="{D42BA3E0-7344-4A1B-9F7D-59198B01422E}"/>
                </a:ext>
              </a:extLst>
            </p:cNvPr>
            <p:cNvSpPr>
              <a:spLocks noChangeArrowheads="1"/>
            </p:cNvSpPr>
            <p:nvPr/>
          </p:nvSpPr>
          <p:spPr bwMode="hidden">
            <a:xfrm>
              <a:off x="1081" y="1065"/>
              <a:ext cx="4679" cy="1596"/>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a:extLst>
                <a:ext uri="{FF2B5EF4-FFF2-40B4-BE49-F238E27FC236}">
                  <a16:creationId xmlns:a16="http://schemas.microsoft.com/office/drawing/2014/main" id="{3FD686AB-45CD-46C9-BB3D-3E5481AA4310}"/>
                </a:ext>
              </a:extLst>
            </p:cNvPr>
            <p:cNvGrpSpPr>
              <a:grpSpLocks/>
            </p:cNvGrpSpPr>
            <p:nvPr/>
          </p:nvGrpSpPr>
          <p:grpSpPr bwMode="auto">
            <a:xfrm>
              <a:off x="0" y="672"/>
              <a:ext cx="1806" cy="1989"/>
              <a:chOff x="0" y="672"/>
              <a:chExt cx="1806" cy="1989"/>
            </a:xfrm>
          </p:grpSpPr>
          <p:sp>
            <p:nvSpPr>
              <p:cNvPr id="8" name="Rectangle 6">
                <a:extLst>
                  <a:ext uri="{FF2B5EF4-FFF2-40B4-BE49-F238E27FC236}">
                    <a16:creationId xmlns:a16="http://schemas.microsoft.com/office/drawing/2014/main" id="{B1BD3250-1F28-4DBA-AA0F-90EC18590279}"/>
                  </a:ext>
                </a:extLst>
              </p:cNvPr>
              <p:cNvSpPr>
                <a:spLocks noChangeArrowheads="1"/>
              </p:cNvSpPr>
              <p:nvPr userDrawn="1"/>
            </p:nvSpPr>
            <p:spPr bwMode="auto">
              <a:xfrm>
                <a:off x="361" y="2257"/>
                <a:ext cx="363" cy="404"/>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a:extLst>
                  <a:ext uri="{FF2B5EF4-FFF2-40B4-BE49-F238E27FC236}">
                    <a16:creationId xmlns:a16="http://schemas.microsoft.com/office/drawing/2014/main" id="{1A0A9543-2451-4029-B3F0-EA99CF0B4AA4}"/>
                  </a:ext>
                </a:extLst>
              </p:cNvPr>
              <p:cNvSpPr>
                <a:spLocks noChangeArrowheads="1"/>
              </p:cNvSpPr>
              <p:nvPr userDrawn="1"/>
            </p:nvSpPr>
            <p:spPr bwMode="auto">
              <a:xfrm>
                <a:off x="1081" y="1065"/>
                <a:ext cx="362" cy="405"/>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a:extLst>
                  <a:ext uri="{FF2B5EF4-FFF2-40B4-BE49-F238E27FC236}">
                    <a16:creationId xmlns:a16="http://schemas.microsoft.com/office/drawing/2014/main" id="{D15F01D5-777A-45D5-A6FB-A28A5577D8BB}"/>
                  </a:ext>
                </a:extLst>
              </p:cNvPr>
              <p:cNvSpPr>
                <a:spLocks noChangeArrowheads="1"/>
              </p:cNvSpPr>
              <p:nvPr userDrawn="1"/>
            </p:nvSpPr>
            <p:spPr bwMode="auto">
              <a:xfrm>
                <a:off x="1437" y="672"/>
                <a:ext cx="369" cy="400"/>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a:extLst>
                  <a:ext uri="{FF2B5EF4-FFF2-40B4-BE49-F238E27FC236}">
                    <a16:creationId xmlns:a16="http://schemas.microsoft.com/office/drawing/2014/main" id="{B0ECAF1C-1D68-410E-BD5A-1E01AE2C0BC3}"/>
                  </a:ext>
                </a:extLst>
              </p:cNvPr>
              <p:cNvSpPr>
                <a:spLocks noChangeArrowheads="1"/>
              </p:cNvSpPr>
              <p:nvPr userDrawn="1"/>
            </p:nvSpPr>
            <p:spPr bwMode="auto">
              <a:xfrm>
                <a:off x="719" y="2257"/>
                <a:ext cx="368" cy="404"/>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a:extLst>
                  <a:ext uri="{FF2B5EF4-FFF2-40B4-BE49-F238E27FC236}">
                    <a16:creationId xmlns:a16="http://schemas.microsoft.com/office/drawing/2014/main" id="{0163A438-CD87-49EE-94C6-C4013DA8B9AF}"/>
                  </a:ext>
                </a:extLst>
              </p:cNvPr>
              <p:cNvSpPr>
                <a:spLocks noChangeArrowheads="1"/>
              </p:cNvSpPr>
              <p:nvPr userDrawn="1"/>
            </p:nvSpPr>
            <p:spPr bwMode="auto">
              <a:xfrm>
                <a:off x="1437" y="1065"/>
                <a:ext cx="369" cy="405"/>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a:extLst>
                  <a:ext uri="{FF2B5EF4-FFF2-40B4-BE49-F238E27FC236}">
                    <a16:creationId xmlns:a16="http://schemas.microsoft.com/office/drawing/2014/main" id="{ADF24B72-789C-47D6-873F-81B80FC52EDB}"/>
                  </a:ext>
                </a:extLst>
              </p:cNvPr>
              <p:cNvSpPr>
                <a:spLocks noChangeArrowheads="1"/>
              </p:cNvSpPr>
              <p:nvPr userDrawn="1"/>
            </p:nvSpPr>
            <p:spPr bwMode="auto">
              <a:xfrm>
                <a:off x="719" y="1464"/>
                <a:ext cx="368" cy="399"/>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a:extLst>
                  <a:ext uri="{FF2B5EF4-FFF2-40B4-BE49-F238E27FC236}">
                    <a16:creationId xmlns:a16="http://schemas.microsoft.com/office/drawing/2014/main" id="{AAEBACB7-BB78-4EC3-A331-D78ACD14DE24}"/>
                  </a:ext>
                </a:extLst>
              </p:cNvPr>
              <p:cNvSpPr>
                <a:spLocks noChangeArrowheads="1"/>
              </p:cNvSpPr>
              <p:nvPr userDrawn="1"/>
            </p:nvSpPr>
            <p:spPr bwMode="auto">
              <a:xfrm>
                <a:off x="0" y="1464"/>
                <a:ext cx="367" cy="399"/>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a:extLst>
                  <a:ext uri="{FF2B5EF4-FFF2-40B4-BE49-F238E27FC236}">
                    <a16:creationId xmlns:a16="http://schemas.microsoft.com/office/drawing/2014/main" id="{70A7AEE8-D98B-40CF-BC0D-DA791C048FAC}"/>
                  </a:ext>
                </a:extLst>
              </p:cNvPr>
              <p:cNvSpPr>
                <a:spLocks noChangeArrowheads="1"/>
              </p:cNvSpPr>
              <p:nvPr userDrawn="1"/>
            </p:nvSpPr>
            <p:spPr bwMode="auto">
              <a:xfrm>
                <a:off x="1081" y="1464"/>
                <a:ext cx="362" cy="399"/>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a:extLst>
                  <a:ext uri="{FF2B5EF4-FFF2-40B4-BE49-F238E27FC236}">
                    <a16:creationId xmlns:a16="http://schemas.microsoft.com/office/drawing/2014/main" id="{93B025F1-F534-4699-A8E5-5FEE13B8811A}"/>
                  </a:ext>
                </a:extLst>
              </p:cNvPr>
              <p:cNvSpPr>
                <a:spLocks noChangeArrowheads="1"/>
              </p:cNvSpPr>
              <p:nvPr userDrawn="1"/>
            </p:nvSpPr>
            <p:spPr bwMode="auto">
              <a:xfrm>
                <a:off x="361" y="1857"/>
                <a:ext cx="363" cy="406"/>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a:extLst>
                  <a:ext uri="{FF2B5EF4-FFF2-40B4-BE49-F238E27FC236}">
                    <a16:creationId xmlns:a16="http://schemas.microsoft.com/office/drawing/2014/main" id="{16191B63-D79E-4CD6-BE84-6CD4D03BB362}"/>
                  </a:ext>
                </a:extLst>
              </p:cNvPr>
              <p:cNvSpPr>
                <a:spLocks noChangeArrowheads="1"/>
              </p:cNvSpPr>
              <p:nvPr userDrawn="1"/>
            </p:nvSpPr>
            <p:spPr bwMode="auto">
              <a:xfrm>
                <a:off x="719" y="1857"/>
                <a:ext cx="368" cy="406"/>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18" name="Text Box 21">
            <a:extLst>
              <a:ext uri="{FF2B5EF4-FFF2-40B4-BE49-F238E27FC236}">
                <a16:creationId xmlns:a16="http://schemas.microsoft.com/office/drawing/2014/main" id="{886A92B4-3FBE-4129-9C2F-CE81EB942C33}"/>
              </a:ext>
            </a:extLst>
          </p:cNvPr>
          <p:cNvSpPr txBox="1">
            <a:spLocks noChangeArrowheads="1"/>
          </p:cNvSpPr>
          <p:nvPr userDrawn="1"/>
        </p:nvSpPr>
        <p:spPr bwMode="auto">
          <a:xfrm>
            <a:off x="7054850" y="6491288"/>
            <a:ext cx="2089150" cy="366712"/>
          </a:xfrm>
          <a:prstGeom prst="rect">
            <a:avLst/>
          </a:prstGeom>
          <a:noFill/>
          <a:ln>
            <a:noFill/>
          </a:ln>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zh-CN" altLang="en-US" b="1" i="1">
                <a:solidFill>
                  <a:schemeClr val="bg2"/>
                </a:solidFill>
                <a:ea typeface="黑体" panose="02010609060101010101" pitchFamily="49" charset="-122"/>
              </a:rPr>
              <a:t>计算机网络实验室</a:t>
            </a:r>
          </a:p>
        </p:txBody>
      </p:sp>
      <p:sp>
        <p:nvSpPr>
          <p:cNvPr id="104467" name="Rectangle 19"/>
          <p:cNvSpPr>
            <a:spLocks noGrp="1" noChangeArrowheads="1"/>
          </p:cNvSpPr>
          <p:nvPr>
            <p:ph type="ctrTitle"/>
          </p:nvPr>
        </p:nvSpPr>
        <p:spPr>
          <a:xfrm>
            <a:off x="2971800" y="1828800"/>
            <a:ext cx="6019800" cy="2209800"/>
          </a:xfrm>
        </p:spPr>
        <p:txBody>
          <a:bodyPr/>
          <a:lstStyle>
            <a:lvl1pPr>
              <a:defRPr sz="5000">
                <a:solidFill>
                  <a:srgbClr val="FFFFFF"/>
                </a:solidFill>
                <a:ea typeface="楷体_GB2312" pitchFamily="49" charset="-122"/>
              </a:defRPr>
            </a:lvl1pPr>
          </a:lstStyle>
          <a:p>
            <a:r>
              <a:rPr lang="zh-CN" altLang="en-US"/>
              <a:t>单击此处编辑母版标题样式</a:t>
            </a:r>
          </a:p>
        </p:txBody>
      </p:sp>
      <p:sp>
        <p:nvSpPr>
          <p:cNvPr id="1044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9" name="Rectangle 16">
            <a:extLst>
              <a:ext uri="{FF2B5EF4-FFF2-40B4-BE49-F238E27FC236}">
                <a16:creationId xmlns:a16="http://schemas.microsoft.com/office/drawing/2014/main" id="{67637048-2444-4BFF-81B2-5B1D1BD7E161}"/>
              </a:ext>
            </a:extLst>
          </p:cNvPr>
          <p:cNvSpPr>
            <a:spLocks noGrp="1" noChangeArrowheads="1"/>
          </p:cNvSpPr>
          <p:nvPr>
            <p:ph type="dt" sz="half" idx="10"/>
          </p:nvPr>
        </p:nvSpPr>
        <p:spPr bwMode="auto">
          <a:xfrm>
            <a:off x="457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anose="02010600030101010101" pitchFamily="2" charset="-122"/>
              </a:defRPr>
            </a:lvl1pPr>
          </a:lstStyle>
          <a:p>
            <a:pPr>
              <a:defRPr/>
            </a:pPr>
            <a:endParaRPr lang="en-US" altLang="zh-CN"/>
          </a:p>
        </p:txBody>
      </p:sp>
      <p:sp>
        <p:nvSpPr>
          <p:cNvPr id="20" name="Rectangle 17">
            <a:extLst>
              <a:ext uri="{FF2B5EF4-FFF2-40B4-BE49-F238E27FC236}">
                <a16:creationId xmlns:a16="http://schemas.microsoft.com/office/drawing/2014/main" id="{6CDE0819-7374-42B5-B635-4F68BD964C4F}"/>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panose="02010600030101010101" pitchFamily="2" charset="-122"/>
              </a:defRPr>
            </a:lvl1pPr>
          </a:lstStyle>
          <a:p>
            <a:pPr>
              <a:defRPr/>
            </a:pPr>
            <a:endParaRPr lang="en-US" altLang="zh-CN"/>
          </a:p>
        </p:txBody>
      </p:sp>
      <p:sp>
        <p:nvSpPr>
          <p:cNvPr id="21" name="Rectangle 18">
            <a:extLst>
              <a:ext uri="{FF2B5EF4-FFF2-40B4-BE49-F238E27FC236}">
                <a16:creationId xmlns:a16="http://schemas.microsoft.com/office/drawing/2014/main" id="{AC947D75-3FDF-44C1-B766-2F207CA0892F}"/>
              </a:ext>
            </a:extLst>
          </p:cNvPr>
          <p:cNvSpPr>
            <a:spLocks noGrp="1" noChangeArrowheads="1"/>
          </p:cNvSpPr>
          <p:nvPr>
            <p:ph type="sldNum" sz="quarter" idx="12"/>
          </p:nvPr>
        </p:nvSpPr>
        <p:spPr bwMode="auto">
          <a:xfrm>
            <a:off x="6553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336A4F5C-11A4-4934-B2F0-9DCB60C8BEE1}" type="slidenum">
              <a:rPr lang="en-US" altLang="zh-CN"/>
              <a:pPr>
                <a:defRPr/>
              </a:pPr>
              <a:t>‹#›</a:t>
            </a:fld>
            <a:endParaRPr lang="en-US" altLang="zh-CN"/>
          </a:p>
        </p:txBody>
      </p:sp>
    </p:spTree>
    <p:extLst>
      <p:ext uri="{BB962C8B-B14F-4D97-AF65-F5344CB8AC3E}">
        <p14:creationId xmlns:p14="http://schemas.microsoft.com/office/powerpoint/2010/main" val="292669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71155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62733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98465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004058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374528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6904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57342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10844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96984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8613" y="0"/>
            <a:ext cx="2141537" cy="5876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50825" y="0"/>
            <a:ext cx="6275388" cy="5876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47047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0825" y="0"/>
            <a:ext cx="8477250"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23850" y="1268413"/>
            <a:ext cx="4171950" cy="4608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171950" cy="4608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09980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50825" y="0"/>
            <a:ext cx="8477250" cy="838200"/>
          </a:xfrm>
        </p:spPr>
        <p:txBody>
          <a:bodyPr/>
          <a:lstStyle/>
          <a:p>
            <a:r>
              <a:rPr lang="zh-CN" altLang="en-US"/>
              <a:t>单击此处编辑母版标题样式</a:t>
            </a:r>
          </a:p>
        </p:txBody>
      </p:sp>
      <p:sp>
        <p:nvSpPr>
          <p:cNvPr id="3" name="表格占位符 2"/>
          <p:cNvSpPr>
            <a:spLocks noGrp="1"/>
          </p:cNvSpPr>
          <p:nvPr>
            <p:ph type="tbl" idx="1"/>
          </p:nvPr>
        </p:nvSpPr>
        <p:spPr>
          <a:xfrm>
            <a:off x="323850" y="1268413"/>
            <a:ext cx="8496300" cy="4608512"/>
          </a:xfrm>
        </p:spPr>
        <p:txBody>
          <a:bodyPr/>
          <a:lstStyle/>
          <a:p>
            <a:pPr lvl="0"/>
            <a:endParaRPr lang="zh-CN" altLang="en-US" noProof="0"/>
          </a:p>
        </p:txBody>
      </p:sp>
    </p:spTree>
    <p:extLst>
      <p:ext uri="{BB962C8B-B14F-4D97-AF65-F5344CB8AC3E}">
        <p14:creationId xmlns:p14="http://schemas.microsoft.com/office/powerpoint/2010/main" val="79244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1">
            <a:extLst>
              <a:ext uri="{FF2B5EF4-FFF2-40B4-BE49-F238E27FC236}">
                <a16:creationId xmlns:a16="http://schemas.microsoft.com/office/drawing/2014/main" id="{6467570B-454D-4D91-B273-5D62249FA8EC}"/>
              </a:ext>
            </a:extLst>
          </p:cNvPr>
          <p:cNvSpPr>
            <a:spLocks noGrp="1" noChangeArrowheads="1"/>
          </p:cNvSpPr>
          <p:nvPr>
            <p:ph type="body" idx="1"/>
          </p:nvPr>
        </p:nvSpPr>
        <p:spPr bwMode="auto">
          <a:xfrm>
            <a:off x="323850" y="1268413"/>
            <a:ext cx="84963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Content Here</a:t>
            </a:r>
          </a:p>
          <a:p>
            <a:pPr lvl="1"/>
            <a:r>
              <a:rPr lang="zh-CN" altLang="en-US"/>
              <a:t>。。。</a:t>
            </a:r>
          </a:p>
          <a:p>
            <a:pPr lvl="1"/>
            <a:endParaRPr lang="zh-CN" altLang="en-US"/>
          </a:p>
          <a:p>
            <a:pPr lvl="2"/>
            <a:endParaRPr lang="zh-CN" altLang="en-US"/>
          </a:p>
          <a:p>
            <a:pPr lvl="1"/>
            <a:endParaRPr lang="zh-CN" altLang="en-US"/>
          </a:p>
          <a:p>
            <a:pPr lvl="2"/>
            <a:endParaRPr lang="en-US" altLang="zh-CN"/>
          </a:p>
        </p:txBody>
      </p:sp>
      <p:sp>
        <p:nvSpPr>
          <p:cNvPr id="1027" name="AutoShape 38">
            <a:extLst>
              <a:ext uri="{FF2B5EF4-FFF2-40B4-BE49-F238E27FC236}">
                <a16:creationId xmlns:a16="http://schemas.microsoft.com/office/drawing/2014/main" id="{EAF0384B-1416-4781-9020-4565C1E85540}"/>
              </a:ext>
            </a:extLst>
          </p:cNvPr>
          <p:cNvSpPr>
            <a:spLocks noChangeArrowheads="1"/>
          </p:cNvSpPr>
          <p:nvPr userDrawn="1"/>
        </p:nvSpPr>
        <p:spPr bwMode="auto">
          <a:xfrm>
            <a:off x="0" y="0"/>
            <a:ext cx="9144000" cy="765175"/>
          </a:xfrm>
          <a:prstGeom prst="flowChartAlternateProcess">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8" name="Rectangle 36">
            <a:extLst>
              <a:ext uri="{FF2B5EF4-FFF2-40B4-BE49-F238E27FC236}">
                <a16:creationId xmlns:a16="http://schemas.microsoft.com/office/drawing/2014/main" id="{891C3F48-EB0F-48C2-99F9-CD6640AADB86}"/>
              </a:ext>
            </a:extLst>
          </p:cNvPr>
          <p:cNvSpPr>
            <a:spLocks noChangeArrowheads="1"/>
          </p:cNvSpPr>
          <p:nvPr userDrawn="1"/>
        </p:nvSpPr>
        <p:spPr bwMode="auto">
          <a:xfrm rot="10800000">
            <a:off x="6732588" y="6597650"/>
            <a:ext cx="2411412" cy="260350"/>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9" name="Rectangle 20">
            <a:extLst>
              <a:ext uri="{FF2B5EF4-FFF2-40B4-BE49-F238E27FC236}">
                <a16:creationId xmlns:a16="http://schemas.microsoft.com/office/drawing/2014/main" id="{B90FE0FA-E2D7-4B39-9D4C-6303912AE2D1}"/>
              </a:ext>
            </a:extLst>
          </p:cNvPr>
          <p:cNvSpPr>
            <a:spLocks noGrp="1" noChangeArrowheads="1"/>
          </p:cNvSpPr>
          <p:nvPr>
            <p:ph type="title"/>
          </p:nvPr>
        </p:nvSpPr>
        <p:spPr bwMode="auto">
          <a:xfrm>
            <a:off x="250825" y="0"/>
            <a:ext cx="84772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Title Here</a:t>
            </a:r>
          </a:p>
        </p:txBody>
      </p:sp>
      <p:sp>
        <p:nvSpPr>
          <p:cNvPr id="1030" name="Rectangle 23">
            <a:extLst>
              <a:ext uri="{FF2B5EF4-FFF2-40B4-BE49-F238E27FC236}">
                <a16:creationId xmlns:a16="http://schemas.microsoft.com/office/drawing/2014/main" id="{DBDC20DB-5889-4630-87A8-6C1973747E6F}"/>
              </a:ext>
            </a:extLst>
          </p:cNvPr>
          <p:cNvSpPr>
            <a:spLocks noChangeArrowheads="1"/>
          </p:cNvSpPr>
          <p:nvPr userDrawn="1"/>
        </p:nvSpPr>
        <p:spPr bwMode="auto">
          <a:xfrm>
            <a:off x="1639888" y="58738"/>
            <a:ext cx="57150" cy="396875"/>
          </a:xfrm>
          <a:prstGeom prst="rect">
            <a:avLst/>
          </a:prstGeom>
          <a:noFill/>
          <a:ln>
            <a:noFill/>
          </a:ln>
          <a:effectLst>
            <a:outerShdw dist="17961" dir="2700000" algn="ctr" rotWithShape="0">
              <a:schemeClr val="tx1"/>
            </a:outerShdw>
          </a:effectLst>
          <a:extLst/>
        </p:spPr>
        <p:txBody>
          <a:bodyPr wrap="none" lIns="28575" tIns="15875" rIns="28575" bIns="15875">
            <a:spAutoFit/>
          </a:bodyPr>
          <a:lstStyle>
            <a:lvl1pPr defTabSz="84138">
              <a:defRPr>
                <a:solidFill>
                  <a:schemeClr val="tx1"/>
                </a:solidFill>
                <a:latin typeface="Arial" panose="020B0604020202020204" pitchFamily="34" charset="0"/>
                <a:ea typeface="宋体" panose="02010600030101010101" pitchFamily="2" charset="-122"/>
              </a:defRPr>
            </a:lvl1pPr>
            <a:lvl2pPr marL="742950" indent="-285750" defTabSz="84138">
              <a:defRPr>
                <a:solidFill>
                  <a:schemeClr val="tx1"/>
                </a:solidFill>
                <a:latin typeface="Arial" panose="020B0604020202020204" pitchFamily="34" charset="0"/>
                <a:ea typeface="宋体" panose="02010600030101010101" pitchFamily="2" charset="-122"/>
              </a:defRPr>
            </a:lvl2pPr>
            <a:lvl3pPr marL="1143000" indent="-228600" defTabSz="84138">
              <a:defRPr>
                <a:solidFill>
                  <a:schemeClr val="tx1"/>
                </a:solidFill>
                <a:latin typeface="Arial" panose="020B0604020202020204" pitchFamily="34" charset="0"/>
                <a:ea typeface="宋体" panose="02010600030101010101" pitchFamily="2" charset="-122"/>
              </a:defRPr>
            </a:lvl3pPr>
            <a:lvl4pPr marL="1600200" indent="-228600" defTabSz="84138">
              <a:defRPr>
                <a:solidFill>
                  <a:schemeClr val="tx1"/>
                </a:solidFill>
                <a:latin typeface="Arial" panose="020B0604020202020204" pitchFamily="34" charset="0"/>
                <a:ea typeface="宋体" panose="02010600030101010101" pitchFamily="2" charset="-122"/>
              </a:defRPr>
            </a:lvl4pPr>
            <a:lvl5pPr marL="2057400" indent="-228600" defTabSz="84138">
              <a:defRPr>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zh-CN" sz="2400" b="1"/>
          </a:p>
        </p:txBody>
      </p:sp>
      <p:sp>
        <p:nvSpPr>
          <p:cNvPr id="1031" name="Rectangle 26">
            <a:extLst>
              <a:ext uri="{FF2B5EF4-FFF2-40B4-BE49-F238E27FC236}">
                <a16:creationId xmlns:a16="http://schemas.microsoft.com/office/drawing/2014/main" id="{E29A7154-8D6F-4D58-8F4B-9CC69963C2CD}"/>
              </a:ext>
            </a:extLst>
          </p:cNvPr>
          <p:cNvSpPr>
            <a:spLocks noChangeArrowheads="1"/>
          </p:cNvSpPr>
          <p:nvPr userDrawn="1"/>
        </p:nvSpPr>
        <p:spPr bwMode="auto">
          <a:xfrm rot="10800000">
            <a:off x="0" y="6597650"/>
            <a:ext cx="6732588" cy="260350"/>
          </a:xfrm>
          <a:prstGeom prst="rect">
            <a:avLst/>
          </a:prstGeom>
          <a:solidFill>
            <a:srgbClr val="666699"/>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pic>
        <p:nvPicPr>
          <p:cNvPr id="1032" name="Picture 33">
            <a:extLst>
              <a:ext uri="{FF2B5EF4-FFF2-40B4-BE49-F238E27FC236}">
                <a16:creationId xmlns:a16="http://schemas.microsoft.com/office/drawing/2014/main" id="{80E00495-BCCD-4FCD-A6D3-B6EA30D6F9FB}"/>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459788" y="476250"/>
            <a:ext cx="5318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WordArt 44">
            <a:extLst>
              <a:ext uri="{FF2B5EF4-FFF2-40B4-BE49-F238E27FC236}">
                <a16:creationId xmlns:a16="http://schemas.microsoft.com/office/drawing/2014/main" id="{5DBBD993-A858-433A-AAFB-A375698E1482}"/>
              </a:ext>
            </a:extLst>
          </p:cNvPr>
          <p:cNvSpPr>
            <a:spLocks noChangeArrowheads="1" noChangeShapeType="1" noTextEdit="1"/>
          </p:cNvSpPr>
          <p:nvPr userDrawn="1"/>
        </p:nvSpPr>
        <p:spPr bwMode="auto">
          <a:xfrm>
            <a:off x="6948488" y="6237288"/>
            <a:ext cx="1612900" cy="3000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Tree>
  </p:cSld>
  <p:clrMap bg1="lt1" tx1="dk1" bg2="lt2" tx2="dk2" accent1="accent1" accent2="accent2" accent3="accent3" accent4="accent4" accent5="accent5" accent6="accent6" hlink="hlink" folHlink="folHlink"/>
  <p:sldLayoutIdLst>
    <p:sldLayoutId id="2147483948"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3946" r:id="rId12"/>
    <p:sldLayoutId id="2147483947" r:id="rId13"/>
  </p:sldLayoutIdLst>
  <p:txStyles>
    <p:titleStyle>
      <a:lvl1pPr algn="l" rtl="0" eaLnBrk="0" fontAlgn="base" hangingPunct="0">
        <a:spcBef>
          <a:spcPct val="0"/>
        </a:spcBef>
        <a:spcAft>
          <a:spcPct val="0"/>
        </a:spcAft>
        <a:defRPr sz="4400" b="1">
          <a:solidFill>
            <a:schemeClr val="tx1"/>
          </a:solidFill>
          <a:latin typeface="+mj-lt"/>
          <a:ea typeface="+mj-ea"/>
          <a:cs typeface="+mj-cs"/>
        </a:defRPr>
      </a:lvl1pPr>
      <a:lvl2pPr algn="l" rtl="0" eaLnBrk="0" fontAlgn="base" hangingPunct="0">
        <a:spcBef>
          <a:spcPct val="0"/>
        </a:spcBef>
        <a:spcAft>
          <a:spcPct val="0"/>
        </a:spcAft>
        <a:defRPr sz="4400" b="1">
          <a:solidFill>
            <a:schemeClr val="tx1"/>
          </a:solidFill>
          <a:latin typeface="黑体" pitchFamily="2" charset="-122"/>
          <a:ea typeface="黑体" pitchFamily="2" charset="-122"/>
        </a:defRPr>
      </a:lvl2pPr>
      <a:lvl3pPr algn="l" rtl="0" eaLnBrk="0" fontAlgn="base" hangingPunct="0">
        <a:spcBef>
          <a:spcPct val="0"/>
        </a:spcBef>
        <a:spcAft>
          <a:spcPct val="0"/>
        </a:spcAft>
        <a:defRPr sz="4400" b="1">
          <a:solidFill>
            <a:schemeClr val="tx1"/>
          </a:solidFill>
          <a:latin typeface="黑体" pitchFamily="2" charset="-122"/>
          <a:ea typeface="黑体" pitchFamily="2" charset="-122"/>
        </a:defRPr>
      </a:lvl3pPr>
      <a:lvl4pPr algn="l" rtl="0" eaLnBrk="0" fontAlgn="base" hangingPunct="0">
        <a:spcBef>
          <a:spcPct val="0"/>
        </a:spcBef>
        <a:spcAft>
          <a:spcPct val="0"/>
        </a:spcAft>
        <a:defRPr sz="4400" b="1">
          <a:solidFill>
            <a:schemeClr val="tx1"/>
          </a:solidFill>
          <a:latin typeface="黑体" pitchFamily="2" charset="-122"/>
          <a:ea typeface="黑体" pitchFamily="2" charset="-122"/>
        </a:defRPr>
      </a:lvl4pPr>
      <a:lvl5pPr algn="l" rtl="0" eaLnBrk="0" fontAlgn="base" hangingPunct="0">
        <a:spcBef>
          <a:spcPct val="0"/>
        </a:spcBef>
        <a:spcAft>
          <a:spcPct val="0"/>
        </a:spcAft>
        <a:defRPr sz="4400" b="1">
          <a:solidFill>
            <a:schemeClr val="tx1"/>
          </a:solidFill>
          <a:latin typeface="黑体" pitchFamily="2" charset="-122"/>
          <a:ea typeface="黑体" pitchFamily="2" charset="-122"/>
        </a:defRPr>
      </a:lvl5pPr>
      <a:lvl6pPr marL="457200" algn="l" rtl="0" fontAlgn="base">
        <a:spcBef>
          <a:spcPct val="0"/>
        </a:spcBef>
        <a:spcAft>
          <a:spcPct val="0"/>
        </a:spcAft>
        <a:defRPr sz="4400" b="1">
          <a:solidFill>
            <a:schemeClr val="tx1"/>
          </a:solidFill>
          <a:latin typeface="黑体" pitchFamily="2" charset="-122"/>
          <a:ea typeface="黑体" pitchFamily="2" charset="-122"/>
        </a:defRPr>
      </a:lvl6pPr>
      <a:lvl7pPr marL="914400" algn="l" rtl="0" fontAlgn="base">
        <a:spcBef>
          <a:spcPct val="0"/>
        </a:spcBef>
        <a:spcAft>
          <a:spcPct val="0"/>
        </a:spcAft>
        <a:defRPr sz="4400" b="1">
          <a:solidFill>
            <a:schemeClr val="tx1"/>
          </a:solidFill>
          <a:latin typeface="黑体" pitchFamily="2" charset="-122"/>
          <a:ea typeface="黑体" pitchFamily="2" charset="-122"/>
        </a:defRPr>
      </a:lvl7pPr>
      <a:lvl8pPr marL="1371600" algn="l" rtl="0" fontAlgn="base">
        <a:spcBef>
          <a:spcPct val="0"/>
        </a:spcBef>
        <a:spcAft>
          <a:spcPct val="0"/>
        </a:spcAft>
        <a:defRPr sz="4400" b="1">
          <a:solidFill>
            <a:schemeClr val="tx1"/>
          </a:solidFill>
          <a:latin typeface="黑体" pitchFamily="2" charset="-122"/>
          <a:ea typeface="黑体" pitchFamily="2" charset="-122"/>
        </a:defRPr>
      </a:lvl8pPr>
      <a:lvl9pPr marL="1828800" algn="l" rtl="0" fontAlgn="base">
        <a:spcBef>
          <a:spcPct val="0"/>
        </a:spcBef>
        <a:spcAft>
          <a:spcPct val="0"/>
        </a:spcAft>
        <a:defRPr sz="44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Arial" charset="0"/>
          <a:ea typeface="宋体" pitchFamily="2"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charset="0"/>
          <a:ea typeface="宋体" pitchFamily="2" charset="-122"/>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9">
            <a:extLst>
              <a:ext uri="{FF2B5EF4-FFF2-40B4-BE49-F238E27FC236}">
                <a16:creationId xmlns:a16="http://schemas.microsoft.com/office/drawing/2014/main" id="{6AD92336-B924-44E2-A9D1-3C706C1FB8E1}"/>
              </a:ext>
            </a:extLst>
          </p:cNvPr>
          <p:cNvSpPr>
            <a:spLocks noChangeArrowheads="1"/>
          </p:cNvSpPr>
          <p:nvPr/>
        </p:nvSpPr>
        <p:spPr bwMode="auto">
          <a:xfrm>
            <a:off x="0" y="0"/>
            <a:ext cx="9144000" cy="1268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099" name="Rectangle 32">
            <a:extLst>
              <a:ext uri="{FF2B5EF4-FFF2-40B4-BE49-F238E27FC236}">
                <a16:creationId xmlns:a16="http://schemas.microsoft.com/office/drawing/2014/main" id="{5613DB4F-D639-416B-BA90-FDB2B90B5B5C}"/>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4100" name="Rectangle 35">
            <a:extLst>
              <a:ext uri="{FF2B5EF4-FFF2-40B4-BE49-F238E27FC236}">
                <a16:creationId xmlns:a16="http://schemas.microsoft.com/office/drawing/2014/main" id="{ED152BEB-FA72-4273-8C07-98B9E14919FF}"/>
              </a:ext>
            </a:extLst>
          </p:cNvPr>
          <p:cNvSpPr>
            <a:spLocks noChangeArrowheads="1"/>
          </p:cNvSpPr>
          <p:nvPr/>
        </p:nvSpPr>
        <p:spPr bwMode="auto">
          <a:xfrm>
            <a:off x="0" y="4149725"/>
            <a:ext cx="9144000" cy="27082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101" name="Rectangle 36">
            <a:extLst>
              <a:ext uri="{FF2B5EF4-FFF2-40B4-BE49-F238E27FC236}">
                <a16:creationId xmlns:a16="http://schemas.microsoft.com/office/drawing/2014/main" id="{68413626-DBCE-484C-BCB6-F5585FA53B4E}"/>
              </a:ext>
            </a:extLst>
          </p:cNvPr>
          <p:cNvSpPr>
            <a:spLocks noChangeArrowheads="1"/>
          </p:cNvSpPr>
          <p:nvPr/>
        </p:nvSpPr>
        <p:spPr bwMode="auto">
          <a:xfrm>
            <a:off x="0" y="3933825"/>
            <a:ext cx="9144000" cy="2159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102" name="WordArt 38">
            <a:extLst>
              <a:ext uri="{FF2B5EF4-FFF2-40B4-BE49-F238E27FC236}">
                <a16:creationId xmlns:a16="http://schemas.microsoft.com/office/drawing/2014/main" id="{F19CC906-B74E-485E-874B-785A484D4737}"/>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05512" name="Rectangle 40">
            <a:extLst>
              <a:ext uri="{FF2B5EF4-FFF2-40B4-BE49-F238E27FC236}">
                <a16:creationId xmlns:a16="http://schemas.microsoft.com/office/drawing/2014/main" id="{45FA170A-46B5-4837-AC7F-A5467F73F01A}"/>
              </a:ext>
            </a:extLst>
          </p:cNvPr>
          <p:cNvSpPr>
            <a:spLocks noGrp="1" noChangeArrowheads="1"/>
          </p:cNvSpPr>
          <p:nvPr>
            <p:ph type="title"/>
          </p:nvPr>
        </p:nvSpPr>
        <p:spPr>
          <a:xfrm>
            <a:off x="371475" y="1577181"/>
            <a:ext cx="8477250" cy="1643063"/>
          </a:xfrm>
        </p:spPr>
        <p:txBody>
          <a:bodyPr/>
          <a:lstStyle/>
          <a:p>
            <a:pPr algn="ctr" eaLnBrk="1" hangingPunct="1">
              <a:defRPr/>
            </a:pPr>
            <a:r>
              <a:rPr lang="zh-CN" altLang="en-US" sz="3600" dirty="0">
                <a:solidFill>
                  <a:srgbClr val="FF0000"/>
                </a:solidFill>
                <a:effectLst>
                  <a:outerShdw blurRad="38100" dist="38100" dir="2700000" algn="tl">
                    <a:srgbClr val="C0C0C0"/>
                  </a:outerShdw>
                </a:effectLst>
              </a:rPr>
              <a:t>实验四</a:t>
            </a:r>
            <a:br>
              <a:rPr lang="en-US" altLang="zh-CN" sz="3600" dirty="0">
                <a:effectLst>
                  <a:outerShdw blurRad="38100" dist="38100" dir="2700000" algn="tl">
                    <a:srgbClr val="C0C0C0"/>
                  </a:outerShdw>
                </a:effectLst>
              </a:rPr>
            </a:br>
            <a:r>
              <a:rPr lang="zh-CN" altLang="en-US" sz="3600" dirty="0">
                <a:effectLst>
                  <a:outerShdw blurRad="38100" dist="38100" dir="2700000" algn="tl">
                    <a:srgbClr val="C0C0C0"/>
                  </a:outerShdw>
                </a:effectLst>
              </a:rPr>
              <a:t> </a:t>
            </a:r>
            <a:br>
              <a:rPr lang="zh-CN" altLang="en-US" sz="3600" dirty="0">
                <a:effectLst>
                  <a:outerShdw blurRad="38100" dist="38100" dir="2700000" algn="tl">
                    <a:srgbClr val="C0C0C0"/>
                  </a:outerShdw>
                </a:effectLst>
              </a:rPr>
            </a:br>
            <a:r>
              <a:rPr lang="zh-CN" altLang="en-US" sz="3600" dirty="0">
                <a:effectLst>
                  <a:outerShdw blurRad="38100" dist="38100" dir="2700000" algn="tl">
                    <a:srgbClr val="C0C0C0"/>
                  </a:outerShdw>
                </a:effectLst>
              </a:rPr>
              <a:t>交换机冗余技术应用实验</a:t>
            </a:r>
            <a:endParaRPr lang="zh-CN" altLang="en-US" sz="36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8871A7B-0FBA-4F27-A96D-84F43CE21FE0}"/>
              </a:ext>
            </a:extLst>
          </p:cNvPr>
          <p:cNvSpPr>
            <a:spLocks noGrp="1" noChangeArrowheads="1"/>
          </p:cNvSpPr>
          <p:nvPr>
            <p:ph type="title"/>
          </p:nvPr>
        </p:nvSpPr>
        <p:spPr/>
        <p:txBody>
          <a:bodyPr/>
          <a:lstStyle/>
          <a:p>
            <a:r>
              <a:rPr lang="zh-CN" altLang="en-US"/>
              <a:t>实验内容</a:t>
            </a:r>
            <a:endParaRPr lang="en-US" altLang="zh-CN"/>
          </a:p>
        </p:txBody>
      </p:sp>
      <p:sp>
        <p:nvSpPr>
          <p:cNvPr id="6147" name="Rectangle 3">
            <a:extLst>
              <a:ext uri="{FF2B5EF4-FFF2-40B4-BE49-F238E27FC236}">
                <a16:creationId xmlns:a16="http://schemas.microsoft.com/office/drawing/2014/main" id="{071A0A5D-149C-476F-AD5A-0ABCFD6E05D8}"/>
              </a:ext>
            </a:extLst>
          </p:cNvPr>
          <p:cNvSpPr>
            <a:spLocks noGrp="1" noChangeArrowheads="1"/>
          </p:cNvSpPr>
          <p:nvPr>
            <p:ph type="body" idx="1"/>
          </p:nvPr>
        </p:nvSpPr>
        <p:spPr/>
        <p:txBody>
          <a:bodyPr/>
          <a:lstStyle/>
          <a:p>
            <a:r>
              <a:rPr lang="zh-CN" altLang="en-US"/>
              <a:t>交换机生成树配置实验</a:t>
            </a:r>
          </a:p>
          <a:p>
            <a:r>
              <a:rPr lang="zh-CN" altLang="en-US"/>
              <a:t>交换机链路聚合实验</a:t>
            </a:r>
          </a:p>
          <a:p>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0A70E9FD-F819-45C7-B44B-6A61E28E78E7}"/>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7171" name="Rectangle 6">
            <a:extLst>
              <a:ext uri="{FF2B5EF4-FFF2-40B4-BE49-F238E27FC236}">
                <a16:creationId xmlns:a16="http://schemas.microsoft.com/office/drawing/2014/main" id="{4ABB62BB-CB04-4089-B08F-853A0464DD52}"/>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7172" name="WordArt 10">
            <a:extLst>
              <a:ext uri="{FF2B5EF4-FFF2-40B4-BE49-F238E27FC236}">
                <a16:creationId xmlns:a16="http://schemas.microsoft.com/office/drawing/2014/main" id="{23325D45-EA9F-40CA-AEE3-8E2526E944EB}"/>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7173" name="Rectangle 11">
            <a:extLst>
              <a:ext uri="{FF2B5EF4-FFF2-40B4-BE49-F238E27FC236}">
                <a16:creationId xmlns:a16="http://schemas.microsoft.com/office/drawing/2014/main" id="{76C01D2D-0904-447D-8EF6-398F16692BB2}"/>
              </a:ext>
            </a:extLst>
          </p:cNvPr>
          <p:cNvSpPr>
            <a:spLocks noGrp="1" noChangeArrowheads="1"/>
          </p:cNvSpPr>
          <p:nvPr>
            <p:ph type="title"/>
          </p:nvPr>
        </p:nvSpPr>
        <p:spPr>
          <a:xfrm>
            <a:off x="285750" y="3000375"/>
            <a:ext cx="8477250" cy="838200"/>
          </a:xfrm>
          <a:noFill/>
        </p:spPr>
        <p:txBody>
          <a:bodyPr/>
          <a:lstStyle/>
          <a:p>
            <a:pPr algn="ctr" eaLnBrk="1" hangingPunct="1"/>
            <a:r>
              <a:rPr lang="zh-CN" altLang="en-US"/>
              <a:t>交换网络中的冗余链路</a:t>
            </a:r>
            <a:br>
              <a:rPr lang="en-US" altLang="zh-CN"/>
            </a:b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8BA5C92-1999-4EB6-BDD6-855826563A27}"/>
              </a:ext>
            </a:extLst>
          </p:cNvPr>
          <p:cNvSpPr>
            <a:spLocks noGrp="1" noChangeArrowheads="1"/>
          </p:cNvSpPr>
          <p:nvPr>
            <p:ph type="title"/>
          </p:nvPr>
        </p:nvSpPr>
        <p:spPr/>
        <p:txBody>
          <a:bodyPr/>
          <a:lstStyle/>
          <a:p>
            <a:r>
              <a:rPr lang="zh-CN" altLang="en-US"/>
              <a:t>网络中存在的单点故障</a:t>
            </a:r>
          </a:p>
        </p:txBody>
      </p:sp>
      <p:pic>
        <p:nvPicPr>
          <p:cNvPr id="9219" name="Picture 3" descr="Route-processor">
            <a:extLst>
              <a:ext uri="{FF2B5EF4-FFF2-40B4-BE49-F238E27FC236}">
                <a16:creationId xmlns:a16="http://schemas.microsoft.com/office/drawing/2014/main" id="{5399CE9E-5728-46FC-8B12-06FF459149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2276475"/>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Picture 4" descr="PC">
            <a:extLst>
              <a:ext uri="{FF2B5EF4-FFF2-40B4-BE49-F238E27FC236}">
                <a16:creationId xmlns:a16="http://schemas.microsoft.com/office/drawing/2014/main" id="{7E40697B-32EA-41E7-90E1-21EFAAF624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4005263"/>
            <a:ext cx="9366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Line 5">
            <a:extLst>
              <a:ext uri="{FF2B5EF4-FFF2-40B4-BE49-F238E27FC236}">
                <a16:creationId xmlns:a16="http://schemas.microsoft.com/office/drawing/2014/main" id="{80593713-CBB7-4C64-85ED-4781B3AA3914}"/>
              </a:ext>
            </a:extLst>
          </p:cNvPr>
          <p:cNvSpPr>
            <a:spLocks noChangeShapeType="1"/>
          </p:cNvSpPr>
          <p:nvPr/>
        </p:nvSpPr>
        <p:spPr bwMode="auto">
          <a:xfrm flipV="1">
            <a:off x="2771775" y="2708275"/>
            <a:ext cx="0" cy="1368425"/>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9222" name="Line 6">
            <a:extLst>
              <a:ext uri="{FF2B5EF4-FFF2-40B4-BE49-F238E27FC236}">
                <a16:creationId xmlns:a16="http://schemas.microsoft.com/office/drawing/2014/main" id="{04B2812A-6796-4428-BADA-DD74E1FF1756}"/>
              </a:ext>
            </a:extLst>
          </p:cNvPr>
          <p:cNvSpPr>
            <a:spLocks noChangeShapeType="1"/>
          </p:cNvSpPr>
          <p:nvPr/>
        </p:nvSpPr>
        <p:spPr bwMode="auto">
          <a:xfrm flipH="1" flipV="1">
            <a:off x="3492500" y="2492375"/>
            <a:ext cx="2735263"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9223" name="Picture 7" descr="SEVER">
            <a:extLst>
              <a:ext uri="{FF2B5EF4-FFF2-40B4-BE49-F238E27FC236}">
                <a16:creationId xmlns:a16="http://schemas.microsoft.com/office/drawing/2014/main" id="{470BD62E-67E7-4EA8-A991-D8B95C8F27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325" y="1916113"/>
            <a:ext cx="650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0" name="Line 8">
            <a:extLst>
              <a:ext uri="{FF2B5EF4-FFF2-40B4-BE49-F238E27FC236}">
                <a16:creationId xmlns:a16="http://schemas.microsoft.com/office/drawing/2014/main" id="{6469055F-2474-4F0A-BCC2-0C0CA24405B7}"/>
              </a:ext>
            </a:extLst>
          </p:cNvPr>
          <p:cNvSpPr>
            <a:spLocks noChangeShapeType="1"/>
          </p:cNvSpPr>
          <p:nvPr/>
        </p:nvSpPr>
        <p:spPr bwMode="auto">
          <a:xfrm flipV="1">
            <a:off x="2555875" y="2781300"/>
            <a:ext cx="0" cy="1223963"/>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441" name="AutoShape 9">
            <a:extLst>
              <a:ext uri="{FF2B5EF4-FFF2-40B4-BE49-F238E27FC236}">
                <a16:creationId xmlns:a16="http://schemas.microsoft.com/office/drawing/2014/main" id="{CDBA9FB1-6FB7-47FD-8678-631B99FEAB45}"/>
              </a:ext>
            </a:extLst>
          </p:cNvPr>
          <p:cNvSpPr>
            <a:spLocks noChangeArrowheads="1"/>
          </p:cNvSpPr>
          <p:nvPr/>
        </p:nvSpPr>
        <p:spPr bwMode="auto">
          <a:xfrm>
            <a:off x="2268538" y="2133600"/>
            <a:ext cx="1295400" cy="647700"/>
          </a:xfrm>
          <a:prstGeom prst="irregularSeal1">
            <a:avLst/>
          </a:prstGeom>
          <a:solidFill>
            <a:srgbClr val="FF0000">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chemeClr val="bg1"/>
                </a:solidFill>
                <a:latin typeface="Arial" panose="020B0604020202020204" pitchFamily="34" charset="0"/>
              </a:rPr>
              <a:t>故障</a:t>
            </a:r>
          </a:p>
        </p:txBody>
      </p:sp>
      <p:sp>
        <p:nvSpPr>
          <p:cNvPr id="146442" name="Text Box 10">
            <a:extLst>
              <a:ext uri="{FF2B5EF4-FFF2-40B4-BE49-F238E27FC236}">
                <a16:creationId xmlns:a16="http://schemas.microsoft.com/office/drawing/2014/main" id="{E6C10AD5-7C07-48AD-AD75-1F95A5EDC092}"/>
              </a:ext>
            </a:extLst>
          </p:cNvPr>
          <p:cNvSpPr txBox="1">
            <a:spLocks noChangeArrowheads="1"/>
          </p:cNvSpPr>
          <p:nvPr/>
        </p:nvSpPr>
        <p:spPr bwMode="auto">
          <a:xfrm>
            <a:off x="1285875" y="5143500"/>
            <a:ext cx="7429500" cy="523875"/>
          </a:xfrm>
          <a:prstGeom prst="rect">
            <a:avLst/>
          </a:prstGeom>
          <a:noFill/>
          <a:ln w="9525">
            <a:noFill/>
            <a:miter lim="800000"/>
            <a:headEnd/>
            <a:tailEnd/>
          </a:ln>
          <a:effectLst/>
        </p:spPr>
        <p:txBody>
          <a:bodyPr>
            <a:spAutoFit/>
          </a:bodyPr>
          <a:lstStyle/>
          <a:p>
            <a:pPr eaLnBrk="1" hangingPunct="1">
              <a:spcBef>
                <a:spcPct val="50000"/>
              </a:spcBef>
              <a:defRPr/>
            </a:pPr>
            <a:r>
              <a:rPr lang="zh-CN" altLang="en-US" sz="2800" b="1" dirty="0">
                <a:solidFill>
                  <a:srgbClr val="333399"/>
                </a:solidFill>
                <a:effectLst>
                  <a:outerShdw blurRad="38100" dist="38100" dir="2700000" algn="tl">
                    <a:srgbClr val="C0C0C0"/>
                  </a:outerShdw>
                </a:effectLst>
                <a:latin typeface="华文细黑" pitchFamily="2" charset="-122"/>
                <a:ea typeface="华文细黑" pitchFamily="2" charset="-122"/>
              </a:rPr>
              <a:t>网络中的单点故障可导致网络的无法访问</a:t>
            </a:r>
          </a:p>
        </p:txBody>
      </p:sp>
      <p:sp>
        <p:nvSpPr>
          <p:cNvPr id="146443" name="Line 11">
            <a:extLst>
              <a:ext uri="{FF2B5EF4-FFF2-40B4-BE49-F238E27FC236}">
                <a16:creationId xmlns:a16="http://schemas.microsoft.com/office/drawing/2014/main" id="{68F5CA16-DCFB-465D-9B1F-035B333A70F7}"/>
              </a:ext>
            </a:extLst>
          </p:cNvPr>
          <p:cNvSpPr>
            <a:spLocks noChangeShapeType="1"/>
          </p:cNvSpPr>
          <p:nvPr/>
        </p:nvSpPr>
        <p:spPr bwMode="auto">
          <a:xfrm flipV="1">
            <a:off x="3708400" y="2205038"/>
            <a:ext cx="2016125" cy="0"/>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46440"/>
                                        </p:tgtEl>
                                        <p:attrNameLst>
                                          <p:attrName>style.visibility</p:attrName>
                                        </p:attrNameLst>
                                      </p:cBhvr>
                                      <p:to>
                                        <p:strVal val="visible"/>
                                      </p:to>
                                    </p:set>
                                    <p:animEffect transition="in" filter="slide(fromBottom)">
                                      <p:cBhvr>
                                        <p:cTn id="7" dur="500"/>
                                        <p:tgtEl>
                                          <p:spTgt spid="146440"/>
                                        </p:tgtEl>
                                      </p:cBhvr>
                                    </p:animEffect>
                                  </p:childTnLst>
                                </p:cTn>
                              </p:par>
                            </p:childTnLst>
                          </p:cTn>
                        </p:par>
                        <p:par>
                          <p:cTn id="8" fill="hold" nodeType="afterGroup">
                            <p:stCondLst>
                              <p:cond delay="500"/>
                            </p:stCondLst>
                            <p:childTnLst>
                              <p:par>
                                <p:cTn id="9" presetID="12" presetClass="entr" presetSubtype="8" fill="hold" nodeType="afterEffect">
                                  <p:stCondLst>
                                    <p:cond delay="0"/>
                                  </p:stCondLst>
                                  <p:childTnLst>
                                    <p:set>
                                      <p:cBhvr>
                                        <p:cTn id="10" dur="1" fill="hold">
                                          <p:stCondLst>
                                            <p:cond delay="0"/>
                                          </p:stCondLst>
                                        </p:cTn>
                                        <p:tgtEl>
                                          <p:spTgt spid="146443"/>
                                        </p:tgtEl>
                                        <p:attrNameLst>
                                          <p:attrName>style.visibility</p:attrName>
                                        </p:attrNameLst>
                                      </p:cBhvr>
                                      <p:to>
                                        <p:strVal val="visible"/>
                                      </p:to>
                                    </p:set>
                                    <p:animEffect transition="in" filter="slide(fromLeft)">
                                      <p:cBhvr>
                                        <p:cTn id="11" dur="500"/>
                                        <p:tgtEl>
                                          <p:spTgt spid="1464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6441"/>
                                        </p:tgtEl>
                                        <p:attrNameLst>
                                          <p:attrName>style.visibility</p:attrName>
                                        </p:attrNameLst>
                                      </p:cBhvr>
                                      <p:to>
                                        <p:strVal val="visible"/>
                                      </p:to>
                                    </p:set>
                                    <p:animEffect transition="in" filter="fade">
                                      <p:cBhvr>
                                        <p:cTn id="16" dur="2000"/>
                                        <p:tgtEl>
                                          <p:spTgt spid="1464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46442"/>
                                        </p:tgtEl>
                                        <p:attrNameLst>
                                          <p:attrName>style.visibility</p:attrName>
                                        </p:attrNameLst>
                                      </p:cBhvr>
                                      <p:to>
                                        <p:strVal val="visible"/>
                                      </p:to>
                                    </p:set>
                                    <p:animEffect transition="in" filter="slide(fromBottom)">
                                      <p:cBhvr>
                                        <p:cTn id="21" dur="500"/>
                                        <p:tgtEl>
                                          <p:spTgt spid="146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41" grpId="0" animBg="1"/>
      <p:bldP spid="1464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2">
            <a:extLst>
              <a:ext uri="{FF2B5EF4-FFF2-40B4-BE49-F238E27FC236}">
                <a16:creationId xmlns:a16="http://schemas.microsoft.com/office/drawing/2014/main" id="{93CE2DFA-D050-43A7-9701-12C51AF315E5}"/>
              </a:ext>
            </a:extLst>
          </p:cNvPr>
          <p:cNvSpPr>
            <a:spLocks noChangeShapeType="1"/>
          </p:cNvSpPr>
          <p:nvPr/>
        </p:nvSpPr>
        <p:spPr bwMode="auto">
          <a:xfrm flipH="1">
            <a:off x="5795963" y="1812925"/>
            <a:ext cx="1368425"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1267" name="Line 3">
            <a:extLst>
              <a:ext uri="{FF2B5EF4-FFF2-40B4-BE49-F238E27FC236}">
                <a16:creationId xmlns:a16="http://schemas.microsoft.com/office/drawing/2014/main" id="{AC48905A-A3E1-42D7-88D9-D233BEF88787}"/>
              </a:ext>
            </a:extLst>
          </p:cNvPr>
          <p:cNvSpPr>
            <a:spLocks noChangeShapeType="1"/>
          </p:cNvSpPr>
          <p:nvPr/>
        </p:nvSpPr>
        <p:spPr bwMode="auto">
          <a:xfrm flipH="1" flipV="1">
            <a:off x="2771775" y="1812925"/>
            <a:ext cx="2160588"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1268" name="Line 4">
            <a:extLst>
              <a:ext uri="{FF2B5EF4-FFF2-40B4-BE49-F238E27FC236}">
                <a16:creationId xmlns:a16="http://schemas.microsoft.com/office/drawing/2014/main" id="{C4FB5523-C12B-4C07-AAE8-E8EC97D49C8E}"/>
              </a:ext>
            </a:extLst>
          </p:cNvPr>
          <p:cNvSpPr>
            <a:spLocks noChangeShapeType="1"/>
          </p:cNvSpPr>
          <p:nvPr/>
        </p:nvSpPr>
        <p:spPr bwMode="auto">
          <a:xfrm flipH="1" flipV="1">
            <a:off x="2484438" y="2028825"/>
            <a:ext cx="2232025" cy="172720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1269" name="Line 5">
            <a:extLst>
              <a:ext uri="{FF2B5EF4-FFF2-40B4-BE49-F238E27FC236}">
                <a16:creationId xmlns:a16="http://schemas.microsoft.com/office/drawing/2014/main" id="{A2F99479-CD7B-4B8D-B012-17771E7F0EBA}"/>
              </a:ext>
            </a:extLst>
          </p:cNvPr>
          <p:cNvSpPr>
            <a:spLocks noChangeShapeType="1"/>
          </p:cNvSpPr>
          <p:nvPr/>
        </p:nvSpPr>
        <p:spPr bwMode="auto">
          <a:xfrm flipV="1">
            <a:off x="5292725" y="1884363"/>
            <a:ext cx="0" cy="1728787"/>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1270" name="Line 6">
            <a:extLst>
              <a:ext uri="{FF2B5EF4-FFF2-40B4-BE49-F238E27FC236}">
                <a16:creationId xmlns:a16="http://schemas.microsoft.com/office/drawing/2014/main" id="{DBF207C3-49BD-4B37-A5CA-8199B9287E52}"/>
              </a:ext>
            </a:extLst>
          </p:cNvPr>
          <p:cNvSpPr>
            <a:spLocks noChangeShapeType="1"/>
          </p:cNvSpPr>
          <p:nvPr/>
        </p:nvSpPr>
        <p:spPr bwMode="auto">
          <a:xfrm flipV="1">
            <a:off x="5148263" y="3829050"/>
            <a:ext cx="0" cy="935038"/>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1271" name="Rectangle 7">
            <a:extLst>
              <a:ext uri="{FF2B5EF4-FFF2-40B4-BE49-F238E27FC236}">
                <a16:creationId xmlns:a16="http://schemas.microsoft.com/office/drawing/2014/main" id="{E52B4859-895D-4D1D-9BF0-036FF13B0682}"/>
              </a:ext>
            </a:extLst>
          </p:cNvPr>
          <p:cNvSpPr>
            <a:spLocks noGrp="1" noChangeArrowheads="1"/>
          </p:cNvSpPr>
          <p:nvPr>
            <p:ph type="title"/>
          </p:nvPr>
        </p:nvSpPr>
        <p:spPr/>
        <p:txBody>
          <a:bodyPr/>
          <a:lstStyle/>
          <a:p>
            <a:r>
              <a:rPr lang="zh-CN" altLang="en-US"/>
              <a:t>交换网络中的冗余链路</a:t>
            </a:r>
          </a:p>
        </p:txBody>
      </p:sp>
      <p:pic>
        <p:nvPicPr>
          <p:cNvPr id="11272" name="Picture 8" descr="Route-processor">
            <a:extLst>
              <a:ext uri="{FF2B5EF4-FFF2-40B4-BE49-F238E27FC236}">
                <a16:creationId xmlns:a16="http://schemas.microsoft.com/office/drawing/2014/main" id="{6BA68944-49A9-4371-9D6A-9173DDE24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3540125"/>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9" descr="Route-processor">
            <a:extLst>
              <a:ext uri="{FF2B5EF4-FFF2-40B4-BE49-F238E27FC236}">
                <a16:creationId xmlns:a16="http://schemas.microsoft.com/office/drawing/2014/main" id="{9F11FA44-1C6D-4C17-9D36-4D003E104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1524000"/>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4" name="Picture 10" descr="Route-processor">
            <a:extLst>
              <a:ext uri="{FF2B5EF4-FFF2-40B4-BE49-F238E27FC236}">
                <a16:creationId xmlns:a16="http://schemas.microsoft.com/office/drawing/2014/main" id="{A002D821-B793-473D-90D3-D7D6FD02B2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597025"/>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5" name="Picture 11" descr="SEVER">
            <a:extLst>
              <a:ext uri="{FF2B5EF4-FFF2-40B4-BE49-F238E27FC236}">
                <a16:creationId xmlns:a16="http://schemas.microsoft.com/office/drawing/2014/main" id="{03CDFE12-9DC6-4F0A-B716-7CBB5FCA5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1308100"/>
            <a:ext cx="650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6" name="Picture 12" descr="PC">
            <a:extLst>
              <a:ext uri="{FF2B5EF4-FFF2-40B4-BE49-F238E27FC236}">
                <a16:creationId xmlns:a16="http://schemas.microsoft.com/office/drawing/2014/main" id="{AF2E2753-8242-4F5B-8718-71B7B49378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4621213"/>
            <a:ext cx="9366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69" name="Line 13">
            <a:extLst>
              <a:ext uri="{FF2B5EF4-FFF2-40B4-BE49-F238E27FC236}">
                <a16:creationId xmlns:a16="http://schemas.microsoft.com/office/drawing/2014/main" id="{49F67280-AE93-4BD7-9705-D6CA1383BC18}"/>
              </a:ext>
            </a:extLst>
          </p:cNvPr>
          <p:cNvSpPr>
            <a:spLocks noChangeShapeType="1"/>
          </p:cNvSpPr>
          <p:nvPr/>
        </p:nvSpPr>
        <p:spPr bwMode="auto">
          <a:xfrm flipV="1">
            <a:off x="5364163" y="4044950"/>
            <a:ext cx="0" cy="576263"/>
          </a:xfrm>
          <a:prstGeom prst="line">
            <a:avLst/>
          </a:prstGeom>
          <a:noFill/>
          <a:ln w="73025" cmpd="thickThin">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0" name="Line 14">
            <a:extLst>
              <a:ext uri="{FF2B5EF4-FFF2-40B4-BE49-F238E27FC236}">
                <a16:creationId xmlns:a16="http://schemas.microsoft.com/office/drawing/2014/main" id="{B508819D-B630-4F19-8D11-2E55187024A2}"/>
              </a:ext>
            </a:extLst>
          </p:cNvPr>
          <p:cNvSpPr>
            <a:spLocks noChangeShapeType="1"/>
          </p:cNvSpPr>
          <p:nvPr/>
        </p:nvSpPr>
        <p:spPr bwMode="auto">
          <a:xfrm flipV="1">
            <a:off x="5508625" y="2171700"/>
            <a:ext cx="0" cy="1152525"/>
          </a:xfrm>
          <a:prstGeom prst="line">
            <a:avLst/>
          </a:prstGeom>
          <a:noFill/>
          <a:ln w="73025" cmpd="thickThin">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1" name="Line 15">
            <a:extLst>
              <a:ext uri="{FF2B5EF4-FFF2-40B4-BE49-F238E27FC236}">
                <a16:creationId xmlns:a16="http://schemas.microsoft.com/office/drawing/2014/main" id="{C5DA10C2-3B57-4A75-80DB-6DF665FA4EC3}"/>
              </a:ext>
            </a:extLst>
          </p:cNvPr>
          <p:cNvSpPr>
            <a:spLocks noChangeShapeType="1"/>
          </p:cNvSpPr>
          <p:nvPr/>
        </p:nvSpPr>
        <p:spPr bwMode="auto">
          <a:xfrm flipV="1">
            <a:off x="5940425" y="1668463"/>
            <a:ext cx="1152525" cy="0"/>
          </a:xfrm>
          <a:prstGeom prst="line">
            <a:avLst/>
          </a:prstGeom>
          <a:noFill/>
          <a:ln w="73025" cmpd="thickThin">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2" name="Line 16">
            <a:extLst>
              <a:ext uri="{FF2B5EF4-FFF2-40B4-BE49-F238E27FC236}">
                <a16:creationId xmlns:a16="http://schemas.microsoft.com/office/drawing/2014/main" id="{E065862E-AC2A-4B28-9436-4DAEAB0FECAD}"/>
              </a:ext>
            </a:extLst>
          </p:cNvPr>
          <p:cNvSpPr>
            <a:spLocks noChangeShapeType="1"/>
          </p:cNvSpPr>
          <p:nvPr/>
        </p:nvSpPr>
        <p:spPr bwMode="auto">
          <a:xfrm flipV="1">
            <a:off x="4859338" y="4044950"/>
            <a:ext cx="0" cy="576263"/>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3" name="Line 17">
            <a:extLst>
              <a:ext uri="{FF2B5EF4-FFF2-40B4-BE49-F238E27FC236}">
                <a16:creationId xmlns:a16="http://schemas.microsoft.com/office/drawing/2014/main" id="{7F248F08-B005-4894-AE85-64E75FD5292A}"/>
              </a:ext>
            </a:extLst>
          </p:cNvPr>
          <p:cNvSpPr>
            <a:spLocks noChangeShapeType="1"/>
          </p:cNvSpPr>
          <p:nvPr/>
        </p:nvSpPr>
        <p:spPr bwMode="auto">
          <a:xfrm flipH="1" flipV="1">
            <a:off x="2411413" y="2316163"/>
            <a:ext cx="1800225" cy="1439862"/>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4" name="Line 18">
            <a:extLst>
              <a:ext uri="{FF2B5EF4-FFF2-40B4-BE49-F238E27FC236}">
                <a16:creationId xmlns:a16="http://schemas.microsoft.com/office/drawing/2014/main" id="{97BC8E8B-08DC-45A6-AE08-2AE86535CF12}"/>
              </a:ext>
            </a:extLst>
          </p:cNvPr>
          <p:cNvSpPr>
            <a:spLocks noChangeShapeType="1"/>
          </p:cNvSpPr>
          <p:nvPr/>
        </p:nvSpPr>
        <p:spPr bwMode="auto">
          <a:xfrm flipV="1">
            <a:off x="3203575" y="1597025"/>
            <a:ext cx="1512888" cy="0"/>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5" name="Line 19">
            <a:extLst>
              <a:ext uri="{FF2B5EF4-FFF2-40B4-BE49-F238E27FC236}">
                <a16:creationId xmlns:a16="http://schemas.microsoft.com/office/drawing/2014/main" id="{31CF9E27-00DB-4366-8BB5-C2E2C7E81EB8}"/>
              </a:ext>
            </a:extLst>
          </p:cNvPr>
          <p:cNvSpPr>
            <a:spLocks noChangeShapeType="1"/>
          </p:cNvSpPr>
          <p:nvPr/>
        </p:nvSpPr>
        <p:spPr bwMode="auto">
          <a:xfrm flipV="1">
            <a:off x="5867400" y="1524000"/>
            <a:ext cx="1225550" cy="0"/>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7476" name="AutoShape 20">
            <a:extLst>
              <a:ext uri="{FF2B5EF4-FFF2-40B4-BE49-F238E27FC236}">
                <a16:creationId xmlns:a16="http://schemas.microsoft.com/office/drawing/2014/main" id="{B01932F6-6E23-4EA7-9C61-8F5F65A22209}"/>
              </a:ext>
            </a:extLst>
          </p:cNvPr>
          <p:cNvSpPr>
            <a:spLocks noChangeArrowheads="1"/>
          </p:cNvSpPr>
          <p:nvPr/>
        </p:nvSpPr>
        <p:spPr bwMode="auto">
          <a:xfrm>
            <a:off x="4500563" y="2387600"/>
            <a:ext cx="1584325" cy="719138"/>
          </a:xfrm>
          <a:prstGeom prst="irregularSeal1">
            <a:avLst/>
          </a:prstGeom>
          <a:solidFill>
            <a:srgbClr val="FF0000">
              <a:alpha val="7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b="0">
                <a:solidFill>
                  <a:schemeClr val="bg1"/>
                </a:solidFill>
                <a:latin typeface="Arial" panose="020B0604020202020204" pitchFamily="34" charset="0"/>
              </a:rPr>
              <a:t>故障</a:t>
            </a:r>
          </a:p>
        </p:txBody>
      </p:sp>
      <p:sp>
        <p:nvSpPr>
          <p:cNvPr id="147477" name="Text Box 21">
            <a:extLst>
              <a:ext uri="{FF2B5EF4-FFF2-40B4-BE49-F238E27FC236}">
                <a16:creationId xmlns:a16="http://schemas.microsoft.com/office/drawing/2014/main" id="{B407F1D5-73A7-4DCF-965D-1BDEBB1B29CC}"/>
              </a:ext>
            </a:extLst>
          </p:cNvPr>
          <p:cNvSpPr txBox="1">
            <a:spLocks noChangeArrowheads="1"/>
          </p:cNvSpPr>
          <p:nvPr/>
        </p:nvSpPr>
        <p:spPr bwMode="auto">
          <a:xfrm>
            <a:off x="1547813" y="5621338"/>
            <a:ext cx="6408563" cy="461962"/>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sz="2400" b="1" dirty="0">
                <a:solidFill>
                  <a:srgbClr val="333399"/>
                </a:solidFill>
                <a:effectLst>
                  <a:outerShdw blurRad="38100" dist="38100" dir="2700000" algn="tl">
                    <a:srgbClr val="C0C0C0"/>
                  </a:outerShdw>
                </a:effectLst>
                <a:latin typeface="华文细黑" pitchFamily="2" charset="-122"/>
                <a:ea typeface="华文细黑" pitchFamily="2" charset="-122"/>
              </a:rPr>
              <a:t>在网络中提供冗余链路解决单点故障问题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147469"/>
                                        </p:tgtEl>
                                        <p:attrNameLst>
                                          <p:attrName>style.visibility</p:attrName>
                                        </p:attrNameLst>
                                      </p:cBhvr>
                                      <p:to>
                                        <p:strVal val="visible"/>
                                      </p:to>
                                    </p:set>
                                    <p:animEffect transition="in" filter="slide(fromBottom)">
                                      <p:cBhvr>
                                        <p:cTn id="7" dur="500"/>
                                        <p:tgtEl>
                                          <p:spTgt spid="147469"/>
                                        </p:tgtEl>
                                      </p:cBhvr>
                                    </p:animEffect>
                                  </p:childTnLst>
                                </p:cTn>
                              </p:par>
                            </p:childTnLst>
                          </p:cTn>
                        </p:par>
                        <p:par>
                          <p:cTn id="8" fill="hold" nodeType="afterGroup">
                            <p:stCondLst>
                              <p:cond delay="500"/>
                            </p:stCondLst>
                            <p:childTnLst>
                              <p:par>
                                <p:cTn id="9" presetID="12" presetClass="entr" presetSubtype="4" fill="hold" nodeType="afterEffect">
                                  <p:stCondLst>
                                    <p:cond delay="0"/>
                                  </p:stCondLst>
                                  <p:childTnLst>
                                    <p:set>
                                      <p:cBhvr>
                                        <p:cTn id="10" dur="1" fill="hold">
                                          <p:stCondLst>
                                            <p:cond delay="0"/>
                                          </p:stCondLst>
                                        </p:cTn>
                                        <p:tgtEl>
                                          <p:spTgt spid="147470"/>
                                        </p:tgtEl>
                                        <p:attrNameLst>
                                          <p:attrName>style.visibility</p:attrName>
                                        </p:attrNameLst>
                                      </p:cBhvr>
                                      <p:to>
                                        <p:strVal val="visible"/>
                                      </p:to>
                                    </p:set>
                                    <p:animEffect transition="in" filter="slide(fromBottom)">
                                      <p:cBhvr>
                                        <p:cTn id="11" dur="500"/>
                                        <p:tgtEl>
                                          <p:spTgt spid="147470"/>
                                        </p:tgtEl>
                                      </p:cBhvr>
                                    </p:animEffect>
                                  </p:childTnLst>
                                </p:cTn>
                              </p:par>
                            </p:childTnLst>
                          </p:cTn>
                        </p:par>
                        <p:par>
                          <p:cTn id="12" fill="hold" nodeType="afterGroup">
                            <p:stCondLst>
                              <p:cond delay="1000"/>
                            </p:stCondLst>
                            <p:childTnLst>
                              <p:par>
                                <p:cTn id="13" presetID="12" presetClass="entr" presetSubtype="8" fill="hold" nodeType="afterEffect">
                                  <p:stCondLst>
                                    <p:cond delay="0"/>
                                  </p:stCondLst>
                                  <p:childTnLst>
                                    <p:set>
                                      <p:cBhvr>
                                        <p:cTn id="14" dur="1" fill="hold">
                                          <p:stCondLst>
                                            <p:cond delay="0"/>
                                          </p:stCondLst>
                                        </p:cTn>
                                        <p:tgtEl>
                                          <p:spTgt spid="147471"/>
                                        </p:tgtEl>
                                        <p:attrNameLst>
                                          <p:attrName>style.visibility</p:attrName>
                                        </p:attrNameLst>
                                      </p:cBhvr>
                                      <p:to>
                                        <p:strVal val="visible"/>
                                      </p:to>
                                    </p:set>
                                    <p:animEffect transition="in" filter="slide(fromLeft)">
                                      <p:cBhvr>
                                        <p:cTn id="15" dur="500"/>
                                        <p:tgtEl>
                                          <p:spTgt spid="14747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2" presetClass="entr" presetSubtype="4" fill="hold" nodeType="clickEffect">
                                  <p:stCondLst>
                                    <p:cond delay="0"/>
                                  </p:stCondLst>
                                  <p:childTnLst>
                                    <p:set>
                                      <p:cBhvr>
                                        <p:cTn id="19" dur="1" fill="hold">
                                          <p:stCondLst>
                                            <p:cond delay="0"/>
                                          </p:stCondLst>
                                        </p:cTn>
                                        <p:tgtEl>
                                          <p:spTgt spid="147472"/>
                                        </p:tgtEl>
                                        <p:attrNameLst>
                                          <p:attrName>style.visibility</p:attrName>
                                        </p:attrNameLst>
                                      </p:cBhvr>
                                      <p:to>
                                        <p:strVal val="visible"/>
                                      </p:to>
                                    </p:set>
                                    <p:animEffect transition="in" filter="slide(fromBottom)">
                                      <p:cBhvr>
                                        <p:cTn id="20" dur="500"/>
                                        <p:tgtEl>
                                          <p:spTgt spid="147472"/>
                                        </p:tgtEl>
                                      </p:cBhvr>
                                    </p:animEffect>
                                  </p:childTnLst>
                                </p:cTn>
                              </p:par>
                            </p:childTnLst>
                          </p:cTn>
                        </p:par>
                        <p:par>
                          <p:cTn id="21" fill="hold" nodeType="afterGroup">
                            <p:stCondLst>
                              <p:cond delay="500"/>
                            </p:stCondLst>
                            <p:childTnLst>
                              <p:par>
                                <p:cTn id="22" presetID="22" presetClass="entr" presetSubtype="4" fill="hold" nodeType="afterEffect">
                                  <p:stCondLst>
                                    <p:cond delay="0"/>
                                  </p:stCondLst>
                                  <p:childTnLst>
                                    <p:set>
                                      <p:cBhvr>
                                        <p:cTn id="23" dur="1" fill="hold">
                                          <p:stCondLst>
                                            <p:cond delay="0"/>
                                          </p:stCondLst>
                                        </p:cTn>
                                        <p:tgtEl>
                                          <p:spTgt spid="147473"/>
                                        </p:tgtEl>
                                        <p:attrNameLst>
                                          <p:attrName>style.visibility</p:attrName>
                                        </p:attrNameLst>
                                      </p:cBhvr>
                                      <p:to>
                                        <p:strVal val="visible"/>
                                      </p:to>
                                    </p:set>
                                    <p:animEffect transition="in" filter="wipe(down)">
                                      <p:cBhvr>
                                        <p:cTn id="24" dur="500"/>
                                        <p:tgtEl>
                                          <p:spTgt spid="147473"/>
                                        </p:tgtEl>
                                      </p:cBhvr>
                                    </p:animEffect>
                                  </p:childTnLst>
                                </p:cTn>
                              </p:par>
                            </p:childTnLst>
                          </p:cTn>
                        </p:par>
                        <p:par>
                          <p:cTn id="25" fill="hold" nodeType="afterGroup">
                            <p:stCondLst>
                              <p:cond delay="1000"/>
                            </p:stCondLst>
                            <p:childTnLst>
                              <p:par>
                                <p:cTn id="26" presetID="12" presetClass="entr" presetSubtype="8" fill="hold" nodeType="afterEffect">
                                  <p:stCondLst>
                                    <p:cond delay="0"/>
                                  </p:stCondLst>
                                  <p:childTnLst>
                                    <p:set>
                                      <p:cBhvr>
                                        <p:cTn id="27" dur="1" fill="hold">
                                          <p:stCondLst>
                                            <p:cond delay="0"/>
                                          </p:stCondLst>
                                        </p:cTn>
                                        <p:tgtEl>
                                          <p:spTgt spid="147474"/>
                                        </p:tgtEl>
                                        <p:attrNameLst>
                                          <p:attrName>style.visibility</p:attrName>
                                        </p:attrNameLst>
                                      </p:cBhvr>
                                      <p:to>
                                        <p:strVal val="visible"/>
                                      </p:to>
                                    </p:set>
                                    <p:animEffect transition="in" filter="slide(fromLeft)">
                                      <p:cBhvr>
                                        <p:cTn id="28" dur="500"/>
                                        <p:tgtEl>
                                          <p:spTgt spid="147474"/>
                                        </p:tgtEl>
                                      </p:cBhvr>
                                    </p:animEffect>
                                  </p:childTnLst>
                                </p:cTn>
                              </p:par>
                            </p:childTnLst>
                          </p:cTn>
                        </p:par>
                        <p:par>
                          <p:cTn id="29" fill="hold" nodeType="afterGroup">
                            <p:stCondLst>
                              <p:cond delay="1500"/>
                            </p:stCondLst>
                            <p:childTnLst>
                              <p:par>
                                <p:cTn id="30" presetID="12" presetClass="entr" presetSubtype="8" fill="hold" nodeType="afterEffect">
                                  <p:stCondLst>
                                    <p:cond delay="0"/>
                                  </p:stCondLst>
                                  <p:childTnLst>
                                    <p:set>
                                      <p:cBhvr>
                                        <p:cTn id="31" dur="1" fill="hold">
                                          <p:stCondLst>
                                            <p:cond delay="0"/>
                                          </p:stCondLst>
                                        </p:cTn>
                                        <p:tgtEl>
                                          <p:spTgt spid="147475"/>
                                        </p:tgtEl>
                                        <p:attrNameLst>
                                          <p:attrName>style.visibility</p:attrName>
                                        </p:attrNameLst>
                                      </p:cBhvr>
                                      <p:to>
                                        <p:strVal val="visible"/>
                                      </p:to>
                                    </p:set>
                                    <p:animEffect transition="in" filter="slide(fromLeft)">
                                      <p:cBhvr>
                                        <p:cTn id="32" dur="500"/>
                                        <p:tgtEl>
                                          <p:spTgt spid="14747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7476"/>
                                        </p:tgtEl>
                                        <p:attrNameLst>
                                          <p:attrName>style.visibility</p:attrName>
                                        </p:attrNameLst>
                                      </p:cBhvr>
                                      <p:to>
                                        <p:strVal val="visible"/>
                                      </p:to>
                                    </p:set>
                                    <p:animEffect transition="in" filter="fade">
                                      <p:cBhvr>
                                        <p:cTn id="37" dur="2000"/>
                                        <p:tgtEl>
                                          <p:spTgt spid="1474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6" presetClass="emph" presetSubtype="0" fill="hold" nodeType="clickEffect">
                                  <p:stCondLst>
                                    <p:cond delay="0"/>
                                  </p:stCondLst>
                                  <p:childTnLst>
                                    <p:animEffect transition="out" filter="fade">
                                      <p:cBhvr>
                                        <p:cTn id="41" dur="500" tmFilter="0, 0; .2, .5; .8, .5; 1, 0"/>
                                        <p:tgtEl>
                                          <p:spTgt spid="147473"/>
                                        </p:tgtEl>
                                      </p:cBhvr>
                                    </p:animEffect>
                                    <p:animScale>
                                      <p:cBhvr>
                                        <p:cTn id="42" dur="250" autoRev="1" fill="hold"/>
                                        <p:tgtEl>
                                          <p:spTgt spid="147473"/>
                                        </p:tgtEl>
                                      </p:cBhvr>
                                      <p:by x="105000" y="105000"/>
                                    </p:animScale>
                                  </p:childTnLst>
                                </p:cTn>
                              </p:par>
                              <p:par>
                                <p:cTn id="43" presetID="26" presetClass="emph" presetSubtype="0" fill="hold" nodeType="withEffect">
                                  <p:stCondLst>
                                    <p:cond delay="0"/>
                                  </p:stCondLst>
                                  <p:childTnLst>
                                    <p:animEffect transition="out" filter="fade">
                                      <p:cBhvr>
                                        <p:cTn id="44" dur="500" tmFilter="0, 0; .2, .5; .8, .5; 1, 0"/>
                                        <p:tgtEl>
                                          <p:spTgt spid="147472"/>
                                        </p:tgtEl>
                                      </p:cBhvr>
                                    </p:animEffect>
                                    <p:animScale>
                                      <p:cBhvr>
                                        <p:cTn id="45" dur="250" autoRev="1" fill="hold"/>
                                        <p:tgtEl>
                                          <p:spTgt spid="147472"/>
                                        </p:tgtEl>
                                      </p:cBhvr>
                                      <p:by x="105000" y="105000"/>
                                    </p:animScale>
                                  </p:childTnLst>
                                </p:cTn>
                              </p:par>
                              <p:par>
                                <p:cTn id="46" presetID="26" presetClass="emph" presetSubtype="0" fill="hold" nodeType="withEffect">
                                  <p:stCondLst>
                                    <p:cond delay="0"/>
                                  </p:stCondLst>
                                  <p:childTnLst>
                                    <p:animEffect transition="out" filter="fade">
                                      <p:cBhvr>
                                        <p:cTn id="47" dur="500" tmFilter="0, 0; .2, .5; .8, .5; 1, 0"/>
                                        <p:tgtEl>
                                          <p:spTgt spid="147474"/>
                                        </p:tgtEl>
                                      </p:cBhvr>
                                    </p:animEffect>
                                    <p:animScale>
                                      <p:cBhvr>
                                        <p:cTn id="48" dur="250" autoRev="1" fill="hold"/>
                                        <p:tgtEl>
                                          <p:spTgt spid="147474"/>
                                        </p:tgtEl>
                                      </p:cBhvr>
                                      <p:by x="105000" y="105000"/>
                                    </p:animScale>
                                  </p:childTnLst>
                                </p:cTn>
                              </p:par>
                              <p:par>
                                <p:cTn id="49" presetID="26" presetClass="emph" presetSubtype="0" fill="hold" nodeType="withEffect">
                                  <p:stCondLst>
                                    <p:cond delay="0"/>
                                  </p:stCondLst>
                                  <p:childTnLst>
                                    <p:animEffect transition="out" filter="fade">
                                      <p:cBhvr>
                                        <p:cTn id="50" dur="500" tmFilter="0, 0; .2, .5; .8, .5; 1, 0"/>
                                        <p:tgtEl>
                                          <p:spTgt spid="147475"/>
                                        </p:tgtEl>
                                      </p:cBhvr>
                                    </p:animEffect>
                                    <p:animScale>
                                      <p:cBhvr>
                                        <p:cTn id="51" dur="250" autoRev="1" fill="hold"/>
                                        <p:tgtEl>
                                          <p:spTgt spid="14747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7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53EBF95-DA9E-4519-98B0-88D593D6AE06}"/>
              </a:ext>
            </a:extLst>
          </p:cNvPr>
          <p:cNvSpPr>
            <a:spLocks noGrp="1" noChangeArrowheads="1"/>
          </p:cNvSpPr>
          <p:nvPr>
            <p:ph type="title"/>
          </p:nvPr>
        </p:nvSpPr>
        <p:spPr/>
        <p:txBody>
          <a:bodyPr/>
          <a:lstStyle/>
          <a:p>
            <a:r>
              <a:rPr lang="zh-CN" altLang="en-US"/>
              <a:t>冗余链路出现的问题</a:t>
            </a:r>
            <a:r>
              <a:rPr lang="en-US" altLang="zh-CN"/>
              <a:t>—</a:t>
            </a:r>
            <a:r>
              <a:rPr lang="zh-CN" altLang="en-US"/>
              <a:t>环路</a:t>
            </a:r>
          </a:p>
        </p:txBody>
      </p:sp>
      <p:sp>
        <p:nvSpPr>
          <p:cNvPr id="148508" name="Text Box 28">
            <a:extLst>
              <a:ext uri="{FF2B5EF4-FFF2-40B4-BE49-F238E27FC236}">
                <a16:creationId xmlns:a16="http://schemas.microsoft.com/office/drawing/2014/main" id="{1F7FABE8-5DF4-40A6-AB47-33FE6BE1BCE9}"/>
              </a:ext>
            </a:extLst>
          </p:cNvPr>
          <p:cNvSpPr txBox="1">
            <a:spLocks noChangeArrowheads="1"/>
          </p:cNvSpPr>
          <p:nvPr/>
        </p:nvSpPr>
        <p:spPr bwMode="auto">
          <a:xfrm>
            <a:off x="755576" y="5380038"/>
            <a:ext cx="7705799" cy="708025"/>
          </a:xfrm>
          <a:prstGeom prst="rect">
            <a:avLst/>
          </a:prstGeom>
          <a:noFill/>
          <a:ln w="9525">
            <a:noFill/>
            <a:miter lim="800000"/>
            <a:headEnd/>
            <a:tailEnd/>
          </a:ln>
          <a:effectLst/>
        </p:spPr>
        <p:txBody>
          <a:bodyPr wrap="square">
            <a:spAutoFit/>
          </a:bodyPr>
          <a:lstStyle/>
          <a:p>
            <a:pPr eaLnBrk="1" hangingPunct="1">
              <a:spcBef>
                <a:spcPct val="50000"/>
              </a:spcBef>
              <a:defRPr/>
            </a:pPr>
            <a:r>
              <a:rPr lang="zh-CN" altLang="en-US" sz="2000" b="1" dirty="0">
                <a:effectLst>
                  <a:outerShdw blurRad="38100" dist="38100" dir="2700000" algn="tl">
                    <a:srgbClr val="C0C0C0"/>
                  </a:outerShdw>
                </a:effectLst>
                <a:latin typeface="华文细黑" pitchFamily="2" charset="-122"/>
                <a:ea typeface="华文细黑" pitchFamily="2" charset="-122"/>
              </a:rPr>
              <a:t>    冗余链路会造成网络环路</a:t>
            </a:r>
            <a:r>
              <a:rPr lang="en-US" altLang="zh-CN" sz="2000" b="1" dirty="0">
                <a:effectLst>
                  <a:outerShdw blurRad="38100" dist="38100" dir="2700000" algn="tl">
                    <a:srgbClr val="C0C0C0"/>
                  </a:outerShdw>
                </a:effectLst>
                <a:latin typeface="华文细黑" pitchFamily="2" charset="-122"/>
                <a:ea typeface="华文细黑" pitchFamily="2" charset="-122"/>
              </a:rPr>
              <a:t>,</a:t>
            </a:r>
            <a:r>
              <a:rPr lang="zh-CN" altLang="en-US" sz="2000" b="1" dirty="0">
                <a:effectLst>
                  <a:outerShdw blurRad="38100" dist="38100" dir="2700000" algn="tl">
                    <a:srgbClr val="C0C0C0"/>
                  </a:outerShdw>
                </a:effectLst>
                <a:latin typeface="华文细黑" pitchFamily="2" charset="-122"/>
                <a:ea typeface="华文细黑" pitchFamily="2" charset="-122"/>
              </a:rPr>
              <a:t>当交换网络中出现环路会产生广播风暴、多帧复制和</a:t>
            </a:r>
            <a:r>
              <a:rPr lang="en-US" altLang="zh-CN" sz="2000" b="1" dirty="0">
                <a:effectLst>
                  <a:outerShdw blurRad="38100" dist="38100" dir="2700000" algn="tl">
                    <a:srgbClr val="C0C0C0"/>
                  </a:outerShdw>
                </a:effectLst>
                <a:latin typeface="华文细黑" pitchFamily="2" charset="-122"/>
                <a:ea typeface="华文细黑" pitchFamily="2" charset="-122"/>
              </a:rPr>
              <a:t>MAC</a:t>
            </a:r>
            <a:r>
              <a:rPr lang="zh-CN" altLang="en-US" sz="2000" b="1" dirty="0">
                <a:effectLst>
                  <a:outerShdw blurRad="38100" dist="38100" dir="2700000" algn="tl">
                    <a:srgbClr val="C0C0C0"/>
                  </a:outerShdw>
                </a:effectLst>
                <a:latin typeface="华文细黑" pitchFamily="2" charset="-122"/>
                <a:ea typeface="华文细黑" pitchFamily="2" charset="-122"/>
              </a:rPr>
              <a:t>地址表不稳定等现象。严重影响网络正常运行。</a:t>
            </a:r>
          </a:p>
        </p:txBody>
      </p:sp>
      <p:sp>
        <p:nvSpPr>
          <p:cNvPr id="12292" name="Line 30">
            <a:extLst>
              <a:ext uri="{FF2B5EF4-FFF2-40B4-BE49-F238E27FC236}">
                <a16:creationId xmlns:a16="http://schemas.microsoft.com/office/drawing/2014/main" id="{3FFAEB3E-5A83-4C15-9E56-C72F251BE253}"/>
              </a:ext>
            </a:extLst>
          </p:cNvPr>
          <p:cNvSpPr>
            <a:spLocks noChangeShapeType="1"/>
          </p:cNvSpPr>
          <p:nvPr/>
        </p:nvSpPr>
        <p:spPr bwMode="auto">
          <a:xfrm flipH="1">
            <a:off x="5795963" y="1630363"/>
            <a:ext cx="1368425"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293" name="Line 31">
            <a:extLst>
              <a:ext uri="{FF2B5EF4-FFF2-40B4-BE49-F238E27FC236}">
                <a16:creationId xmlns:a16="http://schemas.microsoft.com/office/drawing/2014/main" id="{D1B22ECF-A1DD-4316-9827-B79455C22B1D}"/>
              </a:ext>
            </a:extLst>
          </p:cNvPr>
          <p:cNvSpPr>
            <a:spLocks noChangeShapeType="1"/>
          </p:cNvSpPr>
          <p:nvPr/>
        </p:nvSpPr>
        <p:spPr bwMode="auto">
          <a:xfrm flipH="1" flipV="1">
            <a:off x="2771775" y="1630363"/>
            <a:ext cx="2160588"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294" name="Line 32">
            <a:extLst>
              <a:ext uri="{FF2B5EF4-FFF2-40B4-BE49-F238E27FC236}">
                <a16:creationId xmlns:a16="http://schemas.microsoft.com/office/drawing/2014/main" id="{24B5B79B-AAAB-4692-B68A-93216422ADCB}"/>
              </a:ext>
            </a:extLst>
          </p:cNvPr>
          <p:cNvSpPr>
            <a:spLocks noChangeShapeType="1"/>
          </p:cNvSpPr>
          <p:nvPr/>
        </p:nvSpPr>
        <p:spPr bwMode="auto">
          <a:xfrm flipH="1" flipV="1">
            <a:off x="2195513" y="1733550"/>
            <a:ext cx="2592387" cy="1944688"/>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295" name="Line 33">
            <a:extLst>
              <a:ext uri="{FF2B5EF4-FFF2-40B4-BE49-F238E27FC236}">
                <a16:creationId xmlns:a16="http://schemas.microsoft.com/office/drawing/2014/main" id="{FCC8F78B-D094-4BEA-94B5-E02428B2B963}"/>
              </a:ext>
            </a:extLst>
          </p:cNvPr>
          <p:cNvSpPr>
            <a:spLocks noChangeShapeType="1"/>
          </p:cNvSpPr>
          <p:nvPr/>
        </p:nvSpPr>
        <p:spPr bwMode="auto">
          <a:xfrm flipV="1">
            <a:off x="5292725" y="1701800"/>
            <a:ext cx="0" cy="1976438"/>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296" name="Line 34">
            <a:extLst>
              <a:ext uri="{FF2B5EF4-FFF2-40B4-BE49-F238E27FC236}">
                <a16:creationId xmlns:a16="http://schemas.microsoft.com/office/drawing/2014/main" id="{2CECB7D5-8549-4103-9D93-40D73A6A9DC5}"/>
              </a:ext>
            </a:extLst>
          </p:cNvPr>
          <p:cNvSpPr>
            <a:spLocks noChangeShapeType="1"/>
          </p:cNvSpPr>
          <p:nvPr/>
        </p:nvSpPr>
        <p:spPr bwMode="auto">
          <a:xfrm flipV="1">
            <a:off x="5148263" y="3646488"/>
            <a:ext cx="0" cy="935037"/>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2297" name="Picture 35" descr="Route-processor">
            <a:extLst>
              <a:ext uri="{FF2B5EF4-FFF2-40B4-BE49-F238E27FC236}">
                <a16:creationId xmlns:a16="http://schemas.microsoft.com/office/drawing/2014/main" id="{612D8193-44A9-4AF9-A396-5C68676D6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8" y="3598863"/>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36" descr="Route-processor">
            <a:extLst>
              <a:ext uri="{FF2B5EF4-FFF2-40B4-BE49-F238E27FC236}">
                <a16:creationId xmlns:a16="http://schemas.microsoft.com/office/drawing/2014/main" id="{3AE28557-5EAE-45F6-8DF5-02EFF34B0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1341438"/>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37" descr="Route-processor">
            <a:extLst>
              <a:ext uri="{FF2B5EF4-FFF2-40B4-BE49-F238E27FC236}">
                <a16:creationId xmlns:a16="http://schemas.microsoft.com/office/drawing/2014/main" id="{F955140A-914D-45F4-A4CA-6C881B09DA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1414463"/>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Picture 38" descr="SEVER">
            <a:extLst>
              <a:ext uri="{FF2B5EF4-FFF2-40B4-BE49-F238E27FC236}">
                <a16:creationId xmlns:a16="http://schemas.microsoft.com/office/drawing/2014/main" id="{D979060E-9BB8-4FF4-B0A7-5166D847A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1125538"/>
            <a:ext cx="650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1" name="Picture 39" descr="PC">
            <a:extLst>
              <a:ext uri="{FF2B5EF4-FFF2-40B4-BE49-F238E27FC236}">
                <a16:creationId xmlns:a16="http://schemas.microsoft.com/office/drawing/2014/main" id="{9C78789E-9BD3-49B8-8A02-8D4D69F8A2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4438650"/>
            <a:ext cx="93662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520" name="Line 40">
            <a:extLst>
              <a:ext uri="{FF2B5EF4-FFF2-40B4-BE49-F238E27FC236}">
                <a16:creationId xmlns:a16="http://schemas.microsoft.com/office/drawing/2014/main" id="{9ACF7F0B-03FC-4576-8524-AA425A35DF11}"/>
              </a:ext>
            </a:extLst>
          </p:cNvPr>
          <p:cNvSpPr>
            <a:spLocks noChangeShapeType="1"/>
          </p:cNvSpPr>
          <p:nvPr/>
        </p:nvSpPr>
        <p:spPr bwMode="auto">
          <a:xfrm flipV="1">
            <a:off x="5292725" y="3967163"/>
            <a:ext cx="0" cy="504825"/>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3" name="AutoShape 41">
            <a:extLst>
              <a:ext uri="{FF2B5EF4-FFF2-40B4-BE49-F238E27FC236}">
                <a16:creationId xmlns:a16="http://schemas.microsoft.com/office/drawing/2014/main" id="{C187AD5C-CFCE-4ABB-B8D8-32DE65B7BCF6}"/>
              </a:ext>
            </a:extLst>
          </p:cNvPr>
          <p:cNvSpPr>
            <a:spLocks noChangeArrowheads="1"/>
          </p:cNvSpPr>
          <p:nvPr/>
        </p:nvSpPr>
        <p:spPr bwMode="auto">
          <a:xfrm>
            <a:off x="5435600" y="4110038"/>
            <a:ext cx="1655763" cy="360362"/>
          </a:xfrm>
          <a:prstGeom prst="flowChartProcess">
            <a:avLst/>
          </a:prstGeom>
          <a:solidFill>
            <a:srgbClr val="8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1800">
                <a:solidFill>
                  <a:schemeClr val="bg1"/>
                </a:solidFill>
                <a:latin typeface="Arial" panose="020B0604020202020204" pitchFamily="34" charset="0"/>
                <a:ea typeface="华文细黑" panose="02010600040101010101" pitchFamily="2" charset="-122"/>
              </a:rPr>
              <a:t>发送一个广播帧</a:t>
            </a:r>
          </a:p>
        </p:txBody>
      </p:sp>
      <p:sp>
        <p:nvSpPr>
          <p:cNvPr id="148522" name="Line 42">
            <a:extLst>
              <a:ext uri="{FF2B5EF4-FFF2-40B4-BE49-F238E27FC236}">
                <a16:creationId xmlns:a16="http://schemas.microsoft.com/office/drawing/2014/main" id="{3FE5A328-FC7C-484B-A5AC-9159DEDF1D83}"/>
              </a:ext>
            </a:extLst>
          </p:cNvPr>
          <p:cNvSpPr>
            <a:spLocks noChangeShapeType="1"/>
          </p:cNvSpPr>
          <p:nvPr/>
        </p:nvSpPr>
        <p:spPr bwMode="auto">
          <a:xfrm flipV="1">
            <a:off x="5148263" y="1878013"/>
            <a:ext cx="0" cy="1584325"/>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3" name="Line 43">
            <a:extLst>
              <a:ext uri="{FF2B5EF4-FFF2-40B4-BE49-F238E27FC236}">
                <a16:creationId xmlns:a16="http://schemas.microsoft.com/office/drawing/2014/main" id="{F8597A31-2BC7-4D68-8CF5-86435B37F67D}"/>
              </a:ext>
            </a:extLst>
          </p:cNvPr>
          <p:cNvSpPr>
            <a:spLocks noChangeShapeType="1"/>
          </p:cNvSpPr>
          <p:nvPr/>
        </p:nvSpPr>
        <p:spPr bwMode="auto">
          <a:xfrm flipH="1" flipV="1">
            <a:off x="2916238" y="1806575"/>
            <a:ext cx="1871662" cy="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4" name="Line 44">
            <a:extLst>
              <a:ext uri="{FF2B5EF4-FFF2-40B4-BE49-F238E27FC236}">
                <a16:creationId xmlns:a16="http://schemas.microsoft.com/office/drawing/2014/main" id="{4A55D825-C7E4-432A-9A74-6C15513FFC61}"/>
              </a:ext>
            </a:extLst>
          </p:cNvPr>
          <p:cNvSpPr>
            <a:spLocks noChangeShapeType="1"/>
          </p:cNvSpPr>
          <p:nvPr/>
        </p:nvSpPr>
        <p:spPr bwMode="auto">
          <a:xfrm>
            <a:off x="2916238" y="2022475"/>
            <a:ext cx="2016125" cy="1439863"/>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5" name="Line 45">
            <a:extLst>
              <a:ext uri="{FF2B5EF4-FFF2-40B4-BE49-F238E27FC236}">
                <a16:creationId xmlns:a16="http://schemas.microsoft.com/office/drawing/2014/main" id="{0406CA4A-305C-49A4-AF55-EDDE2C9B208C}"/>
              </a:ext>
            </a:extLst>
          </p:cNvPr>
          <p:cNvSpPr>
            <a:spLocks noChangeShapeType="1"/>
          </p:cNvSpPr>
          <p:nvPr/>
        </p:nvSpPr>
        <p:spPr bwMode="auto">
          <a:xfrm flipV="1">
            <a:off x="5003800" y="2022475"/>
            <a:ext cx="0" cy="1223963"/>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6" name="Line 46">
            <a:extLst>
              <a:ext uri="{FF2B5EF4-FFF2-40B4-BE49-F238E27FC236}">
                <a16:creationId xmlns:a16="http://schemas.microsoft.com/office/drawing/2014/main" id="{829A77A5-7FA2-4994-87AA-163F08951817}"/>
              </a:ext>
            </a:extLst>
          </p:cNvPr>
          <p:cNvSpPr>
            <a:spLocks noChangeShapeType="1"/>
          </p:cNvSpPr>
          <p:nvPr/>
        </p:nvSpPr>
        <p:spPr bwMode="auto">
          <a:xfrm flipH="1" flipV="1">
            <a:off x="3203575" y="1951038"/>
            <a:ext cx="1584325" cy="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7" name="Line 47">
            <a:extLst>
              <a:ext uri="{FF2B5EF4-FFF2-40B4-BE49-F238E27FC236}">
                <a16:creationId xmlns:a16="http://schemas.microsoft.com/office/drawing/2014/main" id="{26408803-C5FB-49B4-A7A8-B5498D54D1B1}"/>
              </a:ext>
            </a:extLst>
          </p:cNvPr>
          <p:cNvSpPr>
            <a:spLocks noChangeShapeType="1"/>
          </p:cNvSpPr>
          <p:nvPr/>
        </p:nvSpPr>
        <p:spPr bwMode="auto">
          <a:xfrm>
            <a:off x="3201988" y="2062163"/>
            <a:ext cx="1657350" cy="1184275"/>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8" name="Line 48">
            <a:extLst>
              <a:ext uri="{FF2B5EF4-FFF2-40B4-BE49-F238E27FC236}">
                <a16:creationId xmlns:a16="http://schemas.microsoft.com/office/drawing/2014/main" id="{6A80CD88-F42E-4EFE-BBC3-630CD29C2B4B}"/>
              </a:ext>
            </a:extLst>
          </p:cNvPr>
          <p:cNvSpPr>
            <a:spLocks noChangeShapeType="1"/>
          </p:cNvSpPr>
          <p:nvPr/>
        </p:nvSpPr>
        <p:spPr bwMode="auto">
          <a:xfrm flipV="1">
            <a:off x="4859338" y="2093913"/>
            <a:ext cx="0" cy="936625"/>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29" name="Line 49">
            <a:extLst>
              <a:ext uri="{FF2B5EF4-FFF2-40B4-BE49-F238E27FC236}">
                <a16:creationId xmlns:a16="http://schemas.microsoft.com/office/drawing/2014/main" id="{1567E99F-1EAB-4488-B8DD-DC66E768137F}"/>
              </a:ext>
            </a:extLst>
          </p:cNvPr>
          <p:cNvSpPr>
            <a:spLocks noChangeShapeType="1"/>
          </p:cNvSpPr>
          <p:nvPr/>
        </p:nvSpPr>
        <p:spPr bwMode="auto">
          <a:xfrm flipH="1" flipV="1">
            <a:off x="3563938" y="2093913"/>
            <a:ext cx="1152525" cy="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30" name="Line 50">
            <a:extLst>
              <a:ext uri="{FF2B5EF4-FFF2-40B4-BE49-F238E27FC236}">
                <a16:creationId xmlns:a16="http://schemas.microsoft.com/office/drawing/2014/main" id="{490E62AA-F424-4437-9173-84C1C9424B45}"/>
              </a:ext>
            </a:extLst>
          </p:cNvPr>
          <p:cNvSpPr>
            <a:spLocks noChangeShapeType="1"/>
          </p:cNvSpPr>
          <p:nvPr/>
        </p:nvSpPr>
        <p:spPr bwMode="auto">
          <a:xfrm>
            <a:off x="3635375" y="2206625"/>
            <a:ext cx="1152525" cy="823913"/>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31" name="Line 51">
            <a:extLst>
              <a:ext uri="{FF2B5EF4-FFF2-40B4-BE49-F238E27FC236}">
                <a16:creationId xmlns:a16="http://schemas.microsoft.com/office/drawing/2014/main" id="{85F9C0F8-84C2-41E0-AA5D-D8996A73A0DB}"/>
              </a:ext>
            </a:extLst>
          </p:cNvPr>
          <p:cNvSpPr>
            <a:spLocks noChangeShapeType="1"/>
          </p:cNvSpPr>
          <p:nvPr/>
        </p:nvSpPr>
        <p:spPr bwMode="auto">
          <a:xfrm flipV="1">
            <a:off x="4716463" y="2166938"/>
            <a:ext cx="0" cy="64770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32" name="Line 52">
            <a:extLst>
              <a:ext uri="{FF2B5EF4-FFF2-40B4-BE49-F238E27FC236}">
                <a16:creationId xmlns:a16="http://schemas.microsoft.com/office/drawing/2014/main" id="{7B49DF85-9739-4BE2-8DE3-1CBD0FDEC11F}"/>
              </a:ext>
            </a:extLst>
          </p:cNvPr>
          <p:cNvSpPr>
            <a:spLocks noChangeShapeType="1"/>
          </p:cNvSpPr>
          <p:nvPr/>
        </p:nvSpPr>
        <p:spPr bwMode="auto">
          <a:xfrm flipH="1" flipV="1">
            <a:off x="3851275" y="2238375"/>
            <a:ext cx="792163" cy="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33" name="Line 53">
            <a:extLst>
              <a:ext uri="{FF2B5EF4-FFF2-40B4-BE49-F238E27FC236}">
                <a16:creationId xmlns:a16="http://schemas.microsoft.com/office/drawing/2014/main" id="{9D8E2ACD-7BCA-42AC-886E-4AB77F0D3501}"/>
              </a:ext>
            </a:extLst>
          </p:cNvPr>
          <p:cNvSpPr>
            <a:spLocks noChangeShapeType="1"/>
          </p:cNvSpPr>
          <p:nvPr/>
        </p:nvSpPr>
        <p:spPr bwMode="auto">
          <a:xfrm>
            <a:off x="3995738" y="2309813"/>
            <a:ext cx="649287" cy="46355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8534" name="AutoShape 54">
            <a:extLst>
              <a:ext uri="{FF2B5EF4-FFF2-40B4-BE49-F238E27FC236}">
                <a16:creationId xmlns:a16="http://schemas.microsoft.com/office/drawing/2014/main" id="{A7E4B54F-C1E2-41BB-9EAE-2D75BEDCE2D3}"/>
              </a:ext>
            </a:extLst>
          </p:cNvPr>
          <p:cNvSpPr>
            <a:spLocks noChangeArrowheads="1"/>
          </p:cNvSpPr>
          <p:nvPr/>
        </p:nvSpPr>
        <p:spPr bwMode="auto">
          <a:xfrm>
            <a:off x="1187450" y="2349500"/>
            <a:ext cx="2879725" cy="1727200"/>
          </a:xfrm>
          <a:prstGeom prst="irregularSeal1">
            <a:avLst/>
          </a:prstGeom>
          <a:solidFill>
            <a:srgbClr val="FF3300">
              <a:alpha val="46001"/>
            </a:srgbClr>
          </a:solidFill>
          <a:ln w="9525">
            <a:solidFill>
              <a:schemeClr val="tx1"/>
            </a:solidFill>
            <a:miter lim="800000"/>
            <a:headEnd/>
            <a:tailEnd/>
          </a:ln>
          <a:effectLst/>
        </p:spPr>
        <p:txBody>
          <a:bodyPr wrap="none" anchor="ctr"/>
          <a:lstStyle/>
          <a:p>
            <a:pPr eaLnBrk="1" hangingPunct="1">
              <a:defRPr/>
            </a:pPr>
            <a:r>
              <a:rPr lang="zh-CN" altLang="en-US" sz="2400">
                <a:effectLst>
                  <a:outerShdw blurRad="38100" dist="38100" dir="2700000" algn="tl">
                    <a:srgbClr val="FFFFFF"/>
                  </a:outerShdw>
                </a:effectLst>
                <a:latin typeface="Arial" charset="0"/>
                <a:ea typeface="黑体" pitchFamily="2" charset="-122"/>
              </a:rPr>
              <a:t>广播风暴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48508"/>
                                        </p:tgtEl>
                                        <p:attrNameLst>
                                          <p:attrName>style.visibility</p:attrName>
                                        </p:attrNameLst>
                                      </p:cBhvr>
                                      <p:to>
                                        <p:strVal val="visible"/>
                                      </p:to>
                                    </p:set>
                                    <p:anim calcmode="discrete" valueType="clr">
                                      <p:cBhvr override="childStyle">
                                        <p:cTn id="7" dur="80"/>
                                        <p:tgtEl>
                                          <p:spTgt spid="14850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48508"/>
                                        </p:tgtEl>
                                        <p:attrNameLst>
                                          <p:attrName>fillcolor</p:attrName>
                                        </p:attrNameLst>
                                      </p:cBhvr>
                                      <p:tavLst>
                                        <p:tav tm="0">
                                          <p:val>
                                            <p:clrVal>
                                              <a:schemeClr val="accent2"/>
                                            </p:clrVal>
                                          </p:val>
                                        </p:tav>
                                        <p:tav tm="50000">
                                          <p:val>
                                            <p:clrVal>
                                              <a:schemeClr val="hlink"/>
                                            </p:clrVal>
                                          </p:val>
                                        </p:tav>
                                      </p:tavLst>
                                    </p:anim>
                                    <p:set>
                                      <p:cBhvr>
                                        <p:cTn id="9" dur="80"/>
                                        <p:tgtEl>
                                          <p:spTgt spid="148508"/>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2" presetClass="entr" presetSubtype="4" fill="hold" nodeType="clickEffect">
                                  <p:stCondLst>
                                    <p:cond delay="0"/>
                                  </p:stCondLst>
                                  <p:childTnLst>
                                    <p:set>
                                      <p:cBhvr>
                                        <p:cTn id="13" dur="1" fill="hold">
                                          <p:stCondLst>
                                            <p:cond delay="0"/>
                                          </p:stCondLst>
                                        </p:cTn>
                                        <p:tgtEl>
                                          <p:spTgt spid="148520"/>
                                        </p:tgtEl>
                                        <p:attrNameLst>
                                          <p:attrName>style.visibility</p:attrName>
                                        </p:attrNameLst>
                                      </p:cBhvr>
                                      <p:to>
                                        <p:strVal val="visible"/>
                                      </p:to>
                                    </p:set>
                                    <p:animEffect transition="in" filter="slide(fromBottom)">
                                      <p:cBhvr>
                                        <p:cTn id="14" dur="500"/>
                                        <p:tgtEl>
                                          <p:spTgt spid="148520"/>
                                        </p:tgtEl>
                                      </p:cBhvr>
                                    </p:animEffect>
                                  </p:childTnLst>
                                </p:cTn>
                              </p:par>
                            </p:childTnLst>
                          </p:cTn>
                        </p:par>
                        <p:par>
                          <p:cTn id="15" fill="hold" nodeType="afterGroup">
                            <p:stCondLst>
                              <p:cond delay="500"/>
                            </p:stCondLst>
                            <p:childTnLst>
                              <p:par>
                                <p:cTn id="16" presetID="12" presetClass="entr" presetSubtype="4" fill="hold" nodeType="afterEffect">
                                  <p:stCondLst>
                                    <p:cond delay="0"/>
                                  </p:stCondLst>
                                  <p:childTnLst>
                                    <p:set>
                                      <p:cBhvr>
                                        <p:cTn id="17" dur="1" fill="hold">
                                          <p:stCondLst>
                                            <p:cond delay="0"/>
                                          </p:stCondLst>
                                        </p:cTn>
                                        <p:tgtEl>
                                          <p:spTgt spid="148522"/>
                                        </p:tgtEl>
                                        <p:attrNameLst>
                                          <p:attrName>style.visibility</p:attrName>
                                        </p:attrNameLst>
                                      </p:cBhvr>
                                      <p:to>
                                        <p:strVal val="visible"/>
                                      </p:to>
                                    </p:set>
                                    <p:animEffect transition="in" filter="slide(fromBottom)">
                                      <p:cBhvr>
                                        <p:cTn id="18" dur="500"/>
                                        <p:tgtEl>
                                          <p:spTgt spid="148522"/>
                                        </p:tgtEl>
                                      </p:cBhvr>
                                    </p:animEffect>
                                  </p:childTnLst>
                                </p:cTn>
                              </p:par>
                            </p:childTnLst>
                          </p:cTn>
                        </p:par>
                        <p:par>
                          <p:cTn id="19" fill="hold" nodeType="afterGroup">
                            <p:stCondLst>
                              <p:cond delay="1000"/>
                            </p:stCondLst>
                            <p:childTnLst>
                              <p:par>
                                <p:cTn id="20" presetID="12" presetClass="entr" presetSubtype="2" fill="hold" nodeType="afterEffect">
                                  <p:stCondLst>
                                    <p:cond delay="0"/>
                                  </p:stCondLst>
                                  <p:childTnLst>
                                    <p:set>
                                      <p:cBhvr>
                                        <p:cTn id="21" dur="1" fill="hold">
                                          <p:stCondLst>
                                            <p:cond delay="0"/>
                                          </p:stCondLst>
                                        </p:cTn>
                                        <p:tgtEl>
                                          <p:spTgt spid="148523"/>
                                        </p:tgtEl>
                                        <p:attrNameLst>
                                          <p:attrName>style.visibility</p:attrName>
                                        </p:attrNameLst>
                                      </p:cBhvr>
                                      <p:to>
                                        <p:strVal val="visible"/>
                                      </p:to>
                                    </p:set>
                                    <p:animEffect transition="in" filter="slide(fromRight)">
                                      <p:cBhvr>
                                        <p:cTn id="22" dur="500"/>
                                        <p:tgtEl>
                                          <p:spTgt spid="148523"/>
                                        </p:tgtEl>
                                      </p:cBhvr>
                                    </p:animEffect>
                                  </p:childTnLst>
                                </p:cTn>
                              </p:par>
                            </p:childTnLst>
                          </p:cTn>
                        </p:par>
                        <p:par>
                          <p:cTn id="23" fill="hold" nodeType="afterGroup">
                            <p:stCondLst>
                              <p:cond delay="1500"/>
                            </p:stCondLst>
                            <p:childTnLst>
                              <p:par>
                                <p:cTn id="24" presetID="22" presetClass="entr" presetSubtype="1" fill="hold" nodeType="afterEffect">
                                  <p:stCondLst>
                                    <p:cond delay="0"/>
                                  </p:stCondLst>
                                  <p:childTnLst>
                                    <p:set>
                                      <p:cBhvr>
                                        <p:cTn id="25" dur="1" fill="hold">
                                          <p:stCondLst>
                                            <p:cond delay="0"/>
                                          </p:stCondLst>
                                        </p:cTn>
                                        <p:tgtEl>
                                          <p:spTgt spid="148524"/>
                                        </p:tgtEl>
                                        <p:attrNameLst>
                                          <p:attrName>style.visibility</p:attrName>
                                        </p:attrNameLst>
                                      </p:cBhvr>
                                      <p:to>
                                        <p:strVal val="visible"/>
                                      </p:to>
                                    </p:set>
                                    <p:animEffect transition="in" filter="wipe(up)">
                                      <p:cBhvr>
                                        <p:cTn id="26" dur="500"/>
                                        <p:tgtEl>
                                          <p:spTgt spid="148524"/>
                                        </p:tgtEl>
                                      </p:cBhvr>
                                    </p:animEffect>
                                  </p:childTnLst>
                                </p:cTn>
                              </p:par>
                            </p:childTnLst>
                          </p:cTn>
                        </p:par>
                        <p:par>
                          <p:cTn id="27" fill="hold" nodeType="afterGroup">
                            <p:stCondLst>
                              <p:cond delay="2000"/>
                            </p:stCondLst>
                            <p:childTnLst>
                              <p:par>
                                <p:cTn id="28" presetID="12" presetClass="entr" presetSubtype="4" fill="hold" nodeType="afterEffect">
                                  <p:stCondLst>
                                    <p:cond delay="0"/>
                                  </p:stCondLst>
                                  <p:childTnLst>
                                    <p:set>
                                      <p:cBhvr>
                                        <p:cTn id="29" dur="1" fill="hold">
                                          <p:stCondLst>
                                            <p:cond delay="0"/>
                                          </p:stCondLst>
                                        </p:cTn>
                                        <p:tgtEl>
                                          <p:spTgt spid="148525"/>
                                        </p:tgtEl>
                                        <p:attrNameLst>
                                          <p:attrName>style.visibility</p:attrName>
                                        </p:attrNameLst>
                                      </p:cBhvr>
                                      <p:to>
                                        <p:strVal val="visible"/>
                                      </p:to>
                                    </p:set>
                                    <p:animEffect transition="in" filter="slide(fromBottom)">
                                      <p:cBhvr>
                                        <p:cTn id="30" dur="500"/>
                                        <p:tgtEl>
                                          <p:spTgt spid="148525"/>
                                        </p:tgtEl>
                                      </p:cBhvr>
                                    </p:animEffect>
                                  </p:childTnLst>
                                </p:cTn>
                              </p:par>
                            </p:childTnLst>
                          </p:cTn>
                        </p:par>
                        <p:par>
                          <p:cTn id="31" fill="hold" nodeType="afterGroup">
                            <p:stCondLst>
                              <p:cond delay="2500"/>
                            </p:stCondLst>
                            <p:childTnLst>
                              <p:par>
                                <p:cTn id="32" presetID="12" presetClass="entr" presetSubtype="2" fill="hold" nodeType="afterEffect">
                                  <p:stCondLst>
                                    <p:cond delay="0"/>
                                  </p:stCondLst>
                                  <p:childTnLst>
                                    <p:set>
                                      <p:cBhvr>
                                        <p:cTn id="33" dur="1" fill="hold">
                                          <p:stCondLst>
                                            <p:cond delay="0"/>
                                          </p:stCondLst>
                                        </p:cTn>
                                        <p:tgtEl>
                                          <p:spTgt spid="148526"/>
                                        </p:tgtEl>
                                        <p:attrNameLst>
                                          <p:attrName>style.visibility</p:attrName>
                                        </p:attrNameLst>
                                      </p:cBhvr>
                                      <p:to>
                                        <p:strVal val="visible"/>
                                      </p:to>
                                    </p:set>
                                    <p:animEffect transition="in" filter="slide(fromRight)">
                                      <p:cBhvr>
                                        <p:cTn id="34" dur="500"/>
                                        <p:tgtEl>
                                          <p:spTgt spid="148526"/>
                                        </p:tgtEl>
                                      </p:cBhvr>
                                    </p:animEffect>
                                  </p:childTnLst>
                                </p:cTn>
                              </p:par>
                            </p:childTnLst>
                          </p:cTn>
                        </p:par>
                        <p:par>
                          <p:cTn id="35" fill="hold" nodeType="afterGroup">
                            <p:stCondLst>
                              <p:cond delay="3000"/>
                            </p:stCondLst>
                            <p:childTnLst>
                              <p:par>
                                <p:cTn id="36" presetID="22" presetClass="entr" presetSubtype="1" fill="hold" nodeType="afterEffect">
                                  <p:stCondLst>
                                    <p:cond delay="0"/>
                                  </p:stCondLst>
                                  <p:childTnLst>
                                    <p:set>
                                      <p:cBhvr>
                                        <p:cTn id="37" dur="1" fill="hold">
                                          <p:stCondLst>
                                            <p:cond delay="0"/>
                                          </p:stCondLst>
                                        </p:cTn>
                                        <p:tgtEl>
                                          <p:spTgt spid="148527"/>
                                        </p:tgtEl>
                                        <p:attrNameLst>
                                          <p:attrName>style.visibility</p:attrName>
                                        </p:attrNameLst>
                                      </p:cBhvr>
                                      <p:to>
                                        <p:strVal val="visible"/>
                                      </p:to>
                                    </p:set>
                                    <p:animEffect transition="in" filter="wipe(up)">
                                      <p:cBhvr>
                                        <p:cTn id="38" dur="500"/>
                                        <p:tgtEl>
                                          <p:spTgt spid="148527"/>
                                        </p:tgtEl>
                                      </p:cBhvr>
                                    </p:animEffect>
                                  </p:childTnLst>
                                </p:cTn>
                              </p:par>
                            </p:childTnLst>
                          </p:cTn>
                        </p:par>
                        <p:par>
                          <p:cTn id="39" fill="hold" nodeType="afterGroup">
                            <p:stCondLst>
                              <p:cond delay="3500"/>
                            </p:stCondLst>
                            <p:childTnLst>
                              <p:par>
                                <p:cTn id="40" presetID="12" presetClass="entr" presetSubtype="4" fill="hold" nodeType="afterEffect">
                                  <p:stCondLst>
                                    <p:cond delay="0"/>
                                  </p:stCondLst>
                                  <p:childTnLst>
                                    <p:set>
                                      <p:cBhvr>
                                        <p:cTn id="41" dur="1" fill="hold">
                                          <p:stCondLst>
                                            <p:cond delay="0"/>
                                          </p:stCondLst>
                                        </p:cTn>
                                        <p:tgtEl>
                                          <p:spTgt spid="148528"/>
                                        </p:tgtEl>
                                        <p:attrNameLst>
                                          <p:attrName>style.visibility</p:attrName>
                                        </p:attrNameLst>
                                      </p:cBhvr>
                                      <p:to>
                                        <p:strVal val="visible"/>
                                      </p:to>
                                    </p:set>
                                    <p:animEffect transition="in" filter="slide(fromBottom)">
                                      <p:cBhvr>
                                        <p:cTn id="42" dur="500"/>
                                        <p:tgtEl>
                                          <p:spTgt spid="148528"/>
                                        </p:tgtEl>
                                      </p:cBhvr>
                                    </p:animEffect>
                                  </p:childTnLst>
                                </p:cTn>
                              </p:par>
                            </p:childTnLst>
                          </p:cTn>
                        </p:par>
                        <p:par>
                          <p:cTn id="43" fill="hold" nodeType="afterGroup">
                            <p:stCondLst>
                              <p:cond delay="4000"/>
                            </p:stCondLst>
                            <p:childTnLst>
                              <p:par>
                                <p:cTn id="44" presetID="12" presetClass="entr" presetSubtype="2" fill="hold" nodeType="afterEffect">
                                  <p:stCondLst>
                                    <p:cond delay="0"/>
                                  </p:stCondLst>
                                  <p:childTnLst>
                                    <p:set>
                                      <p:cBhvr>
                                        <p:cTn id="45" dur="1" fill="hold">
                                          <p:stCondLst>
                                            <p:cond delay="0"/>
                                          </p:stCondLst>
                                        </p:cTn>
                                        <p:tgtEl>
                                          <p:spTgt spid="148529"/>
                                        </p:tgtEl>
                                        <p:attrNameLst>
                                          <p:attrName>style.visibility</p:attrName>
                                        </p:attrNameLst>
                                      </p:cBhvr>
                                      <p:to>
                                        <p:strVal val="visible"/>
                                      </p:to>
                                    </p:set>
                                    <p:animEffect transition="in" filter="slide(fromRight)">
                                      <p:cBhvr>
                                        <p:cTn id="46" dur="500"/>
                                        <p:tgtEl>
                                          <p:spTgt spid="148529"/>
                                        </p:tgtEl>
                                      </p:cBhvr>
                                    </p:animEffect>
                                  </p:childTnLst>
                                </p:cTn>
                              </p:par>
                            </p:childTnLst>
                          </p:cTn>
                        </p:par>
                        <p:par>
                          <p:cTn id="47" fill="hold" nodeType="afterGroup">
                            <p:stCondLst>
                              <p:cond delay="4500"/>
                            </p:stCondLst>
                            <p:childTnLst>
                              <p:par>
                                <p:cTn id="48" presetID="22" presetClass="entr" presetSubtype="1" fill="hold" nodeType="afterEffect">
                                  <p:stCondLst>
                                    <p:cond delay="0"/>
                                  </p:stCondLst>
                                  <p:childTnLst>
                                    <p:set>
                                      <p:cBhvr>
                                        <p:cTn id="49" dur="1" fill="hold">
                                          <p:stCondLst>
                                            <p:cond delay="0"/>
                                          </p:stCondLst>
                                        </p:cTn>
                                        <p:tgtEl>
                                          <p:spTgt spid="148530"/>
                                        </p:tgtEl>
                                        <p:attrNameLst>
                                          <p:attrName>style.visibility</p:attrName>
                                        </p:attrNameLst>
                                      </p:cBhvr>
                                      <p:to>
                                        <p:strVal val="visible"/>
                                      </p:to>
                                    </p:set>
                                    <p:animEffect transition="in" filter="wipe(up)">
                                      <p:cBhvr>
                                        <p:cTn id="50" dur="500"/>
                                        <p:tgtEl>
                                          <p:spTgt spid="148530"/>
                                        </p:tgtEl>
                                      </p:cBhvr>
                                    </p:animEffect>
                                  </p:childTnLst>
                                </p:cTn>
                              </p:par>
                            </p:childTnLst>
                          </p:cTn>
                        </p:par>
                        <p:par>
                          <p:cTn id="51" fill="hold" nodeType="afterGroup">
                            <p:stCondLst>
                              <p:cond delay="5000"/>
                            </p:stCondLst>
                            <p:childTnLst>
                              <p:par>
                                <p:cTn id="52" presetID="12" presetClass="entr" presetSubtype="4" fill="hold" nodeType="afterEffect">
                                  <p:stCondLst>
                                    <p:cond delay="0"/>
                                  </p:stCondLst>
                                  <p:childTnLst>
                                    <p:set>
                                      <p:cBhvr>
                                        <p:cTn id="53" dur="1" fill="hold">
                                          <p:stCondLst>
                                            <p:cond delay="0"/>
                                          </p:stCondLst>
                                        </p:cTn>
                                        <p:tgtEl>
                                          <p:spTgt spid="148531"/>
                                        </p:tgtEl>
                                        <p:attrNameLst>
                                          <p:attrName>style.visibility</p:attrName>
                                        </p:attrNameLst>
                                      </p:cBhvr>
                                      <p:to>
                                        <p:strVal val="visible"/>
                                      </p:to>
                                    </p:set>
                                    <p:animEffect transition="in" filter="slide(fromBottom)">
                                      <p:cBhvr>
                                        <p:cTn id="54" dur="500"/>
                                        <p:tgtEl>
                                          <p:spTgt spid="148531"/>
                                        </p:tgtEl>
                                      </p:cBhvr>
                                    </p:animEffect>
                                  </p:childTnLst>
                                </p:cTn>
                              </p:par>
                            </p:childTnLst>
                          </p:cTn>
                        </p:par>
                        <p:par>
                          <p:cTn id="55" fill="hold" nodeType="afterGroup">
                            <p:stCondLst>
                              <p:cond delay="5500"/>
                            </p:stCondLst>
                            <p:childTnLst>
                              <p:par>
                                <p:cTn id="56" presetID="12" presetClass="entr" presetSubtype="2" fill="hold" nodeType="afterEffect">
                                  <p:stCondLst>
                                    <p:cond delay="0"/>
                                  </p:stCondLst>
                                  <p:childTnLst>
                                    <p:set>
                                      <p:cBhvr>
                                        <p:cTn id="57" dur="1" fill="hold">
                                          <p:stCondLst>
                                            <p:cond delay="0"/>
                                          </p:stCondLst>
                                        </p:cTn>
                                        <p:tgtEl>
                                          <p:spTgt spid="148532"/>
                                        </p:tgtEl>
                                        <p:attrNameLst>
                                          <p:attrName>style.visibility</p:attrName>
                                        </p:attrNameLst>
                                      </p:cBhvr>
                                      <p:to>
                                        <p:strVal val="visible"/>
                                      </p:to>
                                    </p:set>
                                    <p:animEffect transition="in" filter="slide(fromRight)">
                                      <p:cBhvr>
                                        <p:cTn id="58" dur="500"/>
                                        <p:tgtEl>
                                          <p:spTgt spid="148532"/>
                                        </p:tgtEl>
                                      </p:cBhvr>
                                    </p:animEffect>
                                  </p:childTnLst>
                                </p:cTn>
                              </p:par>
                            </p:childTnLst>
                          </p:cTn>
                        </p:par>
                        <p:par>
                          <p:cTn id="59" fill="hold" nodeType="afterGroup">
                            <p:stCondLst>
                              <p:cond delay="6000"/>
                            </p:stCondLst>
                            <p:childTnLst>
                              <p:par>
                                <p:cTn id="60" presetID="22" presetClass="entr" presetSubtype="1" fill="hold" nodeType="afterEffect">
                                  <p:stCondLst>
                                    <p:cond delay="0"/>
                                  </p:stCondLst>
                                  <p:childTnLst>
                                    <p:set>
                                      <p:cBhvr>
                                        <p:cTn id="61" dur="1" fill="hold">
                                          <p:stCondLst>
                                            <p:cond delay="0"/>
                                          </p:stCondLst>
                                        </p:cTn>
                                        <p:tgtEl>
                                          <p:spTgt spid="148533"/>
                                        </p:tgtEl>
                                        <p:attrNameLst>
                                          <p:attrName>style.visibility</p:attrName>
                                        </p:attrNameLst>
                                      </p:cBhvr>
                                      <p:to>
                                        <p:strVal val="visible"/>
                                      </p:to>
                                    </p:set>
                                    <p:animEffect transition="in" filter="wipe(up)">
                                      <p:cBhvr>
                                        <p:cTn id="62" dur="2000"/>
                                        <p:tgtEl>
                                          <p:spTgt spid="148533"/>
                                        </p:tgtEl>
                                      </p:cBhvr>
                                    </p:animEffect>
                                  </p:childTnLst>
                                </p:cTn>
                              </p:par>
                            </p:childTnLst>
                          </p:cTn>
                        </p:par>
                        <p:par>
                          <p:cTn id="63" fill="hold" nodeType="afterGroup">
                            <p:stCondLst>
                              <p:cond delay="8000"/>
                            </p:stCondLst>
                            <p:childTnLst>
                              <p:par>
                                <p:cTn id="64" presetID="53" presetClass="entr" presetSubtype="0" fill="hold" grpId="0" nodeType="afterEffect">
                                  <p:stCondLst>
                                    <p:cond delay="0"/>
                                  </p:stCondLst>
                                  <p:childTnLst>
                                    <p:set>
                                      <p:cBhvr>
                                        <p:cTn id="65" dur="1" fill="hold">
                                          <p:stCondLst>
                                            <p:cond delay="0"/>
                                          </p:stCondLst>
                                        </p:cTn>
                                        <p:tgtEl>
                                          <p:spTgt spid="148534"/>
                                        </p:tgtEl>
                                        <p:attrNameLst>
                                          <p:attrName>style.visibility</p:attrName>
                                        </p:attrNameLst>
                                      </p:cBhvr>
                                      <p:to>
                                        <p:strVal val="visible"/>
                                      </p:to>
                                    </p:set>
                                    <p:anim calcmode="lin" valueType="num">
                                      <p:cBhvr>
                                        <p:cTn id="66" dur="500" fill="hold"/>
                                        <p:tgtEl>
                                          <p:spTgt spid="148534"/>
                                        </p:tgtEl>
                                        <p:attrNameLst>
                                          <p:attrName>ppt_w</p:attrName>
                                        </p:attrNameLst>
                                      </p:cBhvr>
                                      <p:tavLst>
                                        <p:tav tm="0">
                                          <p:val>
                                            <p:fltVal val="0"/>
                                          </p:val>
                                        </p:tav>
                                        <p:tav tm="100000">
                                          <p:val>
                                            <p:strVal val="#ppt_w"/>
                                          </p:val>
                                        </p:tav>
                                      </p:tavLst>
                                    </p:anim>
                                    <p:anim calcmode="lin" valueType="num">
                                      <p:cBhvr>
                                        <p:cTn id="67" dur="500" fill="hold"/>
                                        <p:tgtEl>
                                          <p:spTgt spid="148534"/>
                                        </p:tgtEl>
                                        <p:attrNameLst>
                                          <p:attrName>ppt_h</p:attrName>
                                        </p:attrNameLst>
                                      </p:cBhvr>
                                      <p:tavLst>
                                        <p:tav tm="0">
                                          <p:val>
                                            <p:fltVal val="0"/>
                                          </p:val>
                                        </p:tav>
                                        <p:tav tm="100000">
                                          <p:val>
                                            <p:strVal val="#ppt_h"/>
                                          </p:val>
                                        </p:tav>
                                      </p:tavLst>
                                    </p:anim>
                                    <p:animEffect transition="in" filter="fade">
                                      <p:cBhvr>
                                        <p:cTn id="68" dur="500"/>
                                        <p:tgtEl>
                                          <p:spTgt spid="148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8" grpId="0"/>
      <p:bldP spid="1485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EB8EEFC-1EAA-4EC3-BCDC-052CA5D7540E}"/>
              </a:ext>
            </a:extLst>
          </p:cNvPr>
          <p:cNvSpPr>
            <a:spLocks noGrp="1" noChangeArrowheads="1"/>
          </p:cNvSpPr>
          <p:nvPr>
            <p:ph type="title"/>
          </p:nvPr>
        </p:nvSpPr>
        <p:spPr/>
        <p:txBody>
          <a:bodyPr/>
          <a:lstStyle/>
          <a:p>
            <a:r>
              <a:rPr lang="zh-CN" altLang="en-US"/>
              <a:t>多帧复制和</a:t>
            </a:r>
            <a:r>
              <a:rPr lang="en-US" altLang="zh-CN"/>
              <a:t>MAC</a:t>
            </a:r>
            <a:r>
              <a:rPr lang="zh-CN" altLang="en-US"/>
              <a:t>地址表不稳定</a:t>
            </a:r>
          </a:p>
        </p:txBody>
      </p:sp>
      <p:sp>
        <p:nvSpPr>
          <p:cNvPr id="13315" name="Line 3">
            <a:extLst>
              <a:ext uri="{FF2B5EF4-FFF2-40B4-BE49-F238E27FC236}">
                <a16:creationId xmlns:a16="http://schemas.microsoft.com/office/drawing/2014/main" id="{35A46BD9-2797-47AA-8693-6060BC47C0DB}"/>
              </a:ext>
            </a:extLst>
          </p:cNvPr>
          <p:cNvSpPr>
            <a:spLocks noChangeShapeType="1"/>
          </p:cNvSpPr>
          <p:nvPr/>
        </p:nvSpPr>
        <p:spPr bwMode="auto">
          <a:xfrm flipH="1">
            <a:off x="5937250" y="2676525"/>
            <a:ext cx="1368425"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16" name="Line 4">
            <a:extLst>
              <a:ext uri="{FF2B5EF4-FFF2-40B4-BE49-F238E27FC236}">
                <a16:creationId xmlns:a16="http://schemas.microsoft.com/office/drawing/2014/main" id="{EAF15F7D-2FB0-49EF-AB89-289DD179D978}"/>
              </a:ext>
            </a:extLst>
          </p:cNvPr>
          <p:cNvSpPr>
            <a:spLocks noChangeShapeType="1"/>
          </p:cNvSpPr>
          <p:nvPr/>
        </p:nvSpPr>
        <p:spPr bwMode="auto">
          <a:xfrm flipH="1" flipV="1">
            <a:off x="2913063" y="2676525"/>
            <a:ext cx="2160587"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17" name="Line 5">
            <a:extLst>
              <a:ext uri="{FF2B5EF4-FFF2-40B4-BE49-F238E27FC236}">
                <a16:creationId xmlns:a16="http://schemas.microsoft.com/office/drawing/2014/main" id="{329D1DE3-72E6-4B2E-8C28-6BB604E7343D}"/>
              </a:ext>
            </a:extLst>
          </p:cNvPr>
          <p:cNvSpPr>
            <a:spLocks noChangeShapeType="1"/>
          </p:cNvSpPr>
          <p:nvPr/>
        </p:nvSpPr>
        <p:spPr bwMode="auto">
          <a:xfrm flipH="1" flipV="1">
            <a:off x="2625725" y="2892425"/>
            <a:ext cx="2232025" cy="172720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18" name="Line 6">
            <a:extLst>
              <a:ext uri="{FF2B5EF4-FFF2-40B4-BE49-F238E27FC236}">
                <a16:creationId xmlns:a16="http://schemas.microsoft.com/office/drawing/2014/main" id="{974FB29D-C35C-449E-9CAF-B88A6AA46F8A}"/>
              </a:ext>
            </a:extLst>
          </p:cNvPr>
          <p:cNvSpPr>
            <a:spLocks noChangeShapeType="1"/>
          </p:cNvSpPr>
          <p:nvPr/>
        </p:nvSpPr>
        <p:spPr bwMode="auto">
          <a:xfrm flipV="1">
            <a:off x="5434013" y="2747963"/>
            <a:ext cx="0" cy="1728787"/>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19" name="Line 7">
            <a:extLst>
              <a:ext uri="{FF2B5EF4-FFF2-40B4-BE49-F238E27FC236}">
                <a16:creationId xmlns:a16="http://schemas.microsoft.com/office/drawing/2014/main" id="{1D1D914E-A961-4108-A351-902AE568F3D0}"/>
              </a:ext>
            </a:extLst>
          </p:cNvPr>
          <p:cNvSpPr>
            <a:spLocks noChangeShapeType="1"/>
          </p:cNvSpPr>
          <p:nvPr/>
        </p:nvSpPr>
        <p:spPr bwMode="auto">
          <a:xfrm flipV="1">
            <a:off x="5289550" y="4692650"/>
            <a:ext cx="0" cy="935038"/>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3320" name="Picture 8" descr="Route-processor">
            <a:extLst>
              <a:ext uri="{FF2B5EF4-FFF2-40B4-BE49-F238E27FC236}">
                <a16:creationId xmlns:a16="http://schemas.microsoft.com/office/drawing/2014/main" id="{8E6C8E75-D855-453A-9784-15971DF799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4725" y="4403725"/>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9" descr="Route-processor">
            <a:extLst>
              <a:ext uri="{FF2B5EF4-FFF2-40B4-BE49-F238E27FC236}">
                <a16:creationId xmlns:a16="http://schemas.microsoft.com/office/drawing/2014/main" id="{CFF59E18-BF06-4C62-ADCC-B2CDA7BB6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188" y="2387600"/>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2" name="Picture 10" descr="Route-processor">
            <a:extLst>
              <a:ext uri="{FF2B5EF4-FFF2-40B4-BE49-F238E27FC236}">
                <a16:creationId xmlns:a16="http://schemas.microsoft.com/office/drawing/2014/main" id="{697159CA-3222-4E65-AE32-DE8E01F264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6438" y="2460625"/>
            <a:ext cx="115252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3" name="Picture 11" descr="SEVER">
            <a:extLst>
              <a:ext uri="{FF2B5EF4-FFF2-40B4-BE49-F238E27FC236}">
                <a16:creationId xmlns:a16="http://schemas.microsoft.com/office/drawing/2014/main" id="{31422D83-4C40-4784-8729-86FEE3148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1213" y="2171700"/>
            <a:ext cx="650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4" name="Picture 12" descr="PC">
            <a:extLst>
              <a:ext uri="{FF2B5EF4-FFF2-40B4-BE49-F238E27FC236}">
                <a16:creationId xmlns:a16="http://schemas.microsoft.com/office/drawing/2014/main" id="{030681D7-3A52-481A-81FE-FB0F170552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6163" y="5484813"/>
            <a:ext cx="9366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5" name="Text Box 13">
            <a:extLst>
              <a:ext uri="{FF2B5EF4-FFF2-40B4-BE49-F238E27FC236}">
                <a16:creationId xmlns:a16="http://schemas.microsoft.com/office/drawing/2014/main" id="{973933E2-352C-4F7B-A50F-473F97213AB2}"/>
              </a:ext>
            </a:extLst>
          </p:cNvPr>
          <p:cNvSpPr txBox="1">
            <a:spLocks noChangeArrowheads="1"/>
          </p:cNvSpPr>
          <p:nvPr/>
        </p:nvSpPr>
        <p:spPr bwMode="auto">
          <a:xfrm>
            <a:off x="1903413" y="2532063"/>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600">
                <a:latin typeface="Arial" panose="020B0604020202020204" pitchFamily="34" charset="0"/>
                <a:ea typeface="宋体" panose="02010600030101010101" pitchFamily="2" charset="-122"/>
              </a:rPr>
              <a:t>SwitchA</a:t>
            </a:r>
          </a:p>
        </p:txBody>
      </p:sp>
      <p:sp>
        <p:nvSpPr>
          <p:cNvPr id="13326" name="Text Box 14">
            <a:extLst>
              <a:ext uri="{FF2B5EF4-FFF2-40B4-BE49-F238E27FC236}">
                <a16:creationId xmlns:a16="http://schemas.microsoft.com/office/drawing/2014/main" id="{B5DA1C85-B160-4423-B9A9-7319961195EA}"/>
              </a:ext>
            </a:extLst>
          </p:cNvPr>
          <p:cNvSpPr txBox="1">
            <a:spLocks noChangeArrowheads="1"/>
          </p:cNvSpPr>
          <p:nvPr/>
        </p:nvSpPr>
        <p:spPr bwMode="auto">
          <a:xfrm>
            <a:off x="5719763" y="5556250"/>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600">
                <a:latin typeface="Arial" panose="020B0604020202020204" pitchFamily="34" charset="0"/>
                <a:ea typeface="宋体" panose="02010600030101010101" pitchFamily="2" charset="-122"/>
              </a:rPr>
              <a:t>PC1</a:t>
            </a:r>
          </a:p>
        </p:txBody>
      </p:sp>
      <p:sp>
        <p:nvSpPr>
          <p:cNvPr id="13327" name="Text Box 15">
            <a:extLst>
              <a:ext uri="{FF2B5EF4-FFF2-40B4-BE49-F238E27FC236}">
                <a16:creationId xmlns:a16="http://schemas.microsoft.com/office/drawing/2014/main" id="{9BBCA77B-96FC-4CB4-A98E-67ACC2CC3A92}"/>
              </a:ext>
            </a:extLst>
          </p:cNvPr>
          <p:cNvSpPr txBox="1">
            <a:spLocks noChangeArrowheads="1"/>
          </p:cNvSpPr>
          <p:nvPr/>
        </p:nvSpPr>
        <p:spPr bwMode="auto">
          <a:xfrm>
            <a:off x="2051050" y="2962275"/>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600">
                <a:latin typeface="Arial" panose="020B0604020202020204" pitchFamily="34" charset="0"/>
                <a:ea typeface="宋体" panose="02010600030101010101" pitchFamily="2" charset="-122"/>
              </a:rPr>
              <a:t>F0/3</a:t>
            </a:r>
          </a:p>
        </p:txBody>
      </p:sp>
      <p:sp>
        <p:nvSpPr>
          <p:cNvPr id="13328" name="Text Box 16">
            <a:extLst>
              <a:ext uri="{FF2B5EF4-FFF2-40B4-BE49-F238E27FC236}">
                <a16:creationId xmlns:a16="http://schemas.microsoft.com/office/drawing/2014/main" id="{2D4A968E-47F2-4D5B-A819-62FA32C8F26F}"/>
              </a:ext>
            </a:extLst>
          </p:cNvPr>
          <p:cNvSpPr txBox="1">
            <a:spLocks noChangeArrowheads="1"/>
          </p:cNvSpPr>
          <p:nvPr/>
        </p:nvSpPr>
        <p:spPr bwMode="auto">
          <a:xfrm>
            <a:off x="3060700" y="2243138"/>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1600">
                <a:latin typeface="Arial" panose="020B0604020202020204" pitchFamily="34" charset="0"/>
                <a:ea typeface="宋体" panose="02010600030101010101" pitchFamily="2" charset="-122"/>
              </a:rPr>
              <a:t>F0/5</a:t>
            </a:r>
          </a:p>
        </p:txBody>
      </p:sp>
      <p:sp>
        <p:nvSpPr>
          <p:cNvPr id="209937" name="AutoShape 17">
            <a:extLst>
              <a:ext uri="{FF2B5EF4-FFF2-40B4-BE49-F238E27FC236}">
                <a16:creationId xmlns:a16="http://schemas.microsoft.com/office/drawing/2014/main" id="{2BFF8157-24B0-462D-B5F5-23390BAF4ABF}"/>
              </a:ext>
            </a:extLst>
          </p:cNvPr>
          <p:cNvSpPr>
            <a:spLocks noChangeArrowheads="1"/>
          </p:cNvSpPr>
          <p:nvPr/>
        </p:nvSpPr>
        <p:spPr bwMode="auto">
          <a:xfrm>
            <a:off x="1042988" y="3573463"/>
            <a:ext cx="1295400" cy="935037"/>
          </a:xfrm>
          <a:prstGeom prst="roundRect">
            <a:avLst>
              <a:gd name="adj" fmla="val 16667"/>
            </a:avLst>
          </a:prstGeom>
          <a:solidFill>
            <a:srgbClr val="CED3DE">
              <a:alpha val="72156"/>
            </a:srgbClr>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Arial" panose="020B0604020202020204" pitchFamily="34" charset="0"/>
                <a:ea typeface="宋体" panose="02010600030101010101" pitchFamily="2" charset="-122"/>
              </a:rPr>
              <a:t>PC1</a:t>
            </a:r>
            <a:r>
              <a:rPr lang="zh-CN" altLang="en-US" sz="1600">
                <a:latin typeface="Arial" panose="020B0604020202020204" pitchFamily="34" charset="0"/>
                <a:ea typeface="宋体" panose="02010600030101010101" pitchFamily="2" charset="-122"/>
              </a:rPr>
              <a:t>在我</a:t>
            </a:r>
          </a:p>
          <a:p>
            <a:pPr eaLnBrk="1" hangingPunct="1">
              <a:spcBef>
                <a:spcPct val="0"/>
              </a:spcBef>
              <a:buClrTx/>
              <a:buSzTx/>
              <a:buFontTx/>
              <a:buNone/>
            </a:pPr>
            <a:r>
              <a:rPr lang="zh-CN" altLang="en-US" sz="1600">
                <a:latin typeface="Arial" panose="020B0604020202020204" pitchFamily="34" charset="0"/>
                <a:ea typeface="宋体" panose="02010600030101010101" pitchFamily="2" charset="-122"/>
              </a:rPr>
              <a:t>的</a:t>
            </a:r>
            <a:r>
              <a:rPr lang="en-US" altLang="zh-CN" sz="1600">
                <a:latin typeface="Arial" panose="020B0604020202020204" pitchFamily="34" charset="0"/>
                <a:ea typeface="宋体" panose="02010600030101010101" pitchFamily="2" charset="-122"/>
              </a:rPr>
              <a:t>F0/3</a:t>
            </a:r>
            <a:r>
              <a:rPr lang="zh-CN" altLang="en-US" sz="1600">
                <a:latin typeface="Arial" panose="020B0604020202020204" pitchFamily="34" charset="0"/>
                <a:ea typeface="宋体" panose="02010600030101010101" pitchFamily="2" charset="-122"/>
              </a:rPr>
              <a:t>口</a:t>
            </a:r>
          </a:p>
        </p:txBody>
      </p:sp>
      <p:sp>
        <p:nvSpPr>
          <p:cNvPr id="209938" name="AutoShape 18">
            <a:extLst>
              <a:ext uri="{FF2B5EF4-FFF2-40B4-BE49-F238E27FC236}">
                <a16:creationId xmlns:a16="http://schemas.microsoft.com/office/drawing/2014/main" id="{D0068A6B-BE1B-4556-9971-DC2F40A63EFF}"/>
              </a:ext>
            </a:extLst>
          </p:cNvPr>
          <p:cNvSpPr>
            <a:spLocks noChangeArrowheads="1"/>
          </p:cNvSpPr>
          <p:nvPr/>
        </p:nvSpPr>
        <p:spPr bwMode="auto">
          <a:xfrm>
            <a:off x="1762125" y="1268413"/>
            <a:ext cx="1368425" cy="935037"/>
          </a:xfrm>
          <a:prstGeom prst="roundRect">
            <a:avLst>
              <a:gd name="adj" fmla="val 16667"/>
            </a:avLst>
          </a:prstGeom>
          <a:solidFill>
            <a:srgbClr val="CED3DE">
              <a:alpha val="72156"/>
            </a:srgbClr>
          </a:solidFill>
          <a:ln w="9525">
            <a:solidFill>
              <a:schemeClr val="tx1"/>
            </a:solidFill>
            <a:round/>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a:latin typeface="Arial" panose="020B0604020202020204" pitchFamily="34" charset="0"/>
                <a:ea typeface="宋体" panose="02010600030101010101" pitchFamily="2" charset="-122"/>
              </a:rPr>
              <a:t>PC1</a:t>
            </a:r>
            <a:r>
              <a:rPr lang="zh-CN" altLang="en-US" sz="1600">
                <a:latin typeface="Arial" panose="020B0604020202020204" pitchFamily="34" charset="0"/>
                <a:ea typeface="宋体" panose="02010600030101010101" pitchFamily="2" charset="-122"/>
              </a:rPr>
              <a:t>在我</a:t>
            </a:r>
          </a:p>
          <a:p>
            <a:pPr eaLnBrk="1" hangingPunct="1">
              <a:spcBef>
                <a:spcPct val="0"/>
              </a:spcBef>
              <a:buClrTx/>
              <a:buSzTx/>
              <a:buFontTx/>
              <a:buNone/>
            </a:pPr>
            <a:r>
              <a:rPr lang="zh-CN" altLang="en-US" sz="1600">
                <a:latin typeface="Arial" panose="020B0604020202020204" pitchFamily="34" charset="0"/>
                <a:ea typeface="宋体" panose="02010600030101010101" pitchFamily="2" charset="-122"/>
              </a:rPr>
              <a:t>的</a:t>
            </a:r>
            <a:r>
              <a:rPr lang="en-US" altLang="zh-CN" sz="1600">
                <a:latin typeface="Arial" panose="020B0604020202020204" pitchFamily="34" charset="0"/>
                <a:ea typeface="宋体" panose="02010600030101010101" pitchFamily="2" charset="-122"/>
              </a:rPr>
              <a:t>F0/5</a:t>
            </a:r>
            <a:r>
              <a:rPr lang="zh-CN" altLang="en-US" sz="1600">
                <a:latin typeface="Arial" panose="020B0604020202020204" pitchFamily="34" charset="0"/>
                <a:ea typeface="宋体" panose="02010600030101010101" pitchFamily="2" charset="-122"/>
              </a:rPr>
              <a:t>口</a:t>
            </a:r>
          </a:p>
        </p:txBody>
      </p:sp>
      <p:sp>
        <p:nvSpPr>
          <p:cNvPr id="209939" name="Freeform 19">
            <a:extLst>
              <a:ext uri="{FF2B5EF4-FFF2-40B4-BE49-F238E27FC236}">
                <a16:creationId xmlns:a16="http://schemas.microsoft.com/office/drawing/2014/main" id="{7E5502A1-F2F9-45AF-9AC9-002CAE510EC4}"/>
              </a:ext>
            </a:extLst>
          </p:cNvPr>
          <p:cNvSpPr>
            <a:spLocks/>
          </p:cNvSpPr>
          <p:nvPr/>
        </p:nvSpPr>
        <p:spPr bwMode="auto">
          <a:xfrm>
            <a:off x="3201988" y="2517775"/>
            <a:ext cx="2760662" cy="2927350"/>
          </a:xfrm>
          <a:custGeom>
            <a:avLst/>
            <a:gdLst>
              <a:gd name="T0" fmla="*/ 2147483646 w 1739"/>
              <a:gd name="T1" fmla="*/ 2147483646 h 1844"/>
              <a:gd name="T2" fmla="*/ 2147483646 w 1739"/>
              <a:gd name="T3" fmla="*/ 2147483646 h 1844"/>
              <a:gd name="T4" fmla="*/ 0 w 1739"/>
              <a:gd name="T5" fmla="*/ 2147483646 h 1844"/>
              <a:gd name="T6" fmla="*/ 0 60000 65536"/>
              <a:gd name="T7" fmla="*/ 0 60000 65536"/>
              <a:gd name="T8" fmla="*/ 0 60000 65536"/>
              <a:gd name="T9" fmla="*/ 0 w 1739"/>
              <a:gd name="T10" fmla="*/ 0 h 1844"/>
              <a:gd name="T11" fmla="*/ 1739 w 1739"/>
              <a:gd name="T12" fmla="*/ 1844 h 1844"/>
            </a:gdLst>
            <a:ahLst/>
            <a:cxnLst>
              <a:cxn ang="T6">
                <a:pos x="T0" y="T1"/>
              </a:cxn>
              <a:cxn ang="T7">
                <a:pos x="T2" y="T3"/>
              </a:cxn>
              <a:cxn ang="T8">
                <a:pos x="T4" y="T5"/>
              </a:cxn>
            </a:cxnLst>
            <a:rect l="T9" t="T10" r="T11" b="T12"/>
            <a:pathLst>
              <a:path w="1739" h="1844">
                <a:moveTo>
                  <a:pt x="1452" y="1844"/>
                </a:moveTo>
                <a:cubicBezTo>
                  <a:pt x="1595" y="1224"/>
                  <a:pt x="1739" y="604"/>
                  <a:pt x="1497" y="302"/>
                </a:cubicBezTo>
                <a:cubicBezTo>
                  <a:pt x="1255" y="0"/>
                  <a:pt x="257" y="68"/>
                  <a:pt x="0" y="30"/>
                </a:cubicBezTo>
              </a:path>
            </a:pathLst>
          </a:custGeom>
          <a:noFill/>
          <a:ln w="31750">
            <a:solidFill>
              <a:srgbClr val="800000"/>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9940" name="Freeform 20">
            <a:extLst>
              <a:ext uri="{FF2B5EF4-FFF2-40B4-BE49-F238E27FC236}">
                <a16:creationId xmlns:a16="http://schemas.microsoft.com/office/drawing/2014/main" id="{12CB4AFE-8BEE-4479-A051-6263E1276E65}"/>
              </a:ext>
            </a:extLst>
          </p:cNvPr>
          <p:cNvSpPr>
            <a:spLocks/>
          </p:cNvSpPr>
          <p:nvPr/>
        </p:nvSpPr>
        <p:spPr bwMode="auto">
          <a:xfrm>
            <a:off x="2554288" y="2997200"/>
            <a:ext cx="2773362" cy="2736850"/>
          </a:xfrm>
          <a:custGeom>
            <a:avLst/>
            <a:gdLst>
              <a:gd name="T0" fmla="*/ 2147483646 w 1747"/>
              <a:gd name="T1" fmla="*/ 2147483646 h 1724"/>
              <a:gd name="T2" fmla="*/ 2147483646 w 1747"/>
              <a:gd name="T3" fmla="*/ 2147483646 h 1724"/>
              <a:gd name="T4" fmla="*/ 0 w 1747"/>
              <a:gd name="T5" fmla="*/ 0 h 1724"/>
              <a:gd name="T6" fmla="*/ 0 60000 65536"/>
              <a:gd name="T7" fmla="*/ 0 60000 65536"/>
              <a:gd name="T8" fmla="*/ 0 60000 65536"/>
              <a:gd name="T9" fmla="*/ 0 w 1747"/>
              <a:gd name="T10" fmla="*/ 0 h 1724"/>
              <a:gd name="T11" fmla="*/ 1747 w 1747"/>
              <a:gd name="T12" fmla="*/ 1724 h 1724"/>
            </a:gdLst>
            <a:ahLst/>
            <a:cxnLst>
              <a:cxn ang="T6">
                <a:pos x="T0" y="T1"/>
              </a:cxn>
              <a:cxn ang="T7">
                <a:pos x="T2" y="T3"/>
              </a:cxn>
              <a:cxn ang="T8">
                <a:pos x="T4" y="T5"/>
              </a:cxn>
            </a:cxnLst>
            <a:rect l="T9" t="T10" r="T11" b="T12"/>
            <a:pathLst>
              <a:path w="1747" h="1724">
                <a:moveTo>
                  <a:pt x="1497" y="1724"/>
                </a:moveTo>
                <a:cubicBezTo>
                  <a:pt x="1622" y="1618"/>
                  <a:pt x="1747" y="1512"/>
                  <a:pt x="1497" y="1225"/>
                </a:cubicBezTo>
                <a:cubicBezTo>
                  <a:pt x="1247" y="938"/>
                  <a:pt x="264" y="204"/>
                  <a:pt x="0" y="0"/>
                </a:cubicBezTo>
              </a:path>
            </a:pathLst>
          </a:custGeom>
          <a:noFill/>
          <a:ln w="28575">
            <a:solidFill>
              <a:schemeClr val="accent2"/>
            </a:solidFill>
            <a:round/>
            <a:headEnd/>
            <a:tailEnd type="stealth"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209941" name="Picture 21" descr="qqxgcom05">
            <a:extLst>
              <a:ext uri="{FF2B5EF4-FFF2-40B4-BE49-F238E27FC236}">
                <a16:creationId xmlns:a16="http://schemas.microsoft.com/office/drawing/2014/main" id="{AD38FD46-4A4B-4130-92F6-BB4AC4E3FF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8525" y="2492375"/>
            <a:ext cx="79216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34" name="Line 22">
            <a:extLst>
              <a:ext uri="{FF2B5EF4-FFF2-40B4-BE49-F238E27FC236}">
                <a16:creationId xmlns:a16="http://schemas.microsoft.com/office/drawing/2014/main" id="{AEE5437C-F912-4D1F-8E4A-FC9A61B95E1B}"/>
              </a:ext>
            </a:extLst>
          </p:cNvPr>
          <p:cNvSpPr>
            <a:spLocks noChangeShapeType="1"/>
          </p:cNvSpPr>
          <p:nvPr/>
        </p:nvSpPr>
        <p:spPr bwMode="auto">
          <a:xfrm>
            <a:off x="3275013" y="2276475"/>
            <a:ext cx="1439862"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5" name="Line 23">
            <a:extLst>
              <a:ext uri="{FF2B5EF4-FFF2-40B4-BE49-F238E27FC236}">
                <a16:creationId xmlns:a16="http://schemas.microsoft.com/office/drawing/2014/main" id="{E4AEAEF7-0851-4187-B293-F8E18200D0A4}"/>
              </a:ext>
            </a:extLst>
          </p:cNvPr>
          <p:cNvSpPr>
            <a:spLocks noChangeShapeType="1"/>
          </p:cNvSpPr>
          <p:nvPr/>
        </p:nvSpPr>
        <p:spPr bwMode="auto">
          <a:xfrm>
            <a:off x="2554288" y="3284538"/>
            <a:ext cx="1223962" cy="936625"/>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36" name="Text Box 24">
            <a:extLst>
              <a:ext uri="{FF2B5EF4-FFF2-40B4-BE49-F238E27FC236}">
                <a16:creationId xmlns:a16="http://schemas.microsoft.com/office/drawing/2014/main" id="{B5D4B1FD-5990-46F4-9C36-8F00018246E3}"/>
              </a:ext>
            </a:extLst>
          </p:cNvPr>
          <p:cNvSpPr txBox="1">
            <a:spLocks noChangeArrowheads="1"/>
          </p:cNvSpPr>
          <p:nvPr/>
        </p:nvSpPr>
        <p:spPr bwMode="auto">
          <a:xfrm>
            <a:off x="3275013" y="1909763"/>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600">
                <a:latin typeface="Arial" panose="020B0604020202020204" pitchFamily="34" charset="0"/>
                <a:ea typeface="宋体" panose="02010600030101010101" pitchFamily="2" charset="-122"/>
              </a:rPr>
              <a:t>去往</a:t>
            </a:r>
            <a:r>
              <a:rPr lang="en-US" altLang="zh-CN" sz="1600">
                <a:latin typeface="Arial" panose="020B0604020202020204" pitchFamily="34" charset="0"/>
                <a:ea typeface="宋体" panose="02010600030101010101" pitchFamily="2" charset="-122"/>
              </a:rPr>
              <a:t>PC1</a:t>
            </a:r>
            <a:r>
              <a:rPr lang="zh-CN" altLang="en-US" sz="1600">
                <a:latin typeface="Arial" panose="020B0604020202020204" pitchFamily="34" charset="0"/>
                <a:ea typeface="宋体" panose="02010600030101010101" pitchFamily="2" charset="-122"/>
              </a:rPr>
              <a:t>的帧</a:t>
            </a:r>
          </a:p>
        </p:txBody>
      </p:sp>
      <p:sp>
        <p:nvSpPr>
          <p:cNvPr id="13337" name="Text Box 25">
            <a:extLst>
              <a:ext uri="{FF2B5EF4-FFF2-40B4-BE49-F238E27FC236}">
                <a16:creationId xmlns:a16="http://schemas.microsoft.com/office/drawing/2014/main" id="{28E79FD4-657D-41BD-8586-594C4321F5F9}"/>
              </a:ext>
            </a:extLst>
          </p:cNvPr>
          <p:cNvSpPr txBox="1">
            <a:spLocks noChangeArrowheads="1"/>
          </p:cNvSpPr>
          <p:nvPr/>
        </p:nvSpPr>
        <p:spPr bwMode="auto">
          <a:xfrm rot="2342315">
            <a:off x="2346325" y="3863975"/>
            <a:ext cx="1800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1600">
                <a:latin typeface="Arial" panose="020B0604020202020204" pitchFamily="34" charset="0"/>
                <a:ea typeface="宋体" panose="02010600030101010101" pitchFamily="2" charset="-122"/>
              </a:rPr>
              <a:t>去往</a:t>
            </a:r>
            <a:r>
              <a:rPr lang="en-US" altLang="zh-CN" sz="1600">
                <a:latin typeface="Arial" panose="020B0604020202020204" pitchFamily="34" charset="0"/>
                <a:ea typeface="宋体" panose="02010600030101010101" pitchFamily="2" charset="-122"/>
              </a:rPr>
              <a:t>PC1</a:t>
            </a:r>
            <a:r>
              <a:rPr lang="zh-CN" altLang="en-US" sz="1600">
                <a:latin typeface="Arial" panose="020B0604020202020204" pitchFamily="34" charset="0"/>
                <a:ea typeface="宋体" panose="02010600030101010101" pitchFamily="2" charset="-122"/>
              </a:rPr>
              <a:t>的帧</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9940"/>
                                        </p:tgtEl>
                                        <p:attrNameLst>
                                          <p:attrName>style.visibility</p:attrName>
                                        </p:attrNameLst>
                                      </p:cBhvr>
                                      <p:to>
                                        <p:strVal val="visible"/>
                                      </p:to>
                                    </p:set>
                                    <p:animEffect transition="in" filter="wipe(down)">
                                      <p:cBhvr>
                                        <p:cTn id="7" dur="1000"/>
                                        <p:tgtEl>
                                          <p:spTgt spid="209940"/>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209937"/>
                                        </p:tgtEl>
                                        <p:attrNameLst>
                                          <p:attrName>style.visibility</p:attrName>
                                        </p:attrNameLst>
                                      </p:cBhvr>
                                      <p:to>
                                        <p:strVal val="visible"/>
                                      </p:to>
                                    </p:set>
                                    <p:animEffect transition="in" filter="wipe(down)">
                                      <p:cBhvr>
                                        <p:cTn id="11" dur="500"/>
                                        <p:tgtEl>
                                          <p:spTgt spid="2099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nodeType="clickEffect">
                                  <p:stCondLst>
                                    <p:cond delay="0"/>
                                  </p:stCondLst>
                                  <p:childTnLst>
                                    <p:set>
                                      <p:cBhvr>
                                        <p:cTn id="15" dur="1" fill="hold">
                                          <p:stCondLst>
                                            <p:cond delay="0"/>
                                          </p:stCondLst>
                                        </p:cTn>
                                        <p:tgtEl>
                                          <p:spTgt spid="209939"/>
                                        </p:tgtEl>
                                        <p:attrNameLst>
                                          <p:attrName>style.visibility</p:attrName>
                                        </p:attrNameLst>
                                      </p:cBhvr>
                                      <p:to>
                                        <p:strVal val="visible"/>
                                      </p:to>
                                    </p:set>
                                    <p:animEffect transition="in" filter="wipe(down)">
                                      <p:cBhvr>
                                        <p:cTn id="16" dur="1000"/>
                                        <p:tgtEl>
                                          <p:spTgt spid="209939"/>
                                        </p:tgtEl>
                                      </p:cBhvr>
                                    </p:animEffect>
                                  </p:childTnLst>
                                </p:cTn>
                              </p:par>
                            </p:childTnLst>
                          </p:cTn>
                        </p:par>
                        <p:par>
                          <p:cTn id="17" fill="hold" nodeType="afterGroup">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209938"/>
                                        </p:tgtEl>
                                        <p:attrNameLst>
                                          <p:attrName>style.visibility</p:attrName>
                                        </p:attrNameLst>
                                      </p:cBhvr>
                                      <p:to>
                                        <p:strVal val="visible"/>
                                      </p:to>
                                    </p:set>
                                    <p:animEffect transition="in" filter="wipe(down)">
                                      <p:cBhvr>
                                        <p:cTn id="20" dur="500"/>
                                        <p:tgtEl>
                                          <p:spTgt spid="20993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nodeType="clickEffect">
                                  <p:stCondLst>
                                    <p:cond delay="0"/>
                                  </p:stCondLst>
                                  <p:childTnLst>
                                    <p:set>
                                      <p:cBhvr>
                                        <p:cTn id="24" dur="1" fill="hold">
                                          <p:stCondLst>
                                            <p:cond delay="0"/>
                                          </p:stCondLst>
                                        </p:cTn>
                                        <p:tgtEl>
                                          <p:spTgt spid="209941"/>
                                        </p:tgtEl>
                                        <p:attrNameLst>
                                          <p:attrName>style.visibility</p:attrName>
                                        </p:attrNameLst>
                                      </p:cBhvr>
                                      <p:to>
                                        <p:strVal val="visible"/>
                                      </p:to>
                                    </p:set>
                                    <p:animEffect transition="in" filter="dissolve">
                                      <p:cBhvr>
                                        <p:cTn id="25" dur="500"/>
                                        <p:tgtEl>
                                          <p:spTgt spid="209941"/>
                                        </p:tgtEl>
                                      </p:cBhvr>
                                    </p:animEffect>
                                  </p:childTnLst>
                                </p:cTn>
                              </p:par>
                            </p:childTnLst>
                          </p:cTn>
                        </p:par>
                        <p:par>
                          <p:cTn id="26" fill="hold" nodeType="afterGroup">
                            <p:stCondLst>
                              <p:cond delay="500"/>
                            </p:stCondLst>
                            <p:childTnLst>
                              <p:par>
                                <p:cTn id="27" presetID="35" presetClass="emph" presetSubtype="0" repeatCount="4000" fill="hold" nodeType="afterEffect">
                                  <p:stCondLst>
                                    <p:cond delay="0"/>
                                  </p:stCondLst>
                                  <p:childTnLst>
                                    <p:anim calcmode="discrete" valueType="str">
                                      <p:cBhvr>
                                        <p:cTn id="28" dur="1000" fill="hold"/>
                                        <p:tgtEl>
                                          <p:spTgt spid="20994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7" grpId="0" animBg="1"/>
      <p:bldP spid="2099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C2019175-7AB3-49C1-A950-E15C2E41C025}"/>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14339" name="Rectangle 6">
            <a:extLst>
              <a:ext uri="{FF2B5EF4-FFF2-40B4-BE49-F238E27FC236}">
                <a16:creationId xmlns:a16="http://schemas.microsoft.com/office/drawing/2014/main" id="{CC7034F4-C776-4E8C-81D7-67D9C9E5EDD5}"/>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14340" name="WordArt 10">
            <a:extLst>
              <a:ext uri="{FF2B5EF4-FFF2-40B4-BE49-F238E27FC236}">
                <a16:creationId xmlns:a16="http://schemas.microsoft.com/office/drawing/2014/main" id="{841D99C2-9F11-4BBC-BCBE-264B42926AF2}"/>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4341" name="Rectangle 11">
            <a:extLst>
              <a:ext uri="{FF2B5EF4-FFF2-40B4-BE49-F238E27FC236}">
                <a16:creationId xmlns:a16="http://schemas.microsoft.com/office/drawing/2014/main" id="{9FF884AB-CE5B-47D3-819A-22AF814EB743}"/>
              </a:ext>
            </a:extLst>
          </p:cNvPr>
          <p:cNvSpPr>
            <a:spLocks noGrp="1" noChangeArrowheads="1"/>
          </p:cNvSpPr>
          <p:nvPr>
            <p:ph type="title"/>
          </p:nvPr>
        </p:nvSpPr>
        <p:spPr>
          <a:xfrm>
            <a:off x="285750" y="3000375"/>
            <a:ext cx="8477250" cy="838200"/>
          </a:xfrm>
          <a:noFill/>
        </p:spPr>
        <p:txBody>
          <a:bodyPr/>
          <a:lstStyle/>
          <a:p>
            <a:pPr algn="ctr" eaLnBrk="1" hangingPunct="1"/>
            <a:r>
              <a:rPr lang="zh-CN" altLang="en-US"/>
              <a:t>生成树协议</a:t>
            </a:r>
            <a:r>
              <a:rPr lang="en-US" altLang="zh-CN"/>
              <a:t>STP</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4DBE773-241D-4982-9679-39B3816538A2}"/>
              </a:ext>
            </a:extLst>
          </p:cNvPr>
          <p:cNvSpPr>
            <a:spLocks noGrp="1" noChangeArrowheads="1"/>
          </p:cNvSpPr>
          <p:nvPr>
            <p:ph type="title"/>
          </p:nvPr>
        </p:nvSpPr>
        <p:spPr/>
        <p:txBody>
          <a:bodyPr/>
          <a:lstStyle/>
          <a:p>
            <a:r>
              <a:rPr lang="zh-CN" altLang="en-US"/>
              <a:t>环路问题的解决</a:t>
            </a:r>
          </a:p>
        </p:txBody>
      </p:sp>
      <p:sp>
        <p:nvSpPr>
          <p:cNvPr id="149524" name="Text Box 20">
            <a:extLst>
              <a:ext uri="{FF2B5EF4-FFF2-40B4-BE49-F238E27FC236}">
                <a16:creationId xmlns:a16="http://schemas.microsoft.com/office/drawing/2014/main" id="{ED7C3232-92BC-4621-9990-D6EE97C222E1}"/>
              </a:ext>
            </a:extLst>
          </p:cNvPr>
          <p:cNvSpPr txBox="1">
            <a:spLocks noChangeArrowheads="1"/>
          </p:cNvSpPr>
          <p:nvPr/>
        </p:nvSpPr>
        <p:spPr bwMode="auto">
          <a:xfrm>
            <a:off x="1042988" y="4640263"/>
            <a:ext cx="2952750" cy="830262"/>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b="1" dirty="0">
                <a:solidFill>
                  <a:srgbClr val="333399"/>
                </a:solidFill>
                <a:effectLst>
                  <a:outerShdw blurRad="38100" dist="38100" dir="2700000" algn="tl">
                    <a:srgbClr val="C0C0C0"/>
                  </a:outerShdw>
                </a:effectLst>
                <a:latin typeface="华文细黑" pitchFamily="2" charset="-122"/>
                <a:ea typeface="华文细黑" pitchFamily="2" charset="-122"/>
              </a:rPr>
              <a:t>1</a:t>
            </a:r>
            <a:r>
              <a:rPr lang="zh-CN" altLang="en-US" sz="2400" b="1" dirty="0">
                <a:solidFill>
                  <a:srgbClr val="333399"/>
                </a:solidFill>
                <a:effectLst>
                  <a:outerShdw blurRad="38100" dist="38100" dir="2700000" algn="tl">
                    <a:srgbClr val="C0C0C0"/>
                  </a:outerShdw>
                </a:effectLst>
                <a:latin typeface="华文细黑" pitchFamily="2" charset="-122"/>
                <a:ea typeface="华文细黑" pitchFamily="2" charset="-122"/>
              </a:rPr>
              <a:t>、主要链路正常时，断开备份链路</a:t>
            </a:r>
          </a:p>
        </p:txBody>
      </p:sp>
      <p:sp>
        <p:nvSpPr>
          <p:cNvPr id="16388" name="Line 3">
            <a:extLst>
              <a:ext uri="{FF2B5EF4-FFF2-40B4-BE49-F238E27FC236}">
                <a16:creationId xmlns:a16="http://schemas.microsoft.com/office/drawing/2014/main" id="{AB9AB8F5-9002-49EE-804E-DD3A8A0A0441}"/>
              </a:ext>
            </a:extLst>
          </p:cNvPr>
          <p:cNvSpPr>
            <a:spLocks noChangeShapeType="1"/>
          </p:cNvSpPr>
          <p:nvPr/>
        </p:nvSpPr>
        <p:spPr bwMode="auto">
          <a:xfrm flipH="1">
            <a:off x="2901950" y="2009775"/>
            <a:ext cx="850900"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389" name="Line 4">
            <a:extLst>
              <a:ext uri="{FF2B5EF4-FFF2-40B4-BE49-F238E27FC236}">
                <a16:creationId xmlns:a16="http://schemas.microsoft.com/office/drawing/2014/main" id="{8403E870-B487-42DF-9720-AA99DF059B30}"/>
              </a:ext>
            </a:extLst>
          </p:cNvPr>
          <p:cNvSpPr>
            <a:spLocks noChangeShapeType="1"/>
          </p:cNvSpPr>
          <p:nvPr/>
        </p:nvSpPr>
        <p:spPr bwMode="auto">
          <a:xfrm flipH="1" flipV="1">
            <a:off x="1022350" y="2009775"/>
            <a:ext cx="1343025"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390" name="Line 5">
            <a:extLst>
              <a:ext uri="{FF2B5EF4-FFF2-40B4-BE49-F238E27FC236}">
                <a16:creationId xmlns:a16="http://schemas.microsoft.com/office/drawing/2014/main" id="{A1EFAD70-8835-4CB6-B8C1-FC9E8D23E911}"/>
              </a:ext>
            </a:extLst>
          </p:cNvPr>
          <p:cNvSpPr>
            <a:spLocks noChangeShapeType="1"/>
          </p:cNvSpPr>
          <p:nvPr/>
        </p:nvSpPr>
        <p:spPr bwMode="auto">
          <a:xfrm flipH="1" flipV="1">
            <a:off x="663575" y="2073275"/>
            <a:ext cx="1611313" cy="1209675"/>
          </a:xfrm>
          <a:prstGeom prst="line">
            <a:avLst/>
          </a:prstGeom>
          <a:noFill/>
          <a:ln w="4445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391" name="Line 6">
            <a:extLst>
              <a:ext uri="{FF2B5EF4-FFF2-40B4-BE49-F238E27FC236}">
                <a16:creationId xmlns:a16="http://schemas.microsoft.com/office/drawing/2014/main" id="{67FEE54D-B0E6-4135-B329-50783464B9A2}"/>
              </a:ext>
            </a:extLst>
          </p:cNvPr>
          <p:cNvSpPr>
            <a:spLocks noChangeShapeType="1"/>
          </p:cNvSpPr>
          <p:nvPr/>
        </p:nvSpPr>
        <p:spPr bwMode="auto">
          <a:xfrm flipV="1">
            <a:off x="2589213" y="2054225"/>
            <a:ext cx="0" cy="1228725"/>
          </a:xfrm>
          <a:prstGeom prst="line">
            <a:avLst/>
          </a:prstGeom>
          <a:noFill/>
          <a:ln w="635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392" name="Line 7">
            <a:extLst>
              <a:ext uri="{FF2B5EF4-FFF2-40B4-BE49-F238E27FC236}">
                <a16:creationId xmlns:a16="http://schemas.microsoft.com/office/drawing/2014/main" id="{9F554D00-0400-4BA4-93DD-B3A5DB7DDF23}"/>
              </a:ext>
            </a:extLst>
          </p:cNvPr>
          <p:cNvSpPr>
            <a:spLocks noChangeShapeType="1"/>
          </p:cNvSpPr>
          <p:nvPr/>
        </p:nvSpPr>
        <p:spPr bwMode="auto">
          <a:xfrm flipV="1">
            <a:off x="2498725" y="3262313"/>
            <a:ext cx="0" cy="581025"/>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6393" name="Picture 8" descr="Route-processor">
            <a:extLst>
              <a:ext uri="{FF2B5EF4-FFF2-40B4-BE49-F238E27FC236}">
                <a16:creationId xmlns:a16="http://schemas.microsoft.com/office/drawing/2014/main" id="{BBDFFFCF-1E93-4347-B0FA-FAA774E8F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5988" y="3233738"/>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4" name="Picture 9" descr="Route-processor">
            <a:extLst>
              <a:ext uri="{FF2B5EF4-FFF2-40B4-BE49-F238E27FC236}">
                <a16:creationId xmlns:a16="http://schemas.microsoft.com/office/drawing/2014/main" id="{7D884F9D-3A6E-4F5E-9AE1-87C4412FB8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888" y="1830388"/>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5" name="Picture 10" descr="Route-processor">
            <a:extLst>
              <a:ext uri="{FF2B5EF4-FFF2-40B4-BE49-F238E27FC236}">
                <a16:creationId xmlns:a16="http://schemas.microsoft.com/office/drawing/2014/main" id="{CAA36488-BC2C-4C17-9AAE-4A1B9BB52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874838"/>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6" name="Picture 11" descr="SEVER">
            <a:extLst>
              <a:ext uri="{FF2B5EF4-FFF2-40B4-BE49-F238E27FC236}">
                <a16:creationId xmlns:a16="http://schemas.microsoft.com/office/drawing/2014/main" id="{C6CD6175-78BD-4708-AC99-AE595A428F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363" y="1695450"/>
            <a:ext cx="404812"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7" name="Picture 12" descr="PC">
            <a:extLst>
              <a:ext uri="{FF2B5EF4-FFF2-40B4-BE49-F238E27FC236}">
                <a16:creationId xmlns:a16="http://schemas.microsoft.com/office/drawing/2014/main" id="{AD22751F-A523-465A-8C22-B3DC0C855C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0438" y="3754438"/>
            <a:ext cx="58102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8" name="Line 13">
            <a:extLst>
              <a:ext uri="{FF2B5EF4-FFF2-40B4-BE49-F238E27FC236}">
                <a16:creationId xmlns:a16="http://schemas.microsoft.com/office/drawing/2014/main" id="{FC03AF04-8193-421D-9EC0-378E6DFF3300}"/>
              </a:ext>
            </a:extLst>
          </p:cNvPr>
          <p:cNvSpPr>
            <a:spLocks noChangeShapeType="1"/>
          </p:cNvSpPr>
          <p:nvPr/>
        </p:nvSpPr>
        <p:spPr bwMode="auto">
          <a:xfrm flipV="1">
            <a:off x="2627313" y="3462338"/>
            <a:ext cx="0" cy="312737"/>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9" name="Line 14">
            <a:extLst>
              <a:ext uri="{FF2B5EF4-FFF2-40B4-BE49-F238E27FC236}">
                <a16:creationId xmlns:a16="http://schemas.microsoft.com/office/drawing/2014/main" id="{E57C238D-A135-4FE1-9587-C3940813CC79}"/>
              </a:ext>
            </a:extLst>
          </p:cNvPr>
          <p:cNvSpPr>
            <a:spLocks noChangeShapeType="1"/>
          </p:cNvSpPr>
          <p:nvPr/>
        </p:nvSpPr>
        <p:spPr bwMode="auto">
          <a:xfrm flipV="1">
            <a:off x="2700338" y="2163763"/>
            <a:ext cx="0" cy="98425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00" name="Line 15">
            <a:extLst>
              <a:ext uri="{FF2B5EF4-FFF2-40B4-BE49-F238E27FC236}">
                <a16:creationId xmlns:a16="http://schemas.microsoft.com/office/drawing/2014/main" id="{AEF4E614-1ED4-490A-AF94-215BEFF3EF9E}"/>
              </a:ext>
            </a:extLst>
          </p:cNvPr>
          <p:cNvSpPr>
            <a:spLocks noChangeShapeType="1"/>
          </p:cNvSpPr>
          <p:nvPr/>
        </p:nvSpPr>
        <p:spPr bwMode="auto">
          <a:xfrm flipH="1" flipV="1">
            <a:off x="887413" y="2387600"/>
            <a:ext cx="1119187" cy="895350"/>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401" name="Group 16">
            <a:extLst>
              <a:ext uri="{FF2B5EF4-FFF2-40B4-BE49-F238E27FC236}">
                <a16:creationId xmlns:a16="http://schemas.microsoft.com/office/drawing/2014/main" id="{3BADA145-F299-4018-A5EB-64162DC838DB}"/>
              </a:ext>
            </a:extLst>
          </p:cNvPr>
          <p:cNvGrpSpPr>
            <a:grpSpLocks/>
          </p:cNvGrpSpPr>
          <p:nvPr/>
        </p:nvGrpSpPr>
        <p:grpSpPr bwMode="auto">
          <a:xfrm rot="-1909647">
            <a:off x="1379538" y="2789238"/>
            <a:ext cx="403225" cy="268287"/>
            <a:chOff x="839" y="3385"/>
            <a:chExt cx="408" cy="272"/>
          </a:xfrm>
        </p:grpSpPr>
        <p:sp>
          <p:nvSpPr>
            <p:cNvPr id="16421" name="Line 17">
              <a:extLst>
                <a:ext uri="{FF2B5EF4-FFF2-40B4-BE49-F238E27FC236}">
                  <a16:creationId xmlns:a16="http://schemas.microsoft.com/office/drawing/2014/main" id="{1A9D4E20-F1C2-45B8-A121-051E155D1F4B}"/>
                </a:ext>
              </a:extLst>
            </p:cNvPr>
            <p:cNvSpPr>
              <a:spLocks noChangeShapeType="1"/>
            </p:cNvSpPr>
            <p:nvPr/>
          </p:nvSpPr>
          <p:spPr bwMode="auto">
            <a:xfrm>
              <a:off x="884" y="3385"/>
              <a:ext cx="318" cy="272"/>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2" name="Line 18">
              <a:extLst>
                <a:ext uri="{FF2B5EF4-FFF2-40B4-BE49-F238E27FC236}">
                  <a16:creationId xmlns:a16="http://schemas.microsoft.com/office/drawing/2014/main" id="{BDF49F55-C974-4CE1-BB61-2845BA272874}"/>
                </a:ext>
              </a:extLst>
            </p:cNvPr>
            <p:cNvSpPr>
              <a:spLocks noChangeShapeType="1"/>
            </p:cNvSpPr>
            <p:nvPr/>
          </p:nvSpPr>
          <p:spPr bwMode="auto">
            <a:xfrm flipH="1">
              <a:off x="839" y="3385"/>
              <a:ext cx="408" cy="272"/>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402" name="Line 19">
            <a:extLst>
              <a:ext uri="{FF2B5EF4-FFF2-40B4-BE49-F238E27FC236}">
                <a16:creationId xmlns:a16="http://schemas.microsoft.com/office/drawing/2014/main" id="{F01F1EA2-CD43-4897-8320-7C057B6A3A1D}"/>
              </a:ext>
            </a:extLst>
          </p:cNvPr>
          <p:cNvSpPr>
            <a:spLocks noChangeShapeType="1"/>
          </p:cNvSpPr>
          <p:nvPr/>
        </p:nvSpPr>
        <p:spPr bwMode="auto">
          <a:xfrm flipV="1">
            <a:off x="3035300" y="1895475"/>
            <a:ext cx="627063" cy="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9528" name="Text Box 24">
            <a:extLst>
              <a:ext uri="{FF2B5EF4-FFF2-40B4-BE49-F238E27FC236}">
                <a16:creationId xmlns:a16="http://schemas.microsoft.com/office/drawing/2014/main" id="{C5859ADD-5A90-45A5-9F87-1F4DFA891413}"/>
              </a:ext>
            </a:extLst>
          </p:cNvPr>
          <p:cNvSpPr txBox="1">
            <a:spLocks noChangeArrowheads="1"/>
          </p:cNvSpPr>
          <p:nvPr/>
        </p:nvSpPr>
        <p:spPr bwMode="auto">
          <a:xfrm>
            <a:off x="5429250" y="4643438"/>
            <a:ext cx="3063875" cy="830262"/>
          </a:xfrm>
          <a:prstGeom prst="rect">
            <a:avLst/>
          </a:prstGeom>
          <a:noFill/>
          <a:ln w="9525">
            <a:noFill/>
            <a:miter lim="800000"/>
            <a:headEnd/>
            <a:tailEnd/>
          </a:ln>
          <a:effectLst/>
        </p:spPr>
        <p:txBody>
          <a:bodyPr>
            <a:spAutoFit/>
          </a:bodyPr>
          <a:lstStyle/>
          <a:p>
            <a:pPr eaLnBrk="1" hangingPunct="1">
              <a:spcBef>
                <a:spcPct val="50000"/>
              </a:spcBef>
              <a:defRPr/>
            </a:pPr>
            <a:r>
              <a:rPr lang="en-US" altLang="zh-CN" sz="2400" b="1" dirty="0">
                <a:solidFill>
                  <a:srgbClr val="333399"/>
                </a:solidFill>
                <a:effectLst>
                  <a:outerShdw blurRad="38100" dist="38100" dir="2700000" algn="tl">
                    <a:srgbClr val="C0C0C0"/>
                  </a:outerShdw>
                </a:effectLst>
                <a:latin typeface="华文细黑" pitchFamily="2" charset="-122"/>
                <a:ea typeface="华文细黑" pitchFamily="2" charset="-122"/>
              </a:rPr>
              <a:t>2</a:t>
            </a:r>
            <a:r>
              <a:rPr lang="zh-CN" altLang="en-US" sz="2400" b="1" dirty="0">
                <a:solidFill>
                  <a:srgbClr val="333399"/>
                </a:solidFill>
                <a:effectLst>
                  <a:outerShdw blurRad="38100" dist="38100" dir="2700000" algn="tl">
                    <a:srgbClr val="C0C0C0"/>
                  </a:outerShdw>
                </a:effectLst>
                <a:latin typeface="华文细黑" pitchFamily="2" charset="-122"/>
                <a:ea typeface="华文细黑" pitchFamily="2" charset="-122"/>
              </a:rPr>
              <a:t>、主要链路出故障时</a:t>
            </a:r>
            <a:r>
              <a:rPr lang="en-US" altLang="zh-CN" sz="2400" b="1" dirty="0">
                <a:solidFill>
                  <a:srgbClr val="333399"/>
                </a:solidFill>
                <a:effectLst>
                  <a:outerShdw blurRad="38100" dist="38100" dir="2700000" algn="tl">
                    <a:srgbClr val="C0C0C0"/>
                  </a:outerShdw>
                </a:effectLst>
                <a:latin typeface="华文细黑" pitchFamily="2" charset="-122"/>
                <a:ea typeface="华文细黑" pitchFamily="2" charset="-122"/>
              </a:rPr>
              <a:t>,</a:t>
            </a:r>
            <a:r>
              <a:rPr lang="zh-CN" altLang="en-US" sz="2400" b="1" dirty="0">
                <a:solidFill>
                  <a:srgbClr val="333399"/>
                </a:solidFill>
                <a:effectLst>
                  <a:outerShdw blurRad="38100" dist="38100" dir="2700000" algn="tl">
                    <a:srgbClr val="C0C0C0"/>
                  </a:outerShdw>
                </a:effectLst>
                <a:latin typeface="华文细黑" pitchFamily="2" charset="-122"/>
                <a:ea typeface="华文细黑" pitchFamily="2" charset="-122"/>
              </a:rPr>
              <a:t>自动启用备份链路</a:t>
            </a:r>
          </a:p>
        </p:txBody>
      </p:sp>
      <p:sp>
        <p:nvSpPr>
          <p:cNvPr id="16404" name="Line 27">
            <a:extLst>
              <a:ext uri="{FF2B5EF4-FFF2-40B4-BE49-F238E27FC236}">
                <a16:creationId xmlns:a16="http://schemas.microsoft.com/office/drawing/2014/main" id="{1B1FCD23-A495-41D4-A1FB-63D24A5CBC49}"/>
              </a:ext>
            </a:extLst>
          </p:cNvPr>
          <p:cNvSpPr>
            <a:spLocks noChangeShapeType="1"/>
          </p:cNvSpPr>
          <p:nvPr/>
        </p:nvSpPr>
        <p:spPr bwMode="auto">
          <a:xfrm flipH="1">
            <a:off x="7439025" y="2014538"/>
            <a:ext cx="850900"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Line 28">
            <a:extLst>
              <a:ext uri="{FF2B5EF4-FFF2-40B4-BE49-F238E27FC236}">
                <a16:creationId xmlns:a16="http://schemas.microsoft.com/office/drawing/2014/main" id="{BD3A8E16-28D1-45D5-8F64-A4DAFBA747C0}"/>
              </a:ext>
            </a:extLst>
          </p:cNvPr>
          <p:cNvSpPr>
            <a:spLocks noChangeShapeType="1"/>
          </p:cNvSpPr>
          <p:nvPr/>
        </p:nvSpPr>
        <p:spPr bwMode="auto">
          <a:xfrm flipH="1" flipV="1">
            <a:off x="5559425" y="2014538"/>
            <a:ext cx="1343025" cy="0"/>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Line 29">
            <a:extLst>
              <a:ext uri="{FF2B5EF4-FFF2-40B4-BE49-F238E27FC236}">
                <a16:creationId xmlns:a16="http://schemas.microsoft.com/office/drawing/2014/main" id="{05C00E48-7700-481B-8CE1-E0D1D81FDF43}"/>
              </a:ext>
            </a:extLst>
          </p:cNvPr>
          <p:cNvSpPr>
            <a:spLocks noChangeShapeType="1"/>
          </p:cNvSpPr>
          <p:nvPr/>
        </p:nvSpPr>
        <p:spPr bwMode="auto">
          <a:xfrm flipH="1" flipV="1">
            <a:off x="5200650" y="2078038"/>
            <a:ext cx="1611313" cy="1209675"/>
          </a:xfrm>
          <a:prstGeom prst="line">
            <a:avLst/>
          </a:prstGeom>
          <a:noFill/>
          <a:ln w="4445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407" name="Line 30">
            <a:extLst>
              <a:ext uri="{FF2B5EF4-FFF2-40B4-BE49-F238E27FC236}">
                <a16:creationId xmlns:a16="http://schemas.microsoft.com/office/drawing/2014/main" id="{7F4528D1-78BB-4C90-81CA-CF1517719FA1}"/>
              </a:ext>
            </a:extLst>
          </p:cNvPr>
          <p:cNvSpPr>
            <a:spLocks noChangeShapeType="1"/>
          </p:cNvSpPr>
          <p:nvPr/>
        </p:nvSpPr>
        <p:spPr bwMode="auto">
          <a:xfrm flipV="1">
            <a:off x="7126288" y="2058988"/>
            <a:ext cx="0" cy="1228725"/>
          </a:xfrm>
          <a:prstGeom prst="line">
            <a:avLst/>
          </a:prstGeom>
          <a:noFill/>
          <a:ln w="635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6408" name="Line 31">
            <a:extLst>
              <a:ext uri="{FF2B5EF4-FFF2-40B4-BE49-F238E27FC236}">
                <a16:creationId xmlns:a16="http://schemas.microsoft.com/office/drawing/2014/main" id="{DFA2A2F5-7FCD-47C8-B9FC-7123A9A839B0}"/>
              </a:ext>
            </a:extLst>
          </p:cNvPr>
          <p:cNvSpPr>
            <a:spLocks noChangeShapeType="1"/>
          </p:cNvSpPr>
          <p:nvPr/>
        </p:nvSpPr>
        <p:spPr bwMode="auto">
          <a:xfrm flipV="1">
            <a:off x="7035800" y="3267075"/>
            <a:ext cx="0" cy="581025"/>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6409" name="Picture 32" descr="Route-processor">
            <a:extLst>
              <a:ext uri="{FF2B5EF4-FFF2-40B4-BE49-F238E27FC236}">
                <a16:creationId xmlns:a16="http://schemas.microsoft.com/office/drawing/2014/main" id="{1C6E822B-F8E8-4187-9279-D11D5179D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3063" y="3238500"/>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0" name="Picture 33" descr="Route-processor">
            <a:extLst>
              <a:ext uri="{FF2B5EF4-FFF2-40B4-BE49-F238E27FC236}">
                <a16:creationId xmlns:a16="http://schemas.microsoft.com/office/drawing/2014/main" id="{52652C7E-0D15-496A-B2B2-27E491982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1963" y="1835150"/>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1" name="Picture 34" descr="Route-processor">
            <a:extLst>
              <a:ext uri="{FF2B5EF4-FFF2-40B4-BE49-F238E27FC236}">
                <a16:creationId xmlns:a16="http://schemas.microsoft.com/office/drawing/2014/main" id="{4202DA8D-5755-437E-9596-DB1BF94AF6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879600"/>
            <a:ext cx="7159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2" name="Picture 35" descr="SEVER">
            <a:extLst>
              <a:ext uri="{FF2B5EF4-FFF2-40B4-BE49-F238E27FC236}">
                <a16:creationId xmlns:a16="http://schemas.microsoft.com/office/drawing/2014/main" id="{294DFDF0-0BD7-4A06-BBE7-379D8988A4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9438" y="1700213"/>
            <a:ext cx="404812"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3" name="Picture 36" descr="PC">
            <a:extLst>
              <a:ext uri="{FF2B5EF4-FFF2-40B4-BE49-F238E27FC236}">
                <a16:creationId xmlns:a16="http://schemas.microsoft.com/office/drawing/2014/main" id="{001A8920-5B69-4CDD-9010-B97265B51E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7513" y="3759200"/>
            <a:ext cx="58102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4" name="Line 37">
            <a:extLst>
              <a:ext uri="{FF2B5EF4-FFF2-40B4-BE49-F238E27FC236}">
                <a16:creationId xmlns:a16="http://schemas.microsoft.com/office/drawing/2014/main" id="{3FC2A89D-077B-4BCA-B636-B40DCEEE0211}"/>
              </a:ext>
            </a:extLst>
          </p:cNvPr>
          <p:cNvSpPr>
            <a:spLocks noChangeShapeType="1"/>
          </p:cNvSpPr>
          <p:nvPr/>
        </p:nvSpPr>
        <p:spPr bwMode="auto">
          <a:xfrm flipV="1">
            <a:off x="7164388" y="3467100"/>
            <a:ext cx="0" cy="312738"/>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5" name="Line 38">
            <a:extLst>
              <a:ext uri="{FF2B5EF4-FFF2-40B4-BE49-F238E27FC236}">
                <a16:creationId xmlns:a16="http://schemas.microsoft.com/office/drawing/2014/main" id="{66C026EA-1FF0-4F92-855E-64104FC86424}"/>
              </a:ext>
            </a:extLst>
          </p:cNvPr>
          <p:cNvSpPr>
            <a:spLocks noChangeShapeType="1"/>
          </p:cNvSpPr>
          <p:nvPr/>
        </p:nvSpPr>
        <p:spPr bwMode="auto">
          <a:xfrm flipV="1">
            <a:off x="7235825" y="2168525"/>
            <a:ext cx="0" cy="984250"/>
          </a:xfrm>
          <a:prstGeom prst="line">
            <a:avLst/>
          </a:prstGeom>
          <a:noFill/>
          <a:ln w="44450">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6" name="Line 39">
            <a:extLst>
              <a:ext uri="{FF2B5EF4-FFF2-40B4-BE49-F238E27FC236}">
                <a16:creationId xmlns:a16="http://schemas.microsoft.com/office/drawing/2014/main" id="{98E295B5-9EC1-461E-B2B1-4C701D4C6080}"/>
              </a:ext>
            </a:extLst>
          </p:cNvPr>
          <p:cNvSpPr>
            <a:spLocks noChangeShapeType="1"/>
          </p:cNvSpPr>
          <p:nvPr/>
        </p:nvSpPr>
        <p:spPr bwMode="auto">
          <a:xfrm flipH="1" flipV="1">
            <a:off x="5424488" y="2392363"/>
            <a:ext cx="1119187" cy="895350"/>
          </a:xfrm>
          <a:prstGeom prst="line">
            <a:avLst/>
          </a:prstGeom>
          <a:noFill/>
          <a:ln w="73025" cmpd="thickThin">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7" name="Line 43">
            <a:extLst>
              <a:ext uri="{FF2B5EF4-FFF2-40B4-BE49-F238E27FC236}">
                <a16:creationId xmlns:a16="http://schemas.microsoft.com/office/drawing/2014/main" id="{42A7D578-4D7A-4538-867F-9B02C3F25024}"/>
              </a:ext>
            </a:extLst>
          </p:cNvPr>
          <p:cNvSpPr>
            <a:spLocks noChangeShapeType="1"/>
          </p:cNvSpPr>
          <p:nvPr/>
        </p:nvSpPr>
        <p:spPr bwMode="auto">
          <a:xfrm flipV="1">
            <a:off x="7572375" y="1900238"/>
            <a:ext cx="627063" cy="0"/>
          </a:xfrm>
          <a:prstGeom prst="line">
            <a:avLst/>
          </a:prstGeom>
          <a:noFill/>
          <a:ln w="44450">
            <a:solidFill>
              <a:srgbClr val="FF66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418" name="Group 44">
            <a:extLst>
              <a:ext uri="{FF2B5EF4-FFF2-40B4-BE49-F238E27FC236}">
                <a16:creationId xmlns:a16="http://schemas.microsoft.com/office/drawing/2014/main" id="{2E719729-AC5A-4245-AE0A-1A152DFD6333}"/>
              </a:ext>
            </a:extLst>
          </p:cNvPr>
          <p:cNvGrpSpPr>
            <a:grpSpLocks/>
          </p:cNvGrpSpPr>
          <p:nvPr/>
        </p:nvGrpSpPr>
        <p:grpSpPr bwMode="auto">
          <a:xfrm rot="-1909647">
            <a:off x="6946900" y="2616200"/>
            <a:ext cx="401638" cy="268288"/>
            <a:chOff x="839" y="3385"/>
            <a:chExt cx="408" cy="272"/>
          </a:xfrm>
        </p:grpSpPr>
        <p:sp>
          <p:nvSpPr>
            <p:cNvPr id="16419" name="Line 45">
              <a:extLst>
                <a:ext uri="{FF2B5EF4-FFF2-40B4-BE49-F238E27FC236}">
                  <a16:creationId xmlns:a16="http://schemas.microsoft.com/office/drawing/2014/main" id="{3303A4C3-B80D-4F15-AE87-EE7F2E261D10}"/>
                </a:ext>
              </a:extLst>
            </p:cNvPr>
            <p:cNvSpPr>
              <a:spLocks noChangeShapeType="1"/>
            </p:cNvSpPr>
            <p:nvPr/>
          </p:nvSpPr>
          <p:spPr bwMode="auto">
            <a:xfrm>
              <a:off x="884" y="3385"/>
              <a:ext cx="318" cy="272"/>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20" name="Line 46">
              <a:extLst>
                <a:ext uri="{FF2B5EF4-FFF2-40B4-BE49-F238E27FC236}">
                  <a16:creationId xmlns:a16="http://schemas.microsoft.com/office/drawing/2014/main" id="{B60A53C4-FE2D-421E-A087-7C7097E267BF}"/>
                </a:ext>
              </a:extLst>
            </p:cNvPr>
            <p:cNvSpPr>
              <a:spLocks noChangeShapeType="1"/>
            </p:cNvSpPr>
            <p:nvPr/>
          </p:nvSpPr>
          <p:spPr bwMode="auto">
            <a:xfrm flipH="1">
              <a:off x="839" y="3385"/>
              <a:ext cx="408" cy="272"/>
            </a:xfrm>
            <a:prstGeom prst="line">
              <a:avLst/>
            </a:prstGeom>
            <a:noFill/>
            <a:ln w="5715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withEffect">
                                  <p:stCondLst>
                                    <p:cond delay="0"/>
                                  </p:stCondLst>
                                  <p:childTnLst>
                                    <p:set>
                                      <p:cBhvr>
                                        <p:cTn id="6" dur="1" fill="hold">
                                          <p:stCondLst>
                                            <p:cond delay="0"/>
                                          </p:stCondLst>
                                        </p:cTn>
                                        <p:tgtEl>
                                          <p:spTgt spid="149524"/>
                                        </p:tgtEl>
                                        <p:attrNameLst>
                                          <p:attrName>style.visibility</p:attrName>
                                        </p:attrNameLst>
                                      </p:cBhvr>
                                      <p:to>
                                        <p:strVal val="visible"/>
                                      </p:to>
                                    </p:set>
                                    <p:animEffect transition="in" filter="dissolve">
                                      <p:cBhvr>
                                        <p:cTn id="7" dur="500"/>
                                        <p:tgtEl>
                                          <p:spTgt spid="1495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49524"/>
                                        </p:tgtEl>
                                        <p:attrNameLst>
                                          <p:attrName>style.visibility</p:attrName>
                                        </p:attrNameLst>
                                      </p:cBhvr>
                                      <p:to>
                                        <p:strVal val="hidden"/>
                                      </p:to>
                                    </p:set>
                                  </p:childTnLst>
                                </p:cTn>
                              </p:par>
                              <p:par>
                                <p:cTn id="12" presetID="9" presetClass="entr" presetSubtype="0" fill="hold" grpId="0" nodeType="withEffect">
                                  <p:stCondLst>
                                    <p:cond delay="0"/>
                                  </p:stCondLst>
                                  <p:childTnLst>
                                    <p:set>
                                      <p:cBhvr>
                                        <p:cTn id="13" dur="1" fill="hold">
                                          <p:stCondLst>
                                            <p:cond delay="0"/>
                                          </p:stCondLst>
                                        </p:cTn>
                                        <p:tgtEl>
                                          <p:spTgt spid="149528"/>
                                        </p:tgtEl>
                                        <p:attrNameLst>
                                          <p:attrName>style.visibility</p:attrName>
                                        </p:attrNameLst>
                                      </p:cBhvr>
                                      <p:to>
                                        <p:strVal val="visible"/>
                                      </p:to>
                                    </p:set>
                                    <p:animEffect transition="in" filter="dissolve">
                                      <p:cBhvr>
                                        <p:cTn id="14" dur="500"/>
                                        <p:tgtEl>
                                          <p:spTgt spid="149528"/>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495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4" grpId="0"/>
      <p:bldP spid="149524" grpId="1"/>
      <p:bldP spid="149528" grpId="0"/>
      <p:bldP spid="14952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A68D004-02E3-4FA5-81F2-5E78379BAACF}"/>
              </a:ext>
            </a:extLst>
          </p:cNvPr>
          <p:cNvSpPr>
            <a:spLocks noGrp="1" noChangeArrowheads="1"/>
          </p:cNvSpPr>
          <p:nvPr>
            <p:ph type="title"/>
          </p:nvPr>
        </p:nvSpPr>
        <p:spPr/>
        <p:txBody>
          <a:bodyPr/>
          <a:lstStyle/>
          <a:p>
            <a:r>
              <a:rPr lang="zh-CN" altLang="en-US" sz="4000"/>
              <a:t>生成树</a:t>
            </a:r>
            <a:r>
              <a:rPr lang="en-US" altLang="zh-CN" sz="4000"/>
              <a:t>(STP)</a:t>
            </a:r>
            <a:r>
              <a:rPr lang="zh-CN" altLang="en-US" sz="4000"/>
              <a:t>协议（教材</a:t>
            </a:r>
            <a:r>
              <a:rPr lang="en-US" altLang="zh-CN" sz="4000"/>
              <a:t>P129-131</a:t>
            </a:r>
            <a:r>
              <a:rPr lang="zh-CN" altLang="en-US" sz="4000"/>
              <a:t>）</a:t>
            </a:r>
          </a:p>
        </p:txBody>
      </p:sp>
      <p:sp>
        <p:nvSpPr>
          <p:cNvPr id="17411" name="Rectangle 6">
            <a:extLst>
              <a:ext uri="{FF2B5EF4-FFF2-40B4-BE49-F238E27FC236}">
                <a16:creationId xmlns:a16="http://schemas.microsoft.com/office/drawing/2014/main" id="{456833A1-EE64-4CB1-8D41-640615E4C7FF}"/>
              </a:ext>
            </a:extLst>
          </p:cNvPr>
          <p:cNvSpPr>
            <a:spLocks noGrp="1" noChangeArrowheads="1"/>
          </p:cNvSpPr>
          <p:nvPr>
            <p:ph type="body" idx="1"/>
          </p:nvPr>
        </p:nvSpPr>
        <p:spPr>
          <a:xfrm>
            <a:off x="428625" y="1214438"/>
            <a:ext cx="8229600" cy="4824412"/>
          </a:xfrm>
        </p:spPr>
        <p:txBody>
          <a:bodyPr/>
          <a:lstStyle/>
          <a:p>
            <a:pPr>
              <a:lnSpc>
                <a:spcPct val="130000"/>
              </a:lnSpc>
            </a:pPr>
            <a:r>
              <a:rPr lang="zh-CN" altLang="en-US"/>
              <a:t>生成树协议概述</a:t>
            </a:r>
          </a:p>
          <a:p>
            <a:pPr lvl="1"/>
            <a:r>
              <a:rPr lang="zh-CN" altLang="en-US"/>
              <a:t>生成树协议（</a:t>
            </a:r>
            <a:r>
              <a:rPr lang="en-US" altLang="zh-CN"/>
              <a:t>spanning-tree protocol</a:t>
            </a:r>
            <a:r>
              <a:rPr lang="zh-CN" altLang="en-US"/>
              <a:t>）由</a:t>
            </a:r>
            <a:r>
              <a:rPr lang="en-US" altLang="zh-CN"/>
              <a:t>IEEE  802.1d</a:t>
            </a:r>
            <a:r>
              <a:rPr lang="zh-CN" altLang="en-US"/>
              <a:t>标准定义</a:t>
            </a:r>
          </a:p>
          <a:p>
            <a:pPr lvl="1"/>
            <a:r>
              <a:rPr lang="zh-CN" altLang="en-US"/>
              <a:t>生成树协议的作用是为了提供冗余链路，解决网络环路问题</a:t>
            </a:r>
          </a:p>
          <a:p>
            <a:pPr lvl="1"/>
            <a:r>
              <a:rPr lang="zh-CN" altLang="en-US"/>
              <a:t>生成树协议通过</a:t>
            </a:r>
            <a:r>
              <a:rPr lang="en-US" altLang="zh-CN"/>
              <a:t>SPA</a:t>
            </a:r>
            <a:r>
              <a:rPr lang="zh-CN" altLang="en-US"/>
              <a:t>（生成树算法）生成一个没有环路的网络，当主要链路出现故障时，能够自动切换到备份链路，保证网络的正常通信</a:t>
            </a:r>
            <a:endParaRPr lang="zh-CN" altLang="en-US" sz="1500"/>
          </a:p>
          <a:p>
            <a:pPr>
              <a:lnSpc>
                <a:spcPct val="130000"/>
              </a:lnSpc>
            </a:pPr>
            <a:endParaRPr lang="zh-CN" altLang="en-US"/>
          </a:p>
          <a:p>
            <a:pPr>
              <a:lnSpc>
                <a:spcPct val="130000"/>
              </a:lnSpc>
            </a:pPr>
            <a:endParaRPr lang="en-US" altLang="zh-CN"/>
          </a:p>
        </p:txBody>
      </p:sp>
      <p:pic>
        <p:nvPicPr>
          <p:cNvPr id="17412" name="Picture 7" descr="j0198715s">
            <a:extLst>
              <a:ext uri="{FF2B5EF4-FFF2-40B4-BE49-F238E27FC236}">
                <a16:creationId xmlns:a16="http://schemas.microsoft.com/office/drawing/2014/main" id="{508CE965-EC54-40D2-B7C2-C13D7B387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850" y="4652963"/>
            <a:ext cx="113347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86318A1-70DA-449C-81EE-33D8772781EC}"/>
              </a:ext>
            </a:extLst>
          </p:cNvPr>
          <p:cNvSpPr>
            <a:spLocks noGrp="1" noChangeArrowheads="1"/>
          </p:cNvSpPr>
          <p:nvPr>
            <p:ph type="title"/>
          </p:nvPr>
        </p:nvSpPr>
        <p:spPr/>
        <p:txBody>
          <a:bodyPr/>
          <a:lstStyle/>
          <a:p>
            <a:r>
              <a:rPr lang="zh-CN" altLang="en-US"/>
              <a:t>快速生成树</a:t>
            </a:r>
            <a:r>
              <a:rPr lang="en-US" altLang="zh-CN"/>
              <a:t>(RSTP)</a:t>
            </a:r>
            <a:r>
              <a:rPr lang="zh-CN" altLang="en-US"/>
              <a:t>协议</a:t>
            </a:r>
          </a:p>
        </p:txBody>
      </p:sp>
      <p:sp>
        <p:nvSpPr>
          <p:cNvPr id="18435" name="Rectangle 3">
            <a:extLst>
              <a:ext uri="{FF2B5EF4-FFF2-40B4-BE49-F238E27FC236}">
                <a16:creationId xmlns:a16="http://schemas.microsoft.com/office/drawing/2014/main" id="{CBA860CC-9C6A-4C8D-9C90-A97994EC4DD5}"/>
              </a:ext>
            </a:extLst>
          </p:cNvPr>
          <p:cNvSpPr>
            <a:spLocks noGrp="1" noChangeArrowheads="1"/>
          </p:cNvSpPr>
          <p:nvPr>
            <p:ph type="body" idx="1"/>
          </p:nvPr>
        </p:nvSpPr>
        <p:spPr/>
        <p:txBody>
          <a:bodyPr/>
          <a:lstStyle/>
          <a:p>
            <a:r>
              <a:rPr lang="zh-CN" altLang="en-US"/>
              <a:t>在</a:t>
            </a:r>
            <a:r>
              <a:rPr lang="en-US" altLang="zh-CN"/>
              <a:t>IEEE 802.1d</a:t>
            </a:r>
            <a:r>
              <a:rPr lang="zh-CN" altLang="en-US"/>
              <a:t>协议基础上改进的</a:t>
            </a:r>
            <a:r>
              <a:rPr lang="en-US" altLang="zh-CN"/>
              <a:t>IEEE 802.1w</a:t>
            </a:r>
            <a:r>
              <a:rPr lang="zh-CN" altLang="en-US"/>
              <a:t>标准定义了快速生成树协议</a:t>
            </a:r>
          </a:p>
          <a:p>
            <a:r>
              <a:rPr lang="zh-CN" altLang="en-US"/>
              <a:t>快速生成树协议为根端口和指定端口设置快速切换的替换端口和备份端口。当根端口或指定端口失效时，这两种端口就会无延时地进入转发状态。从而实现</a:t>
            </a:r>
            <a:r>
              <a:rPr lang="en-US" altLang="zh-CN"/>
              <a:t>RSTP</a:t>
            </a:r>
            <a:r>
              <a:rPr lang="zh-CN" altLang="en-US"/>
              <a:t>协议的快速收敛。</a:t>
            </a:r>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9696EC1B-3EE9-46EF-866C-338A38AB0125}"/>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19459" name="Rectangle 6">
            <a:extLst>
              <a:ext uri="{FF2B5EF4-FFF2-40B4-BE49-F238E27FC236}">
                <a16:creationId xmlns:a16="http://schemas.microsoft.com/office/drawing/2014/main" id="{26AD7BC5-ED5E-4A68-9717-28994CBA7E1C}"/>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19460" name="WordArt 10">
            <a:extLst>
              <a:ext uri="{FF2B5EF4-FFF2-40B4-BE49-F238E27FC236}">
                <a16:creationId xmlns:a16="http://schemas.microsoft.com/office/drawing/2014/main" id="{92346FBE-0390-4B0F-90C1-3FB2715AEEE2}"/>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9461" name="Rectangle 11">
            <a:extLst>
              <a:ext uri="{FF2B5EF4-FFF2-40B4-BE49-F238E27FC236}">
                <a16:creationId xmlns:a16="http://schemas.microsoft.com/office/drawing/2014/main" id="{78C480F2-443C-4AD7-9359-E913AC73D00E}"/>
              </a:ext>
            </a:extLst>
          </p:cNvPr>
          <p:cNvSpPr>
            <a:spLocks noGrp="1" noChangeArrowheads="1"/>
          </p:cNvSpPr>
          <p:nvPr>
            <p:ph type="title"/>
          </p:nvPr>
        </p:nvSpPr>
        <p:spPr>
          <a:xfrm>
            <a:off x="285750" y="3000375"/>
            <a:ext cx="8477250" cy="838200"/>
          </a:xfrm>
          <a:noFill/>
        </p:spPr>
        <p:txBody>
          <a:bodyPr/>
          <a:lstStyle/>
          <a:p>
            <a:pPr algn="ctr" eaLnBrk="1" hangingPunct="1"/>
            <a:r>
              <a:rPr lang="zh-CN" altLang="en-US"/>
              <a:t>生成树配置实验</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4565287-CB6F-4B92-A3C1-51A22FD07DF0}"/>
              </a:ext>
            </a:extLst>
          </p:cNvPr>
          <p:cNvSpPr>
            <a:spLocks noGrp="1" noChangeArrowheads="1"/>
          </p:cNvSpPr>
          <p:nvPr>
            <p:ph type="title"/>
          </p:nvPr>
        </p:nvSpPr>
        <p:spPr>
          <a:xfrm>
            <a:off x="323850" y="0"/>
            <a:ext cx="8477250" cy="838200"/>
          </a:xfrm>
        </p:spPr>
        <p:txBody>
          <a:bodyPr/>
          <a:lstStyle/>
          <a:p>
            <a:r>
              <a:rPr lang="zh-CN" altLang="en-US"/>
              <a:t>总体拓扑结构</a:t>
            </a:r>
          </a:p>
        </p:txBody>
      </p:sp>
      <p:sp>
        <p:nvSpPr>
          <p:cNvPr id="21507" name="Rectangle 5">
            <a:extLst>
              <a:ext uri="{FF2B5EF4-FFF2-40B4-BE49-F238E27FC236}">
                <a16:creationId xmlns:a16="http://schemas.microsoft.com/office/drawing/2014/main" id="{9620423F-8EB2-40A1-9DEA-061A4FDE62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pic>
        <p:nvPicPr>
          <p:cNvPr id="21508" name="图片 1">
            <a:extLst>
              <a:ext uri="{FF2B5EF4-FFF2-40B4-BE49-F238E27FC236}">
                <a16:creationId xmlns:a16="http://schemas.microsoft.com/office/drawing/2014/main" id="{DDBA6AD3-4FEA-45E4-B770-4E82F0CDB83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981075"/>
            <a:ext cx="69342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a:extLst>
              <a:ext uri="{FF2B5EF4-FFF2-40B4-BE49-F238E27FC236}">
                <a16:creationId xmlns:a16="http://schemas.microsoft.com/office/drawing/2014/main" id="{EB5AE948-DFD2-43E9-B9CB-B3604D960718}"/>
              </a:ext>
            </a:extLst>
          </p:cNvPr>
          <p:cNvCxnSpPr/>
          <p:nvPr/>
        </p:nvCxnSpPr>
        <p:spPr>
          <a:xfrm>
            <a:off x="447675" y="2636838"/>
            <a:ext cx="8353425" cy="0"/>
          </a:xfrm>
          <a:prstGeom prst="line">
            <a:avLst/>
          </a:prstGeom>
          <a:ln w="28575">
            <a:solidFill>
              <a:srgbClr val="FE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E76BF0A-74FE-413C-AEC1-D3D32B9CE83A}"/>
              </a:ext>
            </a:extLst>
          </p:cNvPr>
          <p:cNvSpPr>
            <a:spLocks noGrp="1" noChangeArrowheads="1"/>
          </p:cNvSpPr>
          <p:nvPr>
            <p:ph type="title"/>
          </p:nvPr>
        </p:nvSpPr>
        <p:spPr/>
        <p:txBody>
          <a:bodyPr/>
          <a:lstStyle/>
          <a:p>
            <a:r>
              <a:rPr lang="en-US" altLang="zh-CN"/>
              <a:t>STP</a:t>
            </a:r>
            <a:r>
              <a:rPr lang="zh-CN" altLang="en-US"/>
              <a:t>配置实验</a:t>
            </a:r>
          </a:p>
        </p:txBody>
      </p:sp>
      <p:sp>
        <p:nvSpPr>
          <p:cNvPr id="22531" name="Rectangle 2">
            <a:extLst>
              <a:ext uri="{FF2B5EF4-FFF2-40B4-BE49-F238E27FC236}">
                <a16:creationId xmlns:a16="http://schemas.microsoft.com/office/drawing/2014/main" id="{D717BA64-C217-4D43-BCD0-8F160B17B9E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pic>
        <p:nvPicPr>
          <p:cNvPr id="22532" name="图片 1">
            <a:extLst>
              <a:ext uri="{FF2B5EF4-FFF2-40B4-BE49-F238E27FC236}">
                <a16:creationId xmlns:a16="http://schemas.microsoft.com/office/drawing/2014/main" id="{99A02003-5EF9-41E3-A1B4-05D3643DE4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650" y="981075"/>
            <a:ext cx="8364538"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9FE2CE9-4979-4102-B264-C2051C0A3C27}"/>
              </a:ext>
            </a:extLst>
          </p:cNvPr>
          <p:cNvSpPr>
            <a:spLocks noGrp="1" noChangeArrowheads="1"/>
          </p:cNvSpPr>
          <p:nvPr>
            <p:ph type="title"/>
          </p:nvPr>
        </p:nvSpPr>
        <p:spPr/>
        <p:txBody>
          <a:bodyPr/>
          <a:lstStyle/>
          <a:p>
            <a:r>
              <a:rPr lang="en-US" altLang="zh-CN"/>
              <a:t>RSTP</a:t>
            </a:r>
            <a:r>
              <a:rPr lang="zh-CN" altLang="en-US"/>
              <a:t>配置实验</a:t>
            </a:r>
          </a:p>
        </p:txBody>
      </p:sp>
      <p:sp>
        <p:nvSpPr>
          <p:cNvPr id="24579" name="Rectangle 3">
            <a:extLst>
              <a:ext uri="{FF2B5EF4-FFF2-40B4-BE49-F238E27FC236}">
                <a16:creationId xmlns:a16="http://schemas.microsoft.com/office/drawing/2014/main" id="{1C8D927C-DDFD-4B25-8304-36BF8FBEA5E0}"/>
              </a:ext>
            </a:extLst>
          </p:cNvPr>
          <p:cNvSpPr>
            <a:spLocks noGrp="1" noChangeArrowheads="1"/>
          </p:cNvSpPr>
          <p:nvPr>
            <p:ph type="body" idx="1"/>
          </p:nvPr>
        </p:nvSpPr>
        <p:spPr>
          <a:xfrm>
            <a:off x="285750" y="1143000"/>
            <a:ext cx="8535988" cy="5072063"/>
          </a:xfrm>
        </p:spPr>
        <p:txBody>
          <a:bodyPr/>
          <a:lstStyle/>
          <a:p>
            <a:r>
              <a:rPr lang="zh-CN" altLang="en-US"/>
              <a:t>实验内容</a:t>
            </a:r>
          </a:p>
          <a:p>
            <a:pPr lvl="1"/>
            <a:r>
              <a:rPr lang="zh-CN" altLang="en-US" sz="2400" b="0">
                <a:solidFill>
                  <a:schemeClr val="bg2"/>
                </a:solidFill>
              </a:rPr>
              <a:t>进行网络规划，将要使用的交换机编号、端口号、计算机</a:t>
            </a:r>
            <a:r>
              <a:rPr lang="en-US" altLang="zh-CN" sz="2400" b="0">
                <a:solidFill>
                  <a:schemeClr val="bg2"/>
                </a:solidFill>
              </a:rPr>
              <a:t>ip</a:t>
            </a:r>
            <a:r>
              <a:rPr lang="zh-CN" altLang="en-US" sz="2400" b="0">
                <a:solidFill>
                  <a:schemeClr val="bg2"/>
                </a:solidFill>
              </a:rPr>
              <a:t>及子网掩码写在图上。</a:t>
            </a:r>
          </a:p>
          <a:p>
            <a:pPr lvl="1"/>
            <a:r>
              <a:rPr lang="zh-CN" altLang="en-US" sz="2400" b="0">
                <a:solidFill>
                  <a:schemeClr val="bg2"/>
                </a:solidFill>
              </a:rPr>
              <a:t>配置计算机</a:t>
            </a:r>
            <a:r>
              <a:rPr lang="en-US" altLang="zh-CN" sz="2400" b="0">
                <a:solidFill>
                  <a:schemeClr val="bg2"/>
                </a:solidFill>
              </a:rPr>
              <a:t>ip</a:t>
            </a:r>
          </a:p>
          <a:p>
            <a:pPr lvl="1"/>
            <a:r>
              <a:rPr lang="zh-CN" altLang="en-US" sz="2400" b="0">
                <a:solidFill>
                  <a:schemeClr val="bg2"/>
                </a:solidFill>
              </a:rPr>
              <a:t>测试网络连通情况</a:t>
            </a:r>
            <a:endParaRPr lang="en-US" altLang="zh-CN" sz="2400" b="0">
              <a:solidFill>
                <a:schemeClr val="bg2"/>
              </a:solidFill>
            </a:endParaRPr>
          </a:p>
          <a:p>
            <a:pPr lvl="1"/>
            <a:r>
              <a:rPr lang="zh-CN" altLang="en-US" sz="2400" b="0">
                <a:solidFill>
                  <a:schemeClr val="bg2"/>
                </a:solidFill>
              </a:rPr>
              <a:t>在三台交换机上配置生成树</a:t>
            </a:r>
          </a:p>
          <a:p>
            <a:pPr lvl="1"/>
            <a:r>
              <a:rPr lang="zh-CN" altLang="en-US" sz="2400" b="0">
                <a:solidFill>
                  <a:schemeClr val="bg2"/>
                </a:solidFill>
              </a:rPr>
              <a:t>查看交换机上生成树状态，确定网络中的主链路和备用链路</a:t>
            </a:r>
            <a:endParaRPr lang="en-US" altLang="zh-CN" sz="2400" b="0">
              <a:solidFill>
                <a:schemeClr val="bg2"/>
              </a:solidFill>
            </a:endParaRPr>
          </a:p>
          <a:p>
            <a:pPr lvl="1"/>
            <a:r>
              <a:rPr lang="zh-CN" altLang="en-US" sz="2400" b="0">
                <a:solidFill>
                  <a:schemeClr val="bg2"/>
                </a:solidFill>
              </a:rPr>
              <a:t>在一台计算机上连续</a:t>
            </a:r>
            <a:r>
              <a:rPr lang="en-US" altLang="zh-CN" sz="2400" b="0">
                <a:solidFill>
                  <a:schemeClr val="bg2"/>
                </a:solidFill>
              </a:rPr>
              <a:t>ping</a:t>
            </a:r>
            <a:r>
              <a:rPr lang="zh-CN" altLang="en-US" sz="2400" b="0">
                <a:solidFill>
                  <a:schemeClr val="bg2"/>
                </a:solidFill>
              </a:rPr>
              <a:t>另一台计算机，分别拔掉备用链路和主链路的连线，查看丢包情况</a:t>
            </a:r>
            <a:endParaRPr lang="en-US" altLang="zh-CN" sz="2400" b="0">
              <a:solidFill>
                <a:schemeClr val="bg2"/>
              </a:solidFill>
            </a:endParaRPr>
          </a:p>
          <a:p>
            <a:pPr lvl="1"/>
            <a:r>
              <a:rPr lang="zh-CN" altLang="en-US" sz="2400" b="0">
                <a:solidFill>
                  <a:schemeClr val="bg2"/>
                </a:solidFill>
              </a:rPr>
              <a:t>分析断开连线时，备用链路和主链路的不同</a:t>
            </a:r>
          </a:p>
          <a:p>
            <a:pPr lvl="1">
              <a:lnSpc>
                <a:spcPct val="90000"/>
              </a:lnSpc>
            </a:pPr>
            <a:endParaRPr lang="en-US" altLang="zh-CN"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386776E-2177-447A-B6D1-0ADEF66727BD}"/>
              </a:ext>
            </a:extLst>
          </p:cNvPr>
          <p:cNvSpPr>
            <a:spLocks noGrp="1" noChangeArrowheads="1"/>
          </p:cNvSpPr>
          <p:nvPr>
            <p:ph type="title"/>
          </p:nvPr>
        </p:nvSpPr>
        <p:spPr/>
        <p:txBody>
          <a:bodyPr/>
          <a:lstStyle/>
          <a:p>
            <a:r>
              <a:rPr lang="zh-CN" altLang="en-US"/>
              <a:t>生成树协议的配置命令</a:t>
            </a:r>
          </a:p>
        </p:txBody>
      </p:sp>
      <p:sp>
        <p:nvSpPr>
          <p:cNvPr id="26627" name="Rectangle 3">
            <a:extLst>
              <a:ext uri="{FF2B5EF4-FFF2-40B4-BE49-F238E27FC236}">
                <a16:creationId xmlns:a16="http://schemas.microsoft.com/office/drawing/2014/main" id="{FBE043B5-02AC-4869-93E8-12E1063F575F}"/>
              </a:ext>
            </a:extLst>
          </p:cNvPr>
          <p:cNvSpPr>
            <a:spLocks noGrp="1" noChangeArrowheads="1"/>
          </p:cNvSpPr>
          <p:nvPr>
            <p:ph type="body" idx="1"/>
          </p:nvPr>
        </p:nvSpPr>
        <p:spPr>
          <a:xfrm>
            <a:off x="285750" y="1071563"/>
            <a:ext cx="8639175" cy="5453062"/>
          </a:xfrm>
        </p:spPr>
        <p:txBody>
          <a:bodyPr/>
          <a:lstStyle/>
          <a:p>
            <a:r>
              <a:rPr lang="zh-CN" altLang="en-US"/>
              <a:t>开启生成树协议</a:t>
            </a:r>
          </a:p>
          <a:p>
            <a:pPr lvl="1"/>
            <a:r>
              <a:rPr lang="en-US" altLang="zh-CN"/>
              <a:t>Switch(config)#</a:t>
            </a:r>
            <a:r>
              <a:rPr lang="en-US" altLang="zh-CN">
                <a:solidFill>
                  <a:srgbClr val="0000FF"/>
                </a:solidFill>
              </a:rPr>
              <a:t>Spanning-tree</a:t>
            </a:r>
            <a:endParaRPr kumimoji="1" lang="en-US" altLang="zh-CN" sz="1500">
              <a:solidFill>
                <a:srgbClr val="0000FF"/>
              </a:solidFill>
            </a:endParaRPr>
          </a:p>
          <a:p>
            <a:r>
              <a:rPr lang="zh-CN" altLang="en-US"/>
              <a:t>关闭生成树协议</a:t>
            </a:r>
          </a:p>
          <a:p>
            <a:pPr lvl="1"/>
            <a:r>
              <a:rPr lang="en-US" altLang="zh-CN"/>
              <a:t>Switch(config)#</a:t>
            </a:r>
            <a:r>
              <a:rPr lang="en-US" altLang="zh-CN">
                <a:solidFill>
                  <a:srgbClr val="0000FF"/>
                </a:solidFill>
              </a:rPr>
              <a:t>no Spanning-tree</a:t>
            </a:r>
          </a:p>
          <a:p>
            <a:r>
              <a:rPr lang="zh-CN" altLang="en-US"/>
              <a:t>配置生成树协议的类型</a:t>
            </a:r>
            <a:r>
              <a:rPr lang="en-US" altLang="zh-CN"/>
              <a:t>(</a:t>
            </a:r>
            <a:r>
              <a:rPr lang="zh-CN" altLang="en-US"/>
              <a:t>三台交换机要一致</a:t>
            </a:r>
            <a:r>
              <a:rPr lang="en-US" altLang="zh-CN"/>
              <a:t>)</a:t>
            </a:r>
          </a:p>
          <a:p>
            <a:pPr lvl="1" algn="just">
              <a:lnSpc>
                <a:spcPct val="150000"/>
              </a:lnSpc>
            </a:pPr>
            <a:r>
              <a:rPr lang="en-US" altLang="zh-CN"/>
              <a:t>Switch(config)#</a:t>
            </a:r>
            <a:r>
              <a:rPr lang="en-US" altLang="zh-CN">
                <a:solidFill>
                  <a:srgbClr val="0000FF"/>
                </a:solidFill>
              </a:rPr>
              <a:t>Spanning-tree mode stp/rstp</a:t>
            </a:r>
          </a:p>
          <a:p>
            <a:pPr lvl="1" algn="just">
              <a:lnSpc>
                <a:spcPct val="150000"/>
              </a:lnSpc>
            </a:pPr>
            <a:r>
              <a:rPr lang="zh-CN" altLang="en-US"/>
              <a:t>锐捷全系列交换机默认使用</a:t>
            </a:r>
            <a:r>
              <a:rPr lang="en-US" altLang="zh-CN"/>
              <a:t>MSTP</a:t>
            </a:r>
            <a:r>
              <a:rPr lang="zh-CN" altLang="en-US"/>
              <a:t>协议</a:t>
            </a:r>
          </a:p>
          <a:p>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96D015D-6F1C-495B-81C3-6E7C6F5D9636}"/>
              </a:ext>
            </a:extLst>
          </p:cNvPr>
          <p:cNvSpPr>
            <a:spLocks noGrp="1" noChangeArrowheads="1"/>
          </p:cNvSpPr>
          <p:nvPr>
            <p:ph type="title"/>
          </p:nvPr>
        </p:nvSpPr>
        <p:spPr/>
        <p:txBody>
          <a:bodyPr/>
          <a:lstStyle/>
          <a:p>
            <a:r>
              <a:rPr lang="zh-CN" altLang="en-US">
                <a:latin typeface="宋体" panose="02010600030101010101" pitchFamily="2" charset="-122"/>
              </a:rPr>
              <a:t>生成树协议的配置命令</a:t>
            </a:r>
          </a:p>
        </p:txBody>
      </p:sp>
      <p:sp>
        <p:nvSpPr>
          <p:cNvPr id="27651" name="Rectangle 5">
            <a:extLst>
              <a:ext uri="{FF2B5EF4-FFF2-40B4-BE49-F238E27FC236}">
                <a16:creationId xmlns:a16="http://schemas.microsoft.com/office/drawing/2014/main" id="{57F999BE-2ADB-4A35-8096-C02363E9EA8E}"/>
              </a:ext>
            </a:extLst>
          </p:cNvPr>
          <p:cNvSpPr>
            <a:spLocks noGrp="1" noChangeArrowheads="1"/>
          </p:cNvSpPr>
          <p:nvPr>
            <p:ph type="body" idx="1"/>
          </p:nvPr>
        </p:nvSpPr>
        <p:spPr>
          <a:xfrm>
            <a:off x="571500" y="1000125"/>
            <a:ext cx="8208963" cy="5092700"/>
          </a:xfrm>
        </p:spPr>
        <p:txBody>
          <a:bodyPr/>
          <a:lstStyle/>
          <a:p>
            <a:pPr>
              <a:lnSpc>
                <a:spcPct val="80000"/>
              </a:lnSpc>
            </a:pPr>
            <a:r>
              <a:rPr lang="zh-CN" altLang="en-US"/>
              <a:t>配置交换机优先级（设置根交换机）</a:t>
            </a:r>
          </a:p>
          <a:p>
            <a:pPr lvl="1">
              <a:lnSpc>
                <a:spcPct val="80000"/>
              </a:lnSpc>
            </a:pPr>
            <a:r>
              <a:rPr lang="en-US" altLang="zh-CN" sz="2400"/>
              <a:t>Switch(config)#</a:t>
            </a:r>
            <a:r>
              <a:rPr lang="en-US" altLang="zh-CN" sz="2400">
                <a:solidFill>
                  <a:srgbClr val="0000FF"/>
                </a:solidFill>
              </a:rPr>
              <a:t>spanning-tree priority</a:t>
            </a:r>
            <a:r>
              <a:rPr lang="en-US" altLang="zh-CN" sz="2400"/>
              <a:t> </a:t>
            </a:r>
            <a:r>
              <a:rPr lang="en-US" altLang="zh-CN" sz="2400">
                <a:solidFill>
                  <a:srgbClr val="FF0000"/>
                </a:solidFill>
              </a:rPr>
              <a:t>&lt;0-61440&gt;</a:t>
            </a:r>
            <a:r>
              <a:rPr lang="en-US" altLang="zh-CN" sz="2400"/>
              <a:t>  </a:t>
            </a:r>
          </a:p>
          <a:p>
            <a:pPr lvl="1">
              <a:lnSpc>
                <a:spcPct val="80000"/>
              </a:lnSpc>
              <a:buFont typeface="Wingdings" panose="05000000000000000000" pitchFamily="2" charset="2"/>
              <a:buNone/>
            </a:pPr>
            <a:r>
              <a:rPr lang="en-US" altLang="zh-CN" sz="2400"/>
              <a:t>     ( 0 </a:t>
            </a:r>
            <a:r>
              <a:rPr lang="zh-CN" altLang="en-US" sz="2400"/>
              <a:t>或 </a:t>
            </a:r>
            <a:r>
              <a:rPr lang="en-US" altLang="zh-CN" sz="2400"/>
              <a:t>4096 </a:t>
            </a:r>
            <a:r>
              <a:rPr lang="zh-CN" altLang="en-US" sz="2400"/>
              <a:t>的倍数。数值小，优先级高</a:t>
            </a:r>
            <a:r>
              <a:rPr lang="en-US" altLang="zh-CN" sz="2400"/>
              <a:t>)</a:t>
            </a:r>
          </a:p>
          <a:p>
            <a:pPr>
              <a:lnSpc>
                <a:spcPct val="80000"/>
              </a:lnSpc>
            </a:pPr>
            <a:r>
              <a:rPr lang="zh-CN" altLang="en-US"/>
              <a:t>恢复到缺省值</a:t>
            </a:r>
          </a:p>
          <a:p>
            <a:pPr lvl="1">
              <a:lnSpc>
                <a:spcPct val="80000"/>
              </a:lnSpc>
            </a:pPr>
            <a:r>
              <a:rPr lang="en-US" altLang="zh-CN" sz="2400"/>
              <a:t>Switch(config)# </a:t>
            </a:r>
            <a:r>
              <a:rPr lang="en-US" altLang="zh-CN" sz="2400">
                <a:solidFill>
                  <a:srgbClr val="0000FF"/>
                </a:solidFill>
              </a:rPr>
              <a:t>no</a:t>
            </a:r>
            <a:r>
              <a:rPr lang="zh-CN" altLang="en-US" sz="2400">
                <a:solidFill>
                  <a:srgbClr val="0000FF"/>
                </a:solidFill>
              </a:rPr>
              <a:t>　</a:t>
            </a:r>
            <a:r>
              <a:rPr lang="en-US" altLang="zh-CN" sz="2400">
                <a:solidFill>
                  <a:srgbClr val="0000FF"/>
                </a:solidFill>
              </a:rPr>
              <a:t>spanning-tree priority</a:t>
            </a:r>
          </a:p>
          <a:p>
            <a:pPr>
              <a:lnSpc>
                <a:spcPct val="80000"/>
              </a:lnSpc>
            </a:pPr>
            <a:r>
              <a:rPr lang="zh-CN" altLang="en-US"/>
              <a:t>配置交换机端口的优先级（可选，设置端口转发</a:t>
            </a:r>
            <a:r>
              <a:rPr lang="en-US" altLang="zh-CN"/>
              <a:t>/</a:t>
            </a:r>
            <a:r>
              <a:rPr lang="zh-CN" altLang="en-US"/>
              <a:t>阻塞状态）</a:t>
            </a:r>
          </a:p>
          <a:p>
            <a:pPr lvl="1">
              <a:lnSpc>
                <a:spcPct val="80000"/>
              </a:lnSpc>
            </a:pPr>
            <a:r>
              <a:rPr lang="en-US" altLang="zh-CN" sz="2400"/>
              <a:t>Switch(config)# </a:t>
            </a:r>
            <a:r>
              <a:rPr lang="en-US" altLang="zh-CN" sz="2400">
                <a:solidFill>
                  <a:srgbClr val="0000FF"/>
                </a:solidFill>
              </a:rPr>
              <a:t>interface fastethernet</a:t>
            </a:r>
            <a:r>
              <a:rPr lang="en-US" altLang="zh-CN" sz="2400"/>
              <a:t> </a:t>
            </a:r>
            <a:r>
              <a:rPr lang="en-US" altLang="zh-CN" sz="2400" b="0" i="1">
                <a:solidFill>
                  <a:srgbClr val="FF0000"/>
                </a:solidFill>
              </a:rPr>
              <a:t>mod-num/port-num</a:t>
            </a:r>
          </a:p>
          <a:p>
            <a:pPr lvl="1">
              <a:lnSpc>
                <a:spcPct val="80000"/>
              </a:lnSpc>
            </a:pPr>
            <a:r>
              <a:rPr lang="en-US" altLang="zh-CN" sz="2400"/>
              <a:t>Switch(config-if)#</a:t>
            </a:r>
            <a:r>
              <a:rPr lang="en-US" altLang="zh-CN" sz="2400">
                <a:solidFill>
                  <a:srgbClr val="0000FF"/>
                </a:solidFill>
              </a:rPr>
              <a:t>spanning-tree port-priority</a:t>
            </a:r>
            <a:r>
              <a:rPr lang="en-US" altLang="zh-CN" sz="2400"/>
              <a:t>  </a:t>
            </a:r>
            <a:r>
              <a:rPr lang="en-US" altLang="zh-CN" sz="2400">
                <a:solidFill>
                  <a:srgbClr val="FE0000"/>
                </a:solidFill>
              </a:rPr>
              <a:t>&lt;0-240&gt;</a:t>
            </a:r>
          </a:p>
          <a:p>
            <a:pPr lvl="1">
              <a:lnSpc>
                <a:spcPct val="80000"/>
              </a:lnSpc>
              <a:buFont typeface="Wingdings" panose="05000000000000000000" pitchFamily="2" charset="2"/>
              <a:buNone/>
            </a:pPr>
            <a:r>
              <a:rPr lang="en-US" altLang="zh-CN" sz="2400" i="1">
                <a:solidFill>
                  <a:srgbClr val="FF3300"/>
                </a:solidFill>
              </a:rPr>
              <a:t>		</a:t>
            </a:r>
            <a:r>
              <a:rPr lang="zh-CN" altLang="en-US" sz="2400"/>
              <a:t>（</a:t>
            </a:r>
            <a:r>
              <a:rPr lang="en-US" altLang="zh-CN" sz="2400"/>
              <a:t>0 </a:t>
            </a:r>
            <a:r>
              <a:rPr lang="zh-CN" altLang="en-US" sz="2400"/>
              <a:t>或 </a:t>
            </a:r>
            <a:r>
              <a:rPr lang="en-US" altLang="zh-CN" sz="2400"/>
              <a:t>16 </a:t>
            </a:r>
            <a:r>
              <a:rPr lang="zh-CN" altLang="en-US" sz="2400"/>
              <a:t>的倍数）</a:t>
            </a:r>
            <a:endParaRPr lang="en-US" altLang="zh-CN"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90B4A633-DABE-416E-A958-550A6B7BDD01}"/>
              </a:ext>
            </a:extLst>
          </p:cNvPr>
          <p:cNvSpPr>
            <a:spLocks noGrp="1" noChangeArrowheads="1"/>
          </p:cNvSpPr>
          <p:nvPr>
            <p:ph type="body" idx="1"/>
          </p:nvPr>
        </p:nvSpPr>
        <p:spPr>
          <a:xfrm>
            <a:off x="571500" y="857250"/>
            <a:ext cx="8305800" cy="5257800"/>
          </a:xfrm>
        </p:spPr>
        <p:txBody>
          <a:bodyPr/>
          <a:lstStyle/>
          <a:p>
            <a:r>
              <a:rPr lang="en-US" altLang="zh-CN"/>
              <a:t>Spanning Tree </a:t>
            </a:r>
            <a:r>
              <a:rPr lang="zh-CN" altLang="en-US"/>
              <a:t>的缺省配置：</a:t>
            </a:r>
          </a:p>
          <a:p>
            <a:pPr lvl="1"/>
            <a:r>
              <a:rPr lang="zh-CN" altLang="en-US"/>
              <a:t>关闭</a:t>
            </a:r>
            <a:r>
              <a:rPr lang="en-US" altLang="zh-CN"/>
              <a:t>STP</a:t>
            </a:r>
          </a:p>
          <a:p>
            <a:pPr lvl="1"/>
            <a:r>
              <a:rPr lang="en-US" altLang="zh-CN"/>
              <a:t>STP Priority </a:t>
            </a:r>
            <a:r>
              <a:rPr lang="zh-CN" altLang="en-US"/>
              <a:t>是</a:t>
            </a:r>
            <a:r>
              <a:rPr lang="en-US" altLang="zh-CN"/>
              <a:t>32768</a:t>
            </a:r>
          </a:p>
          <a:p>
            <a:pPr lvl="1"/>
            <a:r>
              <a:rPr lang="en-US" altLang="zh-CN"/>
              <a:t>STP port Priority </a:t>
            </a:r>
            <a:r>
              <a:rPr lang="zh-CN" altLang="en-US"/>
              <a:t>是</a:t>
            </a:r>
            <a:r>
              <a:rPr lang="en-US" altLang="zh-CN"/>
              <a:t>128</a:t>
            </a:r>
          </a:p>
          <a:p>
            <a:pPr lvl="1"/>
            <a:r>
              <a:rPr lang="en-US" altLang="zh-CN"/>
              <a:t>STP port cost </a:t>
            </a:r>
            <a:r>
              <a:rPr lang="zh-CN" altLang="en-US"/>
              <a:t>根据端口速率自动判断</a:t>
            </a:r>
          </a:p>
          <a:p>
            <a:pPr lvl="1"/>
            <a:r>
              <a:rPr lang="en-US" altLang="zh-CN"/>
              <a:t>Hello Time 2</a:t>
            </a:r>
            <a:r>
              <a:rPr lang="zh-CN" altLang="en-US"/>
              <a:t>秒</a:t>
            </a:r>
          </a:p>
          <a:p>
            <a:pPr lvl="1"/>
            <a:r>
              <a:rPr lang="en-US" altLang="zh-CN"/>
              <a:t>Forward-delay Time 15</a:t>
            </a:r>
            <a:r>
              <a:rPr lang="zh-CN" altLang="en-US"/>
              <a:t>秒</a:t>
            </a:r>
          </a:p>
          <a:p>
            <a:pPr lvl="1"/>
            <a:r>
              <a:rPr lang="en-US" altLang="zh-CN"/>
              <a:t>Max-age Time 20</a:t>
            </a:r>
            <a:r>
              <a:rPr lang="zh-CN" altLang="en-US"/>
              <a:t>秒</a:t>
            </a:r>
          </a:p>
          <a:p>
            <a:pPr lvl="1"/>
            <a:r>
              <a:rPr lang="zh-CN" altLang="en-US"/>
              <a:t>可通过</a:t>
            </a:r>
            <a:r>
              <a:rPr lang="en-US" altLang="zh-CN"/>
              <a:t>spanning-tree reset </a:t>
            </a:r>
            <a:r>
              <a:rPr lang="zh-CN" altLang="en-US"/>
              <a:t>命令让</a:t>
            </a:r>
            <a:r>
              <a:rPr lang="en-US" altLang="zh-CN"/>
              <a:t>spanning tree</a:t>
            </a:r>
            <a:r>
              <a:rPr lang="zh-CN" altLang="en-US"/>
              <a:t>参数恢复到缺省配置</a:t>
            </a:r>
          </a:p>
        </p:txBody>
      </p:sp>
      <p:sp>
        <p:nvSpPr>
          <p:cNvPr id="28675" name="Rectangle 5">
            <a:extLst>
              <a:ext uri="{FF2B5EF4-FFF2-40B4-BE49-F238E27FC236}">
                <a16:creationId xmlns:a16="http://schemas.microsoft.com/office/drawing/2014/main" id="{973132CE-A626-4A58-B6B2-96E6A7C3788E}"/>
              </a:ext>
            </a:extLst>
          </p:cNvPr>
          <p:cNvSpPr>
            <a:spLocks noGrp="1" noChangeArrowheads="1"/>
          </p:cNvSpPr>
          <p:nvPr>
            <p:ph type="title"/>
          </p:nvPr>
        </p:nvSpPr>
        <p:spPr/>
        <p:txBody>
          <a:bodyPr/>
          <a:lstStyle/>
          <a:p>
            <a:r>
              <a:rPr lang="zh-CN" altLang="en-US"/>
              <a:t>配置</a:t>
            </a:r>
            <a:r>
              <a:rPr lang="en-US" altLang="zh-CN"/>
              <a:t>STP</a:t>
            </a:r>
            <a:r>
              <a:rPr lang="zh-CN" altLang="en-US"/>
              <a:t>、</a:t>
            </a:r>
            <a:r>
              <a:rPr lang="en-US" altLang="zh-CN"/>
              <a:t>RSTP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30C376E-7EF6-478C-9B8D-7ECE88B8CAC7}"/>
              </a:ext>
            </a:extLst>
          </p:cNvPr>
          <p:cNvSpPr>
            <a:spLocks noGrp="1" noChangeArrowheads="1"/>
          </p:cNvSpPr>
          <p:nvPr>
            <p:ph type="title"/>
          </p:nvPr>
        </p:nvSpPr>
        <p:spPr/>
        <p:txBody>
          <a:bodyPr/>
          <a:lstStyle/>
          <a:p>
            <a:r>
              <a:rPr lang="zh-CN" altLang="en-US"/>
              <a:t>查看生成树协议配置</a:t>
            </a:r>
          </a:p>
        </p:txBody>
      </p:sp>
      <p:sp>
        <p:nvSpPr>
          <p:cNvPr id="30723" name="Rectangle 3">
            <a:extLst>
              <a:ext uri="{FF2B5EF4-FFF2-40B4-BE49-F238E27FC236}">
                <a16:creationId xmlns:a16="http://schemas.microsoft.com/office/drawing/2014/main" id="{21EC5C7C-2D69-4460-A679-EEFEE9E9B76D}"/>
              </a:ext>
            </a:extLst>
          </p:cNvPr>
          <p:cNvSpPr>
            <a:spLocks noGrp="1" noChangeArrowheads="1"/>
          </p:cNvSpPr>
          <p:nvPr>
            <p:ph type="body" idx="1"/>
          </p:nvPr>
        </p:nvSpPr>
        <p:spPr>
          <a:xfrm>
            <a:off x="827088" y="1350963"/>
            <a:ext cx="7272337" cy="4598987"/>
          </a:xfrm>
        </p:spPr>
        <p:txBody>
          <a:bodyPr/>
          <a:lstStyle/>
          <a:p>
            <a:r>
              <a:rPr lang="zh-CN" altLang="en-US"/>
              <a:t>显示生成树状态</a:t>
            </a:r>
          </a:p>
          <a:p>
            <a:pPr lvl="1"/>
            <a:r>
              <a:rPr lang="en-US" altLang="zh-CN"/>
              <a:t>Switch#</a:t>
            </a:r>
            <a:r>
              <a:rPr lang="en-US" altLang="zh-CN">
                <a:solidFill>
                  <a:srgbClr val="0000FF"/>
                </a:solidFill>
              </a:rPr>
              <a:t>show spanning-tree</a:t>
            </a:r>
          </a:p>
          <a:p>
            <a:r>
              <a:rPr lang="zh-CN" altLang="en-US"/>
              <a:t>显示端口生成树协议的状态</a:t>
            </a:r>
          </a:p>
          <a:p>
            <a:pPr lvl="1"/>
            <a:r>
              <a:rPr lang="en-US" altLang="zh-CN"/>
              <a:t>Switch#</a:t>
            </a:r>
            <a:r>
              <a:rPr lang="en-US" altLang="zh-CN">
                <a:solidFill>
                  <a:srgbClr val="0000FF"/>
                </a:solidFill>
              </a:rPr>
              <a:t>show spanning-tree interface fastethernet</a:t>
            </a:r>
            <a:r>
              <a:rPr lang="en-US" altLang="zh-CN"/>
              <a:t> </a:t>
            </a:r>
            <a:r>
              <a:rPr lang="en-US" altLang="zh-CN" b="0" i="1">
                <a:solidFill>
                  <a:srgbClr val="FF0000"/>
                </a:solidFill>
              </a:rPr>
              <a:t>mod-num/port-num</a:t>
            </a:r>
          </a:p>
          <a:p>
            <a:pPr lvl="1"/>
            <a:endParaRPr lang="en-US" altLang="zh-CN"/>
          </a:p>
          <a:p>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5174992-FA40-4239-B363-A5077E8DB8E9}"/>
              </a:ext>
            </a:extLst>
          </p:cNvPr>
          <p:cNvSpPr>
            <a:spLocks noGrp="1" noChangeArrowheads="1"/>
          </p:cNvSpPr>
          <p:nvPr>
            <p:ph type="title"/>
          </p:nvPr>
        </p:nvSpPr>
        <p:spPr/>
        <p:txBody>
          <a:bodyPr/>
          <a:lstStyle/>
          <a:p>
            <a:r>
              <a:rPr lang="zh-CN" altLang="en-US"/>
              <a:t>生成树协议配置信息</a:t>
            </a:r>
          </a:p>
        </p:txBody>
      </p:sp>
      <p:sp>
        <p:nvSpPr>
          <p:cNvPr id="32771" name="Rectangle 3">
            <a:extLst>
              <a:ext uri="{FF2B5EF4-FFF2-40B4-BE49-F238E27FC236}">
                <a16:creationId xmlns:a16="http://schemas.microsoft.com/office/drawing/2014/main" id="{310D3F0A-7661-43A3-A37E-FEA8B8FC0522}"/>
              </a:ext>
            </a:extLst>
          </p:cNvPr>
          <p:cNvSpPr>
            <a:spLocks noGrp="1" noChangeArrowheads="1"/>
          </p:cNvSpPr>
          <p:nvPr>
            <p:ph type="body" idx="1"/>
          </p:nvPr>
        </p:nvSpPr>
        <p:spPr>
          <a:xfrm>
            <a:off x="611560" y="873951"/>
            <a:ext cx="7272337" cy="5357813"/>
          </a:xfrm>
        </p:spPr>
        <p:txBody>
          <a:bodyPr/>
          <a:lstStyle/>
          <a:p>
            <a:pPr>
              <a:lnSpc>
                <a:spcPts val="1500"/>
              </a:lnSpc>
              <a:buFont typeface="Wingdings" panose="05000000000000000000" pitchFamily="2" charset="2"/>
              <a:buNone/>
            </a:pPr>
            <a:r>
              <a:rPr lang="en-US" altLang="zh-CN" sz="1600" dirty="0">
                <a:solidFill>
                  <a:srgbClr val="0000FF"/>
                </a:solidFill>
                <a:latin typeface="宋体" panose="02010600030101010101" pitchFamily="2" charset="-122"/>
                <a:ea typeface="宋体" panose="02010600030101010101" pitchFamily="2" charset="-122"/>
              </a:rPr>
              <a:t># Show spanning-tree</a:t>
            </a:r>
          </a:p>
          <a:p>
            <a:pPr>
              <a:lnSpc>
                <a:spcPts val="1500"/>
              </a:lnSpc>
              <a:buFont typeface="Wingdings" panose="05000000000000000000" pitchFamily="2" charset="2"/>
              <a:buNone/>
            </a:pPr>
            <a:r>
              <a:rPr lang="en-US" altLang="zh-CN" sz="1600" b="0" dirty="0" err="1">
                <a:solidFill>
                  <a:srgbClr val="FF0000"/>
                </a:solidFill>
                <a:latin typeface="宋体" panose="02010600030101010101" pitchFamily="2" charset="-122"/>
                <a:ea typeface="宋体" panose="02010600030101010101" pitchFamily="2" charset="-122"/>
              </a:rPr>
              <a:t>StpVersion</a:t>
            </a:r>
            <a:r>
              <a:rPr lang="en-US" altLang="zh-CN" sz="1600" b="0" dirty="0">
                <a:solidFill>
                  <a:srgbClr val="FF0000"/>
                </a:solidFill>
                <a:latin typeface="宋体" panose="02010600030101010101" pitchFamily="2" charset="-122"/>
                <a:ea typeface="宋体" panose="02010600030101010101" pitchFamily="2" charset="-122"/>
              </a:rPr>
              <a:t> : RSTP</a:t>
            </a:r>
            <a:endParaRPr lang="zh-CN" altLang="en-US" sz="1600" b="0" dirty="0">
              <a:solidFill>
                <a:srgbClr val="FF0000"/>
              </a:solidFill>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SysStpStatus</a:t>
            </a:r>
            <a:r>
              <a:rPr lang="en-US" altLang="zh-CN" sz="1600" b="0" dirty="0">
                <a:latin typeface="宋体" panose="02010600030101010101" pitchFamily="2" charset="-122"/>
                <a:ea typeface="宋体" panose="02010600030101010101" pitchFamily="2" charset="-122"/>
              </a:rPr>
              <a:t> : Enabled</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BaseNumPorts</a:t>
            </a:r>
            <a:r>
              <a:rPr lang="en-US" altLang="zh-CN" sz="1600" b="0" dirty="0">
                <a:latin typeface="宋体" panose="02010600030101010101" pitchFamily="2" charset="-122"/>
                <a:ea typeface="宋体" panose="02010600030101010101" pitchFamily="2" charset="-122"/>
              </a:rPr>
              <a:t> : 24</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MaxAge</a:t>
            </a:r>
            <a:r>
              <a:rPr lang="en-US" altLang="zh-CN" sz="1600" b="0" dirty="0">
                <a:latin typeface="宋体" panose="02010600030101010101" pitchFamily="2" charset="-122"/>
                <a:ea typeface="宋体" panose="02010600030101010101" pitchFamily="2" charset="-122"/>
              </a:rPr>
              <a:t> : 20</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HelloTime</a:t>
            </a:r>
            <a:r>
              <a:rPr lang="en-US" altLang="zh-CN" sz="1600" b="0" dirty="0">
                <a:latin typeface="宋体" panose="02010600030101010101" pitchFamily="2" charset="-122"/>
                <a:ea typeface="宋体" panose="02010600030101010101" pitchFamily="2" charset="-122"/>
              </a:rPr>
              <a:t> : 2</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ForwardDelay</a:t>
            </a:r>
            <a:r>
              <a:rPr lang="en-US" altLang="zh-CN" sz="1600" b="0" dirty="0">
                <a:latin typeface="宋体" panose="02010600030101010101" pitchFamily="2" charset="-122"/>
                <a:ea typeface="宋体" panose="02010600030101010101" pitchFamily="2" charset="-122"/>
              </a:rPr>
              <a:t> : 15</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BridgeMaxAge</a:t>
            </a:r>
            <a:r>
              <a:rPr lang="en-US" altLang="zh-CN" sz="1600" b="0" dirty="0">
                <a:latin typeface="宋体" panose="02010600030101010101" pitchFamily="2" charset="-122"/>
                <a:ea typeface="宋体" panose="02010600030101010101" pitchFamily="2" charset="-122"/>
              </a:rPr>
              <a:t> : 20</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BridgeHelloTime</a:t>
            </a:r>
            <a:r>
              <a:rPr lang="en-US" altLang="zh-CN" sz="1600" b="0" dirty="0">
                <a:latin typeface="宋体" panose="02010600030101010101" pitchFamily="2" charset="-122"/>
                <a:ea typeface="宋体" panose="02010600030101010101" pitchFamily="2" charset="-122"/>
              </a:rPr>
              <a:t> : 2</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BridgeForwardDelay</a:t>
            </a:r>
            <a:r>
              <a:rPr lang="en-US" altLang="zh-CN" sz="1600" b="0" dirty="0">
                <a:latin typeface="宋体" panose="02010600030101010101" pitchFamily="2" charset="-122"/>
                <a:ea typeface="宋体" panose="02010600030101010101" pitchFamily="2" charset="-122"/>
              </a:rPr>
              <a:t> : 15</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MaxHops</a:t>
            </a:r>
            <a:r>
              <a:rPr lang="en-US" altLang="zh-CN" sz="1600" b="0" dirty="0">
                <a:latin typeface="宋体" panose="02010600030101010101" pitchFamily="2" charset="-122"/>
                <a:ea typeface="宋体" panose="02010600030101010101" pitchFamily="2" charset="-122"/>
              </a:rPr>
              <a:t> : 20</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TxHoldCount</a:t>
            </a:r>
            <a:r>
              <a:rPr lang="en-US" altLang="zh-CN" sz="1600" b="0" dirty="0">
                <a:latin typeface="宋体" panose="02010600030101010101" pitchFamily="2" charset="-122"/>
                <a:ea typeface="宋体" panose="02010600030101010101" pitchFamily="2" charset="-122"/>
              </a:rPr>
              <a:t> : 3</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PathCostMethod</a:t>
            </a:r>
            <a:r>
              <a:rPr lang="en-US" altLang="zh-CN" sz="1600" b="0" dirty="0">
                <a:latin typeface="宋体" panose="02010600030101010101" pitchFamily="2" charset="-122"/>
                <a:ea typeface="宋体" panose="02010600030101010101" pitchFamily="2" charset="-122"/>
              </a:rPr>
              <a:t> : Long</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BPDUGuard</a:t>
            </a:r>
            <a:r>
              <a:rPr lang="en-US" altLang="zh-CN" sz="1600" b="0" dirty="0">
                <a:latin typeface="宋体" panose="02010600030101010101" pitchFamily="2" charset="-122"/>
                <a:ea typeface="宋体" panose="02010600030101010101" pitchFamily="2" charset="-122"/>
              </a:rPr>
              <a:t> : Disabled</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BPDUFilter</a:t>
            </a:r>
            <a:r>
              <a:rPr lang="en-US" altLang="zh-CN" sz="1600" b="0" dirty="0">
                <a:latin typeface="宋体" panose="02010600030101010101" pitchFamily="2" charset="-122"/>
                <a:ea typeface="宋体" panose="02010600030101010101" pitchFamily="2" charset="-122"/>
              </a:rPr>
              <a:t> : Disabled</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BridgeAddr</a:t>
            </a:r>
            <a:r>
              <a:rPr lang="en-US" altLang="zh-CN" sz="1600" b="0" dirty="0">
                <a:latin typeface="宋体" panose="02010600030101010101" pitchFamily="2" charset="-122"/>
                <a:ea typeface="宋体" panose="02010600030101010101" pitchFamily="2" charset="-122"/>
              </a:rPr>
              <a:t> : 00d0.f87b.eb07</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a:solidFill>
                  <a:srgbClr val="FF0000"/>
                </a:solidFill>
                <a:latin typeface="宋体" panose="02010600030101010101" pitchFamily="2" charset="-122"/>
                <a:ea typeface="宋体" panose="02010600030101010101" pitchFamily="2" charset="-122"/>
              </a:rPr>
              <a:t>Priority : 32768</a:t>
            </a:r>
            <a:endParaRPr lang="zh-CN" altLang="en-US" sz="1600" b="0" dirty="0">
              <a:solidFill>
                <a:srgbClr val="FF0000"/>
              </a:solidFill>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TimeSinceTopologyChange</a:t>
            </a:r>
            <a:r>
              <a:rPr lang="en-US" altLang="zh-CN" sz="1600" b="0" dirty="0">
                <a:latin typeface="宋体" panose="02010600030101010101" pitchFamily="2" charset="-122"/>
                <a:ea typeface="宋体" panose="02010600030101010101" pitchFamily="2" charset="-122"/>
              </a:rPr>
              <a:t> : 0d:0h:15m:59s</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TopologyChanges</a:t>
            </a:r>
            <a:r>
              <a:rPr lang="en-US" altLang="zh-CN" sz="1600" b="0" dirty="0">
                <a:latin typeface="宋体" panose="02010600030101010101" pitchFamily="2" charset="-122"/>
                <a:ea typeface="宋体" panose="02010600030101010101" pitchFamily="2" charset="-122"/>
              </a:rPr>
              <a:t> : 0</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latin typeface="宋体" panose="02010600030101010101" pitchFamily="2" charset="-122"/>
                <a:ea typeface="宋体" panose="02010600030101010101" pitchFamily="2" charset="-122"/>
              </a:rPr>
              <a:t>DesignatedRoot</a:t>
            </a:r>
            <a:r>
              <a:rPr lang="en-US" altLang="zh-CN" sz="1600" b="0" dirty="0">
                <a:latin typeface="宋体" panose="02010600030101010101" pitchFamily="2" charset="-122"/>
                <a:ea typeface="宋体" panose="02010600030101010101" pitchFamily="2" charset="-122"/>
              </a:rPr>
              <a:t> : 000000D0F87BED31</a:t>
            </a:r>
            <a:endParaRPr lang="zh-CN" altLang="en-US" sz="1600" b="0" dirty="0">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solidFill>
                  <a:srgbClr val="FF0000"/>
                </a:solidFill>
                <a:latin typeface="宋体" panose="02010600030101010101" pitchFamily="2" charset="-122"/>
                <a:ea typeface="宋体" panose="02010600030101010101" pitchFamily="2" charset="-122"/>
              </a:rPr>
              <a:t>RootCost</a:t>
            </a:r>
            <a:r>
              <a:rPr lang="en-US" altLang="zh-CN" sz="1600" b="0" dirty="0">
                <a:solidFill>
                  <a:srgbClr val="FF0000"/>
                </a:solidFill>
                <a:latin typeface="宋体" panose="02010600030101010101" pitchFamily="2" charset="-122"/>
                <a:ea typeface="宋体" panose="02010600030101010101" pitchFamily="2" charset="-122"/>
              </a:rPr>
              <a:t> : 200000</a:t>
            </a:r>
            <a:endParaRPr lang="zh-CN" altLang="en-US" sz="1600" b="0" dirty="0">
              <a:solidFill>
                <a:srgbClr val="FF0000"/>
              </a:solidFill>
              <a:latin typeface="宋体" panose="02010600030101010101" pitchFamily="2" charset="-122"/>
              <a:ea typeface="宋体" panose="02010600030101010101" pitchFamily="2" charset="-122"/>
            </a:endParaRPr>
          </a:p>
          <a:p>
            <a:pPr>
              <a:lnSpc>
                <a:spcPts val="1500"/>
              </a:lnSpc>
              <a:buFont typeface="Wingdings" panose="05000000000000000000" pitchFamily="2" charset="2"/>
              <a:buNone/>
            </a:pPr>
            <a:r>
              <a:rPr lang="en-US" altLang="zh-CN" sz="1600" b="0" dirty="0" err="1">
                <a:solidFill>
                  <a:srgbClr val="FF0000"/>
                </a:solidFill>
                <a:latin typeface="宋体" panose="02010600030101010101" pitchFamily="2" charset="-122"/>
                <a:ea typeface="宋体" panose="02010600030101010101" pitchFamily="2" charset="-122"/>
              </a:rPr>
              <a:t>RootPort</a:t>
            </a:r>
            <a:r>
              <a:rPr lang="en-US" altLang="zh-CN" sz="1600" b="0" dirty="0">
                <a:solidFill>
                  <a:srgbClr val="FF0000"/>
                </a:solidFill>
                <a:latin typeface="宋体" panose="02010600030101010101" pitchFamily="2" charset="-122"/>
                <a:ea typeface="宋体" panose="02010600030101010101" pitchFamily="2" charset="-122"/>
              </a:rPr>
              <a:t>: Fa0/3</a:t>
            </a:r>
            <a:endParaRPr lang="zh-CN" altLang="en-US" sz="1600" b="0" dirty="0">
              <a:solidFill>
                <a:srgbClr val="FF0000"/>
              </a:solidFill>
              <a:latin typeface="宋体" panose="02010600030101010101" pitchFamily="2" charset="-122"/>
              <a:ea typeface="宋体" panose="02010600030101010101" pitchFamily="2" charset="-122"/>
            </a:endParaRPr>
          </a:p>
          <a:p>
            <a:pPr lvl="1">
              <a:buFont typeface="Wingdings" panose="05000000000000000000" pitchFamily="2" charset="2"/>
              <a:buNone/>
            </a:pPr>
            <a:endParaRPr lang="en-US" altLang="zh-CN" sz="1200" b="0" dirty="0"/>
          </a:p>
          <a:p>
            <a:endParaRPr lang="en-US" altLang="zh-CN" dirty="0"/>
          </a:p>
        </p:txBody>
      </p:sp>
      <p:sp>
        <p:nvSpPr>
          <p:cNvPr id="2" name="文本框 1">
            <a:extLst>
              <a:ext uri="{FF2B5EF4-FFF2-40B4-BE49-F238E27FC236}">
                <a16:creationId xmlns:a16="http://schemas.microsoft.com/office/drawing/2014/main" id="{94FB5BE1-A740-403A-918B-FB29F997618D}"/>
              </a:ext>
            </a:extLst>
          </p:cNvPr>
          <p:cNvSpPr txBox="1"/>
          <p:nvPr/>
        </p:nvSpPr>
        <p:spPr>
          <a:xfrm>
            <a:off x="5076056" y="3292369"/>
            <a:ext cx="2880320" cy="830997"/>
          </a:xfrm>
          <a:prstGeom prst="rect">
            <a:avLst/>
          </a:prstGeom>
          <a:noFill/>
        </p:spPr>
        <p:txBody>
          <a:bodyPr wrap="square" rtlCol="0">
            <a:spAutoFit/>
          </a:bodyPr>
          <a:lstStyle/>
          <a:p>
            <a:r>
              <a:rPr lang="zh-CN" altLang="en-US" sz="2400" dirty="0">
                <a:solidFill>
                  <a:srgbClr val="0000FF"/>
                </a:solidFill>
              </a:rPr>
              <a:t>实验报告中只抄写红色字体项目即可</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a:extLst>
              <a:ext uri="{FF2B5EF4-FFF2-40B4-BE49-F238E27FC236}">
                <a16:creationId xmlns:a16="http://schemas.microsoft.com/office/drawing/2014/main" id="{D2BA90C9-D3AB-4680-85C4-AC98E99CA314}"/>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34819" name="Rectangle 6">
            <a:extLst>
              <a:ext uri="{FF2B5EF4-FFF2-40B4-BE49-F238E27FC236}">
                <a16:creationId xmlns:a16="http://schemas.microsoft.com/office/drawing/2014/main" id="{05F4061C-4DAC-4AF2-8257-AC3042815D41}"/>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34820" name="WordArt 10">
            <a:extLst>
              <a:ext uri="{FF2B5EF4-FFF2-40B4-BE49-F238E27FC236}">
                <a16:creationId xmlns:a16="http://schemas.microsoft.com/office/drawing/2014/main" id="{279949DE-1CB9-4C52-9BC5-E38FC978CF71}"/>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34821" name="Rectangle 11">
            <a:extLst>
              <a:ext uri="{FF2B5EF4-FFF2-40B4-BE49-F238E27FC236}">
                <a16:creationId xmlns:a16="http://schemas.microsoft.com/office/drawing/2014/main" id="{7BA7E6DB-A0F0-46DB-AEF0-2C2CDD8D02AC}"/>
              </a:ext>
            </a:extLst>
          </p:cNvPr>
          <p:cNvSpPr>
            <a:spLocks noGrp="1" noChangeArrowheads="1"/>
          </p:cNvSpPr>
          <p:nvPr>
            <p:ph type="title"/>
          </p:nvPr>
        </p:nvSpPr>
        <p:spPr>
          <a:xfrm>
            <a:off x="285750" y="3000375"/>
            <a:ext cx="8477250" cy="838200"/>
          </a:xfrm>
          <a:noFill/>
        </p:spPr>
        <p:txBody>
          <a:bodyPr/>
          <a:lstStyle/>
          <a:p>
            <a:pPr algn="ctr" eaLnBrk="1" hangingPunct="1"/>
            <a:r>
              <a:rPr lang="zh-CN" altLang="en-US"/>
              <a:t>以太网链路聚合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2">
            <a:extLst>
              <a:ext uri="{FF2B5EF4-FFF2-40B4-BE49-F238E27FC236}">
                <a16:creationId xmlns:a16="http://schemas.microsoft.com/office/drawing/2014/main" id="{ACDEF713-0D2C-47E4-BBB8-B079A04736AC}"/>
              </a:ext>
            </a:extLst>
          </p:cNvPr>
          <p:cNvSpPr>
            <a:spLocks noChangeShapeType="1"/>
          </p:cNvSpPr>
          <p:nvPr/>
        </p:nvSpPr>
        <p:spPr bwMode="auto">
          <a:xfrm flipH="1">
            <a:off x="5005388" y="3429000"/>
            <a:ext cx="71437" cy="57626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7" name="Line 3">
            <a:extLst>
              <a:ext uri="{FF2B5EF4-FFF2-40B4-BE49-F238E27FC236}">
                <a16:creationId xmlns:a16="http://schemas.microsoft.com/office/drawing/2014/main" id="{442F6856-2F45-4A4A-9C84-B9CD102760BE}"/>
              </a:ext>
            </a:extLst>
          </p:cNvPr>
          <p:cNvSpPr>
            <a:spLocks noChangeShapeType="1"/>
          </p:cNvSpPr>
          <p:nvPr/>
        </p:nvSpPr>
        <p:spPr bwMode="auto">
          <a:xfrm>
            <a:off x="5292725" y="3500438"/>
            <a:ext cx="73025" cy="4333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8" name="Line 4">
            <a:extLst>
              <a:ext uri="{FF2B5EF4-FFF2-40B4-BE49-F238E27FC236}">
                <a16:creationId xmlns:a16="http://schemas.microsoft.com/office/drawing/2014/main" id="{6AA7D57D-A083-4EC5-B470-853791A5735F}"/>
              </a:ext>
            </a:extLst>
          </p:cNvPr>
          <p:cNvSpPr>
            <a:spLocks noChangeShapeType="1"/>
          </p:cNvSpPr>
          <p:nvPr/>
        </p:nvSpPr>
        <p:spPr bwMode="auto">
          <a:xfrm>
            <a:off x="5437188" y="3429000"/>
            <a:ext cx="215900" cy="5048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69" name="Line 5">
            <a:extLst>
              <a:ext uri="{FF2B5EF4-FFF2-40B4-BE49-F238E27FC236}">
                <a16:creationId xmlns:a16="http://schemas.microsoft.com/office/drawing/2014/main" id="{B501F3F9-9C43-46EE-BE9A-553C5185C4FF}"/>
              </a:ext>
            </a:extLst>
          </p:cNvPr>
          <p:cNvSpPr>
            <a:spLocks noChangeShapeType="1"/>
          </p:cNvSpPr>
          <p:nvPr/>
        </p:nvSpPr>
        <p:spPr bwMode="auto">
          <a:xfrm>
            <a:off x="5653088" y="3500438"/>
            <a:ext cx="287337" cy="4333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0" name="Line 6">
            <a:extLst>
              <a:ext uri="{FF2B5EF4-FFF2-40B4-BE49-F238E27FC236}">
                <a16:creationId xmlns:a16="http://schemas.microsoft.com/office/drawing/2014/main" id="{87A33AC4-2F63-430B-A73C-43B2B333E2F6}"/>
              </a:ext>
            </a:extLst>
          </p:cNvPr>
          <p:cNvSpPr>
            <a:spLocks noChangeShapeType="1"/>
          </p:cNvSpPr>
          <p:nvPr/>
        </p:nvSpPr>
        <p:spPr bwMode="auto">
          <a:xfrm flipH="1">
            <a:off x="2989263" y="3429000"/>
            <a:ext cx="215900" cy="5048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1" name="Line 7">
            <a:extLst>
              <a:ext uri="{FF2B5EF4-FFF2-40B4-BE49-F238E27FC236}">
                <a16:creationId xmlns:a16="http://schemas.microsoft.com/office/drawing/2014/main" id="{3BB8224F-3F74-4C6A-8852-C68677F4E2E0}"/>
              </a:ext>
            </a:extLst>
          </p:cNvPr>
          <p:cNvSpPr>
            <a:spLocks noChangeShapeType="1"/>
          </p:cNvSpPr>
          <p:nvPr/>
        </p:nvSpPr>
        <p:spPr bwMode="auto">
          <a:xfrm>
            <a:off x="3421063" y="3429000"/>
            <a:ext cx="0" cy="5048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2" name="Line 8">
            <a:extLst>
              <a:ext uri="{FF2B5EF4-FFF2-40B4-BE49-F238E27FC236}">
                <a16:creationId xmlns:a16="http://schemas.microsoft.com/office/drawing/2014/main" id="{30350902-1460-4DB2-915F-45C896A35CEC}"/>
              </a:ext>
            </a:extLst>
          </p:cNvPr>
          <p:cNvSpPr>
            <a:spLocks noChangeShapeType="1"/>
          </p:cNvSpPr>
          <p:nvPr/>
        </p:nvSpPr>
        <p:spPr bwMode="auto">
          <a:xfrm>
            <a:off x="3565525" y="3500438"/>
            <a:ext cx="215900" cy="433387"/>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3" name="Line 9">
            <a:extLst>
              <a:ext uri="{FF2B5EF4-FFF2-40B4-BE49-F238E27FC236}">
                <a16:creationId xmlns:a16="http://schemas.microsoft.com/office/drawing/2014/main" id="{8502A34E-8DED-4CCD-818E-43FF84BAB2DA}"/>
              </a:ext>
            </a:extLst>
          </p:cNvPr>
          <p:cNvSpPr>
            <a:spLocks noChangeShapeType="1"/>
          </p:cNvSpPr>
          <p:nvPr/>
        </p:nvSpPr>
        <p:spPr bwMode="auto">
          <a:xfrm>
            <a:off x="3781425" y="3429000"/>
            <a:ext cx="358775" cy="576263"/>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4" name="Line 10">
            <a:extLst>
              <a:ext uri="{FF2B5EF4-FFF2-40B4-BE49-F238E27FC236}">
                <a16:creationId xmlns:a16="http://schemas.microsoft.com/office/drawing/2014/main" id="{45F2AA36-D66A-4FDF-B852-852B2D27120D}"/>
              </a:ext>
            </a:extLst>
          </p:cNvPr>
          <p:cNvSpPr>
            <a:spLocks noChangeShapeType="1"/>
          </p:cNvSpPr>
          <p:nvPr/>
        </p:nvSpPr>
        <p:spPr bwMode="auto">
          <a:xfrm flipH="1">
            <a:off x="3563938" y="1844675"/>
            <a:ext cx="720725" cy="1296988"/>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5" name="Line 11">
            <a:extLst>
              <a:ext uri="{FF2B5EF4-FFF2-40B4-BE49-F238E27FC236}">
                <a16:creationId xmlns:a16="http://schemas.microsoft.com/office/drawing/2014/main" id="{15255AE2-7311-4027-AE58-04FE22A7A486}"/>
              </a:ext>
            </a:extLst>
          </p:cNvPr>
          <p:cNvSpPr>
            <a:spLocks noChangeShapeType="1"/>
          </p:cNvSpPr>
          <p:nvPr/>
        </p:nvSpPr>
        <p:spPr bwMode="auto">
          <a:xfrm>
            <a:off x="4716463" y="1916113"/>
            <a:ext cx="574675" cy="122555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Rectangle 12">
            <a:extLst>
              <a:ext uri="{FF2B5EF4-FFF2-40B4-BE49-F238E27FC236}">
                <a16:creationId xmlns:a16="http://schemas.microsoft.com/office/drawing/2014/main" id="{BC256FC8-6D03-428C-A69A-2ED8AD2936F3}"/>
              </a:ext>
            </a:extLst>
          </p:cNvPr>
          <p:cNvSpPr>
            <a:spLocks noGrp="1" noChangeArrowheads="1"/>
          </p:cNvSpPr>
          <p:nvPr>
            <p:ph type="title"/>
          </p:nvPr>
        </p:nvSpPr>
        <p:spPr/>
        <p:txBody>
          <a:bodyPr/>
          <a:lstStyle/>
          <a:p>
            <a:r>
              <a:rPr lang="zh-CN" altLang="en-US"/>
              <a:t>交换网络问题</a:t>
            </a:r>
          </a:p>
        </p:txBody>
      </p:sp>
      <p:sp>
        <p:nvSpPr>
          <p:cNvPr id="36877" name="Rectangle 13">
            <a:extLst>
              <a:ext uri="{FF2B5EF4-FFF2-40B4-BE49-F238E27FC236}">
                <a16:creationId xmlns:a16="http://schemas.microsoft.com/office/drawing/2014/main" id="{AF61603C-9DA3-403C-8510-A4FC6FB8E62A}"/>
              </a:ext>
            </a:extLst>
          </p:cNvPr>
          <p:cNvSpPr>
            <a:spLocks noGrp="1" noChangeArrowheads="1"/>
          </p:cNvSpPr>
          <p:nvPr>
            <p:ph type="body" idx="1"/>
          </p:nvPr>
        </p:nvSpPr>
        <p:spPr>
          <a:xfrm>
            <a:off x="642938" y="4071938"/>
            <a:ext cx="7704137" cy="2014537"/>
          </a:xfrm>
        </p:spPr>
        <p:txBody>
          <a:bodyPr/>
          <a:lstStyle/>
          <a:p>
            <a:r>
              <a:rPr lang="zh-CN" altLang="en-US"/>
              <a:t>交换网络中的问题</a:t>
            </a:r>
          </a:p>
          <a:p>
            <a:pPr lvl="1"/>
            <a:r>
              <a:rPr lang="zh-CN" altLang="en-US"/>
              <a:t>对于局域网交换机之间以及从交换机到高需求服务的许多网络连接来说，</a:t>
            </a:r>
            <a:r>
              <a:rPr lang="en-US" altLang="zh-CN"/>
              <a:t>100M</a:t>
            </a:r>
            <a:r>
              <a:rPr lang="zh-CN" altLang="en-US"/>
              <a:t>甚至</a:t>
            </a:r>
            <a:r>
              <a:rPr lang="en-US" altLang="zh-CN"/>
              <a:t>1000M</a:t>
            </a:r>
            <a:r>
              <a:rPr lang="zh-CN" altLang="en-US"/>
              <a:t>的带宽无法满足用户应用需求。</a:t>
            </a:r>
          </a:p>
        </p:txBody>
      </p:sp>
      <p:pic>
        <p:nvPicPr>
          <p:cNvPr id="36878" name="Picture 14" descr="Route-processor">
            <a:extLst>
              <a:ext uri="{FF2B5EF4-FFF2-40B4-BE49-F238E27FC236}">
                <a16:creationId xmlns:a16="http://schemas.microsoft.com/office/drawing/2014/main" id="{558E118C-5603-4A47-BC4A-A0ACC8724C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7900" y="3068638"/>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9" name="Picture 15" descr="Route-processor">
            <a:extLst>
              <a:ext uri="{FF2B5EF4-FFF2-40B4-BE49-F238E27FC236}">
                <a16:creationId xmlns:a16="http://schemas.microsoft.com/office/drawing/2014/main" id="{0C51C0EF-7A33-446D-8D3C-E82E16B8A8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675" y="3068638"/>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0" name="Picture 16" descr="Route-processor">
            <a:extLst>
              <a:ext uri="{FF2B5EF4-FFF2-40B4-BE49-F238E27FC236}">
                <a16:creationId xmlns:a16="http://schemas.microsoft.com/office/drawing/2014/main" id="{8856A434-E9E7-4958-BC78-19FE3667A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4300" y="1557338"/>
            <a:ext cx="115252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81" name="AutoShape 17">
            <a:extLst>
              <a:ext uri="{FF2B5EF4-FFF2-40B4-BE49-F238E27FC236}">
                <a16:creationId xmlns:a16="http://schemas.microsoft.com/office/drawing/2014/main" id="{DB90958D-4470-4F15-92DC-0F38C99F928A}"/>
              </a:ext>
            </a:extLst>
          </p:cNvPr>
          <p:cNvSpPr>
            <a:spLocks noChangeArrowheads="1"/>
          </p:cNvSpPr>
          <p:nvPr/>
        </p:nvSpPr>
        <p:spPr bwMode="auto">
          <a:xfrm>
            <a:off x="2268538" y="1844675"/>
            <a:ext cx="1439862" cy="719138"/>
          </a:xfrm>
          <a:prstGeom prst="wedgeEllipseCallout">
            <a:avLst>
              <a:gd name="adj1" fmla="val 61134"/>
              <a:gd name="adj2" fmla="val 45806"/>
            </a:avLst>
          </a:prstGeom>
          <a:solidFill>
            <a:srgbClr val="CED3DE"/>
          </a:solidFill>
          <a:ln w="9525">
            <a:solidFill>
              <a:schemeClr val="accent2"/>
            </a:solidFill>
            <a:miter lim="800000"/>
            <a:headEnd/>
            <a:tailEnd/>
          </a:ln>
        </p:spPr>
        <p:txBody>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a:latin typeface="Arial" panose="020B0604020202020204" pitchFamily="34" charset="0"/>
                <a:ea typeface="华文细黑" panose="02010600040101010101" pitchFamily="2" charset="-122"/>
              </a:rPr>
              <a:t>瓶颈</a:t>
            </a:r>
          </a:p>
        </p:txBody>
      </p:sp>
      <p:sp>
        <p:nvSpPr>
          <p:cNvPr id="36882" name="Text Box 18">
            <a:extLst>
              <a:ext uri="{FF2B5EF4-FFF2-40B4-BE49-F238E27FC236}">
                <a16:creationId xmlns:a16="http://schemas.microsoft.com/office/drawing/2014/main" id="{A0A1CD9D-24D3-4231-97DC-6A73E2ADF3CB}"/>
              </a:ext>
            </a:extLst>
          </p:cNvPr>
          <p:cNvSpPr txBox="1">
            <a:spLocks noChangeArrowheads="1"/>
          </p:cNvSpPr>
          <p:nvPr/>
        </p:nvSpPr>
        <p:spPr bwMode="auto">
          <a:xfrm>
            <a:off x="3887788" y="3500438"/>
            <a:ext cx="1116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0">
                <a:solidFill>
                  <a:srgbClr val="666699"/>
                </a:solidFill>
                <a:latin typeface="华文细黑" panose="02010600040101010101" pitchFamily="2" charset="-122"/>
                <a:ea typeface="华文细黑" panose="02010600040101010101" pitchFamily="2" charset="-122"/>
              </a:rPr>
              <a:t>100M</a:t>
            </a:r>
            <a:r>
              <a:rPr lang="zh-CN" altLang="en-US" sz="1600" b="0">
                <a:solidFill>
                  <a:srgbClr val="666699"/>
                </a:solidFill>
                <a:latin typeface="华文细黑" panose="02010600040101010101" pitchFamily="2" charset="-122"/>
                <a:ea typeface="华文细黑" panose="02010600040101010101" pitchFamily="2" charset="-122"/>
              </a:rPr>
              <a:t>链路</a:t>
            </a:r>
          </a:p>
        </p:txBody>
      </p:sp>
      <p:sp>
        <p:nvSpPr>
          <p:cNvPr id="36883" name="Text Box 19">
            <a:extLst>
              <a:ext uri="{FF2B5EF4-FFF2-40B4-BE49-F238E27FC236}">
                <a16:creationId xmlns:a16="http://schemas.microsoft.com/office/drawing/2014/main" id="{B7E6770C-4C20-4E1C-89DF-DC399E0A0928}"/>
              </a:ext>
            </a:extLst>
          </p:cNvPr>
          <p:cNvSpPr txBox="1">
            <a:spLocks noChangeArrowheads="1"/>
          </p:cNvSpPr>
          <p:nvPr/>
        </p:nvSpPr>
        <p:spPr bwMode="auto">
          <a:xfrm>
            <a:off x="4168775" y="1989138"/>
            <a:ext cx="1843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600" b="0">
                <a:solidFill>
                  <a:schemeClr val="accent2"/>
                </a:solidFill>
                <a:latin typeface="华文细黑" panose="02010600040101010101" pitchFamily="2" charset="-122"/>
                <a:ea typeface="华文细黑" panose="02010600040101010101" pitchFamily="2" charset="-122"/>
              </a:rPr>
              <a:t>100M/1000M</a:t>
            </a:r>
            <a:r>
              <a:rPr lang="zh-CN" altLang="en-US" sz="1600" b="0">
                <a:solidFill>
                  <a:schemeClr val="accent2"/>
                </a:solidFill>
                <a:latin typeface="华文细黑" panose="02010600040101010101" pitchFamily="2" charset="-122"/>
                <a:ea typeface="华文细黑" panose="02010600040101010101" pitchFamily="2" charset="-122"/>
              </a:rPr>
              <a:t>链路</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5177E046-506B-4DCA-9A7B-824BCAD878B0}"/>
              </a:ext>
            </a:extLst>
          </p:cNvPr>
          <p:cNvSpPr>
            <a:spLocks noGrp="1" noChangeArrowheads="1"/>
          </p:cNvSpPr>
          <p:nvPr>
            <p:ph type="title"/>
          </p:nvPr>
        </p:nvSpPr>
        <p:spPr/>
        <p:txBody>
          <a:bodyPr/>
          <a:lstStyle/>
          <a:p>
            <a:r>
              <a:rPr lang="zh-CN" altLang="en-US"/>
              <a:t>链路聚合</a:t>
            </a:r>
          </a:p>
        </p:txBody>
      </p:sp>
      <p:sp>
        <p:nvSpPr>
          <p:cNvPr id="37891" name="Rectangle 3">
            <a:extLst>
              <a:ext uri="{FF2B5EF4-FFF2-40B4-BE49-F238E27FC236}">
                <a16:creationId xmlns:a16="http://schemas.microsoft.com/office/drawing/2014/main" id="{65487845-2162-4D9E-9FDE-F5A8D9E371B9}"/>
              </a:ext>
            </a:extLst>
          </p:cNvPr>
          <p:cNvSpPr>
            <a:spLocks noGrp="1" noChangeArrowheads="1"/>
          </p:cNvSpPr>
          <p:nvPr>
            <p:ph type="body" idx="1"/>
          </p:nvPr>
        </p:nvSpPr>
        <p:spPr>
          <a:xfrm>
            <a:off x="642938" y="692150"/>
            <a:ext cx="7991475" cy="5473700"/>
          </a:xfrm>
        </p:spPr>
        <p:txBody>
          <a:bodyPr/>
          <a:lstStyle/>
          <a:p>
            <a:pPr marL="0" indent="0">
              <a:lnSpc>
                <a:spcPct val="130000"/>
              </a:lnSpc>
            </a:pPr>
            <a:r>
              <a:rPr lang="zh-CN" altLang="en-US" sz="2400"/>
              <a:t>定义：</a:t>
            </a:r>
          </a:p>
          <a:p>
            <a:pPr marL="830263" lvl="1"/>
            <a:r>
              <a:rPr lang="zh-CN" altLang="en-US" sz="2400"/>
              <a:t>端口聚合（又称为链路聚合</a:t>
            </a:r>
            <a:r>
              <a:rPr lang="en-US" altLang="zh-CN" sz="2400"/>
              <a:t>)</a:t>
            </a:r>
            <a:r>
              <a:rPr lang="zh-CN" altLang="en-US" sz="2400"/>
              <a:t>，将交换机上的多个端口在物理上连接起来，在逻辑上捆绑在一起，形成一个拥有较大宽带的端口，可以实现负载分担，并提供冗余链路。</a:t>
            </a:r>
          </a:p>
          <a:p>
            <a:pPr marL="0" indent="0">
              <a:lnSpc>
                <a:spcPct val="130000"/>
              </a:lnSpc>
            </a:pPr>
            <a:r>
              <a:rPr lang="en-US" altLang="zh-CN" sz="2400"/>
              <a:t>IEEE802.3ad</a:t>
            </a:r>
            <a:r>
              <a:rPr lang="zh-CN" altLang="en-US" sz="2400"/>
              <a:t>定义了以太网端口聚合的标准</a:t>
            </a:r>
          </a:p>
          <a:p>
            <a:pPr marL="0" indent="0">
              <a:lnSpc>
                <a:spcPct val="130000"/>
              </a:lnSpc>
            </a:pPr>
            <a:endParaRPr lang="zh-CN" altLang="en-US" sz="3600"/>
          </a:p>
        </p:txBody>
      </p:sp>
      <p:grpSp>
        <p:nvGrpSpPr>
          <p:cNvPr id="37892" name="Group 29">
            <a:extLst>
              <a:ext uri="{FF2B5EF4-FFF2-40B4-BE49-F238E27FC236}">
                <a16:creationId xmlns:a16="http://schemas.microsoft.com/office/drawing/2014/main" id="{8F8ADD17-9171-4270-B10F-FFB60F5109E0}"/>
              </a:ext>
            </a:extLst>
          </p:cNvPr>
          <p:cNvGrpSpPr>
            <a:grpSpLocks/>
          </p:cNvGrpSpPr>
          <p:nvPr/>
        </p:nvGrpSpPr>
        <p:grpSpPr bwMode="auto">
          <a:xfrm>
            <a:off x="2339975" y="3357563"/>
            <a:ext cx="3671888" cy="3311525"/>
            <a:chOff x="1973" y="1253"/>
            <a:chExt cx="2948" cy="2435"/>
          </a:xfrm>
        </p:grpSpPr>
        <p:sp>
          <p:nvSpPr>
            <p:cNvPr id="37893" name="Line 25">
              <a:extLst>
                <a:ext uri="{FF2B5EF4-FFF2-40B4-BE49-F238E27FC236}">
                  <a16:creationId xmlns:a16="http://schemas.microsoft.com/office/drawing/2014/main" id="{C911943F-EC0D-4ACE-9FA8-FF7CE4AF50E6}"/>
                </a:ext>
              </a:extLst>
            </p:cNvPr>
            <p:cNvSpPr>
              <a:spLocks noChangeShapeType="1"/>
            </p:cNvSpPr>
            <p:nvPr/>
          </p:nvSpPr>
          <p:spPr bwMode="auto">
            <a:xfrm flipV="1">
              <a:off x="2473" y="2930"/>
              <a:ext cx="770" cy="409"/>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4" name="Line 28">
              <a:extLst>
                <a:ext uri="{FF2B5EF4-FFF2-40B4-BE49-F238E27FC236}">
                  <a16:creationId xmlns:a16="http://schemas.microsoft.com/office/drawing/2014/main" id="{E7728E81-00D8-4C7F-AD38-347FFD202D56}"/>
                </a:ext>
              </a:extLst>
            </p:cNvPr>
            <p:cNvSpPr>
              <a:spLocks noChangeShapeType="1"/>
            </p:cNvSpPr>
            <p:nvPr/>
          </p:nvSpPr>
          <p:spPr bwMode="auto">
            <a:xfrm flipH="1" flipV="1">
              <a:off x="3242" y="2930"/>
              <a:ext cx="771" cy="409"/>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5" name="Line 21">
              <a:extLst>
                <a:ext uri="{FF2B5EF4-FFF2-40B4-BE49-F238E27FC236}">
                  <a16:creationId xmlns:a16="http://schemas.microsoft.com/office/drawing/2014/main" id="{8C864DA5-72EB-4512-8183-6A61398C2751}"/>
                </a:ext>
              </a:extLst>
            </p:cNvPr>
            <p:cNvSpPr>
              <a:spLocks noChangeShapeType="1"/>
            </p:cNvSpPr>
            <p:nvPr/>
          </p:nvSpPr>
          <p:spPr bwMode="auto">
            <a:xfrm flipV="1">
              <a:off x="3288" y="1616"/>
              <a:ext cx="1407" cy="702"/>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6" name="Line 22">
              <a:extLst>
                <a:ext uri="{FF2B5EF4-FFF2-40B4-BE49-F238E27FC236}">
                  <a16:creationId xmlns:a16="http://schemas.microsoft.com/office/drawing/2014/main" id="{FFA0331F-8A29-40BF-B81F-86092F913015}"/>
                </a:ext>
              </a:extLst>
            </p:cNvPr>
            <p:cNvSpPr>
              <a:spLocks noChangeShapeType="1"/>
            </p:cNvSpPr>
            <p:nvPr/>
          </p:nvSpPr>
          <p:spPr bwMode="auto">
            <a:xfrm flipV="1">
              <a:off x="3242" y="1616"/>
              <a:ext cx="500" cy="681"/>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7" name="Line 23">
              <a:extLst>
                <a:ext uri="{FF2B5EF4-FFF2-40B4-BE49-F238E27FC236}">
                  <a16:creationId xmlns:a16="http://schemas.microsoft.com/office/drawing/2014/main" id="{846CA683-C67F-4691-B0B9-A339E306F5F4}"/>
                </a:ext>
              </a:extLst>
            </p:cNvPr>
            <p:cNvSpPr>
              <a:spLocks noChangeShapeType="1"/>
            </p:cNvSpPr>
            <p:nvPr/>
          </p:nvSpPr>
          <p:spPr bwMode="auto">
            <a:xfrm flipH="1" flipV="1">
              <a:off x="3017" y="1616"/>
              <a:ext cx="227" cy="725"/>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8" name="Line 24">
              <a:extLst>
                <a:ext uri="{FF2B5EF4-FFF2-40B4-BE49-F238E27FC236}">
                  <a16:creationId xmlns:a16="http://schemas.microsoft.com/office/drawing/2014/main" id="{D1CC46E4-807B-4A20-8CB0-5A6646EB53E6}"/>
                </a:ext>
              </a:extLst>
            </p:cNvPr>
            <p:cNvSpPr>
              <a:spLocks noChangeShapeType="1"/>
            </p:cNvSpPr>
            <p:nvPr/>
          </p:nvSpPr>
          <p:spPr bwMode="auto">
            <a:xfrm flipH="1" flipV="1">
              <a:off x="2244" y="1616"/>
              <a:ext cx="952" cy="681"/>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899" name="Line 15">
              <a:extLst>
                <a:ext uri="{FF2B5EF4-FFF2-40B4-BE49-F238E27FC236}">
                  <a16:creationId xmlns:a16="http://schemas.microsoft.com/office/drawing/2014/main" id="{2C87CDEC-5821-4D0D-A94B-8D7254DA3A7F}"/>
                </a:ext>
              </a:extLst>
            </p:cNvPr>
            <p:cNvSpPr>
              <a:spLocks noChangeShapeType="1"/>
            </p:cNvSpPr>
            <p:nvPr/>
          </p:nvSpPr>
          <p:spPr bwMode="auto">
            <a:xfrm flipV="1">
              <a:off x="3198" y="2478"/>
              <a:ext cx="0" cy="384"/>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900" name="Line 16">
              <a:extLst>
                <a:ext uri="{FF2B5EF4-FFF2-40B4-BE49-F238E27FC236}">
                  <a16:creationId xmlns:a16="http://schemas.microsoft.com/office/drawing/2014/main" id="{CC98161B-B2A2-4961-AF27-18FA8BA29E2D}"/>
                </a:ext>
              </a:extLst>
            </p:cNvPr>
            <p:cNvSpPr>
              <a:spLocks noChangeShapeType="1"/>
            </p:cNvSpPr>
            <p:nvPr/>
          </p:nvSpPr>
          <p:spPr bwMode="auto">
            <a:xfrm flipV="1">
              <a:off x="3288" y="2478"/>
              <a:ext cx="0" cy="384"/>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901" name="Line 17">
              <a:extLst>
                <a:ext uri="{FF2B5EF4-FFF2-40B4-BE49-F238E27FC236}">
                  <a16:creationId xmlns:a16="http://schemas.microsoft.com/office/drawing/2014/main" id="{7B50D6CD-A983-40C0-A508-6B732D09A9EC}"/>
                </a:ext>
              </a:extLst>
            </p:cNvPr>
            <p:cNvSpPr>
              <a:spLocks noChangeShapeType="1"/>
            </p:cNvSpPr>
            <p:nvPr/>
          </p:nvSpPr>
          <p:spPr bwMode="auto">
            <a:xfrm flipV="1">
              <a:off x="3423" y="2478"/>
              <a:ext cx="0" cy="384"/>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7902" name="Line 14">
              <a:extLst>
                <a:ext uri="{FF2B5EF4-FFF2-40B4-BE49-F238E27FC236}">
                  <a16:creationId xmlns:a16="http://schemas.microsoft.com/office/drawing/2014/main" id="{21B5892A-D02B-48CD-AAC4-20949B5D7A1E}"/>
                </a:ext>
              </a:extLst>
            </p:cNvPr>
            <p:cNvSpPr>
              <a:spLocks noChangeShapeType="1"/>
            </p:cNvSpPr>
            <p:nvPr/>
          </p:nvSpPr>
          <p:spPr bwMode="auto">
            <a:xfrm flipV="1">
              <a:off x="3061" y="2478"/>
              <a:ext cx="0" cy="384"/>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37903" name="Picture 5" descr="Route-processor">
              <a:extLst>
                <a:ext uri="{FF2B5EF4-FFF2-40B4-BE49-F238E27FC236}">
                  <a16:creationId xmlns:a16="http://schemas.microsoft.com/office/drawing/2014/main" id="{51A4EED3-5626-4439-9C19-6E993144E3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 y="2792"/>
              <a:ext cx="49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4" name="Picture 7" descr="PC">
              <a:extLst>
                <a:ext uri="{FF2B5EF4-FFF2-40B4-BE49-F238E27FC236}">
                  <a16:creationId xmlns:a16="http://schemas.microsoft.com/office/drawing/2014/main" id="{D557ABC0-B6CB-417A-AA5A-E79BFDA80F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 y="3249"/>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5" name="Picture 8" descr="PC">
              <a:extLst>
                <a:ext uri="{FF2B5EF4-FFF2-40B4-BE49-F238E27FC236}">
                  <a16:creationId xmlns:a16="http://schemas.microsoft.com/office/drawing/2014/main" id="{9A6A078A-B82E-4602-8CFE-EB91A99AD9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8" y="3249"/>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6" name="Picture 9" descr="PC">
              <a:extLst>
                <a:ext uri="{FF2B5EF4-FFF2-40B4-BE49-F238E27FC236}">
                  <a16:creationId xmlns:a16="http://schemas.microsoft.com/office/drawing/2014/main" id="{9D934E17-5286-4741-9ABC-50A962CB42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7" y="1253"/>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7" name="Picture 10" descr="PC">
              <a:extLst>
                <a:ext uri="{FF2B5EF4-FFF2-40B4-BE49-F238E27FC236}">
                  <a16:creationId xmlns:a16="http://schemas.microsoft.com/office/drawing/2014/main" id="{2DE05D34-95A3-4328-99F8-BB4A5358CA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5" y="1253"/>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8" name="Picture 11" descr="PC">
              <a:extLst>
                <a:ext uri="{FF2B5EF4-FFF2-40B4-BE49-F238E27FC236}">
                  <a16:creationId xmlns:a16="http://schemas.microsoft.com/office/drawing/2014/main" id="{E7DC2F83-5F9A-467D-B7A9-D0160C06DF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 y="1253"/>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9" name="Picture 12" descr="PC">
              <a:extLst>
                <a:ext uri="{FF2B5EF4-FFF2-40B4-BE49-F238E27FC236}">
                  <a16:creationId xmlns:a16="http://schemas.microsoft.com/office/drawing/2014/main" id="{0E1514BF-8896-435A-A8DB-B389CDE42E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4" y="1253"/>
              <a:ext cx="499"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10" name="Picture 13" descr="Route-processor">
              <a:extLst>
                <a:ext uri="{FF2B5EF4-FFF2-40B4-BE49-F238E27FC236}">
                  <a16:creationId xmlns:a16="http://schemas.microsoft.com/office/drawing/2014/main" id="{5A4A1C3C-35ED-4EE5-B7F8-3EC005743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 y="2296"/>
              <a:ext cx="49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11" name="Oval 18">
              <a:extLst>
                <a:ext uri="{FF2B5EF4-FFF2-40B4-BE49-F238E27FC236}">
                  <a16:creationId xmlns:a16="http://schemas.microsoft.com/office/drawing/2014/main" id="{4CDAA934-F655-46B4-84F8-21C81631009C}"/>
                </a:ext>
              </a:extLst>
            </p:cNvPr>
            <p:cNvSpPr>
              <a:spLocks noChangeArrowheads="1"/>
            </p:cNvSpPr>
            <p:nvPr/>
          </p:nvSpPr>
          <p:spPr bwMode="auto">
            <a:xfrm>
              <a:off x="3016" y="2569"/>
              <a:ext cx="454" cy="136"/>
            </a:xfrm>
            <a:prstGeom prst="ellipse">
              <a:avLst/>
            </a:prstGeom>
            <a:noFill/>
            <a:ln w="38100" algn="ctr">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37912" name="AutoShape 19">
              <a:extLst>
                <a:ext uri="{FF2B5EF4-FFF2-40B4-BE49-F238E27FC236}">
                  <a16:creationId xmlns:a16="http://schemas.microsoft.com/office/drawing/2014/main" id="{31804AF1-795F-4228-B611-91965D076393}"/>
                </a:ext>
              </a:extLst>
            </p:cNvPr>
            <p:cNvSpPr>
              <a:spLocks noChangeArrowheads="1"/>
            </p:cNvSpPr>
            <p:nvPr/>
          </p:nvSpPr>
          <p:spPr bwMode="auto">
            <a:xfrm>
              <a:off x="3606" y="2296"/>
              <a:ext cx="1225" cy="182"/>
            </a:xfrm>
            <a:prstGeom prst="wedgeRoundRectCallout">
              <a:avLst>
                <a:gd name="adj1" fmla="val -42569"/>
                <a:gd name="adj2" fmla="val 69782"/>
                <a:gd name="adj3" fmla="val 16667"/>
              </a:avLst>
            </a:prstGeom>
            <a:solidFill>
              <a:srgbClr val="CED3DE"/>
            </a:solidFill>
            <a:ln w="38100" algn="ctr">
              <a:solidFill>
                <a:srgbClr val="A4001B"/>
              </a:solidFill>
              <a:miter lim="800000"/>
              <a:headEnd/>
              <a:tailEnd/>
            </a:ln>
          </p:spPr>
          <p:txBody>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MAC</a:t>
              </a:r>
              <a:r>
                <a:rPr lang="zh-CN" altLang="en-US" sz="1200">
                  <a:latin typeface="Arial" panose="020B0604020202020204" pitchFamily="34" charset="0"/>
                  <a:ea typeface="宋体" panose="02010600030101010101" pitchFamily="2" charset="-122"/>
                </a:rPr>
                <a:t>流量分配</a:t>
              </a:r>
            </a:p>
          </p:txBody>
        </p:sp>
        <p:sp>
          <p:nvSpPr>
            <p:cNvPr id="37913" name="AutoShape 20">
              <a:extLst>
                <a:ext uri="{FF2B5EF4-FFF2-40B4-BE49-F238E27FC236}">
                  <a16:creationId xmlns:a16="http://schemas.microsoft.com/office/drawing/2014/main" id="{E9EAB568-AB5C-4DC2-875E-1CF96BA7CB48}"/>
                </a:ext>
              </a:extLst>
            </p:cNvPr>
            <p:cNvSpPr>
              <a:spLocks noChangeArrowheads="1"/>
            </p:cNvSpPr>
            <p:nvPr/>
          </p:nvSpPr>
          <p:spPr bwMode="auto">
            <a:xfrm>
              <a:off x="3605" y="2704"/>
              <a:ext cx="1316" cy="182"/>
            </a:xfrm>
            <a:prstGeom prst="wedgeRoundRectCallout">
              <a:avLst>
                <a:gd name="adj1" fmla="val -43083"/>
                <a:gd name="adj2" fmla="val 69782"/>
                <a:gd name="adj3" fmla="val 16667"/>
              </a:avLst>
            </a:prstGeom>
            <a:solidFill>
              <a:srgbClr val="CED3DE"/>
            </a:solidFill>
            <a:ln w="38100" algn="ctr">
              <a:solidFill>
                <a:srgbClr val="A4001B"/>
              </a:solidFill>
              <a:miter lim="800000"/>
              <a:headEnd/>
              <a:tailEnd/>
            </a:ln>
          </p:spPr>
          <p:txBody>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SzTx/>
                <a:buFontTx/>
                <a:buNone/>
              </a:pP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MAC</a:t>
              </a:r>
              <a:r>
                <a:rPr lang="zh-CN" altLang="en-US" sz="1200">
                  <a:latin typeface="Arial" panose="020B0604020202020204" pitchFamily="34" charset="0"/>
                  <a:ea typeface="宋体" panose="02010600030101010101" pitchFamily="2" charset="-122"/>
                </a:rPr>
                <a:t>流量分配</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C056125F-3965-4EAB-94FB-FE9026505C6E}"/>
              </a:ext>
            </a:extLst>
          </p:cNvPr>
          <p:cNvSpPr>
            <a:spLocks noGrp="1" noChangeArrowheads="1"/>
          </p:cNvSpPr>
          <p:nvPr>
            <p:ph type="title"/>
          </p:nvPr>
        </p:nvSpPr>
        <p:spPr/>
        <p:txBody>
          <a:bodyPr/>
          <a:lstStyle/>
          <a:p>
            <a:r>
              <a:rPr lang="zh-CN" altLang="en-US">
                <a:latin typeface="宋体" panose="02010600030101010101" pitchFamily="2" charset="-122"/>
              </a:rPr>
              <a:t>流量平衡</a:t>
            </a:r>
          </a:p>
        </p:txBody>
      </p:sp>
      <p:sp>
        <p:nvSpPr>
          <p:cNvPr id="39939" name="Rectangle 3">
            <a:extLst>
              <a:ext uri="{FF2B5EF4-FFF2-40B4-BE49-F238E27FC236}">
                <a16:creationId xmlns:a16="http://schemas.microsoft.com/office/drawing/2014/main" id="{113FD882-81A4-4D80-BE37-8F90EC75C594}"/>
              </a:ext>
            </a:extLst>
          </p:cNvPr>
          <p:cNvSpPr>
            <a:spLocks noGrp="1" noChangeArrowheads="1"/>
          </p:cNvSpPr>
          <p:nvPr>
            <p:ph type="body" idx="1"/>
          </p:nvPr>
        </p:nvSpPr>
        <p:spPr>
          <a:xfrm>
            <a:off x="357188" y="785813"/>
            <a:ext cx="7993062" cy="3240087"/>
          </a:xfrm>
        </p:spPr>
        <p:txBody>
          <a:bodyPr/>
          <a:lstStyle/>
          <a:p>
            <a:pPr marL="0" indent="0">
              <a:lnSpc>
                <a:spcPct val="135000"/>
              </a:lnSpc>
            </a:pPr>
            <a:r>
              <a:rPr lang="zh-CN" altLang="en-US"/>
              <a:t>链路聚合的流量平衡：</a:t>
            </a:r>
          </a:p>
          <a:p>
            <a:pPr marL="830263" lvl="1">
              <a:lnSpc>
                <a:spcPct val="135000"/>
              </a:lnSpc>
            </a:pPr>
            <a:r>
              <a:rPr lang="en-US" altLang="zh-CN"/>
              <a:t>Aggregate port(AG)</a:t>
            </a:r>
            <a:r>
              <a:rPr lang="zh-CN" altLang="en-US"/>
              <a:t>可以根据报文的源</a:t>
            </a:r>
            <a:r>
              <a:rPr lang="en-US" altLang="zh-CN"/>
              <a:t>MAC</a:t>
            </a:r>
            <a:r>
              <a:rPr lang="zh-CN" altLang="en-US"/>
              <a:t>地址、目的</a:t>
            </a:r>
            <a:r>
              <a:rPr lang="en-US" altLang="zh-CN"/>
              <a:t>MAC</a:t>
            </a:r>
            <a:r>
              <a:rPr lang="zh-CN" altLang="en-US"/>
              <a:t>地址或</a:t>
            </a:r>
            <a:r>
              <a:rPr lang="en-US" altLang="zh-CN"/>
              <a:t>IP</a:t>
            </a:r>
            <a:r>
              <a:rPr lang="zh-CN" altLang="en-US"/>
              <a:t>地址进行流量平衡，即把流量平均地分配到</a:t>
            </a:r>
            <a:r>
              <a:rPr lang="en-US" altLang="zh-CN"/>
              <a:t>AG</a:t>
            </a:r>
            <a:r>
              <a:rPr lang="zh-CN" altLang="en-US"/>
              <a:t>组成员链路中去。</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269A8E4-7432-4C40-BBAD-6E25A5F36B36}"/>
              </a:ext>
            </a:extLst>
          </p:cNvPr>
          <p:cNvSpPr>
            <a:spLocks noGrp="1" noChangeArrowheads="1"/>
          </p:cNvSpPr>
          <p:nvPr>
            <p:ph type="title"/>
          </p:nvPr>
        </p:nvSpPr>
        <p:spPr/>
        <p:txBody>
          <a:bodyPr/>
          <a:lstStyle/>
          <a:p>
            <a:r>
              <a:rPr lang="zh-CN" altLang="en-US"/>
              <a:t>链路聚合端口要求</a:t>
            </a:r>
            <a:endParaRPr lang="en-US" altLang="zh-CN"/>
          </a:p>
        </p:txBody>
      </p:sp>
      <p:sp>
        <p:nvSpPr>
          <p:cNvPr id="41987" name="Rectangle 3">
            <a:extLst>
              <a:ext uri="{FF2B5EF4-FFF2-40B4-BE49-F238E27FC236}">
                <a16:creationId xmlns:a16="http://schemas.microsoft.com/office/drawing/2014/main" id="{49FBAAB2-3DAF-44E5-8C37-1A7C52CC75E1}"/>
              </a:ext>
            </a:extLst>
          </p:cNvPr>
          <p:cNvSpPr>
            <a:spLocks noGrp="1" noChangeArrowheads="1"/>
          </p:cNvSpPr>
          <p:nvPr>
            <p:ph type="body" idx="1"/>
          </p:nvPr>
        </p:nvSpPr>
        <p:spPr>
          <a:xfrm>
            <a:off x="611188" y="1347788"/>
            <a:ext cx="7848600" cy="4818062"/>
          </a:xfrm>
        </p:spPr>
        <p:txBody>
          <a:bodyPr/>
          <a:lstStyle/>
          <a:p>
            <a:pPr algn="just">
              <a:lnSpc>
                <a:spcPct val="80000"/>
              </a:lnSpc>
            </a:pPr>
            <a:r>
              <a:rPr lang="zh-CN" altLang="en-US" sz="2800"/>
              <a:t>链路聚合的注意事项</a:t>
            </a:r>
          </a:p>
          <a:p>
            <a:pPr lvl="1" algn="just">
              <a:lnSpc>
                <a:spcPct val="150000"/>
              </a:lnSpc>
            </a:pPr>
            <a:r>
              <a:rPr lang="zh-CN" altLang="en-US" sz="2400"/>
              <a:t>组端口的速度必须一致</a:t>
            </a:r>
          </a:p>
          <a:p>
            <a:pPr lvl="1" algn="just">
              <a:lnSpc>
                <a:spcPct val="150000"/>
              </a:lnSpc>
            </a:pPr>
            <a:r>
              <a:rPr lang="zh-CN" altLang="en-US" sz="2400"/>
              <a:t>组端口必须属于同一个</a:t>
            </a:r>
            <a:r>
              <a:rPr lang="en-US" altLang="zh-CN" sz="2400"/>
              <a:t>VLAN</a:t>
            </a:r>
          </a:p>
          <a:p>
            <a:pPr lvl="1" algn="just">
              <a:lnSpc>
                <a:spcPct val="150000"/>
              </a:lnSpc>
            </a:pPr>
            <a:r>
              <a:rPr lang="zh-CN" altLang="en-US" sz="2400"/>
              <a:t>组端口使用的传输介质相同</a:t>
            </a:r>
          </a:p>
          <a:p>
            <a:pPr lvl="1" algn="just">
              <a:lnSpc>
                <a:spcPct val="150000"/>
              </a:lnSpc>
            </a:pPr>
            <a:r>
              <a:rPr lang="zh-CN" altLang="en-US" sz="2400"/>
              <a:t>组端口必须属于同一层次，并与</a:t>
            </a:r>
            <a:r>
              <a:rPr lang="en-US" altLang="zh-CN" sz="2400"/>
              <a:t>AP</a:t>
            </a:r>
            <a:r>
              <a:rPr lang="zh-CN" altLang="en-US" sz="2400"/>
              <a:t>也要在同一层次</a:t>
            </a:r>
          </a:p>
          <a:p>
            <a:pPr lvl="1">
              <a:lnSpc>
                <a:spcPct val="80000"/>
              </a:lnSpc>
            </a:pPr>
            <a:r>
              <a:rPr lang="zh-CN" altLang="en-US" sz="2400"/>
              <a:t>聚合端口适合</a:t>
            </a:r>
            <a:r>
              <a:rPr lang="en-US" altLang="zh-CN" sz="2400"/>
              <a:t>10M</a:t>
            </a:r>
            <a:r>
              <a:rPr lang="zh-CN" altLang="en-US" sz="2400"/>
              <a:t>、</a:t>
            </a:r>
            <a:r>
              <a:rPr lang="en-US" altLang="zh-CN" sz="2400"/>
              <a:t>100M</a:t>
            </a:r>
            <a:r>
              <a:rPr lang="zh-CN" altLang="en-US" sz="2400"/>
              <a:t>、</a:t>
            </a:r>
            <a:r>
              <a:rPr lang="en-US" altLang="zh-CN" sz="2400"/>
              <a:t>1000M</a:t>
            </a:r>
            <a:r>
              <a:rPr lang="zh-CN" altLang="en-US" sz="2400"/>
              <a:t>以太网</a:t>
            </a:r>
          </a:p>
          <a:p>
            <a:pPr lvl="1">
              <a:lnSpc>
                <a:spcPct val="80000"/>
              </a:lnSpc>
            </a:pPr>
            <a:r>
              <a:rPr lang="zh-CN" altLang="en-US" sz="2400"/>
              <a:t>锐捷交换机最多支持</a:t>
            </a:r>
            <a:r>
              <a:rPr lang="en-US" altLang="zh-CN" sz="2400"/>
              <a:t>8</a:t>
            </a:r>
            <a:r>
              <a:rPr lang="zh-CN" altLang="en-US" sz="2400"/>
              <a:t>个物理端口组成一个聚合端口组</a:t>
            </a:r>
          </a:p>
          <a:p>
            <a:pPr lvl="1">
              <a:lnSpc>
                <a:spcPct val="80000"/>
              </a:lnSpc>
            </a:pPr>
            <a:r>
              <a:rPr lang="zh-CN" altLang="en-US" sz="2400"/>
              <a:t>不同设备支持的最多聚合端口组不定</a:t>
            </a:r>
            <a:r>
              <a:rPr lang="en-US" altLang="zh-CN" sz="2400"/>
              <a:t>(</a:t>
            </a:r>
            <a:r>
              <a:rPr lang="zh-CN" altLang="en-US" sz="2400"/>
              <a:t>如</a:t>
            </a:r>
            <a:r>
              <a:rPr lang="en-US" altLang="zh-CN" sz="2400"/>
              <a:t>S2126G</a:t>
            </a:r>
            <a:r>
              <a:rPr lang="zh-CN" altLang="en-US" sz="2400"/>
              <a:t>支持</a:t>
            </a:r>
            <a:r>
              <a:rPr lang="en-US" altLang="zh-CN" sz="2400"/>
              <a:t>6</a:t>
            </a:r>
            <a:r>
              <a:rPr lang="zh-CN" altLang="en-US" sz="2400"/>
              <a:t>组</a:t>
            </a:r>
            <a:r>
              <a:rPr lang="en-US" altLang="zh-CN" sz="2400"/>
              <a:t>)</a:t>
            </a:r>
          </a:p>
          <a:p>
            <a:pPr>
              <a:lnSpc>
                <a:spcPct val="80000"/>
              </a:lnSpc>
              <a:buFont typeface="Wingdings" panose="05000000000000000000" pitchFamily="2" charset="2"/>
              <a:buNone/>
            </a:pPr>
            <a:endParaRPr lang="en-US" altLang="zh-CN" sz="2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42DEF595-DD18-4899-AE1C-1798D987A31F}"/>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43011" name="Rectangle 6">
            <a:extLst>
              <a:ext uri="{FF2B5EF4-FFF2-40B4-BE49-F238E27FC236}">
                <a16:creationId xmlns:a16="http://schemas.microsoft.com/office/drawing/2014/main" id="{3699D06A-AB79-461F-B7AD-3AA6988AD5A9}"/>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43012" name="WordArt 10">
            <a:extLst>
              <a:ext uri="{FF2B5EF4-FFF2-40B4-BE49-F238E27FC236}">
                <a16:creationId xmlns:a16="http://schemas.microsoft.com/office/drawing/2014/main" id="{4A11A998-939B-481C-8406-4E4C036E6AF0}"/>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43013" name="Rectangle 11">
            <a:extLst>
              <a:ext uri="{FF2B5EF4-FFF2-40B4-BE49-F238E27FC236}">
                <a16:creationId xmlns:a16="http://schemas.microsoft.com/office/drawing/2014/main" id="{1837B832-2ED6-4BE3-B1F0-8EA18C080836}"/>
              </a:ext>
            </a:extLst>
          </p:cNvPr>
          <p:cNvSpPr>
            <a:spLocks noGrp="1" noChangeArrowheads="1"/>
          </p:cNvSpPr>
          <p:nvPr>
            <p:ph type="title"/>
          </p:nvPr>
        </p:nvSpPr>
        <p:spPr>
          <a:xfrm>
            <a:off x="285750" y="3000375"/>
            <a:ext cx="8477250" cy="838200"/>
          </a:xfrm>
          <a:noFill/>
        </p:spPr>
        <p:txBody>
          <a:bodyPr/>
          <a:lstStyle/>
          <a:p>
            <a:pPr algn="ctr" eaLnBrk="1" hangingPunct="1"/>
            <a:r>
              <a:rPr lang="zh-CN" altLang="en-US"/>
              <a:t>链路聚合配置实验</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17EA4F92-215B-45A6-B57E-A85DB54123EE}"/>
              </a:ext>
            </a:extLst>
          </p:cNvPr>
          <p:cNvSpPr>
            <a:spLocks noGrp="1" noChangeArrowheads="1"/>
          </p:cNvSpPr>
          <p:nvPr>
            <p:ph type="title"/>
          </p:nvPr>
        </p:nvSpPr>
        <p:spPr/>
        <p:txBody>
          <a:bodyPr/>
          <a:lstStyle/>
          <a:p>
            <a:r>
              <a:rPr lang="zh-CN" altLang="en-US"/>
              <a:t>链路聚合配置实验</a:t>
            </a:r>
          </a:p>
        </p:txBody>
      </p:sp>
      <p:sp>
        <p:nvSpPr>
          <p:cNvPr id="45059" name="Rectangle 18">
            <a:extLst>
              <a:ext uri="{FF2B5EF4-FFF2-40B4-BE49-F238E27FC236}">
                <a16:creationId xmlns:a16="http://schemas.microsoft.com/office/drawing/2014/main" id="{E8D39D59-C255-4BA2-B126-2557C9BDEC1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pic>
        <p:nvPicPr>
          <p:cNvPr id="45060" name="图片 1">
            <a:extLst>
              <a:ext uri="{FF2B5EF4-FFF2-40B4-BE49-F238E27FC236}">
                <a16:creationId xmlns:a16="http://schemas.microsoft.com/office/drawing/2014/main" id="{5866809A-5DEE-4C77-A71E-1C4545DB4B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268413"/>
            <a:ext cx="8637588"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a:extLst>
              <a:ext uri="{FF2B5EF4-FFF2-40B4-BE49-F238E27FC236}">
                <a16:creationId xmlns:a16="http://schemas.microsoft.com/office/drawing/2014/main" id="{B8769ADC-6E71-490C-9451-A721C8646273}"/>
              </a:ext>
            </a:extLst>
          </p:cNvPr>
          <p:cNvSpPr>
            <a:spLocks noGrp="1" noChangeArrowheads="1"/>
          </p:cNvSpPr>
          <p:nvPr>
            <p:ph type="title"/>
          </p:nvPr>
        </p:nvSpPr>
        <p:spPr/>
        <p:txBody>
          <a:bodyPr/>
          <a:lstStyle/>
          <a:p>
            <a:r>
              <a:rPr lang="zh-CN" altLang="en-US"/>
              <a:t>链路聚合配置实验</a:t>
            </a:r>
          </a:p>
        </p:txBody>
      </p:sp>
      <p:sp>
        <p:nvSpPr>
          <p:cNvPr id="46083" name="Rectangle 7">
            <a:extLst>
              <a:ext uri="{FF2B5EF4-FFF2-40B4-BE49-F238E27FC236}">
                <a16:creationId xmlns:a16="http://schemas.microsoft.com/office/drawing/2014/main" id="{C798E8DE-271F-4F64-A1BC-1EAFB21CAE52}"/>
              </a:ext>
            </a:extLst>
          </p:cNvPr>
          <p:cNvSpPr>
            <a:spLocks noGrp="1" noChangeArrowheads="1"/>
          </p:cNvSpPr>
          <p:nvPr>
            <p:ph type="body" idx="1"/>
          </p:nvPr>
        </p:nvSpPr>
        <p:spPr>
          <a:xfrm>
            <a:off x="357188" y="1071563"/>
            <a:ext cx="8391525" cy="5072062"/>
          </a:xfrm>
        </p:spPr>
        <p:txBody>
          <a:bodyPr/>
          <a:lstStyle/>
          <a:p>
            <a:r>
              <a:rPr lang="zh-CN" altLang="en-US"/>
              <a:t>实验内容</a:t>
            </a:r>
            <a:endParaRPr lang="en-US" altLang="zh-CN"/>
          </a:p>
          <a:p>
            <a:pPr lvl="1"/>
            <a:r>
              <a:rPr lang="zh-CN" altLang="en-US" b="0">
                <a:solidFill>
                  <a:schemeClr val="bg2"/>
                </a:solidFill>
              </a:rPr>
              <a:t>进行网络规划，将要使用的交换机编号、端口号、计算机</a:t>
            </a:r>
            <a:r>
              <a:rPr lang="en-US" altLang="zh-CN" b="0">
                <a:solidFill>
                  <a:schemeClr val="bg2"/>
                </a:solidFill>
              </a:rPr>
              <a:t>ip</a:t>
            </a:r>
            <a:r>
              <a:rPr lang="zh-CN" altLang="en-US" b="0">
                <a:solidFill>
                  <a:schemeClr val="bg2"/>
                </a:solidFill>
              </a:rPr>
              <a:t>及子网掩码写在图上。</a:t>
            </a:r>
          </a:p>
          <a:p>
            <a:pPr lvl="1"/>
            <a:r>
              <a:rPr lang="zh-CN" altLang="en-US" b="0">
                <a:solidFill>
                  <a:schemeClr val="bg2"/>
                </a:solidFill>
              </a:rPr>
              <a:t>配置计算机</a:t>
            </a:r>
            <a:r>
              <a:rPr lang="en-US" altLang="zh-CN" b="0">
                <a:solidFill>
                  <a:schemeClr val="bg2"/>
                </a:solidFill>
              </a:rPr>
              <a:t>ip</a:t>
            </a:r>
          </a:p>
          <a:p>
            <a:pPr lvl="1"/>
            <a:r>
              <a:rPr lang="zh-CN" altLang="en-US" b="0">
                <a:solidFill>
                  <a:schemeClr val="bg2"/>
                </a:solidFill>
              </a:rPr>
              <a:t>将两交换机互连的接口配置成链路聚合接口</a:t>
            </a:r>
          </a:p>
          <a:p>
            <a:pPr lvl="1"/>
            <a:r>
              <a:rPr lang="zh-CN" altLang="en-US" b="0">
                <a:solidFill>
                  <a:schemeClr val="bg2"/>
                </a:solidFill>
              </a:rPr>
              <a:t>按拓扑连接线缆，测试网络连通性</a:t>
            </a:r>
          </a:p>
          <a:p>
            <a:pPr lvl="1"/>
            <a:r>
              <a:rPr lang="zh-CN" altLang="en-US" b="0">
                <a:solidFill>
                  <a:schemeClr val="bg2"/>
                </a:solidFill>
              </a:rPr>
              <a:t>在一台计算机上连续</a:t>
            </a:r>
            <a:r>
              <a:rPr lang="en-US" altLang="zh-CN" b="0">
                <a:solidFill>
                  <a:schemeClr val="bg2"/>
                </a:solidFill>
              </a:rPr>
              <a:t>ping</a:t>
            </a:r>
            <a:r>
              <a:rPr lang="zh-CN" altLang="en-US" b="0">
                <a:solidFill>
                  <a:schemeClr val="bg2"/>
                </a:solidFill>
              </a:rPr>
              <a:t>对端计算机，拔掉一根线缆，查看丢包情况</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EC5845CB-73D8-4658-9465-FCA61E4EF867}"/>
              </a:ext>
            </a:extLst>
          </p:cNvPr>
          <p:cNvSpPr>
            <a:spLocks noGrp="1" noChangeArrowheads="1"/>
          </p:cNvSpPr>
          <p:nvPr>
            <p:ph type="title"/>
          </p:nvPr>
        </p:nvSpPr>
        <p:spPr/>
        <p:txBody>
          <a:bodyPr/>
          <a:lstStyle/>
          <a:p>
            <a:r>
              <a:rPr lang="zh-CN" altLang="en-US"/>
              <a:t>链路聚合配置命令</a:t>
            </a:r>
          </a:p>
        </p:txBody>
      </p:sp>
      <p:sp>
        <p:nvSpPr>
          <p:cNvPr id="47107" name="Rectangle 3">
            <a:extLst>
              <a:ext uri="{FF2B5EF4-FFF2-40B4-BE49-F238E27FC236}">
                <a16:creationId xmlns:a16="http://schemas.microsoft.com/office/drawing/2014/main" id="{7FDFFDF3-C3EF-431A-8F21-4E87ADEC3065}"/>
              </a:ext>
            </a:extLst>
          </p:cNvPr>
          <p:cNvSpPr>
            <a:spLocks noGrp="1" noChangeArrowheads="1"/>
          </p:cNvSpPr>
          <p:nvPr>
            <p:ph type="body" idx="1"/>
          </p:nvPr>
        </p:nvSpPr>
        <p:spPr>
          <a:xfrm>
            <a:off x="611188" y="836613"/>
            <a:ext cx="7993062" cy="5329237"/>
          </a:xfrm>
          <a:noFill/>
        </p:spPr>
        <p:txBody>
          <a:bodyPr/>
          <a:lstStyle/>
          <a:p>
            <a:r>
              <a:rPr lang="zh-CN" altLang="en-US" sz="2800"/>
              <a:t>创建</a:t>
            </a:r>
            <a:r>
              <a:rPr lang="en-US" altLang="zh-CN" sz="2800"/>
              <a:t>/</a:t>
            </a:r>
            <a:r>
              <a:rPr lang="zh-CN" altLang="en-US" sz="2800"/>
              <a:t>进入链路聚合接口</a:t>
            </a:r>
            <a:endParaRPr lang="en-US" altLang="zh-CN" sz="2800"/>
          </a:p>
          <a:p>
            <a:pPr lvl="1"/>
            <a:r>
              <a:rPr lang="en-US" altLang="zh-CN" sz="2400"/>
              <a:t>Switch(config)# </a:t>
            </a:r>
            <a:r>
              <a:rPr lang="en-US" altLang="zh-CN" sz="2400">
                <a:solidFill>
                  <a:srgbClr val="0000FF"/>
                </a:solidFill>
              </a:rPr>
              <a:t>interface aggregateport</a:t>
            </a:r>
            <a:r>
              <a:rPr lang="en-US" altLang="zh-CN" sz="2400"/>
              <a:t> </a:t>
            </a:r>
            <a:r>
              <a:rPr lang="en-US" altLang="zh-CN" sz="2400" b="0" i="1">
                <a:solidFill>
                  <a:srgbClr val="FF0000"/>
                </a:solidFill>
              </a:rPr>
              <a:t>ag-number</a:t>
            </a:r>
          </a:p>
          <a:p>
            <a:pPr lvl="1">
              <a:buFont typeface="Wingdings" panose="05000000000000000000" pitchFamily="2" charset="2"/>
              <a:buNone/>
            </a:pPr>
            <a:r>
              <a:rPr lang="en-US" altLang="zh-CN" sz="2400" b="0"/>
              <a:t>(</a:t>
            </a:r>
            <a:r>
              <a:rPr lang="zh-CN" altLang="en-US" sz="2400" b="0"/>
              <a:t>例</a:t>
            </a:r>
            <a:r>
              <a:rPr lang="en-US" altLang="zh-CN" sz="2400" b="0"/>
              <a:t>:</a:t>
            </a:r>
            <a:r>
              <a:rPr lang="en-US" altLang="zh-CN" sz="2400"/>
              <a:t>Switch(config)# </a:t>
            </a:r>
            <a:r>
              <a:rPr lang="en-US" altLang="zh-CN" sz="2400">
                <a:solidFill>
                  <a:srgbClr val="0000FF"/>
                </a:solidFill>
              </a:rPr>
              <a:t>interface aggregateport</a:t>
            </a:r>
            <a:r>
              <a:rPr lang="zh-CN" altLang="en-US" sz="2400" b="0">
                <a:solidFill>
                  <a:srgbClr val="0000FF"/>
                </a:solidFill>
              </a:rPr>
              <a:t> </a:t>
            </a:r>
            <a:r>
              <a:rPr lang="en-US" altLang="zh-CN" sz="2400" b="0">
                <a:solidFill>
                  <a:srgbClr val="0000FF"/>
                </a:solidFill>
              </a:rPr>
              <a:t>1)</a:t>
            </a:r>
            <a:endParaRPr lang="zh-CN" altLang="en-US" sz="2400"/>
          </a:p>
          <a:p>
            <a:r>
              <a:rPr lang="zh-CN" altLang="en-US" sz="2800"/>
              <a:t>配置</a:t>
            </a:r>
            <a:r>
              <a:rPr lang="en-US" altLang="zh-CN" sz="2800"/>
              <a:t>AG</a:t>
            </a:r>
            <a:r>
              <a:rPr lang="zh-CN" altLang="en-US" sz="2800"/>
              <a:t>接口模式为</a:t>
            </a:r>
            <a:r>
              <a:rPr lang="en-US" altLang="zh-CN" sz="2800"/>
              <a:t>truck</a:t>
            </a:r>
          </a:p>
          <a:p>
            <a:pPr lvl="1"/>
            <a:r>
              <a:rPr lang="en-US" altLang="zh-CN" sz="2400"/>
              <a:t>Switch(config-if)#</a:t>
            </a:r>
            <a:r>
              <a:rPr lang="en-US" altLang="zh-CN" sz="2400">
                <a:solidFill>
                  <a:srgbClr val="0000FF"/>
                </a:solidFill>
              </a:rPr>
              <a:t>switchport mode trunk</a:t>
            </a:r>
          </a:p>
          <a:p>
            <a:r>
              <a:rPr lang="zh-CN" altLang="en-US" sz="2800"/>
              <a:t>将交换机以太网接口加入一个</a:t>
            </a:r>
            <a:r>
              <a:rPr lang="en-US" altLang="zh-CN" sz="2800"/>
              <a:t>AP</a:t>
            </a:r>
            <a:r>
              <a:rPr lang="zh-CN" altLang="en-US" sz="2800"/>
              <a:t>，实现物理接口与虚拟接口的关联</a:t>
            </a:r>
            <a:endParaRPr lang="en-US" altLang="zh-CN" sz="2800"/>
          </a:p>
          <a:p>
            <a:pPr lvl="1"/>
            <a:r>
              <a:rPr lang="en-US" altLang="zh-CN" sz="2400"/>
              <a:t> Switch(config) # </a:t>
            </a:r>
            <a:r>
              <a:rPr lang="en-US" altLang="zh-CN" sz="2400">
                <a:solidFill>
                  <a:srgbClr val="0000FF"/>
                </a:solidFill>
              </a:rPr>
              <a:t>interface fastethernet</a:t>
            </a:r>
            <a:r>
              <a:rPr lang="en-US" altLang="zh-CN" sz="2400" b="0" i="1">
                <a:solidFill>
                  <a:srgbClr val="FF0000"/>
                </a:solidFill>
              </a:rPr>
              <a:t> mod-num/port-num</a:t>
            </a:r>
            <a:r>
              <a:rPr lang="en-US" altLang="zh-CN" sz="2400"/>
              <a:t> </a:t>
            </a:r>
          </a:p>
          <a:p>
            <a:pPr lvl="1">
              <a:lnSpc>
                <a:spcPct val="135000"/>
              </a:lnSpc>
            </a:pPr>
            <a:r>
              <a:rPr lang="en-US" altLang="zh-CN" sz="2400"/>
              <a:t>Switch(config-if)#</a:t>
            </a:r>
            <a:r>
              <a:rPr lang="en-US" altLang="zh-CN" sz="2400">
                <a:solidFill>
                  <a:srgbClr val="0000FF"/>
                </a:solidFill>
              </a:rPr>
              <a:t>port-group</a:t>
            </a:r>
            <a:r>
              <a:rPr lang="en-US" altLang="zh-CN" sz="2400" b="0" i="1">
                <a:solidFill>
                  <a:srgbClr val="FF0000"/>
                </a:solidFill>
              </a:rPr>
              <a:t>  ag-number</a:t>
            </a:r>
            <a:endParaRPr lang="zh-CN" altLang="en-US" sz="2400" b="0" i="1">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B4A8731-2CDD-4882-9CE8-2189AD826318}"/>
              </a:ext>
            </a:extLst>
          </p:cNvPr>
          <p:cNvSpPr>
            <a:spLocks noGrp="1" noChangeArrowheads="1"/>
          </p:cNvSpPr>
          <p:nvPr>
            <p:ph type="title" idx="4294967295"/>
          </p:nvPr>
        </p:nvSpPr>
        <p:spPr/>
        <p:txBody>
          <a:bodyPr/>
          <a:lstStyle/>
          <a:p>
            <a:pPr eaLnBrk="1" hangingPunct="1"/>
            <a:r>
              <a:rPr lang="zh-CN" altLang="en-US"/>
              <a:t>链路聚合配置命令</a:t>
            </a:r>
          </a:p>
        </p:txBody>
      </p:sp>
      <p:sp>
        <p:nvSpPr>
          <p:cNvPr id="49155" name="Rectangle 3">
            <a:extLst>
              <a:ext uri="{FF2B5EF4-FFF2-40B4-BE49-F238E27FC236}">
                <a16:creationId xmlns:a16="http://schemas.microsoft.com/office/drawing/2014/main" id="{08CAAA51-F524-456A-AD2D-FA7821E4BE3B}"/>
              </a:ext>
            </a:extLst>
          </p:cNvPr>
          <p:cNvSpPr>
            <a:spLocks noGrp="1" noChangeArrowheads="1"/>
          </p:cNvSpPr>
          <p:nvPr>
            <p:ph type="body" idx="4294967295"/>
          </p:nvPr>
        </p:nvSpPr>
        <p:spPr>
          <a:xfrm>
            <a:off x="519113" y="1279525"/>
            <a:ext cx="8445500" cy="4525963"/>
          </a:xfrm>
          <a:noFill/>
        </p:spPr>
        <p:txBody>
          <a:bodyPr/>
          <a:lstStyle/>
          <a:p>
            <a:pPr eaLnBrk="1" hangingPunct="1">
              <a:lnSpc>
                <a:spcPct val="90000"/>
              </a:lnSpc>
            </a:pPr>
            <a:r>
              <a:rPr lang="zh-CN" altLang="en-US"/>
              <a:t>对一组接口操作</a:t>
            </a:r>
          </a:p>
          <a:p>
            <a:pPr lvl="1" eaLnBrk="1" hangingPunct="1">
              <a:lnSpc>
                <a:spcPct val="90000"/>
              </a:lnSpc>
            </a:pPr>
            <a:r>
              <a:rPr lang="en-US" altLang="zh-CN"/>
              <a:t>Switch(config)#</a:t>
            </a:r>
            <a:r>
              <a:rPr lang="en-US" altLang="zh-CN">
                <a:solidFill>
                  <a:srgbClr val="0000FF"/>
                </a:solidFill>
              </a:rPr>
              <a:t>interface range</a:t>
            </a:r>
            <a:r>
              <a:rPr lang="en-US" altLang="zh-CN"/>
              <a:t> </a:t>
            </a:r>
            <a:r>
              <a:rPr lang="en-US" altLang="zh-CN">
                <a:solidFill>
                  <a:srgbClr val="0000FF"/>
                </a:solidFill>
              </a:rPr>
              <a:t>fastethernet</a:t>
            </a:r>
            <a:r>
              <a:rPr lang="en-US" altLang="zh-CN"/>
              <a:t> </a:t>
            </a:r>
            <a:r>
              <a:rPr lang="en-US" altLang="zh-CN" b="0" i="1">
                <a:solidFill>
                  <a:srgbClr val="FF0000"/>
                </a:solidFill>
              </a:rPr>
              <a:t>port-range</a:t>
            </a:r>
          </a:p>
          <a:p>
            <a:pPr lvl="1" eaLnBrk="1" hangingPunct="1">
              <a:lnSpc>
                <a:spcPct val="90000"/>
              </a:lnSpc>
              <a:buFont typeface="Wingdings" panose="05000000000000000000" pitchFamily="2" charset="2"/>
              <a:buNone/>
            </a:pPr>
            <a:r>
              <a:rPr lang="zh-CN" altLang="en-US" b="0"/>
              <a:t>（例： </a:t>
            </a:r>
            <a:r>
              <a:rPr lang="en-US" altLang="zh-CN"/>
              <a:t>Switch(config)#</a:t>
            </a:r>
            <a:r>
              <a:rPr lang="en-US" altLang="zh-CN">
                <a:solidFill>
                  <a:srgbClr val="0000FF"/>
                </a:solidFill>
              </a:rPr>
              <a:t>interface range</a:t>
            </a:r>
            <a:r>
              <a:rPr lang="en-US" altLang="zh-CN"/>
              <a:t> </a:t>
            </a:r>
            <a:r>
              <a:rPr lang="en-US" altLang="zh-CN">
                <a:solidFill>
                  <a:srgbClr val="0000FF"/>
                </a:solidFill>
              </a:rPr>
              <a:t>fastethernet 0/1-8</a:t>
            </a:r>
            <a:r>
              <a:rPr lang="zh-CN" altLang="en-US">
                <a:solidFill>
                  <a:srgbClr val="0000FF"/>
                </a:solidFill>
              </a:rPr>
              <a:t>，</a:t>
            </a:r>
            <a:r>
              <a:rPr lang="en-US" altLang="zh-CN">
                <a:solidFill>
                  <a:srgbClr val="0000FF"/>
                </a:solidFill>
              </a:rPr>
              <a:t>0/15</a:t>
            </a:r>
            <a:r>
              <a:rPr lang="zh-CN" altLang="en-US">
                <a:solidFill>
                  <a:srgbClr val="0000FF"/>
                </a:solidFill>
              </a:rPr>
              <a:t>，</a:t>
            </a:r>
            <a:r>
              <a:rPr lang="en-US" altLang="zh-CN">
                <a:solidFill>
                  <a:srgbClr val="0000FF"/>
                </a:solidFill>
              </a:rPr>
              <a:t>0/20</a:t>
            </a:r>
            <a:r>
              <a:rPr lang="zh-CN" altLang="en-US"/>
              <a:t>）</a:t>
            </a:r>
          </a:p>
          <a:p>
            <a:pPr lvl="1" eaLnBrk="1" hangingPunct="1">
              <a:lnSpc>
                <a:spcPct val="90000"/>
              </a:lnSpc>
            </a:pPr>
            <a:r>
              <a:rPr lang="en-US" altLang="zh-CN"/>
              <a:t>Switch(config-if-range)#</a:t>
            </a:r>
            <a:endParaRPr lang="zh-CN" altLang="en-US"/>
          </a:p>
          <a:p>
            <a:pPr lvl="1" eaLnBrk="1" hangingPunct="1">
              <a:lnSpc>
                <a:spcPct val="90000"/>
              </a:lnSpc>
            </a:pPr>
            <a:endParaRPr lang="en-US" altLang="zh-CN"/>
          </a:p>
          <a:p>
            <a:pPr>
              <a:lnSpc>
                <a:spcPct val="90000"/>
              </a:lnSpc>
            </a:pPr>
            <a:r>
              <a:rPr lang="zh-CN" altLang="en-US"/>
              <a:t>注：</a:t>
            </a:r>
            <a:r>
              <a:rPr lang="zh-CN" altLang="en-US" b="0"/>
              <a:t>每个接口范围段包括一定范围的接口。每个接口范围段使用逗号（</a:t>
            </a:r>
            <a:r>
              <a:rPr lang="en-US" altLang="zh-CN" b="0"/>
              <a:t>,</a:t>
            </a:r>
            <a:r>
              <a:rPr lang="zh-CN" altLang="en-US" b="0"/>
              <a:t>）隔开。</a:t>
            </a:r>
          </a:p>
          <a:p>
            <a:pPr eaLnBrk="1" hangingPunct="1">
              <a:lnSpc>
                <a:spcPct val="90000"/>
              </a:lnSpc>
            </a:pPr>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C86FBA5B-64AA-499A-B64F-2C92F5EA2A5B}"/>
              </a:ext>
            </a:extLst>
          </p:cNvPr>
          <p:cNvSpPr>
            <a:spLocks noGrp="1" noChangeArrowheads="1"/>
          </p:cNvSpPr>
          <p:nvPr>
            <p:ph type="title"/>
          </p:nvPr>
        </p:nvSpPr>
        <p:spPr/>
        <p:txBody>
          <a:bodyPr/>
          <a:lstStyle/>
          <a:p>
            <a:r>
              <a:rPr lang="zh-CN" altLang="en-US"/>
              <a:t>查看端口聚合的配置</a:t>
            </a:r>
          </a:p>
        </p:txBody>
      </p:sp>
      <p:sp>
        <p:nvSpPr>
          <p:cNvPr id="50179" name="Rectangle 3">
            <a:extLst>
              <a:ext uri="{FF2B5EF4-FFF2-40B4-BE49-F238E27FC236}">
                <a16:creationId xmlns:a16="http://schemas.microsoft.com/office/drawing/2014/main" id="{C48842D3-CFEA-4689-8466-14034BEFB061}"/>
              </a:ext>
            </a:extLst>
          </p:cNvPr>
          <p:cNvSpPr>
            <a:spLocks noGrp="1" noChangeArrowheads="1"/>
          </p:cNvSpPr>
          <p:nvPr>
            <p:ph type="body" idx="1"/>
          </p:nvPr>
        </p:nvSpPr>
        <p:spPr>
          <a:xfrm>
            <a:off x="735013" y="1495425"/>
            <a:ext cx="8229600" cy="4525963"/>
          </a:xfrm>
        </p:spPr>
        <p:txBody>
          <a:bodyPr/>
          <a:lstStyle/>
          <a:p>
            <a:r>
              <a:rPr lang="zh-CN" altLang="en-US"/>
              <a:t>查看聚合端口的汇总信息</a:t>
            </a:r>
          </a:p>
          <a:p>
            <a:pPr lvl="1"/>
            <a:r>
              <a:rPr lang="en-US" altLang="zh-CN"/>
              <a:t>Switch#</a:t>
            </a:r>
            <a:r>
              <a:rPr lang="en-US" altLang="zh-CN">
                <a:solidFill>
                  <a:srgbClr val="0000FF"/>
                </a:solidFill>
              </a:rPr>
              <a:t>show aggregateport  summary</a:t>
            </a:r>
          </a:p>
          <a:p>
            <a:r>
              <a:rPr lang="zh-CN" altLang="en-US"/>
              <a:t>查看聚合端口的流量平衡方式</a:t>
            </a:r>
          </a:p>
          <a:p>
            <a:pPr lvl="1"/>
            <a:r>
              <a:rPr lang="en-US" altLang="zh-CN"/>
              <a:t>Switch#</a:t>
            </a:r>
            <a:r>
              <a:rPr lang="en-US" altLang="zh-CN">
                <a:solidFill>
                  <a:srgbClr val="0000FF"/>
                </a:solidFill>
              </a:rPr>
              <a:t>show aggregateport load-balance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EBF3D5C-E4E8-4B67-B9EA-AC2C9C511442}"/>
              </a:ext>
            </a:extLst>
          </p:cNvPr>
          <p:cNvSpPr>
            <a:spLocks noGrp="1" noChangeArrowheads="1"/>
          </p:cNvSpPr>
          <p:nvPr>
            <p:ph type="title" idx="4294967295"/>
          </p:nvPr>
        </p:nvSpPr>
        <p:spPr/>
        <p:txBody>
          <a:bodyPr/>
          <a:lstStyle/>
          <a:p>
            <a:r>
              <a:rPr lang="zh-CN" altLang="en-US"/>
              <a:t>路由器组网及配置实验预习</a:t>
            </a:r>
            <a:endParaRPr lang="en-US" altLang="zh-CN"/>
          </a:p>
        </p:txBody>
      </p:sp>
      <p:sp>
        <p:nvSpPr>
          <p:cNvPr id="51203" name="Rectangle 3">
            <a:extLst>
              <a:ext uri="{FF2B5EF4-FFF2-40B4-BE49-F238E27FC236}">
                <a16:creationId xmlns:a16="http://schemas.microsoft.com/office/drawing/2014/main" id="{27AED4CE-5907-4CF1-85B5-07FF66E65273}"/>
              </a:ext>
            </a:extLst>
          </p:cNvPr>
          <p:cNvSpPr>
            <a:spLocks noGrp="1" noChangeArrowheads="1"/>
          </p:cNvSpPr>
          <p:nvPr>
            <p:ph type="body" idx="4294967295"/>
          </p:nvPr>
        </p:nvSpPr>
        <p:spPr>
          <a:xfrm>
            <a:off x="323850" y="1268413"/>
            <a:ext cx="8677275" cy="4608512"/>
          </a:xfrm>
        </p:spPr>
        <p:txBody>
          <a:bodyPr/>
          <a:lstStyle/>
          <a:p>
            <a:r>
              <a:rPr lang="zh-CN" altLang="en-US"/>
              <a:t>路由器的结构、功能、工作原理</a:t>
            </a:r>
            <a:endParaRPr lang="en-US" altLang="zh-CN"/>
          </a:p>
          <a:p>
            <a:r>
              <a:rPr lang="zh-CN" altLang="en-US"/>
              <a:t>路由算法和协议</a:t>
            </a:r>
            <a:endParaRPr lang="en-US" altLang="zh-CN"/>
          </a:p>
          <a:p>
            <a:r>
              <a:rPr lang="zh-CN" altLang="en-US"/>
              <a:t>路由表的概念和类型</a:t>
            </a:r>
            <a:endParaRPr lang="en-US" altLang="zh-CN"/>
          </a:p>
          <a:p>
            <a:r>
              <a:rPr lang="zh-CN" altLang="en-US"/>
              <a:t>静态路由的概念和用途</a:t>
            </a:r>
            <a:endParaRPr lang="en-US" altLang="zh-CN"/>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4436</TotalTime>
  <Words>1426</Words>
  <Application>Microsoft Office PowerPoint</Application>
  <PresentationFormat>On-screen Show (4:3)</PresentationFormat>
  <Paragraphs>192</Paragraphs>
  <Slides>32</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黑体</vt:lpstr>
      <vt:lpstr>华文细黑</vt:lpstr>
      <vt:lpstr>楷体_GB2312</vt:lpstr>
      <vt:lpstr>宋体</vt:lpstr>
      <vt:lpstr>Arial</vt:lpstr>
      <vt:lpstr>Arial Black</vt:lpstr>
      <vt:lpstr>Times New Roman</vt:lpstr>
      <vt:lpstr>Wingdings</vt:lpstr>
      <vt:lpstr>Pixel</vt:lpstr>
      <vt:lpstr>实验四   交换机冗余技术应用实验</vt:lpstr>
      <vt:lpstr>实验内容</vt:lpstr>
      <vt:lpstr>交换网络中的冗余链路 </vt:lpstr>
      <vt:lpstr>网络中存在的单点故障</vt:lpstr>
      <vt:lpstr>交换网络中的冗余链路</vt:lpstr>
      <vt:lpstr>冗余链路出现的问题—环路</vt:lpstr>
      <vt:lpstr>多帧复制和MAC地址表不稳定</vt:lpstr>
      <vt:lpstr>生成树协议STP</vt:lpstr>
      <vt:lpstr>环路问题的解决</vt:lpstr>
      <vt:lpstr>生成树(STP)协议（教材P129-131）</vt:lpstr>
      <vt:lpstr>快速生成树(RSTP)协议</vt:lpstr>
      <vt:lpstr>生成树配置实验</vt:lpstr>
      <vt:lpstr>总体拓扑结构</vt:lpstr>
      <vt:lpstr>STP配置实验</vt:lpstr>
      <vt:lpstr>RSTP配置实验</vt:lpstr>
      <vt:lpstr>生成树协议的配置命令</vt:lpstr>
      <vt:lpstr>生成树协议的配置命令</vt:lpstr>
      <vt:lpstr>配置STP、RSTP </vt:lpstr>
      <vt:lpstr>查看生成树协议配置</vt:lpstr>
      <vt:lpstr>生成树协议配置信息</vt:lpstr>
      <vt:lpstr>以太网链路聚合</vt:lpstr>
      <vt:lpstr>交换网络问题</vt:lpstr>
      <vt:lpstr>链路聚合</vt:lpstr>
      <vt:lpstr>流量平衡</vt:lpstr>
      <vt:lpstr>链路聚合端口要求</vt:lpstr>
      <vt:lpstr>链路聚合配置实验</vt:lpstr>
      <vt:lpstr>链路聚合配置实验</vt:lpstr>
      <vt:lpstr>链路聚合配置实验</vt:lpstr>
      <vt:lpstr>链路聚合配置命令</vt:lpstr>
      <vt:lpstr>链路聚合配置命令</vt:lpstr>
      <vt:lpstr>查看端口聚合的配置</vt:lpstr>
      <vt:lpstr>路由器组网及配置实验预习</vt:lpstr>
    </vt:vector>
  </TitlesOfParts>
  <Company>netlab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贾真</dc:creator>
  <cp:lastModifiedBy>9320</cp:lastModifiedBy>
  <cp:revision>339</cp:revision>
  <dcterms:created xsi:type="dcterms:W3CDTF">2004-09-14T08:08:58Z</dcterms:created>
  <dcterms:modified xsi:type="dcterms:W3CDTF">2025-10-28T06:25:02Z</dcterms:modified>
</cp:coreProperties>
</file>