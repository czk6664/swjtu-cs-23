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3"/>
  </p:notesMasterIdLst>
  <p:sldIdLst>
    <p:sldId id="353" r:id="rId2"/>
    <p:sldId id="734" r:id="rId3"/>
    <p:sldId id="716" r:id="rId4"/>
    <p:sldId id="717" r:id="rId5"/>
    <p:sldId id="720" r:id="rId6"/>
    <p:sldId id="721" r:id="rId7"/>
    <p:sldId id="728" r:id="rId8"/>
    <p:sldId id="750" r:id="rId9"/>
    <p:sldId id="729" r:id="rId10"/>
    <p:sldId id="724" r:id="rId11"/>
    <p:sldId id="726" r:id="rId12"/>
    <p:sldId id="795" r:id="rId13"/>
    <p:sldId id="768" r:id="rId14"/>
    <p:sldId id="791" r:id="rId15"/>
    <p:sldId id="769" r:id="rId16"/>
    <p:sldId id="770" r:id="rId17"/>
    <p:sldId id="771" r:id="rId18"/>
    <p:sldId id="772" r:id="rId19"/>
    <p:sldId id="788" r:id="rId20"/>
    <p:sldId id="774" r:id="rId21"/>
    <p:sldId id="775" r:id="rId22"/>
    <p:sldId id="780" r:id="rId23"/>
    <p:sldId id="781" r:id="rId24"/>
    <p:sldId id="784" r:id="rId25"/>
    <p:sldId id="785" r:id="rId26"/>
    <p:sldId id="782" r:id="rId27"/>
    <p:sldId id="777" r:id="rId28"/>
    <p:sldId id="783" r:id="rId29"/>
    <p:sldId id="786" r:id="rId30"/>
    <p:sldId id="793" r:id="rId31"/>
    <p:sldId id="794" r:id="rId32"/>
  </p:sldIdLst>
  <p:sldSz cx="9144000" cy="6858000" type="screen4x3"/>
  <p:notesSz cx="7099300"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6600FF"/>
    <a:srgbClr val="666699"/>
    <a:srgbClr val="6600CC"/>
    <a:srgbClr val="9966FF"/>
    <a:srgbClr val="3333CC"/>
    <a:srgbClr val="6666FF"/>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631" autoAdjust="0"/>
    <p:restoredTop sz="86254" autoAdjust="0"/>
  </p:normalViewPr>
  <p:slideViewPr>
    <p:cSldViewPr>
      <p:cViewPr varScale="1">
        <p:scale>
          <a:sx n="98" d="100"/>
          <a:sy n="98" d="100"/>
        </p:scale>
        <p:origin x="1566" y="120"/>
      </p:cViewPr>
      <p:guideLst>
        <p:guide orient="horz" pos="2160"/>
        <p:guide pos="2880"/>
      </p:guideLst>
    </p:cSldViewPr>
  </p:slideViewPr>
  <p:outlineViewPr>
    <p:cViewPr>
      <p:scale>
        <a:sx n="33" d="100"/>
        <a:sy n="33" d="100"/>
      </p:scale>
      <p:origin x="0" y="25116"/>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1788" y="-96"/>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381D372E-0C14-4060-8530-83BAD3914AF0}"/>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lvl1pPr defTabSz="990600" eaLnBrk="1" hangingPunct="1">
              <a:defRPr kumimoji="1" sz="1300">
                <a:latin typeface="Times New Roman" pitchFamily="18" charset="0"/>
                <a:ea typeface="宋体" panose="02010600030101010101" pitchFamily="2" charset="-122"/>
              </a:defRPr>
            </a:lvl1pPr>
          </a:lstStyle>
          <a:p>
            <a:pPr>
              <a:defRPr/>
            </a:pPr>
            <a:endParaRPr lang="en-US" altLang="zh-CN"/>
          </a:p>
        </p:txBody>
      </p:sp>
      <p:sp>
        <p:nvSpPr>
          <p:cNvPr id="157699" name="Rectangle 3">
            <a:extLst>
              <a:ext uri="{FF2B5EF4-FFF2-40B4-BE49-F238E27FC236}">
                <a16:creationId xmlns:a16="http://schemas.microsoft.com/office/drawing/2014/main" id="{C4A91475-367A-419D-A002-E8C33828DD2B}"/>
              </a:ext>
            </a:extLst>
          </p:cNvPr>
          <p:cNvSpPr>
            <a:spLocks noGrp="1" noChangeArrowheads="1"/>
          </p:cNvSpPr>
          <p:nvPr>
            <p:ph type="dt" idx="1"/>
          </p:nvPr>
        </p:nvSpPr>
        <p:spPr bwMode="auto">
          <a:xfrm>
            <a:off x="4021138" y="0"/>
            <a:ext cx="3076575" cy="511175"/>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lvl1pPr algn="r" defTabSz="990600" eaLnBrk="1" hangingPunct="1">
              <a:defRPr kumimoji="1" sz="1300">
                <a:latin typeface="Times New Roman" pitchFamily="18" charset="0"/>
                <a:ea typeface="宋体" panose="02010600030101010101" pitchFamily="2" charset="-122"/>
              </a:defRPr>
            </a:lvl1pPr>
          </a:lstStyle>
          <a:p>
            <a:pPr>
              <a:defRPr/>
            </a:pPr>
            <a:endParaRPr lang="en-US" altLang="zh-CN"/>
          </a:p>
        </p:txBody>
      </p:sp>
      <p:sp>
        <p:nvSpPr>
          <p:cNvPr id="4100" name="Rectangle 4">
            <a:extLst>
              <a:ext uri="{FF2B5EF4-FFF2-40B4-BE49-F238E27FC236}">
                <a16:creationId xmlns:a16="http://schemas.microsoft.com/office/drawing/2014/main" id="{E534A720-7BD1-45CF-98BD-3229CEA7FCCF}"/>
              </a:ext>
            </a:extLst>
          </p:cNvPr>
          <p:cNvSpPr>
            <a:spLocks noRot="1" noChangeArrowheads="1" noTextEdit="1"/>
          </p:cNvSpPr>
          <p:nvPr>
            <p:ph type="sldImg" idx="2"/>
          </p:nvPr>
        </p:nvSpPr>
        <p:spPr bwMode="auto">
          <a:xfrm>
            <a:off x="990600" y="768350"/>
            <a:ext cx="51181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701" name="Rectangle 5">
            <a:extLst>
              <a:ext uri="{FF2B5EF4-FFF2-40B4-BE49-F238E27FC236}">
                <a16:creationId xmlns:a16="http://schemas.microsoft.com/office/drawing/2014/main" id="{423A414D-B8D7-44B7-865E-049F3F0CD473}"/>
              </a:ext>
            </a:extLst>
          </p:cNvPr>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7702" name="Rectangle 6">
            <a:extLst>
              <a:ext uri="{FF2B5EF4-FFF2-40B4-BE49-F238E27FC236}">
                <a16:creationId xmlns:a16="http://schemas.microsoft.com/office/drawing/2014/main" id="{FFD6A79B-DBD4-4543-8390-4E895B45DC49}"/>
              </a:ext>
            </a:extLst>
          </p:cNvPr>
          <p:cNvSpPr>
            <a:spLocks noGrp="1" noChangeArrowheads="1"/>
          </p:cNvSpPr>
          <p:nvPr>
            <p:ph type="ftr" sz="quarter" idx="4"/>
          </p:nvPr>
        </p:nvSpPr>
        <p:spPr bwMode="auto">
          <a:xfrm>
            <a:off x="0" y="9721850"/>
            <a:ext cx="3076575" cy="511175"/>
          </a:xfrm>
          <a:prstGeom prst="rect">
            <a:avLst/>
          </a:prstGeom>
          <a:noFill/>
          <a:ln w="9525">
            <a:noFill/>
            <a:miter lim="800000"/>
            <a:headEnd/>
            <a:tailEnd/>
          </a:ln>
        </p:spPr>
        <p:txBody>
          <a:bodyPr vert="horz" wrap="square" lIns="99048" tIns="49524" rIns="99048" bIns="49524" numCol="1" anchor="b" anchorCtr="0" compatLnSpc="1">
            <a:prstTxWarp prst="textNoShape">
              <a:avLst/>
            </a:prstTxWarp>
          </a:bodyPr>
          <a:lstStyle>
            <a:lvl1pPr defTabSz="990600" eaLnBrk="1" hangingPunct="1">
              <a:defRPr kumimoji="1" sz="1300">
                <a:latin typeface="Times New Roman" pitchFamily="18" charset="0"/>
                <a:ea typeface="宋体" panose="02010600030101010101" pitchFamily="2" charset="-122"/>
              </a:defRPr>
            </a:lvl1pPr>
          </a:lstStyle>
          <a:p>
            <a:pPr>
              <a:defRPr/>
            </a:pPr>
            <a:endParaRPr lang="en-US" altLang="zh-CN"/>
          </a:p>
        </p:txBody>
      </p:sp>
      <p:sp>
        <p:nvSpPr>
          <p:cNvPr id="157703" name="Rectangle 7">
            <a:extLst>
              <a:ext uri="{FF2B5EF4-FFF2-40B4-BE49-F238E27FC236}">
                <a16:creationId xmlns:a16="http://schemas.microsoft.com/office/drawing/2014/main" id="{F7BDB75A-B6E4-431F-A966-28066F58DB11}"/>
              </a:ext>
            </a:extLst>
          </p:cNvPr>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p:spPr>
        <p:txBody>
          <a:bodyPr vert="horz" wrap="square" lIns="99048" tIns="49524" rIns="99048" bIns="49524" numCol="1" anchor="b" anchorCtr="0" compatLnSpc="1">
            <a:prstTxWarp prst="textNoShape">
              <a:avLst/>
            </a:prstTxWarp>
          </a:bodyPr>
          <a:lstStyle>
            <a:lvl1pPr algn="r" defTabSz="990600" eaLnBrk="1" hangingPunct="1">
              <a:defRPr kumimoji="1" sz="1300">
                <a:latin typeface="Times New Roman" panose="02020603050405020304" pitchFamily="18" charset="0"/>
              </a:defRPr>
            </a:lvl1pPr>
          </a:lstStyle>
          <a:p>
            <a:pPr>
              <a:defRPr/>
            </a:pPr>
            <a:fld id="{E1E17CFE-7B48-4823-A6C0-26D3ADE003A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vmlDrawing" Target="../drawings/vmlDrawing1.vml"/><Relationship Id="rId5" Type="http://schemas.openxmlformats.org/officeDocument/2006/relationships/image" Target="../media/image16.emf"/><Relationship Id="rId4" Type="http://schemas.openxmlformats.org/officeDocument/2006/relationships/oleObject" Target="../embeddings/oleObject1.bin"/></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2A4A5C1E-FD40-44B7-AD26-DD49B90A3DE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E414086-385A-48BC-8B1D-CB5EBFCF989F}" type="slidenum">
              <a:rPr lang="en-US" altLang="zh-CN" smtClean="0">
                <a:latin typeface="Times New Roman" panose="02020603050405020304" pitchFamily="18" charset="0"/>
              </a:rPr>
              <a:pPr/>
              <a:t>1</a:t>
            </a:fld>
            <a:endParaRPr lang="en-US" altLang="zh-CN">
              <a:latin typeface="Times New Roman" panose="02020603050405020304" pitchFamily="18" charset="0"/>
            </a:endParaRPr>
          </a:p>
        </p:txBody>
      </p:sp>
      <p:sp>
        <p:nvSpPr>
          <p:cNvPr id="6147" name="Rectangle 2">
            <a:extLst>
              <a:ext uri="{FF2B5EF4-FFF2-40B4-BE49-F238E27FC236}">
                <a16:creationId xmlns:a16="http://schemas.microsoft.com/office/drawing/2014/main" id="{22031EE6-6B6D-4974-BAFD-D68FBA6EB51E}"/>
              </a:ext>
            </a:extLst>
          </p:cNvPr>
          <p:cNvSpPr>
            <a:spLocks noRot="1" noChangeArrowheads="1" noTextEdit="1"/>
          </p:cNvSpPr>
          <p:nvPr>
            <p:ph type="sldImg"/>
          </p:nvPr>
        </p:nvSpPr>
        <p:spPr>
          <a:xfrm>
            <a:off x="992188" y="768350"/>
            <a:ext cx="5114925" cy="3836988"/>
          </a:xfrm>
          <a:ln/>
        </p:spPr>
      </p:sp>
      <p:sp>
        <p:nvSpPr>
          <p:cNvPr id="6148" name="Rectangle 3">
            <a:extLst>
              <a:ext uri="{FF2B5EF4-FFF2-40B4-BE49-F238E27FC236}">
                <a16:creationId xmlns:a16="http://schemas.microsoft.com/office/drawing/2014/main" id="{51F5BDD1-0129-46E9-A325-9A53F79502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教学安排</a:t>
            </a:r>
            <a:r>
              <a:rPr lang="en-US" altLang="zh-CN" dirty="0"/>
              <a:t>:</a:t>
            </a:r>
          </a:p>
          <a:p>
            <a:pPr eaLnBrk="1" hangingPunct="1"/>
            <a:r>
              <a:rPr lang="en-US" altLang="zh-CN" dirty="0"/>
              <a:t>1</a:t>
            </a:r>
            <a:r>
              <a:rPr lang="zh-CN" altLang="en-US" dirty="0"/>
              <a:t>、原理和命令，</a:t>
            </a:r>
            <a:r>
              <a:rPr lang="en-US" altLang="zh-CN" dirty="0"/>
              <a:t>1</a:t>
            </a:r>
            <a:r>
              <a:rPr lang="zh-CN" altLang="en-US" dirty="0"/>
              <a:t>学时</a:t>
            </a:r>
            <a:endParaRPr lang="en-US" altLang="zh-CN" dirty="0"/>
          </a:p>
          <a:p>
            <a:pPr eaLnBrk="1" hangingPunct="1"/>
            <a:r>
              <a:rPr lang="en-US" altLang="zh-CN" dirty="0"/>
              <a:t>3</a:t>
            </a:r>
            <a:r>
              <a:rPr lang="zh-CN" altLang="en-US" dirty="0"/>
              <a:t>、实验，</a:t>
            </a:r>
            <a:r>
              <a:rPr lang="en-US" altLang="zh-CN" dirty="0"/>
              <a:t>3</a:t>
            </a:r>
            <a:r>
              <a:rPr lang="zh-CN" altLang="en-US" dirty="0"/>
              <a:t>学时，共</a:t>
            </a:r>
            <a:r>
              <a:rPr lang="en-US" altLang="zh-CN" dirty="0"/>
              <a:t>3</a:t>
            </a:r>
            <a:r>
              <a:rPr lang="zh-CN" altLang="en-US" dirty="0"/>
              <a:t>个实验（静态路由，</a:t>
            </a:r>
            <a:r>
              <a:rPr lang="en-US" altLang="zh-CN" dirty="0"/>
              <a:t>NAT</a:t>
            </a:r>
            <a:r>
              <a:rPr lang="zh-CN" altLang="en-US" dirty="0"/>
              <a:t>，</a:t>
            </a:r>
            <a:r>
              <a:rPr lang="en-US" altLang="zh-CN" dirty="0"/>
              <a:t>IP</a:t>
            </a:r>
            <a:r>
              <a:rPr lang="zh-CN" altLang="en-US" dirty="0"/>
              <a:t>访问列表）</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D92FA04C-BF96-4851-9321-1D0802C048CD}"/>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1B543F07-D7E8-4162-9873-F93D7448BB97}" type="slidenum">
              <a:rPr kumimoji="1" lang="en-US" altLang="zh-CN" sz="1300">
                <a:latin typeface="Times New Roman" panose="02020603050405020304" pitchFamily="18" charset="0"/>
              </a:rPr>
              <a:pPr algn="r" eaLnBrk="1" hangingPunct="1"/>
              <a:t>3</a:t>
            </a:fld>
            <a:endParaRPr kumimoji="1" lang="en-US" altLang="zh-CN" sz="1300">
              <a:latin typeface="Times New Roman" panose="02020603050405020304" pitchFamily="18" charset="0"/>
            </a:endParaRPr>
          </a:p>
        </p:txBody>
      </p:sp>
      <p:sp>
        <p:nvSpPr>
          <p:cNvPr id="9219" name="Rectangle 2">
            <a:extLst>
              <a:ext uri="{FF2B5EF4-FFF2-40B4-BE49-F238E27FC236}">
                <a16:creationId xmlns:a16="http://schemas.microsoft.com/office/drawing/2014/main" id="{F76881A9-D68B-4E21-965E-73B4447F632D}"/>
              </a:ext>
            </a:extLst>
          </p:cNvPr>
          <p:cNvSpPr>
            <a:spLocks noRot="1" noChangeArrowheads="1" noTextEdit="1"/>
          </p:cNvSpPr>
          <p:nvPr>
            <p:ph type="sldImg"/>
          </p:nvPr>
        </p:nvSpPr>
        <p:spPr>
          <a:xfrm>
            <a:off x="992188" y="768350"/>
            <a:ext cx="5114925" cy="3836988"/>
          </a:xfrm>
          <a:ln/>
        </p:spPr>
      </p:sp>
      <p:sp>
        <p:nvSpPr>
          <p:cNvPr id="9220" name="Rectangle 3">
            <a:extLst>
              <a:ext uri="{FF2B5EF4-FFF2-40B4-BE49-F238E27FC236}">
                <a16:creationId xmlns:a16="http://schemas.microsoft.com/office/drawing/2014/main" id="{8023BE10-8D23-4184-A3B7-0B5257B92D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7444BA07-E665-439F-AB89-E6C4FBDC6464}"/>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4FD75136-22E6-452E-960A-5B9F71C094FB}" type="slidenum">
              <a:rPr kumimoji="1" lang="en-US" altLang="zh-CN" sz="1300">
                <a:latin typeface="Times New Roman" panose="02020603050405020304" pitchFamily="18" charset="0"/>
              </a:rPr>
              <a:pPr algn="r" eaLnBrk="1" hangingPunct="1"/>
              <a:t>4</a:t>
            </a:fld>
            <a:endParaRPr kumimoji="1" lang="en-US" altLang="zh-CN" sz="1300">
              <a:latin typeface="Times New Roman" panose="02020603050405020304" pitchFamily="18" charset="0"/>
            </a:endParaRPr>
          </a:p>
        </p:txBody>
      </p:sp>
      <p:sp>
        <p:nvSpPr>
          <p:cNvPr id="11267" name="Rectangle 2">
            <a:extLst>
              <a:ext uri="{FF2B5EF4-FFF2-40B4-BE49-F238E27FC236}">
                <a16:creationId xmlns:a16="http://schemas.microsoft.com/office/drawing/2014/main" id="{D6101D8E-0C07-4C9C-A497-E3B580979637}"/>
              </a:ext>
            </a:extLst>
          </p:cNvPr>
          <p:cNvSpPr>
            <a:spLocks noRot="1" noChangeArrowheads="1" noTextEdit="1"/>
          </p:cNvSpPr>
          <p:nvPr>
            <p:ph type="sldImg"/>
          </p:nvPr>
        </p:nvSpPr>
        <p:spPr>
          <a:xfrm>
            <a:off x="992188" y="768350"/>
            <a:ext cx="5114925" cy="3836988"/>
          </a:xfrm>
          <a:ln/>
        </p:spPr>
      </p:sp>
      <p:sp>
        <p:nvSpPr>
          <p:cNvPr id="11268" name="Rectangle 3">
            <a:extLst>
              <a:ext uri="{FF2B5EF4-FFF2-40B4-BE49-F238E27FC236}">
                <a16:creationId xmlns:a16="http://schemas.microsoft.com/office/drawing/2014/main" id="{81F82BF9-0DEA-4713-8D9F-72406EBEFF2C}"/>
              </a:ext>
            </a:extLst>
          </p:cNvPr>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5805F7B-3309-4748-9672-3FAB21F6D104}"/>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A9F2C647-2454-404A-9DD6-3433C73A391E}" type="slidenum">
              <a:rPr kumimoji="1" lang="en-US" altLang="zh-CN" sz="1300">
                <a:latin typeface="Times New Roman" panose="02020603050405020304" pitchFamily="18" charset="0"/>
              </a:rPr>
              <a:pPr algn="r" eaLnBrk="1" hangingPunct="1"/>
              <a:t>7</a:t>
            </a:fld>
            <a:endParaRPr kumimoji="1" lang="en-US" altLang="zh-CN" sz="1300">
              <a:latin typeface="Times New Roman" panose="02020603050405020304" pitchFamily="18" charset="0"/>
            </a:endParaRPr>
          </a:p>
        </p:txBody>
      </p:sp>
      <p:sp>
        <p:nvSpPr>
          <p:cNvPr id="15363" name="Rectangle 2">
            <a:extLst>
              <a:ext uri="{FF2B5EF4-FFF2-40B4-BE49-F238E27FC236}">
                <a16:creationId xmlns:a16="http://schemas.microsoft.com/office/drawing/2014/main" id="{46C8BBA1-19A7-4561-9C92-45763A811B12}"/>
              </a:ext>
            </a:extLst>
          </p:cNvPr>
          <p:cNvSpPr>
            <a:spLocks noRot="1" noChangeArrowheads="1" noTextEdit="1"/>
          </p:cNvSpPr>
          <p:nvPr>
            <p:ph type="sldImg"/>
          </p:nvPr>
        </p:nvSpPr>
        <p:spPr>
          <a:xfrm>
            <a:off x="992188" y="768350"/>
            <a:ext cx="5114925" cy="3836988"/>
          </a:xfrm>
          <a:ln/>
        </p:spPr>
      </p:sp>
      <p:sp>
        <p:nvSpPr>
          <p:cNvPr id="15364" name="Rectangle 3">
            <a:extLst>
              <a:ext uri="{FF2B5EF4-FFF2-40B4-BE49-F238E27FC236}">
                <a16:creationId xmlns:a16="http://schemas.microsoft.com/office/drawing/2014/main" id="{EB8E67C1-1EF2-49B5-8F3C-E1071A02C8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D3FB81AC-516E-4415-8625-4CA99E1C8AB0}"/>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ED96E426-B3A0-476C-BA37-AAAB814AFD96}" type="slidenum">
              <a:rPr kumimoji="1" lang="en-US" altLang="zh-CN" sz="1300">
                <a:latin typeface="Times New Roman" panose="02020603050405020304" pitchFamily="18" charset="0"/>
              </a:rPr>
              <a:pPr algn="r" eaLnBrk="1" hangingPunct="1"/>
              <a:t>15</a:t>
            </a:fld>
            <a:endParaRPr kumimoji="1" lang="en-US" altLang="zh-CN" sz="1300">
              <a:latin typeface="Times New Roman" panose="02020603050405020304" pitchFamily="18" charset="0"/>
            </a:endParaRPr>
          </a:p>
        </p:txBody>
      </p:sp>
      <p:sp>
        <p:nvSpPr>
          <p:cNvPr id="24579" name="Rectangle 2">
            <a:extLst>
              <a:ext uri="{FF2B5EF4-FFF2-40B4-BE49-F238E27FC236}">
                <a16:creationId xmlns:a16="http://schemas.microsoft.com/office/drawing/2014/main" id="{4F68E2EA-CE66-47C2-9BE9-F00FC3E8483D}"/>
              </a:ext>
            </a:extLst>
          </p:cNvPr>
          <p:cNvSpPr>
            <a:spLocks noRot="1" noChangeArrowheads="1" noTextEdit="1"/>
          </p:cNvSpPr>
          <p:nvPr>
            <p:ph type="sldImg"/>
          </p:nvPr>
        </p:nvSpPr>
        <p:spPr>
          <a:xfrm>
            <a:off x="992188" y="768350"/>
            <a:ext cx="5114925" cy="3836988"/>
          </a:xfrm>
          <a:ln/>
        </p:spPr>
      </p:sp>
      <p:sp>
        <p:nvSpPr>
          <p:cNvPr id="24580" name="Rectangle 3">
            <a:extLst>
              <a:ext uri="{FF2B5EF4-FFF2-40B4-BE49-F238E27FC236}">
                <a16:creationId xmlns:a16="http://schemas.microsoft.com/office/drawing/2014/main" id="{D64C80C7-CCF2-40F2-800C-A93571FF125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71456287-9818-44DF-9336-2B17366C8277}"/>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1ABC4B95-53C3-42AD-A038-E14B1E81928E}" type="slidenum">
              <a:rPr kumimoji="1" lang="en-US" altLang="zh-CN" sz="1300">
                <a:latin typeface="Times New Roman" panose="02020603050405020304" pitchFamily="18" charset="0"/>
              </a:rPr>
              <a:pPr algn="r" eaLnBrk="1" hangingPunct="1"/>
              <a:t>16</a:t>
            </a:fld>
            <a:endParaRPr kumimoji="1" lang="en-US" altLang="zh-CN" sz="1300">
              <a:latin typeface="Times New Roman" panose="02020603050405020304" pitchFamily="18" charset="0"/>
            </a:endParaRPr>
          </a:p>
        </p:txBody>
      </p:sp>
      <p:sp>
        <p:nvSpPr>
          <p:cNvPr id="26627" name="Rectangle 2">
            <a:extLst>
              <a:ext uri="{FF2B5EF4-FFF2-40B4-BE49-F238E27FC236}">
                <a16:creationId xmlns:a16="http://schemas.microsoft.com/office/drawing/2014/main" id="{C8BFC83B-7346-4DA3-A04C-A8E40BFC317E}"/>
              </a:ext>
            </a:extLst>
          </p:cNvPr>
          <p:cNvSpPr>
            <a:spLocks noChangeAspect="1" noChangeArrowheads="1" noTextEdit="1"/>
          </p:cNvSpPr>
          <p:nvPr>
            <p:ph type="sldImg"/>
          </p:nvPr>
        </p:nvSpPr>
        <p:spPr>
          <a:xfrm>
            <a:off x="933450" y="338138"/>
            <a:ext cx="5260975" cy="3946525"/>
          </a:xfrm>
          <a:ln/>
        </p:spPr>
      </p:sp>
      <p:sp>
        <p:nvSpPr>
          <p:cNvPr id="26628" name="Rectangle 3">
            <a:extLst>
              <a:ext uri="{FF2B5EF4-FFF2-40B4-BE49-F238E27FC236}">
                <a16:creationId xmlns:a16="http://schemas.microsoft.com/office/drawing/2014/main" id="{1F3B2E79-5FE1-4191-A3C8-E961D52E4965}"/>
              </a:ext>
            </a:extLst>
          </p:cNvPr>
          <p:cNvSpPr>
            <a:spLocks noChangeArrowheads="1"/>
          </p:cNvSpPr>
          <p:nvPr>
            <p:ph type="body" idx="1"/>
          </p:nvPr>
        </p:nvSpPr>
        <p:spPr>
          <a:xfrm>
            <a:off x="542925" y="4535488"/>
            <a:ext cx="6040438" cy="5127625"/>
          </a:xfrm>
          <a:solidFill>
            <a:srgbClr val="FFFFFF"/>
          </a:solidFill>
          <a:ln>
            <a:solidFill>
              <a:srgbClr val="000000"/>
            </a:solidFill>
          </a:ln>
        </p:spPr>
        <p:txBody>
          <a:bodyPr/>
          <a:lstStyle/>
          <a:p>
            <a:pPr defTabSz="1020763"/>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9ACFB60A-B510-4DB4-ACB5-15247211907A}"/>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09327DB4-05D7-48EF-88FD-121BC06F7320}" type="slidenum">
              <a:rPr kumimoji="1" lang="en-US" altLang="zh-CN" sz="1300">
                <a:latin typeface="Times New Roman" panose="02020603050405020304" pitchFamily="18" charset="0"/>
              </a:rPr>
              <a:pPr algn="r" eaLnBrk="1" hangingPunct="1"/>
              <a:t>19</a:t>
            </a:fld>
            <a:endParaRPr kumimoji="1" lang="en-US" altLang="zh-CN" sz="1300">
              <a:latin typeface="Times New Roman" panose="02020603050405020304" pitchFamily="18" charset="0"/>
            </a:endParaRPr>
          </a:p>
        </p:txBody>
      </p:sp>
      <p:sp>
        <p:nvSpPr>
          <p:cNvPr id="30723" name="Rectangle 2">
            <a:extLst>
              <a:ext uri="{FF2B5EF4-FFF2-40B4-BE49-F238E27FC236}">
                <a16:creationId xmlns:a16="http://schemas.microsoft.com/office/drawing/2014/main" id="{02E3A24F-CD21-42E8-B2FB-C2FABFD33154}"/>
              </a:ext>
            </a:extLst>
          </p:cNvPr>
          <p:cNvSpPr>
            <a:spLocks noChangeArrowheads="1" noTextEdit="1"/>
          </p:cNvSpPr>
          <p:nvPr>
            <p:ph type="sldImg"/>
          </p:nvPr>
        </p:nvSpPr>
        <p:spPr>
          <a:xfrm>
            <a:off x="992188" y="768350"/>
            <a:ext cx="5114925" cy="3836988"/>
          </a:xfrm>
          <a:solidFill>
            <a:srgbClr val="FFFFFF"/>
          </a:solidFill>
          <a:ln/>
        </p:spPr>
      </p:sp>
      <p:sp>
        <p:nvSpPr>
          <p:cNvPr id="30724" name="Rectangle 3">
            <a:extLst>
              <a:ext uri="{FF2B5EF4-FFF2-40B4-BE49-F238E27FC236}">
                <a16:creationId xmlns:a16="http://schemas.microsoft.com/office/drawing/2014/main" id="{883BA276-5F5F-451A-82CD-E6A9FA695F98}"/>
              </a:ext>
            </a:extLst>
          </p:cNvPr>
          <p:cNvSpPr>
            <a:spLocks noChangeArrowheads="1"/>
          </p:cNvSpPr>
          <p:nvPr>
            <p:ph type="body" idx="1"/>
          </p:nvPr>
        </p:nvSpPr>
        <p:spPr>
          <a:solidFill>
            <a:srgbClr val="FFFFFF"/>
          </a:solidFill>
          <a:ln>
            <a:solidFill>
              <a:srgbClr val="000000"/>
            </a:solidFill>
          </a:ln>
        </p:spPr>
        <p:txBody>
          <a:bodyPr/>
          <a:lstStyle/>
          <a:p>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FFA08127-079C-48C8-ABAC-00C27D97EBF1}"/>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E602CA16-1606-483A-A019-AAB31C65BA63}" type="slidenum">
              <a:rPr kumimoji="1" lang="en-US" altLang="zh-CN" sz="1300">
                <a:latin typeface="Times New Roman" panose="02020603050405020304" pitchFamily="18" charset="0"/>
              </a:rPr>
              <a:pPr algn="r" eaLnBrk="1" hangingPunct="1"/>
              <a:t>21</a:t>
            </a:fld>
            <a:endParaRPr kumimoji="1" lang="en-US" altLang="zh-CN" sz="1300">
              <a:latin typeface="Times New Roman" panose="02020603050405020304" pitchFamily="18" charset="0"/>
            </a:endParaRPr>
          </a:p>
        </p:txBody>
      </p:sp>
      <p:sp>
        <p:nvSpPr>
          <p:cNvPr id="33795" name="Rectangle 2">
            <a:extLst>
              <a:ext uri="{FF2B5EF4-FFF2-40B4-BE49-F238E27FC236}">
                <a16:creationId xmlns:a16="http://schemas.microsoft.com/office/drawing/2014/main" id="{59DC5356-DDC6-4763-A94C-AD550807EC43}"/>
              </a:ext>
            </a:extLst>
          </p:cNvPr>
          <p:cNvSpPr>
            <a:spLocks noChangeAspect="1" noChangeArrowheads="1" noTextEdit="1"/>
          </p:cNvSpPr>
          <p:nvPr>
            <p:ph type="sldImg"/>
          </p:nvPr>
        </p:nvSpPr>
        <p:spPr>
          <a:xfrm>
            <a:off x="923925" y="339725"/>
            <a:ext cx="5264150" cy="3948113"/>
          </a:xfrm>
          <a:ln/>
        </p:spPr>
      </p:sp>
      <p:sp>
        <p:nvSpPr>
          <p:cNvPr id="33796" name="Rectangle 3">
            <a:extLst>
              <a:ext uri="{FF2B5EF4-FFF2-40B4-BE49-F238E27FC236}">
                <a16:creationId xmlns:a16="http://schemas.microsoft.com/office/drawing/2014/main" id="{4C176A82-F80C-4F17-BEE9-206D3FCABCC6}"/>
              </a:ext>
            </a:extLst>
          </p:cNvPr>
          <p:cNvSpPr>
            <a:spLocks noChangeArrowheads="1"/>
          </p:cNvSpPr>
          <p:nvPr>
            <p:ph type="body" idx="1"/>
          </p:nvPr>
        </p:nvSpPr>
        <p:spPr>
          <a:xfrm>
            <a:off x="542925" y="4535488"/>
            <a:ext cx="6040438" cy="5127625"/>
          </a:xfrm>
          <a:solidFill>
            <a:srgbClr val="FFFFFF"/>
          </a:solidFill>
          <a:ln>
            <a:solidFill>
              <a:srgbClr val="000000"/>
            </a:solidFill>
          </a:ln>
        </p:spPr>
        <p:txBody>
          <a:bodyPr/>
          <a:lstStyle/>
          <a:p>
            <a:pPr defTabSz="1020763"/>
            <a:endParaRPr lang="zh-CN" altLang="zh-CN" b="1"/>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EA57D512-92DA-4633-A20F-E45A32C48888}"/>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FAC881FB-9803-4C22-9E01-0A0675E172D2}" type="slidenum">
              <a:rPr kumimoji="1" lang="en-US" altLang="zh-CN" sz="1300">
                <a:latin typeface="Times New Roman" panose="02020603050405020304" pitchFamily="18" charset="0"/>
              </a:rPr>
              <a:pPr algn="r" eaLnBrk="1" hangingPunct="1"/>
              <a:t>22</a:t>
            </a:fld>
            <a:endParaRPr kumimoji="1" lang="en-US" altLang="zh-CN" sz="1300">
              <a:latin typeface="Times New Roman" panose="02020603050405020304" pitchFamily="18" charset="0"/>
            </a:endParaRPr>
          </a:p>
        </p:txBody>
      </p:sp>
      <p:sp>
        <p:nvSpPr>
          <p:cNvPr id="35843" name="Rectangle 2">
            <a:extLst>
              <a:ext uri="{FF2B5EF4-FFF2-40B4-BE49-F238E27FC236}">
                <a16:creationId xmlns:a16="http://schemas.microsoft.com/office/drawing/2014/main" id="{E219E6FC-C80B-40E5-88B1-800EB22D4D50}"/>
              </a:ext>
            </a:extLst>
          </p:cNvPr>
          <p:cNvSpPr>
            <a:spLocks noChangeAspect="1" noChangeArrowheads="1" noTextEdit="1"/>
          </p:cNvSpPr>
          <p:nvPr>
            <p:ph type="sldImg"/>
          </p:nvPr>
        </p:nvSpPr>
        <p:spPr>
          <a:xfrm>
            <a:off x="942975" y="339725"/>
            <a:ext cx="5264150" cy="3948113"/>
          </a:xfrm>
          <a:ln/>
        </p:spPr>
      </p:sp>
      <p:sp>
        <p:nvSpPr>
          <p:cNvPr id="35844" name="Rectangle 3">
            <a:extLst>
              <a:ext uri="{FF2B5EF4-FFF2-40B4-BE49-F238E27FC236}">
                <a16:creationId xmlns:a16="http://schemas.microsoft.com/office/drawing/2014/main" id="{7FDFA99D-7DE4-41BD-9FF0-6B2E9B8787C6}"/>
              </a:ext>
            </a:extLst>
          </p:cNvPr>
          <p:cNvSpPr>
            <a:spLocks noChangeArrowheads="1"/>
          </p:cNvSpPr>
          <p:nvPr>
            <p:ph type="body" idx="1"/>
          </p:nvPr>
        </p:nvSpPr>
        <p:spPr>
          <a:xfrm>
            <a:off x="542925" y="4535488"/>
            <a:ext cx="6040438" cy="5127625"/>
          </a:xfrm>
          <a:solidFill>
            <a:srgbClr val="FFFFFF"/>
          </a:solidFill>
          <a:ln>
            <a:solidFill>
              <a:srgbClr val="000000"/>
            </a:solidFill>
          </a:ln>
        </p:spPr>
        <p:txBody>
          <a:bodyPr/>
          <a:lstStyle/>
          <a:p>
            <a:pPr marL="228600" lvl="2"/>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C5A85CA0-774F-4148-8F45-80CEB1CE6874}"/>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D30F6D8C-B126-4A49-BEA0-842CD8E335AA}" type="slidenum">
              <a:rPr kumimoji="1" lang="en-US" altLang="zh-CN" sz="1300">
                <a:latin typeface="Times New Roman" panose="02020603050405020304" pitchFamily="18" charset="0"/>
              </a:rPr>
              <a:pPr algn="r" eaLnBrk="1" hangingPunct="1"/>
              <a:t>23</a:t>
            </a:fld>
            <a:endParaRPr kumimoji="1" lang="en-US" altLang="zh-CN" sz="1300">
              <a:latin typeface="Times New Roman" panose="02020603050405020304" pitchFamily="18" charset="0"/>
            </a:endParaRPr>
          </a:p>
        </p:txBody>
      </p:sp>
      <p:sp>
        <p:nvSpPr>
          <p:cNvPr id="37891" name="Rectangle 2">
            <a:extLst>
              <a:ext uri="{FF2B5EF4-FFF2-40B4-BE49-F238E27FC236}">
                <a16:creationId xmlns:a16="http://schemas.microsoft.com/office/drawing/2014/main" id="{ECA5461A-DD76-40C0-9093-D116D1736B2A}"/>
              </a:ext>
            </a:extLst>
          </p:cNvPr>
          <p:cNvSpPr>
            <a:spLocks noChangeAspect="1" noChangeArrowheads="1" noTextEdit="1"/>
          </p:cNvSpPr>
          <p:nvPr>
            <p:ph type="sldImg"/>
          </p:nvPr>
        </p:nvSpPr>
        <p:spPr>
          <a:xfrm>
            <a:off x="923925" y="339725"/>
            <a:ext cx="5264150" cy="3948113"/>
          </a:xfrm>
          <a:ln/>
        </p:spPr>
      </p:sp>
      <p:sp>
        <p:nvSpPr>
          <p:cNvPr id="37892" name="Rectangle 3">
            <a:extLst>
              <a:ext uri="{FF2B5EF4-FFF2-40B4-BE49-F238E27FC236}">
                <a16:creationId xmlns:a16="http://schemas.microsoft.com/office/drawing/2014/main" id="{548F4E48-5FAE-4A09-B20E-7DD81B8C7C78}"/>
              </a:ext>
            </a:extLst>
          </p:cNvPr>
          <p:cNvSpPr>
            <a:spLocks noChangeArrowheads="1"/>
          </p:cNvSpPr>
          <p:nvPr>
            <p:ph type="body" idx="1"/>
          </p:nvPr>
        </p:nvSpPr>
        <p:spPr>
          <a:xfrm>
            <a:off x="542925" y="4535488"/>
            <a:ext cx="6040438" cy="5213350"/>
          </a:xfrm>
          <a:solidFill>
            <a:srgbClr val="FFFFFF"/>
          </a:solidFill>
          <a:ln>
            <a:solidFill>
              <a:srgbClr val="000000"/>
            </a:solidFill>
          </a:ln>
        </p:spPr>
        <p:txBody>
          <a:bodyPr/>
          <a:lstStyle/>
          <a:p>
            <a:pPr defTabSz="1020763"/>
            <a:r>
              <a:rPr lang="zh-CN" altLang="en-US"/>
              <a:t>实验中允许其他网络访问，必须写出</a:t>
            </a:r>
            <a:r>
              <a:rPr lang="en-US" altLang="zh-CN"/>
              <a:t>permit</a:t>
            </a:r>
            <a:r>
              <a:rPr lang="zh-CN" altLang="en-US"/>
              <a:t>规则。</a:t>
            </a:r>
          </a:p>
          <a:p>
            <a:pPr defTabSz="1020763"/>
            <a:r>
              <a:rPr lang="zh-CN" altLang="zh-CN"/>
              <a:t>如果应用时定义in</a:t>
            </a:r>
            <a:r>
              <a:rPr lang="zh-CN" altLang="en-US"/>
              <a:t>检查，源</a:t>
            </a:r>
            <a:r>
              <a:rPr lang="en-US" altLang="zh-CN"/>
              <a:t>ip</a:t>
            </a:r>
            <a:r>
              <a:rPr lang="zh-CN" altLang="en-US"/>
              <a:t>为</a:t>
            </a:r>
            <a:r>
              <a:rPr lang="en-US" altLang="zh-CN"/>
              <a:t>172.17.0.0</a:t>
            </a:r>
            <a:r>
              <a:rPr lang="zh-CN" altLang="en-US"/>
              <a:t>。会全部被拒绝。如果在</a:t>
            </a:r>
            <a:r>
              <a:rPr lang="en-US" altLang="zh-CN"/>
              <a:t>f1/0</a:t>
            </a:r>
            <a:r>
              <a:rPr lang="zh-CN" altLang="en-US"/>
              <a:t>接口应用，</a:t>
            </a:r>
            <a:r>
              <a:rPr lang="en-US" altLang="zh-CN"/>
              <a:t>172.16.4.0</a:t>
            </a:r>
            <a:r>
              <a:rPr lang="zh-CN" altLang="en-US"/>
              <a:t>的数据包不会被检查。</a:t>
            </a:r>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94A7339-88AB-4C73-B287-A0BE489A2840}"/>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6C81DDBB-CBB7-42C6-AFAE-D209AE491899}" type="slidenum">
              <a:rPr kumimoji="1" lang="en-US" altLang="zh-CN" sz="1300">
                <a:latin typeface="Times New Roman" panose="02020603050405020304" pitchFamily="18" charset="0"/>
              </a:rPr>
              <a:pPr algn="r" eaLnBrk="1" hangingPunct="1"/>
              <a:t>24</a:t>
            </a:fld>
            <a:endParaRPr kumimoji="1" lang="en-US" altLang="zh-CN" sz="1300">
              <a:latin typeface="Times New Roman" panose="02020603050405020304" pitchFamily="18" charset="0"/>
            </a:endParaRPr>
          </a:p>
        </p:txBody>
      </p:sp>
      <p:sp>
        <p:nvSpPr>
          <p:cNvPr id="39939" name="Rectangle 2">
            <a:extLst>
              <a:ext uri="{FF2B5EF4-FFF2-40B4-BE49-F238E27FC236}">
                <a16:creationId xmlns:a16="http://schemas.microsoft.com/office/drawing/2014/main" id="{6B9752C1-0EA3-4B28-BEFC-67F60311C8DE}"/>
              </a:ext>
            </a:extLst>
          </p:cNvPr>
          <p:cNvSpPr>
            <a:spLocks noChangeAspect="1" noChangeArrowheads="1" noTextEdit="1"/>
          </p:cNvSpPr>
          <p:nvPr>
            <p:ph type="sldImg"/>
          </p:nvPr>
        </p:nvSpPr>
        <p:spPr>
          <a:xfrm>
            <a:off x="942975" y="339725"/>
            <a:ext cx="5264150" cy="3948113"/>
          </a:xfrm>
          <a:ln/>
        </p:spPr>
      </p:sp>
      <p:sp>
        <p:nvSpPr>
          <p:cNvPr id="39940" name="Rectangle 3">
            <a:extLst>
              <a:ext uri="{FF2B5EF4-FFF2-40B4-BE49-F238E27FC236}">
                <a16:creationId xmlns:a16="http://schemas.microsoft.com/office/drawing/2014/main" id="{3B546EE3-6B4D-4DC6-A2A7-252D3EB67464}"/>
              </a:ext>
            </a:extLst>
          </p:cNvPr>
          <p:cNvSpPr>
            <a:spLocks noChangeArrowheads="1"/>
          </p:cNvSpPr>
          <p:nvPr>
            <p:ph type="body" idx="1"/>
          </p:nvPr>
        </p:nvSpPr>
        <p:spPr>
          <a:xfrm>
            <a:off x="542925" y="4535488"/>
            <a:ext cx="6040438" cy="5127625"/>
          </a:xfrm>
          <a:solidFill>
            <a:srgbClr val="FFFFFF"/>
          </a:solidFill>
          <a:ln>
            <a:solidFill>
              <a:srgbClr val="000000"/>
            </a:solidFill>
          </a:ln>
        </p:spPr>
        <p:txBody>
          <a:bodyPr/>
          <a:lstStyle/>
          <a:p>
            <a:pPr defTabSz="1020763"/>
            <a:endParaRPr lang="zh-CN" altLang="zh-CN"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5690A81F-2F7D-416A-8190-4D0666E6804B}"/>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6B20A774-BA53-4207-8445-99E1F90789E0}" type="slidenum">
              <a:rPr kumimoji="1" lang="en-US" altLang="zh-CN" sz="1300">
                <a:latin typeface="Times New Roman" panose="02020603050405020304" pitchFamily="18" charset="0"/>
              </a:rPr>
              <a:pPr algn="r" eaLnBrk="1" hangingPunct="1"/>
              <a:t>25</a:t>
            </a:fld>
            <a:endParaRPr kumimoji="1" lang="en-US" altLang="zh-CN" sz="1300">
              <a:latin typeface="Times New Roman" panose="02020603050405020304" pitchFamily="18" charset="0"/>
            </a:endParaRPr>
          </a:p>
        </p:txBody>
      </p:sp>
      <p:sp>
        <p:nvSpPr>
          <p:cNvPr id="41987" name="Rectangle 2">
            <a:extLst>
              <a:ext uri="{FF2B5EF4-FFF2-40B4-BE49-F238E27FC236}">
                <a16:creationId xmlns:a16="http://schemas.microsoft.com/office/drawing/2014/main" id="{B7FF0F8F-FC0D-4AE8-81F6-3F20B035F54C}"/>
              </a:ext>
            </a:extLst>
          </p:cNvPr>
          <p:cNvSpPr>
            <a:spLocks noChangeAspect="1" noChangeArrowheads="1" noTextEdit="1"/>
          </p:cNvSpPr>
          <p:nvPr>
            <p:ph type="sldImg"/>
          </p:nvPr>
        </p:nvSpPr>
        <p:spPr>
          <a:xfrm>
            <a:off x="942975" y="339725"/>
            <a:ext cx="5264150" cy="3948113"/>
          </a:xfrm>
          <a:ln/>
        </p:spPr>
      </p:sp>
      <p:sp>
        <p:nvSpPr>
          <p:cNvPr id="41988" name="Rectangle 3">
            <a:extLst>
              <a:ext uri="{FF2B5EF4-FFF2-40B4-BE49-F238E27FC236}">
                <a16:creationId xmlns:a16="http://schemas.microsoft.com/office/drawing/2014/main" id="{41BF262A-9970-46BD-9545-4C85C3EA9C00}"/>
              </a:ext>
            </a:extLst>
          </p:cNvPr>
          <p:cNvSpPr>
            <a:spLocks noChangeArrowheads="1"/>
          </p:cNvSpPr>
          <p:nvPr>
            <p:ph type="body" idx="1"/>
          </p:nvPr>
        </p:nvSpPr>
        <p:spPr>
          <a:xfrm>
            <a:off x="542925" y="4535488"/>
            <a:ext cx="6040438" cy="5127625"/>
          </a:xfrm>
          <a:solidFill>
            <a:srgbClr val="FFFFFF"/>
          </a:solidFill>
          <a:ln>
            <a:solidFill>
              <a:srgbClr val="000000"/>
            </a:solidFill>
          </a:ln>
        </p:spPr>
        <p:txBody>
          <a:bodyPr/>
          <a:lstStyle/>
          <a:p>
            <a:pPr defTabSz="1020763"/>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E5DA8A9-F088-417E-85AF-E78D9680942A}"/>
              </a:ext>
            </a:extLst>
          </p:cNvPr>
          <p:cNvSpPr>
            <a:spLocks noRot="1" noChangeArrowheads="1" noTextEdit="1"/>
          </p:cNvSpPr>
          <p:nvPr>
            <p:ph type="sldImg"/>
          </p:nvPr>
        </p:nvSpPr>
        <p:spPr>
          <a:xfrm>
            <a:off x="992188" y="768350"/>
            <a:ext cx="5114925" cy="3836988"/>
          </a:xfrm>
          <a:ln/>
        </p:spPr>
      </p:sp>
      <p:sp>
        <p:nvSpPr>
          <p:cNvPr id="44035" name="Rectangle 3">
            <a:extLst>
              <a:ext uri="{FF2B5EF4-FFF2-40B4-BE49-F238E27FC236}">
                <a16:creationId xmlns:a16="http://schemas.microsoft.com/office/drawing/2014/main" id="{1635BBB5-AA48-4EC9-A5E0-20BC608A3A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2</a:t>
            </a:r>
            <a:r>
              <a:rPr lang="zh-CN" altLang="en-US"/>
              <a:t>学时，</a:t>
            </a:r>
            <a:r>
              <a:rPr lang="en-US" altLang="zh-CN"/>
              <a:t>1</a:t>
            </a:r>
            <a:r>
              <a:rPr lang="zh-CN" altLang="en-US"/>
              <a:t>学时课堂演示实验，</a:t>
            </a:r>
            <a:r>
              <a:rPr lang="en-US" altLang="zh-CN"/>
              <a:t>1</a:t>
            </a:r>
            <a:r>
              <a:rPr lang="zh-CN" altLang="en-US"/>
              <a:t>学时网络命令操作实验，需交实验报告。</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D5D04611-A52D-4DAB-92AE-7C1E327DECE4}"/>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CB29A686-2051-462C-B5FF-8482C983F53D}" type="slidenum">
              <a:rPr kumimoji="1" lang="en-US" altLang="zh-CN" sz="1300">
                <a:latin typeface="Times New Roman" panose="02020603050405020304" pitchFamily="18" charset="0"/>
              </a:rPr>
              <a:pPr algn="r" eaLnBrk="1" hangingPunct="1"/>
              <a:t>29</a:t>
            </a:fld>
            <a:endParaRPr kumimoji="1" lang="en-US" altLang="zh-CN" sz="1300">
              <a:latin typeface="Times New Roman" panose="02020603050405020304" pitchFamily="18" charset="0"/>
            </a:endParaRPr>
          </a:p>
        </p:txBody>
      </p:sp>
      <p:graphicFrame>
        <p:nvGraphicFramePr>
          <p:cNvPr id="48131" name="Object 2">
            <a:extLst>
              <a:ext uri="{FF2B5EF4-FFF2-40B4-BE49-F238E27FC236}">
                <a16:creationId xmlns:a16="http://schemas.microsoft.com/office/drawing/2014/main" id="{CDF61F41-C7F1-4401-ABB5-FF99D606BE49}"/>
              </a:ext>
            </a:extLst>
          </p:cNvPr>
          <p:cNvGraphicFramePr>
            <a:graphicFrameLocks noChangeAspect="1"/>
          </p:cNvGraphicFramePr>
          <p:nvPr/>
        </p:nvGraphicFramePr>
        <p:xfrm>
          <a:off x="-177800" y="173038"/>
          <a:ext cx="7607300" cy="9952037"/>
        </p:xfrm>
        <a:graphic>
          <a:graphicData uri="http://schemas.openxmlformats.org/presentationml/2006/ole">
            <mc:AlternateContent xmlns:mc="http://schemas.openxmlformats.org/markup-compatibility/2006">
              <mc:Choice xmlns:v="urn:schemas-microsoft-com:vml" Requires="v">
                <p:oleObj spid="_x0000_s48132" name="Slide" r:id="rId4" imgW="3369393" imgH="4502190" progId="PowerPoint.Slide.8">
                  <p:embed/>
                </p:oleObj>
              </mc:Choice>
              <mc:Fallback>
                <p:oleObj name="Slide" r:id="rId4" imgW="3369393" imgH="4502190" progId="PowerPoint.Slide.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800" y="173038"/>
                        <a:ext cx="7607300" cy="9952037"/>
                      </a:xfrm>
                      <a:prstGeom prst="rect">
                        <a:avLst/>
                      </a:prstGeom>
                      <a:noFill/>
                      <a:ln>
                        <a:noFill/>
                      </a:ln>
                      <a:effectLst/>
                      <a:extLst>
                        <a:ext uri="{909E8E84-426E-40DD-AFC4-6F175D3DCCD1}">
                          <a14:hiddenFill xmlns:a14="http://schemas.microsoft.com/office/drawing/2010/main">
                            <a:solidFill>
                              <a:srgbClr val="2AFF8F"/>
                            </a:solidFill>
                          </a14:hiddenFill>
                        </a:ext>
                        <a:ext uri="{91240B29-F687-4F45-9708-019B960494DF}">
                          <a14:hiddenLine xmlns:a14="http://schemas.microsoft.com/office/drawing/2010/main" w="38100">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oleObj>
              </mc:Fallback>
            </mc:AlternateContent>
          </a:graphicData>
        </a:graphic>
      </p:graphicFrame>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2847472E-8DFC-4E7C-A6ED-EBBCC0DBC3C4}"/>
              </a:ext>
            </a:extLst>
          </p:cNvPr>
          <p:cNvSpPr txBox="1">
            <a:spLocks noGrp="1" noChangeArrowheads="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048" tIns="49524" rIns="99048" bIns="49524" anchor="b"/>
          <a:lstStyle>
            <a:lvl1pPr defTabSz="990600">
              <a:defRPr>
                <a:solidFill>
                  <a:schemeClr val="tx1"/>
                </a:solidFill>
                <a:latin typeface="Arial" panose="020B0604020202020204" pitchFamily="34" charset="0"/>
                <a:ea typeface="宋体" panose="02010600030101010101" pitchFamily="2" charset="-122"/>
              </a:defRPr>
            </a:lvl1pPr>
            <a:lvl2pPr marL="742950" indent="-285750" defTabSz="990600">
              <a:defRPr>
                <a:solidFill>
                  <a:schemeClr val="tx1"/>
                </a:solidFill>
                <a:latin typeface="Arial" panose="020B0604020202020204" pitchFamily="34" charset="0"/>
                <a:ea typeface="宋体" panose="02010600030101010101" pitchFamily="2" charset="-122"/>
              </a:defRPr>
            </a:lvl2pPr>
            <a:lvl3pPr marL="1143000" indent="-228600" defTabSz="990600">
              <a:defRPr>
                <a:solidFill>
                  <a:schemeClr val="tx1"/>
                </a:solidFill>
                <a:latin typeface="Arial" panose="020B0604020202020204" pitchFamily="34" charset="0"/>
                <a:ea typeface="宋体" panose="02010600030101010101" pitchFamily="2" charset="-122"/>
              </a:defRPr>
            </a:lvl3pPr>
            <a:lvl4pPr marL="1600200" indent="-228600" defTabSz="990600">
              <a:defRPr>
                <a:solidFill>
                  <a:schemeClr val="tx1"/>
                </a:solidFill>
                <a:latin typeface="Arial" panose="020B0604020202020204" pitchFamily="34" charset="0"/>
                <a:ea typeface="宋体" panose="02010600030101010101" pitchFamily="2" charset="-122"/>
              </a:defRPr>
            </a:lvl4pPr>
            <a:lvl5pPr marL="2057400" indent="-228600" defTabSz="990600">
              <a:defRPr>
                <a:solidFill>
                  <a:schemeClr val="tx1"/>
                </a:solidFill>
                <a:latin typeface="Arial" panose="020B0604020202020204" pitchFamily="34" charset="0"/>
                <a:ea typeface="宋体" panose="02010600030101010101" pitchFamily="2" charset="-122"/>
              </a:defRPr>
            </a:lvl5pPr>
            <a:lvl6pPr marL="25146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90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fld id="{D328D192-2E94-49E9-9CDC-76428F7A4EF9}" type="slidenum">
              <a:rPr kumimoji="1" lang="en-US" altLang="zh-CN" sz="1300">
                <a:latin typeface="Times New Roman" panose="02020603050405020304" pitchFamily="18" charset="0"/>
              </a:rPr>
              <a:pPr algn="r" eaLnBrk="1" hangingPunct="1"/>
              <a:t>30</a:t>
            </a:fld>
            <a:endParaRPr kumimoji="1" lang="en-US" altLang="zh-CN" sz="1300">
              <a:latin typeface="Times New Roman" panose="02020603050405020304" pitchFamily="18" charset="0"/>
            </a:endParaRPr>
          </a:p>
        </p:txBody>
      </p:sp>
      <p:sp>
        <p:nvSpPr>
          <p:cNvPr id="50179" name="Rectangle 2">
            <a:extLst>
              <a:ext uri="{FF2B5EF4-FFF2-40B4-BE49-F238E27FC236}">
                <a16:creationId xmlns:a16="http://schemas.microsoft.com/office/drawing/2014/main" id="{C6DF0B4F-623E-40BB-8DCC-CEC487788FE7}"/>
              </a:ext>
            </a:extLst>
          </p:cNvPr>
          <p:cNvSpPr>
            <a:spLocks noRot="1" noChangeArrowheads="1" noTextEdit="1"/>
          </p:cNvSpPr>
          <p:nvPr>
            <p:ph type="sldImg"/>
          </p:nvPr>
        </p:nvSpPr>
        <p:spPr>
          <a:xfrm>
            <a:off x="992188" y="768350"/>
            <a:ext cx="5114925" cy="3836988"/>
          </a:xfrm>
          <a:ln/>
        </p:spPr>
      </p:sp>
      <p:sp>
        <p:nvSpPr>
          <p:cNvPr id="50180" name="Rectangle 3">
            <a:extLst>
              <a:ext uri="{FF2B5EF4-FFF2-40B4-BE49-F238E27FC236}">
                <a16:creationId xmlns:a16="http://schemas.microsoft.com/office/drawing/2014/main" id="{CFF6ECD7-D656-4A09-920B-2A7DB9E767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latin typeface="黑体" panose="02010609060101010101" pitchFamily="49" charset="-122"/>
                <a:ea typeface="黑体" panose="02010609060101010101" pitchFamily="49" charset="-122"/>
                <a:cs typeface="Times New Roman" panose="02020603050405020304" pitchFamily="18" charset="0"/>
              </a:rPr>
              <a:t>熟悉</a:t>
            </a:r>
            <a:r>
              <a:rPr lang="en-US" altLang="zh-CN">
                <a:latin typeface="黑体" panose="02010609060101010101" pitchFamily="49" charset="-122"/>
                <a:ea typeface="黑体" panose="02010609060101010101" pitchFamily="49" charset="-122"/>
                <a:cs typeface="Times New Roman" panose="02020603050405020304" pitchFamily="18" charset="0"/>
              </a:rPr>
              <a:t>TCP/IP</a:t>
            </a:r>
            <a:r>
              <a:rPr lang="zh-CN" altLang="en-US">
                <a:latin typeface="黑体" panose="02010609060101010101" pitchFamily="49" charset="-122"/>
                <a:ea typeface="黑体" panose="02010609060101010101" pitchFamily="49" charset="-122"/>
                <a:cs typeface="Times New Roman" panose="02020603050405020304" pitchFamily="18" charset="0"/>
              </a:rPr>
              <a:t>协议的配置</a:t>
            </a:r>
          </a:p>
          <a:p>
            <a:pPr eaLnBrk="1" hangingPunct="1"/>
            <a:r>
              <a:rPr lang="zh-CN" altLang="en-US">
                <a:latin typeface="黑体" panose="02010609060101010101" pitchFamily="49" charset="-122"/>
                <a:ea typeface="黑体" panose="02010609060101010101" pitchFamily="49" charset="-122"/>
                <a:cs typeface="Times New Roman" panose="02020603050405020304" pitchFamily="18" charset="0"/>
              </a:rPr>
              <a:t>熟悉常用网络命令的功能，了解如何利用网络命令检查和排除网络故障</a:t>
            </a:r>
          </a:p>
          <a:p>
            <a:pPr eaLnBrk="1" hangingPunct="1"/>
            <a:r>
              <a:rPr lang="zh-CN" altLang="en-US">
                <a:latin typeface="黑体" panose="02010609060101010101" pitchFamily="49" charset="-122"/>
                <a:ea typeface="黑体" panose="02010609060101010101" pitchFamily="49" charset="-122"/>
                <a:cs typeface="Times New Roman" panose="02020603050405020304" pitchFamily="18" charset="0"/>
              </a:rPr>
              <a:t>掌握常用网络命令的用法</a:t>
            </a:r>
          </a:p>
          <a:p>
            <a:pPr eaLnBrk="1" hangingPunct="1"/>
            <a:r>
              <a:rPr lang="zh-CN" altLang="en-US">
                <a:ea typeface="黑体" panose="02010609060101010101" pitchFamily="49" charset="-122"/>
                <a:cs typeface="Times New Roman" panose="02020603050405020304" pitchFamily="18" charset="0"/>
              </a:rPr>
              <a:t>预习时实验目的自己总结，实验内容看后面的实验步骤。</a:t>
            </a:r>
            <a:endParaRPr lang="en-US" altLang="zh-CN">
              <a:ea typeface="黑体" panose="02010609060101010101" pitchFamily="49" charset="-122"/>
              <a:cs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F995977C-B3E9-448D-8B52-638C2702C09D}"/>
              </a:ext>
            </a:extLst>
          </p:cNvPr>
          <p:cNvGrpSpPr>
            <a:grpSpLocks/>
          </p:cNvGrpSpPr>
          <p:nvPr/>
        </p:nvGrpSpPr>
        <p:grpSpPr bwMode="auto">
          <a:xfrm>
            <a:off x="0" y="0"/>
            <a:ext cx="9144000" cy="6858000"/>
            <a:chOff x="0" y="0"/>
            <a:chExt cx="5760" cy="4320"/>
          </a:xfrm>
        </p:grpSpPr>
        <p:sp>
          <p:nvSpPr>
            <p:cNvPr id="5" name="Rectangle 3">
              <a:extLst>
                <a:ext uri="{FF2B5EF4-FFF2-40B4-BE49-F238E27FC236}">
                  <a16:creationId xmlns:a16="http://schemas.microsoft.com/office/drawing/2014/main" id="{6B0B8063-CEFC-47F3-87D4-166A67A663A0}"/>
                </a:ext>
              </a:extLst>
            </p:cNvPr>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6" name="Rectangle 4">
              <a:extLst>
                <a:ext uri="{FF2B5EF4-FFF2-40B4-BE49-F238E27FC236}">
                  <a16:creationId xmlns:a16="http://schemas.microsoft.com/office/drawing/2014/main" id="{76FE4070-7D47-4279-B87D-56497A41C002}"/>
                </a:ext>
              </a:extLst>
            </p:cNvPr>
            <p:cNvSpPr>
              <a:spLocks noChangeArrowheads="1"/>
            </p:cNvSpPr>
            <p:nvPr/>
          </p:nvSpPr>
          <p:spPr bwMode="hidden">
            <a:xfrm>
              <a:off x="1081" y="1065"/>
              <a:ext cx="4679" cy="1596"/>
            </a:xfrm>
            <a:prstGeom prst="rect">
              <a:avLst/>
            </a:prstGeom>
            <a:solidFill>
              <a:schemeClr val="bg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nvGrpSpPr>
            <p:cNvPr id="7" name="Group 5">
              <a:extLst>
                <a:ext uri="{FF2B5EF4-FFF2-40B4-BE49-F238E27FC236}">
                  <a16:creationId xmlns:a16="http://schemas.microsoft.com/office/drawing/2014/main" id="{0916C0B8-06A5-4860-B159-5E36408131B3}"/>
                </a:ext>
              </a:extLst>
            </p:cNvPr>
            <p:cNvGrpSpPr>
              <a:grpSpLocks/>
            </p:cNvGrpSpPr>
            <p:nvPr/>
          </p:nvGrpSpPr>
          <p:grpSpPr bwMode="auto">
            <a:xfrm>
              <a:off x="0" y="672"/>
              <a:ext cx="1806" cy="1989"/>
              <a:chOff x="0" y="672"/>
              <a:chExt cx="1806" cy="1989"/>
            </a:xfrm>
          </p:grpSpPr>
          <p:sp>
            <p:nvSpPr>
              <p:cNvPr id="8" name="Rectangle 6">
                <a:extLst>
                  <a:ext uri="{FF2B5EF4-FFF2-40B4-BE49-F238E27FC236}">
                    <a16:creationId xmlns:a16="http://schemas.microsoft.com/office/drawing/2014/main" id="{BE008D35-7CD7-4430-B292-93F8547AA9F1}"/>
                  </a:ext>
                </a:extLst>
              </p:cNvPr>
              <p:cNvSpPr>
                <a:spLocks noChangeArrowheads="1"/>
              </p:cNvSpPr>
              <p:nvPr userDrawn="1"/>
            </p:nvSpPr>
            <p:spPr bwMode="auto">
              <a:xfrm>
                <a:off x="361" y="2257"/>
                <a:ext cx="363" cy="404"/>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9" name="Rectangle 7">
                <a:extLst>
                  <a:ext uri="{FF2B5EF4-FFF2-40B4-BE49-F238E27FC236}">
                    <a16:creationId xmlns:a16="http://schemas.microsoft.com/office/drawing/2014/main" id="{FC382C40-34B2-4CD4-992E-50212B86DE07}"/>
                  </a:ext>
                </a:extLst>
              </p:cNvPr>
              <p:cNvSpPr>
                <a:spLocks noChangeArrowheads="1"/>
              </p:cNvSpPr>
              <p:nvPr userDrawn="1"/>
            </p:nvSpPr>
            <p:spPr bwMode="auto">
              <a:xfrm>
                <a:off x="1081" y="1065"/>
                <a:ext cx="362" cy="405"/>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 name="Rectangle 8">
                <a:extLst>
                  <a:ext uri="{FF2B5EF4-FFF2-40B4-BE49-F238E27FC236}">
                    <a16:creationId xmlns:a16="http://schemas.microsoft.com/office/drawing/2014/main" id="{442C3A1E-84C9-4E77-9484-A091BB8C145B}"/>
                  </a:ext>
                </a:extLst>
              </p:cNvPr>
              <p:cNvSpPr>
                <a:spLocks noChangeArrowheads="1"/>
              </p:cNvSpPr>
              <p:nvPr userDrawn="1"/>
            </p:nvSpPr>
            <p:spPr bwMode="auto">
              <a:xfrm>
                <a:off x="1437" y="672"/>
                <a:ext cx="369" cy="400"/>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1" name="Rectangle 9">
                <a:extLst>
                  <a:ext uri="{FF2B5EF4-FFF2-40B4-BE49-F238E27FC236}">
                    <a16:creationId xmlns:a16="http://schemas.microsoft.com/office/drawing/2014/main" id="{4CD1A73B-B8FF-4841-885A-E60F42A3DD1C}"/>
                  </a:ext>
                </a:extLst>
              </p:cNvPr>
              <p:cNvSpPr>
                <a:spLocks noChangeArrowheads="1"/>
              </p:cNvSpPr>
              <p:nvPr userDrawn="1"/>
            </p:nvSpPr>
            <p:spPr bwMode="auto">
              <a:xfrm>
                <a:off x="719" y="2257"/>
                <a:ext cx="368" cy="404"/>
              </a:xfrm>
              <a:prstGeom prst="rect">
                <a:avLst/>
              </a:prstGeom>
              <a:solidFill>
                <a:schemeClr val="bg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2" name="Rectangle 10">
                <a:extLst>
                  <a:ext uri="{FF2B5EF4-FFF2-40B4-BE49-F238E27FC236}">
                    <a16:creationId xmlns:a16="http://schemas.microsoft.com/office/drawing/2014/main" id="{DBAAB29E-E284-42D9-86E1-CF2DC96DAE49}"/>
                  </a:ext>
                </a:extLst>
              </p:cNvPr>
              <p:cNvSpPr>
                <a:spLocks noChangeArrowheads="1"/>
              </p:cNvSpPr>
              <p:nvPr userDrawn="1"/>
            </p:nvSpPr>
            <p:spPr bwMode="auto">
              <a:xfrm>
                <a:off x="1437" y="1065"/>
                <a:ext cx="369" cy="405"/>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3" name="Rectangle 11">
                <a:extLst>
                  <a:ext uri="{FF2B5EF4-FFF2-40B4-BE49-F238E27FC236}">
                    <a16:creationId xmlns:a16="http://schemas.microsoft.com/office/drawing/2014/main" id="{3BCDFD88-6041-4D0B-9DF3-21F03C9C0B07}"/>
                  </a:ext>
                </a:extLst>
              </p:cNvPr>
              <p:cNvSpPr>
                <a:spLocks noChangeArrowheads="1"/>
              </p:cNvSpPr>
              <p:nvPr userDrawn="1"/>
            </p:nvSpPr>
            <p:spPr bwMode="auto">
              <a:xfrm>
                <a:off x="719" y="1464"/>
                <a:ext cx="368" cy="399"/>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4" name="Rectangle 12">
                <a:extLst>
                  <a:ext uri="{FF2B5EF4-FFF2-40B4-BE49-F238E27FC236}">
                    <a16:creationId xmlns:a16="http://schemas.microsoft.com/office/drawing/2014/main" id="{239AC632-F699-4177-B883-85FD0A321FC1}"/>
                  </a:ext>
                </a:extLst>
              </p:cNvPr>
              <p:cNvSpPr>
                <a:spLocks noChangeArrowheads="1"/>
              </p:cNvSpPr>
              <p:nvPr userDrawn="1"/>
            </p:nvSpPr>
            <p:spPr bwMode="auto">
              <a:xfrm>
                <a:off x="0" y="1464"/>
                <a:ext cx="367" cy="399"/>
              </a:xfrm>
              <a:prstGeom prst="rect">
                <a:avLst/>
              </a:prstGeom>
              <a:solidFill>
                <a:schemeClr val="bg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5" name="Rectangle 13">
                <a:extLst>
                  <a:ext uri="{FF2B5EF4-FFF2-40B4-BE49-F238E27FC236}">
                    <a16:creationId xmlns:a16="http://schemas.microsoft.com/office/drawing/2014/main" id="{55F07BCA-B16F-4FD7-85B9-21531542CF47}"/>
                  </a:ext>
                </a:extLst>
              </p:cNvPr>
              <p:cNvSpPr>
                <a:spLocks noChangeArrowheads="1"/>
              </p:cNvSpPr>
              <p:nvPr userDrawn="1"/>
            </p:nvSpPr>
            <p:spPr bwMode="auto">
              <a:xfrm>
                <a:off x="1081" y="1464"/>
                <a:ext cx="362" cy="399"/>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6" name="Rectangle 14">
                <a:extLst>
                  <a:ext uri="{FF2B5EF4-FFF2-40B4-BE49-F238E27FC236}">
                    <a16:creationId xmlns:a16="http://schemas.microsoft.com/office/drawing/2014/main" id="{94A6FDE2-EECB-4AC1-957A-06E2415089F1}"/>
                  </a:ext>
                </a:extLst>
              </p:cNvPr>
              <p:cNvSpPr>
                <a:spLocks noChangeArrowheads="1"/>
              </p:cNvSpPr>
              <p:nvPr userDrawn="1"/>
            </p:nvSpPr>
            <p:spPr bwMode="auto">
              <a:xfrm>
                <a:off x="361" y="1857"/>
                <a:ext cx="363" cy="406"/>
              </a:xfrm>
              <a:prstGeom prst="rect">
                <a:avLst/>
              </a:prstGeom>
              <a:solidFill>
                <a:schemeClr val="folHlink"/>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7" name="Rectangle 15">
                <a:extLst>
                  <a:ext uri="{FF2B5EF4-FFF2-40B4-BE49-F238E27FC236}">
                    <a16:creationId xmlns:a16="http://schemas.microsoft.com/office/drawing/2014/main" id="{D794FEA9-DFF1-49B1-AB4A-20B6BC69A556}"/>
                  </a:ext>
                </a:extLst>
              </p:cNvPr>
              <p:cNvSpPr>
                <a:spLocks noChangeArrowheads="1"/>
              </p:cNvSpPr>
              <p:nvPr userDrawn="1"/>
            </p:nvSpPr>
            <p:spPr bwMode="auto">
              <a:xfrm>
                <a:off x="719" y="1857"/>
                <a:ext cx="368" cy="406"/>
              </a:xfrm>
              <a:prstGeom prst="rect">
                <a:avLst/>
              </a:prstGeom>
              <a:solidFill>
                <a:schemeClr val="accent2"/>
              </a:solidFill>
              <a:ln>
                <a:noFill/>
              </a:ln>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grpSp>
      <p:sp>
        <p:nvSpPr>
          <p:cNvPr id="18" name="Text Box 21">
            <a:extLst>
              <a:ext uri="{FF2B5EF4-FFF2-40B4-BE49-F238E27FC236}">
                <a16:creationId xmlns:a16="http://schemas.microsoft.com/office/drawing/2014/main" id="{DACCF1C6-C14A-4087-BDDF-AC8553E08B1A}"/>
              </a:ext>
            </a:extLst>
          </p:cNvPr>
          <p:cNvSpPr txBox="1">
            <a:spLocks noChangeArrowheads="1"/>
          </p:cNvSpPr>
          <p:nvPr userDrawn="1"/>
        </p:nvSpPr>
        <p:spPr bwMode="auto">
          <a:xfrm>
            <a:off x="7054850" y="6491288"/>
            <a:ext cx="2089150" cy="366712"/>
          </a:xfrm>
          <a:prstGeom prst="rect">
            <a:avLst/>
          </a:prstGeom>
          <a:noFill/>
          <a:ln>
            <a:noFill/>
          </a:ln>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r>
              <a:rPr lang="zh-CN" altLang="en-US" b="1" i="1">
                <a:solidFill>
                  <a:schemeClr val="bg2"/>
                </a:solidFill>
                <a:ea typeface="黑体" panose="02010609060101010101" pitchFamily="49" charset="-122"/>
              </a:rPr>
              <a:t>计算机网络实验室</a:t>
            </a:r>
          </a:p>
        </p:txBody>
      </p:sp>
      <p:sp>
        <p:nvSpPr>
          <p:cNvPr id="104467" name="Rectangle 19"/>
          <p:cNvSpPr>
            <a:spLocks noGrp="1" noChangeArrowheads="1"/>
          </p:cNvSpPr>
          <p:nvPr>
            <p:ph type="ctrTitle"/>
          </p:nvPr>
        </p:nvSpPr>
        <p:spPr>
          <a:xfrm>
            <a:off x="2971800" y="1828800"/>
            <a:ext cx="6019800" cy="2209800"/>
          </a:xfrm>
        </p:spPr>
        <p:txBody>
          <a:bodyPr/>
          <a:lstStyle>
            <a:lvl1pPr>
              <a:defRPr sz="5000">
                <a:solidFill>
                  <a:srgbClr val="FFFFFF"/>
                </a:solidFill>
                <a:ea typeface="楷体_GB2312" pitchFamily="49" charset="-122"/>
              </a:defRPr>
            </a:lvl1pPr>
          </a:lstStyle>
          <a:p>
            <a:r>
              <a:rPr lang="zh-CN" altLang="en-US"/>
              <a:t>单击此处编辑母版标题样式</a:t>
            </a:r>
          </a:p>
        </p:txBody>
      </p:sp>
      <p:sp>
        <p:nvSpPr>
          <p:cNvPr id="104468"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3400"/>
            </a:lvl1pPr>
          </a:lstStyle>
          <a:p>
            <a:r>
              <a:rPr lang="zh-CN" altLang="en-US"/>
              <a:t>单击此处编辑母版副标题样式</a:t>
            </a:r>
          </a:p>
        </p:txBody>
      </p:sp>
      <p:sp>
        <p:nvSpPr>
          <p:cNvPr id="19" name="Rectangle 16">
            <a:extLst>
              <a:ext uri="{FF2B5EF4-FFF2-40B4-BE49-F238E27FC236}">
                <a16:creationId xmlns:a16="http://schemas.microsoft.com/office/drawing/2014/main" id="{0A2AA7B7-ACEE-4375-B51D-3C4916B9049B}"/>
              </a:ext>
            </a:extLst>
          </p:cNvPr>
          <p:cNvSpPr>
            <a:spLocks noGrp="1" noChangeArrowheads="1"/>
          </p:cNvSpPr>
          <p:nvPr>
            <p:ph type="dt" sz="half" idx="10"/>
          </p:nvPr>
        </p:nvSpPr>
        <p:spPr bwMode="auto">
          <a:xfrm>
            <a:off x="457200" y="6248400"/>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eaLnBrk="1" hangingPunct="1">
              <a:defRPr sz="1200">
                <a:latin typeface="Arial" charset="0"/>
                <a:ea typeface="宋体" panose="02010600030101010101" pitchFamily="2" charset="-122"/>
              </a:defRPr>
            </a:lvl1pPr>
          </a:lstStyle>
          <a:p>
            <a:pPr>
              <a:defRPr/>
            </a:pPr>
            <a:endParaRPr lang="en-US" altLang="zh-CN"/>
          </a:p>
        </p:txBody>
      </p:sp>
      <p:sp>
        <p:nvSpPr>
          <p:cNvPr id="20" name="Rectangle 17">
            <a:extLst>
              <a:ext uri="{FF2B5EF4-FFF2-40B4-BE49-F238E27FC236}">
                <a16:creationId xmlns:a16="http://schemas.microsoft.com/office/drawing/2014/main" id="{31B51541-585A-467D-BB8F-66EE0C6A0313}"/>
              </a:ext>
            </a:extLst>
          </p:cNvPr>
          <p:cNvSpPr>
            <a:spLocks noGrp="1" noChangeArrowheads="1"/>
          </p:cNvSpPr>
          <p:nvPr>
            <p:ph type="ftr" sz="quarter" idx="11"/>
          </p:nvPr>
        </p:nvSpPr>
        <p:spPr bwMode="auto">
          <a:xfrm>
            <a:off x="31242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ctr" eaLnBrk="1" hangingPunct="1">
              <a:defRPr sz="1200">
                <a:latin typeface="Arial" charset="0"/>
                <a:ea typeface="宋体" panose="02010600030101010101" pitchFamily="2" charset="-122"/>
              </a:defRPr>
            </a:lvl1pPr>
          </a:lstStyle>
          <a:p>
            <a:pPr>
              <a:defRPr/>
            </a:pPr>
            <a:endParaRPr lang="en-US" altLang="zh-CN"/>
          </a:p>
        </p:txBody>
      </p:sp>
      <p:sp>
        <p:nvSpPr>
          <p:cNvPr id="21" name="Rectangle 18">
            <a:extLst>
              <a:ext uri="{FF2B5EF4-FFF2-40B4-BE49-F238E27FC236}">
                <a16:creationId xmlns:a16="http://schemas.microsoft.com/office/drawing/2014/main" id="{222199D5-DD2F-4D1A-B92B-B30991D16442}"/>
              </a:ext>
            </a:extLst>
          </p:cNvPr>
          <p:cNvSpPr>
            <a:spLocks noGrp="1" noChangeArrowheads="1"/>
          </p:cNvSpPr>
          <p:nvPr>
            <p:ph type="sldNum" sz="quarter" idx="12"/>
          </p:nvPr>
        </p:nvSpPr>
        <p:spPr bwMode="auto">
          <a:xfrm>
            <a:off x="6553200" y="6248400"/>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79FA9FBD-5055-4029-962D-AF511627000D}" type="slidenum">
              <a:rPr lang="en-US" altLang="zh-CN"/>
              <a:pPr>
                <a:defRPr/>
              </a:pPr>
              <a:t>‹#›</a:t>
            </a:fld>
            <a:endParaRPr lang="en-US" altLang="zh-CN"/>
          </a:p>
        </p:txBody>
      </p:sp>
    </p:spTree>
    <p:extLst>
      <p:ext uri="{BB962C8B-B14F-4D97-AF65-F5344CB8AC3E}">
        <p14:creationId xmlns:p14="http://schemas.microsoft.com/office/powerpoint/2010/main" val="26012776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5390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408787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3850" y="1268413"/>
            <a:ext cx="417195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68413"/>
            <a:ext cx="4171950"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78920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2023528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269439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77161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300626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356714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31998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8613" y="0"/>
            <a:ext cx="2141537" cy="58769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50825" y="0"/>
            <a:ext cx="6275388" cy="58769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66883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250825" y="0"/>
            <a:ext cx="8477250" cy="838200"/>
          </a:xfrm>
        </p:spPr>
        <p:txBody>
          <a:bodyPr/>
          <a:lstStyle/>
          <a:p>
            <a:r>
              <a:rPr lang="zh-CN" altLang="en-US"/>
              <a:t>单击此处编辑母版标题样式</a:t>
            </a:r>
          </a:p>
        </p:txBody>
      </p:sp>
      <p:sp>
        <p:nvSpPr>
          <p:cNvPr id="3" name="文本占位符 2"/>
          <p:cNvSpPr>
            <a:spLocks noGrp="1"/>
          </p:cNvSpPr>
          <p:nvPr>
            <p:ph type="body" sz="half" idx="1"/>
          </p:nvPr>
        </p:nvSpPr>
        <p:spPr>
          <a:xfrm>
            <a:off x="323850" y="1268413"/>
            <a:ext cx="4171950" cy="4608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68413"/>
            <a:ext cx="4171950" cy="46085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13600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bl">
  <p:cSld name="标题和表格">
    <p:spTree>
      <p:nvGrpSpPr>
        <p:cNvPr id="1" name=""/>
        <p:cNvGrpSpPr/>
        <p:nvPr/>
      </p:nvGrpSpPr>
      <p:grpSpPr>
        <a:xfrm>
          <a:off x="0" y="0"/>
          <a:ext cx="0" cy="0"/>
          <a:chOff x="0" y="0"/>
          <a:chExt cx="0" cy="0"/>
        </a:xfrm>
      </p:grpSpPr>
      <p:sp>
        <p:nvSpPr>
          <p:cNvPr id="4" name="AutoShape 38">
            <a:extLst>
              <a:ext uri="{FF2B5EF4-FFF2-40B4-BE49-F238E27FC236}">
                <a16:creationId xmlns:a16="http://schemas.microsoft.com/office/drawing/2014/main" id="{C5A88B0D-4178-4DA8-8317-7C1E3E6BE2A7}"/>
              </a:ext>
            </a:extLst>
          </p:cNvPr>
          <p:cNvSpPr>
            <a:spLocks noChangeArrowheads="1"/>
          </p:cNvSpPr>
          <p:nvPr userDrawn="1"/>
        </p:nvSpPr>
        <p:spPr bwMode="auto">
          <a:xfrm>
            <a:off x="0" y="0"/>
            <a:ext cx="9144000" cy="765175"/>
          </a:xfrm>
          <a:prstGeom prst="flowChartAlternateProcess">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5" name="Rectangle 36">
            <a:extLst>
              <a:ext uri="{FF2B5EF4-FFF2-40B4-BE49-F238E27FC236}">
                <a16:creationId xmlns:a16="http://schemas.microsoft.com/office/drawing/2014/main" id="{4DDE44D4-4F2F-4A5B-ACDB-C83A513133E9}"/>
              </a:ext>
            </a:extLst>
          </p:cNvPr>
          <p:cNvSpPr>
            <a:spLocks noChangeArrowheads="1"/>
          </p:cNvSpPr>
          <p:nvPr userDrawn="1"/>
        </p:nvSpPr>
        <p:spPr bwMode="auto">
          <a:xfrm rot="10800000">
            <a:off x="6732588" y="6597650"/>
            <a:ext cx="2411412" cy="260350"/>
          </a:xfrm>
          <a:prstGeom prst="rect">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6" name="Rectangle 23">
            <a:extLst>
              <a:ext uri="{FF2B5EF4-FFF2-40B4-BE49-F238E27FC236}">
                <a16:creationId xmlns:a16="http://schemas.microsoft.com/office/drawing/2014/main" id="{CE3D285E-8008-4518-915B-A7E071F94B1B}"/>
              </a:ext>
            </a:extLst>
          </p:cNvPr>
          <p:cNvSpPr>
            <a:spLocks noChangeArrowheads="1"/>
          </p:cNvSpPr>
          <p:nvPr userDrawn="1"/>
        </p:nvSpPr>
        <p:spPr bwMode="auto">
          <a:xfrm>
            <a:off x="1639888" y="58738"/>
            <a:ext cx="57150" cy="396875"/>
          </a:xfrm>
          <a:prstGeom prst="rect">
            <a:avLst/>
          </a:prstGeom>
          <a:noFill/>
          <a:ln>
            <a:noFill/>
          </a:ln>
          <a:effectLst>
            <a:outerShdw dist="17961" dir="2700000" algn="ctr" rotWithShape="0">
              <a:schemeClr val="tx1"/>
            </a:outerShdw>
          </a:effectLst>
          <a:extLst/>
        </p:spPr>
        <p:txBody>
          <a:bodyPr wrap="none" lIns="28575" tIns="15875" rIns="28575" bIns="15875">
            <a:spAutoFit/>
          </a:bodyPr>
          <a:lstStyle>
            <a:lvl1pPr defTabSz="84138">
              <a:defRPr>
                <a:solidFill>
                  <a:schemeClr val="tx1"/>
                </a:solidFill>
                <a:latin typeface="Arial" panose="020B0604020202020204" pitchFamily="34" charset="0"/>
                <a:ea typeface="宋体" panose="02010600030101010101" pitchFamily="2" charset="-122"/>
              </a:defRPr>
            </a:lvl1pPr>
            <a:lvl2pPr marL="742950" indent="-285750" defTabSz="84138">
              <a:defRPr>
                <a:solidFill>
                  <a:schemeClr val="tx1"/>
                </a:solidFill>
                <a:latin typeface="Arial" panose="020B0604020202020204" pitchFamily="34" charset="0"/>
                <a:ea typeface="宋体" panose="02010600030101010101" pitchFamily="2" charset="-122"/>
              </a:defRPr>
            </a:lvl2pPr>
            <a:lvl3pPr marL="1143000" indent="-228600" defTabSz="84138">
              <a:defRPr>
                <a:solidFill>
                  <a:schemeClr val="tx1"/>
                </a:solidFill>
                <a:latin typeface="Arial" panose="020B0604020202020204" pitchFamily="34" charset="0"/>
                <a:ea typeface="宋体" panose="02010600030101010101" pitchFamily="2" charset="-122"/>
              </a:defRPr>
            </a:lvl3pPr>
            <a:lvl4pPr marL="1600200" indent="-228600" defTabSz="84138">
              <a:defRPr>
                <a:solidFill>
                  <a:schemeClr val="tx1"/>
                </a:solidFill>
                <a:latin typeface="Arial" panose="020B0604020202020204" pitchFamily="34" charset="0"/>
                <a:ea typeface="宋体" panose="02010600030101010101" pitchFamily="2" charset="-122"/>
              </a:defRPr>
            </a:lvl4pPr>
            <a:lvl5pPr marL="2057400" indent="-228600" defTabSz="84138">
              <a:defRPr>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zh-CN" sz="2400" b="1"/>
          </a:p>
        </p:txBody>
      </p:sp>
      <p:sp>
        <p:nvSpPr>
          <p:cNvPr id="7" name="Rectangle 26">
            <a:extLst>
              <a:ext uri="{FF2B5EF4-FFF2-40B4-BE49-F238E27FC236}">
                <a16:creationId xmlns:a16="http://schemas.microsoft.com/office/drawing/2014/main" id="{BF682559-1C7C-4131-B702-B3C2787E709D}"/>
              </a:ext>
            </a:extLst>
          </p:cNvPr>
          <p:cNvSpPr>
            <a:spLocks noChangeArrowheads="1"/>
          </p:cNvSpPr>
          <p:nvPr userDrawn="1"/>
        </p:nvSpPr>
        <p:spPr bwMode="auto">
          <a:xfrm rot="10800000">
            <a:off x="0" y="6597650"/>
            <a:ext cx="6732588" cy="260350"/>
          </a:xfrm>
          <a:prstGeom prst="rect">
            <a:avLst/>
          </a:prstGeom>
          <a:solidFill>
            <a:srgbClr val="666699"/>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pic>
        <p:nvPicPr>
          <p:cNvPr id="8" name="Picture 33">
            <a:extLst>
              <a:ext uri="{FF2B5EF4-FFF2-40B4-BE49-F238E27FC236}">
                <a16:creationId xmlns:a16="http://schemas.microsoft.com/office/drawing/2014/main" id="{3134C427-6A53-4924-AE19-6BD55EE7FE7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459788" y="476250"/>
            <a:ext cx="5318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34">
            <a:extLst>
              <a:ext uri="{FF2B5EF4-FFF2-40B4-BE49-F238E27FC236}">
                <a16:creationId xmlns:a16="http://schemas.microsoft.com/office/drawing/2014/main" id="{B689F9A2-8706-420F-BF5F-C6F1F9FB5D93}"/>
              </a:ext>
            </a:extLst>
          </p:cNvPr>
          <p:cNvSpPr txBox="1">
            <a:spLocks noChangeArrowheads="1"/>
          </p:cNvSpPr>
          <p:nvPr userDrawn="1"/>
        </p:nvSpPr>
        <p:spPr bwMode="auto">
          <a:xfrm>
            <a:off x="6732588" y="6521450"/>
            <a:ext cx="2063750" cy="336550"/>
          </a:xfrm>
          <a:prstGeom prst="rect">
            <a:avLst/>
          </a:prstGeom>
          <a:noFill/>
          <a:ln>
            <a:noFill/>
          </a:ln>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1600" b="1"/>
              <a:t>http://www.ntlab.cn</a:t>
            </a:r>
          </a:p>
        </p:txBody>
      </p:sp>
      <p:sp>
        <p:nvSpPr>
          <p:cNvPr id="10" name="WordArt 44">
            <a:extLst>
              <a:ext uri="{FF2B5EF4-FFF2-40B4-BE49-F238E27FC236}">
                <a16:creationId xmlns:a16="http://schemas.microsoft.com/office/drawing/2014/main" id="{4BEB3BC2-21E1-45F0-9241-1EB8A7589C0A}"/>
              </a:ext>
            </a:extLst>
          </p:cNvPr>
          <p:cNvSpPr>
            <a:spLocks noChangeArrowheads="1" noChangeShapeType="1" noTextEdit="1"/>
          </p:cNvSpPr>
          <p:nvPr userDrawn="1"/>
        </p:nvSpPr>
        <p:spPr bwMode="auto">
          <a:xfrm>
            <a:off x="6948488" y="6237288"/>
            <a:ext cx="1612900" cy="3000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2" name="标题 1"/>
          <p:cNvSpPr>
            <a:spLocks noGrp="1"/>
          </p:cNvSpPr>
          <p:nvPr>
            <p:ph type="title"/>
          </p:nvPr>
        </p:nvSpPr>
        <p:spPr>
          <a:xfrm>
            <a:off x="457200" y="188913"/>
            <a:ext cx="7499350" cy="777875"/>
          </a:xfrm>
        </p:spPr>
        <p:txBody>
          <a:bodyPr/>
          <a:lstStyle/>
          <a:p>
            <a:r>
              <a:rPr lang="zh-CN" altLang="en-US"/>
              <a:t>单击此处编辑母版标题样式</a:t>
            </a:r>
          </a:p>
        </p:txBody>
      </p:sp>
      <p:sp>
        <p:nvSpPr>
          <p:cNvPr id="3" name="表格占位符 2"/>
          <p:cNvSpPr>
            <a:spLocks noGrp="1"/>
          </p:cNvSpPr>
          <p:nvPr>
            <p:ph type="tbl" idx="1"/>
          </p:nvPr>
        </p:nvSpPr>
        <p:spPr>
          <a:xfrm>
            <a:off x="457200" y="1600200"/>
            <a:ext cx="8291513" cy="4421188"/>
          </a:xfrm>
        </p:spPr>
        <p:txBody>
          <a:bodyPr/>
          <a:lstStyle/>
          <a:p>
            <a:pPr lvl="0"/>
            <a:endParaRPr lang="zh-CN" altLang="en-US" noProof="0"/>
          </a:p>
        </p:txBody>
      </p:sp>
      <p:sp>
        <p:nvSpPr>
          <p:cNvPr id="11" name="灯片编号占位符 3">
            <a:extLst>
              <a:ext uri="{FF2B5EF4-FFF2-40B4-BE49-F238E27FC236}">
                <a16:creationId xmlns:a16="http://schemas.microsoft.com/office/drawing/2014/main" id="{6720CA0F-6A29-4A75-883F-04902B8C618F}"/>
              </a:ext>
            </a:extLst>
          </p:cNvPr>
          <p:cNvSpPr>
            <a:spLocks noGrp="1"/>
          </p:cNvSpPr>
          <p:nvPr>
            <p:ph type="sldNum" sz="quarter" idx="10"/>
          </p:nvPr>
        </p:nvSpPr>
        <p:spPr>
          <a:xfrm>
            <a:off x="6804025" y="6192838"/>
            <a:ext cx="2133600" cy="47625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r>
              <a:rPr lang="en-US" altLang="zh-CN"/>
              <a:t> -</a:t>
            </a:r>
            <a:fld id="{14D7D612-03E6-462C-9F2A-686C7E4DA42C}" type="slidenum">
              <a:rPr lang="en-US" altLang="zh-CN"/>
              <a:pPr>
                <a:defRPr/>
              </a:pPr>
              <a:t>‹#›</a:t>
            </a:fld>
            <a:endParaRPr lang="en-US" altLang="zh-CN"/>
          </a:p>
        </p:txBody>
      </p:sp>
    </p:spTree>
    <p:extLst>
      <p:ext uri="{BB962C8B-B14F-4D97-AF65-F5344CB8AC3E}">
        <p14:creationId xmlns:p14="http://schemas.microsoft.com/office/powerpoint/2010/main" val="2062721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188913"/>
            <a:ext cx="8229600" cy="59372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7564331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250825" y="0"/>
            <a:ext cx="8477250" cy="838200"/>
          </a:xfrm>
        </p:spPr>
        <p:txBody>
          <a:bodyPr/>
          <a:lstStyle/>
          <a:p>
            <a:r>
              <a:rPr lang="zh-CN" altLang="en-US"/>
              <a:t>单击此处编辑母版标题样式</a:t>
            </a:r>
          </a:p>
        </p:txBody>
      </p:sp>
      <p:sp>
        <p:nvSpPr>
          <p:cNvPr id="3" name="图表占位符 2"/>
          <p:cNvSpPr>
            <a:spLocks noGrp="1"/>
          </p:cNvSpPr>
          <p:nvPr>
            <p:ph type="chart" idx="1"/>
          </p:nvPr>
        </p:nvSpPr>
        <p:spPr>
          <a:xfrm>
            <a:off x="323850" y="1268413"/>
            <a:ext cx="8496300" cy="4608512"/>
          </a:xfrm>
        </p:spPr>
        <p:txBody>
          <a:bodyPr/>
          <a:lstStyle/>
          <a:p>
            <a:pPr lvl="0"/>
            <a:endParaRPr lang="zh-CN" altLang="en-US" noProof="0"/>
          </a:p>
        </p:txBody>
      </p:sp>
    </p:spTree>
    <p:extLst>
      <p:ext uri="{BB962C8B-B14F-4D97-AF65-F5344CB8AC3E}">
        <p14:creationId xmlns:p14="http://schemas.microsoft.com/office/powerpoint/2010/main" val="1944781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1">
            <a:extLst>
              <a:ext uri="{FF2B5EF4-FFF2-40B4-BE49-F238E27FC236}">
                <a16:creationId xmlns:a16="http://schemas.microsoft.com/office/drawing/2014/main" id="{B3AB6525-A783-41E3-AE42-2D02D234ED53}"/>
              </a:ext>
            </a:extLst>
          </p:cNvPr>
          <p:cNvSpPr>
            <a:spLocks noGrp="1" noChangeArrowheads="1"/>
          </p:cNvSpPr>
          <p:nvPr>
            <p:ph type="body" idx="1"/>
          </p:nvPr>
        </p:nvSpPr>
        <p:spPr bwMode="auto">
          <a:xfrm>
            <a:off x="323850" y="1268413"/>
            <a:ext cx="84963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Content Here</a:t>
            </a:r>
          </a:p>
          <a:p>
            <a:pPr lvl="1"/>
            <a:r>
              <a:rPr lang="zh-CN" altLang="en-US"/>
              <a:t>。。。</a:t>
            </a:r>
          </a:p>
          <a:p>
            <a:pPr lvl="1"/>
            <a:endParaRPr lang="zh-CN" altLang="en-US"/>
          </a:p>
          <a:p>
            <a:pPr lvl="2"/>
            <a:endParaRPr lang="zh-CN" altLang="en-US"/>
          </a:p>
          <a:p>
            <a:pPr lvl="1"/>
            <a:endParaRPr lang="zh-CN" altLang="en-US"/>
          </a:p>
          <a:p>
            <a:pPr lvl="2"/>
            <a:endParaRPr lang="en-US" altLang="zh-CN"/>
          </a:p>
        </p:txBody>
      </p:sp>
      <p:sp>
        <p:nvSpPr>
          <p:cNvPr id="1027" name="AutoShape 38">
            <a:extLst>
              <a:ext uri="{FF2B5EF4-FFF2-40B4-BE49-F238E27FC236}">
                <a16:creationId xmlns:a16="http://schemas.microsoft.com/office/drawing/2014/main" id="{B337A17A-8774-4B96-BD6F-474E6D461E51}"/>
              </a:ext>
            </a:extLst>
          </p:cNvPr>
          <p:cNvSpPr>
            <a:spLocks noChangeArrowheads="1"/>
          </p:cNvSpPr>
          <p:nvPr userDrawn="1"/>
        </p:nvSpPr>
        <p:spPr bwMode="auto">
          <a:xfrm>
            <a:off x="0" y="0"/>
            <a:ext cx="9144000" cy="765175"/>
          </a:xfrm>
          <a:prstGeom prst="flowChartAlternateProcess">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8" name="Rectangle 36">
            <a:extLst>
              <a:ext uri="{FF2B5EF4-FFF2-40B4-BE49-F238E27FC236}">
                <a16:creationId xmlns:a16="http://schemas.microsoft.com/office/drawing/2014/main" id="{DF9A7763-401A-4B3E-AF4E-0BD9576BC50A}"/>
              </a:ext>
            </a:extLst>
          </p:cNvPr>
          <p:cNvSpPr>
            <a:spLocks noChangeArrowheads="1"/>
          </p:cNvSpPr>
          <p:nvPr userDrawn="1"/>
        </p:nvSpPr>
        <p:spPr bwMode="auto">
          <a:xfrm rot="10800000">
            <a:off x="6732588" y="6597650"/>
            <a:ext cx="2411412" cy="260350"/>
          </a:xfrm>
          <a:prstGeom prst="rect">
            <a:avLst/>
          </a:prstGeom>
          <a:solidFill>
            <a:schemeClr val="folHlink"/>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sp>
        <p:nvSpPr>
          <p:cNvPr id="1029" name="Rectangle 20">
            <a:extLst>
              <a:ext uri="{FF2B5EF4-FFF2-40B4-BE49-F238E27FC236}">
                <a16:creationId xmlns:a16="http://schemas.microsoft.com/office/drawing/2014/main" id="{6AC1FE06-243F-499D-8697-ED7D29D87A80}"/>
              </a:ext>
            </a:extLst>
          </p:cNvPr>
          <p:cNvSpPr>
            <a:spLocks noGrp="1" noChangeArrowheads="1"/>
          </p:cNvSpPr>
          <p:nvPr>
            <p:ph type="title"/>
          </p:nvPr>
        </p:nvSpPr>
        <p:spPr bwMode="auto">
          <a:xfrm>
            <a:off x="250825" y="0"/>
            <a:ext cx="847725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Title Here</a:t>
            </a:r>
          </a:p>
        </p:txBody>
      </p:sp>
      <p:sp>
        <p:nvSpPr>
          <p:cNvPr id="1030" name="Rectangle 23">
            <a:extLst>
              <a:ext uri="{FF2B5EF4-FFF2-40B4-BE49-F238E27FC236}">
                <a16:creationId xmlns:a16="http://schemas.microsoft.com/office/drawing/2014/main" id="{05213894-3A91-43FA-A709-EFD20F04E0C2}"/>
              </a:ext>
            </a:extLst>
          </p:cNvPr>
          <p:cNvSpPr>
            <a:spLocks noChangeArrowheads="1"/>
          </p:cNvSpPr>
          <p:nvPr userDrawn="1"/>
        </p:nvSpPr>
        <p:spPr bwMode="auto">
          <a:xfrm>
            <a:off x="1639888" y="58738"/>
            <a:ext cx="57150" cy="396875"/>
          </a:xfrm>
          <a:prstGeom prst="rect">
            <a:avLst/>
          </a:prstGeom>
          <a:noFill/>
          <a:ln>
            <a:noFill/>
          </a:ln>
          <a:effectLst>
            <a:outerShdw dist="17961" dir="2700000" algn="ctr" rotWithShape="0">
              <a:schemeClr val="tx1"/>
            </a:outerShdw>
          </a:effectLst>
          <a:extLst/>
        </p:spPr>
        <p:txBody>
          <a:bodyPr wrap="none" lIns="28575" tIns="15875" rIns="28575" bIns="15875">
            <a:spAutoFit/>
          </a:bodyPr>
          <a:lstStyle>
            <a:lvl1pPr defTabSz="84138">
              <a:defRPr>
                <a:solidFill>
                  <a:schemeClr val="tx1"/>
                </a:solidFill>
                <a:latin typeface="Arial" panose="020B0604020202020204" pitchFamily="34" charset="0"/>
                <a:ea typeface="宋体" panose="02010600030101010101" pitchFamily="2" charset="-122"/>
              </a:defRPr>
            </a:lvl1pPr>
            <a:lvl2pPr marL="742950" indent="-285750" defTabSz="84138">
              <a:defRPr>
                <a:solidFill>
                  <a:schemeClr val="tx1"/>
                </a:solidFill>
                <a:latin typeface="Arial" panose="020B0604020202020204" pitchFamily="34" charset="0"/>
                <a:ea typeface="宋体" panose="02010600030101010101" pitchFamily="2" charset="-122"/>
              </a:defRPr>
            </a:lvl2pPr>
            <a:lvl3pPr marL="1143000" indent="-228600" defTabSz="84138">
              <a:defRPr>
                <a:solidFill>
                  <a:schemeClr val="tx1"/>
                </a:solidFill>
                <a:latin typeface="Arial" panose="020B0604020202020204" pitchFamily="34" charset="0"/>
                <a:ea typeface="宋体" panose="02010600030101010101" pitchFamily="2" charset="-122"/>
              </a:defRPr>
            </a:lvl3pPr>
            <a:lvl4pPr marL="1600200" indent="-228600" defTabSz="84138">
              <a:defRPr>
                <a:solidFill>
                  <a:schemeClr val="tx1"/>
                </a:solidFill>
                <a:latin typeface="Arial" panose="020B0604020202020204" pitchFamily="34" charset="0"/>
                <a:ea typeface="宋体" panose="02010600030101010101" pitchFamily="2" charset="-122"/>
              </a:defRPr>
            </a:lvl4pPr>
            <a:lvl5pPr marL="2057400" indent="-228600" defTabSz="84138">
              <a:defRPr>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defRPr/>
            </a:pPr>
            <a:endParaRPr lang="zh-CN" altLang="zh-CN" sz="2400" b="1"/>
          </a:p>
        </p:txBody>
      </p:sp>
      <p:sp>
        <p:nvSpPr>
          <p:cNvPr id="1031" name="Rectangle 26">
            <a:extLst>
              <a:ext uri="{FF2B5EF4-FFF2-40B4-BE49-F238E27FC236}">
                <a16:creationId xmlns:a16="http://schemas.microsoft.com/office/drawing/2014/main" id="{9692F41C-E934-41B7-ABFD-4081C859E9D0}"/>
              </a:ext>
            </a:extLst>
          </p:cNvPr>
          <p:cNvSpPr>
            <a:spLocks noChangeArrowheads="1"/>
          </p:cNvSpPr>
          <p:nvPr userDrawn="1"/>
        </p:nvSpPr>
        <p:spPr bwMode="auto">
          <a:xfrm rot="10800000">
            <a:off x="0" y="6597650"/>
            <a:ext cx="6732588" cy="260350"/>
          </a:xfrm>
          <a:prstGeom prst="rect">
            <a:avLst/>
          </a:prstGeom>
          <a:solidFill>
            <a:srgbClr val="666699"/>
          </a:solidFill>
          <a:ln>
            <a:noFill/>
          </a:ln>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en-US"/>
          </a:p>
        </p:txBody>
      </p:sp>
      <p:pic>
        <p:nvPicPr>
          <p:cNvPr id="1032" name="Picture 33">
            <a:extLst>
              <a:ext uri="{FF2B5EF4-FFF2-40B4-BE49-F238E27FC236}">
                <a16:creationId xmlns:a16="http://schemas.microsoft.com/office/drawing/2014/main" id="{A689E12B-AEB3-4CAB-9EDF-05CCAE05C402}"/>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8459788" y="476250"/>
            <a:ext cx="53181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WordArt 44">
            <a:extLst>
              <a:ext uri="{FF2B5EF4-FFF2-40B4-BE49-F238E27FC236}">
                <a16:creationId xmlns:a16="http://schemas.microsoft.com/office/drawing/2014/main" id="{BC604B3E-C30F-4939-B3D0-FDD1C5C94267}"/>
              </a:ext>
            </a:extLst>
          </p:cNvPr>
          <p:cNvSpPr>
            <a:spLocks noChangeArrowheads="1" noChangeShapeType="1" noTextEdit="1"/>
          </p:cNvSpPr>
          <p:nvPr userDrawn="1"/>
        </p:nvSpPr>
        <p:spPr bwMode="auto">
          <a:xfrm>
            <a:off x="6948488" y="6237288"/>
            <a:ext cx="1612900" cy="3000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Tree>
  </p:cSld>
  <p:clrMap bg1="lt1" tx1="dk1" bg2="lt2" tx2="dk2" accent1="accent1" accent2="accent2" accent3="accent3" accent4="accent4" accent5="accent5" accent6="accent6" hlink="hlink" folHlink="folHlink"/>
  <p:sldLayoutIdLst>
    <p:sldLayoutId id="2147483998"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 id="2147483995" r:id="rId12"/>
    <p:sldLayoutId id="2147483999" r:id="rId13"/>
    <p:sldLayoutId id="2147483996" r:id="rId14"/>
    <p:sldLayoutId id="2147483997" r:id="rId15"/>
  </p:sldLayoutIdLst>
  <p:txStyles>
    <p:titleStyle>
      <a:lvl1pPr algn="l" rtl="0" eaLnBrk="0" fontAlgn="base" hangingPunct="0">
        <a:spcBef>
          <a:spcPct val="0"/>
        </a:spcBef>
        <a:spcAft>
          <a:spcPct val="0"/>
        </a:spcAft>
        <a:defRPr sz="4400" b="1">
          <a:solidFill>
            <a:schemeClr val="tx1"/>
          </a:solidFill>
          <a:latin typeface="+mj-lt"/>
          <a:ea typeface="+mj-ea"/>
          <a:cs typeface="+mj-cs"/>
        </a:defRPr>
      </a:lvl1pPr>
      <a:lvl2pPr algn="l" rtl="0" eaLnBrk="0" fontAlgn="base" hangingPunct="0">
        <a:spcBef>
          <a:spcPct val="0"/>
        </a:spcBef>
        <a:spcAft>
          <a:spcPct val="0"/>
        </a:spcAft>
        <a:defRPr sz="4400" b="1">
          <a:solidFill>
            <a:schemeClr val="tx1"/>
          </a:solidFill>
          <a:latin typeface="黑体" pitchFamily="2" charset="-122"/>
          <a:ea typeface="黑体" pitchFamily="2" charset="-122"/>
        </a:defRPr>
      </a:lvl2pPr>
      <a:lvl3pPr algn="l" rtl="0" eaLnBrk="0" fontAlgn="base" hangingPunct="0">
        <a:spcBef>
          <a:spcPct val="0"/>
        </a:spcBef>
        <a:spcAft>
          <a:spcPct val="0"/>
        </a:spcAft>
        <a:defRPr sz="4400" b="1">
          <a:solidFill>
            <a:schemeClr val="tx1"/>
          </a:solidFill>
          <a:latin typeface="黑体" pitchFamily="2" charset="-122"/>
          <a:ea typeface="黑体" pitchFamily="2" charset="-122"/>
        </a:defRPr>
      </a:lvl3pPr>
      <a:lvl4pPr algn="l" rtl="0" eaLnBrk="0" fontAlgn="base" hangingPunct="0">
        <a:spcBef>
          <a:spcPct val="0"/>
        </a:spcBef>
        <a:spcAft>
          <a:spcPct val="0"/>
        </a:spcAft>
        <a:defRPr sz="4400" b="1">
          <a:solidFill>
            <a:schemeClr val="tx1"/>
          </a:solidFill>
          <a:latin typeface="黑体" pitchFamily="2" charset="-122"/>
          <a:ea typeface="黑体" pitchFamily="2" charset="-122"/>
        </a:defRPr>
      </a:lvl4pPr>
      <a:lvl5pPr algn="l" rtl="0" eaLnBrk="0" fontAlgn="base" hangingPunct="0">
        <a:spcBef>
          <a:spcPct val="0"/>
        </a:spcBef>
        <a:spcAft>
          <a:spcPct val="0"/>
        </a:spcAft>
        <a:defRPr sz="4400" b="1">
          <a:solidFill>
            <a:schemeClr val="tx1"/>
          </a:solidFill>
          <a:latin typeface="黑体" pitchFamily="2" charset="-122"/>
          <a:ea typeface="黑体" pitchFamily="2" charset="-122"/>
        </a:defRPr>
      </a:lvl5pPr>
      <a:lvl6pPr marL="457200" algn="l" rtl="0" fontAlgn="base">
        <a:spcBef>
          <a:spcPct val="0"/>
        </a:spcBef>
        <a:spcAft>
          <a:spcPct val="0"/>
        </a:spcAft>
        <a:defRPr sz="4400" b="1">
          <a:solidFill>
            <a:schemeClr val="tx1"/>
          </a:solidFill>
          <a:latin typeface="黑体" pitchFamily="2" charset="-122"/>
          <a:ea typeface="黑体" pitchFamily="2" charset="-122"/>
        </a:defRPr>
      </a:lvl6pPr>
      <a:lvl7pPr marL="914400" algn="l" rtl="0" fontAlgn="base">
        <a:spcBef>
          <a:spcPct val="0"/>
        </a:spcBef>
        <a:spcAft>
          <a:spcPct val="0"/>
        </a:spcAft>
        <a:defRPr sz="4400" b="1">
          <a:solidFill>
            <a:schemeClr val="tx1"/>
          </a:solidFill>
          <a:latin typeface="黑体" pitchFamily="2" charset="-122"/>
          <a:ea typeface="黑体" pitchFamily="2" charset="-122"/>
        </a:defRPr>
      </a:lvl7pPr>
      <a:lvl8pPr marL="1371600" algn="l" rtl="0" fontAlgn="base">
        <a:spcBef>
          <a:spcPct val="0"/>
        </a:spcBef>
        <a:spcAft>
          <a:spcPct val="0"/>
        </a:spcAft>
        <a:defRPr sz="4400" b="1">
          <a:solidFill>
            <a:schemeClr val="tx1"/>
          </a:solidFill>
          <a:latin typeface="黑体" pitchFamily="2" charset="-122"/>
          <a:ea typeface="黑体" pitchFamily="2" charset="-122"/>
        </a:defRPr>
      </a:lvl8pPr>
      <a:lvl9pPr marL="1828800" algn="l" rtl="0" fontAlgn="base">
        <a:spcBef>
          <a:spcPct val="0"/>
        </a:spcBef>
        <a:spcAft>
          <a:spcPct val="0"/>
        </a:spcAft>
        <a:defRPr sz="4400" b="1">
          <a:solidFill>
            <a:schemeClr val="tx1"/>
          </a:solidFill>
          <a:latin typeface="黑体" pitchFamily="2" charset="-122"/>
          <a:ea typeface="黑体"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b="1">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a:solidFill>
            <a:schemeClr val="tx1"/>
          </a:solidFill>
          <a:latin typeface="Arial" charset="0"/>
          <a:ea typeface="宋体" pitchFamily="2" charset="-122"/>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charset="0"/>
          <a:ea typeface="宋体" pitchFamily="2" charset="-122"/>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Arial" charset="0"/>
          <a:ea typeface="宋体"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7.wmf"/><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9">
            <a:extLst>
              <a:ext uri="{FF2B5EF4-FFF2-40B4-BE49-F238E27FC236}">
                <a16:creationId xmlns:a16="http://schemas.microsoft.com/office/drawing/2014/main" id="{F07DD7F8-6BC1-45AF-A068-03BDB5ABE25E}"/>
              </a:ext>
            </a:extLst>
          </p:cNvPr>
          <p:cNvSpPr>
            <a:spLocks noChangeArrowheads="1"/>
          </p:cNvSpPr>
          <p:nvPr/>
        </p:nvSpPr>
        <p:spPr bwMode="auto">
          <a:xfrm>
            <a:off x="0" y="0"/>
            <a:ext cx="9144000" cy="1268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5123" name="Rectangle 32">
            <a:extLst>
              <a:ext uri="{FF2B5EF4-FFF2-40B4-BE49-F238E27FC236}">
                <a16:creationId xmlns:a16="http://schemas.microsoft.com/office/drawing/2014/main" id="{F5A60DD0-4633-4BB9-BD50-EBE2EC318FAD}"/>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zh-CN" sz="2400">
              <a:latin typeface="Arial" panose="020B0604020202020204" pitchFamily="34" charset="0"/>
              <a:ea typeface="宋体" panose="02010600030101010101" pitchFamily="2" charset="-122"/>
            </a:endParaRPr>
          </a:p>
        </p:txBody>
      </p:sp>
      <p:sp>
        <p:nvSpPr>
          <p:cNvPr id="5124" name="Rectangle 35">
            <a:extLst>
              <a:ext uri="{FF2B5EF4-FFF2-40B4-BE49-F238E27FC236}">
                <a16:creationId xmlns:a16="http://schemas.microsoft.com/office/drawing/2014/main" id="{E9B67F3D-BA2B-40F3-A745-0513DB0EFAE0}"/>
              </a:ext>
            </a:extLst>
          </p:cNvPr>
          <p:cNvSpPr>
            <a:spLocks noChangeArrowheads="1"/>
          </p:cNvSpPr>
          <p:nvPr/>
        </p:nvSpPr>
        <p:spPr bwMode="auto">
          <a:xfrm>
            <a:off x="0" y="4149725"/>
            <a:ext cx="9144000" cy="270827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5125" name="Rectangle 36">
            <a:extLst>
              <a:ext uri="{FF2B5EF4-FFF2-40B4-BE49-F238E27FC236}">
                <a16:creationId xmlns:a16="http://schemas.microsoft.com/office/drawing/2014/main" id="{9F07EDC7-6507-437F-A42E-F4D6EF5EB6AA}"/>
              </a:ext>
            </a:extLst>
          </p:cNvPr>
          <p:cNvSpPr>
            <a:spLocks noChangeArrowheads="1"/>
          </p:cNvSpPr>
          <p:nvPr/>
        </p:nvSpPr>
        <p:spPr bwMode="auto">
          <a:xfrm>
            <a:off x="0" y="3933825"/>
            <a:ext cx="9144000" cy="2159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5126" name="WordArt 38">
            <a:extLst>
              <a:ext uri="{FF2B5EF4-FFF2-40B4-BE49-F238E27FC236}">
                <a16:creationId xmlns:a16="http://schemas.microsoft.com/office/drawing/2014/main" id="{E9F6F375-2337-40C8-AD13-9D03861211F9}"/>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105512" name="Rectangle 40">
            <a:extLst>
              <a:ext uri="{FF2B5EF4-FFF2-40B4-BE49-F238E27FC236}">
                <a16:creationId xmlns:a16="http://schemas.microsoft.com/office/drawing/2014/main" id="{6320DFAB-FEB7-4D06-B1C8-AB33BC92DB8C}"/>
              </a:ext>
            </a:extLst>
          </p:cNvPr>
          <p:cNvSpPr>
            <a:spLocks noGrp="1" noChangeArrowheads="1"/>
          </p:cNvSpPr>
          <p:nvPr>
            <p:ph type="title"/>
          </p:nvPr>
        </p:nvSpPr>
        <p:spPr>
          <a:xfrm>
            <a:off x="468313" y="1857375"/>
            <a:ext cx="8437562" cy="1500188"/>
          </a:xfrm>
        </p:spPr>
        <p:txBody>
          <a:bodyPr/>
          <a:lstStyle/>
          <a:p>
            <a:pPr algn="ctr" eaLnBrk="1" hangingPunct="1">
              <a:defRPr/>
            </a:pPr>
            <a:r>
              <a:rPr lang="zh-CN" altLang="en-US" sz="4800" dirty="0">
                <a:effectLst>
                  <a:outerShdw blurRad="38100" dist="38100" dir="2700000" algn="tl">
                    <a:srgbClr val="C0C0C0"/>
                  </a:outerShdw>
                </a:effectLst>
              </a:rPr>
              <a:t>实验六 </a:t>
            </a:r>
            <a:br>
              <a:rPr lang="en-US" altLang="zh-CN" sz="4800" dirty="0">
                <a:effectLst>
                  <a:outerShdw blurRad="38100" dist="38100" dir="2700000" algn="tl">
                    <a:srgbClr val="C0C0C0"/>
                  </a:outerShdw>
                </a:effectLst>
              </a:rPr>
            </a:br>
            <a:r>
              <a:rPr lang="zh-CN" altLang="en-US" sz="4800" dirty="0">
                <a:effectLst>
                  <a:outerShdw blurRad="38100" dist="38100" dir="2700000" algn="tl">
                    <a:srgbClr val="C0C0C0"/>
                  </a:outerShdw>
                </a:effectLst>
              </a:rPr>
              <a:t>路由器访问控制技术实验</a:t>
            </a:r>
            <a:endParaRPr lang="zh-CN" altLang="en-US" sz="48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96776E1-99D2-42D8-A852-3D702B0FEA96}"/>
              </a:ext>
            </a:extLst>
          </p:cNvPr>
          <p:cNvSpPr>
            <a:spLocks noGrp="1" noChangeArrowheads="1"/>
          </p:cNvSpPr>
          <p:nvPr>
            <p:ph type="title"/>
          </p:nvPr>
        </p:nvSpPr>
        <p:spPr/>
        <p:txBody>
          <a:bodyPr/>
          <a:lstStyle/>
          <a:p>
            <a:r>
              <a:rPr lang="zh-CN" altLang="en-US"/>
              <a:t>实验内容</a:t>
            </a:r>
            <a:endParaRPr lang="en-US" altLang="zh-CN"/>
          </a:p>
        </p:txBody>
      </p:sp>
      <p:sp>
        <p:nvSpPr>
          <p:cNvPr id="7171" name="Rectangle 3">
            <a:extLst>
              <a:ext uri="{FF2B5EF4-FFF2-40B4-BE49-F238E27FC236}">
                <a16:creationId xmlns:a16="http://schemas.microsoft.com/office/drawing/2014/main" id="{59155E50-269B-496C-A12E-1F8017DC172F}"/>
              </a:ext>
            </a:extLst>
          </p:cNvPr>
          <p:cNvSpPr>
            <a:spLocks noGrp="1" noChangeArrowheads="1"/>
          </p:cNvSpPr>
          <p:nvPr>
            <p:ph type="body" idx="1"/>
          </p:nvPr>
        </p:nvSpPr>
        <p:spPr/>
        <p:txBody>
          <a:bodyPr/>
          <a:lstStyle/>
          <a:p>
            <a:pPr marL="534988" indent="-534988">
              <a:buSzPct val="100000"/>
              <a:defRPr/>
            </a:pPr>
            <a:r>
              <a:rPr lang="zh-CN" altLang="en-US" sz="3600" dirty="0"/>
              <a:t>动态网络地址转换</a:t>
            </a:r>
            <a:r>
              <a:rPr lang="en-US" altLang="zh-CN" sz="3600" dirty="0"/>
              <a:t>(NAT)</a:t>
            </a:r>
            <a:r>
              <a:rPr lang="zh-CN" altLang="en-US" sz="3600" dirty="0"/>
              <a:t>配置实验；</a:t>
            </a:r>
          </a:p>
          <a:p>
            <a:pPr marL="534988" indent="-534988">
              <a:buSzPct val="100000"/>
              <a:defRPr/>
            </a:pPr>
            <a:r>
              <a:rPr lang="zh-CN" altLang="en-US" sz="3600" dirty="0"/>
              <a:t>扩展访问控制列表配置实验；</a:t>
            </a:r>
          </a:p>
          <a:p>
            <a:pPr marL="742950" indent="-742950">
              <a:buClr>
                <a:srgbClr val="C00000"/>
              </a:buClr>
              <a:buSzPct val="100000"/>
              <a:buFont typeface="+mj-lt"/>
              <a:buAutoNum type="arabicPeriod"/>
              <a:defRPr/>
            </a:pPr>
            <a:endParaRPr lang="en-US" altLang="zh-CN" sz="3600" dirty="0">
              <a:solidFill>
                <a:srgbClr val="C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5F459318-8258-476A-A7A6-B5B445261C43}"/>
              </a:ext>
            </a:extLst>
          </p:cNvPr>
          <p:cNvSpPr>
            <a:spLocks noChangeArrowheads="1"/>
          </p:cNvSpPr>
          <p:nvPr/>
        </p:nvSpPr>
        <p:spPr bwMode="auto">
          <a:xfrm>
            <a:off x="1339850" y="3644900"/>
            <a:ext cx="64008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zh-CN" sz="3600" b="0">
              <a:solidFill>
                <a:srgbClr val="800000"/>
              </a:solidFill>
            </a:endParaRPr>
          </a:p>
        </p:txBody>
      </p:sp>
      <p:sp>
        <p:nvSpPr>
          <p:cNvPr id="8195" name="Rectangle 6">
            <a:extLst>
              <a:ext uri="{FF2B5EF4-FFF2-40B4-BE49-F238E27FC236}">
                <a16:creationId xmlns:a16="http://schemas.microsoft.com/office/drawing/2014/main" id="{D9D03CDA-B3AD-4474-919C-6124E57CAE70}"/>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zh-CN" sz="2400">
              <a:latin typeface="Arial" panose="020B0604020202020204" pitchFamily="34" charset="0"/>
              <a:ea typeface="宋体" panose="02010600030101010101" pitchFamily="2" charset="-122"/>
            </a:endParaRPr>
          </a:p>
        </p:txBody>
      </p:sp>
      <p:sp>
        <p:nvSpPr>
          <p:cNvPr id="8196" name="Text Box 9">
            <a:extLst>
              <a:ext uri="{FF2B5EF4-FFF2-40B4-BE49-F238E27FC236}">
                <a16:creationId xmlns:a16="http://schemas.microsoft.com/office/drawing/2014/main" id="{DC9FF6E7-2850-4CF2-B8DB-4ED103DC9205}"/>
              </a:ext>
            </a:extLst>
          </p:cNvPr>
          <p:cNvSpPr txBox="1">
            <a:spLocks noChangeArrowheads="1"/>
          </p:cNvSpPr>
          <p:nvPr/>
        </p:nvSpPr>
        <p:spPr bwMode="auto">
          <a:xfrm>
            <a:off x="3203575" y="4221163"/>
            <a:ext cx="295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solidFill>
                  <a:schemeClr val="bg1"/>
                </a:solidFill>
                <a:latin typeface="Arial" panose="020B0604020202020204" pitchFamily="34" charset="0"/>
                <a:ea typeface="宋体" panose="02010600030101010101" pitchFamily="2" charset="-122"/>
              </a:rPr>
              <a:t>http://www.ntlab.cn</a:t>
            </a:r>
          </a:p>
        </p:txBody>
      </p:sp>
      <p:sp>
        <p:nvSpPr>
          <p:cNvPr id="8197" name="WordArt 10">
            <a:extLst>
              <a:ext uri="{FF2B5EF4-FFF2-40B4-BE49-F238E27FC236}">
                <a16:creationId xmlns:a16="http://schemas.microsoft.com/office/drawing/2014/main" id="{DA699FA8-ACD2-4306-8493-F2145434BD79}"/>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192523" name="Rectangle 11">
            <a:extLst>
              <a:ext uri="{FF2B5EF4-FFF2-40B4-BE49-F238E27FC236}">
                <a16:creationId xmlns:a16="http://schemas.microsoft.com/office/drawing/2014/main" id="{521147DE-E5F3-43E3-94D1-2E55AB6F98B2}"/>
              </a:ext>
            </a:extLst>
          </p:cNvPr>
          <p:cNvSpPr>
            <a:spLocks noGrp="1" noChangeArrowheads="1"/>
          </p:cNvSpPr>
          <p:nvPr>
            <p:ph type="title" idx="4294967295"/>
          </p:nvPr>
        </p:nvSpPr>
        <p:spPr>
          <a:xfrm>
            <a:off x="1547813" y="3168650"/>
            <a:ext cx="5111750" cy="838200"/>
          </a:xfrm>
        </p:spPr>
        <p:txBody>
          <a:bodyPr/>
          <a:lstStyle/>
          <a:p>
            <a:pPr eaLnBrk="1" hangingPunct="1">
              <a:defRPr/>
            </a:pPr>
            <a:r>
              <a:rPr lang="en-US" altLang="zh-CN" b="0" dirty="0">
                <a:solidFill>
                  <a:srgbClr val="C00000"/>
                </a:solidFill>
                <a:effectLst>
                  <a:outerShdw blurRad="38100" dist="38100" dir="2700000" algn="tl">
                    <a:srgbClr val="000000">
                      <a:alpha val="43137"/>
                    </a:srgbClr>
                  </a:outerShdw>
                </a:effectLst>
                <a:latin typeface="Cambria" panose="02040503050406030204" pitchFamily="18" charset="0"/>
              </a:rPr>
              <a:t>1</a:t>
            </a:r>
            <a:r>
              <a:rPr lang="zh-CN" altLang="en-US" b="0" dirty="0">
                <a:solidFill>
                  <a:srgbClr val="C00000"/>
                </a:solidFill>
                <a:effectLst>
                  <a:outerShdw blurRad="38100" dist="38100" dir="2700000" algn="tl">
                    <a:srgbClr val="000000">
                      <a:alpha val="43137"/>
                    </a:srgbClr>
                  </a:outerShdw>
                </a:effectLst>
                <a:latin typeface="Cambria" panose="02040503050406030204" pitchFamily="18" charset="0"/>
              </a:rPr>
              <a:t>）</a:t>
            </a:r>
            <a:r>
              <a:rPr lang="en-US" altLang="zh-CN" b="0" dirty="0">
                <a:solidFill>
                  <a:srgbClr val="C00000"/>
                </a:solidFill>
                <a:effectLst>
                  <a:outerShdw blurRad="38100" dist="38100" dir="2700000" algn="tl">
                    <a:srgbClr val="000000">
                      <a:alpha val="43137"/>
                    </a:srgbClr>
                  </a:outerShdw>
                </a:effectLst>
                <a:latin typeface="Cambria" panose="02040503050406030204" pitchFamily="18" charset="0"/>
              </a:rPr>
              <a:t>NAT</a:t>
            </a:r>
            <a:r>
              <a:rPr lang="zh-CN" altLang="en-US" b="0" dirty="0">
                <a:solidFill>
                  <a:srgbClr val="C00000"/>
                </a:solidFill>
                <a:effectLst>
                  <a:outerShdw blurRad="38100" dist="38100" dir="2700000" algn="tl">
                    <a:srgbClr val="000000">
                      <a:alpha val="43137"/>
                    </a:srgbClr>
                  </a:outerShdw>
                </a:effectLst>
                <a:latin typeface="Cambria" panose="02040503050406030204" pitchFamily="18" charset="0"/>
              </a:rPr>
              <a:t>原理</a:t>
            </a:r>
          </a:p>
        </p:txBody>
      </p:sp>
      <p:sp>
        <p:nvSpPr>
          <p:cNvPr id="2" name="文本框 1">
            <a:extLst>
              <a:ext uri="{FF2B5EF4-FFF2-40B4-BE49-F238E27FC236}">
                <a16:creationId xmlns:a16="http://schemas.microsoft.com/office/drawing/2014/main" id="{6E697797-EA24-4C24-8CCA-69E8817BFAC5}"/>
              </a:ext>
            </a:extLst>
          </p:cNvPr>
          <p:cNvSpPr txBox="1"/>
          <p:nvPr/>
        </p:nvSpPr>
        <p:spPr>
          <a:xfrm>
            <a:off x="1042988" y="2060575"/>
            <a:ext cx="7273925" cy="769938"/>
          </a:xfrm>
          <a:prstGeom prst="rect">
            <a:avLst/>
          </a:prstGeom>
          <a:noFill/>
        </p:spPr>
        <p:txBody>
          <a:bodyPr>
            <a:spAutoFit/>
          </a:bodyPr>
          <a:lstStyle/>
          <a:p>
            <a:pPr>
              <a:defRPr/>
            </a:pPr>
            <a:r>
              <a:rPr lang="en-US" altLang="zh-CN" sz="4400" b="1" dirty="0">
                <a:latin typeface="Cambria" panose="02040503050406030204" pitchFamily="18" charset="0"/>
                <a:ea typeface="+mn-ea"/>
              </a:rPr>
              <a:t>NAT</a:t>
            </a:r>
            <a:r>
              <a:rPr lang="zh-CN" altLang="en-US" sz="4400" b="1" dirty="0">
                <a:latin typeface="Cambria" panose="02040503050406030204" pitchFamily="18" charset="0"/>
                <a:ea typeface="+mn-ea"/>
              </a:rPr>
              <a:t>原理与配置实验</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A9FAD34-DF3B-453D-96C3-025206465B6E}"/>
              </a:ext>
            </a:extLst>
          </p:cNvPr>
          <p:cNvSpPr>
            <a:spLocks noGrp="1" noChangeArrowheads="1"/>
          </p:cNvSpPr>
          <p:nvPr>
            <p:ph type="title" idx="4294967295"/>
          </p:nvPr>
        </p:nvSpPr>
        <p:spPr>
          <a:xfrm>
            <a:off x="214313" y="0"/>
            <a:ext cx="7500937" cy="777875"/>
          </a:xfrm>
        </p:spPr>
        <p:txBody>
          <a:bodyPr/>
          <a:lstStyle/>
          <a:p>
            <a:r>
              <a:rPr lang="zh-CN" altLang="en-US" sz="4000"/>
              <a:t>什么是</a:t>
            </a:r>
            <a:r>
              <a:rPr lang="en-US" altLang="zh-CN" sz="4000"/>
              <a:t>NAT/NAPT</a:t>
            </a:r>
          </a:p>
        </p:txBody>
      </p:sp>
      <p:sp>
        <p:nvSpPr>
          <p:cNvPr id="10243" name="Rectangle 3">
            <a:extLst>
              <a:ext uri="{FF2B5EF4-FFF2-40B4-BE49-F238E27FC236}">
                <a16:creationId xmlns:a16="http://schemas.microsoft.com/office/drawing/2014/main" id="{2A2C5444-4741-44FD-9D2C-3F150B4DFCB3}"/>
              </a:ext>
            </a:extLst>
          </p:cNvPr>
          <p:cNvSpPr>
            <a:spLocks noGrp="1" noChangeArrowheads="1"/>
          </p:cNvSpPr>
          <p:nvPr>
            <p:ph type="body" idx="4294967295"/>
          </p:nvPr>
        </p:nvSpPr>
        <p:spPr>
          <a:xfrm>
            <a:off x="642938" y="928688"/>
            <a:ext cx="7343775" cy="3600450"/>
          </a:xfrm>
        </p:spPr>
        <p:txBody>
          <a:bodyPr/>
          <a:lstStyle/>
          <a:p>
            <a:pPr marL="304800" indent="-304800" defTabSz="812800">
              <a:lnSpc>
                <a:spcPct val="120000"/>
              </a:lnSpc>
            </a:pPr>
            <a:r>
              <a:rPr lang="zh-CN" altLang="en-US"/>
              <a:t>概念：</a:t>
            </a:r>
          </a:p>
          <a:p>
            <a:pPr marL="660400" lvl="1" indent="-254000" defTabSz="812800">
              <a:lnSpc>
                <a:spcPct val="120000"/>
              </a:lnSpc>
            </a:pPr>
            <a:r>
              <a:rPr lang="en-US" altLang="zh-CN"/>
              <a:t>NAT</a:t>
            </a:r>
            <a:r>
              <a:rPr lang="zh-CN" altLang="en-US"/>
              <a:t>就是将网络地址从一个地址空间转换到另外一个地址空间的一个行为</a:t>
            </a:r>
          </a:p>
          <a:p>
            <a:pPr marL="304800" indent="-304800" defTabSz="812800">
              <a:lnSpc>
                <a:spcPct val="120000"/>
              </a:lnSpc>
            </a:pPr>
            <a:r>
              <a:rPr lang="en-US" altLang="zh-CN"/>
              <a:t>NAT</a:t>
            </a:r>
            <a:r>
              <a:rPr lang="zh-CN" altLang="en-US"/>
              <a:t>的类型</a:t>
            </a:r>
          </a:p>
          <a:p>
            <a:pPr marL="660400" lvl="1" indent="-254000" defTabSz="812800">
              <a:lnSpc>
                <a:spcPct val="120000"/>
              </a:lnSpc>
            </a:pPr>
            <a:r>
              <a:rPr lang="en-US" altLang="zh-CN"/>
              <a:t>NAT</a:t>
            </a:r>
            <a:r>
              <a:rPr lang="zh-CN" altLang="en-US"/>
              <a:t>（</a:t>
            </a:r>
            <a:r>
              <a:rPr lang="en-US" altLang="zh-CN"/>
              <a:t>Network Address Translation</a:t>
            </a:r>
            <a:r>
              <a:rPr lang="zh-CN" altLang="en-US"/>
              <a:t>）</a:t>
            </a:r>
          </a:p>
          <a:p>
            <a:pPr marL="1016000" lvl="2" indent="-203200" defTabSz="812800">
              <a:lnSpc>
                <a:spcPct val="120000"/>
              </a:lnSpc>
            </a:pPr>
            <a:r>
              <a:rPr lang="zh-CN" altLang="en-US"/>
              <a:t>转换后，一个本地</a:t>
            </a:r>
            <a:r>
              <a:rPr lang="en-US" altLang="zh-CN"/>
              <a:t>IP</a:t>
            </a:r>
            <a:r>
              <a:rPr lang="zh-CN" altLang="en-US"/>
              <a:t>地址对应一个全局</a:t>
            </a:r>
            <a:r>
              <a:rPr lang="en-US" altLang="zh-CN"/>
              <a:t>IP</a:t>
            </a:r>
            <a:r>
              <a:rPr lang="zh-CN" altLang="en-US"/>
              <a:t>地址</a:t>
            </a:r>
          </a:p>
          <a:p>
            <a:pPr marL="660400" lvl="1" indent="-254000" defTabSz="812800">
              <a:lnSpc>
                <a:spcPct val="120000"/>
              </a:lnSpc>
            </a:pPr>
            <a:r>
              <a:rPr lang="en-US" altLang="zh-CN"/>
              <a:t>NAPT </a:t>
            </a:r>
            <a:r>
              <a:rPr lang="zh-CN" altLang="en-US"/>
              <a:t>（</a:t>
            </a:r>
            <a:r>
              <a:rPr lang="en-US" altLang="zh-CN"/>
              <a:t>Network Address Port Translation</a:t>
            </a:r>
            <a:r>
              <a:rPr lang="zh-CN" altLang="en-US"/>
              <a:t>）</a:t>
            </a:r>
          </a:p>
          <a:p>
            <a:pPr marL="1016000" lvl="2" indent="-203200" defTabSz="812800">
              <a:lnSpc>
                <a:spcPct val="120000"/>
              </a:lnSpc>
            </a:pPr>
            <a:r>
              <a:rPr lang="zh-CN" altLang="en-US"/>
              <a:t>转换后，多个本地地址对应一个全局</a:t>
            </a:r>
            <a:r>
              <a:rPr lang="en-US" altLang="zh-CN"/>
              <a:t>IP</a:t>
            </a:r>
            <a:r>
              <a:rPr lang="zh-CN" altLang="en-US"/>
              <a:t>地址</a:t>
            </a:r>
          </a:p>
          <a:p>
            <a:pPr marL="304800" indent="-304800" defTabSz="812800">
              <a:lnSpc>
                <a:spcPct val="120000"/>
              </a:lnSpc>
              <a:buFontTx/>
              <a:buChar char="•"/>
            </a:pPr>
            <a:endParaRPr lang="en-US" altLang="zh-CN" sz="1700">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7F81349D-314B-423D-A7C0-87F1134183EE}"/>
              </a:ext>
            </a:extLst>
          </p:cNvPr>
          <p:cNvSpPr>
            <a:spLocks noGrp="1" noChangeArrowheads="1"/>
          </p:cNvSpPr>
          <p:nvPr>
            <p:ph type="title" idx="4294967295"/>
          </p:nvPr>
        </p:nvSpPr>
        <p:spPr>
          <a:xfrm>
            <a:off x="0" y="0"/>
            <a:ext cx="7499350" cy="777875"/>
          </a:xfrm>
        </p:spPr>
        <p:txBody>
          <a:bodyPr/>
          <a:lstStyle/>
          <a:p>
            <a:r>
              <a:rPr lang="en-US" altLang="zh-CN" sz="4000"/>
              <a:t>NAT</a:t>
            </a:r>
            <a:r>
              <a:rPr lang="zh-CN" altLang="en-US" sz="4000"/>
              <a:t>工作原理</a:t>
            </a:r>
          </a:p>
        </p:txBody>
      </p:sp>
      <p:grpSp>
        <p:nvGrpSpPr>
          <p:cNvPr id="12291" name="Group 3">
            <a:extLst>
              <a:ext uri="{FF2B5EF4-FFF2-40B4-BE49-F238E27FC236}">
                <a16:creationId xmlns:a16="http://schemas.microsoft.com/office/drawing/2014/main" id="{7E0D86C8-16AC-44B3-A8BA-665696EE19FC}"/>
              </a:ext>
            </a:extLst>
          </p:cNvPr>
          <p:cNvGrpSpPr>
            <a:grpSpLocks/>
          </p:cNvGrpSpPr>
          <p:nvPr/>
        </p:nvGrpSpPr>
        <p:grpSpPr bwMode="auto">
          <a:xfrm>
            <a:off x="971550" y="981075"/>
            <a:ext cx="7200900" cy="1636713"/>
            <a:chOff x="340" y="618"/>
            <a:chExt cx="5190" cy="1180"/>
          </a:xfrm>
        </p:grpSpPr>
        <p:sp>
          <p:nvSpPr>
            <p:cNvPr id="12338" name="Freeform 4">
              <a:extLst>
                <a:ext uri="{FF2B5EF4-FFF2-40B4-BE49-F238E27FC236}">
                  <a16:creationId xmlns:a16="http://schemas.microsoft.com/office/drawing/2014/main" id="{407EEC84-D2B8-4A2B-81BB-2CC5D112B4E2}"/>
                </a:ext>
              </a:extLst>
            </p:cNvPr>
            <p:cNvSpPr>
              <a:spLocks/>
            </p:cNvSpPr>
            <p:nvPr/>
          </p:nvSpPr>
          <p:spPr bwMode="auto">
            <a:xfrm>
              <a:off x="2880" y="1209"/>
              <a:ext cx="908" cy="47"/>
            </a:xfrm>
            <a:custGeom>
              <a:avLst/>
              <a:gdLst>
                <a:gd name="T0" fmla="*/ 0 w 2017"/>
                <a:gd name="T1" fmla="*/ 0 h 97"/>
                <a:gd name="T2" fmla="*/ 2 w 2017"/>
                <a:gd name="T3" fmla="*/ 0 h 97"/>
                <a:gd name="T4" fmla="*/ 2 w 2017"/>
                <a:gd name="T5" fmla="*/ 0 h 97"/>
                <a:gd name="T6" fmla="*/ 4 w 2017"/>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0099CC"/>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2339" name="Picture 5" descr="Router">
              <a:extLst>
                <a:ext uri="{FF2B5EF4-FFF2-40B4-BE49-F238E27FC236}">
                  <a16:creationId xmlns:a16="http://schemas.microsoft.com/office/drawing/2014/main" id="{3F01523B-B355-4732-88FB-F19E1B83B3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4" y="981"/>
              <a:ext cx="77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40" name="Picture 6" descr="云-02">
              <a:extLst>
                <a:ext uri="{FF2B5EF4-FFF2-40B4-BE49-F238E27FC236}">
                  <a16:creationId xmlns:a16="http://schemas.microsoft.com/office/drawing/2014/main" id="{18DD0E94-5DA4-482F-96B0-F09422F32A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 y="845"/>
              <a:ext cx="1152"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41" name="Freeform 7">
              <a:extLst>
                <a:ext uri="{FF2B5EF4-FFF2-40B4-BE49-F238E27FC236}">
                  <a16:creationId xmlns:a16="http://schemas.microsoft.com/office/drawing/2014/main" id="{BB4EE24C-0B6B-43E0-B8AD-B063958EDF82}"/>
                </a:ext>
              </a:extLst>
            </p:cNvPr>
            <p:cNvSpPr>
              <a:spLocks/>
            </p:cNvSpPr>
            <p:nvPr/>
          </p:nvSpPr>
          <p:spPr bwMode="auto">
            <a:xfrm rot="2007198">
              <a:off x="4712" y="1344"/>
              <a:ext cx="499" cy="47"/>
            </a:xfrm>
            <a:custGeom>
              <a:avLst/>
              <a:gdLst>
                <a:gd name="T0" fmla="*/ 0 w 2017"/>
                <a:gd name="T1" fmla="*/ 0 h 97"/>
                <a:gd name="T2" fmla="*/ 0 w 2017"/>
                <a:gd name="T3" fmla="*/ 0 h 97"/>
                <a:gd name="T4" fmla="*/ 0 w 2017"/>
                <a:gd name="T5" fmla="*/ 0 h 97"/>
                <a:gd name="T6" fmla="*/ 0 w 2017"/>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0099CC"/>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2342" name="Picture 8" descr="SEVER">
              <a:extLst>
                <a:ext uri="{FF2B5EF4-FFF2-40B4-BE49-F238E27FC236}">
                  <a16:creationId xmlns:a16="http://schemas.microsoft.com/office/drawing/2014/main" id="{3F4FE124-6C32-4AEA-8DFF-03F8522CBA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0" y="1072"/>
              <a:ext cx="410" cy="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43" name="Line 9">
              <a:extLst>
                <a:ext uri="{FF2B5EF4-FFF2-40B4-BE49-F238E27FC236}">
                  <a16:creationId xmlns:a16="http://schemas.microsoft.com/office/drawing/2014/main" id="{06B3096E-7F74-4CBF-8F70-D172FEB1E533}"/>
                </a:ext>
              </a:extLst>
            </p:cNvPr>
            <p:cNvSpPr>
              <a:spLocks noChangeShapeType="1"/>
            </p:cNvSpPr>
            <p:nvPr/>
          </p:nvSpPr>
          <p:spPr bwMode="auto">
            <a:xfrm>
              <a:off x="1700" y="1162"/>
              <a:ext cx="453" cy="0"/>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2344" name="Line 10">
              <a:extLst>
                <a:ext uri="{FF2B5EF4-FFF2-40B4-BE49-F238E27FC236}">
                  <a16:creationId xmlns:a16="http://schemas.microsoft.com/office/drawing/2014/main" id="{4D51DAF6-41AF-4715-9267-7BC813B8BF8F}"/>
                </a:ext>
              </a:extLst>
            </p:cNvPr>
            <p:cNvSpPr>
              <a:spLocks noChangeShapeType="1"/>
            </p:cNvSpPr>
            <p:nvPr/>
          </p:nvSpPr>
          <p:spPr bwMode="auto">
            <a:xfrm>
              <a:off x="1700" y="618"/>
              <a:ext cx="0" cy="1133"/>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2345" name="Line 11">
              <a:extLst>
                <a:ext uri="{FF2B5EF4-FFF2-40B4-BE49-F238E27FC236}">
                  <a16:creationId xmlns:a16="http://schemas.microsoft.com/office/drawing/2014/main" id="{A89F0903-0C29-41FF-B565-899669CC03F8}"/>
                </a:ext>
              </a:extLst>
            </p:cNvPr>
            <p:cNvSpPr>
              <a:spLocks noChangeShapeType="1"/>
            </p:cNvSpPr>
            <p:nvPr/>
          </p:nvSpPr>
          <p:spPr bwMode="auto">
            <a:xfrm>
              <a:off x="839" y="845"/>
              <a:ext cx="862" cy="0"/>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2346" name="Line 12">
              <a:extLst>
                <a:ext uri="{FF2B5EF4-FFF2-40B4-BE49-F238E27FC236}">
                  <a16:creationId xmlns:a16="http://schemas.microsoft.com/office/drawing/2014/main" id="{60CE57E2-86D2-47FA-BC75-6D809AE64B7F}"/>
                </a:ext>
              </a:extLst>
            </p:cNvPr>
            <p:cNvSpPr>
              <a:spLocks noChangeShapeType="1"/>
            </p:cNvSpPr>
            <p:nvPr/>
          </p:nvSpPr>
          <p:spPr bwMode="auto">
            <a:xfrm>
              <a:off x="839" y="1480"/>
              <a:ext cx="862" cy="0"/>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12347" name="Picture 13" descr="PC">
              <a:extLst>
                <a:ext uri="{FF2B5EF4-FFF2-40B4-BE49-F238E27FC236}">
                  <a16:creationId xmlns:a16="http://schemas.microsoft.com/office/drawing/2014/main" id="{805D81F2-94F0-406D-A01B-897A0D82C5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 y="618"/>
              <a:ext cx="544" cy="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48" name="Picture 14" descr="PC">
              <a:extLst>
                <a:ext uri="{FF2B5EF4-FFF2-40B4-BE49-F238E27FC236}">
                  <a16:creationId xmlns:a16="http://schemas.microsoft.com/office/drawing/2014/main" id="{39CED2CB-6E70-4718-ADB9-6F18241F3E2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 y="1253"/>
              <a:ext cx="544" cy="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49" name="Text Box 15">
              <a:extLst>
                <a:ext uri="{FF2B5EF4-FFF2-40B4-BE49-F238E27FC236}">
                  <a16:creationId xmlns:a16="http://schemas.microsoft.com/office/drawing/2014/main" id="{45D18386-D86D-47C4-BDE5-5EB0539CEA8E}"/>
                </a:ext>
              </a:extLst>
            </p:cNvPr>
            <p:cNvSpPr txBox="1">
              <a:spLocks noChangeArrowheads="1"/>
            </p:cNvSpPr>
            <p:nvPr/>
          </p:nvSpPr>
          <p:spPr bwMode="auto">
            <a:xfrm>
              <a:off x="2790" y="799"/>
              <a:ext cx="725"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1200">
                  <a:latin typeface="Times New Roman" panose="02020603050405020304" pitchFamily="18" charset="0"/>
                  <a:ea typeface="宋体" panose="02010600030101010101" pitchFamily="2" charset="-122"/>
                </a:rPr>
                <a:t> 200.8.7.3/24</a:t>
              </a:r>
            </a:p>
            <a:p>
              <a:pPr algn="ctr">
                <a:spcBef>
                  <a:spcPct val="50000"/>
                </a:spcBef>
                <a:buClrTx/>
                <a:buSzTx/>
                <a:buFontTx/>
                <a:buNone/>
              </a:pPr>
              <a:r>
                <a:rPr lang="en-US" altLang="zh-CN" sz="1200">
                  <a:latin typeface="Times New Roman" panose="02020603050405020304" pitchFamily="18" charset="0"/>
                  <a:ea typeface="宋体" panose="02010600030101010101" pitchFamily="2" charset="-122"/>
                </a:rPr>
                <a:t> 200.8.7.4/24</a:t>
              </a:r>
            </a:p>
          </p:txBody>
        </p:sp>
      </p:grpSp>
      <p:sp>
        <p:nvSpPr>
          <p:cNvPr id="12292" name="Text Box 16">
            <a:extLst>
              <a:ext uri="{FF2B5EF4-FFF2-40B4-BE49-F238E27FC236}">
                <a16:creationId xmlns:a16="http://schemas.microsoft.com/office/drawing/2014/main" id="{3567D021-AA00-4F78-AB5C-50FFB4B829B1}"/>
              </a:ext>
            </a:extLst>
          </p:cNvPr>
          <p:cNvSpPr txBox="1">
            <a:spLocks noChangeArrowheads="1"/>
          </p:cNvSpPr>
          <p:nvPr/>
        </p:nvSpPr>
        <p:spPr bwMode="auto">
          <a:xfrm>
            <a:off x="7596188" y="1412875"/>
            <a:ext cx="1152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1200">
                <a:latin typeface="Arial" panose="020B0604020202020204" pitchFamily="34" charset="0"/>
                <a:ea typeface="宋体" panose="02010600030101010101" pitchFamily="2" charset="-122"/>
              </a:rPr>
              <a:t>63.5.8.1</a:t>
            </a:r>
          </a:p>
        </p:txBody>
      </p:sp>
      <p:sp>
        <p:nvSpPr>
          <p:cNvPr id="12293" name="Text Box 17">
            <a:extLst>
              <a:ext uri="{FF2B5EF4-FFF2-40B4-BE49-F238E27FC236}">
                <a16:creationId xmlns:a16="http://schemas.microsoft.com/office/drawing/2014/main" id="{3E04F385-AA38-41F1-A574-A87052DDFBDA}"/>
              </a:ext>
            </a:extLst>
          </p:cNvPr>
          <p:cNvSpPr txBox="1">
            <a:spLocks noChangeArrowheads="1"/>
          </p:cNvSpPr>
          <p:nvPr/>
        </p:nvSpPr>
        <p:spPr bwMode="auto">
          <a:xfrm>
            <a:off x="106363" y="1125538"/>
            <a:ext cx="11525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1200">
                <a:latin typeface="Arial" panose="020B0604020202020204" pitchFamily="34" charset="0"/>
                <a:ea typeface="宋体" panose="02010600030101010101" pitchFamily="2" charset="-122"/>
              </a:rPr>
              <a:t>192.168.1.5</a:t>
            </a:r>
          </a:p>
        </p:txBody>
      </p:sp>
      <p:sp>
        <p:nvSpPr>
          <p:cNvPr id="12294" name="Text Box 18">
            <a:extLst>
              <a:ext uri="{FF2B5EF4-FFF2-40B4-BE49-F238E27FC236}">
                <a16:creationId xmlns:a16="http://schemas.microsoft.com/office/drawing/2014/main" id="{79A005BB-C4AA-41F5-86CF-84B3361964E0}"/>
              </a:ext>
            </a:extLst>
          </p:cNvPr>
          <p:cNvSpPr txBox="1">
            <a:spLocks noChangeArrowheads="1"/>
          </p:cNvSpPr>
          <p:nvPr/>
        </p:nvSpPr>
        <p:spPr bwMode="auto">
          <a:xfrm>
            <a:off x="106363" y="1989138"/>
            <a:ext cx="11525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1200">
                <a:latin typeface="Arial" panose="020B0604020202020204" pitchFamily="34" charset="0"/>
                <a:ea typeface="宋体" panose="02010600030101010101" pitchFamily="2" charset="-122"/>
              </a:rPr>
              <a:t>192.168.1.7</a:t>
            </a:r>
          </a:p>
        </p:txBody>
      </p:sp>
      <p:graphicFrame>
        <p:nvGraphicFramePr>
          <p:cNvPr id="21566" name="Group 62">
            <a:extLst>
              <a:ext uri="{FF2B5EF4-FFF2-40B4-BE49-F238E27FC236}">
                <a16:creationId xmlns:a16="http://schemas.microsoft.com/office/drawing/2014/main" id="{742FA8EA-57A9-46D9-8E59-F5481C07E424}"/>
              </a:ext>
            </a:extLst>
          </p:cNvPr>
          <p:cNvGraphicFramePr>
            <a:graphicFrameLocks noGrp="1"/>
          </p:cNvGraphicFramePr>
          <p:nvPr>
            <p:ph idx="4294967295"/>
          </p:nvPr>
        </p:nvGraphicFramePr>
        <p:xfrm>
          <a:off x="2500313" y="2668588"/>
          <a:ext cx="3916362" cy="1392893"/>
        </p:xfrm>
        <a:graphic>
          <a:graphicData uri="http://schemas.openxmlformats.org/drawingml/2006/table">
            <a:tbl>
              <a:tblPr/>
              <a:tblGrid>
                <a:gridCol w="1960562">
                  <a:extLst>
                    <a:ext uri="{9D8B030D-6E8A-4147-A177-3AD203B41FA5}">
                      <a16:colId xmlns:a16="http://schemas.microsoft.com/office/drawing/2014/main" val="20000"/>
                    </a:ext>
                  </a:extLst>
                </a:gridCol>
                <a:gridCol w="1955800">
                  <a:extLst>
                    <a:ext uri="{9D8B030D-6E8A-4147-A177-3AD203B41FA5}">
                      <a16:colId xmlns:a16="http://schemas.microsoft.com/office/drawing/2014/main" val="20001"/>
                    </a:ext>
                  </a:extLst>
                </a:gridCol>
              </a:tblGrid>
              <a:tr h="457839">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200" b="1" i="0" u="none" strike="noStrike" cap="none" normalizeH="0" baseline="0">
                          <a:ln>
                            <a:noFill/>
                          </a:ln>
                          <a:solidFill>
                            <a:schemeClr val="bg1"/>
                          </a:solidFill>
                          <a:effectLst/>
                          <a:latin typeface="华文细黑" pitchFamily="2" charset="-122"/>
                          <a:ea typeface="华文细黑" pitchFamily="2" charset="-122"/>
                        </a:rPr>
                        <a:t>内部本地地址</a:t>
                      </a:r>
                    </a:p>
                  </a:txBody>
                  <a:tcPr marT="49311" marB="493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4001B"/>
                    </a:solid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zh-CN" altLang="en-US" sz="2200" b="1" i="0" u="none" strike="noStrike" cap="none" normalizeH="0" baseline="0">
                          <a:ln>
                            <a:noFill/>
                          </a:ln>
                          <a:solidFill>
                            <a:schemeClr val="bg1"/>
                          </a:solidFill>
                          <a:effectLst/>
                          <a:latin typeface="华文细黑" pitchFamily="2" charset="-122"/>
                          <a:ea typeface="华文细黑" pitchFamily="2" charset="-122"/>
                        </a:rPr>
                        <a:t>内部全局地址</a:t>
                      </a:r>
                    </a:p>
                  </a:txBody>
                  <a:tcPr marT="49311" marB="493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4001B"/>
                    </a:solidFill>
                  </a:tcPr>
                </a:tc>
                <a:extLst>
                  <a:ext uri="{0D108BD9-81ED-4DB2-BD59-A6C34878D82A}">
                    <a16:rowId xmlns:a16="http://schemas.microsoft.com/office/drawing/2014/main" val="10000"/>
                  </a:ext>
                </a:extLst>
              </a:tr>
              <a:tr h="456880">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pitchFamily="34" charset="0"/>
                          <a:ea typeface="华文细黑" pitchFamily="2" charset="-122"/>
                        </a:rPr>
                        <a:t>192.168.1.7</a:t>
                      </a:r>
                    </a:p>
                  </a:txBody>
                  <a:tcPr marT="49311" marB="493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pitchFamily="34" charset="0"/>
                          <a:ea typeface="华文细黑" pitchFamily="2" charset="-122"/>
                        </a:rPr>
                        <a:t>200.8.7.3</a:t>
                      </a:r>
                    </a:p>
                  </a:txBody>
                  <a:tcPr marT="49311" marB="493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56880">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pitchFamily="34" charset="0"/>
                          <a:ea typeface="华文细黑" pitchFamily="2" charset="-122"/>
                        </a:rPr>
                        <a:t>192.168.1.5</a:t>
                      </a:r>
                    </a:p>
                  </a:txBody>
                  <a:tcPr marT="49311" marB="4931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Arial" pitchFamily="34" charset="0"/>
                          <a:ea typeface="华文细黑" pitchFamily="2" charset="-122"/>
                        </a:rPr>
                        <a:t>200.8.7.4</a:t>
                      </a:r>
                    </a:p>
                  </a:txBody>
                  <a:tcPr marT="49311" marB="4931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2309" name="Rectangle 33">
            <a:extLst>
              <a:ext uri="{FF2B5EF4-FFF2-40B4-BE49-F238E27FC236}">
                <a16:creationId xmlns:a16="http://schemas.microsoft.com/office/drawing/2014/main" id="{6C8ED22B-A408-49DC-ABC6-B643FAC72D4F}"/>
              </a:ext>
            </a:extLst>
          </p:cNvPr>
          <p:cNvSpPr>
            <a:spLocks noChangeArrowheads="1"/>
          </p:cNvSpPr>
          <p:nvPr/>
        </p:nvSpPr>
        <p:spPr bwMode="auto">
          <a:xfrm>
            <a:off x="484188" y="4365625"/>
            <a:ext cx="1768475" cy="719138"/>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10" name="Line 34">
            <a:extLst>
              <a:ext uri="{FF2B5EF4-FFF2-40B4-BE49-F238E27FC236}">
                <a16:creationId xmlns:a16="http://schemas.microsoft.com/office/drawing/2014/main" id="{3722F1E4-6314-48B4-88D6-BDB497D2E7B1}"/>
              </a:ext>
            </a:extLst>
          </p:cNvPr>
          <p:cNvSpPr>
            <a:spLocks noChangeShapeType="1"/>
          </p:cNvSpPr>
          <p:nvPr/>
        </p:nvSpPr>
        <p:spPr bwMode="auto">
          <a:xfrm>
            <a:off x="484188" y="4738688"/>
            <a:ext cx="1768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1" name="Text Box 35">
            <a:extLst>
              <a:ext uri="{FF2B5EF4-FFF2-40B4-BE49-F238E27FC236}">
                <a16:creationId xmlns:a16="http://schemas.microsoft.com/office/drawing/2014/main" id="{9CDAA617-5ECF-48D7-8707-BCDDA3E73FC9}"/>
              </a:ext>
            </a:extLst>
          </p:cNvPr>
          <p:cNvSpPr txBox="1">
            <a:spLocks noChangeArrowheads="1"/>
          </p:cNvSpPr>
          <p:nvPr/>
        </p:nvSpPr>
        <p:spPr bwMode="auto">
          <a:xfrm>
            <a:off x="427038" y="4437063"/>
            <a:ext cx="17684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1200">
                <a:latin typeface="Arial" panose="020B0604020202020204" pitchFamily="34" charset="0"/>
                <a:ea typeface="华文细黑" panose="02010600040101010101" pitchFamily="2" charset="-122"/>
              </a:rPr>
              <a:t>源</a:t>
            </a:r>
            <a:r>
              <a:rPr lang="en-US" altLang="zh-CN" sz="1200">
                <a:latin typeface="Arial" panose="020B0604020202020204" pitchFamily="34" charset="0"/>
                <a:ea typeface="华文细黑" panose="02010600040101010101" pitchFamily="2" charset="-122"/>
              </a:rPr>
              <a:t>IP:192.168.1.7</a:t>
            </a:r>
          </a:p>
        </p:txBody>
      </p:sp>
      <p:sp>
        <p:nvSpPr>
          <p:cNvPr id="12312" name="Text Box 36">
            <a:extLst>
              <a:ext uri="{FF2B5EF4-FFF2-40B4-BE49-F238E27FC236}">
                <a16:creationId xmlns:a16="http://schemas.microsoft.com/office/drawing/2014/main" id="{72E34856-A639-4E91-A8C2-52FFAF2E130D}"/>
              </a:ext>
            </a:extLst>
          </p:cNvPr>
          <p:cNvSpPr txBox="1">
            <a:spLocks noChangeArrowheads="1"/>
          </p:cNvSpPr>
          <p:nvPr/>
        </p:nvSpPr>
        <p:spPr bwMode="auto">
          <a:xfrm>
            <a:off x="466725" y="4776788"/>
            <a:ext cx="19446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目的</a:t>
            </a:r>
            <a:r>
              <a:rPr lang="en-US" altLang="zh-CN" sz="1200">
                <a:latin typeface="Arial" panose="020B0604020202020204" pitchFamily="34" charset="0"/>
                <a:ea typeface="华文细黑" panose="02010600040101010101" pitchFamily="2" charset="-122"/>
              </a:rPr>
              <a:t>IP:63.5.8.1</a:t>
            </a:r>
          </a:p>
        </p:txBody>
      </p:sp>
      <p:sp>
        <p:nvSpPr>
          <p:cNvPr id="12313" name="Rectangle 37">
            <a:extLst>
              <a:ext uri="{FF2B5EF4-FFF2-40B4-BE49-F238E27FC236}">
                <a16:creationId xmlns:a16="http://schemas.microsoft.com/office/drawing/2014/main" id="{FF693D3A-DD82-4453-AB0B-EE26AAB4C8CD}"/>
              </a:ext>
            </a:extLst>
          </p:cNvPr>
          <p:cNvSpPr>
            <a:spLocks noChangeArrowheads="1"/>
          </p:cNvSpPr>
          <p:nvPr/>
        </p:nvSpPr>
        <p:spPr bwMode="auto">
          <a:xfrm>
            <a:off x="3506788" y="4365625"/>
            <a:ext cx="1801812" cy="647700"/>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14" name="Line 38">
            <a:extLst>
              <a:ext uri="{FF2B5EF4-FFF2-40B4-BE49-F238E27FC236}">
                <a16:creationId xmlns:a16="http://schemas.microsoft.com/office/drawing/2014/main" id="{891E91A2-95B8-4919-B0EC-4F23AB65F334}"/>
              </a:ext>
            </a:extLst>
          </p:cNvPr>
          <p:cNvSpPr>
            <a:spLocks noChangeShapeType="1"/>
          </p:cNvSpPr>
          <p:nvPr/>
        </p:nvSpPr>
        <p:spPr bwMode="auto">
          <a:xfrm>
            <a:off x="3506788" y="4702175"/>
            <a:ext cx="170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5" name="Text Box 39">
            <a:extLst>
              <a:ext uri="{FF2B5EF4-FFF2-40B4-BE49-F238E27FC236}">
                <a16:creationId xmlns:a16="http://schemas.microsoft.com/office/drawing/2014/main" id="{F1DD7802-0D8B-444D-9B81-924064CF601A}"/>
              </a:ext>
            </a:extLst>
          </p:cNvPr>
          <p:cNvSpPr txBox="1">
            <a:spLocks noChangeArrowheads="1"/>
          </p:cNvSpPr>
          <p:nvPr/>
        </p:nvSpPr>
        <p:spPr bwMode="auto">
          <a:xfrm>
            <a:off x="3651250" y="4379913"/>
            <a:ext cx="1701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源</a:t>
            </a:r>
            <a:r>
              <a:rPr lang="en-US" altLang="zh-CN" sz="1200">
                <a:latin typeface="Arial" panose="020B0604020202020204" pitchFamily="34" charset="0"/>
                <a:ea typeface="华文细黑" panose="02010600040101010101" pitchFamily="2" charset="-122"/>
              </a:rPr>
              <a:t>IP:200.8.7.3  </a:t>
            </a:r>
          </a:p>
        </p:txBody>
      </p:sp>
      <p:sp>
        <p:nvSpPr>
          <p:cNvPr id="12316" name="Text Box 40">
            <a:extLst>
              <a:ext uri="{FF2B5EF4-FFF2-40B4-BE49-F238E27FC236}">
                <a16:creationId xmlns:a16="http://schemas.microsoft.com/office/drawing/2014/main" id="{7137CAC1-C104-499E-9430-BFAE64BE1403}"/>
              </a:ext>
            </a:extLst>
          </p:cNvPr>
          <p:cNvSpPr txBox="1">
            <a:spLocks noChangeArrowheads="1"/>
          </p:cNvSpPr>
          <p:nvPr/>
        </p:nvSpPr>
        <p:spPr bwMode="auto">
          <a:xfrm>
            <a:off x="3563938" y="4737100"/>
            <a:ext cx="18716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目的</a:t>
            </a:r>
            <a:r>
              <a:rPr lang="en-US" altLang="zh-CN" sz="1200">
                <a:latin typeface="Arial" panose="020B0604020202020204" pitchFamily="34" charset="0"/>
                <a:ea typeface="华文细黑" panose="02010600040101010101" pitchFamily="2" charset="-122"/>
              </a:rPr>
              <a:t>IP:63.5.8.1</a:t>
            </a:r>
          </a:p>
        </p:txBody>
      </p:sp>
      <p:sp>
        <p:nvSpPr>
          <p:cNvPr id="12317" name="Rectangle 41">
            <a:extLst>
              <a:ext uri="{FF2B5EF4-FFF2-40B4-BE49-F238E27FC236}">
                <a16:creationId xmlns:a16="http://schemas.microsoft.com/office/drawing/2014/main" id="{DE8CC139-2A75-4111-A46E-1E4F19F18DC6}"/>
              </a:ext>
            </a:extLst>
          </p:cNvPr>
          <p:cNvSpPr>
            <a:spLocks noChangeArrowheads="1"/>
          </p:cNvSpPr>
          <p:nvPr/>
        </p:nvSpPr>
        <p:spPr bwMode="auto">
          <a:xfrm>
            <a:off x="6804025" y="5303838"/>
            <a:ext cx="1703388" cy="646112"/>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18" name="Line 42">
            <a:extLst>
              <a:ext uri="{FF2B5EF4-FFF2-40B4-BE49-F238E27FC236}">
                <a16:creationId xmlns:a16="http://schemas.microsoft.com/office/drawing/2014/main" id="{219D6F56-67A0-47A8-B920-D599147D1F97}"/>
              </a:ext>
            </a:extLst>
          </p:cNvPr>
          <p:cNvSpPr>
            <a:spLocks noChangeShapeType="1"/>
          </p:cNvSpPr>
          <p:nvPr/>
        </p:nvSpPr>
        <p:spPr bwMode="auto">
          <a:xfrm>
            <a:off x="6804025" y="5638800"/>
            <a:ext cx="17033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19" name="Text Box 43">
            <a:extLst>
              <a:ext uri="{FF2B5EF4-FFF2-40B4-BE49-F238E27FC236}">
                <a16:creationId xmlns:a16="http://schemas.microsoft.com/office/drawing/2014/main" id="{C5BAF1B5-87F6-46E8-991F-997770E396AD}"/>
              </a:ext>
            </a:extLst>
          </p:cNvPr>
          <p:cNvSpPr txBox="1">
            <a:spLocks noChangeArrowheads="1"/>
          </p:cNvSpPr>
          <p:nvPr/>
        </p:nvSpPr>
        <p:spPr bwMode="auto">
          <a:xfrm>
            <a:off x="7008813" y="5318125"/>
            <a:ext cx="17033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源</a:t>
            </a:r>
            <a:r>
              <a:rPr lang="en-US" altLang="zh-CN" sz="1200">
                <a:latin typeface="Arial" panose="020B0604020202020204" pitchFamily="34" charset="0"/>
                <a:ea typeface="华文细黑" panose="02010600040101010101" pitchFamily="2" charset="-122"/>
              </a:rPr>
              <a:t>IP:63.5.8.1   </a:t>
            </a:r>
          </a:p>
        </p:txBody>
      </p:sp>
      <p:sp>
        <p:nvSpPr>
          <p:cNvPr id="12320" name="Text Box 44">
            <a:extLst>
              <a:ext uri="{FF2B5EF4-FFF2-40B4-BE49-F238E27FC236}">
                <a16:creationId xmlns:a16="http://schemas.microsoft.com/office/drawing/2014/main" id="{30C5777C-0C29-414C-9145-14747558D95B}"/>
              </a:ext>
            </a:extLst>
          </p:cNvPr>
          <p:cNvSpPr txBox="1">
            <a:spLocks noChangeArrowheads="1"/>
          </p:cNvSpPr>
          <p:nvPr/>
        </p:nvSpPr>
        <p:spPr bwMode="auto">
          <a:xfrm>
            <a:off x="6862763" y="5673725"/>
            <a:ext cx="18732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目的</a:t>
            </a:r>
            <a:r>
              <a:rPr lang="en-US" altLang="zh-CN" sz="1200">
                <a:latin typeface="Arial" panose="020B0604020202020204" pitchFamily="34" charset="0"/>
                <a:ea typeface="华文细黑" panose="02010600040101010101" pitchFamily="2" charset="-122"/>
              </a:rPr>
              <a:t>IP:200.8.7.3</a:t>
            </a:r>
          </a:p>
        </p:txBody>
      </p:sp>
      <p:sp>
        <p:nvSpPr>
          <p:cNvPr id="12321" name="AutoShape 45">
            <a:extLst>
              <a:ext uri="{FF2B5EF4-FFF2-40B4-BE49-F238E27FC236}">
                <a16:creationId xmlns:a16="http://schemas.microsoft.com/office/drawing/2014/main" id="{4F1E0F66-87D1-4E29-80BD-BEAE18F564C1}"/>
              </a:ext>
            </a:extLst>
          </p:cNvPr>
          <p:cNvSpPr>
            <a:spLocks noChangeArrowheads="1"/>
          </p:cNvSpPr>
          <p:nvPr/>
        </p:nvSpPr>
        <p:spPr bwMode="auto">
          <a:xfrm>
            <a:off x="7510463" y="4940300"/>
            <a:ext cx="144462" cy="360363"/>
          </a:xfrm>
          <a:prstGeom prst="downArrow">
            <a:avLst>
              <a:gd name="adj1" fmla="val 50000"/>
              <a:gd name="adj2" fmla="val 62363"/>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22" name="Rectangle 46">
            <a:extLst>
              <a:ext uri="{FF2B5EF4-FFF2-40B4-BE49-F238E27FC236}">
                <a16:creationId xmlns:a16="http://schemas.microsoft.com/office/drawing/2014/main" id="{100C800D-960F-4FAA-B862-FF62759327BE}"/>
              </a:ext>
            </a:extLst>
          </p:cNvPr>
          <p:cNvSpPr>
            <a:spLocks noChangeArrowheads="1"/>
          </p:cNvSpPr>
          <p:nvPr/>
        </p:nvSpPr>
        <p:spPr bwMode="auto">
          <a:xfrm>
            <a:off x="3514725" y="5300663"/>
            <a:ext cx="1781175" cy="627062"/>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23" name="Line 47">
            <a:extLst>
              <a:ext uri="{FF2B5EF4-FFF2-40B4-BE49-F238E27FC236}">
                <a16:creationId xmlns:a16="http://schemas.microsoft.com/office/drawing/2014/main" id="{7CBAD36C-C912-481E-A441-C468DF1333BF}"/>
              </a:ext>
            </a:extLst>
          </p:cNvPr>
          <p:cNvSpPr>
            <a:spLocks noChangeShapeType="1"/>
          </p:cNvSpPr>
          <p:nvPr/>
        </p:nvSpPr>
        <p:spPr bwMode="auto">
          <a:xfrm>
            <a:off x="3514725" y="5626100"/>
            <a:ext cx="183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4" name="Text Box 48">
            <a:extLst>
              <a:ext uri="{FF2B5EF4-FFF2-40B4-BE49-F238E27FC236}">
                <a16:creationId xmlns:a16="http://schemas.microsoft.com/office/drawing/2014/main" id="{39C1E3EE-758B-494A-9BA3-2287F4CF597A}"/>
              </a:ext>
            </a:extLst>
          </p:cNvPr>
          <p:cNvSpPr txBox="1">
            <a:spLocks noChangeArrowheads="1"/>
          </p:cNvSpPr>
          <p:nvPr/>
        </p:nvSpPr>
        <p:spPr bwMode="auto">
          <a:xfrm>
            <a:off x="3779838" y="5314950"/>
            <a:ext cx="18319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源</a:t>
            </a:r>
            <a:r>
              <a:rPr lang="en-US" altLang="zh-CN" sz="1200">
                <a:latin typeface="Arial" panose="020B0604020202020204" pitchFamily="34" charset="0"/>
                <a:ea typeface="华文细黑" panose="02010600040101010101" pitchFamily="2" charset="-122"/>
              </a:rPr>
              <a:t>IP:63.5.8.1   </a:t>
            </a:r>
          </a:p>
        </p:txBody>
      </p:sp>
      <p:sp>
        <p:nvSpPr>
          <p:cNvPr id="12325" name="Text Box 49">
            <a:extLst>
              <a:ext uri="{FF2B5EF4-FFF2-40B4-BE49-F238E27FC236}">
                <a16:creationId xmlns:a16="http://schemas.microsoft.com/office/drawing/2014/main" id="{DFB2C8C2-D3B1-4A0B-A351-89CD8D429F2C}"/>
              </a:ext>
            </a:extLst>
          </p:cNvPr>
          <p:cNvSpPr txBox="1">
            <a:spLocks noChangeArrowheads="1"/>
          </p:cNvSpPr>
          <p:nvPr/>
        </p:nvSpPr>
        <p:spPr bwMode="auto">
          <a:xfrm>
            <a:off x="3492500" y="5649913"/>
            <a:ext cx="20161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目的</a:t>
            </a:r>
            <a:r>
              <a:rPr lang="en-US" altLang="zh-CN" sz="1200">
                <a:latin typeface="Arial" panose="020B0604020202020204" pitchFamily="34" charset="0"/>
                <a:ea typeface="华文细黑" panose="02010600040101010101" pitchFamily="2" charset="-122"/>
              </a:rPr>
              <a:t>IP:192.168.1.7</a:t>
            </a:r>
          </a:p>
        </p:txBody>
      </p:sp>
      <p:sp>
        <p:nvSpPr>
          <p:cNvPr id="12326" name="AutoShape 50">
            <a:extLst>
              <a:ext uri="{FF2B5EF4-FFF2-40B4-BE49-F238E27FC236}">
                <a16:creationId xmlns:a16="http://schemas.microsoft.com/office/drawing/2014/main" id="{F30A0EA4-3A39-4DB1-A07D-AA5098B445DB}"/>
              </a:ext>
            </a:extLst>
          </p:cNvPr>
          <p:cNvSpPr>
            <a:spLocks noChangeArrowheads="1"/>
          </p:cNvSpPr>
          <p:nvPr/>
        </p:nvSpPr>
        <p:spPr bwMode="auto">
          <a:xfrm rot="16200000" flipH="1">
            <a:off x="2770982" y="4509294"/>
            <a:ext cx="144462" cy="431800"/>
          </a:xfrm>
          <a:prstGeom prst="downArrow">
            <a:avLst>
              <a:gd name="adj1" fmla="val 50000"/>
              <a:gd name="adj2" fmla="val 74726"/>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27" name="Rectangle 51">
            <a:extLst>
              <a:ext uri="{FF2B5EF4-FFF2-40B4-BE49-F238E27FC236}">
                <a16:creationId xmlns:a16="http://schemas.microsoft.com/office/drawing/2014/main" id="{EFEE60B2-6EDC-410B-AF58-DF203714262E}"/>
              </a:ext>
            </a:extLst>
          </p:cNvPr>
          <p:cNvSpPr>
            <a:spLocks noChangeArrowheads="1"/>
          </p:cNvSpPr>
          <p:nvPr/>
        </p:nvSpPr>
        <p:spPr bwMode="auto">
          <a:xfrm>
            <a:off x="6805613" y="4365625"/>
            <a:ext cx="1701800" cy="647700"/>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28" name="Line 52">
            <a:extLst>
              <a:ext uri="{FF2B5EF4-FFF2-40B4-BE49-F238E27FC236}">
                <a16:creationId xmlns:a16="http://schemas.microsoft.com/office/drawing/2014/main" id="{5E5E4D3F-C3D4-4F45-A29A-9E3C03C3E281}"/>
              </a:ext>
            </a:extLst>
          </p:cNvPr>
          <p:cNvSpPr>
            <a:spLocks noChangeShapeType="1"/>
          </p:cNvSpPr>
          <p:nvPr/>
        </p:nvSpPr>
        <p:spPr bwMode="auto">
          <a:xfrm>
            <a:off x="6805613" y="4702175"/>
            <a:ext cx="170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29" name="Text Box 53">
            <a:extLst>
              <a:ext uri="{FF2B5EF4-FFF2-40B4-BE49-F238E27FC236}">
                <a16:creationId xmlns:a16="http://schemas.microsoft.com/office/drawing/2014/main" id="{25CEBD48-A1D0-4163-AF77-2FC08F5A1D51}"/>
              </a:ext>
            </a:extLst>
          </p:cNvPr>
          <p:cNvSpPr txBox="1">
            <a:spLocks noChangeArrowheads="1"/>
          </p:cNvSpPr>
          <p:nvPr/>
        </p:nvSpPr>
        <p:spPr bwMode="auto">
          <a:xfrm>
            <a:off x="6950075" y="4379913"/>
            <a:ext cx="1701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源</a:t>
            </a:r>
            <a:r>
              <a:rPr lang="en-US" altLang="zh-CN" sz="1200">
                <a:latin typeface="Arial" panose="020B0604020202020204" pitchFamily="34" charset="0"/>
                <a:ea typeface="华文细黑" panose="02010600040101010101" pitchFamily="2" charset="-122"/>
              </a:rPr>
              <a:t>IP:200.8.7.3   </a:t>
            </a:r>
          </a:p>
        </p:txBody>
      </p:sp>
      <p:sp>
        <p:nvSpPr>
          <p:cNvPr id="12330" name="Text Box 54">
            <a:extLst>
              <a:ext uri="{FF2B5EF4-FFF2-40B4-BE49-F238E27FC236}">
                <a16:creationId xmlns:a16="http://schemas.microsoft.com/office/drawing/2014/main" id="{72E64B2B-4096-4C7E-9271-1F2A230E62DF}"/>
              </a:ext>
            </a:extLst>
          </p:cNvPr>
          <p:cNvSpPr txBox="1">
            <a:spLocks noChangeArrowheads="1"/>
          </p:cNvSpPr>
          <p:nvPr/>
        </p:nvSpPr>
        <p:spPr bwMode="auto">
          <a:xfrm>
            <a:off x="6862763" y="4737100"/>
            <a:ext cx="18716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目的</a:t>
            </a:r>
            <a:r>
              <a:rPr lang="en-US" altLang="zh-CN" sz="1200">
                <a:latin typeface="Arial" panose="020B0604020202020204" pitchFamily="34" charset="0"/>
                <a:ea typeface="华文细黑" panose="02010600040101010101" pitchFamily="2" charset="-122"/>
              </a:rPr>
              <a:t>IP:63.5.8.1</a:t>
            </a:r>
          </a:p>
        </p:txBody>
      </p:sp>
      <p:sp>
        <p:nvSpPr>
          <p:cNvPr id="12331" name="AutoShape 55">
            <a:extLst>
              <a:ext uri="{FF2B5EF4-FFF2-40B4-BE49-F238E27FC236}">
                <a16:creationId xmlns:a16="http://schemas.microsoft.com/office/drawing/2014/main" id="{4C3B5A88-46FD-4782-B8AA-08D20670F238}"/>
              </a:ext>
            </a:extLst>
          </p:cNvPr>
          <p:cNvSpPr>
            <a:spLocks noChangeArrowheads="1"/>
          </p:cNvSpPr>
          <p:nvPr/>
        </p:nvSpPr>
        <p:spPr bwMode="auto">
          <a:xfrm rot="16200000" flipH="1">
            <a:off x="5939631" y="4437857"/>
            <a:ext cx="144463" cy="431800"/>
          </a:xfrm>
          <a:prstGeom prst="downArrow">
            <a:avLst>
              <a:gd name="adj1" fmla="val 50000"/>
              <a:gd name="adj2" fmla="val 74725"/>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32" name="AutoShape 56">
            <a:extLst>
              <a:ext uri="{FF2B5EF4-FFF2-40B4-BE49-F238E27FC236}">
                <a16:creationId xmlns:a16="http://schemas.microsoft.com/office/drawing/2014/main" id="{AF7EBDA9-B606-4E26-920C-19E416327172}"/>
              </a:ext>
            </a:extLst>
          </p:cNvPr>
          <p:cNvSpPr>
            <a:spLocks noChangeArrowheads="1"/>
          </p:cNvSpPr>
          <p:nvPr/>
        </p:nvSpPr>
        <p:spPr bwMode="auto">
          <a:xfrm rot="5400000" flipH="1">
            <a:off x="5939632" y="5372894"/>
            <a:ext cx="144462" cy="431800"/>
          </a:xfrm>
          <a:prstGeom prst="downArrow">
            <a:avLst>
              <a:gd name="adj1" fmla="val 50000"/>
              <a:gd name="adj2" fmla="val 74726"/>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33" name="AutoShape 57">
            <a:extLst>
              <a:ext uri="{FF2B5EF4-FFF2-40B4-BE49-F238E27FC236}">
                <a16:creationId xmlns:a16="http://schemas.microsoft.com/office/drawing/2014/main" id="{4830094E-C978-4D67-B372-35E049AF848A}"/>
              </a:ext>
            </a:extLst>
          </p:cNvPr>
          <p:cNvSpPr>
            <a:spLocks noChangeArrowheads="1"/>
          </p:cNvSpPr>
          <p:nvPr/>
        </p:nvSpPr>
        <p:spPr bwMode="auto">
          <a:xfrm rot="5400000" flipH="1">
            <a:off x="2770982" y="5372894"/>
            <a:ext cx="144462" cy="431800"/>
          </a:xfrm>
          <a:prstGeom prst="downArrow">
            <a:avLst>
              <a:gd name="adj1" fmla="val 50000"/>
              <a:gd name="adj2" fmla="val 74726"/>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34" name="Rectangle 58">
            <a:extLst>
              <a:ext uri="{FF2B5EF4-FFF2-40B4-BE49-F238E27FC236}">
                <a16:creationId xmlns:a16="http://schemas.microsoft.com/office/drawing/2014/main" id="{F10512AF-C935-4456-8442-74F8AB72C35D}"/>
              </a:ext>
            </a:extLst>
          </p:cNvPr>
          <p:cNvSpPr>
            <a:spLocks noChangeArrowheads="1"/>
          </p:cNvSpPr>
          <p:nvPr/>
        </p:nvSpPr>
        <p:spPr bwMode="auto">
          <a:xfrm>
            <a:off x="490538" y="5300663"/>
            <a:ext cx="1758950" cy="627062"/>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2335" name="Line 59">
            <a:extLst>
              <a:ext uri="{FF2B5EF4-FFF2-40B4-BE49-F238E27FC236}">
                <a16:creationId xmlns:a16="http://schemas.microsoft.com/office/drawing/2014/main" id="{43987DF4-A079-4ACF-8FCD-36513A95C93A}"/>
              </a:ext>
            </a:extLst>
          </p:cNvPr>
          <p:cNvSpPr>
            <a:spLocks noChangeShapeType="1"/>
          </p:cNvSpPr>
          <p:nvPr/>
        </p:nvSpPr>
        <p:spPr bwMode="auto">
          <a:xfrm flipV="1">
            <a:off x="468313" y="5626100"/>
            <a:ext cx="17811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336" name="Text Box 60">
            <a:extLst>
              <a:ext uri="{FF2B5EF4-FFF2-40B4-BE49-F238E27FC236}">
                <a16:creationId xmlns:a16="http://schemas.microsoft.com/office/drawing/2014/main" id="{F7BC960F-FAAA-44DF-81E9-2451C70F12BB}"/>
              </a:ext>
            </a:extLst>
          </p:cNvPr>
          <p:cNvSpPr txBox="1">
            <a:spLocks noChangeArrowheads="1"/>
          </p:cNvSpPr>
          <p:nvPr/>
        </p:nvSpPr>
        <p:spPr bwMode="auto">
          <a:xfrm>
            <a:off x="611188" y="5314950"/>
            <a:ext cx="18319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源</a:t>
            </a:r>
            <a:r>
              <a:rPr lang="en-US" altLang="zh-CN" sz="1200">
                <a:latin typeface="Arial" panose="020B0604020202020204" pitchFamily="34" charset="0"/>
                <a:ea typeface="华文细黑" panose="02010600040101010101" pitchFamily="2" charset="-122"/>
              </a:rPr>
              <a:t>IP:63.5.8.1   </a:t>
            </a:r>
          </a:p>
        </p:txBody>
      </p:sp>
      <p:sp>
        <p:nvSpPr>
          <p:cNvPr id="12337" name="Text Box 61">
            <a:extLst>
              <a:ext uri="{FF2B5EF4-FFF2-40B4-BE49-F238E27FC236}">
                <a16:creationId xmlns:a16="http://schemas.microsoft.com/office/drawing/2014/main" id="{6C4B5C9D-D639-4A29-8EED-26E9226F0FF0}"/>
              </a:ext>
            </a:extLst>
          </p:cNvPr>
          <p:cNvSpPr txBox="1">
            <a:spLocks noChangeArrowheads="1"/>
          </p:cNvSpPr>
          <p:nvPr/>
        </p:nvSpPr>
        <p:spPr bwMode="auto">
          <a:xfrm>
            <a:off x="395288" y="5661025"/>
            <a:ext cx="20161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华文细黑" panose="02010600040101010101" pitchFamily="2" charset="-122"/>
              </a:rPr>
              <a:t>    </a:t>
            </a:r>
            <a:r>
              <a:rPr lang="zh-CN" altLang="en-US" sz="1200">
                <a:latin typeface="Arial" panose="020B0604020202020204" pitchFamily="34" charset="0"/>
                <a:ea typeface="华文细黑" panose="02010600040101010101" pitchFamily="2" charset="-122"/>
              </a:rPr>
              <a:t>目的</a:t>
            </a:r>
            <a:r>
              <a:rPr lang="en-US" altLang="zh-CN" sz="1200">
                <a:latin typeface="Arial" panose="020B0604020202020204" pitchFamily="34" charset="0"/>
                <a:ea typeface="华文细黑" panose="02010600040101010101" pitchFamily="2" charset="-122"/>
              </a:rPr>
              <a:t>IP:192.168.1.7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4CB81D5-4095-4842-9749-045427C46A35}"/>
              </a:ext>
            </a:extLst>
          </p:cNvPr>
          <p:cNvSpPr>
            <a:spLocks noGrp="1" noChangeArrowheads="1"/>
          </p:cNvSpPr>
          <p:nvPr>
            <p:ph type="title" idx="4294967295"/>
          </p:nvPr>
        </p:nvSpPr>
        <p:spPr>
          <a:xfrm>
            <a:off x="395288" y="0"/>
            <a:ext cx="7499350" cy="777875"/>
          </a:xfrm>
        </p:spPr>
        <p:txBody>
          <a:bodyPr/>
          <a:lstStyle/>
          <a:p>
            <a:r>
              <a:rPr lang="en-US" altLang="zh-CN" sz="4000"/>
              <a:t>NAPT</a:t>
            </a:r>
            <a:r>
              <a:rPr lang="zh-CN" altLang="en-US" sz="4000"/>
              <a:t>工作原理</a:t>
            </a:r>
          </a:p>
        </p:txBody>
      </p:sp>
      <p:grpSp>
        <p:nvGrpSpPr>
          <p:cNvPr id="13315" name="Group 3">
            <a:extLst>
              <a:ext uri="{FF2B5EF4-FFF2-40B4-BE49-F238E27FC236}">
                <a16:creationId xmlns:a16="http://schemas.microsoft.com/office/drawing/2014/main" id="{368EA91E-9721-4F66-B341-854086312256}"/>
              </a:ext>
            </a:extLst>
          </p:cNvPr>
          <p:cNvGrpSpPr>
            <a:grpSpLocks/>
          </p:cNvGrpSpPr>
          <p:nvPr/>
        </p:nvGrpSpPr>
        <p:grpSpPr bwMode="auto">
          <a:xfrm>
            <a:off x="971550" y="981075"/>
            <a:ext cx="7200900" cy="1636713"/>
            <a:chOff x="340" y="618"/>
            <a:chExt cx="5190" cy="1180"/>
          </a:xfrm>
        </p:grpSpPr>
        <p:sp>
          <p:nvSpPr>
            <p:cNvPr id="13363" name="Freeform 4">
              <a:extLst>
                <a:ext uri="{FF2B5EF4-FFF2-40B4-BE49-F238E27FC236}">
                  <a16:creationId xmlns:a16="http://schemas.microsoft.com/office/drawing/2014/main" id="{6079E29F-FF68-402E-8E29-4C51186BCF54}"/>
                </a:ext>
              </a:extLst>
            </p:cNvPr>
            <p:cNvSpPr>
              <a:spLocks/>
            </p:cNvSpPr>
            <p:nvPr/>
          </p:nvSpPr>
          <p:spPr bwMode="auto">
            <a:xfrm>
              <a:off x="2880" y="1209"/>
              <a:ext cx="908" cy="47"/>
            </a:xfrm>
            <a:custGeom>
              <a:avLst/>
              <a:gdLst>
                <a:gd name="T0" fmla="*/ 0 w 2017"/>
                <a:gd name="T1" fmla="*/ 0 h 97"/>
                <a:gd name="T2" fmla="*/ 2 w 2017"/>
                <a:gd name="T3" fmla="*/ 0 h 97"/>
                <a:gd name="T4" fmla="*/ 2 w 2017"/>
                <a:gd name="T5" fmla="*/ 0 h 97"/>
                <a:gd name="T6" fmla="*/ 4 w 2017"/>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0099CC"/>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3364" name="Picture 5" descr="Router">
              <a:extLst>
                <a:ext uri="{FF2B5EF4-FFF2-40B4-BE49-F238E27FC236}">
                  <a16:creationId xmlns:a16="http://schemas.microsoft.com/office/drawing/2014/main" id="{200D53E1-DB53-427F-BB8B-D6BB3E648D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4" y="981"/>
              <a:ext cx="771"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65" name="Picture 6" descr="云-02">
              <a:extLst>
                <a:ext uri="{FF2B5EF4-FFF2-40B4-BE49-F238E27FC236}">
                  <a16:creationId xmlns:a16="http://schemas.microsoft.com/office/drawing/2014/main" id="{FE038441-06BD-4717-B23A-F8AA233B04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6" y="845"/>
              <a:ext cx="1152" cy="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66" name="Freeform 7">
              <a:extLst>
                <a:ext uri="{FF2B5EF4-FFF2-40B4-BE49-F238E27FC236}">
                  <a16:creationId xmlns:a16="http://schemas.microsoft.com/office/drawing/2014/main" id="{B6B7FA9B-82EC-471B-B133-52D0A76E0710}"/>
                </a:ext>
              </a:extLst>
            </p:cNvPr>
            <p:cNvSpPr>
              <a:spLocks/>
            </p:cNvSpPr>
            <p:nvPr/>
          </p:nvSpPr>
          <p:spPr bwMode="auto">
            <a:xfrm rot="2007198">
              <a:off x="4712" y="1344"/>
              <a:ext cx="499" cy="47"/>
            </a:xfrm>
            <a:custGeom>
              <a:avLst/>
              <a:gdLst>
                <a:gd name="T0" fmla="*/ 0 w 2017"/>
                <a:gd name="T1" fmla="*/ 0 h 97"/>
                <a:gd name="T2" fmla="*/ 0 w 2017"/>
                <a:gd name="T3" fmla="*/ 0 h 97"/>
                <a:gd name="T4" fmla="*/ 0 w 2017"/>
                <a:gd name="T5" fmla="*/ 0 h 97"/>
                <a:gd name="T6" fmla="*/ 0 w 2017"/>
                <a:gd name="T7" fmla="*/ 0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25400" cap="rnd" cmpd="sng">
              <a:solidFill>
                <a:srgbClr val="0099CC"/>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3367" name="Picture 8" descr="SEVER">
              <a:extLst>
                <a:ext uri="{FF2B5EF4-FFF2-40B4-BE49-F238E27FC236}">
                  <a16:creationId xmlns:a16="http://schemas.microsoft.com/office/drawing/2014/main" id="{04384344-D12C-4629-B598-1BCD2F4C8A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0" y="1072"/>
              <a:ext cx="410" cy="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68" name="Line 9">
              <a:extLst>
                <a:ext uri="{FF2B5EF4-FFF2-40B4-BE49-F238E27FC236}">
                  <a16:creationId xmlns:a16="http://schemas.microsoft.com/office/drawing/2014/main" id="{C3FD7D17-EE4C-4106-AC28-FC6CBAEB2600}"/>
                </a:ext>
              </a:extLst>
            </p:cNvPr>
            <p:cNvSpPr>
              <a:spLocks noChangeShapeType="1"/>
            </p:cNvSpPr>
            <p:nvPr/>
          </p:nvSpPr>
          <p:spPr bwMode="auto">
            <a:xfrm>
              <a:off x="1700" y="1162"/>
              <a:ext cx="453" cy="0"/>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3369" name="Line 10">
              <a:extLst>
                <a:ext uri="{FF2B5EF4-FFF2-40B4-BE49-F238E27FC236}">
                  <a16:creationId xmlns:a16="http://schemas.microsoft.com/office/drawing/2014/main" id="{E47A6822-5B45-4F06-971F-1E23DC453771}"/>
                </a:ext>
              </a:extLst>
            </p:cNvPr>
            <p:cNvSpPr>
              <a:spLocks noChangeShapeType="1"/>
            </p:cNvSpPr>
            <p:nvPr/>
          </p:nvSpPr>
          <p:spPr bwMode="auto">
            <a:xfrm>
              <a:off x="1700" y="618"/>
              <a:ext cx="0" cy="1133"/>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3370" name="Line 11">
              <a:extLst>
                <a:ext uri="{FF2B5EF4-FFF2-40B4-BE49-F238E27FC236}">
                  <a16:creationId xmlns:a16="http://schemas.microsoft.com/office/drawing/2014/main" id="{3D9325A7-0E03-43FB-A54D-4A4E6D8C79BF}"/>
                </a:ext>
              </a:extLst>
            </p:cNvPr>
            <p:cNvSpPr>
              <a:spLocks noChangeShapeType="1"/>
            </p:cNvSpPr>
            <p:nvPr/>
          </p:nvSpPr>
          <p:spPr bwMode="auto">
            <a:xfrm>
              <a:off x="839" y="845"/>
              <a:ext cx="862" cy="0"/>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13371" name="Line 12">
              <a:extLst>
                <a:ext uri="{FF2B5EF4-FFF2-40B4-BE49-F238E27FC236}">
                  <a16:creationId xmlns:a16="http://schemas.microsoft.com/office/drawing/2014/main" id="{83101C43-732C-45B5-B352-026BD8D2264C}"/>
                </a:ext>
              </a:extLst>
            </p:cNvPr>
            <p:cNvSpPr>
              <a:spLocks noChangeShapeType="1"/>
            </p:cNvSpPr>
            <p:nvPr/>
          </p:nvSpPr>
          <p:spPr bwMode="auto">
            <a:xfrm>
              <a:off x="839" y="1480"/>
              <a:ext cx="862" cy="0"/>
            </a:xfrm>
            <a:prstGeom prst="line">
              <a:avLst/>
            </a:prstGeom>
            <a:noFill/>
            <a:ln w="254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13372" name="Picture 13" descr="PC">
              <a:extLst>
                <a:ext uri="{FF2B5EF4-FFF2-40B4-BE49-F238E27FC236}">
                  <a16:creationId xmlns:a16="http://schemas.microsoft.com/office/drawing/2014/main" id="{97D6BF21-261E-4522-AB6D-B4487AEF51D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 y="618"/>
              <a:ext cx="544" cy="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73" name="Picture 14" descr="PC">
              <a:extLst>
                <a:ext uri="{FF2B5EF4-FFF2-40B4-BE49-F238E27FC236}">
                  <a16:creationId xmlns:a16="http://schemas.microsoft.com/office/drawing/2014/main" id="{87F0D630-908F-48C1-AD9D-9E48EE7E53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 y="1253"/>
              <a:ext cx="544" cy="4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74" name="Text Box 15">
              <a:extLst>
                <a:ext uri="{FF2B5EF4-FFF2-40B4-BE49-F238E27FC236}">
                  <a16:creationId xmlns:a16="http://schemas.microsoft.com/office/drawing/2014/main" id="{9031ADC9-50F9-470E-964A-837499DB5F9B}"/>
                </a:ext>
              </a:extLst>
            </p:cNvPr>
            <p:cNvSpPr txBox="1">
              <a:spLocks noChangeArrowheads="1"/>
            </p:cNvSpPr>
            <p:nvPr/>
          </p:nvSpPr>
          <p:spPr bwMode="auto">
            <a:xfrm>
              <a:off x="2790" y="799"/>
              <a:ext cx="725"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1200">
                  <a:latin typeface="Times New Roman" panose="02020603050405020304" pitchFamily="18" charset="0"/>
                  <a:ea typeface="宋体" panose="02010600030101010101" pitchFamily="2" charset="-122"/>
                </a:rPr>
                <a:t>200.8.7.3/24</a:t>
              </a:r>
            </a:p>
            <a:p>
              <a:pPr algn="ctr">
                <a:spcBef>
                  <a:spcPct val="50000"/>
                </a:spcBef>
                <a:buClrTx/>
                <a:buSzTx/>
                <a:buFontTx/>
                <a:buNone/>
              </a:pPr>
              <a:endParaRPr lang="en-US" altLang="zh-CN" sz="1200">
                <a:latin typeface="Times New Roman" panose="02020603050405020304" pitchFamily="18" charset="0"/>
                <a:ea typeface="宋体" panose="02010600030101010101" pitchFamily="2" charset="-122"/>
              </a:endParaRPr>
            </a:p>
          </p:txBody>
        </p:sp>
      </p:grpSp>
      <p:sp>
        <p:nvSpPr>
          <p:cNvPr id="13316" name="Text Box 16">
            <a:extLst>
              <a:ext uri="{FF2B5EF4-FFF2-40B4-BE49-F238E27FC236}">
                <a16:creationId xmlns:a16="http://schemas.microsoft.com/office/drawing/2014/main" id="{51D1456D-4FB6-42E7-8491-F7FF4CB6D35F}"/>
              </a:ext>
            </a:extLst>
          </p:cNvPr>
          <p:cNvSpPr txBox="1">
            <a:spLocks noChangeArrowheads="1"/>
          </p:cNvSpPr>
          <p:nvPr/>
        </p:nvSpPr>
        <p:spPr bwMode="auto">
          <a:xfrm>
            <a:off x="7596188" y="1412875"/>
            <a:ext cx="1152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1200">
                <a:latin typeface="Arial" panose="020B0604020202020204" pitchFamily="34" charset="0"/>
                <a:ea typeface="宋体" panose="02010600030101010101" pitchFamily="2" charset="-122"/>
              </a:rPr>
              <a:t>63.5.8.1</a:t>
            </a:r>
          </a:p>
        </p:txBody>
      </p:sp>
      <p:sp>
        <p:nvSpPr>
          <p:cNvPr id="13317" name="Text Box 17">
            <a:extLst>
              <a:ext uri="{FF2B5EF4-FFF2-40B4-BE49-F238E27FC236}">
                <a16:creationId xmlns:a16="http://schemas.microsoft.com/office/drawing/2014/main" id="{A55B139D-6362-4D09-AC40-AAF4C4C3139C}"/>
              </a:ext>
            </a:extLst>
          </p:cNvPr>
          <p:cNvSpPr txBox="1">
            <a:spLocks noChangeArrowheads="1"/>
          </p:cNvSpPr>
          <p:nvPr/>
        </p:nvSpPr>
        <p:spPr bwMode="auto">
          <a:xfrm>
            <a:off x="106363" y="1125538"/>
            <a:ext cx="11525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1200">
                <a:latin typeface="Arial" panose="020B0604020202020204" pitchFamily="34" charset="0"/>
                <a:ea typeface="宋体" panose="02010600030101010101" pitchFamily="2" charset="-122"/>
              </a:rPr>
              <a:t>192.168.1.5</a:t>
            </a:r>
          </a:p>
        </p:txBody>
      </p:sp>
      <p:sp>
        <p:nvSpPr>
          <p:cNvPr id="13318" name="Text Box 18">
            <a:extLst>
              <a:ext uri="{FF2B5EF4-FFF2-40B4-BE49-F238E27FC236}">
                <a16:creationId xmlns:a16="http://schemas.microsoft.com/office/drawing/2014/main" id="{237CAB14-9FC1-44A6-96AC-65F21FDCE727}"/>
              </a:ext>
            </a:extLst>
          </p:cNvPr>
          <p:cNvSpPr txBox="1">
            <a:spLocks noChangeArrowheads="1"/>
          </p:cNvSpPr>
          <p:nvPr/>
        </p:nvSpPr>
        <p:spPr bwMode="auto">
          <a:xfrm>
            <a:off x="106363" y="1989138"/>
            <a:ext cx="11525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1200">
                <a:latin typeface="Arial" panose="020B0604020202020204" pitchFamily="34" charset="0"/>
                <a:ea typeface="宋体" panose="02010600030101010101" pitchFamily="2" charset="-122"/>
              </a:rPr>
              <a:t>192.168.1.7</a:t>
            </a:r>
          </a:p>
        </p:txBody>
      </p:sp>
      <p:graphicFrame>
        <p:nvGraphicFramePr>
          <p:cNvPr id="159813" name="Group 69">
            <a:extLst>
              <a:ext uri="{FF2B5EF4-FFF2-40B4-BE49-F238E27FC236}">
                <a16:creationId xmlns:a16="http://schemas.microsoft.com/office/drawing/2014/main" id="{902C97E6-FE19-4293-9870-B662E11FE14B}"/>
              </a:ext>
            </a:extLst>
          </p:cNvPr>
          <p:cNvGraphicFramePr>
            <a:graphicFrameLocks noGrp="1"/>
          </p:cNvGraphicFramePr>
          <p:nvPr>
            <p:ph idx="4294967295"/>
          </p:nvPr>
        </p:nvGraphicFramePr>
        <p:xfrm>
          <a:off x="2339975" y="2636838"/>
          <a:ext cx="4238625" cy="1463675"/>
        </p:xfrm>
        <a:graphic>
          <a:graphicData uri="http://schemas.openxmlformats.org/drawingml/2006/table">
            <a:tbl>
              <a:tblPr/>
              <a:tblGrid>
                <a:gridCol w="2333625">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87892">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华文细黑" pitchFamily="2" charset="-122"/>
                          <a:ea typeface="华文细黑" pitchFamily="2" charset="-122"/>
                        </a:rPr>
                        <a:t>内部本地地址</a:t>
                      </a: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4001B"/>
                    </a:solid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zh-CN" altLang="en-US" sz="2000" b="1" i="0" u="none" strike="noStrike" cap="none" normalizeH="0" baseline="0">
                          <a:ln>
                            <a:noFill/>
                          </a:ln>
                          <a:solidFill>
                            <a:schemeClr val="bg1"/>
                          </a:solidFill>
                          <a:effectLst/>
                          <a:latin typeface="华文细黑" pitchFamily="2" charset="-122"/>
                          <a:ea typeface="华文细黑" pitchFamily="2" charset="-122"/>
                        </a:rPr>
                        <a:t>内部全局地址</a:t>
                      </a: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4001B"/>
                    </a:solidFill>
                  </a:tcPr>
                </a:tc>
                <a:extLst>
                  <a:ext uri="{0D108BD9-81ED-4DB2-BD59-A6C34878D82A}">
                    <a16:rowId xmlns:a16="http://schemas.microsoft.com/office/drawing/2014/main" val="10000"/>
                  </a:ext>
                </a:extLst>
              </a:tr>
              <a:tr h="487892">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华文细黑" pitchFamily="2" charset="-122"/>
                        </a:rPr>
                        <a:t>192.168.1.7:1024</a:t>
                      </a: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华文细黑" pitchFamily="2" charset="-122"/>
                        </a:rPr>
                        <a:t>200.8.7.3:1024</a:t>
                      </a: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87892">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华文细黑" pitchFamily="2" charset="-122"/>
                        </a:rPr>
                        <a:t>192.168.1.5:1136</a:t>
                      </a:r>
                    </a:p>
                  </a:txBody>
                  <a:tcPr marT="45740" marB="457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30000"/>
                        </a:lnSpc>
                        <a:spcBef>
                          <a:spcPct val="0"/>
                        </a:spcBef>
                        <a:spcAft>
                          <a:spcPct val="0"/>
                        </a:spcAft>
                        <a:buClrTx/>
                        <a:buSzTx/>
                        <a:buFontTx/>
                        <a:buNone/>
                        <a:tabLst/>
                      </a:pPr>
                      <a:r>
                        <a:rPr kumimoji="0" lang="en-US" altLang="zh-CN" sz="2000" b="0" i="0" u="none" strike="noStrike" cap="none" normalizeH="0" baseline="0">
                          <a:ln>
                            <a:noFill/>
                          </a:ln>
                          <a:solidFill>
                            <a:schemeClr val="tx1"/>
                          </a:solidFill>
                          <a:effectLst/>
                          <a:latin typeface="Arial" charset="0"/>
                          <a:ea typeface="华文细黑" pitchFamily="2" charset="-122"/>
                        </a:rPr>
                        <a:t>200.8.7.3:1136</a:t>
                      </a:r>
                    </a:p>
                  </a:txBody>
                  <a:tcPr marT="45740" marB="457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3333" name="Text Box 64">
            <a:extLst>
              <a:ext uri="{FF2B5EF4-FFF2-40B4-BE49-F238E27FC236}">
                <a16:creationId xmlns:a16="http://schemas.microsoft.com/office/drawing/2014/main" id="{B99D45A5-E404-4AA2-8913-DDD1D3036C76}"/>
              </a:ext>
            </a:extLst>
          </p:cNvPr>
          <p:cNvSpPr txBox="1">
            <a:spLocks noChangeArrowheads="1"/>
          </p:cNvSpPr>
          <p:nvPr/>
        </p:nvSpPr>
        <p:spPr bwMode="auto">
          <a:xfrm>
            <a:off x="7740650" y="2362200"/>
            <a:ext cx="1152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en-US" altLang="zh-CN" sz="1200">
                <a:latin typeface="Arial" panose="020B0604020202020204" pitchFamily="34" charset="0"/>
                <a:ea typeface="宋体" panose="02010600030101010101" pitchFamily="2" charset="-122"/>
              </a:rPr>
              <a:t>Web</a:t>
            </a:r>
            <a:r>
              <a:rPr lang="zh-CN" altLang="en-US" sz="1200">
                <a:latin typeface="Arial" panose="020B0604020202020204" pitchFamily="34" charset="0"/>
                <a:ea typeface="宋体" panose="02010600030101010101" pitchFamily="2" charset="-122"/>
              </a:rPr>
              <a:t>服务</a:t>
            </a:r>
          </a:p>
        </p:txBody>
      </p:sp>
      <p:sp>
        <p:nvSpPr>
          <p:cNvPr id="13334" name="Rectangle 19">
            <a:extLst>
              <a:ext uri="{FF2B5EF4-FFF2-40B4-BE49-F238E27FC236}">
                <a16:creationId xmlns:a16="http://schemas.microsoft.com/office/drawing/2014/main" id="{378FADAB-D869-4182-9A6E-12BE6EABFECF}"/>
              </a:ext>
            </a:extLst>
          </p:cNvPr>
          <p:cNvSpPr>
            <a:spLocks noChangeArrowheads="1"/>
          </p:cNvSpPr>
          <p:nvPr/>
        </p:nvSpPr>
        <p:spPr bwMode="auto">
          <a:xfrm>
            <a:off x="412750" y="4365625"/>
            <a:ext cx="1768475" cy="719138"/>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35" name="Line 20">
            <a:extLst>
              <a:ext uri="{FF2B5EF4-FFF2-40B4-BE49-F238E27FC236}">
                <a16:creationId xmlns:a16="http://schemas.microsoft.com/office/drawing/2014/main" id="{CAB2FF2A-33D6-4828-BBA7-DF10A3A7057A}"/>
              </a:ext>
            </a:extLst>
          </p:cNvPr>
          <p:cNvSpPr>
            <a:spLocks noChangeShapeType="1"/>
          </p:cNvSpPr>
          <p:nvPr/>
        </p:nvSpPr>
        <p:spPr bwMode="auto">
          <a:xfrm>
            <a:off x="412750" y="4738688"/>
            <a:ext cx="1768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6" name="Text Box 21">
            <a:extLst>
              <a:ext uri="{FF2B5EF4-FFF2-40B4-BE49-F238E27FC236}">
                <a16:creationId xmlns:a16="http://schemas.microsoft.com/office/drawing/2014/main" id="{DD1C65C4-B465-46C2-8F76-9C22C0AE88BF}"/>
              </a:ext>
            </a:extLst>
          </p:cNvPr>
          <p:cNvSpPr txBox="1">
            <a:spLocks noChangeArrowheads="1"/>
          </p:cNvSpPr>
          <p:nvPr/>
        </p:nvSpPr>
        <p:spPr bwMode="auto">
          <a:xfrm>
            <a:off x="412750" y="4381500"/>
            <a:ext cx="17684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a:spcBef>
                <a:spcPct val="50000"/>
              </a:spcBef>
              <a:buClrTx/>
              <a:buSzTx/>
              <a:buFontTx/>
              <a:buNone/>
            </a:pPr>
            <a:r>
              <a:rPr lang="zh-CN" altLang="en-US" sz="1200">
                <a:latin typeface="Arial" panose="020B0604020202020204" pitchFamily="34" charset="0"/>
                <a:ea typeface="宋体" panose="02010600030101010101" pitchFamily="2" charset="-122"/>
              </a:rPr>
              <a:t>源</a:t>
            </a:r>
            <a:r>
              <a:rPr lang="en-US" altLang="zh-CN" sz="1200">
                <a:latin typeface="Arial" panose="020B0604020202020204" pitchFamily="34" charset="0"/>
                <a:ea typeface="宋体" panose="02010600030101010101" pitchFamily="2" charset="-122"/>
              </a:rPr>
              <a:t>IP:192.168.1.7:1024</a:t>
            </a:r>
          </a:p>
        </p:txBody>
      </p:sp>
      <p:sp>
        <p:nvSpPr>
          <p:cNvPr id="13337" name="Text Box 22">
            <a:extLst>
              <a:ext uri="{FF2B5EF4-FFF2-40B4-BE49-F238E27FC236}">
                <a16:creationId xmlns:a16="http://schemas.microsoft.com/office/drawing/2014/main" id="{FF138906-7671-4BA4-A1B7-2AF9BF8DBB60}"/>
              </a:ext>
            </a:extLst>
          </p:cNvPr>
          <p:cNvSpPr txBox="1">
            <a:spLocks noChangeArrowheads="1"/>
          </p:cNvSpPr>
          <p:nvPr/>
        </p:nvSpPr>
        <p:spPr bwMode="auto">
          <a:xfrm>
            <a:off x="323850" y="4765675"/>
            <a:ext cx="19446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目的</a:t>
            </a:r>
            <a:r>
              <a:rPr lang="en-US" altLang="zh-CN" sz="1200">
                <a:latin typeface="Arial" panose="020B0604020202020204" pitchFamily="34" charset="0"/>
                <a:ea typeface="宋体" panose="02010600030101010101" pitchFamily="2" charset="-122"/>
              </a:rPr>
              <a:t>IP:63.5.8.1:80</a:t>
            </a:r>
          </a:p>
        </p:txBody>
      </p:sp>
      <p:sp>
        <p:nvSpPr>
          <p:cNvPr id="13338" name="Rectangle 51">
            <a:extLst>
              <a:ext uri="{FF2B5EF4-FFF2-40B4-BE49-F238E27FC236}">
                <a16:creationId xmlns:a16="http://schemas.microsoft.com/office/drawing/2014/main" id="{0F06C4C3-89A1-45B1-8678-53C42B3796DA}"/>
              </a:ext>
            </a:extLst>
          </p:cNvPr>
          <p:cNvSpPr>
            <a:spLocks noChangeArrowheads="1"/>
          </p:cNvSpPr>
          <p:nvPr/>
        </p:nvSpPr>
        <p:spPr bwMode="auto">
          <a:xfrm>
            <a:off x="3370263" y="4365625"/>
            <a:ext cx="1831975" cy="647700"/>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39" name="Line 52">
            <a:extLst>
              <a:ext uri="{FF2B5EF4-FFF2-40B4-BE49-F238E27FC236}">
                <a16:creationId xmlns:a16="http://schemas.microsoft.com/office/drawing/2014/main" id="{6D3414FC-9AD8-433A-9F5A-5ADC5F0F6AF4}"/>
              </a:ext>
            </a:extLst>
          </p:cNvPr>
          <p:cNvSpPr>
            <a:spLocks noChangeShapeType="1"/>
          </p:cNvSpPr>
          <p:nvPr/>
        </p:nvSpPr>
        <p:spPr bwMode="auto">
          <a:xfrm>
            <a:off x="3370263" y="4702175"/>
            <a:ext cx="183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0" name="Text Box 53">
            <a:extLst>
              <a:ext uri="{FF2B5EF4-FFF2-40B4-BE49-F238E27FC236}">
                <a16:creationId xmlns:a16="http://schemas.microsoft.com/office/drawing/2014/main" id="{96A3DA28-6EFB-401C-90E9-199EE082A7FA}"/>
              </a:ext>
            </a:extLst>
          </p:cNvPr>
          <p:cNvSpPr txBox="1">
            <a:spLocks noChangeArrowheads="1"/>
          </p:cNvSpPr>
          <p:nvPr/>
        </p:nvSpPr>
        <p:spPr bwMode="auto">
          <a:xfrm>
            <a:off x="3370263" y="4379913"/>
            <a:ext cx="18319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源</a:t>
            </a:r>
            <a:r>
              <a:rPr lang="en-US" altLang="zh-CN" sz="1200">
                <a:latin typeface="Arial" panose="020B0604020202020204" pitchFamily="34" charset="0"/>
                <a:ea typeface="宋体" panose="02010600030101010101" pitchFamily="2" charset="-122"/>
              </a:rPr>
              <a:t>IP:200.8.7.3:1024   </a:t>
            </a:r>
          </a:p>
        </p:txBody>
      </p:sp>
      <p:sp>
        <p:nvSpPr>
          <p:cNvPr id="13341" name="Text Box 54">
            <a:extLst>
              <a:ext uri="{FF2B5EF4-FFF2-40B4-BE49-F238E27FC236}">
                <a16:creationId xmlns:a16="http://schemas.microsoft.com/office/drawing/2014/main" id="{0FBA8773-0331-433F-B0D7-27CA91414DBF}"/>
              </a:ext>
            </a:extLst>
          </p:cNvPr>
          <p:cNvSpPr txBox="1">
            <a:spLocks noChangeArrowheads="1"/>
          </p:cNvSpPr>
          <p:nvPr/>
        </p:nvSpPr>
        <p:spPr bwMode="auto">
          <a:xfrm>
            <a:off x="3276600" y="4725988"/>
            <a:ext cx="20161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目的</a:t>
            </a:r>
            <a:r>
              <a:rPr lang="en-US" altLang="zh-CN" sz="1200">
                <a:latin typeface="Arial" panose="020B0604020202020204" pitchFamily="34" charset="0"/>
                <a:ea typeface="宋体" panose="02010600030101010101" pitchFamily="2" charset="-122"/>
              </a:rPr>
              <a:t>IP:63.5.8.1:80</a:t>
            </a:r>
          </a:p>
        </p:txBody>
      </p:sp>
      <p:sp>
        <p:nvSpPr>
          <p:cNvPr id="13342" name="Rectangle 55">
            <a:extLst>
              <a:ext uri="{FF2B5EF4-FFF2-40B4-BE49-F238E27FC236}">
                <a16:creationId xmlns:a16="http://schemas.microsoft.com/office/drawing/2014/main" id="{ADCAF1A2-158C-400A-BE9E-11AD16E2CB63}"/>
              </a:ext>
            </a:extLst>
          </p:cNvPr>
          <p:cNvSpPr>
            <a:spLocks noChangeArrowheads="1"/>
          </p:cNvSpPr>
          <p:nvPr/>
        </p:nvSpPr>
        <p:spPr bwMode="auto">
          <a:xfrm>
            <a:off x="6818313" y="5303838"/>
            <a:ext cx="1703387" cy="646112"/>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43" name="Line 56">
            <a:extLst>
              <a:ext uri="{FF2B5EF4-FFF2-40B4-BE49-F238E27FC236}">
                <a16:creationId xmlns:a16="http://schemas.microsoft.com/office/drawing/2014/main" id="{D9862B53-B66B-44E3-857B-791B97EF8CB2}"/>
              </a:ext>
            </a:extLst>
          </p:cNvPr>
          <p:cNvSpPr>
            <a:spLocks noChangeShapeType="1"/>
          </p:cNvSpPr>
          <p:nvPr/>
        </p:nvSpPr>
        <p:spPr bwMode="auto">
          <a:xfrm>
            <a:off x="6818313" y="5638800"/>
            <a:ext cx="17033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4" name="Text Box 57">
            <a:extLst>
              <a:ext uri="{FF2B5EF4-FFF2-40B4-BE49-F238E27FC236}">
                <a16:creationId xmlns:a16="http://schemas.microsoft.com/office/drawing/2014/main" id="{492F7233-49C4-46FC-9B18-36E9BDCC4A95}"/>
              </a:ext>
            </a:extLst>
          </p:cNvPr>
          <p:cNvSpPr txBox="1">
            <a:spLocks noChangeArrowheads="1"/>
          </p:cNvSpPr>
          <p:nvPr/>
        </p:nvSpPr>
        <p:spPr bwMode="auto">
          <a:xfrm>
            <a:off x="6818313" y="5318125"/>
            <a:ext cx="17033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源</a:t>
            </a:r>
            <a:r>
              <a:rPr lang="en-US" altLang="zh-CN" sz="1200">
                <a:latin typeface="Arial" panose="020B0604020202020204" pitchFamily="34" charset="0"/>
                <a:ea typeface="宋体" panose="02010600030101010101" pitchFamily="2" charset="-122"/>
              </a:rPr>
              <a:t>IP:63.5.8.1:80   </a:t>
            </a:r>
          </a:p>
        </p:txBody>
      </p:sp>
      <p:sp>
        <p:nvSpPr>
          <p:cNvPr id="13345" name="Text Box 58">
            <a:extLst>
              <a:ext uri="{FF2B5EF4-FFF2-40B4-BE49-F238E27FC236}">
                <a16:creationId xmlns:a16="http://schemas.microsoft.com/office/drawing/2014/main" id="{D5B7F590-2481-4C0C-90AD-04F5CD623218}"/>
              </a:ext>
            </a:extLst>
          </p:cNvPr>
          <p:cNvSpPr txBox="1">
            <a:spLocks noChangeArrowheads="1"/>
          </p:cNvSpPr>
          <p:nvPr/>
        </p:nvSpPr>
        <p:spPr bwMode="auto">
          <a:xfrm>
            <a:off x="6732588" y="5662613"/>
            <a:ext cx="1873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目的</a:t>
            </a:r>
            <a:r>
              <a:rPr lang="en-US" altLang="zh-CN" sz="1200">
                <a:latin typeface="Arial" panose="020B0604020202020204" pitchFamily="34" charset="0"/>
                <a:ea typeface="宋体" panose="02010600030101010101" pitchFamily="2" charset="-122"/>
              </a:rPr>
              <a:t>IP:200.8.7.3:1024</a:t>
            </a:r>
          </a:p>
        </p:txBody>
      </p:sp>
      <p:sp>
        <p:nvSpPr>
          <p:cNvPr id="13346" name="AutoShape 59">
            <a:extLst>
              <a:ext uri="{FF2B5EF4-FFF2-40B4-BE49-F238E27FC236}">
                <a16:creationId xmlns:a16="http://schemas.microsoft.com/office/drawing/2014/main" id="{85259FAD-B15C-4BCE-BD94-2296D763AFBB}"/>
              </a:ext>
            </a:extLst>
          </p:cNvPr>
          <p:cNvSpPr>
            <a:spLocks noChangeArrowheads="1"/>
          </p:cNvSpPr>
          <p:nvPr/>
        </p:nvSpPr>
        <p:spPr bwMode="auto">
          <a:xfrm>
            <a:off x="7524750" y="4940300"/>
            <a:ext cx="144463" cy="360363"/>
          </a:xfrm>
          <a:prstGeom prst="downArrow">
            <a:avLst>
              <a:gd name="adj1" fmla="val 50000"/>
              <a:gd name="adj2" fmla="val 62363"/>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47" name="Rectangle 60">
            <a:extLst>
              <a:ext uri="{FF2B5EF4-FFF2-40B4-BE49-F238E27FC236}">
                <a16:creationId xmlns:a16="http://schemas.microsoft.com/office/drawing/2014/main" id="{A887A376-4414-4C0F-9FF1-83ABEFF91495}"/>
              </a:ext>
            </a:extLst>
          </p:cNvPr>
          <p:cNvSpPr>
            <a:spLocks noChangeArrowheads="1"/>
          </p:cNvSpPr>
          <p:nvPr/>
        </p:nvSpPr>
        <p:spPr bwMode="auto">
          <a:xfrm>
            <a:off x="3370263" y="5300663"/>
            <a:ext cx="1831975" cy="627062"/>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48" name="Line 61">
            <a:extLst>
              <a:ext uri="{FF2B5EF4-FFF2-40B4-BE49-F238E27FC236}">
                <a16:creationId xmlns:a16="http://schemas.microsoft.com/office/drawing/2014/main" id="{E9B141E8-94B3-42E3-B52B-6494F5EC9C84}"/>
              </a:ext>
            </a:extLst>
          </p:cNvPr>
          <p:cNvSpPr>
            <a:spLocks noChangeShapeType="1"/>
          </p:cNvSpPr>
          <p:nvPr/>
        </p:nvSpPr>
        <p:spPr bwMode="auto">
          <a:xfrm>
            <a:off x="3370263" y="5626100"/>
            <a:ext cx="18319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49" name="Text Box 62">
            <a:extLst>
              <a:ext uri="{FF2B5EF4-FFF2-40B4-BE49-F238E27FC236}">
                <a16:creationId xmlns:a16="http://schemas.microsoft.com/office/drawing/2014/main" id="{2433DD2C-1941-4DDD-A30A-6C701709E966}"/>
              </a:ext>
            </a:extLst>
          </p:cNvPr>
          <p:cNvSpPr txBox="1">
            <a:spLocks noChangeArrowheads="1"/>
          </p:cNvSpPr>
          <p:nvPr/>
        </p:nvSpPr>
        <p:spPr bwMode="auto">
          <a:xfrm>
            <a:off x="3370263" y="5314950"/>
            <a:ext cx="18319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源</a:t>
            </a:r>
            <a:r>
              <a:rPr lang="en-US" altLang="zh-CN" sz="1200">
                <a:latin typeface="Arial" panose="020B0604020202020204" pitchFamily="34" charset="0"/>
                <a:ea typeface="宋体" panose="02010600030101010101" pitchFamily="2" charset="-122"/>
              </a:rPr>
              <a:t>IP:63.5.8.1 :80  </a:t>
            </a:r>
          </a:p>
        </p:txBody>
      </p:sp>
      <p:sp>
        <p:nvSpPr>
          <p:cNvPr id="13350" name="Text Box 63">
            <a:extLst>
              <a:ext uri="{FF2B5EF4-FFF2-40B4-BE49-F238E27FC236}">
                <a16:creationId xmlns:a16="http://schemas.microsoft.com/office/drawing/2014/main" id="{FDCFE4EC-F791-43AE-A226-897E7851E5B9}"/>
              </a:ext>
            </a:extLst>
          </p:cNvPr>
          <p:cNvSpPr txBox="1">
            <a:spLocks noChangeArrowheads="1"/>
          </p:cNvSpPr>
          <p:nvPr/>
        </p:nvSpPr>
        <p:spPr bwMode="auto">
          <a:xfrm>
            <a:off x="3276600" y="5649913"/>
            <a:ext cx="20161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目的</a:t>
            </a:r>
            <a:r>
              <a:rPr lang="en-US" altLang="zh-CN" sz="1200">
                <a:latin typeface="Arial" panose="020B0604020202020204" pitchFamily="34" charset="0"/>
                <a:ea typeface="宋体" panose="02010600030101010101" pitchFamily="2" charset="-122"/>
              </a:rPr>
              <a:t>IP:192.168.1.7:1024</a:t>
            </a:r>
          </a:p>
        </p:txBody>
      </p:sp>
      <p:sp>
        <p:nvSpPr>
          <p:cNvPr id="13351" name="AutoShape 65">
            <a:extLst>
              <a:ext uri="{FF2B5EF4-FFF2-40B4-BE49-F238E27FC236}">
                <a16:creationId xmlns:a16="http://schemas.microsoft.com/office/drawing/2014/main" id="{1468BB19-24F6-4343-8710-71914C977D6C}"/>
              </a:ext>
            </a:extLst>
          </p:cNvPr>
          <p:cNvSpPr>
            <a:spLocks noChangeArrowheads="1"/>
          </p:cNvSpPr>
          <p:nvPr/>
        </p:nvSpPr>
        <p:spPr bwMode="auto">
          <a:xfrm rot="16200000" flipH="1">
            <a:off x="2699544" y="4509294"/>
            <a:ext cx="144462" cy="431800"/>
          </a:xfrm>
          <a:prstGeom prst="downArrow">
            <a:avLst>
              <a:gd name="adj1" fmla="val 50000"/>
              <a:gd name="adj2" fmla="val 74726"/>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52" name="Rectangle 66">
            <a:extLst>
              <a:ext uri="{FF2B5EF4-FFF2-40B4-BE49-F238E27FC236}">
                <a16:creationId xmlns:a16="http://schemas.microsoft.com/office/drawing/2014/main" id="{A76E99FD-DBA9-4A95-B061-DA7C2A713E22}"/>
              </a:ext>
            </a:extLst>
          </p:cNvPr>
          <p:cNvSpPr>
            <a:spLocks noChangeArrowheads="1"/>
          </p:cNvSpPr>
          <p:nvPr/>
        </p:nvSpPr>
        <p:spPr bwMode="auto">
          <a:xfrm>
            <a:off x="6819900" y="4365625"/>
            <a:ext cx="1701800" cy="647700"/>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53" name="Line 67">
            <a:extLst>
              <a:ext uri="{FF2B5EF4-FFF2-40B4-BE49-F238E27FC236}">
                <a16:creationId xmlns:a16="http://schemas.microsoft.com/office/drawing/2014/main" id="{363BB2D9-46CC-4734-A862-EBE9A209A683}"/>
              </a:ext>
            </a:extLst>
          </p:cNvPr>
          <p:cNvSpPr>
            <a:spLocks noChangeShapeType="1"/>
          </p:cNvSpPr>
          <p:nvPr/>
        </p:nvSpPr>
        <p:spPr bwMode="auto">
          <a:xfrm>
            <a:off x="6819900" y="4702175"/>
            <a:ext cx="1701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54" name="Text Box 68">
            <a:extLst>
              <a:ext uri="{FF2B5EF4-FFF2-40B4-BE49-F238E27FC236}">
                <a16:creationId xmlns:a16="http://schemas.microsoft.com/office/drawing/2014/main" id="{FDA5E251-392A-4816-ADF9-8D2FA23F5C11}"/>
              </a:ext>
            </a:extLst>
          </p:cNvPr>
          <p:cNvSpPr txBox="1">
            <a:spLocks noChangeArrowheads="1"/>
          </p:cNvSpPr>
          <p:nvPr/>
        </p:nvSpPr>
        <p:spPr bwMode="auto">
          <a:xfrm>
            <a:off x="6819900" y="4379913"/>
            <a:ext cx="1701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源</a:t>
            </a:r>
            <a:r>
              <a:rPr lang="en-US" altLang="zh-CN" sz="1200">
                <a:latin typeface="Arial" panose="020B0604020202020204" pitchFamily="34" charset="0"/>
                <a:ea typeface="宋体" panose="02010600030101010101" pitchFamily="2" charset="-122"/>
              </a:rPr>
              <a:t>IP:200.8.7.3:1024   </a:t>
            </a:r>
          </a:p>
        </p:txBody>
      </p:sp>
      <p:sp>
        <p:nvSpPr>
          <p:cNvPr id="13355" name="Text Box 69">
            <a:extLst>
              <a:ext uri="{FF2B5EF4-FFF2-40B4-BE49-F238E27FC236}">
                <a16:creationId xmlns:a16="http://schemas.microsoft.com/office/drawing/2014/main" id="{82F23869-A7E9-4430-9D91-1E9D15F1FE7A}"/>
              </a:ext>
            </a:extLst>
          </p:cNvPr>
          <p:cNvSpPr txBox="1">
            <a:spLocks noChangeArrowheads="1"/>
          </p:cNvSpPr>
          <p:nvPr/>
        </p:nvSpPr>
        <p:spPr bwMode="auto">
          <a:xfrm>
            <a:off x="6734175" y="4725988"/>
            <a:ext cx="18716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目的</a:t>
            </a:r>
            <a:r>
              <a:rPr lang="en-US" altLang="zh-CN" sz="1200">
                <a:latin typeface="Arial" panose="020B0604020202020204" pitchFamily="34" charset="0"/>
                <a:ea typeface="宋体" panose="02010600030101010101" pitchFamily="2" charset="-122"/>
              </a:rPr>
              <a:t>IP:63.5.8.1:80</a:t>
            </a:r>
          </a:p>
        </p:txBody>
      </p:sp>
      <p:sp>
        <p:nvSpPr>
          <p:cNvPr id="13356" name="AutoShape 70">
            <a:extLst>
              <a:ext uri="{FF2B5EF4-FFF2-40B4-BE49-F238E27FC236}">
                <a16:creationId xmlns:a16="http://schemas.microsoft.com/office/drawing/2014/main" id="{B5D9057F-8FCD-4AA7-8504-528BABBB6963}"/>
              </a:ext>
            </a:extLst>
          </p:cNvPr>
          <p:cNvSpPr>
            <a:spLocks noChangeArrowheads="1"/>
          </p:cNvSpPr>
          <p:nvPr/>
        </p:nvSpPr>
        <p:spPr bwMode="auto">
          <a:xfrm rot="16200000" flipH="1">
            <a:off x="5795168" y="4437857"/>
            <a:ext cx="144463" cy="431800"/>
          </a:xfrm>
          <a:prstGeom prst="downArrow">
            <a:avLst>
              <a:gd name="adj1" fmla="val 50000"/>
              <a:gd name="adj2" fmla="val 74725"/>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57" name="AutoShape 71">
            <a:extLst>
              <a:ext uri="{FF2B5EF4-FFF2-40B4-BE49-F238E27FC236}">
                <a16:creationId xmlns:a16="http://schemas.microsoft.com/office/drawing/2014/main" id="{D05CE94F-C1E4-46A6-9649-267C36F031BB}"/>
              </a:ext>
            </a:extLst>
          </p:cNvPr>
          <p:cNvSpPr>
            <a:spLocks noChangeArrowheads="1"/>
          </p:cNvSpPr>
          <p:nvPr/>
        </p:nvSpPr>
        <p:spPr bwMode="auto">
          <a:xfrm rot="5400000" flipH="1">
            <a:off x="5795169" y="5372894"/>
            <a:ext cx="144462" cy="431800"/>
          </a:xfrm>
          <a:prstGeom prst="downArrow">
            <a:avLst>
              <a:gd name="adj1" fmla="val 50000"/>
              <a:gd name="adj2" fmla="val 74726"/>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58" name="AutoShape 72">
            <a:extLst>
              <a:ext uri="{FF2B5EF4-FFF2-40B4-BE49-F238E27FC236}">
                <a16:creationId xmlns:a16="http://schemas.microsoft.com/office/drawing/2014/main" id="{33175B49-81C7-4407-B51F-BE60AAD51FC4}"/>
              </a:ext>
            </a:extLst>
          </p:cNvPr>
          <p:cNvSpPr>
            <a:spLocks noChangeArrowheads="1"/>
          </p:cNvSpPr>
          <p:nvPr/>
        </p:nvSpPr>
        <p:spPr bwMode="auto">
          <a:xfrm rot="5400000" flipH="1">
            <a:off x="2699544" y="5372894"/>
            <a:ext cx="144462" cy="431800"/>
          </a:xfrm>
          <a:prstGeom prst="downArrow">
            <a:avLst>
              <a:gd name="adj1" fmla="val 50000"/>
              <a:gd name="adj2" fmla="val 74726"/>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59" name="Rectangle 73">
            <a:extLst>
              <a:ext uri="{FF2B5EF4-FFF2-40B4-BE49-F238E27FC236}">
                <a16:creationId xmlns:a16="http://schemas.microsoft.com/office/drawing/2014/main" id="{6616F361-6577-4491-A0EE-E9F2B3167BB9}"/>
              </a:ext>
            </a:extLst>
          </p:cNvPr>
          <p:cNvSpPr>
            <a:spLocks noChangeArrowheads="1"/>
          </p:cNvSpPr>
          <p:nvPr/>
        </p:nvSpPr>
        <p:spPr bwMode="auto">
          <a:xfrm>
            <a:off x="412750" y="5300663"/>
            <a:ext cx="1768475" cy="627062"/>
          </a:xfrm>
          <a:prstGeom prst="rect">
            <a:avLst/>
          </a:prstGeom>
          <a:solidFill>
            <a:srgbClr val="CED3DE">
              <a:alpha val="70195"/>
            </a:srgbClr>
          </a:solidFill>
          <a:ln w="9525">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3360" name="Line 74">
            <a:extLst>
              <a:ext uri="{FF2B5EF4-FFF2-40B4-BE49-F238E27FC236}">
                <a16:creationId xmlns:a16="http://schemas.microsoft.com/office/drawing/2014/main" id="{F6873F77-5830-4427-B3CC-3C9685152E92}"/>
              </a:ext>
            </a:extLst>
          </p:cNvPr>
          <p:cNvSpPr>
            <a:spLocks noChangeShapeType="1"/>
          </p:cNvSpPr>
          <p:nvPr/>
        </p:nvSpPr>
        <p:spPr bwMode="auto">
          <a:xfrm>
            <a:off x="412750" y="5626100"/>
            <a:ext cx="176847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1" name="Text Box 75">
            <a:extLst>
              <a:ext uri="{FF2B5EF4-FFF2-40B4-BE49-F238E27FC236}">
                <a16:creationId xmlns:a16="http://schemas.microsoft.com/office/drawing/2014/main" id="{88057BC9-808C-4C4C-9F4B-94F92C93C173}"/>
              </a:ext>
            </a:extLst>
          </p:cNvPr>
          <p:cNvSpPr txBox="1">
            <a:spLocks noChangeArrowheads="1"/>
          </p:cNvSpPr>
          <p:nvPr/>
        </p:nvSpPr>
        <p:spPr bwMode="auto">
          <a:xfrm>
            <a:off x="412750" y="5314950"/>
            <a:ext cx="17684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源</a:t>
            </a:r>
            <a:r>
              <a:rPr lang="en-US" altLang="zh-CN" sz="1200">
                <a:latin typeface="Arial" panose="020B0604020202020204" pitchFamily="34" charset="0"/>
                <a:ea typeface="宋体" panose="02010600030101010101" pitchFamily="2" charset="-122"/>
              </a:rPr>
              <a:t>IP:63.5.8.1 :80  </a:t>
            </a:r>
          </a:p>
        </p:txBody>
      </p:sp>
      <p:sp>
        <p:nvSpPr>
          <p:cNvPr id="13362" name="Text Box 76">
            <a:extLst>
              <a:ext uri="{FF2B5EF4-FFF2-40B4-BE49-F238E27FC236}">
                <a16:creationId xmlns:a16="http://schemas.microsoft.com/office/drawing/2014/main" id="{3F8B79CB-B200-4F34-AE84-6F502AE417BA}"/>
              </a:ext>
            </a:extLst>
          </p:cNvPr>
          <p:cNvSpPr txBox="1">
            <a:spLocks noChangeArrowheads="1"/>
          </p:cNvSpPr>
          <p:nvPr/>
        </p:nvSpPr>
        <p:spPr bwMode="auto">
          <a:xfrm>
            <a:off x="250825" y="5649913"/>
            <a:ext cx="21605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50000"/>
              </a:spcBef>
              <a:buClrTx/>
              <a:buSzTx/>
              <a:buFontTx/>
              <a:buNone/>
            </a:pPr>
            <a:r>
              <a:rPr lang="en-US" altLang="zh-CN" sz="1200">
                <a:latin typeface="Arial" panose="020B0604020202020204" pitchFamily="34" charset="0"/>
                <a:ea typeface="宋体" panose="02010600030101010101" pitchFamily="2" charset="-122"/>
              </a:rPr>
              <a:t>  </a:t>
            </a:r>
            <a:r>
              <a:rPr lang="zh-CN" altLang="en-US" sz="1200">
                <a:latin typeface="Arial" panose="020B0604020202020204" pitchFamily="34" charset="0"/>
                <a:ea typeface="宋体" panose="02010600030101010101" pitchFamily="2" charset="-122"/>
              </a:rPr>
              <a:t>目的</a:t>
            </a:r>
            <a:r>
              <a:rPr lang="en-US" altLang="zh-CN" sz="1200">
                <a:latin typeface="Arial" panose="020B0604020202020204" pitchFamily="34" charset="0"/>
                <a:ea typeface="宋体" panose="02010600030101010101" pitchFamily="2" charset="-122"/>
              </a:rPr>
              <a:t>IP:192.168.1.7:1024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9813"/>
                                        </p:tgtEl>
                                        <p:attrNameLst>
                                          <p:attrName>style.visibility</p:attrName>
                                        </p:attrNameLst>
                                      </p:cBhvr>
                                      <p:to>
                                        <p:strVal val="visible"/>
                                      </p:to>
                                    </p:set>
                                    <p:animEffect transition="in" filter="blinds(horizontal)">
                                      <p:cBhvr>
                                        <p:cTn id="7" dur="500"/>
                                        <p:tgtEl>
                                          <p:spTgt spid="1598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a:extLst>
              <a:ext uri="{FF2B5EF4-FFF2-40B4-BE49-F238E27FC236}">
                <a16:creationId xmlns:a16="http://schemas.microsoft.com/office/drawing/2014/main" id="{FB0D5713-7B93-4C2D-8C17-E6B99E3FB4D3}"/>
              </a:ext>
            </a:extLst>
          </p:cNvPr>
          <p:cNvSpPr>
            <a:spLocks noChangeArrowheads="1"/>
          </p:cNvSpPr>
          <p:nvPr/>
        </p:nvSpPr>
        <p:spPr bwMode="auto">
          <a:xfrm>
            <a:off x="1339850" y="3644900"/>
            <a:ext cx="64008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zh-CN" sz="3600" b="0">
              <a:solidFill>
                <a:srgbClr val="800000"/>
              </a:solidFill>
            </a:endParaRPr>
          </a:p>
        </p:txBody>
      </p:sp>
      <p:sp>
        <p:nvSpPr>
          <p:cNvPr id="14339" name="Rectangle 6">
            <a:extLst>
              <a:ext uri="{FF2B5EF4-FFF2-40B4-BE49-F238E27FC236}">
                <a16:creationId xmlns:a16="http://schemas.microsoft.com/office/drawing/2014/main" id="{51442A34-56D7-4DCE-A0E2-0C457204DCB3}"/>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zh-CN" sz="2400">
              <a:latin typeface="Arial" panose="020B0604020202020204" pitchFamily="34" charset="0"/>
              <a:ea typeface="宋体" panose="02010600030101010101" pitchFamily="2" charset="-122"/>
            </a:endParaRPr>
          </a:p>
        </p:txBody>
      </p:sp>
      <p:sp>
        <p:nvSpPr>
          <p:cNvPr id="14340" name="Text Box 9">
            <a:extLst>
              <a:ext uri="{FF2B5EF4-FFF2-40B4-BE49-F238E27FC236}">
                <a16:creationId xmlns:a16="http://schemas.microsoft.com/office/drawing/2014/main" id="{90CAD3B9-8E95-447F-8BE1-25EB21AAC79D}"/>
              </a:ext>
            </a:extLst>
          </p:cNvPr>
          <p:cNvSpPr txBox="1">
            <a:spLocks noChangeArrowheads="1"/>
          </p:cNvSpPr>
          <p:nvPr/>
        </p:nvSpPr>
        <p:spPr bwMode="auto">
          <a:xfrm>
            <a:off x="3203575" y="4221163"/>
            <a:ext cx="2952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solidFill>
                  <a:schemeClr val="bg1"/>
                </a:solidFill>
                <a:latin typeface="Arial" panose="020B0604020202020204" pitchFamily="34" charset="0"/>
                <a:ea typeface="宋体" panose="02010600030101010101" pitchFamily="2" charset="-122"/>
              </a:rPr>
              <a:t>http://www.ntlab.cn</a:t>
            </a:r>
          </a:p>
        </p:txBody>
      </p:sp>
      <p:sp>
        <p:nvSpPr>
          <p:cNvPr id="14341" name="WordArt 10">
            <a:extLst>
              <a:ext uri="{FF2B5EF4-FFF2-40B4-BE49-F238E27FC236}">
                <a16:creationId xmlns:a16="http://schemas.microsoft.com/office/drawing/2014/main" id="{D8148866-ECA1-495A-A242-2D02AE3A586A}"/>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192523" name="Rectangle 11">
            <a:extLst>
              <a:ext uri="{FF2B5EF4-FFF2-40B4-BE49-F238E27FC236}">
                <a16:creationId xmlns:a16="http://schemas.microsoft.com/office/drawing/2014/main" id="{6B569F80-15F1-4DCD-B768-FC0A7583A6C2}"/>
              </a:ext>
            </a:extLst>
          </p:cNvPr>
          <p:cNvSpPr>
            <a:spLocks noGrp="1" noChangeArrowheads="1"/>
          </p:cNvSpPr>
          <p:nvPr>
            <p:ph type="title" idx="4294967295"/>
          </p:nvPr>
        </p:nvSpPr>
        <p:spPr>
          <a:xfrm>
            <a:off x="395288" y="2997200"/>
            <a:ext cx="8477250" cy="838200"/>
          </a:xfrm>
        </p:spPr>
        <p:txBody>
          <a:bodyPr/>
          <a:lstStyle/>
          <a:p>
            <a:pPr algn="ctr" eaLnBrk="1" hangingPunct="1">
              <a:defRPr/>
            </a:pPr>
            <a:r>
              <a:rPr lang="en-US" altLang="zh-CN" dirty="0">
                <a:solidFill>
                  <a:srgbClr val="C00000"/>
                </a:solidFill>
                <a:effectLst>
                  <a:outerShdw blurRad="38100" dist="38100" dir="2700000" algn="tl">
                    <a:srgbClr val="000000">
                      <a:alpha val="43137"/>
                    </a:srgbClr>
                  </a:outerShdw>
                </a:effectLst>
              </a:rPr>
              <a:t>2</a:t>
            </a:r>
            <a:r>
              <a:rPr lang="zh-CN" altLang="en-US" dirty="0">
                <a:solidFill>
                  <a:srgbClr val="C00000"/>
                </a:solidFill>
                <a:effectLst>
                  <a:outerShdw blurRad="38100" dist="38100" dir="2700000" algn="tl">
                    <a:srgbClr val="000000">
                      <a:alpha val="43137"/>
                    </a:srgbClr>
                  </a:outerShdw>
                </a:effectLst>
              </a:rPr>
              <a:t>）</a:t>
            </a:r>
            <a:r>
              <a:rPr lang="en-US" altLang="zh-CN" dirty="0">
                <a:solidFill>
                  <a:srgbClr val="C00000"/>
                </a:solidFill>
                <a:effectLst>
                  <a:outerShdw blurRad="38100" dist="38100" dir="2700000" algn="tl">
                    <a:srgbClr val="000000">
                      <a:alpha val="43137"/>
                    </a:srgbClr>
                  </a:outerShdw>
                </a:effectLst>
              </a:rPr>
              <a:t>NAT</a:t>
            </a:r>
            <a:r>
              <a:rPr lang="zh-CN" altLang="en-US" dirty="0">
                <a:solidFill>
                  <a:srgbClr val="C00000"/>
                </a:solidFill>
                <a:effectLst>
                  <a:outerShdw blurRad="38100" dist="38100" dir="2700000" algn="tl">
                    <a:srgbClr val="000000">
                      <a:alpha val="43137"/>
                    </a:srgbClr>
                  </a:outerShdw>
                </a:effectLst>
              </a:rPr>
              <a:t>配置实验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图片 16" descr="1.jpg">
            <a:extLst>
              <a:ext uri="{FF2B5EF4-FFF2-40B4-BE49-F238E27FC236}">
                <a16:creationId xmlns:a16="http://schemas.microsoft.com/office/drawing/2014/main" id="{53328A87-F6BA-4CE4-8E48-D65E504BF28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28688" y="1428750"/>
            <a:ext cx="7315200"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1730" name="Rectangle 2">
            <a:extLst>
              <a:ext uri="{FF2B5EF4-FFF2-40B4-BE49-F238E27FC236}">
                <a16:creationId xmlns:a16="http://schemas.microsoft.com/office/drawing/2014/main" id="{30953DAC-B646-41AB-8D9A-866CDAA51694}"/>
              </a:ext>
            </a:extLst>
          </p:cNvPr>
          <p:cNvSpPr>
            <a:spLocks noGrp="1" noChangeArrowheads="1"/>
          </p:cNvSpPr>
          <p:nvPr>
            <p:ph type="title" idx="4294967295"/>
          </p:nvPr>
        </p:nvSpPr>
        <p:spPr/>
        <p:txBody>
          <a:bodyPr/>
          <a:lstStyle/>
          <a:p>
            <a:pPr>
              <a:defRPr/>
            </a:pPr>
            <a:r>
              <a:rPr lang="en-US" altLang="zh-CN" sz="4000" dirty="0">
                <a:effectLst>
                  <a:outerShdw blurRad="38100" dist="38100" dir="2700000" algn="tl">
                    <a:srgbClr val="C0C0C0"/>
                  </a:outerShdw>
                </a:effectLst>
              </a:rPr>
              <a:t>NAT</a:t>
            </a:r>
            <a:r>
              <a:rPr lang="zh-CN" altLang="en-US" sz="4000" dirty="0">
                <a:effectLst>
                  <a:outerShdw blurRad="38100" dist="38100" dir="2700000" algn="tl">
                    <a:srgbClr val="C0C0C0"/>
                  </a:outerShdw>
                </a:effectLst>
              </a:rPr>
              <a:t>配置实验</a:t>
            </a:r>
          </a:p>
        </p:txBody>
      </p:sp>
      <p:sp>
        <p:nvSpPr>
          <p:cNvPr id="16388" name="Rectangle 3">
            <a:extLst>
              <a:ext uri="{FF2B5EF4-FFF2-40B4-BE49-F238E27FC236}">
                <a16:creationId xmlns:a16="http://schemas.microsoft.com/office/drawing/2014/main" id="{9C39A5C5-FAA6-4E43-AD3D-B524A848AA25}"/>
              </a:ext>
            </a:extLst>
          </p:cNvPr>
          <p:cNvSpPr>
            <a:spLocks noGrp="1" noChangeArrowheads="1"/>
          </p:cNvSpPr>
          <p:nvPr>
            <p:ph type="body" idx="4294967295"/>
          </p:nvPr>
        </p:nvSpPr>
        <p:spPr>
          <a:xfrm>
            <a:off x="395288" y="4437063"/>
            <a:ext cx="8424862" cy="2016125"/>
          </a:xfrm>
        </p:spPr>
        <p:txBody>
          <a:bodyPr/>
          <a:lstStyle/>
          <a:p>
            <a:pPr>
              <a:lnSpc>
                <a:spcPct val="140000"/>
              </a:lnSpc>
            </a:pPr>
            <a:r>
              <a:rPr lang="zh-CN" altLang="en-US" sz="2000"/>
              <a:t>实验拓扑中，</a:t>
            </a:r>
            <a:r>
              <a:rPr lang="en-US" altLang="zh-CN" sz="2000"/>
              <a:t>RA</a:t>
            </a:r>
            <a:r>
              <a:rPr lang="zh-CN" altLang="en-US" sz="2000"/>
              <a:t>模拟内网连接外网的路由器，</a:t>
            </a:r>
            <a:r>
              <a:rPr lang="en-US" altLang="zh-CN" sz="2000"/>
              <a:t>RB</a:t>
            </a:r>
            <a:r>
              <a:rPr lang="zh-CN" altLang="en-US" sz="2000"/>
              <a:t>模拟</a:t>
            </a:r>
            <a:r>
              <a:rPr lang="en-US" altLang="zh-CN" sz="2000"/>
              <a:t>Internet</a:t>
            </a:r>
            <a:r>
              <a:rPr lang="zh-CN" altLang="en-US" sz="2000"/>
              <a:t>上的一个路由器</a:t>
            </a:r>
            <a:r>
              <a:rPr lang="zh-CN" altLang="en-US" sz="2000" b="0"/>
              <a:t>。</a:t>
            </a:r>
            <a:endParaRPr lang="en-US" altLang="zh-CN" sz="2000"/>
          </a:p>
          <a:p>
            <a:pPr>
              <a:lnSpc>
                <a:spcPct val="140000"/>
              </a:lnSpc>
            </a:pPr>
            <a:r>
              <a:rPr lang="en-US" altLang="zh-CN" sz="2000"/>
              <a:t>IP</a:t>
            </a:r>
            <a:r>
              <a:rPr lang="zh-CN" altLang="en-US" sz="2000"/>
              <a:t>设置内网用</a:t>
            </a:r>
            <a:r>
              <a:rPr lang="en-US" altLang="zh-CN" sz="2000"/>
              <a:t>A</a:t>
            </a:r>
            <a:r>
              <a:rPr lang="zh-CN" altLang="en-US" sz="2000"/>
              <a:t>类私有地址</a:t>
            </a:r>
            <a:r>
              <a:rPr lang="en-US" altLang="zh-CN" sz="2000"/>
              <a:t>10.x.x.x</a:t>
            </a:r>
            <a:r>
              <a:rPr lang="zh-CN" altLang="en-US" sz="2000"/>
              <a:t>；外网分组用</a:t>
            </a:r>
            <a:r>
              <a:rPr lang="en-US" altLang="zh-CN" sz="2000"/>
              <a:t>(11-18).x.x.x</a:t>
            </a:r>
            <a:endParaRPr lang="zh-CN" altLang="en-US" sz="2000"/>
          </a:p>
        </p:txBody>
      </p:sp>
      <p:sp>
        <p:nvSpPr>
          <p:cNvPr id="201734" name="Text Box 6">
            <a:extLst>
              <a:ext uri="{FF2B5EF4-FFF2-40B4-BE49-F238E27FC236}">
                <a16:creationId xmlns:a16="http://schemas.microsoft.com/office/drawing/2014/main" id="{371EDB07-51BF-4E2B-92C1-B9DB68B39AD0}"/>
              </a:ext>
            </a:extLst>
          </p:cNvPr>
          <p:cNvSpPr txBox="1">
            <a:spLocks noChangeArrowheads="1"/>
          </p:cNvSpPr>
          <p:nvPr/>
        </p:nvSpPr>
        <p:spPr bwMode="auto">
          <a:xfrm>
            <a:off x="2987675" y="2205038"/>
            <a:ext cx="1296988" cy="304800"/>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en-US" altLang="zh-CN" sz="1400">
                <a:latin typeface="Arial" charset="0"/>
              </a:rPr>
              <a:t>IP:11-18.x.x.x</a:t>
            </a:r>
          </a:p>
        </p:txBody>
      </p:sp>
      <p:sp>
        <p:nvSpPr>
          <p:cNvPr id="201735" name="Text Box 7">
            <a:extLst>
              <a:ext uri="{FF2B5EF4-FFF2-40B4-BE49-F238E27FC236}">
                <a16:creationId xmlns:a16="http://schemas.microsoft.com/office/drawing/2014/main" id="{AC862ECF-EBAE-4A1C-80C1-D1ED2427E4D9}"/>
              </a:ext>
            </a:extLst>
          </p:cNvPr>
          <p:cNvSpPr txBox="1">
            <a:spLocks noChangeArrowheads="1"/>
          </p:cNvSpPr>
          <p:nvPr/>
        </p:nvSpPr>
        <p:spPr bwMode="auto">
          <a:xfrm>
            <a:off x="539750" y="4581525"/>
            <a:ext cx="7920038" cy="854075"/>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marL="342900" indent="-342900" eaLnBrk="1" hangingPunct="1">
              <a:spcBef>
                <a:spcPct val="50000"/>
              </a:spcBef>
              <a:defRPr/>
            </a:pPr>
            <a:endParaRPr lang="en-US" altLang="zh-CN" sz="2000" b="1">
              <a:latin typeface="Arial" charset="0"/>
            </a:endParaRPr>
          </a:p>
          <a:p>
            <a:pPr marL="342900" indent="-342900" eaLnBrk="1" hangingPunct="1">
              <a:spcBef>
                <a:spcPct val="50000"/>
              </a:spcBef>
              <a:defRPr/>
            </a:pPr>
            <a:endParaRPr lang="zh-CN" altLang="en-US" sz="2000" b="1">
              <a:latin typeface="Arial" charset="0"/>
            </a:endParaRPr>
          </a:p>
        </p:txBody>
      </p:sp>
      <p:sp>
        <p:nvSpPr>
          <p:cNvPr id="16391" name="Oval 8">
            <a:extLst>
              <a:ext uri="{FF2B5EF4-FFF2-40B4-BE49-F238E27FC236}">
                <a16:creationId xmlns:a16="http://schemas.microsoft.com/office/drawing/2014/main" id="{2F213F06-AB6F-4EF7-A9F6-CC6C0D35466C}"/>
              </a:ext>
            </a:extLst>
          </p:cNvPr>
          <p:cNvSpPr>
            <a:spLocks noChangeArrowheads="1"/>
          </p:cNvSpPr>
          <p:nvPr/>
        </p:nvSpPr>
        <p:spPr bwMode="auto">
          <a:xfrm>
            <a:off x="468313" y="1341438"/>
            <a:ext cx="1873250" cy="3024187"/>
          </a:xfrm>
          <a:prstGeom prst="ellipse">
            <a:avLst/>
          </a:prstGeom>
          <a:noFill/>
          <a:ln w="3175">
            <a:solidFill>
              <a:srgbClr val="FF0000"/>
            </a:solidFill>
            <a:round/>
            <a:headEnd/>
            <a:tailEnd/>
          </a:ln>
          <a:effectLst>
            <a:prstShdw prst="shdw17" dist="17961" dir="2700000">
              <a:srgbClr val="990000"/>
            </a:prst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16392" name="Oval 9">
            <a:extLst>
              <a:ext uri="{FF2B5EF4-FFF2-40B4-BE49-F238E27FC236}">
                <a16:creationId xmlns:a16="http://schemas.microsoft.com/office/drawing/2014/main" id="{3016521B-B82C-471B-A034-49AE0FA39D3D}"/>
              </a:ext>
            </a:extLst>
          </p:cNvPr>
          <p:cNvSpPr>
            <a:spLocks noChangeArrowheads="1"/>
          </p:cNvSpPr>
          <p:nvPr/>
        </p:nvSpPr>
        <p:spPr bwMode="auto">
          <a:xfrm>
            <a:off x="2700338" y="836613"/>
            <a:ext cx="6157912" cy="3521075"/>
          </a:xfrm>
          <a:prstGeom prst="ellipse">
            <a:avLst/>
          </a:prstGeom>
          <a:noFill/>
          <a:ln w="3175">
            <a:solidFill>
              <a:srgbClr val="FF0000"/>
            </a:solidFill>
            <a:round/>
            <a:headEnd/>
            <a:tailEnd/>
          </a:ln>
          <a:effectLst>
            <a:prstShdw prst="shdw17" dist="17961" dir="2700000">
              <a:srgbClr val="990000"/>
            </a:prst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201738" name="Text Box 10">
            <a:extLst>
              <a:ext uri="{FF2B5EF4-FFF2-40B4-BE49-F238E27FC236}">
                <a16:creationId xmlns:a16="http://schemas.microsoft.com/office/drawing/2014/main" id="{DDCB7ECD-E14E-4DF2-A83B-D3DE5A50C52B}"/>
              </a:ext>
            </a:extLst>
          </p:cNvPr>
          <p:cNvSpPr txBox="1">
            <a:spLocks noChangeArrowheads="1"/>
          </p:cNvSpPr>
          <p:nvPr/>
        </p:nvSpPr>
        <p:spPr bwMode="auto">
          <a:xfrm>
            <a:off x="468313" y="2276475"/>
            <a:ext cx="790575" cy="366713"/>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zh-CN" altLang="en-US">
                <a:solidFill>
                  <a:srgbClr val="FF0000"/>
                </a:solidFill>
                <a:latin typeface="Arial" charset="0"/>
              </a:rPr>
              <a:t>内网</a:t>
            </a:r>
            <a:endParaRPr lang="en-US" altLang="zh-CN">
              <a:solidFill>
                <a:srgbClr val="FF0000"/>
              </a:solidFill>
              <a:latin typeface="Arial" charset="0"/>
            </a:endParaRPr>
          </a:p>
        </p:txBody>
      </p:sp>
      <p:sp>
        <p:nvSpPr>
          <p:cNvPr id="201739" name="Text Box 11">
            <a:extLst>
              <a:ext uri="{FF2B5EF4-FFF2-40B4-BE49-F238E27FC236}">
                <a16:creationId xmlns:a16="http://schemas.microsoft.com/office/drawing/2014/main" id="{403495E6-2412-46A6-A5EC-C10D8E2D6B12}"/>
              </a:ext>
            </a:extLst>
          </p:cNvPr>
          <p:cNvSpPr txBox="1">
            <a:spLocks noChangeArrowheads="1"/>
          </p:cNvSpPr>
          <p:nvPr/>
        </p:nvSpPr>
        <p:spPr bwMode="auto">
          <a:xfrm>
            <a:off x="6084888" y="1341438"/>
            <a:ext cx="790575" cy="366712"/>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zh-CN" altLang="en-US">
                <a:solidFill>
                  <a:srgbClr val="FF0000"/>
                </a:solidFill>
                <a:latin typeface="Arial" charset="0"/>
              </a:rPr>
              <a:t>外网</a:t>
            </a:r>
            <a:endParaRPr lang="en-US" altLang="zh-CN">
              <a:solidFill>
                <a:srgbClr val="FF0000"/>
              </a:solidFill>
              <a:latin typeface="Arial" charset="0"/>
            </a:endParaRPr>
          </a:p>
        </p:txBody>
      </p:sp>
      <p:sp>
        <p:nvSpPr>
          <p:cNvPr id="201740" name="Text Box 12">
            <a:extLst>
              <a:ext uri="{FF2B5EF4-FFF2-40B4-BE49-F238E27FC236}">
                <a16:creationId xmlns:a16="http://schemas.microsoft.com/office/drawing/2014/main" id="{E34FA73F-1A40-4639-B2CF-E691EDA85F6F}"/>
              </a:ext>
            </a:extLst>
          </p:cNvPr>
          <p:cNvSpPr txBox="1">
            <a:spLocks noChangeArrowheads="1"/>
          </p:cNvSpPr>
          <p:nvPr/>
        </p:nvSpPr>
        <p:spPr bwMode="auto">
          <a:xfrm>
            <a:off x="5219700" y="2565400"/>
            <a:ext cx="1223963" cy="641350"/>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en-US" altLang="zh-CN">
                <a:solidFill>
                  <a:srgbClr val="FF0000"/>
                </a:solidFill>
                <a:latin typeface="Arial" charset="0"/>
              </a:rPr>
              <a:t>Internet</a:t>
            </a:r>
            <a:r>
              <a:rPr lang="zh-CN" altLang="en-US">
                <a:solidFill>
                  <a:srgbClr val="FF0000"/>
                </a:solidFill>
                <a:latin typeface="Arial" charset="0"/>
              </a:rPr>
              <a:t>上路由器</a:t>
            </a:r>
          </a:p>
        </p:txBody>
      </p:sp>
      <p:sp>
        <p:nvSpPr>
          <p:cNvPr id="2" name="Text Box 6">
            <a:extLst>
              <a:ext uri="{FF2B5EF4-FFF2-40B4-BE49-F238E27FC236}">
                <a16:creationId xmlns:a16="http://schemas.microsoft.com/office/drawing/2014/main" id="{F23A565E-9D4B-4C1E-9878-BEE94A021C57}"/>
              </a:ext>
            </a:extLst>
          </p:cNvPr>
          <p:cNvSpPr txBox="1">
            <a:spLocks noChangeArrowheads="1"/>
          </p:cNvSpPr>
          <p:nvPr/>
        </p:nvSpPr>
        <p:spPr bwMode="auto">
          <a:xfrm>
            <a:off x="827088" y="3860800"/>
            <a:ext cx="1081087" cy="304800"/>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en-US" altLang="zh-CN" sz="1400">
                <a:latin typeface="Arial" charset="0"/>
              </a:rPr>
              <a:t>IP:10.x.x.x</a:t>
            </a:r>
          </a:p>
        </p:txBody>
      </p:sp>
      <p:sp>
        <p:nvSpPr>
          <p:cNvPr id="3" name="Text Box 6">
            <a:extLst>
              <a:ext uri="{FF2B5EF4-FFF2-40B4-BE49-F238E27FC236}">
                <a16:creationId xmlns:a16="http://schemas.microsoft.com/office/drawing/2014/main" id="{8579AC99-6AA1-4390-8BBB-55D930FCFE51}"/>
              </a:ext>
            </a:extLst>
          </p:cNvPr>
          <p:cNvSpPr txBox="1">
            <a:spLocks noChangeArrowheads="1"/>
          </p:cNvSpPr>
          <p:nvPr/>
        </p:nvSpPr>
        <p:spPr bwMode="auto">
          <a:xfrm>
            <a:off x="7143750" y="2428875"/>
            <a:ext cx="1266825" cy="307975"/>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en-US" altLang="zh-CN" sz="1400" dirty="0">
                <a:latin typeface="Arial" charset="0"/>
              </a:rPr>
              <a:t>IP:11-18.x.x.x</a:t>
            </a:r>
          </a:p>
        </p:txBody>
      </p:sp>
      <p:sp>
        <p:nvSpPr>
          <p:cNvPr id="15" name="Text Box 6">
            <a:extLst>
              <a:ext uri="{FF2B5EF4-FFF2-40B4-BE49-F238E27FC236}">
                <a16:creationId xmlns:a16="http://schemas.microsoft.com/office/drawing/2014/main" id="{A1122D0C-554B-41F5-AB98-29D2560D2ACE}"/>
              </a:ext>
            </a:extLst>
          </p:cNvPr>
          <p:cNvSpPr txBox="1">
            <a:spLocks noChangeArrowheads="1"/>
          </p:cNvSpPr>
          <p:nvPr/>
        </p:nvSpPr>
        <p:spPr bwMode="auto">
          <a:xfrm>
            <a:off x="6500813" y="3786188"/>
            <a:ext cx="1266825" cy="307975"/>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en-US" altLang="zh-CN" sz="1400" dirty="0">
                <a:latin typeface="Arial" charset="0"/>
              </a:rPr>
              <a:t>IP:11-18.x.x.x</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a:extLst>
              <a:ext uri="{FF2B5EF4-FFF2-40B4-BE49-F238E27FC236}">
                <a16:creationId xmlns:a16="http://schemas.microsoft.com/office/drawing/2014/main" id="{9835558D-B0A1-4FB9-8B5B-F19C28B159E4}"/>
              </a:ext>
            </a:extLst>
          </p:cNvPr>
          <p:cNvSpPr>
            <a:spLocks noGrp="1" noChangeArrowheads="1"/>
          </p:cNvSpPr>
          <p:nvPr>
            <p:ph type="title" idx="4294967295"/>
          </p:nvPr>
        </p:nvSpPr>
        <p:spPr/>
        <p:txBody>
          <a:bodyPr/>
          <a:lstStyle/>
          <a:p>
            <a:pPr>
              <a:defRPr/>
            </a:pPr>
            <a:r>
              <a:rPr lang="en-US" altLang="zh-CN" sz="4000" dirty="0">
                <a:effectLst>
                  <a:outerShdw blurRad="38100" dist="38100" dir="2700000" algn="tl">
                    <a:srgbClr val="C0C0C0"/>
                  </a:outerShdw>
                </a:effectLst>
              </a:rPr>
              <a:t>NAT</a:t>
            </a:r>
            <a:r>
              <a:rPr lang="zh-CN" altLang="en-US" sz="4000" dirty="0">
                <a:effectLst>
                  <a:outerShdw blurRad="38100" dist="38100" dir="2700000" algn="tl">
                    <a:srgbClr val="C0C0C0"/>
                  </a:outerShdw>
                </a:effectLst>
              </a:rPr>
              <a:t>配置实验</a:t>
            </a:r>
          </a:p>
        </p:txBody>
      </p:sp>
      <p:sp>
        <p:nvSpPr>
          <p:cNvPr id="17411" name="Rectangle 3">
            <a:extLst>
              <a:ext uri="{FF2B5EF4-FFF2-40B4-BE49-F238E27FC236}">
                <a16:creationId xmlns:a16="http://schemas.microsoft.com/office/drawing/2014/main" id="{BF72F8C2-2DAD-4EF7-B10F-9214CC82E9DE}"/>
              </a:ext>
            </a:extLst>
          </p:cNvPr>
          <p:cNvSpPr>
            <a:spLocks noChangeArrowheads="1"/>
          </p:cNvSpPr>
          <p:nvPr/>
        </p:nvSpPr>
        <p:spPr bwMode="auto">
          <a:xfrm>
            <a:off x="214313" y="785813"/>
            <a:ext cx="8929687"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990600" indent="-53340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r>
              <a:rPr lang="zh-CN" altLang="en-US" sz="3600"/>
              <a:t>实验步骤</a:t>
            </a:r>
            <a:endParaRPr lang="en-US" altLang="zh-CN" sz="3600"/>
          </a:p>
          <a:p>
            <a:pPr lvl="1"/>
            <a:r>
              <a:rPr lang="zh-CN" altLang="en-US" sz="3200"/>
              <a:t>按照实验拓扑，进行参数规划。包括路由器编号、接口，计算机编号，</a:t>
            </a:r>
            <a:r>
              <a:rPr lang="en-US" altLang="zh-CN" sz="3200"/>
              <a:t>IP</a:t>
            </a:r>
            <a:r>
              <a:rPr lang="zh-CN" altLang="en-US" sz="3200"/>
              <a:t>、子网掩码。</a:t>
            </a:r>
          </a:p>
          <a:p>
            <a:pPr lvl="1"/>
            <a:r>
              <a:rPr lang="zh-CN" altLang="en-US" sz="3200"/>
              <a:t>按图连接网络设备。配置计算机</a:t>
            </a:r>
            <a:r>
              <a:rPr lang="en-US" altLang="zh-CN" sz="3200"/>
              <a:t>IP</a:t>
            </a:r>
            <a:r>
              <a:rPr lang="zh-CN" altLang="en-US" sz="3200"/>
              <a:t>、路由器接口</a:t>
            </a:r>
            <a:r>
              <a:rPr lang="en-US" altLang="zh-CN" sz="3200"/>
              <a:t>IP;</a:t>
            </a:r>
            <a:r>
              <a:rPr lang="zh-CN" altLang="en-US" sz="3200"/>
              <a:t> </a:t>
            </a:r>
            <a:r>
              <a:rPr lang="en-US" altLang="zh-CN" sz="3200"/>
              <a:t>PC2</a:t>
            </a:r>
            <a:r>
              <a:rPr lang="zh-CN" altLang="en-US" sz="3200"/>
              <a:t>上配置</a:t>
            </a:r>
            <a:r>
              <a:rPr lang="en-US" altLang="zh-CN" sz="3200"/>
              <a:t>FTP</a:t>
            </a:r>
            <a:r>
              <a:rPr lang="zh-CN" altLang="en-US" sz="3200"/>
              <a:t>和</a:t>
            </a:r>
            <a:r>
              <a:rPr lang="en-US" altLang="zh-CN" sz="3200"/>
              <a:t>Web</a:t>
            </a:r>
            <a:r>
              <a:rPr lang="zh-CN" altLang="en-US" sz="3200"/>
              <a:t>服务</a:t>
            </a:r>
            <a:r>
              <a:rPr lang="en-US" altLang="zh-CN" sz="3200"/>
              <a:t>.</a:t>
            </a:r>
            <a:endParaRPr lang="zh-CN" altLang="en-US" sz="3200"/>
          </a:p>
          <a:p>
            <a:pPr lvl="1"/>
            <a:r>
              <a:rPr lang="zh-CN" altLang="en-US" sz="3200"/>
              <a:t>在路由器</a:t>
            </a:r>
            <a:r>
              <a:rPr lang="en-US" altLang="zh-CN" sz="3200"/>
              <a:t>RA</a:t>
            </a:r>
            <a:r>
              <a:rPr lang="zh-CN" altLang="en-US" sz="3200"/>
              <a:t>上配置静态路由</a:t>
            </a:r>
            <a:r>
              <a:rPr lang="en-US" altLang="zh-CN" sz="3200"/>
              <a:t>(RB</a:t>
            </a:r>
            <a:r>
              <a:rPr lang="zh-CN" altLang="en-US" sz="3200"/>
              <a:t>不配</a:t>
            </a:r>
            <a:r>
              <a:rPr lang="en-US" altLang="zh-CN" sz="3200"/>
              <a:t>)</a:t>
            </a:r>
          </a:p>
          <a:p>
            <a:pPr lvl="1"/>
            <a:r>
              <a:rPr lang="zh-CN" altLang="en-US" sz="3200"/>
              <a:t>在路由器</a:t>
            </a:r>
            <a:r>
              <a:rPr lang="en-US" altLang="zh-CN" sz="3200"/>
              <a:t>RA</a:t>
            </a:r>
            <a:r>
              <a:rPr lang="zh-CN" altLang="en-US" sz="3200"/>
              <a:t>上配置动态</a:t>
            </a:r>
            <a:r>
              <a:rPr lang="en-US" altLang="zh-CN" sz="3200"/>
              <a:t>nat</a:t>
            </a:r>
          </a:p>
          <a:p>
            <a:pPr lvl="1"/>
            <a:r>
              <a:rPr lang="zh-CN" altLang="en-US" sz="3200"/>
              <a:t>查看并检查配置信息</a:t>
            </a:r>
            <a:endParaRPr lang="en-US" altLang="zh-CN" sz="3200"/>
          </a:p>
          <a:p>
            <a:pPr lvl="1"/>
            <a:r>
              <a:rPr lang="zh-CN" altLang="en-US" sz="3200"/>
              <a:t>验证配置结果</a:t>
            </a:r>
            <a:r>
              <a:rPr lang="en-US" altLang="zh-CN" sz="3200"/>
              <a:t>(PC1</a:t>
            </a:r>
            <a:r>
              <a:rPr lang="zh-CN" altLang="en-US" sz="3200"/>
              <a:t>能访问</a:t>
            </a:r>
            <a:r>
              <a:rPr lang="en-US" altLang="zh-CN" sz="3200"/>
              <a:t>PC2</a:t>
            </a:r>
            <a:r>
              <a:rPr lang="zh-CN" altLang="en-US" sz="3200"/>
              <a:t>的</a:t>
            </a:r>
            <a:r>
              <a:rPr lang="en-US" altLang="zh-CN" sz="3200"/>
              <a:t>www</a:t>
            </a:r>
            <a:r>
              <a:rPr lang="zh-CN" altLang="en-US" sz="3200"/>
              <a:t>站点</a:t>
            </a:r>
            <a:r>
              <a:rPr lang="en-US" altLang="zh-CN" sz="3200"/>
              <a:t>,</a:t>
            </a:r>
            <a:r>
              <a:rPr lang="zh-CN" altLang="en-US" sz="3200"/>
              <a:t>查看</a:t>
            </a:r>
            <a:r>
              <a:rPr lang="en-US" altLang="zh-CN" sz="3200"/>
              <a:t>nat</a:t>
            </a:r>
            <a:r>
              <a:rPr lang="zh-CN" altLang="en-US" sz="3200"/>
              <a:t>转换信息</a:t>
            </a:r>
            <a:r>
              <a:rPr lang="en-US" altLang="zh-CN" sz="3200"/>
              <a:t>,</a:t>
            </a:r>
            <a:r>
              <a:rPr lang="zh-CN" altLang="en-US" sz="3200"/>
              <a:t>有转换的</a:t>
            </a:r>
            <a:r>
              <a:rPr lang="en-US" altLang="zh-CN" sz="3200"/>
              <a:t>IP</a:t>
            </a:r>
            <a:r>
              <a:rPr lang="zh-CN" altLang="en-US" sz="3200"/>
              <a:t>数据</a:t>
            </a:r>
            <a:r>
              <a:rPr lang="en-US" altLang="zh-CN" sz="3200"/>
              <a:t>)</a:t>
            </a:r>
          </a:p>
          <a:p>
            <a:pPr lvl="1">
              <a:lnSpc>
                <a:spcPct val="90000"/>
              </a:lnSpc>
            </a:pP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5E24629-DDFA-4C8C-8B68-E4D788FF4109}"/>
              </a:ext>
            </a:extLst>
          </p:cNvPr>
          <p:cNvSpPr>
            <a:spLocks noGrp="1" noChangeArrowheads="1"/>
          </p:cNvSpPr>
          <p:nvPr>
            <p:ph type="title" idx="4294967295"/>
          </p:nvPr>
        </p:nvSpPr>
        <p:spPr/>
        <p:txBody>
          <a:bodyPr/>
          <a:lstStyle/>
          <a:p>
            <a:r>
              <a:rPr lang="zh-CN" altLang="en-US" sz="4000"/>
              <a:t>动态</a:t>
            </a:r>
            <a:r>
              <a:rPr lang="en-US" altLang="zh-CN" sz="4000"/>
              <a:t>NAT</a:t>
            </a:r>
            <a:r>
              <a:rPr lang="zh-CN" altLang="en-US" sz="4000"/>
              <a:t>配置命令</a:t>
            </a:r>
            <a:r>
              <a:rPr lang="en-US" altLang="zh-CN" sz="4000"/>
              <a:t>(</a:t>
            </a:r>
            <a:r>
              <a:rPr lang="zh-CN" altLang="en-US" sz="4000"/>
              <a:t>教材</a:t>
            </a:r>
            <a:r>
              <a:rPr lang="en-US" altLang="zh-CN" sz="4000"/>
              <a:t>P181)</a:t>
            </a:r>
          </a:p>
        </p:txBody>
      </p:sp>
      <p:sp>
        <p:nvSpPr>
          <p:cNvPr id="18435" name="Rectangle 3">
            <a:extLst>
              <a:ext uri="{FF2B5EF4-FFF2-40B4-BE49-F238E27FC236}">
                <a16:creationId xmlns:a16="http://schemas.microsoft.com/office/drawing/2014/main" id="{40A7E7F6-107E-4593-AA0D-421BB4C37B4A}"/>
              </a:ext>
            </a:extLst>
          </p:cNvPr>
          <p:cNvSpPr>
            <a:spLocks noGrp="1" noChangeArrowheads="1"/>
          </p:cNvSpPr>
          <p:nvPr>
            <p:ph type="body" idx="4294967295"/>
          </p:nvPr>
        </p:nvSpPr>
        <p:spPr>
          <a:xfrm>
            <a:off x="428625" y="928688"/>
            <a:ext cx="8229600" cy="5308600"/>
          </a:xfrm>
          <a:noFill/>
        </p:spPr>
        <p:txBody>
          <a:bodyPr/>
          <a:lstStyle/>
          <a:p>
            <a:pPr>
              <a:lnSpc>
                <a:spcPct val="120000"/>
              </a:lnSpc>
            </a:pPr>
            <a:r>
              <a:rPr lang="zh-CN" altLang="en-US" sz="2800"/>
              <a:t>定义内网接口和外网接口</a:t>
            </a:r>
          </a:p>
          <a:p>
            <a:pPr lvl="1">
              <a:lnSpc>
                <a:spcPct val="90000"/>
              </a:lnSpc>
            </a:pPr>
            <a:r>
              <a:rPr lang="en-US" altLang="zh-CN" sz="2400"/>
              <a:t>Router(config-if)#</a:t>
            </a:r>
            <a:r>
              <a:rPr lang="en-US" altLang="zh-CN" sz="2400">
                <a:solidFill>
                  <a:srgbClr val="3333CC"/>
                </a:solidFill>
              </a:rPr>
              <a:t>ip nat inside</a:t>
            </a:r>
          </a:p>
          <a:p>
            <a:pPr lvl="1">
              <a:lnSpc>
                <a:spcPct val="90000"/>
              </a:lnSpc>
            </a:pPr>
            <a:r>
              <a:rPr lang="en-US" altLang="zh-CN" sz="2400"/>
              <a:t>Router(config-if)#</a:t>
            </a:r>
            <a:r>
              <a:rPr lang="en-US" altLang="zh-CN" sz="2400">
                <a:solidFill>
                  <a:srgbClr val="3333CC"/>
                </a:solidFill>
              </a:rPr>
              <a:t>ip nat outside</a:t>
            </a:r>
          </a:p>
          <a:p>
            <a:pPr>
              <a:lnSpc>
                <a:spcPct val="90000"/>
              </a:lnSpc>
            </a:pPr>
            <a:r>
              <a:rPr lang="zh-CN" altLang="en-US" sz="2800"/>
              <a:t>定义内部本地地址范围</a:t>
            </a:r>
            <a:r>
              <a:rPr lang="en-US" altLang="zh-CN" sz="2800"/>
              <a:t>(</a:t>
            </a:r>
            <a:r>
              <a:rPr lang="zh-CN" altLang="en-US" sz="2800"/>
              <a:t>允许被转换的</a:t>
            </a:r>
            <a:r>
              <a:rPr lang="en-US" altLang="zh-CN" sz="2800"/>
              <a:t>IP)</a:t>
            </a:r>
          </a:p>
          <a:p>
            <a:pPr lvl="1">
              <a:lnSpc>
                <a:spcPct val="90000"/>
              </a:lnSpc>
            </a:pPr>
            <a:r>
              <a:rPr lang="en-US" altLang="zh-CN" sz="2400"/>
              <a:t>Router(config)#</a:t>
            </a:r>
            <a:r>
              <a:rPr lang="en-US" altLang="zh-CN" sz="2400">
                <a:solidFill>
                  <a:srgbClr val="3333CC"/>
                </a:solidFill>
              </a:rPr>
              <a:t>access-list</a:t>
            </a:r>
            <a:r>
              <a:rPr lang="en-US" altLang="zh-CN" sz="2400"/>
              <a:t> </a:t>
            </a:r>
            <a:r>
              <a:rPr lang="en-US" altLang="zh-CN" sz="2400">
                <a:solidFill>
                  <a:srgbClr val="FF0000"/>
                </a:solidFill>
              </a:rPr>
              <a:t>&lt;1-99&gt;</a:t>
            </a:r>
            <a:r>
              <a:rPr lang="en-US" altLang="zh-CN" sz="2400"/>
              <a:t> </a:t>
            </a:r>
            <a:r>
              <a:rPr lang="en-US" altLang="zh-CN" sz="2400">
                <a:solidFill>
                  <a:srgbClr val="3333CC"/>
                </a:solidFill>
              </a:rPr>
              <a:t>permit</a:t>
            </a:r>
            <a:r>
              <a:rPr lang="en-US" altLang="zh-CN" sz="2400"/>
              <a:t> </a:t>
            </a:r>
            <a:r>
              <a:rPr lang="zh-CN" altLang="en-US" sz="2400" b="0">
                <a:solidFill>
                  <a:srgbClr val="FF0000"/>
                </a:solidFill>
              </a:rPr>
              <a:t>源地址 反掩码</a:t>
            </a:r>
            <a:endParaRPr lang="en-US" altLang="zh-CN" sz="2400" b="0">
              <a:solidFill>
                <a:srgbClr val="FF0000"/>
              </a:solidFill>
            </a:endParaRPr>
          </a:p>
          <a:p>
            <a:pPr>
              <a:lnSpc>
                <a:spcPct val="90000"/>
              </a:lnSpc>
            </a:pPr>
            <a:r>
              <a:rPr lang="zh-CN" altLang="en-US" sz="2800"/>
              <a:t>定义内部全局地址池</a:t>
            </a:r>
            <a:r>
              <a:rPr lang="en-US" altLang="zh-CN" sz="2800"/>
              <a:t>(</a:t>
            </a:r>
            <a:r>
              <a:rPr lang="zh-CN" altLang="en-US" sz="2800"/>
              <a:t>转换后的</a:t>
            </a:r>
            <a:r>
              <a:rPr lang="en-US" altLang="zh-CN" sz="2800"/>
              <a:t>IP)</a:t>
            </a:r>
          </a:p>
          <a:p>
            <a:pPr lvl="1">
              <a:lnSpc>
                <a:spcPct val="90000"/>
              </a:lnSpc>
            </a:pPr>
            <a:r>
              <a:rPr lang="en-US" altLang="zh-CN" sz="2400"/>
              <a:t>Router(config)#</a:t>
            </a:r>
            <a:r>
              <a:rPr lang="en-US" altLang="zh-CN" sz="2400">
                <a:solidFill>
                  <a:srgbClr val="3333CC"/>
                </a:solidFill>
              </a:rPr>
              <a:t>ip nat pool</a:t>
            </a:r>
            <a:r>
              <a:rPr lang="en-US" altLang="zh-CN" sz="2400"/>
              <a:t> </a:t>
            </a:r>
            <a:r>
              <a:rPr lang="en-US" altLang="zh-CN" sz="2400" i="1">
                <a:solidFill>
                  <a:srgbClr val="FF0000"/>
                </a:solidFill>
              </a:rPr>
              <a:t>pool-name</a:t>
            </a:r>
            <a:r>
              <a:rPr lang="en-US" altLang="zh-CN" sz="2400">
                <a:solidFill>
                  <a:srgbClr val="FF0000"/>
                </a:solidFill>
              </a:rPr>
              <a:t>  </a:t>
            </a:r>
            <a:r>
              <a:rPr lang="zh-CN" altLang="en-US" sz="2400" b="0">
                <a:solidFill>
                  <a:srgbClr val="FF0000"/>
                </a:solidFill>
              </a:rPr>
              <a:t>地址</a:t>
            </a:r>
            <a:r>
              <a:rPr lang="en-US" altLang="zh-CN" sz="2400" b="0">
                <a:solidFill>
                  <a:srgbClr val="FF0000"/>
                </a:solidFill>
              </a:rPr>
              <a:t>1</a:t>
            </a:r>
            <a:r>
              <a:rPr lang="en-US" altLang="zh-CN" sz="2400">
                <a:solidFill>
                  <a:srgbClr val="FF0000"/>
                </a:solidFill>
              </a:rPr>
              <a:t> </a:t>
            </a:r>
            <a:r>
              <a:rPr lang="zh-CN" altLang="en-US" sz="2400" b="0">
                <a:solidFill>
                  <a:srgbClr val="FF0000"/>
                </a:solidFill>
              </a:rPr>
              <a:t>地址</a:t>
            </a:r>
            <a:r>
              <a:rPr lang="en-US" altLang="zh-CN" sz="2400" b="0">
                <a:solidFill>
                  <a:srgbClr val="FF0000"/>
                </a:solidFill>
              </a:rPr>
              <a:t>2</a:t>
            </a:r>
            <a:r>
              <a:rPr lang="en-US" altLang="zh-CN" sz="2400"/>
              <a:t> </a:t>
            </a:r>
            <a:r>
              <a:rPr lang="en-US" altLang="zh-CN" sz="2400">
                <a:solidFill>
                  <a:srgbClr val="3333CC"/>
                </a:solidFill>
              </a:rPr>
              <a:t>netmask</a:t>
            </a:r>
            <a:r>
              <a:rPr lang="en-US" altLang="zh-CN" sz="2400"/>
              <a:t> </a:t>
            </a:r>
            <a:r>
              <a:rPr lang="zh-CN" altLang="en-US" sz="2400" b="0">
                <a:solidFill>
                  <a:srgbClr val="FF0000"/>
                </a:solidFill>
              </a:rPr>
              <a:t>子网掩码</a:t>
            </a:r>
            <a:endParaRPr lang="en-US" altLang="zh-CN" sz="2400" b="0">
              <a:solidFill>
                <a:srgbClr val="FF0000"/>
              </a:solidFill>
            </a:endParaRPr>
          </a:p>
          <a:p>
            <a:pPr>
              <a:lnSpc>
                <a:spcPct val="90000"/>
              </a:lnSpc>
            </a:pPr>
            <a:r>
              <a:rPr lang="zh-CN" altLang="en-US" sz="2800"/>
              <a:t>建立映射关系</a:t>
            </a:r>
          </a:p>
          <a:p>
            <a:pPr lvl="1">
              <a:lnSpc>
                <a:spcPct val="90000"/>
              </a:lnSpc>
            </a:pPr>
            <a:r>
              <a:rPr lang="en-US" altLang="zh-CN" sz="2400"/>
              <a:t>Router(config)#</a:t>
            </a:r>
            <a:r>
              <a:rPr lang="en-US" altLang="zh-CN" sz="2400">
                <a:solidFill>
                  <a:srgbClr val="3333CC"/>
                </a:solidFill>
              </a:rPr>
              <a:t>ip nat inside source list</a:t>
            </a:r>
            <a:r>
              <a:rPr lang="en-US" altLang="zh-CN" sz="2400"/>
              <a:t> </a:t>
            </a:r>
            <a:r>
              <a:rPr lang="en-US" altLang="zh-CN" sz="2400">
                <a:solidFill>
                  <a:srgbClr val="FF0000"/>
                </a:solidFill>
              </a:rPr>
              <a:t>&lt;1-99&gt;</a:t>
            </a:r>
            <a:r>
              <a:rPr lang="en-US" altLang="zh-CN" sz="2400"/>
              <a:t> </a:t>
            </a:r>
            <a:r>
              <a:rPr lang="en-US" altLang="zh-CN" sz="2400">
                <a:solidFill>
                  <a:srgbClr val="3333CC"/>
                </a:solidFill>
              </a:rPr>
              <a:t>pool</a:t>
            </a:r>
            <a:r>
              <a:rPr lang="en-US" altLang="zh-CN" sz="2400"/>
              <a:t> </a:t>
            </a:r>
            <a:r>
              <a:rPr lang="en-US" altLang="zh-CN" sz="2400" i="1">
                <a:solidFill>
                  <a:srgbClr val="FF0000"/>
                </a:solidFill>
              </a:rPr>
              <a:t>pool-name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1A1FE24-EE8E-40E1-AC41-BBDC87743609}"/>
              </a:ext>
            </a:extLst>
          </p:cNvPr>
          <p:cNvSpPr>
            <a:spLocks noGrp="1" noChangeArrowheads="1"/>
          </p:cNvSpPr>
          <p:nvPr>
            <p:ph type="title" idx="4294967295"/>
          </p:nvPr>
        </p:nvSpPr>
        <p:spPr/>
        <p:txBody>
          <a:bodyPr/>
          <a:lstStyle/>
          <a:p>
            <a:r>
              <a:rPr lang="en-US" altLang="zh-CN" sz="4000"/>
              <a:t>NAT</a:t>
            </a:r>
            <a:r>
              <a:rPr lang="zh-CN" altLang="en-US" sz="4000"/>
              <a:t>信息查看</a:t>
            </a:r>
          </a:p>
        </p:txBody>
      </p:sp>
      <p:sp>
        <p:nvSpPr>
          <p:cNvPr id="19459" name="Rectangle 3">
            <a:extLst>
              <a:ext uri="{FF2B5EF4-FFF2-40B4-BE49-F238E27FC236}">
                <a16:creationId xmlns:a16="http://schemas.microsoft.com/office/drawing/2014/main" id="{EF540E26-BBF7-45F2-A11A-A5509AA08E5A}"/>
              </a:ext>
            </a:extLst>
          </p:cNvPr>
          <p:cNvSpPr>
            <a:spLocks noGrp="1" noChangeArrowheads="1"/>
          </p:cNvSpPr>
          <p:nvPr>
            <p:ph type="body" idx="4294967295"/>
          </p:nvPr>
        </p:nvSpPr>
        <p:spPr>
          <a:xfrm>
            <a:off x="663575" y="1350963"/>
            <a:ext cx="8229600" cy="4525962"/>
          </a:xfrm>
        </p:spPr>
        <p:txBody>
          <a:bodyPr/>
          <a:lstStyle/>
          <a:p>
            <a:pPr>
              <a:lnSpc>
                <a:spcPct val="90000"/>
              </a:lnSpc>
            </a:pPr>
            <a:r>
              <a:rPr lang="en-US" altLang="zh-CN"/>
              <a:t>Router# </a:t>
            </a:r>
            <a:r>
              <a:rPr lang="en-US" altLang="zh-CN">
                <a:solidFill>
                  <a:srgbClr val="3333CC"/>
                </a:solidFill>
              </a:rPr>
              <a:t>show runing-config</a:t>
            </a:r>
            <a:r>
              <a:rPr lang="en-US" altLang="zh-CN"/>
              <a:t>                </a:t>
            </a:r>
          </a:p>
          <a:p>
            <a:pPr>
              <a:lnSpc>
                <a:spcPct val="90000"/>
              </a:lnSpc>
            </a:pPr>
            <a:r>
              <a:rPr lang="en-US" altLang="zh-CN"/>
              <a:t>Router# </a:t>
            </a:r>
            <a:r>
              <a:rPr lang="en-US" altLang="zh-CN">
                <a:solidFill>
                  <a:srgbClr val="3333CC"/>
                </a:solidFill>
              </a:rPr>
              <a:t>show interface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677C75DC-BF71-4A5E-A8E2-0B2B95E2490F}"/>
              </a:ext>
            </a:extLst>
          </p:cNvPr>
          <p:cNvSpPr>
            <a:spLocks noGrp="1" noChangeArrowheads="1"/>
          </p:cNvSpPr>
          <p:nvPr>
            <p:ph type="title" idx="4294967295"/>
          </p:nvPr>
        </p:nvSpPr>
        <p:spPr/>
        <p:txBody>
          <a:bodyPr/>
          <a:lstStyle/>
          <a:p>
            <a:r>
              <a:rPr lang="en-US" altLang="zh-CN" sz="4000"/>
              <a:t>NAT/NAPT</a:t>
            </a:r>
            <a:r>
              <a:rPr lang="zh-CN" altLang="en-US" sz="4000"/>
              <a:t>的监视和维护命令</a:t>
            </a:r>
          </a:p>
        </p:txBody>
      </p:sp>
      <p:sp>
        <p:nvSpPr>
          <p:cNvPr id="20483" name="Rectangle 3">
            <a:extLst>
              <a:ext uri="{FF2B5EF4-FFF2-40B4-BE49-F238E27FC236}">
                <a16:creationId xmlns:a16="http://schemas.microsoft.com/office/drawing/2014/main" id="{91299A0F-8106-4E1B-8AC7-FB17EF5EFBA4}"/>
              </a:ext>
            </a:extLst>
          </p:cNvPr>
          <p:cNvSpPr>
            <a:spLocks noGrp="1" noChangeArrowheads="1"/>
          </p:cNvSpPr>
          <p:nvPr>
            <p:ph type="body" idx="4294967295"/>
          </p:nvPr>
        </p:nvSpPr>
        <p:spPr>
          <a:xfrm>
            <a:off x="663575" y="1350963"/>
            <a:ext cx="8229600" cy="4525962"/>
          </a:xfrm>
        </p:spPr>
        <p:txBody>
          <a:bodyPr/>
          <a:lstStyle/>
          <a:p>
            <a:pPr>
              <a:lnSpc>
                <a:spcPct val="140000"/>
              </a:lnSpc>
            </a:pPr>
            <a:r>
              <a:rPr lang="zh-CN" altLang="en-US"/>
              <a:t>显示命令</a:t>
            </a:r>
          </a:p>
          <a:p>
            <a:pPr lvl="1">
              <a:lnSpc>
                <a:spcPct val="90000"/>
              </a:lnSpc>
            </a:pPr>
            <a:r>
              <a:rPr lang="en-US" altLang="zh-CN"/>
              <a:t>Router# </a:t>
            </a:r>
            <a:r>
              <a:rPr lang="en-US" altLang="zh-CN">
                <a:solidFill>
                  <a:srgbClr val="3333CC"/>
                </a:solidFill>
              </a:rPr>
              <a:t>show ip nat statistics</a:t>
            </a:r>
            <a:r>
              <a:rPr lang="en-US" altLang="zh-CN"/>
              <a:t>                </a:t>
            </a:r>
          </a:p>
          <a:p>
            <a:pPr lvl="2">
              <a:lnSpc>
                <a:spcPct val="90000"/>
              </a:lnSpc>
            </a:pPr>
            <a:r>
              <a:rPr lang="zh-CN" altLang="en-US"/>
              <a:t>显示</a:t>
            </a:r>
            <a:r>
              <a:rPr lang="en-US" altLang="zh-CN"/>
              <a:t>nat</a:t>
            </a:r>
            <a:r>
              <a:rPr lang="zh-CN" altLang="en-US"/>
              <a:t>统计</a:t>
            </a:r>
          </a:p>
          <a:p>
            <a:pPr lvl="1">
              <a:lnSpc>
                <a:spcPct val="90000"/>
              </a:lnSpc>
            </a:pPr>
            <a:r>
              <a:rPr lang="en-US" altLang="zh-CN"/>
              <a:t>Router# </a:t>
            </a:r>
            <a:r>
              <a:rPr lang="en-US" altLang="zh-CN">
                <a:solidFill>
                  <a:srgbClr val="3333CC"/>
                </a:solidFill>
              </a:rPr>
              <a:t>show ip nat translation</a:t>
            </a:r>
          </a:p>
          <a:p>
            <a:pPr lvl="2">
              <a:lnSpc>
                <a:spcPct val="90000"/>
              </a:lnSpc>
            </a:pPr>
            <a:r>
              <a:rPr lang="zh-CN" altLang="en-US"/>
              <a:t>显示活动</a:t>
            </a:r>
            <a:r>
              <a:rPr lang="en-US" altLang="zh-CN"/>
              <a:t>nat,</a:t>
            </a:r>
            <a:r>
              <a:rPr lang="zh-CN" altLang="en-US"/>
              <a:t>如果有数据，表明已进行过转换</a:t>
            </a:r>
            <a:endParaRPr lang="en-US" altLang="zh-CN"/>
          </a:p>
          <a:p>
            <a:pPr>
              <a:lnSpc>
                <a:spcPct val="140000"/>
              </a:lnSpc>
            </a:pPr>
            <a:r>
              <a:rPr lang="zh-CN" altLang="en-US"/>
              <a:t>清除状态命令</a:t>
            </a:r>
          </a:p>
          <a:p>
            <a:pPr lvl="1">
              <a:lnSpc>
                <a:spcPct val="90000"/>
              </a:lnSpc>
            </a:pPr>
            <a:r>
              <a:rPr lang="en-US" altLang="zh-CN"/>
              <a:t>Router# </a:t>
            </a:r>
            <a:r>
              <a:rPr lang="en-US" altLang="zh-CN">
                <a:solidFill>
                  <a:srgbClr val="3333CC"/>
                </a:solidFill>
              </a:rPr>
              <a:t>clear ip nat translation</a:t>
            </a:r>
            <a:r>
              <a:rPr lang="en-US" altLang="zh-CN"/>
              <a:t> *</a:t>
            </a:r>
          </a:p>
          <a:p>
            <a:pPr lvl="2">
              <a:lnSpc>
                <a:spcPct val="90000"/>
              </a:lnSpc>
            </a:pPr>
            <a:r>
              <a:rPr lang="zh-CN" altLang="en-US"/>
              <a:t>从</a:t>
            </a:r>
            <a:r>
              <a:rPr lang="en-US" altLang="zh-CN"/>
              <a:t>NAT</a:t>
            </a:r>
            <a:r>
              <a:rPr lang="zh-CN" altLang="en-US"/>
              <a:t>转换表中清除所有动态地址转换项</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EC48F6A-F541-4C46-812B-587099284943}"/>
              </a:ext>
            </a:extLst>
          </p:cNvPr>
          <p:cNvSpPr>
            <a:spLocks noGrp="1" noChangeArrowheads="1"/>
          </p:cNvSpPr>
          <p:nvPr>
            <p:ph type="title" idx="4294967295"/>
          </p:nvPr>
        </p:nvSpPr>
        <p:spPr/>
        <p:txBody>
          <a:bodyPr/>
          <a:lstStyle/>
          <a:p>
            <a:r>
              <a:rPr lang="zh-CN" altLang="en-US" sz="4000"/>
              <a:t>默认</a:t>
            </a:r>
            <a:r>
              <a:rPr lang="en-US" altLang="zh-CN" sz="4000"/>
              <a:t>(</a:t>
            </a:r>
            <a:r>
              <a:rPr lang="zh-CN" altLang="en-US" sz="4000"/>
              <a:t>缺省</a:t>
            </a:r>
            <a:r>
              <a:rPr lang="en-US" altLang="zh-CN" sz="4000"/>
              <a:t>)</a:t>
            </a:r>
            <a:r>
              <a:rPr lang="zh-CN" altLang="en-US" sz="4000"/>
              <a:t>路由</a:t>
            </a:r>
          </a:p>
        </p:txBody>
      </p:sp>
      <p:sp>
        <p:nvSpPr>
          <p:cNvPr id="21507" name="Rectangle 3">
            <a:extLst>
              <a:ext uri="{FF2B5EF4-FFF2-40B4-BE49-F238E27FC236}">
                <a16:creationId xmlns:a16="http://schemas.microsoft.com/office/drawing/2014/main" id="{5FB67E27-9C9E-4623-A084-F9630592D532}"/>
              </a:ext>
            </a:extLst>
          </p:cNvPr>
          <p:cNvSpPr>
            <a:spLocks noGrp="1" noChangeArrowheads="1"/>
          </p:cNvSpPr>
          <p:nvPr>
            <p:ph type="body" idx="4294967295"/>
          </p:nvPr>
        </p:nvSpPr>
        <p:spPr>
          <a:xfrm>
            <a:off x="500063" y="1000125"/>
            <a:ext cx="7772400" cy="4525963"/>
          </a:xfrm>
        </p:spPr>
        <p:txBody>
          <a:bodyPr/>
          <a:lstStyle/>
          <a:p>
            <a:r>
              <a:rPr lang="zh-CN" altLang="en-US"/>
              <a:t>默认路由概述</a:t>
            </a:r>
          </a:p>
          <a:p>
            <a:pPr lvl="1"/>
            <a:r>
              <a:rPr lang="en-US" altLang="zh-CN">
                <a:latin typeface="幼圆" panose="02010509060101010101" pitchFamily="49" charset="-122"/>
              </a:rPr>
              <a:t>0.0.0.0/0</a:t>
            </a:r>
            <a:r>
              <a:rPr lang="zh-CN" altLang="en-US">
                <a:latin typeface="幼圆" panose="02010509060101010101" pitchFamily="49" charset="-122"/>
              </a:rPr>
              <a:t>可以匹配所有的</a:t>
            </a:r>
            <a:r>
              <a:rPr lang="en-US" altLang="zh-CN">
                <a:latin typeface="幼圆" panose="02010509060101010101" pitchFamily="49" charset="-122"/>
              </a:rPr>
              <a:t>IP</a:t>
            </a:r>
            <a:r>
              <a:rPr lang="zh-CN" altLang="en-US">
                <a:latin typeface="幼圆" panose="02010509060101010101" pitchFamily="49" charset="-122"/>
              </a:rPr>
              <a:t>地址，属于最不精确的匹配</a:t>
            </a:r>
          </a:p>
          <a:p>
            <a:pPr lvl="1"/>
            <a:r>
              <a:rPr lang="zh-CN" altLang="en-US">
                <a:latin typeface="幼圆" panose="02010509060101010101" pitchFamily="49" charset="-122"/>
              </a:rPr>
              <a:t>默认路由可以看作是静态路由的一种特殊情况</a:t>
            </a:r>
          </a:p>
          <a:p>
            <a:pPr lvl="1"/>
            <a:r>
              <a:rPr lang="zh-CN" altLang="en-US">
                <a:latin typeface="幼圆" panose="02010509060101010101" pitchFamily="49" charset="-122"/>
              </a:rPr>
              <a:t>当所有已知路由信息都查不到数据包如何转发时，按缺省路由的信息进行转发</a:t>
            </a:r>
          </a:p>
          <a:p>
            <a:r>
              <a:rPr lang="zh-CN" altLang="en-US"/>
              <a:t>配置默认路由：</a:t>
            </a:r>
          </a:p>
          <a:p>
            <a:pPr lvl="1"/>
            <a:r>
              <a:rPr lang="en-US" altLang="zh-CN"/>
              <a:t>router(config)#</a:t>
            </a:r>
            <a:r>
              <a:rPr lang="en-US" altLang="zh-CN">
                <a:solidFill>
                  <a:srgbClr val="3333CC"/>
                </a:solidFill>
              </a:rPr>
              <a:t>ip route 0.0.0.0 0.0.0.0</a:t>
            </a:r>
            <a:r>
              <a:rPr lang="en-US" altLang="zh-CN"/>
              <a:t> </a:t>
            </a:r>
            <a:r>
              <a:rPr lang="zh-CN" altLang="en-US">
                <a:solidFill>
                  <a:srgbClr val="FF0000"/>
                </a:solidFill>
              </a:rPr>
              <a:t>转发路由器的</a:t>
            </a:r>
            <a:r>
              <a:rPr lang="en-US" altLang="zh-CN">
                <a:solidFill>
                  <a:srgbClr val="FF0000"/>
                </a:solidFill>
              </a:rPr>
              <a:t>IP</a:t>
            </a:r>
            <a:r>
              <a:rPr lang="zh-CN" altLang="en-US">
                <a:solidFill>
                  <a:srgbClr val="FF0000"/>
                </a:solidFill>
              </a:rPr>
              <a:t>地址</a:t>
            </a:r>
            <a:r>
              <a:rPr lang="en-US" altLang="zh-CN">
                <a:solidFill>
                  <a:srgbClr val="FF0000"/>
                </a:solidFill>
              </a:rPr>
              <a:t>/</a:t>
            </a:r>
            <a:r>
              <a:rPr lang="zh-CN" altLang="en-US">
                <a:solidFill>
                  <a:srgbClr val="FF0000"/>
                </a:solidFill>
              </a:rPr>
              <a:t>本地接口</a:t>
            </a:r>
            <a:endParaRPr lang="en-US" altLang="zh-CN">
              <a:solidFill>
                <a:srgbClr val="FF0000"/>
              </a:solidFill>
            </a:endParaRPr>
          </a:p>
          <a:p>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D942707B-4496-4ADF-883E-B3DD2072C574}"/>
              </a:ext>
            </a:extLst>
          </p:cNvPr>
          <p:cNvSpPr>
            <a:spLocks noGrp="1" noChangeArrowheads="1"/>
          </p:cNvSpPr>
          <p:nvPr>
            <p:ph type="title" idx="4294967295"/>
          </p:nvPr>
        </p:nvSpPr>
        <p:spPr/>
        <p:txBody>
          <a:bodyPr/>
          <a:lstStyle/>
          <a:p>
            <a:r>
              <a:rPr lang="zh-CN" altLang="en-US" sz="4000"/>
              <a:t>实验注意事项</a:t>
            </a:r>
            <a:endParaRPr lang="en-US" altLang="zh-CN" sz="4000"/>
          </a:p>
        </p:txBody>
      </p:sp>
      <p:sp>
        <p:nvSpPr>
          <p:cNvPr id="22531" name="Rectangle 3">
            <a:extLst>
              <a:ext uri="{FF2B5EF4-FFF2-40B4-BE49-F238E27FC236}">
                <a16:creationId xmlns:a16="http://schemas.microsoft.com/office/drawing/2014/main" id="{37EE8F40-BCD8-4DB9-B35B-022791D4FAD9}"/>
              </a:ext>
            </a:extLst>
          </p:cNvPr>
          <p:cNvSpPr>
            <a:spLocks noGrp="1" noChangeArrowheads="1"/>
          </p:cNvSpPr>
          <p:nvPr>
            <p:ph type="body" idx="4294967295"/>
          </p:nvPr>
        </p:nvSpPr>
        <p:spPr>
          <a:xfrm>
            <a:off x="323850" y="836613"/>
            <a:ext cx="8569325" cy="5545137"/>
          </a:xfrm>
        </p:spPr>
        <p:txBody>
          <a:bodyPr/>
          <a:lstStyle/>
          <a:p>
            <a:r>
              <a:rPr lang="zh-CN" altLang="en-US"/>
              <a:t>路由器配置静态路由时，只在</a:t>
            </a:r>
            <a:r>
              <a:rPr lang="en-US" altLang="zh-CN"/>
              <a:t>RA</a:t>
            </a:r>
            <a:r>
              <a:rPr lang="zh-CN" altLang="en-US"/>
              <a:t>上配置，</a:t>
            </a:r>
            <a:r>
              <a:rPr lang="en-US" altLang="zh-CN"/>
              <a:t>RB</a:t>
            </a:r>
            <a:r>
              <a:rPr lang="zh-CN" altLang="en-US"/>
              <a:t>上不要配置。</a:t>
            </a:r>
          </a:p>
          <a:p>
            <a:r>
              <a:rPr lang="zh-CN" altLang="en-US"/>
              <a:t>用</a:t>
            </a:r>
            <a:r>
              <a:rPr lang="en-US" altLang="zh-CN"/>
              <a:t>ping</a:t>
            </a:r>
            <a:r>
              <a:rPr lang="zh-CN" altLang="en-US"/>
              <a:t>命令测试连通性时，</a:t>
            </a:r>
            <a:r>
              <a:rPr lang="en-US" altLang="zh-CN"/>
              <a:t>PC1</a:t>
            </a:r>
            <a:r>
              <a:rPr lang="zh-CN" altLang="en-US"/>
              <a:t>可以</a:t>
            </a:r>
            <a:r>
              <a:rPr lang="en-US" altLang="zh-CN"/>
              <a:t>ping</a:t>
            </a:r>
            <a:r>
              <a:rPr lang="zh-CN" altLang="en-US"/>
              <a:t>通</a:t>
            </a:r>
            <a:r>
              <a:rPr lang="en-US" altLang="zh-CN"/>
              <a:t>PC2</a:t>
            </a:r>
            <a:r>
              <a:rPr lang="zh-CN" altLang="en-US"/>
              <a:t>、</a:t>
            </a:r>
            <a:r>
              <a:rPr lang="en-US" altLang="zh-CN"/>
              <a:t>PC3,</a:t>
            </a:r>
            <a:r>
              <a:rPr lang="zh-CN" altLang="en-US"/>
              <a:t>而</a:t>
            </a:r>
            <a:r>
              <a:rPr lang="en-US" altLang="zh-CN"/>
              <a:t>PC2</a:t>
            </a:r>
            <a:r>
              <a:rPr lang="zh-CN" altLang="en-US"/>
              <a:t>、</a:t>
            </a:r>
            <a:r>
              <a:rPr lang="en-US" altLang="zh-CN"/>
              <a:t>PC3</a:t>
            </a:r>
            <a:r>
              <a:rPr lang="zh-CN" altLang="en-US"/>
              <a:t>不能</a:t>
            </a:r>
            <a:r>
              <a:rPr lang="en-US" altLang="zh-CN"/>
              <a:t>ping</a:t>
            </a:r>
            <a:r>
              <a:rPr lang="zh-CN" altLang="en-US"/>
              <a:t>通</a:t>
            </a:r>
            <a:r>
              <a:rPr lang="en-US" altLang="zh-CN"/>
              <a:t>PC1</a:t>
            </a:r>
            <a:r>
              <a:rPr lang="zh-CN" altLang="en-US"/>
              <a:t>的。</a:t>
            </a:r>
          </a:p>
          <a:p>
            <a:r>
              <a:rPr lang="zh-CN" altLang="en-US"/>
              <a:t>使用</a:t>
            </a:r>
            <a:r>
              <a:rPr lang="en-US" altLang="zh-CN"/>
              <a:t>show ip nat translation</a:t>
            </a:r>
            <a:r>
              <a:rPr lang="zh-CN" altLang="en-US"/>
              <a:t>查看</a:t>
            </a:r>
            <a:r>
              <a:rPr lang="en-US" altLang="zh-CN"/>
              <a:t>nat</a:t>
            </a:r>
            <a:r>
              <a:rPr lang="zh-CN" altLang="en-US"/>
              <a:t>转换信息时，需先由</a:t>
            </a:r>
            <a:r>
              <a:rPr lang="en-US" altLang="zh-CN"/>
              <a:t>PC1</a:t>
            </a:r>
            <a:r>
              <a:rPr lang="zh-CN" altLang="en-US"/>
              <a:t>访问</a:t>
            </a:r>
            <a:r>
              <a:rPr lang="en-US" altLang="zh-CN"/>
              <a:t>PC2</a:t>
            </a:r>
            <a:r>
              <a:rPr lang="zh-CN" altLang="en-US"/>
              <a:t>的</a:t>
            </a:r>
            <a:r>
              <a:rPr lang="en-US" altLang="zh-CN"/>
              <a:t>www</a:t>
            </a:r>
            <a:r>
              <a:rPr lang="zh-CN" altLang="en-US"/>
              <a:t>网站后再查看。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DCFA674C-2D55-46D5-814B-3FFF8A180AB9}"/>
              </a:ext>
            </a:extLst>
          </p:cNvPr>
          <p:cNvSpPr>
            <a:spLocks noChangeArrowheads="1"/>
          </p:cNvSpPr>
          <p:nvPr/>
        </p:nvSpPr>
        <p:spPr bwMode="auto">
          <a:xfrm>
            <a:off x="1339850" y="3644900"/>
            <a:ext cx="6400800"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endParaRPr lang="zh-CN" altLang="zh-CN" sz="3600" b="0">
              <a:solidFill>
                <a:srgbClr val="800000"/>
              </a:solidFill>
            </a:endParaRPr>
          </a:p>
        </p:txBody>
      </p:sp>
      <p:sp>
        <p:nvSpPr>
          <p:cNvPr id="23555" name="Rectangle 6">
            <a:extLst>
              <a:ext uri="{FF2B5EF4-FFF2-40B4-BE49-F238E27FC236}">
                <a16:creationId xmlns:a16="http://schemas.microsoft.com/office/drawing/2014/main" id="{6ECACA8F-28B6-4FF1-B288-6A13D41854D3}"/>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zh-CN" sz="2400">
              <a:latin typeface="Arial" panose="020B0604020202020204" pitchFamily="34" charset="0"/>
              <a:ea typeface="宋体" panose="02010600030101010101" pitchFamily="2" charset="-122"/>
            </a:endParaRPr>
          </a:p>
        </p:txBody>
      </p:sp>
      <p:sp>
        <p:nvSpPr>
          <p:cNvPr id="23556" name="WordArt 10">
            <a:extLst>
              <a:ext uri="{FF2B5EF4-FFF2-40B4-BE49-F238E27FC236}">
                <a16:creationId xmlns:a16="http://schemas.microsoft.com/office/drawing/2014/main" id="{6F33499D-9010-49E2-9FE0-DA51A8AA842D}"/>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192523" name="Rectangle 11">
            <a:extLst>
              <a:ext uri="{FF2B5EF4-FFF2-40B4-BE49-F238E27FC236}">
                <a16:creationId xmlns:a16="http://schemas.microsoft.com/office/drawing/2014/main" id="{64473312-308F-43AD-AE1C-1A12CF2FCDEC}"/>
              </a:ext>
            </a:extLst>
          </p:cNvPr>
          <p:cNvSpPr>
            <a:spLocks noGrp="1" noChangeArrowheads="1"/>
          </p:cNvSpPr>
          <p:nvPr>
            <p:ph type="title" idx="4294967295"/>
          </p:nvPr>
        </p:nvSpPr>
        <p:spPr>
          <a:xfrm>
            <a:off x="395288" y="2997200"/>
            <a:ext cx="8477250" cy="838200"/>
          </a:xfrm>
        </p:spPr>
        <p:txBody>
          <a:bodyPr/>
          <a:lstStyle/>
          <a:p>
            <a:pPr algn="ctr" eaLnBrk="1" hangingPunct="1">
              <a:defRPr/>
            </a:pPr>
            <a:r>
              <a:rPr lang="en-US" altLang="zh-CN" dirty="0">
                <a:effectLst>
                  <a:outerShdw blurRad="38100" dist="38100" dir="2700000" algn="tl">
                    <a:srgbClr val="C0C0C0"/>
                  </a:outerShdw>
                </a:effectLst>
              </a:rPr>
              <a:t>IP</a:t>
            </a:r>
            <a:r>
              <a:rPr lang="zh-CN" altLang="en-US" dirty="0">
                <a:effectLst>
                  <a:outerShdw blurRad="38100" dist="38100" dir="2700000" algn="tl">
                    <a:srgbClr val="C0C0C0"/>
                  </a:outerShdw>
                </a:effectLst>
              </a:rPr>
              <a:t>访问控制列表实验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1">
            <a:extLst>
              <a:ext uri="{FF2B5EF4-FFF2-40B4-BE49-F238E27FC236}">
                <a16:creationId xmlns:a16="http://schemas.microsoft.com/office/drawing/2014/main" id="{6DA46C6A-E194-485F-9740-F6AE7DE3022D}"/>
              </a:ext>
            </a:extLst>
          </p:cNvPr>
          <p:cNvSpPr>
            <a:spLocks noGrp="1" noChangeArrowheads="1"/>
          </p:cNvSpPr>
          <p:nvPr>
            <p:ph type="title" idx="4294967295"/>
          </p:nvPr>
        </p:nvSpPr>
        <p:spPr/>
        <p:txBody>
          <a:bodyPr/>
          <a:lstStyle/>
          <a:p>
            <a:r>
              <a:rPr lang="zh-CN" altLang="en-US"/>
              <a:t>访问控制列表</a:t>
            </a:r>
          </a:p>
        </p:txBody>
      </p:sp>
      <p:sp>
        <p:nvSpPr>
          <p:cNvPr id="25603" name="Rectangle 27">
            <a:extLst>
              <a:ext uri="{FF2B5EF4-FFF2-40B4-BE49-F238E27FC236}">
                <a16:creationId xmlns:a16="http://schemas.microsoft.com/office/drawing/2014/main" id="{9939BB8B-E64F-4778-8B13-ACFBECFC874E}"/>
              </a:ext>
            </a:extLst>
          </p:cNvPr>
          <p:cNvSpPr>
            <a:spLocks noGrp="1" noChangeArrowheads="1"/>
          </p:cNvSpPr>
          <p:nvPr>
            <p:ph type="body" idx="4294967295"/>
          </p:nvPr>
        </p:nvSpPr>
        <p:spPr>
          <a:xfrm>
            <a:off x="571500" y="1143000"/>
            <a:ext cx="8064500" cy="2159000"/>
          </a:xfrm>
          <a:noFill/>
        </p:spPr>
        <p:txBody>
          <a:bodyPr/>
          <a:lstStyle/>
          <a:p>
            <a:r>
              <a:rPr lang="en-US" altLang="zh-CN">
                <a:latin typeface="Arial" panose="020B0604020202020204" pitchFamily="34" charset="0"/>
              </a:rPr>
              <a:t>IP Access-list</a:t>
            </a:r>
            <a:r>
              <a:rPr lang="zh-CN" altLang="en-US">
                <a:latin typeface="Arial" panose="020B0604020202020204" pitchFamily="34" charset="0"/>
              </a:rPr>
              <a:t>：</a:t>
            </a:r>
            <a:r>
              <a:rPr lang="en-US" altLang="zh-CN">
                <a:latin typeface="Arial" panose="020B0604020202020204" pitchFamily="34" charset="0"/>
              </a:rPr>
              <a:t>IP</a:t>
            </a:r>
            <a:r>
              <a:rPr lang="zh-CN" altLang="en-US">
                <a:latin typeface="Arial" panose="020B0604020202020204" pitchFamily="34" charset="0"/>
              </a:rPr>
              <a:t>访问列表或访问控制列表，简称</a:t>
            </a:r>
            <a:r>
              <a:rPr lang="en-US" altLang="zh-CN">
                <a:latin typeface="Arial" panose="020B0604020202020204" pitchFamily="34" charset="0"/>
              </a:rPr>
              <a:t>IP ACL</a:t>
            </a:r>
          </a:p>
          <a:p>
            <a:pPr lvl="1"/>
            <a:r>
              <a:rPr lang="en-US" altLang="zh-CN">
                <a:latin typeface="Arial" panose="020B0604020202020204" pitchFamily="34" charset="0"/>
              </a:rPr>
              <a:t>ACL</a:t>
            </a:r>
            <a:r>
              <a:rPr lang="zh-CN" altLang="en-US">
                <a:latin typeface="Arial" panose="020B0604020202020204" pitchFamily="34" charset="0"/>
              </a:rPr>
              <a:t>就是对经过网络设备的数据包根据一定的规则进行数据包的过滤</a:t>
            </a:r>
          </a:p>
        </p:txBody>
      </p:sp>
      <p:sp>
        <p:nvSpPr>
          <p:cNvPr id="25604" name="Line 2">
            <a:extLst>
              <a:ext uri="{FF2B5EF4-FFF2-40B4-BE49-F238E27FC236}">
                <a16:creationId xmlns:a16="http://schemas.microsoft.com/office/drawing/2014/main" id="{CB989B53-E7DA-4E46-A34B-850A7E08A5E0}"/>
              </a:ext>
            </a:extLst>
          </p:cNvPr>
          <p:cNvSpPr>
            <a:spLocks noChangeShapeType="1"/>
          </p:cNvSpPr>
          <p:nvPr/>
        </p:nvSpPr>
        <p:spPr bwMode="auto">
          <a:xfrm>
            <a:off x="4130675" y="4171950"/>
            <a:ext cx="0" cy="563563"/>
          </a:xfrm>
          <a:prstGeom prst="line">
            <a:avLst/>
          </a:prstGeom>
          <a:noFill/>
          <a:ln w="38100">
            <a:solidFill>
              <a:schemeClr val="accent2"/>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5" name="Line 3">
            <a:extLst>
              <a:ext uri="{FF2B5EF4-FFF2-40B4-BE49-F238E27FC236}">
                <a16:creationId xmlns:a16="http://schemas.microsoft.com/office/drawing/2014/main" id="{169462BE-7788-4EC5-91FA-7C99CF9D84AF}"/>
              </a:ext>
            </a:extLst>
          </p:cNvPr>
          <p:cNvSpPr>
            <a:spLocks noChangeShapeType="1"/>
          </p:cNvSpPr>
          <p:nvPr/>
        </p:nvSpPr>
        <p:spPr bwMode="auto">
          <a:xfrm>
            <a:off x="4575175" y="4171950"/>
            <a:ext cx="0" cy="563563"/>
          </a:xfrm>
          <a:prstGeom prst="line">
            <a:avLst/>
          </a:prstGeom>
          <a:noFill/>
          <a:ln w="38100">
            <a:solidFill>
              <a:schemeClr val="accent2"/>
            </a:solidFill>
            <a:round/>
            <a:headEnd type="none" w="sm" len="sm"/>
            <a:tailEnd type="none" w="sm" len="sm"/>
          </a:ln>
          <a:effectLst>
            <a:outerShdw dist="35921" dir="2700000" algn="ctr" rotWithShape="0">
              <a:schemeClr val="tx1"/>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6" name="Line 4">
            <a:extLst>
              <a:ext uri="{FF2B5EF4-FFF2-40B4-BE49-F238E27FC236}">
                <a16:creationId xmlns:a16="http://schemas.microsoft.com/office/drawing/2014/main" id="{614CE629-5069-4FCC-884D-FD725EB2B926}"/>
              </a:ext>
            </a:extLst>
          </p:cNvPr>
          <p:cNvSpPr>
            <a:spLocks noChangeShapeType="1"/>
          </p:cNvSpPr>
          <p:nvPr/>
        </p:nvSpPr>
        <p:spPr bwMode="auto">
          <a:xfrm>
            <a:off x="4243388" y="4879975"/>
            <a:ext cx="0" cy="563563"/>
          </a:xfrm>
          <a:prstGeom prst="line">
            <a:avLst/>
          </a:prstGeom>
          <a:noFill/>
          <a:ln w="38100">
            <a:solidFill>
              <a:schemeClr val="accent2"/>
            </a:solidFill>
            <a:round/>
            <a:headEnd type="none" w="sm" len="sm"/>
            <a:tailEnd type="none" w="sm" len="sm"/>
          </a:ln>
          <a:effectLst>
            <a:outerShdw dist="45791" dir="2021404" algn="ctr" rotWithShape="0">
              <a:schemeClr val="tx1"/>
            </a:outerShdw>
          </a:effectLst>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7" name="Freeform 5">
            <a:extLst>
              <a:ext uri="{FF2B5EF4-FFF2-40B4-BE49-F238E27FC236}">
                <a16:creationId xmlns:a16="http://schemas.microsoft.com/office/drawing/2014/main" id="{B959D4FC-F786-457E-8796-A4721F6C1067}"/>
              </a:ext>
            </a:extLst>
          </p:cNvPr>
          <p:cNvSpPr>
            <a:spLocks/>
          </p:cNvSpPr>
          <p:nvPr/>
        </p:nvSpPr>
        <p:spPr bwMode="auto">
          <a:xfrm rot="5400000" flipH="1">
            <a:off x="6308725" y="4954588"/>
            <a:ext cx="141287" cy="928688"/>
          </a:xfrm>
          <a:custGeom>
            <a:avLst/>
            <a:gdLst>
              <a:gd name="T0" fmla="*/ 2147483646 w 105"/>
              <a:gd name="T1" fmla="*/ 2147483646 h 720"/>
              <a:gd name="T2" fmla="*/ 0 w 105"/>
              <a:gd name="T3" fmla="*/ 2147483646 h 720"/>
              <a:gd name="T4" fmla="*/ 2147483646 w 105"/>
              <a:gd name="T5" fmla="*/ 2147483646 h 720"/>
              <a:gd name="T6" fmla="*/ 2147483646 w 105"/>
              <a:gd name="T7" fmla="*/ 0 h 72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5" h="720">
                <a:moveTo>
                  <a:pt x="2" y="720"/>
                </a:moveTo>
                <a:lnTo>
                  <a:pt x="0" y="314"/>
                </a:lnTo>
                <a:lnTo>
                  <a:pt x="105" y="413"/>
                </a:lnTo>
                <a:lnTo>
                  <a:pt x="105" y="0"/>
                </a:lnTo>
              </a:path>
            </a:pathLst>
          </a:custGeom>
          <a:noFill/>
          <a:ln w="38100" cap="rnd" cmpd="sng">
            <a:solidFill>
              <a:schemeClr val="accent2"/>
            </a:solidFill>
            <a:prstDash val="solid"/>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08" name="Line 6">
            <a:extLst>
              <a:ext uri="{FF2B5EF4-FFF2-40B4-BE49-F238E27FC236}">
                <a16:creationId xmlns:a16="http://schemas.microsoft.com/office/drawing/2014/main" id="{5349D1A5-3A86-45B4-A807-AD2465E06B02}"/>
              </a:ext>
            </a:extLst>
          </p:cNvPr>
          <p:cNvSpPr>
            <a:spLocks noChangeShapeType="1"/>
          </p:cNvSpPr>
          <p:nvPr/>
        </p:nvSpPr>
        <p:spPr bwMode="auto">
          <a:xfrm>
            <a:off x="4940300" y="4903788"/>
            <a:ext cx="0" cy="531812"/>
          </a:xfrm>
          <a:prstGeom prst="line">
            <a:avLst/>
          </a:prstGeom>
          <a:noFill/>
          <a:ln w="381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25609" name="Line 7">
            <a:extLst>
              <a:ext uri="{FF2B5EF4-FFF2-40B4-BE49-F238E27FC236}">
                <a16:creationId xmlns:a16="http://schemas.microsoft.com/office/drawing/2014/main" id="{C1D045E1-DCAA-411F-8720-7247DBCCA508}"/>
              </a:ext>
            </a:extLst>
          </p:cNvPr>
          <p:cNvSpPr>
            <a:spLocks noChangeShapeType="1"/>
          </p:cNvSpPr>
          <p:nvPr/>
        </p:nvSpPr>
        <p:spPr bwMode="auto">
          <a:xfrm>
            <a:off x="2035175" y="5435600"/>
            <a:ext cx="3486150" cy="0"/>
          </a:xfrm>
          <a:prstGeom prst="line">
            <a:avLst/>
          </a:prstGeom>
          <a:noFill/>
          <a:ln w="38100">
            <a:solidFill>
              <a:schemeClr val="accent2"/>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25610" name="Picture 10">
            <a:extLst>
              <a:ext uri="{FF2B5EF4-FFF2-40B4-BE49-F238E27FC236}">
                <a16:creationId xmlns:a16="http://schemas.microsoft.com/office/drawing/2014/main" id="{1FC5ADBF-84E4-4530-87F0-7C11670BEB4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1150" y="5027613"/>
            <a:ext cx="1311275" cy="65246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1" name="Rectangle 11">
            <a:extLst>
              <a:ext uri="{FF2B5EF4-FFF2-40B4-BE49-F238E27FC236}">
                <a16:creationId xmlns:a16="http://schemas.microsoft.com/office/drawing/2014/main" id="{BC992DDE-189F-4E60-A02C-CF3DAA444952}"/>
              </a:ext>
            </a:extLst>
          </p:cNvPr>
          <p:cNvSpPr>
            <a:spLocks noChangeArrowheads="1"/>
          </p:cNvSpPr>
          <p:nvPr/>
        </p:nvSpPr>
        <p:spPr bwMode="auto">
          <a:xfrm>
            <a:off x="6902450" y="5183188"/>
            <a:ext cx="574675"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3584" tIns="51793" rIns="103584" bIns="51793">
            <a:spAutoFit/>
          </a:bodyPr>
          <a:lstStyle>
            <a:lvl1pPr defTabSz="10287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latin typeface="Helvetica" panose="020B0604020202020204" pitchFamily="34" charset="0"/>
                <a:ea typeface="宋体" panose="02010600030101010101" pitchFamily="2" charset="-122"/>
              </a:rPr>
              <a:t>ISP</a:t>
            </a:r>
          </a:p>
        </p:txBody>
      </p:sp>
      <p:pic>
        <p:nvPicPr>
          <p:cNvPr id="25612" name="Picture 19" descr="Router">
            <a:extLst>
              <a:ext uri="{FF2B5EF4-FFF2-40B4-BE49-F238E27FC236}">
                <a16:creationId xmlns:a16="http://schemas.microsoft.com/office/drawing/2014/main" id="{05DD0137-018F-4415-B3EE-8BA112ABDC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725" y="5287963"/>
            <a:ext cx="7747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3" name="Picture 20" descr="Router">
            <a:extLst>
              <a:ext uri="{FF2B5EF4-FFF2-40B4-BE49-F238E27FC236}">
                <a16:creationId xmlns:a16="http://schemas.microsoft.com/office/drawing/2014/main" id="{DB9016E9-E2C9-4F51-B44C-8C39ABF9A5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1900" y="5287963"/>
            <a:ext cx="774700"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4" name="Picture 22" descr="Route-processor">
            <a:extLst>
              <a:ext uri="{FF2B5EF4-FFF2-40B4-BE49-F238E27FC236}">
                <a16:creationId xmlns:a16="http://schemas.microsoft.com/office/drawing/2014/main" id="{8AD96A63-5262-44ED-87FB-B7ECE8B584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9375" y="4557713"/>
            <a:ext cx="877888"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5" name="Picture 23" descr="PC">
            <a:extLst>
              <a:ext uri="{FF2B5EF4-FFF2-40B4-BE49-F238E27FC236}">
                <a16:creationId xmlns:a16="http://schemas.microsoft.com/office/drawing/2014/main" id="{1EF43412-ED4E-4E42-8349-35DBFCF63C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08525" y="4435475"/>
            <a:ext cx="7016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6" name="Picture 24" descr="PC">
            <a:extLst>
              <a:ext uri="{FF2B5EF4-FFF2-40B4-BE49-F238E27FC236}">
                <a16:creationId xmlns:a16="http://schemas.microsoft.com/office/drawing/2014/main" id="{3DEC2216-F298-426A-9B18-E7C0E5FA3A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4750" y="3643313"/>
            <a:ext cx="7016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7" name="Picture 25" descr="PC">
            <a:extLst>
              <a:ext uri="{FF2B5EF4-FFF2-40B4-BE49-F238E27FC236}">
                <a16:creationId xmlns:a16="http://schemas.microsoft.com/office/drawing/2014/main" id="{09DCC356-20BC-4255-BF3D-3411911938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7688" y="3643313"/>
            <a:ext cx="701675"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8" name="Picture 26" descr="SEVER">
            <a:extLst>
              <a:ext uri="{FF2B5EF4-FFF2-40B4-BE49-F238E27FC236}">
                <a16:creationId xmlns:a16="http://schemas.microsoft.com/office/drawing/2014/main" id="{0482907A-9156-468D-AC5E-BE7A18EC48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51000" y="5010150"/>
            <a:ext cx="4699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19" name="Line 31">
            <a:extLst>
              <a:ext uri="{FF2B5EF4-FFF2-40B4-BE49-F238E27FC236}">
                <a16:creationId xmlns:a16="http://schemas.microsoft.com/office/drawing/2014/main" id="{6E3050F8-2ED0-40A3-9B82-D5D8F4723EB7}"/>
              </a:ext>
            </a:extLst>
          </p:cNvPr>
          <p:cNvSpPr>
            <a:spLocks noChangeShapeType="1"/>
          </p:cNvSpPr>
          <p:nvPr/>
        </p:nvSpPr>
        <p:spPr bwMode="auto">
          <a:xfrm flipH="1">
            <a:off x="2836863" y="5348288"/>
            <a:ext cx="1111250" cy="0"/>
          </a:xfrm>
          <a:prstGeom prst="line">
            <a:avLst/>
          </a:prstGeom>
          <a:noFill/>
          <a:ln w="4445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0" name="Line 32">
            <a:extLst>
              <a:ext uri="{FF2B5EF4-FFF2-40B4-BE49-F238E27FC236}">
                <a16:creationId xmlns:a16="http://schemas.microsoft.com/office/drawing/2014/main" id="{7AC5EAE6-E1CC-4CD6-AE6C-6EACC806C853}"/>
              </a:ext>
            </a:extLst>
          </p:cNvPr>
          <p:cNvSpPr>
            <a:spLocks noChangeShapeType="1"/>
          </p:cNvSpPr>
          <p:nvPr/>
        </p:nvSpPr>
        <p:spPr bwMode="auto">
          <a:xfrm>
            <a:off x="3948113" y="4251325"/>
            <a:ext cx="0" cy="1096963"/>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5621" name="Group 37">
            <a:extLst>
              <a:ext uri="{FF2B5EF4-FFF2-40B4-BE49-F238E27FC236}">
                <a16:creationId xmlns:a16="http://schemas.microsoft.com/office/drawing/2014/main" id="{BD974016-4B42-4F9B-BB24-D34808EC6C9F}"/>
              </a:ext>
            </a:extLst>
          </p:cNvPr>
          <p:cNvGrpSpPr>
            <a:grpSpLocks/>
          </p:cNvGrpSpPr>
          <p:nvPr/>
        </p:nvGrpSpPr>
        <p:grpSpPr bwMode="auto">
          <a:xfrm>
            <a:off x="3598863" y="5103813"/>
            <a:ext cx="387350" cy="488950"/>
            <a:chOff x="1974" y="1796"/>
            <a:chExt cx="226" cy="273"/>
          </a:xfrm>
        </p:grpSpPr>
        <p:sp>
          <p:nvSpPr>
            <p:cNvPr id="25625" name="Line 33">
              <a:extLst>
                <a:ext uri="{FF2B5EF4-FFF2-40B4-BE49-F238E27FC236}">
                  <a16:creationId xmlns:a16="http://schemas.microsoft.com/office/drawing/2014/main" id="{1747DBAA-2434-4B78-A41E-DC20E3E2348E}"/>
                </a:ext>
              </a:extLst>
            </p:cNvPr>
            <p:cNvSpPr>
              <a:spLocks noChangeShapeType="1"/>
            </p:cNvSpPr>
            <p:nvPr/>
          </p:nvSpPr>
          <p:spPr bwMode="auto">
            <a:xfrm>
              <a:off x="2019" y="1796"/>
              <a:ext cx="157" cy="272"/>
            </a:xfrm>
            <a:prstGeom prst="line">
              <a:avLst/>
            </a:prstGeom>
            <a:noFill/>
            <a:ln w="57150">
              <a:solidFill>
                <a:srgbClr val="A4001B"/>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6" name="Line 34">
              <a:extLst>
                <a:ext uri="{FF2B5EF4-FFF2-40B4-BE49-F238E27FC236}">
                  <a16:creationId xmlns:a16="http://schemas.microsoft.com/office/drawing/2014/main" id="{E9C777CA-E658-46B4-8186-47C998C56F10}"/>
                </a:ext>
              </a:extLst>
            </p:cNvPr>
            <p:cNvSpPr>
              <a:spLocks noChangeShapeType="1"/>
            </p:cNvSpPr>
            <p:nvPr/>
          </p:nvSpPr>
          <p:spPr bwMode="auto">
            <a:xfrm flipH="1">
              <a:off x="1974" y="1842"/>
              <a:ext cx="226" cy="227"/>
            </a:xfrm>
            <a:prstGeom prst="line">
              <a:avLst/>
            </a:prstGeom>
            <a:noFill/>
            <a:ln w="57150">
              <a:solidFill>
                <a:srgbClr val="A4001B"/>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5622" name="Line 35">
            <a:extLst>
              <a:ext uri="{FF2B5EF4-FFF2-40B4-BE49-F238E27FC236}">
                <a16:creationId xmlns:a16="http://schemas.microsoft.com/office/drawing/2014/main" id="{C9412FF4-6B80-42E2-87A8-EC7FB4B0ADEC}"/>
              </a:ext>
            </a:extLst>
          </p:cNvPr>
          <p:cNvSpPr>
            <a:spLocks noChangeShapeType="1"/>
          </p:cNvSpPr>
          <p:nvPr/>
        </p:nvSpPr>
        <p:spPr bwMode="auto">
          <a:xfrm>
            <a:off x="4240213" y="4252913"/>
            <a:ext cx="0" cy="1096962"/>
          </a:xfrm>
          <a:prstGeom prst="line">
            <a:avLst/>
          </a:prstGeom>
          <a:noFill/>
          <a:ln w="444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623" name="Line 36">
            <a:extLst>
              <a:ext uri="{FF2B5EF4-FFF2-40B4-BE49-F238E27FC236}">
                <a16:creationId xmlns:a16="http://schemas.microsoft.com/office/drawing/2014/main" id="{3AACA4D6-146D-43F7-878A-83E61D40C722}"/>
              </a:ext>
            </a:extLst>
          </p:cNvPr>
          <p:cNvSpPr>
            <a:spLocks noChangeShapeType="1"/>
          </p:cNvSpPr>
          <p:nvPr/>
        </p:nvSpPr>
        <p:spPr bwMode="auto">
          <a:xfrm>
            <a:off x="4240213" y="5349875"/>
            <a:ext cx="1111250" cy="1588"/>
          </a:xfrm>
          <a:prstGeom prst="line">
            <a:avLst/>
          </a:prstGeom>
          <a:noFill/>
          <a:ln w="44450">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670" name="Rectangle 38">
            <a:extLst>
              <a:ext uri="{FF2B5EF4-FFF2-40B4-BE49-F238E27FC236}">
                <a16:creationId xmlns:a16="http://schemas.microsoft.com/office/drawing/2014/main" id="{B84860CE-DC59-4978-9AEB-15A67C483CA2}"/>
              </a:ext>
            </a:extLst>
          </p:cNvPr>
          <p:cNvSpPr>
            <a:spLocks noChangeArrowheads="1"/>
          </p:cNvSpPr>
          <p:nvPr/>
        </p:nvSpPr>
        <p:spPr bwMode="auto">
          <a:xfrm>
            <a:off x="4200525" y="5032375"/>
            <a:ext cx="641350" cy="641350"/>
          </a:xfrm>
          <a:prstGeom prst="rect">
            <a:avLst/>
          </a:prstGeom>
          <a:noFill/>
          <a:ln w="9525" algn="ctr">
            <a:noFill/>
            <a:miter lim="800000"/>
            <a:headEnd/>
            <a:tailEnd/>
          </a:ln>
          <a:effectLst/>
        </p:spPr>
        <p:txBody>
          <a:bodyPr wrap="none">
            <a:spAutoFit/>
          </a:bodyPr>
          <a:lstStyle/>
          <a:p>
            <a:pPr eaLnBrk="1" hangingPunct="1">
              <a:defRPr/>
            </a:pPr>
            <a:r>
              <a:rPr lang="en-US" altLang="zh-CN" sz="3600" b="1">
                <a:solidFill>
                  <a:srgbClr val="A4001B"/>
                </a:solidFill>
                <a:effectLst>
                  <a:outerShdw blurRad="38100" dist="38100" dir="2700000" algn="tl">
                    <a:srgbClr val="C0C0C0"/>
                  </a:outerShdw>
                </a:effectLst>
                <a:latin typeface="Arial" charset="0"/>
                <a:ea typeface="华文中宋" pitchFamily="2" charset="-122"/>
              </a:rPr>
              <a:t>√</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74ACCE2-FAD8-4CA3-B5C6-5B5B7175CDB7}"/>
              </a:ext>
            </a:extLst>
          </p:cNvPr>
          <p:cNvSpPr>
            <a:spLocks noGrp="1" noChangeArrowheads="1"/>
          </p:cNvSpPr>
          <p:nvPr>
            <p:ph type="title" idx="4294967295"/>
          </p:nvPr>
        </p:nvSpPr>
        <p:spPr/>
        <p:txBody>
          <a:bodyPr/>
          <a:lstStyle/>
          <a:p>
            <a:r>
              <a:rPr lang="zh-CN" altLang="en-US" sz="4000"/>
              <a:t>访问控制列表</a:t>
            </a:r>
          </a:p>
        </p:txBody>
      </p:sp>
      <p:sp>
        <p:nvSpPr>
          <p:cNvPr id="27651" name="Rectangle 3">
            <a:extLst>
              <a:ext uri="{FF2B5EF4-FFF2-40B4-BE49-F238E27FC236}">
                <a16:creationId xmlns:a16="http://schemas.microsoft.com/office/drawing/2014/main" id="{49CB7C44-795A-4357-9B41-C4788E2D5633}"/>
              </a:ext>
            </a:extLst>
          </p:cNvPr>
          <p:cNvSpPr>
            <a:spLocks noGrp="1" noChangeArrowheads="1"/>
          </p:cNvSpPr>
          <p:nvPr>
            <p:ph type="body" idx="4294967295"/>
          </p:nvPr>
        </p:nvSpPr>
        <p:spPr>
          <a:xfrm>
            <a:off x="468313" y="1268413"/>
            <a:ext cx="8229600" cy="4608512"/>
          </a:xfrm>
        </p:spPr>
        <p:txBody>
          <a:bodyPr/>
          <a:lstStyle/>
          <a:p>
            <a:r>
              <a:rPr lang="zh-CN" altLang="en-US" sz="3600"/>
              <a:t>访问控制列表的作用：</a:t>
            </a:r>
          </a:p>
          <a:p>
            <a:pPr lvl="1"/>
            <a:r>
              <a:rPr lang="zh-CN" altLang="en-US" sz="3200"/>
              <a:t>内网布署安全策略，保证内网安全权限的资源访问</a:t>
            </a:r>
          </a:p>
          <a:p>
            <a:pPr lvl="1"/>
            <a:r>
              <a:rPr lang="zh-CN" altLang="en-US" sz="3200"/>
              <a:t>内网访问外网时，进行安全的数据过滤</a:t>
            </a:r>
          </a:p>
          <a:p>
            <a:pPr lvl="1"/>
            <a:r>
              <a:rPr lang="zh-CN" altLang="en-US" sz="3200"/>
              <a:t>防止常见病毒、木马、攻击对用户的破坏</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5A2F2C0-70CE-451D-ABC6-85191E24EBBD}"/>
              </a:ext>
            </a:extLst>
          </p:cNvPr>
          <p:cNvSpPr>
            <a:spLocks noGrp="1" noChangeArrowheads="1"/>
          </p:cNvSpPr>
          <p:nvPr>
            <p:ph type="title" idx="4294967295"/>
          </p:nvPr>
        </p:nvSpPr>
        <p:spPr/>
        <p:txBody>
          <a:bodyPr/>
          <a:lstStyle/>
          <a:p>
            <a:r>
              <a:rPr lang="zh-CN" altLang="en-US" sz="4000"/>
              <a:t>访问控制列表</a:t>
            </a:r>
          </a:p>
        </p:txBody>
      </p:sp>
      <p:sp>
        <p:nvSpPr>
          <p:cNvPr id="28675" name="Rectangle 3">
            <a:extLst>
              <a:ext uri="{FF2B5EF4-FFF2-40B4-BE49-F238E27FC236}">
                <a16:creationId xmlns:a16="http://schemas.microsoft.com/office/drawing/2014/main" id="{D5F1CF27-5768-4D63-ACD1-251A44A22796}"/>
              </a:ext>
            </a:extLst>
          </p:cNvPr>
          <p:cNvSpPr>
            <a:spLocks noGrp="1" noChangeArrowheads="1"/>
          </p:cNvSpPr>
          <p:nvPr>
            <p:ph type="body" idx="4294967295"/>
          </p:nvPr>
        </p:nvSpPr>
        <p:spPr>
          <a:xfrm>
            <a:off x="395288" y="1143000"/>
            <a:ext cx="8405812" cy="4591050"/>
          </a:xfrm>
        </p:spPr>
        <p:txBody>
          <a:bodyPr/>
          <a:lstStyle/>
          <a:p>
            <a:r>
              <a:rPr lang="zh-CN" altLang="en-US"/>
              <a:t>访问列表规则的分类：</a:t>
            </a:r>
          </a:p>
          <a:p>
            <a:pPr lvl="1"/>
            <a:r>
              <a:rPr lang="en-US" altLang="zh-CN"/>
              <a:t>1</a:t>
            </a:r>
            <a:r>
              <a:rPr lang="zh-CN" altLang="en-US"/>
              <a:t>、标准访问控制列表</a:t>
            </a:r>
          </a:p>
          <a:p>
            <a:pPr lvl="1"/>
            <a:r>
              <a:rPr lang="en-US" altLang="zh-CN"/>
              <a:t>2</a:t>
            </a:r>
            <a:r>
              <a:rPr lang="zh-CN" altLang="en-US"/>
              <a:t>、扩展访问控制列表</a:t>
            </a:r>
          </a:p>
          <a:p>
            <a:r>
              <a:rPr lang="zh-CN" altLang="en-US"/>
              <a:t>定义访问列表的步骤</a:t>
            </a:r>
          </a:p>
          <a:p>
            <a:pPr lvl="1"/>
            <a:r>
              <a:rPr lang="zh-CN" altLang="en-US"/>
              <a:t>第一步，定义规则（哪些数据允许通过，哪些数据不允许通过，可以有多条）</a:t>
            </a:r>
          </a:p>
          <a:p>
            <a:pPr lvl="1"/>
            <a:r>
              <a:rPr lang="zh-CN" altLang="en-US"/>
              <a:t>第二步，将规则应用在路由器的接口上（在哪个接口对数据进行检查</a:t>
            </a:r>
            <a:r>
              <a:rPr lang="en-US" altLang="zh-CN"/>
              <a:t>,</a:t>
            </a:r>
            <a:r>
              <a:rPr lang="zh-CN" altLang="en-US"/>
              <a:t>根据规则转发</a:t>
            </a:r>
            <a:r>
              <a:rPr lang="en-US" altLang="zh-CN"/>
              <a:t>/</a:t>
            </a:r>
            <a:r>
              <a:rPr lang="zh-CN" altLang="en-US"/>
              <a:t>不转发该数据）</a:t>
            </a:r>
          </a:p>
          <a:p>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5A7AE7CC-6C35-4407-AD0E-2E334F0DA852}"/>
              </a:ext>
            </a:extLst>
          </p:cNvPr>
          <p:cNvSpPr>
            <a:spLocks noChangeArrowheads="1"/>
          </p:cNvSpPr>
          <p:nvPr/>
        </p:nvSpPr>
        <p:spPr bwMode="auto">
          <a:xfrm>
            <a:off x="1835150" y="1352550"/>
            <a:ext cx="5545138" cy="4092575"/>
          </a:xfrm>
          <a:prstGeom prst="rect">
            <a:avLst/>
          </a:prstGeom>
          <a:solidFill>
            <a:srgbClr val="CED3DE"/>
          </a:solidFill>
          <a:ln>
            <a:noFill/>
          </a:ln>
          <a:effectLst>
            <a:prstShdw prst="shdw17" dist="17961" dir="2700000">
              <a:srgbClr val="7C7F85"/>
            </a:prst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0000"/>
              </a:spcBef>
              <a:buClrTx/>
              <a:buSzTx/>
              <a:buFontTx/>
              <a:buNone/>
            </a:pPr>
            <a:r>
              <a:rPr lang="zh-CN" altLang="en-US" sz="1600" b="0">
                <a:solidFill>
                  <a:srgbClr val="A4001B"/>
                </a:solidFill>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deny udp any any eq 69  </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deny tcp any any eq 135</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deny udp any any eq 135</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deny udp any any eq 137</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deny udp any any eq 138</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deny tcp any any eq 139</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deny udp any any eq 139</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deny tcp any any eq 445</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deny tcp any any eq 593</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deny tcp any any eq 4444</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access-list 115 permit ip any any</a:t>
            </a:r>
          </a:p>
          <a:p>
            <a:pPr eaLnBrk="1" hangingPunct="1">
              <a:spcBef>
                <a:spcPct val="10000"/>
              </a:spcBef>
              <a:buClrTx/>
              <a:buSzTx/>
              <a:buFontTx/>
              <a:buNone/>
            </a:pPr>
            <a:r>
              <a:rPr lang="en-US" altLang="zh-CN" sz="1600" b="0">
                <a:latin typeface="Arial" panose="020B0604020202020204" pitchFamily="34" charset="0"/>
                <a:ea typeface="华文细黑" panose="02010600040101010101" pitchFamily="2" charset="-122"/>
              </a:rPr>
              <a:t>            </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interface   e0</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ip access-group 115 in                                  </a:t>
            </a:r>
          </a:p>
          <a:p>
            <a:pPr eaLnBrk="1" hangingPunct="1">
              <a:spcBef>
                <a:spcPct val="10000"/>
              </a:spcBef>
              <a:buClrTx/>
              <a:buSzTx/>
              <a:buFontTx/>
              <a:buNone/>
            </a:pPr>
            <a:r>
              <a:rPr lang="zh-CN" altLang="en-US" sz="1600" b="0">
                <a:latin typeface="Arial" panose="020B0604020202020204" pitchFamily="34" charset="0"/>
                <a:ea typeface="华文细黑" panose="02010600040101010101" pitchFamily="2" charset="-122"/>
              </a:rPr>
              <a:t>　　</a:t>
            </a:r>
            <a:r>
              <a:rPr lang="en-US" altLang="zh-CN" sz="1600" b="0">
                <a:latin typeface="Arial" panose="020B0604020202020204" pitchFamily="34" charset="0"/>
                <a:ea typeface="华文细黑" panose="02010600040101010101" pitchFamily="2" charset="-122"/>
              </a:rPr>
              <a:t>ip access-group 115 out                                </a:t>
            </a:r>
          </a:p>
        </p:txBody>
      </p:sp>
      <p:sp>
        <p:nvSpPr>
          <p:cNvPr id="29699" name="Rectangle 4">
            <a:extLst>
              <a:ext uri="{FF2B5EF4-FFF2-40B4-BE49-F238E27FC236}">
                <a16:creationId xmlns:a16="http://schemas.microsoft.com/office/drawing/2014/main" id="{721DF283-CF09-461D-ABD0-E5F91D712E0F}"/>
              </a:ext>
            </a:extLst>
          </p:cNvPr>
          <p:cNvSpPr>
            <a:spLocks noGrp="1" noChangeArrowheads="1"/>
          </p:cNvSpPr>
          <p:nvPr>
            <p:ph type="title" idx="4294967295"/>
          </p:nvPr>
        </p:nvSpPr>
        <p:spPr/>
        <p:txBody>
          <a:bodyPr/>
          <a:lstStyle/>
          <a:p>
            <a:r>
              <a:rPr lang="zh-CN" altLang="en-US" sz="4000"/>
              <a:t>访问控制列表实例</a:t>
            </a:r>
            <a:endParaRPr lang="en-US" altLang="zh-CN" sz="4000"/>
          </a:p>
        </p:txBody>
      </p:sp>
      <p:sp>
        <p:nvSpPr>
          <p:cNvPr id="98309" name="Text Box 5">
            <a:extLst>
              <a:ext uri="{FF2B5EF4-FFF2-40B4-BE49-F238E27FC236}">
                <a16:creationId xmlns:a16="http://schemas.microsoft.com/office/drawing/2014/main" id="{1AFCE385-4797-4B33-9227-01B059EB1E0C}"/>
              </a:ext>
            </a:extLst>
          </p:cNvPr>
          <p:cNvSpPr txBox="1">
            <a:spLocks noChangeArrowheads="1"/>
          </p:cNvSpPr>
          <p:nvPr/>
        </p:nvSpPr>
        <p:spPr bwMode="auto">
          <a:xfrm>
            <a:off x="2339975" y="5805488"/>
            <a:ext cx="4392613" cy="366712"/>
          </a:xfrm>
          <a:prstGeom prst="rect">
            <a:avLst/>
          </a:prstGeom>
          <a:noFill/>
          <a:ln w="9525" algn="ctr">
            <a:noFill/>
            <a:miter lim="800000"/>
            <a:headEnd/>
            <a:tailEnd/>
          </a:ln>
          <a:effectLst/>
        </p:spPr>
        <p:txBody>
          <a:bodyPr>
            <a:spAutoFit/>
          </a:bodyPr>
          <a:lstStyle/>
          <a:p>
            <a:pPr eaLnBrk="1" hangingPunct="1">
              <a:spcBef>
                <a:spcPct val="50000"/>
              </a:spcBef>
              <a:defRPr/>
            </a:pPr>
            <a:r>
              <a:rPr lang="zh-CN" altLang="en-US" dirty="0">
                <a:solidFill>
                  <a:schemeClr val="accent2"/>
                </a:solidFill>
                <a:effectLst>
                  <a:outerShdw blurRad="38100" dist="38100" dir="2700000" algn="tl">
                    <a:srgbClr val="C0C0C0"/>
                  </a:outerShdw>
                </a:effectLst>
                <a:ea typeface="华文细黑" pitchFamily="2" charset="-122"/>
              </a:rPr>
              <a:t>利用</a:t>
            </a:r>
            <a:r>
              <a:rPr lang="en-US" altLang="zh-CN" dirty="0">
                <a:solidFill>
                  <a:schemeClr val="accent2"/>
                </a:solidFill>
                <a:effectLst>
                  <a:outerShdw blurRad="38100" dist="38100" dir="2700000" algn="tl">
                    <a:srgbClr val="C0C0C0"/>
                  </a:outerShdw>
                </a:effectLst>
                <a:ea typeface="华文细黑" pitchFamily="2" charset="-122"/>
              </a:rPr>
              <a:t>ACL</a:t>
            </a:r>
            <a:r>
              <a:rPr lang="zh-CN" altLang="en-US" dirty="0">
                <a:solidFill>
                  <a:schemeClr val="accent2"/>
                </a:solidFill>
                <a:effectLst>
                  <a:outerShdw blurRad="38100" dist="38100" dir="2700000" algn="tl">
                    <a:srgbClr val="C0C0C0"/>
                  </a:outerShdw>
                </a:effectLst>
                <a:ea typeface="华文细黑" pitchFamily="2" charset="-122"/>
              </a:rPr>
              <a:t>隔离冲击波病毒</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5">
            <a:extLst>
              <a:ext uri="{FF2B5EF4-FFF2-40B4-BE49-F238E27FC236}">
                <a16:creationId xmlns:a16="http://schemas.microsoft.com/office/drawing/2014/main" id="{23A067C8-DA6D-4B93-A628-5BD7FA288B90}"/>
              </a:ext>
            </a:extLst>
          </p:cNvPr>
          <p:cNvSpPr>
            <a:spLocks noGrp="1" noChangeArrowheads="1"/>
          </p:cNvSpPr>
          <p:nvPr>
            <p:ph type="title" idx="4294967295"/>
          </p:nvPr>
        </p:nvSpPr>
        <p:spPr/>
        <p:txBody>
          <a:bodyPr/>
          <a:lstStyle/>
          <a:p>
            <a:r>
              <a:rPr lang="en-US" altLang="zh-CN" sz="4000"/>
              <a:t>ACL</a:t>
            </a:r>
            <a:r>
              <a:rPr lang="zh-CN" altLang="en-US" sz="4000"/>
              <a:t>规则匹配原则</a:t>
            </a:r>
            <a:endParaRPr lang="en-US" altLang="zh-CN" sz="4000"/>
          </a:p>
        </p:txBody>
      </p:sp>
      <p:sp>
        <p:nvSpPr>
          <p:cNvPr id="31747" name="Rectangle 6">
            <a:extLst>
              <a:ext uri="{FF2B5EF4-FFF2-40B4-BE49-F238E27FC236}">
                <a16:creationId xmlns:a16="http://schemas.microsoft.com/office/drawing/2014/main" id="{CEB2EE02-4CF9-4A14-BE1E-602D5F4BBA78}"/>
              </a:ext>
            </a:extLst>
          </p:cNvPr>
          <p:cNvSpPr>
            <a:spLocks noGrp="1" noChangeArrowheads="1"/>
          </p:cNvSpPr>
          <p:nvPr>
            <p:ph type="body" idx="4294967295"/>
          </p:nvPr>
        </p:nvSpPr>
        <p:spPr>
          <a:xfrm>
            <a:off x="785813" y="1071563"/>
            <a:ext cx="7570787" cy="5237162"/>
          </a:xfrm>
        </p:spPr>
        <p:txBody>
          <a:bodyPr/>
          <a:lstStyle/>
          <a:p>
            <a:r>
              <a:rPr lang="zh-CN" altLang="en-US"/>
              <a:t>一切未被允许的就是禁止的</a:t>
            </a:r>
          </a:p>
          <a:p>
            <a:pPr lvl="1"/>
            <a:r>
              <a:rPr lang="zh-CN" altLang="en-US"/>
              <a:t>定义访问控制列表规则时，最终的缺省规则是拒绝所有数据包通过</a:t>
            </a:r>
          </a:p>
          <a:p>
            <a:r>
              <a:rPr lang="zh-CN" altLang="en-US"/>
              <a:t>按规则链来进行匹配</a:t>
            </a:r>
          </a:p>
          <a:p>
            <a:pPr lvl="1"/>
            <a:r>
              <a:rPr lang="zh-CN" altLang="en-US"/>
              <a:t>使用源地址、目的地址、源端口、目的端口、协议、时间段进行匹配</a:t>
            </a:r>
          </a:p>
          <a:p>
            <a:r>
              <a:rPr lang="zh-CN" altLang="en-US"/>
              <a:t>多条规则匹配原则</a:t>
            </a:r>
          </a:p>
          <a:p>
            <a:pPr lvl="1"/>
            <a:r>
              <a:rPr lang="zh-CN" altLang="en-US"/>
              <a:t>从头到尾，至顶向下的匹配方式</a:t>
            </a:r>
          </a:p>
          <a:p>
            <a:pPr lvl="1"/>
            <a:r>
              <a:rPr lang="zh-CN" altLang="en-US"/>
              <a:t>匹配成功马上停止</a:t>
            </a:r>
          </a:p>
          <a:p>
            <a:pPr lvl="1"/>
            <a:r>
              <a:rPr lang="zh-CN" altLang="en-US"/>
              <a:t>立刻使用该规则的</a:t>
            </a:r>
            <a:r>
              <a:rPr lang="zh-CN" altLang="en-US">
                <a:latin typeface="华文细黑" panose="02010600040101010101" pitchFamily="2" charset="-122"/>
              </a:rPr>
              <a:t>“</a:t>
            </a:r>
            <a:r>
              <a:rPr lang="zh-CN" altLang="en-US"/>
              <a:t>允许</a:t>
            </a:r>
            <a:r>
              <a:rPr lang="en-US" altLang="zh-CN"/>
              <a:t>/</a:t>
            </a:r>
            <a:r>
              <a:rPr lang="zh-CN" altLang="en-US"/>
              <a:t>拒绝</a:t>
            </a:r>
            <a:r>
              <a:rPr lang="en-US" altLang="zh-CN">
                <a:latin typeface="华文细黑" panose="02010600040101010101" pitchFamily="2" charset="-122"/>
              </a:rPr>
              <a:t>……”</a:t>
            </a:r>
            <a:endParaRPr lang="en-US" altLang="zh-CN"/>
          </a:p>
          <a:p>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Line 1060">
            <a:extLst>
              <a:ext uri="{FF2B5EF4-FFF2-40B4-BE49-F238E27FC236}">
                <a16:creationId xmlns:a16="http://schemas.microsoft.com/office/drawing/2014/main" id="{ABD9EA4F-BA36-4367-A32A-9EF88FBD1DE5}"/>
              </a:ext>
            </a:extLst>
          </p:cNvPr>
          <p:cNvSpPr>
            <a:spLocks noChangeShapeType="1"/>
          </p:cNvSpPr>
          <p:nvPr/>
        </p:nvSpPr>
        <p:spPr bwMode="auto">
          <a:xfrm>
            <a:off x="1700213" y="5373688"/>
            <a:ext cx="1727200" cy="0"/>
          </a:xfrm>
          <a:prstGeom prst="line">
            <a:avLst/>
          </a:prstGeom>
          <a:noFill/>
          <a:ln w="50800">
            <a:solidFill>
              <a:schemeClr val="accent2"/>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71" name="Line 1063">
            <a:extLst>
              <a:ext uri="{FF2B5EF4-FFF2-40B4-BE49-F238E27FC236}">
                <a16:creationId xmlns:a16="http://schemas.microsoft.com/office/drawing/2014/main" id="{7AC027BF-821D-45D1-823E-A5CDAC6578E9}"/>
              </a:ext>
            </a:extLst>
          </p:cNvPr>
          <p:cNvSpPr>
            <a:spLocks noChangeShapeType="1"/>
          </p:cNvSpPr>
          <p:nvPr/>
        </p:nvSpPr>
        <p:spPr bwMode="auto">
          <a:xfrm>
            <a:off x="4868863" y="5397500"/>
            <a:ext cx="1727200" cy="0"/>
          </a:xfrm>
          <a:prstGeom prst="line">
            <a:avLst/>
          </a:prstGeom>
          <a:noFill/>
          <a:ln w="50800">
            <a:solidFill>
              <a:srgbClr val="A4001B"/>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772" name="Rectangle 1048">
            <a:extLst>
              <a:ext uri="{FF2B5EF4-FFF2-40B4-BE49-F238E27FC236}">
                <a16:creationId xmlns:a16="http://schemas.microsoft.com/office/drawing/2014/main" id="{332D0D2C-97DF-4980-A12D-3BD32930F728}"/>
              </a:ext>
            </a:extLst>
          </p:cNvPr>
          <p:cNvSpPr>
            <a:spLocks noGrp="1" noChangeArrowheads="1"/>
          </p:cNvSpPr>
          <p:nvPr>
            <p:ph type="title" idx="4294967295"/>
          </p:nvPr>
        </p:nvSpPr>
        <p:spPr/>
        <p:txBody>
          <a:bodyPr/>
          <a:lstStyle/>
          <a:p>
            <a:r>
              <a:rPr lang="en-US" altLang="zh-CN" sz="4000"/>
              <a:t> </a:t>
            </a:r>
            <a:r>
              <a:rPr lang="zh-CN" altLang="en-US" sz="4000"/>
              <a:t>访问列表规则的应用</a:t>
            </a:r>
          </a:p>
        </p:txBody>
      </p:sp>
      <p:sp>
        <p:nvSpPr>
          <p:cNvPr id="32773" name="Rectangle 1049">
            <a:extLst>
              <a:ext uri="{FF2B5EF4-FFF2-40B4-BE49-F238E27FC236}">
                <a16:creationId xmlns:a16="http://schemas.microsoft.com/office/drawing/2014/main" id="{FE6D0CC1-D6F3-47A5-AEF6-A20D5E7B6F33}"/>
              </a:ext>
            </a:extLst>
          </p:cNvPr>
          <p:cNvSpPr>
            <a:spLocks noGrp="1" noChangeArrowheads="1"/>
          </p:cNvSpPr>
          <p:nvPr>
            <p:ph type="body" idx="4294967295"/>
          </p:nvPr>
        </p:nvSpPr>
        <p:spPr>
          <a:xfrm>
            <a:off x="428625" y="1000125"/>
            <a:ext cx="8501063" cy="4525963"/>
          </a:xfrm>
        </p:spPr>
        <p:txBody>
          <a:bodyPr/>
          <a:lstStyle/>
          <a:p>
            <a:pPr>
              <a:lnSpc>
                <a:spcPct val="145000"/>
              </a:lnSpc>
              <a:spcBef>
                <a:spcPct val="0"/>
              </a:spcBef>
            </a:pPr>
            <a:r>
              <a:rPr lang="zh-CN" altLang="en-US" sz="2800"/>
              <a:t>路由器应用访问列表对流经接口的数据包进行控制</a:t>
            </a:r>
          </a:p>
          <a:p>
            <a:pPr lvl="1">
              <a:lnSpc>
                <a:spcPct val="145000"/>
              </a:lnSpc>
              <a:spcBef>
                <a:spcPct val="0"/>
              </a:spcBef>
            </a:pPr>
            <a:r>
              <a:rPr lang="en-US" altLang="zh-CN" sz="2400"/>
              <a:t>1.</a:t>
            </a:r>
            <a:r>
              <a:rPr lang="zh-CN" altLang="en-US" sz="2400"/>
              <a:t>入栈应用（</a:t>
            </a:r>
            <a:r>
              <a:rPr lang="en-US" altLang="zh-CN" sz="2400"/>
              <a:t>in</a:t>
            </a:r>
            <a:r>
              <a:rPr lang="zh-CN" altLang="en-US" sz="2400"/>
              <a:t>）</a:t>
            </a:r>
          </a:p>
          <a:p>
            <a:pPr lvl="2">
              <a:lnSpc>
                <a:spcPct val="145000"/>
              </a:lnSpc>
              <a:spcBef>
                <a:spcPct val="0"/>
              </a:spcBef>
            </a:pPr>
            <a:r>
              <a:rPr lang="zh-CN" altLang="en-US"/>
              <a:t>经某接口进入设备内部的数据包进行安全规则过滤</a:t>
            </a:r>
          </a:p>
          <a:p>
            <a:pPr lvl="1">
              <a:lnSpc>
                <a:spcPct val="145000"/>
              </a:lnSpc>
              <a:spcBef>
                <a:spcPct val="0"/>
              </a:spcBef>
            </a:pPr>
            <a:r>
              <a:rPr lang="en-US" altLang="zh-CN" sz="2400"/>
              <a:t>2.</a:t>
            </a:r>
            <a:r>
              <a:rPr lang="zh-CN" altLang="en-US" sz="2400"/>
              <a:t>出栈应用（</a:t>
            </a:r>
            <a:r>
              <a:rPr lang="en-US" altLang="zh-CN" sz="2400"/>
              <a:t>out</a:t>
            </a:r>
            <a:r>
              <a:rPr lang="zh-CN" altLang="en-US" sz="2400"/>
              <a:t>）</a:t>
            </a:r>
          </a:p>
          <a:p>
            <a:pPr lvl="2">
              <a:lnSpc>
                <a:spcPct val="145000"/>
              </a:lnSpc>
              <a:spcBef>
                <a:spcPct val="0"/>
              </a:spcBef>
            </a:pPr>
            <a:r>
              <a:rPr lang="zh-CN" altLang="en-US"/>
              <a:t>设备从某接口向外发送数据时进行安全规则过滤</a:t>
            </a:r>
          </a:p>
          <a:p>
            <a:pPr>
              <a:lnSpc>
                <a:spcPct val="145000"/>
              </a:lnSpc>
              <a:spcBef>
                <a:spcPct val="0"/>
              </a:spcBef>
            </a:pPr>
            <a:r>
              <a:rPr lang="zh-CN" altLang="en-US" sz="2800"/>
              <a:t>一个接口在一个方向只能应用一组访问列表</a:t>
            </a:r>
          </a:p>
          <a:p>
            <a:pPr lvl="2">
              <a:lnSpc>
                <a:spcPct val="145000"/>
              </a:lnSpc>
              <a:spcBef>
                <a:spcPct val="0"/>
              </a:spcBef>
            </a:pPr>
            <a:endParaRPr lang="en-US" altLang="zh-CN"/>
          </a:p>
        </p:txBody>
      </p:sp>
      <p:pic>
        <p:nvPicPr>
          <p:cNvPr id="32774" name="Picture 1059" descr="Router">
            <a:extLst>
              <a:ext uri="{FF2B5EF4-FFF2-40B4-BE49-F238E27FC236}">
                <a16:creationId xmlns:a16="http://schemas.microsoft.com/office/drawing/2014/main" id="{7FC95C0F-6CAE-4B1E-91F1-263F7F5B7B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4797425"/>
            <a:ext cx="1871663"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92" name="Rectangle 1064">
            <a:extLst>
              <a:ext uri="{FF2B5EF4-FFF2-40B4-BE49-F238E27FC236}">
                <a16:creationId xmlns:a16="http://schemas.microsoft.com/office/drawing/2014/main" id="{1E4163D6-B286-4A07-A4FD-FF62B6ABE53F}"/>
              </a:ext>
            </a:extLst>
          </p:cNvPr>
          <p:cNvSpPr>
            <a:spLocks noChangeArrowheads="1"/>
          </p:cNvSpPr>
          <p:nvPr/>
        </p:nvSpPr>
        <p:spPr bwMode="auto">
          <a:xfrm>
            <a:off x="2781300" y="5499100"/>
            <a:ext cx="885825" cy="457200"/>
          </a:xfrm>
          <a:prstGeom prst="rect">
            <a:avLst/>
          </a:prstGeom>
          <a:noFill/>
          <a:ln w="9525" algn="ctr">
            <a:noFill/>
            <a:miter lim="800000"/>
            <a:headEnd/>
            <a:tailEnd/>
          </a:ln>
          <a:effectLst/>
        </p:spPr>
        <p:txBody>
          <a:bodyPr>
            <a:spAutoFit/>
          </a:bodyPr>
          <a:lstStyle/>
          <a:p>
            <a:pPr eaLnBrk="1" hangingPunct="1">
              <a:defRPr/>
            </a:pPr>
            <a:r>
              <a:rPr lang="en-US" altLang="zh-CN" sz="2400">
                <a:effectLst>
                  <a:outerShdw blurRad="38100" dist="38100" dir="2700000" algn="tl">
                    <a:srgbClr val="C0C0C0"/>
                  </a:outerShdw>
                </a:effectLst>
                <a:latin typeface="Arial" charset="0"/>
              </a:rPr>
              <a:t>F1/0</a:t>
            </a:r>
          </a:p>
        </p:txBody>
      </p:sp>
      <p:sp>
        <p:nvSpPr>
          <p:cNvPr id="74793" name="Rectangle 1065">
            <a:extLst>
              <a:ext uri="{FF2B5EF4-FFF2-40B4-BE49-F238E27FC236}">
                <a16:creationId xmlns:a16="http://schemas.microsoft.com/office/drawing/2014/main" id="{FD37AA15-97C2-4EFE-97EA-6FE682E9E74B}"/>
              </a:ext>
            </a:extLst>
          </p:cNvPr>
          <p:cNvSpPr>
            <a:spLocks noChangeArrowheads="1"/>
          </p:cNvSpPr>
          <p:nvPr/>
        </p:nvSpPr>
        <p:spPr bwMode="auto">
          <a:xfrm>
            <a:off x="5229225" y="5516563"/>
            <a:ext cx="793750" cy="457200"/>
          </a:xfrm>
          <a:prstGeom prst="rect">
            <a:avLst/>
          </a:prstGeom>
          <a:noFill/>
          <a:ln w="9525" algn="ctr">
            <a:noFill/>
            <a:miter lim="800000"/>
            <a:headEnd/>
            <a:tailEnd/>
          </a:ln>
          <a:effectLst/>
        </p:spPr>
        <p:txBody>
          <a:bodyPr wrap="none">
            <a:spAutoFit/>
          </a:bodyPr>
          <a:lstStyle/>
          <a:p>
            <a:pPr eaLnBrk="1" hangingPunct="1">
              <a:defRPr/>
            </a:pPr>
            <a:r>
              <a:rPr lang="en-US" altLang="zh-CN" sz="2400">
                <a:effectLst>
                  <a:outerShdw blurRad="38100" dist="38100" dir="2700000" algn="tl">
                    <a:srgbClr val="C0C0C0"/>
                  </a:outerShdw>
                </a:effectLst>
                <a:latin typeface="Arial" charset="0"/>
              </a:rPr>
              <a:t>F1/1</a:t>
            </a:r>
          </a:p>
        </p:txBody>
      </p:sp>
      <p:sp>
        <p:nvSpPr>
          <p:cNvPr id="74794" name="Rectangle 1066">
            <a:extLst>
              <a:ext uri="{FF2B5EF4-FFF2-40B4-BE49-F238E27FC236}">
                <a16:creationId xmlns:a16="http://schemas.microsoft.com/office/drawing/2014/main" id="{FAD1AE33-D22E-4E91-B29D-0FD118345CE3}"/>
              </a:ext>
            </a:extLst>
          </p:cNvPr>
          <p:cNvSpPr>
            <a:spLocks noChangeArrowheads="1"/>
          </p:cNvSpPr>
          <p:nvPr/>
        </p:nvSpPr>
        <p:spPr bwMode="auto">
          <a:xfrm>
            <a:off x="2276475" y="4821238"/>
            <a:ext cx="885825" cy="457200"/>
          </a:xfrm>
          <a:prstGeom prst="rect">
            <a:avLst/>
          </a:prstGeom>
          <a:noFill/>
          <a:ln w="9525" algn="ctr">
            <a:noFill/>
            <a:miter lim="800000"/>
            <a:headEnd/>
            <a:tailEnd/>
          </a:ln>
          <a:effectLst/>
        </p:spPr>
        <p:txBody>
          <a:bodyPr>
            <a:spAutoFit/>
          </a:bodyPr>
          <a:lstStyle/>
          <a:p>
            <a:pPr eaLnBrk="1" hangingPunct="1">
              <a:defRPr/>
            </a:pPr>
            <a:r>
              <a:rPr lang="en-US" altLang="zh-CN" sz="2400">
                <a:solidFill>
                  <a:srgbClr val="CC0000"/>
                </a:solidFill>
                <a:effectLst>
                  <a:outerShdw blurRad="38100" dist="38100" dir="2700000" algn="tl">
                    <a:srgbClr val="C0C0C0"/>
                  </a:outerShdw>
                </a:effectLst>
              </a:rPr>
              <a:t>IN</a:t>
            </a:r>
          </a:p>
        </p:txBody>
      </p:sp>
      <p:sp>
        <p:nvSpPr>
          <p:cNvPr id="74795" name="Rectangle 1067">
            <a:extLst>
              <a:ext uri="{FF2B5EF4-FFF2-40B4-BE49-F238E27FC236}">
                <a16:creationId xmlns:a16="http://schemas.microsoft.com/office/drawing/2014/main" id="{0914F029-1447-4622-90E4-8B234B5390A1}"/>
              </a:ext>
            </a:extLst>
          </p:cNvPr>
          <p:cNvSpPr>
            <a:spLocks noChangeArrowheads="1"/>
          </p:cNvSpPr>
          <p:nvPr/>
        </p:nvSpPr>
        <p:spPr bwMode="auto">
          <a:xfrm>
            <a:off x="5300663" y="4892675"/>
            <a:ext cx="885825" cy="457200"/>
          </a:xfrm>
          <a:prstGeom prst="rect">
            <a:avLst/>
          </a:prstGeom>
          <a:noFill/>
          <a:ln w="9525" algn="ctr">
            <a:noFill/>
            <a:miter lim="800000"/>
            <a:headEnd/>
            <a:tailEnd/>
          </a:ln>
          <a:effectLst/>
        </p:spPr>
        <p:txBody>
          <a:bodyPr>
            <a:spAutoFit/>
          </a:bodyPr>
          <a:lstStyle/>
          <a:p>
            <a:pPr eaLnBrk="1" hangingPunct="1">
              <a:defRPr/>
            </a:pPr>
            <a:r>
              <a:rPr lang="en-US" altLang="zh-CN" sz="2400">
                <a:solidFill>
                  <a:schemeClr val="accent2"/>
                </a:solidFill>
                <a:effectLst>
                  <a:outerShdw blurRad="38100" dist="38100" dir="2700000" algn="tl">
                    <a:srgbClr val="C0C0C0"/>
                  </a:outerShdw>
                </a:effectLst>
              </a:rPr>
              <a:t>OUT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4">
            <a:extLst>
              <a:ext uri="{FF2B5EF4-FFF2-40B4-BE49-F238E27FC236}">
                <a16:creationId xmlns:a16="http://schemas.microsoft.com/office/drawing/2014/main" id="{92D36369-FB7A-47FC-B0DC-491A770B436F}"/>
              </a:ext>
            </a:extLst>
          </p:cNvPr>
          <p:cNvSpPr txBox="1">
            <a:spLocks noChangeArrowheads="1"/>
          </p:cNvSpPr>
          <p:nvPr/>
        </p:nvSpPr>
        <p:spPr bwMode="auto">
          <a:xfrm>
            <a:off x="323850" y="365125"/>
            <a:ext cx="8712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kumimoji="1" lang="zh-CN" altLang="zh-CN" b="0">
              <a:solidFill>
                <a:schemeClr val="bg1"/>
              </a:solidFill>
              <a:latin typeface="Arial" panose="020B0604020202020204" pitchFamily="34" charset="0"/>
              <a:ea typeface="宋体" panose="02010600030101010101" pitchFamily="2" charset="-122"/>
            </a:endParaRPr>
          </a:p>
        </p:txBody>
      </p:sp>
      <p:sp>
        <p:nvSpPr>
          <p:cNvPr id="34819" name="Rectangle 5">
            <a:extLst>
              <a:ext uri="{FF2B5EF4-FFF2-40B4-BE49-F238E27FC236}">
                <a16:creationId xmlns:a16="http://schemas.microsoft.com/office/drawing/2014/main" id="{A0D2441E-414A-411E-827D-8ED65F7496A0}"/>
              </a:ext>
            </a:extLst>
          </p:cNvPr>
          <p:cNvSpPr>
            <a:spLocks noGrp="1" noChangeArrowheads="1"/>
          </p:cNvSpPr>
          <p:nvPr>
            <p:ph type="title" idx="4294967295"/>
          </p:nvPr>
        </p:nvSpPr>
        <p:spPr/>
        <p:txBody>
          <a:bodyPr/>
          <a:lstStyle/>
          <a:p>
            <a:r>
              <a:rPr lang="en-US" altLang="zh-CN" sz="4000"/>
              <a:t>IP</a:t>
            </a:r>
            <a:r>
              <a:rPr lang="zh-CN" altLang="en-US" sz="4000"/>
              <a:t>标准访问列表的配置命令</a:t>
            </a:r>
          </a:p>
        </p:txBody>
      </p:sp>
      <p:sp>
        <p:nvSpPr>
          <p:cNvPr id="88070" name="Rectangle 6">
            <a:extLst>
              <a:ext uri="{FF2B5EF4-FFF2-40B4-BE49-F238E27FC236}">
                <a16:creationId xmlns:a16="http://schemas.microsoft.com/office/drawing/2014/main" id="{A6569613-8596-499A-B54C-7443095FAB54}"/>
              </a:ext>
            </a:extLst>
          </p:cNvPr>
          <p:cNvSpPr>
            <a:spLocks noGrp="1" noChangeArrowheads="1"/>
          </p:cNvSpPr>
          <p:nvPr>
            <p:ph type="body" idx="4294967295"/>
          </p:nvPr>
        </p:nvSpPr>
        <p:spPr>
          <a:xfrm>
            <a:off x="428625" y="928688"/>
            <a:ext cx="8299450" cy="5254625"/>
          </a:xfrm>
        </p:spPr>
        <p:txBody>
          <a:bodyPr/>
          <a:lstStyle/>
          <a:p>
            <a:pPr>
              <a:lnSpc>
                <a:spcPct val="90000"/>
              </a:lnSpc>
              <a:defRPr/>
            </a:pPr>
            <a:r>
              <a:rPr lang="zh-CN" altLang="en-US" dirty="0"/>
              <a:t>标准访问列表是根据数据包</a:t>
            </a:r>
            <a:r>
              <a:rPr lang="zh-CN" altLang="en-US" dirty="0">
                <a:solidFill>
                  <a:srgbClr val="FF0000"/>
                </a:solidFill>
              </a:rPr>
              <a:t>源</a:t>
            </a:r>
            <a:r>
              <a:rPr lang="en-US" altLang="zh-CN" dirty="0">
                <a:solidFill>
                  <a:srgbClr val="FF0000"/>
                </a:solidFill>
              </a:rPr>
              <a:t>IP</a:t>
            </a:r>
            <a:r>
              <a:rPr lang="zh-CN" altLang="en-US" dirty="0">
                <a:solidFill>
                  <a:srgbClr val="FF0000"/>
                </a:solidFill>
              </a:rPr>
              <a:t>地址</a:t>
            </a:r>
            <a:r>
              <a:rPr lang="zh-CN" altLang="en-US" dirty="0"/>
              <a:t>进行规则定义</a:t>
            </a:r>
            <a:r>
              <a:rPr lang="en-US" altLang="zh-CN" dirty="0"/>
              <a:t>,</a:t>
            </a:r>
            <a:r>
              <a:rPr lang="zh-CN" altLang="en-US" dirty="0">
                <a:solidFill>
                  <a:srgbClr val="FF0000"/>
                </a:solidFill>
              </a:rPr>
              <a:t>尽量应用在靠近目的地址的接口</a:t>
            </a:r>
            <a:r>
              <a:rPr lang="zh-CN" altLang="en-US" dirty="0"/>
              <a:t>；</a:t>
            </a:r>
            <a:endParaRPr lang="en-US" altLang="zh-CN" dirty="0"/>
          </a:p>
          <a:p>
            <a:pPr>
              <a:lnSpc>
                <a:spcPct val="90000"/>
              </a:lnSpc>
              <a:defRPr/>
            </a:pPr>
            <a:r>
              <a:rPr lang="zh-CN" altLang="en-US" dirty="0">
                <a:latin typeface="Arial" charset="0"/>
              </a:rPr>
              <a:t>定义标准</a:t>
            </a:r>
            <a:r>
              <a:rPr lang="en-US" altLang="zh-CN" dirty="0">
                <a:latin typeface="Arial" charset="0"/>
              </a:rPr>
              <a:t>ACL</a:t>
            </a:r>
            <a:r>
              <a:rPr lang="zh-CN" altLang="en-US" dirty="0">
                <a:latin typeface="Arial" charset="0"/>
              </a:rPr>
              <a:t>的命令</a:t>
            </a:r>
            <a:endParaRPr lang="en-US" altLang="zh-CN" dirty="0">
              <a:latin typeface="Arial" charset="0"/>
            </a:endParaRPr>
          </a:p>
          <a:p>
            <a:pPr lvl="1">
              <a:lnSpc>
                <a:spcPct val="90000"/>
              </a:lnSpc>
              <a:defRPr/>
            </a:pPr>
            <a:r>
              <a:rPr lang="en-US" altLang="zh-CN" sz="2400" dirty="0">
                <a:latin typeface="Arial" charset="0"/>
              </a:rPr>
              <a:t>Router(</a:t>
            </a:r>
            <a:r>
              <a:rPr lang="en-US" altLang="zh-CN" sz="2400" dirty="0" err="1">
                <a:latin typeface="Arial" charset="0"/>
              </a:rPr>
              <a:t>config</a:t>
            </a:r>
            <a:r>
              <a:rPr lang="en-US" altLang="zh-CN" sz="2400" dirty="0">
                <a:latin typeface="Arial" charset="0"/>
              </a:rPr>
              <a:t>)#</a:t>
            </a:r>
            <a:r>
              <a:rPr lang="en-US" altLang="zh-CN" sz="2400" dirty="0">
                <a:solidFill>
                  <a:srgbClr val="3333CC"/>
                </a:solidFill>
                <a:latin typeface="Arial" charset="0"/>
              </a:rPr>
              <a:t>access-list </a:t>
            </a:r>
            <a:r>
              <a:rPr lang="en-US" altLang="zh-CN" sz="2400" dirty="0">
                <a:solidFill>
                  <a:srgbClr val="FF0000"/>
                </a:solidFill>
                <a:latin typeface="Arial" charset="0"/>
              </a:rPr>
              <a:t>&lt;1-99&gt;</a:t>
            </a:r>
            <a:r>
              <a:rPr lang="en-US" altLang="zh-CN" sz="2400" dirty="0">
                <a:solidFill>
                  <a:srgbClr val="3333CC"/>
                </a:solidFill>
                <a:latin typeface="Arial" charset="0"/>
              </a:rPr>
              <a:t> {</a:t>
            </a:r>
            <a:r>
              <a:rPr lang="en-US" altLang="zh-CN" sz="2400" dirty="0" err="1">
                <a:solidFill>
                  <a:srgbClr val="3333CC"/>
                </a:solidFill>
                <a:latin typeface="Arial" charset="0"/>
              </a:rPr>
              <a:t>permit|deny</a:t>
            </a:r>
            <a:r>
              <a:rPr lang="en-US" altLang="zh-CN" sz="2400" dirty="0">
                <a:solidFill>
                  <a:srgbClr val="3333CC"/>
                </a:solidFill>
                <a:latin typeface="Arial" charset="0"/>
              </a:rPr>
              <a:t>}</a:t>
            </a:r>
            <a:r>
              <a:rPr lang="en-US" altLang="zh-CN" sz="2400" dirty="0">
                <a:latin typeface="Arial" charset="0"/>
              </a:rPr>
              <a:t> </a:t>
            </a:r>
            <a:r>
              <a:rPr lang="zh-CN" altLang="en-US" sz="2400" dirty="0">
                <a:solidFill>
                  <a:srgbClr val="FF0000"/>
                </a:solidFill>
                <a:latin typeface="Arial" charset="0"/>
              </a:rPr>
              <a:t>源地址 </a:t>
            </a:r>
            <a:r>
              <a:rPr lang="en-US" altLang="zh-CN" sz="2400" dirty="0">
                <a:solidFill>
                  <a:srgbClr val="FF0000"/>
                </a:solidFill>
                <a:latin typeface="Arial" charset="0"/>
              </a:rPr>
              <a:t>[</a:t>
            </a:r>
            <a:r>
              <a:rPr lang="zh-CN" altLang="en-US" sz="2400" dirty="0">
                <a:solidFill>
                  <a:srgbClr val="FF0000"/>
                </a:solidFill>
                <a:latin typeface="Arial" charset="0"/>
              </a:rPr>
              <a:t>反掩码</a:t>
            </a:r>
            <a:r>
              <a:rPr lang="en-US" altLang="zh-CN" sz="2400" dirty="0">
                <a:solidFill>
                  <a:srgbClr val="FF0000"/>
                </a:solidFill>
                <a:latin typeface="Arial" charset="0"/>
              </a:rPr>
              <a:t>]</a:t>
            </a:r>
          </a:p>
          <a:p>
            <a:pPr lvl="1">
              <a:lnSpc>
                <a:spcPct val="90000"/>
              </a:lnSpc>
              <a:buFont typeface="Wingdings" panose="05000000000000000000" pitchFamily="2" charset="2"/>
              <a:buNone/>
              <a:defRPr/>
            </a:pPr>
            <a:r>
              <a:rPr lang="zh-CN" altLang="en-US" sz="2400" dirty="0">
                <a:latin typeface="Arial" charset="0"/>
              </a:rPr>
              <a:t>    注：源地址可以为网络编号或某个</a:t>
            </a:r>
            <a:r>
              <a:rPr lang="en-US" altLang="zh-CN" sz="2400" dirty="0">
                <a:latin typeface="Arial" charset="0"/>
              </a:rPr>
              <a:t>IP</a:t>
            </a:r>
            <a:r>
              <a:rPr lang="zh-CN" altLang="en-US" sz="2400" dirty="0">
                <a:latin typeface="Arial" charset="0"/>
              </a:rPr>
              <a:t>。反掩码与子网掩码</a:t>
            </a:r>
            <a:r>
              <a:rPr lang="en-US" altLang="zh-CN" sz="2400" dirty="0">
                <a:latin typeface="Arial" charset="0"/>
              </a:rPr>
              <a:t>0</a:t>
            </a:r>
            <a:r>
              <a:rPr lang="zh-CN" altLang="en-US" sz="2400" dirty="0">
                <a:latin typeface="Arial" charset="0"/>
              </a:rPr>
              <a:t>、</a:t>
            </a:r>
            <a:r>
              <a:rPr lang="en-US" altLang="zh-CN" sz="2400" dirty="0">
                <a:latin typeface="Arial" charset="0"/>
              </a:rPr>
              <a:t>1</a:t>
            </a:r>
            <a:r>
              <a:rPr lang="zh-CN" altLang="en-US" sz="2400" dirty="0">
                <a:latin typeface="Arial" charset="0"/>
              </a:rPr>
              <a:t>的值相反（教材</a:t>
            </a:r>
            <a:r>
              <a:rPr lang="en-US" altLang="zh-CN" sz="2400" dirty="0">
                <a:latin typeface="Arial" charset="0"/>
              </a:rPr>
              <a:t>P166</a:t>
            </a:r>
            <a:r>
              <a:rPr lang="zh-CN" altLang="en-US" sz="2400" dirty="0">
                <a:latin typeface="Arial" charset="0"/>
              </a:rPr>
              <a:t>）</a:t>
            </a:r>
            <a:endParaRPr lang="en-US" altLang="zh-CN" sz="2400" dirty="0">
              <a:latin typeface="Arial" charset="0"/>
            </a:endParaRPr>
          </a:p>
          <a:p>
            <a:pPr>
              <a:lnSpc>
                <a:spcPct val="90000"/>
              </a:lnSpc>
              <a:defRPr/>
            </a:pPr>
            <a:r>
              <a:rPr lang="zh-CN" altLang="en-US" dirty="0">
                <a:latin typeface="Arial" charset="0"/>
              </a:rPr>
              <a:t>应用</a:t>
            </a:r>
            <a:r>
              <a:rPr lang="en-US" altLang="zh-CN" dirty="0">
                <a:latin typeface="Arial" charset="0"/>
              </a:rPr>
              <a:t>ACL</a:t>
            </a:r>
            <a:r>
              <a:rPr lang="zh-CN" altLang="en-US" dirty="0">
                <a:latin typeface="Arial" charset="0"/>
              </a:rPr>
              <a:t>到接口的命令</a:t>
            </a:r>
          </a:p>
          <a:p>
            <a:pPr lvl="1">
              <a:lnSpc>
                <a:spcPct val="90000"/>
              </a:lnSpc>
              <a:defRPr/>
            </a:pPr>
            <a:r>
              <a:rPr lang="en-US" altLang="zh-CN" sz="2400" dirty="0">
                <a:latin typeface="Arial" charset="0"/>
              </a:rPr>
              <a:t>Router(</a:t>
            </a:r>
            <a:r>
              <a:rPr lang="en-US" altLang="zh-CN" sz="2400" dirty="0" err="1">
                <a:latin typeface="Arial" charset="0"/>
              </a:rPr>
              <a:t>config</a:t>
            </a:r>
            <a:r>
              <a:rPr lang="en-US" altLang="zh-CN" sz="2400" dirty="0">
                <a:latin typeface="Arial" charset="0"/>
              </a:rPr>
              <a:t>-if)#</a:t>
            </a:r>
            <a:r>
              <a:rPr lang="en-US" altLang="zh-CN" sz="2400" dirty="0" err="1">
                <a:solidFill>
                  <a:srgbClr val="3333CC"/>
                </a:solidFill>
                <a:latin typeface="Arial" charset="0"/>
              </a:rPr>
              <a:t>ip</a:t>
            </a:r>
            <a:r>
              <a:rPr lang="en-US" altLang="zh-CN" sz="2400" dirty="0">
                <a:solidFill>
                  <a:srgbClr val="3333CC"/>
                </a:solidFill>
                <a:latin typeface="Arial" charset="0"/>
              </a:rPr>
              <a:t> access-group </a:t>
            </a:r>
            <a:r>
              <a:rPr lang="en-US" altLang="zh-CN" sz="2400" dirty="0">
                <a:solidFill>
                  <a:srgbClr val="FF0000"/>
                </a:solidFill>
                <a:latin typeface="Arial" charset="0"/>
              </a:rPr>
              <a:t>&lt;1-99&gt;</a:t>
            </a:r>
            <a:r>
              <a:rPr lang="en-US" altLang="zh-CN" sz="2400" dirty="0">
                <a:solidFill>
                  <a:srgbClr val="3333CC"/>
                </a:solidFill>
                <a:latin typeface="Arial" charset="0"/>
              </a:rPr>
              <a:t> { in | out }</a:t>
            </a:r>
          </a:p>
          <a:p>
            <a:pPr>
              <a:lnSpc>
                <a:spcPct val="90000"/>
              </a:lnSpc>
              <a:defRPr/>
            </a:pPr>
            <a:r>
              <a:rPr lang="zh-CN" altLang="en-US" dirty="0">
                <a:latin typeface="Arial" charset="0"/>
              </a:rPr>
              <a:t>察看</a:t>
            </a:r>
            <a:r>
              <a:rPr lang="zh-CN" altLang="en-US" dirty="0"/>
              <a:t>访问列表信息</a:t>
            </a:r>
          </a:p>
          <a:p>
            <a:pPr lvl="1">
              <a:lnSpc>
                <a:spcPct val="90000"/>
              </a:lnSpc>
              <a:defRPr/>
            </a:pPr>
            <a:r>
              <a:rPr lang="en-US" altLang="zh-CN" sz="2400" dirty="0" err="1">
                <a:latin typeface="Arial" charset="0"/>
              </a:rPr>
              <a:t>Router#</a:t>
            </a:r>
            <a:r>
              <a:rPr lang="en-US" altLang="zh-CN" sz="2400" dirty="0" err="1">
                <a:solidFill>
                  <a:srgbClr val="3333CC"/>
                </a:solidFill>
                <a:latin typeface="Arial" charset="0"/>
              </a:rPr>
              <a:t>show</a:t>
            </a:r>
            <a:r>
              <a:rPr lang="en-US" altLang="zh-CN" sz="2400" dirty="0">
                <a:latin typeface="Arial" charset="0"/>
              </a:rPr>
              <a:t> </a:t>
            </a:r>
            <a:r>
              <a:rPr lang="en-US" altLang="zh-CN" sz="2400" dirty="0">
                <a:solidFill>
                  <a:srgbClr val="3333CC"/>
                </a:solidFill>
                <a:latin typeface="Arial" charset="0"/>
              </a:rPr>
              <a:t>access-list </a:t>
            </a:r>
            <a:r>
              <a:rPr lang="en-US" altLang="zh-CN" sz="2400" dirty="0">
                <a:solidFill>
                  <a:srgbClr val="FF0000"/>
                </a:solidFill>
                <a:latin typeface="Arial" charset="0"/>
              </a:rPr>
              <a:t>&lt;1-99&gt;</a:t>
            </a:r>
            <a:r>
              <a:rPr lang="en-US" altLang="zh-CN" sz="2400" dirty="0">
                <a:solidFill>
                  <a:srgbClr val="3333CC"/>
                </a:solidFill>
                <a:latin typeface="Arial" charset="0"/>
              </a:rPr>
              <a:t> </a:t>
            </a:r>
            <a:endParaRPr lang="zh-CN" altLang="en-US" sz="2400" dirty="0">
              <a:solidFill>
                <a:srgbClr val="3333CC"/>
              </a:solidFill>
              <a:latin typeface="Arial" charset="0"/>
            </a:endParaRPr>
          </a:p>
          <a:p>
            <a:pPr lvl="2">
              <a:lnSpc>
                <a:spcPct val="90000"/>
              </a:lnSpc>
              <a:buFont typeface="Wingdings" panose="05000000000000000000" pitchFamily="2" charset="2"/>
              <a:buChar char="l"/>
              <a:defRPr/>
            </a:pPr>
            <a:endParaRPr lang="en-US" altLang="zh-CN" sz="1500" dirty="0">
              <a:solidFill>
                <a:srgbClr val="3333CC"/>
              </a:solidFill>
              <a:effectLst>
                <a:outerShdw blurRad="38100" dist="38100" dir="2700000" algn="tl">
                  <a:srgbClr val="C0C0C0"/>
                </a:outerShdw>
              </a:effectLst>
              <a:latin typeface="Arial" charset="0"/>
              <a:ea typeface="幼圆" pitchFamily="49" charset="-122"/>
            </a:endParaRPr>
          </a:p>
          <a:p>
            <a:pPr>
              <a:lnSpc>
                <a:spcPct val="90000"/>
              </a:lnSpc>
              <a:defRPr/>
            </a:pPr>
            <a:endParaRPr lang="en-US" altLang="zh-CN" dirty="0">
              <a:latin typeface="Arial"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a:extLst>
              <a:ext uri="{FF2B5EF4-FFF2-40B4-BE49-F238E27FC236}">
                <a16:creationId xmlns:a16="http://schemas.microsoft.com/office/drawing/2014/main" id="{DF448211-10CD-4D2B-AA92-5598F87CBD6C}"/>
              </a:ext>
            </a:extLst>
          </p:cNvPr>
          <p:cNvSpPr>
            <a:spLocks noChangeArrowheads="1"/>
          </p:cNvSpPr>
          <p:nvPr/>
        </p:nvSpPr>
        <p:spPr bwMode="auto">
          <a:xfrm>
            <a:off x="2360613" y="1519238"/>
            <a:ext cx="1614487"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eaLnBrk="1" hangingPunct="1">
              <a:lnSpc>
                <a:spcPts val="2363"/>
              </a:lnSpc>
              <a:spcBef>
                <a:spcPct val="0"/>
              </a:spcBef>
              <a:buClrTx/>
              <a:buSzTx/>
              <a:buFontTx/>
              <a:buNone/>
            </a:pPr>
            <a:r>
              <a:rPr lang="en-US" altLang="zh-CN" sz="1800">
                <a:latin typeface="Arial" panose="020B0604020202020204" pitchFamily="34" charset="0"/>
                <a:ea typeface="宋体" panose="02010600030101010101" pitchFamily="2" charset="-122"/>
              </a:rPr>
              <a:t>172.16.3.0</a:t>
            </a:r>
          </a:p>
        </p:txBody>
      </p:sp>
      <p:sp>
        <p:nvSpPr>
          <p:cNvPr id="36867" name="Rectangle 5">
            <a:extLst>
              <a:ext uri="{FF2B5EF4-FFF2-40B4-BE49-F238E27FC236}">
                <a16:creationId xmlns:a16="http://schemas.microsoft.com/office/drawing/2014/main" id="{5A1F0A09-E7C3-419F-8336-E3DFAF7657D7}"/>
              </a:ext>
            </a:extLst>
          </p:cNvPr>
          <p:cNvSpPr>
            <a:spLocks noChangeArrowheads="1"/>
          </p:cNvSpPr>
          <p:nvPr/>
        </p:nvSpPr>
        <p:spPr bwMode="auto">
          <a:xfrm>
            <a:off x="5680075" y="1593850"/>
            <a:ext cx="177165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eaLnBrk="1" hangingPunct="1">
              <a:lnSpc>
                <a:spcPts val="2363"/>
              </a:lnSpc>
              <a:spcBef>
                <a:spcPct val="0"/>
              </a:spcBef>
              <a:buClrTx/>
              <a:buSzTx/>
              <a:buFontTx/>
              <a:buNone/>
            </a:pPr>
            <a:r>
              <a:rPr lang="en-US" altLang="zh-CN" sz="1800">
                <a:latin typeface="Arial" panose="020B0604020202020204" pitchFamily="34" charset="0"/>
                <a:ea typeface="宋体" panose="02010600030101010101" pitchFamily="2" charset="-122"/>
              </a:rPr>
              <a:t>172.16.4.0</a:t>
            </a:r>
          </a:p>
        </p:txBody>
      </p:sp>
      <p:sp>
        <p:nvSpPr>
          <p:cNvPr id="36868" name="Rectangle 6">
            <a:extLst>
              <a:ext uri="{FF2B5EF4-FFF2-40B4-BE49-F238E27FC236}">
                <a16:creationId xmlns:a16="http://schemas.microsoft.com/office/drawing/2014/main" id="{F46F8930-ADAA-4550-9037-FD9AFB965496}"/>
              </a:ext>
            </a:extLst>
          </p:cNvPr>
          <p:cNvSpPr>
            <a:spLocks noChangeArrowheads="1"/>
          </p:cNvSpPr>
          <p:nvPr/>
        </p:nvSpPr>
        <p:spPr bwMode="auto">
          <a:xfrm>
            <a:off x="3743325" y="2471738"/>
            <a:ext cx="585788"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eaLnBrk="1" hangingPunct="1">
              <a:lnSpc>
                <a:spcPts val="2363"/>
              </a:lnSpc>
              <a:spcBef>
                <a:spcPct val="0"/>
              </a:spcBef>
              <a:buClrTx/>
              <a:buSzTx/>
              <a:buFontTx/>
              <a:buNone/>
            </a:pPr>
            <a:r>
              <a:rPr lang="en-US" altLang="zh-CN" sz="1800">
                <a:solidFill>
                  <a:srgbClr val="000000"/>
                </a:solidFill>
                <a:latin typeface="Arial" panose="020B0604020202020204" pitchFamily="34" charset="0"/>
                <a:ea typeface="宋体" panose="02010600030101010101" pitchFamily="2" charset="-122"/>
              </a:rPr>
              <a:t>F1/0</a:t>
            </a:r>
          </a:p>
        </p:txBody>
      </p:sp>
      <p:sp>
        <p:nvSpPr>
          <p:cNvPr id="36869" name="Rectangle 7">
            <a:extLst>
              <a:ext uri="{FF2B5EF4-FFF2-40B4-BE49-F238E27FC236}">
                <a16:creationId xmlns:a16="http://schemas.microsoft.com/office/drawing/2014/main" id="{BCA12795-FD8E-409F-B13B-94537C4228C2}"/>
              </a:ext>
            </a:extLst>
          </p:cNvPr>
          <p:cNvSpPr>
            <a:spLocks noChangeArrowheads="1"/>
          </p:cNvSpPr>
          <p:nvPr/>
        </p:nvSpPr>
        <p:spPr bwMode="auto">
          <a:xfrm>
            <a:off x="4779963" y="2309813"/>
            <a:ext cx="571500"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eaLnBrk="1" hangingPunct="1">
              <a:lnSpc>
                <a:spcPts val="2363"/>
              </a:lnSpc>
              <a:spcBef>
                <a:spcPct val="0"/>
              </a:spcBef>
              <a:buClrTx/>
              <a:buSzTx/>
              <a:buFontTx/>
              <a:buNone/>
            </a:pPr>
            <a:r>
              <a:rPr lang="en-US" altLang="zh-CN" sz="1800">
                <a:solidFill>
                  <a:srgbClr val="000000"/>
                </a:solidFill>
                <a:latin typeface="Arial" panose="020B0604020202020204" pitchFamily="34" charset="0"/>
                <a:ea typeface="宋体" panose="02010600030101010101" pitchFamily="2" charset="-122"/>
              </a:rPr>
              <a:t>S1/2</a:t>
            </a:r>
          </a:p>
        </p:txBody>
      </p:sp>
      <p:sp>
        <p:nvSpPr>
          <p:cNvPr id="36870" name="Rectangle 8">
            <a:extLst>
              <a:ext uri="{FF2B5EF4-FFF2-40B4-BE49-F238E27FC236}">
                <a16:creationId xmlns:a16="http://schemas.microsoft.com/office/drawing/2014/main" id="{B49534FF-428A-4D06-93A6-877036232AF6}"/>
              </a:ext>
            </a:extLst>
          </p:cNvPr>
          <p:cNvSpPr>
            <a:spLocks noChangeArrowheads="1"/>
          </p:cNvSpPr>
          <p:nvPr/>
        </p:nvSpPr>
        <p:spPr bwMode="auto">
          <a:xfrm>
            <a:off x="5372100" y="2476500"/>
            <a:ext cx="5715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eaLnBrk="1" hangingPunct="1">
              <a:lnSpc>
                <a:spcPts val="2363"/>
              </a:lnSpc>
              <a:spcBef>
                <a:spcPct val="0"/>
              </a:spcBef>
              <a:buClrTx/>
              <a:buSzTx/>
              <a:buFontTx/>
              <a:buNone/>
            </a:pPr>
            <a:r>
              <a:rPr lang="en-US" altLang="zh-CN" sz="1800">
                <a:solidFill>
                  <a:srgbClr val="000000"/>
                </a:solidFill>
                <a:latin typeface="Arial" panose="020B0604020202020204" pitchFamily="34" charset="0"/>
                <a:ea typeface="宋体" panose="02010600030101010101" pitchFamily="2" charset="-122"/>
              </a:rPr>
              <a:t>F1/1</a:t>
            </a:r>
          </a:p>
        </p:txBody>
      </p:sp>
      <p:sp>
        <p:nvSpPr>
          <p:cNvPr id="36871" name="Freeform 9">
            <a:extLst>
              <a:ext uri="{FF2B5EF4-FFF2-40B4-BE49-F238E27FC236}">
                <a16:creationId xmlns:a16="http://schemas.microsoft.com/office/drawing/2014/main" id="{06990C72-8D04-44E9-8B38-E7DD02A04345}"/>
              </a:ext>
            </a:extLst>
          </p:cNvPr>
          <p:cNvSpPr>
            <a:spLocks/>
          </p:cNvSpPr>
          <p:nvPr/>
        </p:nvSpPr>
        <p:spPr bwMode="auto">
          <a:xfrm>
            <a:off x="4764088" y="1751013"/>
            <a:ext cx="158750" cy="1173162"/>
          </a:xfrm>
          <a:custGeom>
            <a:avLst/>
            <a:gdLst>
              <a:gd name="T0" fmla="*/ 0 w 89"/>
              <a:gd name="T1" fmla="*/ 2147483646 h 657"/>
              <a:gd name="T2" fmla="*/ 0 w 89"/>
              <a:gd name="T3" fmla="*/ 2147483646 h 657"/>
              <a:gd name="T4" fmla="*/ 2147483646 w 89"/>
              <a:gd name="T5" fmla="*/ 2147483646 h 657"/>
              <a:gd name="T6" fmla="*/ 2147483646 w 89"/>
              <a:gd name="T7" fmla="*/ 0 h 65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9" h="657">
                <a:moveTo>
                  <a:pt x="0" y="656"/>
                </a:moveTo>
                <a:lnTo>
                  <a:pt x="0" y="288"/>
                </a:lnTo>
                <a:lnTo>
                  <a:pt x="88" y="328"/>
                </a:lnTo>
                <a:lnTo>
                  <a:pt x="88" y="0"/>
                </a:lnTo>
              </a:path>
            </a:pathLst>
          </a:custGeom>
          <a:noFill/>
          <a:ln w="50800" cap="rnd" cmpd="sng">
            <a:solidFill>
              <a:srgbClr val="C50D2C"/>
            </a:solidFill>
            <a:prstDash val="solid"/>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6872" name="Line 10">
            <a:extLst>
              <a:ext uri="{FF2B5EF4-FFF2-40B4-BE49-F238E27FC236}">
                <a16:creationId xmlns:a16="http://schemas.microsoft.com/office/drawing/2014/main" id="{D36512B7-F0D7-489A-8FD9-569C4CC40FFC}"/>
              </a:ext>
            </a:extLst>
          </p:cNvPr>
          <p:cNvSpPr>
            <a:spLocks noChangeShapeType="1"/>
          </p:cNvSpPr>
          <p:nvPr/>
        </p:nvSpPr>
        <p:spPr bwMode="auto">
          <a:xfrm>
            <a:off x="6259513" y="2982913"/>
            <a:ext cx="557212" cy="0"/>
          </a:xfrm>
          <a:prstGeom prst="line">
            <a:avLst/>
          </a:prstGeom>
          <a:noFill/>
          <a:ln w="38100">
            <a:solidFill>
              <a:srgbClr val="C50D2C"/>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6873" name="Line 11">
            <a:extLst>
              <a:ext uri="{FF2B5EF4-FFF2-40B4-BE49-F238E27FC236}">
                <a16:creationId xmlns:a16="http://schemas.microsoft.com/office/drawing/2014/main" id="{FD5C17FD-7A16-4A33-A1AF-78930929FD01}"/>
              </a:ext>
            </a:extLst>
          </p:cNvPr>
          <p:cNvSpPr>
            <a:spLocks noChangeShapeType="1"/>
          </p:cNvSpPr>
          <p:nvPr/>
        </p:nvSpPr>
        <p:spPr bwMode="auto">
          <a:xfrm>
            <a:off x="3030538" y="3054350"/>
            <a:ext cx="400050" cy="0"/>
          </a:xfrm>
          <a:prstGeom prst="line">
            <a:avLst/>
          </a:prstGeom>
          <a:noFill/>
          <a:ln w="38100">
            <a:solidFill>
              <a:srgbClr val="C50D2C"/>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6874" name="Line 12">
            <a:extLst>
              <a:ext uri="{FF2B5EF4-FFF2-40B4-BE49-F238E27FC236}">
                <a16:creationId xmlns:a16="http://schemas.microsoft.com/office/drawing/2014/main" id="{A722F23A-DA89-453F-B233-52129A9B2711}"/>
              </a:ext>
            </a:extLst>
          </p:cNvPr>
          <p:cNvSpPr>
            <a:spLocks noChangeShapeType="1"/>
          </p:cNvSpPr>
          <p:nvPr/>
        </p:nvSpPr>
        <p:spPr bwMode="auto">
          <a:xfrm>
            <a:off x="3444875" y="2868613"/>
            <a:ext cx="2814638" cy="0"/>
          </a:xfrm>
          <a:prstGeom prst="line">
            <a:avLst/>
          </a:prstGeom>
          <a:noFill/>
          <a:ln w="38100">
            <a:solidFill>
              <a:srgbClr val="C50D2C"/>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6875" name="Line 13">
            <a:extLst>
              <a:ext uri="{FF2B5EF4-FFF2-40B4-BE49-F238E27FC236}">
                <a16:creationId xmlns:a16="http://schemas.microsoft.com/office/drawing/2014/main" id="{D7796AE1-00FE-462A-AE6A-A16778EE6B36}"/>
              </a:ext>
            </a:extLst>
          </p:cNvPr>
          <p:cNvSpPr>
            <a:spLocks noChangeShapeType="1"/>
          </p:cNvSpPr>
          <p:nvPr/>
        </p:nvSpPr>
        <p:spPr bwMode="auto">
          <a:xfrm>
            <a:off x="3430588" y="1860550"/>
            <a:ext cx="0" cy="1479550"/>
          </a:xfrm>
          <a:prstGeom prst="line">
            <a:avLst/>
          </a:prstGeom>
          <a:noFill/>
          <a:ln w="38100">
            <a:solidFill>
              <a:srgbClr val="C50D2C"/>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36876" name="Line 14">
            <a:extLst>
              <a:ext uri="{FF2B5EF4-FFF2-40B4-BE49-F238E27FC236}">
                <a16:creationId xmlns:a16="http://schemas.microsoft.com/office/drawing/2014/main" id="{FF32518E-5C2F-4CBA-99FC-7EC5AF6547C9}"/>
              </a:ext>
            </a:extLst>
          </p:cNvPr>
          <p:cNvSpPr>
            <a:spLocks noChangeShapeType="1"/>
          </p:cNvSpPr>
          <p:nvPr/>
        </p:nvSpPr>
        <p:spPr bwMode="auto">
          <a:xfrm>
            <a:off x="6259513" y="1954213"/>
            <a:ext cx="0" cy="1300162"/>
          </a:xfrm>
          <a:prstGeom prst="line">
            <a:avLst/>
          </a:prstGeom>
          <a:noFill/>
          <a:ln w="38100">
            <a:solidFill>
              <a:srgbClr val="C50D2C"/>
            </a:solidFill>
            <a:round/>
            <a:headEnd type="none" w="sm" len="sm"/>
            <a:tailEnd type="none" w="sm" len="sm"/>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zh-CN" altLang="en-US"/>
          </a:p>
        </p:txBody>
      </p:sp>
      <p:pic>
        <p:nvPicPr>
          <p:cNvPr id="36877" name="Picture 15">
            <a:extLst>
              <a:ext uri="{FF2B5EF4-FFF2-40B4-BE49-F238E27FC236}">
                <a16:creationId xmlns:a16="http://schemas.microsoft.com/office/drawing/2014/main" id="{C26A4702-5F04-4DF9-B99F-BC894F7A9FD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1613" y="1268413"/>
            <a:ext cx="1800225" cy="84772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8" name="Rectangle 16">
            <a:extLst>
              <a:ext uri="{FF2B5EF4-FFF2-40B4-BE49-F238E27FC236}">
                <a16:creationId xmlns:a16="http://schemas.microsoft.com/office/drawing/2014/main" id="{8F88FA5D-51B3-4799-957E-A20867F0E15D}"/>
              </a:ext>
            </a:extLst>
          </p:cNvPr>
          <p:cNvSpPr>
            <a:spLocks noChangeArrowheads="1"/>
          </p:cNvSpPr>
          <p:nvPr/>
        </p:nvSpPr>
        <p:spPr bwMode="auto">
          <a:xfrm>
            <a:off x="4103688" y="1517650"/>
            <a:ext cx="1757362"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eaLnBrk="1" hangingPunct="1">
              <a:lnSpc>
                <a:spcPts val="2138"/>
              </a:lnSpc>
              <a:spcBef>
                <a:spcPct val="0"/>
              </a:spcBef>
              <a:buClrTx/>
              <a:buSzTx/>
              <a:buFontTx/>
              <a:buNone/>
            </a:pPr>
            <a:r>
              <a:rPr lang="en-US" altLang="zh-CN" sz="1600">
                <a:solidFill>
                  <a:srgbClr val="000000"/>
                </a:solidFill>
                <a:latin typeface="Arial" panose="020B0604020202020204" pitchFamily="34" charset="0"/>
                <a:ea typeface="宋体" panose="02010600030101010101" pitchFamily="2" charset="-122"/>
              </a:rPr>
              <a:t>172.17.0.0</a:t>
            </a:r>
          </a:p>
        </p:txBody>
      </p:sp>
      <p:sp>
        <p:nvSpPr>
          <p:cNvPr id="36879" name="Line 19">
            <a:extLst>
              <a:ext uri="{FF2B5EF4-FFF2-40B4-BE49-F238E27FC236}">
                <a16:creationId xmlns:a16="http://schemas.microsoft.com/office/drawing/2014/main" id="{C5330C24-93FC-4436-A2F8-726655A798C3}"/>
              </a:ext>
            </a:extLst>
          </p:cNvPr>
          <p:cNvSpPr>
            <a:spLocks noChangeShapeType="1"/>
          </p:cNvSpPr>
          <p:nvPr/>
        </p:nvSpPr>
        <p:spPr bwMode="auto">
          <a:xfrm>
            <a:off x="3768725" y="3084513"/>
            <a:ext cx="558800" cy="0"/>
          </a:xfrm>
          <a:prstGeom prst="line">
            <a:avLst/>
          </a:prstGeom>
          <a:noFill/>
          <a:ln w="38100">
            <a:solidFill>
              <a:schemeClr val="accent2"/>
            </a:solidFill>
            <a:round/>
            <a:headEnd type="triangle" w="med" len="med"/>
            <a:tailEnd type="none" w="sm" len="sm"/>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36880" name="Line 20">
            <a:extLst>
              <a:ext uri="{FF2B5EF4-FFF2-40B4-BE49-F238E27FC236}">
                <a16:creationId xmlns:a16="http://schemas.microsoft.com/office/drawing/2014/main" id="{AD2C78CF-B277-4185-AE2D-9573C3F76224}"/>
              </a:ext>
            </a:extLst>
          </p:cNvPr>
          <p:cNvSpPr>
            <a:spLocks noChangeShapeType="1"/>
          </p:cNvSpPr>
          <p:nvPr/>
        </p:nvSpPr>
        <p:spPr bwMode="auto">
          <a:xfrm>
            <a:off x="5318125" y="3059113"/>
            <a:ext cx="558800" cy="0"/>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pic>
        <p:nvPicPr>
          <p:cNvPr id="36881" name="Picture 22" descr="Router">
            <a:extLst>
              <a:ext uri="{FF2B5EF4-FFF2-40B4-BE49-F238E27FC236}">
                <a16:creationId xmlns:a16="http://schemas.microsoft.com/office/drawing/2014/main" id="{78D8EBCC-DDED-4B48-91AA-3C1ADE746E43}"/>
              </a:ext>
            </a:extLst>
          </p:cNvPr>
          <p:cNvPicPr>
            <a:picLocks noChangeAspect="1" noChangeArrowheads="1"/>
          </p:cNvPicPr>
          <p:nvPr>
            <p:ph idx="4294967295"/>
          </p:nvPr>
        </p:nvPicPr>
        <p:blipFill>
          <a:blip r:embed="rId4">
            <a:extLst>
              <a:ext uri="{28A0092B-C50C-407E-A947-70E740481C1C}">
                <a14:useLocalDpi xmlns:a14="http://schemas.microsoft.com/office/drawing/2010/main" val="0"/>
              </a:ext>
            </a:extLst>
          </a:blip>
          <a:srcRect/>
          <a:stretch>
            <a:fillRect/>
          </a:stretch>
        </p:blipFill>
        <p:spPr>
          <a:xfrm>
            <a:off x="4349750" y="2597150"/>
            <a:ext cx="935038" cy="554038"/>
          </a:xfrm>
          <a:noFill/>
        </p:spPr>
      </p:pic>
      <p:sp>
        <p:nvSpPr>
          <p:cNvPr id="36882" name="Rectangle 23">
            <a:extLst>
              <a:ext uri="{FF2B5EF4-FFF2-40B4-BE49-F238E27FC236}">
                <a16:creationId xmlns:a16="http://schemas.microsoft.com/office/drawing/2014/main" id="{3C7B4D1A-533C-49DF-B5DD-036C946EC4BC}"/>
              </a:ext>
            </a:extLst>
          </p:cNvPr>
          <p:cNvSpPr>
            <a:spLocks noGrp="1" noChangeArrowheads="1"/>
          </p:cNvSpPr>
          <p:nvPr>
            <p:ph type="title" idx="4294967295"/>
          </p:nvPr>
        </p:nvSpPr>
        <p:spPr/>
        <p:txBody>
          <a:bodyPr/>
          <a:lstStyle/>
          <a:p>
            <a:r>
              <a:rPr lang="en-US" altLang="zh-CN" sz="4000"/>
              <a:t> IP</a:t>
            </a:r>
            <a:r>
              <a:rPr lang="zh-CN" altLang="en-US" sz="4000"/>
              <a:t>标准访问列表配置实例</a:t>
            </a:r>
            <a:endParaRPr lang="en-US" altLang="zh-CN" sz="4000"/>
          </a:p>
        </p:txBody>
      </p:sp>
      <p:sp>
        <p:nvSpPr>
          <p:cNvPr id="90136" name="Rectangle 24">
            <a:extLst>
              <a:ext uri="{FF2B5EF4-FFF2-40B4-BE49-F238E27FC236}">
                <a16:creationId xmlns:a16="http://schemas.microsoft.com/office/drawing/2014/main" id="{0B4615D5-731D-4CEB-9D92-CF37C0C09BC2}"/>
              </a:ext>
            </a:extLst>
          </p:cNvPr>
          <p:cNvSpPr>
            <a:spLocks noChangeArrowheads="1"/>
          </p:cNvSpPr>
          <p:nvPr/>
        </p:nvSpPr>
        <p:spPr bwMode="auto">
          <a:xfrm>
            <a:off x="828675" y="3644900"/>
            <a:ext cx="7056438" cy="2568575"/>
          </a:xfrm>
          <a:prstGeom prst="rect">
            <a:avLst/>
          </a:prstGeom>
          <a:noFill/>
          <a:ln w="9525">
            <a:noFill/>
            <a:miter lim="800000"/>
            <a:headEnd/>
            <a:tailEnd/>
          </a:ln>
          <a:effectLst/>
        </p:spPr>
        <p:txBody>
          <a:bodyPr/>
          <a:lstStyle/>
          <a:p>
            <a:pPr marL="342900" indent="-342900" eaLnBrk="1" hangingPunct="1">
              <a:lnSpc>
                <a:spcPct val="150000"/>
              </a:lnSpc>
              <a:spcBef>
                <a:spcPts val="0"/>
              </a:spcBef>
              <a:buFont typeface="Wingdings" pitchFamily="2" charset="2"/>
              <a:buChar char="§"/>
              <a:defRPr/>
            </a:pPr>
            <a:r>
              <a:rPr lang="zh-CN" altLang="en-US" sz="2100" b="1" dirty="0">
                <a:effectLst>
                  <a:outerShdw blurRad="38100" dist="38100" dir="2700000" algn="tl">
                    <a:srgbClr val="C0C0C0"/>
                  </a:outerShdw>
                </a:effectLst>
                <a:latin typeface="Arial" charset="0"/>
                <a:ea typeface="黑体" pitchFamily="2" charset="-122"/>
              </a:rPr>
              <a:t>只允许</a:t>
            </a:r>
            <a:r>
              <a:rPr lang="en-US" altLang="zh-CN" sz="2100" b="1" dirty="0">
                <a:effectLst>
                  <a:outerShdw blurRad="38100" dist="38100" dir="2700000" algn="tl">
                    <a:srgbClr val="C0C0C0"/>
                  </a:outerShdw>
                </a:effectLst>
                <a:latin typeface="Arial" charset="0"/>
                <a:ea typeface="黑体" pitchFamily="2" charset="-122"/>
              </a:rPr>
              <a:t>172.16.3.0</a:t>
            </a:r>
            <a:r>
              <a:rPr lang="zh-CN" altLang="en-US" sz="2100" b="1" dirty="0">
                <a:effectLst>
                  <a:outerShdw blurRad="38100" dist="38100" dir="2700000" algn="tl">
                    <a:srgbClr val="C0C0C0"/>
                  </a:outerShdw>
                </a:effectLst>
                <a:latin typeface="Arial" charset="0"/>
                <a:ea typeface="黑体" pitchFamily="2" charset="-122"/>
              </a:rPr>
              <a:t>访问</a:t>
            </a:r>
            <a:r>
              <a:rPr lang="en-US" altLang="zh-CN" sz="2100" b="1" dirty="0">
                <a:effectLst>
                  <a:outerShdw blurRad="38100" dist="38100" dir="2700000" algn="tl">
                    <a:srgbClr val="C0C0C0"/>
                  </a:outerShdw>
                </a:effectLst>
                <a:latin typeface="Arial" charset="0"/>
                <a:ea typeface="黑体" pitchFamily="2" charset="-122"/>
              </a:rPr>
              <a:t>172.17.0.0</a:t>
            </a:r>
            <a:r>
              <a:rPr lang="zh-CN" altLang="en-US" sz="2100" b="1" dirty="0">
                <a:effectLst>
                  <a:outerShdw blurRad="38100" dist="38100" dir="2700000" algn="tl">
                    <a:srgbClr val="C0C0C0"/>
                  </a:outerShdw>
                </a:effectLst>
                <a:latin typeface="Arial" charset="0"/>
                <a:ea typeface="黑体" pitchFamily="2" charset="-122"/>
              </a:rPr>
              <a:t>，禁止其它访问。</a:t>
            </a:r>
            <a:endParaRPr lang="en-US" altLang="zh-CN" sz="2100" b="1" dirty="0">
              <a:effectLst>
                <a:outerShdw blurRad="38100" dist="38100" dir="2700000" algn="tl">
                  <a:srgbClr val="C0C0C0"/>
                </a:outerShdw>
              </a:effectLst>
              <a:latin typeface="Arial" charset="0"/>
              <a:ea typeface="黑体" pitchFamily="2" charset="-122"/>
            </a:endParaRPr>
          </a:p>
          <a:p>
            <a:pPr marL="342900" indent="-342900" eaLnBrk="1" hangingPunct="1">
              <a:lnSpc>
                <a:spcPct val="150000"/>
              </a:lnSpc>
              <a:spcBef>
                <a:spcPts val="0"/>
              </a:spcBef>
              <a:buFont typeface="Wingdings" pitchFamily="2" charset="2"/>
              <a:buChar char="§"/>
              <a:defRPr/>
            </a:pPr>
            <a:r>
              <a:rPr lang="zh-CN" altLang="en-US" sz="2100" b="1" dirty="0">
                <a:effectLst>
                  <a:outerShdw blurRad="38100" dist="38100" dir="2700000" algn="tl">
                    <a:srgbClr val="C0C0C0"/>
                  </a:outerShdw>
                </a:effectLst>
                <a:latin typeface="Arial" charset="0"/>
                <a:ea typeface="黑体" pitchFamily="2" charset="-122"/>
              </a:rPr>
              <a:t>配置：</a:t>
            </a:r>
          </a:p>
          <a:p>
            <a:pPr marL="742950" lvl="1" indent="-285750" eaLnBrk="1" hangingPunct="1">
              <a:lnSpc>
                <a:spcPct val="130000"/>
              </a:lnSpc>
              <a:spcBef>
                <a:spcPts val="0"/>
              </a:spcBef>
              <a:buFont typeface="Wingdings" pitchFamily="2" charset="2"/>
              <a:buChar char="Ø"/>
              <a:defRPr/>
            </a:pPr>
            <a:r>
              <a:rPr lang="en-US" altLang="zh-CN" b="1" dirty="0">
                <a:solidFill>
                  <a:srgbClr val="A50021"/>
                </a:solidFill>
                <a:effectLst>
                  <a:outerShdw blurRad="38100" dist="38100" dir="2700000" algn="tl">
                    <a:srgbClr val="C0C0C0"/>
                  </a:outerShdw>
                </a:effectLst>
                <a:latin typeface="Arial" charset="0"/>
                <a:ea typeface="华文细黑" pitchFamily="2" charset="-122"/>
              </a:rPr>
              <a:t>access-list 1 permit 172.16.3.0  0.0.0.255</a:t>
            </a:r>
          </a:p>
          <a:p>
            <a:pPr marL="742950" lvl="1" indent="-285750" eaLnBrk="1" hangingPunct="1">
              <a:lnSpc>
                <a:spcPct val="130000"/>
              </a:lnSpc>
              <a:spcBef>
                <a:spcPts val="0"/>
              </a:spcBef>
              <a:buFont typeface="Wingdings" pitchFamily="2" charset="2"/>
              <a:buNone/>
              <a:defRPr/>
            </a:pPr>
            <a:r>
              <a:rPr lang="en-US" altLang="zh-CN" b="1" dirty="0">
                <a:solidFill>
                  <a:srgbClr val="A50021"/>
                </a:solidFill>
                <a:effectLst>
                  <a:outerShdw blurRad="38100" dist="38100" dir="2700000" algn="tl">
                    <a:srgbClr val="C0C0C0"/>
                  </a:outerShdw>
                </a:effectLst>
                <a:latin typeface="Arial" charset="0"/>
                <a:ea typeface="华文细黑" pitchFamily="2" charset="-122"/>
              </a:rPr>
              <a:t>    (access-list 1 deny any)</a:t>
            </a:r>
          </a:p>
          <a:p>
            <a:pPr marL="742950" lvl="1" indent="-285750" eaLnBrk="1" hangingPunct="1">
              <a:lnSpc>
                <a:spcPct val="130000"/>
              </a:lnSpc>
              <a:spcBef>
                <a:spcPts val="0"/>
              </a:spcBef>
              <a:buFont typeface="Wingdings" pitchFamily="2" charset="2"/>
              <a:buChar char="Ø"/>
              <a:defRPr/>
            </a:pPr>
            <a:r>
              <a:rPr lang="en-US" altLang="zh-CN" b="1" dirty="0">
                <a:solidFill>
                  <a:srgbClr val="A50021"/>
                </a:solidFill>
                <a:effectLst>
                  <a:outerShdw blurRad="38100" dist="38100" dir="2700000" algn="tl">
                    <a:srgbClr val="C0C0C0"/>
                  </a:outerShdw>
                </a:effectLst>
                <a:latin typeface="Arial" charset="0"/>
                <a:ea typeface="华文细黑" pitchFamily="2" charset="-122"/>
              </a:rPr>
              <a:t>interface serial 1/2</a:t>
            </a:r>
          </a:p>
          <a:p>
            <a:pPr marL="742950" lvl="1" indent="-285750" eaLnBrk="1" hangingPunct="1">
              <a:lnSpc>
                <a:spcPct val="130000"/>
              </a:lnSpc>
              <a:spcBef>
                <a:spcPts val="0"/>
              </a:spcBef>
              <a:buFont typeface="Wingdings" pitchFamily="2" charset="2"/>
              <a:buChar char="Ø"/>
              <a:defRPr/>
            </a:pPr>
            <a:r>
              <a:rPr lang="en-US" altLang="zh-CN" b="1" dirty="0" err="1">
                <a:solidFill>
                  <a:srgbClr val="A50021"/>
                </a:solidFill>
                <a:effectLst>
                  <a:outerShdw blurRad="38100" dist="38100" dir="2700000" algn="tl">
                    <a:srgbClr val="C0C0C0"/>
                  </a:outerShdw>
                </a:effectLst>
                <a:latin typeface="Arial" charset="0"/>
                <a:ea typeface="华文细黑" pitchFamily="2" charset="-122"/>
              </a:rPr>
              <a:t>ip</a:t>
            </a:r>
            <a:r>
              <a:rPr lang="en-US" altLang="zh-CN" b="1" dirty="0">
                <a:solidFill>
                  <a:srgbClr val="A50021"/>
                </a:solidFill>
                <a:effectLst>
                  <a:outerShdw blurRad="38100" dist="38100" dir="2700000" algn="tl">
                    <a:srgbClr val="C0C0C0"/>
                  </a:outerShdw>
                </a:effectLst>
                <a:latin typeface="Arial" charset="0"/>
                <a:ea typeface="华文细黑" pitchFamily="2" charset="-122"/>
              </a:rPr>
              <a:t> access-group 1 out</a:t>
            </a:r>
          </a:p>
        </p:txBody>
      </p:sp>
      <p:pic>
        <p:nvPicPr>
          <p:cNvPr id="36884" name="Picture 25" descr="SEVER">
            <a:extLst>
              <a:ext uri="{FF2B5EF4-FFF2-40B4-BE49-F238E27FC236}">
                <a16:creationId xmlns:a16="http://schemas.microsoft.com/office/drawing/2014/main" id="{C13B7826-392B-4D10-9235-7980921844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6088" y="2381250"/>
            <a:ext cx="6508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85" name="Picture 26" descr="PC">
            <a:extLst>
              <a:ext uri="{FF2B5EF4-FFF2-40B4-BE49-F238E27FC236}">
                <a16:creationId xmlns:a16="http://schemas.microsoft.com/office/drawing/2014/main" id="{EC91242C-13DA-48B9-BE13-034F6401B2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0600" y="2525713"/>
            <a:ext cx="9366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D705BFF9-26BE-4B76-BE11-E32D5B24D867}"/>
              </a:ext>
            </a:extLst>
          </p:cNvPr>
          <p:cNvSpPr>
            <a:spLocks noChangeArrowheads="1"/>
          </p:cNvSpPr>
          <p:nvPr/>
        </p:nvSpPr>
        <p:spPr bwMode="auto">
          <a:xfrm>
            <a:off x="828675" y="4867275"/>
            <a:ext cx="7358063"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38915" name="Rectangle 6">
            <a:extLst>
              <a:ext uri="{FF2B5EF4-FFF2-40B4-BE49-F238E27FC236}">
                <a16:creationId xmlns:a16="http://schemas.microsoft.com/office/drawing/2014/main" id="{FD5DBFE7-8D9A-47A8-88BD-69B81042FEC2}"/>
              </a:ext>
            </a:extLst>
          </p:cNvPr>
          <p:cNvSpPr>
            <a:spLocks noGrp="1" noChangeArrowheads="1"/>
          </p:cNvSpPr>
          <p:nvPr>
            <p:ph type="title" idx="4294967295"/>
          </p:nvPr>
        </p:nvSpPr>
        <p:spPr/>
        <p:txBody>
          <a:bodyPr/>
          <a:lstStyle/>
          <a:p>
            <a:r>
              <a:rPr lang="en-US" altLang="zh-CN" sz="4000"/>
              <a:t> IP</a:t>
            </a:r>
            <a:r>
              <a:rPr lang="zh-CN" altLang="en-US" sz="4000"/>
              <a:t>扩展访问列表的配置命令</a:t>
            </a:r>
          </a:p>
        </p:txBody>
      </p:sp>
      <p:sp>
        <p:nvSpPr>
          <p:cNvPr id="38916" name="Rectangle 7">
            <a:extLst>
              <a:ext uri="{FF2B5EF4-FFF2-40B4-BE49-F238E27FC236}">
                <a16:creationId xmlns:a16="http://schemas.microsoft.com/office/drawing/2014/main" id="{016A5555-D963-473C-AB7C-D1C002C7D0B1}"/>
              </a:ext>
            </a:extLst>
          </p:cNvPr>
          <p:cNvSpPr>
            <a:spLocks noGrp="1" noChangeArrowheads="1"/>
          </p:cNvSpPr>
          <p:nvPr>
            <p:ph type="body" idx="4294967295"/>
          </p:nvPr>
        </p:nvSpPr>
        <p:spPr>
          <a:xfrm>
            <a:off x="642938" y="857250"/>
            <a:ext cx="7889875" cy="5472113"/>
          </a:xfrm>
        </p:spPr>
        <p:txBody>
          <a:bodyPr/>
          <a:lstStyle/>
          <a:p>
            <a:r>
              <a:rPr lang="zh-CN" altLang="en-US"/>
              <a:t>扩展访问列表</a:t>
            </a:r>
          </a:p>
          <a:p>
            <a:pPr lvl="1"/>
            <a:r>
              <a:rPr lang="zh-CN" altLang="en-US"/>
              <a:t>根据数据包中源</a:t>
            </a:r>
            <a:r>
              <a:rPr lang="en-US" altLang="zh-CN"/>
              <a:t>IP</a:t>
            </a:r>
            <a:r>
              <a:rPr lang="zh-CN" altLang="en-US"/>
              <a:t>、目的</a:t>
            </a:r>
            <a:r>
              <a:rPr lang="en-US" altLang="zh-CN"/>
              <a:t>IP</a:t>
            </a:r>
            <a:r>
              <a:rPr lang="zh-CN" altLang="en-US"/>
              <a:t>、源端口、目的端口、协议进行规则定义，</a:t>
            </a:r>
            <a:r>
              <a:rPr lang="zh-CN" altLang="en-US">
                <a:solidFill>
                  <a:srgbClr val="FF0000"/>
                </a:solidFill>
              </a:rPr>
              <a:t>尽量应用在靠近在源地址的接口。</a:t>
            </a:r>
          </a:p>
          <a:p>
            <a:pPr>
              <a:buFont typeface="Wingdings" panose="05000000000000000000" pitchFamily="2" charset="2"/>
              <a:buNone/>
            </a:pPr>
            <a:r>
              <a:rPr lang="en-US" altLang="zh-CN" sz="2800">
                <a:latin typeface="Arial" panose="020B0604020202020204" pitchFamily="34" charset="0"/>
              </a:rPr>
              <a:t>1.</a:t>
            </a:r>
            <a:r>
              <a:rPr lang="zh-CN" altLang="en-US" sz="2800">
                <a:latin typeface="Arial" panose="020B0604020202020204" pitchFamily="34" charset="0"/>
              </a:rPr>
              <a:t>定义扩展的</a:t>
            </a:r>
            <a:r>
              <a:rPr lang="en-US" altLang="zh-CN" sz="2800">
                <a:latin typeface="Arial" panose="020B0604020202020204" pitchFamily="34" charset="0"/>
              </a:rPr>
              <a:t>ACL</a:t>
            </a:r>
          </a:p>
          <a:p>
            <a:pPr lvl="1"/>
            <a:r>
              <a:rPr lang="en-US" altLang="zh-CN">
                <a:latin typeface="Arial" panose="020B0604020202020204" pitchFamily="34" charset="0"/>
              </a:rPr>
              <a:t>Router(config)#</a:t>
            </a:r>
            <a:r>
              <a:rPr lang="en-US" altLang="zh-CN">
                <a:solidFill>
                  <a:srgbClr val="3333CC"/>
                </a:solidFill>
                <a:latin typeface="Arial" panose="020B0604020202020204" pitchFamily="34" charset="0"/>
              </a:rPr>
              <a:t>access-list </a:t>
            </a:r>
            <a:r>
              <a:rPr lang="en-US" altLang="zh-CN">
                <a:solidFill>
                  <a:srgbClr val="FF0000"/>
                </a:solidFill>
                <a:latin typeface="Arial" panose="020B0604020202020204" pitchFamily="34" charset="0"/>
              </a:rPr>
              <a:t>&lt;100-199&gt;</a:t>
            </a:r>
            <a:r>
              <a:rPr lang="en-US" altLang="zh-CN">
                <a:solidFill>
                  <a:srgbClr val="3333CC"/>
                </a:solidFill>
                <a:latin typeface="Arial" panose="020B0604020202020204" pitchFamily="34" charset="0"/>
              </a:rPr>
              <a:t> { permit /deny }</a:t>
            </a:r>
            <a:r>
              <a:rPr lang="en-US" altLang="zh-CN">
                <a:latin typeface="Arial" panose="020B0604020202020204" pitchFamily="34" charset="0"/>
              </a:rPr>
              <a:t> </a:t>
            </a:r>
            <a:r>
              <a:rPr lang="zh-CN" altLang="en-US">
                <a:solidFill>
                  <a:srgbClr val="FF0000"/>
                </a:solidFill>
                <a:latin typeface="Arial" panose="020B0604020202020204" pitchFamily="34" charset="0"/>
              </a:rPr>
              <a:t>协议 源地址 反掩码 </a:t>
            </a:r>
            <a:r>
              <a:rPr lang="en-US" altLang="zh-CN">
                <a:solidFill>
                  <a:srgbClr val="FF0000"/>
                </a:solidFill>
                <a:latin typeface="Arial" panose="020B0604020202020204" pitchFamily="34" charset="0"/>
              </a:rPr>
              <a:t>[</a:t>
            </a:r>
            <a:r>
              <a:rPr lang="zh-CN" altLang="en-US">
                <a:solidFill>
                  <a:srgbClr val="FF0000"/>
                </a:solidFill>
                <a:latin typeface="Arial" panose="020B0604020202020204" pitchFamily="34" charset="0"/>
              </a:rPr>
              <a:t>源端口</a:t>
            </a:r>
            <a:r>
              <a:rPr lang="en-US" altLang="zh-CN">
                <a:solidFill>
                  <a:srgbClr val="FF0000"/>
                </a:solidFill>
                <a:latin typeface="Arial" panose="020B0604020202020204" pitchFamily="34" charset="0"/>
              </a:rPr>
              <a:t>] </a:t>
            </a:r>
            <a:r>
              <a:rPr lang="zh-CN" altLang="en-US">
                <a:solidFill>
                  <a:srgbClr val="FF0000"/>
                </a:solidFill>
                <a:latin typeface="Arial" panose="020B0604020202020204" pitchFamily="34" charset="0"/>
              </a:rPr>
              <a:t>目的地址 反掩码 </a:t>
            </a:r>
            <a:r>
              <a:rPr lang="en-US" altLang="zh-CN">
                <a:solidFill>
                  <a:srgbClr val="FF0000"/>
                </a:solidFill>
                <a:latin typeface="Arial" panose="020B0604020202020204" pitchFamily="34" charset="0"/>
              </a:rPr>
              <a:t>[ </a:t>
            </a:r>
            <a:r>
              <a:rPr lang="zh-CN" altLang="en-US">
                <a:solidFill>
                  <a:srgbClr val="FF0000"/>
                </a:solidFill>
                <a:latin typeface="Arial" panose="020B0604020202020204" pitchFamily="34" charset="0"/>
              </a:rPr>
              <a:t>目的端口 </a:t>
            </a:r>
            <a:r>
              <a:rPr lang="en-US" altLang="zh-CN">
                <a:solidFill>
                  <a:srgbClr val="FF0000"/>
                </a:solidFill>
                <a:latin typeface="Arial" panose="020B0604020202020204" pitchFamily="34" charset="0"/>
              </a:rPr>
              <a:t>]</a:t>
            </a:r>
          </a:p>
          <a:p>
            <a:pPr>
              <a:buFont typeface="Wingdings" panose="05000000000000000000" pitchFamily="2" charset="2"/>
              <a:buNone/>
            </a:pPr>
            <a:r>
              <a:rPr lang="en-US" altLang="zh-CN" sz="2800">
                <a:latin typeface="Arial" panose="020B0604020202020204" pitchFamily="34" charset="0"/>
              </a:rPr>
              <a:t>2.</a:t>
            </a:r>
            <a:r>
              <a:rPr lang="zh-CN" altLang="en-US" sz="2800">
                <a:latin typeface="Arial" panose="020B0604020202020204" pitchFamily="34" charset="0"/>
              </a:rPr>
              <a:t>应用</a:t>
            </a:r>
            <a:r>
              <a:rPr lang="en-US" altLang="zh-CN" sz="2800">
                <a:latin typeface="Arial" panose="020B0604020202020204" pitchFamily="34" charset="0"/>
              </a:rPr>
              <a:t>ACL</a:t>
            </a:r>
            <a:r>
              <a:rPr lang="zh-CN" altLang="en-US" sz="2800">
                <a:latin typeface="Arial" panose="020B0604020202020204" pitchFamily="34" charset="0"/>
              </a:rPr>
              <a:t>到接口</a:t>
            </a:r>
          </a:p>
          <a:p>
            <a:pPr lvl="1"/>
            <a:r>
              <a:rPr lang="en-US" altLang="zh-CN" sz="2400">
                <a:latin typeface="Arial" panose="020B0604020202020204" pitchFamily="34" charset="0"/>
              </a:rPr>
              <a:t>Router(config-if)#</a:t>
            </a:r>
            <a:r>
              <a:rPr lang="en-US" altLang="zh-CN" sz="2400">
                <a:solidFill>
                  <a:srgbClr val="3333CC"/>
                </a:solidFill>
                <a:latin typeface="Arial" panose="020B0604020202020204" pitchFamily="34" charset="0"/>
              </a:rPr>
              <a:t>ip access-group </a:t>
            </a:r>
            <a:r>
              <a:rPr lang="en-US" altLang="zh-CN" sz="2400">
                <a:solidFill>
                  <a:srgbClr val="FF0000"/>
                </a:solidFill>
                <a:latin typeface="Arial" panose="020B0604020202020204" pitchFamily="34" charset="0"/>
              </a:rPr>
              <a:t>&lt;100-199&gt;</a:t>
            </a:r>
            <a:r>
              <a:rPr lang="en-US" altLang="zh-CN" sz="2400">
                <a:solidFill>
                  <a:srgbClr val="3333CC"/>
                </a:solidFill>
                <a:latin typeface="Arial" panose="020B0604020202020204" pitchFamily="34" charset="0"/>
              </a:rPr>
              <a:t> { in | out }</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3">
            <a:extLst>
              <a:ext uri="{FF2B5EF4-FFF2-40B4-BE49-F238E27FC236}">
                <a16:creationId xmlns:a16="http://schemas.microsoft.com/office/drawing/2014/main" id="{70A17B60-1414-40A0-9912-7910C1028495}"/>
              </a:ext>
            </a:extLst>
          </p:cNvPr>
          <p:cNvSpPr>
            <a:spLocks noGrp="1" noChangeArrowheads="1"/>
          </p:cNvSpPr>
          <p:nvPr>
            <p:ph type="title" idx="4294967295"/>
          </p:nvPr>
        </p:nvSpPr>
        <p:spPr/>
        <p:txBody>
          <a:bodyPr/>
          <a:lstStyle/>
          <a:p>
            <a:r>
              <a:rPr lang="en-US" altLang="zh-CN" sz="4000"/>
              <a:t> IP</a:t>
            </a:r>
            <a:r>
              <a:rPr lang="zh-CN" altLang="en-US" sz="4000"/>
              <a:t>扩展访问列表配置实例</a:t>
            </a:r>
            <a:endParaRPr lang="en-US" altLang="zh-CN" sz="4000"/>
          </a:p>
        </p:txBody>
      </p:sp>
      <p:sp>
        <p:nvSpPr>
          <p:cNvPr id="40963" name="Rectangle 24">
            <a:extLst>
              <a:ext uri="{FF2B5EF4-FFF2-40B4-BE49-F238E27FC236}">
                <a16:creationId xmlns:a16="http://schemas.microsoft.com/office/drawing/2014/main" id="{39E48C97-A40E-4B37-8E6D-D58720963737}"/>
              </a:ext>
            </a:extLst>
          </p:cNvPr>
          <p:cNvSpPr>
            <a:spLocks noGrp="1" noChangeArrowheads="1"/>
          </p:cNvSpPr>
          <p:nvPr>
            <p:ph type="body" idx="4294967295"/>
          </p:nvPr>
        </p:nvSpPr>
        <p:spPr>
          <a:xfrm>
            <a:off x="250825" y="692150"/>
            <a:ext cx="8435975" cy="4321175"/>
          </a:xfrm>
        </p:spPr>
        <p:txBody>
          <a:bodyPr/>
          <a:lstStyle/>
          <a:p>
            <a:pPr>
              <a:lnSpc>
                <a:spcPct val="120000"/>
              </a:lnSpc>
            </a:pPr>
            <a:r>
              <a:rPr lang="zh-CN" altLang="en-US" sz="2800">
                <a:latin typeface="Arial" panose="020B0604020202020204" pitchFamily="34" charset="0"/>
              </a:rPr>
              <a:t>禁止</a:t>
            </a:r>
            <a:r>
              <a:rPr lang="en-US" altLang="zh-CN" sz="2800">
                <a:latin typeface="Arial" panose="020B0604020202020204" pitchFamily="34" charset="0"/>
              </a:rPr>
              <a:t>192.168.30.0</a:t>
            </a:r>
            <a:r>
              <a:rPr lang="zh-CN" altLang="en-US" sz="2800">
                <a:latin typeface="Arial" panose="020B0604020202020204" pitchFamily="34" charset="0"/>
              </a:rPr>
              <a:t>访问</a:t>
            </a:r>
            <a:r>
              <a:rPr lang="en-US" altLang="zh-CN" sz="2800">
                <a:latin typeface="Arial" panose="020B0604020202020204" pitchFamily="34" charset="0"/>
              </a:rPr>
              <a:t>172.168.12.0</a:t>
            </a:r>
            <a:r>
              <a:rPr lang="zh-CN" altLang="en-US" sz="2800">
                <a:latin typeface="Arial" panose="020B0604020202020204" pitchFamily="34" charset="0"/>
              </a:rPr>
              <a:t> 的</a:t>
            </a:r>
            <a:r>
              <a:rPr lang="en-US" altLang="zh-CN" sz="2800">
                <a:latin typeface="Arial" panose="020B0604020202020204" pitchFamily="34" charset="0"/>
              </a:rPr>
              <a:t>WWW</a:t>
            </a:r>
            <a:r>
              <a:rPr lang="zh-CN" altLang="en-US" sz="2800">
                <a:latin typeface="Arial" panose="020B0604020202020204" pitchFamily="34" charset="0"/>
              </a:rPr>
              <a:t>服务，允许其他服务。</a:t>
            </a:r>
            <a:endParaRPr lang="en-US" altLang="zh-CN" sz="2800">
              <a:latin typeface="Arial" panose="020B0604020202020204" pitchFamily="34" charset="0"/>
            </a:endParaRPr>
          </a:p>
          <a:p>
            <a:pPr lvl="1"/>
            <a:r>
              <a:rPr lang="en-US" altLang="zh-CN" sz="2400">
                <a:latin typeface="Arial" panose="020B0604020202020204" pitchFamily="34" charset="0"/>
              </a:rPr>
              <a:t>Router (config)# </a:t>
            </a:r>
            <a:r>
              <a:rPr lang="en-US" altLang="zh-CN" sz="2400">
                <a:solidFill>
                  <a:srgbClr val="3333CC"/>
                </a:solidFill>
                <a:latin typeface="Arial" panose="020B0604020202020204" pitchFamily="34" charset="0"/>
              </a:rPr>
              <a:t>access-list 103  deny tcp 192.168.30.0 0.0.0.255 172.168.12.0 0.0.0.255 eq www </a:t>
            </a:r>
          </a:p>
          <a:p>
            <a:pPr lvl="1"/>
            <a:r>
              <a:rPr lang="en-US" altLang="zh-CN" sz="2400">
                <a:latin typeface="Arial" panose="020B0604020202020204" pitchFamily="34" charset="0"/>
              </a:rPr>
              <a:t>Router (config)# </a:t>
            </a:r>
            <a:r>
              <a:rPr lang="en-US" altLang="zh-CN" sz="2400">
                <a:solidFill>
                  <a:srgbClr val="3333CC"/>
                </a:solidFill>
                <a:latin typeface="Arial" panose="020B0604020202020204" pitchFamily="34" charset="0"/>
              </a:rPr>
              <a:t>access-list 103 permit ip any any</a:t>
            </a:r>
          </a:p>
          <a:p>
            <a:r>
              <a:rPr lang="zh-CN" altLang="en-US" sz="2800">
                <a:latin typeface="Arial" panose="020B0604020202020204" pitchFamily="34" charset="0"/>
              </a:rPr>
              <a:t>将上面规则应用到接口上</a:t>
            </a:r>
          </a:p>
          <a:p>
            <a:pPr lvl="1"/>
            <a:r>
              <a:rPr lang="en-US" altLang="zh-CN" sz="2400">
                <a:latin typeface="Arial" panose="020B0604020202020204" pitchFamily="34" charset="0"/>
              </a:rPr>
              <a:t>Router(config)#</a:t>
            </a:r>
            <a:r>
              <a:rPr lang="en-US" altLang="zh-CN" sz="2400">
                <a:solidFill>
                  <a:srgbClr val="3333CC"/>
                </a:solidFill>
                <a:latin typeface="Arial" panose="020B0604020202020204" pitchFamily="34" charset="0"/>
              </a:rPr>
              <a:t>interface fastethernet 1/0</a:t>
            </a:r>
            <a:r>
              <a:rPr lang="en-US" altLang="zh-CN" sz="2400">
                <a:latin typeface="Arial" panose="020B0604020202020204" pitchFamily="34" charset="0"/>
              </a:rPr>
              <a:t> </a:t>
            </a:r>
          </a:p>
          <a:p>
            <a:pPr lvl="1"/>
            <a:r>
              <a:rPr lang="en-US" altLang="zh-CN" sz="2400">
                <a:latin typeface="Arial" panose="020B0604020202020204" pitchFamily="34" charset="0"/>
              </a:rPr>
              <a:t>Router(config-if)#</a:t>
            </a:r>
            <a:r>
              <a:rPr lang="en-US" altLang="zh-CN" sz="2400">
                <a:solidFill>
                  <a:srgbClr val="3333CC"/>
                </a:solidFill>
                <a:latin typeface="Arial" panose="020B0604020202020204" pitchFamily="34" charset="0"/>
              </a:rPr>
              <a:t>ip access-group 103 in</a:t>
            </a:r>
            <a:endParaRPr lang="en-US" altLang="zh-CN" sz="2400">
              <a:latin typeface="Arial" panose="020B0604020202020204" pitchFamily="34" charset="0"/>
            </a:endParaRPr>
          </a:p>
        </p:txBody>
      </p:sp>
      <p:sp>
        <p:nvSpPr>
          <p:cNvPr id="40964" name="Line 3">
            <a:extLst>
              <a:ext uri="{FF2B5EF4-FFF2-40B4-BE49-F238E27FC236}">
                <a16:creationId xmlns:a16="http://schemas.microsoft.com/office/drawing/2014/main" id="{B6C1E806-A60A-4973-9E8F-CE6A4F4192B7}"/>
              </a:ext>
            </a:extLst>
          </p:cNvPr>
          <p:cNvSpPr>
            <a:spLocks noChangeShapeType="1"/>
          </p:cNvSpPr>
          <p:nvPr/>
        </p:nvSpPr>
        <p:spPr bwMode="auto">
          <a:xfrm flipV="1">
            <a:off x="2051050" y="5588000"/>
            <a:ext cx="1260475" cy="144463"/>
          </a:xfrm>
          <a:prstGeom prst="line">
            <a:avLst/>
          </a:prstGeom>
          <a:noFill/>
          <a:ln w="50800">
            <a:solidFill>
              <a:srgbClr val="0099CC"/>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endParaRPr lang="zh-CN" altLang="en-US"/>
          </a:p>
        </p:txBody>
      </p:sp>
      <p:sp>
        <p:nvSpPr>
          <p:cNvPr id="40965" name="Rectangle 6">
            <a:extLst>
              <a:ext uri="{FF2B5EF4-FFF2-40B4-BE49-F238E27FC236}">
                <a16:creationId xmlns:a16="http://schemas.microsoft.com/office/drawing/2014/main" id="{45C69EDB-F573-460C-BE35-2B66FBC7D529}"/>
              </a:ext>
            </a:extLst>
          </p:cNvPr>
          <p:cNvSpPr>
            <a:spLocks noChangeArrowheads="1"/>
          </p:cNvSpPr>
          <p:nvPr/>
        </p:nvSpPr>
        <p:spPr bwMode="auto">
          <a:xfrm>
            <a:off x="4070350" y="5213350"/>
            <a:ext cx="4699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a:lnSpc>
                <a:spcPts val="2000"/>
              </a:lnSpc>
              <a:spcBef>
                <a:spcPct val="0"/>
              </a:spcBef>
              <a:buClrTx/>
              <a:buSzTx/>
              <a:buFontTx/>
              <a:buNone/>
            </a:pPr>
            <a:r>
              <a:rPr lang="en-US" altLang="zh-CN" sz="1800">
                <a:solidFill>
                  <a:srgbClr val="000000"/>
                </a:solidFill>
                <a:latin typeface="Helvetica" panose="020B0604020202020204" pitchFamily="34" charset="0"/>
                <a:ea typeface="宋体" panose="02010600030101010101" pitchFamily="2" charset="-122"/>
              </a:rPr>
              <a:t>S1/2</a:t>
            </a:r>
          </a:p>
        </p:txBody>
      </p:sp>
      <p:sp>
        <p:nvSpPr>
          <p:cNvPr id="40966" name="Rectangle 8">
            <a:extLst>
              <a:ext uri="{FF2B5EF4-FFF2-40B4-BE49-F238E27FC236}">
                <a16:creationId xmlns:a16="http://schemas.microsoft.com/office/drawing/2014/main" id="{5D0EB0DA-D9EB-40A3-BAB9-54090FF1CAA8}"/>
              </a:ext>
            </a:extLst>
          </p:cNvPr>
          <p:cNvSpPr>
            <a:spLocks noChangeArrowheads="1"/>
          </p:cNvSpPr>
          <p:nvPr/>
        </p:nvSpPr>
        <p:spPr bwMode="auto">
          <a:xfrm>
            <a:off x="6350000" y="5616575"/>
            <a:ext cx="1651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a:lnSpc>
                <a:spcPts val="1575"/>
              </a:lnSpc>
              <a:spcBef>
                <a:spcPct val="0"/>
              </a:spcBef>
              <a:spcAft>
                <a:spcPts val="900"/>
              </a:spcAft>
              <a:buClrTx/>
              <a:buSzTx/>
              <a:buFontTx/>
              <a:buNone/>
            </a:pPr>
            <a:r>
              <a:rPr lang="en-US" altLang="zh-CN" sz="1800">
                <a:solidFill>
                  <a:srgbClr val="FFFFFF"/>
                </a:solidFill>
                <a:latin typeface="Helvetica" panose="020B0604020202020204" pitchFamily="34" charset="0"/>
                <a:ea typeface="宋体" panose="02010600030101010101" pitchFamily="2" charset="-122"/>
              </a:rPr>
              <a:t>B</a:t>
            </a:r>
            <a:endParaRPr lang="en-US" altLang="zh-CN" sz="1800" b="0">
              <a:solidFill>
                <a:srgbClr val="FFFFFF"/>
              </a:solidFill>
              <a:latin typeface="Helvetica" panose="020B0604020202020204" pitchFamily="34" charset="0"/>
              <a:ea typeface="宋体" panose="02010600030101010101" pitchFamily="2" charset="-122"/>
            </a:endParaRPr>
          </a:p>
        </p:txBody>
      </p:sp>
      <p:pic>
        <p:nvPicPr>
          <p:cNvPr id="40967" name="Picture 10" descr="Router">
            <a:extLst>
              <a:ext uri="{FF2B5EF4-FFF2-40B4-BE49-F238E27FC236}">
                <a16:creationId xmlns:a16="http://schemas.microsoft.com/office/drawing/2014/main" id="{B63171E7-6A89-4EF6-9E16-BF77794ED9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5300663"/>
            <a:ext cx="1008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8" name="Rectangle 11">
            <a:extLst>
              <a:ext uri="{FF2B5EF4-FFF2-40B4-BE49-F238E27FC236}">
                <a16:creationId xmlns:a16="http://schemas.microsoft.com/office/drawing/2014/main" id="{21B664BD-C94B-4824-947B-6502D5F8BBD8}"/>
              </a:ext>
            </a:extLst>
          </p:cNvPr>
          <p:cNvSpPr>
            <a:spLocks noChangeArrowheads="1"/>
          </p:cNvSpPr>
          <p:nvPr/>
        </p:nvSpPr>
        <p:spPr bwMode="auto">
          <a:xfrm>
            <a:off x="3490913" y="5661025"/>
            <a:ext cx="1587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a:lnSpc>
                <a:spcPts val="1575"/>
              </a:lnSpc>
              <a:spcBef>
                <a:spcPct val="0"/>
              </a:spcBef>
              <a:spcAft>
                <a:spcPts val="900"/>
              </a:spcAft>
              <a:buClrTx/>
              <a:buSzTx/>
              <a:buFontTx/>
              <a:buNone/>
            </a:pPr>
            <a:r>
              <a:rPr lang="en-US" altLang="zh-CN" sz="1800">
                <a:latin typeface="Helvetica" panose="020B0604020202020204" pitchFamily="34" charset="0"/>
                <a:ea typeface="宋体" panose="02010600030101010101" pitchFamily="2" charset="-122"/>
              </a:rPr>
              <a:t>A</a:t>
            </a:r>
          </a:p>
        </p:txBody>
      </p:sp>
      <p:sp>
        <p:nvSpPr>
          <p:cNvPr id="40969" name="Freeform 13">
            <a:extLst>
              <a:ext uri="{FF2B5EF4-FFF2-40B4-BE49-F238E27FC236}">
                <a16:creationId xmlns:a16="http://schemas.microsoft.com/office/drawing/2014/main" id="{886D6D46-B889-4115-9D34-B7F539DA0E3B}"/>
              </a:ext>
            </a:extLst>
          </p:cNvPr>
          <p:cNvSpPr>
            <a:spLocks/>
          </p:cNvSpPr>
          <p:nvPr/>
        </p:nvSpPr>
        <p:spPr bwMode="auto">
          <a:xfrm>
            <a:off x="3995738" y="5573713"/>
            <a:ext cx="1981200" cy="93662"/>
          </a:xfrm>
          <a:custGeom>
            <a:avLst/>
            <a:gdLst>
              <a:gd name="T0" fmla="*/ 0 w 2017"/>
              <a:gd name="T1" fmla="*/ 0 h 97"/>
              <a:gd name="T2" fmla="*/ 2147483646 w 2017"/>
              <a:gd name="T3" fmla="*/ 0 h 97"/>
              <a:gd name="T4" fmla="*/ 2147483646 w 2017"/>
              <a:gd name="T5" fmla="*/ 2147483646 h 97"/>
              <a:gd name="T6" fmla="*/ 2147483646 w 2017"/>
              <a:gd name="T7" fmla="*/ 2147483646 h 9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17" h="97">
                <a:moveTo>
                  <a:pt x="0" y="0"/>
                </a:moveTo>
                <a:lnTo>
                  <a:pt x="1008" y="0"/>
                </a:lnTo>
                <a:lnTo>
                  <a:pt x="912" y="96"/>
                </a:lnTo>
                <a:lnTo>
                  <a:pt x="2016" y="96"/>
                </a:lnTo>
              </a:path>
            </a:pathLst>
          </a:custGeom>
          <a:noFill/>
          <a:ln w="50800" cap="rnd" cmpd="sng">
            <a:solidFill>
              <a:srgbClr val="0099CC"/>
            </a:solidFill>
            <a:prstDash val="solid"/>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0970" name="Rectangle 17">
            <a:extLst>
              <a:ext uri="{FF2B5EF4-FFF2-40B4-BE49-F238E27FC236}">
                <a16:creationId xmlns:a16="http://schemas.microsoft.com/office/drawing/2014/main" id="{AA58E690-C5F3-4105-9446-24B28D585F1A}"/>
              </a:ext>
            </a:extLst>
          </p:cNvPr>
          <p:cNvSpPr>
            <a:spLocks noChangeArrowheads="1"/>
          </p:cNvSpPr>
          <p:nvPr/>
        </p:nvSpPr>
        <p:spPr bwMode="auto">
          <a:xfrm>
            <a:off x="2914650" y="5789613"/>
            <a:ext cx="4572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a:lnSpc>
                <a:spcPts val="2000"/>
              </a:lnSpc>
              <a:spcBef>
                <a:spcPct val="0"/>
              </a:spcBef>
              <a:buClrTx/>
              <a:buSzTx/>
              <a:buFontTx/>
              <a:buNone/>
            </a:pPr>
            <a:r>
              <a:rPr lang="en-US" altLang="zh-CN" sz="1800">
                <a:solidFill>
                  <a:srgbClr val="000000"/>
                </a:solidFill>
                <a:latin typeface="Helvetica" panose="020B0604020202020204" pitchFamily="34" charset="0"/>
                <a:ea typeface="宋体" panose="02010600030101010101" pitchFamily="2" charset="-122"/>
              </a:rPr>
              <a:t>F1/0</a:t>
            </a:r>
          </a:p>
        </p:txBody>
      </p:sp>
      <p:pic>
        <p:nvPicPr>
          <p:cNvPr id="40971" name="Picture 19" descr="PC">
            <a:extLst>
              <a:ext uri="{FF2B5EF4-FFF2-40B4-BE49-F238E27FC236}">
                <a16:creationId xmlns:a16="http://schemas.microsoft.com/office/drawing/2014/main" id="{68BF189B-FB39-4ADB-8368-11119B0DC5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5372100"/>
            <a:ext cx="792162" cy="696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2" name="Rectangle 21">
            <a:extLst>
              <a:ext uri="{FF2B5EF4-FFF2-40B4-BE49-F238E27FC236}">
                <a16:creationId xmlns:a16="http://schemas.microsoft.com/office/drawing/2014/main" id="{865940C0-0957-49F0-8BA8-6E74CA8FDB22}"/>
              </a:ext>
            </a:extLst>
          </p:cNvPr>
          <p:cNvSpPr>
            <a:spLocks noChangeArrowheads="1"/>
          </p:cNvSpPr>
          <p:nvPr/>
        </p:nvSpPr>
        <p:spPr bwMode="auto">
          <a:xfrm>
            <a:off x="1116013" y="6092825"/>
            <a:ext cx="1476375"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a:lnSpc>
                <a:spcPts val="2000"/>
              </a:lnSpc>
              <a:spcBef>
                <a:spcPct val="0"/>
              </a:spcBef>
              <a:buClrTx/>
              <a:buSzTx/>
              <a:buFontTx/>
              <a:buNone/>
            </a:pPr>
            <a:r>
              <a:rPr lang="en-US" altLang="zh-CN" sz="1800">
                <a:solidFill>
                  <a:srgbClr val="000000"/>
                </a:solidFill>
                <a:latin typeface="Helvetica" panose="020B0604020202020204" pitchFamily="34" charset="0"/>
                <a:ea typeface="宋体" panose="02010600030101010101" pitchFamily="2" charset="-122"/>
              </a:rPr>
              <a:t>192.168.30.5</a:t>
            </a:r>
          </a:p>
        </p:txBody>
      </p:sp>
      <p:pic>
        <p:nvPicPr>
          <p:cNvPr id="40973" name="Picture 15">
            <a:extLst>
              <a:ext uri="{FF2B5EF4-FFF2-40B4-BE49-F238E27FC236}">
                <a16:creationId xmlns:a16="http://schemas.microsoft.com/office/drawing/2014/main" id="{FAF7E41F-F424-47BD-972B-F033422ABD7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0425" y="5156200"/>
            <a:ext cx="1800225" cy="84772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4" name="Rectangle 16">
            <a:extLst>
              <a:ext uri="{FF2B5EF4-FFF2-40B4-BE49-F238E27FC236}">
                <a16:creationId xmlns:a16="http://schemas.microsoft.com/office/drawing/2014/main" id="{2DB9FBFA-9428-405E-A8D3-FEBA8A979602}"/>
              </a:ext>
            </a:extLst>
          </p:cNvPr>
          <p:cNvSpPr>
            <a:spLocks noChangeArrowheads="1"/>
          </p:cNvSpPr>
          <p:nvPr/>
        </p:nvSpPr>
        <p:spPr bwMode="auto">
          <a:xfrm>
            <a:off x="6227763" y="5445125"/>
            <a:ext cx="133350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defTabSz="1028700">
              <a:spcBef>
                <a:spcPct val="20000"/>
              </a:spcBef>
              <a:buClr>
                <a:schemeClr val="bg2"/>
              </a:buClr>
              <a:buSzPct val="75000"/>
              <a:buFont typeface="Wingdings" panose="05000000000000000000" pitchFamily="2" charset="2"/>
              <a:buChar char="n"/>
              <a:tabLst>
                <a:tab pos="514350" algn="l"/>
                <a:tab pos="1028700" algn="l"/>
                <a:tab pos="1543050" algn="l"/>
              </a:tabLst>
              <a:defRPr sz="3200" b="1">
                <a:solidFill>
                  <a:schemeClr val="tx1"/>
                </a:solidFill>
                <a:latin typeface="黑体" panose="02010609060101010101" pitchFamily="49" charset="-122"/>
                <a:ea typeface="黑体" panose="02010609060101010101" pitchFamily="49" charset="-122"/>
              </a:defRPr>
            </a:lvl1pPr>
            <a:lvl2pPr marL="742950" indent="-285750" defTabSz="1028700">
              <a:spcBef>
                <a:spcPct val="20000"/>
              </a:spcBef>
              <a:buClr>
                <a:schemeClr val="accent2"/>
              </a:buClr>
              <a:buSzPct val="80000"/>
              <a:buFont typeface="Wingdings" panose="05000000000000000000" pitchFamily="2" charset="2"/>
              <a:buChar char="¨"/>
              <a:tabLst>
                <a:tab pos="514350" algn="l"/>
                <a:tab pos="1028700" algn="l"/>
                <a:tab pos="1543050" algn="l"/>
              </a:tabLst>
              <a:defRPr sz="2800" b="1">
                <a:solidFill>
                  <a:schemeClr val="tx1"/>
                </a:solidFill>
                <a:latin typeface="黑体" panose="02010609060101010101" pitchFamily="49" charset="-122"/>
                <a:ea typeface="黑体" panose="02010609060101010101" pitchFamily="49" charset="-122"/>
              </a:defRPr>
            </a:lvl2pPr>
            <a:lvl3pPr marL="1143000" indent="-228600" defTabSz="1028700">
              <a:spcBef>
                <a:spcPct val="20000"/>
              </a:spcBef>
              <a:buClr>
                <a:schemeClr val="bg2"/>
              </a:buClr>
              <a:buSzPct val="65000"/>
              <a:buFont typeface="Wingdings" panose="05000000000000000000" pitchFamily="2" charset="2"/>
              <a:buChar char="n"/>
              <a:tabLst>
                <a:tab pos="514350" algn="l"/>
                <a:tab pos="1028700" algn="l"/>
                <a:tab pos="1543050" algn="l"/>
              </a:tabLst>
              <a:defRPr sz="2400" b="1">
                <a:solidFill>
                  <a:schemeClr val="tx1"/>
                </a:solidFill>
                <a:latin typeface="黑体" panose="02010609060101010101" pitchFamily="49" charset="-122"/>
                <a:ea typeface="黑体" panose="02010609060101010101" pitchFamily="49" charset="-122"/>
              </a:defRPr>
            </a:lvl3pPr>
            <a:lvl4pPr marL="1600200" indent="-228600" defTabSz="1028700">
              <a:spcBef>
                <a:spcPct val="20000"/>
              </a:spcBef>
              <a:buClr>
                <a:schemeClr val="accent2"/>
              </a:buClr>
              <a:buSzPct val="70000"/>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4pPr>
            <a:lvl5pPr marL="2057400" indent="-228600" defTabSz="1028700">
              <a:spcBef>
                <a:spcPct val="20000"/>
              </a:spcBef>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5pPr>
            <a:lvl6pPr marL="25146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6pPr>
            <a:lvl7pPr marL="29718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7pPr>
            <a:lvl8pPr marL="34290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8pPr>
            <a:lvl9pPr marL="3886200" indent="-228600" defTabSz="1028700" eaLnBrk="0" fontAlgn="base" hangingPunct="0">
              <a:spcBef>
                <a:spcPct val="20000"/>
              </a:spcBef>
              <a:spcAft>
                <a:spcPct val="0"/>
              </a:spcAft>
              <a:buClr>
                <a:schemeClr val="bg2"/>
              </a:buClr>
              <a:buFont typeface="Wingdings" panose="05000000000000000000" pitchFamily="2" charset="2"/>
              <a:buChar char="§"/>
              <a:tabLst>
                <a:tab pos="514350" algn="l"/>
                <a:tab pos="1028700" algn="l"/>
                <a:tab pos="1543050" algn="l"/>
              </a:tabLst>
              <a:defRPr sz="2000">
                <a:solidFill>
                  <a:schemeClr val="tx1"/>
                </a:solidFill>
                <a:latin typeface="Arial" panose="020B0604020202020204" pitchFamily="34" charset="0"/>
                <a:ea typeface="宋体" panose="02010600030101010101" pitchFamily="2" charset="-122"/>
              </a:defRPr>
            </a:lvl9pPr>
          </a:lstStyle>
          <a:p>
            <a:pPr>
              <a:lnSpc>
                <a:spcPts val="2000"/>
              </a:lnSpc>
              <a:spcBef>
                <a:spcPct val="0"/>
              </a:spcBef>
              <a:buClrTx/>
              <a:buSzTx/>
              <a:buFontTx/>
              <a:buNone/>
            </a:pPr>
            <a:r>
              <a:rPr lang="en-US" altLang="zh-CN" sz="1800">
                <a:solidFill>
                  <a:srgbClr val="000000"/>
                </a:solidFill>
                <a:latin typeface="Helvetica" panose="020B0604020202020204" pitchFamily="34" charset="0"/>
                <a:ea typeface="宋体" panose="02010600030101010101" pitchFamily="2" charset="-122"/>
              </a:rPr>
              <a:t>172.168.12.0</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22F35654-0041-4FC4-95BC-48852F5A4D80}"/>
              </a:ext>
            </a:extLst>
          </p:cNvPr>
          <p:cNvSpPr>
            <a:spLocks noChangeArrowheads="1"/>
          </p:cNvSpPr>
          <p:nvPr/>
        </p:nvSpPr>
        <p:spPr bwMode="auto">
          <a:xfrm>
            <a:off x="1639888" y="6237288"/>
            <a:ext cx="57150" cy="396875"/>
          </a:xfrm>
          <a:prstGeom prst="rect">
            <a:avLst/>
          </a:prstGeom>
          <a:noFill/>
          <a:ln>
            <a:noFill/>
          </a:ln>
          <a:effectLst>
            <a:outerShdw dist="17961" dir="2700000" algn="ctr" rotWithShape="0">
              <a:schemeClr val="tx1"/>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28575" tIns="15875" rIns="28575" bIns="15875">
            <a:spAutoFit/>
          </a:bodyPr>
          <a:lstStyle>
            <a:lvl1pPr defTabSz="84138">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defTabSz="84138">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defTabSz="84138">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defTabSz="841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defTabSz="841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841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zh-CN" altLang="en-US" sz="2400">
              <a:latin typeface="Arial" panose="020B0604020202020204" pitchFamily="34" charset="0"/>
              <a:ea typeface="宋体" panose="02010600030101010101" pitchFamily="2" charset="-122"/>
            </a:endParaRPr>
          </a:p>
        </p:txBody>
      </p:sp>
      <p:sp>
        <p:nvSpPr>
          <p:cNvPr id="43011" name="Rectangle 3">
            <a:extLst>
              <a:ext uri="{FF2B5EF4-FFF2-40B4-BE49-F238E27FC236}">
                <a16:creationId xmlns:a16="http://schemas.microsoft.com/office/drawing/2014/main" id="{669EC1AD-567D-4323-BBB5-80368E7574C0}"/>
              </a:ext>
            </a:extLst>
          </p:cNvPr>
          <p:cNvSpPr>
            <a:spLocks noChangeArrowheads="1"/>
          </p:cNvSpPr>
          <p:nvPr/>
        </p:nvSpPr>
        <p:spPr bwMode="auto">
          <a:xfrm>
            <a:off x="0" y="4149725"/>
            <a:ext cx="9144000" cy="2708275"/>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43012" name="Rectangle 4">
            <a:extLst>
              <a:ext uri="{FF2B5EF4-FFF2-40B4-BE49-F238E27FC236}">
                <a16:creationId xmlns:a16="http://schemas.microsoft.com/office/drawing/2014/main" id="{458BDABB-B5BC-4D10-BFCA-22CAEF3A610D}"/>
              </a:ext>
            </a:extLst>
          </p:cNvPr>
          <p:cNvSpPr>
            <a:spLocks noChangeArrowheads="1"/>
          </p:cNvSpPr>
          <p:nvPr/>
        </p:nvSpPr>
        <p:spPr bwMode="auto">
          <a:xfrm>
            <a:off x="0" y="3933825"/>
            <a:ext cx="9144000" cy="2159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43013" name="WordArt 5">
            <a:extLst>
              <a:ext uri="{FF2B5EF4-FFF2-40B4-BE49-F238E27FC236}">
                <a16:creationId xmlns:a16="http://schemas.microsoft.com/office/drawing/2014/main" id="{56472852-27E3-47BB-82BD-191EB2269258}"/>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43014" name="Rectangle 6">
            <a:extLst>
              <a:ext uri="{FF2B5EF4-FFF2-40B4-BE49-F238E27FC236}">
                <a16:creationId xmlns:a16="http://schemas.microsoft.com/office/drawing/2014/main" id="{58A5B694-420A-4152-B7F3-CCF7A3EF43C6}"/>
              </a:ext>
            </a:extLst>
          </p:cNvPr>
          <p:cNvSpPr>
            <a:spLocks noGrp="1" noChangeArrowheads="1"/>
          </p:cNvSpPr>
          <p:nvPr>
            <p:ph type="title"/>
          </p:nvPr>
        </p:nvSpPr>
        <p:spPr>
          <a:xfrm>
            <a:off x="395288" y="2565400"/>
            <a:ext cx="8477250" cy="838200"/>
          </a:xfrm>
        </p:spPr>
        <p:txBody>
          <a:bodyPr/>
          <a:lstStyle/>
          <a:p>
            <a:pPr algn="ctr"/>
            <a:r>
              <a:rPr lang="en-US" altLang="zh-CN" sz="4000"/>
              <a:t>2</a:t>
            </a:r>
            <a:r>
              <a:rPr lang="zh-CN" altLang="en-US" sz="4000"/>
              <a:t>）扩展访问列表配置实验</a:t>
            </a:r>
            <a:endParaRPr lang="en-US" altLang="zh-CN" sz="4000"/>
          </a:p>
        </p:txBody>
      </p:sp>
      <p:sp>
        <p:nvSpPr>
          <p:cNvPr id="43015" name="WordArt 7">
            <a:extLst>
              <a:ext uri="{FF2B5EF4-FFF2-40B4-BE49-F238E27FC236}">
                <a16:creationId xmlns:a16="http://schemas.microsoft.com/office/drawing/2014/main" id="{5E9BCD89-63E0-4DBD-B777-B8C5D81051DB}"/>
              </a:ext>
            </a:extLst>
          </p:cNvPr>
          <p:cNvSpPr>
            <a:spLocks noChangeArrowheads="1" noChangeShapeType="1" noTextEdit="1"/>
          </p:cNvSpPr>
          <p:nvPr/>
        </p:nvSpPr>
        <p:spPr bwMode="auto">
          <a:xfrm>
            <a:off x="6877050" y="188913"/>
            <a:ext cx="1971675" cy="287337"/>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panose="02010600030101010101" pitchFamily="2" charset="-122"/>
              </a:rPr>
              <a:t>计算机网络实验室</a:t>
            </a:r>
          </a:p>
        </p:txBody>
      </p:sp>
      <p:sp>
        <p:nvSpPr>
          <p:cNvPr id="43016" name="Rectangle 8">
            <a:extLst>
              <a:ext uri="{FF2B5EF4-FFF2-40B4-BE49-F238E27FC236}">
                <a16:creationId xmlns:a16="http://schemas.microsoft.com/office/drawing/2014/main" id="{B1D2CF66-265D-47EC-8FF9-D2EA6ADE680D}"/>
              </a:ext>
            </a:extLst>
          </p:cNvPr>
          <p:cNvSpPr>
            <a:spLocks noChangeArrowheads="1"/>
          </p:cNvSpPr>
          <p:nvPr/>
        </p:nvSpPr>
        <p:spPr bwMode="auto">
          <a:xfrm>
            <a:off x="0" y="0"/>
            <a:ext cx="9144000" cy="1268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16">
            <a:extLst>
              <a:ext uri="{FF2B5EF4-FFF2-40B4-BE49-F238E27FC236}">
                <a16:creationId xmlns:a16="http://schemas.microsoft.com/office/drawing/2014/main" id="{C0B7E41F-919C-480C-A66C-3A4DB1F240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00" y="2019300"/>
            <a:ext cx="7342188"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Rectangle 2">
            <a:extLst>
              <a:ext uri="{FF2B5EF4-FFF2-40B4-BE49-F238E27FC236}">
                <a16:creationId xmlns:a16="http://schemas.microsoft.com/office/drawing/2014/main" id="{C99D581C-E7B3-4735-A72B-5C3450DC3842}"/>
              </a:ext>
            </a:extLst>
          </p:cNvPr>
          <p:cNvSpPr>
            <a:spLocks noGrp="1" noChangeArrowheads="1"/>
          </p:cNvSpPr>
          <p:nvPr>
            <p:ph type="title"/>
          </p:nvPr>
        </p:nvSpPr>
        <p:spPr/>
        <p:txBody>
          <a:bodyPr/>
          <a:lstStyle/>
          <a:p>
            <a:r>
              <a:rPr lang="zh-CN" altLang="en-US" sz="4000"/>
              <a:t>标准访问列表配置实验</a:t>
            </a:r>
          </a:p>
        </p:txBody>
      </p:sp>
      <p:sp>
        <p:nvSpPr>
          <p:cNvPr id="45060" name="Oval 5">
            <a:extLst>
              <a:ext uri="{FF2B5EF4-FFF2-40B4-BE49-F238E27FC236}">
                <a16:creationId xmlns:a16="http://schemas.microsoft.com/office/drawing/2014/main" id="{FCCB4085-769A-4C3C-AE4B-D11038DCAEE9}"/>
              </a:ext>
            </a:extLst>
          </p:cNvPr>
          <p:cNvSpPr>
            <a:spLocks noChangeArrowheads="1"/>
          </p:cNvSpPr>
          <p:nvPr/>
        </p:nvSpPr>
        <p:spPr bwMode="auto">
          <a:xfrm>
            <a:off x="6227763" y="1989138"/>
            <a:ext cx="2232025" cy="1223962"/>
          </a:xfrm>
          <a:prstGeom prst="ellipse">
            <a:avLst/>
          </a:prstGeom>
          <a:noFill/>
          <a:ln w="6350">
            <a:solidFill>
              <a:srgbClr val="FF0000"/>
            </a:solidFill>
            <a:prstDash val="dash"/>
            <a:round/>
            <a:headEnd/>
            <a:tailEnd/>
          </a:ln>
          <a:effectLst>
            <a:prstShdw prst="shdw17" dist="17961" dir="2700000">
              <a:srgbClr val="990000"/>
            </a:prst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45061" name="Oval 6">
            <a:extLst>
              <a:ext uri="{FF2B5EF4-FFF2-40B4-BE49-F238E27FC236}">
                <a16:creationId xmlns:a16="http://schemas.microsoft.com/office/drawing/2014/main" id="{26D2EB0B-D052-484C-8877-53C30647BF1C}"/>
              </a:ext>
            </a:extLst>
          </p:cNvPr>
          <p:cNvSpPr>
            <a:spLocks noChangeArrowheads="1"/>
          </p:cNvSpPr>
          <p:nvPr/>
        </p:nvSpPr>
        <p:spPr bwMode="auto">
          <a:xfrm>
            <a:off x="5148263" y="2852738"/>
            <a:ext cx="1584325" cy="2089150"/>
          </a:xfrm>
          <a:prstGeom prst="ellipse">
            <a:avLst/>
          </a:prstGeom>
          <a:noFill/>
          <a:ln w="6350">
            <a:solidFill>
              <a:srgbClr val="FF0000"/>
            </a:solidFill>
            <a:prstDash val="dash"/>
            <a:round/>
            <a:headEnd/>
            <a:tailEnd/>
          </a:ln>
          <a:effectLst>
            <a:prstShdw prst="shdw17" dist="17961" dir="2700000">
              <a:srgbClr val="990000"/>
            </a:prst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45062" name="Oval 7">
            <a:extLst>
              <a:ext uri="{FF2B5EF4-FFF2-40B4-BE49-F238E27FC236}">
                <a16:creationId xmlns:a16="http://schemas.microsoft.com/office/drawing/2014/main" id="{A713603C-031C-461C-81F6-42C224B2983C}"/>
              </a:ext>
            </a:extLst>
          </p:cNvPr>
          <p:cNvSpPr>
            <a:spLocks noChangeArrowheads="1"/>
          </p:cNvSpPr>
          <p:nvPr/>
        </p:nvSpPr>
        <p:spPr bwMode="auto">
          <a:xfrm>
            <a:off x="468313" y="2565400"/>
            <a:ext cx="1944687" cy="1800225"/>
          </a:xfrm>
          <a:prstGeom prst="ellipse">
            <a:avLst/>
          </a:prstGeom>
          <a:noFill/>
          <a:ln w="6350">
            <a:solidFill>
              <a:srgbClr val="FF0000"/>
            </a:solidFill>
            <a:prstDash val="dash"/>
            <a:round/>
            <a:headEnd/>
            <a:tailEnd/>
          </a:ln>
          <a:effectLst>
            <a:prstShdw prst="shdw17" dist="17961" dir="2700000">
              <a:srgbClr val="990000"/>
            </a:prstShdw>
          </a:effectLst>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zh-CN" altLang="en-US" sz="1800" b="0">
              <a:latin typeface="Arial" panose="020B0604020202020204" pitchFamily="34" charset="0"/>
              <a:ea typeface="宋体" panose="02010600030101010101" pitchFamily="2" charset="-122"/>
            </a:endParaRPr>
          </a:p>
        </p:txBody>
      </p:sp>
      <p:sp>
        <p:nvSpPr>
          <p:cNvPr id="240649" name="Text Box 9">
            <a:extLst>
              <a:ext uri="{FF2B5EF4-FFF2-40B4-BE49-F238E27FC236}">
                <a16:creationId xmlns:a16="http://schemas.microsoft.com/office/drawing/2014/main" id="{00410BDD-1210-442D-94FA-51387B2B9991}"/>
              </a:ext>
            </a:extLst>
          </p:cNvPr>
          <p:cNvSpPr txBox="1">
            <a:spLocks noChangeArrowheads="1"/>
          </p:cNvSpPr>
          <p:nvPr/>
        </p:nvSpPr>
        <p:spPr bwMode="auto">
          <a:xfrm>
            <a:off x="6659563" y="2205038"/>
            <a:ext cx="936625" cy="366712"/>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zh-CN" altLang="en-US" dirty="0">
                <a:solidFill>
                  <a:srgbClr val="FF0000"/>
                </a:solidFill>
                <a:latin typeface="Arial" charset="0"/>
              </a:rPr>
              <a:t>网</a:t>
            </a:r>
            <a:r>
              <a:rPr lang="en-US" altLang="zh-CN" dirty="0">
                <a:solidFill>
                  <a:srgbClr val="FF0000"/>
                </a:solidFill>
                <a:latin typeface="Arial" charset="0"/>
              </a:rPr>
              <a:t>2</a:t>
            </a:r>
          </a:p>
        </p:txBody>
      </p:sp>
      <p:sp>
        <p:nvSpPr>
          <p:cNvPr id="240650" name="Text Box 10">
            <a:extLst>
              <a:ext uri="{FF2B5EF4-FFF2-40B4-BE49-F238E27FC236}">
                <a16:creationId xmlns:a16="http://schemas.microsoft.com/office/drawing/2014/main" id="{E9CA397F-1B86-42B1-A7FE-4A5521D738C2}"/>
              </a:ext>
            </a:extLst>
          </p:cNvPr>
          <p:cNvSpPr txBox="1">
            <a:spLocks noChangeArrowheads="1"/>
          </p:cNvSpPr>
          <p:nvPr/>
        </p:nvSpPr>
        <p:spPr bwMode="auto">
          <a:xfrm>
            <a:off x="5795963" y="3141663"/>
            <a:ext cx="936625" cy="366712"/>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zh-CN" altLang="en-US" dirty="0">
                <a:solidFill>
                  <a:srgbClr val="FF0000"/>
                </a:solidFill>
                <a:latin typeface="Arial" charset="0"/>
              </a:rPr>
              <a:t>网</a:t>
            </a:r>
            <a:r>
              <a:rPr lang="en-US" altLang="zh-CN" dirty="0">
                <a:solidFill>
                  <a:srgbClr val="FF0000"/>
                </a:solidFill>
                <a:latin typeface="Arial" charset="0"/>
              </a:rPr>
              <a:t>3</a:t>
            </a:r>
          </a:p>
        </p:txBody>
      </p:sp>
      <p:sp>
        <p:nvSpPr>
          <p:cNvPr id="240651" name="Text Box 11">
            <a:extLst>
              <a:ext uri="{FF2B5EF4-FFF2-40B4-BE49-F238E27FC236}">
                <a16:creationId xmlns:a16="http://schemas.microsoft.com/office/drawing/2014/main" id="{F172A5B9-D3E6-4EEA-A97D-D7C12EC18BE8}"/>
              </a:ext>
            </a:extLst>
          </p:cNvPr>
          <p:cNvSpPr txBox="1">
            <a:spLocks noChangeArrowheads="1"/>
          </p:cNvSpPr>
          <p:nvPr/>
        </p:nvSpPr>
        <p:spPr bwMode="auto">
          <a:xfrm>
            <a:off x="1619250" y="3357563"/>
            <a:ext cx="936625" cy="366712"/>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zh-CN" altLang="en-US">
                <a:solidFill>
                  <a:srgbClr val="FF0000"/>
                </a:solidFill>
                <a:latin typeface="Arial" charset="0"/>
              </a:rPr>
              <a:t>内网</a:t>
            </a:r>
            <a:endParaRPr lang="en-US" altLang="zh-CN">
              <a:solidFill>
                <a:srgbClr val="FF0000"/>
              </a:solidFill>
              <a:latin typeface="Arial" charset="0"/>
            </a:endParaRPr>
          </a:p>
        </p:txBody>
      </p:sp>
      <p:sp>
        <p:nvSpPr>
          <p:cNvPr id="45066" name="Rectangle 3">
            <a:extLst>
              <a:ext uri="{FF2B5EF4-FFF2-40B4-BE49-F238E27FC236}">
                <a16:creationId xmlns:a16="http://schemas.microsoft.com/office/drawing/2014/main" id="{8543F5B2-DAAF-4AA3-9B8E-5F14A5225F31}"/>
              </a:ext>
            </a:extLst>
          </p:cNvPr>
          <p:cNvSpPr>
            <a:spLocks noChangeArrowheads="1"/>
          </p:cNvSpPr>
          <p:nvPr/>
        </p:nvSpPr>
        <p:spPr bwMode="auto">
          <a:xfrm>
            <a:off x="395288" y="5157788"/>
            <a:ext cx="8424862"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nSpc>
                <a:spcPct val="140000"/>
              </a:lnSpc>
            </a:pPr>
            <a:endParaRPr lang="zh-CN" altLang="en-US" sz="2400"/>
          </a:p>
        </p:txBody>
      </p:sp>
      <p:sp>
        <p:nvSpPr>
          <p:cNvPr id="45067" name="文本框 1">
            <a:extLst>
              <a:ext uri="{FF2B5EF4-FFF2-40B4-BE49-F238E27FC236}">
                <a16:creationId xmlns:a16="http://schemas.microsoft.com/office/drawing/2014/main" id="{292F356E-C66D-4E08-8B46-D4DC4B86B07F}"/>
              </a:ext>
            </a:extLst>
          </p:cNvPr>
          <p:cNvSpPr txBox="1">
            <a:spLocks noChangeArrowheads="1"/>
          </p:cNvSpPr>
          <p:nvPr/>
        </p:nvSpPr>
        <p:spPr bwMode="auto">
          <a:xfrm>
            <a:off x="1908175" y="1343025"/>
            <a:ext cx="792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rgbClr val="FF0000"/>
                </a:solidFill>
              </a:rPr>
              <a:t>NAT</a:t>
            </a:r>
          </a:p>
        </p:txBody>
      </p:sp>
      <p:sp>
        <p:nvSpPr>
          <p:cNvPr id="45068" name="文本框 11">
            <a:extLst>
              <a:ext uri="{FF2B5EF4-FFF2-40B4-BE49-F238E27FC236}">
                <a16:creationId xmlns:a16="http://schemas.microsoft.com/office/drawing/2014/main" id="{35D1C0DF-FA0A-4361-BDAD-2AE3518736B9}"/>
              </a:ext>
            </a:extLst>
          </p:cNvPr>
          <p:cNvSpPr txBox="1">
            <a:spLocks noChangeArrowheads="1"/>
          </p:cNvSpPr>
          <p:nvPr/>
        </p:nvSpPr>
        <p:spPr bwMode="auto">
          <a:xfrm>
            <a:off x="5472113" y="1357313"/>
            <a:ext cx="7921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rgbClr val="FF0000"/>
                </a:solidFill>
              </a:rPr>
              <a:t>ACL</a:t>
            </a:r>
          </a:p>
        </p:txBody>
      </p:sp>
      <p:pic>
        <p:nvPicPr>
          <p:cNvPr id="45069" name="图片 2">
            <a:extLst>
              <a:ext uri="{FF2B5EF4-FFF2-40B4-BE49-F238E27FC236}">
                <a16:creationId xmlns:a16="http://schemas.microsoft.com/office/drawing/2014/main" id="{E3E9B2F1-582C-4271-9D0F-CC098E928EF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81300" y="1903413"/>
            <a:ext cx="2273300" cy="126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70" name="文本框 3">
            <a:extLst>
              <a:ext uri="{FF2B5EF4-FFF2-40B4-BE49-F238E27FC236}">
                <a16:creationId xmlns:a16="http://schemas.microsoft.com/office/drawing/2014/main" id="{4131CB05-8E5E-4293-8B61-9A619F75DFAC}"/>
              </a:ext>
            </a:extLst>
          </p:cNvPr>
          <p:cNvSpPr txBox="1">
            <a:spLocks noChangeArrowheads="1"/>
          </p:cNvSpPr>
          <p:nvPr/>
        </p:nvSpPr>
        <p:spPr bwMode="auto">
          <a:xfrm>
            <a:off x="3182938" y="2598738"/>
            <a:ext cx="669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solidFill>
                  <a:srgbClr val="FF0000"/>
                </a:solidFill>
              </a:rPr>
              <a:t>网</a:t>
            </a:r>
            <a:r>
              <a:rPr lang="en-US" altLang="zh-CN">
                <a:solidFill>
                  <a:srgbClr val="FF0000"/>
                </a:solidFill>
              </a:rPr>
              <a:t>1</a:t>
            </a:r>
            <a:endParaRPr lang="zh-CN" altLang="en-US">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E7ED175-A7BF-488C-A442-5B57540FCA74}"/>
              </a:ext>
            </a:extLst>
          </p:cNvPr>
          <p:cNvSpPr>
            <a:spLocks noGrp="1" noChangeArrowheads="1"/>
          </p:cNvSpPr>
          <p:nvPr>
            <p:ph type="title"/>
          </p:nvPr>
        </p:nvSpPr>
        <p:spPr/>
        <p:txBody>
          <a:bodyPr/>
          <a:lstStyle/>
          <a:p>
            <a:r>
              <a:rPr lang="zh-CN" altLang="en-US" sz="4000"/>
              <a:t>扩展访问列表配置实验</a:t>
            </a:r>
          </a:p>
        </p:txBody>
      </p:sp>
      <p:sp>
        <p:nvSpPr>
          <p:cNvPr id="46083" name="Rectangle 3">
            <a:extLst>
              <a:ext uri="{FF2B5EF4-FFF2-40B4-BE49-F238E27FC236}">
                <a16:creationId xmlns:a16="http://schemas.microsoft.com/office/drawing/2014/main" id="{DFD8C773-9E65-469F-8051-D7168DBAB52B}"/>
              </a:ext>
            </a:extLst>
          </p:cNvPr>
          <p:cNvSpPr>
            <a:spLocks noGrp="1" noChangeArrowheads="1"/>
          </p:cNvSpPr>
          <p:nvPr>
            <p:ph type="body" idx="1"/>
          </p:nvPr>
        </p:nvSpPr>
        <p:spPr>
          <a:xfrm>
            <a:off x="323850" y="908050"/>
            <a:ext cx="8496300" cy="5400675"/>
          </a:xfrm>
        </p:spPr>
        <p:txBody>
          <a:bodyPr/>
          <a:lstStyle/>
          <a:p>
            <a:r>
              <a:rPr lang="zh-CN" altLang="en-US"/>
              <a:t>实验步骤：</a:t>
            </a:r>
          </a:p>
          <a:p>
            <a:pPr lvl="1"/>
            <a:r>
              <a:rPr lang="zh-CN" altLang="en-US"/>
              <a:t>在</a:t>
            </a:r>
            <a:r>
              <a:rPr lang="en-US" altLang="zh-CN"/>
              <a:t>NAT</a:t>
            </a:r>
            <a:r>
              <a:rPr lang="zh-CN" altLang="en-US"/>
              <a:t>配置实验的基础上进行。</a:t>
            </a:r>
          </a:p>
          <a:p>
            <a:pPr lvl="1"/>
            <a:r>
              <a:rPr lang="zh-CN" altLang="en-US"/>
              <a:t>配置</a:t>
            </a:r>
            <a:r>
              <a:rPr lang="en-US" altLang="zh-CN"/>
              <a:t>PC2</a:t>
            </a:r>
            <a:r>
              <a:rPr lang="zh-CN" altLang="en-US"/>
              <a:t>主机为</a:t>
            </a:r>
            <a:r>
              <a:rPr lang="en-US" altLang="zh-CN"/>
              <a:t>WWW</a:t>
            </a:r>
            <a:r>
              <a:rPr lang="zh-CN" altLang="en-US"/>
              <a:t>服务器 ，使</a:t>
            </a:r>
            <a:r>
              <a:rPr lang="en-US" altLang="zh-CN"/>
              <a:t>PC1</a:t>
            </a:r>
            <a:r>
              <a:rPr lang="zh-CN" altLang="en-US"/>
              <a:t>、</a:t>
            </a:r>
            <a:r>
              <a:rPr lang="en-US" altLang="zh-CN"/>
              <a:t>PC3</a:t>
            </a:r>
            <a:r>
              <a:rPr lang="zh-CN" altLang="en-US"/>
              <a:t>能用</a:t>
            </a:r>
            <a:r>
              <a:rPr lang="en-US" altLang="zh-CN"/>
              <a:t>IE</a:t>
            </a:r>
            <a:r>
              <a:rPr lang="zh-CN" altLang="en-US"/>
              <a:t>访问</a:t>
            </a:r>
            <a:r>
              <a:rPr lang="en-US" altLang="zh-CN"/>
              <a:t>WWW</a:t>
            </a:r>
            <a:r>
              <a:rPr lang="zh-CN" altLang="en-US"/>
              <a:t>服务。</a:t>
            </a:r>
          </a:p>
          <a:p>
            <a:pPr lvl="1"/>
            <a:r>
              <a:rPr lang="zh-CN" altLang="en-US"/>
              <a:t>按实验报告上的要求定义扩展访问控制列表</a:t>
            </a:r>
            <a:r>
              <a:rPr lang="en-US" altLang="zh-CN"/>
              <a:t>(</a:t>
            </a:r>
            <a:r>
              <a:rPr lang="zh-CN" altLang="en-US">
                <a:solidFill>
                  <a:srgbClr val="A50021"/>
                </a:solidFill>
              </a:rPr>
              <a:t>三条规则</a:t>
            </a:r>
            <a:r>
              <a:rPr lang="en-US" altLang="zh-CN"/>
              <a:t>) </a:t>
            </a:r>
          </a:p>
          <a:p>
            <a:pPr lvl="1"/>
            <a:r>
              <a:rPr lang="zh-CN" altLang="en-US"/>
              <a:t>查看配置好的扩展访问控制列表信息。  </a:t>
            </a:r>
          </a:p>
          <a:p>
            <a:pPr lvl="1"/>
            <a:r>
              <a:rPr lang="zh-CN" altLang="en-US"/>
              <a:t>验证配置的</a:t>
            </a:r>
            <a:r>
              <a:rPr lang="en-US" altLang="zh-CN"/>
              <a:t>ACL</a:t>
            </a:r>
            <a:r>
              <a:rPr lang="zh-CN" altLang="en-US"/>
              <a:t>的作用。（</a:t>
            </a:r>
            <a:r>
              <a:rPr lang="en-US" altLang="zh-CN"/>
              <a:t>PC3</a:t>
            </a:r>
            <a:r>
              <a:rPr lang="zh-CN" altLang="en-US"/>
              <a:t>只能访问</a:t>
            </a:r>
            <a:r>
              <a:rPr lang="en-US" altLang="zh-CN"/>
              <a:t>PC2</a:t>
            </a:r>
            <a:r>
              <a:rPr lang="zh-CN" altLang="en-US"/>
              <a:t>的</a:t>
            </a:r>
            <a:r>
              <a:rPr lang="en-US" altLang="zh-CN"/>
              <a:t>WWW</a:t>
            </a:r>
            <a:r>
              <a:rPr lang="zh-CN" altLang="en-US"/>
              <a:t>服务，其它如</a:t>
            </a:r>
            <a:r>
              <a:rPr lang="en-US" altLang="zh-CN"/>
              <a:t>ping</a:t>
            </a:r>
            <a:r>
              <a:rPr lang="zh-CN" altLang="en-US"/>
              <a:t>、</a:t>
            </a:r>
            <a:r>
              <a:rPr lang="en-US" altLang="zh-CN"/>
              <a:t>ftp</a:t>
            </a:r>
            <a:r>
              <a:rPr lang="zh-CN" altLang="en-US"/>
              <a:t>不能访问。</a:t>
            </a:r>
            <a:r>
              <a:rPr lang="en-US" altLang="zh-CN"/>
              <a:t>PC1</a:t>
            </a:r>
            <a:r>
              <a:rPr lang="zh-CN" altLang="en-US"/>
              <a:t>对</a:t>
            </a:r>
            <a:r>
              <a:rPr lang="en-US" altLang="zh-CN"/>
              <a:t>PC2</a:t>
            </a:r>
            <a:r>
              <a:rPr lang="zh-CN" altLang="en-US"/>
              <a:t>、</a:t>
            </a:r>
            <a:r>
              <a:rPr lang="en-US" altLang="zh-CN"/>
              <a:t> PC3</a:t>
            </a:r>
            <a:r>
              <a:rPr lang="zh-CN" altLang="en-US"/>
              <a:t>的访问不受影响）</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6698E12-5DEF-4537-B758-C94A78EADDE4}"/>
              </a:ext>
            </a:extLst>
          </p:cNvPr>
          <p:cNvSpPr>
            <a:spLocks noChangeArrowheads="1"/>
          </p:cNvSpPr>
          <p:nvPr/>
        </p:nvSpPr>
        <p:spPr bwMode="auto">
          <a:xfrm>
            <a:off x="766763" y="236538"/>
            <a:ext cx="76231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nchor="ctr"/>
          <a:lstStyle>
            <a:lvl1pPr>
              <a:spcBef>
                <a:spcPct val="20000"/>
              </a:spcBef>
              <a:buClr>
                <a:schemeClr val="bg2"/>
              </a:buClr>
              <a:buSzPct val="75000"/>
              <a:buFont typeface="Wingdings" panose="05000000000000000000" pitchFamily="2" charset="2"/>
              <a:buChar char="n"/>
              <a:defRPr sz="3200" b="1">
                <a:solidFill>
                  <a:schemeClr val="tx1"/>
                </a:solidFill>
                <a:latin typeface="黑体" panose="02010609060101010101" pitchFamily="49" charset="-122"/>
                <a:ea typeface="黑体" panose="02010609060101010101" pitchFamily="49" charset="-122"/>
              </a:defRPr>
            </a:lvl1pPr>
            <a:lvl2pPr marL="742950" indent="-285750">
              <a:spcBef>
                <a:spcPct val="20000"/>
              </a:spcBef>
              <a:buClr>
                <a:schemeClr val="accent2"/>
              </a:buClr>
              <a:buSzPct val="80000"/>
              <a:buFont typeface="Wingdings" panose="05000000000000000000" pitchFamily="2" charset="2"/>
              <a:buChar char="¨"/>
              <a:defRPr sz="2800" b="1">
                <a:solidFill>
                  <a:schemeClr val="tx1"/>
                </a:solidFill>
                <a:latin typeface="黑体" panose="02010609060101010101" pitchFamily="49" charset="-122"/>
                <a:ea typeface="黑体" panose="02010609060101010101" pitchFamily="49" charset="-122"/>
              </a:defRPr>
            </a:lvl2pPr>
            <a:lvl3pPr marL="1143000" indent="-228600">
              <a:spcBef>
                <a:spcPct val="20000"/>
              </a:spcBef>
              <a:buClr>
                <a:schemeClr val="bg2"/>
              </a:buClr>
              <a:buSzPct val="65000"/>
              <a:buFont typeface="Wingdings" panose="05000000000000000000" pitchFamily="2" charset="2"/>
              <a:buChar char="n"/>
              <a:defRPr sz="2400" b="1">
                <a:solidFill>
                  <a:schemeClr val="tx1"/>
                </a:solidFill>
                <a:latin typeface="黑体" panose="02010609060101010101" pitchFamily="49" charset="-122"/>
                <a:ea typeface="黑体" panose="02010609060101010101" pitchFamily="49"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2400" b="0">
              <a:latin typeface="Times" panose="02020603050405020304" pitchFamily="18" charset="0"/>
              <a:ea typeface="宋体" panose="02010600030101010101" pitchFamily="2" charset="-122"/>
            </a:endParaRPr>
          </a:p>
        </p:txBody>
      </p:sp>
      <p:sp>
        <p:nvSpPr>
          <p:cNvPr id="47107" name="Rectangle 5">
            <a:extLst>
              <a:ext uri="{FF2B5EF4-FFF2-40B4-BE49-F238E27FC236}">
                <a16:creationId xmlns:a16="http://schemas.microsoft.com/office/drawing/2014/main" id="{FE60EE85-ADA2-4E19-92D4-A3BD4F59154E}"/>
              </a:ext>
            </a:extLst>
          </p:cNvPr>
          <p:cNvSpPr>
            <a:spLocks noGrp="1" noChangeArrowheads="1"/>
          </p:cNvSpPr>
          <p:nvPr>
            <p:ph type="title" idx="4294967295"/>
          </p:nvPr>
        </p:nvSpPr>
        <p:spPr/>
        <p:txBody>
          <a:bodyPr/>
          <a:lstStyle/>
          <a:p>
            <a:r>
              <a:rPr lang="en-US" altLang="zh-CN" sz="4000"/>
              <a:t> </a:t>
            </a:r>
            <a:r>
              <a:rPr lang="zh-CN" altLang="en-US" sz="4000"/>
              <a:t>访问列表的验证</a:t>
            </a:r>
          </a:p>
        </p:txBody>
      </p:sp>
      <p:sp>
        <p:nvSpPr>
          <p:cNvPr id="47108" name="Rectangle 6">
            <a:extLst>
              <a:ext uri="{FF2B5EF4-FFF2-40B4-BE49-F238E27FC236}">
                <a16:creationId xmlns:a16="http://schemas.microsoft.com/office/drawing/2014/main" id="{EC4DFB0B-38DA-425B-8ADF-C0C5D2B404C8}"/>
              </a:ext>
            </a:extLst>
          </p:cNvPr>
          <p:cNvSpPr>
            <a:spLocks noGrp="1" noChangeArrowheads="1"/>
          </p:cNvSpPr>
          <p:nvPr>
            <p:ph type="body" idx="4294967295"/>
          </p:nvPr>
        </p:nvSpPr>
        <p:spPr>
          <a:xfrm>
            <a:off x="785813" y="1143000"/>
            <a:ext cx="7705725" cy="4525963"/>
          </a:xfrm>
        </p:spPr>
        <p:txBody>
          <a:bodyPr/>
          <a:lstStyle/>
          <a:p>
            <a:pPr>
              <a:lnSpc>
                <a:spcPct val="130000"/>
              </a:lnSpc>
            </a:pPr>
            <a:r>
              <a:rPr lang="zh-CN" altLang="en-US">
                <a:latin typeface="Arial" panose="020B0604020202020204" pitchFamily="34" charset="0"/>
              </a:rPr>
              <a:t>显示全部的访问列表</a:t>
            </a:r>
          </a:p>
          <a:p>
            <a:pPr lvl="1"/>
            <a:r>
              <a:rPr lang="en-US" altLang="zh-CN">
                <a:latin typeface="Arial" panose="020B0604020202020204" pitchFamily="34" charset="0"/>
              </a:rPr>
              <a:t>Router#</a:t>
            </a:r>
            <a:r>
              <a:rPr lang="en-US" altLang="zh-CN">
                <a:solidFill>
                  <a:srgbClr val="3333CC"/>
                </a:solidFill>
                <a:latin typeface="Arial" panose="020B0604020202020204" pitchFamily="34" charset="0"/>
              </a:rPr>
              <a:t>show access-lists</a:t>
            </a:r>
          </a:p>
          <a:p>
            <a:pPr>
              <a:lnSpc>
                <a:spcPct val="130000"/>
              </a:lnSpc>
            </a:pPr>
            <a:r>
              <a:rPr lang="zh-CN" altLang="en-US">
                <a:latin typeface="Arial" panose="020B0604020202020204" pitchFamily="34" charset="0"/>
              </a:rPr>
              <a:t>显示指定的访问列表</a:t>
            </a:r>
          </a:p>
          <a:p>
            <a:pPr lvl="1"/>
            <a:r>
              <a:rPr lang="en-US" altLang="zh-CN">
                <a:latin typeface="Arial" panose="020B0604020202020204" pitchFamily="34" charset="0"/>
              </a:rPr>
              <a:t>Router#</a:t>
            </a:r>
            <a:r>
              <a:rPr lang="en-US" altLang="zh-CN">
                <a:solidFill>
                  <a:srgbClr val="3333CC"/>
                </a:solidFill>
                <a:latin typeface="Arial" panose="020B0604020202020204" pitchFamily="34" charset="0"/>
              </a:rPr>
              <a:t>show access-lists </a:t>
            </a:r>
            <a:r>
              <a:rPr lang="en-US" altLang="zh-CN">
                <a:solidFill>
                  <a:srgbClr val="FF0000"/>
                </a:solidFill>
                <a:latin typeface="Arial" panose="020B0604020202020204" pitchFamily="34" charset="0"/>
              </a:rPr>
              <a:t>&lt;1-199&gt;</a:t>
            </a:r>
          </a:p>
          <a:p>
            <a:pPr>
              <a:lnSpc>
                <a:spcPct val="130000"/>
              </a:lnSpc>
            </a:pPr>
            <a:r>
              <a:rPr lang="zh-CN" altLang="en-US">
                <a:latin typeface="Arial" panose="020B0604020202020204" pitchFamily="34" charset="0"/>
              </a:rPr>
              <a:t>显示接口的访问列表应用</a:t>
            </a:r>
          </a:p>
          <a:p>
            <a:pPr lvl="1"/>
            <a:r>
              <a:rPr lang="en-US" altLang="zh-CN">
                <a:latin typeface="Arial" panose="020B0604020202020204" pitchFamily="34" charset="0"/>
              </a:rPr>
              <a:t>Router#</a:t>
            </a:r>
            <a:r>
              <a:rPr lang="en-US" altLang="zh-CN">
                <a:solidFill>
                  <a:srgbClr val="3333CC"/>
                </a:solidFill>
                <a:latin typeface="Arial" panose="020B0604020202020204" pitchFamily="34" charset="0"/>
              </a:rPr>
              <a:t>show ip interface</a:t>
            </a:r>
            <a:r>
              <a:rPr lang="en-US" altLang="zh-CN">
                <a:latin typeface="Arial" panose="020B0604020202020204" pitchFamily="34" charset="0"/>
              </a:rPr>
              <a:t> </a:t>
            </a:r>
            <a:r>
              <a:rPr lang="zh-CN" altLang="en-US">
                <a:solidFill>
                  <a:srgbClr val="FF0000"/>
                </a:solidFill>
                <a:latin typeface="Arial" panose="020B0604020202020204" pitchFamily="34" charset="0"/>
              </a:rPr>
              <a:t>接口类型 接口编号</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9B247279-4D09-4ED0-9AB9-170802590598}"/>
              </a:ext>
            </a:extLst>
          </p:cNvPr>
          <p:cNvSpPr>
            <a:spLocks noGrp="1" noChangeArrowheads="1"/>
          </p:cNvSpPr>
          <p:nvPr>
            <p:ph type="title" idx="4294967295"/>
          </p:nvPr>
        </p:nvSpPr>
        <p:spPr>
          <a:xfrm>
            <a:off x="179388" y="0"/>
            <a:ext cx="8229600" cy="719138"/>
          </a:xfrm>
        </p:spPr>
        <p:txBody>
          <a:bodyPr/>
          <a:lstStyle/>
          <a:p>
            <a:pPr eaLnBrk="1" hangingPunct="1">
              <a:defRPr/>
            </a:pPr>
            <a:r>
              <a:rPr lang="zh-CN" altLang="en-US" dirty="0">
                <a:effectLst>
                  <a:outerShdw blurRad="38100" dist="38100" dir="2700000" algn="tl">
                    <a:srgbClr val="C0C0C0"/>
                  </a:outerShdw>
                </a:effectLst>
                <a:cs typeface="Times New Roman" pitchFamily="18" charset="0"/>
              </a:rPr>
              <a:t>本实验要求掌握内容</a:t>
            </a:r>
          </a:p>
        </p:txBody>
      </p:sp>
      <p:sp>
        <p:nvSpPr>
          <p:cNvPr id="49155" name="Rectangle 3">
            <a:extLst>
              <a:ext uri="{FF2B5EF4-FFF2-40B4-BE49-F238E27FC236}">
                <a16:creationId xmlns:a16="http://schemas.microsoft.com/office/drawing/2014/main" id="{B8A86AFE-CBF2-4CB7-9A28-D1AF0B2B7D4A}"/>
              </a:ext>
            </a:extLst>
          </p:cNvPr>
          <p:cNvSpPr>
            <a:spLocks noGrp="1" noChangeArrowheads="1"/>
          </p:cNvSpPr>
          <p:nvPr>
            <p:ph type="body" idx="4294967295"/>
          </p:nvPr>
        </p:nvSpPr>
        <p:spPr>
          <a:xfrm>
            <a:off x="500063" y="1071563"/>
            <a:ext cx="8285162" cy="3868737"/>
          </a:xfrm>
        </p:spPr>
        <p:txBody>
          <a:bodyPr/>
          <a:lstStyle/>
          <a:p>
            <a:pPr eaLnBrk="1" hangingPunct="1"/>
            <a:r>
              <a:rPr lang="zh-CN" altLang="en-US">
                <a:latin typeface="Cambria" panose="02040503050406030204" pitchFamily="18" charset="0"/>
              </a:rPr>
              <a:t>理解</a:t>
            </a:r>
            <a:r>
              <a:rPr lang="en-US" altLang="zh-CN">
                <a:latin typeface="Cambria" panose="02040503050406030204" pitchFamily="18" charset="0"/>
              </a:rPr>
              <a:t>NAT</a:t>
            </a:r>
            <a:r>
              <a:rPr lang="zh-CN" altLang="en-US">
                <a:latin typeface="Cambria" panose="02040503050406030204" pitchFamily="18" charset="0"/>
              </a:rPr>
              <a:t>的作用和用途</a:t>
            </a:r>
          </a:p>
          <a:p>
            <a:pPr eaLnBrk="1" hangingPunct="1"/>
            <a:r>
              <a:rPr lang="zh-CN" altLang="en-US">
                <a:latin typeface="Cambria" panose="02040503050406030204" pitchFamily="18" charset="0"/>
              </a:rPr>
              <a:t>掌握</a:t>
            </a:r>
            <a:r>
              <a:rPr lang="en-US" altLang="zh-CN">
                <a:latin typeface="Cambria" panose="02040503050406030204" pitchFamily="18" charset="0"/>
              </a:rPr>
              <a:t>NAT</a:t>
            </a:r>
            <a:r>
              <a:rPr lang="zh-CN" altLang="en-US">
                <a:latin typeface="Cambria" panose="02040503050406030204" pitchFamily="18" charset="0"/>
              </a:rPr>
              <a:t>的转换过程和配置方式</a:t>
            </a:r>
            <a:endParaRPr lang="en-US" altLang="zh-CN">
              <a:latin typeface="Cambria" panose="02040503050406030204" pitchFamily="18" charset="0"/>
            </a:endParaRPr>
          </a:p>
          <a:p>
            <a:pPr eaLnBrk="1" hangingPunct="1"/>
            <a:r>
              <a:rPr lang="zh-CN" altLang="en-US">
                <a:latin typeface="Cambria" panose="02040503050406030204" pitchFamily="18" charset="0"/>
              </a:rPr>
              <a:t>掌握</a:t>
            </a:r>
            <a:r>
              <a:rPr lang="en-US" altLang="zh-CN">
                <a:latin typeface="Cambria" panose="02040503050406030204" pitchFamily="18" charset="0"/>
              </a:rPr>
              <a:t>ACL</a:t>
            </a:r>
            <a:r>
              <a:rPr lang="zh-CN" altLang="en-US">
                <a:latin typeface="Cambria" panose="02040503050406030204" pitchFamily="18" charset="0"/>
              </a:rPr>
              <a:t>的定义规则、配置命令格式</a:t>
            </a:r>
          </a:p>
          <a:p>
            <a:pPr eaLnBrk="1" hangingPunct="1"/>
            <a:r>
              <a:rPr lang="zh-CN" altLang="en-US">
                <a:latin typeface="Cambria" panose="02040503050406030204" pitchFamily="18" charset="0"/>
              </a:rPr>
              <a:t>能根据安全要求，正确地配置</a:t>
            </a:r>
            <a:r>
              <a:rPr lang="en-US" altLang="zh-CN">
                <a:latin typeface="Cambria" panose="02040503050406030204" pitchFamily="18" charset="0"/>
              </a:rPr>
              <a:t>ACL</a:t>
            </a:r>
            <a:endParaRPr lang="zh-CN" altLang="en-US">
              <a:latin typeface="Cambria" panose="020405030504060302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11A42A7A-6773-4C79-A99D-9E433063901E}"/>
              </a:ext>
            </a:extLst>
          </p:cNvPr>
          <p:cNvSpPr>
            <a:spLocks noGrp="1" noChangeArrowheads="1"/>
          </p:cNvSpPr>
          <p:nvPr>
            <p:ph type="title"/>
          </p:nvPr>
        </p:nvSpPr>
        <p:spPr/>
        <p:txBody>
          <a:bodyPr/>
          <a:lstStyle/>
          <a:p>
            <a:r>
              <a:rPr lang="zh-CN" altLang="en-US"/>
              <a:t>三层交换配置实验预习</a:t>
            </a:r>
            <a:endParaRPr lang="en-US" altLang="zh-CN"/>
          </a:p>
        </p:txBody>
      </p:sp>
      <p:sp>
        <p:nvSpPr>
          <p:cNvPr id="51203" name="Rectangle 3">
            <a:extLst>
              <a:ext uri="{FF2B5EF4-FFF2-40B4-BE49-F238E27FC236}">
                <a16:creationId xmlns:a16="http://schemas.microsoft.com/office/drawing/2014/main" id="{A22C090D-4E83-414C-819E-8500BF2691AC}"/>
              </a:ext>
            </a:extLst>
          </p:cNvPr>
          <p:cNvSpPr>
            <a:spLocks noGrp="1" noChangeArrowheads="1"/>
          </p:cNvSpPr>
          <p:nvPr>
            <p:ph type="body" idx="1"/>
          </p:nvPr>
        </p:nvSpPr>
        <p:spPr>
          <a:xfrm>
            <a:off x="468313" y="1700213"/>
            <a:ext cx="8229600" cy="3311525"/>
          </a:xfrm>
          <a:noFill/>
        </p:spPr>
        <p:txBody>
          <a:bodyPr/>
          <a:lstStyle/>
          <a:p>
            <a:r>
              <a:rPr lang="zh-CN" altLang="en-US"/>
              <a:t>三层交换机工作原理</a:t>
            </a:r>
            <a:endParaRPr lang="en-US" altLang="zh-CN"/>
          </a:p>
          <a:p>
            <a:r>
              <a:rPr lang="zh-CN" altLang="en-US"/>
              <a:t>三层交换机路由接口的设置方式</a:t>
            </a:r>
            <a:endParaRPr lang="en-US" altLang="zh-CN"/>
          </a:p>
          <a:p>
            <a:endParaRPr lang="en-US" altLang="zh-CN"/>
          </a:p>
          <a:p>
            <a:endParaRPr lang="en-US" altLang="zh-CN"/>
          </a:p>
          <a:p>
            <a:endParaRPr lang="en-US" altLang="zh-CN"/>
          </a:p>
        </p:txBody>
      </p:sp>
    </p:spTree>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Pixel</Template>
  <TotalTime>5163</TotalTime>
  <Words>1797</Words>
  <Application>Microsoft Office PowerPoint</Application>
  <PresentationFormat>全屏显示(4:3)</PresentationFormat>
  <Paragraphs>274</Paragraphs>
  <Slides>31</Slides>
  <Notes>15</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31</vt:i4>
      </vt:variant>
    </vt:vector>
  </HeadingPairs>
  <TitlesOfParts>
    <vt:vector size="45" baseType="lpstr">
      <vt:lpstr>Arial</vt:lpstr>
      <vt:lpstr>宋体</vt:lpstr>
      <vt:lpstr>黑体</vt:lpstr>
      <vt:lpstr>Wingdings</vt:lpstr>
      <vt:lpstr>Times New Roman</vt:lpstr>
      <vt:lpstr>Arial Black</vt:lpstr>
      <vt:lpstr>Cambria</vt:lpstr>
      <vt:lpstr>华文细黑</vt:lpstr>
      <vt:lpstr>幼圆</vt:lpstr>
      <vt:lpstr>Helvetica</vt:lpstr>
      <vt:lpstr>华文中宋</vt:lpstr>
      <vt:lpstr>Times</vt:lpstr>
      <vt:lpstr>Pixel</vt:lpstr>
      <vt:lpstr>Microsoft PowerPoint Slide</vt:lpstr>
      <vt:lpstr>实验六  路由器访问控制技术实验</vt:lpstr>
      <vt:lpstr>实验内容</vt:lpstr>
      <vt:lpstr>1）NAT原理</vt:lpstr>
      <vt:lpstr>什么是NAT/NAPT</vt:lpstr>
      <vt:lpstr>NAT工作原理</vt:lpstr>
      <vt:lpstr>NAPT工作原理</vt:lpstr>
      <vt:lpstr>2）NAT配置实验</vt:lpstr>
      <vt:lpstr>NAT配置实验</vt:lpstr>
      <vt:lpstr>NAT配置实验</vt:lpstr>
      <vt:lpstr>动态NAT配置命令(教材P181)</vt:lpstr>
      <vt:lpstr>NAT信息查看</vt:lpstr>
      <vt:lpstr>NAT/NAPT的监视和维护命令</vt:lpstr>
      <vt:lpstr>默认(缺省)路由</vt:lpstr>
      <vt:lpstr>实验注意事项</vt:lpstr>
      <vt:lpstr>IP访问控制列表实验</vt:lpstr>
      <vt:lpstr>访问控制列表</vt:lpstr>
      <vt:lpstr>访问控制列表</vt:lpstr>
      <vt:lpstr>访问控制列表</vt:lpstr>
      <vt:lpstr>访问控制列表实例</vt:lpstr>
      <vt:lpstr>ACL规则匹配原则</vt:lpstr>
      <vt:lpstr> 访问列表规则的应用</vt:lpstr>
      <vt:lpstr>IP标准访问列表的配置命令</vt:lpstr>
      <vt:lpstr> IP标准访问列表配置实例</vt:lpstr>
      <vt:lpstr> IP扩展访问列表的配置命令</vt:lpstr>
      <vt:lpstr> IP扩展访问列表配置实例</vt:lpstr>
      <vt:lpstr>2）扩展访问列表配置实验</vt:lpstr>
      <vt:lpstr>标准访问列表配置实验</vt:lpstr>
      <vt:lpstr>扩展访问列表配置实验</vt:lpstr>
      <vt:lpstr> 访问列表的验证</vt:lpstr>
      <vt:lpstr>本实验要求掌握内容</vt:lpstr>
      <vt:lpstr>三层交换配置实验预习</vt:lpstr>
    </vt:vector>
  </TitlesOfParts>
  <Company>netlab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creator>贾真</dc:creator>
  <cp:lastModifiedBy>9320</cp:lastModifiedBy>
  <cp:revision>370</cp:revision>
  <dcterms:created xsi:type="dcterms:W3CDTF">2004-09-14T08:08:58Z</dcterms:created>
  <dcterms:modified xsi:type="dcterms:W3CDTF">2022-10-02T10:22:53Z</dcterms:modified>
</cp:coreProperties>
</file>