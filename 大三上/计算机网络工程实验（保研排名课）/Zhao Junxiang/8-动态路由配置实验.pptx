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29"/>
  </p:notesMasterIdLst>
  <p:sldIdLst>
    <p:sldId id="575" r:id="rId2"/>
    <p:sldId id="572" r:id="rId3"/>
    <p:sldId id="553" r:id="rId4"/>
    <p:sldId id="570" r:id="rId5"/>
    <p:sldId id="566" r:id="rId6"/>
    <p:sldId id="571" r:id="rId7"/>
    <p:sldId id="567" r:id="rId8"/>
    <p:sldId id="581" r:id="rId9"/>
    <p:sldId id="562" r:id="rId10"/>
    <p:sldId id="573" r:id="rId11"/>
    <p:sldId id="574" r:id="rId12"/>
    <p:sldId id="579" r:id="rId13"/>
    <p:sldId id="576" r:id="rId14"/>
    <p:sldId id="577" r:id="rId15"/>
    <p:sldId id="580" r:id="rId16"/>
    <p:sldId id="582" r:id="rId17"/>
    <p:sldId id="578" r:id="rId18"/>
    <p:sldId id="583" r:id="rId19"/>
    <p:sldId id="584" r:id="rId20"/>
    <p:sldId id="586" r:id="rId21"/>
    <p:sldId id="585" r:id="rId22"/>
    <p:sldId id="588" r:id="rId23"/>
    <p:sldId id="587" r:id="rId24"/>
    <p:sldId id="590" r:id="rId25"/>
    <p:sldId id="592" r:id="rId26"/>
    <p:sldId id="593" r:id="rId27"/>
    <p:sldId id="591" r:id="rId28"/>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99"/>
    <a:srgbClr val="6600FF"/>
    <a:srgbClr val="666699"/>
    <a:srgbClr val="6600CC"/>
    <a:srgbClr val="9966FF"/>
    <a:srgbClr val="3333CC"/>
    <a:srgbClr val="6666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200" autoAdjust="0"/>
    <p:restoredTop sz="70865" autoAdjust="0"/>
  </p:normalViewPr>
  <p:slideViewPr>
    <p:cSldViewPr>
      <p:cViewPr varScale="1">
        <p:scale>
          <a:sx n="79" d="100"/>
          <a:sy n="79" d="100"/>
        </p:scale>
        <p:origin x="2088"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1788"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76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1" sz="1200">
                <a:latin typeface="Times New Roman" pitchFamily="18" charset="0"/>
                <a:ea typeface="宋体" panose="02010600030101010101" pitchFamily="2" charset="-122"/>
              </a:defRPr>
            </a:lvl1pPr>
          </a:lstStyle>
          <a:p>
            <a:pPr>
              <a:defRPr/>
            </a:pPr>
            <a:endParaRPr lang="en-US" altLang="zh-CN"/>
          </a:p>
        </p:txBody>
      </p:sp>
      <p:sp>
        <p:nvSpPr>
          <p:cNvPr id="15769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a:latin typeface="Times New Roman" pitchFamily="18" charset="0"/>
                <a:ea typeface="宋体" panose="02010600030101010101" pitchFamily="2" charset="-122"/>
              </a:defRPr>
            </a:lvl1pPr>
          </a:lstStyle>
          <a:p>
            <a:pPr>
              <a:defRPr/>
            </a:pPr>
            <a:endParaRPr lang="en-US" altLang="zh-CN"/>
          </a:p>
        </p:txBody>
      </p:sp>
      <p:sp>
        <p:nvSpPr>
          <p:cNvPr id="1946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5770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5770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1" sz="1200">
                <a:latin typeface="Times New Roman" pitchFamily="18" charset="0"/>
                <a:ea typeface="宋体" panose="02010600030101010101" pitchFamily="2" charset="-122"/>
              </a:defRPr>
            </a:lvl1pPr>
          </a:lstStyle>
          <a:p>
            <a:pPr>
              <a:defRPr/>
            </a:pPr>
            <a:endParaRPr lang="en-US" altLang="zh-CN"/>
          </a:p>
        </p:txBody>
      </p:sp>
      <p:sp>
        <p:nvSpPr>
          <p:cNvPr id="15770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a:latin typeface="Times New Roman" pitchFamily="18" charset="0"/>
                <a:ea typeface="宋体" charset="-122"/>
              </a:defRPr>
            </a:lvl1pPr>
          </a:lstStyle>
          <a:p>
            <a:pPr>
              <a:defRPr/>
            </a:pPr>
            <a:fld id="{F0F7744A-78BC-4BEF-9874-04D59F80F92F}" type="slidenum">
              <a:rPr lang="en-US" altLang="zh-CN"/>
              <a:pPr>
                <a:defRPr/>
              </a:pPr>
              <a:t>‹#›</a:t>
            </a:fld>
            <a:endParaRPr lang="en-US" altLang="zh-CN"/>
          </a:p>
        </p:txBody>
      </p:sp>
    </p:spTree>
    <p:extLst>
      <p:ext uri="{BB962C8B-B14F-4D97-AF65-F5344CB8AC3E}">
        <p14:creationId xmlns:p14="http://schemas.microsoft.com/office/powerpoint/2010/main" val="50806573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a:xfrm>
            <a:off x="1143000" y="685800"/>
            <a:ext cx="4572000" cy="3429000"/>
          </a:xfrm>
          <a:ln/>
        </p:spPr>
      </p:sp>
      <p:sp>
        <p:nvSpPr>
          <p:cNvPr id="5123" name="备注占位符 2"/>
          <p:cNvSpPr>
            <a:spLocks noGrp="1"/>
          </p:cNvSpPr>
          <p:nvPr>
            <p:ph type="body" idx="1"/>
          </p:nvPr>
        </p:nvSpPr>
        <p:spPr>
          <a:noFill/>
          <a:ln/>
        </p:spPr>
        <p:txBody>
          <a:bodyPr/>
          <a:lstStyle/>
          <a:p>
            <a:r>
              <a:rPr lang="zh-CN" altLang="en-US" smtClean="0"/>
              <a:t>教学安排：</a:t>
            </a:r>
            <a:endParaRPr lang="en-US" altLang="zh-CN" smtClean="0"/>
          </a:p>
          <a:p>
            <a:r>
              <a:rPr lang="en-US" altLang="zh-CN" smtClean="0"/>
              <a:t>1</a:t>
            </a:r>
            <a:r>
              <a:rPr lang="zh-CN" altLang="en-US" smtClean="0"/>
              <a:t>学时网线制作实验</a:t>
            </a:r>
            <a:endParaRPr lang="en-US" altLang="zh-CN" smtClean="0"/>
          </a:p>
          <a:p>
            <a:r>
              <a:rPr lang="en-US" altLang="zh-CN" smtClean="0"/>
              <a:t>3</a:t>
            </a:r>
            <a:r>
              <a:rPr lang="zh-CN" altLang="en-US" smtClean="0"/>
              <a:t>学时综合布线测试实验</a:t>
            </a:r>
            <a:endParaRPr lang="en-US" altLang="zh-CN" smtClean="0"/>
          </a:p>
          <a:p>
            <a:endParaRPr lang="zh-CN" altLang="en-US" smtClean="0"/>
          </a:p>
        </p:txBody>
      </p:sp>
      <p:sp>
        <p:nvSpPr>
          <p:cNvPr id="5124" name="灯片编号占位符 3"/>
          <p:cNvSpPr>
            <a:spLocks noGrp="1"/>
          </p:cNvSpPr>
          <p:nvPr>
            <p:ph type="sldNum" sz="quarter" idx="5"/>
          </p:nvPr>
        </p:nvSpPr>
        <p:spPr>
          <a:noFill/>
        </p:spPr>
        <p:txBody>
          <a:bodyPr/>
          <a:lstStyle/>
          <a:p>
            <a:fld id="{DFC854D7-5FC3-439D-889C-2664ADC1D155}" type="slidenum">
              <a:rPr lang="en-US" altLang="zh-CN"/>
              <a:pPr/>
              <a:t>1</a:t>
            </a:fld>
            <a:endParaRPr lang="en-US" altLang="zh-CN"/>
          </a:p>
        </p:txBody>
      </p:sp>
    </p:spTree>
    <p:extLst>
      <p:ext uri="{BB962C8B-B14F-4D97-AF65-F5344CB8AC3E}">
        <p14:creationId xmlns:p14="http://schemas.microsoft.com/office/powerpoint/2010/main" val="2136489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eaLnBrk="1" hangingPunct="1"/>
            <a:fld id="{8D9D54EB-9C71-4DFE-A62F-6B587CB0819E}" type="slidenum">
              <a:rPr kumimoji="1" lang="en-US" altLang="zh-CN" sz="1200">
                <a:latin typeface="Times New Roman" pitchFamily="18" charset="0"/>
              </a:rPr>
              <a:pPr algn="r" eaLnBrk="1" hangingPunct="1"/>
              <a:t>3</a:t>
            </a:fld>
            <a:endParaRPr kumimoji="1" lang="en-US" altLang="zh-CN" sz="1200">
              <a:latin typeface="Times New Roman"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p:spPr>
        <p:txBody>
          <a:bodyPr/>
          <a:lstStyle/>
          <a:p>
            <a:pPr eaLnBrk="1" hangingPunct="1"/>
            <a:endParaRPr lang="en-US" altLang="zh-CN" smtClean="0"/>
          </a:p>
        </p:txBody>
      </p:sp>
    </p:spTree>
    <p:extLst>
      <p:ext uri="{BB962C8B-B14F-4D97-AF65-F5344CB8AC3E}">
        <p14:creationId xmlns:p14="http://schemas.microsoft.com/office/powerpoint/2010/main" val="1416250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eaLnBrk="1" hangingPunct="1">
              <a:lnSpc>
                <a:spcPct val="130000"/>
              </a:lnSpc>
              <a:spcBef>
                <a:spcPct val="20000"/>
              </a:spcBef>
              <a:buClr>
                <a:srgbClr val="3333CC"/>
              </a:buClr>
              <a:buFont typeface="Wingdings" pitchFamily="2" charset="2"/>
              <a:buChar char="Ø"/>
            </a:pPr>
            <a:r>
              <a:rPr lang="zh-CN" altLang="en-US" sz="1200" dirty="0" smtClean="0">
                <a:latin typeface="宋体" pitchFamily="2" charset="-122"/>
              </a:rPr>
              <a:t>动态路由协议通过路由信息的交换生成并维护转发引擎需要的路由表。</a:t>
            </a:r>
          </a:p>
          <a:p>
            <a:pPr eaLnBrk="1" hangingPunct="1">
              <a:lnSpc>
                <a:spcPct val="130000"/>
              </a:lnSpc>
              <a:spcBef>
                <a:spcPct val="20000"/>
              </a:spcBef>
              <a:buClr>
                <a:srgbClr val="3333CC"/>
              </a:buClr>
              <a:buFont typeface="Wingdings" pitchFamily="2" charset="2"/>
              <a:buChar char="Ø"/>
            </a:pPr>
            <a:r>
              <a:rPr lang="zh-CN" altLang="en-US" sz="1200" dirty="0" smtClean="0">
                <a:latin typeface="宋体" pitchFamily="2" charset="-122"/>
              </a:rPr>
              <a:t>网络拓扑结构改变时自动更新路由表，并负责决定数据传输最佳路径。</a:t>
            </a:r>
          </a:p>
          <a:p>
            <a:pPr eaLnBrk="1" hangingPunct="1">
              <a:lnSpc>
                <a:spcPct val="130000"/>
              </a:lnSpc>
              <a:spcBef>
                <a:spcPct val="20000"/>
              </a:spcBef>
              <a:buClr>
                <a:srgbClr val="3333CC"/>
              </a:buClr>
              <a:buFont typeface="Wingdings" pitchFamily="2" charset="2"/>
              <a:buNone/>
            </a:pPr>
            <a:r>
              <a:rPr lang="zh-CN" altLang="en-US" sz="1200" dirty="0" smtClean="0">
                <a:latin typeface="黑体" pitchFamily="49" charset="-122"/>
                <a:ea typeface="黑体" pitchFamily="49" charset="-122"/>
              </a:rPr>
              <a:t> </a:t>
            </a:r>
            <a:r>
              <a:rPr lang="zh-CN" altLang="en-US" sz="1200" dirty="0" smtClean="0">
                <a:solidFill>
                  <a:schemeClr val="accent2"/>
                </a:solidFill>
                <a:latin typeface="黑体" pitchFamily="49" charset="-122"/>
                <a:ea typeface="黑体" pitchFamily="49" charset="-122"/>
              </a:rPr>
              <a:t>动态路由协议的优点是可以自动适应网络状态的变化，自动维护路由信息而不用网络管理员的参与。其缺点为由于需要相互交换路由信息，需要占用网络带宽，并且要占用系统资源。另外安全性也不如使用静态路由。</a:t>
            </a:r>
          </a:p>
          <a:p>
            <a:pPr eaLnBrk="1" hangingPunct="1">
              <a:lnSpc>
                <a:spcPct val="130000"/>
              </a:lnSpc>
              <a:spcBef>
                <a:spcPct val="20000"/>
              </a:spcBef>
              <a:buClr>
                <a:srgbClr val="3333CC"/>
              </a:buClr>
              <a:buFont typeface="Wingdings" pitchFamily="2" charset="2"/>
              <a:buNone/>
            </a:pPr>
            <a:r>
              <a:rPr lang="zh-CN" altLang="en-US" sz="1100" dirty="0" smtClean="0">
                <a:latin typeface="黑体" pitchFamily="49" charset="-122"/>
                <a:ea typeface="黑体" pitchFamily="49" charset="-122"/>
              </a:rPr>
              <a:t>   在有冗余连接的复杂网络环境中，适合采用动态路由协议。目的网络是否可达取决于网络状态</a:t>
            </a:r>
            <a:endParaRPr lang="zh-CN" altLang="en-US" dirty="0"/>
          </a:p>
        </p:txBody>
      </p:sp>
      <p:sp>
        <p:nvSpPr>
          <p:cNvPr id="4" name="灯片编号占位符 3"/>
          <p:cNvSpPr>
            <a:spLocks noGrp="1"/>
          </p:cNvSpPr>
          <p:nvPr>
            <p:ph type="sldNum" sz="quarter" idx="10"/>
          </p:nvPr>
        </p:nvSpPr>
        <p:spPr/>
        <p:txBody>
          <a:bodyPr/>
          <a:lstStyle/>
          <a:p>
            <a:pPr>
              <a:defRPr/>
            </a:pPr>
            <a:fld id="{F0F7744A-78BC-4BEF-9874-04D59F80F92F}" type="slidenum">
              <a:rPr lang="en-US" altLang="zh-CN" smtClean="0"/>
              <a:pPr>
                <a:defRPr/>
              </a:pPr>
              <a:t>4</a:t>
            </a:fld>
            <a:endParaRPr lang="en-US" altLang="zh-CN"/>
          </a:p>
        </p:txBody>
      </p:sp>
    </p:spTree>
    <p:extLst>
      <p:ext uri="{BB962C8B-B14F-4D97-AF65-F5344CB8AC3E}">
        <p14:creationId xmlns:p14="http://schemas.microsoft.com/office/powerpoint/2010/main" val="26688368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a:ln/>
        </p:spPr>
      </p:sp>
      <p:sp>
        <p:nvSpPr>
          <p:cNvPr id="27651" name="备注占位符 2"/>
          <p:cNvSpPr>
            <a:spLocks noGrp="1"/>
          </p:cNvSpPr>
          <p:nvPr>
            <p:ph type="body" idx="1"/>
          </p:nvPr>
        </p:nvSpPr>
        <p:spPr>
          <a:noFill/>
          <a:ln/>
        </p:spPr>
        <p:txBody>
          <a:bodyPr/>
          <a:lstStyle/>
          <a:p>
            <a:pPr eaLnBrk="1" hangingPunct="1"/>
            <a:r>
              <a:rPr lang="zh-CN" altLang="en-US" sz="1200" dirty="0" smtClean="0"/>
              <a:t> 前面提到，路由器之间的路由信息交换是基于路由协议实现的。交换路由信息的最终目的在于形成路由转发表，进而通过此表找到一条数据交换的</a:t>
            </a:r>
            <a:r>
              <a:rPr lang="zh-CN" altLang="en-US" sz="1200" dirty="0" smtClean="0">
                <a:latin typeface="Arial" charset="0"/>
              </a:rPr>
              <a:t>“</a:t>
            </a:r>
            <a:r>
              <a:rPr lang="zh-CN" altLang="en-US" sz="1200" dirty="0" smtClean="0"/>
              <a:t>最佳</a:t>
            </a:r>
            <a:r>
              <a:rPr lang="zh-CN" altLang="en-US" sz="1200" dirty="0" smtClean="0">
                <a:latin typeface="Arial" charset="0"/>
              </a:rPr>
              <a:t>”</a:t>
            </a:r>
            <a:r>
              <a:rPr lang="zh-CN" altLang="en-US" sz="1200" dirty="0" smtClean="0"/>
              <a:t>路径。每一种路由算法都有其衡量</a:t>
            </a:r>
            <a:r>
              <a:rPr lang="zh-CN" altLang="en-US" sz="1200" dirty="0" smtClean="0">
                <a:latin typeface="Arial" charset="0"/>
              </a:rPr>
              <a:t>“</a:t>
            </a:r>
            <a:r>
              <a:rPr lang="zh-CN" altLang="en-US" sz="1200" dirty="0" smtClean="0"/>
              <a:t>最佳</a:t>
            </a:r>
            <a:r>
              <a:rPr lang="zh-CN" altLang="en-US" sz="1200" dirty="0" smtClean="0">
                <a:latin typeface="Arial" charset="0"/>
              </a:rPr>
              <a:t>”</a:t>
            </a:r>
            <a:r>
              <a:rPr lang="zh-CN" altLang="en-US" sz="1200" dirty="0" smtClean="0"/>
              <a:t>的一套原则。大多数算法使用</a:t>
            </a:r>
            <a:r>
              <a:rPr lang="zh-CN" altLang="en-US" sz="1200" dirty="0" smtClean="0">
                <a:solidFill>
                  <a:srgbClr val="FF0000"/>
                </a:solidFill>
              </a:rPr>
              <a:t>一个量化的参数来衡量路径的优劣</a:t>
            </a:r>
            <a:r>
              <a:rPr lang="zh-CN" altLang="en-US" sz="1200" dirty="0" smtClean="0"/>
              <a:t>，一般说来，参数值越小，路径越好。</a:t>
            </a:r>
            <a:r>
              <a:rPr lang="zh-CN" altLang="en-US" sz="1200" dirty="0" smtClean="0">
                <a:solidFill>
                  <a:srgbClr val="FF0000"/>
                </a:solidFill>
              </a:rPr>
              <a:t>该参数可以通过路径的某一特性进行计算，也可以在综合多个特性的基础上进行计算，几个比较常用的特征是： </a:t>
            </a:r>
          </a:p>
          <a:p>
            <a:pPr eaLnBrk="1" hangingPunct="1"/>
            <a:r>
              <a:rPr lang="en-US" altLang="zh-CN" sz="1200" dirty="0" smtClean="0"/>
              <a:t>n	</a:t>
            </a:r>
            <a:r>
              <a:rPr lang="zh-CN" altLang="en-US" sz="1200" dirty="0" smtClean="0"/>
              <a:t>路径所包含的路由器结点数（</a:t>
            </a:r>
            <a:r>
              <a:rPr lang="en-US" altLang="zh-CN" sz="1200" dirty="0" smtClean="0"/>
              <a:t>hop count</a:t>
            </a:r>
            <a:r>
              <a:rPr lang="zh-CN" altLang="en-US" sz="1200" dirty="0" smtClean="0"/>
              <a:t>） </a:t>
            </a:r>
          </a:p>
          <a:p>
            <a:pPr eaLnBrk="1" hangingPunct="1"/>
            <a:r>
              <a:rPr lang="en-US" altLang="zh-CN" sz="1200" dirty="0" smtClean="0"/>
              <a:t>n	</a:t>
            </a:r>
            <a:r>
              <a:rPr lang="zh-CN" altLang="en-US" sz="1200" dirty="0" smtClean="0"/>
              <a:t>网络传输费用（</a:t>
            </a:r>
            <a:r>
              <a:rPr lang="en-US" altLang="zh-CN" sz="1200" dirty="0" smtClean="0"/>
              <a:t>cost</a:t>
            </a:r>
            <a:r>
              <a:rPr lang="zh-CN" altLang="en-US" sz="1200" dirty="0" smtClean="0"/>
              <a:t>） </a:t>
            </a:r>
          </a:p>
          <a:p>
            <a:pPr eaLnBrk="1" hangingPunct="1"/>
            <a:r>
              <a:rPr lang="en-US" altLang="zh-CN" sz="1200" dirty="0" smtClean="0"/>
              <a:t>n	</a:t>
            </a:r>
            <a:r>
              <a:rPr lang="zh-CN" altLang="en-US" sz="1200" dirty="0" smtClean="0"/>
              <a:t>带宽（</a:t>
            </a:r>
            <a:r>
              <a:rPr lang="en-US" altLang="zh-CN" sz="1200" dirty="0" smtClean="0"/>
              <a:t>bandwidth</a:t>
            </a:r>
            <a:r>
              <a:rPr lang="zh-CN" altLang="en-US" sz="1200" dirty="0" smtClean="0"/>
              <a:t>） </a:t>
            </a:r>
          </a:p>
          <a:p>
            <a:pPr eaLnBrk="1" hangingPunct="1"/>
            <a:r>
              <a:rPr lang="en-US" altLang="zh-CN" sz="1200" dirty="0" smtClean="0"/>
              <a:t>n	</a:t>
            </a:r>
            <a:r>
              <a:rPr lang="zh-CN" altLang="en-US" sz="1200" dirty="0" smtClean="0"/>
              <a:t>延迟（</a:t>
            </a:r>
            <a:r>
              <a:rPr lang="en-US" altLang="zh-CN" sz="1200" dirty="0" smtClean="0"/>
              <a:t>delay</a:t>
            </a:r>
            <a:r>
              <a:rPr lang="zh-CN" altLang="en-US" sz="1200" dirty="0" smtClean="0"/>
              <a:t>） </a:t>
            </a:r>
          </a:p>
          <a:p>
            <a:pPr eaLnBrk="1" hangingPunct="1"/>
            <a:r>
              <a:rPr lang="en-US" altLang="zh-CN" sz="1200" dirty="0" smtClean="0"/>
              <a:t>n	</a:t>
            </a:r>
            <a:r>
              <a:rPr lang="zh-CN" altLang="en-US" sz="1200" dirty="0" smtClean="0"/>
              <a:t>负载（</a:t>
            </a:r>
            <a:r>
              <a:rPr lang="en-US" altLang="zh-CN" sz="1200" dirty="0" smtClean="0"/>
              <a:t>load</a:t>
            </a:r>
            <a:r>
              <a:rPr lang="zh-CN" altLang="en-US" sz="1200" dirty="0" smtClean="0"/>
              <a:t>） </a:t>
            </a:r>
          </a:p>
          <a:p>
            <a:pPr eaLnBrk="1" hangingPunct="1"/>
            <a:r>
              <a:rPr lang="en-US" altLang="zh-CN" sz="1200" dirty="0" smtClean="0"/>
              <a:t>n	</a:t>
            </a:r>
            <a:r>
              <a:rPr lang="zh-CN" altLang="en-US" sz="1200" dirty="0" smtClean="0"/>
              <a:t>可靠性（</a:t>
            </a:r>
            <a:r>
              <a:rPr lang="en-US" altLang="zh-CN" sz="1200" dirty="0" smtClean="0"/>
              <a:t>reliability</a:t>
            </a:r>
            <a:r>
              <a:rPr lang="zh-CN" altLang="en-US" sz="1200" dirty="0" smtClean="0"/>
              <a:t>） </a:t>
            </a:r>
          </a:p>
          <a:p>
            <a:pPr eaLnBrk="1" hangingPunct="1"/>
            <a:r>
              <a:rPr lang="en-US" altLang="zh-CN" sz="1200" dirty="0" smtClean="0"/>
              <a:t>n	</a:t>
            </a:r>
            <a:r>
              <a:rPr lang="zh-CN" altLang="en-US" sz="1200" dirty="0" smtClean="0"/>
              <a:t>最大传输单元</a:t>
            </a:r>
            <a:r>
              <a:rPr lang="en-US" altLang="zh-CN" sz="1200" dirty="0" smtClean="0"/>
              <a:t>MTU</a:t>
            </a:r>
            <a:r>
              <a:rPr lang="zh-CN" altLang="en-US" sz="1200" dirty="0" smtClean="0"/>
              <a:t>（</a:t>
            </a:r>
            <a:r>
              <a:rPr lang="en-US" altLang="zh-CN" sz="1200" dirty="0" smtClean="0"/>
              <a:t>maximum transmission unit</a:t>
            </a:r>
            <a:r>
              <a:rPr lang="zh-CN" altLang="en-US" sz="1200" dirty="0" smtClean="0"/>
              <a:t>） </a:t>
            </a:r>
          </a:p>
          <a:p>
            <a:pPr eaLnBrk="1" hangingPunct="1"/>
            <a:r>
              <a:rPr lang="zh-CN" altLang="en-US" sz="1200" dirty="0" smtClean="0"/>
              <a:t>    依据路由器间交换路由信息的内容及路由算法，将路由协议分为：距离</a:t>
            </a:r>
            <a:r>
              <a:rPr lang="en-US" altLang="zh-CN" sz="1200" dirty="0" smtClean="0"/>
              <a:t>-</a:t>
            </a:r>
            <a:r>
              <a:rPr lang="zh-CN" altLang="en-US" sz="1200" dirty="0" smtClean="0"/>
              <a:t>矢量路由协议和链路状态路由协议。</a:t>
            </a:r>
            <a:endParaRPr lang="zh-CN" altLang="en-US" dirty="0" smtClean="0"/>
          </a:p>
        </p:txBody>
      </p:sp>
      <p:sp>
        <p:nvSpPr>
          <p:cNvPr id="27652" name="灯片编号占位符 3"/>
          <p:cNvSpPr>
            <a:spLocks noGrp="1"/>
          </p:cNvSpPr>
          <p:nvPr>
            <p:ph type="sldNum" sz="quarter" idx="5"/>
          </p:nvPr>
        </p:nvSpPr>
        <p:spPr>
          <a:noFill/>
        </p:spPr>
        <p:txBody>
          <a:bodyPr/>
          <a:lstStyle/>
          <a:p>
            <a:fld id="{2CD3EB9F-B37E-4DF4-BF2A-753D7E785511}" type="slidenum">
              <a:rPr lang="en-US" altLang="zh-CN" smtClean="0">
                <a:ea typeface="宋体" pitchFamily="2" charset="-122"/>
              </a:rPr>
              <a:pPr/>
              <a:t>5</a:t>
            </a:fld>
            <a:endParaRPr lang="en-US" altLang="zh-CN" smtClean="0">
              <a:ea typeface="宋体" pitchFamily="2" charset="-122"/>
            </a:endParaRPr>
          </a:p>
        </p:txBody>
      </p:sp>
    </p:spTree>
    <p:extLst>
      <p:ext uri="{BB962C8B-B14F-4D97-AF65-F5344CB8AC3E}">
        <p14:creationId xmlns:p14="http://schemas.microsoft.com/office/powerpoint/2010/main" val="32514691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pPr eaLnBrk="1" hangingPunct="1"/>
            <a:r>
              <a:rPr lang="zh-CN" altLang="en-US" dirty="0" smtClean="0"/>
              <a:t> 基于距离－矢量的路由算法具有这样的特点：</a:t>
            </a:r>
          </a:p>
          <a:p>
            <a:pPr eaLnBrk="1" hangingPunct="1">
              <a:buFontTx/>
              <a:buChar char="•"/>
            </a:pPr>
            <a:r>
              <a:rPr lang="zh-CN" altLang="en-US" dirty="0" smtClean="0"/>
              <a:t>路由器之间周期性的交换路由表</a:t>
            </a:r>
          </a:p>
          <a:p>
            <a:pPr eaLnBrk="1" hangingPunct="1">
              <a:buFontTx/>
              <a:buChar char="•"/>
            </a:pPr>
            <a:r>
              <a:rPr lang="zh-CN" altLang="en-US" dirty="0" smtClean="0"/>
              <a:t>交换的是整张路由表的内容</a:t>
            </a:r>
          </a:p>
          <a:p>
            <a:pPr eaLnBrk="1" hangingPunct="1">
              <a:buFontTx/>
              <a:buChar char="•"/>
            </a:pPr>
            <a:r>
              <a:rPr lang="zh-CN" altLang="en-US" dirty="0" smtClean="0"/>
              <a:t>每个路由器和它直连的邻居之间交换内容</a:t>
            </a:r>
          </a:p>
          <a:p>
            <a:pPr eaLnBrk="1" hangingPunct="1">
              <a:buFontTx/>
              <a:buChar char="•"/>
            </a:pPr>
            <a:r>
              <a:rPr lang="zh-CN" altLang="en-US" dirty="0" smtClean="0"/>
              <a:t>网络拓扑发生了变化之后，路由器之间会通过定期交换更新包来获得网络的变化信息。上图为例，</a:t>
            </a:r>
            <a:r>
              <a:rPr lang="en-US" altLang="zh-CN" dirty="0" smtClean="0"/>
              <a:t>router B </a:t>
            </a:r>
            <a:r>
              <a:rPr lang="zh-CN" altLang="en-US" dirty="0" smtClean="0"/>
              <a:t>从 </a:t>
            </a:r>
            <a:r>
              <a:rPr lang="en-US" altLang="zh-CN" dirty="0" smtClean="0"/>
              <a:t>router A </a:t>
            </a:r>
            <a:r>
              <a:rPr lang="zh-CN" altLang="en-US" dirty="0" smtClean="0"/>
              <a:t>收到信息，在加上距离矢量</a:t>
            </a:r>
            <a:r>
              <a:rPr lang="en-US" altLang="zh-CN" dirty="0" smtClean="0"/>
              <a:t>metric</a:t>
            </a:r>
            <a:r>
              <a:rPr lang="zh-CN" altLang="en-US" dirty="0" smtClean="0"/>
              <a:t>之后，把自己的路由表发送给 </a:t>
            </a:r>
            <a:r>
              <a:rPr lang="en-US" altLang="zh-CN" dirty="0" smtClean="0"/>
              <a:t>router C</a:t>
            </a:r>
            <a:r>
              <a:rPr lang="zh-CN" altLang="en-US" dirty="0" smtClean="0"/>
              <a:t>。就这样一步一步，把路由信息传播出去。</a:t>
            </a:r>
          </a:p>
          <a:p>
            <a:pPr eaLnBrk="1" hangingPunct="1"/>
            <a:r>
              <a:rPr lang="zh-CN" altLang="en-US" dirty="0" smtClean="0"/>
              <a:t>   通过这种方式，该算法形成了自己的路由信息数据库。但是，距离－矢量算法没有办法让路由器对网络的拓扑结构有更深刻的了解。</a:t>
            </a:r>
          </a:p>
          <a:p>
            <a:pPr eaLnBrk="1" hangingPunct="1"/>
            <a:r>
              <a:rPr lang="zh-CN" altLang="en-US" dirty="0" smtClean="0"/>
              <a:t>   距离</a:t>
            </a:r>
            <a:r>
              <a:rPr lang="en-US" altLang="zh-CN" dirty="0" smtClean="0"/>
              <a:t>-</a:t>
            </a:r>
            <a:r>
              <a:rPr lang="zh-CN" altLang="en-US" dirty="0" smtClean="0"/>
              <a:t>矢量路由协议的缺陷：</a:t>
            </a:r>
          </a:p>
          <a:p>
            <a:pPr eaLnBrk="1" hangingPunct="1"/>
            <a:r>
              <a:rPr lang="zh-CN" altLang="en-US" dirty="0" smtClean="0"/>
              <a:t> </a:t>
            </a:r>
            <a:r>
              <a:rPr lang="en-US" altLang="zh-CN" dirty="0" smtClean="0"/>
              <a:t> </a:t>
            </a:r>
            <a:r>
              <a:rPr lang="zh-CN" altLang="en-US" dirty="0" smtClean="0"/>
              <a:t>一是</a:t>
            </a:r>
            <a:r>
              <a:rPr lang="en-US" altLang="zh-CN" dirty="0" smtClean="0"/>
              <a:t>metric</a:t>
            </a:r>
            <a:r>
              <a:rPr lang="zh-CN" altLang="en-US" dirty="0" smtClean="0"/>
              <a:t>的可信度。因为距离仅仅表示的是跳数，对路由器之间的链路的带宽，延迟等无考虑。这会导致数据包传送会走在一个看起来跳数是小，但实际带宽窄和延时大的链路上。</a:t>
            </a:r>
          </a:p>
          <a:p>
            <a:pPr eaLnBrk="1" hangingPunct="1"/>
            <a:r>
              <a:rPr lang="zh-CN" altLang="en-US" dirty="0" smtClean="0"/>
              <a:t> </a:t>
            </a:r>
            <a:r>
              <a:rPr lang="en-US" altLang="zh-CN" dirty="0" smtClean="0"/>
              <a:t> </a:t>
            </a:r>
            <a:r>
              <a:rPr lang="zh-CN" altLang="en-US" dirty="0" smtClean="0"/>
              <a:t>二是交换路由信息的方式，即路由器交换它们可以通过定期广播整个路由表所能到达的适用网络号码。在稍大一点的网络中，路由器之间交换的路由表会很大，而且很难维护，导致收敛很缓慢。</a:t>
            </a:r>
          </a:p>
          <a:p>
            <a:pPr eaLnBrk="1" hangingPunct="1"/>
            <a:r>
              <a:rPr lang="zh-CN" altLang="en-US" dirty="0" smtClean="0"/>
              <a:t> </a:t>
            </a:r>
            <a:r>
              <a:rPr lang="en-US" altLang="zh-CN" dirty="0" smtClean="0"/>
              <a:t> </a:t>
            </a:r>
            <a:r>
              <a:rPr lang="zh-CN" altLang="en-US" dirty="0" smtClean="0"/>
              <a:t>三是不支持可变长度子网掩码或</a:t>
            </a:r>
            <a:r>
              <a:rPr lang="en-US" altLang="zh-CN" dirty="0" smtClean="0"/>
              <a:t>CIDR</a:t>
            </a:r>
            <a:r>
              <a:rPr lang="zh-CN" altLang="en-US" dirty="0" smtClean="0"/>
              <a:t>，就是说距离矢量网络是平面的，它们缺少层次，亦即缺少聚合。但</a:t>
            </a:r>
            <a:r>
              <a:rPr lang="en-US" altLang="zh-CN" dirty="0" smtClean="0"/>
              <a:t>RIPV2</a:t>
            </a:r>
            <a:r>
              <a:rPr lang="zh-CN" altLang="en-US" dirty="0" smtClean="0"/>
              <a:t>已经克服了此缺陷。</a:t>
            </a:r>
          </a:p>
          <a:p>
            <a:pPr eaLnBrk="1" hangingPunct="1"/>
            <a:r>
              <a:rPr lang="zh-CN" altLang="en-US" dirty="0" smtClean="0"/>
              <a:t>距离－矢量路由协议包括：</a:t>
            </a:r>
          </a:p>
          <a:p>
            <a:pPr eaLnBrk="1" hangingPunct="1"/>
            <a:r>
              <a:rPr lang="en-US" altLang="zh-CN" dirty="0" smtClean="0"/>
              <a:t>RIP  </a:t>
            </a:r>
            <a:r>
              <a:rPr lang="zh-CN" altLang="en-US" dirty="0" smtClean="0"/>
              <a:t>；  </a:t>
            </a:r>
            <a:r>
              <a:rPr lang="en-US" altLang="zh-CN" dirty="0" smtClean="0"/>
              <a:t>IGRP(</a:t>
            </a:r>
            <a:r>
              <a:rPr lang="en-US" altLang="zh-CN" dirty="0" err="1" smtClean="0"/>
              <a:t>cisco</a:t>
            </a:r>
            <a:r>
              <a:rPr lang="en-US" altLang="zh-CN" dirty="0" smtClean="0"/>
              <a:t> </a:t>
            </a:r>
            <a:r>
              <a:rPr lang="zh-CN" altLang="en-US" dirty="0" smtClean="0"/>
              <a:t>私有的协议</a:t>
            </a:r>
            <a:r>
              <a:rPr lang="en-US" altLang="zh-CN" dirty="0" smtClean="0"/>
              <a:t>)</a:t>
            </a:r>
          </a:p>
          <a:p>
            <a:pPr eaLnBrk="1" hangingPunct="1"/>
            <a:r>
              <a:rPr lang="zh-CN" altLang="en-US" dirty="0" smtClean="0"/>
              <a:t>距离向量协议如</a:t>
            </a:r>
            <a:r>
              <a:rPr lang="en-US" altLang="zh-CN" dirty="0" smtClean="0"/>
              <a:t>RIP</a:t>
            </a:r>
            <a:r>
              <a:rPr lang="zh-CN" altLang="en-US" dirty="0" smtClean="0"/>
              <a:t>，是通过跳数来计算开销，由于选路性能低效，同时跳数受到限制，最大为</a:t>
            </a:r>
            <a:r>
              <a:rPr lang="en-US" altLang="zh-CN" dirty="0" smtClean="0"/>
              <a:t>15</a:t>
            </a:r>
            <a:r>
              <a:rPr lang="zh-CN" altLang="en-US" dirty="0" smtClean="0"/>
              <a:t>，使之只适合应用于小型网络。</a:t>
            </a:r>
            <a:endParaRPr lang="zh-CN" altLang="en-US" dirty="0"/>
          </a:p>
        </p:txBody>
      </p:sp>
      <p:sp>
        <p:nvSpPr>
          <p:cNvPr id="4" name="灯片编号占位符 3"/>
          <p:cNvSpPr>
            <a:spLocks noGrp="1"/>
          </p:cNvSpPr>
          <p:nvPr>
            <p:ph type="sldNum" sz="quarter" idx="10"/>
          </p:nvPr>
        </p:nvSpPr>
        <p:spPr/>
        <p:txBody>
          <a:bodyPr/>
          <a:lstStyle/>
          <a:p>
            <a:pPr>
              <a:defRPr/>
            </a:pPr>
            <a:fld id="{F0F7744A-78BC-4BEF-9874-04D59F80F92F}" type="slidenum">
              <a:rPr lang="en-US" altLang="zh-CN" smtClean="0"/>
              <a:pPr>
                <a:defRPr/>
              </a:pPr>
              <a:t>6</a:t>
            </a:fld>
            <a:endParaRPr lang="en-US" altLang="zh-CN"/>
          </a:p>
        </p:txBody>
      </p:sp>
    </p:spTree>
    <p:extLst>
      <p:ext uri="{BB962C8B-B14F-4D97-AF65-F5344CB8AC3E}">
        <p14:creationId xmlns:p14="http://schemas.microsoft.com/office/powerpoint/2010/main" val="11703246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eaLnBrk="1" hangingPunct="1"/>
            <a:r>
              <a:rPr lang="zh-CN" altLang="en-US" dirty="0" smtClean="0"/>
              <a:t>第二种的路由算法就是链路状态算法。</a:t>
            </a:r>
          </a:p>
          <a:p>
            <a:pPr eaLnBrk="1" hangingPunct="1"/>
            <a:r>
              <a:rPr lang="zh-CN" altLang="en-US" dirty="0" smtClean="0"/>
              <a:t>基于链路状态的路由算法也叫最短路径优先（</a:t>
            </a:r>
            <a:r>
              <a:rPr lang="en-US" altLang="zh-CN" dirty="0" smtClean="0"/>
              <a:t>SPF</a:t>
            </a:r>
            <a:r>
              <a:rPr lang="zh-CN" altLang="en-US" dirty="0" smtClean="0"/>
              <a:t>）算法，该算法维护着关于整个网络拓扑信息的复杂数据库。比起距离矢量路由协议来，链路状态算法能够更加全面的反应出网络的实际情况。</a:t>
            </a:r>
          </a:p>
          <a:p>
            <a:pPr eaLnBrk="1" hangingPunct="1"/>
            <a:endParaRPr lang="zh-CN" altLang="en-US" dirty="0" smtClean="0"/>
          </a:p>
          <a:p>
            <a:pPr eaLnBrk="1" hangingPunct="1"/>
            <a:r>
              <a:rPr lang="zh-CN" altLang="en-US" dirty="0" smtClean="0"/>
              <a:t>链路状态路由协议有</a:t>
            </a:r>
            <a:r>
              <a:rPr lang="en-US" altLang="zh-CN" dirty="0" smtClean="0"/>
              <a:t>OSPF</a:t>
            </a:r>
            <a:r>
              <a:rPr lang="zh-CN" altLang="en-US" dirty="0" smtClean="0"/>
              <a:t>、</a:t>
            </a:r>
            <a:r>
              <a:rPr lang="en-US" altLang="zh-CN" dirty="0" smtClean="0"/>
              <a:t>IS-IS</a:t>
            </a:r>
            <a:r>
              <a:rPr lang="zh-CN" altLang="en-US" dirty="0" smtClean="0"/>
              <a:t>等。链路状态路由协议工作的基础是路由器交换称为链路状态的信息元素，它带有关于链路和节点的信息。链路状态型路由协议只当网络拓扑结构发生变化时，通过交换链路状态和节点信息实现路由动态更新，这使得它能够适应更大更复杂的网络拓扑。</a:t>
            </a:r>
          </a:p>
          <a:p>
            <a:pPr eaLnBrk="1" hangingPunct="1"/>
            <a:endParaRPr lang="zh-CN" altLang="en-US" dirty="0" smtClean="0"/>
          </a:p>
          <a:p>
            <a:pPr eaLnBrk="1" hangingPunct="1"/>
            <a:r>
              <a:rPr lang="zh-CN" altLang="en-US" dirty="0" smtClean="0"/>
              <a:t>由于链路状态协议本身不能提供国际互联网域间选路所需的全球连通解决办法，在超大型网络中，以及在链路波动较大时，链路状态的重新传输和计算工作会非常繁重，导致路由器内存和</a:t>
            </a:r>
            <a:r>
              <a:rPr lang="en-US" altLang="zh-CN" dirty="0" smtClean="0"/>
              <a:t>CPU</a:t>
            </a:r>
            <a:r>
              <a:rPr lang="zh-CN" altLang="en-US" dirty="0" smtClean="0"/>
              <a:t>不堪重负，因此它仍然被限制于内部选路。</a:t>
            </a:r>
            <a:endParaRPr lang="zh-CN" altLang="en-US" dirty="0"/>
          </a:p>
        </p:txBody>
      </p:sp>
      <p:sp>
        <p:nvSpPr>
          <p:cNvPr id="4" name="灯片编号占位符 3"/>
          <p:cNvSpPr>
            <a:spLocks noGrp="1"/>
          </p:cNvSpPr>
          <p:nvPr>
            <p:ph type="sldNum" sz="quarter" idx="10"/>
          </p:nvPr>
        </p:nvSpPr>
        <p:spPr/>
        <p:txBody>
          <a:bodyPr/>
          <a:lstStyle/>
          <a:p>
            <a:pPr>
              <a:defRPr/>
            </a:pPr>
            <a:fld id="{F0F7744A-78BC-4BEF-9874-04D59F80F92F}" type="slidenum">
              <a:rPr lang="en-US" altLang="zh-CN" smtClean="0"/>
              <a:pPr>
                <a:defRPr/>
              </a:pPr>
              <a:t>7</a:t>
            </a:fld>
            <a:endParaRPr lang="en-US" altLang="zh-CN"/>
          </a:p>
        </p:txBody>
      </p:sp>
    </p:spTree>
    <p:extLst>
      <p:ext uri="{BB962C8B-B14F-4D97-AF65-F5344CB8AC3E}">
        <p14:creationId xmlns:p14="http://schemas.microsoft.com/office/powerpoint/2010/main" val="9408266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eaLnBrk="1" hangingPunct="1"/>
            <a:fld id="{8D9D54EB-9C71-4DFE-A62F-6B587CB0819E}" type="slidenum">
              <a:rPr kumimoji="1" lang="en-US" altLang="zh-CN" sz="1200">
                <a:latin typeface="Times New Roman" pitchFamily="18" charset="0"/>
              </a:rPr>
              <a:pPr algn="r" eaLnBrk="1" hangingPunct="1"/>
              <a:t>8</a:t>
            </a:fld>
            <a:endParaRPr kumimoji="1" lang="en-US" altLang="zh-CN" sz="1200">
              <a:latin typeface="Times New Roman"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p:spPr>
        <p:txBody>
          <a:bodyPr/>
          <a:lstStyle/>
          <a:p>
            <a:pPr eaLnBrk="1" hangingPunct="1"/>
            <a:endParaRPr lang="en-US" altLang="zh-CN" smtClean="0"/>
          </a:p>
        </p:txBody>
      </p:sp>
    </p:spTree>
    <p:extLst>
      <p:ext uri="{BB962C8B-B14F-4D97-AF65-F5344CB8AC3E}">
        <p14:creationId xmlns:p14="http://schemas.microsoft.com/office/powerpoint/2010/main" val="22102679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a:ln/>
        </p:spPr>
      </p:sp>
      <p:sp>
        <p:nvSpPr>
          <p:cNvPr id="28675" name="Rectangle 3"/>
          <p:cNvSpPr>
            <a:spLocks noGrp="1" noChangeArrowheads="1"/>
          </p:cNvSpPr>
          <p:nvPr>
            <p:ph type="body" idx="1"/>
          </p:nvPr>
        </p:nvSpPr>
        <p:spPr>
          <a:noFill/>
          <a:ln/>
        </p:spPr>
        <p:txBody>
          <a:bodyPr/>
          <a:lstStyle/>
          <a:p>
            <a:endParaRPr lang="zh-CN" altLang="en-US" dirty="0" smtClean="0"/>
          </a:p>
        </p:txBody>
      </p:sp>
    </p:spTree>
    <p:extLst>
      <p:ext uri="{BB962C8B-B14F-4D97-AF65-F5344CB8AC3E}">
        <p14:creationId xmlns:p14="http://schemas.microsoft.com/office/powerpoint/2010/main" val="4209657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a:ln/>
        </p:spPr>
      </p:sp>
      <p:sp>
        <p:nvSpPr>
          <p:cNvPr id="29699" name="Rectangle 3"/>
          <p:cNvSpPr>
            <a:spLocks noGrp="1" noChangeArrowheads="1"/>
          </p:cNvSpPr>
          <p:nvPr>
            <p:ph type="body" idx="1"/>
          </p:nvPr>
        </p:nvSpPr>
        <p:spPr>
          <a:noFill/>
          <a:ln/>
        </p:spPr>
        <p:txBody>
          <a:bodyPr/>
          <a:lstStyle/>
          <a:p>
            <a:pPr eaLnBrk="1" hangingPunct="1"/>
            <a:r>
              <a:rPr lang="en-US" altLang="zh-CN" sz="1200" dirty="0" smtClean="0"/>
              <a:t>RIP</a:t>
            </a:r>
            <a:r>
              <a:rPr lang="zh-CN" altLang="en-US" sz="1200" dirty="0" smtClean="0"/>
              <a:t>一个比较大的缺陷是</a:t>
            </a:r>
            <a:r>
              <a:rPr lang="en-US" altLang="zh-CN" sz="1200" dirty="0" smtClean="0"/>
              <a:t>Metric</a:t>
            </a:r>
            <a:r>
              <a:rPr lang="zh-CN" altLang="en-US" sz="1200" dirty="0" smtClean="0"/>
              <a:t>只是简单的用跳数来表示，并不能准确的反映路径的真实状况。如图所示，有三条路径的跳数是一样的，所以</a:t>
            </a:r>
            <a:r>
              <a:rPr lang="en-US" altLang="zh-CN" sz="1200" dirty="0" smtClean="0"/>
              <a:t>RIP</a:t>
            </a:r>
            <a:r>
              <a:rPr lang="zh-CN" altLang="en-US" sz="1200" dirty="0" smtClean="0"/>
              <a:t>就认为这三条路径是一样的路径，但实际上三条路径的带宽差异很大。</a:t>
            </a:r>
            <a:endParaRPr lang="en-US" altLang="zh-CN" sz="1200" dirty="0" smtClean="0"/>
          </a:p>
          <a:p>
            <a:pPr eaLnBrk="1" hangingPunct="1"/>
            <a:r>
              <a:rPr lang="zh-CN" altLang="en-US" sz="1200" dirty="0" smtClean="0"/>
              <a:t>最多支持相同</a:t>
            </a:r>
            <a:r>
              <a:rPr lang="en-US" altLang="zh-CN" sz="1200" dirty="0" smtClean="0"/>
              <a:t>hop</a:t>
            </a:r>
            <a:r>
              <a:rPr lang="zh-CN" altLang="en-US" sz="1200" dirty="0" smtClean="0"/>
              <a:t>数的</a:t>
            </a:r>
            <a:r>
              <a:rPr lang="en-US" altLang="zh-CN" sz="1200" dirty="0" smtClean="0"/>
              <a:t>6</a:t>
            </a:r>
            <a:r>
              <a:rPr lang="zh-CN" altLang="en-US" sz="1200" dirty="0" smtClean="0"/>
              <a:t>条路径，实现负载均衡</a:t>
            </a:r>
          </a:p>
        </p:txBody>
      </p:sp>
    </p:spTree>
    <p:extLst>
      <p:ext uri="{BB962C8B-B14F-4D97-AF65-F5344CB8AC3E}">
        <p14:creationId xmlns:p14="http://schemas.microsoft.com/office/powerpoint/2010/main" val="8705063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noFill/>
          <a:ln/>
        </p:spPr>
        <p:txBody>
          <a:bodyPr/>
          <a:lstStyle/>
          <a:p>
            <a:endParaRPr lang="zh-CN" altLang="en-US" dirty="0" smtClean="0"/>
          </a:p>
        </p:txBody>
      </p:sp>
    </p:spTree>
    <p:extLst>
      <p:ext uri="{BB962C8B-B14F-4D97-AF65-F5344CB8AC3E}">
        <p14:creationId xmlns:p14="http://schemas.microsoft.com/office/powerpoint/2010/main" val="6939358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noFill/>
          <a:ln/>
        </p:spPr>
        <p:txBody>
          <a:bodyPr/>
          <a:lstStyle/>
          <a:p>
            <a:endParaRPr lang="zh-CN" altLang="en-US" dirty="0" smtClean="0"/>
          </a:p>
        </p:txBody>
      </p:sp>
    </p:spTree>
    <p:extLst>
      <p:ext uri="{BB962C8B-B14F-4D97-AF65-F5344CB8AC3E}">
        <p14:creationId xmlns:p14="http://schemas.microsoft.com/office/powerpoint/2010/main" val="22396012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a:ln/>
        </p:spPr>
      </p:sp>
      <p:sp>
        <p:nvSpPr>
          <p:cNvPr id="29699" name="Rectangle 3"/>
          <p:cNvSpPr>
            <a:spLocks noGrp="1" noChangeArrowheads="1"/>
          </p:cNvSpPr>
          <p:nvPr>
            <p:ph type="body" idx="1"/>
          </p:nvPr>
        </p:nvSpPr>
        <p:spPr>
          <a:noFill/>
          <a:ln/>
        </p:spPr>
        <p:txBody>
          <a:bodyPr/>
          <a:lstStyle/>
          <a:p>
            <a:pPr eaLnBrk="1" hangingPunct="1"/>
            <a:r>
              <a:rPr lang="zh-CN" altLang="en-US" dirty="0" smtClean="0">
                <a:cs typeface="Times New Roman" pitchFamily="18" charset="0"/>
              </a:rPr>
              <a:t>关于</a:t>
            </a:r>
            <a:r>
              <a:rPr lang="en-US" altLang="zh-CN" dirty="0" smtClean="0">
                <a:cs typeface="Times New Roman" pitchFamily="18" charset="0"/>
              </a:rPr>
              <a:t>RIP</a:t>
            </a:r>
            <a:r>
              <a:rPr lang="zh-CN" altLang="en-US" dirty="0" smtClean="0">
                <a:cs typeface="Times New Roman" pitchFamily="18" charset="0"/>
              </a:rPr>
              <a:t>的配置步骤如下：</a:t>
            </a:r>
          </a:p>
          <a:p>
            <a:pPr eaLnBrk="1" hangingPunct="1"/>
            <a:r>
              <a:rPr lang="en-US" altLang="zh-CN" dirty="0" smtClean="0">
                <a:cs typeface="Times New Roman" pitchFamily="18" charset="0"/>
              </a:rPr>
              <a:t>1</a:t>
            </a:r>
            <a:r>
              <a:rPr lang="zh-CN" altLang="en-US" dirty="0" smtClean="0">
                <a:cs typeface="Times New Roman" pitchFamily="18" charset="0"/>
              </a:rPr>
              <a:t>、开启</a:t>
            </a:r>
            <a:r>
              <a:rPr lang="en-US" altLang="zh-CN" dirty="0" smtClean="0">
                <a:cs typeface="Times New Roman" pitchFamily="18" charset="0"/>
              </a:rPr>
              <a:t>RIP</a:t>
            </a:r>
            <a:r>
              <a:rPr lang="zh-CN" altLang="en-US" dirty="0" smtClean="0">
                <a:cs typeface="Times New Roman" pitchFamily="18" charset="0"/>
              </a:rPr>
              <a:t>路由功能（路由进程）：</a:t>
            </a:r>
          </a:p>
          <a:p>
            <a:pPr eaLnBrk="1" hangingPunct="1"/>
            <a:r>
              <a:rPr lang="en-US" altLang="zh-CN" sz="1400" b="1" dirty="0" smtClean="0">
                <a:solidFill>
                  <a:srgbClr val="000000"/>
                </a:solidFill>
                <a:cs typeface="Times New Roman" pitchFamily="18" charset="0"/>
              </a:rPr>
              <a:t>Router(</a:t>
            </a:r>
            <a:r>
              <a:rPr lang="en-US" altLang="zh-CN" sz="1400" b="1" dirty="0" err="1" smtClean="0">
                <a:solidFill>
                  <a:srgbClr val="000000"/>
                </a:solidFill>
                <a:cs typeface="Times New Roman" pitchFamily="18" charset="0"/>
              </a:rPr>
              <a:t>config</a:t>
            </a:r>
            <a:r>
              <a:rPr lang="en-US" altLang="zh-CN" sz="1400" b="1" dirty="0" smtClean="0">
                <a:solidFill>
                  <a:srgbClr val="000000"/>
                </a:solidFill>
                <a:cs typeface="Times New Roman" pitchFamily="18" charset="0"/>
              </a:rPr>
              <a:t>)#router rip</a:t>
            </a:r>
          </a:p>
          <a:p>
            <a:pPr eaLnBrk="1" hangingPunct="1"/>
            <a:r>
              <a:rPr lang="en-US" altLang="zh-CN" dirty="0" smtClean="0">
                <a:cs typeface="Times New Roman" pitchFamily="18" charset="0"/>
              </a:rPr>
              <a:t>2</a:t>
            </a:r>
            <a:r>
              <a:rPr lang="zh-CN" altLang="en-US" dirty="0" smtClean="0">
                <a:cs typeface="Times New Roman" pitchFamily="18" charset="0"/>
              </a:rPr>
              <a:t>、宣告相关网段：</a:t>
            </a:r>
          </a:p>
          <a:p>
            <a:pPr eaLnBrk="1" hangingPunct="1"/>
            <a:r>
              <a:rPr lang="en-US" altLang="zh-CN" sz="1200" b="1" dirty="0" smtClean="0">
                <a:solidFill>
                  <a:srgbClr val="000000"/>
                </a:solidFill>
                <a:cs typeface="Times New Roman" pitchFamily="18" charset="0"/>
              </a:rPr>
              <a:t>Router(</a:t>
            </a:r>
            <a:r>
              <a:rPr lang="en-US" altLang="zh-CN" sz="1200" b="1" dirty="0" err="1" smtClean="0">
                <a:solidFill>
                  <a:srgbClr val="000000"/>
                </a:solidFill>
                <a:cs typeface="Times New Roman" pitchFamily="18" charset="0"/>
              </a:rPr>
              <a:t>config</a:t>
            </a:r>
            <a:r>
              <a:rPr lang="en-US" altLang="zh-CN" sz="1200" b="1" dirty="0" smtClean="0">
                <a:solidFill>
                  <a:srgbClr val="000000"/>
                </a:solidFill>
                <a:cs typeface="Times New Roman" pitchFamily="18" charset="0"/>
              </a:rPr>
              <a:t>-router)# network</a:t>
            </a:r>
            <a:r>
              <a:rPr lang="en-US" altLang="zh-CN" sz="1200" b="1" i="1" dirty="0" smtClean="0">
                <a:solidFill>
                  <a:srgbClr val="000000"/>
                </a:solidFill>
                <a:cs typeface="Times New Roman" pitchFamily="18" charset="0"/>
              </a:rPr>
              <a:t>  </a:t>
            </a:r>
            <a:r>
              <a:rPr lang="en-US" altLang="zh-CN" sz="1200" i="1" dirty="0" err="1" smtClean="0">
                <a:solidFill>
                  <a:srgbClr val="000000"/>
                </a:solidFill>
                <a:cs typeface="Times New Roman" pitchFamily="18" charset="0"/>
              </a:rPr>
              <a:t>network</a:t>
            </a:r>
            <a:r>
              <a:rPr lang="en-US" altLang="zh-CN" sz="1200" i="1" dirty="0" smtClean="0">
                <a:solidFill>
                  <a:srgbClr val="000000"/>
                </a:solidFill>
                <a:cs typeface="Times New Roman" pitchFamily="18" charset="0"/>
              </a:rPr>
              <a:t>  </a:t>
            </a:r>
            <a:r>
              <a:rPr lang="en-US" altLang="zh-CN" sz="1200" i="1" dirty="0" err="1" smtClean="0">
                <a:solidFill>
                  <a:srgbClr val="000000"/>
                </a:solidFill>
                <a:cs typeface="Times New Roman" pitchFamily="18" charset="0"/>
              </a:rPr>
              <a:t>wildmask</a:t>
            </a:r>
            <a:endParaRPr lang="en-US" altLang="zh-CN" sz="1200" i="1" dirty="0" smtClean="0">
              <a:solidFill>
                <a:srgbClr val="000000"/>
              </a:solidFill>
              <a:cs typeface="Times New Roman" pitchFamily="18" charset="0"/>
            </a:endParaRPr>
          </a:p>
          <a:p>
            <a:pPr eaLnBrk="1" hangingPunct="1"/>
            <a:r>
              <a:rPr lang="zh-CN" altLang="en-US" sz="1200" i="1" dirty="0" smtClean="0">
                <a:solidFill>
                  <a:srgbClr val="000000"/>
                </a:solidFill>
                <a:cs typeface="Times New Roman" pitchFamily="18" charset="0"/>
              </a:rPr>
              <a:t>请注意：</a:t>
            </a:r>
            <a:r>
              <a:rPr lang="zh-CN" altLang="en-US" sz="1200" i="1" dirty="0" smtClean="0">
                <a:solidFill>
                  <a:srgbClr val="FF0000"/>
                </a:solidFill>
                <a:cs typeface="Times New Roman" pitchFamily="18" charset="0"/>
              </a:rPr>
              <a:t>掩码是用反码的形式</a:t>
            </a:r>
            <a:r>
              <a:rPr lang="zh-CN" altLang="en-US" sz="1200" i="1" dirty="0" smtClean="0">
                <a:solidFill>
                  <a:srgbClr val="000000"/>
                </a:solidFill>
                <a:cs typeface="Times New Roman" pitchFamily="18" charset="0"/>
              </a:rPr>
              <a:t>。</a:t>
            </a:r>
          </a:p>
          <a:p>
            <a:pPr eaLnBrk="1" hangingPunct="1"/>
            <a:endParaRPr lang="zh-CN" altLang="en-US" sz="1200" i="1" dirty="0" smtClean="0">
              <a:solidFill>
                <a:srgbClr val="000000"/>
              </a:solidFill>
              <a:cs typeface="Times New Roman" pitchFamily="18" charset="0"/>
            </a:endParaRPr>
          </a:p>
          <a:p>
            <a:pPr eaLnBrk="1" hangingPunct="1"/>
            <a:r>
              <a:rPr lang="zh-CN" altLang="en-US" sz="1200" i="1" dirty="0" smtClean="0">
                <a:solidFill>
                  <a:srgbClr val="000000"/>
                </a:solidFill>
                <a:cs typeface="Times New Roman" pitchFamily="18" charset="0"/>
              </a:rPr>
              <a:t>如果想删除相关语句，则在该语句的前面加上“</a:t>
            </a:r>
            <a:r>
              <a:rPr lang="en-US" altLang="zh-CN" sz="1200" i="1" dirty="0" smtClean="0">
                <a:solidFill>
                  <a:srgbClr val="000000"/>
                </a:solidFill>
                <a:cs typeface="Times New Roman" pitchFamily="18" charset="0"/>
              </a:rPr>
              <a:t>no”</a:t>
            </a:r>
            <a:r>
              <a:rPr lang="zh-CN" altLang="en-US" sz="1200" i="1" dirty="0" smtClean="0">
                <a:solidFill>
                  <a:srgbClr val="000000"/>
                </a:solidFill>
                <a:cs typeface="Times New Roman" pitchFamily="18" charset="0"/>
              </a:rPr>
              <a:t>即可：</a:t>
            </a:r>
          </a:p>
          <a:p>
            <a:pPr eaLnBrk="1" hangingPunct="1"/>
            <a:r>
              <a:rPr lang="en-US" altLang="zh-CN" sz="1200" b="1" dirty="0" smtClean="0">
                <a:solidFill>
                  <a:srgbClr val="000000"/>
                </a:solidFill>
                <a:cs typeface="Times New Roman" pitchFamily="18" charset="0"/>
              </a:rPr>
              <a:t>Router(</a:t>
            </a:r>
            <a:r>
              <a:rPr lang="en-US" altLang="zh-CN" sz="1200" b="1" dirty="0" err="1" smtClean="0">
                <a:solidFill>
                  <a:srgbClr val="000000"/>
                </a:solidFill>
                <a:cs typeface="Times New Roman" pitchFamily="18" charset="0"/>
              </a:rPr>
              <a:t>config</a:t>
            </a:r>
            <a:r>
              <a:rPr lang="en-US" altLang="zh-CN" sz="1200" b="1" dirty="0" smtClean="0">
                <a:solidFill>
                  <a:srgbClr val="000000"/>
                </a:solidFill>
                <a:cs typeface="Times New Roman" pitchFamily="18" charset="0"/>
              </a:rPr>
              <a:t>)#no router rip</a:t>
            </a:r>
          </a:p>
          <a:p>
            <a:pPr eaLnBrk="1" hangingPunct="1"/>
            <a:r>
              <a:rPr lang="en-US" altLang="zh-CN" sz="1200" b="1" dirty="0" smtClean="0">
                <a:solidFill>
                  <a:srgbClr val="000000"/>
                </a:solidFill>
                <a:cs typeface="Times New Roman" pitchFamily="18" charset="0"/>
              </a:rPr>
              <a:t>Router(</a:t>
            </a:r>
            <a:r>
              <a:rPr lang="en-US" altLang="zh-CN" sz="1200" b="1" dirty="0" err="1" smtClean="0">
                <a:solidFill>
                  <a:srgbClr val="000000"/>
                </a:solidFill>
                <a:cs typeface="Times New Roman" pitchFamily="18" charset="0"/>
              </a:rPr>
              <a:t>config</a:t>
            </a:r>
            <a:r>
              <a:rPr lang="en-US" altLang="zh-CN" sz="1200" b="1" dirty="0" smtClean="0">
                <a:solidFill>
                  <a:srgbClr val="000000"/>
                </a:solidFill>
                <a:cs typeface="Times New Roman" pitchFamily="18" charset="0"/>
              </a:rPr>
              <a:t>-router)#no  network</a:t>
            </a:r>
            <a:r>
              <a:rPr lang="en-US" altLang="zh-CN" sz="1200" b="1" i="1" dirty="0" smtClean="0">
                <a:solidFill>
                  <a:srgbClr val="000000"/>
                </a:solidFill>
                <a:cs typeface="Times New Roman" pitchFamily="18" charset="0"/>
              </a:rPr>
              <a:t>  </a:t>
            </a:r>
            <a:r>
              <a:rPr lang="en-US" altLang="zh-CN" sz="1200" i="1" dirty="0" err="1" smtClean="0">
                <a:solidFill>
                  <a:srgbClr val="000000"/>
                </a:solidFill>
                <a:cs typeface="Times New Roman" pitchFamily="18" charset="0"/>
              </a:rPr>
              <a:t>network</a:t>
            </a:r>
            <a:r>
              <a:rPr lang="en-US" altLang="zh-CN" sz="1200" i="1" dirty="0" smtClean="0">
                <a:solidFill>
                  <a:srgbClr val="000000"/>
                </a:solidFill>
                <a:cs typeface="Times New Roman" pitchFamily="18" charset="0"/>
              </a:rPr>
              <a:t>  </a:t>
            </a:r>
            <a:r>
              <a:rPr lang="en-US" altLang="zh-CN" sz="1200" i="1" dirty="0" err="1" smtClean="0">
                <a:solidFill>
                  <a:srgbClr val="000000"/>
                </a:solidFill>
                <a:cs typeface="Times New Roman" pitchFamily="18" charset="0"/>
              </a:rPr>
              <a:t>wildmask</a:t>
            </a:r>
            <a:endParaRPr lang="en-US" altLang="zh-CN" sz="1200" i="1" dirty="0" smtClean="0">
              <a:solidFill>
                <a:srgbClr val="000000"/>
              </a:solidFill>
              <a:cs typeface="Times New Roman" pitchFamily="18" charset="0"/>
            </a:endParaRPr>
          </a:p>
          <a:p>
            <a:pPr eaLnBrk="1" hangingPunct="1"/>
            <a:endParaRPr lang="en-US" altLang="zh-CN" sz="1200" i="1" dirty="0" smtClean="0">
              <a:solidFill>
                <a:srgbClr val="000000"/>
              </a:solidFill>
            </a:endParaRPr>
          </a:p>
          <a:p>
            <a:pPr eaLnBrk="1" hangingPunct="1"/>
            <a:endParaRPr lang="en-US" altLang="zh-CN" sz="2000" i="1" dirty="0" smtClean="0">
              <a:solidFill>
                <a:srgbClr val="000000"/>
              </a:solidFill>
            </a:endParaRPr>
          </a:p>
        </p:txBody>
      </p:sp>
    </p:spTree>
    <p:extLst>
      <p:ext uri="{BB962C8B-B14F-4D97-AF65-F5344CB8AC3E}">
        <p14:creationId xmlns:p14="http://schemas.microsoft.com/office/powerpoint/2010/main" val="16144163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a:ln/>
        </p:spPr>
      </p:sp>
      <p:sp>
        <p:nvSpPr>
          <p:cNvPr id="29699" name="Rectangle 3"/>
          <p:cNvSpPr>
            <a:spLocks noGrp="1" noChangeArrowheads="1"/>
          </p:cNvSpPr>
          <p:nvPr>
            <p:ph type="body" idx="1"/>
          </p:nvPr>
        </p:nvSpPr>
        <p:spPr>
          <a:noFill/>
          <a:ln/>
        </p:spPr>
        <p:txBody>
          <a:bodyPr/>
          <a:lstStyle/>
          <a:p>
            <a:pPr eaLnBrk="1" hangingPunct="1"/>
            <a:r>
              <a:rPr lang="zh-CN" altLang="en-US" dirty="0" smtClean="0"/>
              <a:t>经过以上的配置，</a:t>
            </a:r>
            <a:r>
              <a:rPr lang="en-US" altLang="zh-CN" dirty="0" smtClean="0"/>
              <a:t>RIP</a:t>
            </a:r>
            <a:r>
              <a:rPr lang="zh-CN" altLang="en-US" dirty="0" smtClean="0"/>
              <a:t>就可以正常工作了，</a:t>
            </a:r>
            <a:r>
              <a:rPr lang="en-US" altLang="zh-CN" dirty="0" smtClean="0"/>
              <a:t>router A </a:t>
            </a:r>
            <a:r>
              <a:rPr lang="zh-CN" altLang="en-US" dirty="0" smtClean="0"/>
              <a:t>和 </a:t>
            </a:r>
            <a:r>
              <a:rPr lang="en-US" altLang="zh-CN" dirty="0" smtClean="0"/>
              <a:t>router B </a:t>
            </a:r>
            <a:r>
              <a:rPr lang="zh-CN" altLang="en-US" dirty="0" smtClean="0"/>
              <a:t>就可以自动的交换路由信息了，自动生成路由表了。</a:t>
            </a:r>
          </a:p>
        </p:txBody>
      </p:sp>
    </p:spTree>
    <p:extLst>
      <p:ext uri="{BB962C8B-B14F-4D97-AF65-F5344CB8AC3E}">
        <p14:creationId xmlns:p14="http://schemas.microsoft.com/office/powerpoint/2010/main" val="34270030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a:ln/>
        </p:spPr>
      </p:sp>
      <p:sp>
        <p:nvSpPr>
          <p:cNvPr id="29699" name="Rectangle 3"/>
          <p:cNvSpPr>
            <a:spLocks noGrp="1" noChangeArrowheads="1"/>
          </p:cNvSpPr>
          <p:nvPr>
            <p:ph type="body" idx="1"/>
          </p:nvPr>
        </p:nvSpPr>
        <p:spPr>
          <a:noFill/>
          <a:ln/>
        </p:spPr>
        <p:txBody>
          <a:bodyPr/>
          <a:lstStyle/>
          <a:p>
            <a:pPr eaLnBrk="1" hangingPunct="1"/>
            <a:r>
              <a:rPr lang="zh-CN" altLang="en-US" b="1" dirty="0" smtClean="0"/>
              <a:t>用 </a:t>
            </a:r>
            <a:r>
              <a:rPr lang="en-US" altLang="zh-CN" b="1" dirty="0" smtClean="0"/>
              <a:t>show </a:t>
            </a:r>
            <a:r>
              <a:rPr lang="en-US" altLang="zh-CN" b="1" dirty="0" err="1" smtClean="0"/>
              <a:t>ip</a:t>
            </a:r>
            <a:r>
              <a:rPr lang="en-US" altLang="zh-CN" b="1" dirty="0" smtClean="0"/>
              <a:t> route </a:t>
            </a:r>
            <a:r>
              <a:rPr lang="zh-CN" altLang="en-US" b="1" dirty="0" smtClean="0"/>
              <a:t>来显示路由表，如图所示。</a:t>
            </a:r>
          </a:p>
          <a:p>
            <a:pPr eaLnBrk="1" hangingPunct="1"/>
            <a:endParaRPr lang="zh-CN" altLang="en-US" sz="1600" b="1" dirty="0" smtClean="0">
              <a:latin typeface="Courier" pitchFamily="49" charset="0"/>
            </a:endParaRPr>
          </a:p>
          <a:p>
            <a:pPr eaLnBrk="1" hangingPunct="1"/>
            <a:r>
              <a:rPr lang="zh-CN" altLang="en-US" sz="1600" b="1" dirty="0" smtClean="0">
                <a:latin typeface="Courier" pitchFamily="49" charset="0"/>
              </a:rPr>
              <a:t>以上输出的含义是： </a:t>
            </a:r>
          </a:p>
          <a:p>
            <a:pPr eaLnBrk="1" hangingPunct="1"/>
            <a:r>
              <a:rPr lang="en-US" altLang="zh-CN" sz="1400" dirty="0" smtClean="0">
                <a:latin typeface="Arial Unicode MS" pitchFamily="34" charset="-122"/>
                <a:ea typeface="Arial Unicode MS" pitchFamily="34" charset="-122"/>
                <a:cs typeface="Arial Unicode MS" pitchFamily="34" charset="-122"/>
              </a:rPr>
              <a:t>192.168.2.0     255.255.255.0   	40.1.1.6       fei_3/1       rip     120  2</a:t>
            </a:r>
          </a:p>
          <a:p>
            <a:pPr eaLnBrk="1" hangingPunct="1"/>
            <a:endParaRPr lang="en-US" altLang="zh-CN" sz="1600" b="1" dirty="0" smtClean="0">
              <a:latin typeface="Courier" pitchFamily="49" charset="0"/>
            </a:endParaRPr>
          </a:p>
          <a:p>
            <a:pPr eaLnBrk="1" hangingPunct="1"/>
            <a:r>
              <a:rPr lang="zh-CN" altLang="en-US" dirty="0" smtClean="0"/>
              <a:t>路由器</a:t>
            </a:r>
            <a:r>
              <a:rPr lang="en-US" altLang="zh-CN" dirty="0" smtClean="0"/>
              <a:t>A</a:t>
            </a:r>
            <a:r>
              <a:rPr lang="zh-CN" altLang="en-US" dirty="0" smtClean="0"/>
              <a:t>从路由器</a:t>
            </a:r>
            <a:r>
              <a:rPr lang="en-US" altLang="zh-CN" dirty="0" smtClean="0"/>
              <a:t>B</a:t>
            </a:r>
            <a:r>
              <a:rPr lang="zh-CN" altLang="en-US" dirty="0" smtClean="0"/>
              <a:t>那里学来了 </a:t>
            </a:r>
            <a:r>
              <a:rPr lang="en-US" altLang="zh-CN" dirty="0" smtClean="0"/>
              <a:t>192.168.2.0/24</a:t>
            </a:r>
            <a:r>
              <a:rPr lang="zh-CN" altLang="en-US" dirty="0" smtClean="0"/>
              <a:t>的动态路由，下一跳是</a:t>
            </a:r>
            <a:r>
              <a:rPr lang="en-US" altLang="zh-CN" dirty="0" smtClean="0"/>
              <a:t>40.1.1.6</a:t>
            </a:r>
            <a:r>
              <a:rPr lang="zh-CN" altLang="en-US" dirty="0" smtClean="0"/>
              <a:t>，去这个（ </a:t>
            </a:r>
            <a:r>
              <a:rPr lang="en-US" altLang="zh-CN" dirty="0" smtClean="0"/>
              <a:t>40.1.1.6 </a:t>
            </a:r>
            <a:r>
              <a:rPr lang="zh-CN" altLang="en-US" dirty="0" smtClean="0"/>
              <a:t>）下一跳的本地出口是</a:t>
            </a:r>
            <a:r>
              <a:rPr lang="en-US" altLang="zh-CN" dirty="0" smtClean="0"/>
              <a:t>fei_3/1</a:t>
            </a:r>
            <a:r>
              <a:rPr lang="zh-CN" altLang="en-US" dirty="0" smtClean="0"/>
              <a:t>，生成该条路由条目的协议是</a:t>
            </a:r>
            <a:r>
              <a:rPr lang="en-US" altLang="zh-CN" dirty="0" smtClean="0"/>
              <a:t>RIP</a:t>
            </a:r>
            <a:r>
              <a:rPr lang="zh-CN" altLang="en-US" dirty="0" smtClean="0"/>
              <a:t>，</a:t>
            </a:r>
            <a:r>
              <a:rPr lang="en-US" altLang="zh-CN" dirty="0" smtClean="0"/>
              <a:t>RIP</a:t>
            </a:r>
            <a:r>
              <a:rPr lang="zh-CN" altLang="en-US" dirty="0" smtClean="0"/>
              <a:t>的缺省路由优先级是</a:t>
            </a:r>
            <a:r>
              <a:rPr lang="en-US" altLang="zh-CN" dirty="0" smtClean="0"/>
              <a:t>120</a:t>
            </a:r>
            <a:r>
              <a:rPr lang="zh-CN" altLang="en-US" dirty="0" smtClean="0"/>
              <a:t>，该路由条目的跳数是</a:t>
            </a:r>
            <a:r>
              <a:rPr lang="en-US" altLang="zh-CN" dirty="0" smtClean="0"/>
              <a:t>2</a:t>
            </a:r>
            <a:r>
              <a:rPr lang="zh-CN" altLang="en-US" dirty="0" smtClean="0"/>
              <a:t>跳。</a:t>
            </a:r>
          </a:p>
        </p:txBody>
      </p:sp>
    </p:spTree>
    <p:extLst>
      <p:ext uri="{BB962C8B-B14F-4D97-AF65-F5344CB8AC3E}">
        <p14:creationId xmlns:p14="http://schemas.microsoft.com/office/powerpoint/2010/main" val="129272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eaLnBrk="1" hangingPunct="1"/>
            <a:fld id="{8D9D54EB-9C71-4DFE-A62F-6B587CB0819E}" type="slidenum">
              <a:rPr kumimoji="1" lang="en-US" altLang="zh-CN" sz="1200">
                <a:latin typeface="Times New Roman" pitchFamily="18" charset="0"/>
              </a:rPr>
              <a:pPr algn="r" eaLnBrk="1" hangingPunct="1"/>
              <a:t>16</a:t>
            </a:fld>
            <a:endParaRPr kumimoji="1" lang="en-US" altLang="zh-CN" sz="1200">
              <a:latin typeface="Times New Roman"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p:spPr>
        <p:txBody>
          <a:bodyPr/>
          <a:lstStyle/>
          <a:p>
            <a:pPr eaLnBrk="1" hangingPunct="1"/>
            <a:endParaRPr lang="en-US" altLang="zh-CN" smtClean="0"/>
          </a:p>
        </p:txBody>
      </p:sp>
    </p:spTree>
    <p:extLst>
      <p:ext uri="{BB962C8B-B14F-4D97-AF65-F5344CB8AC3E}">
        <p14:creationId xmlns:p14="http://schemas.microsoft.com/office/powerpoint/2010/main" val="35653624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noFill/>
          <a:ln/>
        </p:spPr>
        <p:txBody>
          <a:bodyPr/>
          <a:lstStyle/>
          <a:p>
            <a:endParaRPr lang="zh-CN" altLang="en-US" dirty="0" smtClean="0"/>
          </a:p>
        </p:txBody>
      </p:sp>
    </p:spTree>
    <p:extLst>
      <p:ext uri="{BB962C8B-B14F-4D97-AF65-F5344CB8AC3E}">
        <p14:creationId xmlns:p14="http://schemas.microsoft.com/office/powerpoint/2010/main" val="8801522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noFill/>
          <a:ln/>
        </p:spPr>
        <p:txBody>
          <a:bodyPr/>
          <a:lstStyle/>
          <a:p>
            <a:endParaRPr lang="zh-CN" altLang="en-US" dirty="0" smtClean="0"/>
          </a:p>
        </p:txBody>
      </p:sp>
    </p:spTree>
    <p:extLst>
      <p:ext uri="{BB962C8B-B14F-4D97-AF65-F5344CB8AC3E}">
        <p14:creationId xmlns:p14="http://schemas.microsoft.com/office/powerpoint/2010/main" val="26620261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noFill/>
          <a:ln/>
        </p:spPr>
        <p:txBody>
          <a:bodyPr/>
          <a:lstStyle/>
          <a:p>
            <a:endParaRPr lang="zh-CN" altLang="en-US" dirty="0" smtClean="0"/>
          </a:p>
        </p:txBody>
      </p:sp>
    </p:spTree>
    <p:extLst>
      <p:ext uri="{BB962C8B-B14F-4D97-AF65-F5344CB8AC3E}">
        <p14:creationId xmlns:p14="http://schemas.microsoft.com/office/powerpoint/2010/main" val="34457481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noFill/>
          <a:ln/>
        </p:spPr>
        <p:txBody>
          <a:bodyPr/>
          <a:lstStyle/>
          <a:p>
            <a:endParaRPr lang="zh-CN" altLang="en-US" dirty="0" smtClean="0"/>
          </a:p>
        </p:txBody>
      </p:sp>
    </p:spTree>
    <p:extLst>
      <p:ext uri="{BB962C8B-B14F-4D97-AF65-F5344CB8AC3E}">
        <p14:creationId xmlns:p14="http://schemas.microsoft.com/office/powerpoint/2010/main" val="16981166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noFill/>
          <a:ln/>
        </p:spPr>
        <p:txBody>
          <a:bodyPr/>
          <a:lstStyle/>
          <a:p>
            <a:endParaRPr lang="zh-CN" altLang="en-US" dirty="0" smtClean="0"/>
          </a:p>
        </p:txBody>
      </p:sp>
    </p:spTree>
    <p:extLst>
      <p:ext uri="{BB962C8B-B14F-4D97-AF65-F5344CB8AC3E}">
        <p14:creationId xmlns:p14="http://schemas.microsoft.com/office/powerpoint/2010/main" val="20740751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noFill/>
          <a:ln/>
        </p:spPr>
        <p:txBody>
          <a:bodyPr/>
          <a:lstStyle/>
          <a:p>
            <a:endParaRPr lang="zh-CN" altLang="en-US" dirty="0" smtClean="0"/>
          </a:p>
        </p:txBody>
      </p:sp>
    </p:spTree>
    <p:extLst>
      <p:ext uri="{BB962C8B-B14F-4D97-AF65-F5344CB8AC3E}">
        <p14:creationId xmlns:p14="http://schemas.microsoft.com/office/powerpoint/2010/main" val="18107754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noFill/>
          <a:ln/>
        </p:spPr>
        <p:txBody>
          <a:bodyPr/>
          <a:lstStyle/>
          <a:p>
            <a:endParaRPr lang="zh-CN" altLang="en-US" dirty="0" smtClean="0"/>
          </a:p>
        </p:txBody>
      </p:sp>
    </p:spTree>
    <p:extLst>
      <p:ext uri="{BB962C8B-B14F-4D97-AF65-F5344CB8AC3E}">
        <p14:creationId xmlns:p14="http://schemas.microsoft.com/office/powerpoint/2010/main" val="26534087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eaLnBrk="1" hangingPunct="1"/>
            <a:fld id="{8D9D54EB-9C71-4DFE-A62F-6B587CB0819E}" type="slidenum">
              <a:rPr kumimoji="1" lang="en-US" altLang="zh-CN" sz="1200">
                <a:latin typeface="Times New Roman" pitchFamily="18" charset="0"/>
              </a:rPr>
              <a:pPr algn="r" eaLnBrk="1" hangingPunct="1"/>
              <a:t>24</a:t>
            </a:fld>
            <a:endParaRPr kumimoji="1" lang="en-US" altLang="zh-CN" sz="1200">
              <a:latin typeface="Times New Roman"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p:spPr>
        <p:txBody>
          <a:bodyPr/>
          <a:lstStyle/>
          <a:p>
            <a:pPr eaLnBrk="1" hangingPunct="1"/>
            <a:endParaRPr lang="en-US" altLang="zh-CN" smtClean="0"/>
          </a:p>
        </p:txBody>
      </p:sp>
    </p:spTree>
    <p:extLst>
      <p:ext uri="{BB962C8B-B14F-4D97-AF65-F5344CB8AC3E}">
        <p14:creationId xmlns:p14="http://schemas.microsoft.com/office/powerpoint/2010/main" val="15130824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noFill/>
          <a:ln/>
        </p:spPr>
        <p:txBody>
          <a:bodyPr/>
          <a:lstStyle/>
          <a:p>
            <a:endParaRPr lang="zh-CN" altLang="en-US" dirty="0" smtClean="0"/>
          </a:p>
        </p:txBody>
      </p:sp>
    </p:spTree>
    <p:extLst>
      <p:ext uri="{BB962C8B-B14F-4D97-AF65-F5344CB8AC3E}">
        <p14:creationId xmlns:p14="http://schemas.microsoft.com/office/powerpoint/2010/main" val="10508187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noFill/>
          <a:ln/>
        </p:spPr>
        <p:txBody>
          <a:bodyPr/>
          <a:lstStyle/>
          <a:p>
            <a:endParaRPr lang="zh-CN" altLang="en-US" dirty="0" smtClean="0"/>
          </a:p>
        </p:txBody>
      </p:sp>
    </p:spTree>
    <p:extLst>
      <p:ext uri="{BB962C8B-B14F-4D97-AF65-F5344CB8AC3E}">
        <p14:creationId xmlns:p14="http://schemas.microsoft.com/office/powerpoint/2010/main" val="1049730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z="2400" smtClean="0">
                <a:latin typeface="Times New Roman" panose="02020603050405020304"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smtClean="0">
                <a:latin typeface="Times New Roman" panose="02020603050405020304"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smtClean="0">
                  <a:latin typeface="Times New Roman" panose="02020603050405020304"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smtClean="0">
                  <a:latin typeface="Times New Roman" panose="02020603050405020304"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smtClean="0">
                  <a:latin typeface="Times New Roman" panose="02020603050405020304"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smtClean="0">
                  <a:latin typeface="Times New Roman" panose="02020603050405020304"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smtClean="0">
                  <a:latin typeface="Times New Roman" panose="02020603050405020304"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smtClean="0">
                  <a:latin typeface="Times New Roman" panose="02020603050405020304"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smtClean="0">
                  <a:latin typeface="Times New Roman" panose="02020603050405020304"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smtClean="0">
                  <a:latin typeface="Times New Roman" panose="02020603050405020304"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smtClean="0">
                  <a:latin typeface="Times New Roman" panose="02020603050405020304"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smtClean="0">
                  <a:latin typeface="Times New Roman" panose="02020603050405020304" pitchFamily="18" charset="0"/>
                </a:endParaRPr>
              </a:p>
            </p:txBody>
          </p:sp>
        </p:grpSp>
      </p:grpSp>
      <p:sp>
        <p:nvSpPr>
          <p:cNvPr id="18" name="Text Box 21"/>
          <p:cNvSpPr txBox="1">
            <a:spLocks noChangeArrowheads="1"/>
          </p:cNvSpPr>
          <p:nvPr userDrawn="1"/>
        </p:nvSpPr>
        <p:spPr bwMode="auto">
          <a:xfrm>
            <a:off x="7054850" y="6491288"/>
            <a:ext cx="2089150" cy="366712"/>
          </a:xfrm>
          <a:prstGeom prst="rect">
            <a:avLst/>
          </a:prstGeom>
          <a:noFill/>
          <a:ln>
            <a:noFill/>
          </a:ln>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defRPr/>
            </a:pPr>
            <a:r>
              <a:rPr lang="zh-CN" altLang="en-US" b="1" i="1" smtClean="0">
                <a:solidFill>
                  <a:schemeClr val="bg2"/>
                </a:solidFill>
                <a:ea typeface="黑体" panose="02010609060101010101" pitchFamily="49" charset="-122"/>
              </a:rPr>
              <a:t>计算机网络实验室</a:t>
            </a:r>
          </a:p>
        </p:txBody>
      </p:sp>
      <p:sp>
        <p:nvSpPr>
          <p:cNvPr id="104467" name="Rectangle 19"/>
          <p:cNvSpPr>
            <a:spLocks noGrp="1" noChangeArrowheads="1"/>
          </p:cNvSpPr>
          <p:nvPr>
            <p:ph type="ctrTitle"/>
          </p:nvPr>
        </p:nvSpPr>
        <p:spPr>
          <a:xfrm>
            <a:off x="2971800" y="1828800"/>
            <a:ext cx="6019800" cy="2209800"/>
          </a:xfrm>
        </p:spPr>
        <p:txBody>
          <a:bodyPr/>
          <a:lstStyle>
            <a:lvl1pPr>
              <a:defRPr sz="5000">
                <a:solidFill>
                  <a:srgbClr val="FFFFFF"/>
                </a:solidFill>
                <a:ea typeface="楷体_GB2312" pitchFamily="49" charset="-122"/>
              </a:defRPr>
            </a:lvl1pPr>
          </a:lstStyle>
          <a:p>
            <a:r>
              <a:rPr lang="zh-CN" altLang="en-US"/>
              <a:t>单击此处编辑母版标题样式</a:t>
            </a:r>
          </a:p>
        </p:txBody>
      </p:sp>
      <p:sp>
        <p:nvSpPr>
          <p:cNvPr id="104468"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r>
              <a:rPr lang="zh-CN" altLang="en-US"/>
              <a:t>单击此处编辑母版副标题样式</a:t>
            </a:r>
          </a:p>
        </p:txBody>
      </p:sp>
      <p:sp>
        <p:nvSpPr>
          <p:cNvPr id="19" name="Rectangle 16"/>
          <p:cNvSpPr>
            <a:spLocks noGrp="1" noChangeArrowheads="1"/>
          </p:cNvSpPr>
          <p:nvPr>
            <p:ph type="dt" sz="half" idx="10"/>
          </p:nvPr>
        </p:nvSpPr>
        <p:spPr bwMode="auto">
          <a:xfrm>
            <a:off x="457200" y="6248400"/>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defRPr sz="1200">
                <a:latin typeface="Arial" charset="0"/>
                <a:ea typeface="宋体" panose="02010600030101010101" pitchFamily="2" charset="-122"/>
              </a:defRPr>
            </a:lvl1pPr>
          </a:lstStyle>
          <a:p>
            <a:pPr>
              <a:defRPr/>
            </a:pPr>
            <a:endParaRPr lang="en-US" altLang="zh-CN"/>
          </a:p>
        </p:txBody>
      </p:sp>
      <p:sp>
        <p:nvSpPr>
          <p:cNvPr id="20" name="Rectangle 17"/>
          <p:cNvSpPr>
            <a:spLocks noGrp="1" noChangeArrowheads="1"/>
          </p:cNvSpPr>
          <p:nvPr>
            <p:ph type="ftr" sz="quarter" idx="11"/>
          </p:nvPr>
        </p:nvSpPr>
        <p:spPr bwMode="auto">
          <a:xfrm>
            <a:off x="31242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eaLnBrk="1" hangingPunct="1">
              <a:defRPr sz="1200">
                <a:latin typeface="Arial" charset="0"/>
                <a:ea typeface="宋体" panose="02010600030101010101" pitchFamily="2" charset="-122"/>
              </a:defRPr>
            </a:lvl1pPr>
          </a:lstStyle>
          <a:p>
            <a:pPr>
              <a:defRPr/>
            </a:pPr>
            <a:endParaRPr lang="en-US" altLang="zh-CN"/>
          </a:p>
        </p:txBody>
      </p:sp>
      <p:sp>
        <p:nvSpPr>
          <p:cNvPr id="21" name="Rectangle 18"/>
          <p:cNvSpPr>
            <a:spLocks noGrp="1" noChangeArrowheads="1"/>
          </p:cNvSpPr>
          <p:nvPr>
            <p:ph type="sldNum" sz="quarter" idx="12"/>
          </p:nvPr>
        </p:nvSpPr>
        <p:spPr bwMode="auto">
          <a:xfrm>
            <a:off x="6553200" y="6248400"/>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eaLnBrk="1" hangingPunct="1">
              <a:defRPr sz="1200">
                <a:latin typeface="Arial Black" pitchFamily="34" charset="0"/>
                <a:ea typeface="宋体" charset="-122"/>
              </a:defRPr>
            </a:lvl1pPr>
          </a:lstStyle>
          <a:p>
            <a:pPr>
              <a:defRPr/>
            </a:pPr>
            <a:fld id="{9DAFA969-6BF6-47E8-BAB0-47E5ADB87BE3}"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23850" y="1268413"/>
            <a:ext cx="4171950" cy="4608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68413"/>
            <a:ext cx="4171950" cy="4608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78613" y="0"/>
            <a:ext cx="2141537" cy="58769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250825" y="0"/>
            <a:ext cx="6275388" cy="58769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50825" y="0"/>
            <a:ext cx="8477250" cy="8382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23850" y="1268413"/>
            <a:ext cx="4171950" cy="460851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68413"/>
            <a:ext cx="4171950" cy="460851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1"/>
          <p:cNvSpPr>
            <a:spLocks noGrp="1" noChangeArrowheads="1"/>
          </p:cNvSpPr>
          <p:nvPr>
            <p:ph type="body" idx="1"/>
          </p:nvPr>
        </p:nvSpPr>
        <p:spPr bwMode="auto">
          <a:xfrm>
            <a:off x="323850" y="1268413"/>
            <a:ext cx="8496300" cy="46085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zh-CN" smtClean="0"/>
              <a:t>Content Here</a:t>
            </a:r>
          </a:p>
          <a:p>
            <a:pPr lvl="1"/>
            <a:r>
              <a:rPr lang="zh-CN" altLang="en-US" smtClean="0"/>
              <a:t>。。。</a:t>
            </a:r>
          </a:p>
          <a:p>
            <a:pPr lvl="1"/>
            <a:endParaRPr lang="zh-CN" altLang="en-US" smtClean="0"/>
          </a:p>
          <a:p>
            <a:pPr lvl="2"/>
            <a:endParaRPr lang="zh-CN" altLang="en-US" smtClean="0"/>
          </a:p>
          <a:p>
            <a:pPr lvl="1"/>
            <a:endParaRPr lang="zh-CN" altLang="en-US" smtClean="0"/>
          </a:p>
          <a:p>
            <a:pPr lvl="2"/>
            <a:endParaRPr lang="en-US" altLang="zh-CN" smtClean="0"/>
          </a:p>
        </p:txBody>
      </p:sp>
      <p:sp>
        <p:nvSpPr>
          <p:cNvPr id="1027" name="AutoShape 38"/>
          <p:cNvSpPr>
            <a:spLocks noChangeArrowheads="1"/>
          </p:cNvSpPr>
          <p:nvPr userDrawn="1"/>
        </p:nvSpPr>
        <p:spPr bwMode="auto">
          <a:xfrm>
            <a:off x="0" y="0"/>
            <a:ext cx="9144000" cy="765175"/>
          </a:xfrm>
          <a:prstGeom prst="flowChartAlternateProcess">
            <a:avLst/>
          </a:prstGeom>
          <a:solidFill>
            <a:schemeClr val="folHlink"/>
          </a:solidFill>
          <a:ln>
            <a:noFill/>
          </a:ln>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1028" name="Rectangle 36"/>
          <p:cNvSpPr>
            <a:spLocks noChangeArrowheads="1"/>
          </p:cNvSpPr>
          <p:nvPr userDrawn="1"/>
        </p:nvSpPr>
        <p:spPr bwMode="auto">
          <a:xfrm rot="10800000">
            <a:off x="6732588" y="6597650"/>
            <a:ext cx="2411412" cy="260350"/>
          </a:xfrm>
          <a:prstGeom prst="rect">
            <a:avLst/>
          </a:prstGeom>
          <a:solidFill>
            <a:schemeClr val="folHlink"/>
          </a:solidFill>
          <a:ln>
            <a:noFill/>
          </a:ln>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1029" name="Rectangle 20"/>
          <p:cNvSpPr>
            <a:spLocks noGrp="1" noChangeArrowheads="1"/>
          </p:cNvSpPr>
          <p:nvPr>
            <p:ph type="title"/>
          </p:nvPr>
        </p:nvSpPr>
        <p:spPr bwMode="auto">
          <a:xfrm>
            <a:off x="250825" y="0"/>
            <a:ext cx="847725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zh-CN" smtClean="0"/>
              <a:t>Title Here</a:t>
            </a:r>
          </a:p>
        </p:txBody>
      </p:sp>
      <p:sp>
        <p:nvSpPr>
          <p:cNvPr id="1030" name="Rectangle 23"/>
          <p:cNvSpPr>
            <a:spLocks noChangeArrowheads="1"/>
          </p:cNvSpPr>
          <p:nvPr userDrawn="1"/>
        </p:nvSpPr>
        <p:spPr bwMode="auto">
          <a:xfrm>
            <a:off x="1639888" y="58738"/>
            <a:ext cx="57150" cy="396875"/>
          </a:xfrm>
          <a:prstGeom prst="rect">
            <a:avLst/>
          </a:prstGeom>
          <a:noFill/>
          <a:ln>
            <a:noFill/>
          </a:ln>
          <a:effectLst>
            <a:outerShdw dist="17961" dir="2700000" algn="ctr" rotWithShape="0">
              <a:schemeClr val="tx1"/>
            </a:outerShdw>
          </a:effectLst>
          <a:extLst/>
        </p:spPr>
        <p:txBody>
          <a:bodyPr wrap="none" lIns="28575" tIns="15875" rIns="28575" bIns="15875">
            <a:spAutoFit/>
          </a:bodyPr>
          <a:lstStyle>
            <a:lvl1pPr defTabSz="84138">
              <a:defRPr>
                <a:solidFill>
                  <a:schemeClr val="tx1"/>
                </a:solidFill>
                <a:latin typeface="Arial" panose="020B0604020202020204" pitchFamily="34" charset="0"/>
                <a:ea typeface="宋体" panose="02010600030101010101" pitchFamily="2" charset="-122"/>
              </a:defRPr>
            </a:lvl1pPr>
            <a:lvl2pPr marL="742950" indent="-285750" defTabSz="84138">
              <a:defRPr>
                <a:solidFill>
                  <a:schemeClr val="tx1"/>
                </a:solidFill>
                <a:latin typeface="Arial" panose="020B0604020202020204" pitchFamily="34" charset="0"/>
                <a:ea typeface="宋体" panose="02010600030101010101" pitchFamily="2" charset="-122"/>
              </a:defRPr>
            </a:lvl2pPr>
            <a:lvl3pPr marL="1143000" indent="-228600" defTabSz="84138">
              <a:defRPr>
                <a:solidFill>
                  <a:schemeClr val="tx1"/>
                </a:solidFill>
                <a:latin typeface="Arial" panose="020B0604020202020204" pitchFamily="34" charset="0"/>
                <a:ea typeface="宋体" panose="02010600030101010101" pitchFamily="2" charset="-122"/>
              </a:defRPr>
            </a:lvl3pPr>
            <a:lvl4pPr marL="1600200" indent="-228600" defTabSz="84138">
              <a:defRPr>
                <a:solidFill>
                  <a:schemeClr val="tx1"/>
                </a:solidFill>
                <a:latin typeface="Arial" panose="020B0604020202020204" pitchFamily="34" charset="0"/>
                <a:ea typeface="宋体" panose="02010600030101010101" pitchFamily="2" charset="-122"/>
              </a:defRPr>
            </a:lvl4pPr>
            <a:lvl5pPr marL="2057400" indent="-228600" defTabSz="84138">
              <a:defRPr>
                <a:solidFill>
                  <a:schemeClr val="tx1"/>
                </a:solidFill>
                <a:latin typeface="Arial" panose="020B0604020202020204" pitchFamily="34" charset="0"/>
                <a:ea typeface="宋体" panose="02010600030101010101" pitchFamily="2" charset="-122"/>
              </a:defRPr>
            </a:lvl5pPr>
            <a:lvl6pPr marL="2514600" indent="-228600" defTabSz="841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841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841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841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endParaRPr lang="zh-CN" altLang="zh-CN" sz="2400" b="1" smtClean="0"/>
          </a:p>
        </p:txBody>
      </p:sp>
      <p:sp>
        <p:nvSpPr>
          <p:cNvPr id="1031" name="Rectangle 26"/>
          <p:cNvSpPr>
            <a:spLocks noChangeArrowheads="1"/>
          </p:cNvSpPr>
          <p:nvPr userDrawn="1"/>
        </p:nvSpPr>
        <p:spPr bwMode="auto">
          <a:xfrm rot="10800000">
            <a:off x="0" y="6597650"/>
            <a:ext cx="6732588" cy="260350"/>
          </a:xfrm>
          <a:prstGeom prst="rect">
            <a:avLst/>
          </a:prstGeom>
          <a:solidFill>
            <a:srgbClr val="666699"/>
          </a:solidFill>
          <a:ln>
            <a:noFill/>
          </a:ln>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pic>
        <p:nvPicPr>
          <p:cNvPr id="1032" name="Picture 33"/>
          <p:cNvPicPr>
            <a:picLocks noChangeAspect="1" noChangeArrowheads="1"/>
          </p:cNvPicPr>
          <p:nvPr userDrawn="1"/>
        </p:nvPicPr>
        <p:blipFill>
          <a:blip r:embed="rId14"/>
          <a:srcRect/>
          <a:stretch>
            <a:fillRect/>
          </a:stretch>
        </p:blipFill>
        <p:spPr bwMode="auto">
          <a:xfrm>
            <a:off x="8459788" y="476250"/>
            <a:ext cx="531812" cy="549275"/>
          </a:xfrm>
          <a:prstGeom prst="rect">
            <a:avLst/>
          </a:prstGeom>
          <a:noFill/>
          <a:ln w="9525">
            <a:noFill/>
            <a:miter lim="800000"/>
            <a:headEnd/>
            <a:tailEnd/>
          </a:ln>
        </p:spPr>
      </p:pic>
      <p:sp>
        <p:nvSpPr>
          <p:cNvPr id="1033" name="WordArt 44"/>
          <p:cNvSpPr>
            <a:spLocks noChangeArrowheads="1" noChangeShapeType="1" noTextEdit="1"/>
          </p:cNvSpPr>
          <p:nvPr userDrawn="1"/>
        </p:nvSpPr>
        <p:spPr bwMode="auto">
          <a:xfrm>
            <a:off x="6948488" y="6237288"/>
            <a:ext cx="1612900" cy="300037"/>
          </a:xfrm>
          <a:prstGeom prst="rect">
            <a:avLst/>
          </a:prstGeom>
        </p:spPr>
        <p:txBody>
          <a:bodyPr wrap="none" fromWordArt="1">
            <a:prstTxWarp prst="textPlain">
              <a:avLst>
                <a:gd name="adj" fmla="val 50000"/>
              </a:avLst>
            </a:prstTxWarp>
          </a:bodyPr>
          <a:lstStyle/>
          <a:p>
            <a:pPr algn="ctr"/>
            <a:r>
              <a:rPr lang="zh-CN" altLang="en-US" sz="3600" kern="10">
                <a:ln w="19050">
                  <a:solidFill>
                    <a:srgbClr val="99CCFF"/>
                  </a:solidFill>
                  <a:round/>
                  <a:headEnd/>
                  <a:tailEnd/>
                </a:ln>
                <a:solidFill>
                  <a:srgbClr val="0066CC"/>
                </a:solidFill>
                <a:effectLst>
                  <a:outerShdw dist="35921" dir="2700000" algn="ctr" rotWithShape="0">
                    <a:srgbClr val="990000"/>
                  </a:outerShdw>
                </a:effectLst>
                <a:latin typeface="宋体"/>
                <a:ea typeface="宋体"/>
              </a:rPr>
              <a:t>计算机网络实验室</a:t>
            </a:r>
          </a:p>
        </p:txBody>
      </p:sp>
    </p:spTree>
  </p:cSld>
  <p:clrMap bg1="lt1" tx1="dk1" bg2="lt2" tx2="dk2" accent1="accent1" accent2="accent2" accent3="accent3" accent4="accent4" accent5="accent5" accent6="accent6" hlink="hlink" folHlink="folHlink"/>
  <p:sldLayoutIdLst>
    <p:sldLayoutId id="2147483830"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 id="2147483829" r:id="rId12"/>
  </p:sldLayoutIdLst>
  <p:txStyles>
    <p:titleStyle>
      <a:lvl1pPr algn="l" rtl="0" eaLnBrk="0" fontAlgn="base" hangingPunct="0">
        <a:spcBef>
          <a:spcPct val="0"/>
        </a:spcBef>
        <a:spcAft>
          <a:spcPct val="0"/>
        </a:spcAft>
        <a:defRPr sz="4400" b="1">
          <a:solidFill>
            <a:schemeClr val="tx1"/>
          </a:solidFill>
          <a:latin typeface="+mj-lt"/>
          <a:ea typeface="+mj-ea"/>
          <a:cs typeface="+mj-cs"/>
        </a:defRPr>
      </a:lvl1pPr>
      <a:lvl2pPr algn="l" rtl="0" eaLnBrk="0" fontAlgn="base" hangingPunct="0">
        <a:spcBef>
          <a:spcPct val="0"/>
        </a:spcBef>
        <a:spcAft>
          <a:spcPct val="0"/>
        </a:spcAft>
        <a:defRPr sz="4400" b="1">
          <a:solidFill>
            <a:schemeClr val="tx1"/>
          </a:solidFill>
          <a:latin typeface="黑体" pitchFamily="2" charset="-122"/>
          <a:ea typeface="黑体" pitchFamily="2" charset="-122"/>
        </a:defRPr>
      </a:lvl2pPr>
      <a:lvl3pPr algn="l" rtl="0" eaLnBrk="0" fontAlgn="base" hangingPunct="0">
        <a:spcBef>
          <a:spcPct val="0"/>
        </a:spcBef>
        <a:spcAft>
          <a:spcPct val="0"/>
        </a:spcAft>
        <a:defRPr sz="4400" b="1">
          <a:solidFill>
            <a:schemeClr val="tx1"/>
          </a:solidFill>
          <a:latin typeface="黑体" pitchFamily="2" charset="-122"/>
          <a:ea typeface="黑体" pitchFamily="2" charset="-122"/>
        </a:defRPr>
      </a:lvl3pPr>
      <a:lvl4pPr algn="l" rtl="0" eaLnBrk="0" fontAlgn="base" hangingPunct="0">
        <a:spcBef>
          <a:spcPct val="0"/>
        </a:spcBef>
        <a:spcAft>
          <a:spcPct val="0"/>
        </a:spcAft>
        <a:defRPr sz="4400" b="1">
          <a:solidFill>
            <a:schemeClr val="tx1"/>
          </a:solidFill>
          <a:latin typeface="黑体" pitchFamily="2" charset="-122"/>
          <a:ea typeface="黑体" pitchFamily="2" charset="-122"/>
        </a:defRPr>
      </a:lvl4pPr>
      <a:lvl5pPr algn="l" rtl="0" eaLnBrk="0" fontAlgn="base" hangingPunct="0">
        <a:spcBef>
          <a:spcPct val="0"/>
        </a:spcBef>
        <a:spcAft>
          <a:spcPct val="0"/>
        </a:spcAft>
        <a:defRPr sz="4400" b="1">
          <a:solidFill>
            <a:schemeClr val="tx1"/>
          </a:solidFill>
          <a:latin typeface="黑体" pitchFamily="2" charset="-122"/>
          <a:ea typeface="黑体" pitchFamily="2" charset="-122"/>
        </a:defRPr>
      </a:lvl5pPr>
      <a:lvl6pPr marL="457200" algn="l" rtl="0" fontAlgn="base">
        <a:spcBef>
          <a:spcPct val="0"/>
        </a:spcBef>
        <a:spcAft>
          <a:spcPct val="0"/>
        </a:spcAft>
        <a:defRPr sz="4400" b="1">
          <a:solidFill>
            <a:schemeClr val="tx1"/>
          </a:solidFill>
          <a:latin typeface="黑体" pitchFamily="2" charset="-122"/>
          <a:ea typeface="黑体" pitchFamily="2" charset="-122"/>
        </a:defRPr>
      </a:lvl6pPr>
      <a:lvl7pPr marL="914400" algn="l" rtl="0" fontAlgn="base">
        <a:spcBef>
          <a:spcPct val="0"/>
        </a:spcBef>
        <a:spcAft>
          <a:spcPct val="0"/>
        </a:spcAft>
        <a:defRPr sz="4400" b="1">
          <a:solidFill>
            <a:schemeClr val="tx1"/>
          </a:solidFill>
          <a:latin typeface="黑体" pitchFamily="2" charset="-122"/>
          <a:ea typeface="黑体" pitchFamily="2" charset="-122"/>
        </a:defRPr>
      </a:lvl7pPr>
      <a:lvl8pPr marL="1371600" algn="l" rtl="0" fontAlgn="base">
        <a:spcBef>
          <a:spcPct val="0"/>
        </a:spcBef>
        <a:spcAft>
          <a:spcPct val="0"/>
        </a:spcAft>
        <a:defRPr sz="4400" b="1">
          <a:solidFill>
            <a:schemeClr val="tx1"/>
          </a:solidFill>
          <a:latin typeface="黑体" pitchFamily="2" charset="-122"/>
          <a:ea typeface="黑体" pitchFamily="2" charset="-122"/>
        </a:defRPr>
      </a:lvl8pPr>
      <a:lvl9pPr marL="1828800" algn="l" rtl="0" fontAlgn="base">
        <a:spcBef>
          <a:spcPct val="0"/>
        </a:spcBef>
        <a:spcAft>
          <a:spcPct val="0"/>
        </a:spcAft>
        <a:defRPr sz="4400" b="1">
          <a:solidFill>
            <a:schemeClr val="tx1"/>
          </a:solidFill>
          <a:latin typeface="黑体" pitchFamily="2" charset="-122"/>
          <a:ea typeface="黑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Arial" charset="0"/>
          <a:ea typeface="宋体" pitchFamily="2" charset="-122"/>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Arial" charset="0"/>
          <a:ea typeface="宋体" pitchFamily="2" charset="-122"/>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Arial" charset="0"/>
          <a:ea typeface="宋体" pitchFamily="2" charset="-122"/>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Arial" charset="0"/>
          <a:ea typeface="宋体" pitchFamily="2" charset="-122"/>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Arial" charset="0"/>
          <a:ea typeface="宋体" pitchFamily="2" charset="-122"/>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Arial" charset="0"/>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4.w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8.emf"/><Relationship Id="rId4" Type="http://schemas.openxmlformats.org/officeDocument/2006/relationships/oleObject" Target="../embeddings/oleObject1.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5"/>
          <p:cNvSpPr>
            <a:spLocks noChangeArrowheads="1"/>
          </p:cNvSpPr>
          <p:nvPr/>
        </p:nvSpPr>
        <p:spPr bwMode="auto">
          <a:xfrm>
            <a:off x="0" y="0"/>
            <a:ext cx="9144000" cy="1268413"/>
          </a:xfrm>
          <a:prstGeom prst="rect">
            <a:avLst/>
          </a:prstGeom>
          <a:solidFill>
            <a:schemeClr val="bg1"/>
          </a:solidFill>
          <a:ln w="9525">
            <a:noFill/>
            <a:miter lim="800000"/>
            <a:headEnd/>
            <a:tailEnd/>
          </a:ln>
        </p:spPr>
        <p:txBody>
          <a:bodyPr wrap="none" anchor="ctr"/>
          <a:lstStyle/>
          <a:p>
            <a:pPr eaLnBrk="1" hangingPunct="1"/>
            <a:endParaRPr lang="zh-CN" altLang="en-US"/>
          </a:p>
        </p:txBody>
      </p:sp>
      <p:sp>
        <p:nvSpPr>
          <p:cNvPr id="4099" name="Rectangle 7"/>
          <p:cNvSpPr>
            <a:spLocks noChangeArrowheads="1"/>
          </p:cNvSpPr>
          <p:nvPr/>
        </p:nvSpPr>
        <p:spPr bwMode="auto">
          <a:xfrm>
            <a:off x="1639888" y="6237288"/>
            <a:ext cx="57150" cy="396875"/>
          </a:xfrm>
          <a:prstGeom prst="rect">
            <a:avLst/>
          </a:prstGeom>
          <a:noFill/>
          <a:ln w="12700">
            <a:noFill/>
            <a:miter lim="800000"/>
            <a:headEnd/>
            <a:tailEnd/>
          </a:ln>
          <a:effectLst>
            <a:outerShdw dist="17961" dir="2700000" algn="ctr" rotWithShape="0">
              <a:schemeClr val="tx1"/>
            </a:outerShdw>
          </a:effectLst>
        </p:spPr>
        <p:txBody>
          <a:bodyPr wrap="none" lIns="28575" tIns="15875" rIns="28575" bIns="15875">
            <a:spAutoFit/>
          </a:bodyPr>
          <a:lstStyle/>
          <a:p>
            <a:pPr defTabSz="84138"/>
            <a:endParaRPr lang="zh-CN" altLang="zh-CN" sz="2400" b="1"/>
          </a:p>
        </p:txBody>
      </p:sp>
      <p:sp>
        <p:nvSpPr>
          <p:cNvPr id="229384" name="Rectangle 8"/>
          <p:cNvSpPr>
            <a:spLocks noChangeArrowheads="1"/>
          </p:cNvSpPr>
          <p:nvPr/>
        </p:nvSpPr>
        <p:spPr bwMode="auto">
          <a:xfrm>
            <a:off x="0" y="4149725"/>
            <a:ext cx="9144000" cy="2708275"/>
          </a:xfrm>
          <a:prstGeom prst="rect">
            <a:avLst/>
          </a:prstGeom>
          <a:gradFill rotWithShape="1">
            <a:gsLst>
              <a:gs pos="0">
                <a:schemeClr val="hlink">
                  <a:gamma/>
                  <a:tint val="69804"/>
                  <a:invGamma/>
                </a:schemeClr>
              </a:gs>
              <a:gs pos="100000">
                <a:schemeClr val="hlink"/>
              </a:gs>
            </a:gsLst>
            <a:lin ang="5400000" scaled="1"/>
          </a:gradFill>
          <a:ln w="9525">
            <a:noFill/>
            <a:miter lim="800000"/>
            <a:headEnd/>
            <a:tailEnd/>
          </a:ln>
          <a:effectLst/>
        </p:spPr>
        <p:txBody>
          <a:bodyPr wrap="none" anchor="ctr"/>
          <a:lstStyle/>
          <a:p>
            <a:pPr eaLnBrk="1" hangingPunct="1">
              <a:defRPr/>
            </a:pPr>
            <a:endParaRPr lang="zh-CN" altLang="en-US"/>
          </a:p>
        </p:txBody>
      </p:sp>
      <p:sp>
        <p:nvSpPr>
          <p:cNvPr id="4101" name="Rectangle 9"/>
          <p:cNvSpPr>
            <a:spLocks noChangeArrowheads="1"/>
          </p:cNvSpPr>
          <p:nvPr/>
        </p:nvSpPr>
        <p:spPr bwMode="auto">
          <a:xfrm>
            <a:off x="0" y="3933825"/>
            <a:ext cx="9144000" cy="215900"/>
          </a:xfrm>
          <a:prstGeom prst="rect">
            <a:avLst/>
          </a:prstGeom>
          <a:solidFill>
            <a:schemeClr val="folHlink"/>
          </a:solidFill>
          <a:ln w="9525">
            <a:noFill/>
            <a:miter lim="800000"/>
            <a:headEnd/>
            <a:tailEnd/>
          </a:ln>
        </p:spPr>
        <p:txBody>
          <a:bodyPr wrap="none" anchor="ctr"/>
          <a:lstStyle/>
          <a:p>
            <a:pPr eaLnBrk="1" hangingPunct="1"/>
            <a:endParaRPr lang="zh-CN" altLang="en-US"/>
          </a:p>
        </p:txBody>
      </p:sp>
      <p:sp>
        <p:nvSpPr>
          <p:cNvPr id="4102" name="Text Box 10"/>
          <p:cNvSpPr txBox="1">
            <a:spLocks noChangeArrowheads="1"/>
          </p:cNvSpPr>
          <p:nvPr/>
        </p:nvSpPr>
        <p:spPr bwMode="auto">
          <a:xfrm>
            <a:off x="3203575" y="4221163"/>
            <a:ext cx="2952750" cy="366712"/>
          </a:xfrm>
          <a:prstGeom prst="rect">
            <a:avLst/>
          </a:prstGeom>
          <a:noFill/>
          <a:ln w="9525">
            <a:noFill/>
            <a:miter lim="800000"/>
            <a:headEnd/>
            <a:tailEnd/>
          </a:ln>
        </p:spPr>
        <p:txBody>
          <a:bodyPr>
            <a:spAutoFit/>
          </a:bodyPr>
          <a:lstStyle/>
          <a:p>
            <a:pPr eaLnBrk="1" hangingPunct="1"/>
            <a:r>
              <a:rPr lang="en-US" altLang="zh-CN" b="1">
                <a:solidFill>
                  <a:schemeClr val="bg1"/>
                </a:solidFill>
              </a:rPr>
              <a:t>http://www.ntlab.cn</a:t>
            </a:r>
          </a:p>
        </p:txBody>
      </p:sp>
      <p:sp>
        <p:nvSpPr>
          <p:cNvPr id="4103" name="WordArt 11"/>
          <p:cNvSpPr>
            <a:spLocks noChangeArrowheads="1" noChangeShapeType="1" noTextEdit="1"/>
          </p:cNvSpPr>
          <p:nvPr/>
        </p:nvSpPr>
        <p:spPr bwMode="auto">
          <a:xfrm>
            <a:off x="6877050" y="188913"/>
            <a:ext cx="1971675" cy="287337"/>
          </a:xfrm>
          <a:prstGeom prst="rect">
            <a:avLst/>
          </a:prstGeom>
        </p:spPr>
        <p:txBody>
          <a:bodyPr wrap="none" fromWordArt="1">
            <a:prstTxWarp prst="textPlain">
              <a:avLst>
                <a:gd name="adj" fmla="val 50000"/>
              </a:avLst>
            </a:prstTxWarp>
          </a:bodyPr>
          <a:lstStyle/>
          <a:p>
            <a:pPr algn="ctr"/>
            <a:r>
              <a:rPr lang="zh-CN" altLang="en-US" sz="3600" kern="10">
                <a:ln w="19050">
                  <a:solidFill>
                    <a:srgbClr val="99CCFF"/>
                  </a:solidFill>
                  <a:round/>
                  <a:headEnd/>
                  <a:tailEnd/>
                </a:ln>
                <a:solidFill>
                  <a:srgbClr val="0066CC"/>
                </a:solidFill>
                <a:effectLst>
                  <a:outerShdw dist="35921" dir="2700000" algn="ctr" rotWithShape="0">
                    <a:srgbClr val="990000"/>
                  </a:outerShdw>
                </a:effectLst>
                <a:latin typeface="宋体"/>
                <a:ea typeface="宋体"/>
              </a:rPr>
              <a:t>计算机网络实验室</a:t>
            </a:r>
          </a:p>
        </p:txBody>
      </p:sp>
      <p:sp>
        <p:nvSpPr>
          <p:cNvPr id="9" name="标题 8"/>
          <p:cNvSpPr>
            <a:spLocks noGrp="1"/>
          </p:cNvSpPr>
          <p:nvPr>
            <p:ph type="title"/>
          </p:nvPr>
        </p:nvSpPr>
        <p:spPr>
          <a:xfrm>
            <a:off x="285750" y="2071688"/>
            <a:ext cx="8477250" cy="1714500"/>
          </a:xfrm>
        </p:spPr>
        <p:txBody>
          <a:bodyPr/>
          <a:lstStyle/>
          <a:p>
            <a:pPr algn="ctr">
              <a:defRPr/>
            </a:pPr>
            <a:r>
              <a:rPr lang="zh-CN" altLang="en-US" sz="4800" dirty="0" smtClean="0">
                <a:effectLst>
                  <a:outerShdw blurRad="38100" dist="38100" dir="2700000" algn="tl">
                    <a:srgbClr val="000000">
                      <a:alpha val="43137"/>
                    </a:srgbClr>
                  </a:outerShdw>
                </a:effectLst>
              </a:rPr>
              <a:t>动态路由协议</a:t>
            </a:r>
            <a:r>
              <a:rPr lang="en-US" altLang="zh-CN" sz="4800" dirty="0" smtClean="0">
                <a:effectLst>
                  <a:outerShdw blurRad="38100" dist="38100" dir="2700000" algn="tl">
                    <a:srgbClr val="000000">
                      <a:alpha val="43137"/>
                    </a:srgbClr>
                  </a:outerShdw>
                </a:effectLst>
              </a:rPr>
              <a:t/>
            </a:r>
            <a:br>
              <a:rPr lang="en-US" altLang="zh-CN" sz="4800" dirty="0" smtClean="0">
                <a:effectLst>
                  <a:outerShdw blurRad="38100" dist="38100" dir="2700000" algn="tl">
                    <a:srgbClr val="000000">
                      <a:alpha val="43137"/>
                    </a:srgbClr>
                  </a:outerShdw>
                </a:effectLst>
              </a:rPr>
            </a:br>
            <a:r>
              <a:rPr lang="zh-CN" altLang="en-US" sz="4800" dirty="0" smtClean="0">
                <a:effectLst>
                  <a:outerShdw blurRad="38100" dist="38100" dir="2700000" algn="tl">
                    <a:srgbClr val="000000">
                      <a:alpha val="43137"/>
                    </a:srgbClr>
                  </a:outerShdw>
                </a:effectLst>
              </a:rPr>
              <a:t>应用及配置实验</a:t>
            </a:r>
            <a:endParaRPr lang="zh-CN" altLang="en-US" sz="4800" dirty="0" smtClean="0"/>
          </a:p>
        </p:txBody>
      </p:sp>
      <p:sp>
        <p:nvSpPr>
          <p:cNvPr id="4105" name="Rectangle 7"/>
          <p:cNvSpPr>
            <a:spLocks noChangeArrowheads="1"/>
          </p:cNvSpPr>
          <p:nvPr/>
        </p:nvSpPr>
        <p:spPr bwMode="auto">
          <a:xfrm>
            <a:off x="1644650" y="6227763"/>
            <a:ext cx="57150" cy="396875"/>
          </a:xfrm>
          <a:prstGeom prst="rect">
            <a:avLst/>
          </a:prstGeom>
          <a:noFill/>
          <a:ln w="12700">
            <a:noFill/>
            <a:miter lim="800000"/>
            <a:headEnd/>
            <a:tailEnd/>
          </a:ln>
          <a:effectLst>
            <a:outerShdw dist="17961" dir="2700000" algn="ctr" rotWithShape="0">
              <a:schemeClr val="tx1"/>
            </a:outerShdw>
          </a:effectLst>
        </p:spPr>
        <p:txBody>
          <a:bodyPr wrap="none" lIns="28575" tIns="15875" rIns="28575" bIns="15875">
            <a:spAutoFit/>
          </a:bodyPr>
          <a:lstStyle/>
          <a:p>
            <a:pPr defTabSz="84138"/>
            <a:endParaRPr lang="zh-CN" altLang="zh-CN" sz="2400" b="1"/>
          </a:p>
        </p:txBody>
      </p:sp>
      <p:sp>
        <p:nvSpPr>
          <p:cNvPr id="4106" name="Rectangle 8"/>
          <p:cNvSpPr>
            <a:spLocks noChangeArrowheads="1"/>
          </p:cNvSpPr>
          <p:nvPr/>
        </p:nvSpPr>
        <p:spPr bwMode="auto">
          <a:xfrm>
            <a:off x="4763" y="4140200"/>
            <a:ext cx="9144000" cy="2708275"/>
          </a:xfrm>
          <a:prstGeom prst="rect">
            <a:avLst/>
          </a:prstGeom>
          <a:solidFill>
            <a:schemeClr val="hlink"/>
          </a:solidFill>
          <a:ln w="9525">
            <a:noFill/>
            <a:miter lim="800000"/>
            <a:headEnd/>
            <a:tailEnd/>
          </a:ln>
        </p:spPr>
        <p:txBody>
          <a:bodyPr wrap="none" anchor="ctr"/>
          <a:lstStyle/>
          <a:p>
            <a:pPr eaLnBrk="1" hangingPunct="1"/>
            <a:endParaRPr lang="zh-CN" altLang="en-US"/>
          </a:p>
        </p:txBody>
      </p:sp>
      <p:sp>
        <p:nvSpPr>
          <p:cNvPr id="4107" name="Rectangle 9"/>
          <p:cNvSpPr>
            <a:spLocks noChangeArrowheads="1"/>
          </p:cNvSpPr>
          <p:nvPr/>
        </p:nvSpPr>
        <p:spPr bwMode="auto">
          <a:xfrm>
            <a:off x="4763" y="3924300"/>
            <a:ext cx="9144000" cy="215900"/>
          </a:xfrm>
          <a:prstGeom prst="rect">
            <a:avLst/>
          </a:prstGeom>
          <a:solidFill>
            <a:schemeClr val="folHlink"/>
          </a:solidFill>
          <a:ln w="9525">
            <a:noFill/>
            <a:miter lim="800000"/>
            <a:headEnd/>
            <a:tailEnd/>
          </a:ln>
        </p:spPr>
        <p:txBody>
          <a:bodyPr wrap="none" anchor="ctr"/>
          <a:lstStyle/>
          <a:p>
            <a:pPr eaLnBrk="1" hangingPunct="1"/>
            <a:endParaRPr lang="zh-CN"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zh-CN" altLang="en-US" dirty="0" smtClean="0"/>
              <a:t>实验目的</a:t>
            </a:r>
            <a:endParaRPr lang="en-US" altLang="zh-CN" dirty="0" smtClean="0"/>
          </a:p>
        </p:txBody>
      </p:sp>
      <p:sp>
        <p:nvSpPr>
          <p:cNvPr id="11267" name="Rectangle 3"/>
          <p:cNvSpPr>
            <a:spLocks noGrp="1" noChangeArrowheads="1"/>
          </p:cNvSpPr>
          <p:nvPr>
            <p:ph type="body" idx="1"/>
          </p:nvPr>
        </p:nvSpPr>
        <p:spPr/>
        <p:txBody>
          <a:bodyPr/>
          <a:lstStyle/>
          <a:p>
            <a:pPr eaLnBrk="1" hangingPunct="1"/>
            <a:r>
              <a:rPr lang="zh-CN" altLang="en-US" dirty="0" smtClean="0"/>
              <a:t>掌握动态路由协议的作用及分类</a:t>
            </a:r>
          </a:p>
          <a:p>
            <a:pPr eaLnBrk="1" hangingPunct="1"/>
            <a:r>
              <a:rPr lang="zh-CN" altLang="en-US" dirty="0" smtClean="0"/>
              <a:t>掌握路由协议的简单工作原理 </a:t>
            </a:r>
          </a:p>
          <a:p>
            <a:pPr eaLnBrk="1" hangingPunct="1"/>
            <a:r>
              <a:rPr lang="zh-CN" altLang="en-US" dirty="0" smtClean="0"/>
              <a:t>掌握</a:t>
            </a:r>
            <a:r>
              <a:rPr lang="en-US" altLang="zh-CN" dirty="0" smtClean="0"/>
              <a:t>RIP</a:t>
            </a:r>
            <a:r>
              <a:rPr lang="zh-CN" altLang="en-US" dirty="0" smtClean="0"/>
              <a:t>协议的基本特征 </a:t>
            </a:r>
          </a:p>
          <a:p>
            <a:pPr eaLnBrk="1" hangingPunct="1"/>
            <a:r>
              <a:rPr lang="zh-CN" altLang="en-US" dirty="0" smtClean="0"/>
              <a:t>熟悉</a:t>
            </a:r>
            <a:r>
              <a:rPr lang="en-US" altLang="zh-CN" dirty="0" smtClean="0"/>
              <a:t>RIP</a:t>
            </a:r>
            <a:r>
              <a:rPr lang="zh-CN" altLang="en-US" dirty="0" smtClean="0"/>
              <a:t>的基本工作过程 </a:t>
            </a:r>
            <a:endParaRPr lang="en-US" altLang="zh-CN" dirty="0" smtClean="0"/>
          </a:p>
          <a:p>
            <a:pPr eaLnBrk="1" hangingPunct="1"/>
            <a:r>
              <a:rPr lang="zh-CN" altLang="en-US" dirty="0" smtClean="0"/>
              <a:t>掌握</a:t>
            </a:r>
            <a:r>
              <a:rPr lang="en-US" altLang="zh-CN" dirty="0" smtClean="0"/>
              <a:t>OSPF</a:t>
            </a:r>
            <a:r>
              <a:rPr lang="zh-CN" altLang="en-US" dirty="0" smtClean="0"/>
              <a:t>协议的工作原理</a:t>
            </a:r>
            <a:endParaRPr lang="en-US" altLang="zh-CN" dirty="0" smtClean="0"/>
          </a:p>
          <a:p>
            <a:pPr eaLnBrk="1" hangingPunct="1"/>
            <a:r>
              <a:rPr lang="zh-CN" altLang="en-US" dirty="0" smtClean="0"/>
              <a:t>掌握</a:t>
            </a:r>
            <a:r>
              <a:rPr lang="en-US" altLang="zh-CN" dirty="0" smtClean="0"/>
              <a:t>OSPF</a:t>
            </a:r>
            <a:r>
              <a:rPr lang="zh-CN" altLang="en-US" dirty="0" smtClean="0"/>
              <a:t>协议的配置</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ChangeArrowheads="1"/>
          </p:cNvSpPr>
          <p:nvPr/>
        </p:nvSpPr>
        <p:spPr bwMode="auto">
          <a:xfrm>
            <a:off x="1339850" y="3644900"/>
            <a:ext cx="6400800" cy="622300"/>
          </a:xfrm>
          <a:prstGeom prst="rect">
            <a:avLst/>
          </a:prstGeom>
          <a:noFill/>
          <a:ln w="9525">
            <a:noFill/>
            <a:miter lim="800000"/>
            <a:headEnd/>
            <a:tailEnd/>
          </a:ln>
        </p:spPr>
        <p:txBody>
          <a:bodyPr/>
          <a:lstStyle/>
          <a:p>
            <a:pPr marL="342900" indent="-342900" eaLnBrk="1" hangingPunct="1">
              <a:spcBef>
                <a:spcPct val="20000"/>
              </a:spcBef>
              <a:buClr>
                <a:schemeClr val="bg2"/>
              </a:buClr>
              <a:buSzPct val="75000"/>
              <a:buFont typeface="Wingdings" pitchFamily="2" charset="2"/>
              <a:buNone/>
            </a:pPr>
            <a:endParaRPr lang="zh-CN" altLang="zh-CN" sz="3600">
              <a:solidFill>
                <a:srgbClr val="800000"/>
              </a:solidFill>
              <a:latin typeface="黑体" pitchFamily="49" charset="-122"/>
              <a:ea typeface="黑体" pitchFamily="49" charset="-122"/>
            </a:endParaRPr>
          </a:p>
        </p:txBody>
      </p:sp>
      <p:sp>
        <p:nvSpPr>
          <p:cNvPr id="4099" name="Rectangle 6"/>
          <p:cNvSpPr>
            <a:spLocks noChangeArrowheads="1"/>
          </p:cNvSpPr>
          <p:nvPr/>
        </p:nvSpPr>
        <p:spPr bwMode="auto">
          <a:xfrm>
            <a:off x="1639888" y="6237288"/>
            <a:ext cx="57150" cy="396875"/>
          </a:xfrm>
          <a:prstGeom prst="rect">
            <a:avLst/>
          </a:prstGeom>
          <a:noFill/>
          <a:ln w="12700">
            <a:noFill/>
            <a:miter lim="800000"/>
            <a:headEnd/>
            <a:tailEnd/>
          </a:ln>
          <a:effectLst>
            <a:outerShdw dist="17961" dir="2700000" algn="ctr" rotWithShape="0">
              <a:schemeClr val="tx1"/>
            </a:outerShdw>
          </a:effectLst>
        </p:spPr>
        <p:txBody>
          <a:bodyPr wrap="none" lIns="28575" tIns="15875" rIns="28575" bIns="15875">
            <a:spAutoFit/>
          </a:bodyPr>
          <a:lstStyle/>
          <a:p>
            <a:pPr defTabSz="84138">
              <a:defRPr/>
            </a:pPr>
            <a:endParaRPr lang="zh-CN" altLang="zh-CN" sz="2400" b="1">
              <a:ea typeface="宋体" charset="-122"/>
            </a:endParaRPr>
          </a:p>
        </p:txBody>
      </p:sp>
      <p:sp>
        <p:nvSpPr>
          <p:cNvPr id="3076" name="WordArt 10"/>
          <p:cNvSpPr>
            <a:spLocks noChangeArrowheads="1" noChangeShapeType="1" noTextEdit="1"/>
          </p:cNvSpPr>
          <p:nvPr/>
        </p:nvSpPr>
        <p:spPr bwMode="auto">
          <a:xfrm>
            <a:off x="6877050" y="188913"/>
            <a:ext cx="1971675" cy="287337"/>
          </a:xfrm>
          <a:prstGeom prst="rect">
            <a:avLst/>
          </a:prstGeom>
        </p:spPr>
        <p:txBody>
          <a:bodyPr wrap="none" fromWordArt="1">
            <a:prstTxWarp prst="textPlain">
              <a:avLst>
                <a:gd name="adj" fmla="val 50000"/>
              </a:avLst>
            </a:prstTxWarp>
          </a:bodyPr>
          <a:lstStyle/>
          <a:p>
            <a:pPr algn="ctr"/>
            <a:r>
              <a:rPr lang="zh-CN" altLang="en-US" sz="3600" kern="10">
                <a:ln w="19050">
                  <a:solidFill>
                    <a:srgbClr val="99CCFF"/>
                  </a:solidFill>
                  <a:round/>
                  <a:headEnd/>
                  <a:tailEnd/>
                </a:ln>
                <a:solidFill>
                  <a:srgbClr val="0066CC"/>
                </a:solidFill>
                <a:effectLst>
                  <a:outerShdw dist="35921" dir="2700000" algn="ctr" rotWithShape="0">
                    <a:srgbClr val="990000"/>
                  </a:outerShdw>
                </a:effectLst>
                <a:latin typeface="宋体"/>
                <a:ea typeface="宋体"/>
              </a:rPr>
              <a:t>计算机网络实验室</a:t>
            </a:r>
          </a:p>
        </p:txBody>
      </p:sp>
      <p:sp>
        <p:nvSpPr>
          <p:cNvPr id="3077" name="Rectangle 11"/>
          <p:cNvSpPr>
            <a:spLocks noGrp="1" noChangeArrowheads="1"/>
          </p:cNvSpPr>
          <p:nvPr>
            <p:ph type="title" idx="4294967295"/>
          </p:nvPr>
        </p:nvSpPr>
        <p:spPr>
          <a:xfrm>
            <a:off x="428596" y="2643182"/>
            <a:ext cx="8477250" cy="1146180"/>
          </a:xfrm>
          <a:noFill/>
        </p:spPr>
        <p:txBody>
          <a:bodyPr/>
          <a:lstStyle/>
          <a:p>
            <a:pPr algn="ctr" eaLnBrk="1" hangingPunct="1"/>
            <a:r>
              <a:rPr lang="zh-CN" altLang="en-US" dirty="0" smtClean="0">
                <a:effectLst>
                  <a:outerShdw blurRad="38100" dist="38100" dir="2700000" algn="tl">
                    <a:srgbClr val="000000">
                      <a:alpha val="43137"/>
                    </a:srgbClr>
                  </a:outerShdw>
                </a:effectLst>
              </a:rPr>
              <a:t>动态路由协议</a:t>
            </a:r>
            <a:endParaRPr lang="en-US" altLang="zh-CN"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zh-CN" altLang="en-US" dirty="0" smtClean="0">
                <a:effectLst>
                  <a:outerShdw blurRad="38100" dist="38100" dir="2700000" algn="tl">
                    <a:srgbClr val="000000">
                      <a:alpha val="43137"/>
                    </a:srgbClr>
                  </a:outerShdw>
                </a:effectLst>
              </a:rPr>
              <a:t>动态路由协议</a:t>
            </a:r>
            <a:endParaRPr lang="en-US" altLang="zh-CN" dirty="0" smtClean="0"/>
          </a:p>
        </p:txBody>
      </p:sp>
      <p:sp>
        <p:nvSpPr>
          <p:cNvPr id="28" name="Line 2"/>
          <p:cNvSpPr>
            <a:spLocks noChangeShapeType="1"/>
          </p:cNvSpPr>
          <p:nvPr/>
        </p:nvSpPr>
        <p:spPr bwMode="auto">
          <a:xfrm>
            <a:off x="1600200" y="2352660"/>
            <a:ext cx="5943600" cy="0"/>
          </a:xfrm>
          <a:prstGeom prst="line">
            <a:avLst/>
          </a:prstGeom>
          <a:noFill/>
          <a:ln w="38100">
            <a:solidFill>
              <a:schemeClr val="accent2"/>
            </a:solidFill>
            <a:round/>
            <a:headEnd type="none" w="sm" len="sm"/>
            <a:tailEnd type="none" w="sm" len="sm"/>
          </a:ln>
          <a:effectLst>
            <a:outerShdw dist="28398" dir="3806097" algn="ctr" rotWithShape="0">
              <a:schemeClr val="bg2"/>
            </a:outerShdw>
          </a:effectLst>
        </p:spPr>
        <p:txBody>
          <a:bodyPr wrap="none" anchor="ctr"/>
          <a:lstStyle/>
          <a:p>
            <a:endParaRPr lang="zh-CN" altLang="en-US"/>
          </a:p>
        </p:txBody>
      </p:sp>
      <p:sp>
        <p:nvSpPr>
          <p:cNvPr id="29" name="Rectangle 5"/>
          <p:cNvSpPr>
            <a:spLocks noChangeArrowheads="1"/>
          </p:cNvSpPr>
          <p:nvPr/>
        </p:nvSpPr>
        <p:spPr bwMode="auto">
          <a:xfrm>
            <a:off x="685800" y="3190860"/>
            <a:ext cx="7467600" cy="1524000"/>
          </a:xfrm>
          <a:prstGeom prst="rect">
            <a:avLst/>
          </a:prstGeom>
          <a:noFill/>
          <a:ln w="9525">
            <a:noFill/>
            <a:miter lim="800000"/>
            <a:headEnd/>
            <a:tailEnd/>
          </a:ln>
          <a:effectLst/>
        </p:spPr>
        <p:txBody>
          <a:bodyPr/>
          <a:lstStyle/>
          <a:p>
            <a:pPr marL="342900" indent="-342900" eaLnBrk="1" hangingPunct="1">
              <a:lnSpc>
                <a:spcPct val="130000"/>
              </a:lnSpc>
              <a:spcBef>
                <a:spcPct val="20000"/>
              </a:spcBef>
              <a:buClr>
                <a:srgbClr val="3333CC"/>
              </a:buClr>
              <a:buFont typeface="Wingdings" pitchFamily="2" charset="2"/>
              <a:buNone/>
            </a:pPr>
            <a:endParaRPr kumimoji="1" lang="zh-CN" altLang="zh-CN" sz="2400">
              <a:latin typeface="宋体" pitchFamily="2" charset="-122"/>
            </a:endParaRPr>
          </a:p>
        </p:txBody>
      </p:sp>
      <p:sp>
        <p:nvSpPr>
          <p:cNvPr id="30" name="AutoShape 8"/>
          <p:cNvSpPr>
            <a:spLocks noChangeArrowheads="1"/>
          </p:cNvSpPr>
          <p:nvPr/>
        </p:nvSpPr>
        <p:spPr bwMode="auto">
          <a:xfrm>
            <a:off x="3276600" y="1285860"/>
            <a:ext cx="838200" cy="533400"/>
          </a:xfrm>
          <a:prstGeom prst="wedgeRoundRectCallout">
            <a:avLst>
              <a:gd name="adj1" fmla="val -46023"/>
              <a:gd name="adj2" fmla="val 84227"/>
              <a:gd name="adj3" fmla="val 16667"/>
            </a:avLst>
          </a:prstGeom>
          <a:solidFill>
            <a:srgbClr val="FFFFCC"/>
          </a:solidFill>
          <a:ln w="9525">
            <a:solidFill>
              <a:schemeClr val="tx1"/>
            </a:solidFill>
            <a:miter lim="800000"/>
            <a:headEnd/>
            <a:tailEnd/>
          </a:ln>
          <a:effectLst/>
        </p:spPr>
        <p:txBody>
          <a:bodyPr anchor="ctr"/>
          <a:lstStyle/>
          <a:p>
            <a:pPr algn="ctr"/>
            <a:r>
              <a:rPr kumimoji="1" lang="en-US" altLang="zh-CN" sz="2400" b="1">
                <a:solidFill>
                  <a:srgbClr val="FF3300"/>
                </a:solidFill>
                <a:latin typeface="Times New Roman" pitchFamily="18" charset="0"/>
                <a:ea typeface="黑体" pitchFamily="49" charset="-122"/>
              </a:rPr>
              <a:t>RIP</a:t>
            </a:r>
          </a:p>
        </p:txBody>
      </p:sp>
      <p:sp>
        <p:nvSpPr>
          <p:cNvPr id="31" name="AutoShape 9"/>
          <p:cNvSpPr>
            <a:spLocks noChangeArrowheads="1"/>
          </p:cNvSpPr>
          <p:nvPr/>
        </p:nvSpPr>
        <p:spPr bwMode="auto">
          <a:xfrm flipH="1">
            <a:off x="1828800" y="1285860"/>
            <a:ext cx="1066800" cy="533400"/>
          </a:xfrm>
          <a:prstGeom prst="wedgeRoundRectCallout">
            <a:avLst>
              <a:gd name="adj1" fmla="val -39736"/>
              <a:gd name="adj2" fmla="val 83032"/>
              <a:gd name="adj3" fmla="val 16667"/>
            </a:avLst>
          </a:prstGeom>
          <a:solidFill>
            <a:srgbClr val="D1FFE8"/>
          </a:solidFill>
          <a:ln w="9525">
            <a:solidFill>
              <a:schemeClr val="tx1"/>
            </a:solidFill>
            <a:miter lim="800000"/>
            <a:headEnd/>
            <a:tailEnd/>
          </a:ln>
          <a:effectLst/>
        </p:spPr>
        <p:txBody>
          <a:bodyPr anchor="ctr"/>
          <a:lstStyle/>
          <a:p>
            <a:pPr algn="ctr"/>
            <a:r>
              <a:rPr kumimoji="1" lang="en-US" altLang="zh-CN" sz="2400" b="1">
                <a:solidFill>
                  <a:srgbClr val="0000CC"/>
                </a:solidFill>
                <a:latin typeface="Times New Roman" pitchFamily="18" charset="0"/>
                <a:ea typeface="黑体" pitchFamily="49" charset="-122"/>
              </a:rPr>
              <a:t>OSPF</a:t>
            </a:r>
          </a:p>
        </p:txBody>
      </p:sp>
      <p:sp>
        <p:nvSpPr>
          <p:cNvPr id="32" name="AutoShape 10"/>
          <p:cNvSpPr>
            <a:spLocks noChangeArrowheads="1"/>
          </p:cNvSpPr>
          <p:nvPr/>
        </p:nvSpPr>
        <p:spPr bwMode="auto">
          <a:xfrm>
            <a:off x="6324600" y="1285860"/>
            <a:ext cx="838200" cy="533400"/>
          </a:xfrm>
          <a:prstGeom prst="wedgeRoundRectCallout">
            <a:avLst>
              <a:gd name="adj1" fmla="val -46023"/>
              <a:gd name="adj2" fmla="val 84227"/>
              <a:gd name="adj3" fmla="val 16667"/>
            </a:avLst>
          </a:prstGeom>
          <a:solidFill>
            <a:srgbClr val="FFFFCC"/>
          </a:solidFill>
          <a:ln w="9525">
            <a:solidFill>
              <a:schemeClr val="tx1"/>
            </a:solidFill>
            <a:miter lim="800000"/>
            <a:headEnd/>
            <a:tailEnd/>
          </a:ln>
          <a:effectLst/>
        </p:spPr>
        <p:txBody>
          <a:bodyPr anchor="ctr"/>
          <a:lstStyle/>
          <a:p>
            <a:pPr algn="ctr"/>
            <a:r>
              <a:rPr kumimoji="1" lang="en-US" altLang="zh-CN" sz="2400" b="1">
                <a:solidFill>
                  <a:srgbClr val="FF3300"/>
                </a:solidFill>
                <a:latin typeface="Times New Roman" pitchFamily="18" charset="0"/>
                <a:ea typeface="黑体" pitchFamily="49" charset="-122"/>
              </a:rPr>
              <a:t>RIP</a:t>
            </a:r>
          </a:p>
        </p:txBody>
      </p:sp>
      <p:sp>
        <p:nvSpPr>
          <p:cNvPr id="33" name="AutoShape 11"/>
          <p:cNvSpPr>
            <a:spLocks noChangeArrowheads="1"/>
          </p:cNvSpPr>
          <p:nvPr/>
        </p:nvSpPr>
        <p:spPr bwMode="auto">
          <a:xfrm flipH="1">
            <a:off x="4876800" y="1285860"/>
            <a:ext cx="1066800" cy="533400"/>
          </a:xfrm>
          <a:prstGeom prst="wedgeRoundRectCallout">
            <a:avLst>
              <a:gd name="adj1" fmla="val -39736"/>
              <a:gd name="adj2" fmla="val 83032"/>
              <a:gd name="adj3" fmla="val 16667"/>
            </a:avLst>
          </a:prstGeom>
          <a:solidFill>
            <a:srgbClr val="D1FFE8"/>
          </a:solidFill>
          <a:ln w="9525">
            <a:solidFill>
              <a:schemeClr val="tx1"/>
            </a:solidFill>
            <a:miter lim="800000"/>
            <a:headEnd/>
            <a:tailEnd/>
          </a:ln>
          <a:effectLst/>
        </p:spPr>
        <p:txBody>
          <a:bodyPr anchor="ctr"/>
          <a:lstStyle/>
          <a:p>
            <a:pPr algn="ctr"/>
            <a:r>
              <a:rPr kumimoji="1" lang="en-US" altLang="zh-CN" sz="2400" b="1">
                <a:solidFill>
                  <a:srgbClr val="0000CC"/>
                </a:solidFill>
                <a:latin typeface="Times New Roman" pitchFamily="18" charset="0"/>
                <a:ea typeface="黑体" pitchFamily="49" charset="-122"/>
              </a:rPr>
              <a:t>OSPF</a:t>
            </a:r>
          </a:p>
        </p:txBody>
      </p:sp>
      <p:sp>
        <p:nvSpPr>
          <p:cNvPr id="34" name="Rectangle 12"/>
          <p:cNvSpPr>
            <a:spLocks noChangeArrowheads="1"/>
          </p:cNvSpPr>
          <p:nvPr/>
        </p:nvSpPr>
        <p:spPr bwMode="auto">
          <a:xfrm>
            <a:off x="1600200" y="2581260"/>
            <a:ext cx="792163" cy="254000"/>
          </a:xfrm>
          <a:prstGeom prst="rect">
            <a:avLst/>
          </a:prstGeom>
          <a:noFill/>
          <a:ln w="12700">
            <a:noFill/>
            <a:miter lim="800000"/>
            <a:headEnd/>
            <a:tailEnd/>
          </a:ln>
          <a:effectLst/>
        </p:spPr>
        <p:txBody>
          <a:bodyPr wrap="none" lIns="0" tIns="0" rIns="0" bIns="0">
            <a:spAutoFit/>
          </a:bodyPr>
          <a:lstStyle/>
          <a:p>
            <a:pPr defTabSz="1028700">
              <a:lnSpc>
                <a:spcPts val="2000"/>
              </a:lnSpc>
              <a:tabLst>
                <a:tab pos="514350" algn="l"/>
                <a:tab pos="1028700" algn="l"/>
                <a:tab pos="1543050" algn="l"/>
              </a:tabLst>
            </a:pPr>
            <a:r>
              <a:rPr lang="en-US" altLang="zh-CN" sz="1600" b="1">
                <a:solidFill>
                  <a:srgbClr val="000000"/>
                </a:solidFill>
                <a:latin typeface="Helvetica" pitchFamily="34" charset="0"/>
              </a:rPr>
              <a:t>1.0.0.0/8</a:t>
            </a:r>
          </a:p>
        </p:txBody>
      </p:sp>
      <p:sp>
        <p:nvSpPr>
          <p:cNvPr id="35" name="Rectangle 13"/>
          <p:cNvSpPr>
            <a:spLocks noChangeArrowheads="1"/>
          </p:cNvSpPr>
          <p:nvPr/>
        </p:nvSpPr>
        <p:spPr bwMode="auto">
          <a:xfrm>
            <a:off x="4008438" y="2581260"/>
            <a:ext cx="792162" cy="254000"/>
          </a:xfrm>
          <a:prstGeom prst="rect">
            <a:avLst/>
          </a:prstGeom>
          <a:noFill/>
          <a:ln w="12700">
            <a:noFill/>
            <a:miter lim="800000"/>
            <a:headEnd/>
            <a:tailEnd/>
          </a:ln>
          <a:effectLst/>
        </p:spPr>
        <p:txBody>
          <a:bodyPr wrap="none" lIns="0" tIns="0" rIns="0" bIns="0">
            <a:spAutoFit/>
          </a:bodyPr>
          <a:lstStyle/>
          <a:p>
            <a:pPr defTabSz="1028700">
              <a:lnSpc>
                <a:spcPts val="2000"/>
              </a:lnSpc>
              <a:tabLst>
                <a:tab pos="514350" algn="l"/>
                <a:tab pos="1028700" algn="l"/>
                <a:tab pos="1543050" algn="l"/>
              </a:tabLst>
            </a:pPr>
            <a:r>
              <a:rPr lang="en-US" altLang="zh-CN" sz="1600" b="1">
                <a:solidFill>
                  <a:srgbClr val="000000"/>
                </a:solidFill>
                <a:latin typeface="Helvetica" pitchFamily="34" charset="0"/>
              </a:rPr>
              <a:t>2.0.0.0/8</a:t>
            </a:r>
          </a:p>
        </p:txBody>
      </p:sp>
      <p:sp>
        <p:nvSpPr>
          <p:cNvPr id="36" name="Rectangle 14"/>
          <p:cNvSpPr>
            <a:spLocks noChangeArrowheads="1"/>
          </p:cNvSpPr>
          <p:nvPr/>
        </p:nvSpPr>
        <p:spPr bwMode="auto">
          <a:xfrm>
            <a:off x="6675438" y="2581260"/>
            <a:ext cx="792162" cy="254000"/>
          </a:xfrm>
          <a:prstGeom prst="rect">
            <a:avLst/>
          </a:prstGeom>
          <a:noFill/>
          <a:ln w="12700">
            <a:noFill/>
            <a:miter lim="800000"/>
            <a:headEnd/>
            <a:tailEnd/>
          </a:ln>
          <a:effectLst/>
        </p:spPr>
        <p:txBody>
          <a:bodyPr wrap="none" lIns="0" tIns="0" rIns="0" bIns="0">
            <a:spAutoFit/>
          </a:bodyPr>
          <a:lstStyle/>
          <a:p>
            <a:pPr defTabSz="1028700">
              <a:lnSpc>
                <a:spcPts val="2000"/>
              </a:lnSpc>
              <a:tabLst>
                <a:tab pos="514350" algn="l"/>
                <a:tab pos="1028700" algn="l"/>
                <a:tab pos="1543050" algn="l"/>
              </a:tabLst>
            </a:pPr>
            <a:r>
              <a:rPr lang="en-US" altLang="zh-CN" sz="1600" b="1">
                <a:solidFill>
                  <a:srgbClr val="000000"/>
                </a:solidFill>
                <a:latin typeface="Helvetica" pitchFamily="34" charset="0"/>
              </a:rPr>
              <a:t>3.0.0.0/8</a:t>
            </a:r>
          </a:p>
        </p:txBody>
      </p:sp>
      <p:pic>
        <p:nvPicPr>
          <p:cNvPr id="37" name="Picture 15" descr="GER---"/>
          <p:cNvPicPr>
            <a:picLocks noChangeAspect="1" noChangeArrowheads="1"/>
          </p:cNvPicPr>
          <p:nvPr/>
        </p:nvPicPr>
        <p:blipFill>
          <a:blip r:embed="rId3"/>
          <a:srcRect/>
          <a:stretch>
            <a:fillRect/>
          </a:stretch>
        </p:blipFill>
        <p:spPr bwMode="auto">
          <a:xfrm>
            <a:off x="2484438" y="2025635"/>
            <a:ext cx="792162" cy="606425"/>
          </a:xfrm>
          <a:prstGeom prst="rect">
            <a:avLst/>
          </a:prstGeom>
          <a:noFill/>
          <a:ln w="9525">
            <a:noFill/>
            <a:miter lim="800000"/>
            <a:headEnd/>
            <a:tailEnd/>
          </a:ln>
        </p:spPr>
      </p:pic>
      <p:pic>
        <p:nvPicPr>
          <p:cNvPr id="38" name="Picture 16" descr="GER---"/>
          <p:cNvPicPr>
            <a:picLocks noChangeAspect="1" noChangeArrowheads="1"/>
          </p:cNvPicPr>
          <p:nvPr/>
        </p:nvPicPr>
        <p:blipFill>
          <a:blip r:embed="rId3"/>
          <a:srcRect/>
          <a:stretch>
            <a:fillRect/>
          </a:stretch>
        </p:blipFill>
        <p:spPr bwMode="auto">
          <a:xfrm>
            <a:off x="5651500" y="1995473"/>
            <a:ext cx="792163" cy="606425"/>
          </a:xfrm>
          <a:prstGeom prst="rect">
            <a:avLst/>
          </a:prstGeom>
          <a:noFill/>
          <a:ln w="9525">
            <a:noFill/>
            <a:miter lim="800000"/>
            <a:headEnd/>
            <a:tailEnd/>
          </a:ln>
        </p:spPr>
      </p:pic>
      <p:sp>
        <p:nvSpPr>
          <p:cNvPr id="39" name="Rectangle 20"/>
          <p:cNvSpPr txBox="1">
            <a:spLocks noChangeArrowheads="1"/>
          </p:cNvSpPr>
          <p:nvPr/>
        </p:nvSpPr>
        <p:spPr bwMode="auto">
          <a:xfrm>
            <a:off x="685800" y="3063860"/>
            <a:ext cx="7848600" cy="26638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30000"/>
              </a:lnSpc>
              <a:spcBef>
                <a:spcPct val="20000"/>
              </a:spcBef>
              <a:spcAft>
                <a:spcPct val="0"/>
              </a:spcAft>
              <a:buClr>
                <a:schemeClr val="bg2"/>
              </a:buClr>
              <a:buSzPct val="75000"/>
              <a:buFont typeface="Wingdings" pitchFamily="2" charset="2"/>
              <a:buChar char="n"/>
              <a:tabLst/>
              <a:defRPr/>
            </a:pP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路由协议是运行在路由器上的软件进程，与其他路由器上相同路由协议之间交换路由信息，学习非直连网络的路由信息，加入路由表。并且在网络拓扑结构变化时自动调整，维护正确的路由信息。</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zh-CN" altLang="en-US" dirty="0" smtClean="0"/>
              <a:t>动态路由协议分类</a:t>
            </a:r>
          </a:p>
        </p:txBody>
      </p:sp>
      <p:sp>
        <p:nvSpPr>
          <p:cNvPr id="13315" name="Rectangle 3"/>
          <p:cNvSpPr>
            <a:spLocks noGrp="1" noChangeArrowheads="1"/>
          </p:cNvSpPr>
          <p:nvPr>
            <p:ph type="body" idx="1"/>
          </p:nvPr>
        </p:nvSpPr>
        <p:spPr>
          <a:xfrm>
            <a:off x="285720" y="857232"/>
            <a:ext cx="8496300" cy="5572164"/>
          </a:xfrm>
        </p:spPr>
        <p:txBody>
          <a:bodyPr/>
          <a:lstStyle/>
          <a:p>
            <a:pPr>
              <a:buNone/>
            </a:pPr>
            <a:r>
              <a:rPr lang="zh-CN" altLang="en-US" dirty="0" smtClean="0"/>
              <a:t>按路由算法可划分为</a:t>
            </a:r>
            <a:r>
              <a:rPr lang="en-US" altLang="zh-CN" dirty="0" smtClean="0"/>
              <a:t>:</a:t>
            </a:r>
          </a:p>
          <a:p>
            <a:pPr marL="781050" lvl="1" indent="-381000" eaLnBrk="1" hangingPunct="1"/>
            <a:r>
              <a:rPr lang="zh-CN" altLang="en-US" dirty="0" smtClean="0">
                <a:solidFill>
                  <a:srgbClr val="FF0000"/>
                </a:solidFill>
              </a:rPr>
              <a:t>距离</a:t>
            </a:r>
            <a:r>
              <a:rPr lang="en-US" altLang="zh-CN" dirty="0" smtClean="0">
                <a:solidFill>
                  <a:srgbClr val="FF0000"/>
                </a:solidFill>
              </a:rPr>
              <a:t>-</a:t>
            </a:r>
            <a:r>
              <a:rPr lang="zh-CN" altLang="en-US" dirty="0" smtClean="0">
                <a:solidFill>
                  <a:srgbClr val="FF0000"/>
                </a:solidFill>
              </a:rPr>
              <a:t>矢量</a:t>
            </a:r>
            <a:r>
              <a:rPr lang="en-US" altLang="zh-CN" dirty="0" smtClean="0">
                <a:solidFill>
                  <a:srgbClr val="FF0000"/>
                </a:solidFill>
              </a:rPr>
              <a:t>(D-V)</a:t>
            </a:r>
            <a:r>
              <a:rPr lang="zh-CN" altLang="en-US" dirty="0" smtClean="0">
                <a:solidFill>
                  <a:srgbClr val="FF0000"/>
                </a:solidFill>
              </a:rPr>
              <a:t>路由协议   </a:t>
            </a:r>
            <a:r>
              <a:rPr lang="en-US" altLang="zh-CN" dirty="0" smtClean="0">
                <a:solidFill>
                  <a:srgbClr val="FF0000"/>
                </a:solidFill>
              </a:rPr>
              <a:t>( </a:t>
            </a:r>
            <a:r>
              <a:rPr lang="zh-CN" altLang="en-US" dirty="0" smtClean="0">
                <a:solidFill>
                  <a:srgbClr val="FF0000"/>
                </a:solidFill>
              </a:rPr>
              <a:t>如</a:t>
            </a:r>
            <a:r>
              <a:rPr lang="en-US" altLang="zh-CN" dirty="0" smtClean="0">
                <a:solidFill>
                  <a:srgbClr val="FF0000"/>
                </a:solidFill>
              </a:rPr>
              <a:t>RIP ) </a:t>
            </a:r>
          </a:p>
          <a:p>
            <a:pPr marL="781050" lvl="1" indent="-381000" eaLnBrk="1" hangingPunct="1">
              <a:buNone/>
            </a:pPr>
            <a:r>
              <a:rPr lang="en-US" altLang="zh-CN" sz="2400" dirty="0" smtClean="0"/>
              <a:t>    </a:t>
            </a:r>
            <a:r>
              <a:rPr lang="zh-CN" altLang="en-US" sz="2400" dirty="0" smtClean="0"/>
              <a:t>定期广播整个路由信息</a:t>
            </a:r>
          </a:p>
          <a:p>
            <a:pPr marL="781050" lvl="1" indent="-381000" eaLnBrk="1" hangingPunct="1">
              <a:buNone/>
            </a:pPr>
            <a:r>
              <a:rPr lang="zh-CN" altLang="en-US" sz="2400" dirty="0" smtClean="0"/>
              <a:t>    易形成路由环路</a:t>
            </a:r>
          </a:p>
          <a:p>
            <a:pPr marL="781050" lvl="1" indent="-381000" eaLnBrk="1" hangingPunct="1">
              <a:buNone/>
            </a:pPr>
            <a:r>
              <a:rPr lang="zh-CN" altLang="en-US" sz="2400" dirty="0" smtClean="0"/>
              <a:t>    收敛慢</a:t>
            </a:r>
          </a:p>
          <a:p>
            <a:pPr marL="781050" lvl="1" indent="-381000" eaLnBrk="1" hangingPunct="1"/>
            <a:r>
              <a:rPr lang="zh-CN" altLang="en-US" dirty="0" smtClean="0">
                <a:solidFill>
                  <a:srgbClr val="FF0000"/>
                </a:solidFill>
              </a:rPr>
              <a:t>链路状态</a:t>
            </a:r>
            <a:r>
              <a:rPr lang="en-US" altLang="zh-CN" dirty="0" smtClean="0">
                <a:solidFill>
                  <a:srgbClr val="FF0000"/>
                </a:solidFill>
              </a:rPr>
              <a:t>(L-S)</a:t>
            </a:r>
            <a:r>
              <a:rPr lang="zh-CN" altLang="en-US" dirty="0" smtClean="0">
                <a:solidFill>
                  <a:srgbClr val="FF0000"/>
                </a:solidFill>
              </a:rPr>
              <a:t>路由协议（如</a:t>
            </a:r>
            <a:r>
              <a:rPr lang="en-US" altLang="zh-CN" dirty="0" smtClean="0">
                <a:solidFill>
                  <a:srgbClr val="FF0000"/>
                </a:solidFill>
              </a:rPr>
              <a:t>OSPF</a:t>
            </a:r>
            <a:r>
              <a:rPr lang="zh-CN" altLang="en-US" dirty="0" smtClean="0">
                <a:solidFill>
                  <a:srgbClr val="FF0000"/>
                </a:solidFill>
              </a:rPr>
              <a:t>）</a:t>
            </a:r>
          </a:p>
          <a:p>
            <a:pPr marL="381000" indent="-381000" eaLnBrk="1" hangingPunct="1">
              <a:buNone/>
            </a:pPr>
            <a:r>
              <a:rPr lang="zh-CN" altLang="en-US" sz="2800" dirty="0" smtClean="0"/>
              <a:t>     </a:t>
            </a:r>
            <a:r>
              <a:rPr lang="zh-CN" altLang="en-US" sz="2400" dirty="0" smtClean="0"/>
              <a:t>收集网络拓扑信息，运行协议算法计算最佳路由</a:t>
            </a:r>
          </a:p>
          <a:p>
            <a:pPr marL="381000" indent="-381000" eaLnBrk="1" hangingPunct="1">
              <a:buNone/>
            </a:pPr>
            <a:r>
              <a:rPr lang="zh-CN" altLang="en-US" sz="2400" dirty="0" smtClean="0"/>
              <a:t>      根本解决路由环路问题      </a:t>
            </a:r>
          </a:p>
          <a:p>
            <a:pPr marL="381000" indent="-381000" eaLnBrk="1" hangingPunct="1">
              <a:buNone/>
            </a:pPr>
            <a:r>
              <a:rPr lang="zh-CN" altLang="en-US" sz="2400" dirty="0" smtClean="0"/>
              <a:t>      收敛快</a:t>
            </a:r>
            <a:endParaRPr lang="en-US" altLang="zh-CN" sz="2400"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p:txBody>
          <a:bodyPr/>
          <a:lstStyle/>
          <a:p>
            <a:pPr eaLnBrk="1" hangingPunct="1"/>
            <a:r>
              <a:rPr lang="zh-CN" altLang="en-US" b="0" dirty="0" smtClean="0"/>
              <a:t>距离</a:t>
            </a:r>
            <a:r>
              <a:rPr lang="en-US" altLang="zh-CN" b="0" dirty="0" smtClean="0"/>
              <a:t>-</a:t>
            </a:r>
            <a:r>
              <a:rPr lang="zh-CN" altLang="en-US" b="0" dirty="0" smtClean="0"/>
              <a:t>矢量</a:t>
            </a:r>
            <a:r>
              <a:rPr lang="en-US" altLang="zh-CN" b="0" dirty="0" smtClean="0"/>
              <a:t>(D-V)</a:t>
            </a:r>
            <a:r>
              <a:rPr lang="zh-CN" altLang="en-US" b="0" dirty="0" smtClean="0"/>
              <a:t>路由协议</a:t>
            </a:r>
            <a:endParaRPr lang="zh-CN" altLang="en-US" dirty="0" smtClean="0"/>
          </a:p>
        </p:txBody>
      </p:sp>
      <p:sp>
        <p:nvSpPr>
          <p:cNvPr id="4" name="Freeform 2"/>
          <p:cNvSpPr>
            <a:spLocks/>
          </p:cNvSpPr>
          <p:nvPr/>
        </p:nvSpPr>
        <p:spPr bwMode="auto">
          <a:xfrm>
            <a:off x="5253009" y="1501759"/>
            <a:ext cx="1293812" cy="755650"/>
          </a:xfrm>
          <a:custGeom>
            <a:avLst/>
            <a:gdLst>
              <a:gd name="T0" fmla="*/ 0 w 724"/>
              <a:gd name="T1" fmla="*/ 0 h 423"/>
              <a:gd name="T2" fmla="*/ 2147483646 w 724"/>
              <a:gd name="T3" fmla="*/ 2147483646 h 423"/>
              <a:gd name="T4" fmla="*/ 2147483646 w 724"/>
              <a:gd name="T5" fmla="*/ 2147483646 h 423"/>
              <a:gd name="T6" fmla="*/ 2147483646 w 724"/>
              <a:gd name="T7" fmla="*/ 2147483646 h 4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24" h="423">
                <a:moveTo>
                  <a:pt x="0" y="0"/>
                </a:moveTo>
                <a:lnTo>
                  <a:pt x="444" y="185"/>
                </a:lnTo>
                <a:lnTo>
                  <a:pt x="287" y="252"/>
                </a:lnTo>
                <a:lnTo>
                  <a:pt x="723" y="422"/>
                </a:lnTo>
              </a:path>
            </a:pathLst>
          </a:custGeom>
          <a:noFill/>
          <a:ln w="50800" cap="rnd" cmpd="sng">
            <a:solidFill>
              <a:schemeClr val="accent2"/>
            </a:solidFill>
            <a:prstDash val="solid"/>
            <a:round/>
            <a:headEnd type="none" w="sm" len="sm"/>
            <a:tailEnd type="none" w="sm" len="sm"/>
          </a:ln>
          <a:effectLst>
            <a:outerShdw dist="17961" dir="2700000" algn="ctr" rotWithShape="0">
              <a:schemeClr val="tx1"/>
            </a:outerShdw>
          </a:effectLst>
        </p:spPr>
        <p:txBody>
          <a:bodyPr wrap="none" lIns="30515" tIns="43230" rIns="30515" bIns="43230"/>
          <a:lstStyle/>
          <a:p>
            <a:endParaRPr lang="zh-CN" altLang="en-US"/>
          </a:p>
        </p:txBody>
      </p:sp>
      <p:sp>
        <p:nvSpPr>
          <p:cNvPr id="5" name="Freeform 3"/>
          <p:cNvSpPr>
            <a:spLocks/>
          </p:cNvSpPr>
          <p:nvPr/>
        </p:nvSpPr>
        <p:spPr bwMode="auto">
          <a:xfrm>
            <a:off x="3422621" y="2255822"/>
            <a:ext cx="1293813" cy="757237"/>
          </a:xfrm>
          <a:custGeom>
            <a:avLst/>
            <a:gdLst>
              <a:gd name="T0" fmla="*/ 0 w 724"/>
              <a:gd name="T1" fmla="*/ 0 h 424"/>
              <a:gd name="T2" fmla="*/ 2147483646 w 724"/>
              <a:gd name="T3" fmla="*/ 2147483646 h 424"/>
              <a:gd name="T4" fmla="*/ 2147483646 w 724"/>
              <a:gd name="T5" fmla="*/ 2147483646 h 424"/>
              <a:gd name="T6" fmla="*/ 2147483646 w 724"/>
              <a:gd name="T7" fmla="*/ 2147483646 h 4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24" h="424">
                <a:moveTo>
                  <a:pt x="0" y="0"/>
                </a:moveTo>
                <a:lnTo>
                  <a:pt x="444" y="185"/>
                </a:lnTo>
                <a:lnTo>
                  <a:pt x="287" y="253"/>
                </a:lnTo>
                <a:lnTo>
                  <a:pt x="723" y="423"/>
                </a:lnTo>
              </a:path>
            </a:pathLst>
          </a:custGeom>
          <a:noFill/>
          <a:ln w="50800" cap="rnd" cmpd="sng">
            <a:solidFill>
              <a:schemeClr val="accent2"/>
            </a:solidFill>
            <a:prstDash val="solid"/>
            <a:round/>
            <a:headEnd type="none" w="sm" len="sm"/>
            <a:tailEnd type="none" w="sm" len="sm"/>
          </a:ln>
          <a:effectLst>
            <a:outerShdw dist="17961" dir="2700000" algn="ctr" rotWithShape="0">
              <a:schemeClr val="tx1"/>
            </a:outerShdw>
          </a:effectLst>
        </p:spPr>
        <p:txBody>
          <a:bodyPr wrap="none" lIns="30515" tIns="43230" rIns="30515" bIns="43230"/>
          <a:lstStyle/>
          <a:p>
            <a:endParaRPr lang="zh-CN" altLang="en-US"/>
          </a:p>
        </p:txBody>
      </p:sp>
      <p:sp>
        <p:nvSpPr>
          <p:cNvPr id="6" name="Freeform 4"/>
          <p:cNvSpPr>
            <a:spLocks/>
          </p:cNvSpPr>
          <p:nvPr/>
        </p:nvSpPr>
        <p:spPr bwMode="auto">
          <a:xfrm>
            <a:off x="3530571" y="1501759"/>
            <a:ext cx="1295400" cy="755650"/>
          </a:xfrm>
          <a:custGeom>
            <a:avLst/>
            <a:gdLst>
              <a:gd name="T0" fmla="*/ 0 w 725"/>
              <a:gd name="T1" fmla="*/ 2147483646 h 423"/>
              <a:gd name="T2" fmla="*/ 2147483646 w 725"/>
              <a:gd name="T3" fmla="*/ 2147483646 h 423"/>
              <a:gd name="T4" fmla="*/ 2147483646 w 725"/>
              <a:gd name="T5" fmla="*/ 2147483646 h 423"/>
              <a:gd name="T6" fmla="*/ 2147483646 w 725"/>
              <a:gd name="T7" fmla="*/ 0 h 4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25" h="423">
                <a:moveTo>
                  <a:pt x="0" y="422"/>
                </a:moveTo>
                <a:lnTo>
                  <a:pt x="445" y="237"/>
                </a:lnTo>
                <a:lnTo>
                  <a:pt x="288" y="170"/>
                </a:lnTo>
                <a:lnTo>
                  <a:pt x="724" y="0"/>
                </a:lnTo>
              </a:path>
            </a:pathLst>
          </a:custGeom>
          <a:noFill/>
          <a:ln w="50800" cap="rnd" cmpd="sng">
            <a:solidFill>
              <a:schemeClr val="accent2"/>
            </a:solidFill>
            <a:prstDash val="solid"/>
            <a:round/>
            <a:headEnd type="none" w="sm" len="sm"/>
            <a:tailEnd type="none" w="sm" len="sm"/>
          </a:ln>
          <a:effectLst>
            <a:outerShdw dist="17961" dir="2700000" algn="ctr" rotWithShape="0">
              <a:schemeClr val="tx1"/>
            </a:outerShdw>
          </a:effectLst>
        </p:spPr>
        <p:txBody>
          <a:bodyPr wrap="none" lIns="30515" tIns="43230" rIns="30515" bIns="43230"/>
          <a:lstStyle/>
          <a:p>
            <a:endParaRPr lang="zh-CN" altLang="en-US"/>
          </a:p>
        </p:txBody>
      </p:sp>
      <p:sp>
        <p:nvSpPr>
          <p:cNvPr id="7" name="Freeform 5"/>
          <p:cNvSpPr>
            <a:spLocks/>
          </p:cNvSpPr>
          <p:nvPr/>
        </p:nvSpPr>
        <p:spPr bwMode="auto">
          <a:xfrm>
            <a:off x="5253009" y="2255822"/>
            <a:ext cx="1293812" cy="757237"/>
          </a:xfrm>
          <a:custGeom>
            <a:avLst/>
            <a:gdLst>
              <a:gd name="T0" fmla="*/ 0 w 724"/>
              <a:gd name="T1" fmla="*/ 2147483646 h 424"/>
              <a:gd name="T2" fmla="*/ 2147483646 w 724"/>
              <a:gd name="T3" fmla="*/ 2147483646 h 424"/>
              <a:gd name="T4" fmla="*/ 2147483646 w 724"/>
              <a:gd name="T5" fmla="*/ 2147483646 h 424"/>
              <a:gd name="T6" fmla="*/ 2147483646 w 724"/>
              <a:gd name="T7" fmla="*/ 0 h 4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24" h="424">
                <a:moveTo>
                  <a:pt x="0" y="423"/>
                </a:moveTo>
                <a:lnTo>
                  <a:pt x="444" y="238"/>
                </a:lnTo>
                <a:lnTo>
                  <a:pt x="287" y="170"/>
                </a:lnTo>
                <a:lnTo>
                  <a:pt x="723" y="0"/>
                </a:lnTo>
              </a:path>
            </a:pathLst>
          </a:custGeom>
          <a:noFill/>
          <a:ln w="50800" cap="rnd" cmpd="sng">
            <a:solidFill>
              <a:schemeClr val="accent2"/>
            </a:solidFill>
            <a:prstDash val="solid"/>
            <a:round/>
            <a:headEnd type="none" w="sm" len="sm"/>
            <a:tailEnd type="none" w="sm" len="sm"/>
          </a:ln>
          <a:effectLst>
            <a:outerShdw dist="17961" dir="2700000" algn="ctr" rotWithShape="0">
              <a:schemeClr val="tx1"/>
            </a:outerShdw>
          </a:effectLst>
        </p:spPr>
        <p:txBody>
          <a:bodyPr wrap="none" lIns="30515" tIns="43230" rIns="30515" bIns="43230"/>
          <a:lstStyle/>
          <a:p>
            <a:endParaRPr lang="zh-CN" altLang="en-US"/>
          </a:p>
        </p:txBody>
      </p:sp>
      <p:sp>
        <p:nvSpPr>
          <p:cNvPr id="8" name="Line 14"/>
          <p:cNvSpPr>
            <a:spLocks noChangeShapeType="1"/>
          </p:cNvSpPr>
          <p:nvPr/>
        </p:nvSpPr>
        <p:spPr bwMode="auto">
          <a:xfrm flipH="1" flipV="1">
            <a:off x="5360959" y="1931972"/>
            <a:ext cx="646112" cy="323850"/>
          </a:xfrm>
          <a:prstGeom prst="line">
            <a:avLst/>
          </a:prstGeom>
          <a:noFill/>
          <a:ln w="28575">
            <a:solidFill>
              <a:schemeClr val="tx1"/>
            </a:solidFill>
            <a:round/>
            <a:headEnd/>
            <a:tailEnd type="triangle" w="med" len="med"/>
          </a:ln>
          <a:effectLst/>
        </p:spPr>
        <p:txBody>
          <a:bodyPr wrap="none" lIns="30515" tIns="43230" rIns="30515" bIns="43230"/>
          <a:lstStyle/>
          <a:p>
            <a:endParaRPr lang="zh-CN" altLang="en-US"/>
          </a:p>
        </p:txBody>
      </p:sp>
      <p:sp>
        <p:nvSpPr>
          <p:cNvPr id="9" name="Line 15"/>
          <p:cNvSpPr>
            <a:spLocks noChangeShapeType="1"/>
          </p:cNvSpPr>
          <p:nvPr/>
        </p:nvSpPr>
        <p:spPr bwMode="auto">
          <a:xfrm>
            <a:off x="3960784" y="2365359"/>
            <a:ext cx="646112" cy="322263"/>
          </a:xfrm>
          <a:prstGeom prst="line">
            <a:avLst/>
          </a:prstGeom>
          <a:noFill/>
          <a:ln w="28575">
            <a:solidFill>
              <a:schemeClr val="tx1"/>
            </a:solidFill>
            <a:round/>
            <a:headEnd type="none" w="sm" len="sm"/>
            <a:tailEnd type="triangle" w="med" len="med"/>
          </a:ln>
          <a:effectLst/>
        </p:spPr>
        <p:txBody>
          <a:bodyPr wrap="none" lIns="30515" tIns="43230" rIns="30515" bIns="43230"/>
          <a:lstStyle/>
          <a:p>
            <a:endParaRPr lang="zh-CN" altLang="en-US"/>
          </a:p>
        </p:txBody>
      </p:sp>
      <p:sp>
        <p:nvSpPr>
          <p:cNvPr id="10" name="Line 16"/>
          <p:cNvSpPr>
            <a:spLocks noChangeShapeType="1"/>
          </p:cNvSpPr>
          <p:nvPr/>
        </p:nvSpPr>
        <p:spPr bwMode="auto">
          <a:xfrm flipV="1">
            <a:off x="5360959" y="2300272"/>
            <a:ext cx="646112" cy="323850"/>
          </a:xfrm>
          <a:prstGeom prst="line">
            <a:avLst/>
          </a:prstGeom>
          <a:noFill/>
          <a:ln w="28575">
            <a:solidFill>
              <a:schemeClr val="tx1"/>
            </a:solidFill>
            <a:round/>
            <a:headEnd type="none" w="sm" len="sm"/>
            <a:tailEnd type="triangle" w="med" len="med"/>
          </a:ln>
          <a:effectLst/>
        </p:spPr>
        <p:txBody>
          <a:bodyPr wrap="none" lIns="30515" tIns="43230" rIns="30515" bIns="43230"/>
          <a:lstStyle/>
          <a:p>
            <a:endParaRPr lang="zh-CN" altLang="en-US"/>
          </a:p>
        </p:txBody>
      </p:sp>
      <p:sp>
        <p:nvSpPr>
          <p:cNvPr id="11" name="Line 17"/>
          <p:cNvSpPr>
            <a:spLocks noChangeShapeType="1"/>
          </p:cNvSpPr>
          <p:nvPr/>
        </p:nvSpPr>
        <p:spPr bwMode="auto">
          <a:xfrm flipH="1">
            <a:off x="3960784" y="1979597"/>
            <a:ext cx="646112" cy="320675"/>
          </a:xfrm>
          <a:prstGeom prst="line">
            <a:avLst/>
          </a:prstGeom>
          <a:noFill/>
          <a:ln w="28575">
            <a:solidFill>
              <a:schemeClr val="tx1"/>
            </a:solidFill>
            <a:round/>
            <a:headEnd/>
            <a:tailEnd type="triangle" w="med" len="med"/>
          </a:ln>
          <a:effectLst/>
        </p:spPr>
        <p:txBody>
          <a:bodyPr wrap="none" lIns="30515" tIns="43230" rIns="30515" bIns="43230"/>
          <a:lstStyle/>
          <a:p>
            <a:endParaRPr lang="zh-CN" altLang="en-US"/>
          </a:p>
        </p:txBody>
      </p:sp>
      <p:sp>
        <p:nvSpPr>
          <p:cNvPr id="12" name="Line 18"/>
          <p:cNvSpPr>
            <a:spLocks noChangeShapeType="1"/>
          </p:cNvSpPr>
          <p:nvPr/>
        </p:nvSpPr>
        <p:spPr bwMode="auto">
          <a:xfrm>
            <a:off x="5791171" y="1501759"/>
            <a:ext cx="646113" cy="323850"/>
          </a:xfrm>
          <a:prstGeom prst="line">
            <a:avLst/>
          </a:prstGeom>
          <a:noFill/>
          <a:ln w="28575">
            <a:solidFill>
              <a:schemeClr val="tx1"/>
            </a:solidFill>
            <a:round/>
            <a:headEnd type="none" w="sm" len="sm"/>
            <a:tailEnd type="triangle" w="med" len="med"/>
          </a:ln>
          <a:effectLst/>
        </p:spPr>
        <p:txBody>
          <a:bodyPr wrap="none" lIns="30515" tIns="43230" rIns="30515" bIns="43230"/>
          <a:lstStyle/>
          <a:p>
            <a:endParaRPr lang="zh-CN" altLang="en-US"/>
          </a:p>
        </p:txBody>
      </p:sp>
      <p:sp>
        <p:nvSpPr>
          <p:cNvPr id="13" name="Line 19"/>
          <p:cNvSpPr>
            <a:spLocks noChangeShapeType="1"/>
          </p:cNvSpPr>
          <p:nvPr/>
        </p:nvSpPr>
        <p:spPr bwMode="auto">
          <a:xfrm flipH="1" flipV="1">
            <a:off x="3582959" y="2732072"/>
            <a:ext cx="646112" cy="323850"/>
          </a:xfrm>
          <a:prstGeom prst="line">
            <a:avLst/>
          </a:prstGeom>
          <a:noFill/>
          <a:ln w="28575">
            <a:solidFill>
              <a:schemeClr val="tx1"/>
            </a:solidFill>
            <a:round/>
            <a:headEnd type="none" w="sm" len="sm"/>
            <a:tailEnd type="triangle" w="med" len="med"/>
          </a:ln>
          <a:effectLst/>
        </p:spPr>
        <p:txBody>
          <a:bodyPr wrap="none" lIns="30515" tIns="43230" rIns="30515" bIns="43230"/>
          <a:lstStyle/>
          <a:p>
            <a:endParaRPr lang="zh-CN" altLang="en-US"/>
          </a:p>
        </p:txBody>
      </p:sp>
      <p:sp>
        <p:nvSpPr>
          <p:cNvPr id="14" name="Line 20"/>
          <p:cNvSpPr>
            <a:spLocks noChangeShapeType="1"/>
          </p:cNvSpPr>
          <p:nvPr/>
        </p:nvSpPr>
        <p:spPr bwMode="auto">
          <a:xfrm flipH="1">
            <a:off x="5900709" y="2687622"/>
            <a:ext cx="644525" cy="323850"/>
          </a:xfrm>
          <a:prstGeom prst="line">
            <a:avLst/>
          </a:prstGeom>
          <a:noFill/>
          <a:ln w="28575">
            <a:solidFill>
              <a:schemeClr val="tx1"/>
            </a:solidFill>
            <a:round/>
            <a:headEnd type="none" w="sm" len="sm"/>
            <a:tailEnd type="triangle" w="med" len="med"/>
          </a:ln>
          <a:effectLst/>
        </p:spPr>
        <p:txBody>
          <a:bodyPr wrap="none" lIns="30515" tIns="43230" rIns="30515" bIns="43230"/>
          <a:lstStyle/>
          <a:p>
            <a:endParaRPr lang="zh-CN" altLang="en-US"/>
          </a:p>
        </p:txBody>
      </p:sp>
      <p:sp>
        <p:nvSpPr>
          <p:cNvPr id="15" name="Line 21"/>
          <p:cNvSpPr>
            <a:spLocks noChangeShapeType="1"/>
          </p:cNvSpPr>
          <p:nvPr/>
        </p:nvSpPr>
        <p:spPr bwMode="auto">
          <a:xfrm flipV="1">
            <a:off x="3636934" y="1501759"/>
            <a:ext cx="647700" cy="323850"/>
          </a:xfrm>
          <a:prstGeom prst="line">
            <a:avLst/>
          </a:prstGeom>
          <a:noFill/>
          <a:ln w="28575">
            <a:solidFill>
              <a:schemeClr val="tx1"/>
            </a:solidFill>
            <a:round/>
            <a:headEnd type="none" w="sm" len="sm"/>
            <a:tailEnd type="triangle" w="med" len="med"/>
          </a:ln>
          <a:effectLst/>
        </p:spPr>
        <p:txBody>
          <a:bodyPr wrap="none" lIns="30515" tIns="43230" rIns="30515" bIns="43230"/>
          <a:lstStyle/>
          <a:p>
            <a:endParaRPr lang="zh-CN" altLang="en-US"/>
          </a:p>
        </p:txBody>
      </p:sp>
      <p:sp>
        <p:nvSpPr>
          <p:cNvPr id="16" name="Freeform 22"/>
          <p:cNvSpPr>
            <a:spLocks/>
          </p:cNvSpPr>
          <p:nvPr/>
        </p:nvSpPr>
        <p:spPr bwMode="auto">
          <a:xfrm>
            <a:off x="1344584" y="3997309"/>
            <a:ext cx="885825" cy="1588"/>
          </a:xfrm>
          <a:custGeom>
            <a:avLst/>
            <a:gdLst>
              <a:gd name="T0" fmla="*/ 0 w 496"/>
              <a:gd name="T1" fmla="*/ 0 h 1"/>
              <a:gd name="T2" fmla="*/ 2147483646 w 496"/>
              <a:gd name="T3" fmla="*/ 0 h 1"/>
              <a:gd name="T4" fmla="*/ 0 60000 65536"/>
              <a:gd name="T5" fmla="*/ 0 60000 65536"/>
            </a:gdLst>
            <a:ahLst/>
            <a:cxnLst>
              <a:cxn ang="T4">
                <a:pos x="T0" y="T1"/>
              </a:cxn>
              <a:cxn ang="T5">
                <a:pos x="T2" y="T3"/>
              </a:cxn>
            </a:cxnLst>
            <a:rect l="0" t="0" r="r" b="b"/>
            <a:pathLst>
              <a:path w="496" h="1">
                <a:moveTo>
                  <a:pt x="0" y="0"/>
                </a:moveTo>
                <a:lnTo>
                  <a:pt x="495" y="0"/>
                </a:lnTo>
              </a:path>
            </a:pathLst>
          </a:custGeom>
          <a:solidFill>
            <a:srgbClr val="FFD255"/>
          </a:solidFill>
          <a:ln w="50800" cap="rnd" cmpd="sng">
            <a:solidFill>
              <a:schemeClr val="accent2"/>
            </a:solidFill>
            <a:prstDash val="solid"/>
            <a:round/>
            <a:headEnd type="none" w="sm" len="sm"/>
            <a:tailEnd type="none" w="sm" len="sm"/>
          </a:ln>
          <a:effectLst>
            <a:outerShdw dist="35921" dir="2700000" algn="ctr" rotWithShape="0">
              <a:schemeClr val="bg2"/>
            </a:outerShdw>
          </a:effectLst>
        </p:spPr>
        <p:txBody>
          <a:bodyPr/>
          <a:lstStyle/>
          <a:p>
            <a:endParaRPr lang="zh-CN" altLang="en-US"/>
          </a:p>
        </p:txBody>
      </p:sp>
      <p:sp>
        <p:nvSpPr>
          <p:cNvPr id="17" name="Freeform 23"/>
          <p:cNvSpPr>
            <a:spLocks/>
          </p:cNvSpPr>
          <p:nvPr/>
        </p:nvSpPr>
        <p:spPr bwMode="auto">
          <a:xfrm>
            <a:off x="7372321" y="4098909"/>
            <a:ext cx="542925" cy="1588"/>
          </a:xfrm>
          <a:custGeom>
            <a:avLst/>
            <a:gdLst>
              <a:gd name="T0" fmla="*/ 0 w 304"/>
              <a:gd name="T1" fmla="*/ 0 h 1"/>
              <a:gd name="T2" fmla="*/ 2147483646 w 304"/>
              <a:gd name="T3" fmla="*/ 0 h 1"/>
              <a:gd name="T4" fmla="*/ 0 60000 65536"/>
              <a:gd name="T5" fmla="*/ 0 60000 65536"/>
            </a:gdLst>
            <a:ahLst/>
            <a:cxnLst>
              <a:cxn ang="T4">
                <a:pos x="T0" y="T1"/>
              </a:cxn>
              <a:cxn ang="T5">
                <a:pos x="T2" y="T3"/>
              </a:cxn>
            </a:cxnLst>
            <a:rect l="0" t="0" r="r" b="b"/>
            <a:pathLst>
              <a:path w="304" h="1">
                <a:moveTo>
                  <a:pt x="0" y="0"/>
                </a:moveTo>
                <a:lnTo>
                  <a:pt x="303" y="0"/>
                </a:lnTo>
              </a:path>
            </a:pathLst>
          </a:custGeom>
          <a:solidFill>
            <a:srgbClr val="FFD255"/>
          </a:solidFill>
          <a:ln w="50800" cap="rnd" cmpd="sng">
            <a:solidFill>
              <a:schemeClr val="accent2"/>
            </a:solidFill>
            <a:prstDash val="solid"/>
            <a:round/>
            <a:headEnd type="none" w="sm" len="sm"/>
            <a:tailEnd type="none" w="sm" len="sm"/>
          </a:ln>
          <a:effectLst>
            <a:outerShdw dist="35921" dir="2700000" algn="ctr" rotWithShape="0">
              <a:schemeClr val="bg2"/>
            </a:outerShdw>
          </a:effectLst>
        </p:spPr>
        <p:txBody>
          <a:bodyPr/>
          <a:lstStyle/>
          <a:p>
            <a:endParaRPr lang="zh-CN" altLang="en-US"/>
          </a:p>
        </p:txBody>
      </p:sp>
      <p:sp>
        <p:nvSpPr>
          <p:cNvPr id="18" name="Freeform 24"/>
          <p:cNvSpPr>
            <a:spLocks/>
          </p:cNvSpPr>
          <p:nvPr/>
        </p:nvSpPr>
        <p:spPr bwMode="auto">
          <a:xfrm>
            <a:off x="2571721" y="3940159"/>
            <a:ext cx="1373188" cy="173038"/>
          </a:xfrm>
          <a:custGeom>
            <a:avLst/>
            <a:gdLst>
              <a:gd name="T0" fmla="*/ 0 w 769"/>
              <a:gd name="T1" fmla="*/ 0 h 97"/>
              <a:gd name="T2" fmla="*/ 2147483646 w 769"/>
              <a:gd name="T3" fmla="*/ 0 h 97"/>
              <a:gd name="T4" fmla="*/ 2147483646 w 769"/>
              <a:gd name="T5" fmla="*/ 2147483646 h 97"/>
              <a:gd name="T6" fmla="*/ 2147483646 w 769"/>
              <a:gd name="T7" fmla="*/ 2147483646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97">
                <a:moveTo>
                  <a:pt x="0" y="0"/>
                </a:moveTo>
                <a:lnTo>
                  <a:pt x="432" y="0"/>
                </a:lnTo>
                <a:lnTo>
                  <a:pt x="336" y="96"/>
                </a:lnTo>
                <a:lnTo>
                  <a:pt x="768" y="96"/>
                </a:lnTo>
              </a:path>
            </a:pathLst>
          </a:custGeom>
          <a:noFill/>
          <a:ln w="50800" cap="rnd" cmpd="sng">
            <a:solidFill>
              <a:schemeClr val="accent2"/>
            </a:solidFill>
            <a:prstDash val="solid"/>
            <a:round/>
            <a:headEnd type="none" w="sm" len="sm"/>
            <a:tailEnd type="none" w="sm" len="sm"/>
          </a:ln>
          <a:effectLst>
            <a:outerShdw dist="17961" dir="2700000" algn="ctr" rotWithShape="0">
              <a:schemeClr val="tx1"/>
            </a:outerShdw>
          </a:effectLst>
        </p:spPr>
        <p:txBody>
          <a:bodyPr/>
          <a:lstStyle/>
          <a:p>
            <a:endParaRPr lang="zh-CN" altLang="en-US"/>
          </a:p>
        </p:txBody>
      </p:sp>
      <p:sp>
        <p:nvSpPr>
          <p:cNvPr id="19" name="Freeform 25"/>
          <p:cNvSpPr>
            <a:spLocks/>
          </p:cNvSpPr>
          <p:nvPr/>
        </p:nvSpPr>
        <p:spPr bwMode="auto">
          <a:xfrm>
            <a:off x="4114771" y="3940159"/>
            <a:ext cx="1373188" cy="173038"/>
          </a:xfrm>
          <a:custGeom>
            <a:avLst/>
            <a:gdLst>
              <a:gd name="T0" fmla="*/ 0 w 769"/>
              <a:gd name="T1" fmla="*/ 0 h 97"/>
              <a:gd name="T2" fmla="*/ 2147483646 w 769"/>
              <a:gd name="T3" fmla="*/ 0 h 97"/>
              <a:gd name="T4" fmla="*/ 2147483646 w 769"/>
              <a:gd name="T5" fmla="*/ 2147483646 h 97"/>
              <a:gd name="T6" fmla="*/ 2147483646 w 769"/>
              <a:gd name="T7" fmla="*/ 2147483646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97">
                <a:moveTo>
                  <a:pt x="0" y="0"/>
                </a:moveTo>
                <a:lnTo>
                  <a:pt x="432" y="0"/>
                </a:lnTo>
                <a:lnTo>
                  <a:pt x="336" y="96"/>
                </a:lnTo>
                <a:lnTo>
                  <a:pt x="768" y="96"/>
                </a:lnTo>
              </a:path>
            </a:pathLst>
          </a:custGeom>
          <a:noFill/>
          <a:ln w="50800" cap="rnd" cmpd="sng">
            <a:solidFill>
              <a:schemeClr val="accent2"/>
            </a:solidFill>
            <a:prstDash val="solid"/>
            <a:round/>
            <a:headEnd type="none" w="sm" len="sm"/>
            <a:tailEnd type="none" w="sm" len="sm"/>
          </a:ln>
          <a:effectLst>
            <a:outerShdw dist="17961" dir="2700000" algn="ctr" rotWithShape="0">
              <a:schemeClr val="tx1"/>
            </a:outerShdw>
          </a:effectLst>
        </p:spPr>
        <p:txBody>
          <a:bodyPr/>
          <a:lstStyle/>
          <a:p>
            <a:endParaRPr lang="zh-CN" altLang="en-US"/>
          </a:p>
        </p:txBody>
      </p:sp>
      <p:sp>
        <p:nvSpPr>
          <p:cNvPr id="20" name="Freeform 26"/>
          <p:cNvSpPr>
            <a:spLocks/>
          </p:cNvSpPr>
          <p:nvPr/>
        </p:nvSpPr>
        <p:spPr bwMode="auto">
          <a:xfrm>
            <a:off x="5743546" y="3940159"/>
            <a:ext cx="1373188" cy="173038"/>
          </a:xfrm>
          <a:custGeom>
            <a:avLst/>
            <a:gdLst>
              <a:gd name="T0" fmla="*/ 0 w 769"/>
              <a:gd name="T1" fmla="*/ 0 h 97"/>
              <a:gd name="T2" fmla="*/ 2147483646 w 769"/>
              <a:gd name="T3" fmla="*/ 0 h 97"/>
              <a:gd name="T4" fmla="*/ 2147483646 w 769"/>
              <a:gd name="T5" fmla="*/ 2147483646 h 97"/>
              <a:gd name="T6" fmla="*/ 2147483646 w 769"/>
              <a:gd name="T7" fmla="*/ 2147483646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97">
                <a:moveTo>
                  <a:pt x="0" y="0"/>
                </a:moveTo>
                <a:lnTo>
                  <a:pt x="432" y="0"/>
                </a:lnTo>
                <a:lnTo>
                  <a:pt x="336" y="96"/>
                </a:lnTo>
                <a:lnTo>
                  <a:pt x="768" y="96"/>
                </a:lnTo>
              </a:path>
            </a:pathLst>
          </a:custGeom>
          <a:noFill/>
          <a:ln w="50800" cap="rnd" cmpd="sng">
            <a:solidFill>
              <a:schemeClr val="accent2"/>
            </a:solidFill>
            <a:prstDash val="solid"/>
            <a:round/>
            <a:headEnd type="none" w="sm" len="sm"/>
            <a:tailEnd type="none" w="sm" len="sm"/>
          </a:ln>
          <a:effectLst>
            <a:outerShdw dist="17961" dir="2700000" algn="ctr" rotWithShape="0">
              <a:schemeClr val="tx1"/>
            </a:outerShdw>
          </a:effectLst>
        </p:spPr>
        <p:txBody>
          <a:bodyPr/>
          <a:lstStyle/>
          <a:p>
            <a:endParaRPr lang="zh-CN" altLang="en-US"/>
          </a:p>
        </p:txBody>
      </p:sp>
      <p:sp>
        <p:nvSpPr>
          <p:cNvPr id="21" name="Line 31"/>
          <p:cNvSpPr>
            <a:spLocks noChangeShapeType="1"/>
          </p:cNvSpPr>
          <p:nvPr/>
        </p:nvSpPr>
        <p:spPr bwMode="auto">
          <a:xfrm flipH="1">
            <a:off x="3014634" y="5211747"/>
            <a:ext cx="671512" cy="0"/>
          </a:xfrm>
          <a:prstGeom prst="line">
            <a:avLst/>
          </a:prstGeom>
          <a:noFill/>
          <a:ln w="25400">
            <a:solidFill>
              <a:srgbClr val="000000"/>
            </a:solidFill>
            <a:round/>
            <a:headEnd type="none" w="sm" len="sm"/>
            <a:tailEnd type="triangle" w="med" len="med"/>
          </a:ln>
          <a:effectLst/>
        </p:spPr>
        <p:txBody>
          <a:bodyPr wrap="none" anchor="ctr"/>
          <a:lstStyle/>
          <a:p>
            <a:endParaRPr lang="zh-CN" altLang="en-US"/>
          </a:p>
        </p:txBody>
      </p:sp>
      <p:sp>
        <p:nvSpPr>
          <p:cNvPr id="22" name="Line 32"/>
          <p:cNvSpPr>
            <a:spLocks noChangeShapeType="1"/>
          </p:cNvSpPr>
          <p:nvPr/>
        </p:nvSpPr>
        <p:spPr bwMode="auto">
          <a:xfrm flipH="1">
            <a:off x="4443384" y="4840272"/>
            <a:ext cx="785812" cy="0"/>
          </a:xfrm>
          <a:prstGeom prst="line">
            <a:avLst/>
          </a:prstGeom>
          <a:noFill/>
          <a:ln w="25400">
            <a:solidFill>
              <a:srgbClr val="000000"/>
            </a:solidFill>
            <a:round/>
            <a:headEnd/>
            <a:tailEnd type="triangle" w="med" len="med"/>
          </a:ln>
          <a:effectLst/>
        </p:spPr>
        <p:txBody>
          <a:bodyPr wrap="none" anchor="ctr"/>
          <a:lstStyle/>
          <a:p>
            <a:endParaRPr lang="zh-CN" altLang="en-US"/>
          </a:p>
        </p:txBody>
      </p:sp>
      <p:sp>
        <p:nvSpPr>
          <p:cNvPr id="23" name="Line 33"/>
          <p:cNvSpPr>
            <a:spLocks noChangeShapeType="1"/>
          </p:cNvSpPr>
          <p:nvPr/>
        </p:nvSpPr>
        <p:spPr bwMode="auto">
          <a:xfrm>
            <a:off x="2900334" y="4840272"/>
            <a:ext cx="600075" cy="0"/>
          </a:xfrm>
          <a:prstGeom prst="line">
            <a:avLst/>
          </a:prstGeom>
          <a:noFill/>
          <a:ln w="25400">
            <a:solidFill>
              <a:srgbClr val="000000"/>
            </a:solidFill>
            <a:round/>
            <a:headEnd type="none" w="sm" len="sm"/>
            <a:tailEnd type="triangle" w="med" len="med"/>
          </a:ln>
          <a:effectLst/>
        </p:spPr>
        <p:txBody>
          <a:bodyPr wrap="none" anchor="ctr"/>
          <a:lstStyle/>
          <a:p>
            <a:endParaRPr lang="zh-CN" altLang="en-US"/>
          </a:p>
        </p:txBody>
      </p:sp>
      <p:sp>
        <p:nvSpPr>
          <p:cNvPr id="24" name="Line 34"/>
          <p:cNvSpPr>
            <a:spLocks noChangeShapeType="1"/>
          </p:cNvSpPr>
          <p:nvPr/>
        </p:nvSpPr>
        <p:spPr bwMode="auto">
          <a:xfrm>
            <a:off x="4286221" y="5211747"/>
            <a:ext cx="857250" cy="0"/>
          </a:xfrm>
          <a:prstGeom prst="line">
            <a:avLst/>
          </a:prstGeom>
          <a:noFill/>
          <a:ln w="25400">
            <a:solidFill>
              <a:srgbClr val="000000"/>
            </a:solidFill>
            <a:round/>
            <a:headEnd/>
            <a:tailEnd type="triangle" w="med" len="med"/>
          </a:ln>
          <a:effectLst/>
        </p:spPr>
        <p:txBody>
          <a:bodyPr wrap="none" anchor="ctr"/>
          <a:lstStyle/>
          <a:p>
            <a:endParaRPr lang="zh-CN" altLang="en-US"/>
          </a:p>
        </p:txBody>
      </p:sp>
      <p:sp>
        <p:nvSpPr>
          <p:cNvPr id="25" name="Line 35"/>
          <p:cNvSpPr>
            <a:spLocks noChangeShapeType="1"/>
          </p:cNvSpPr>
          <p:nvPr/>
        </p:nvSpPr>
        <p:spPr bwMode="auto">
          <a:xfrm flipH="1">
            <a:off x="1485871" y="4840272"/>
            <a:ext cx="671513" cy="0"/>
          </a:xfrm>
          <a:prstGeom prst="line">
            <a:avLst/>
          </a:prstGeom>
          <a:noFill/>
          <a:ln w="25400">
            <a:solidFill>
              <a:srgbClr val="000000"/>
            </a:solidFill>
            <a:round/>
            <a:headEnd/>
            <a:tailEnd type="triangle" w="med" len="med"/>
          </a:ln>
          <a:effectLst/>
        </p:spPr>
        <p:txBody>
          <a:bodyPr wrap="none" anchor="ctr"/>
          <a:lstStyle/>
          <a:p>
            <a:endParaRPr lang="zh-CN" altLang="en-US"/>
          </a:p>
        </p:txBody>
      </p:sp>
      <p:sp>
        <p:nvSpPr>
          <p:cNvPr id="26" name="Line 36"/>
          <p:cNvSpPr>
            <a:spLocks noChangeShapeType="1"/>
          </p:cNvSpPr>
          <p:nvPr/>
        </p:nvSpPr>
        <p:spPr bwMode="auto">
          <a:xfrm>
            <a:off x="7615209" y="5197459"/>
            <a:ext cx="600075" cy="0"/>
          </a:xfrm>
          <a:prstGeom prst="line">
            <a:avLst/>
          </a:prstGeom>
          <a:noFill/>
          <a:ln w="25400">
            <a:solidFill>
              <a:srgbClr val="000000"/>
            </a:solidFill>
            <a:round/>
            <a:headEnd/>
            <a:tailEnd type="triangle" w="med" len="med"/>
          </a:ln>
          <a:effectLst/>
        </p:spPr>
        <p:txBody>
          <a:bodyPr wrap="none" anchor="ctr"/>
          <a:lstStyle/>
          <a:p>
            <a:endParaRPr lang="zh-CN" altLang="en-US"/>
          </a:p>
        </p:txBody>
      </p:sp>
      <p:sp>
        <p:nvSpPr>
          <p:cNvPr id="27" name="Line 37"/>
          <p:cNvSpPr>
            <a:spLocks noChangeShapeType="1"/>
          </p:cNvSpPr>
          <p:nvPr/>
        </p:nvSpPr>
        <p:spPr bwMode="auto">
          <a:xfrm>
            <a:off x="7915246" y="3640122"/>
            <a:ext cx="0" cy="885825"/>
          </a:xfrm>
          <a:prstGeom prst="line">
            <a:avLst/>
          </a:prstGeom>
          <a:noFill/>
          <a:ln w="50800">
            <a:solidFill>
              <a:schemeClr val="accent2"/>
            </a:solidFill>
            <a:round/>
            <a:headEnd type="none" w="sm" len="sm"/>
            <a:tailEnd type="none" w="sm" len="sm"/>
          </a:ln>
          <a:effectLst>
            <a:outerShdw dist="35921" dir="2700000" algn="ctr" rotWithShape="0">
              <a:schemeClr val="bg2"/>
            </a:outerShdw>
          </a:effectLst>
        </p:spPr>
        <p:txBody>
          <a:bodyPr wrap="none" anchor="ctr"/>
          <a:lstStyle/>
          <a:p>
            <a:endParaRPr lang="zh-CN" altLang="en-US"/>
          </a:p>
        </p:txBody>
      </p:sp>
      <p:sp>
        <p:nvSpPr>
          <p:cNvPr id="28" name="Line 42"/>
          <p:cNvSpPr>
            <a:spLocks noChangeShapeType="1"/>
          </p:cNvSpPr>
          <p:nvPr/>
        </p:nvSpPr>
        <p:spPr bwMode="auto">
          <a:xfrm>
            <a:off x="6115021" y="4840272"/>
            <a:ext cx="600075" cy="0"/>
          </a:xfrm>
          <a:prstGeom prst="line">
            <a:avLst/>
          </a:prstGeom>
          <a:noFill/>
          <a:ln w="25400">
            <a:solidFill>
              <a:srgbClr val="000000"/>
            </a:solidFill>
            <a:round/>
            <a:headEnd type="none" w="sm" len="sm"/>
            <a:tailEnd type="triangle" w="med" len="med"/>
          </a:ln>
          <a:effectLst/>
        </p:spPr>
        <p:txBody>
          <a:bodyPr wrap="none" anchor="ctr"/>
          <a:lstStyle/>
          <a:p>
            <a:endParaRPr lang="zh-CN" altLang="en-US"/>
          </a:p>
        </p:txBody>
      </p:sp>
      <p:sp>
        <p:nvSpPr>
          <p:cNvPr id="29" name="Line 43"/>
          <p:cNvSpPr>
            <a:spLocks noChangeShapeType="1"/>
          </p:cNvSpPr>
          <p:nvPr/>
        </p:nvSpPr>
        <p:spPr bwMode="auto">
          <a:xfrm flipH="1">
            <a:off x="6072159" y="5197459"/>
            <a:ext cx="671512" cy="0"/>
          </a:xfrm>
          <a:prstGeom prst="line">
            <a:avLst/>
          </a:prstGeom>
          <a:noFill/>
          <a:ln w="25400">
            <a:solidFill>
              <a:srgbClr val="000000"/>
            </a:solidFill>
            <a:round/>
            <a:headEnd type="none" w="sm" len="sm"/>
            <a:tailEnd type="triangle" w="med" len="med"/>
          </a:ln>
          <a:effectLst/>
        </p:spPr>
        <p:txBody>
          <a:bodyPr wrap="none" anchor="ctr"/>
          <a:lstStyle/>
          <a:p>
            <a:endParaRPr lang="zh-CN" altLang="en-US"/>
          </a:p>
        </p:txBody>
      </p:sp>
      <p:sp>
        <p:nvSpPr>
          <p:cNvPr id="30" name="Rectangle 44"/>
          <p:cNvSpPr>
            <a:spLocks noChangeArrowheads="1"/>
          </p:cNvSpPr>
          <p:nvPr/>
        </p:nvSpPr>
        <p:spPr bwMode="auto">
          <a:xfrm>
            <a:off x="2063721" y="4548172"/>
            <a:ext cx="928688" cy="842962"/>
          </a:xfrm>
          <a:prstGeom prst="rect">
            <a:avLst/>
          </a:prstGeom>
          <a:solidFill>
            <a:schemeClr val="folHlink"/>
          </a:solidFill>
          <a:ln w="12700">
            <a:solidFill>
              <a:schemeClr val="tx1"/>
            </a:solidFill>
            <a:miter lim="800000"/>
            <a:headEnd/>
            <a:tailEnd/>
          </a:ln>
          <a:effectLst>
            <a:outerShdw dist="35921" dir="2700000" algn="ctr" rotWithShape="0">
              <a:schemeClr val="tx1"/>
            </a:outerShdw>
          </a:effectLst>
        </p:spPr>
        <p:txBody>
          <a:bodyPr wrap="none" lIns="103584" tIns="51793" rIns="103584" bIns="51793" anchor="ctr"/>
          <a:lstStyle/>
          <a:p>
            <a:pPr algn="ctr" defTabSz="1028700"/>
            <a:r>
              <a:rPr lang="en-US" altLang="zh-CN" sz="1600" b="1">
                <a:latin typeface="Helvetica" pitchFamily="34" charset="0"/>
              </a:rPr>
              <a:t>Routing</a:t>
            </a:r>
          </a:p>
          <a:p>
            <a:pPr algn="ctr" defTabSz="1028700"/>
            <a:r>
              <a:rPr lang="en-US" altLang="zh-CN" sz="1600" b="1">
                <a:latin typeface="Helvetica" pitchFamily="34" charset="0"/>
              </a:rPr>
              <a:t>Table</a:t>
            </a:r>
          </a:p>
        </p:txBody>
      </p:sp>
      <p:sp>
        <p:nvSpPr>
          <p:cNvPr id="31" name="Rectangle 45"/>
          <p:cNvSpPr>
            <a:spLocks noChangeArrowheads="1"/>
          </p:cNvSpPr>
          <p:nvPr/>
        </p:nvSpPr>
        <p:spPr bwMode="auto">
          <a:xfrm>
            <a:off x="3521046" y="4548172"/>
            <a:ext cx="928688" cy="842962"/>
          </a:xfrm>
          <a:prstGeom prst="rect">
            <a:avLst/>
          </a:prstGeom>
          <a:solidFill>
            <a:schemeClr val="folHlink"/>
          </a:solidFill>
          <a:ln w="12700">
            <a:solidFill>
              <a:schemeClr val="tx1"/>
            </a:solidFill>
            <a:miter lim="800000"/>
            <a:headEnd/>
            <a:tailEnd/>
          </a:ln>
          <a:effectLst>
            <a:outerShdw dist="35921" dir="2700000" algn="ctr" rotWithShape="0">
              <a:schemeClr val="tx1"/>
            </a:outerShdw>
          </a:effectLst>
        </p:spPr>
        <p:txBody>
          <a:bodyPr wrap="none" lIns="103584" tIns="51793" rIns="103584" bIns="51793" anchor="ctr"/>
          <a:lstStyle/>
          <a:p>
            <a:pPr algn="ctr" defTabSz="1028700"/>
            <a:r>
              <a:rPr lang="en-US" altLang="zh-CN" sz="1600" b="1">
                <a:latin typeface="Helvetica" pitchFamily="34" charset="0"/>
              </a:rPr>
              <a:t>Routing</a:t>
            </a:r>
          </a:p>
          <a:p>
            <a:pPr algn="ctr" defTabSz="1028700"/>
            <a:r>
              <a:rPr lang="en-US" altLang="zh-CN" sz="1600" b="1">
                <a:latin typeface="Helvetica" pitchFamily="34" charset="0"/>
              </a:rPr>
              <a:t>Table</a:t>
            </a:r>
          </a:p>
        </p:txBody>
      </p:sp>
      <p:sp>
        <p:nvSpPr>
          <p:cNvPr id="32" name="Rectangle 46"/>
          <p:cNvSpPr>
            <a:spLocks noChangeArrowheads="1"/>
          </p:cNvSpPr>
          <p:nvPr/>
        </p:nvSpPr>
        <p:spPr bwMode="auto">
          <a:xfrm>
            <a:off x="5149821" y="4548172"/>
            <a:ext cx="928688" cy="842962"/>
          </a:xfrm>
          <a:prstGeom prst="rect">
            <a:avLst/>
          </a:prstGeom>
          <a:solidFill>
            <a:schemeClr val="folHlink"/>
          </a:solidFill>
          <a:ln w="12700">
            <a:solidFill>
              <a:schemeClr val="tx1"/>
            </a:solidFill>
            <a:miter lim="800000"/>
            <a:headEnd/>
            <a:tailEnd/>
          </a:ln>
          <a:effectLst>
            <a:outerShdw dist="35921" dir="2700000" algn="ctr" rotWithShape="0">
              <a:schemeClr val="tx1"/>
            </a:outerShdw>
          </a:effectLst>
        </p:spPr>
        <p:txBody>
          <a:bodyPr wrap="none" lIns="103584" tIns="51793" rIns="103584" bIns="51793" anchor="ctr"/>
          <a:lstStyle/>
          <a:p>
            <a:pPr algn="ctr" defTabSz="1028700"/>
            <a:r>
              <a:rPr lang="en-US" altLang="zh-CN" sz="1600" b="1">
                <a:latin typeface="Helvetica" pitchFamily="34" charset="0"/>
              </a:rPr>
              <a:t>Routing</a:t>
            </a:r>
          </a:p>
          <a:p>
            <a:pPr algn="ctr" defTabSz="1028700"/>
            <a:r>
              <a:rPr lang="en-US" altLang="zh-CN" sz="1600" b="1">
                <a:latin typeface="Helvetica" pitchFamily="34" charset="0"/>
              </a:rPr>
              <a:t>Table</a:t>
            </a:r>
          </a:p>
        </p:txBody>
      </p:sp>
      <p:sp>
        <p:nvSpPr>
          <p:cNvPr id="33" name="Rectangle 47"/>
          <p:cNvSpPr>
            <a:spLocks noChangeArrowheads="1"/>
          </p:cNvSpPr>
          <p:nvPr/>
        </p:nvSpPr>
        <p:spPr bwMode="auto">
          <a:xfrm>
            <a:off x="6692871" y="4548172"/>
            <a:ext cx="928688" cy="842962"/>
          </a:xfrm>
          <a:prstGeom prst="rect">
            <a:avLst/>
          </a:prstGeom>
          <a:solidFill>
            <a:schemeClr val="folHlink"/>
          </a:solidFill>
          <a:ln w="12700">
            <a:solidFill>
              <a:schemeClr val="tx1"/>
            </a:solidFill>
            <a:miter lim="800000"/>
            <a:headEnd/>
            <a:tailEnd/>
          </a:ln>
          <a:effectLst>
            <a:outerShdw dist="35921" dir="2700000" algn="ctr" rotWithShape="0">
              <a:schemeClr val="tx1"/>
            </a:outerShdw>
          </a:effectLst>
        </p:spPr>
        <p:txBody>
          <a:bodyPr wrap="none" lIns="103584" tIns="51793" rIns="103584" bIns="51793" anchor="ctr"/>
          <a:lstStyle/>
          <a:p>
            <a:pPr algn="ctr" defTabSz="1028700"/>
            <a:r>
              <a:rPr lang="en-US" altLang="zh-CN" sz="1600" b="1">
                <a:latin typeface="Helvetica" pitchFamily="34" charset="0"/>
              </a:rPr>
              <a:t>Routing</a:t>
            </a:r>
          </a:p>
          <a:p>
            <a:pPr algn="ctr" defTabSz="1028700"/>
            <a:r>
              <a:rPr lang="en-US" altLang="zh-CN" sz="1600" b="1">
                <a:latin typeface="Helvetica" pitchFamily="34" charset="0"/>
              </a:rPr>
              <a:t>Table</a:t>
            </a:r>
          </a:p>
        </p:txBody>
      </p:sp>
      <p:sp>
        <p:nvSpPr>
          <p:cNvPr id="34" name="Line 48"/>
          <p:cNvSpPr>
            <a:spLocks noChangeShapeType="1"/>
          </p:cNvSpPr>
          <p:nvPr/>
        </p:nvSpPr>
        <p:spPr bwMode="auto">
          <a:xfrm>
            <a:off x="1314421" y="3640122"/>
            <a:ext cx="0" cy="885825"/>
          </a:xfrm>
          <a:prstGeom prst="line">
            <a:avLst/>
          </a:prstGeom>
          <a:noFill/>
          <a:ln w="50800">
            <a:solidFill>
              <a:schemeClr val="accent2"/>
            </a:solidFill>
            <a:round/>
            <a:headEnd type="none" w="sm" len="sm"/>
            <a:tailEnd type="none" w="sm" len="sm"/>
          </a:ln>
          <a:effectLst>
            <a:outerShdw dist="35921" dir="2700000" algn="ctr" rotWithShape="0">
              <a:schemeClr val="bg2"/>
            </a:outerShdw>
          </a:effectLst>
        </p:spPr>
        <p:txBody>
          <a:bodyPr wrap="none" anchor="ctr"/>
          <a:lstStyle/>
          <a:p>
            <a:endParaRPr lang="zh-CN" altLang="en-US"/>
          </a:p>
        </p:txBody>
      </p:sp>
      <p:sp>
        <p:nvSpPr>
          <p:cNvPr id="35" name="Rectangle 49"/>
          <p:cNvSpPr>
            <a:spLocks noChangeArrowheads="1"/>
          </p:cNvSpPr>
          <p:nvPr/>
        </p:nvSpPr>
        <p:spPr bwMode="auto">
          <a:xfrm>
            <a:off x="500034" y="2687622"/>
            <a:ext cx="2178050" cy="758825"/>
          </a:xfrm>
          <a:prstGeom prst="rect">
            <a:avLst/>
          </a:prstGeom>
          <a:solidFill>
            <a:srgbClr val="CAD2DC"/>
          </a:solidFill>
          <a:ln w="12700">
            <a:solidFill>
              <a:schemeClr val="tx1"/>
            </a:solidFill>
            <a:miter lim="800000"/>
            <a:headEnd/>
            <a:tailEnd/>
          </a:ln>
          <a:effectLst>
            <a:outerShdw dist="35921" dir="2700000" algn="ctr" rotWithShape="0">
              <a:schemeClr val="tx1"/>
            </a:outerShdw>
          </a:effectLst>
        </p:spPr>
        <p:txBody>
          <a:bodyPr wrap="none" lIns="103584" tIns="51793" rIns="103584" bIns="51793" anchor="ctr"/>
          <a:lstStyle/>
          <a:p>
            <a:pPr algn="ctr" defTabSz="1028700"/>
            <a:r>
              <a:rPr lang="zh-CN" altLang="en-US" sz="2000" b="1">
                <a:solidFill>
                  <a:srgbClr val="FF0000"/>
                </a:solidFill>
                <a:latin typeface="Helvetica" pitchFamily="34" charset="0"/>
              </a:rPr>
              <a:t>距离</a:t>
            </a:r>
            <a:r>
              <a:rPr lang="en-US" altLang="zh-CN" sz="2000" b="1">
                <a:solidFill>
                  <a:srgbClr val="FF0000"/>
                </a:solidFill>
                <a:latin typeface="Helvetica" pitchFamily="34" charset="0"/>
              </a:rPr>
              <a:t>—</a:t>
            </a:r>
            <a:r>
              <a:rPr lang="zh-CN" altLang="en-US" sz="2000" b="1">
                <a:solidFill>
                  <a:srgbClr val="FF0000"/>
                </a:solidFill>
                <a:latin typeface="Helvetica" pitchFamily="34" charset="0"/>
              </a:rPr>
              <a:t>表示远近</a:t>
            </a:r>
          </a:p>
          <a:p>
            <a:pPr algn="ctr" defTabSz="1028700"/>
            <a:r>
              <a:rPr lang="zh-CN" altLang="en-US" sz="2000" b="1">
                <a:solidFill>
                  <a:srgbClr val="FF0000"/>
                </a:solidFill>
                <a:latin typeface="Helvetica" pitchFamily="34" charset="0"/>
              </a:rPr>
              <a:t>矢量</a:t>
            </a:r>
            <a:r>
              <a:rPr lang="en-US" altLang="zh-CN" sz="2000" b="1">
                <a:solidFill>
                  <a:srgbClr val="FF0000"/>
                </a:solidFill>
                <a:latin typeface="Helvetica" pitchFamily="34" charset="0"/>
              </a:rPr>
              <a:t>—</a:t>
            </a:r>
            <a:r>
              <a:rPr lang="zh-CN" altLang="en-US" sz="2000" b="1">
                <a:solidFill>
                  <a:srgbClr val="FF0000"/>
                </a:solidFill>
                <a:latin typeface="Helvetica" pitchFamily="34" charset="0"/>
              </a:rPr>
              <a:t>表示方向</a:t>
            </a:r>
          </a:p>
        </p:txBody>
      </p:sp>
      <p:pic>
        <p:nvPicPr>
          <p:cNvPr id="36" name="Picture 51" descr="GER---"/>
          <p:cNvPicPr>
            <a:picLocks noChangeAspect="1" noChangeArrowheads="1"/>
          </p:cNvPicPr>
          <p:nvPr/>
        </p:nvPicPr>
        <p:blipFill>
          <a:blip r:embed="rId3"/>
          <a:srcRect/>
          <a:stretch>
            <a:fillRect/>
          </a:stretch>
        </p:blipFill>
        <p:spPr bwMode="auto">
          <a:xfrm>
            <a:off x="4540221" y="1214422"/>
            <a:ext cx="939800" cy="717550"/>
          </a:xfrm>
          <a:prstGeom prst="rect">
            <a:avLst/>
          </a:prstGeom>
          <a:noFill/>
          <a:ln w="9525">
            <a:noFill/>
            <a:miter lim="800000"/>
            <a:headEnd/>
            <a:tailEnd/>
          </a:ln>
        </p:spPr>
      </p:pic>
      <p:pic>
        <p:nvPicPr>
          <p:cNvPr id="37" name="Picture 52" descr="GER---"/>
          <p:cNvPicPr>
            <a:picLocks noChangeAspect="1" noChangeArrowheads="1"/>
          </p:cNvPicPr>
          <p:nvPr/>
        </p:nvPicPr>
        <p:blipFill>
          <a:blip r:embed="rId3"/>
          <a:srcRect/>
          <a:stretch>
            <a:fillRect/>
          </a:stretch>
        </p:blipFill>
        <p:spPr bwMode="auto">
          <a:xfrm>
            <a:off x="6195984" y="1831959"/>
            <a:ext cx="939800" cy="717550"/>
          </a:xfrm>
          <a:prstGeom prst="rect">
            <a:avLst/>
          </a:prstGeom>
          <a:noFill/>
          <a:ln w="9525">
            <a:noFill/>
            <a:miter lim="800000"/>
            <a:headEnd/>
            <a:tailEnd/>
          </a:ln>
        </p:spPr>
      </p:pic>
      <p:pic>
        <p:nvPicPr>
          <p:cNvPr id="38" name="Picture 53" descr="GER---"/>
          <p:cNvPicPr>
            <a:picLocks noChangeAspect="1" noChangeArrowheads="1"/>
          </p:cNvPicPr>
          <p:nvPr/>
        </p:nvPicPr>
        <p:blipFill>
          <a:blip r:embed="rId3"/>
          <a:srcRect/>
          <a:stretch>
            <a:fillRect/>
          </a:stretch>
        </p:blipFill>
        <p:spPr bwMode="auto">
          <a:xfrm>
            <a:off x="2882871" y="1831959"/>
            <a:ext cx="939800" cy="717550"/>
          </a:xfrm>
          <a:prstGeom prst="rect">
            <a:avLst/>
          </a:prstGeom>
          <a:noFill/>
          <a:ln w="9525">
            <a:noFill/>
            <a:miter lim="800000"/>
            <a:headEnd/>
            <a:tailEnd/>
          </a:ln>
        </p:spPr>
      </p:pic>
      <p:pic>
        <p:nvPicPr>
          <p:cNvPr id="39" name="Picture 54" descr="GER---"/>
          <p:cNvPicPr>
            <a:picLocks noChangeAspect="1" noChangeArrowheads="1"/>
          </p:cNvPicPr>
          <p:nvPr/>
        </p:nvPicPr>
        <p:blipFill>
          <a:blip r:embed="rId3"/>
          <a:srcRect/>
          <a:stretch>
            <a:fillRect/>
          </a:stretch>
        </p:blipFill>
        <p:spPr bwMode="auto">
          <a:xfrm>
            <a:off x="4543396" y="2554272"/>
            <a:ext cx="939800" cy="717550"/>
          </a:xfrm>
          <a:prstGeom prst="rect">
            <a:avLst/>
          </a:prstGeom>
          <a:noFill/>
          <a:ln w="9525">
            <a:noFill/>
            <a:miter lim="800000"/>
            <a:headEnd/>
            <a:tailEnd/>
          </a:ln>
        </p:spPr>
      </p:pic>
      <p:sp>
        <p:nvSpPr>
          <p:cNvPr id="40" name="Rectangle 10"/>
          <p:cNvSpPr>
            <a:spLocks noChangeArrowheads="1"/>
          </p:cNvSpPr>
          <p:nvPr/>
        </p:nvSpPr>
        <p:spPr bwMode="auto">
          <a:xfrm>
            <a:off x="3074959" y="2281222"/>
            <a:ext cx="442912" cy="376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515" tIns="43230" rIns="30515" bIns="43230"/>
          <a:lstStyle/>
          <a:p>
            <a:pPr algn="ctr" defTabSz="1028700">
              <a:lnSpc>
                <a:spcPts val="1800"/>
              </a:lnSpc>
              <a:tabLst>
                <a:tab pos="514350" algn="l"/>
                <a:tab pos="1028700" algn="l"/>
                <a:tab pos="1543050" algn="l"/>
              </a:tabLst>
            </a:pPr>
            <a:r>
              <a:rPr lang="en-US" altLang="zh-CN" sz="1600" b="1">
                <a:solidFill>
                  <a:srgbClr val="FFFFFF"/>
                </a:solidFill>
                <a:effectLst>
                  <a:outerShdw blurRad="38100" dist="38100" dir="2700000" algn="tl">
                    <a:srgbClr val="C0C0C0"/>
                  </a:outerShdw>
                </a:effectLst>
                <a:latin typeface="Helvetica" pitchFamily="34" charset="0"/>
              </a:rPr>
              <a:t>C</a:t>
            </a:r>
          </a:p>
        </p:txBody>
      </p:sp>
      <p:sp>
        <p:nvSpPr>
          <p:cNvPr id="41" name="Rectangle 11"/>
          <p:cNvSpPr>
            <a:spLocks noChangeArrowheads="1"/>
          </p:cNvSpPr>
          <p:nvPr/>
        </p:nvSpPr>
        <p:spPr bwMode="auto">
          <a:xfrm>
            <a:off x="4662459" y="3178159"/>
            <a:ext cx="287337"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515" tIns="43230" rIns="30515" bIns="43230"/>
          <a:lstStyle/>
          <a:p>
            <a:pPr algn="ctr" defTabSz="1028700">
              <a:lnSpc>
                <a:spcPts val="1800"/>
              </a:lnSpc>
              <a:tabLst>
                <a:tab pos="514350" algn="l"/>
                <a:tab pos="1028700" algn="l"/>
                <a:tab pos="1543050" algn="l"/>
              </a:tabLst>
            </a:pPr>
            <a:r>
              <a:rPr lang="en-US" altLang="zh-CN" sz="1600" b="1">
                <a:solidFill>
                  <a:srgbClr val="FFFFFF"/>
                </a:solidFill>
                <a:effectLst>
                  <a:outerShdw blurRad="38100" dist="38100" dir="2700000" algn="tl">
                    <a:srgbClr val="C0C0C0"/>
                  </a:outerShdw>
                </a:effectLst>
                <a:latin typeface="Helvetica" pitchFamily="34" charset="0"/>
              </a:rPr>
              <a:t>D</a:t>
            </a:r>
          </a:p>
        </p:txBody>
      </p:sp>
      <p:sp>
        <p:nvSpPr>
          <p:cNvPr id="42" name="Rectangle 12"/>
          <p:cNvSpPr>
            <a:spLocks noChangeArrowheads="1"/>
          </p:cNvSpPr>
          <p:nvPr/>
        </p:nvSpPr>
        <p:spPr bwMode="auto">
          <a:xfrm>
            <a:off x="4876771" y="1684322"/>
            <a:ext cx="265113" cy="376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515" tIns="43230" rIns="30515" bIns="43230"/>
          <a:lstStyle/>
          <a:p>
            <a:pPr algn="ctr" defTabSz="1028700">
              <a:lnSpc>
                <a:spcPts val="1800"/>
              </a:lnSpc>
              <a:tabLst>
                <a:tab pos="514350" algn="l"/>
                <a:tab pos="1028700" algn="l"/>
                <a:tab pos="1543050" algn="l"/>
              </a:tabLst>
            </a:pPr>
            <a:r>
              <a:rPr lang="en-US" altLang="zh-CN" sz="1600" b="1">
                <a:solidFill>
                  <a:srgbClr val="FFFFFF"/>
                </a:solidFill>
                <a:effectLst>
                  <a:outerShdw blurRad="38100" dist="38100" dir="2700000" algn="tl">
                    <a:srgbClr val="C0C0C0"/>
                  </a:outerShdw>
                </a:effectLst>
                <a:latin typeface="Helvetica" pitchFamily="34" charset="0"/>
              </a:rPr>
              <a:t>B</a:t>
            </a:r>
          </a:p>
        </p:txBody>
      </p:sp>
      <p:sp>
        <p:nvSpPr>
          <p:cNvPr id="43" name="Rectangle 13"/>
          <p:cNvSpPr>
            <a:spLocks noChangeArrowheads="1"/>
          </p:cNvSpPr>
          <p:nvPr/>
        </p:nvSpPr>
        <p:spPr bwMode="auto">
          <a:xfrm>
            <a:off x="6421409" y="2273284"/>
            <a:ext cx="454025" cy="37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515" tIns="43230" rIns="30515" bIns="43230"/>
          <a:lstStyle/>
          <a:p>
            <a:pPr algn="ctr" defTabSz="1028700">
              <a:lnSpc>
                <a:spcPts val="1800"/>
              </a:lnSpc>
              <a:tabLst>
                <a:tab pos="514350" algn="l"/>
                <a:tab pos="1028700" algn="l"/>
                <a:tab pos="1543050" algn="l"/>
              </a:tabLst>
            </a:pPr>
            <a:r>
              <a:rPr lang="en-US" altLang="zh-CN" sz="1600" b="1">
                <a:solidFill>
                  <a:srgbClr val="FFFFFF"/>
                </a:solidFill>
                <a:effectLst>
                  <a:outerShdw blurRad="38100" dist="38100" dir="2700000" algn="tl">
                    <a:srgbClr val="C0C0C0"/>
                  </a:outerShdw>
                </a:effectLst>
                <a:latin typeface="Helvetica" pitchFamily="34" charset="0"/>
              </a:rPr>
              <a:t>A</a:t>
            </a:r>
          </a:p>
        </p:txBody>
      </p:sp>
      <p:pic>
        <p:nvPicPr>
          <p:cNvPr id="44" name="Picture 55" descr="GER---"/>
          <p:cNvPicPr>
            <a:picLocks noChangeAspect="1" noChangeArrowheads="1"/>
          </p:cNvPicPr>
          <p:nvPr/>
        </p:nvPicPr>
        <p:blipFill>
          <a:blip r:embed="rId3"/>
          <a:srcRect/>
          <a:stretch>
            <a:fillRect/>
          </a:stretch>
        </p:blipFill>
        <p:spPr bwMode="auto">
          <a:xfrm>
            <a:off x="2027209" y="3686159"/>
            <a:ext cx="863600" cy="574675"/>
          </a:xfrm>
          <a:prstGeom prst="rect">
            <a:avLst/>
          </a:prstGeom>
          <a:noFill/>
          <a:ln w="9525">
            <a:noFill/>
            <a:miter lim="800000"/>
            <a:headEnd/>
            <a:tailEnd/>
          </a:ln>
        </p:spPr>
      </p:pic>
      <p:pic>
        <p:nvPicPr>
          <p:cNvPr id="45" name="Picture 56" descr="GER---"/>
          <p:cNvPicPr>
            <a:picLocks noChangeAspect="1" noChangeArrowheads="1"/>
          </p:cNvPicPr>
          <p:nvPr/>
        </p:nvPicPr>
        <p:blipFill>
          <a:blip r:embed="rId3"/>
          <a:srcRect/>
          <a:stretch>
            <a:fillRect/>
          </a:stretch>
        </p:blipFill>
        <p:spPr bwMode="auto">
          <a:xfrm>
            <a:off x="5195859" y="3686159"/>
            <a:ext cx="863600" cy="574675"/>
          </a:xfrm>
          <a:prstGeom prst="rect">
            <a:avLst/>
          </a:prstGeom>
          <a:noFill/>
          <a:ln w="9525">
            <a:noFill/>
            <a:miter lim="800000"/>
            <a:headEnd/>
            <a:tailEnd/>
          </a:ln>
        </p:spPr>
      </p:pic>
      <p:pic>
        <p:nvPicPr>
          <p:cNvPr id="46" name="Picture 57" descr="GER---"/>
          <p:cNvPicPr>
            <a:picLocks noChangeAspect="1" noChangeArrowheads="1"/>
          </p:cNvPicPr>
          <p:nvPr/>
        </p:nvPicPr>
        <p:blipFill>
          <a:blip r:embed="rId3"/>
          <a:srcRect/>
          <a:stretch>
            <a:fillRect/>
          </a:stretch>
        </p:blipFill>
        <p:spPr bwMode="auto">
          <a:xfrm>
            <a:off x="3568671" y="3686159"/>
            <a:ext cx="863600" cy="574675"/>
          </a:xfrm>
          <a:prstGeom prst="rect">
            <a:avLst/>
          </a:prstGeom>
          <a:noFill/>
          <a:ln w="9525">
            <a:noFill/>
            <a:miter lim="800000"/>
            <a:headEnd/>
            <a:tailEnd/>
          </a:ln>
        </p:spPr>
      </p:pic>
      <p:pic>
        <p:nvPicPr>
          <p:cNvPr id="47" name="Picture 58" descr="GER---"/>
          <p:cNvPicPr>
            <a:picLocks noChangeAspect="1" noChangeArrowheads="1"/>
          </p:cNvPicPr>
          <p:nvPr/>
        </p:nvPicPr>
        <p:blipFill>
          <a:blip r:embed="rId3"/>
          <a:srcRect/>
          <a:stretch>
            <a:fillRect/>
          </a:stretch>
        </p:blipFill>
        <p:spPr bwMode="auto">
          <a:xfrm>
            <a:off x="6708746" y="3673459"/>
            <a:ext cx="863600" cy="574675"/>
          </a:xfrm>
          <a:prstGeom prst="rect">
            <a:avLst/>
          </a:prstGeom>
          <a:noFill/>
          <a:ln w="9525">
            <a:noFill/>
            <a:miter lim="800000"/>
            <a:headEnd/>
            <a:tailEnd/>
          </a:ln>
        </p:spPr>
      </p:pic>
      <p:sp>
        <p:nvSpPr>
          <p:cNvPr id="48" name="Rectangle 38"/>
          <p:cNvSpPr>
            <a:spLocks noChangeArrowheads="1"/>
          </p:cNvSpPr>
          <p:nvPr/>
        </p:nvSpPr>
        <p:spPr bwMode="auto">
          <a:xfrm>
            <a:off x="3843309" y="3983022"/>
            <a:ext cx="3016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p>
            <a:pPr algn="ctr" defTabSz="1028700">
              <a:lnSpc>
                <a:spcPts val="2138"/>
              </a:lnSpc>
              <a:tabLst>
                <a:tab pos="514350" algn="l"/>
                <a:tab pos="1028700" algn="l"/>
                <a:tab pos="1543050" algn="l"/>
              </a:tabLst>
            </a:pPr>
            <a:r>
              <a:rPr lang="en-US" altLang="zh-CN" sz="1600" b="1">
                <a:solidFill>
                  <a:srgbClr val="FFFFFF"/>
                </a:solidFill>
                <a:effectLst>
                  <a:outerShdw blurRad="38100" dist="38100" dir="2700000" algn="tl">
                    <a:srgbClr val="C0C0C0"/>
                  </a:outerShdw>
                </a:effectLst>
                <a:latin typeface="Helvetica" pitchFamily="34" charset="0"/>
              </a:rPr>
              <a:t>C</a:t>
            </a:r>
          </a:p>
        </p:txBody>
      </p:sp>
      <p:sp>
        <p:nvSpPr>
          <p:cNvPr id="49" name="Rectangle 39"/>
          <p:cNvSpPr>
            <a:spLocks noChangeArrowheads="1"/>
          </p:cNvSpPr>
          <p:nvPr/>
        </p:nvSpPr>
        <p:spPr bwMode="auto">
          <a:xfrm>
            <a:off x="5443509" y="3983022"/>
            <a:ext cx="3016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p>
            <a:pPr algn="ctr" defTabSz="1028700">
              <a:lnSpc>
                <a:spcPts val="2138"/>
              </a:lnSpc>
              <a:tabLst>
                <a:tab pos="514350" algn="l"/>
                <a:tab pos="1028700" algn="l"/>
                <a:tab pos="1543050" algn="l"/>
              </a:tabLst>
            </a:pPr>
            <a:r>
              <a:rPr lang="en-US" altLang="zh-CN" sz="1600" b="1">
                <a:solidFill>
                  <a:srgbClr val="FFFFFF"/>
                </a:solidFill>
                <a:effectLst>
                  <a:outerShdw blurRad="38100" dist="38100" dir="2700000" algn="tl">
                    <a:srgbClr val="C0C0C0"/>
                  </a:outerShdw>
                </a:effectLst>
                <a:latin typeface="Helvetica" pitchFamily="34" charset="0"/>
              </a:rPr>
              <a:t>B</a:t>
            </a:r>
          </a:p>
        </p:txBody>
      </p:sp>
      <p:sp>
        <p:nvSpPr>
          <p:cNvPr id="50" name="Rectangle 40"/>
          <p:cNvSpPr>
            <a:spLocks noChangeArrowheads="1"/>
          </p:cNvSpPr>
          <p:nvPr/>
        </p:nvSpPr>
        <p:spPr bwMode="auto">
          <a:xfrm>
            <a:off x="7015134" y="3968734"/>
            <a:ext cx="271462"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p>
            <a:pPr algn="ctr" defTabSz="1028700">
              <a:lnSpc>
                <a:spcPts val="2138"/>
              </a:lnSpc>
              <a:tabLst>
                <a:tab pos="514350" algn="l"/>
                <a:tab pos="1028700" algn="l"/>
                <a:tab pos="1543050" algn="l"/>
              </a:tabLst>
            </a:pPr>
            <a:r>
              <a:rPr lang="en-US" altLang="zh-CN" sz="1600" b="1">
                <a:solidFill>
                  <a:srgbClr val="FFFFFF"/>
                </a:solidFill>
                <a:effectLst>
                  <a:outerShdw blurRad="38100" dist="38100" dir="2700000" algn="tl">
                    <a:srgbClr val="C0C0C0"/>
                  </a:outerShdw>
                </a:effectLst>
                <a:latin typeface="Helvetica" pitchFamily="34" charset="0"/>
              </a:rPr>
              <a:t>A</a:t>
            </a:r>
          </a:p>
        </p:txBody>
      </p:sp>
      <p:sp>
        <p:nvSpPr>
          <p:cNvPr id="51" name="Rectangle 41"/>
          <p:cNvSpPr>
            <a:spLocks noChangeArrowheads="1"/>
          </p:cNvSpPr>
          <p:nvPr/>
        </p:nvSpPr>
        <p:spPr bwMode="auto">
          <a:xfrm>
            <a:off x="2328834" y="3983022"/>
            <a:ext cx="3016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p>
            <a:pPr algn="ctr" defTabSz="1028700">
              <a:lnSpc>
                <a:spcPts val="2138"/>
              </a:lnSpc>
              <a:tabLst>
                <a:tab pos="514350" algn="l"/>
                <a:tab pos="1028700" algn="l"/>
                <a:tab pos="1543050" algn="l"/>
              </a:tabLst>
            </a:pPr>
            <a:r>
              <a:rPr lang="en-US" altLang="zh-CN" sz="1600" b="1">
                <a:solidFill>
                  <a:srgbClr val="FFFFFF"/>
                </a:solidFill>
                <a:effectLst>
                  <a:outerShdw blurRad="38100" dist="38100" dir="2700000" algn="tl">
                    <a:srgbClr val="C0C0C0"/>
                  </a:outerShdw>
                </a:effectLst>
                <a:latin typeface="Helvetica" pitchFamily="34" charset="0"/>
              </a:rPr>
              <a:t>D</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zh-CN" altLang="en-US" b="0" dirty="0" smtClean="0"/>
              <a:t>链路状态</a:t>
            </a:r>
            <a:r>
              <a:rPr lang="en-US" altLang="zh-CN" b="0" dirty="0" smtClean="0"/>
              <a:t>(L-S)</a:t>
            </a:r>
            <a:r>
              <a:rPr lang="zh-CN" altLang="en-US" b="0" dirty="0" smtClean="0"/>
              <a:t>路由协议</a:t>
            </a:r>
            <a:endParaRPr lang="zh-CN" altLang="en-US" dirty="0" smtClean="0"/>
          </a:p>
        </p:txBody>
      </p:sp>
      <p:sp>
        <p:nvSpPr>
          <p:cNvPr id="4" name="Freeform 2"/>
          <p:cNvSpPr>
            <a:spLocks/>
          </p:cNvSpPr>
          <p:nvPr/>
        </p:nvSpPr>
        <p:spPr bwMode="auto">
          <a:xfrm>
            <a:off x="1751013" y="1898633"/>
            <a:ext cx="6159500" cy="520700"/>
          </a:xfrm>
          <a:custGeom>
            <a:avLst/>
            <a:gdLst>
              <a:gd name="T0" fmla="*/ 0 w 3880"/>
              <a:gd name="T1" fmla="*/ 0 h 328"/>
              <a:gd name="T2" fmla="*/ 2147483646 w 3880"/>
              <a:gd name="T3" fmla="*/ 0 h 328"/>
              <a:gd name="T4" fmla="*/ 2147483646 w 3880"/>
              <a:gd name="T5" fmla="*/ 2147483646 h 328"/>
              <a:gd name="T6" fmla="*/ 2147483646 w 3880"/>
              <a:gd name="T7" fmla="*/ 2147483646 h 328"/>
              <a:gd name="T8" fmla="*/ 2147483646 w 3880"/>
              <a:gd name="T9" fmla="*/ 2147483646 h 3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80" h="328">
                <a:moveTo>
                  <a:pt x="0" y="0"/>
                </a:moveTo>
                <a:lnTo>
                  <a:pt x="944" y="0"/>
                </a:lnTo>
                <a:lnTo>
                  <a:pt x="1800" y="328"/>
                </a:lnTo>
                <a:lnTo>
                  <a:pt x="2920" y="16"/>
                </a:lnTo>
                <a:lnTo>
                  <a:pt x="3880" y="8"/>
                </a:lnTo>
              </a:path>
            </a:pathLst>
          </a:custGeom>
          <a:noFill/>
          <a:ln w="38100" cap="flat" cmpd="sng">
            <a:solidFill>
              <a:schemeClr val="accent2"/>
            </a:solidFill>
            <a:prstDash val="solid"/>
            <a:round/>
            <a:headEnd type="none" w="sm" len="sm"/>
            <a:tailEnd type="none" w="sm" len="sm"/>
          </a:ln>
          <a:effectLst>
            <a:outerShdw dist="35921" dir="2700000" algn="ctr" rotWithShape="0">
              <a:schemeClr val="tx1"/>
            </a:outerShdw>
          </a:effectLst>
        </p:spPr>
        <p:txBody>
          <a:bodyPr wrap="none" anchor="ctr">
            <a:spAutoFit/>
          </a:bodyPr>
          <a:lstStyle/>
          <a:p>
            <a:endParaRPr lang="zh-CN" altLang="en-US"/>
          </a:p>
        </p:txBody>
      </p:sp>
      <p:sp>
        <p:nvSpPr>
          <p:cNvPr id="5" name="Freeform 3"/>
          <p:cNvSpPr>
            <a:spLocks/>
          </p:cNvSpPr>
          <p:nvPr/>
        </p:nvSpPr>
        <p:spPr bwMode="auto">
          <a:xfrm>
            <a:off x="3033713" y="1466833"/>
            <a:ext cx="3467100" cy="446087"/>
          </a:xfrm>
          <a:custGeom>
            <a:avLst/>
            <a:gdLst>
              <a:gd name="T0" fmla="*/ 0 w 2184"/>
              <a:gd name="T1" fmla="*/ 2147483646 h 281"/>
              <a:gd name="T2" fmla="*/ 2147483646 w 2184"/>
              <a:gd name="T3" fmla="*/ 0 h 281"/>
              <a:gd name="T4" fmla="*/ 2147483646 w 2184"/>
              <a:gd name="T5" fmla="*/ 2147483646 h 281"/>
              <a:gd name="T6" fmla="*/ 0 60000 65536"/>
              <a:gd name="T7" fmla="*/ 0 60000 65536"/>
              <a:gd name="T8" fmla="*/ 0 60000 65536"/>
            </a:gdLst>
            <a:ahLst/>
            <a:cxnLst>
              <a:cxn ang="T6">
                <a:pos x="T0" y="T1"/>
              </a:cxn>
              <a:cxn ang="T7">
                <a:pos x="T2" y="T3"/>
              </a:cxn>
              <a:cxn ang="T8">
                <a:pos x="T4" y="T5"/>
              </a:cxn>
            </a:cxnLst>
            <a:rect l="0" t="0" r="r" b="b"/>
            <a:pathLst>
              <a:path w="2184" h="281">
                <a:moveTo>
                  <a:pt x="0" y="280"/>
                </a:moveTo>
                <a:lnTo>
                  <a:pt x="1024" y="0"/>
                </a:lnTo>
                <a:lnTo>
                  <a:pt x="2184" y="281"/>
                </a:lnTo>
              </a:path>
            </a:pathLst>
          </a:custGeom>
          <a:noFill/>
          <a:ln w="38100" cap="flat" cmpd="sng">
            <a:solidFill>
              <a:schemeClr val="accent2"/>
            </a:solidFill>
            <a:prstDash val="solid"/>
            <a:round/>
            <a:headEnd type="none" w="sm" len="sm"/>
            <a:tailEnd type="none" w="sm" len="sm"/>
          </a:ln>
          <a:effectLst>
            <a:outerShdw dist="35921" dir="2700000" algn="ctr" rotWithShape="0">
              <a:schemeClr val="tx1"/>
            </a:outerShdw>
          </a:effectLst>
        </p:spPr>
        <p:txBody>
          <a:bodyPr wrap="none" anchor="ctr">
            <a:spAutoFit/>
          </a:bodyPr>
          <a:lstStyle/>
          <a:p>
            <a:endParaRPr lang="zh-CN" altLang="en-US"/>
          </a:p>
        </p:txBody>
      </p:sp>
      <p:sp>
        <p:nvSpPr>
          <p:cNvPr id="6" name="Line 5"/>
          <p:cNvSpPr>
            <a:spLocks noChangeShapeType="1"/>
          </p:cNvSpPr>
          <p:nvPr/>
        </p:nvSpPr>
        <p:spPr bwMode="auto">
          <a:xfrm>
            <a:off x="3336925" y="2478070"/>
            <a:ext cx="855663" cy="368300"/>
          </a:xfrm>
          <a:prstGeom prst="line">
            <a:avLst/>
          </a:prstGeom>
          <a:noFill/>
          <a:ln w="50800">
            <a:solidFill>
              <a:schemeClr val="tx2"/>
            </a:solidFill>
            <a:round/>
            <a:headEnd type="triangle" w="med" len="med"/>
            <a:tailEnd type="triangle" w="med" len="med"/>
          </a:ln>
          <a:effectLst/>
        </p:spPr>
        <p:txBody>
          <a:bodyPr wrap="none" anchor="ctr"/>
          <a:lstStyle/>
          <a:p>
            <a:endParaRPr lang="zh-CN" altLang="en-US"/>
          </a:p>
        </p:txBody>
      </p:sp>
      <p:sp>
        <p:nvSpPr>
          <p:cNvPr id="7" name="Line 6"/>
          <p:cNvSpPr>
            <a:spLocks noChangeShapeType="1"/>
          </p:cNvSpPr>
          <p:nvPr/>
        </p:nvSpPr>
        <p:spPr bwMode="auto">
          <a:xfrm flipV="1">
            <a:off x="3378200" y="1285858"/>
            <a:ext cx="852488" cy="365125"/>
          </a:xfrm>
          <a:prstGeom prst="line">
            <a:avLst/>
          </a:prstGeom>
          <a:noFill/>
          <a:ln w="50800">
            <a:solidFill>
              <a:schemeClr val="tx2"/>
            </a:solidFill>
            <a:round/>
            <a:headEnd type="triangle" w="med" len="med"/>
            <a:tailEnd type="triangle" w="med" len="med"/>
          </a:ln>
          <a:effectLst/>
        </p:spPr>
        <p:txBody>
          <a:bodyPr wrap="none" anchor="ctr"/>
          <a:lstStyle/>
          <a:p>
            <a:endParaRPr lang="zh-CN" altLang="en-US"/>
          </a:p>
        </p:txBody>
      </p:sp>
      <p:sp>
        <p:nvSpPr>
          <p:cNvPr id="8" name="Line 7"/>
          <p:cNvSpPr>
            <a:spLocks noChangeShapeType="1"/>
          </p:cNvSpPr>
          <p:nvPr/>
        </p:nvSpPr>
        <p:spPr bwMode="auto">
          <a:xfrm flipV="1">
            <a:off x="5291138" y="2357420"/>
            <a:ext cx="733425" cy="488950"/>
          </a:xfrm>
          <a:prstGeom prst="line">
            <a:avLst/>
          </a:prstGeom>
          <a:noFill/>
          <a:ln w="50800">
            <a:solidFill>
              <a:schemeClr val="tx2"/>
            </a:solidFill>
            <a:round/>
            <a:headEnd type="triangle" w="med" len="med"/>
            <a:tailEnd type="triangle" w="med" len="med"/>
          </a:ln>
          <a:effectLst/>
        </p:spPr>
        <p:txBody>
          <a:bodyPr wrap="none" anchor="ctr"/>
          <a:lstStyle/>
          <a:p>
            <a:endParaRPr lang="zh-CN" altLang="en-US"/>
          </a:p>
        </p:txBody>
      </p:sp>
      <p:sp>
        <p:nvSpPr>
          <p:cNvPr id="9" name="Line 8"/>
          <p:cNvSpPr>
            <a:spLocks noChangeShapeType="1"/>
          </p:cNvSpPr>
          <p:nvPr/>
        </p:nvSpPr>
        <p:spPr bwMode="auto">
          <a:xfrm>
            <a:off x="5257800" y="1257283"/>
            <a:ext cx="855663" cy="366712"/>
          </a:xfrm>
          <a:prstGeom prst="line">
            <a:avLst/>
          </a:prstGeom>
          <a:noFill/>
          <a:ln w="50800">
            <a:solidFill>
              <a:schemeClr val="tx2"/>
            </a:solidFill>
            <a:round/>
            <a:headEnd type="triangle" w="med" len="med"/>
            <a:tailEnd type="triangle" w="med" len="med"/>
          </a:ln>
          <a:effectLst/>
        </p:spPr>
        <p:txBody>
          <a:bodyPr wrap="none" anchor="ctr"/>
          <a:lstStyle/>
          <a:p>
            <a:endParaRPr lang="zh-CN" altLang="en-US"/>
          </a:p>
        </p:txBody>
      </p:sp>
      <p:sp>
        <p:nvSpPr>
          <p:cNvPr id="10" name="Rectangle 9"/>
          <p:cNvSpPr>
            <a:spLocks noChangeArrowheads="1"/>
          </p:cNvSpPr>
          <p:nvPr/>
        </p:nvSpPr>
        <p:spPr bwMode="auto">
          <a:xfrm>
            <a:off x="3036888" y="2914633"/>
            <a:ext cx="3311525" cy="311150"/>
          </a:xfrm>
          <a:prstGeom prst="rect">
            <a:avLst/>
          </a:prstGeom>
          <a:noFill/>
          <a:ln w="9525">
            <a:noFill/>
            <a:miter lim="800000"/>
            <a:headEnd/>
            <a:tailEnd/>
          </a:ln>
          <a:effectLst/>
        </p:spPr>
        <p:txBody>
          <a:bodyPr wrap="none" lIns="19645" tIns="28575" rIns="19645" bIns="28575"/>
          <a:lstStyle/>
          <a:p>
            <a:pPr algn="ctr" defTabSz="928688">
              <a:lnSpc>
                <a:spcPts val="2025"/>
              </a:lnSpc>
              <a:tabLst>
                <a:tab pos="488950" algn="l"/>
                <a:tab pos="976313" algn="l"/>
                <a:tab pos="1466850" algn="l"/>
              </a:tabLst>
            </a:pPr>
            <a:r>
              <a:rPr lang="zh-CN" altLang="en-US" sz="1700" b="1">
                <a:solidFill>
                  <a:srgbClr val="000000"/>
                </a:solidFill>
                <a:latin typeface="Helvetica" pitchFamily="34" charset="0"/>
              </a:rPr>
              <a:t>链路状态报文</a:t>
            </a:r>
          </a:p>
        </p:txBody>
      </p:sp>
      <p:sp>
        <p:nvSpPr>
          <p:cNvPr id="11" name="Rectangle 10"/>
          <p:cNvSpPr>
            <a:spLocks noChangeArrowheads="1"/>
          </p:cNvSpPr>
          <p:nvPr/>
        </p:nvSpPr>
        <p:spPr bwMode="auto">
          <a:xfrm>
            <a:off x="2752725" y="3876658"/>
            <a:ext cx="1384300" cy="677862"/>
          </a:xfrm>
          <a:prstGeom prst="rect">
            <a:avLst/>
          </a:prstGeom>
          <a:noFill/>
          <a:ln w="9525">
            <a:noFill/>
            <a:miter lim="800000"/>
            <a:headEnd/>
            <a:tailEnd/>
          </a:ln>
          <a:effectLst/>
        </p:spPr>
        <p:txBody>
          <a:bodyPr wrap="none" lIns="19645" tIns="28575" rIns="19645" bIns="28575"/>
          <a:lstStyle/>
          <a:p>
            <a:pPr algn="ctr" defTabSz="928688">
              <a:lnSpc>
                <a:spcPts val="2025"/>
              </a:lnSpc>
              <a:tabLst>
                <a:tab pos="488950" algn="l"/>
                <a:tab pos="976313" algn="l"/>
                <a:tab pos="1466850" algn="l"/>
              </a:tabLst>
            </a:pPr>
            <a:r>
              <a:rPr lang="en-US" altLang="zh-CN" sz="1700" b="1">
                <a:solidFill>
                  <a:srgbClr val="000000"/>
                </a:solidFill>
                <a:latin typeface="Helvetica" pitchFamily="34" charset="0"/>
              </a:rPr>
              <a:t>SPF</a:t>
            </a:r>
          </a:p>
          <a:p>
            <a:pPr algn="ctr" defTabSz="928688">
              <a:lnSpc>
                <a:spcPts val="2025"/>
              </a:lnSpc>
              <a:tabLst>
                <a:tab pos="488950" algn="l"/>
                <a:tab pos="976313" algn="l"/>
                <a:tab pos="1466850" algn="l"/>
              </a:tabLst>
            </a:pPr>
            <a:r>
              <a:rPr lang="zh-CN" altLang="en-US" sz="1700" b="1">
                <a:solidFill>
                  <a:srgbClr val="000000"/>
                </a:solidFill>
                <a:latin typeface="Helvetica" pitchFamily="34" charset="0"/>
              </a:rPr>
              <a:t>算法</a:t>
            </a:r>
          </a:p>
        </p:txBody>
      </p:sp>
      <p:sp>
        <p:nvSpPr>
          <p:cNvPr id="12" name="Rectangle 11"/>
          <p:cNvSpPr>
            <a:spLocks noChangeArrowheads="1"/>
          </p:cNvSpPr>
          <p:nvPr/>
        </p:nvSpPr>
        <p:spPr bwMode="auto">
          <a:xfrm>
            <a:off x="1258888" y="3197208"/>
            <a:ext cx="1425575" cy="504825"/>
          </a:xfrm>
          <a:prstGeom prst="rect">
            <a:avLst/>
          </a:prstGeom>
          <a:noFill/>
          <a:ln w="9525">
            <a:noFill/>
            <a:miter lim="800000"/>
            <a:headEnd/>
            <a:tailEnd/>
          </a:ln>
          <a:effectLst/>
        </p:spPr>
        <p:txBody>
          <a:bodyPr wrap="none" lIns="19645" tIns="28575" rIns="19645" bIns="28575"/>
          <a:lstStyle/>
          <a:p>
            <a:pPr algn="ctr" defTabSz="928688">
              <a:lnSpc>
                <a:spcPts val="2025"/>
              </a:lnSpc>
              <a:tabLst>
                <a:tab pos="488950" algn="l"/>
                <a:tab pos="976313" algn="l"/>
                <a:tab pos="1466850" algn="l"/>
              </a:tabLst>
            </a:pPr>
            <a:r>
              <a:rPr lang="zh-CN" altLang="en-US" sz="1700" b="1">
                <a:solidFill>
                  <a:srgbClr val="000000"/>
                </a:solidFill>
                <a:latin typeface="Helvetica" pitchFamily="34" charset="0"/>
              </a:rPr>
              <a:t>链路状态数据库</a:t>
            </a:r>
          </a:p>
        </p:txBody>
      </p:sp>
      <p:grpSp>
        <p:nvGrpSpPr>
          <p:cNvPr id="13" name="Group 12"/>
          <p:cNvGrpSpPr>
            <a:grpSpLocks/>
          </p:cNvGrpSpPr>
          <p:nvPr/>
        </p:nvGrpSpPr>
        <p:grpSpPr bwMode="auto">
          <a:xfrm>
            <a:off x="1382713" y="3754420"/>
            <a:ext cx="1125537" cy="1222375"/>
            <a:chOff x="832" y="2139"/>
            <a:chExt cx="630" cy="684"/>
          </a:xfrm>
        </p:grpSpPr>
        <p:sp>
          <p:nvSpPr>
            <p:cNvPr id="14" name="Rectangle 13"/>
            <p:cNvSpPr>
              <a:spLocks noChangeArrowheads="1"/>
            </p:cNvSpPr>
            <p:nvPr/>
          </p:nvSpPr>
          <p:spPr bwMode="auto">
            <a:xfrm>
              <a:off x="832" y="2139"/>
              <a:ext cx="630" cy="684"/>
            </a:xfrm>
            <a:prstGeom prst="rect">
              <a:avLst/>
            </a:prstGeom>
            <a:solidFill>
              <a:srgbClr val="FFFFFF"/>
            </a:solidFill>
            <a:ln w="25400">
              <a:solidFill>
                <a:srgbClr val="000000"/>
              </a:solidFill>
              <a:miter lim="800000"/>
              <a:headEnd/>
              <a:tailEnd/>
            </a:ln>
            <a:effectLst/>
          </p:spPr>
          <p:txBody>
            <a:bodyPr wrap="none" anchor="ctr"/>
            <a:lstStyle/>
            <a:p>
              <a:pPr eaLnBrk="1" hangingPunct="1"/>
              <a:endParaRPr lang="zh-CN" altLang="en-US"/>
            </a:p>
          </p:txBody>
        </p:sp>
        <p:grpSp>
          <p:nvGrpSpPr>
            <p:cNvPr id="15" name="Group 14"/>
            <p:cNvGrpSpPr>
              <a:grpSpLocks/>
            </p:cNvGrpSpPr>
            <p:nvPr/>
          </p:nvGrpSpPr>
          <p:grpSpPr bwMode="auto">
            <a:xfrm>
              <a:off x="839" y="2207"/>
              <a:ext cx="616" cy="548"/>
              <a:chOff x="839" y="2207"/>
              <a:chExt cx="616" cy="548"/>
            </a:xfrm>
          </p:grpSpPr>
          <p:sp>
            <p:nvSpPr>
              <p:cNvPr id="16" name="Line 15"/>
              <p:cNvSpPr>
                <a:spLocks noChangeShapeType="1"/>
              </p:cNvSpPr>
              <p:nvPr/>
            </p:nvSpPr>
            <p:spPr bwMode="auto">
              <a:xfrm>
                <a:off x="839" y="2207"/>
                <a:ext cx="616" cy="0"/>
              </a:xfrm>
              <a:prstGeom prst="line">
                <a:avLst/>
              </a:prstGeom>
              <a:noFill/>
              <a:ln w="25400">
                <a:solidFill>
                  <a:srgbClr val="000000"/>
                </a:solidFill>
                <a:round/>
                <a:headEnd type="none" w="sm" len="sm"/>
                <a:tailEnd type="none" w="sm" len="sm"/>
              </a:ln>
              <a:effectLst/>
            </p:spPr>
            <p:txBody>
              <a:bodyPr wrap="none" anchor="ctr"/>
              <a:lstStyle/>
              <a:p>
                <a:endParaRPr lang="zh-CN" altLang="en-US"/>
              </a:p>
            </p:txBody>
          </p:sp>
          <p:sp>
            <p:nvSpPr>
              <p:cNvPr id="17" name="Line 16"/>
              <p:cNvSpPr>
                <a:spLocks noChangeShapeType="1"/>
              </p:cNvSpPr>
              <p:nvPr/>
            </p:nvSpPr>
            <p:spPr bwMode="auto">
              <a:xfrm>
                <a:off x="839" y="2276"/>
                <a:ext cx="616" cy="0"/>
              </a:xfrm>
              <a:prstGeom prst="line">
                <a:avLst/>
              </a:prstGeom>
              <a:noFill/>
              <a:ln w="25400">
                <a:solidFill>
                  <a:srgbClr val="000000"/>
                </a:solidFill>
                <a:round/>
                <a:headEnd type="none" w="sm" len="sm"/>
                <a:tailEnd type="none" w="sm" len="sm"/>
              </a:ln>
              <a:effectLst/>
            </p:spPr>
            <p:txBody>
              <a:bodyPr wrap="none" anchor="ctr"/>
              <a:lstStyle/>
              <a:p>
                <a:endParaRPr lang="zh-CN" altLang="en-US"/>
              </a:p>
            </p:txBody>
          </p:sp>
          <p:sp>
            <p:nvSpPr>
              <p:cNvPr id="18" name="Line 17"/>
              <p:cNvSpPr>
                <a:spLocks noChangeShapeType="1"/>
              </p:cNvSpPr>
              <p:nvPr/>
            </p:nvSpPr>
            <p:spPr bwMode="auto">
              <a:xfrm>
                <a:off x="839" y="2344"/>
                <a:ext cx="616" cy="0"/>
              </a:xfrm>
              <a:prstGeom prst="line">
                <a:avLst/>
              </a:prstGeom>
              <a:noFill/>
              <a:ln w="25400">
                <a:solidFill>
                  <a:srgbClr val="000000"/>
                </a:solidFill>
                <a:round/>
                <a:headEnd type="none" w="sm" len="sm"/>
                <a:tailEnd type="none" w="sm" len="sm"/>
              </a:ln>
              <a:effectLst/>
            </p:spPr>
            <p:txBody>
              <a:bodyPr wrap="none" anchor="ctr"/>
              <a:lstStyle/>
              <a:p>
                <a:endParaRPr lang="zh-CN" altLang="en-US"/>
              </a:p>
            </p:txBody>
          </p:sp>
          <p:sp>
            <p:nvSpPr>
              <p:cNvPr id="19" name="Line 18"/>
              <p:cNvSpPr>
                <a:spLocks noChangeShapeType="1"/>
              </p:cNvSpPr>
              <p:nvPr/>
            </p:nvSpPr>
            <p:spPr bwMode="auto">
              <a:xfrm>
                <a:off x="839" y="2413"/>
                <a:ext cx="616" cy="0"/>
              </a:xfrm>
              <a:prstGeom prst="line">
                <a:avLst/>
              </a:prstGeom>
              <a:noFill/>
              <a:ln w="25400">
                <a:solidFill>
                  <a:srgbClr val="000000"/>
                </a:solidFill>
                <a:round/>
                <a:headEnd type="none" w="sm" len="sm"/>
                <a:tailEnd type="none" w="sm" len="sm"/>
              </a:ln>
              <a:effectLst/>
            </p:spPr>
            <p:txBody>
              <a:bodyPr wrap="none" anchor="ctr"/>
              <a:lstStyle/>
              <a:p>
                <a:endParaRPr lang="zh-CN" altLang="en-US"/>
              </a:p>
            </p:txBody>
          </p:sp>
          <p:sp>
            <p:nvSpPr>
              <p:cNvPr id="20" name="Line 19"/>
              <p:cNvSpPr>
                <a:spLocks noChangeShapeType="1"/>
              </p:cNvSpPr>
              <p:nvPr/>
            </p:nvSpPr>
            <p:spPr bwMode="auto">
              <a:xfrm>
                <a:off x="839" y="2481"/>
                <a:ext cx="616" cy="0"/>
              </a:xfrm>
              <a:prstGeom prst="line">
                <a:avLst/>
              </a:prstGeom>
              <a:noFill/>
              <a:ln w="25400">
                <a:solidFill>
                  <a:srgbClr val="000000"/>
                </a:solidFill>
                <a:round/>
                <a:headEnd type="none" w="sm" len="sm"/>
                <a:tailEnd type="none" w="sm" len="sm"/>
              </a:ln>
              <a:effectLst/>
            </p:spPr>
            <p:txBody>
              <a:bodyPr wrap="none" anchor="ctr"/>
              <a:lstStyle/>
              <a:p>
                <a:endParaRPr lang="zh-CN" altLang="en-US"/>
              </a:p>
            </p:txBody>
          </p:sp>
          <p:sp>
            <p:nvSpPr>
              <p:cNvPr id="21" name="Line 20"/>
              <p:cNvSpPr>
                <a:spLocks noChangeShapeType="1"/>
              </p:cNvSpPr>
              <p:nvPr/>
            </p:nvSpPr>
            <p:spPr bwMode="auto">
              <a:xfrm>
                <a:off x="839" y="2549"/>
                <a:ext cx="616" cy="0"/>
              </a:xfrm>
              <a:prstGeom prst="line">
                <a:avLst/>
              </a:prstGeom>
              <a:noFill/>
              <a:ln w="25400">
                <a:solidFill>
                  <a:srgbClr val="000000"/>
                </a:solidFill>
                <a:round/>
                <a:headEnd type="none" w="sm" len="sm"/>
                <a:tailEnd type="none" w="sm" len="sm"/>
              </a:ln>
              <a:effectLst/>
            </p:spPr>
            <p:txBody>
              <a:bodyPr wrap="none" anchor="ctr"/>
              <a:lstStyle/>
              <a:p>
                <a:endParaRPr lang="zh-CN" altLang="en-US"/>
              </a:p>
            </p:txBody>
          </p:sp>
          <p:sp>
            <p:nvSpPr>
              <p:cNvPr id="22" name="Line 21"/>
              <p:cNvSpPr>
                <a:spLocks noChangeShapeType="1"/>
              </p:cNvSpPr>
              <p:nvPr/>
            </p:nvSpPr>
            <p:spPr bwMode="auto">
              <a:xfrm>
                <a:off x="839" y="2618"/>
                <a:ext cx="616" cy="0"/>
              </a:xfrm>
              <a:prstGeom prst="line">
                <a:avLst/>
              </a:prstGeom>
              <a:noFill/>
              <a:ln w="25400">
                <a:solidFill>
                  <a:srgbClr val="000000"/>
                </a:solidFill>
                <a:round/>
                <a:headEnd type="none" w="sm" len="sm"/>
                <a:tailEnd type="none" w="sm" len="sm"/>
              </a:ln>
              <a:effectLst/>
            </p:spPr>
            <p:txBody>
              <a:bodyPr wrap="none" anchor="ctr"/>
              <a:lstStyle/>
              <a:p>
                <a:endParaRPr lang="zh-CN" altLang="en-US"/>
              </a:p>
            </p:txBody>
          </p:sp>
          <p:sp>
            <p:nvSpPr>
              <p:cNvPr id="23" name="Line 22"/>
              <p:cNvSpPr>
                <a:spLocks noChangeShapeType="1"/>
              </p:cNvSpPr>
              <p:nvPr/>
            </p:nvSpPr>
            <p:spPr bwMode="auto">
              <a:xfrm>
                <a:off x="839" y="2686"/>
                <a:ext cx="616" cy="0"/>
              </a:xfrm>
              <a:prstGeom prst="line">
                <a:avLst/>
              </a:prstGeom>
              <a:noFill/>
              <a:ln w="25400">
                <a:solidFill>
                  <a:srgbClr val="000000"/>
                </a:solidFill>
                <a:round/>
                <a:headEnd type="none" w="sm" len="sm"/>
                <a:tailEnd type="none" w="sm" len="sm"/>
              </a:ln>
              <a:effectLst/>
            </p:spPr>
            <p:txBody>
              <a:bodyPr wrap="none" anchor="ctr"/>
              <a:lstStyle/>
              <a:p>
                <a:endParaRPr lang="zh-CN" altLang="en-US"/>
              </a:p>
            </p:txBody>
          </p:sp>
          <p:sp>
            <p:nvSpPr>
              <p:cNvPr id="24" name="Line 23"/>
              <p:cNvSpPr>
                <a:spLocks noChangeShapeType="1"/>
              </p:cNvSpPr>
              <p:nvPr/>
            </p:nvSpPr>
            <p:spPr bwMode="auto">
              <a:xfrm>
                <a:off x="839" y="2755"/>
                <a:ext cx="616" cy="0"/>
              </a:xfrm>
              <a:prstGeom prst="line">
                <a:avLst/>
              </a:prstGeom>
              <a:noFill/>
              <a:ln w="25400">
                <a:solidFill>
                  <a:srgbClr val="000000"/>
                </a:solidFill>
                <a:round/>
                <a:headEnd type="none" w="sm" len="sm"/>
                <a:tailEnd type="none" w="sm" len="sm"/>
              </a:ln>
              <a:effectLst/>
            </p:spPr>
            <p:txBody>
              <a:bodyPr wrap="none" anchor="ctr"/>
              <a:lstStyle/>
              <a:p>
                <a:endParaRPr lang="zh-CN" altLang="en-US"/>
              </a:p>
            </p:txBody>
          </p:sp>
        </p:grpSp>
      </p:grpSp>
      <p:grpSp>
        <p:nvGrpSpPr>
          <p:cNvPr id="25" name="Group 24"/>
          <p:cNvGrpSpPr>
            <a:grpSpLocks/>
          </p:cNvGrpSpPr>
          <p:nvPr/>
        </p:nvGrpSpPr>
        <p:grpSpPr bwMode="auto">
          <a:xfrm>
            <a:off x="4286250" y="3306745"/>
            <a:ext cx="1711325" cy="1587500"/>
            <a:chOff x="2458" y="1888"/>
            <a:chExt cx="958" cy="889"/>
          </a:xfrm>
        </p:grpSpPr>
        <p:grpSp>
          <p:nvGrpSpPr>
            <p:cNvPr id="26" name="Group 25"/>
            <p:cNvGrpSpPr>
              <a:grpSpLocks/>
            </p:cNvGrpSpPr>
            <p:nvPr/>
          </p:nvGrpSpPr>
          <p:grpSpPr bwMode="auto">
            <a:xfrm>
              <a:off x="3074" y="2299"/>
              <a:ext cx="273" cy="273"/>
              <a:chOff x="3074" y="2299"/>
              <a:chExt cx="273" cy="273"/>
            </a:xfrm>
          </p:grpSpPr>
          <p:sp>
            <p:nvSpPr>
              <p:cNvPr id="51" name="Line 26"/>
              <p:cNvSpPr>
                <a:spLocks noChangeShapeType="1"/>
              </p:cNvSpPr>
              <p:nvPr/>
            </p:nvSpPr>
            <p:spPr bwMode="auto">
              <a:xfrm>
                <a:off x="3210" y="2299"/>
                <a:ext cx="0" cy="205"/>
              </a:xfrm>
              <a:prstGeom prst="line">
                <a:avLst/>
              </a:prstGeom>
              <a:noFill/>
              <a:ln w="50800">
                <a:solidFill>
                  <a:srgbClr val="000000"/>
                </a:solidFill>
                <a:round/>
                <a:headEnd type="none" w="sm" len="sm"/>
                <a:tailEnd type="none" w="sm" len="sm"/>
              </a:ln>
              <a:effectLst/>
            </p:spPr>
            <p:txBody>
              <a:bodyPr wrap="none" anchor="ctr"/>
              <a:lstStyle/>
              <a:p>
                <a:endParaRPr lang="zh-CN" altLang="en-US"/>
              </a:p>
            </p:txBody>
          </p:sp>
          <p:sp>
            <p:nvSpPr>
              <p:cNvPr id="52" name="Line 27"/>
              <p:cNvSpPr>
                <a:spLocks noChangeShapeType="1"/>
              </p:cNvSpPr>
              <p:nvPr/>
            </p:nvSpPr>
            <p:spPr bwMode="auto">
              <a:xfrm flipH="1">
                <a:off x="3074" y="2504"/>
                <a:ext cx="136" cy="68"/>
              </a:xfrm>
              <a:prstGeom prst="line">
                <a:avLst/>
              </a:prstGeom>
              <a:noFill/>
              <a:ln w="50800">
                <a:solidFill>
                  <a:srgbClr val="000000"/>
                </a:solidFill>
                <a:round/>
                <a:headEnd type="none" w="sm" len="sm"/>
                <a:tailEnd type="none" w="sm" len="sm"/>
              </a:ln>
              <a:effectLst/>
            </p:spPr>
            <p:txBody>
              <a:bodyPr wrap="none" anchor="ctr"/>
              <a:lstStyle/>
              <a:p>
                <a:endParaRPr lang="zh-CN" altLang="en-US"/>
              </a:p>
            </p:txBody>
          </p:sp>
          <p:sp>
            <p:nvSpPr>
              <p:cNvPr id="53" name="Line 28"/>
              <p:cNvSpPr>
                <a:spLocks noChangeShapeType="1"/>
              </p:cNvSpPr>
              <p:nvPr/>
            </p:nvSpPr>
            <p:spPr bwMode="auto">
              <a:xfrm>
                <a:off x="3210" y="2504"/>
                <a:ext cx="137" cy="68"/>
              </a:xfrm>
              <a:prstGeom prst="line">
                <a:avLst/>
              </a:prstGeom>
              <a:noFill/>
              <a:ln w="50800">
                <a:solidFill>
                  <a:srgbClr val="000000"/>
                </a:solidFill>
                <a:round/>
                <a:headEnd type="none" w="sm" len="sm"/>
                <a:tailEnd type="none" w="sm" len="sm"/>
              </a:ln>
              <a:effectLst/>
            </p:spPr>
            <p:txBody>
              <a:bodyPr wrap="none" anchor="ctr"/>
              <a:lstStyle/>
              <a:p>
                <a:endParaRPr lang="zh-CN" altLang="en-US"/>
              </a:p>
            </p:txBody>
          </p:sp>
        </p:grpSp>
        <p:grpSp>
          <p:nvGrpSpPr>
            <p:cNvPr id="27" name="Group 29"/>
            <p:cNvGrpSpPr>
              <a:grpSpLocks/>
            </p:cNvGrpSpPr>
            <p:nvPr/>
          </p:nvGrpSpPr>
          <p:grpSpPr bwMode="auto">
            <a:xfrm>
              <a:off x="2663" y="1888"/>
              <a:ext cx="547" cy="411"/>
              <a:chOff x="2663" y="1888"/>
              <a:chExt cx="547" cy="411"/>
            </a:xfrm>
          </p:grpSpPr>
          <p:sp>
            <p:nvSpPr>
              <p:cNvPr id="48" name="Line 30"/>
              <p:cNvSpPr>
                <a:spLocks noChangeShapeType="1"/>
              </p:cNvSpPr>
              <p:nvPr/>
            </p:nvSpPr>
            <p:spPr bwMode="auto">
              <a:xfrm>
                <a:off x="2937" y="1888"/>
                <a:ext cx="0" cy="205"/>
              </a:xfrm>
              <a:prstGeom prst="line">
                <a:avLst/>
              </a:prstGeom>
              <a:noFill/>
              <a:ln w="50800">
                <a:solidFill>
                  <a:srgbClr val="000000"/>
                </a:solidFill>
                <a:round/>
                <a:headEnd type="none" w="sm" len="sm"/>
                <a:tailEnd type="none" w="sm" len="sm"/>
              </a:ln>
              <a:effectLst/>
            </p:spPr>
            <p:txBody>
              <a:bodyPr wrap="none" anchor="ctr"/>
              <a:lstStyle/>
              <a:p>
                <a:endParaRPr lang="zh-CN" altLang="en-US"/>
              </a:p>
            </p:txBody>
          </p:sp>
          <p:sp>
            <p:nvSpPr>
              <p:cNvPr id="49" name="Line 31"/>
              <p:cNvSpPr>
                <a:spLocks noChangeShapeType="1"/>
              </p:cNvSpPr>
              <p:nvPr/>
            </p:nvSpPr>
            <p:spPr bwMode="auto">
              <a:xfrm flipH="1">
                <a:off x="2663" y="2093"/>
                <a:ext cx="274" cy="206"/>
              </a:xfrm>
              <a:prstGeom prst="line">
                <a:avLst/>
              </a:prstGeom>
              <a:noFill/>
              <a:ln w="50800">
                <a:solidFill>
                  <a:srgbClr val="000000"/>
                </a:solidFill>
                <a:round/>
                <a:headEnd type="none" w="sm" len="sm"/>
                <a:tailEnd type="none" w="sm" len="sm"/>
              </a:ln>
              <a:effectLst/>
            </p:spPr>
            <p:txBody>
              <a:bodyPr wrap="none" anchor="ctr"/>
              <a:lstStyle/>
              <a:p>
                <a:endParaRPr lang="zh-CN" altLang="en-US"/>
              </a:p>
            </p:txBody>
          </p:sp>
          <p:sp>
            <p:nvSpPr>
              <p:cNvPr id="50" name="Line 32"/>
              <p:cNvSpPr>
                <a:spLocks noChangeShapeType="1"/>
              </p:cNvSpPr>
              <p:nvPr/>
            </p:nvSpPr>
            <p:spPr bwMode="auto">
              <a:xfrm>
                <a:off x="2937" y="2093"/>
                <a:ext cx="273" cy="206"/>
              </a:xfrm>
              <a:prstGeom prst="line">
                <a:avLst/>
              </a:prstGeom>
              <a:noFill/>
              <a:ln w="50800">
                <a:solidFill>
                  <a:srgbClr val="000000"/>
                </a:solidFill>
                <a:round/>
                <a:headEnd type="none" w="sm" len="sm"/>
                <a:tailEnd type="none" w="sm" len="sm"/>
              </a:ln>
              <a:effectLst/>
            </p:spPr>
            <p:txBody>
              <a:bodyPr wrap="none" anchor="ctr"/>
              <a:lstStyle/>
              <a:p>
                <a:endParaRPr lang="zh-CN" altLang="en-US"/>
              </a:p>
            </p:txBody>
          </p:sp>
        </p:grpSp>
        <p:grpSp>
          <p:nvGrpSpPr>
            <p:cNvPr id="28" name="Group 33"/>
            <p:cNvGrpSpPr>
              <a:grpSpLocks/>
            </p:cNvGrpSpPr>
            <p:nvPr/>
          </p:nvGrpSpPr>
          <p:grpSpPr bwMode="auto">
            <a:xfrm>
              <a:off x="2458" y="2572"/>
              <a:ext cx="137" cy="205"/>
              <a:chOff x="2458" y="2572"/>
              <a:chExt cx="137" cy="205"/>
            </a:xfrm>
          </p:grpSpPr>
          <p:sp>
            <p:nvSpPr>
              <p:cNvPr id="45" name="Line 34"/>
              <p:cNvSpPr>
                <a:spLocks noChangeShapeType="1"/>
              </p:cNvSpPr>
              <p:nvPr/>
            </p:nvSpPr>
            <p:spPr bwMode="auto">
              <a:xfrm>
                <a:off x="2526" y="2572"/>
                <a:ext cx="0" cy="137"/>
              </a:xfrm>
              <a:prstGeom prst="line">
                <a:avLst/>
              </a:prstGeom>
              <a:noFill/>
              <a:ln w="50800">
                <a:solidFill>
                  <a:srgbClr val="000000"/>
                </a:solidFill>
                <a:round/>
                <a:headEnd type="none" w="sm" len="sm"/>
                <a:tailEnd type="none" w="sm" len="sm"/>
              </a:ln>
              <a:effectLst/>
            </p:spPr>
            <p:txBody>
              <a:bodyPr wrap="none" anchor="ctr"/>
              <a:lstStyle/>
              <a:p>
                <a:endParaRPr lang="zh-CN" altLang="en-US"/>
              </a:p>
            </p:txBody>
          </p:sp>
          <p:sp>
            <p:nvSpPr>
              <p:cNvPr id="46" name="Line 35"/>
              <p:cNvSpPr>
                <a:spLocks noChangeShapeType="1"/>
              </p:cNvSpPr>
              <p:nvPr/>
            </p:nvSpPr>
            <p:spPr bwMode="auto">
              <a:xfrm flipH="1">
                <a:off x="2458" y="2709"/>
                <a:ext cx="68" cy="68"/>
              </a:xfrm>
              <a:prstGeom prst="line">
                <a:avLst/>
              </a:prstGeom>
              <a:noFill/>
              <a:ln w="50800">
                <a:solidFill>
                  <a:srgbClr val="000000"/>
                </a:solidFill>
                <a:round/>
                <a:headEnd type="none" w="sm" len="sm"/>
                <a:tailEnd type="none" w="sm" len="sm"/>
              </a:ln>
              <a:effectLst/>
            </p:spPr>
            <p:txBody>
              <a:bodyPr wrap="none" anchor="ctr"/>
              <a:lstStyle/>
              <a:p>
                <a:endParaRPr lang="zh-CN" altLang="en-US"/>
              </a:p>
            </p:txBody>
          </p:sp>
          <p:sp>
            <p:nvSpPr>
              <p:cNvPr id="47" name="Line 36"/>
              <p:cNvSpPr>
                <a:spLocks noChangeShapeType="1"/>
              </p:cNvSpPr>
              <p:nvPr/>
            </p:nvSpPr>
            <p:spPr bwMode="auto">
              <a:xfrm>
                <a:off x="2526" y="2709"/>
                <a:ext cx="69" cy="68"/>
              </a:xfrm>
              <a:prstGeom prst="line">
                <a:avLst/>
              </a:prstGeom>
              <a:noFill/>
              <a:ln w="50800">
                <a:solidFill>
                  <a:srgbClr val="000000"/>
                </a:solidFill>
                <a:round/>
                <a:headEnd type="none" w="sm" len="sm"/>
                <a:tailEnd type="none" w="sm" len="sm"/>
              </a:ln>
              <a:effectLst/>
            </p:spPr>
            <p:txBody>
              <a:bodyPr wrap="none" anchor="ctr"/>
              <a:lstStyle/>
              <a:p>
                <a:endParaRPr lang="zh-CN" altLang="en-US"/>
              </a:p>
            </p:txBody>
          </p:sp>
        </p:grpSp>
        <p:grpSp>
          <p:nvGrpSpPr>
            <p:cNvPr id="29" name="Group 37"/>
            <p:cNvGrpSpPr>
              <a:grpSpLocks/>
            </p:cNvGrpSpPr>
            <p:nvPr/>
          </p:nvGrpSpPr>
          <p:grpSpPr bwMode="auto">
            <a:xfrm>
              <a:off x="2526" y="2299"/>
              <a:ext cx="274" cy="273"/>
              <a:chOff x="2526" y="2299"/>
              <a:chExt cx="274" cy="273"/>
            </a:xfrm>
          </p:grpSpPr>
          <p:sp>
            <p:nvSpPr>
              <p:cNvPr id="42" name="Line 38"/>
              <p:cNvSpPr>
                <a:spLocks noChangeShapeType="1"/>
              </p:cNvSpPr>
              <p:nvPr/>
            </p:nvSpPr>
            <p:spPr bwMode="auto">
              <a:xfrm>
                <a:off x="2663" y="2299"/>
                <a:ext cx="0" cy="205"/>
              </a:xfrm>
              <a:prstGeom prst="line">
                <a:avLst/>
              </a:prstGeom>
              <a:noFill/>
              <a:ln w="50800">
                <a:solidFill>
                  <a:srgbClr val="000000"/>
                </a:solidFill>
                <a:round/>
                <a:headEnd type="none" w="sm" len="sm"/>
                <a:tailEnd type="none" w="sm" len="sm"/>
              </a:ln>
              <a:effectLst/>
            </p:spPr>
            <p:txBody>
              <a:bodyPr wrap="none" anchor="ctr"/>
              <a:lstStyle/>
              <a:p>
                <a:endParaRPr lang="zh-CN" altLang="en-US"/>
              </a:p>
            </p:txBody>
          </p:sp>
          <p:sp>
            <p:nvSpPr>
              <p:cNvPr id="43" name="Line 39"/>
              <p:cNvSpPr>
                <a:spLocks noChangeShapeType="1"/>
              </p:cNvSpPr>
              <p:nvPr/>
            </p:nvSpPr>
            <p:spPr bwMode="auto">
              <a:xfrm flipH="1">
                <a:off x="2526" y="2504"/>
                <a:ext cx="137" cy="68"/>
              </a:xfrm>
              <a:prstGeom prst="line">
                <a:avLst/>
              </a:prstGeom>
              <a:noFill/>
              <a:ln w="50800">
                <a:solidFill>
                  <a:srgbClr val="000000"/>
                </a:solidFill>
                <a:round/>
                <a:headEnd type="none" w="sm" len="sm"/>
                <a:tailEnd type="none" w="sm" len="sm"/>
              </a:ln>
              <a:effectLst/>
            </p:spPr>
            <p:txBody>
              <a:bodyPr wrap="none" anchor="ctr"/>
              <a:lstStyle/>
              <a:p>
                <a:endParaRPr lang="zh-CN" altLang="en-US"/>
              </a:p>
            </p:txBody>
          </p:sp>
          <p:sp>
            <p:nvSpPr>
              <p:cNvPr id="44" name="Line 40"/>
              <p:cNvSpPr>
                <a:spLocks noChangeShapeType="1"/>
              </p:cNvSpPr>
              <p:nvPr/>
            </p:nvSpPr>
            <p:spPr bwMode="auto">
              <a:xfrm>
                <a:off x="2663" y="2504"/>
                <a:ext cx="137" cy="68"/>
              </a:xfrm>
              <a:prstGeom prst="line">
                <a:avLst/>
              </a:prstGeom>
              <a:noFill/>
              <a:ln w="50800">
                <a:solidFill>
                  <a:srgbClr val="000000"/>
                </a:solidFill>
                <a:round/>
                <a:headEnd type="none" w="sm" len="sm"/>
                <a:tailEnd type="none" w="sm" len="sm"/>
              </a:ln>
              <a:effectLst/>
            </p:spPr>
            <p:txBody>
              <a:bodyPr wrap="none" anchor="ctr"/>
              <a:lstStyle/>
              <a:p>
                <a:endParaRPr lang="zh-CN" altLang="en-US"/>
              </a:p>
            </p:txBody>
          </p:sp>
        </p:grpSp>
        <p:grpSp>
          <p:nvGrpSpPr>
            <p:cNvPr id="30" name="Group 41"/>
            <p:cNvGrpSpPr>
              <a:grpSpLocks/>
            </p:cNvGrpSpPr>
            <p:nvPr/>
          </p:nvGrpSpPr>
          <p:grpSpPr bwMode="auto">
            <a:xfrm>
              <a:off x="2732" y="2572"/>
              <a:ext cx="136" cy="205"/>
              <a:chOff x="2732" y="2572"/>
              <a:chExt cx="136" cy="205"/>
            </a:xfrm>
          </p:grpSpPr>
          <p:sp>
            <p:nvSpPr>
              <p:cNvPr id="39" name="Line 42"/>
              <p:cNvSpPr>
                <a:spLocks noChangeShapeType="1"/>
              </p:cNvSpPr>
              <p:nvPr/>
            </p:nvSpPr>
            <p:spPr bwMode="auto">
              <a:xfrm>
                <a:off x="2800" y="2572"/>
                <a:ext cx="0" cy="137"/>
              </a:xfrm>
              <a:prstGeom prst="line">
                <a:avLst/>
              </a:prstGeom>
              <a:noFill/>
              <a:ln w="50800">
                <a:solidFill>
                  <a:srgbClr val="000000"/>
                </a:solidFill>
                <a:round/>
                <a:headEnd type="none" w="sm" len="sm"/>
                <a:tailEnd type="none" w="sm" len="sm"/>
              </a:ln>
              <a:effectLst/>
            </p:spPr>
            <p:txBody>
              <a:bodyPr wrap="none" anchor="ctr"/>
              <a:lstStyle/>
              <a:p>
                <a:endParaRPr lang="zh-CN" altLang="en-US"/>
              </a:p>
            </p:txBody>
          </p:sp>
          <p:sp>
            <p:nvSpPr>
              <p:cNvPr id="40" name="Line 43"/>
              <p:cNvSpPr>
                <a:spLocks noChangeShapeType="1"/>
              </p:cNvSpPr>
              <p:nvPr/>
            </p:nvSpPr>
            <p:spPr bwMode="auto">
              <a:xfrm flipH="1">
                <a:off x="2732" y="2709"/>
                <a:ext cx="68" cy="68"/>
              </a:xfrm>
              <a:prstGeom prst="line">
                <a:avLst/>
              </a:prstGeom>
              <a:noFill/>
              <a:ln w="50800">
                <a:solidFill>
                  <a:srgbClr val="000000"/>
                </a:solidFill>
                <a:round/>
                <a:headEnd type="none" w="sm" len="sm"/>
                <a:tailEnd type="none" w="sm" len="sm"/>
              </a:ln>
              <a:effectLst/>
            </p:spPr>
            <p:txBody>
              <a:bodyPr wrap="none" anchor="ctr"/>
              <a:lstStyle/>
              <a:p>
                <a:endParaRPr lang="zh-CN" altLang="en-US"/>
              </a:p>
            </p:txBody>
          </p:sp>
          <p:sp>
            <p:nvSpPr>
              <p:cNvPr id="41" name="Line 44"/>
              <p:cNvSpPr>
                <a:spLocks noChangeShapeType="1"/>
              </p:cNvSpPr>
              <p:nvPr/>
            </p:nvSpPr>
            <p:spPr bwMode="auto">
              <a:xfrm>
                <a:off x="2800" y="2709"/>
                <a:ext cx="68" cy="68"/>
              </a:xfrm>
              <a:prstGeom prst="line">
                <a:avLst/>
              </a:prstGeom>
              <a:noFill/>
              <a:ln w="50800">
                <a:solidFill>
                  <a:srgbClr val="000000"/>
                </a:solidFill>
                <a:round/>
                <a:headEnd type="none" w="sm" len="sm"/>
                <a:tailEnd type="none" w="sm" len="sm"/>
              </a:ln>
              <a:effectLst/>
            </p:spPr>
            <p:txBody>
              <a:bodyPr wrap="none" anchor="ctr"/>
              <a:lstStyle/>
              <a:p>
                <a:endParaRPr lang="zh-CN" altLang="en-US"/>
              </a:p>
            </p:txBody>
          </p:sp>
        </p:grpSp>
        <p:grpSp>
          <p:nvGrpSpPr>
            <p:cNvPr id="31" name="Group 45"/>
            <p:cNvGrpSpPr>
              <a:grpSpLocks/>
            </p:cNvGrpSpPr>
            <p:nvPr/>
          </p:nvGrpSpPr>
          <p:grpSpPr bwMode="auto">
            <a:xfrm>
              <a:off x="3005" y="2572"/>
              <a:ext cx="137" cy="205"/>
              <a:chOff x="3005" y="2572"/>
              <a:chExt cx="137" cy="205"/>
            </a:xfrm>
          </p:grpSpPr>
          <p:sp>
            <p:nvSpPr>
              <p:cNvPr id="36" name="Line 46"/>
              <p:cNvSpPr>
                <a:spLocks noChangeShapeType="1"/>
              </p:cNvSpPr>
              <p:nvPr/>
            </p:nvSpPr>
            <p:spPr bwMode="auto">
              <a:xfrm>
                <a:off x="3074" y="2572"/>
                <a:ext cx="0" cy="137"/>
              </a:xfrm>
              <a:prstGeom prst="line">
                <a:avLst/>
              </a:prstGeom>
              <a:noFill/>
              <a:ln w="50800">
                <a:solidFill>
                  <a:srgbClr val="000000"/>
                </a:solidFill>
                <a:round/>
                <a:headEnd type="none" w="sm" len="sm"/>
                <a:tailEnd type="none" w="sm" len="sm"/>
              </a:ln>
              <a:effectLst/>
            </p:spPr>
            <p:txBody>
              <a:bodyPr wrap="none" anchor="ctr"/>
              <a:lstStyle/>
              <a:p>
                <a:endParaRPr lang="zh-CN" altLang="en-US"/>
              </a:p>
            </p:txBody>
          </p:sp>
          <p:sp>
            <p:nvSpPr>
              <p:cNvPr id="37" name="Line 47"/>
              <p:cNvSpPr>
                <a:spLocks noChangeShapeType="1"/>
              </p:cNvSpPr>
              <p:nvPr/>
            </p:nvSpPr>
            <p:spPr bwMode="auto">
              <a:xfrm flipH="1">
                <a:off x="3005" y="2709"/>
                <a:ext cx="69" cy="68"/>
              </a:xfrm>
              <a:prstGeom prst="line">
                <a:avLst/>
              </a:prstGeom>
              <a:noFill/>
              <a:ln w="50800">
                <a:solidFill>
                  <a:srgbClr val="000000"/>
                </a:solidFill>
                <a:round/>
                <a:headEnd type="none" w="sm" len="sm"/>
                <a:tailEnd type="none" w="sm" len="sm"/>
              </a:ln>
              <a:effectLst/>
            </p:spPr>
            <p:txBody>
              <a:bodyPr wrap="none" anchor="ctr"/>
              <a:lstStyle/>
              <a:p>
                <a:endParaRPr lang="zh-CN" altLang="en-US"/>
              </a:p>
            </p:txBody>
          </p:sp>
          <p:sp>
            <p:nvSpPr>
              <p:cNvPr id="38" name="Line 48"/>
              <p:cNvSpPr>
                <a:spLocks noChangeShapeType="1"/>
              </p:cNvSpPr>
              <p:nvPr/>
            </p:nvSpPr>
            <p:spPr bwMode="auto">
              <a:xfrm>
                <a:off x="3074" y="2709"/>
                <a:ext cx="68" cy="68"/>
              </a:xfrm>
              <a:prstGeom prst="line">
                <a:avLst/>
              </a:prstGeom>
              <a:noFill/>
              <a:ln w="50800">
                <a:solidFill>
                  <a:srgbClr val="000000"/>
                </a:solidFill>
                <a:round/>
                <a:headEnd type="none" w="sm" len="sm"/>
                <a:tailEnd type="none" w="sm" len="sm"/>
              </a:ln>
              <a:effectLst/>
            </p:spPr>
            <p:txBody>
              <a:bodyPr wrap="none" anchor="ctr"/>
              <a:lstStyle/>
              <a:p>
                <a:endParaRPr lang="zh-CN" altLang="en-US"/>
              </a:p>
            </p:txBody>
          </p:sp>
        </p:grpSp>
        <p:grpSp>
          <p:nvGrpSpPr>
            <p:cNvPr id="32" name="Group 49"/>
            <p:cNvGrpSpPr>
              <a:grpSpLocks/>
            </p:cNvGrpSpPr>
            <p:nvPr/>
          </p:nvGrpSpPr>
          <p:grpSpPr bwMode="auto">
            <a:xfrm>
              <a:off x="3279" y="2572"/>
              <a:ext cx="137" cy="205"/>
              <a:chOff x="3279" y="2572"/>
              <a:chExt cx="137" cy="205"/>
            </a:xfrm>
          </p:grpSpPr>
          <p:sp>
            <p:nvSpPr>
              <p:cNvPr id="33" name="Line 50"/>
              <p:cNvSpPr>
                <a:spLocks noChangeShapeType="1"/>
              </p:cNvSpPr>
              <p:nvPr/>
            </p:nvSpPr>
            <p:spPr bwMode="auto">
              <a:xfrm>
                <a:off x="3347" y="2572"/>
                <a:ext cx="0" cy="137"/>
              </a:xfrm>
              <a:prstGeom prst="line">
                <a:avLst/>
              </a:prstGeom>
              <a:noFill/>
              <a:ln w="50800">
                <a:solidFill>
                  <a:srgbClr val="000000"/>
                </a:solidFill>
                <a:round/>
                <a:headEnd type="none" w="sm" len="sm"/>
                <a:tailEnd type="none" w="sm" len="sm"/>
              </a:ln>
              <a:effectLst/>
            </p:spPr>
            <p:txBody>
              <a:bodyPr wrap="none" anchor="ctr"/>
              <a:lstStyle/>
              <a:p>
                <a:endParaRPr lang="zh-CN" altLang="en-US"/>
              </a:p>
            </p:txBody>
          </p:sp>
          <p:sp>
            <p:nvSpPr>
              <p:cNvPr id="34" name="Line 51"/>
              <p:cNvSpPr>
                <a:spLocks noChangeShapeType="1"/>
              </p:cNvSpPr>
              <p:nvPr/>
            </p:nvSpPr>
            <p:spPr bwMode="auto">
              <a:xfrm flipH="1">
                <a:off x="3279" y="2709"/>
                <a:ext cx="68" cy="68"/>
              </a:xfrm>
              <a:prstGeom prst="line">
                <a:avLst/>
              </a:prstGeom>
              <a:noFill/>
              <a:ln w="50800">
                <a:solidFill>
                  <a:srgbClr val="000000"/>
                </a:solidFill>
                <a:round/>
                <a:headEnd type="none" w="sm" len="sm"/>
                <a:tailEnd type="none" w="sm" len="sm"/>
              </a:ln>
              <a:effectLst/>
            </p:spPr>
            <p:txBody>
              <a:bodyPr wrap="none" anchor="ctr"/>
              <a:lstStyle/>
              <a:p>
                <a:endParaRPr lang="zh-CN" altLang="en-US"/>
              </a:p>
            </p:txBody>
          </p:sp>
          <p:sp>
            <p:nvSpPr>
              <p:cNvPr id="35" name="Line 52"/>
              <p:cNvSpPr>
                <a:spLocks noChangeShapeType="1"/>
              </p:cNvSpPr>
              <p:nvPr/>
            </p:nvSpPr>
            <p:spPr bwMode="auto">
              <a:xfrm>
                <a:off x="3347" y="2709"/>
                <a:ext cx="69" cy="68"/>
              </a:xfrm>
              <a:prstGeom prst="line">
                <a:avLst/>
              </a:prstGeom>
              <a:noFill/>
              <a:ln w="50800">
                <a:solidFill>
                  <a:srgbClr val="000000"/>
                </a:solidFill>
                <a:round/>
                <a:headEnd type="none" w="sm" len="sm"/>
                <a:tailEnd type="none" w="sm" len="sm"/>
              </a:ln>
              <a:effectLst/>
            </p:spPr>
            <p:txBody>
              <a:bodyPr wrap="none" anchor="ctr"/>
              <a:lstStyle/>
              <a:p>
                <a:endParaRPr lang="zh-CN" altLang="en-US"/>
              </a:p>
            </p:txBody>
          </p:sp>
        </p:grpSp>
      </p:grpSp>
      <p:sp>
        <p:nvSpPr>
          <p:cNvPr id="54" name="Rectangle 53"/>
          <p:cNvSpPr>
            <a:spLocks noChangeArrowheads="1"/>
          </p:cNvSpPr>
          <p:nvPr/>
        </p:nvSpPr>
        <p:spPr bwMode="auto">
          <a:xfrm>
            <a:off x="3879850" y="4976795"/>
            <a:ext cx="2632075" cy="271463"/>
          </a:xfrm>
          <a:prstGeom prst="rect">
            <a:avLst/>
          </a:prstGeom>
          <a:noFill/>
          <a:ln w="9525">
            <a:noFill/>
            <a:miter lim="800000"/>
            <a:headEnd/>
            <a:tailEnd/>
          </a:ln>
          <a:effectLst/>
        </p:spPr>
        <p:txBody>
          <a:bodyPr wrap="none" lIns="19645" tIns="28575" rIns="19645" bIns="28575"/>
          <a:lstStyle/>
          <a:p>
            <a:pPr algn="ctr" defTabSz="928688">
              <a:lnSpc>
                <a:spcPts val="2025"/>
              </a:lnSpc>
              <a:tabLst>
                <a:tab pos="488950" algn="l"/>
                <a:tab pos="976313" algn="l"/>
                <a:tab pos="1466850" algn="l"/>
              </a:tabLst>
            </a:pPr>
            <a:r>
              <a:rPr lang="zh-CN" altLang="en-US" sz="1700" b="1">
                <a:solidFill>
                  <a:srgbClr val="000000"/>
                </a:solidFill>
                <a:latin typeface="Helvetica" pitchFamily="34" charset="0"/>
              </a:rPr>
              <a:t>最短路径优先树</a:t>
            </a:r>
          </a:p>
        </p:txBody>
      </p:sp>
      <p:sp>
        <p:nvSpPr>
          <p:cNvPr id="55" name="Line 54"/>
          <p:cNvSpPr>
            <a:spLocks noChangeShapeType="1"/>
          </p:cNvSpPr>
          <p:nvPr/>
        </p:nvSpPr>
        <p:spPr bwMode="auto">
          <a:xfrm flipH="1">
            <a:off x="1979613" y="2247883"/>
            <a:ext cx="636587" cy="963612"/>
          </a:xfrm>
          <a:prstGeom prst="line">
            <a:avLst/>
          </a:prstGeom>
          <a:noFill/>
          <a:ln w="50800">
            <a:solidFill>
              <a:schemeClr val="tx2"/>
            </a:solidFill>
            <a:round/>
            <a:headEnd type="none" w="sm" len="sm"/>
            <a:tailEnd type="triangle" w="med" len="med"/>
          </a:ln>
          <a:effectLst/>
        </p:spPr>
        <p:txBody>
          <a:bodyPr wrap="none" anchor="ctr"/>
          <a:lstStyle/>
          <a:p>
            <a:endParaRPr lang="zh-CN" altLang="en-US"/>
          </a:p>
        </p:txBody>
      </p:sp>
      <p:sp>
        <p:nvSpPr>
          <p:cNvPr id="56" name="Arc 55"/>
          <p:cNvSpPr>
            <a:spLocks/>
          </p:cNvSpPr>
          <p:nvPr/>
        </p:nvSpPr>
        <p:spPr bwMode="auto">
          <a:xfrm>
            <a:off x="2781300" y="4460858"/>
            <a:ext cx="1039813" cy="627062"/>
          </a:xfrm>
          <a:custGeom>
            <a:avLst/>
            <a:gdLst>
              <a:gd name="T0" fmla="*/ 2147483646 w 21600"/>
              <a:gd name="T1" fmla="*/ 2147483646 h 21662"/>
              <a:gd name="T2" fmla="*/ 0 w 21600"/>
              <a:gd name="T3" fmla="*/ 0 h 21662"/>
              <a:gd name="T4" fmla="*/ 2147483646 w 21600"/>
              <a:gd name="T5" fmla="*/ 43541296 h 21662"/>
              <a:gd name="T6" fmla="*/ 0 60000 65536"/>
              <a:gd name="T7" fmla="*/ 0 60000 65536"/>
              <a:gd name="T8" fmla="*/ 0 60000 65536"/>
            </a:gdLst>
            <a:ahLst/>
            <a:cxnLst>
              <a:cxn ang="T6">
                <a:pos x="T0" y="T1"/>
              </a:cxn>
              <a:cxn ang="T7">
                <a:pos x="T2" y="T3"/>
              </a:cxn>
              <a:cxn ang="T8">
                <a:pos x="T4" y="T5"/>
              </a:cxn>
            </a:cxnLst>
            <a:rect l="0" t="0" r="r" b="b"/>
            <a:pathLst>
              <a:path w="21600" h="21662" fill="none" extrusionOk="0">
                <a:moveTo>
                  <a:pt x="21563" y="21661"/>
                </a:moveTo>
                <a:cubicBezTo>
                  <a:pt x="9648" y="21641"/>
                  <a:pt x="0" y="11976"/>
                  <a:pt x="0" y="62"/>
                </a:cubicBezTo>
                <a:cubicBezTo>
                  <a:pt x="-1" y="41"/>
                  <a:pt x="0" y="20"/>
                  <a:pt x="0" y="0"/>
                </a:cubicBezTo>
              </a:path>
              <a:path w="21600" h="21662" stroke="0" extrusionOk="0">
                <a:moveTo>
                  <a:pt x="21563" y="21661"/>
                </a:moveTo>
                <a:cubicBezTo>
                  <a:pt x="9648" y="21641"/>
                  <a:pt x="0" y="11976"/>
                  <a:pt x="0" y="62"/>
                </a:cubicBezTo>
                <a:cubicBezTo>
                  <a:pt x="-1" y="41"/>
                  <a:pt x="0" y="20"/>
                  <a:pt x="0" y="0"/>
                </a:cubicBezTo>
                <a:lnTo>
                  <a:pt x="21600" y="62"/>
                </a:lnTo>
                <a:lnTo>
                  <a:pt x="21563" y="21661"/>
                </a:lnTo>
                <a:close/>
              </a:path>
            </a:pathLst>
          </a:custGeom>
          <a:noFill/>
          <a:ln w="25400" cap="rnd">
            <a:solidFill>
              <a:schemeClr val="accent2"/>
            </a:solidFill>
            <a:round/>
            <a:headEnd type="none" w="sm" len="sm"/>
            <a:tailEnd type="none" w="sm" len="sm"/>
          </a:ln>
          <a:effectLst>
            <a:outerShdw dist="53882" dir="2700000" algn="ctr" rotWithShape="0">
              <a:srgbClr val="000000"/>
            </a:outerShdw>
          </a:effectLst>
        </p:spPr>
        <p:txBody>
          <a:bodyPr wrap="none" anchor="ctr"/>
          <a:lstStyle/>
          <a:p>
            <a:endParaRPr lang="zh-CN" altLang="en-US"/>
          </a:p>
        </p:txBody>
      </p:sp>
      <p:sp>
        <p:nvSpPr>
          <p:cNvPr id="57" name="Line 56"/>
          <p:cNvSpPr>
            <a:spLocks noChangeShapeType="1"/>
          </p:cNvSpPr>
          <p:nvPr/>
        </p:nvSpPr>
        <p:spPr bwMode="auto">
          <a:xfrm flipV="1">
            <a:off x="5915025" y="3876658"/>
            <a:ext cx="923925" cy="542925"/>
          </a:xfrm>
          <a:prstGeom prst="line">
            <a:avLst/>
          </a:prstGeom>
          <a:noFill/>
          <a:ln w="50800">
            <a:solidFill>
              <a:schemeClr val="tx2"/>
            </a:solidFill>
            <a:round/>
            <a:headEnd type="none" w="sm" len="sm"/>
            <a:tailEnd type="triangle" w="med" len="med"/>
          </a:ln>
          <a:effectLst/>
        </p:spPr>
        <p:txBody>
          <a:bodyPr wrap="none" anchor="ctr"/>
          <a:lstStyle/>
          <a:p>
            <a:endParaRPr lang="zh-CN" altLang="en-US"/>
          </a:p>
        </p:txBody>
      </p:sp>
      <p:sp>
        <p:nvSpPr>
          <p:cNvPr id="58" name="Arc 57"/>
          <p:cNvSpPr>
            <a:spLocks/>
          </p:cNvSpPr>
          <p:nvPr/>
        </p:nvSpPr>
        <p:spPr bwMode="auto">
          <a:xfrm>
            <a:off x="2997200" y="3403583"/>
            <a:ext cx="1031875" cy="617537"/>
          </a:xfrm>
          <a:custGeom>
            <a:avLst/>
            <a:gdLst>
              <a:gd name="T0" fmla="*/ 0 w 21637"/>
              <a:gd name="T1" fmla="*/ 0 h 21600"/>
              <a:gd name="T2" fmla="*/ 2147483646 w 21637"/>
              <a:gd name="T3" fmla="*/ 2147483646 h 21600"/>
              <a:gd name="T4" fmla="*/ 191440115 w 21637"/>
              <a:gd name="T5" fmla="*/ 2147483646 h 21600"/>
              <a:gd name="T6" fmla="*/ 0 60000 65536"/>
              <a:gd name="T7" fmla="*/ 0 60000 65536"/>
              <a:gd name="T8" fmla="*/ 0 60000 65536"/>
            </a:gdLst>
            <a:ahLst/>
            <a:cxnLst>
              <a:cxn ang="T6">
                <a:pos x="T0" y="T1"/>
              </a:cxn>
              <a:cxn ang="T7">
                <a:pos x="T2" y="T3"/>
              </a:cxn>
              <a:cxn ang="T8">
                <a:pos x="T4" y="T5"/>
              </a:cxn>
            </a:cxnLst>
            <a:rect l="0" t="0" r="r" b="b"/>
            <a:pathLst>
              <a:path w="21637" h="21600" fill="none" extrusionOk="0">
                <a:moveTo>
                  <a:pt x="0" y="0"/>
                </a:moveTo>
                <a:cubicBezTo>
                  <a:pt x="12" y="0"/>
                  <a:pt x="24" y="-1"/>
                  <a:pt x="37" y="0"/>
                </a:cubicBezTo>
                <a:cubicBezTo>
                  <a:pt x="11966" y="0"/>
                  <a:pt x="21637" y="9670"/>
                  <a:pt x="21637" y="21600"/>
                </a:cubicBezTo>
              </a:path>
              <a:path w="21637" h="21600" stroke="0" extrusionOk="0">
                <a:moveTo>
                  <a:pt x="0" y="0"/>
                </a:moveTo>
                <a:cubicBezTo>
                  <a:pt x="12" y="0"/>
                  <a:pt x="24" y="-1"/>
                  <a:pt x="37" y="0"/>
                </a:cubicBezTo>
                <a:cubicBezTo>
                  <a:pt x="11966" y="0"/>
                  <a:pt x="21637" y="9670"/>
                  <a:pt x="21637" y="21600"/>
                </a:cubicBezTo>
                <a:lnTo>
                  <a:pt x="37" y="21600"/>
                </a:lnTo>
                <a:lnTo>
                  <a:pt x="0" y="0"/>
                </a:lnTo>
                <a:close/>
              </a:path>
            </a:pathLst>
          </a:custGeom>
          <a:noFill/>
          <a:ln w="25400" cap="rnd">
            <a:solidFill>
              <a:schemeClr val="accent2"/>
            </a:solidFill>
            <a:round/>
            <a:headEnd type="none" w="sm" len="sm"/>
            <a:tailEnd type="none" w="sm" len="sm"/>
          </a:ln>
          <a:effectLst>
            <a:outerShdw dist="53882" dir="2700000" algn="ctr" rotWithShape="0">
              <a:srgbClr val="000000"/>
            </a:outerShdw>
          </a:effectLst>
        </p:spPr>
        <p:txBody>
          <a:bodyPr wrap="none" anchor="ctr"/>
          <a:lstStyle/>
          <a:p>
            <a:endParaRPr lang="zh-CN" altLang="en-US"/>
          </a:p>
        </p:txBody>
      </p:sp>
      <p:sp>
        <p:nvSpPr>
          <p:cNvPr id="59" name="Rectangle 58"/>
          <p:cNvSpPr>
            <a:spLocks noChangeArrowheads="1"/>
          </p:cNvSpPr>
          <p:nvPr/>
        </p:nvSpPr>
        <p:spPr bwMode="auto">
          <a:xfrm>
            <a:off x="6872288" y="3463908"/>
            <a:ext cx="800100" cy="800100"/>
          </a:xfrm>
          <a:prstGeom prst="rect">
            <a:avLst/>
          </a:prstGeom>
          <a:solidFill>
            <a:schemeClr val="folHlink"/>
          </a:solidFill>
          <a:ln w="12700">
            <a:solidFill>
              <a:schemeClr val="tx1"/>
            </a:solidFill>
            <a:miter lim="800000"/>
            <a:headEnd/>
            <a:tailEnd/>
          </a:ln>
          <a:effectLst>
            <a:outerShdw dist="35921" dir="2700000" algn="ctr" rotWithShape="0">
              <a:schemeClr val="tx1"/>
            </a:outerShdw>
          </a:effectLst>
        </p:spPr>
        <p:txBody>
          <a:bodyPr wrap="none" lIns="98226" tIns="50006" rIns="98226" bIns="50006" anchor="ctr"/>
          <a:lstStyle/>
          <a:p>
            <a:pPr algn="ctr" defTabSz="928688"/>
            <a:r>
              <a:rPr lang="zh-CN" altLang="en-US" sz="1500" b="1">
                <a:latin typeface="Helvetica" pitchFamily="34" charset="0"/>
              </a:rPr>
              <a:t>路由表</a:t>
            </a:r>
          </a:p>
        </p:txBody>
      </p:sp>
      <p:sp>
        <p:nvSpPr>
          <p:cNvPr id="60" name="Rectangle 76"/>
          <p:cNvSpPr txBox="1">
            <a:spLocks noChangeArrowheads="1"/>
          </p:cNvSpPr>
          <p:nvPr/>
        </p:nvSpPr>
        <p:spPr bwMode="auto">
          <a:xfrm>
            <a:off x="679450" y="5538770"/>
            <a:ext cx="7991475" cy="5048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itchFamily="2" charset="2"/>
              <a:buChar char="n"/>
              <a:tabLst/>
              <a:defRPr/>
            </a:pPr>
            <a:r>
              <a:rPr kumimoji="0" lang="zh-CN" altLang="en-US" sz="2400" b="1" i="0" u="none" strike="noStrike" kern="0" cap="none" spc="0" normalizeH="0" baseline="0" noProof="0" smtClean="0">
                <a:ln>
                  <a:noFill/>
                </a:ln>
                <a:solidFill>
                  <a:schemeClr val="tx1"/>
                </a:solidFill>
                <a:effectLst/>
                <a:uLnTx/>
                <a:uFillTx/>
                <a:latin typeface="+mn-lt"/>
                <a:ea typeface="+mn-ea"/>
                <a:cs typeface="+mn-cs"/>
              </a:rPr>
              <a:t>在初步达到一致后，</a:t>
            </a:r>
            <a:r>
              <a:rPr kumimoji="0" lang="en-US" altLang="zh-CN" sz="2400" b="1" i="0" u="none" strike="noStrike" kern="0" cap="none" spc="0" normalizeH="0" baseline="0" noProof="0" smtClean="0">
                <a:ln>
                  <a:noFill/>
                </a:ln>
                <a:solidFill>
                  <a:schemeClr val="tx1"/>
                </a:solidFill>
                <a:effectLst/>
                <a:uLnTx/>
                <a:uFillTx/>
                <a:latin typeface="+mn-lt"/>
                <a:ea typeface="+mn-ea"/>
                <a:cs typeface="+mn-cs"/>
              </a:rPr>
              <a:t>LS</a:t>
            </a:r>
            <a:r>
              <a:rPr kumimoji="0" lang="zh-CN" altLang="en-US" sz="2400" b="1" i="0" u="none" strike="noStrike" kern="0" cap="none" spc="0" normalizeH="0" baseline="0" noProof="0" smtClean="0">
                <a:ln>
                  <a:noFill/>
                </a:ln>
                <a:solidFill>
                  <a:schemeClr val="tx1"/>
                </a:solidFill>
                <a:effectLst/>
                <a:uLnTx/>
                <a:uFillTx/>
                <a:latin typeface="+mn-lt"/>
                <a:ea typeface="+mn-ea"/>
                <a:cs typeface="+mn-cs"/>
              </a:rPr>
              <a:t>通过触发更新发送给其他路由器</a:t>
            </a: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itchFamily="2" charset="2"/>
              <a:buChar char="n"/>
              <a:tabLst/>
              <a:defRPr/>
            </a:pPr>
            <a:endParaRPr kumimoji="0" lang="en-US" altLang="zh-CN" sz="2400" b="1" i="0" u="none" strike="noStrike" kern="0" cap="none" spc="0" normalizeH="0" baseline="0" noProof="0" smtClean="0">
              <a:ln>
                <a:noFill/>
              </a:ln>
              <a:solidFill>
                <a:schemeClr val="tx1"/>
              </a:solidFill>
              <a:effectLst/>
              <a:uLnTx/>
              <a:uFillTx/>
              <a:latin typeface="+mn-lt"/>
              <a:ea typeface="+mn-ea"/>
              <a:cs typeface="+mn-cs"/>
            </a:endParaRPr>
          </a:p>
        </p:txBody>
      </p:sp>
      <p:pic>
        <p:nvPicPr>
          <p:cNvPr id="61" name="Picture 72" descr="GER---"/>
          <p:cNvPicPr>
            <a:picLocks noChangeAspect="1" noChangeArrowheads="1"/>
          </p:cNvPicPr>
          <p:nvPr/>
        </p:nvPicPr>
        <p:blipFill>
          <a:blip r:embed="rId3"/>
          <a:srcRect/>
          <a:stretch>
            <a:fillRect/>
          </a:stretch>
        </p:blipFill>
        <p:spPr bwMode="auto">
          <a:xfrm>
            <a:off x="4262438" y="1000108"/>
            <a:ext cx="1008062" cy="717550"/>
          </a:xfrm>
          <a:prstGeom prst="rect">
            <a:avLst/>
          </a:prstGeom>
          <a:noFill/>
          <a:ln w="9525">
            <a:noFill/>
            <a:miter lim="800000"/>
            <a:headEnd/>
            <a:tailEnd/>
          </a:ln>
        </p:spPr>
      </p:pic>
      <p:pic>
        <p:nvPicPr>
          <p:cNvPr id="62" name="Picture 73" descr="GER---"/>
          <p:cNvPicPr>
            <a:picLocks noChangeAspect="1" noChangeArrowheads="1"/>
          </p:cNvPicPr>
          <p:nvPr/>
        </p:nvPicPr>
        <p:blipFill>
          <a:blip r:embed="rId3"/>
          <a:srcRect/>
          <a:stretch>
            <a:fillRect/>
          </a:stretch>
        </p:blipFill>
        <p:spPr bwMode="auto">
          <a:xfrm>
            <a:off x="5688013" y="1577958"/>
            <a:ext cx="1008062" cy="717550"/>
          </a:xfrm>
          <a:prstGeom prst="rect">
            <a:avLst/>
          </a:prstGeom>
          <a:noFill/>
          <a:ln w="9525">
            <a:noFill/>
            <a:miter lim="800000"/>
            <a:headEnd/>
            <a:tailEnd/>
          </a:ln>
        </p:spPr>
      </p:pic>
      <p:pic>
        <p:nvPicPr>
          <p:cNvPr id="63" name="Picture 74" descr="GER---"/>
          <p:cNvPicPr>
            <a:picLocks noChangeAspect="1" noChangeArrowheads="1"/>
          </p:cNvPicPr>
          <p:nvPr/>
        </p:nvPicPr>
        <p:blipFill>
          <a:blip r:embed="rId3"/>
          <a:srcRect/>
          <a:stretch>
            <a:fillRect/>
          </a:stretch>
        </p:blipFill>
        <p:spPr bwMode="auto">
          <a:xfrm>
            <a:off x="4262438" y="2136758"/>
            <a:ext cx="1008062" cy="717550"/>
          </a:xfrm>
          <a:prstGeom prst="rect">
            <a:avLst/>
          </a:prstGeom>
          <a:noFill/>
          <a:ln w="9525">
            <a:noFill/>
            <a:miter lim="800000"/>
            <a:headEnd/>
            <a:tailEnd/>
          </a:ln>
        </p:spPr>
      </p:pic>
      <p:pic>
        <p:nvPicPr>
          <p:cNvPr id="64" name="Picture 75" descr="GER---"/>
          <p:cNvPicPr>
            <a:picLocks noChangeAspect="1" noChangeArrowheads="1"/>
          </p:cNvPicPr>
          <p:nvPr/>
        </p:nvPicPr>
        <p:blipFill>
          <a:blip r:embed="rId3"/>
          <a:srcRect/>
          <a:stretch>
            <a:fillRect/>
          </a:stretch>
        </p:blipFill>
        <p:spPr bwMode="auto">
          <a:xfrm>
            <a:off x="2505075" y="1589070"/>
            <a:ext cx="1008063" cy="717550"/>
          </a:xfrm>
          <a:prstGeom prst="rect">
            <a:avLst/>
          </a:prstGeom>
          <a:noFill/>
          <a:ln w="9525">
            <a:noFill/>
            <a:miter lim="800000"/>
            <a:headEnd/>
            <a:tailEnd/>
          </a:ln>
        </p:spPr>
      </p:pic>
      <p:sp>
        <p:nvSpPr>
          <p:cNvPr id="65" name="Rectangle 61"/>
          <p:cNvSpPr>
            <a:spLocks noChangeArrowheads="1"/>
          </p:cNvSpPr>
          <p:nvPr/>
        </p:nvSpPr>
        <p:spPr bwMode="auto">
          <a:xfrm>
            <a:off x="2927350" y="2006583"/>
            <a:ext cx="219075" cy="32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645" tIns="28575" rIns="19645" bIns="28575"/>
          <a:lstStyle/>
          <a:p>
            <a:pPr algn="ctr" defTabSz="928688">
              <a:lnSpc>
                <a:spcPts val="2250"/>
              </a:lnSpc>
              <a:tabLst>
                <a:tab pos="488950" algn="l"/>
                <a:tab pos="976313" algn="l"/>
                <a:tab pos="1466850" algn="l"/>
              </a:tabLst>
            </a:pPr>
            <a:r>
              <a:rPr lang="en-US" altLang="zh-CN" sz="1900" b="1">
                <a:solidFill>
                  <a:srgbClr val="FFFFFF"/>
                </a:solidFill>
                <a:effectLst>
                  <a:outerShdw blurRad="38100" dist="38100" dir="2700000" algn="tl">
                    <a:srgbClr val="C0C0C0"/>
                  </a:outerShdw>
                </a:effectLst>
                <a:latin typeface="Helvetica" pitchFamily="34" charset="0"/>
              </a:rPr>
              <a:t>C</a:t>
            </a:r>
          </a:p>
        </p:txBody>
      </p:sp>
      <p:sp>
        <p:nvSpPr>
          <p:cNvPr id="66" name="Rectangle 64"/>
          <p:cNvSpPr>
            <a:spLocks noChangeArrowheads="1"/>
          </p:cNvSpPr>
          <p:nvPr/>
        </p:nvSpPr>
        <p:spPr bwMode="auto">
          <a:xfrm>
            <a:off x="6102350" y="2006583"/>
            <a:ext cx="217488" cy="32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645" tIns="28575" rIns="19645" bIns="28575"/>
          <a:lstStyle/>
          <a:p>
            <a:pPr algn="ctr" defTabSz="928688">
              <a:lnSpc>
                <a:spcPts val="2250"/>
              </a:lnSpc>
              <a:tabLst>
                <a:tab pos="488950" algn="l"/>
                <a:tab pos="976313" algn="l"/>
                <a:tab pos="1466850" algn="l"/>
              </a:tabLst>
            </a:pPr>
            <a:r>
              <a:rPr lang="en-US" altLang="zh-CN" sz="1900" b="1">
                <a:solidFill>
                  <a:srgbClr val="FFFFFF"/>
                </a:solidFill>
                <a:effectLst>
                  <a:outerShdw blurRad="38100" dist="38100" dir="2700000" algn="tl">
                    <a:srgbClr val="C0C0C0"/>
                  </a:outerShdw>
                </a:effectLst>
                <a:latin typeface="Helvetica" pitchFamily="34" charset="0"/>
              </a:rPr>
              <a:t>A</a:t>
            </a:r>
          </a:p>
        </p:txBody>
      </p:sp>
      <p:sp>
        <p:nvSpPr>
          <p:cNvPr id="67" name="Rectangle 67"/>
          <p:cNvSpPr>
            <a:spLocks noChangeArrowheads="1"/>
          </p:cNvSpPr>
          <p:nvPr/>
        </p:nvSpPr>
        <p:spPr bwMode="auto">
          <a:xfrm>
            <a:off x="4638675" y="2578083"/>
            <a:ext cx="215900" cy="325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645" tIns="28575" rIns="19645" bIns="28575"/>
          <a:lstStyle/>
          <a:p>
            <a:pPr algn="ctr" defTabSz="928688">
              <a:lnSpc>
                <a:spcPts val="2250"/>
              </a:lnSpc>
              <a:tabLst>
                <a:tab pos="488950" algn="l"/>
                <a:tab pos="976313" algn="l"/>
                <a:tab pos="1466850" algn="l"/>
              </a:tabLst>
            </a:pPr>
            <a:r>
              <a:rPr lang="en-US" altLang="zh-CN" sz="1900" b="1">
                <a:solidFill>
                  <a:srgbClr val="FFFFFF"/>
                </a:solidFill>
                <a:effectLst>
                  <a:outerShdw blurRad="38100" dist="38100" dir="2700000" algn="tl">
                    <a:srgbClr val="C0C0C0"/>
                  </a:outerShdw>
                </a:effectLst>
                <a:latin typeface="Helvetica" pitchFamily="34" charset="0"/>
              </a:rPr>
              <a:t>D</a:t>
            </a:r>
          </a:p>
        </p:txBody>
      </p:sp>
      <p:sp>
        <p:nvSpPr>
          <p:cNvPr id="68" name="Rectangle 70"/>
          <p:cNvSpPr>
            <a:spLocks noChangeArrowheads="1"/>
          </p:cNvSpPr>
          <p:nvPr/>
        </p:nvSpPr>
        <p:spPr bwMode="auto">
          <a:xfrm>
            <a:off x="4638675" y="1436670"/>
            <a:ext cx="215900" cy="32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645" tIns="28575" rIns="19645" bIns="28575"/>
          <a:lstStyle/>
          <a:p>
            <a:pPr algn="ctr" defTabSz="928688">
              <a:lnSpc>
                <a:spcPts val="2250"/>
              </a:lnSpc>
              <a:tabLst>
                <a:tab pos="488950" algn="l"/>
                <a:tab pos="976313" algn="l"/>
                <a:tab pos="1466850" algn="l"/>
              </a:tabLst>
            </a:pPr>
            <a:r>
              <a:rPr lang="en-US" altLang="zh-CN" sz="1900" b="1">
                <a:solidFill>
                  <a:srgbClr val="FFFFFF"/>
                </a:solidFill>
                <a:effectLst>
                  <a:outerShdw blurRad="38100" dist="38100" dir="2700000" algn="tl">
                    <a:srgbClr val="C0C0C0"/>
                  </a:outerShdw>
                </a:effectLst>
                <a:latin typeface="Helvetica" pitchFamily="34" charset="0"/>
              </a:rPr>
              <a:t>B</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ChangeArrowheads="1"/>
          </p:cNvSpPr>
          <p:nvPr/>
        </p:nvSpPr>
        <p:spPr bwMode="auto">
          <a:xfrm>
            <a:off x="1339850" y="3644900"/>
            <a:ext cx="6400800" cy="622300"/>
          </a:xfrm>
          <a:prstGeom prst="rect">
            <a:avLst/>
          </a:prstGeom>
          <a:noFill/>
          <a:ln w="9525">
            <a:noFill/>
            <a:miter lim="800000"/>
            <a:headEnd/>
            <a:tailEnd/>
          </a:ln>
        </p:spPr>
        <p:txBody>
          <a:bodyPr/>
          <a:lstStyle/>
          <a:p>
            <a:pPr marL="342900" indent="-342900" eaLnBrk="1" hangingPunct="1">
              <a:spcBef>
                <a:spcPct val="20000"/>
              </a:spcBef>
              <a:buClr>
                <a:schemeClr val="bg2"/>
              </a:buClr>
              <a:buSzPct val="75000"/>
              <a:buFont typeface="Wingdings" pitchFamily="2" charset="2"/>
              <a:buNone/>
            </a:pPr>
            <a:endParaRPr lang="zh-CN" altLang="zh-CN" sz="3600">
              <a:solidFill>
                <a:srgbClr val="800000"/>
              </a:solidFill>
              <a:latin typeface="黑体" pitchFamily="49" charset="-122"/>
              <a:ea typeface="黑体" pitchFamily="49" charset="-122"/>
            </a:endParaRPr>
          </a:p>
        </p:txBody>
      </p:sp>
      <p:sp>
        <p:nvSpPr>
          <p:cNvPr id="4099" name="Rectangle 6"/>
          <p:cNvSpPr>
            <a:spLocks noChangeArrowheads="1"/>
          </p:cNvSpPr>
          <p:nvPr/>
        </p:nvSpPr>
        <p:spPr bwMode="auto">
          <a:xfrm>
            <a:off x="1639888" y="6237288"/>
            <a:ext cx="57150" cy="396875"/>
          </a:xfrm>
          <a:prstGeom prst="rect">
            <a:avLst/>
          </a:prstGeom>
          <a:noFill/>
          <a:ln w="12700">
            <a:noFill/>
            <a:miter lim="800000"/>
            <a:headEnd/>
            <a:tailEnd/>
          </a:ln>
          <a:effectLst>
            <a:outerShdw dist="17961" dir="2700000" algn="ctr" rotWithShape="0">
              <a:schemeClr val="tx1"/>
            </a:outerShdw>
          </a:effectLst>
        </p:spPr>
        <p:txBody>
          <a:bodyPr wrap="none" lIns="28575" tIns="15875" rIns="28575" bIns="15875">
            <a:spAutoFit/>
          </a:bodyPr>
          <a:lstStyle/>
          <a:p>
            <a:pPr defTabSz="84138">
              <a:defRPr/>
            </a:pPr>
            <a:endParaRPr lang="zh-CN" altLang="zh-CN" sz="2400" b="1">
              <a:ea typeface="宋体" charset="-122"/>
            </a:endParaRPr>
          </a:p>
        </p:txBody>
      </p:sp>
      <p:sp>
        <p:nvSpPr>
          <p:cNvPr id="3076" name="WordArt 10"/>
          <p:cNvSpPr>
            <a:spLocks noChangeArrowheads="1" noChangeShapeType="1" noTextEdit="1"/>
          </p:cNvSpPr>
          <p:nvPr/>
        </p:nvSpPr>
        <p:spPr bwMode="auto">
          <a:xfrm>
            <a:off x="6877050" y="188913"/>
            <a:ext cx="1971675" cy="287337"/>
          </a:xfrm>
          <a:prstGeom prst="rect">
            <a:avLst/>
          </a:prstGeom>
        </p:spPr>
        <p:txBody>
          <a:bodyPr wrap="none" fromWordArt="1">
            <a:prstTxWarp prst="textPlain">
              <a:avLst>
                <a:gd name="adj" fmla="val 50000"/>
              </a:avLst>
            </a:prstTxWarp>
          </a:bodyPr>
          <a:lstStyle/>
          <a:p>
            <a:pPr algn="ctr"/>
            <a:r>
              <a:rPr lang="zh-CN" altLang="en-US" sz="3600" kern="10">
                <a:ln w="19050">
                  <a:solidFill>
                    <a:srgbClr val="99CCFF"/>
                  </a:solidFill>
                  <a:round/>
                  <a:headEnd/>
                  <a:tailEnd/>
                </a:ln>
                <a:solidFill>
                  <a:srgbClr val="0066CC"/>
                </a:solidFill>
                <a:effectLst>
                  <a:outerShdw dist="35921" dir="2700000" algn="ctr" rotWithShape="0">
                    <a:srgbClr val="990000"/>
                  </a:outerShdw>
                </a:effectLst>
                <a:latin typeface="宋体"/>
                <a:ea typeface="宋体"/>
              </a:rPr>
              <a:t>计算机网络实验室</a:t>
            </a:r>
          </a:p>
        </p:txBody>
      </p:sp>
      <p:sp>
        <p:nvSpPr>
          <p:cNvPr id="3077" name="Rectangle 11"/>
          <p:cNvSpPr>
            <a:spLocks noGrp="1" noChangeArrowheads="1"/>
          </p:cNvSpPr>
          <p:nvPr>
            <p:ph type="title" idx="4294967295"/>
          </p:nvPr>
        </p:nvSpPr>
        <p:spPr>
          <a:xfrm>
            <a:off x="428596" y="2643182"/>
            <a:ext cx="8477250" cy="1146180"/>
          </a:xfrm>
          <a:noFill/>
        </p:spPr>
        <p:txBody>
          <a:bodyPr/>
          <a:lstStyle/>
          <a:p>
            <a:pPr algn="ctr" eaLnBrk="1" hangingPunct="1"/>
            <a:r>
              <a:rPr lang="en-US" altLang="zh-CN" dirty="0" smtClean="0">
                <a:effectLst>
                  <a:outerShdw blurRad="38100" dist="38100" dir="2700000" algn="tl">
                    <a:srgbClr val="000000">
                      <a:alpha val="43137"/>
                    </a:srgbClr>
                  </a:outerShdw>
                </a:effectLst>
              </a:rPr>
              <a:t>RIP</a:t>
            </a:r>
            <a:r>
              <a:rPr lang="zh-CN" altLang="en-US" dirty="0" smtClean="0">
                <a:effectLst>
                  <a:outerShdw blurRad="38100" dist="38100" dir="2700000" algn="tl">
                    <a:srgbClr val="000000">
                      <a:alpha val="43137"/>
                    </a:srgbClr>
                  </a:outerShdw>
                </a:effectLst>
              </a:rPr>
              <a:t>路由协议</a:t>
            </a:r>
            <a:endParaRPr lang="en-US" altLang="zh-CN"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body" idx="4294967295"/>
          </p:nvPr>
        </p:nvSpPr>
        <p:spPr>
          <a:xfrm>
            <a:off x="684213" y="1268412"/>
            <a:ext cx="8001000" cy="4589479"/>
          </a:xfrm>
        </p:spPr>
        <p:txBody>
          <a:bodyPr/>
          <a:lstStyle/>
          <a:p>
            <a:pPr eaLnBrk="1" hangingPunct="1">
              <a:lnSpc>
                <a:spcPct val="110000"/>
              </a:lnSpc>
            </a:pPr>
            <a:r>
              <a:rPr lang="en-US" altLang="zh-CN" dirty="0" smtClean="0"/>
              <a:t>RIP(Routing Information Protocol)</a:t>
            </a:r>
            <a:r>
              <a:rPr lang="zh-CN" altLang="en-US" dirty="0" smtClean="0"/>
              <a:t>路由信息协议</a:t>
            </a:r>
          </a:p>
          <a:p>
            <a:pPr eaLnBrk="1" hangingPunct="1">
              <a:lnSpc>
                <a:spcPct val="110000"/>
              </a:lnSpc>
            </a:pPr>
            <a:r>
              <a:rPr lang="zh-CN" altLang="en-US" dirty="0" smtClean="0"/>
              <a:t>最早的动态路由协议，基于距离矢量</a:t>
            </a:r>
            <a:r>
              <a:rPr lang="en-US" altLang="zh-CN" dirty="0" smtClean="0"/>
              <a:t>(D-V)</a:t>
            </a:r>
            <a:r>
              <a:rPr lang="zh-CN" altLang="en-US" dirty="0" smtClean="0"/>
              <a:t>算法实现</a:t>
            </a:r>
          </a:p>
          <a:p>
            <a:pPr eaLnBrk="1" hangingPunct="1">
              <a:lnSpc>
                <a:spcPct val="110000"/>
              </a:lnSpc>
            </a:pPr>
            <a:r>
              <a:rPr lang="zh-CN" altLang="en-US" dirty="0" smtClean="0"/>
              <a:t>使用</a:t>
            </a:r>
            <a:r>
              <a:rPr lang="en-US" altLang="zh-CN" dirty="0" smtClean="0"/>
              <a:t>UDP</a:t>
            </a:r>
            <a:r>
              <a:rPr lang="zh-CN" altLang="en-US" dirty="0" smtClean="0"/>
              <a:t>报文</a:t>
            </a:r>
            <a:r>
              <a:rPr lang="en-US" altLang="zh-CN" dirty="0" smtClean="0"/>
              <a:t>(520</a:t>
            </a:r>
            <a:r>
              <a:rPr lang="zh-CN" altLang="en-US" dirty="0" smtClean="0"/>
              <a:t>端口</a:t>
            </a:r>
            <a:r>
              <a:rPr lang="en-US" altLang="zh-CN" dirty="0" smtClean="0"/>
              <a:t>)</a:t>
            </a:r>
            <a:r>
              <a:rPr lang="zh-CN" altLang="en-US" dirty="0" smtClean="0"/>
              <a:t>来交换路由信息</a:t>
            </a:r>
          </a:p>
          <a:p>
            <a:pPr eaLnBrk="1" hangingPunct="1">
              <a:lnSpc>
                <a:spcPct val="110000"/>
              </a:lnSpc>
            </a:pPr>
            <a:r>
              <a:rPr lang="zh-CN" altLang="en-US" dirty="0" smtClean="0"/>
              <a:t>以跳数多少选择最优路由</a:t>
            </a:r>
          </a:p>
          <a:p>
            <a:pPr eaLnBrk="1" hangingPunct="1">
              <a:lnSpc>
                <a:spcPct val="110000"/>
              </a:lnSpc>
            </a:pPr>
            <a:r>
              <a:rPr lang="en-US" altLang="zh-CN" dirty="0" smtClean="0"/>
              <a:t>RIPv1</a:t>
            </a:r>
            <a:r>
              <a:rPr lang="zh-CN" altLang="en-US" dirty="0" smtClean="0"/>
              <a:t>协议报文不携带掩码信息</a:t>
            </a:r>
          </a:p>
        </p:txBody>
      </p:sp>
      <p:sp>
        <p:nvSpPr>
          <p:cNvPr id="16387" name="Rectangle 3"/>
          <p:cNvSpPr>
            <a:spLocks noGrp="1" noChangeArrowheads="1"/>
          </p:cNvSpPr>
          <p:nvPr>
            <p:ph type="title" idx="4294967295"/>
          </p:nvPr>
        </p:nvSpPr>
        <p:spPr/>
        <p:txBody>
          <a:bodyPr/>
          <a:lstStyle/>
          <a:p>
            <a:pPr eaLnBrk="1" hangingPunct="1"/>
            <a:r>
              <a:rPr lang="en-US" altLang="zh-CN" dirty="0" smtClean="0">
                <a:effectLst>
                  <a:outerShdw blurRad="38100" dist="38100" dir="2700000" algn="tl">
                    <a:srgbClr val="000000">
                      <a:alpha val="43137"/>
                    </a:srgbClr>
                  </a:outerShdw>
                </a:effectLst>
              </a:rPr>
              <a:t>RIP </a:t>
            </a:r>
            <a:r>
              <a:rPr lang="zh-CN" altLang="en-US" dirty="0" smtClean="0">
                <a:effectLst>
                  <a:outerShdw blurRad="38100" dist="38100" dir="2700000" algn="tl">
                    <a:srgbClr val="000000">
                      <a:alpha val="43137"/>
                    </a:srgbClr>
                  </a:outerShdw>
                </a:effectLst>
              </a:rPr>
              <a:t>协议</a:t>
            </a:r>
            <a:endParaRPr lang="en-US" altLang="zh-CN" dirty="0" smtClean="0">
              <a:latin typeface="宋体" pitchFamily="2"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type="title" idx="4294967295"/>
          </p:nvPr>
        </p:nvSpPr>
        <p:spPr/>
        <p:txBody>
          <a:bodyPr/>
          <a:lstStyle/>
          <a:p>
            <a:pPr eaLnBrk="1" hangingPunct="1"/>
            <a:r>
              <a:rPr lang="en-US" altLang="zh-CN" dirty="0" smtClean="0">
                <a:effectLst>
                  <a:outerShdw blurRad="38100" dist="38100" dir="2700000" algn="tl">
                    <a:srgbClr val="000000">
                      <a:alpha val="43137"/>
                    </a:srgbClr>
                  </a:outerShdw>
                </a:effectLst>
              </a:rPr>
              <a:t>RIP </a:t>
            </a:r>
            <a:r>
              <a:rPr lang="zh-CN" altLang="en-US" dirty="0" smtClean="0">
                <a:effectLst>
                  <a:outerShdw blurRad="38100" dist="38100" dir="2700000" algn="tl">
                    <a:srgbClr val="000000">
                      <a:alpha val="43137"/>
                    </a:srgbClr>
                  </a:outerShdw>
                </a:effectLst>
              </a:rPr>
              <a:t>协议</a:t>
            </a:r>
            <a:endParaRPr lang="en-US" altLang="zh-CN" dirty="0" smtClean="0">
              <a:latin typeface="宋体" pitchFamily="2" charset="-122"/>
            </a:endParaRPr>
          </a:p>
        </p:txBody>
      </p:sp>
      <p:sp>
        <p:nvSpPr>
          <p:cNvPr id="4" name="Line 2"/>
          <p:cNvSpPr>
            <a:spLocks noChangeShapeType="1"/>
          </p:cNvSpPr>
          <p:nvPr/>
        </p:nvSpPr>
        <p:spPr bwMode="auto">
          <a:xfrm rot="10800000">
            <a:off x="3419475" y="4238610"/>
            <a:ext cx="1752600" cy="0"/>
          </a:xfrm>
          <a:prstGeom prst="line">
            <a:avLst/>
          </a:prstGeom>
          <a:noFill/>
          <a:ln w="38100">
            <a:solidFill>
              <a:schemeClr val="accent2"/>
            </a:solidFill>
            <a:round/>
            <a:headEnd type="none" w="sm" len="sm"/>
            <a:tailEnd type="none" w="sm" len="sm"/>
          </a:ln>
          <a:effectLst>
            <a:outerShdw dist="35921" dir="2700000" algn="ctr" rotWithShape="0">
              <a:schemeClr val="tx1"/>
            </a:outerShdw>
          </a:effectLst>
        </p:spPr>
        <p:txBody>
          <a:bodyPr anchor="ctr">
            <a:spAutoFit/>
          </a:bodyPr>
          <a:lstStyle/>
          <a:p>
            <a:endParaRPr lang="zh-CN" altLang="en-US"/>
          </a:p>
        </p:txBody>
      </p:sp>
      <p:sp>
        <p:nvSpPr>
          <p:cNvPr id="5" name="Freeform 3"/>
          <p:cNvSpPr>
            <a:spLocks/>
          </p:cNvSpPr>
          <p:nvPr/>
        </p:nvSpPr>
        <p:spPr bwMode="auto">
          <a:xfrm>
            <a:off x="6861175" y="3933810"/>
            <a:ext cx="838200" cy="95250"/>
          </a:xfrm>
          <a:custGeom>
            <a:avLst/>
            <a:gdLst>
              <a:gd name="T0" fmla="*/ 0 w 528"/>
              <a:gd name="T1" fmla="*/ 0 h 60"/>
              <a:gd name="T2" fmla="*/ 2147483646 w 528"/>
              <a:gd name="T3" fmla="*/ 0 h 60"/>
              <a:gd name="T4" fmla="*/ 2147483646 w 528"/>
              <a:gd name="T5" fmla="*/ 2147483646 h 60"/>
              <a:gd name="T6" fmla="*/ 2147483646 w 528"/>
              <a:gd name="T7" fmla="*/ 2147483646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8" h="60">
                <a:moveTo>
                  <a:pt x="0" y="0"/>
                </a:moveTo>
                <a:lnTo>
                  <a:pt x="270" y="0"/>
                </a:lnTo>
                <a:lnTo>
                  <a:pt x="186" y="60"/>
                </a:lnTo>
                <a:lnTo>
                  <a:pt x="528" y="54"/>
                </a:lnTo>
              </a:path>
            </a:pathLst>
          </a:custGeom>
          <a:noFill/>
          <a:ln w="38100" cap="flat" cmpd="sng">
            <a:solidFill>
              <a:schemeClr val="accent2"/>
            </a:solidFill>
            <a:prstDash val="solid"/>
            <a:round/>
            <a:headEnd type="none" w="sm" len="sm"/>
            <a:tailEnd type="none" w="sm" len="sm"/>
          </a:ln>
          <a:effectLst>
            <a:outerShdw dist="28398" dir="3806097" algn="ctr" rotWithShape="0">
              <a:schemeClr val="tx1"/>
            </a:outerShdw>
          </a:effectLst>
        </p:spPr>
        <p:txBody>
          <a:bodyPr wrap="none" anchor="ctr">
            <a:spAutoFit/>
          </a:bodyPr>
          <a:lstStyle/>
          <a:p>
            <a:endParaRPr lang="zh-CN" altLang="en-US"/>
          </a:p>
        </p:txBody>
      </p:sp>
      <p:sp>
        <p:nvSpPr>
          <p:cNvPr id="6" name="Freeform 4"/>
          <p:cNvSpPr>
            <a:spLocks/>
          </p:cNvSpPr>
          <p:nvPr/>
        </p:nvSpPr>
        <p:spPr bwMode="auto">
          <a:xfrm>
            <a:off x="1069975" y="3886185"/>
            <a:ext cx="838200" cy="95250"/>
          </a:xfrm>
          <a:custGeom>
            <a:avLst/>
            <a:gdLst>
              <a:gd name="T0" fmla="*/ 0 w 528"/>
              <a:gd name="T1" fmla="*/ 0 h 60"/>
              <a:gd name="T2" fmla="*/ 2147483646 w 528"/>
              <a:gd name="T3" fmla="*/ 0 h 60"/>
              <a:gd name="T4" fmla="*/ 2147483646 w 528"/>
              <a:gd name="T5" fmla="*/ 2147483646 h 60"/>
              <a:gd name="T6" fmla="*/ 2147483646 w 528"/>
              <a:gd name="T7" fmla="*/ 2147483646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8" h="60">
                <a:moveTo>
                  <a:pt x="0" y="0"/>
                </a:moveTo>
                <a:lnTo>
                  <a:pt x="270" y="0"/>
                </a:lnTo>
                <a:lnTo>
                  <a:pt x="186" y="60"/>
                </a:lnTo>
                <a:lnTo>
                  <a:pt x="528" y="54"/>
                </a:lnTo>
              </a:path>
            </a:pathLst>
          </a:custGeom>
          <a:noFill/>
          <a:ln w="38100" cap="flat" cmpd="sng">
            <a:solidFill>
              <a:schemeClr val="accent2"/>
            </a:solidFill>
            <a:prstDash val="solid"/>
            <a:round/>
            <a:headEnd type="none" w="sm" len="sm"/>
            <a:tailEnd type="none" w="sm" len="sm"/>
          </a:ln>
          <a:effectLst>
            <a:outerShdw dist="28398" dir="3806097" algn="ctr" rotWithShape="0">
              <a:schemeClr val="tx1"/>
            </a:outerShdw>
          </a:effectLst>
        </p:spPr>
        <p:txBody>
          <a:bodyPr wrap="none" anchor="ctr">
            <a:spAutoFit/>
          </a:bodyPr>
          <a:lstStyle/>
          <a:p>
            <a:endParaRPr lang="zh-CN" altLang="en-US"/>
          </a:p>
        </p:txBody>
      </p:sp>
      <p:sp>
        <p:nvSpPr>
          <p:cNvPr id="7" name="Line 5"/>
          <p:cNvSpPr>
            <a:spLocks noChangeShapeType="1"/>
          </p:cNvSpPr>
          <p:nvPr/>
        </p:nvSpPr>
        <p:spPr bwMode="auto">
          <a:xfrm rot="10800000">
            <a:off x="7470775" y="4324335"/>
            <a:ext cx="990600" cy="0"/>
          </a:xfrm>
          <a:prstGeom prst="line">
            <a:avLst/>
          </a:prstGeom>
          <a:noFill/>
          <a:ln w="38100">
            <a:solidFill>
              <a:schemeClr val="accent2"/>
            </a:solidFill>
            <a:round/>
            <a:headEnd type="none" w="sm" len="sm"/>
            <a:tailEnd type="none" w="sm" len="sm"/>
          </a:ln>
          <a:effectLst>
            <a:outerShdw dist="35921" dir="2700000" algn="ctr" rotWithShape="0">
              <a:schemeClr val="tx1"/>
            </a:outerShdw>
          </a:effectLst>
        </p:spPr>
        <p:txBody>
          <a:bodyPr anchor="ctr">
            <a:spAutoFit/>
          </a:bodyPr>
          <a:lstStyle/>
          <a:p>
            <a:endParaRPr lang="zh-CN" altLang="en-US"/>
          </a:p>
        </p:txBody>
      </p:sp>
      <p:sp>
        <p:nvSpPr>
          <p:cNvPr id="8" name="Line 6"/>
          <p:cNvSpPr>
            <a:spLocks noChangeShapeType="1"/>
          </p:cNvSpPr>
          <p:nvPr/>
        </p:nvSpPr>
        <p:spPr bwMode="auto">
          <a:xfrm rot="10800000">
            <a:off x="307975" y="3590910"/>
            <a:ext cx="990600" cy="0"/>
          </a:xfrm>
          <a:prstGeom prst="line">
            <a:avLst/>
          </a:prstGeom>
          <a:noFill/>
          <a:ln w="38100">
            <a:solidFill>
              <a:schemeClr val="accent2"/>
            </a:solidFill>
            <a:round/>
            <a:headEnd type="none" w="sm" len="sm"/>
            <a:tailEnd type="none" w="sm" len="sm"/>
          </a:ln>
          <a:effectLst>
            <a:outerShdw dist="35921" dir="2700000" algn="ctr" rotWithShape="0">
              <a:schemeClr val="tx1"/>
            </a:outerShdw>
          </a:effectLst>
        </p:spPr>
        <p:txBody>
          <a:bodyPr anchor="ctr">
            <a:spAutoFit/>
          </a:bodyPr>
          <a:lstStyle/>
          <a:p>
            <a:endParaRPr lang="zh-CN" altLang="en-US"/>
          </a:p>
        </p:txBody>
      </p:sp>
      <p:sp>
        <p:nvSpPr>
          <p:cNvPr id="9" name="Line 7"/>
          <p:cNvSpPr>
            <a:spLocks noChangeShapeType="1"/>
          </p:cNvSpPr>
          <p:nvPr/>
        </p:nvSpPr>
        <p:spPr bwMode="auto">
          <a:xfrm rot="10800000">
            <a:off x="5580063" y="4238610"/>
            <a:ext cx="381000" cy="0"/>
          </a:xfrm>
          <a:prstGeom prst="line">
            <a:avLst/>
          </a:prstGeom>
          <a:noFill/>
          <a:ln w="38100">
            <a:solidFill>
              <a:schemeClr val="accent2"/>
            </a:solidFill>
            <a:round/>
            <a:headEnd type="none" w="sm" len="sm"/>
            <a:tailEnd type="none" w="sm" len="sm"/>
          </a:ln>
          <a:effectLst>
            <a:outerShdw dist="35921" dir="2700000" algn="ctr" rotWithShape="0">
              <a:schemeClr val="tx1"/>
            </a:outerShdw>
          </a:effectLst>
        </p:spPr>
        <p:txBody>
          <a:bodyPr anchor="ctr">
            <a:spAutoFit/>
          </a:bodyPr>
          <a:lstStyle/>
          <a:p>
            <a:endParaRPr lang="zh-CN" altLang="en-US"/>
          </a:p>
        </p:txBody>
      </p:sp>
      <p:sp>
        <p:nvSpPr>
          <p:cNvPr id="10" name="Line 10"/>
          <p:cNvSpPr>
            <a:spLocks noChangeShapeType="1"/>
          </p:cNvSpPr>
          <p:nvPr/>
        </p:nvSpPr>
        <p:spPr bwMode="auto">
          <a:xfrm rot="10800000">
            <a:off x="2670175" y="3438510"/>
            <a:ext cx="3270250" cy="7938"/>
          </a:xfrm>
          <a:prstGeom prst="line">
            <a:avLst/>
          </a:prstGeom>
          <a:noFill/>
          <a:ln w="38100">
            <a:solidFill>
              <a:schemeClr val="accent2"/>
            </a:solidFill>
            <a:round/>
            <a:headEnd type="none" w="sm" len="sm"/>
            <a:tailEnd type="none" w="sm" len="sm"/>
          </a:ln>
          <a:effectLst>
            <a:outerShdw dist="35921" dir="2700000" algn="ctr" rotWithShape="0">
              <a:schemeClr val="tx1"/>
            </a:outerShdw>
          </a:effectLst>
        </p:spPr>
        <p:txBody>
          <a:bodyPr anchor="ctr">
            <a:spAutoFit/>
          </a:bodyPr>
          <a:lstStyle/>
          <a:p>
            <a:endParaRPr lang="zh-CN" altLang="en-US"/>
          </a:p>
        </p:txBody>
      </p:sp>
      <p:sp>
        <p:nvSpPr>
          <p:cNvPr id="11" name="Line 11"/>
          <p:cNvSpPr>
            <a:spLocks noChangeShapeType="1"/>
          </p:cNvSpPr>
          <p:nvPr/>
        </p:nvSpPr>
        <p:spPr bwMode="auto">
          <a:xfrm rot="10800000">
            <a:off x="2700338" y="4238610"/>
            <a:ext cx="609600" cy="0"/>
          </a:xfrm>
          <a:prstGeom prst="line">
            <a:avLst/>
          </a:prstGeom>
          <a:noFill/>
          <a:ln w="38100">
            <a:solidFill>
              <a:schemeClr val="accent2"/>
            </a:solidFill>
            <a:round/>
            <a:headEnd type="none" w="sm" len="sm"/>
            <a:tailEnd type="none" w="sm" len="sm"/>
          </a:ln>
          <a:effectLst>
            <a:outerShdw dist="35921" dir="2700000" algn="ctr" rotWithShape="0">
              <a:schemeClr val="tx1"/>
            </a:outerShdw>
          </a:effectLst>
        </p:spPr>
        <p:txBody>
          <a:bodyPr anchor="ctr">
            <a:spAutoFit/>
          </a:bodyPr>
          <a:lstStyle/>
          <a:p>
            <a:endParaRPr lang="zh-CN" altLang="en-US"/>
          </a:p>
        </p:txBody>
      </p:sp>
      <p:sp>
        <p:nvSpPr>
          <p:cNvPr id="12" name="Line 13"/>
          <p:cNvSpPr>
            <a:spLocks noChangeShapeType="1"/>
          </p:cNvSpPr>
          <p:nvPr/>
        </p:nvSpPr>
        <p:spPr bwMode="auto">
          <a:xfrm rot="10800000">
            <a:off x="2289175" y="3895710"/>
            <a:ext cx="381000" cy="0"/>
          </a:xfrm>
          <a:prstGeom prst="line">
            <a:avLst/>
          </a:prstGeom>
          <a:noFill/>
          <a:ln w="38100">
            <a:solidFill>
              <a:schemeClr val="accent2"/>
            </a:solidFill>
            <a:round/>
            <a:headEnd type="none" w="sm" len="sm"/>
            <a:tailEnd type="none" w="sm" len="sm"/>
          </a:ln>
          <a:effectLst>
            <a:outerShdw dist="35921" dir="2700000" algn="ctr" rotWithShape="0">
              <a:schemeClr val="tx1"/>
            </a:outerShdw>
          </a:effectLst>
        </p:spPr>
        <p:txBody>
          <a:bodyPr anchor="ctr">
            <a:spAutoFit/>
          </a:bodyPr>
          <a:lstStyle/>
          <a:p>
            <a:endParaRPr lang="zh-CN" altLang="en-US"/>
          </a:p>
        </p:txBody>
      </p:sp>
      <p:sp>
        <p:nvSpPr>
          <p:cNvPr id="13" name="Line 14"/>
          <p:cNvSpPr>
            <a:spLocks noChangeShapeType="1"/>
          </p:cNvSpPr>
          <p:nvPr/>
        </p:nvSpPr>
        <p:spPr bwMode="auto">
          <a:xfrm rot="10800000">
            <a:off x="5946775" y="3952860"/>
            <a:ext cx="381000" cy="0"/>
          </a:xfrm>
          <a:prstGeom prst="line">
            <a:avLst/>
          </a:prstGeom>
          <a:noFill/>
          <a:ln w="38100">
            <a:solidFill>
              <a:schemeClr val="accent2"/>
            </a:solidFill>
            <a:round/>
            <a:headEnd type="none" w="sm" len="sm"/>
            <a:tailEnd type="none" w="sm" len="sm"/>
          </a:ln>
          <a:effectLst>
            <a:outerShdw dist="35921" dir="2700000" algn="ctr" rotWithShape="0">
              <a:schemeClr val="tx1"/>
            </a:outerShdw>
          </a:effectLst>
        </p:spPr>
        <p:txBody>
          <a:bodyPr anchor="ctr">
            <a:spAutoFit/>
          </a:bodyPr>
          <a:lstStyle/>
          <a:p>
            <a:endParaRPr lang="zh-CN" altLang="en-US"/>
          </a:p>
        </p:txBody>
      </p:sp>
      <p:sp>
        <p:nvSpPr>
          <p:cNvPr id="14" name="Line 15"/>
          <p:cNvSpPr>
            <a:spLocks noChangeShapeType="1"/>
          </p:cNvSpPr>
          <p:nvPr/>
        </p:nvSpPr>
        <p:spPr bwMode="auto">
          <a:xfrm rot="5400000">
            <a:off x="574675" y="3781410"/>
            <a:ext cx="381000" cy="0"/>
          </a:xfrm>
          <a:prstGeom prst="line">
            <a:avLst/>
          </a:prstGeom>
          <a:noFill/>
          <a:ln w="38100">
            <a:solidFill>
              <a:schemeClr val="accent2"/>
            </a:solidFill>
            <a:round/>
            <a:headEnd type="none" w="sm" len="sm"/>
            <a:tailEnd type="none" w="sm" len="sm"/>
          </a:ln>
          <a:effectLst>
            <a:outerShdw dist="35921" dir="2700000" algn="ctr" rotWithShape="0">
              <a:schemeClr val="tx1"/>
            </a:outerShdw>
          </a:effectLst>
        </p:spPr>
        <p:txBody>
          <a:bodyPr anchor="ctr">
            <a:spAutoFit/>
          </a:bodyPr>
          <a:lstStyle/>
          <a:p>
            <a:endParaRPr lang="zh-CN" altLang="en-US"/>
          </a:p>
        </p:txBody>
      </p:sp>
      <p:sp>
        <p:nvSpPr>
          <p:cNvPr id="15" name="Line 16"/>
          <p:cNvSpPr>
            <a:spLocks noChangeShapeType="1"/>
          </p:cNvSpPr>
          <p:nvPr/>
        </p:nvSpPr>
        <p:spPr bwMode="auto">
          <a:xfrm rot="5400000">
            <a:off x="7737475" y="4133835"/>
            <a:ext cx="381000" cy="0"/>
          </a:xfrm>
          <a:prstGeom prst="line">
            <a:avLst/>
          </a:prstGeom>
          <a:noFill/>
          <a:ln w="38100">
            <a:solidFill>
              <a:schemeClr val="accent2"/>
            </a:solidFill>
            <a:round/>
            <a:headEnd type="none" w="sm" len="sm"/>
            <a:tailEnd type="none" w="sm" len="sm"/>
          </a:ln>
          <a:effectLst>
            <a:outerShdw dist="35921" dir="2700000" algn="ctr" rotWithShape="0">
              <a:schemeClr val="tx1"/>
            </a:outerShdw>
          </a:effectLst>
        </p:spPr>
        <p:txBody>
          <a:bodyPr anchor="ctr">
            <a:spAutoFit/>
          </a:bodyPr>
          <a:lstStyle/>
          <a:p>
            <a:endParaRPr lang="zh-CN" altLang="en-US"/>
          </a:p>
        </p:txBody>
      </p:sp>
      <p:sp>
        <p:nvSpPr>
          <p:cNvPr id="16" name="Line 20"/>
          <p:cNvSpPr>
            <a:spLocks noChangeShapeType="1"/>
          </p:cNvSpPr>
          <p:nvPr/>
        </p:nvSpPr>
        <p:spPr bwMode="auto">
          <a:xfrm rot="5400000">
            <a:off x="498475" y="3400410"/>
            <a:ext cx="381000" cy="0"/>
          </a:xfrm>
          <a:prstGeom prst="line">
            <a:avLst/>
          </a:prstGeom>
          <a:noFill/>
          <a:ln w="38100">
            <a:solidFill>
              <a:schemeClr val="accent2"/>
            </a:solidFill>
            <a:round/>
            <a:headEnd type="none" w="sm" len="sm"/>
            <a:tailEnd type="none" w="sm" len="sm"/>
          </a:ln>
          <a:effectLst>
            <a:outerShdw dist="35921" dir="2700000" algn="ctr" rotWithShape="0">
              <a:schemeClr val="tx1"/>
            </a:outerShdw>
          </a:effectLst>
        </p:spPr>
        <p:txBody>
          <a:bodyPr anchor="ctr">
            <a:spAutoFit/>
          </a:bodyPr>
          <a:lstStyle/>
          <a:p>
            <a:endParaRPr lang="zh-CN" altLang="en-US"/>
          </a:p>
        </p:txBody>
      </p:sp>
      <p:sp>
        <p:nvSpPr>
          <p:cNvPr id="17" name="Line 21"/>
          <p:cNvSpPr>
            <a:spLocks noChangeShapeType="1"/>
          </p:cNvSpPr>
          <p:nvPr/>
        </p:nvSpPr>
        <p:spPr bwMode="auto">
          <a:xfrm rot="5400000">
            <a:off x="8042275" y="4514835"/>
            <a:ext cx="381000" cy="0"/>
          </a:xfrm>
          <a:prstGeom prst="line">
            <a:avLst/>
          </a:prstGeom>
          <a:noFill/>
          <a:ln w="38100">
            <a:solidFill>
              <a:schemeClr val="accent2"/>
            </a:solidFill>
            <a:round/>
            <a:headEnd type="none" w="sm" len="sm"/>
            <a:tailEnd type="none" w="sm" len="sm"/>
          </a:ln>
          <a:effectLst>
            <a:outerShdw dist="35921" dir="2700000" algn="ctr" rotWithShape="0">
              <a:schemeClr val="tx1"/>
            </a:outerShdw>
          </a:effectLst>
        </p:spPr>
        <p:txBody>
          <a:bodyPr anchor="ctr">
            <a:spAutoFit/>
          </a:bodyPr>
          <a:lstStyle/>
          <a:p>
            <a:endParaRPr lang="zh-CN" altLang="en-US"/>
          </a:p>
        </p:txBody>
      </p:sp>
      <p:pic>
        <p:nvPicPr>
          <p:cNvPr id="18" name="Picture 22"/>
          <p:cNvPicPr>
            <a:picLocks noChangeArrowheads="1"/>
          </p:cNvPicPr>
          <p:nvPr/>
        </p:nvPicPr>
        <p:blipFill>
          <a:blip r:embed="rId3"/>
          <a:srcRect/>
          <a:stretch>
            <a:fillRect/>
          </a:stretch>
        </p:blipFill>
        <p:spPr bwMode="auto">
          <a:xfrm>
            <a:off x="8004175" y="4476735"/>
            <a:ext cx="381000" cy="533400"/>
          </a:xfrm>
          <a:prstGeom prst="rect">
            <a:avLst/>
          </a:prstGeom>
          <a:noFill/>
          <a:ln w="9525">
            <a:noFill/>
            <a:miter lim="800000"/>
            <a:headEnd/>
            <a:tailEnd/>
          </a:ln>
          <a:effectLst/>
        </p:spPr>
      </p:pic>
      <p:pic>
        <p:nvPicPr>
          <p:cNvPr id="19" name="Picture 23"/>
          <p:cNvPicPr>
            <a:picLocks noChangeArrowheads="1"/>
          </p:cNvPicPr>
          <p:nvPr/>
        </p:nvPicPr>
        <p:blipFill>
          <a:blip r:embed="rId4"/>
          <a:srcRect/>
          <a:stretch>
            <a:fillRect/>
          </a:stretch>
        </p:blipFill>
        <p:spPr bwMode="auto">
          <a:xfrm>
            <a:off x="536575" y="2981310"/>
            <a:ext cx="457200" cy="457200"/>
          </a:xfrm>
          <a:prstGeom prst="rect">
            <a:avLst/>
          </a:prstGeom>
          <a:noFill/>
          <a:ln w="9525">
            <a:noFill/>
            <a:miter lim="800000"/>
            <a:headEnd/>
            <a:tailEnd/>
          </a:ln>
          <a:effectLst/>
        </p:spPr>
      </p:pic>
      <p:sp>
        <p:nvSpPr>
          <p:cNvPr id="20" name="Text Box 24"/>
          <p:cNvSpPr txBox="1">
            <a:spLocks noChangeArrowheads="1"/>
          </p:cNvSpPr>
          <p:nvPr/>
        </p:nvSpPr>
        <p:spPr bwMode="auto">
          <a:xfrm>
            <a:off x="7013575" y="4171935"/>
            <a:ext cx="528638" cy="304800"/>
          </a:xfrm>
          <a:prstGeom prst="rect">
            <a:avLst/>
          </a:prstGeom>
          <a:noFill/>
          <a:ln w="38100">
            <a:noFill/>
            <a:miter lim="800000"/>
            <a:headEnd type="none" w="sm" len="sm"/>
            <a:tailEnd type="none" w="sm" len="sm"/>
          </a:ln>
          <a:effectLst/>
        </p:spPr>
        <p:txBody>
          <a:bodyPr wrap="none" anchor="ctr">
            <a:spAutoFit/>
          </a:bodyPr>
          <a:lstStyle/>
          <a:p>
            <a:pPr algn="ctr"/>
            <a:r>
              <a:rPr lang="en-US" altLang="zh-CN" b="1">
                <a:latin typeface="Helvetica" pitchFamily="34" charset="0"/>
              </a:rPr>
              <a:t>10.0</a:t>
            </a:r>
          </a:p>
        </p:txBody>
      </p:sp>
      <p:sp>
        <p:nvSpPr>
          <p:cNvPr id="21" name="Text Box 25"/>
          <p:cNvSpPr txBox="1">
            <a:spLocks noChangeArrowheads="1"/>
          </p:cNvSpPr>
          <p:nvPr/>
        </p:nvSpPr>
        <p:spPr bwMode="auto">
          <a:xfrm>
            <a:off x="2289175" y="3543285"/>
            <a:ext cx="430213" cy="304800"/>
          </a:xfrm>
          <a:prstGeom prst="rect">
            <a:avLst/>
          </a:prstGeom>
          <a:noFill/>
          <a:ln w="38100">
            <a:noFill/>
            <a:miter lim="800000"/>
            <a:headEnd type="none" w="sm" len="sm"/>
            <a:tailEnd type="none" w="sm" len="sm"/>
          </a:ln>
          <a:effectLst/>
        </p:spPr>
        <p:txBody>
          <a:bodyPr wrap="none" anchor="ctr">
            <a:spAutoFit/>
          </a:bodyPr>
          <a:lstStyle/>
          <a:p>
            <a:pPr algn="ctr"/>
            <a:r>
              <a:rPr lang="en-US" altLang="zh-CN" b="1">
                <a:latin typeface="Helvetica" pitchFamily="34" charset="0"/>
              </a:rPr>
              <a:t>5.1</a:t>
            </a:r>
          </a:p>
        </p:txBody>
      </p:sp>
      <p:sp>
        <p:nvSpPr>
          <p:cNvPr id="22" name="Text Box 26"/>
          <p:cNvSpPr txBox="1">
            <a:spLocks noChangeArrowheads="1"/>
          </p:cNvSpPr>
          <p:nvPr/>
        </p:nvSpPr>
        <p:spPr bwMode="auto">
          <a:xfrm>
            <a:off x="3492500" y="3446448"/>
            <a:ext cx="430213" cy="304800"/>
          </a:xfrm>
          <a:prstGeom prst="rect">
            <a:avLst/>
          </a:prstGeom>
          <a:noFill/>
          <a:ln w="38100">
            <a:noFill/>
            <a:miter lim="800000"/>
            <a:headEnd type="none" w="sm" len="sm"/>
            <a:tailEnd type="none" w="sm" len="sm"/>
          </a:ln>
          <a:effectLst/>
        </p:spPr>
        <p:txBody>
          <a:bodyPr wrap="none" anchor="ctr">
            <a:spAutoFit/>
          </a:bodyPr>
          <a:lstStyle/>
          <a:p>
            <a:pPr algn="ctr"/>
            <a:r>
              <a:rPr lang="en-US" altLang="zh-CN" b="1">
                <a:latin typeface="Helvetica" pitchFamily="34" charset="0"/>
              </a:rPr>
              <a:t>5.2</a:t>
            </a:r>
          </a:p>
        </p:txBody>
      </p:sp>
      <p:sp>
        <p:nvSpPr>
          <p:cNvPr id="23" name="Text Box 27"/>
          <p:cNvSpPr txBox="1">
            <a:spLocks noChangeArrowheads="1"/>
          </p:cNvSpPr>
          <p:nvPr/>
        </p:nvSpPr>
        <p:spPr bwMode="auto">
          <a:xfrm>
            <a:off x="2700338" y="4238610"/>
            <a:ext cx="430212" cy="304800"/>
          </a:xfrm>
          <a:prstGeom prst="rect">
            <a:avLst/>
          </a:prstGeom>
          <a:noFill/>
          <a:ln w="38100">
            <a:noFill/>
            <a:miter lim="800000"/>
            <a:headEnd type="none" w="sm" len="sm"/>
            <a:tailEnd type="none" w="sm" len="sm"/>
          </a:ln>
          <a:effectLst/>
        </p:spPr>
        <p:txBody>
          <a:bodyPr wrap="none" anchor="ctr">
            <a:spAutoFit/>
          </a:bodyPr>
          <a:lstStyle/>
          <a:p>
            <a:pPr algn="ctr"/>
            <a:r>
              <a:rPr lang="en-US" altLang="zh-CN" b="1">
                <a:latin typeface="Helvetica" pitchFamily="34" charset="0"/>
              </a:rPr>
              <a:t>5.3</a:t>
            </a:r>
          </a:p>
        </p:txBody>
      </p:sp>
      <p:sp>
        <p:nvSpPr>
          <p:cNvPr id="24" name="Rectangle 29"/>
          <p:cNvSpPr>
            <a:spLocks noChangeArrowheads="1"/>
          </p:cNvSpPr>
          <p:nvPr/>
        </p:nvSpPr>
        <p:spPr bwMode="auto">
          <a:xfrm>
            <a:off x="622300" y="4657710"/>
            <a:ext cx="3302000" cy="804863"/>
          </a:xfrm>
          <a:prstGeom prst="rect">
            <a:avLst/>
          </a:prstGeom>
          <a:solidFill>
            <a:schemeClr val="bg1"/>
          </a:solidFill>
          <a:ln w="19050">
            <a:solidFill>
              <a:schemeClr val="tx1"/>
            </a:solidFill>
            <a:miter lim="800000"/>
            <a:headEnd type="none" w="sm" len="sm"/>
            <a:tailEnd type="none" w="sm" len="sm"/>
          </a:ln>
          <a:effectLst>
            <a:outerShdw dist="35921" dir="2700000" algn="ctr" rotWithShape="0">
              <a:schemeClr val="tx1"/>
            </a:outerShdw>
          </a:effectLst>
        </p:spPr>
        <p:txBody>
          <a:bodyPr anchor="ctr">
            <a:spAutoFit/>
          </a:bodyPr>
          <a:lstStyle/>
          <a:p>
            <a:pPr eaLnBrk="1" hangingPunct="1"/>
            <a:endParaRPr lang="zh-CN" altLang="en-US"/>
          </a:p>
        </p:txBody>
      </p:sp>
      <p:sp>
        <p:nvSpPr>
          <p:cNvPr id="25" name="Text Box 30"/>
          <p:cNvSpPr txBox="1">
            <a:spLocks noChangeArrowheads="1"/>
          </p:cNvSpPr>
          <p:nvPr/>
        </p:nvSpPr>
        <p:spPr bwMode="auto">
          <a:xfrm>
            <a:off x="622300" y="4886310"/>
            <a:ext cx="1839913" cy="304800"/>
          </a:xfrm>
          <a:prstGeom prst="rect">
            <a:avLst/>
          </a:prstGeom>
          <a:noFill/>
          <a:ln w="38100">
            <a:noFill/>
            <a:miter lim="800000"/>
            <a:headEnd type="none" w="sm" len="sm"/>
            <a:tailEnd type="none" w="sm" len="sm"/>
          </a:ln>
          <a:effectLst/>
        </p:spPr>
        <p:txBody>
          <a:bodyPr wrap="none" anchor="ctr">
            <a:spAutoFit/>
          </a:bodyPr>
          <a:lstStyle/>
          <a:p>
            <a:pPr>
              <a:spcBef>
                <a:spcPct val="50000"/>
              </a:spcBef>
            </a:pPr>
            <a:r>
              <a:rPr lang="en-US" altLang="zh-CN" b="1">
                <a:latin typeface="Helvetica" pitchFamily="34" charset="0"/>
              </a:rPr>
              <a:t>C  4.0 dir conn Ser0</a:t>
            </a:r>
          </a:p>
        </p:txBody>
      </p:sp>
      <p:sp>
        <p:nvSpPr>
          <p:cNvPr id="26" name="Text Box 31"/>
          <p:cNvSpPr txBox="1">
            <a:spLocks noChangeArrowheads="1"/>
          </p:cNvSpPr>
          <p:nvPr/>
        </p:nvSpPr>
        <p:spPr bwMode="auto">
          <a:xfrm>
            <a:off x="622300" y="4657710"/>
            <a:ext cx="1838325" cy="304800"/>
          </a:xfrm>
          <a:prstGeom prst="rect">
            <a:avLst/>
          </a:prstGeom>
          <a:noFill/>
          <a:ln w="38100">
            <a:noFill/>
            <a:miter lim="800000"/>
            <a:headEnd type="none" w="sm" len="sm"/>
            <a:tailEnd type="none" w="sm" len="sm"/>
          </a:ln>
          <a:effectLst/>
        </p:spPr>
        <p:txBody>
          <a:bodyPr wrap="none" anchor="ctr">
            <a:spAutoFit/>
          </a:bodyPr>
          <a:lstStyle/>
          <a:p>
            <a:pPr>
              <a:spcBef>
                <a:spcPct val="50000"/>
              </a:spcBef>
            </a:pPr>
            <a:r>
              <a:rPr lang="en-US" altLang="zh-CN" b="1">
                <a:latin typeface="Helvetica" pitchFamily="34" charset="0"/>
              </a:rPr>
              <a:t>C  5.0 dir conn Eth0</a:t>
            </a:r>
          </a:p>
        </p:txBody>
      </p:sp>
      <p:sp>
        <p:nvSpPr>
          <p:cNvPr id="27" name="Text Box 32"/>
          <p:cNvSpPr txBox="1">
            <a:spLocks noChangeArrowheads="1"/>
          </p:cNvSpPr>
          <p:nvPr/>
        </p:nvSpPr>
        <p:spPr bwMode="auto">
          <a:xfrm>
            <a:off x="622300" y="5114910"/>
            <a:ext cx="2435225" cy="304800"/>
          </a:xfrm>
          <a:prstGeom prst="rect">
            <a:avLst/>
          </a:prstGeom>
          <a:noFill/>
          <a:ln w="38100">
            <a:noFill/>
            <a:miter lim="800000"/>
            <a:headEnd type="none" w="sm" len="sm"/>
            <a:tailEnd type="none" w="sm" len="sm"/>
          </a:ln>
          <a:effectLst/>
        </p:spPr>
        <p:txBody>
          <a:bodyPr wrap="none" anchor="ctr">
            <a:spAutoFit/>
          </a:bodyPr>
          <a:lstStyle/>
          <a:p>
            <a:pPr>
              <a:spcBef>
                <a:spcPct val="50000"/>
              </a:spcBef>
            </a:pPr>
            <a:r>
              <a:rPr lang="en-US" altLang="zh-CN" b="1">
                <a:latin typeface="Helvetica" pitchFamily="34" charset="0"/>
              </a:rPr>
              <a:t>R  10.0 [120/3] via 5.2, Eth0</a:t>
            </a:r>
          </a:p>
        </p:txBody>
      </p:sp>
      <p:sp>
        <p:nvSpPr>
          <p:cNvPr id="28" name="Text Box 35"/>
          <p:cNvSpPr txBox="1">
            <a:spLocks noChangeArrowheads="1"/>
          </p:cNvSpPr>
          <p:nvPr/>
        </p:nvSpPr>
        <p:spPr bwMode="auto">
          <a:xfrm>
            <a:off x="1222375" y="3962385"/>
            <a:ext cx="430213" cy="304800"/>
          </a:xfrm>
          <a:prstGeom prst="rect">
            <a:avLst/>
          </a:prstGeom>
          <a:noFill/>
          <a:ln w="38100">
            <a:noFill/>
            <a:miter lim="800000"/>
            <a:headEnd type="none" w="sm" len="sm"/>
            <a:tailEnd type="none" w="sm" len="sm"/>
          </a:ln>
          <a:effectLst/>
        </p:spPr>
        <p:txBody>
          <a:bodyPr wrap="none" anchor="ctr">
            <a:spAutoFit/>
          </a:bodyPr>
          <a:lstStyle/>
          <a:p>
            <a:pPr algn="ctr"/>
            <a:r>
              <a:rPr lang="en-US" altLang="zh-CN" b="1">
                <a:latin typeface="Helvetica" pitchFamily="34" charset="0"/>
              </a:rPr>
              <a:t>4.0</a:t>
            </a:r>
          </a:p>
        </p:txBody>
      </p:sp>
      <p:sp>
        <p:nvSpPr>
          <p:cNvPr id="29" name="Line 36"/>
          <p:cNvSpPr>
            <a:spLocks noChangeShapeType="1"/>
          </p:cNvSpPr>
          <p:nvPr/>
        </p:nvSpPr>
        <p:spPr bwMode="auto">
          <a:xfrm rot="16200000">
            <a:off x="5451475" y="3857610"/>
            <a:ext cx="990600" cy="0"/>
          </a:xfrm>
          <a:prstGeom prst="line">
            <a:avLst/>
          </a:prstGeom>
          <a:noFill/>
          <a:ln w="38100">
            <a:solidFill>
              <a:schemeClr val="accent2"/>
            </a:solidFill>
            <a:round/>
            <a:headEnd type="none" w="sm" len="sm"/>
            <a:tailEnd type="none" w="sm" len="sm"/>
          </a:ln>
          <a:effectLst>
            <a:outerShdw dist="35921" dir="2700000" algn="ctr" rotWithShape="0">
              <a:schemeClr val="tx1"/>
            </a:outerShdw>
          </a:effectLst>
        </p:spPr>
        <p:txBody>
          <a:bodyPr anchor="ctr">
            <a:spAutoFit/>
          </a:bodyPr>
          <a:lstStyle/>
          <a:p>
            <a:endParaRPr lang="zh-CN" altLang="en-US"/>
          </a:p>
        </p:txBody>
      </p:sp>
      <p:sp>
        <p:nvSpPr>
          <p:cNvPr id="30" name="Line 48"/>
          <p:cNvSpPr>
            <a:spLocks noChangeShapeType="1"/>
          </p:cNvSpPr>
          <p:nvPr/>
        </p:nvSpPr>
        <p:spPr bwMode="auto">
          <a:xfrm rot="16200000">
            <a:off x="2174875" y="3857610"/>
            <a:ext cx="990600" cy="0"/>
          </a:xfrm>
          <a:prstGeom prst="line">
            <a:avLst/>
          </a:prstGeom>
          <a:noFill/>
          <a:ln w="38100">
            <a:solidFill>
              <a:schemeClr val="accent2"/>
            </a:solidFill>
            <a:round/>
            <a:headEnd type="none" w="sm" len="sm"/>
            <a:tailEnd type="none" w="sm" len="sm"/>
          </a:ln>
          <a:effectLst>
            <a:outerShdw dist="35921" dir="2700000" algn="ctr" rotWithShape="0">
              <a:schemeClr val="tx1"/>
            </a:outerShdw>
          </a:effectLst>
        </p:spPr>
        <p:txBody>
          <a:bodyPr anchor="ctr">
            <a:spAutoFit/>
          </a:bodyPr>
          <a:lstStyle/>
          <a:p>
            <a:endParaRPr lang="zh-CN" altLang="en-US"/>
          </a:p>
        </p:txBody>
      </p:sp>
      <p:sp>
        <p:nvSpPr>
          <p:cNvPr id="31" name="Text Box 49"/>
          <p:cNvSpPr txBox="1">
            <a:spLocks noChangeArrowheads="1"/>
          </p:cNvSpPr>
          <p:nvPr/>
        </p:nvSpPr>
        <p:spPr bwMode="auto">
          <a:xfrm>
            <a:off x="2133600" y="2363773"/>
            <a:ext cx="5405438" cy="323850"/>
          </a:xfrm>
          <a:prstGeom prst="rect">
            <a:avLst/>
          </a:prstGeom>
          <a:solidFill>
            <a:schemeClr val="bg1"/>
          </a:solidFill>
          <a:ln w="19050">
            <a:solidFill>
              <a:schemeClr val="tx1"/>
            </a:solidFill>
            <a:miter lim="800000"/>
            <a:headEnd type="none" w="sm" len="sm"/>
            <a:tailEnd/>
          </a:ln>
          <a:effectLst>
            <a:outerShdw dist="35921" dir="2700000" algn="ctr" rotWithShape="0">
              <a:schemeClr val="tx1"/>
            </a:outerShdw>
          </a:effectLst>
        </p:spPr>
        <p:txBody>
          <a:bodyPr wrap="none" anchor="ctr">
            <a:spAutoFit/>
          </a:bodyPr>
          <a:lstStyle/>
          <a:p>
            <a:r>
              <a:rPr lang="zh-CN" altLang="en-US" b="1">
                <a:latin typeface="Helvetica" pitchFamily="34" charset="0"/>
              </a:rPr>
              <a:t>说明：所有下列这些缩写的地址都属于同一个主网络：</a:t>
            </a:r>
            <a:r>
              <a:rPr lang="en-US" altLang="zh-CN" b="1">
                <a:latin typeface="Helvetica" pitchFamily="34" charset="0"/>
              </a:rPr>
              <a:t>192.168.0.0</a:t>
            </a:r>
          </a:p>
        </p:txBody>
      </p:sp>
      <p:sp>
        <p:nvSpPr>
          <p:cNvPr id="32" name="Line 50"/>
          <p:cNvSpPr>
            <a:spLocks noChangeShapeType="1"/>
          </p:cNvSpPr>
          <p:nvPr/>
        </p:nvSpPr>
        <p:spPr bwMode="auto">
          <a:xfrm flipH="1">
            <a:off x="1971675" y="4190985"/>
            <a:ext cx="0" cy="381000"/>
          </a:xfrm>
          <a:prstGeom prst="line">
            <a:avLst/>
          </a:prstGeom>
          <a:noFill/>
          <a:ln w="38100">
            <a:solidFill>
              <a:schemeClr val="tx1"/>
            </a:solidFill>
            <a:round/>
            <a:headEnd type="none" w="sm" len="sm"/>
            <a:tailEnd type="triangle" w="med" len="med"/>
          </a:ln>
          <a:effectLst/>
        </p:spPr>
        <p:txBody>
          <a:bodyPr anchor="ctr">
            <a:spAutoFit/>
          </a:bodyPr>
          <a:lstStyle/>
          <a:p>
            <a:endParaRPr lang="zh-CN" altLang="en-US"/>
          </a:p>
        </p:txBody>
      </p:sp>
      <p:sp>
        <p:nvSpPr>
          <p:cNvPr id="33" name="Rectangle 52"/>
          <p:cNvSpPr txBox="1">
            <a:spLocks noChangeArrowheads="1"/>
          </p:cNvSpPr>
          <p:nvPr/>
        </p:nvSpPr>
        <p:spPr bwMode="auto">
          <a:xfrm>
            <a:off x="457200" y="1285860"/>
            <a:ext cx="7543800" cy="7461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4000" b="1" i="0" u="none" strike="noStrike" kern="0" cap="none" spc="0" normalizeH="0" baseline="0" noProof="0" dirty="0" smtClean="0">
                <a:ln>
                  <a:noFill/>
                </a:ln>
                <a:solidFill>
                  <a:schemeClr val="tx1"/>
                </a:solidFill>
                <a:effectLst/>
                <a:uLnTx/>
                <a:uFillTx/>
                <a:latin typeface="+mj-lt"/>
                <a:ea typeface="+mj-ea"/>
                <a:cs typeface="+mj-cs"/>
              </a:rPr>
              <a:t>RIP </a:t>
            </a:r>
            <a:r>
              <a:rPr kumimoji="0" lang="zh-CN" altLang="en-US" sz="4000" b="1" i="0" u="none" strike="noStrike" kern="0" cap="none" spc="0" normalizeH="0" baseline="0" noProof="0" dirty="0" smtClean="0">
                <a:ln>
                  <a:noFill/>
                </a:ln>
                <a:solidFill>
                  <a:schemeClr val="tx1"/>
                </a:solidFill>
                <a:effectLst/>
                <a:uLnTx/>
                <a:uFillTx/>
                <a:latin typeface="+mj-lt"/>
                <a:ea typeface="+mj-ea"/>
                <a:cs typeface="+mj-cs"/>
              </a:rPr>
              <a:t>的度量值（</a:t>
            </a:r>
            <a:r>
              <a:rPr kumimoji="0" lang="en-US" altLang="zh-CN" sz="4000" b="1" i="0" u="none" strike="noStrike" kern="0" cap="none" spc="0" normalizeH="0" baseline="0" noProof="0" dirty="0" smtClean="0">
                <a:ln>
                  <a:noFill/>
                </a:ln>
                <a:solidFill>
                  <a:schemeClr val="tx1"/>
                </a:solidFill>
                <a:effectLst/>
                <a:uLnTx/>
                <a:uFillTx/>
                <a:latin typeface="+mj-lt"/>
                <a:ea typeface="+mj-ea"/>
                <a:cs typeface="+mj-cs"/>
              </a:rPr>
              <a:t>Metric</a:t>
            </a:r>
            <a:r>
              <a:rPr kumimoji="0" lang="zh-CN" altLang="en-US" sz="4000" b="1" i="0" u="none" strike="noStrike" kern="0" cap="none" spc="0" normalizeH="0" baseline="0" noProof="0" dirty="0" smtClean="0">
                <a:ln>
                  <a:noFill/>
                </a:ln>
                <a:solidFill>
                  <a:schemeClr val="tx1"/>
                </a:solidFill>
                <a:effectLst/>
                <a:uLnTx/>
                <a:uFillTx/>
                <a:latin typeface="+mj-lt"/>
                <a:ea typeface="+mj-ea"/>
                <a:cs typeface="+mj-cs"/>
              </a:rPr>
              <a:t>）</a:t>
            </a:r>
          </a:p>
        </p:txBody>
      </p:sp>
      <p:sp>
        <p:nvSpPr>
          <p:cNvPr id="34" name="Rectangle 53"/>
          <p:cNvSpPr>
            <a:spLocks noChangeArrowheads="1"/>
          </p:cNvSpPr>
          <p:nvPr/>
        </p:nvSpPr>
        <p:spPr bwMode="auto">
          <a:xfrm>
            <a:off x="4114800" y="4010010"/>
            <a:ext cx="590550" cy="212725"/>
          </a:xfrm>
          <a:prstGeom prst="rect">
            <a:avLst/>
          </a:prstGeom>
          <a:noFill/>
          <a:ln w="9525">
            <a:noFill/>
            <a:miter lim="800000"/>
            <a:headEnd/>
            <a:tailEnd/>
          </a:ln>
        </p:spPr>
        <p:txBody>
          <a:bodyPr lIns="0" tIns="0" rIns="0" bIns="0">
            <a:spAutoFit/>
          </a:bodyPr>
          <a:lstStyle/>
          <a:p>
            <a:pPr algn="ctr"/>
            <a:r>
              <a:rPr lang="en-US" altLang="zh-CN" b="1">
                <a:solidFill>
                  <a:srgbClr val="000000"/>
                </a:solidFill>
                <a:latin typeface="Helvetica" pitchFamily="34" charset="0"/>
              </a:rPr>
              <a:t>100M</a:t>
            </a:r>
            <a:endParaRPr lang="en-US" altLang="zh-CN" b="1">
              <a:latin typeface="Helvetica" pitchFamily="34" charset="0"/>
            </a:endParaRPr>
          </a:p>
        </p:txBody>
      </p:sp>
      <p:sp>
        <p:nvSpPr>
          <p:cNvPr id="35" name="Rectangle 54"/>
          <p:cNvSpPr>
            <a:spLocks noChangeArrowheads="1"/>
          </p:cNvSpPr>
          <p:nvPr/>
        </p:nvSpPr>
        <p:spPr bwMode="auto">
          <a:xfrm>
            <a:off x="4038600" y="3019410"/>
            <a:ext cx="590550" cy="212725"/>
          </a:xfrm>
          <a:prstGeom prst="rect">
            <a:avLst/>
          </a:prstGeom>
          <a:noFill/>
          <a:ln w="9525">
            <a:noFill/>
            <a:miter lim="800000"/>
            <a:headEnd/>
            <a:tailEnd/>
          </a:ln>
        </p:spPr>
        <p:txBody>
          <a:bodyPr lIns="0" tIns="0" rIns="0" bIns="0">
            <a:spAutoFit/>
          </a:bodyPr>
          <a:lstStyle/>
          <a:p>
            <a:pPr algn="ctr"/>
            <a:r>
              <a:rPr lang="en-US" altLang="zh-CN" b="1">
                <a:solidFill>
                  <a:srgbClr val="000000"/>
                </a:solidFill>
                <a:latin typeface="Helvetica" pitchFamily="34" charset="0"/>
              </a:rPr>
              <a:t>10M</a:t>
            </a:r>
            <a:endParaRPr lang="en-US" altLang="zh-CN" b="1">
              <a:latin typeface="Helvetica" pitchFamily="34" charset="0"/>
            </a:endParaRPr>
          </a:p>
        </p:txBody>
      </p:sp>
      <p:pic>
        <p:nvPicPr>
          <p:cNvPr id="36" name="Picture 56" descr="GER---"/>
          <p:cNvPicPr>
            <a:picLocks noChangeAspect="1" noChangeArrowheads="1"/>
          </p:cNvPicPr>
          <p:nvPr/>
        </p:nvPicPr>
        <p:blipFill>
          <a:blip r:embed="rId5"/>
          <a:srcRect/>
          <a:stretch>
            <a:fillRect/>
          </a:stretch>
        </p:blipFill>
        <p:spPr bwMode="auto">
          <a:xfrm>
            <a:off x="395288" y="3722673"/>
            <a:ext cx="792162" cy="484187"/>
          </a:xfrm>
          <a:prstGeom prst="rect">
            <a:avLst/>
          </a:prstGeom>
          <a:noFill/>
          <a:ln w="9525">
            <a:noFill/>
            <a:miter lim="800000"/>
            <a:headEnd/>
            <a:tailEnd/>
          </a:ln>
        </p:spPr>
      </p:pic>
      <p:pic>
        <p:nvPicPr>
          <p:cNvPr id="37" name="Picture 57" descr="GER---"/>
          <p:cNvPicPr>
            <a:picLocks noChangeAspect="1" noChangeArrowheads="1"/>
          </p:cNvPicPr>
          <p:nvPr/>
        </p:nvPicPr>
        <p:blipFill>
          <a:blip r:embed="rId5"/>
          <a:srcRect/>
          <a:stretch>
            <a:fillRect/>
          </a:stretch>
        </p:blipFill>
        <p:spPr bwMode="auto">
          <a:xfrm>
            <a:off x="1692275" y="3662348"/>
            <a:ext cx="792163" cy="484187"/>
          </a:xfrm>
          <a:prstGeom prst="rect">
            <a:avLst/>
          </a:prstGeom>
          <a:noFill/>
          <a:ln w="9525">
            <a:noFill/>
            <a:miter lim="800000"/>
            <a:headEnd/>
            <a:tailEnd/>
          </a:ln>
        </p:spPr>
      </p:pic>
      <p:pic>
        <p:nvPicPr>
          <p:cNvPr id="38" name="Picture 58" descr="GER---"/>
          <p:cNvPicPr>
            <a:picLocks noChangeAspect="1" noChangeArrowheads="1"/>
          </p:cNvPicPr>
          <p:nvPr/>
        </p:nvPicPr>
        <p:blipFill>
          <a:blip r:embed="rId5"/>
          <a:srcRect/>
          <a:stretch>
            <a:fillRect/>
          </a:stretch>
        </p:blipFill>
        <p:spPr bwMode="auto">
          <a:xfrm>
            <a:off x="3924300" y="3230548"/>
            <a:ext cx="792163" cy="484187"/>
          </a:xfrm>
          <a:prstGeom prst="rect">
            <a:avLst/>
          </a:prstGeom>
          <a:noFill/>
          <a:ln w="9525">
            <a:noFill/>
            <a:miter lim="800000"/>
            <a:headEnd/>
            <a:tailEnd/>
          </a:ln>
        </p:spPr>
      </p:pic>
      <p:pic>
        <p:nvPicPr>
          <p:cNvPr id="39" name="Picture 59" descr="GER---"/>
          <p:cNvPicPr>
            <a:picLocks noChangeAspect="1" noChangeArrowheads="1"/>
          </p:cNvPicPr>
          <p:nvPr/>
        </p:nvPicPr>
        <p:blipFill>
          <a:blip r:embed="rId5"/>
          <a:srcRect/>
          <a:stretch>
            <a:fillRect/>
          </a:stretch>
        </p:blipFill>
        <p:spPr bwMode="auto">
          <a:xfrm>
            <a:off x="3059113" y="3951273"/>
            <a:ext cx="792162" cy="484187"/>
          </a:xfrm>
          <a:prstGeom prst="rect">
            <a:avLst/>
          </a:prstGeom>
          <a:noFill/>
          <a:ln w="9525">
            <a:noFill/>
            <a:miter lim="800000"/>
            <a:headEnd/>
            <a:tailEnd/>
          </a:ln>
        </p:spPr>
      </p:pic>
      <p:pic>
        <p:nvPicPr>
          <p:cNvPr id="40" name="Picture 60" descr="GER---"/>
          <p:cNvPicPr>
            <a:picLocks noChangeAspect="1" noChangeArrowheads="1"/>
          </p:cNvPicPr>
          <p:nvPr/>
        </p:nvPicPr>
        <p:blipFill>
          <a:blip r:embed="rId5"/>
          <a:srcRect/>
          <a:stretch>
            <a:fillRect/>
          </a:stretch>
        </p:blipFill>
        <p:spPr bwMode="auto">
          <a:xfrm>
            <a:off x="4932363" y="4022710"/>
            <a:ext cx="792162" cy="484188"/>
          </a:xfrm>
          <a:prstGeom prst="rect">
            <a:avLst/>
          </a:prstGeom>
          <a:noFill/>
          <a:ln w="9525">
            <a:noFill/>
            <a:miter lim="800000"/>
            <a:headEnd/>
            <a:tailEnd/>
          </a:ln>
        </p:spPr>
      </p:pic>
      <p:pic>
        <p:nvPicPr>
          <p:cNvPr id="41" name="Picture 61" descr="GER---"/>
          <p:cNvPicPr>
            <a:picLocks noChangeAspect="1" noChangeArrowheads="1"/>
          </p:cNvPicPr>
          <p:nvPr/>
        </p:nvPicPr>
        <p:blipFill>
          <a:blip r:embed="rId5"/>
          <a:srcRect/>
          <a:stretch>
            <a:fillRect/>
          </a:stretch>
        </p:blipFill>
        <p:spPr bwMode="auto">
          <a:xfrm>
            <a:off x="6156325" y="3662348"/>
            <a:ext cx="792163" cy="484187"/>
          </a:xfrm>
          <a:prstGeom prst="rect">
            <a:avLst/>
          </a:prstGeom>
          <a:noFill/>
          <a:ln w="9525">
            <a:noFill/>
            <a:miter lim="800000"/>
            <a:headEnd/>
            <a:tailEnd/>
          </a:ln>
        </p:spPr>
      </p:pic>
      <p:pic>
        <p:nvPicPr>
          <p:cNvPr id="42" name="Picture 62" descr="GER---"/>
          <p:cNvPicPr>
            <a:picLocks noChangeAspect="1" noChangeArrowheads="1"/>
          </p:cNvPicPr>
          <p:nvPr/>
        </p:nvPicPr>
        <p:blipFill>
          <a:blip r:embed="rId5"/>
          <a:srcRect/>
          <a:stretch>
            <a:fillRect/>
          </a:stretch>
        </p:blipFill>
        <p:spPr bwMode="auto">
          <a:xfrm>
            <a:off x="7451725" y="3662348"/>
            <a:ext cx="792163" cy="4841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body" idx="4294967295"/>
          </p:nvPr>
        </p:nvSpPr>
        <p:spPr>
          <a:xfrm>
            <a:off x="684213" y="1268413"/>
            <a:ext cx="8001000" cy="4114800"/>
          </a:xfrm>
        </p:spPr>
        <p:txBody>
          <a:bodyPr/>
          <a:lstStyle/>
          <a:p>
            <a:pPr eaLnBrk="1" hangingPunct="1"/>
            <a:r>
              <a:rPr lang="zh-CN" altLang="en-US" sz="4000" dirty="0" smtClean="0"/>
              <a:t>路由回路的解决办法</a:t>
            </a:r>
            <a:endParaRPr lang="en-US" altLang="zh-CN" sz="4000" dirty="0" smtClean="0"/>
          </a:p>
          <a:p>
            <a:pPr lvl="1" eaLnBrk="1" hangingPunct="1"/>
            <a:r>
              <a:rPr lang="zh-CN" altLang="en-US" sz="3200" dirty="0" smtClean="0"/>
              <a:t>定义最大跳数</a:t>
            </a:r>
          </a:p>
          <a:p>
            <a:pPr lvl="1" eaLnBrk="1" hangingPunct="1"/>
            <a:r>
              <a:rPr lang="zh-CN" altLang="en-US" sz="3200" dirty="0" smtClean="0"/>
              <a:t>水平分割（</a:t>
            </a:r>
            <a:r>
              <a:rPr lang="en-US" altLang="zh-CN" sz="3200" dirty="0" smtClean="0"/>
              <a:t>Split Horizon</a:t>
            </a:r>
            <a:r>
              <a:rPr lang="zh-CN" altLang="en-US" sz="3200" dirty="0" smtClean="0"/>
              <a:t>）</a:t>
            </a:r>
          </a:p>
          <a:p>
            <a:pPr lvl="1" eaLnBrk="1" hangingPunct="1"/>
            <a:r>
              <a:rPr lang="zh-CN" altLang="en-US" sz="3200" dirty="0" smtClean="0"/>
              <a:t>毒性逆转（</a:t>
            </a:r>
            <a:r>
              <a:rPr lang="en-US" altLang="zh-CN" sz="3200" dirty="0" smtClean="0"/>
              <a:t>Poisoned Reverse</a:t>
            </a:r>
            <a:r>
              <a:rPr lang="zh-CN" altLang="en-US" sz="3200" dirty="0" smtClean="0"/>
              <a:t>）</a:t>
            </a:r>
          </a:p>
          <a:p>
            <a:pPr lvl="1" eaLnBrk="1" hangingPunct="1"/>
            <a:r>
              <a:rPr lang="zh-CN" altLang="en-US" sz="3200" dirty="0" smtClean="0"/>
              <a:t>触发更新</a:t>
            </a:r>
            <a:r>
              <a:rPr lang="en-US" altLang="zh-CN" sz="3200" dirty="0" smtClean="0"/>
              <a:t>(Triggered Update)</a:t>
            </a:r>
          </a:p>
          <a:p>
            <a:pPr lvl="1" eaLnBrk="1" hangingPunct="1"/>
            <a:r>
              <a:rPr lang="en-US" altLang="zh-CN" sz="3200" dirty="0" smtClean="0"/>
              <a:t>Hold</a:t>
            </a:r>
            <a:r>
              <a:rPr lang="zh-CN" altLang="en-US" sz="3200" dirty="0" smtClean="0"/>
              <a:t>－</a:t>
            </a:r>
            <a:r>
              <a:rPr lang="en-US" altLang="zh-CN" sz="3200" dirty="0" smtClean="0"/>
              <a:t>Down </a:t>
            </a:r>
            <a:r>
              <a:rPr lang="zh-CN" altLang="en-US" sz="3200" dirty="0" smtClean="0"/>
              <a:t>定时器</a:t>
            </a:r>
          </a:p>
          <a:p>
            <a:pPr marL="260350" indent="-254000" defTabSz="812800" eaLnBrk="1" hangingPunct="1">
              <a:defRPr/>
            </a:pPr>
            <a:endParaRPr lang="en-US" altLang="zh-CN" dirty="0" smtClean="0">
              <a:solidFill>
                <a:schemeClr val="bg2">
                  <a:lumMod val="60000"/>
                  <a:lumOff val="40000"/>
                </a:schemeClr>
              </a:solidFill>
            </a:endParaRPr>
          </a:p>
          <a:p>
            <a:pPr marL="660400" lvl="1" indent="-254000" defTabSz="812800" eaLnBrk="1" hangingPunct="1">
              <a:buFont typeface="Wingdings" pitchFamily="2" charset="2"/>
              <a:buNone/>
              <a:defRPr/>
            </a:pPr>
            <a:endParaRPr lang="en-US" altLang="zh-CN" dirty="0" smtClean="0"/>
          </a:p>
        </p:txBody>
      </p:sp>
      <p:sp>
        <p:nvSpPr>
          <p:cNvPr id="18435" name="Rectangle 3"/>
          <p:cNvSpPr>
            <a:spLocks noGrp="1" noChangeArrowheads="1"/>
          </p:cNvSpPr>
          <p:nvPr>
            <p:ph type="title" idx="4294967295"/>
          </p:nvPr>
        </p:nvSpPr>
        <p:spPr/>
        <p:txBody>
          <a:bodyPr/>
          <a:lstStyle/>
          <a:p>
            <a:pPr eaLnBrk="1" hangingPunct="1"/>
            <a:r>
              <a:rPr lang="en-US" altLang="zh-CN" dirty="0" smtClean="0">
                <a:effectLst>
                  <a:outerShdw blurRad="38100" dist="38100" dir="2700000" algn="tl">
                    <a:srgbClr val="000000">
                      <a:alpha val="43137"/>
                    </a:srgbClr>
                  </a:outerShdw>
                </a:effectLst>
              </a:rPr>
              <a:t>RIP </a:t>
            </a:r>
            <a:r>
              <a:rPr lang="zh-CN" altLang="en-US" dirty="0" smtClean="0">
                <a:effectLst>
                  <a:outerShdw blurRad="38100" dist="38100" dir="2700000" algn="tl">
                    <a:srgbClr val="000000">
                      <a:alpha val="43137"/>
                    </a:srgbClr>
                  </a:outerShdw>
                </a:effectLst>
              </a:rPr>
              <a:t>协议</a:t>
            </a:r>
            <a:endParaRPr lang="en-US" altLang="zh-CN" dirty="0" smtClean="0">
              <a:latin typeface="宋体" pitchFamily="2"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body" idx="4294967295"/>
          </p:nvPr>
        </p:nvSpPr>
        <p:spPr>
          <a:xfrm>
            <a:off x="684213" y="1268413"/>
            <a:ext cx="8001000" cy="4114800"/>
          </a:xfrm>
        </p:spPr>
        <p:txBody>
          <a:bodyPr/>
          <a:lstStyle/>
          <a:p>
            <a:pPr eaLnBrk="1" hangingPunct="1"/>
            <a:r>
              <a:rPr lang="en-US" altLang="zh-CN" sz="4000" dirty="0" smtClean="0"/>
              <a:t>RIP</a:t>
            </a:r>
            <a:r>
              <a:rPr lang="zh-CN" altLang="en-US" sz="4000" dirty="0" smtClean="0"/>
              <a:t>的缺点</a:t>
            </a:r>
            <a:endParaRPr lang="en-US" altLang="zh-CN" sz="4000" dirty="0" smtClean="0"/>
          </a:p>
          <a:p>
            <a:pPr lvl="1" eaLnBrk="1" hangingPunct="1"/>
            <a:r>
              <a:rPr lang="zh-CN" altLang="en-US" sz="3200" dirty="0" smtClean="0"/>
              <a:t>收敛慢</a:t>
            </a:r>
          </a:p>
          <a:p>
            <a:pPr lvl="1" eaLnBrk="1" hangingPunct="1"/>
            <a:r>
              <a:rPr lang="zh-CN" altLang="en-US" sz="3200" dirty="0" smtClean="0"/>
              <a:t>路由选取到无限</a:t>
            </a:r>
          </a:p>
          <a:p>
            <a:pPr lvl="1" eaLnBrk="1" hangingPunct="1"/>
            <a:r>
              <a:rPr lang="zh-CN" altLang="en-US" sz="3200" dirty="0" smtClean="0"/>
              <a:t>不能检测路由环路</a:t>
            </a:r>
          </a:p>
          <a:p>
            <a:pPr lvl="1" eaLnBrk="1" hangingPunct="1"/>
            <a:r>
              <a:rPr lang="zh-CN" altLang="en-US" sz="3200" dirty="0" smtClean="0"/>
              <a:t>度量值只是跳跃计数</a:t>
            </a:r>
          </a:p>
          <a:p>
            <a:pPr lvl="1" eaLnBrk="1" hangingPunct="1"/>
            <a:r>
              <a:rPr lang="zh-CN" altLang="en-US" sz="3200" dirty="0" smtClean="0"/>
              <a:t>网络直径小（</a:t>
            </a:r>
            <a:r>
              <a:rPr lang="en-US" altLang="zh-CN" sz="3200" dirty="0" smtClean="0"/>
              <a:t>15</a:t>
            </a:r>
            <a:r>
              <a:rPr lang="zh-CN" altLang="en-US" sz="3200" dirty="0" smtClean="0"/>
              <a:t>个跳跃）</a:t>
            </a:r>
            <a:endParaRPr lang="en-US" altLang="zh-CN" sz="3200" dirty="0" smtClean="0">
              <a:solidFill>
                <a:schemeClr val="bg2">
                  <a:lumMod val="60000"/>
                  <a:lumOff val="40000"/>
                </a:schemeClr>
              </a:solidFill>
            </a:endParaRPr>
          </a:p>
          <a:p>
            <a:pPr marL="660400" lvl="1" indent="-254000" defTabSz="812800" eaLnBrk="1" hangingPunct="1">
              <a:buFont typeface="Wingdings" pitchFamily="2" charset="2"/>
              <a:buNone/>
              <a:defRPr/>
            </a:pPr>
            <a:endParaRPr lang="en-US" altLang="zh-CN" dirty="0" smtClean="0"/>
          </a:p>
        </p:txBody>
      </p:sp>
      <p:sp>
        <p:nvSpPr>
          <p:cNvPr id="18435" name="Rectangle 3"/>
          <p:cNvSpPr>
            <a:spLocks noGrp="1" noChangeArrowheads="1"/>
          </p:cNvSpPr>
          <p:nvPr>
            <p:ph type="title" idx="4294967295"/>
          </p:nvPr>
        </p:nvSpPr>
        <p:spPr/>
        <p:txBody>
          <a:bodyPr/>
          <a:lstStyle/>
          <a:p>
            <a:pPr eaLnBrk="1" hangingPunct="1"/>
            <a:r>
              <a:rPr lang="en-US" altLang="zh-CN" dirty="0" smtClean="0">
                <a:effectLst>
                  <a:outerShdw blurRad="38100" dist="38100" dir="2700000" algn="tl">
                    <a:srgbClr val="000000">
                      <a:alpha val="43137"/>
                    </a:srgbClr>
                  </a:outerShdw>
                </a:effectLst>
              </a:rPr>
              <a:t>RIP </a:t>
            </a:r>
            <a:r>
              <a:rPr lang="zh-CN" altLang="en-US" dirty="0" smtClean="0">
                <a:effectLst>
                  <a:outerShdw blurRad="38100" dist="38100" dir="2700000" algn="tl">
                    <a:srgbClr val="000000">
                      <a:alpha val="43137"/>
                    </a:srgbClr>
                  </a:outerShdw>
                </a:effectLst>
              </a:rPr>
              <a:t>协议</a:t>
            </a:r>
            <a:endParaRPr lang="en-US" altLang="zh-CN" dirty="0" smtClean="0">
              <a:latin typeface="宋体" pitchFamily="2"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type="title" idx="4294967295"/>
          </p:nvPr>
        </p:nvSpPr>
        <p:spPr/>
        <p:txBody>
          <a:bodyPr/>
          <a:lstStyle/>
          <a:p>
            <a:pPr eaLnBrk="1" hangingPunct="1"/>
            <a:r>
              <a:rPr lang="en-US" altLang="zh-CN" dirty="0" smtClean="0">
                <a:effectLst>
                  <a:outerShdw blurRad="38100" dist="38100" dir="2700000" algn="tl">
                    <a:srgbClr val="000000">
                      <a:alpha val="43137"/>
                    </a:srgbClr>
                  </a:outerShdw>
                </a:effectLst>
              </a:rPr>
              <a:t>RIP </a:t>
            </a:r>
            <a:r>
              <a:rPr lang="zh-CN" altLang="en-US" dirty="0" smtClean="0">
                <a:effectLst>
                  <a:outerShdw blurRad="38100" dist="38100" dir="2700000" algn="tl">
                    <a:srgbClr val="000000">
                      <a:alpha val="43137"/>
                    </a:srgbClr>
                  </a:outerShdw>
                </a:effectLst>
              </a:rPr>
              <a:t>配置</a:t>
            </a:r>
            <a:endParaRPr lang="en-US" altLang="zh-CN" dirty="0" smtClean="0">
              <a:latin typeface="宋体" pitchFamily="2" charset="-122"/>
            </a:endParaRPr>
          </a:p>
        </p:txBody>
      </p:sp>
      <p:sp>
        <p:nvSpPr>
          <p:cNvPr id="43" name="Rectangle 10"/>
          <p:cNvSpPr txBox="1">
            <a:spLocks noChangeArrowheads="1"/>
          </p:cNvSpPr>
          <p:nvPr/>
        </p:nvSpPr>
        <p:spPr>
          <a:xfrm>
            <a:off x="495269" y="3881422"/>
            <a:ext cx="7993063" cy="1755775"/>
          </a:xfrm>
          <a:prstGeom prst="rect">
            <a:avLst/>
          </a:prstGeom>
        </p:spPr>
        <p:txBody>
          <a:bodyPr/>
          <a:lstStyle/>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itchFamily="2" charset="2"/>
              <a:buChar char="n"/>
              <a:tabLst/>
              <a:defRPr/>
            </a:pPr>
            <a:r>
              <a:rPr kumimoji="0" lang="zh-CN" altLang="en-US" sz="2400" b="1" i="0" u="none" strike="noStrike" kern="0" cap="none" spc="0" normalizeH="0" baseline="0" noProof="0" smtClean="0">
                <a:ln>
                  <a:noFill/>
                </a:ln>
                <a:solidFill>
                  <a:schemeClr val="tx1"/>
                </a:solidFill>
                <a:effectLst/>
                <a:uLnTx/>
                <a:uFillTx/>
                <a:latin typeface="+mn-lt"/>
                <a:ea typeface="+mn-ea"/>
                <a:cs typeface="+mn-cs"/>
              </a:rPr>
              <a:t>开始 </a:t>
            </a:r>
            <a:r>
              <a:rPr kumimoji="0" lang="en-US" altLang="zh-CN" sz="2400" b="1" i="0" u="none" strike="noStrike" kern="0" cap="none" spc="0" normalizeH="0" baseline="0" noProof="0" smtClean="0">
                <a:ln>
                  <a:noFill/>
                </a:ln>
                <a:solidFill>
                  <a:schemeClr val="tx1"/>
                </a:solidFill>
                <a:effectLst/>
                <a:uLnTx/>
                <a:uFillTx/>
                <a:latin typeface="+mn-lt"/>
                <a:ea typeface="+mn-ea"/>
                <a:cs typeface="+mn-cs"/>
              </a:rPr>
              <a:t>RIP </a:t>
            </a:r>
            <a:r>
              <a:rPr kumimoji="0" lang="zh-CN" altLang="en-US" sz="2400" b="1" i="0" u="none" strike="noStrike" kern="0" cap="none" spc="0" normalizeH="0" baseline="0" noProof="0" smtClean="0">
                <a:ln>
                  <a:noFill/>
                </a:ln>
                <a:solidFill>
                  <a:schemeClr val="tx1"/>
                </a:solidFill>
                <a:effectLst/>
                <a:uLnTx/>
                <a:uFillTx/>
                <a:latin typeface="+mn-lt"/>
                <a:ea typeface="+mn-ea"/>
                <a:cs typeface="+mn-cs"/>
              </a:rPr>
              <a:t>路由进程</a:t>
            </a: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itchFamily="2" charset="2"/>
              <a:buChar char="n"/>
              <a:tabLst/>
              <a:defRPr/>
            </a:pPr>
            <a:r>
              <a:rPr kumimoji="0" lang="zh-CN" altLang="en-US" sz="2400" b="1" i="0" u="none" strike="noStrike" kern="0" cap="none" spc="0" normalizeH="0" baseline="0" noProof="0" smtClean="0">
                <a:ln>
                  <a:noFill/>
                </a:ln>
                <a:solidFill>
                  <a:srgbClr val="000000"/>
                </a:solidFill>
                <a:effectLst/>
                <a:uLnTx/>
                <a:uFillTx/>
                <a:latin typeface="+mn-lt"/>
                <a:ea typeface="+mn-ea"/>
                <a:cs typeface="+mn-cs"/>
              </a:rPr>
              <a:t>选择参与</a:t>
            </a:r>
            <a:r>
              <a:rPr kumimoji="0" lang="en-US" altLang="zh-CN" sz="2400" b="1" i="0" u="none" strike="noStrike" kern="0" cap="none" spc="0" normalizeH="0" baseline="0" noProof="0" smtClean="0">
                <a:ln>
                  <a:noFill/>
                </a:ln>
                <a:solidFill>
                  <a:srgbClr val="000000"/>
                </a:solidFill>
                <a:effectLst/>
                <a:uLnTx/>
                <a:uFillTx/>
                <a:latin typeface="+mn-lt"/>
                <a:ea typeface="+mn-ea"/>
                <a:cs typeface="+mn-cs"/>
              </a:rPr>
              <a:t>RIP</a:t>
            </a:r>
            <a:r>
              <a:rPr kumimoji="0" lang="zh-CN" altLang="en-US" sz="2400" b="1" i="0" u="none" strike="noStrike" kern="0" cap="none" spc="0" normalizeH="0" baseline="0" noProof="0" smtClean="0">
                <a:ln>
                  <a:noFill/>
                </a:ln>
                <a:solidFill>
                  <a:srgbClr val="000000"/>
                </a:solidFill>
                <a:effectLst/>
                <a:uLnTx/>
                <a:uFillTx/>
                <a:latin typeface="+mn-lt"/>
                <a:ea typeface="+mn-ea"/>
                <a:cs typeface="+mn-cs"/>
              </a:rPr>
              <a:t>路由进程的网络（接口）并在此接口上</a:t>
            </a: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defRPr/>
            </a:pPr>
            <a:r>
              <a:rPr kumimoji="0" lang="zh-CN" altLang="en-US" sz="2400" b="1" i="0" u="none" strike="noStrike" kern="0" cap="none" spc="0" normalizeH="0" baseline="0" noProof="0" smtClean="0">
                <a:ln>
                  <a:noFill/>
                </a:ln>
                <a:solidFill>
                  <a:srgbClr val="000000"/>
                </a:solidFill>
                <a:effectLst/>
                <a:uLnTx/>
                <a:uFillTx/>
                <a:latin typeface="+mn-lt"/>
                <a:ea typeface="+mn-ea"/>
                <a:cs typeface="+mn-cs"/>
              </a:rPr>
              <a:t>   接受和发送</a:t>
            </a:r>
            <a:r>
              <a:rPr kumimoji="0" lang="en-US" altLang="zh-CN" sz="2400" b="1" i="0" u="none" strike="noStrike" kern="0" cap="none" spc="0" normalizeH="0" baseline="0" noProof="0" smtClean="0">
                <a:ln>
                  <a:noFill/>
                </a:ln>
                <a:solidFill>
                  <a:srgbClr val="000000"/>
                </a:solidFill>
                <a:effectLst/>
                <a:uLnTx/>
                <a:uFillTx/>
                <a:latin typeface="+mn-lt"/>
                <a:ea typeface="+mn-ea"/>
                <a:cs typeface="+mn-cs"/>
              </a:rPr>
              <a:t>RIP</a:t>
            </a:r>
            <a:r>
              <a:rPr kumimoji="0" lang="zh-CN" altLang="en-US" sz="2400" b="1" i="0" u="none" strike="noStrike" kern="0" cap="none" spc="0" normalizeH="0" baseline="0" noProof="0" smtClean="0">
                <a:ln>
                  <a:noFill/>
                </a:ln>
                <a:solidFill>
                  <a:srgbClr val="000000"/>
                </a:solidFill>
                <a:effectLst/>
                <a:uLnTx/>
                <a:uFillTx/>
                <a:latin typeface="+mn-lt"/>
                <a:ea typeface="+mn-ea"/>
                <a:cs typeface="+mn-cs"/>
              </a:rPr>
              <a:t>路由更新信息</a:t>
            </a: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itchFamily="2" charset="2"/>
              <a:buChar char="n"/>
              <a:tabLst/>
              <a:defRPr/>
            </a:pPr>
            <a:r>
              <a:rPr kumimoji="0" lang="zh-CN" altLang="en-US" sz="2400" b="1" i="0" u="none" strike="noStrike" kern="0" cap="none" spc="0" normalizeH="0" baseline="0" noProof="0" smtClean="0">
                <a:ln>
                  <a:noFill/>
                </a:ln>
                <a:solidFill>
                  <a:srgbClr val="000000"/>
                </a:solidFill>
                <a:effectLst/>
                <a:uLnTx/>
                <a:uFillTx/>
                <a:latin typeface="+mn-lt"/>
                <a:ea typeface="+mn-ea"/>
                <a:cs typeface="+mn-cs"/>
              </a:rPr>
              <a:t>要清除这个设置，使用此命令</a:t>
            </a:r>
            <a:r>
              <a:rPr kumimoji="0" lang="en-US" altLang="zh-CN" sz="2400" b="1" i="0" u="none" strike="noStrike" kern="0" cap="none" spc="0" normalizeH="0" baseline="0" noProof="0" smtClean="0">
                <a:ln>
                  <a:noFill/>
                </a:ln>
                <a:solidFill>
                  <a:srgbClr val="000000"/>
                </a:solidFill>
                <a:effectLst/>
                <a:uLnTx/>
                <a:uFillTx/>
                <a:latin typeface="+mn-lt"/>
                <a:ea typeface="+mn-ea"/>
                <a:cs typeface="+mn-cs"/>
              </a:rPr>
              <a:t>no</a:t>
            </a:r>
            <a:r>
              <a:rPr kumimoji="0" lang="zh-CN" altLang="en-US" sz="2400" b="1" i="0" u="none" strike="noStrike" kern="0" cap="none" spc="0" normalizeH="0" baseline="0" noProof="0" smtClean="0">
                <a:ln>
                  <a:noFill/>
                </a:ln>
                <a:solidFill>
                  <a:srgbClr val="000000"/>
                </a:solidFill>
                <a:effectLst/>
                <a:uLnTx/>
                <a:uFillTx/>
                <a:latin typeface="+mn-lt"/>
                <a:ea typeface="+mn-ea"/>
                <a:cs typeface="+mn-cs"/>
              </a:rPr>
              <a:t>格式。</a:t>
            </a:r>
            <a:endParaRPr kumimoji="0" lang="zh-CN" altLang="en-US" sz="2400" b="1" i="0" u="none" strike="noStrike" kern="0" cap="none" spc="0" normalizeH="0" baseline="0" noProof="0" smtClean="0">
              <a:ln>
                <a:noFill/>
              </a:ln>
              <a:solidFill>
                <a:schemeClr val="tx1"/>
              </a:solidFill>
              <a:effectLst/>
              <a:uLnTx/>
              <a:uFillTx/>
              <a:latin typeface="+mn-lt"/>
              <a:ea typeface="+mn-ea"/>
              <a:cs typeface="+mn-cs"/>
            </a:endParaRPr>
          </a:p>
        </p:txBody>
      </p:sp>
      <p:sp>
        <p:nvSpPr>
          <p:cNvPr id="44" name="Rectangle 3"/>
          <p:cNvSpPr>
            <a:spLocks noChangeArrowheads="1"/>
          </p:cNvSpPr>
          <p:nvPr/>
        </p:nvSpPr>
        <p:spPr bwMode="auto">
          <a:xfrm>
            <a:off x="501619" y="1216009"/>
            <a:ext cx="4960938" cy="485775"/>
          </a:xfrm>
          <a:prstGeom prst="rect">
            <a:avLst/>
          </a:prstGeom>
          <a:solidFill>
            <a:srgbClr val="FFFFFF"/>
          </a:solidFill>
          <a:ln w="12700">
            <a:solidFill>
              <a:srgbClr val="000000"/>
            </a:solidFill>
            <a:miter lim="800000"/>
            <a:headEnd/>
            <a:tailEnd/>
          </a:ln>
          <a:effectLst>
            <a:outerShdw dist="71842" dir="2700000" algn="ctr" rotWithShape="0">
              <a:srgbClr val="000000"/>
            </a:outerShdw>
          </a:effectLst>
        </p:spPr>
        <p:txBody>
          <a:bodyPr wrap="none" anchor="ctr"/>
          <a:lstStyle/>
          <a:p>
            <a:pPr eaLnBrk="1" hangingPunct="1"/>
            <a:endParaRPr lang="zh-CN" altLang="en-US"/>
          </a:p>
        </p:txBody>
      </p:sp>
      <p:sp>
        <p:nvSpPr>
          <p:cNvPr id="45" name="Rectangle 4"/>
          <p:cNvSpPr>
            <a:spLocks noChangeArrowheads="1"/>
          </p:cNvSpPr>
          <p:nvPr/>
        </p:nvSpPr>
        <p:spPr bwMode="auto">
          <a:xfrm>
            <a:off x="734982" y="1214422"/>
            <a:ext cx="4103687" cy="628650"/>
          </a:xfrm>
          <a:prstGeom prst="rect">
            <a:avLst/>
          </a:prstGeom>
          <a:noFill/>
          <a:ln w="9525">
            <a:noFill/>
            <a:miter lim="800000"/>
            <a:headEnd/>
            <a:tailEnd/>
          </a:ln>
          <a:effectLst/>
        </p:spPr>
        <p:txBody>
          <a:bodyPr wrap="none" lIns="21431" tIns="30362" rIns="21431" bIns="30362"/>
          <a:lstStyle/>
          <a:p>
            <a:pPr defTabSz="1028700">
              <a:lnSpc>
                <a:spcPts val="3150"/>
              </a:lnSpc>
              <a:tabLst>
                <a:tab pos="514350" algn="l"/>
                <a:tab pos="1028700" algn="l"/>
                <a:tab pos="1543050" algn="l"/>
              </a:tabLst>
            </a:pPr>
            <a:r>
              <a:rPr lang="en-US" altLang="zh-CN" sz="2400" b="1">
                <a:solidFill>
                  <a:srgbClr val="000000"/>
                </a:solidFill>
                <a:latin typeface="Times New Roman" pitchFamily="18" charset="0"/>
              </a:rPr>
              <a:t>Router(config)#router rip</a:t>
            </a:r>
            <a:endParaRPr lang="en-US" altLang="zh-CN" sz="2700" b="1">
              <a:solidFill>
                <a:srgbClr val="000000"/>
              </a:solidFill>
              <a:latin typeface="Times New Roman" pitchFamily="18" charset="0"/>
            </a:endParaRPr>
          </a:p>
        </p:txBody>
      </p:sp>
      <p:sp>
        <p:nvSpPr>
          <p:cNvPr id="46" name="Rectangle 5"/>
          <p:cNvSpPr>
            <a:spLocks noChangeArrowheads="1"/>
          </p:cNvSpPr>
          <p:nvPr/>
        </p:nvSpPr>
        <p:spPr bwMode="auto">
          <a:xfrm>
            <a:off x="495269" y="2268522"/>
            <a:ext cx="8472488" cy="1187450"/>
          </a:xfrm>
          <a:prstGeom prst="rect">
            <a:avLst/>
          </a:prstGeom>
          <a:solidFill>
            <a:srgbClr val="FFFFFF"/>
          </a:solidFill>
          <a:ln w="12700">
            <a:solidFill>
              <a:srgbClr val="000000"/>
            </a:solidFill>
            <a:miter lim="800000"/>
            <a:headEnd/>
            <a:tailEnd/>
          </a:ln>
          <a:effectLst>
            <a:outerShdw dist="71842" dir="2700000" algn="ctr" rotWithShape="0">
              <a:srgbClr val="000000"/>
            </a:outerShdw>
          </a:effectLst>
        </p:spPr>
        <p:txBody>
          <a:bodyPr wrap="none" anchor="ctr"/>
          <a:lstStyle/>
          <a:p>
            <a:pPr algn="ctr">
              <a:lnSpc>
                <a:spcPct val="140000"/>
              </a:lnSpc>
              <a:spcBef>
                <a:spcPct val="20000"/>
              </a:spcBef>
              <a:buClr>
                <a:srgbClr val="CC0000"/>
              </a:buClr>
              <a:buFont typeface="Wingdings" pitchFamily="2" charset="2"/>
              <a:buNone/>
            </a:pPr>
            <a:endParaRPr kumimoji="1" lang="zh-CN" altLang="zh-CN" sz="2800">
              <a:latin typeface="Times New Roman" pitchFamily="18" charset="0"/>
            </a:endParaRPr>
          </a:p>
        </p:txBody>
      </p:sp>
      <p:sp>
        <p:nvSpPr>
          <p:cNvPr id="47" name="Rectangle 6"/>
          <p:cNvSpPr>
            <a:spLocks noChangeArrowheads="1"/>
          </p:cNvSpPr>
          <p:nvPr/>
        </p:nvSpPr>
        <p:spPr bwMode="auto">
          <a:xfrm>
            <a:off x="573057" y="2436797"/>
            <a:ext cx="7126287" cy="1019175"/>
          </a:xfrm>
          <a:prstGeom prst="rect">
            <a:avLst/>
          </a:prstGeom>
          <a:noFill/>
          <a:ln w="9525">
            <a:noFill/>
            <a:miter lim="800000"/>
            <a:headEnd/>
            <a:tailEnd/>
          </a:ln>
          <a:effectLst/>
        </p:spPr>
        <p:txBody>
          <a:bodyPr wrap="none" lIns="21431" tIns="30362" rIns="21431" bIns="30362"/>
          <a:lstStyle/>
          <a:p>
            <a:pPr defTabSz="1028700">
              <a:lnSpc>
                <a:spcPts val="3150"/>
              </a:lnSpc>
              <a:tabLst>
                <a:tab pos="514350" algn="l"/>
                <a:tab pos="1028700" algn="l"/>
                <a:tab pos="1543050" algn="l"/>
              </a:tabLst>
            </a:pPr>
            <a:r>
              <a:rPr lang="en-US" altLang="zh-CN" sz="2400" b="1">
                <a:solidFill>
                  <a:srgbClr val="000000"/>
                </a:solidFill>
                <a:latin typeface="Times New Roman" pitchFamily="18" charset="0"/>
              </a:rPr>
              <a:t>Router(config-router)#</a:t>
            </a:r>
            <a:r>
              <a:rPr lang="en-US" altLang="zh-CN" sz="2400" b="1">
                <a:solidFill>
                  <a:srgbClr val="000000"/>
                </a:solidFill>
                <a:latin typeface="Courier" pitchFamily="49" charset="0"/>
              </a:rPr>
              <a:t> </a:t>
            </a:r>
            <a:r>
              <a:rPr lang="en-US" altLang="zh-CN" sz="2400" b="1">
                <a:solidFill>
                  <a:srgbClr val="000000"/>
                </a:solidFill>
                <a:latin typeface="Times New Roman" pitchFamily="18" charset="0"/>
                <a:cs typeface="Times New Roman" pitchFamily="18" charset="0"/>
              </a:rPr>
              <a:t>network</a:t>
            </a:r>
            <a:r>
              <a:rPr lang="en-US" altLang="zh-CN" sz="2400" b="1" i="1">
                <a:solidFill>
                  <a:srgbClr val="000000"/>
                </a:solidFill>
                <a:latin typeface="Times New Roman" pitchFamily="18" charset="0"/>
                <a:cs typeface="Times New Roman" pitchFamily="18" charset="0"/>
              </a:rPr>
              <a:t> network-wildmask</a:t>
            </a:r>
            <a:r>
              <a:rPr lang="en-US" altLang="zh-CN" sz="2400" b="1" i="1">
                <a:solidFill>
                  <a:srgbClr val="000000"/>
                </a:solidFill>
                <a:latin typeface="Courier" pitchFamily="49" charset="0"/>
              </a:rPr>
              <a:t> </a:t>
            </a:r>
          </a:p>
          <a:p>
            <a:pPr defTabSz="1028700">
              <a:lnSpc>
                <a:spcPts val="3150"/>
              </a:lnSpc>
              <a:tabLst>
                <a:tab pos="514350" algn="l"/>
                <a:tab pos="1028700" algn="l"/>
                <a:tab pos="1543050" algn="l"/>
              </a:tabLst>
            </a:pPr>
            <a:r>
              <a:rPr lang="en-US" altLang="zh-CN" sz="2400" b="1">
                <a:solidFill>
                  <a:srgbClr val="000000"/>
                </a:solidFill>
                <a:latin typeface="Times New Roman" pitchFamily="18" charset="0"/>
              </a:rPr>
              <a:t>Router(config-router)#</a:t>
            </a:r>
            <a:r>
              <a:rPr lang="en-US" altLang="zh-CN" sz="2400" b="1">
                <a:solidFill>
                  <a:srgbClr val="000000"/>
                </a:solidFill>
                <a:latin typeface="Courier" pitchFamily="49" charset="0"/>
              </a:rPr>
              <a:t> </a:t>
            </a:r>
            <a:r>
              <a:rPr lang="en-US" altLang="zh-CN" sz="2400" b="1">
                <a:solidFill>
                  <a:srgbClr val="FF0000"/>
                </a:solidFill>
                <a:latin typeface="Times New Roman" pitchFamily="18" charset="0"/>
              </a:rPr>
              <a:t>no</a:t>
            </a:r>
            <a:r>
              <a:rPr lang="en-US" altLang="zh-CN" sz="2400" b="1">
                <a:solidFill>
                  <a:srgbClr val="FF0000"/>
                </a:solidFill>
                <a:latin typeface="Courier" pitchFamily="49" charset="0"/>
              </a:rPr>
              <a:t> </a:t>
            </a:r>
            <a:r>
              <a:rPr lang="en-US" altLang="zh-CN" sz="2400" b="1">
                <a:solidFill>
                  <a:srgbClr val="000000"/>
                </a:solidFill>
                <a:latin typeface="Times New Roman" pitchFamily="18" charset="0"/>
                <a:cs typeface="Times New Roman" pitchFamily="18" charset="0"/>
              </a:rPr>
              <a:t>network</a:t>
            </a:r>
            <a:r>
              <a:rPr lang="en-US" altLang="zh-CN" sz="2400" b="1" i="1">
                <a:solidFill>
                  <a:srgbClr val="000000"/>
                </a:solidFill>
                <a:latin typeface="Times New Roman" pitchFamily="18" charset="0"/>
                <a:cs typeface="Times New Roman" pitchFamily="18" charset="0"/>
              </a:rPr>
              <a:t> network-wildmask</a:t>
            </a:r>
          </a:p>
        </p:txBody>
      </p:sp>
      <p:sp>
        <p:nvSpPr>
          <p:cNvPr id="48" name="Rectangle 7"/>
          <p:cNvSpPr>
            <a:spLocks noChangeArrowheads="1"/>
          </p:cNvSpPr>
          <p:nvPr/>
        </p:nvSpPr>
        <p:spPr bwMode="auto">
          <a:xfrm>
            <a:off x="214282" y="4686284"/>
            <a:ext cx="7723187" cy="628650"/>
          </a:xfrm>
          <a:prstGeom prst="rect">
            <a:avLst/>
          </a:prstGeom>
          <a:noFill/>
          <a:ln w="9525">
            <a:noFill/>
            <a:miter lim="800000"/>
            <a:headEnd/>
            <a:tailEnd/>
          </a:ln>
          <a:effectLst/>
        </p:spPr>
        <p:txBody>
          <a:bodyPr wrap="none" lIns="21431" tIns="30362" rIns="21431" bIns="30362" anchor="ctr" anchorCtr="1"/>
          <a:lstStyle/>
          <a:p>
            <a:pPr marL="230188" indent="-230188" defTabSz="1028700">
              <a:lnSpc>
                <a:spcPts val="3150"/>
              </a:lnSpc>
              <a:buClr>
                <a:schemeClr val="accent1"/>
              </a:buClr>
              <a:buFont typeface="Helvetica" pitchFamily="34" charset="0"/>
              <a:buChar char="•"/>
              <a:tabLst>
                <a:tab pos="461963" algn="l"/>
                <a:tab pos="1028700" algn="l"/>
                <a:tab pos="1543050" algn="l"/>
              </a:tabLst>
            </a:pPr>
            <a:endParaRPr lang="zh-CN" altLang="zh-CN" sz="2000">
              <a:solidFill>
                <a:srgbClr val="000000"/>
              </a:solidFill>
              <a:latin typeface="Helvetica"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type="title" idx="4294967295"/>
          </p:nvPr>
        </p:nvSpPr>
        <p:spPr/>
        <p:txBody>
          <a:bodyPr/>
          <a:lstStyle/>
          <a:p>
            <a:pPr eaLnBrk="1" hangingPunct="1"/>
            <a:r>
              <a:rPr lang="en-US" altLang="zh-CN" dirty="0" smtClean="0">
                <a:effectLst>
                  <a:outerShdw blurRad="38100" dist="38100" dir="2700000" algn="tl">
                    <a:srgbClr val="000000">
                      <a:alpha val="43137"/>
                    </a:srgbClr>
                  </a:outerShdw>
                </a:effectLst>
              </a:rPr>
              <a:t>RIP </a:t>
            </a:r>
            <a:r>
              <a:rPr lang="zh-CN" altLang="en-US" dirty="0" smtClean="0">
                <a:effectLst>
                  <a:outerShdw blurRad="38100" dist="38100" dir="2700000" algn="tl">
                    <a:srgbClr val="000000">
                      <a:alpha val="43137"/>
                    </a:srgbClr>
                  </a:outerShdw>
                </a:effectLst>
              </a:rPr>
              <a:t>配置</a:t>
            </a:r>
            <a:endParaRPr lang="en-US" altLang="zh-CN" dirty="0" smtClean="0">
              <a:latin typeface="宋体" pitchFamily="2" charset="-122"/>
            </a:endParaRPr>
          </a:p>
        </p:txBody>
      </p:sp>
      <p:sp>
        <p:nvSpPr>
          <p:cNvPr id="43" name="矩形 42"/>
          <p:cNvSpPr/>
          <p:nvPr/>
        </p:nvSpPr>
        <p:spPr>
          <a:xfrm>
            <a:off x="4881594" y="4494229"/>
            <a:ext cx="4054475" cy="1292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4" name="矩形 43"/>
          <p:cNvSpPr/>
          <p:nvPr/>
        </p:nvSpPr>
        <p:spPr>
          <a:xfrm>
            <a:off x="203232" y="4494229"/>
            <a:ext cx="4054475" cy="1292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5" name="Line 2"/>
          <p:cNvSpPr>
            <a:spLocks noChangeShapeType="1"/>
          </p:cNvSpPr>
          <p:nvPr/>
        </p:nvSpPr>
        <p:spPr bwMode="auto">
          <a:xfrm flipH="1" flipV="1">
            <a:off x="1452594" y="2973404"/>
            <a:ext cx="6400800" cy="0"/>
          </a:xfrm>
          <a:prstGeom prst="line">
            <a:avLst/>
          </a:prstGeom>
          <a:noFill/>
          <a:ln w="50800">
            <a:solidFill>
              <a:schemeClr val="accent2"/>
            </a:solidFill>
            <a:round/>
            <a:headEnd type="none" w="sm" len="sm"/>
            <a:tailEnd type="none" w="sm" len="sm"/>
          </a:ln>
          <a:effectLst>
            <a:outerShdw dist="35921" dir="2700000" algn="ctr" rotWithShape="0">
              <a:schemeClr val="bg2"/>
            </a:outerShdw>
          </a:effectLst>
        </p:spPr>
        <p:txBody>
          <a:bodyPr anchor="ctr">
            <a:spAutoFit/>
          </a:bodyPr>
          <a:lstStyle/>
          <a:p>
            <a:endParaRPr lang="zh-CN" altLang="en-US"/>
          </a:p>
        </p:txBody>
      </p:sp>
      <p:sp>
        <p:nvSpPr>
          <p:cNvPr id="46" name="Rectangle 3"/>
          <p:cNvSpPr>
            <a:spLocks noChangeArrowheads="1"/>
          </p:cNvSpPr>
          <p:nvPr/>
        </p:nvSpPr>
        <p:spPr bwMode="auto">
          <a:xfrm>
            <a:off x="2254282" y="4037029"/>
            <a:ext cx="1112837" cy="288925"/>
          </a:xfrm>
          <a:prstGeom prst="rect">
            <a:avLst/>
          </a:prstGeom>
          <a:noFill/>
          <a:ln w="9525">
            <a:noFill/>
            <a:miter lim="800000"/>
            <a:headEnd/>
            <a:tailEnd/>
          </a:ln>
          <a:effectLst/>
        </p:spPr>
        <p:txBody>
          <a:bodyPr lIns="21431" tIns="30362" rIns="21431" bIns="30362">
            <a:spAutoFit/>
          </a:bodyPr>
          <a:lstStyle/>
          <a:p>
            <a:pPr defTabSz="1028700">
              <a:lnSpc>
                <a:spcPts val="1800"/>
              </a:lnSpc>
              <a:tabLst>
                <a:tab pos="514350" algn="l"/>
                <a:tab pos="1028700" algn="l"/>
                <a:tab pos="1543050" algn="l"/>
              </a:tabLst>
            </a:pPr>
            <a:r>
              <a:rPr lang="en-US" altLang="zh-CN" sz="1600" b="1">
                <a:solidFill>
                  <a:srgbClr val="000000"/>
                </a:solidFill>
                <a:latin typeface="Helvetica" pitchFamily="34" charset="0"/>
              </a:rPr>
              <a:t>2.3.0.0</a:t>
            </a:r>
          </a:p>
        </p:txBody>
      </p:sp>
      <p:sp>
        <p:nvSpPr>
          <p:cNvPr id="47" name="Rectangle 5"/>
          <p:cNvSpPr>
            <a:spLocks noChangeArrowheads="1"/>
          </p:cNvSpPr>
          <p:nvPr/>
        </p:nvSpPr>
        <p:spPr bwMode="auto">
          <a:xfrm>
            <a:off x="250857" y="4494229"/>
            <a:ext cx="4110037" cy="1292225"/>
          </a:xfrm>
          <a:prstGeom prst="rect">
            <a:avLst/>
          </a:prstGeom>
          <a:noFill/>
          <a:ln w="9525">
            <a:noFill/>
            <a:miter lim="800000"/>
            <a:headEnd/>
            <a:tailEnd/>
          </a:ln>
          <a:effectLst/>
        </p:spPr>
        <p:txBody>
          <a:bodyPr lIns="21431" tIns="30362" rIns="21431" bIns="30362">
            <a:spAutoFit/>
          </a:bodyPr>
          <a:lstStyle/>
          <a:p>
            <a:pPr defTabSz="1028700">
              <a:lnSpc>
                <a:spcPts val="2363"/>
              </a:lnSpc>
              <a:tabLst>
                <a:tab pos="514350" algn="l"/>
                <a:tab pos="1028700" algn="l"/>
                <a:tab pos="1543050" algn="l"/>
              </a:tabLst>
            </a:pPr>
            <a:r>
              <a:rPr lang="en-US" altLang="zh-CN" sz="2000" b="1">
                <a:solidFill>
                  <a:srgbClr val="FF0000"/>
                </a:solidFill>
                <a:latin typeface="Times New Roman" pitchFamily="18" charset="0"/>
              </a:rPr>
              <a:t>router rip</a:t>
            </a:r>
          </a:p>
          <a:p>
            <a:pPr defTabSz="1028700">
              <a:lnSpc>
                <a:spcPts val="2363"/>
              </a:lnSpc>
              <a:tabLst>
                <a:tab pos="514350" algn="l"/>
                <a:tab pos="1028700" algn="l"/>
                <a:tab pos="1543050" algn="l"/>
              </a:tabLst>
            </a:pPr>
            <a:r>
              <a:rPr lang="en-US" altLang="zh-CN" sz="2000" b="1">
                <a:solidFill>
                  <a:srgbClr val="FF0000"/>
                </a:solidFill>
                <a:latin typeface="Times New Roman" pitchFamily="18" charset="0"/>
              </a:rPr>
              <a:t>version 2</a:t>
            </a:r>
          </a:p>
          <a:p>
            <a:pPr defTabSz="1028700">
              <a:lnSpc>
                <a:spcPts val="2363"/>
              </a:lnSpc>
              <a:tabLst>
                <a:tab pos="514350" algn="l"/>
                <a:tab pos="1028700" algn="l"/>
                <a:tab pos="1543050" algn="l"/>
              </a:tabLst>
            </a:pPr>
            <a:r>
              <a:rPr lang="en-US" altLang="zh-CN" sz="2000" b="1">
                <a:solidFill>
                  <a:srgbClr val="000000"/>
                </a:solidFill>
                <a:latin typeface="Times New Roman" pitchFamily="18" charset="0"/>
              </a:rPr>
              <a:t>network    192.168.2.0      0.0.0.255</a:t>
            </a:r>
          </a:p>
          <a:p>
            <a:pPr defTabSz="1028700">
              <a:lnSpc>
                <a:spcPts val="2363"/>
              </a:lnSpc>
              <a:tabLst>
                <a:tab pos="514350" algn="l"/>
                <a:tab pos="1028700" algn="l"/>
                <a:tab pos="1543050" algn="l"/>
              </a:tabLst>
            </a:pPr>
            <a:r>
              <a:rPr lang="en-US" altLang="zh-CN" sz="2000" b="1">
                <a:solidFill>
                  <a:srgbClr val="000000"/>
                </a:solidFill>
                <a:latin typeface="Times New Roman" pitchFamily="18" charset="0"/>
              </a:rPr>
              <a:t>network    40.0.0.0     0.255.255.255</a:t>
            </a:r>
          </a:p>
        </p:txBody>
      </p:sp>
      <p:sp>
        <p:nvSpPr>
          <p:cNvPr id="48" name="Line 6"/>
          <p:cNvSpPr>
            <a:spLocks noChangeShapeType="1"/>
          </p:cNvSpPr>
          <p:nvPr/>
        </p:nvSpPr>
        <p:spPr bwMode="auto">
          <a:xfrm>
            <a:off x="2606707" y="3462354"/>
            <a:ext cx="0" cy="552450"/>
          </a:xfrm>
          <a:prstGeom prst="line">
            <a:avLst/>
          </a:prstGeom>
          <a:noFill/>
          <a:ln w="38100">
            <a:solidFill>
              <a:schemeClr val="tx1"/>
            </a:solidFill>
            <a:round/>
            <a:headEnd/>
            <a:tailEnd type="triangle" w="med" len="med"/>
          </a:ln>
          <a:effectLst/>
        </p:spPr>
        <p:txBody>
          <a:bodyPr anchor="ctr">
            <a:spAutoFit/>
          </a:bodyPr>
          <a:lstStyle/>
          <a:p>
            <a:endParaRPr lang="zh-CN" altLang="en-US"/>
          </a:p>
        </p:txBody>
      </p:sp>
      <p:sp>
        <p:nvSpPr>
          <p:cNvPr id="49" name="Rectangle 7"/>
          <p:cNvSpPr>
            <a:spLocks noChangeArrowheads="1"/>
          </p:cNvSpPr>
          <p:nvPr/>
        </p:nvSpPr>
        <p:spPr bwMode="auto">
          <a:xfrm>
            <a:off x="6424644" y="4060842"/>
            <a:ext cx="1074738" cy="288925"/>
          </a:xfrm>
          <a:prstGeom prst="rect">
            <a:avLst/>
          </a:prstGeom>
          <a:noFill/>
          <a:ln w="9525">
            <a:noFill/>
            <a:miter lim="800000"/>
            <a:headEnd/>
            <a:tailEnd/>
          </a:ln>
          <a:effectLst/>
        </p:spPr>
        <p:txBody>
          <a:bodyPr lIns="21431" tIns="30362" rIns="21431" bIns="30362">
            <a:spAutoFit/>
          </a:bodyPr>
          <a:lstStyle/>
          <a:p>
            <a:pPr defTabSz="1028700">
              <a:lnSpc>
                <a:spcPts val="1800"/>
              </a:lnSpc>
              <a:tabLst>
                <a:tab pos="514350" algn="l"/>
                <a:tab pos="1028700" algn="l"/>
                <a:tab pos="1543050" algn="l"/>
              </a:tabLst>
            </a:pPr>
            <a:r>
              <a:rPr lang="en-US" altLang="zh-CN" sz="1600" b="1">
                <a:solidFill>
                  <a:srgbClr val="000000"/>
                </a:solidFill>
                <a:latin typeface="Helvetica" pitchFamily="34" charset="0"/>
              </a:rPr>
              <a:t>2.3.0.0</a:t>
            </a:r>
          </a:p>
        </p:txBody>
      </p:sp>
      <p:sp>
        <p:nvSpPr>
          <p:cNvPr id="50" name="Rectangle 9"/>
          <p:cNvSpPr>
            <a:spLocks noChangeArrowheads="1"/>
          </p:cNvSpPr>
          <p:nvPr/>
        </p:nvSpPr>
        <p:spPr bwMode="auto">
          <a:xfrm>
            <a:off x="4984782" y="4470417"/>
            <a:ext cx="3759200" cy="1292225"/>
          </a:xfrm>
          <a:prstGeom prst="rect">
            <a:avLst/>
          </a:prstGeom>
          <a:noFill/>
          <a:ln w="9525">
            <a:noFill/>
            <a:miter lim="800000"/>
            <a:headEnd/>
            <a:tailEnd/>
          </a:ln>
          <a:effectLst/>
        </p:spPr>
        <p:txBody>
          <a:bodyPr lIns="21431" tIns="30362" rIns="21431" bIns="30362">
            <a:spAutoFit/>
          </a:bodyPr>
          <a:lstStyle/>
          <a:p>
            <a:pPr defTabSz="1028700">
              <a:lnSpc>
                <a:spcPts val="2363"/>
              </a:lnSpc>
              <a:tabLst>
                <a:tab pos="514350" algn="l"/>
                <a:tab pos="1028700" algn="l"/>
                <a:tab pos="1543050" algn="l"/>
              </a:tabLst>
            </a:pPr>
            <a:r>
              <a:rPr lang="en-US" altLang="zh-CN" sz="2000" b="1">
                <a:solidFill>
                  <a:srgbClr val="000000"/>
                </a:solidFill>
                <a:latin typeface="Times New Roman" pitchFamily="18" charset="0"/>
              </a:rPr>
              <a:t>router rip</a:t>
            </a:r>
          </a:p>
          <a:p>
            <a:pPr defTabSz="1028700">
              <a:lnSpc>
                <a:spcPts val="2363"/>
              </a:lnSpc>
              <a:tabLst>
                <a:tab pos="514350" algn="l"/>
                <a:tab pos="1028700" algn="l"/>
                <a:tab pos="1543050" algn="l"/>
              </a:tabLst>
            </a:pPr>
            <a:r>
              <a:rPr lang="en-US" altLang="zh-CN" sz="2000" b="1">
                <a:solidFill>
                  <a:srgbClr val="000000"/>
                </a:solidFill>
                <a:latin typeface="Times New Roman" pitchFamily="18" charset="0"/>
              </a:rPr>
              <a:t>Version 2</a:t>
            </a:r>
          </a:p>
          <a:p>
            <a:pPr defTabSz="1028700">
              <a:lnSpc>
                <a:spcPts val="2363"/>
              </a:lnSpc>
              <a:tabLst>
                <a:tab pos="514350" algn="l"/>
                <a:tab pos="1028700" algn="l"/>
                <a:tab pos="1543050" algn="l"/>
              </a:tabLst>
            </a:pPr>
            <a:r>
              <a:rPr lang="en-US" altLang="zh-CN" sz="2000" b="1">
                <a:solidFill>
                  <a:srgbClr val="000000"/>
                </a:solidFill>
                <a:latin typeface="Times New Roman" pitchFamily="18" charset="0"/>
              </a:rPr>
              <a:t>network    192.168.1.0    0.0.0.255</a:t>
            </a:r>
          </a:p>
          <a:p>
            <a:pPr defTabSz="1028700">
              <a:lnSpc>
                <a:spcPts val="2363"/>
              </a:lnSpc>
              <a:tabLst>
                <a:tab pos="514350" algn="l"/>
                <a:tab pos="1028700" algn="l"/>
                <a:tab pos="1543050" algn="l"/>
              </a:tabLst>
            </a:pPr>
            <a:r>
              <a:rPr lang="en-US" altLang="zh-CN" sz="2000" b="1">
                <a:solidFill>
                  <a:srgbClr val="000000"/>
                </a:solidFill>
                <a:latin typeface="Times New Roman" pitchFamily="18" charset="0"/>
              </a:rPr>
              <a:t>network    40.0.0.0    0.255.255.255</a:t>
            </a:r>
          </a:p>
        </p:txBody>
      </p:sp>
      <p:sp>
        <p:nvSpPr>
          <p:cNvPr id="51" name="Line 10"/>
          <p:cNvSpPr>
            <a:spLocks noChangeShapeType="1"/>
          </p:cNvSpPr>
          <p:nvPr/>
        </p:nvSpPr>
        <p:spPr bwMode="auto">
          <a:xfrm>
            <a:off x="6734207" y="3476642"/>
            <a:ext cx="0" cy="552450"/>
          </a:xfrm>
          <a:prstGeom prst="line">
            <a:avLst/>
          </a:prstGeom>
          <a:noFill/>
          <a:ln w="38100">
            <a:solidFill>
              <a:schemeClr val="tx1"/>
            </a:solidFill>
            <a:round/>
            <a:headEnd/>
            <a:tailEnd type="triangle" w="med" len="med"/>
          </a:ln>
          <a:effectLst/>
        </p:spPr>
        <p:txBody>
          <a:bodyPr anchor="ctr">
            <a:spAutoFit/>
          </a:bodyPr>
          <a:lstStyle/>
          <a:p>
            <a:endParaRPr lang="zh-CN" altLang="en-US"/>
          </a:p>
        </p:txBody>
      </p:sp>
      <p:sp>
        <p:nvSpPr>
          <p:cNvPr id="52" name="Rectangle 11"/>
          <p:cNvSpPr>
            <a:spLocks noChangeArrowheads="1"/>
          </p:cNvSpPr>
          <p:nvPr/>
        </p:nvSpPr>
        <p:spPr bwMode="auto">
          <a:xfrm>
            <a:off x="1300194" y="2211404"/>
            <a:ext cx="1077913" cy="288925"/>
          </a:xfrm>
          <a:prstGeom prst="rect">
            <a:avLst/>
          </a:prstGeom>
          <a:noFill/>
          <a:ln w="9525">
            <a:noFill/>
            <a:miter lim="800000"/>
            <a:headEnd/>
            <a:tailEnd/>
          </a:ln>
          <a:effectLst/>
        </p:spPr>
        <p:txBody>
          <a:bodyPr lIns="21431" tIns="30362" rIns="21431" bIns="30362">
            <a:spAutoFit/>
          </a:bodyPr>
          <a:lstStyle/>
          <a:p>
            <a:pPr defTabSz="1028700">
              <a:lnSpc>
                <a:spcPts val="1800"/>
              </a:lnSpc>
              <a:tabLst>
                <a:tab pos="514350" algn="l"/>
                <a:tab pos="1028700" algn="l"/>
                <a:tab pos="1543050" algn="l"/>
              </a:tabLst>
            </a:pPr>
            <a:r>
              <a:rPr lang="en-US" altLang="zh-CN" sz="1600" b="1">
                <a:solidFill>
                  <a:srgbClr val="000000"/>
                </a:solidFill>
                <a:latin typeface="Helvetica" pitchFamily="34" charset="0"/>
              </a:rPr>
              <a:t>loopback1</a:t>
            </a:r>
          </a:p>
        </p:txBody>
      </p:sp>
      <p:sp>
        <p:nvSpPr>
          <p:cNvPr id="53" name="Rectangle 12"/>
          <p:cNvSpPr>
            <a:spLocks noChangeArrowheads="1"/>
          </p:cNvSpPr>
          <p:nvPr/>
        </p:nvSpPr>
        <p:spPr bwMode="auto">
          <a:xfrm>
            <a:off x="5491194" y="2640029"/>
            <a:ext cx="933450" cy="288925"/>
          </a:xfrm>
          <a:prstGeom prst="rect">
            <a:avLst/>
          </a:prstGeom>
          <a:noFill/>
          <a:ln w="9525">
            <a:noFill/>
            <a:miter lim="800000"/>
            <a:headEnd/>
            <a:tailEnd/>
          </a:ln>
          <a:effectLst/>
        </p:spPr>
        <p:txBody>
          <a:bodyPr lIns="21431" tIns="30362" rIns="21431" bIns="30362">
            <a:spAutoFit/>
          </a:bodyPr>
          <a:lstStyle/>
          <a:p>
            <a:pPr defTabSz="1028700">
              <a:lnSpc>
                <a:spcPts val="1800"/>
              </a:lnSpc>
              <a:tabLst>
                <a:tab pos="514350" algn="l"/>
                <a:tab pos="1028700" algn="l"/>
                <a:tab pos="1543050" algn="l"/>
              </a:tabLst>
            </a:pPr>
            <a:r>
              <a:rPr lang="en-US" altLang="zh-CN" sz="1600" b="1">
                <a:solidFill>
                  <a:srgbClr val="000000"/>
                </a:solidFill>
                <a:latin typeface="Helvetica" pitchFamily="34" charset="0"/>
              </a:rPr>
              <a:t>Fei_3/1</a:t>
            </a:r>
          </a:p>
        </p:txBody>
      </p:sp>
      <p:sp>
        <p:nvSpPr>
          <p:cNvPr id="54" name="Line 13"/>
          <p:cNvSpPr>
            <a:spLocks noChangeShapeType="1"/>
          </p:cNvSpPr>
          <p:nvPr/>
        </p:nvSpPr>
        <p:spPr bwMode="auto">
          <a:xfrm>
            <a:off x="1439894" y="2444767"/>
            <a:ext cx="0" cy="1092200"/>
          </a:xfrm>
          <a:prstGeom prst="line">
            <a:avLst/>
          </a:prstGeom>
          <a:noFill/>
          <a:ln w="50800">
            <a:solidFill>
              <a:schemeClr val="accent2"/>
            </a:solidFill>
            <a:round/>
            <a:headEnd type="none" w="sm" len="sm"/>
            <a:tailEnd type="none" w="sm" len="sm"/>
          </a:ln>
          <a:effectLst>
            <a:outerShdw dist="35921" dir="2700000" algn="ctr" rotWithShape="0">
              <a:schemeClr val="bg2"/>
            </a:outerShdw>
          </a:effectLst>
        </p:spPr>
        <p:txBody>
          <a:bodyPr anchor="ctr">
            <a:spAutoFit/>
          </a:bodyPr>
          <a:lstStyle/>
          <a:p>
            <a:endParaRPr lang="zh-CN" altLang="en-US"/>
          </a:p>
        </p:txBody>
      </p:sp>
      <p:sp>
        <p:nvSpPr>
          <p:cNvPr id="55" name="Line 14"/>
          <p:cNvSpPr>
            <a:spLocks noChangeShapeType="1"/>
          </p:cNvSpPr>
          <p:nvPr/>
        </p:nvSpPr>
        <p:spPr bwMode="auto">
          <a:xfrm>
            <a:off x="7894669" y="2341579"/>
            <a:ext cx="0" cy="1219200"/>
          </a:xfrm>
          <a:prstGeom prst="line">
            <a:avLst/>
          </a:prstGeom>
          <a:noFill/>
          <a:ln w="50800">
            <a:solidFill>
              <a:schemeClr val="accent2"/>
            </a:solidFill>
            <a:round/>
            <a:headEnd type="none" w="sm" len="sm"/>
            <a:tailEnd type="none" w="sm" len="sm"/>
          </a:ln>
          <a:effectLst>
            <a:outerShdw dist="35921" dir="2700000" algn="ctr" rotWithShape="0">
              <a:schemeClr val="bg2"/>
            </a:outerShdw>
          </a:effectLst>
        </p:spPr>
        <p:txBody>
          <a:bodyPr anchor="ctr">
            <a:spAutoFit/>
          </a:bodyPr>
          <a:lstStyle/>
          <a:p>
            <a:endParaRPr lang="zh-CN" altLang="en-US"/>
          </a:p>
        </p:txBody>
      </p:sp>
      <p:sp>
        <p:nvSpPr>
          <p:cNvPr id="56" name="Rectangle 15"/>
          <p:cNvSpPr>
            <a:spLocks noChangeArrowheads="1"/>
          </p:cNvSpPr>
          <p:nvPr/>
        </p:nvSpPr>
        <p:spPr bwMode="auto">
          <a:xfrm>
            <a:off x="2603532" y="3171842"/>
            <a:ext cx="1071562" cy="288925"/>
          </a:xfrm>
          <a:prstGeom prst="rect">
            <a:avLst/>
          </a:prstGeom>
          <a:noFill/>
          <a:ln w="9525">
            <a:noFill/>
            <a:miter lim="800000"/>
            <a:headEnd/>
            <a:tailEnd/>
          </a:ln>
          <a:effectLst/>
        </p:spPr>
        <p:txBody>
          <a:bodyPr lIns="21431" tIns="30362" rIns="21431" bIns="30362">
            <a:spAutoFit/>
          </a:bodyPr>
          <a:lstStyle/>
          <a:p>
            <a:pPr defTabSz="1028700">
              <a:lnSpc>
                <a:spcPts val="1800"/>
              </a:lnSpc>
              <a:tabLst>
                <a:tab pos="514350" algn="l"/>
                <a:tab pos="1028700" algn="l"/>
                <a:tab pos="1543050" algn="l"/>
              </a:tabLst>
            </a:pPr>
            <a:r>
              <a:rPr lang="en-US" altLang="zh-CN" sz="1600" b="1">
                <a:solidFill>
                  <a:srgbClr val="000000"/>
                </a:solidFill>
                <a:latin typeface="Helvetica" pitchFamily="34" charset="0"/>
              </a:rPr>
              <a:t>40.1.1.5/30</a:t>
            </a:r>
          </a:p>
        </p:txBody>
      </p:sp>
      <p:sp>
        <p:nvSpPr>
          <p:cNvPr id="57" name="Rectangle 18"/>
          <p:cNvSpPr>
            <a:spLocks noChangeArrowheads="1"/>
          </p:cNvSpPr>
          <p:nvPr/>
        </p:nvSpPr>
        <p:spPr bwMode="auto">
          <a:xfrm>
            <a:off x="5751544" y="3216292"/>
            <a:ext cx="1074738" cy="288925"/>
          </a:xfrm>
          <a:prstGeom prst="rect">
            <a:avLst/>
          </a:prstGeom>
          <a:noFill/>
          <a:ln w="9525">
            <a:noFill/>
            <a:miter lim="800000"/>
            <a:headEnd/>
            <a:tailEnd/>
          </a:ln>
          <a:effectLst/>
        </p:spPr>
        <p:txBody>
          <a:bodyPr lIns="21431" tIns="30362" rIns="21431" bIns="30362">
            <a:spAutoFit/>
          </a:bodyPr>
          <a:lstStyle/>
          <a:p>
            <a:pPr defTabSz="1028700">
              <a:lnSpc>
                <a:spcPts val="1800"/>
              </a:lnSpc>
              <a:tabLst>
                <a:tab pos="514350" algn="l"/>
                <a:tab pos="1028700" algn="l"/>
                <a:tab pos="1543050" algn="l"/>
              </a:tabLst>
            </a:pPr>
            <a:r>
              <a:rPr lang="en-US" altLang="zh-CN" sz="1600" b="1">
                <a:solidFill>
                  <a:srgbClr val="000000"/>
                </a:solidFill>
                <a:latin typeface="Helvetica" pitchFamily="34" charset="0"/>
              </a:rPr>
              <a:t>40.1.1.6/30</a:t>
            </a:r>
          </a:p>
        </p:txBody>
      </p:sp>
      <p:sp>
        <p:nvSpPr>
          <p:cNvPr id="58" name="Rectangle 21"/>
          <p:cNvSpPr>
            <a:spLocks noChangeArrowheads="1"/>
          </p:cNvSpPr>
          <p:nvPr/>
        </p:nvSpPr>
        <p:spPr bwMode="auto">
          <a:xfrm>
            <a:off x="7929594" y="2897204"/>
            <a:ext cx="1143000" cy="517525"/>
          </a:xfrm>
          <a:prstGeom prst="rect">
            <a:avLst/>
          </a:prstGeom>
          <a:noFill/>
          <a:ln w="9525">
            <a:noFill/>
            <a:miter lim="800000"/>
            <a:headEnd/>
            <a:tailEnd/>
          </a:ln>
          <a:effectLst/>
        </p:spPr>
        <p:txBody>
          <a:bodyPr lIns="21431" tIns="30362" rIns="21431" bIns="30362">
            <a:spAutoFit/>
          </a:bodyPr>
          <a:lstStyle/>
          <a:p>
            <a:pPr algn="ctr" defTabSz="1028700">
              <a:lnSpc>
                <a:spcPts val="1800"/>
              </a:lnSpc>
              <a:tabLst>
                <a:tab pos="514350" algn="l"/>
                <a:tab pos="1028700" algn="l"/>
                <a:tab pos="1543050" algn="l"/>
              </a:tabLst>
            </a:pPr>
            <a:r>
              <a:rPr lang="en-US" altLang="zh-CN" sz="1600" b="1">
                <a:solidFill>
                  <a:srgbClr val="000000"/>
                </a:solidFill>
                <a:latin typeface="Helvetica" pitchFamily="34" charset="0"/>
              </a:rPr>
              <a:t>192.168.1.1/24 </a:t>
            </a:r>
          </a:p>
        </p:txBody>
      </p:sp>
      <p:sp>
        <p:nvSpPr>
          <p:cNvPr id="59" name="Rectangle 23"/>
          <p:cNvSpPr>
            <a:spLocks noChangeArrowheads="1"/>
          </p:cNvSpPr>
          <p:nvPr/>
        </p:nvSpPr>
        <p:spPr bwMode="auto">
          <a:xfrm>
            <a:off x="2900394" y="2592404"/>
            <a:ext cx="933450" cy="288925"/>
          </a:xfrm>
          <a:prstGeom prst="rect">
            <a:avLst/>
          </a:prstGeom>
          <a:noFill/>
          <a:ln w="9525">
            <a:noFill/>
            <a:miter lim="800000"/>
            <a:headEnd/>
            <a:tailEnd/>
          </a:ln>
          <a:effectLst/>
        </p:spPr>
        <p:txBody>
          <a:bodyPr lIns="21431" tIns="30362" rIns="21431" bIns="30362">
            <a:spAutoFit/>
          </a:bodyPr>
          <a:lstStyle/>
          <a:p>
            <a:pPr defTabSz="1028700">
              <a:lnSpc>
                <a:spcPts val="1800"/>
              </a:lnSpc>
              <a:tabLst>
                <a:tab pos="514350" algn="l"/>
                <a:tab pos="1028700" algn="l"/>
                <a:tab pos="1543050" algn="l"/>
              </a:tabLst>
            </a:pPr>
            <a:r>
              <a:rPr lang="en-US" altLang="zh-CN" sz="1600" b="1">
                <a:solidFill>
                  <a:srgbClr val="000000"/>
                </a:solidFill>
                <a:latin typeface="Helvetica" pitchFamily="34" charset="0"/>
              </a:rPr>
              <a:t>Fei_3/1</a:t>
            </a:r>
          </a:p>
        </p:txBody>
      </p:sp>
      <p:sp>
        <p:nvSpPr>
          <p:cNvPr id="60" name="Rectangle 24"/>
          <p:cNvSpPr>
            <a:spLocks noChangeArrowheads="1"/>
          </p:cNvSpPr>
          <p:nvPr/>
        </p:nvSpPr>
        <p:spPr bwMode="auto">
          <a:xfrm>
            <a:off x="6786594" y="2440004"/>
            <a:ext cx="1077913" cy="288925"/>
          </a:xfrm>
          <a:prstGeom prst="rect">
            <a:avLst/>
          </a:prstGeom>
          <a:noFill/>
          <a:ln w="9525">
            <a:noFill/>
            <a:miter lim="800000"/>
            <a:headEnd/>
            <a:tailEnd/>
          </a:ln>
          <a:effectLst/>
        </p:spPr>
        <p:txBody>
          <a:bodyPr lIns="21431" tIns="30362" rIns="21431" bIns="30362">
            <a:spAutoFit/>
          </a:bodyPr>
          <a:lstStyle/>
          <a:p>
            <a:pPr defTabSz="1028700">
              <a:lnSpc>
                <a:spcPts val="1800"/>
              </a:lnSpc>
              <a:tabLst>
                <a:tab pos="514350" algn="l"/>
                <a:tab pos="1028700" algn="l"/>
                <a:tab pos="1543050" algn="l"/>
              </a:tabLst>
            </a:pPr>
            <a:r>
              <a:rPr lang="en-US" altLang="zh-CN" sz="1600" b="1">
                <a:solidFill>
                  <a:srgbClr val="000000"/>
                </a:solidFill>
                <a:latin typeface="Helvetica" pitchFamily="34" charset="0"/>
              </a:rPr>
              <a:t>loopback1</a:t>
            </a:r>
          </a:p>
        </p:txBody>
      </p:sp>
      <p:sp>
        <p:nvSpPr>
          <p:cNvPr id="61" name="Rectangle 25"/>
          <p:cNvSpPr>
            <a:spLocks noChangeArrowheads="1"/>
          </p:cNvSpPr>
          <p:nvPr/>
        </p:nvSpPr>
        <p:spPr bwMode="auto">
          <a:xfrm>
            <a:off x="80994" y="2821004"/>
            <a:ext cx="1143000" cy="517525"/>
          </a:xfrm>
          <a:prstGeom prst="rect">
            <a:avLst/>
          </a:prstGeom>
          <a:noFill/>
          <a:ln w="9525">
            <a:noFill/>
            <a:miter lim="800000"/>
            <a:headEnd/>
            <a:tailEnd/>
          </a:ln>
          <a:effectLst/>
        </p:spPr>
        <p:txBody>
          <a:bodyPr lIns="21431" tIns="30362" rIns="21431" bIns="30362">
            <a:spAutoFit/>
          </a:bodyPr>
          <a:lstStyle/>
          <a:p>
            <a:pPr algn="ctr" defTabSz="1028700">
              <a:lnSpc>
                <a:spcPts val="1800"/>
              </a:lnSpc>
              <a:tabLst>
                <a:tab pos="514350" algn="l"/>
                <a:tab pos="1028700" algn="l"/>
                <a:tab pos="1543050" algn="l"/>
              </a:tabLst>
            </a:pPr>
            <a:r>
              <a:rPr lang="en-US" altLang="zh-CN" sz="1600" b="1">
                <a:solidFill>
                  <a:srgbClr val="000000"/>
                </a:solidFill>
                <a:latin typeface="Helvetica" pitchFamily="34" charset="0"/>
              </a:rPr>
              <a:t>192.168.2.1/24 </a:t>
            </a:r>
          </a:p>
        </p:txBody>
      </p:sp>
      <p:pic>
        <p:nvPicPr>
          <p:cNvPr id="62" name="Picture 26" descr="GER---"/>
          <p:cNvPicPr>
            <a:picLocks noChangeAspect="1" noChangeArrowheads="1"/>
          </p:cNvPicPr>
          <p:nvPr/>
        </p:nvPicPr>
        <p:blipFill>
          <a:blip r:embed="rId3"/>
          <a:srcRect/>
          <a:stretch>
            <a:fillRect/>
          </a:stretch>
        </p:blipFill>
        <p:spPr bwMode="auto">
          <a:xfrm>
            <a:off x="2062194" y="2676542"/>
            <a:ext cx="790575" cy="527050"/>
          </a:xfrm>
          <a:prstGeom prst="rect">
            <a:avLst/>
          </a:prstGeom>
          <a:noFill/>
          <a:ln w="9525">
            <a:noFill/>
            <a:miter lim="800000"/>
            <a:headEnd/>
            <a:tailEnd/>
          </a:ln>
        </p:spPr>
      </p:pic>
      <p:pic>
        <p:nvPicPr>
          <p:cNvPr id="63" name="Picture 28" descr="GER---"/>
          <p:cNvPicPr>
            <a:picLocks noChangeAspect="1" noChangeArrowheads="1"/>
          </p:cNvPicPr>
          <p:nvPr/>
        </p:nvPicPr>
        <p:blipFill>
          <a:blip r:embed="rId3"/>
          <a:srcRect/>
          <a:stretch>
            <a:fillRect/>
          </a:stretch>
        </p:blipFill>
        <p:spPr bwMode="auto">
          <a:xfrm>
            <a:off x="6310344" y="2725754"/>
            <a:ext cx="790575" cy="527050"/>
          </a:xfrm>
          <a:prstGeom prst="rect">
            <a:avLst/>
          </a:prstGeom>
          <a:noFill/>
          <a:ln w="9525">
            <a:noFill/>
            <a:miter lim="800000"/>
            <a:headEnd/>
            <a:tailEnd/>
          </a:ln>
        </p:spPr>
      </p:pic>
      <p:sp>
        <p:nvSpPr>
          <p:cNvPr id="64" name="Rectangle 19"/>
          <p:cNvSpPr>
            <a:spLocks noChangeArrowheads="1"/>
          </p:cNvSpPr>
          <p:nvPr/>
        </p:nvSpPr>
        <p:spPr bwMode="auto">
          <a:xfrm>
            <a:off x="2001869" y="2973404"/>
            <a:ext cx="998538" cy="288925"/>
          </a:xfrm>
          <a:prstGeom prst="rect">
            <a:avLst/>
          </a:prstGeom>
          <a:noFill/>
          <a:ln w="9525">
            <a:noFill/>
            <a:miter lim="800000"/>
            <a:headEnd/>
            <a:tailEnd/>
          </a:ln>
          <a:effectLst/>
        </p:spPr>
        <p:txBody>
          <a:bodyPr lIns="21431" tIns="30362" rIns="21431" bIns="30362">
            <a:spAutoFit/>
          </a:bodyPr>
          <a:lstStyle/>
          <a:p>
            <a:pPr algn="ctr" defTabSz="1028700">
              <a:lnSpc>
                <a:spcPts val="1800"/>
              </a:lnSpc>
              <a:tabLst>
                <a:tab pos="514350" algn="l"/>
                <a:tab pos="1028700" algn="l"/>
                <a:tab pos="1543050" algn="l"/>
              </a:tabLst>
            </a:pPr>
            <a:r>
              <a:rPr lang="en-US" altLang="zh-CN" sz="1600" b="1">
                <a:solidFill>
                  <a:schemeClr val="bg1"/>
                </a:solidFill>
                <a:latin typeface="Helvetica" pitchFamily="34" charset="0"/>
              </a:rPr>
              <a:t>A</a:t>
            </a:r>
          </a:p>
        </p:txBody>
      </p:sp>
      <p:sp>
        <p:nvSpPr>
          <p:cNvPr id="65" name="Rectangle 20"/>
          <p:cNvSpPr>
            <a:spLocks noChangeArrowheads="1"/>
          </p:cNvSpPr>
          <p:nvPr/>
        </p:nvSpPr>
        <p:spPr bwMode="auto">
          <a:xfrm>
            <a:off x="6186519" y="3016267"/>
            <a:ext cx="998538" cy="288925"/>
          </a:xfrm>
          <a:prstGeom prst="rect">
            <a:avLst/>
          </a:prstGeom>
          <a:noFill/>
          <a:ln w="9525">
            <a:noFill/>
            <a:miter lim="800000"/>
            <a:headEnd/>
            <a:tailEnd/>
          </a:ln>
          <a:effectLst/>
        </p:spPr>
        <p:txBody>
          <a:bodyPr lIns="21431" tIns="30362" rIns="21431" bIns="30362">
            <a:spAutoFit/>
          </a:bodyPr>
          <a:lstStyle/>
          <a:p>
            <a:pPr algn="ctr" defTabSz="1028700">
              <a:lnSpc>
                <a:spcPts val="1800"/>
              </a:lnSpc>
              <a:tabLst>
                <a:tab pos="514350" algn="l"/>
                <a:tab pos="1028700" algn="l"/>
                <a:tab pos="1543050" algn="l"/>
              </a:tabLst>
            </a:pPr>
            <a:r>
              <a:rPr lang="en-US" altLang="zh-CN" sz="1600" b="1">
                <a:solidFill>
                  <a:schemeClr val="bg1"/>
                </a:solidFill>
                <a:latin typeface="Helvetica" pitchFamily="34" charset="0"/>
              </a:rPr>
              <a:t>C</a:t>
            </a:r>
          </a:p>
        </p:txBody>
      </p:sp>
      <p:sp>
        <p:nvSpPr>
          <p:cNvPr id="66" name="Rectangle 22"/>
          <p:cNvSpPr txBox="1">
            <a:spLocks noChangeArrowheads="1"/>
          </p:cNvSpPr>
          <p:nvPr/>
        </p:nvSpPr>
        <p:spPr>
          <a:xfrm>
            <a:off x="357158" y="1071546"/>
            <a:ext cx="6400816" cy="734994"/>
          </a:xfrm>
          <a:prstGeom prst="rect">
            <a:avLst/>
          </a:prstGeom>
          <a:noFill/>
        </p:spPr>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4000" b="1" i="0" u="none" strike="noStrike" kern="0" cap="none" spc="0" normalizeH="0" baseline="0" noProof="0" dirty="0" smtClean="0">
                <a:ln>
                  <a:noFill/>
                </a:ln>
                <a:solidFill>
                  <a:schemeClr val="tx1"/>
                </a:solidFill>
                <a:effectLst/>
                <a:uLnTx/>
                <a:uFillTx/>
                <a:latin typeface="+mj-lt"/>
                <a:ea typeface="+mj-ea"/>
                <a:cs typeface="+mj-cs"/>
              </a:rPr>
              <a:t>RIP </a:t>
            </a:r>
            <a:r>
              <a:rPr kumimoji="0" lang="zh-CN" altLang="en-US" sz="4000" b="1" i="0" u="none" strike="noStrike" kern="0" cap="none" spc="0" normalizeH="0" baseline="0" noProof="0" dirty="0" smtClean="0">
                <a:ln>
                  <a:noFill/>
                </a:ln>
                <a:solidFill>
                  <a:schemeClr val="tx1"/>
                </a:solidFill>
                <a:effectLst/>
                <a:uLnTx/>
                <a:uFillTx/>
                <a:latin typeface="+mj-lt"/>
                <a:ea typeface="+mj-ea"/>
                <a:cs typeface="+mj-cs"/>
              </a:rPr>
              <a:t>配置示例</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type="title" idx="4294967295"/>
          </p:nvPr>
        </p:nvSpPr>
        <p:spPr/>
        <p:txBody>
          <a:bodyPr/>
          <a:lstStyle/>
          <a:p>
            <a:pPr eaLnBrk="1" hangingPunct="1"/>
            <a:r>
              <a:rPr lang="en-US" altLang="zh-CN" dirty="0" smtClean="0">
                <a:effectLst>
                  <a:outerShdw blurRad="38100" dist="38100" dir="2700000" algn="tl">
                    <a:srgbClr val="000000">
                      <a:alpha val="43137"/>
                    </a:srgbClr>
                  </a:outerShdw>
                </a:effectLst>
              </a:rPr>
              <a:t>RIP </a:t>
            </a:r>
            <a:r>
              <a:rPr lang="zh-CN" altLang="en-US" dirty="0" smtClean="0">
                <a:effectLst>
                  <a:outerShdw blurRad="38100" dist="38100" dir="2700000" algn="tl">
                    <a:srgbClr val="000000">
                      <a:alpha val="43137"/>
                    </a:srgbClr>
                  </a:outerShdw>
                </a:effectLst>
              </a:rPr>
              <a:t>配置</a:t>
            </a:r>
            <a:endParaRPr lang="en-US" altLang="zh-CN" dirty="0" smtClean="0">
              <a:latin typeface="宋体" pitchFamily="2" charset="-122"/>
            </a:endParaRPr>
          </a:p>
        </p:txBody>
      </p:sp>
      <p:sp>
        <p:nvSpPr>
          <p:cNvPr id="3" name="Rectangle 2"/>
          <p:cNvSpPr>
            <a:spLocks noChangeArrowheads="1"/>
          </p:cNvSpPr>
          <p:nvPr/>
        </p:nvSpPr>
        <p:spPr bwMode="auto">
          <a:xfrm>
            <a:off x="323850" y="3555978"/>
            <a:ext cx="8405813" cy="2484438"/>
          </a:xfrm>
          <a:prstGeom prst="rect">
            <a:avLst/>
          </a:prstGeom>
          <a:solidFill>
            <a:schemeClr val="folHlink"/>
          </a:solidFill>
          <a:ln w="12700">
            <a:solidFill>
              <a:srgbClr val="000000"/>
            </a:solidFill>
            <a:miter lim="800000"/>
            <a:headEnd/>
            <a:tailEnd/>
          </a:ln>
          <a:effectLst>
            <a:outerShdw dist="71842" dir="2700000" algn="ctr" rotWithShape="0">
              <a:srgbClr val="000000"/>
            </a:outerShdw>
          </a:effectLst>
        </p:spPr>
        <p:txBody>
          <a:bodyPr wrap="none" lIns="21431" tIns="30362" rIns="21431" bIns="30362"/>
          <a:lstStyle/>
          <a:p>
            <a:pPr eaLnBrk="1" hangingPunct="1"/>
            <a:endParaRPr lang="zh-CN" altLang="en-US"/>
          </a:p>
        </p:txBody>
      </p:sp>
      <p:sp>
        <p:nvSpPr>
          <p:cNvPr id="4" name="Rectangle 3"/>
          <p:cNvSpPr txBox="1">
            <a:spLocks noChangeArrowheads="1"/>
          </p:cNvSpPr>
          <p:nvPr/>
        </p:nvSpPr>
        <p:spPr>
          <a:xfrm>
            <a:off x="457200" y="1000108"/>
            <a:ext cx="7543800" cy="652458"/>
          </a:xfrm>
          <a:prstGeom prst="rect">
            <a:avLst/>
          </a:prstGeom>
        </p:spPr>
        <p:txBody>
          <a:bodyPr/>
          <a:lstStyle/>
          <a:p>
            <a:pPr lvl="0" eaLnBrk="1" hangingPunct="1">
              <a:defRPr/>
            </a:pPr>
            <a:r>
              <a:rPr kumimoji="0" lang="zh-CN" altLang="en-US" sz="4000" b="1" i="0" u="none" strike="noStrike" kern="0" cap="none" spc="0" normalizeH="0" baseline="0" noProof="0" dirty="0" smtClean="0">
                <a:ln>
                  <a:noFill/>
                </a:ln>
                <a:solidFill>
                  <a:schemeClr val="tx1"/>
                </a:solidFill>
                <a:effectLst/>
                <a:uLnTx/>
                <a:uFillTx/>
                <a:latin typeface="+mj-lt"/>
                <a:ea typeface="+mj-ea"/>
                <a:cs typeface="+mj-cs"/>
              </a:rPr>
              <a:t>显示路由表</a:t>
            </a:r>
            <a:r>
              <a:rPr kumimoji="0" lang="en-US" altLang="zh-CN" sz="4000" b="1" i="0" u="none" strike="noStrike" kern="0" cap="none" spc="0" normalizeH="0" baseline="0" noProof="0" dirty="0" smtClean="0">
                <a:ln>
                  <a:noFill/>
                </a:ln>
                <a:solidFill>
                  <a:schemeClr val="tx1"/>
                </a:solidFill>
                <a:effectLst/>
                <a:uLnTx/>
                <a:uFillTx/>
                <a:latin typeface="+mj-lt"/>
                <a:ea typeface="+mj-ea"/>
                <a:cs typeface="+mj-cs"/>
              </a:rPr>
              <a:t>:</a:t>
            </a:r>
            <a:r>
              <a:rPr lang="en-US" altLang="zh-CN" sz="4000" b="1" dirty="0" smtClean="0"/>
              <a:t>show </a:t>
            </a:r>
            <a:r>
              <a:rPr lang="en-US" altLang="zh-CN" sz="4000" b="1" dirty="0" err="1" smtClean="0"/>
              <a:t>ip</a:t>
            </a:r>
            <a:r>
              <a:rPr lang="en-US" altLang="zh-CN" sz="4000" b="1" dirty="0" smtClean="0"/>
              <a:t> route </a:t>
            </a:r>
            <a:endParaRPr kumimoji="0" lang="zh-CN" altLang="en-US" sz="4000" b="1" i="0" u="none" strike="noStrike" kern="0" cap="none" spc="0" normalizeH="0" baseline="0" noProof="0" dirty="0" smtClean="0">
              <a:ln>
                <a:noFill/>
              </a:ln>
              <a:solidFill>
                <a:schemeClr val="tx1"/>
              </a:solidFill>
              <a:effectLst/>
              <a:uLnTx/>
              <a:uFillTx/>
              <a:latin typeface="+mj-lt"/>
              <a:ea typeface="+mj-ea"/>
              <a:cs typeface="+mj-cs"/>
            </a:endParaRPr>
          </a:p>
        </p:txBody>
      </p:sp>
      <p:sp>
        <p:nvSpPr>
          <p:cNvPr id="5" name="Rectangle 4"/>
          <p:cNvSpPr>
            <a:spLocks noChangeArrowheads="1"/>
          </p:cNvSpPr>
          <p:nvPr/>
        </p:nvSpPr>
        <p:spPr bwMode="auto">
          <a:xfrm>
            <a:off x="815975" y="1617641"/>
            <a:ext cx="6829425" cy="4572000"/>
          </a:xfrm>
          <a:prstGeom prst="rect">
            <a:avLst/>
          </a:prstGeom>
          <a:noFill/>
          <a:ln w="9525">
            <a:noFill/>
            <a:miter lim="800000"/>
            <a:headEnd/>
            <a:tailEnd/>
          </a:ln>
          <a:effectLst/>
        </p:spPr>
        <p:txBody>
          <a:bodyPr wrap="none" lIns="21431" tIns="30362" rIns="21431" bIns="30362"/>
          <a:lstStyle/>
          <a:p>
            <a:pPr defTabSz="1028700">
              <a:lnSpc>
                <a:spcPts val="1575"/>
              </a:lnSpc>
              <a:tabLst>
                <a:tab pos="514350" algn="l"/>
                <a:tab pos="1028700" algn="l"/>
                <a:tab pos="1543050" algn="l"/>
              </a:tabLst>
            </a:pPr>
            <a:endParaRPr lang="zh-CN" altLang="zh-CN" b="1">
              <a:solidFill>
                <a:srgbClr val="000000"/>
              </a:solidFill>
              <a:latin typeface="Courier" pitchFamily="49" charset="0"/>
            </a:endParaRPr>
          </a:p>
        </p:txBody>
      </p:sp>
      <p:sp>
        <p:nvSpPr>
          <p:cNvPr id="6" name="Rectangle 5"/>
          <p:cNvSpPr>
            <a:spLocks noChangeArrowheads="1"/>
          </p:cNvSpPr>
          <p:nvPr/>
        </p:nvSpPr>
        <p:spPr bwMode="auto">
          <a:xfrm>
            <a:off x="457200" y="5280003"/>
            <a:ext cx="8001000" cy="304800"/>
          </a:xfrm>
          <a:prstGeom prst="rect">
            <a:avLst/>
          </a:prstGeom>
          <a:solidFill>
            <a:srgbClr val="F6BF69"/>
          </a:solidFill>
          <a:ln w="9525">
            <a:noFill/>
            <a:miter lim="800000"/>
            <a:headEnd/>
            <a:tailEnd/>
          </a:ln>
          <a:effectLst/>
        </p:spPr>
        <p:txBody>
          <a:bodyPr wrap="none" lIns="21431" tIns="30362" rIns="21431" bIns="30362"/>
          <a:lstStyle/>
          <a:p>
            <a:pPr eaLnBrk="1" hangingPunct="1"/>
            <a:endParaRPr lang="zh-CN" altLang="en-US"/>
          </a:p>
        </p:txBody>
      </p:sp>
      <p:sp>
        <p:nvSpPr>
          <p:cNvPr id="7" name="Text Box 6"/>
          <p:cNvSpPr txBox="1">
            <a:spLocks noChangeArrowheads="1"/>
          </p:cNvSpPr>
          <p:nvPr/>
        </p:nvSpPr>
        <p:spPr bwMode="auto">
          <a:xfrm>
            <a:off x="323850" y="3773466"/>
            <a:ext cx="8321675" cy="2047875"/>
          </a:xfrm>
          <a:prstGeom prst="rect">
            <a:avLst/>
          </a:prstGeom>
          <a:noFill/>
          <a:ln w="38100">
            <a:noFill/>
            <a:miter lim="800000"/>
            <a:headEnd type="none" w="sm" len="sm"/>
            <a:tailEnd type="none" w="sm" len="sm"/>
          </a:ln>
          <a:effectLst/>
        </p:spPr>
        <p:txBody>
          <a:bodyPr anchor="ctr">
            <a:spAutoFit/>
          </a:bodyPr>
          <a:lstStyle/>
          <a:p>
            <a:r>
              <a:rPr lang="en-US" altLang="zh-CN" sz="1600" b="1">
                <a:latin typeface="Times New Roman" pitchFamily="18" charset="0"/>
              </a:rPr>
              <a:t>GAR3# </a:t>
            </a:r>
            <a:r>
              <a:rPr lang="en-US" altLang="zh-CN" sz="1600" b="1">
                <a:solidFill>
                  <a:srgbClr val="FF0000"/>
                </a:solidFill>
                <a:latin typeface="Times New Roman" pitchFamily="18" charset="0"/>
              </a:rPr>
              <a:t>sh ip route</a:t>
            </a:r>
          </a:p>
          <a:p>
            <a:r>
              <a:rPr lang="en-US" altLang="zh-CN" sz="1600" b="1">
                <a:latin typeface="Times New Roman" pitchFamily="18" charset="0"/>
              </a:rPr>
              <a:t>IPv4 Routing Table:</a:t>
            </a:r>
          </a:p>
          <a:p>
            <a:r>
              <a:rPr lang="en-US" altLang="zh-CN" sz="1600" b="1">
                <a:latin typeface="Times New Roman" pitchFamily="18" charset="0"/>
              </a:rPr>
              <a:t>Dest             Mask                        Gw		Interface	Owner   pri metric</a:t>
            </a:r>
          </a:p>
          <a:p>
            <a:r>
              <a:rPr lang="en-US" altLang="zh-CN" sz="1600" b="1">
                <a:latin typeface="Times New Roman" pitchFamily="18" charset="0"/>
              </a:rPr>
              <a:t>40.1.1.4        255.255.255.252 	40.1.1.5 		fei_1/1       direct     0     0</a:t>
            </a:r>
          </a:p>
          <a:p>
            <a:r>
              <a:rPr lang="en-US" altLang="zh-CN" sz="1600" b="1">
                <a:latin typeface="Times New Roman" pitchFamily="18" charset="0"/>
              </a:rPr>
              <a:t>40.1.1.5        255.255.255.255 	40.1.1.5 		fei_1/1       address  0     0</a:t>
            </a:r>
          </a:p>
          <a:p>
            <a:r>
              <a:rPr lang="en-US" altLang="zh-CN" sz="1600" b="1">
                <a:latin typeface="Times New Roman" pitchFamily="18" charset="0"/>
              </a:rPr>
              <a:t>192.168.2.0     255.255.255.0   	192.168.2.1 	</a:t>
            </a:r>
            <a:r>
              <a:rPr lang="en-US" altLang="zh-CN" b="1"/>
              <a:t>fei_0/1      </a:t>
            </a:r>
            <a:r>
              <a:rPr lang="en-US" altLang="zh-CN" sz="1600" b="1">
                <a:latin typeface="Times New Roman" pitchFamily="18" charset="0"/>
              </a:rPr>
              <a:t> direct      0    0</a:t>
            </a:r>
          </a:p>
          <a:p>
            <a:r>
              <a:rPr lang="en-US" altLang="zh-CN" sz="1600" b="1">
                <a:latin typeface="Times New Roman" pitchFamily="18" charset="0"/>
              </a:rPr>
              <a:t>192.168.2.1     255.255.255.255 	192.168.2.1 	</a:t>
            </a:r>
            <a:r>
              <a:rPr lang="en-US" altLang="zh-CN" b="1"/>
              <a:t>fei_0/1</a:t>
            </a:r>
            <a:r>
              <a:rPr lang="en-US" altLang="zh-CN"/>
              <a:t>       </a:t>
            </a:r>
            <a:r>
              <a:rPr lang="en-US" altLang="zh-CN" sz="1600" b="1">
                <a:latin typeface="Times New Roman" pitchFamily="18" charset="0"/>
              </a:rPr>
              <a:t>address   0    0</a:t>
            </a:r>
          </a:p>
          <a:p>
            <a:r>
              <a:rPr lang="en-US" altLang="zh-CN" sz="1600" b="1">
                <a:latin typeface="Times New Roman" pitchFamily="18" charset="0"/>
              </a:rPr>
              <a:t>192.168.1.0     255.255.255.0   	40.1.1.6       	fei_1/1       rip          120 1</a:t>
            </a:r>
          </a:p>
        </p:txBody>
      </p:sp>
      <p:sp>
        <p:nvSpPr>
          <p:cNvPr id="8" name="Line 7"/>
          <p:cNvSpPr>
            <a:spLocks noChangeShapeType="1"/>
          </p:cNvSpPr>
          <p:nvPr/>
        </p:nvSpPr>
        <p:spPr bwMode="auto">
          <a:xfrm flipH="1" flipV="1">
            <a:off x="1012800" y="2595541"/>
            <a:ext cx="6400800" cy="0"/>
          </a:xfrm>
          <a:prstGeom prst="line">
            <a:avLst/>
          </a:prstGeom>
          <a:noFill/>
          <a:ln w="50800">
            <a:solidFill>
              <a:schemeClr val="accent2"/>
            </a:solidFill>
            <a:round/>
            <a:headEnd type="none" w="sm" len="sm"/>
            <a:tailEnd type="none" w="sm" len="sm"/>
          </a:ln>
          <a:effectLst>
            <a:outerShdw dist="35921" dir="2700000" algn="ctr" rotWithShape="0">
              <a:schemeClr val="bg2"/>
            </a:outerShdw>
          </a:effectLst>
        </p:spPr>
        <p:txBody>
          <a:bodyPr anchor="ctr">
            <a:spAutoFit/>
          </a:bodyPr>
          <a:lstStyle/>
          <a:p>
            <a:endParaRPr lang="zh-CN" altLang="en-US"/>
          </a:p>
        </p:txBody>
      </p:sp>
      <p:sp>
        <p:nvSpPr>
          <p:cNvPr id="9" name="Line 8"/>
          <p:cNvSpPr>
            <a:spLocks noChangeShapeType="1"/>
          </p:cNvSpPr>
          <p:nvPr/>
        </p:nvSpPr>
        <p:spPr bwMode="auto">
          <a:xfrm>
            <a:off x="2003400" y="2824141"/>
            <a:ext cx="0" cy="552450"/>
          </a:xfrm>
          <a:prstGeom prst="line">
            <a:avLst/>
          </a:prstGeom>
          <a:noFill/>
          <a:ln w="38100">
            <a:solidFill>
              <a:schemeClr val="tx1"/>
            </a:solidFill>
            <a:round/>
            <a:headEnd/>
            <a:tailEnd type="triangle" w="med" len="med"/>
          </a:ln>
          <a:effectLst/>
        </p:spPr>
        <p:txBody>
          <a:bodyPr anchor="ctr">
            <a:spAutoFit/>
          </a:bodyPr>
          <a:lstStyle/>
          <a:p>
            <a:endParaRPr lang="zh-CN" altLang="en-US"/>
          </a:p>
        </p:txBody>
      </p:sp>
      <p:sp>
        <p:nvSpPr>
          <p:cNvPr id="10" name="Rectangle 10"/>
          <p:cNvSpPr>
            <a:spLocks noChangeArrowheads="1"/>
          </p:cNvSpPr>
          <p:nvPr/>
        </p:nvSpPr>
        <p:spPr bwMode="auto">
          <a:xfrm>
            <a:off x="5051400" y="2262166"/>
            <a:ext cx="933450" cy="288925"/>
          </a:xfrm>
          <a:prstGeom prst="rect">
            <a:avLst/>
          </a:prstGeom>
          <a:noFill/>
          <a:ln w="9525">
            <a:noFill/>
            <a:miter lim="800000"/>
            <a:headEnd/>
            <a:tailEnd/>
          </a:ln>
          <a:effectLst/>
        </p:spPr>
        <p:txBody>
          <a:bodyPr lIns="21431" tIns="30362" rIns="21431" bIns="30362">
            <a:spAutoFit/>
          </a:bodyPr>
          <a:lstStyle/>
          <a:p>
            <a:pPr defTabSz="1028700">
              <a:lnSpc>
                <a:spcPts val="1800"/>
              </a:lnSpc>
              <a:tabLst>
                <a:tab pos="514350" algn="l"/>
                <a:tab pos="1028700" algn="l"/>
                <a:tab pos="1543050" algn="l"/>
              </a:tabLst>
            </a:pPr>
            <a:r>
              <a:rPr lang="en-US" altLang="zh-CN" sz="1600" b="1">
                <a:solidFill>
                  <a:srgbClr val="000000"/>
                </a:solidFill>
                <a:latin typeface="Helvetica" pitchFamily="34" charset="0"/>
              </a:rPr>
              <a:t>Fei_1/0</a:t>
            </a:r>
          </a:p>
        </p:txBody>
      </p:sp>
      <p:sp>
        <p:nvSpPr>
          <p:cNvPr id="11" name="Line 11"/>
          <p:cNvSpPr>
            <a:spLocks noChangeShapeType="1"/>
          </p:cNvSpPr>
          <p:nvPr/>
        </p:nvSpPr>
        <p:spPr bwMode="auto">
          <a:xfrm>
            <a:off x="1000100" y="2066903"/>
            <a:ext cx="0" cy="1092200"/>
          </a:xfrm>
          <a:prstGeom prst="line">
            <a:avLst/>
          </a:prstGeom>
          <a:noFill/>
          <a:ln w="50800">
            <a:solidFill>
              <a:schemeClr val="accent2"/>
            </a:solidFill>
            <a:round/>
            <a:headEnd type="none" w="sm" len="sm"/>
            <a:tailEnd type="none" w="sm" len="sm"/>
          </a:ln>
          <a:effectLst>
            <a:outerShdw dist="35921" dir="2700000" algn="ctr" rotWithShape="0">
              <a:schemeClr val="bg2"/>
            </a:outerShdw>
          </a:effectLst>
        </p:spPr>
        <p:txBody>
          <a:bodyPr anchor="ctr">
            <a:spAutoFit/>
          </a:bodyPr>
          <a:lstStyle/>
          <a:p>
            <a:endParaRPr lang="zh-CN" altLang="en-US"/>
          </a:p>
        </p:txBody>
      </p:sp>
      <p:sp>
        <p:nvSpPr>
          <p:cNvPr id="12" name="Line 12"/>
          <p:cNvSpPr>
            <a:spLocks noChangeShapeType="1"/>
          </p:cNvSpPr>
          <p:nvPr/>
        </p:nvSpPr>
        <p:spPr bwMode="auto">
          <a:xfrm>
            <a:off x="7454875" y="1963716"/>
            <a:ext cx="0" cy="1219200"/>
          </a:xfrm>
          <a:prstGeom prst="line">
            <a:avLst/>
          </a:prstGeom>
          <a:noFill/>
          <a:ln w="50800">
            <a:solidFill>
              <a:schemeClr val="accent2"/>
            </a:solidFill>
            <a:round/>
            <a:headEnd type="none" w="sm" len="sm"/>
            <a:tailEnd type="none" w="sm" len="sm"/>
          </a:ln>
          <a:effectLst>
            <a:outerShdw dist="35921" dir="2700000" algn="ctr" rotWithShape="0">
              <a:schemeClr val="bg2"/>
            </a:outerShdw>
          </a:effectLst>
        </p:spPr>
        <p:txBody>
          <a:bodyPr anchor="ctr">
            <a:spAutoFit/>
          </a:bodyPr>
          <a:lstStyle/>
          <a:p>
            <a:endParaRPr lang="zh-CN" altLang="en-US"/>
          </a:p>
        </p:txBody>
      </p:sp>
      <p:sp>
        <p:nvSpPr>
          <p:cNvPr id="13" name="Rectangle 13"/>
          <p:cNvSpPr>
            <a:spLocks noChangeArrowheads="1"/>
          </p:cNvSpPr>
          <p:nvPr/>
        </p:nvSpPr>
        <p:spPr bwMode="auto">
          <a:xfrm>
            <a:off x="2163738" y="2793978"/>
            <a:ext cx="1071562" cy="288925"/>
          </a:xfrm>
          <a:prstGeom prst="rect">
            <a:avLst/>
          </a:prstGeom>
          <a:noFill/>
          <a:ln w="9525">
            <a:noFill/>
            <a:miter lim="800000"/>
            <a:headEnd/>
            <a:tailEnd/>
          </a:ln>
          <a:effectLst/>
        </p:spPr>
        <p:txBody>
          <a:bodyPr lIns="21431" tIns="30362" rIns="21431" bIns="30362">
            <a:spAutoFit/>
          </a:bodyPr>
          <a:lstStyle/>
          <a:p>
            <a:pPr defTabSz="1028700">
              <a:lnSpc>
                <a:spcPts val="1800"/>
              </a:lnSpc>
              <a:tabLst>
                <a:tab pos="514350" algn="l"/>
                <a:tab pos="1028700" algn="l"/>
                <a:tab pos="1543050" algn="l"/>
              </a:tabLst>
            </a:pPr>
            <a:r>
              <a:rPr lang="en-US" altLang="zh-CN" sz="1600" b="1">
                <a:solidFill>
                  <a:srgbClr val="000000"/>
                </a:solidFill>
                <a:latin typeface="Helvetica" pitchFamily="34" charset="0"/>
              </a:rPr>
              <a:t>40.1.1.5/30</a:t>
            </a:r>
          </a:p>
        </p:txBody>
      </p:sp>
      <p:sp>
        <p:nvSpPr>
          <p:cNvPr id="14" name="Rectangle 16"/>
          <p:cNvSpPr>
            <a:spLocks noChangeArrowheads="1"/>
          </p:cNvSpPr>
          <p:nvPr/>
        </p:nvSpPr>
        <p:spPr bwMode="auto">
          <a:xfrm>
            <a:off x="5311750" y="2838428"/>
            <a:ext cx="1074738" cy="288925"/>
          </a:xfrm>
          <a:prstGeom prst="rect">
            <a:avLst/>
          </a:prstGeom>
          <a:noFill/>
          <a:ln w="9525">
            <a:noFill/>
            <a:miter lim="800000"/>
            <a:headEnd/>
            <a:tailEnd/>
          </a:ln>
          <a:effectLst/>
        </p:spPr>
        <p:txBody>
          <a:bodyPr lIns="21431" tIns="30362" rIns="21431" bIns="30362">
            <a:spAutoFit/>
          </a:bodyPr>
          <a:lstStyle/>
          <a:p>
            <a:pPr defTabSz="1028700">
              <a:lnSpc>
                <a:spcPts val="1800"/>
              </a:lnSpc>
              <a:tabLst>
                <a:tab pos="514350" algn="l"/>
                <a:tab pos="1028700" algn="l"/>
                <a:tab pos="1543050" algn="l"/>
              </a:tabLst>
            </a:pPr>
            <a:r>
              <a:rPr lang="en-US" altLang="zh-CN" sz="1600" b="1">
                <a:solidFill>
                  <a:srgbClr val="000000"/>
                </a:solidFill>
                <a:latin typeface="Helvetica" pitchFamily="34" charset="0"/>
              </a:rPr>
              <a:t>40.1.1.6/30</a:t>
            </a:r>
          </a:p>
        </p:txBody>
      </p:sp>
      <p:sp>
        <p:nvSpPr>
          <p:cNvPr id="15" name="Rectangle 19"/>
          <p:cNvSpPr>
            <a:spLocks noChangeArrowheads="1"/>
          </p:cNvSpPr>
          <p:nvPr/>
        </p:nvSpPr>
        <p:spPr bwMode="auto">
          <a:xfrm>
            <a:off x="7489800" y="2519341"/>
            <a:ext cx="1143000" cy="517525"/>
          </a:xfrm>
          <a:prstGeom prst="rect">
            <a:avLst/>
          </a:prstGeom>
          <a:noFill/>
          <a:ln w="9525">
            <a:noFill/>
            <a:miter lim="800000"/>
            <a:headEnd/>
            <a:tailEnd/>
          </a:ln>
          <a:effectLst/>
        </p:spPr>
        <p:txBody>
          <a:bodyPr lIns="21431" tIns="30362" rIns="21431" bIns="30362">
            <a:spAutoFit/>
          </a:bodyPr>
          <a:lstStyle/>
          <a:p>
            <a:pPr algn="ctr" defTabSz="1028700">
              <a:lnSpc>
                <a:spcPts val="1800"/>
              </a:lnSpc>
              <a:tabLst>
                <a:tab pos="514350" algn="l"/>
                <a:tab pos="1028700" algn="l"/>
                <a:tab pos="1543050" algn="l"/>
              </a:tabLst>
            </a:pPr>
            <a:r>
              <a:rPr lang="en-US" altLang="zh-CN" sz="1600" b="1">
                <a:solidFill>
                  <a:srgbClr val="000000"/>
                </a:solidFill>
                <a:latin typeface="Helvetica" pitchFamily="34" charset="0"/>
              </a:rPr>
              <a:t>192.168.1.1/24 </a:t>
            </a:r>
          </a:p>
        </p:txBody>
      </p:sp>
      <p:sp>
        <p:nvSpPr>
          <p:cNvPr id="16" name="Rectangle 20"/>
          <p:cNvSpPr>
            <a:spLocks noChangeArrowheads="1"/>
          </p:cNvSpPr>
          <p:nvPr/>
        </p:nvSpPr>
        <p:spPr bwMode="auto">
          <a:xfrm>
            <a:off x="2460600" y="2214541"/>
            <a:ext cx="933450" cy="288925"/>
          </a:xfrm>
          <a:prstGeom prst="rect">
            <a:avLst/>
          </a:prstGeom>
          <a:noFill/>
          <a:ln w="9525">
            <a:noFill/>
            <a:miter lim="800000"/>
            <a:headEnd/>
            <a:tailEnd/>
          </a:ln>
          <a:effectLst/>
        </p:spPr>
        <p:txBody>
          <a:bodyPr lIns="21431" tIns="30362" rIns="21431" bIns="30362">
            <a:spAutoFit/>
          </a:bodyPr>
          <a:lstStyle/>
          <a:p>
            <a:pPr defTabSz="1028700">
              <a:lnSpc>
                <a:spcPts val="1800"/>
              </a:lnSpc>
              <a:tabLst>
                <a:tab pos="514350" algn="l"/>
                <a:tab pos="1028700" algn="l"/>
                <a:tab pos="1543050" algn="l"/>
              </a:tabLst>
            </a:pPr>
            <a:r>
              <a:rPr lang="en-US" altLang="zh-CN" sz="1600" b="1">
                <a:solidFill>
                  <a:srgbClr val="000000"/>
                </a:solidFill>
                <a:latin typeface="Helvetica" pitchFamily="34" charset="0"/>
              </a:rPr>
              <a:t>Fei_1/1</a:t>
            </a:r>
          </a:p>
        </p:txBody>
      </p:sp>
      <p:pic>
        <p:nvPicPr>
          <p:cNvPr id="17" name="Picture 23" descr="GER---"/>
          <p:cNvPicPr>
            <a:picLocks noChangeAspect="1" noChangeArrowheads="1"/>
          </p:cNvPicPr>
          <p:nvPr/>
        </p:nvPicPr>
        <p:blipFill>
          <a:blip r:embed="rId3"/>
          <a:srcRect/>
          <a:stretch>
            <a:fillRect/>
          </a:stretch>
        </p:blipFill>
        <p:spPr bwMode="auto">
          <a:xfrm>
            <a:off x="1650975" y="2312966"/>
            <a:ext cx="790575" cy="527050"/>
          </a:xfrm>
          <a:prstGeom prst="rect">
            <a:avLst/>
          </a:prstGeom>
          <a:noFill/>
          <a:ln w="9525">
            <a:noFill/>
            <a:miter lim="800000"/>
            <a:headEnd/>
            <a:tailEnd/>
          </a:ln>
        </p:spPr>
      </p:pic>
      <p:pic>
        <p:nvPicPr>
          <p:cNvPr id="18" name="Picture 24" descr="GER---"/>
          <p:cNvPicPr>
            <a:picLocks noChangeAspect="1" noChangeArrowheads="1"/>
          </p:cNvPicPr>
          <p:nvPr/>
        </p:nvPicPr>
        <p:blipFill>
          <a:blip r:embed="rId3"/>
          <a:srcRect/>
          <a:stretch>
            <a:fillRect/>
          </a:stretch>
        </p:blipFill>
        <p:spPr bwMode="auto">
          <a:xfrm>
            <a:off x="5899125" y="2362178"/>
            <a:ext cx="790575" cy="527050"/>
          </a:xfrm>
          <a:prstGeom prst="rect">
            <a:avLst/>
          </a:prstGeom>
          <a:noFill/>
          <a:ln w="9525">
            <a:noFill/>
            <a:miter lim="800000"/>
            <a:headEnd/>
            <a:tailEnd/>
          </a:ln>
        </p:spPr>
      </p:pic>
      <p:sp>
        <p:nvSpPr>
          <p:cNvPr id="19" name="Rectangle 17"/>
          <p:cNvSpPr>
            <a:spLocks noChangeArrowheads="1"/>
          </p:cNvSpPr>
          <p:nvPr/>
        </p:nvSpPr>
        <p:spPr bwMode="auto">
          <a:xfrm>
            <a:off x="1562075" y="2595541"/>
            <a:ext cx="998538" cy="288925"/>
          </a:xfrm>
          <a:prstGeom prst="rect">
            <a:avLst/>
          </a:prstGeom>
          <a:noFill/>
          <a:ln w="9525">
            <a:noFill/>
            <a:miter lim="800000"/>
            <a:headEnd/>
            <a:tailEnd/>
          </a:ln>
          <a:effectLst/>
        </p:spPr>
        <p:txBody>
          <a:bodyPr lIns="21431" tIns="30362" rIns="21431" bIns="30362">
            <a:spAutoFit/>
          </a:bodyPr>
          <a:lstStyle/>
          <a:p>
            <a:pPr algn="ctr" defTabSz="1028700">
              <a:lnSpc>
                <a:spcPts val="1800"/>
              </a:lnSpc>
              <a:tabLst>
                <a:tab pos="514350" algn="l"/>
                <a:tab pos="1028700" algn="l"/>
                <a:tab pos="1543050" algn="l"/>
              </a:tabLst>
            </a:pPr>
            <a:r>
              <a:rPr lang="en-US" altLang="zh-CN" sz="1600" b="1">
                <a:solidFill>
                  <a:schemeClr val="bg1"/>
                </a:solidFill>
                <a:latin typeface="Helvetica" pitchFamily="34" charset="0"/>
              </a:rPr>
              <a:t>A</a:t>
            </a:r>
          </a:p>
        </p:txBody>
      </p:sp>
      <p:sp>
        <p:nvSpPr>
          <p:cNvPr id="20" name="Rectangle 18"/>
          <p:cNvSpPr>
            <a:spLocks noChangeArrowheads="1"/>
          </p:cNvSpPr>
          <p:nvPr/>
        </p:nvSpPr>
        <p:spPr bwMode="auto">
          <a:xfrm>
            <a:off x="5746725" y="2638403"/>
            <a:ext cx="998538" cy="288925"/>
          </a:xfrm>
          <a:prstGeom prst="rect">
            <a:avLst/>
          </a:prstGeom>
          <a:noFill/>
          <a:ln w="9525">
            <a:noFill/>
            <a:miter lim="800000"/>
            <a:headEnd/>
            <a:tailEnd/>
          </a:ln>
          <a:effectLst/>
        </p:spPr>
        <p:txBody>
          <a:bodyPr lIns="21431" tIns="30362" rIns="21431" bIns="30362">
            <a:spAutoFit/>
          </a:bodyPr>
          <a:lstStyle/>
          <a:p>
            <a:pPr algn="ctr" defTabSz="1028700">
              <a:lnSpc>
                <a:spcPts val="1800"/>
              </a:lnSpc>
              <a:tabLst>
                <a:tab pos="514350" algn="l"/>
                <a:tab pos="1028700" algn="l"/>
                <a:tab pos="1543050" algn="l"/>
              </a:tabLst>
            </a:pPr>
            <a:r>
              <a:rPr lang="en-US" altLang="zh-CN" sz="1600" b="1">
                <a:solidFill>
                  <a:schemeClr val="bg1"/>
                </a:solidFill>
                <a:latin typeface="Helvetica" pitchFamily="34" charset="0"/>
              </a:rPr>
              <a:t>C</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ChangeArrowheads="1"/>
          </p:cNvSpPr>
          <p:nvPr/>
        </p:nvSpPr>
        <p:spPr bwMode="auto">
          <a:xfrm>
            <a:off x="1339850" y="3644900"/>
            <a:ext cx="6400800" cy="622300"/>
          </a:xfrm>
          <a:prstGeom prst="rect">
            <a:avLst/>
          </a:prstGeom>
          <a:noFill/>
          <a:ln w="9525">
            <a:noFill/>
            <a:miter lim="800000"/>
            <a:headEnd/>
            <a:tailEnd/>
          </a:ln>
        </p:spPr>
        <p:txBody>
          <a:bodyPr/>
          <a:lstStyle/>
          <a:p>
            <a:pPr marL="342900" indent="-342900" eaLnBrk="1" hangingPunct="1">
              <a:spcBef>
                <a:spcPct val="20000"/>
              </a:spcBef>
              <a:buClr>
                <a:schemeClr val="bg2"/>
              </a:buClr>
              <a:buSzPct val="75000"/>
              <a:buFont typeface="Wingdings" pitchFamily="2" charset="2"/>
              <a:buNone/>
            </a:pPr>
            <a:endParaRPr lang="zh-CN" altLang="zh-CN" sz="3600">
              <a:solidFill>
                <a:srgbClr val="800000"/>
              </a:solidFill>
              <a:latin typeface="黑体" pitchFamily="49" charset="-122"/>
              <a:ea typeface="黑体" pitchFamily="49" charset="-122"/>
            </a:endParaRPr>
          </a:p>
        </p:txBody>
      </p:sp>
      <p:sp>
        <p:nvSpPr>
          <p:cNvPr id="4099" name="Rectangle 6"/>
          <p:cNvSpPr>
            <a:spLocks noChangeArrowheads="1"/>
          </p:cNvSpPr>
          <p:nvPr/>
        </p:nvSpPr>
        <p:spPr bwMode="auto">
          <a:xfrm>
            <a:off x="1639888" y="6237288"/>
            <a:ext cx="57150" cy="396875"/>
          </a:xfrm>
          <a:prstGeom prst="rect">
            <a:avLst/>
          </a:prstGeom>
          <a:noFill/>
          <a:ln w="12700">
            <a:noFill/>
            <a:miter lim="800000"/>
            <a:headEnd/>
            <a:tailEnd/>
          </a:ln>
          <a:effectLst>
            <a:outerShdw dist="17961" dir="2700000" algn="ctr" rotWithShape="0">
              <a:schemeClr val="tx1"/>
            </a:outerShdw>
          </a:effectLst>
        </p:spPr>
        <p:txBody>
          <a:bodyPr wrap="none" lIns="28575" tIns="15875" rIns="28575" bIns="15875">
            <a:spAutoFit/>
          </a:bodyPr>
          <a:lstStyle/>
          <a:p>
            <a:pPr defTabSz="84138">
              <a:defRPr/>
            </a:pPr>
            <a:endParaRPr lang="zh-CN" altLang="zh-CN" sz="2400" b="1">
              <a:ea typeface="宋体" charset="-122"/>
            </a:endParaRPr>
          </a:p>
        </p:txBody>
      </p:sp>
      <p:sp>
        <p:nvSpPr>
          <p:cNvPr id="3076" name="WordArt 10"/>
          <p:cNvSpPr>
            <a:spLocks noChangeArrowheads="1" noChangeShapeType="1" noTextEdit="1"/>
          </p:cNvSpPr>
          <p:nvPr/>
        </p:nvSpPr>
        <p:spPr bwMode="auto">
          <a:xfrm>
            <a:off x="6877050" y="188913"/>
            <a:ext cx="1971675" cy="287337"/>
          </a:xfrm>
          <a:prstGeom prst="rect">
            <a:avLst/>
          </a:prstGeom>
        </p:spPr>
        <p:txBody>
          <a:bodyPr wrap="none" fromWordArt="1">
            <a:prstTxWarp prst="textPlain">
              <a:avLst>
                <a:gd name="adj" fmla="val 50000"/>
              </a:avLst>
            </a:prstTxWarp>
          </a:bodyPr>
          <a:lstStyle/>
          <a:p>
            <a:pPr algn="ctr"/>
            <a:r>
              <a:rPr lang="zh-CN" altLang="en-US" sz="3600" kern="10">
                <a:ln w="19050">
                  <a:solidFill>
                    <a:srgbClr val="99CCFF"/>
                  </a:solidFill>
                  <a:round/>
                  <a:headEnd/>
                  <a:tailEnd/>
                </a:ln>
                <a:solidFill>
                  <a:srgbClr val="0066CC"/>
                </a:solidFill>
                <a:effectLst>
                  <a:outerShdw dist="35921" dir="2700000" algn="ctr" rotWithShape="0">
                    <a:srgbClr val="990000"/>
                  </a:outerShdw>
                </a:effectLst>
                <a:latin typeface="宋体"/>
                <a:ea typeface="宋体"/>
              </a:rPr>
              <a:t>计算机网络实验室</a:t>
            </a:r>
          </a:p>
        </p:txBody>
      </p:sp>
      <p:sp>
        <p:nvSpPr>
          <p:cNvPr id="3077" name="Rectangle 11"/>
          <p:cNvSpPr>
            <a:spLocks noGrp="1" noChangeArrowheads="1"/>
          </p:cNvSpPr>
          <p:nvPr>
            <p:ph type="title" idx="4294967295"/>
          </p:nvPr>
        </p:nvSpPr>
        <p:spPr>
          <a:xfrm>
            <a:off x="428596" y="2643182"/>
            <a:ext cx="8477250" cy="1146180"/>
          </a:xfrm>
          <a:noFill/>
        </p:spPr>
        <p:txBody>
          <a:bodyPr/>
          <a:lstStyle/>
          <a:p>
            <a:pPr algn="ctr" eaLnBrk="1" hangingPunct="1"/>
            <a:r>
              <a:rPr lang="en-US" altLang="zh-CN" dirty="0" smtClean="0">
                <a:effectLst>
                  <a:outerShdw blurRad="38100" dist="38100" dir="2700000" algn="tl">
                    <a:srgbClr val="000000">
                      <a:alpha val="43137"/>
                    </a:srgbClr>
                  </a:outerShdw>
                </a:effectLst>
              </a:rPr>
              <a:t>OSPF</a:t>
            </a:r>
            <a:r>
              <a:rPr lang="zh-CN" altLang="en-US" dirty="0" smtClean="0">
                <a:effectLst>
                  <a:outerShdw blurRad="38100" dist="38100" dir="2700000" algn="tl">
                    <a:srgbClr val="000000">
                      <a:alpha val="43137"/>
                    </a:srgbClr>
                  </a:outerShdw>
                </a:effectLst>
              </a:rPr>
              <a:t>路由协议</a:t>
            </a:r>
            <a:endParaRPr lang="en-US" altLang="zh-CN" dirty="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body" idx="4294967295"/>
          </p:nvPr>
        </p:nvSpPr>
        <p:spPr>
          <a:xfrm>
            <a:off x="684213" y="1268413"/>
            <a:ext cx="8001000" cy="4114800"/>
          </a:xfrm>
        </p:spPr>
        <p:txBody>
          <a:bodyPr/>
          <a:lstStyle/>
          <a:p>
            <a:pPr marL="260350" indent="-254000" defTabSz="812800" eaLnBrk="1" hangingPunct="1">
              <a:defRPr/>
            </a:pPr>
            <a:r>
              <a:rPr lang="en-US" altLang="zh-CN" dirty="0" smtClean="0"/>
              <a:t>OSPF</a:t>
            </a:r>
            <a:r>
              <a:rPr lang="zh-CN" altLang="en-US" b="0" dirty="0" smtClean="0">
                <a:latin typeface="Verdana" panose="020B0604030504040204" pitchFamily="34" charset="0"/>
                <a:ea typeface="黑体" panose="02010609060101010101" pitchFamily="49" charset="-122"/>
              </a:rPr>
              <a:t>是一种链路状态路由协议</a:t>
            </a:r>
            <a:endParaRPr lang="en-US" altLang="zh-CN" b="0" dirty="0" smtClean="0">
              <a:latin typeface="Verdana" panose="020B0604030504040204" pitchFamily="34" charset="0"/>
              <a:ea typeface="黑体" panose="02010609060101010101" pitchFamily="49" charset="-122"/>
            </a:endParaRPr>
          </a:p>
          <a:p>
            <a:pPr marL="260350" indent="-254000" defTabSz="812800" eaLnBrk="1" hangingPunct="1">
              <a:defRPr/>
            </a:pPr>
            <a:r>
              <a:rPr lang="zh-CN" altLang="en-US" dirty="0" smtClean="0"/>
              <a:t>对网络发生的变化能够快速响应</a:t>
            </a:r>
            <a:endParaRPr lang="en-US" altLang="zh-CN" dirty="0" smtClean="0"/>
          </a:p>
          <a:p>
            <a:pPr marL="260350" indent="-254000" defTabSz="812800" eaLnBrk="1" hangingPunct="1">
              <a:defRPr/>
            </a:pPr>
            <a:r>
              <a:rPr lang="zh-CN" altLang="en-US" dirty="0" smtClean="0"/>
              <a:t>当网络发生变化的时候发送触发式更新    </a:t>
            </a:r>
            <a:r>
              <a:rPr lang="en-US" altLang="zh-CN" dirty="0" smtClean="0"/>
              <a:t>(triggered update)</a:t>
            </a:r>
          </a:p>
          <a:p>
            <a:pPr marL="260350" indent="-254000" defTabSz="812800" eaLnBrk="1" hangingPunct="1">
              <a:defRPr/>
            </a:pPr>
            <a:r>
              <a:rPr lang="zh-CN" altLang="en-US" dirty="0" smtClean="0"/>
              <a:t>支持</a:t>
            </a:r>
            <a:r>
              <a:rPr lang="en-US" altLang="zh-CN" dirty="0" smtClean="0"/>
              <a:t>VLSM</a:t>
            </a:r>
          </a:p>
          <a:p>
            <a:pPr marL="260350" indent="-254000" defTabSz="812800" eaLnBrk="1" hangingPunct="1">
              <a:defRPr/>
            </a:pPr>
            <a:r>
              <a:rPr lang="zh-CN" altLang="en-US" dirty="0" smtClean="0"/>
              <a:t>方便管理</a:t>
            </a:r>
          </a:p>
          <a:p>
            <a:pPr marL="260350" indent="-254000" defTabSz="812800" eaLnBrk="1" hangingPunct="1">
              <a:defRPr/>
            </a:pPr>
            <a:endParaRPr lang="en-US" altLang="zh-CN" dirty="0" smtClean="0"/>
          </a:p>
          <a:p>
            <a:pPr marL="260350" indent="-254000" defTabSz="812800" eaLnBrk="1" hangingPunct="1">
              <a:defRPr/>
            </a:pPr>
            <a:endParaRPr lang="en-US" altLang="zh-CN" dirty="0" smtClean="0">
              <a:solidFill>
                <a:schemeClr val="bg2">
                  <a:lumMod val="60000"/>
                  <a:lumOff val="40000"/>
                </a:schemeClr>
              </a:solidFill>
            </a:endParaRPr>
          </a:p>
          <a:p>
            <a:pPr marL="660400" lvl="1" indent="-254000" defTabSz="812800" eaLnBrk="1" hangingPunct="1">
              <a:buFont typeface="Wingdings" pitchFamily="2" charset="2"/>
              <a:buNone/>
              <a:defRPr/>
            </a:pPr>
            <a:endParaRPr lang="en-US" altLang="zh-CN" dirty="0" smtClean="0"/>
          </a:p>
        </p:txBody>
      </p:sp>
      <p:sp>
        <p:nvSpPr>
          <p:cNvPr id="18435" name="Rectangle 3"/>
          <p:cNvSpPr>
            <a:spLocks noGrp="1" noChangeArrowheads="1"/>
          </p:cNvSpPr>
          <p:nvPr>
            <p:ph type="title" idx="4294967295"/>
          </p:nvPr>
        </p:nvSpPr>
        <p:spPr/>
        <p:txBody>
          <a:bodyPr/>
          <a:lstStyle/>
          <a:p>
            <a:pPr eaLnBrk="1" hangingPunct="1"/>
            <a:r>
              <a:rPr lang="en-US" altLang="zh-CN" dirty="0" smtClean="0">
                <a:latin typeface="Verdana" pitchFamily="34" charset="0"/>
                <a:ea typeface="黑体" pitchFamily="49" charset="-122"/>
              </a:rPr>
              <a:t>OSPF</a:t>
            </a:r>
            <a:r>
              <a:rPr lang="zh-CN" altLang="en-US" dirty="0" smtClean="0">
                <a:latin typeface="Verdana" pitchFamily="34" charset="0"/>
                <a:ea typeface="黑体" pitchFamily="49" charset="-122"/>
              </a:rPr>
              <a:t>路由协议</a:t>
            </a:r>
            <a:endParaRPr lang="en-US" altLang="zh-CN" dirty="0" smtClean="0">
              <a:latin typeface="宋体" pitchFamily="2"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body" idx="4294967295"/>
          </p:nvPr>
        </p:nvSpPr>
        <p:spPr>
          <a:xfrm>
            <a:off x="684213" y="1268413"/>
            <a:ext cx="8001000" cy="4114800"/>
          </a:xfrm>
        </p:spPr>
        <p:txBody>
          <a:bodyPr/>
          <a:lstStyle/>
          <a:p>
            <a:pPr lvl="1"/>
            <a:r>
              <a:rPr lang="zh-CN" altLang="en-GB" sz="3000" dirty="0" smtClean="0">
                <a:latin typeface="Verdana" pitchFamily="34" charset="0"/>
                <a:ea typeface="黑体" pitchFamily="49" charset="-122"/>
              </a:rPr>
              <a:t>邻居表</a:t>
            </a:r>
            <a:r>
              <a:rPr lang="en-GB" altLang="zh-CN" sz="3000" dirty="0" smtClean="0">
                <a:latin typeface="Verdana" pitchFamily="34" charset="0"/>
                <a:ea typeface="黑体" pitchFamily="49" charset="-122"/>
              </a:rPr>
              <a:t>: </a:t>
            </a:r>
            <a:r>
              <a:rPr lang="en-US" altLang="zh-CN" sz="3000" dirty="0" smtClean="0">
                <a:solidFill>
                  <a:srgbClr val="FF0000"/>
                </a:solidFill>
                <a:latin typeface="Verdana" pitchFamily="34" charset="0"/>
                <a:ea typeface="黑体" pitchFamily="49" charset="-122"/>
                <a:sym typeface="Wingdings" pitchFamily="2" charset="2"/>
              </a:rPr>
              <a:t></a:t>
            </a:r>
            <a:r>
              <a:rPr lang="en-US" altLang="zh-CN" sz="3000" dirty="0" smtClean="0">
                <a:latin typeface="Verdana" pitchFamily="34" charset="0"/>
                <a:ea typeface="黑体" pitchFamily="49" charset="-122"/>
                <a:sym typeface="Wingdings" pitchFamily="2" charset="2"/>
              </a:rPr>
              <a:t> </a:t>
            </a:r>
            <a:r>
              <a:rPr lang="zh-CN" altLang="en-US" sz="3000" dirty="0" smtClean="0">
                <a:latin typeface="Verdana" pitchFamily="34" charset="0"/>
                <a:ea typeface="黑体" pitchFamily="49" charset="-122"/>
                <a:sym typeface="Wingdings" pitchFamily="2" charset="2"/>
              </a:rPr>
              <a:t>邻接</a:t>
            </a:r>
            <a:endParaRPr lang="en-GB" altLang="zh-CN" sz="3000" dirty="0" smtClean="0">
              <a:latin typeface="Verdana" pitchFamily="34" charset="0"/>
              <a:ea typeface="黑体" pitchFamily="49" charset="-122"/>
            </a:endParaRPr>
          </a:p>
          <a:p>
            <a:pPr lvl="2"/>
            <a:r>
              <a:rPr lang="zh-CN" altLang="en-GB" dirty="0" smtClean="0">
                <a:latin typeface="Verdana" pitchFamily="34" charset="0"/>
                <a:ea typeface="黑体" pitchFamily="49" charset="-122"/>
              </a:rPr>
              <a:t>邻居路由器的信息</a:t>
            </a:r>
          </a:p>
          <a:p>
            <a:pPr lvl="1"/>
            <a:r>
              <a:rPr lang="zh-CN" altLang="en-GB" sz="3000" dirty="0" smtClean="0">
                <a:latin typeface="Verdana" pitchFamily="34" charset="0"/>
                <a:ea typeface="黑体" pitchFamily="49" charset="-122"/>
              </a:rPr>
              <a:t>拓扑表</a:t>
            </a:r>
            <a:r>
              <a:rPr lang="en-GB" altLang="zh-CN" sz="3000" dirty="0" smtClean="0">
                <a:latin typeface="Verdana" pitchFamily="34" charset="0"/>
                <a:ea typeface="黑体" pitchFamily="49" charset="-122"/>
              </a:rPr>
              <a:t>: </a:t>
            </a:r>
          </a:p>
          <a:p>
            <a:pPr lvl="2"/>
            <a:r>
              <a:rPr lang="zh-CN" altLang="en-GB" dirty="0" smtClean="0">
                <a:latin typeface="Verdana" pitchFamily="34" charset="0"/>
                <a:ea typeface="黑体" pitchFamily="49" charset="-122"/>
              </a:rPr>
              <a:t>也叫链路状态数据库</a:t>
            </a:r>
            <a:r>
              <a:rPr lang="en-US" altLang="zh-CN" dirty="0" smtClean="0">
                <a:latin typeface="Verdana" pitchFamily="34" charset="0"/>
                <a:ea typeface="黑体" pitchFamily="49" charset="-122"/>
              </a:rPr>
              <a:t>LSDB</a:t>
            </a:r>
            <a:endParaRPr lang="zh-CN" altLang="en-GB" dirty="0" smtClean="0">
              <a:latin typeface="Verdana" pitchFamily="34" charset="0"/>
              <a:ea typeface="黑体" pitchFamily="49" charset="-122"/>
            </a:endParaRPr>
          </a:p>
          <a:p>
            <a:pPr lvl="1"/>
            <a:r>
              <a:rPr lang="zh-CN" altLang="en-GB" sz="3000" dirty="0" smtClean="0">
                <a:latin typeface="Verdana" pitchFamily="34" charset="0"/>
                <a:ea typeface="黑体" pitchFamily="49" charset="-122"/>
              </a:rPr>
              <a:t>路由表</a:t>
            </a:r>
            <a:r>
              <a:rPr lang="en-GB" altLang="zh-CN" sz="3000" dirty="0" smtClean="0">
                <a:latin typeface="Verdana" pitchFamily="34" charset="0"/>
                <a:ea typeface="黑体" pitchFamily="49" charset="-122"/>
              </a:rPr>
              <a:t>:</a:t>
            </a:r>
          </a:p>
          <a:p>
            <a:pPr lvl="2"/>
            <a:r>
              <a:rPr lang="zh-CN" altLang="en-GB" dirty="0" smtClean="0">
                <a:latin typeface="Verdana" pitchFamily="34" charset="0"/>
                <a:ea typeface="黑体" pitchFamily="49" charset="-122"/>
              </a:rPr>
              <a:t>到达目标网络的最佳路径</a:t>
            </a:r>
            <a:endParaRPr lang="zh-CN" altLang="en-US" dirty="0" smtClean="0">
              <a:latin typeface="Verdana" pitchFamily="34" charset="0"/>
              <a:ea typeface="黑体" pitchFamily="49" charset="-122"/>
            </a:endParaRPr>
          </a:p>
          <a:p>
            <a:pPr marL="260350" indent="-254000" defTabSz="812800" eaLnBrk="1" hangingPunct="1">
              <a:defRPr/>
            </a:pPr>
            <a:endParaRPr lang="en-US" altLang="zh-CN" dirty="0" smtClean="0"/>
          </a:p>
          <a:p>
            <a:pPr marL="260350" indent="-254000" defTabSz="812800" eaLnBrk="1" hangingPunct="1">
              <a:defRPr/>
            </a:pPr>
            <a:endParaRPr lang="en-US" altLang="zh-CN" dirty="0" smtClean="0">
              <a:solidFill>
                <a:schemeClr val="bg2">
                  <a:lumMod val="60000"/>
                  <a:lumOff val="40000"/>
                </a:schemeClr>
              </a:solidFill>
            </a:endParaRPr>
          </a:p>
          <a:p>
            <a:pPr marL="660400" lvl="1" indent="-254000" defTabSz="812800" eaLnBrk="1" hangingPunct="1">
              <a:buFont typeface="Wingdings" pitchFamily="2" charset="2"/>
              <a:buNone/>
              <a:defRPr/>
            </a:pPr>
            <a:endParaRPr lang="en-US" altLang="zh-CN" dirty="0" smtClean="0"/>
          </a:p>
        </p:txBody>
      </p:sp>
      <p:sp>
        <p:nvSpPr>
          <p:cNvPr id="18435" name="Rectangle 3"/>
          <p:cNvSpPr>
            <a:spLocks noGrp="1" noChangeArrowheads="1"/>
          </p:cNvSpPr>
          <p:nvPr>
            <p:ph type="title" idx="4294967295"/>
          </p:nvPr>
        </p:nvSpPr>
        <p:spPr/>
        <p:txBody>
          <a:bodyPr/>
          <a:lstStyle/>
          <a:p>
            <a:pPr eaLnBrk="1" hangingPunct="1"/>
            <a:r>
              <a:rPr lang="en-US" altLang="zh-CN" dirty="0" smtClean="0">
                <a:latin typeface="Verdana" pitchFamily="34" charset="0"/>
                <a:ea typeface="黑体" pitchFamily="49" charset="-122"/>
              </a:rPr>
              <a:t>OSPF</a:t>
            </a:r>
            <a:r>
              <a:rPr lang="zh-CN" altLang="en-US" dirty="0" smtClean="0">
                <a:latin typeface="Verdana" pitchFamily="34" charset="0"/>
                <a:ea typeface="黑体" pitchFamily="49" charset="-122"/>
              </a:rPr>
              <a:t>路由协议</a:t>
            </a:r>
            <a:endParaRPr lang="en-US" altLang="zh-CN" dirty="0" smtClean="0">
              <a:latin typeface="宋体" pitchFamily="2"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body" idx="4294967295"/>
          </p:nvPr>
        </p:nvSpPr>
        <p:spPr>
          <a:xfrm>
            <a:off x="684213" y="1268413"/>
            <a:ext cx="8001000" cy="4114800"/>
          </a:xfrm>
        </p:spPr>
        <p:txBody>
          <a:bodyPr/>
          <a:lstStyle/>
          <a:p>
            <a:pPr marL="260350" indent="-254000" defTabSz="812800" eaLnBrk="1" hangingPunct="1">
              <a:defRPr/>
            </a:pPr>
            <a:endParaRPr lang="en-US" altLang="zh-CN" dirty="0" smtClean="0"/>
          </a:p>
          <a:p>
            <a:pPr marL="260350" indent="-254000" defTabSz="812800" eaLnBrk="1" hangingPunct="1">
              <a:defRPr/>
            </a:pPr>
            <a:endParaRPr lang="en-US" altLang="zh-CN" dirty="0" smtClean="0">
              <a:solidFill>
                <a:schemeClr val="bg2">
                  <a:lumMod val="60000"/>
                  <a:lumOff val="40000"/>
                </a:schemeClr>
              </a:solidFill>
            </a:endParaRPr>
          </a:p>
          <a:p>
            <a:pPr marL="660400" lvl="1" indent="-254000" defTabSz="812800" eaLnBrk="1" hangingPunct="1">
              <a:buFont typeface="Wingdings" pitchFamily="2" charset="2"/>
              <a:buNone/>
              <a:defRPr/>
            </a:pPr>
            <a:endParaRPr lang="en-US" altLang="zh-CN" dirty="0" smtClean="0"/>
          </a:p>
        </p:txBody>
      </p:sp>
      <p:sp>
        <p:nvSpPr>
          <p:cNvPr id="18435" name="Rectangle 3"/>
          <p:cNvSpPr>
            <a:spLocks noGrp="1" noChangeArrowheads="1"/>
          </p:cNvSpPr>
          <p:nvPr>
            <p:ph type="title" idx="4294967295"/>
          </p:nvPr>
        </p:nvSpPr>
        <p:spPr/>
        <p:txBody>
          <a:bodyPr/>
          <a:lstStyle/>
          <a:p>
            <a:pPr eaLnBrk="1" hangingPunct="1"/>
            <a:r>
              <a:rPr lang="en-US" altLang="zh-CN" dirty="0" smtClean="0">
                <a:latin typeface="Verdana" pitchFamily="34" charset="0"/>
                <a:ea typeface="黑体" pitchFamily="49" charset="-122"/>
              </a:rPr>
              <a:t>OSPF</a:t>
            </a:r>
            <a:r>
              <a:rPr lang="zh-CN" altLang="en-US" dirty="0" smtClean="0">
                <a:latin typeface="Verdana" pitchFamily="34" charset="0"/>
                <a:ea typeface="黑体" pitchFamily="49" charset="-122"/>
              </a:rPr>
              <a:t>路由协议</a:t>
            </a:r>
            <a:endParaRPr lang="en-US" altLang="zh-CN" dirty="0" smtClean="0">
              <a:latin typeface="宋体" pitchFamily="2" charset="-122"/>
            </a:endParaRPr>
          </a:p>
        </p:txBody>
      </p:sp>
      <p:pic>
        <p:nvPicPr>
          <p:cNvPr id="4" name="Picture 4" descr="014G_160"/>
          <p:cNvPicPr>
            <a:picLocks noChangeAspect="1" noChangeArrowheads="1"/>
          </p:cNvPicPr>
          <p:nvPr/>
        </p:nvPicPr>
        <p:blipFill>
          <a:blip r:embed="rId3"/>
          <a:srcRect/>
          <a:stretch>
            <a:fillRect/>
          </a:stretch>
        </p:blipFill>
        <p:spPr>
          <a:xfrm>
            <a:off x="642910" y="1000108"/>
            <a:ext cx="7632700" cy="4706937"/>
          </a:xfrm>
          <a:prstGeom prst="rect">
            <a:avLst/>
          </a:prstGeom>
          <a:noFill/>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body" idx="4294967295"/>
          </p:nvPr>
        </p:nvSpPr>
        <p:spPr>
          <a:xfrm>
            <a:off x="684213" y="1268413"/>
            <a:ext cx="8001000" cy="4114800"/>
          </a:xfrm>
        </p:spPr>
        <p:txBody>
          <a:bodyPr/>
          <a:lstStyle/>
          <a:p>
            <a:pPr marL="260350" indent="-254000" defTabSz="812800" eaLnBrk="1" hangingPunct="1">
              <a:defRPr/>
            </a:pPr>
            <a:endParaRPr lang="en-US" altLang="zh-CN" dirty="0" smtClean="0"/>
          </a:p>
          <a:p>
            <a:pPr marL="260350" indent="-254000" defTabSz="812800" eaLnBrk="1" hangingPunct="1">
              <a:defRPr/>
            </a:pPr>
            <a:endParaRPr lang="en-US" altLang="zh-CN" dirty="0" smtClean="0">
              <a:solidFill>
                <a:schemeClr val="bg2">
                  <a:lumMod val="60000"/>
                  <a:lumOff val="40000"/>
                </a:schemeClr>
              </a:solidFill>
            </a:endParaRPr>
          </a:p>
          <a:p>
            <a:pPr marL="660400" lvl="1" indent="-254000" defTabSz="812800" eaLnBrk="1" hangingPunct="1">
              <a:buFont typeface="Wingdings" pitchFamily="2" charset="2"/>
              <a:buNone/>
              <a:defRPr/>
            </a:pPr>
            <a:endParaRPr lang="en-US" altLang="zh-CN" dirty="0" smtClean="0"/>
          </a:p>
        </p:txBody>
      </p:sp>
      <p:sp>
        <p:nvSpPr>
          <p:cNvPr id="18435" name="Rectangle 3"/>
          <p:cNvSpPr>
            <a:spLocks noGrp="1" noChangeArrowheads="1"/>
          </p:cNvSpPr>
          <p:nvPr>
            <p:ph type="title" idx="4294967295"/>
          </p:nvPr>
        </p:nvSpPr>
        <p:spPr/>
        <p:txBody>
          <a:bodyPr/>
          <a:lstStyle/>
          <a:p>
            <a:pPr eaLnBrk="1" hangingPunct="1"/>
            <a:r>
              <a:rPr lang="en-US" altLang="zh-CN" dirty="0" smtClean="0">
                <a:latin typeface="Verdana" pitchFamily="34" charset="0"/>
                <a:ea typeface="黑体" pitchFamily="49" charset="-122"/>
              </a:rPr>
              <a:t>OSPF</a:t>
            </a:r>
            <a:r>
              <a:rPr lang="zh-CN" altLang="en-US" dirty="0" smtClean="0">
                <a:latin typeface="Verdana" pitchFamily="34" charset="0"/>
                <a:ea typeface="黑体" pitchFamily="49" charset="-122"/>
              </a:rPr>
              <a:t>路由协议</a:t>
            </a:r>
            <a:endParaRPr lang="en-US" altLang="zh-CN" dirty="0" smtClean="0">
              <a:latin typeface="宋体" pitchFamily="2" charset="-122"/>
            </a:endParaRPr>
          </a:p>
        </p:txBody>
      </p:sp>
      <p:sp>
        <p:nvSpPr>
          <p:cNvPr id="6" name="Rectangle 3"/>
          <p:cNvSpPr txBox="1">
            <a:spLocks noChangeArrowheads="1"/>
          </p:cNvSpPr>
          <p:nvPr/>
        </p:nvSpPr>
        <p:spPr>
          <a:xfrm>
            <a:off x="488950" y="1214422"/>
            <a:ext cx="4298950" cy="3571875"/>
          </a:xfrm>
          <a:prstGeom prst="rect">
            <a:avLst/>
          </a:prstGeom>
        </p:spPr>
        <p:txBody>
          <a:bodyPr/>
          <a:lstStyle/>
          <a:p>
            <a:pPr marL="342900" marR="0" lvl="0" indent="-342900" algn="l" defTabSz="914400" rtl="0" eaLnBrk="0" fontAlgn="base" latinLnBrk="0" hangingPunct="0">
              <a:lnSpc>
                <a:spcPct val="120000"/>
              </a:lnSpc>
              <a:spcBef>
                <a:spcPts val="600"/>
              </a:spcBef>
              <a:spcAft>
                <a:spcPct val="0"/>
              </a:spcAft>
              <a:buClr>
                <a:schemeClr val="bg2"/>
              </a:buClr>
              <a:buSzPct val="75000"/>
              <a:buFont typeface="Arial" charset="0"/>
              <a:buNone/>
              <a:tabLst/>
              <a:defRPr/>
            </a:pPr>
            <a:r>
              <a:rPr kumimoji="0" lang="en-US" altLang="zh-CN" sz="2400" b="1" i="0" u="none" strike="noStrike" kern="0" cap="none" spc="0" normalizeH="0" baseline="0" noProof="0" smtClean="0">
                <a:ln>
                  <a:noFill/>
                </a:ln>
                <a:solidFill>
                  <a:schemeClr val="tx1"/>
                </a:solidFill>
                <a:effectLst/>
                <a:uLnTx/>
                <a:uFillTx/>
                <a:latin typeface="Verdana" pitchFamily="34" charset="0"/>
                <a:ea typeface="黑体" pitchFamily="49" charset="-122"/>
                <a:cs typeface="+mn-cs"/>
              </a:rPr>
              <a:t>OSPF</a:t>
            </a:r>
            <a:r>
              <a:rPr kumimoji="0" lang="zh-CN" altLang="en-US" sz="2400" b="1" i="0" u="none" strike="noStrike" kern="0" cap="none" spc="0" normalizeH="0" baseline="0" noProof="0" smtClean="0">
                <a:ln>
                  <a:noFill/>
                </a:ln>
                <a:solidFill>
                  <a:schemeClr val="tx1"/>
                </a:solidFill>
                <a:effectLst/>
                <a:uLnTx/>
                <a:uFillTx/>
                <a:latin typeface="Verdana" pitchFamily="34" charset="0"/>
                <a:ea typeface="黑体" pitchFamily="49" charset="-122"/>
                <a:cs typeface="+mn-cs"/>
              </a:rPr>
              <a:t>引入了区域的概念</a:t>
            </a:r>
            <a:r>
              <a:rPr kumimoji="0" lang="en-US" altLang="zh-CN" sz="2400" b="1" i="0" u="none" strike="noStrike" kern="0" cap="none" spc="0" normalizeH="0" baseline="0" noProof="0" smtClean="0">
                <a:ln>
                  <a:noFill/>
                </a:ln>
                <a:solidFill>
                  <a:schemeClr val="tx1"/>
                </a:solidFill>
                <a:effectLst/>
                <a:uLnTx/>
                <a:uFillTx/>
                <a:latin typeface="Verdana" pitchFamily="34" charset="0"/>
                <a:ea typeface="黑体" pitchFamily="49" charset="-122"/>
                <a:cs typeface="+mn-cs"/>
              </a:rPr>
              <a:t>,</a:t>
            </a:r>
            <a:r>
              <a:rPr kumimoji="0" lang="zh-CN" altLang="en-US" sz="2400" b="1" i="0" u="none" strike="noStrike" kern="0" cap="none" spc="0" normalizeH="0" baseline="0" noProof="0" smtClean="0">
                <a:ln>
                  <a:noFill/>
                </a:ln>
                <a:solidFill>
                  <a:schemeClr val="tx1"/>
                </a:solidFill>
                <a:effectLst/>
                <a:uLnTx/>
                <a:uFillTx/>
                <a:latin typeface="Verdana" pitchFamily="34" charset="0"/>
                <a:ea typeface="黑体" pitchFamily="49" charset="-122"/>
                <a:cs typeface="+mn-cs"/>
              </a:rPr>
              <a:t>区域分</a:t>
            </a:r>
            <a:r>
              <a:rPr kumimoji="0" lang="en-US" altLang="zh-CN" sz="2400" b="1" i="0" u="none" strike="noStrike" kern="0" cap="none" spc="0" normalizeH="0" baseline="0" noProof="0" smtClean="0">
                <a:ln>
                  <a:noFill/>
                </a:ln>
                <a:solidFill>
                  <a:schemeClr val="tx1"/>
                </a:solidFill>
                <a:effectLst/>
                <a:uLnTx/>
                <a:uFillTx/>
                <a:latin typeface="Verdana" pitchFamily="34" charset="0"/>
                <a:ea typeface="黑体" pitchFamily="49" charset="-122"/>
                <a:cs typeface="+mn-cs"/>
              </a:rPr>
              <a:t>2</a:t>
            </a:r>
            <a:r>
              <a:rPr kumimoji="0" lang="zh-CN" altLang="en-US" sz="2400" b="1" i="0" u="none" strike="noStrike" kern="0" cap="none" spc="0" normalizeH="0" baseline="0" noProof="0" smtClean="0">
                <a:ln>
                  <a:noFill/>
                </a:ln>
                <a:solidFill>
                  <a:schemeClr val="tx1"/>
                </a:solidFill>
                <a:effectLst/>
                <a:uLnTx/>
                <a:uFillTx/>
                <a:latin typeface="Verdana" pitchFamily="34" charset="0"/>
                <a:ea typeface="黑体" pitchFamily="49" charset="-122"/>
                <a:cs typeface="+mn-cs"/>
              </a:rPr>
              <a:t>种</a:t>
            </a:r>
            <a:r>
              <a:rPr kumimoji="0" lang="en-US" altLang="zh-CN" sz="2400" b="1" i="0" u="none" strike="noStrike" kern="0" cap="none" spc="0" normalizeH="0" baseline="0" noProof="0" smtClean="0">
                <a:ln>
                  <a:noFill/>
                </a:ln>
                <a:solidFill>
                  <a:schemeClr val="tx1"/>
                </a:solidFill>
                <a:effectLst/>
                <a:uLnTx/>
                <a:uFillTx/>
                <a:latin typeface="Verdana" pitchFamily="34" charset="0"/>
                <a:ea typeface="黑体" pitchFamily="49" charset="-122"/>
                <a:cs typeface="+mn-cs"/>
              </a:rPr>
              <a:t>:</a:t>
            </a:r>
          </a:p>
          <a:p>
            <a:pPr marL="342900" marR="0" lvl="0" indent="-342900" algn="l" defTabSz="914400" rtl="0" eaLnBrk="0" fontAlgn="base" latinLnBrk="0" hangingPunct="0">
              <a:lnSpc>
                <a:spcPct val="120000"/>
              </a:lnSpc>
              <a:spcBef>
                <a:spcPts val="600"/>
              </a:spcBef>
              <a:spcAft>
                <a:spcPct val="0"/>
              </a:spcAft>
              <a:buClr>
                <a:schemeClr val="bg2"/>
              </a:buClr>
              <a:buSzPct val="75000"/>
              <a:buFont typeface="Arial" charset="0"/>
              <a:buNone/>
              <a:tabLst/>
              <a:defRPr/>
            </a:pPr>
            <a:r>
              <a:rPr kumimoji="0" lang="en-US" altLang="zh-CN" sz="2400" b="1" i="0" u="none" strike="noStrike" kern="0" cap="none" spc="0" normalizeH="0" baseline="0" noProof="0" smtClean="0">
                <a:ln>
                  <a:noFill/>
                </a:ln>
                <a:solidFill>
                  <a:schemeClr val="tx1"/>
                </a:solidFill>
                <a:effectLst/>
                <a:uLnTx/>
                <a:uFillTx/>
                <a:latin typeface="Verdana" pitchFamily="34" charset="0"/>
                <a:ea typeface="黑体" pitchFamily="49" charset="-122"/>
                <a:cs typeface="+mn-cs"/>
              </a:rPr>
              <a:t>1.</a:t>
            </a:r>
            <a:r>
              <a:rPr kumimoji="0" lang="zh-CN" altLang="en-US" sz="2400" b="1" i="0" u="none" strike="noStrike" kern="0" cap="none" spc="0" normalizeH="0" baseline="0" noProof="0" smtClean="0">
                <a:ln>
                  <a:noFill/>
                </a:ln>
                <a:solidFill>
                  <a:schemeClr val="tx1"/>
                </a:solidFill>
                <a:effectLst/>
                <a:uLnTx/>
                <a:uFillTx/>
                <a:latin typeface="Verdana" pitchFamily="34" charset="0"/>
                <a:ea typeface="黑体" pitchFamily="49" charset="-122"/>
                <a:cs typeface="+mn-cs"/>
              </a:rPr>
              <a:t>骨干区域</a:t>
            </a:r>
            <a:r>
              <a:rPr kumimoji="0" lang="en-US" altLang="zh-CN" sz="2400" b="1" i="0" u="none" strike="noStrike" kern="0" cap="none" spc="0" normalizeH="0" baseline="0" noProof="0" smtClean="0">
                <a:ln>
                  <a:noFill/>
                </a:ln>
                <a:solidFill>
                  <a:schemeClr val="tx1"/>
                </a:solidFill>
                <a:effectLst/>
                <a:uLnTx/>
                <a:uFillTx/>
                <a:latin typeface="Verdana" pitchFamily="34" charset="0"/>
                <a:ea typeface="黑体" pitchFamily="49" charset="-122"/>
                <a:cs typeface="+mn-cs"/>
              </a:rPr>
              <a:t>(area 0)</a:t>
            </a:r>
          </a:p>
          <a:p>
            <a:pPr marL="342900" marR="0" lvl="0" indent="-342900" algn="l" defTabSz="914400" rtl="0" eaLnBrk="0" fontAlgn="base" latinLnBrk="0" hangingPunct="0">
              <a:lnSpc>
                <a:spcPct val="120000"/>
              </a:lnSpc>
              <a:spcBef>
                <a:spcPts val="600"/>
              </a:spcBef>
              <a:spcAft>
                <a:spcPct val="0"/>
              </a:spcAft>
              <a:buClr>
                <a:schemeClr val="bg2"/>
              </a:buClr>
              <a:buSzPct val="75000"/>
              <a:buFont typeface="Arial" charset="0"/>
              <a:buNone/>
              <a:tabLst/>
              <a:defRPr/>
            </a:pPr>
            <a:r>
              <a:rPr kumimoji="0" lang="en-US" altLang="zh-CN" sz="2400" b="1" i="0" u="none" strike="noStrike" kern="0" cap="none" spc="0" normalizeH="0" baseline="0" noProof="0" smtClean="0">
                <a:ln>
                  <a:noFill/>
                </a:ln>
                <a:solidFill>
                  <a:schemeClr val="tx1"/>
                </a:solidFill>
                <a:effectLst/>
                <a:uLnTx/>
                <a:uFillTx/>
                <a:latin typeface="Verdana" pitchFamily="34" charset="0"/>
                <a:ea typeface="黑体" pitchFamily="49" charset="-122"/>
                <a:cs typeface="+mn-cs"/>
              </a:rPr>
              <a:t>2.</a:t>
            </a:r>
            <a:r>
              <a:rPr kumimoji="0" lang="zh-CN" altLang="en-US" sz="2400" b="1" i="0" u="none" strike="noStrike" kern="0" cap="none" spc="0" normalizeH="0" baseline="0" noProof="0" smtClean="0">
                <a:ln>
                  <a:noFill/>
                </a:ln>
                <a:solidFill>
                  <a:schemeClr val="tx1"/>
                </a:solidFill>
                <a:effectLst/>
                <a:uLnTx/>
                <a:uFillTx/>
                <a:latin typeface="Verdana" pitchFamily="34" charset="0"/>
                <a:ea typeface="黑体" pitchFamily="49" charset="-122"/>
                <a:cs typeface="+mn-cs"/>
              </a:rPr>
              <a:t>常规区域</a:t>
            </a:r>
          </a:p>
          <a:p>
            <a:pPr marL="342900" marR="0" lvl="0" indent="-342900" algn="l" defTabSz="914400" rtl="0" eaLnBrk="0" fontAlgn="base" latinLnBrk="0" hangingPunct="0">
              <a:lnSpc>
                <a:spcPct val="120000"/>
              </a:lnSpc>
              <a:spcBef>
                <a:spcPts val="600"/>
              </a:spcBef>
              <a:spcAft>
                <a:spcPct val="0"/>
              </a:spcAft>
              <a:buClr>
                <a:schemeClr val="bg2"/>
              </a:buClr>
              <a:buSzPct val="75000"/>
              <a:buFont typeface="Arial" charset="0"/>
              <a:buNone/>
              <a:tabLst/>
              <a:defRPr/>
            </a:pPr>
            <a:r>
              <a:rPr kumimoji="0" lang="zh-CN" altLang="en-US" sz="2400" b="1" i="0" u="none" strike="noStrike" kern="0" cap="none" spc="0" normalizeH="0" baseline="0" noProof="0" smtClean="0">
                <a:ln>
                  <a:noFill/>
                </a:ln>
                <a:solidFill>
                  <a:schemeClr val="tx1"/>
                </a:solidFill>
                <a:effectLst/>
                <a:uLnTx/>
                <a:uFillTx/>
                <a:latin typeface="Verdana" pitchFamily="34" charset="0"/>
                <a:ea typeface="黑体" pitchFamily="49" charset="-122"/>
                <a:cs typeface="+mn-cs"/>
              </a:rPr>
              <a:t>注意</a:t>
            </a:r>
            <a:r>
              <a:rPr kumimoji="0" lang="en-US" altLang="zh-CN" sz="2400" b="1" i="0" u="none" strike="noStrike" kern="0" cap="none" spc="0" normalizeH="0" baseline="0" noProof="0" smtClean="0">
                <a:ln>
                  <a:noFill/>
                </a:ln>
                <a:solidFill>
                  <a:schemeClr val="tx1"/>
                </a:solidFill>
                <a:effectLst/>
                <a:uLnTx/>
                <a:uFillTx/>
                <a:latin typeface="Verdana" pitchFamily="34" charset="0"/>
                <a:ea typeface="黑体" pitchFamily="49" charset="-122"/>
                <a:cs typeface="+mn-cs"/>
              </a:rPr>
              <a:t>,</a:t>
            </a:r>
            <a:r>
              <a:rPr kumimoji="0" lang="zh-CN" altLang="en-US" sz="2400" b="1" i="0" u="none" strike="noStrike" kern="0" cap="none" spc="0" normalizeH="0" baseline="0" noProof="0" smtClean="0">
                <a:ln>
                  <a:noFill/>
                </a:ln>
                <a:solidFill>
                  <a:schemeClr val="tx1"/>
                </a:solidFill>
                <a:effectLst/>
                <a:uLnTx/>
                <a:uFillTx/>
                <a:latin typeface="Verdana" pitchFamily="34" charset="0"/>
                <a:ea typeface="黑体" pitchFamily="49" charset="-122"/>
                <a:cs typeface="+mn-cs"/>
              </a:rPr>
              <a:t>所有的常规区域必须和骨干区域相连</a:t>
            </a:r>
          </a:p>
          <a:p>
            <a:pPr marL="342900" marR="0" lvl="0" indent="-342900" algn="l" defTabSz="914400" rtl="0" eaLnBrk="0" fontAlgn="base" latinLnBrk="0" hangingPunct="0">
              <a:lnSpc>
                <a:spcPct val="120000"/>
              </a:lnSpc>
              <a:spcBef>
                <a:spcPts val="600"/>
              </a:spcBef>
              <a:spcAft>
                <a:spcPct val="0"/>
              </a:spcAft>
              <a:buClr>
                <a:schemeClr val="bg2"/>
              </a:buClr>
              <a:buSzPct val="75000"/>
              <a:buFont typeface="Wingdings" pitchFamily="2" charset="2"/>
              <a:buChar char="n"/>
              <a:tabLst/>
              <a:defRPr/>
            </a:pPr>
            <a:r>
              <a:rPr kumimoji="0" lang="en-US" altLang="zh-CN" sz="2400" b="1" i="0" u="none" strike="noStrike" kern="0" cap="none" spc="0" normalizeH="0" baseline="0" noProof="0" smtClean="0">
                <a:ln>
                  <a:noFill/>
                </a:ln>
                <a:solidFill>
                  <a:schemeClr val="tx1"/>
                </a:solidFill>
                <a:effectLst/>
                <a:uLnTx/>
                <a:uFillTx/>
                <a:latin typeface="Verdana" pitchFamily="34" charset="0"/>
                <a:ea typeface="黑体" pitchFamily="49" charset="-122"/>
                <a:cs typeface="+mn-cs"/>
              </a:rPr>
              <a:t>OSPF</a:t>
            </a:r>
            <a:r>
              <a:rPr kumimoji="0" lang="zh-CN" altLang="en-US" sz="2400" b="1" i="0" u="none" strike="noStrike" kern="0" cap="none" spc="0" normalizeH="0" baseline="0" noProof="0" smtClean="0">
                <a:ln>
                  <a:noFill/>
                </a:ln>
                <a:solidFill>
                  <a:schemeClr val="tx1"/>
                </a:solidFill>
                <a:effectLst/>
                <a:uLnTx/>
                <a:uFillTx/>
                <a:latin typeface="Verdana" pitchFamily="34" charset="0"/>
                <a:ea typeface="黑体" pitchFamily="49" charset="-122"/>
                <a:cs typeface="+mn-cs"/>
              </a:rPr>
              <a:t>的邻接关系的建立是依赖于</a:t>
            </a:r>
            <a:r>
              <a:rPr kumimoji="0" lang="en-US" altLang="zh-CN" sz="2400" b="1" i="0" u="none" strike="noStrike" kern="0" cap="none" spc="0" normalizeH="0" baseline="0" noProof="0" smtClean="0">
                <a:ln>
                  <a:noFill/>
                </a:ln>
                <a:solidFill>
                  <a:schemeClr val="tx1"/>
                </a:solidFill>
                <a:effectLst/>
                <a:uLnTx/>
                <a:uFillTx/>
                <a:latin typeface="Verdana" pitchFamily="34" charset="0"/>
                <a:ea typeface="黑体" pitchFamily="49" charset="-122"/>
                <a:cs typeface="+mn-cs"/>
              </a:rPr>
              <a:t>hello</a:t>
            </a:r>
            <a:r>
              <a:rPr kumimoji="0" lang="zh-CN" altLang="en-US" sz="2400" b="1" i="0" u="none" strike="noStrike" kern="0" cap="none" spc="0" normalizeH="0" baseline="0" noProof="0" smtClean="0">
                <a:ln>
                  <a:noFill/>
                </a:ln>
                <a:solidFill>
                  <a:schemeClr val="tx1"/>
                </a:solidFill>
                <a:effectLst/>
                <a:uLnTx/>
                <a:uFillTx/>
                <a:latin typeface="Verdana" pitchFamily="34" charset="0"/>
                <a:ea typeface="黑体" pitchFamily="49" charset="-122"/>
                <a:cs typeface="+mn-cs"/>
              </a:rPr>
              <a:t>包的</a:t>
            </a:r>
          </a:p>
          <a:p>
            <a:pPr marL="342900" marR="0" lvl="0" indent="-342900" algn="l" defTabSz="914400" rtl="0" eaLnBrk="0" fontAlgn="base" latinLnBrk="0" hangingPunct="0">
              <a:lnSpc>
                <a:spcPct val="120000"/>
              </a:lnSpc>
              <a:spcBef>
                <a:spcPts val="600"/>
              </a:spcBef>
              <a:spcAft>
                <a:spcPct val="0"/>
              </a:spcAft>
              <a:buClr>
                <a:schemeClr val="bg2"/>
              </a:buClr>
              <a:buSzPct val="75000"/>
              <a:buFont typeface="Arial" charset="0"/>
              <a:buNone/>
              <a:tabLst/>
              <a:defRPr/>
            </a:pPr>
            <a:endParaRPr kumimoji="0" lang="zh-CN" altLang="en-US" sz="2400" b="1" i="0" u="none" strike="noStrike" kern="0" cap="none" spc="0" normalizeH="0" baseline="0" noProof="0" smtClean="0">
              <a:ln>
                <a:noFill/>
              </a:ln>
              <a:solidFill>
                <a:schemeClr val="tx1"/>
              </a:solidFill>
              <a:effectLst/>
              <a:uLnTx/>
              <a:uFillTx/>
              <a:latin typeface="Verdana" pitchFamily="34" charset="0"/>
              <a:ea typeface="黑体" pitchFamily="49" charset="-122"/>
              <a:cs typeface="+mn-cs"/>
            </a:endParaRPr>
          </a:p>
          <a:p>
            <a:pPr marL="342900" marR="0" lvl="0" indent="-342900" algn="l" defTabSz="914400" rtl="0" eaLnBrk="0" fontAlgn="base" latinLnBrk="0" hangingPunct="0">
              <a:lnSpc>
                <a:spcPct val="120000"/>
              </a:lnSpc>
              <a:spcBef>
                <a:spcPts val="600"/>
              </a:spcBef>
              <a:spcAft>
                <a:spcPct val="0"/>
              </a:spcAft>
              <a:buClr>
                <a:schemeClr val="bg2"/>
              </a:buClr>
              <a:buSzPct val="75000"/>
              <a:buFont typeface="Arial" charset="0"/>
              <a:buNone/>
              <a:tabLst/>
              <a:defRPr/>
            </a:pPr>
            <a:endParaRPr kumimoji="0" lang="zh-CN" altLang="en-US" sz="2400" b="1" i="0" u="none" strike="noStrike" kern="0" cap="none" spc="0" normalizeH="0" baseline="0" noProof="0" smtClean="0">
              <a:ln>
                <a:noFill/>
              </a:ln>
              <a:solidFill>
                <a:schemeClr val="tx1"/>
              </a:solidFill>
              <a:effectLst/>
              <a:uLnTx/>
              <a:uFillTx/>
              <a:latin typeface="Verdana" pitchFamily="34" charset="0"/>
              <a:ea typeface="黑体" pitchFamily="49" charset="-122"/>
              <a:cs typeface="+mn-cs"/>
            </a:endParaRPr>
          </a:p>
        </p:txBody>
      </p:sp>
      <p:pic>
        <p:nvPicPr>
          <p:cNvPr id="7" name="Picture 4"/>
          <p:cNvPicPr>
            <a:picLocks noChangeAspect="1" noChangeArrowheads="1"/>
          </p:cNvPicPr>
          <p:nvPr/>
        </p:nvPicPr>
        <p:blipFill>
          <a:blip r:embed="rId3"/>
          <a:srcRect/>
          <a:stretch>
            <a:fillRect/>
          </a:stretch>
        </p:blipFill>
        <p:spPr>
          <a:xfrm>
            <a:off x="5008563" y="1924035"/>
            <a:ext cx="3305175" cy="2152650"/>
          </a:xfrm>
          <a:prstGeom prst="rect">
            <a:avLst/>
          </a:prstGeom>
          <a:noFill/>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5"/>
          <p:cNvSpPr>
            <a:spLocks noChangeArrowheads="1"/>
          </p:cNvSpPr>
          <p:nvPr/>
        </p:nvSpPr>
        <p:spPr bwMode="auto">
          <a:xfrm>
            <a:off x="444500" y="3959211"/>
            <a:ext cx="8335963" cy="479425"/>
          </a:xfrm>
          <a:prstGeom prst="rect">
            <a:avLst/>
          </a:prstGeom>
          <a:solidFill>
            <a:srgbClr val="FFFFFF"/>
          </a:solidFill>
          <a:ln w="12700">
            <a:solidFill>
              <a:srgbClr val="000000"/>
            </a:solidFill>
            <a:miter lim="800000"/>
            <a:headEnd/>
            <a:tailEnd/>
          </a:ln>
          <a:effectLst>
            <a:outerShdw dist="17961" dir="2700000" algn="ctr" rotWithShape="0">
              <a:srgbClr val="000000"/>
            </a:outerShdw>
          </a:effectLst>
        </p:spPr>
        <p:txBody>
          <a:bodyPr wrap="none" anchor="ctr"/>
          <a:lstStyle/>
          <a:p>
            <a:pPr>
              <a:defRPr/>
            </a:pPr>
            <a:endParaRPr lang="zh-CN" altLang="en-US" sz="1600">
              <a:solidFill>
                <a:srgbClr val="000000"/>
              </a:solidFill>
              <a:ea typeface="华文楷体" pitchFamily="2" charset="-122"/>
            </a:endParaRPr>
          </a:p>
        </p:txBody>
      </p:sp>
      <p:sp>
        <p:nvSpPr>
          <p:cNvPr id="18435" name="Rectangle 3"/>
          <p:cNvSpPr>
            <a:spLocks noGrp="1" noChangeArrowheads="1"/>
          </p:cNvSpPr>
          <p:nvPr>
            <p:ph type="title" idx="4294967295"/>
          </p:nvPr>
        </p:nvSpPr>
        <p:spPr/>
        <p:txBody>
          <a:bodyPr/>
          <a:lstStyle/>
          <a:p>
            <a:pPr eaLnBrk="1" hangingPunct="1"/>
            <a:r>
              <a:rPr lang="zh-CN" altLang="en-US" dirty="0" smtClean="0">
                <a:effectLst>
                  <a:outerShdw blurRad="38100" dist="38100" dir="2700000" algn="tl">
                    <a:srgbClr val="000000">
                      <a:alpha val="43137"/>
                    </a:srgbClr>
                  </a:outerShdw>
                </a:effectLst>
                <a:ea typeface="宋体" panose="02010600030101010101" pitchFamily="2" charset="-122"/>
              </a:rPr>
              <a:t>配置单区域的 </a:t>
            </a:r>
            <a:r>
              <a:rPr lang="en-US" altLang="zh-CN" dirty="0" smtClean="0">
                <a:effectLst>
                  <a:outerShdw blurRad="38100" dist="38100" dir="2700000" algn="tl">
                    <a:srgbClr val="000000">
                      <a:alpha val="43137"/>
                    </a:srgbClr>
                  </a:outerShdw>
                </a:effectLst>
                <a:ea typeface="宋体" panose="02010600030101010101" pitchFamily="2" charset="-122"/>
              </a:rPr>
              <a:t>OSPF</a:t>
            </a:r>
            <a:endParaRPr lang="en-US" altLang="zh-CN" dirty="0" smtClean="0">
              <a:latin typeface="宋体" pitchFamily="2" charset="-122"/>
            </a:endParaRPr>
          </a:p>
        </p:txBody>
      </p:sp>
      <p:sp>
        <p:nvSpPr>
          <p:cNvPr id="21" name="Rectangle 7"/>
          <p:cNvSpPr>
            <a:spLocks noChangeArrowheads="1"/>
          </p:cNvSpPr>
          <p:nvPr/>
        </p:nvSpPr>
        <p:spPr bwMode="auto">
          <a:xfrm>
            <a:off x="693738" y="4622786"/>
            <a:ext cx="7658100" cy="628650"/>
          </a:xfrm>
          <a:prstGeom prst="rect">
            <a:avLst/>
          </a:prstGeom>
          <a:noFill/>
          <a:ln w="9525">
            <a:noFill/>
            <a:miter lim="800000"/>
            <a:headEnd/>
            <a:tailEnd/>
          </a:ln>
        </p:spPr>
        <p:txBody>
          <a:bodyPr wrap="none" lIns="21431" tIns="30362" rIns="21431" bIns="30362"/>
          <a:lstStyle/>
          <a:p>
            <a:pPr marL="257175" indent="-257175" defTabSz="1028700">
              <a:lnSpc>
                <a:spcPts val="3150"/>
              </a:lnSpc>
              <a:buClr>
                <a:srgbClr val="02C8FE"/>
              </a:buClr>
              <a:buFont typeface="Arial" charset="0"/>
              <a:buChar char="•"/>
              <a:tabLst>
                <a:tab pos="514350" algn="l"/>
                <a:tab pos="1028700" algn="l"/>
                <a:tab pos="1543050" algn="l"/>
              </a:tabLst>
            </a:pPr>
            <a:r>
              <a:rPr lang="zh-CN" altLang="en-US" sz="2400" b="1">
                <a:solidFill>
                  <a:srgbClr val="000000"/>
                </a:solidFill>
              </a:rPr>
              <a:t>将网段指派到指定的区域中</a:t>
            </a:r>
          </a:p>
        </p:txBody>
      </p:sp>
      <p:sp>
        <p:nvSpPr>
          <p:cNvPr id="22" name="Rectangle 8"/>
          <p:cNvSpPr>
            <a:spLocks noChangeArrowheads="1"/>
          </p:cNvSpPr>
          <p:nvPr/>
        </p:nvSpPr>
        <p:spPr bwMode="auto">
          <a:xfrm>
            <a:off x="350838" y="5538788"/>
            <a:ext cx="8226425" cy="554037"/>
          </a:xfrm>
          <a:prstGeom prst="rect">
            <a:avLst/>
          </a:prstGeom>
          <a:noFill/>
          <a:ln w="9525">
            <a:noFill/>
            <a:miter lim="800000"/>
            <a:headEnd/>
            <a:tailEnd/>
          </a:ln>
        </p:spPr>
        <p:txBody>
          <a:bodyPr wrap="none" anchor="ctr"/>
          <a:lstStyle/>
          <a:p>
            <a:endParaRPr lang="zh-CN" altLang="en-US" sz="1600">
              <a:solidFill>
                <a:srgbClr val="000000"/>
              </a:solidFill>
              <a:ea typeface="华文楷体" pitchFamily="2" charset="-122"/>
            </a:endParaRPr>
          </a:p>
        </p:txBody>
      </p:sp>
      <p:sp>
        <p:nvSpPr>
          <p:cNvPr id="23" name="Rectangle 9"/>
          <p:cNvSpPr>
            <a:spLocks noChangeArrowheads="1"/>
          </p:cNvSpPr>
          <p:nvPr/>
        </p:nvSpPr>
        <p:spPr bwMode="auto">
          <a:xfrm>
            <a:off x="457200" y="1450961"/>
            <a:ext cx="7900988" cy="500062"/>
          </a:xfrm>
          <a:prstGeom prst="rect">
            <a:avLst/>
          </a:prstGeom>
          <a:solidFill>
            <a:srgbClr val="FFFFFF"/>
          </a:solidFill>
          <a:ln w="12700">
            <a:solidFill>
              <a:srgbClr val="000000"/>
            </a:solidFill>
            <a:miter lim="800000"/>
            <a:headEnd/>
            <a:tailEnd/>
          </a:ln>
          <a:effectLst>
            <a:outerShdw dist="17961" dir="2700000" algn="ctr" rotWithShape="0">
              <a:srgbClr val="000000"/>
            </a:outerShdw>
          </a:effectLst>
        </p:spPr>
        <p:txBody>
          <a:bodyPr wrap="none" lIns="27124" tIns="38427" rIns="27124" bIns="38427"/>
          <a:lstStyle/>
          <a:p>
            <a:pPr>
              <a:defRPr/>
            </a:pPr>
            <a:endParaRPr lang="zh-CN" altLang="en-US" sz="1600">
              <a:solidFill>
                <a:srgbClr val="000000"/>
              </a:solidFill>
              <a:ea typeface="华文楷体" pitchFamily="2" charset="-122"/>
            </a:endParaRPr>
          </a:p>
        </p:txBody>
      </p:sp>
      <p:sp>
        <p:nvSpPr>
          <p:cNvPr id="24" name="Rectangle 10"/>
          <p:cNvSpPr>
            <a:spLocks noChangeArrowheads="1"/>
          </p:cNvSpPr>
          <p:nvPr/>
        </p:nvSpPr>
        <p:spPr bwMode="auto">
          <a:xfrm>
            <a:off x="533400" y="1428736"/>
            <a:ext cx="8455025" cy="625475"/>
          </a:xfrm>
          <a:prstGeom prst="rect">
            <a:avLst/>
          </a:prstGeom>
          <a:noFill/>
          <a:ln w="9525">
            <a:noFill/>
            <a:miter lim="800000"/>
            <a:headEnd/>
            <a:tailEnd/>
          </a:ln>
        </p:spPr>
        <p:txBody>
          <a:bodyPr wrap="none" lIns="27124" tIns="38427" rIns="27124" bIns="38427"/>
          <a:lstStyle/>
          <a:p>
            <a:pPr defTabSz="1028700">
              <a:lnSpc>
                <a:spcPts val="3150"/>
              </a:lnSpc>
              <a:tabLst>
                <a:tab pos="514350" algn="l"/>
                <a:tab pos="1028700" algn="l"/>
                <a:tab pos="1543050" algn="l"/>
              </a:tabLst>
            </a:pPr>
            <a:r>
              <a:rPr lang="en-US" altLang="zh-CN" sz="1800" b="1">
                <a:solidFill>
                  <a:srgbClr val="000000"/>
                </a:solidFill>
                <a:latin typeface="Courier New" pitchFamily="49" charset="0"/>
              </a:rPr>
              <a:t>Router(config)#router ospf </a:t>
            </a:r>
            <a:r>
              <a:rPr lang="en-US" altLang="zh-CN" sz="1800" b="1" i="1">
                <a:solidFill>
                  <a:srgbClr val="000000"/>
                </a:solidFill>
                <a:latin typeface="Courier New" pitchFamily="49" charset="0"/>
              </a:rPr>
              <a:t>process-id</a:t>
            </a:r>
            <a:endParaRPr lang="en-US" altLang="zh-CN" sz="1800" b="1" i="1">
              <a:solidFill>
                <a:srgbClr val="000000"/>
              </a:solidFill>
            </a:endParaRPr>
          </a:p>
        </p:txBody>
      </p:sp>
      <p:sp>
        <p:nvSpPr>
          <p:cNvPr id="25" name="Rectangle 11"/>
          <p:cNvSpPr>
            <a:spLocks noChangeArrowheads="1"/>
          </p:cNvSpPr>
          <p:nvPr/>
        </p:nvSpPr>
        <p:spPr bwMode="auto">
          <a:xfrm>
            <a:off x="693738" y="2068498"/>
            <a:ext cx="6715125" cy="495300"/>
          </a:xfrm>
          <a:prstGeom prst="rect">
            <a:avLst/>
          </a:prstGeom>
          <a:noFill/>
          <a:ln w="9525">
            <a:noFill/>
            <a:miter lim="800000"/>
            <a:headEnd/>
            <a:tailEnd/>
          </a:ln>
        </p:spPr>
        <p:txBody>
          <a:bodyPr wrap="none" lIns="27124" tIns="38427" rIns="27124" bIns="38427"/>
          <a:lstStyle/>
          <a:p>
            <a:pPr marL="257175" indent="-257175" defTabSz="1028700">
              <a:lnSpc>
                <a:spcPct val="95000"/>
              </a:lnSpc>
              <a:spcBef>
                <a:spcPct val="50000"/>
              </a:spcBef>
              <a:buClr>
                <a:srgbClr val="02C8FE"/>
              </a:buClr>
              <a:buFont typeface="Arial" charset="0"/>
              <a:buChar char="•"/>
            </a:pPr>
            <a:r>
              <a:rPr lang="zh-CN" altLang="en-US" sz="2400" b="1">
                <a:solidFill>
                  <a:srgbClr val="000000"/>
                </a:solidFill>
              </a:rPr>
              <a:t>启用 </a:t>
            </a:r>
            <a:r>
              <a:rPr lang="en-US" altLang="zh-CN" sz="2400" b="1">
                <a:solidFill>
                  <a:srgbClr val="000000"/>
                </a:solidFill>
              </a:rPr>
              <a:t>OSPF</a:t>
            </a:r>
          </a:p>
        </p:txBody>
      </p:sp>
      <p:sp>
        <p:nvSpPr>
          <p:cNvPr id="26" name="Rectangle 9"/>
          <p:cNvSpPr>
            <a:spLocks noChangeArrowheads="1"/>
          </p:cNvSpPr>
          <p:nvPr/>
        </p:nvSpPr>
        <p:spPr bwMode="auto">
          <a:xfrm>
            <a:off x="457200" y="2627298"/>
            <a:ext cx="7900988" cy="500063"/>
          </a:xfrm>
          <a:prstGeom prst="rect">
            <a:avLst/>
          </a:prstGeom>
          <a:solidFill>
            <a:srgbClr val="FFFFFF"/>
          </a:solidFill>
          <a:ln w="12700">
            <a:solidFill>
              <a:srgbClr val="000000"/>
            </a:solidFill>
            <a:miter lim="800000"/>
            <a:headEnd/>
            <a:tailEnd/>
          </a:ln>
          <a:effectLst>
            <a:outerShdw dist="17961" dir="2700000" algn="ctr" rotWithShape="0">
              <a:srgbClr val="000000"/>
            </a:outerShdw>
          </a:effectLst>
        </p:spPr>
        <p:txBody>
          <a:bodyPr wrap="none" lIns="27124" tIns="38427" rIns="27124" bIns="38427"/>
          <a:lstStyle/>
          <a:p>
            <a:pPr>
              <a:defRPr/>
            </a:pPr>
            <a:endParaRPr lang="zh-CN" altLang="en-US" sz="1600">
              <a:solidFill>
                <a:srgbClr val="000000"/>
              </a:solidFill>
              <a:ea typeface="华文楷体" pitchFamily="2" charset="-122"/>
            </a:endParaRPr>
          </a:p>
        </p:txBody>
      </p:sp>
      <p:sp>
        <p:nvSpPr>
          <p:cNvPr id="27" name="Rectangle 10"/>
          <p:cNvSpPr>
            <a:spLocks noChangeArrowheads="1"/>
          </p:cNvSpPr>
          <p:nvPr/>
        </p:nvSpPr>
        <p:spPr bwMode="auto">
          <a:xfrm>
            <a:off x="527050" y="2586023"/>
            <a:ext cx="8455025" cy="625475"/>
          </a:xfrm>
          <a:prstGeom prst="rect">
            <a:avLst/>
          </a:prstGeom>
          <a:noFill/>
          <a:ln w="9525">
            <a:noFill/>
            <a:miter lim="800000"/>
            <a:headEnd/>
            <a:tailEnd/>
          </a:ln>
        </p:spPr>
        <p:txBody>
          <a:bodyPr wrap="none" lIns="27124" tIns="38427" rIns="27124" bIns="38427"/>
          <a:lstStyle/>
          <a:p>
            <a:pPr defTabSz="1028700">
              <a:lnSpc>
                <a:spcPts val="3150"/>
              </a:lnSpc>
              <a:tabLst>
                <a:tab pos="514350" algn="l"/>
                <a:tab pos="1028700" algn="l"/>
                <a:tab pos="1543050" algn="l"/>
              </a:tabLst>
            </a:pPr>
            <a:r>
              <a:rPr lang="en-US" altLang="zh-CN" sz="1800" b="1">
                <a:solidFill>
                  <a:srgbClr val="000000"/>
                </a:solidFill>
                <a:latin typeface="Courier New" pitchFamily="49" charset="0"/>
              </a:rPr>
              <a:t>Router(config-router)#router</a:t>
            </a:r>
            <a:r>
              <a:rPr lang="en-US" altLang="zh-CN" sz="1800" b="1" i="1">
                <a:solidFill>
                  <a:srgbClr val="000000"/>
                </a:solidFill>
                <a:latin typeface="Courier New" pitchFamily="49" charset="0"/>
              </a:rPr>
              <a:t>-id 2.2.2.2</a:t>
            </a:r>
            <a:endParaRPr lang="en-US" altLang="zh-CN" sz="1800" b="1" i="1">
              <a:solidFill>
                <a:srgbClr val="000000"/>
              </a:solidFill>
            </a:endParaRPr>
          </a:p>
        </p:txBody>
      </p:sp>
      <p:sp>
        <p:nvSpPr>
          <p:cNvPr id="28" name="Rectangle 11"/>
          <p:cNvSpPr>
            <a:spLocks noChangeArrowheads="1"/>
          </p:cNvSpPr>
          <p:nvPr/>
        </p:nvSpPr>
        <p:spPr bwMode="auto">
          <a:xfrm>
            <a:off x="693738" y="3343261"/>
            <a:ext cx="6715125" cy="495300"/>
          </a:xfrm>
          <a:prstGeom prst="rect">
            <a:avLst/>
          </a:prstGeom>
          <a:noFill/>
          <a:ln w="9525">
            <a:noFill/>
            <a:miter lim="800000"/>
            <a:headEnd/>
            <a:tailEnd/>
          </a:ln>
        </p:spPr>
        <p:txBody>
          <a:bodyPr wrap="none" lIns="27124" tIns="38427" rIns="27124" bIns="38427"/>
          <a:lstStyle/>
          <a:p>
            <a:pPr marL="257175" indent="-257175" defTabSz="1028700">
              <a:lnSpc>
                <a:spcPct val="95000"/>
              </a:lnSpc>
              <a:spcBef>
                <a:spcPct val="50000"/>
              </a:spcBef>
              <a:buClr>
                <a:srgbClr val="02C8FE"/>
              </a:buClr>
              <a:buFont typeface="Arial" charset="0"/>
              <a:buChar char="•"/>
            </a:pPr>
            <a:r>
              <a:rPr lang="zh-CN" altLang="en-US" sz="2400" b="1">
                <a:solidFill>
                  <a:srgbClr val="FF0000"/>
                </a:solidFill>
              </a:rPr>
              <a:t>命名</a:t>
            </a:r>
            <a:r>
              <a:rPr lang="en-US" altLang="zh-CN" sz="2400" b="1">
                <a:solidFill>
                  <a:srgbClr val="FF0000"/>
                </a:solidFill>
              </a:rPr>
              <a:t>RID</a:t>
            </a:r>
          </a:p>
        </p:txBody>
      </p:sp>
      <p:sp>
        <p:nvSpPr>
          <p:cNvPr id="29" name="Rectangle 6"/>
          <p:cNvSpPr>
            <a:spLocks noChangeArrowheads="1"/>
          </p:cNvSpPr>
          <p:nvPr/>
        </p:nvSpPr>
        <p:spPr bwMode="auto">
          <a:xfrm>
            <a:off x="382588" y="4071942"/>
            <a:ext cx="8761412" cy="542925"/>
          </a:xfrm>
          <a:prstGeom prst="rect">
            <a:avLst/>
          </a:prstGeom>
          <a:noFill/>
          <a:ln w="9525">
            <a:noFill/>
            <a:miter lim="800000"/>
            <a:headEnd/>
            <a:tailEnd/>
          </a:ln>
        </p:spPr>
        <p:txBody>
          <a:bodyPr wrap="none" lIns="21431" tIns="30362" rIns="21431" bIns="30362"/>
          <a:lstStyle/>
          <a:p>
            <a:pPr defTabSz="1028700">
              <a:tabLst>
                <a:tab pos="514350" algn="l"/>
                <a:tab pos="1028700" algn="l"/>
                <a:tab pos="1543050" algn="l"/>
              </a:tabLst>
            </a:pPr>
            <a:r>
              <a:rPr lang="en-US" altLang="zh-CN" sz="1800" b="1" dirty="0">
                <a:solidFill>
                  <a:srgbClr val="000000"/>
                </a:solidFill>
                <a:latin typeface="Courier New" pitchFamily="49" charset="0"/>
              </a:rPr>
              <a:t>Router(</a:t>
            </a:r>
            <a:r>
              <a:rPr lang="en-US" altLang="zh-CN" sz="1800" b="1" dirty="0" err="1">
                <a:solidFill>
                  <a:srgbClr val="000000"/>
                </a:solidFill>
                <a:latin typeface="Courier New" pitchFamily="49" charset="0"/>
              </a:rPr>
              <a:t>config</a:t>
            </a:r>
            <a:r>
              <a:rPr lang="en-US" altLang="zh-CN" sz="1800" b="1" dirty="0">
                <a:solidFill>
                  <a:srgbClr val="000000"/>
                </a:solidFill>
                <a:latin typeface="Courier New" pitchFamily="49" charset="0"/>
              </a:rPr>
              <a:t>-router)#network </a:t>
            </a:r>
            <a:r>
              <a:rPr lang="en-US" altLang="zh-CN" sz="1800" b="1" i="1" dirty="0">
                <a:solidFill>
                  <a:srgbClr val="000000"/>
                </a:solidFill>
                <a:latin typeface="Courier New" pitchFamily="49" charset="0"/>
              </a:rPr>
              <a:t>address wild-mask </a:t>
            </a:r>
            <a:r>
              <a:rPr lang="en-US" altLang="zh-CN" sz="1800" b="1" dirty="0">
                <a:solidFill>
                  <a:srgbClr val="000000"/>
                </a:solidFill>
                <a:latin typeface="Courier New" pitchFamily="49" charset="0"/>
              </a:rPr>
              <a:t>area</a:t>
            </a:r>
            <a:r>
              <a:rPr lang="en-US" altLang="zh-CN" sz="1800" b="1" i="1" dirty="0">
                <a:solidFill>
                  <a:srgbClr val="000000"/>
                </a:solidFill>
                <a:latin typeface="Courier New" pitchFamily="49" charset="0"/>
              </a:rPr>
              <a:t> </a:t>
            </a:r>
            <a:r>
              <a:rPr lang="en-US" altLang="zh-CN" sz="1800" b="1" i="1" dirty="0" err="1">
                <a:solidFill>
                  <a:srgbClr val="000000"/>
                </a:solidFill>
                <a:latin typeface="Courier New" pitchFamily="49" charset="0"/>
              </a:rPr>
              <a:t>area</a:t>
            </a:r>
            <a:r>
              <a:rPr lang="en-US" altLang="zh-CN" sz="1800" b="1" i="1" dirty="0">
                <a:solidFill>
                  <a:srgbClr val="000000"/>
                </a:solidFill>
                <a:latin typeface="Courier New" pitchFamily="49" charset="0"/>
              </a:rPr>
              <a:t>-id</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type="title" idx="4294967295"/>
          </p:nvPr>
        </p:nvSpPr>
        <p:spPr/>
        <p:txBody>
          <a:bodyPr/>
          <a:lstStyle/>
          <a:p>
            <a:pPr eaLnBrk="1" hangingPunct="1"/>
            <a:r>
              <a:rPr lang="zh-CN" altLang="en-US" dirty="0" smtClean="0">
                <a:effectLst>
                  <a:outerShdw blurRad="38100" dist="38100" dir="2700000" algn="tl">
                    <a:srgbClr val="000000">
                      <a:alpha val="43137"/>
                    </a:srgbClr>
                  </a:outerShdw>
                </a:effectLst>
                <a:ea typeface="宋体" panose="02010600030101010101" pitchFamily="2" charset="-122"/>
              </a:rPr>
              <a:t>配置单区域的 </a:t>
            </a:r>
            <a:r>
              <a:rPr lang="en-US" altLang="zh-CN" dirty="0" smtClean="0">
                <a:effectLst>
                  <a:outerShdw blurRad="38100" dist="38100" dir="2700000" algn="tl">
                    <a:srgbClr val="000000">
                      <a:alpha val="43137"/>
                    </a:srgbClr>
                  </a:outerShdw>
                </a:effectLst>
                <a:ea typeface="宋体" panose="02010600030101010101" pitchFamily="2" charset="-122"/>
              </a:rPr>
              <a:t>OSPF</a:t>
            </a:r>
            <a:endParaRPr lang="en-US" altLang="zh-CN" dirty="0" smtClean="0">
              <a:latin typeface="宋体" pitchFamily="2" charset="-122"/>
            </a:endParaRPr>
          </a:p>
        </p:txBody>
      </p:sp>
      <p:pic>
        <p:nvPicPr>
          <p:cNvPr id="3" name="Picture 2"/>
          <p:cNvPicPr>
            <a:picLocks noChangeAspect="1" noChangeArrowheads="1"/>
          </p:cNvPicPr>
          <p:nvPr/>
        </p:nvPicPr>
        <p:blipFill>
          <a:blip r:embed="rId3"/>
          <a:srcRect/>
          <a:stretch>
            <a:fillRect/>
          </a:stretch>
        </p:blipFill>
        <p:spPr bwMode="auto">
          <a:xfrm>
            <a:off x="160338" y="2139950"/>
            <a:ext cx="8821737" cy="3036888"/>
          </a:xfrm>
          <a:prstGeom prst="rect">
            <a:avLst/>
          </a:prstGeom>
          <a:noFill/>
          <a:ln w="38100">
            <a:noFill/>
            <a:miter lim="800000"/>
            <a:headEnd/>
            <a:tailEnd/>
          </a:ln>
        </p:spPr>
      </p:pic>
      <p:sp>
        <p:nvSpPr>
          <p:cNvPr id="4" name="Rectangle 3"/>
          <p:cNvSpPr txBox="1">
            <a:spLocks noChangeArrowheads="1"/>
          </p:cNvSpPr>
          <p:nvPr/>
        </p:nvSpPr>
        <p:spPr>
          <a:xfrm>
            <a:off x="428596" y="1142984"/>
            <a:ext cx="7623175" cy="857256"/>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4400" b="1" i="0" u="none" strike="noStrike" kern="0" cap="none" spc="0" normalizeH="0" baseline="0" noProof="0" smtClean="0">
                <a:ln>
                  <a:noFill/>
                </a:ln>
                <a:solidFill>
                  <a:srgbClr val="0070C0"/>
                </a:solidFill>
                <a:effectLst/>
                <a:uLnTx/>
                <a:uFillTx/>
                <a:latin typeface="+mj-lt"/>
                <a:ea typeface="宋体" charset="-122"/>
                <a:cs typeface="+mj-cs"/>
              </a:rPr>
              <a:t>OSPF </a:t>
            </a:r>
            <a:r>
              <a:rPr kumimoji="0" lang="zh-CN" altLang="en-US" sz="4400" b="1" i="0" u="none" strike="noStrike" kern="0" cap="none" spc="0" normalizeH="0" baseline="0" noProof="0" smtClean="0">
                <a:ln>
                  <a:noFill/>
                </a:ln>
                <a:solidFill>
                  <a:srgbClr val="0070C0"/>
                </a:solidFill>
                <a:effectLst/>
                <a:uLnTx/>
                <a:uFillTx/>
                <a:latin typeface="+mj-lt"/>
                <a:ea typeface="宋体" charset="-122"/>
                <a:cs typeface="+mj-cs"/>
              </a:rPr>
              <a:t>配置举例</a:t>
            </a:r>
            <a:endParaRPr kumimoji="0" lang="zh-CN" altLang="en-US" sz="4400" b="1" i="0" u="none" strike="noStrike" kern="0" cap="none" spc="0" normalizeH="0" baseline="0" noProof="0" dirty="0" smtClean="0">
              <a:ln>
                <a:noFill/>
              </a:ln>
              <a:solidFill>
                <a:srgbClr val="0070C0"/>
              </a:solidFill>
              <a:effectLst/>
              <a:uLnTx/>
              <a:uFillTx/>
              <a:latin typeface="+mj-lt"/>
              <a:ea typeface="宋体" charset="-122"/>
              <a:cs typeface="+mj-cs"/>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type="title" idx="4294967295"/>
          </p:nvPr>
        </p:nvSpPr>
        <p:spPr/>
        <p:txBody>
          <a:bodyPr/>
          <a:lstStyle/>
          <a:p>
            <a:pPr eaLnBrk="1" hangingPunct="1"/>
            <a:r>
              <a:rPr lang="zh-CN" altLang="en-US" dirty="0" smtClean="0">
                <a:effectLst>
                  <a:outerShdw blurRad="38100" dist="38100" dir="2700000" algn="tl">
                    <a:srgbClr val="000000">
                      <a:alpha val="43137"/>
                    </a:srgbClr>
                  </a:outerShdw>
                </a:effectLst>
                <a:ea typeface="宋体" panose="02010600030101010101" pitchFamily="2" charset="-122"/>
              </a:rPr>
              <a:t>配置单区域的 </a:t>
            </a:r>
            <a:r>
              <a:rPr lang="en-US" altLang="zh-CN" dirty="0" smtClean="0">
                <a:effectLst>
                  <a:outerShdw blurRad="38100" dist="38100" dir="2700000" algn="tl">
                    <a:srgbClr val="000000">
                      <a:alpha val="43137"/>
                    </a:srgbClr>
                  </a:outerShdw>
                </a:effectLst>
                <a:ea typeface="宋体" panose="02010600030101010101" pitchFamily="2" charset="-122"/>
              </a:rPr>
              <a:t>OSPF</a:t>
            </a:r>
            <a:endParaRPr lang="en-US" altLang="zh-CN" dirty="0" smtClean="0">
              <a:latin typeface="宋体" pitchFamily="2" charset="-122"/>
            </a:endParaRPr>
          </a:p>
        </p:txBody>
      </p:sp>
      <p:sp>
        <p:nvSpPr>
          <p:cNvPr id="13" name="Rectangle 5"/>
          <p:cNvSpPr>
            <a:spLocks noChangeArrowheads="1"/>
          </p:cNvSpPr>
          <p:nvPr/>
        </p:nvSpPr>
        <p:spPr bwMode="auto">
          <a:xfrm>
            <a:off x="776288" y="2884476"/>
            <a:ext cx="3097212" cy="528638"/>
          </a:xfrm>
          <a:prstGeom prst="rect">
            <a:avLst/>
          </a:prstGeom>
          <a:noFill/>
          <a:ln w="9525">
            <a:noFill/>
            <a:miter lim="800000"/>
            <a:headEnd/>
            <a:tailEnd/>
          </a:ln>
        </p:spPr>
        <p:txBody>
          <a:bodyPr wrap="none" lIns="24110" tIns="34157" rIns="24110" bIns="34157"/>
          <a:lstStyle/>
          <a:p>
            <a:pPr defTabSz="1028700">
              <a:lnSpc>
                <a:spcPts val="2250"/>
              </a:lnSpc>
              <a:spcAft>
                <a:spcPts val="900"/>
              </a:spcAft>
              <a:tabLst>
                <a:tab pos="514350" algn="l"/>
                <a:tab pos="1028700" algn="l"/>
                <a:tab pos="1543050" algn="l"/>
              </a:tabLst>
            </a:pPr>
            <a:r>
              <a:rPr lang="en-US" altLang="zh-CN" sz="1800" b="1">
                <a:solidFill>
                  <a:srgbClr val="000000"/>
                </a:solidFill>
                <a:latin typeface="Courier New" pitchFamily="49" charset="0"/>
              </a:rPr>
              <a:t>Router#show ip ospf interface </a:t>
            </a:r>
            <a:r>
              <a:rPr lang="zh-CN" altLang="en-US" sz="1800" b="1">
                <a:solidFill>
                  <a:srgbClr val="000000"/>
                </a:solidFill>
                <a:latin typeface="Courier New" pitchFamily="49" charset="0"/>
              </a:rPr>
              <a:t>（</a:t>
            </a:r>
            <a:r>
              <a:rPr lang="en-US" altLang="zh-CN" sz="1800" b="1">
                <a:solidFill>
                  <a:srgbClr val="000000"/>
                </a:solidFill>
                <a:latin typeface="Courier New" pitchFamily="49" charset="0"/>
              </a:rPr>
              <a:t>brief</a:t>
            </a:r>
            <a:r>
              <a:rPr lang="zh-CN" altLang="en-US" sz="1800" b="1">
                <a:solidFill>
                  <a:srgbClr val="000000"/>
                </a:solidFill>
                <a:latin typeface="Courier New" pitchFamily="49" charset="0"/>
              </a:rPr>
              <a:t>）</a:t>
            </a:r>
            <a:endParaRPr lang="en-US" altLang="zh-CN" sz="1800" b="1">
              <a:solidFill>
                <a:srgbClr val="000000"/>
              </a:solidFill>
              <a:latin typeface="Courier New" pitchFamily="49" charset="0"/>
            </a:endParaRPr>
          </a:p>
        </p:txBody>
      </p:sp>
      <p:sp>
        <p:nvSpPr>
          <p:cNvPr id="14" name="Rectangle 7"/>
          <p:cNvSpPr>
            <a:spLocks noChangeArrowheads="1"/>
          </p:cNvSpPr>
          <p:nvPr/>
        </p:nvSpPr>
        <p:spPr bwMode="auto">
          <a:xfrm>
            <a:off x="739775" y="3340089"/>
            <a:ext cx="3687763" cy="393700"/>
          </a:xfrm>
          <a:prstGeom prst="rect">
            <a:avLst/>
          </a:prstGeom>
          <a:noFill/>
          <a:ln w="9525">
            <a:noFill/>
            <a:miter lim="800000"/>
            <a:headEnd/>
            <a:tailEnd/>
          </a:ln>
        </p:spPr>
        <p:txBody>
          <a:bodyPr wrap="none" lIns="103584" tIns="51793" rIns="103584" bIns="51793">
            <a:spAutoFit/>
          </a:bodyPr>
          <a:lstStyle/>
          <a:p>
            <a:pPr defTabSz="1028700">
              <a:lnSpc>
                <a:spcPct val="95000"/>
              </a:lnSpc>
              <a:spcBef>
                <a:spcPct val="50000"/>
              </a:spcBef>
              <a:buClr>
                <a:srgbClr val="02C8FE"/>
              </a:buClr>
              <a:buFont typeface="Arial" charset="0"/>
              <a:buChar char="•"/>
            </a:pPr>
            <a:r>
              <a:rPr lang="zh-CN" altLang="en-US" sz="2000" b="1">
                <a:solidFill>
                  <a:srgbClr val="000000"/>
                </a:solidFill>
              </a:rPr>
              <a:t> 查看区域号和与此相关的信息</a:t>
            </a:r>
          </a:p>
        </p:txBody>
      </p:sp>
      <p:sp>
        <p:nvSpPr>
          <p:cNvPr id="15" name="Rectangle 11"/>
          <p:cNvSpPr>
            <a:spLocks noChangeArrowheads="1"/>
          </p:cNvSpPr>
          <p:nvPr/>
        </p:nvSpPr>
        <p:spPr bwMode="auto">
          <a:xfrm>
            <a:off x="763588" y="1857364"/>
            <a:ext cx="2813050" cy="542925"/>
          </a:xfrm>
          <a:prstGeom prst="rect">
            <a:avLst/>
          </a:prstGeom>
          <a:noFill/>
          <a:ln w="9525">
            <a:noFill/>
            <a:miter lim="800000"/>
            <a:headEnd/>
            <a:tailEnd/>
          </a:ln>
        </p:spPr>
        <p:txBody>
          <a:bodyPr wrap="none" lIns="24110" tIns="34157" rIns="24110" bIns="34157"/>
          <a:lstStyle/>
          <a:p>
            <a:pPr defTabSz="1028700">
              <a:lnSpc>
                <a:spcPts val="2250"/>
              </a:lnSpc>
              <a:spcAft>
                <a:spcPts val="900"/>
              </a:spcAft>
              <a:tabLst>
                <a:tab pos="514350" algn="l"/>
                <a:tab pos="1028700" algn="l"/>
                <a:tab pos="1543050" algn="l"/>
              </a:tabLst>
            </a:pPr>
            <a:r>
              <a:rPr lang="en-US" altLang="zh-CN" sz="1800" b="1">
                <a:solidFill>
                  <a:srgbClr val="000000"/>
                </a:solidFill>
                <a:latin typeface="Courier New" pitchFamily="49" charset="0"/>
              </a:rPr>
              <a:t>Router#show ip route</a:t>
            </a:r>
          </a:p>
        </p:txBody>
      </p:sp>
      <p:sp>
        <p:nvSpPr>
          <p:cNvPr id="16" name="Rectangle 12"/>
          <p:cNvSpPr>
            <a:spLocks noChangeArrowheads="1"/>
          </p:cNvSpPr>
          <p:nvPr/>
        </p:nvSpPr>
        <p:spPr bwMode="auto">
          <a:xfrm>
            <a:off x="739775" y="2327264"/>
            <a:ext cx="1712913" cy="393700"/>
          </a:xfrm>
          <a:prstGeom prst="rect">
            <a:avLst/>
          </a:prstGeom>
          <a:noFill/>
          <a:ln w="9525">
            <a:noFill/>
            <a:miter lim="800000"/>
            <a:headEnd/>
            <a:tailEnd/>
          </a:ln>
        </p:spPr>
        <p:txBody>
          <a:bodyPr wrap="none" lIns="103584" tIns="51793" rIns="103584" bIns="51793">
            <a:spAutoFit/>
          </a:bodyPr>
          <a:lstStyle/>
          <a:p>
            <a:pPr defTabSz="1028700">
              <a:lnSpc>
                <a:spcPct val="95000"/>
              </a:lnSpc>
              <a:spcBef>
                <a:spcPct val="50000"/>
              </a:spcBef>
              <a:buClr>
                <a:srgbClr val="02C8FE"/>
              </a:buClr>
              <a:buFont typeface="Arial" charset="0"/>
              <a:buChar char="•"/>
            </a:pPr>
            <a:r>
              <a:rPr lang="zh-CN" altLang="en-US" sz="2000" b="1">
                <a:solidFill>
                  <a:srgbClr val="000000"/>
                </a:solidFill>
              </a:rPr>
              <a:t>  查看路由表</a:t>
            </a:r>
          </a:p>
        </p:txBody>
      </p:sp>
      <p:sp>
        <p:nvSpPr>
          <p:cNvPr id="17" name="Rectangle 13"/>
          <p:cNvSpPr>
            <a:spLocks noChangeArrowheads="1"/>
          </p:cNvSpPr>
          <p:nvPr/>
        </p:nvSpPr>
        <p:spPr bwMode="auto">
          <a:xfrm>
            <a:off x="776288" y="3862376"/>
            <a:ext cx="3097212" cy="528638"/>
          </a:xfrm>
          <a:prstGeom prst="rect">
            <a:avLst/>
          </a:prstGeom>
          <a:noFill/>
          <a:ln w="9525">
            <a:noFill/>
            <a:miter lim="800000"/>
            <a:headEnd/>
            <a:tailEnd/>
          </a:ln>
        </p:spPr>
        <p:txBody>
          <a:bodyPr wrap="none" lIns="24110" tIns="34157" rIns="24110" bIns="34157"/>
          <a:lstStyle/>
          <a:p>
            <a:pPr defTabSz="1028700">
              <a:lnSpc>
                <a:spcPts val="2250"/>
              </a:lnSpc>
              <a:spcAft>
                <a:spcPts val="900"/>
              </a:spcAft>
              <a:tabLst>
                <a:tab pos="514350" algn="l"/>
                <a:tab pos="1028700" algn="l"/>
                <a:tab pos="1543050" algn="l"/>
              </a:tabLst>
            </a:pPr>
            <a:r>
              <a:rPr lang="en-US" altLang="zh-CN" sz="1800" b="1">
                <a:solidFill>
                  <a:srgbClr val="000000"/>
                </a:solidFill>
                <a:latin typeface="Courier New" pitchFamily="49" charset="0"/>
              </a:rPr>
              <a:t>Router#show ip ospf neighbor</a:t>
            </a:r>
          </a:p>
        </p:txBody>
      </p:sp>
      <p:sp>
        <p:nvSpPr>
          <p:cNvPr id="18" name="Rectangle 14"/>
          <p:cNvSpPr>
            <a:spLocks noChangeArrowheads="1"/>
          </p:cNvSpPr>
          <p:nvPr/>
        </p:nvSpPr>
        <p:spPr bwMode="auto">
          <a:xfrm>
            <a:off x="723900" y="4278301"/>
            <a:ext cx="3990975" cy="393700"/>
          </a:xfrm>
          <a:prstGeom prst="rect">
            <a:avLst/>
          </a:prstGeom>
          <a:noFill/>
          <a:ln w="9525">
            <a:noFill/>
            <a:miter lim="800000"/>
            <a:headEnd/>
            <a:tailEnd/>
          </a:ln>
        </p:spPr>
        <p:txBody>
          <a:bodyPr wrap="none" lIns="103584" tIns="51793" rIns="103584" bIns="51793">
            <a:spAutoFit/>
          </a:bodyPr>
          <a:lstStyle/>
          <a:p>
            <a:pPr defTabSz="1028700">
              <a:lnSpc>
                <a:spcPct val="95000"/>
              </a:lnSpc>
              <a:spcBef>
                <a:spcPct val="50000"/>
              </a:spcBef>
              <a:buClr>
                <a:srgbClr val="02C8FE"/>
              </a:buClr>
              <a:buFont typeface="Arial" charset="0"/>
              <a:buChar char="•"/>
            </a:pPr>
            <a:r>
              <a:rPr lang="zh-CN" altLang="en-US" sz="2000" b="1">
                <a:solidFill>
                  <a:srgbClr val="000000"/>
                </a:solidFill>
              </a:rPr>
              <a:t>  查看在每一个接口上的邻居信息</a:t>
            </a:r>
            <a:endParaRPr lang="en-US" altLang="zh-CN" sz="2000" b="1">
              <a:solidFill>
                <a:srgbClr val="000000"/>
              </a:solidFill>
            </a:endParaRPr>
          </a:p>
        </p:txBody>
      </p:sp>
      <p:sp>
        <p:nvSpPr>
          <p:cNvPr id="19" name="矩形 1"/>
          <p:cNvSpPr>
            <a:spLocks noChangeArrowheads="1"/>
          </p:cNvSpPr>
          <p:nvPr/>
        </p:nvSpPr>
        <p:spPr bwMode="auto">
          <a:xfrm>
            <a:off x="723900" y="4878376"/>
            <a:ext cx="4572000" cy="798513"/>
          </a:xfrm>
          <a:prstGeom prst="rect">
            <a:avLst/>
          </a:prstGeom>
          <a:noFill/>
          <a:ln w="9525">
            <a:noFill/>
            <a:miter lim="800000"/>
            <a:headEnd/>
            <a:tailEnd/>
          </a:ln>
        </p:spPr>
        <p:txBody>
          <a:bodyPr wrap="none" lIns="24110" tIns="34157" rIns="24110" bIns="34157"/>
          <a:lstStyle/>
          <a:p>
            <a:pPr defTabSz="1028700">
              <a:lnSpc>
                <a:spcPts val="2250"/>
              </a:lnSpc>
              <a:spcAft>
                <a:spcPts val="900"/>
              </a:spcAft>
              <a:tabLst>
                <a:tab pos="514350" algn="l"/>
                <a:tab pos="1028700" algn="l"/>
                <a:tab pos="1543050" algn="l"/>
              </a:tabLst>
            </a:pPr>
            <a:r>
              <a:rPr lang="en-US" altLang="zh-CN" sz="1800" b="1" dirty="0">
                <a:solidFill>
                  <a:srgbClr val="000000"/>
                </a:solidFill>
                <a:latin typeface="Courier New" pitchFamily="49" charset="0"/>
              </a:rPr>
              <a:t> </a:t>
            </a:r>
            <a:r>
              <a:rPr lang="en-US" altLang="zh-CN" sz="1800" b="1" dirty="0" err="1">
                <a:solidFill>
                  <a:srgbClr val="000000"/>
                </a:solidFill>
                <a:latin typeface="Courier New" pitchFamily="49" charset="0"/>
              </a:rPr>
              <a:t>Router#show</a:t>
            </a:r>
            <a:r>
              <a:rPr lang="en-US" altLang="zh-CN" sz="1800" b="1" dirty="0">
                <a:solidFill>
                  <a:srgbClr val="000000"/>
                </a:solidFill>
                <a:latin typeface="Courier New" pitchFamily="49" charset="0"/>
              </a:rPr>
              <a:t> </a:t>
            </a:r>
            <a:r>
              <a:rPr lang="en-US" altLang="zh-CN" sz="1800" b="1" dirty="0" err="1">
                <a:solidFill>
                  <a:srgbClr val="000000"/>
                </a:solidFill>
                <a:latin typeface="Courier New" pitchFamily="49" charset="0"/>
              </a:rPr>
              <a:t>ip</a:t>
            </a:r>
            <a:r>
              <a:rPr lang="en-US" altLang="zh-CN" sz="1800" b="1" dirty="0">
                <a:solidFill>
                  <a:srgbClr val="000000"/>
                </a:solidFill>
                <a:latin typeface="Courier New" pitchFamily="49" charset="0"/>
              </a:rPr>
              <a:t> </a:t>
            </a:r>
            <a:r>
              <a:rPr lang="en-US" altLang="zh-CN" sz="1800" b="1" dirty="0" err="1">
                <a:solidFill>
                  <a:srgbClr val="000000"/>
                </a:solidFill>
                <a:latin typeface="Courier New" pitchFamily="49" charset="0"/>
              </a:rPr>
              <a:t>ospf</a:t>
            </a:r>
            <a:r>
              <a:rPr lang="en-US" altLang="zh-CN" sz="1800" b="1" dirty="0">
                <a:solidFill>
                  <a:srgbClr val="000000"/>
                </a:solidFill>
                <a:latin typeface="Courier New" pitchFamily="49" charset="0"/>
              </a:rPr>
              <a:t> database  </a:t>
            </a:r>
          </a:p>
          <a:p>
            <a:pPr defTabSz="1028700">
              <a:lnSpc>
                <a:spcPts val="2250"/>
              </a:lnSpc>
              <a:spcAft>
                <a:spcPts val="900"/>
              </a:spcAft>
              <a:tabLst>
                <a:tab pos="514350" algn="l"/>
                <a:tab pos="1028700" algn="l"/>
                <a:tab pos="1543050" algn="l"/>
              </a:tabLst>
            </a:pPr>
            <a:r>
              <a:rPr lang="en-US" altLang="zh-CN" sz="1800" b="1" dirty="0">
                <a:solidFill>
                  <a:srgbClr val="000000"/>
                </a:solidFill>
                <a:latin typeface="Courier New" pitchFamily="49" charset="0"/>
              </a:rPr>
              <a:t> //</a:t>
            </a:r>
            <a:r>
              <a:rPr lang="zh-CN" altLang="en-US" sz="1800" b="1" dirty="0">
                <a:solidFill>
                  <a:srgbClr val="000000"/>
                </a:solidFill>
                <a:latin typeface="Courier New" pitchFamily="49" charset="0"/>
              </a:rPr>
              <a:t>检查</a:t>
            </a:r>
            <a:r>
              <a:rPr lang="en-US" altLang="zh-CN" sz="1800" b="1" dirty="0">
                <a:solidFill>
                  <a:srgbClr val="000000"/>
                </a:solidFill>
                <a:latin typeface="Courier New" pitchFamily="49" charset="0"/>
              </a:rPr>
              <a:t>OSPF</a:t>
            </a:r>
            <a:r>
              <a:rPr lang="zh-CN" altLang="en-US" sz="1800" b="1" dirty="0">
                <a:solidFill>
                  <a:srgbClr val="000000"/>
                </a:solidFill>
                <a:latin typeface="Courier New" pitchFamily="49" charset="0"/>
              </a:rPr>
              <a:t>的链路状态</a:t>
            </a:r>
            <a:r>
              <a:rPr lang="zh-CN" altLang="en-US" sz="1800" b="1" dirty="0" smtClean="0">
                <a:solidFill>
                  <a:srgbClr val="000000"/>
                </a:solidFill>
                <a:latin typeface="Courier New" pitchFamily="49" charset="0"/>
              </a:rPr>
              <a:t>数据库</a:t>
            </a:r>
            <a:endParaRPr lang="en-US" altLang="zh-CN" sz="1800" b="1" dirty="0" smtClean="0">
              <a:solidFill>
                <a:srgbClr val="000000"/>
              </a:solidFill>
              <a:latin typeface="Courier New" pitchFamily="49" charset="0"/>
            </a:endParaRPr>
          </a:p>
          <a:p>
            <a:pPr defTabSz="1028700">
              <a:lnSpc>
                <a:spcPts val="2250"/>
              </a:lnSpc>
              <a:spcAft>
                <a:spcPts val="900"/>
              </a:spcAft>
              <a:tabLst>
                <a:tab pos="514350" algn="l"/>
                <a:tab pos="1028700" algn="l"/>
                <a:tab pos="1543050" algn="l"/>
              </a:tabLst>
            </a:pPr>
            <a:endParaRPr lang="zh-CN" altLang="en-US" sz="1800" b="1" dirty="0">
              <a:solidFill>
                <a:srgbClr val="000000"/>
              </a:solidFill>
              <a:latin typeface="Courier New" pitchFamily="49" charset="0"/>
            </a:endParaRPr>
          </a:p>
        </p:txBody>
      </p:sp>
      <p:sp>
        <p:nvSpPr>
          <p:cNvPr id="30" name="矩形 2"/>
          <p:cNvSpPr>
            <a:spLocks noChangeArrowheads="1"/>
          </p:cNvSpPr>
          <p:nvPr/>
        </p:nvSpPr>
        <p:spPr bwMode="auto">
          <a:xfrm>
            <a:off x="4932363" y="3287701"/>
            <a:ext cx="3527425" cy="2016125"/>
          </a:xfrm>
          <a:prstGeom prst="rect">
            <a:avLst/>
          </a:prstGeom>
          <a:noFill/>
          <a:ln>
            <a:noFill/>
          </a:ln>
          <a:extLst/>
        </p:spPr>
        <p:txBody>
          <a:bodyPr>
            <a:spAutoFit/>
          </a:bodyPr>
          <a:lstStyle>
            <a:lvl1pPr>
              <a:defRPr sz="1600">
                <a:solidFill>
                  <a:schemeClr val="tx1"/>
                </a:solidFill>
                <a:latin typeface="Arial" panose="020B0604020202020204" pitchFamily="34" charset="0"/>
                <a:ea typeface="华文楷体" panose="02010600040101010101" pitchFamily="2" charset="-122"/>
              </a:defRPr>
            </a:lvl1pPr>
            <a:lvl2pPr marL="742950" indent="-285750">
              <a:defRPr sz="1600">
                <a:solidFill>
                  <a:schemeClr val="tx1"/>
                </a:solidFill>
                <a:latin typeface="Arial" panose="020B0604020202020204" pitchFamily="34" charset="0"/>
                <a:ea typeface="华文楷体" panose="02010600040101010101" pitchFamily="2" charset="-122"/>
              </a:defRPr>
            </a:lvl2pPr>
            <a:lvl3pPr marL="1143000" indent="-228600">
              <a:defRPr sz="1600">
                <a:solidFill>
                  <a:schemeClr val="tx1"/>
                </a:solidFill>
                <a:latin typeface="Arial" panose="020B0604020202020204" pitchFamily="34" charset="0"/>
                <a:ea typeface="华文楷体" panose="02010600040101010101" pitchFamily="2" charset="-122"/>
              </a:defRPr>
            </a:lvl3pPr>
            <a:lvl4pPr marL="1600200" indent="-228600">
              <a:defRPr sz="1600">
                <a:solidFill>
                  <a:schemeClr val="tx1"/>
                </a:solidFill>
                <a:latin typeface="Arial" panose="020B0604020202020204" pitchFamily="34" charset="0"/>
                <a:ea typeface="华文楷体" panose="02010600040101010101" pitchFamily="2" charset="-122"/>
              </a:defRPr>
            </a:lvl4pPr>
            <a:lvl5pPr marL="2057400" indent="-228600">
              <a:defRPr sz="1600">
                <a:solidFill>
                  <a:schemeClr val="tx1"/>
                </a:solidFill>
                <a:latin typeface="Arial" panose="020B0604020202020204" pitchFamily="34" charset="0"/>
                <a:ea typeface="华文楷体" panose="020106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楷体" panose="020106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楷体" panose="020106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楷体" panose="020106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楷体" panose="02010600040101010101" pitchFamily="2" charset="-122"/>
              </a:defRPr>
            </a:lvl9pPr>
          </a:lstStyle>
          <a:p>
            <a:pPr marL="342900" indent="-342900">
              <a:lnSpc>
                <a:spcPct val="125000"/>
              </a:lnSpc>
              <a:buClr>
                <a:schemeClr val="accent1">
                  <a:lumMod val="60000"/>
                  <a:lumOff val="40000"/>
                </a:schemeClr>
              </a:buClr>
              <a:buSzPct val="110000"/>
              <a:buFont typeface="Arial" panose="020B0604020202020204" pitchFamily="34" charset="0"/>
              <a:buChar char="•"/>
              <a:defRPr/>
            </a:pPr>
            <a:r>
              <a:rPr lang="zh-CN" altLang="en-US" sz="200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如果改了先关参数后（如接口优先级），需要使用</a:t>
            </a:r>
            <a:r>
              <a:rPr lang="en-US" altLang="zh-CN" sz="200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clear </a:t>
            </a:r>
            <a:r>
              <a:rPr lang="en-US" altLang="zh-CN" sz="2000" dirty="0" err="1"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ip</a:t>
            </a:r>
            <a:r>
              <a:rPr lang="en-US" altLang="zh-CN" sz="200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err="1"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ospf</a:t>
            </a:r>
            <a:r>
              <a:rPr lang="en-US" altLang="zh-CN" sz="200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process </a:t>
            </a:r>
            <a:r>
              <a:rPr lang="zh-CN" altLang="en-US" sz="200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清楚掉</a:t>
            </a:r>
            <a:r>
              <a:rPr lang="en-US" altLang="zh-CN" sz="200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OSPF</a:t>
            </a:r>
            <a:r>
              <a:rPr lang="zh-CN" altLang="en-US" sz="200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进程让路由器之间从新建立</a:t>
            </a:r>
            <a:r>
              <a:rPr lang="en-US" altLang="zh-CN" sz="200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OSPF</a:t>
            </a:r>
            <a:r>
              <a:rPr lang="zh-CN" altLang="en-US" sz="200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邻居关系</a:t>
            </a:r>
          </a:p>
        </p:txBody>
      </p:sp>
      <p:sp>
        <p:nvSpPr>
          <p:cNvPr id="31" name="Rectangle 6"/>
          <p:cNvSpPr txBox="1">
            <a:spLocks noChangeArrowheads="1"/>
          </p:cNvSpPr>
          <p:nvPr/>
        </p:nvSpPr>
        <p:spPr>
          <a:xfrm>
            <a:off x="323850" y="1000108"/>
            <a:ext cx="7623175" cy="785818"/>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4400" b="1" i="0" u="none" strike="noStrike" kern="0" cap="none" spc="0" normalizeH="0" baseline="0" noProof="0" smtClean="0">
                <a:ln>
                  <a:noFill/>
                </a:ln>
                <a:solidFill>
                  <a:srgbClr val="0070C0"/>
                </a:solidFill>
                <a:effectLst/>
                <a:uLnTx/>
                <a:uFillTx/>
                <a:latin typeface="+mj-lt"/>
                <a:ea typeface="宋体" charset="-122"/>
                <a:cs typeface="+mj-cs"/>
              </a:rPr>
              <a:t>查看 </a:t>
            </a:r>
            <a:r>
              <a:rPr kumimoji="0" lang="en-US" altLang="zh-CN" sz="4400" b="1" i="0" u="none" strike="noStrike" kern="0" cap="none" spc="0" normalizeH="0" baseline="0" noProof="0" smtClean="0">
                <a:ln>
                  <a:noFill/>
                </a:ln>
                <a:solidFill>
                  <a:srgbClr val="0070C0"/>
                </a:solidFill>
                <a:effectLst/>
                <a:uLnTx/>
                <a:uFillTx/>
                <a:latin typeface="+mj-lt"/>
                <a:ea typeface="宋体" charset="-122"/>
                <a:cs typeface="+mj-cs"/>
              </a:rPr>
              <a:t>OSPF </a:t>
            </a:r>
            <a:r>
              <a:rPr kumimoji="0" lang="zh-CN" altLang="en-US" sz="4400" b="1" i="0" u="none" strike="noStrike" kern="0" cap="none" spc="0" normalizeH="0" baseline="0" noProof="0" smtClean="0">
                <a:ln>
                  <a:noFill/>
                </a:ln>
                <a:solidFill>
                  <a:srgbClr val="0070C0"/>
                </a:solidFill>
                <a:effectLst/>
                <a:uLnTx/>
                <a:uFillTx/>
                <a:latin typeface="+mj-lt"/>
                <a:ea typeface="宋体" charset="-122"/>
                <a:cs typeface="+mj-cs"/>
              </a:rPr>
              <a:t>配置</a:t>
            </a:r>
            <a:endParaRPr kumimoji="0" lang="zh-CN" altLang="en-US" sz="4400" b="1" i="0" u="none" strike="noStrike" kern="0" cap="none" spc="0" normalizeH="0" baseline="0" noProof="0" dirty="0" smtClean="0">
              <a:ln>
                <a:noFill/>
              </a:ln>
              <a:solidFill>
                <a:srgbClr val="0070C0"/>
              </a:solidFill>
              <a:effectLst/>
              <a:uLnTx/>
              <a:uFillTx/>
              <a:latin typeface="+mj-lt"/>
              <a:ea typeface="宋体" charset="-122"/>
              <a:cs typeface="+mj-cs"/>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ChangeArrowheads="1"/>
          </p:cNvSpPr>
          <p:nvPr/>
        </p:nvSpPr>
        <p:spPr bwMode="auto">
          <a:xfrm>
            <a:off x="1339850" y="3644900"/>
            <a:ext cx="6400800" cy="622300"/>
          </a:xfrm>
          <a:prstGeom prst="rect">
            <a:avLst/>
          </a:prstGeom>
          <a:noFill/>
          <a:ln w="9525">
            <a:noFill/>
            <a:miter lim="800000"/>
            <a:headEnd/>
            <a:tailEnd/>
          </a:ln>
        </p:spPr>
        <p:txBody>
          <a:bodyPr/>
          <a:lstStyle/>
          <a:p>
            <a:pPr marL="342900" indent="-342900" eaLnBrk="1" hangingPunct="1">
              <a:spcBef>
                <a:spcPct val="20000"/>
              </a:spcBef>
              <a:buClr>
                <a:schemeClr val="bg2"/>
              </a:buClr>
              <a:buSzPct val="75000"/>
              <a:buFont typeface="Wingdings" pitchFamily="2" charset="2"/>
              <a:buNone/>
            </a:pPr>
            <a:endParaRPr lang="zh-CN" altLang="zh-CN" sz="3600">
              <a:solidFill>
                <a:srgbClr val="800000"/>
              </a:solidFill>
              <a:latin typeface="黑体" pitchFamily="49" charset="-122"/>
              <a:ea typeface="黑体" pitchFamily="49" charset="-122"/>
            </a:endParaRPr>
          </a:p>
        </p:txBody>
      </p:sp>
      <p:sp>
        <p:nvSpPr>
          <p:cNvPr id="4099" name="Rectangle 6"/>
          <p:cNvSpPr>
            <a:spLocks noChangeArrowheads="1"/>
          </p:cNvSpPr>
          <p:nvPr/>
        </p:nvSpPr>
        <p:spPr bwMode="auto">
          <a:xfrm>
            <a:off x="1639888" y="6237288"/>
            <a:ext cx="57150" cy="396875"/>
          </a:xfrm>
          <a:prstGeom prst="rect">
            <a:avLst/>
          </a:prstGeom>
          <a:noFill/>
          <a:ln w="12700">
            <a:noFill/>
            <a:miter lim="800000"/>
            <a:headEnd/>
            <a:tailEnd/>
          </a:ln>
          <a:effectLst>
            <a:outerShdw dist="17961" dir="2700000" algn="ctr" rotWithShape="0">
              <a:schemeClr val="tx1"/>
            </a:outerShdw>
          </a:effectLst>
        </p:spPr>
        <p:txBody>
          <a:bodyPr wrap="none" lIns="28575" tIns="15875" rIns="28575" bIns="15875">
            <a:spAutoFit/>
          </a:bodyPr>
          <a:lstStyle/>
          <a:p>
            <a:pPr defTabSz="84138">
              <a:defRPr/>
            </a:pPr>
            <a:endParaRPr lang="zh-CN" altLang="zh-CN" sz="2400" b="1">
              <a:ea typeface="宋体" charset="-122"/>
            </a:endParaRPr>
          </a:p>
        </p:txBody>
      </p:sp>
      <p:sp>
        <p:nvSpPr>
          <p:cNvPr id="3076" name="WordArt 10"/>
          <p:cNvSpPr>
            <a:spLocks noChangeArrowheads="1" noChangeShapeType="1" noTextEdit="1"/>
          </p:cNvSpPr>
          <p:nvPr/>
        </p:nvSpPr>
        <p:spPr bwMode="auto">
          <a:xfrm>
            <a:off x="6877050" y="188913"/>
            <a:ext cx="1971675" cy="287337"/>
          </a:xfrm>
          <a:prstGeom prst="rect">
            <a:avLst/>
          </a:prstGeom>
        </p:spPr>
        <p:txBody>
          <a:bodyPr wrap="none" fromWordArt="1">
            <a:prstTxWarp prst="textPlain">
              <a:avLst>
                <a:gd name="adj" fmla="val 50000"/>
              </a:avLst>
            </a:prstTxWarp>
          </a:bodyPr>
          <a:lstStyle/>
          <a:p>
            <a:pPr algn="ctr"/>
            <a:r>
              <a:rPr lang="zh-CN" altLang="en-US" sz="3600" kern="10">
                <a:ln w="19050">
                  <a:solidFill>
                    <a:srgbClr val="99CCFF"/>
                  </a:solidFill>
                  <a:round/>
                  <a:headEnd/>
                  <a:tailEnd/>
                </a:ln>
                <a:solidFill>
                  <a:srgbClr val="0066CC"/>
                </a:solidFill>
                <a:effectLst>
                  <a:outerShdw dist="35921" dir="2700000" algn="ctr" rotWithShape="0">
                    <a:srgbClr val="990000"/>
                  </a:outerShdw>
                </a:effectLst>
                <a:latin typeface="宋体"/>
                <a:ea typeface="宋体"/>
              </a:rPr>
              <a:t>计算机网络实验室</a:t>
            </a:r>
          </a:p>
        </p:txBody>
      </p:sp>
      <p:sp>
        <p:nvSpPr>
          <p:cNvPr id="3077" name="Rectangle 11"/>
          <p:cNvSpPr>
            <a:spLocks noGrp="1" noChangeArrowheads="1"/>
          </p:cNvSpPr>
          <p:nvPr>
            <p:ph type="title" idx="4294967295"/>
          </p:nvPr>
        </p:nvSpPr>
        <p:spPr>
          <a:xfrm>
            <a:off x="428596" y="2643182"/>
            <a:ext cx="8477250" cy="1146180"/>
          </a:xfrm>
          <a:noFill/>
        </p:spPr>
        <p:txBody>
          <a:bodyPr/>
          <a:lstStyle/>
          <a:p>
            <a:pPr algn="ctr" eaLnBrk="1" hangingPunct="1"/>
            <a:r>
              <a:rPr lang="zh-CN" altLang="en-US" dirty="0" smtClean="0">
                <a:effectLst>
                  <a:outerShdw blurRad="38100" dist="38100" dir="2700000" algn="tl">
                    <a:srgbClr val="000000">
                      <a:alpha val="43137"/>
                    </a:srgbClr>
                  </a:outerShdw>
                </a:effectLst>
              </a:rPr>
              <a:t>动态路由实验</a:t>
            </a:r>
            <a:endParaRPr lang="en-US" altLang="zh-CN" dirty="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type="title" idx="4294967295"/>
          </p:nvPr>
        </p:nvSpPr>
        <p:spPr/>
        <p:txBody>
          <a:bodyPr/>
          <a:lstStyle/>
          <a:p>
            <a:pPr eaLnBrk="1" hangingPunct="1"/>
            <a:r>
              <a:rPr lang="zh-CN" altLang="en-US" dirty="0" smtClean="0">
                <a:effectLst>
                  <a:outerShdw blurRad="38100" dist="38100" dir="2700000" algn="tl">
                    <a:srgbClr val="000000">
                      <a:alpha val="43137"/>
                    </a:srgbClr>
                  </a:outerShdw>
                </a:effectLst>
              </a:rPr>
              <a:t>动态路由实验</a:t>
            </a:r>
            <a:endParaRPr lang="en-US" altLang="zh-CN" dirty="0" smtClean="0">
              <a:latin typeface="宋体" pitchFamily="2" charset="-122"/>
            </a:endParaRPr>
          </a:p>
        </p:txBody>
      </p:sp>
      <p:sp>
        <p:nvSpPr>
          <p:cNvPr id="3" name="矩形 2"/>
          <p:cNvSpPr/>
          <p:nvPr/>
        </p:nvSpPr>
        <p:spPr>
          <a:xfrm>
            <a:off x="323850" y="1195388"/>
            <a:ext cx="8496300" cy="646112"/>
          </a:xfrm>
          <a:prstGeom prst="rect">
            <a:avLst/>
          </a:prstGeom>
        </p:spPr>
        <p:txBody>
          <a:bodyPr>
            <a:spAutoFit/>
          </a:bodyPr>
          <a:lstStyle/>
          <a:p>
            <a:pPr indent="266700" algn="just">
              <a:spcAft>
                <a:spcPts val="0"/>
              </a:spcAft>
              <a:defRPr/>
            </a:pPr>
            <a:r>
              <a:rPr lang="zh-CN" altLang="zh-CN" sz="1800" kern="100" dirty="0">
                <a:latin typeface="Times New Roman" panose="02020603050405020304" pitchFamily="18" charset="0"/>
                <a:ea typeface="宋体" pitchFamily="2" charset="-122"/>
              </a:rPr>
              <a:t>两台路由器与一台三层交换机相连，三层交换机与路由相连的接口</a:t>
            </a:r>
            <a:r>
              <a:rPr lang="en-US" altLang="zh-CN" sz="1800" kern="100" dirty="0">
                <a:latin typeface="Times New Roman" panose="02020603050405020304" pitchFamily="18" charset="0"/>
                <a:ea typeface="宋体" pitchFamily="2" charset="-122"/>
              </a:rPr>
              <a:t>Fa0/1</a:t>
            </a:r>
            <a:r>
              <a:rPr lang="zh-CN" altLang="zh-CN" sz="1800" kern="100" dirty="0">
                <a:latin typeface="Times New Roman" panose="02020603050405020304" pitchFamily="18" charset="0"/>
                <a:ea typeface="宋体" pitchFamily="2" charset="-122"/>
              </a:rPr>
              <a:t>，</a:t>
            </a:r>
            <a:r>
              <a:rPr lang="en-US" altLang="zh-CN" sz="1800" kern="100" dirty="0">
                <a:latin typeface="Times New Roman" panose="02020603050405020304" pitchFamily="18" charset="0"/>
                <a:ea typeface="宋体" pitchFamily="2" charset="-122"/>
              </a:rPr>
              <a:t>Fa0/2</a:t>
            </a:r>
            <a:r>
              <a:rPr lang="zh-CN" altLang="zh-CN" sz="1800" kern="100" dirty="0">
                <a:latin typeface="Times New Roman" panose="02020603050405020304" pitchFamily="18" charset="0"/>
                <a:ea typeface="宋体" pitchFamily="2" charset="-122"/>
              </a:rPr>
              <a:t>设为路由接口，</a:t>
            </a:r>
            <a:r>
              <a:rPr lang="en-US" altLang="zh-CN" sz="1800" kern="100" dirty="0">
                <a:latin typeface="Times New Roman" panose="02020603050405020304" pitchFamily="18" charset="0"/>
                <a:ea typeface="宋体" pitchFamily="2" charset="-122"/>
              </a:rPr>
              <a:t>Fa0/3</a:t>
            </a:r>
            <a:r>
              <a:rPr lang="zh-CN" altLang="zh-CN" sz="1800" kern="100" dirty="0">
                <a:latin typeface="Times New Roman" panose="02020603050405020304" pitchFamily="18" charset="0"/>
                <a:ea typeface="宋体" pitchFamily="2" charset="-122"/>
              </a:rPr>
              <a:t>，</a:t>
            </a:r>
            <a:r>
              <a:rPr lang="en-US" altLang="zh-CN" sz="1800" kern="100" dirty="0">
                <a:latin typeface="Times New Roman" panose="02020603050405020304" pitchFamily="18" charset="0"/>
                <a:ea typeface="宋体" pitchFamily="2" charset="-122"/>
              </a:rPr>
              <a:t>Fa0/4</a:t>
            </a:r>
            <a:r>
              <a:rPr lang="zh-CN" altLang="zh-CN" sz="1800" kern="100" dirty="0">
                <a:latin typeface="Times New Roman" panose="02020603050405020304" pitchFamily="18" charset="0"/>
                <a:ea typeface="宋体" pitchFamily="2" charset="-122"/>
              </a:rPr>
              <a:t>为交换接口，连接计算机，默认属于</a:t>
            </a:r>
            <a:r>
              <a:rPr lang="en-US" altLang="zh-CN" sz="1800" kern="100" dirty="0">
                <a:latin typeface="Times New Roman" panose="02020603050405020304" pitchFamily="18" charset="0"/>
                <a:ea typeface="宋体" pitchFamily="2" charset="-122"/>
              </a:rPr>
              <a:t>VLAN1</a:t>
            </a:r>
            <a:r>
              <a:rPr lang="zh-CN" altLang="zh-CN" sz="1800" kern="100" dirty="0">
                <a:latin typeface="Times New Roman" panose="02020603050405020304" pitchFamily="18" charset="0"/>
                <a:ea typeface="宋体" pitchFamily="2" charset="-122"/>
              </a:rPr>
              <a:t>。</a:t>
            </a:r>
          </a:p>
        </p:txBody>
      </p:sp>
      <p:graphicFrame>
        <p:nvGraphicFramePr>
          <p:cNvPr id="4" name="对象 4"/>
          <p:cNvGraphicFramePr>
            <a:graphicFrameLocks noChangeAspect="1"/>
          </p:cNvGraphicFramePr>
          <p:nvPr/>
        </p:nvGraphicFramePr>
        <p:xfrm>
          <a:off x="544513" y="1790700"/>
          <a:ext cx="8054975" cy="3743325"/>
        </p:xfrm>
        <a:graphic>
          <a:graphicData uri="http://schemas.openxmlformats.org/presentationml/2006/ole">
            <mc:AlternateContent xmlns:mc="http://schemas.openxmlformats.org/markup-compatibility/2006">
              <mc:Choice xmlns:v="urn:schemas-microsoft-com:vml" Requires="v">
                <p:oleObj spid="_x0000_s2051" name="Visio" r:id="rId4" imgW="7619974" imgH="3524224" progId="Visio.Drawing.11">
                  <p:embed/>
                </p:oleObj>
              </mc:Choice>
              <mc:Fallback>
                <p:oleObj name="Visio" r:id="rId4" imgW="7619974" imgH="3524224" progId="Visio.Drawing.11">
                  <p:embed/>
                  <p:pic>
                    <p:nvPicPr>
                      <p:cNvPr id="0"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4513" y="1790700"/>
                        <a:ext cx="8054975" cy="3743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椭圆 5"/>
          <p:cNvSpPr>
            <a:spLocks noChangeArrowheads="1"/>
          </p:cNvSpPr>
          <p:nvPr/>
        </p:nvSpPr>
        <p:spPr bwMode="auto">
          <a:xfrm>
            <a:off x="2195513" y="4292600"/>
            <a:ext cx="4752975" cy="1657350"/>
          </a:xfrm>
          <a:prstGeom prst="ellipse">
            <a:avLst/>
          </a:prstGeom>
          <a:noFill/>
          <a:ln w="9525" algn="ctr">
            <a:noFill/>
            <a:round/>
            <a:headEnd/>
            <a:tailEnd/>
          </a:ln>
        </p:spPr>
        <p:txBody>
          <a:bodyPr lIns="73025" tIns="36512" rIns="73025" bIns="36512"/>
          <a:lstStyle/>
          <a:p>
            <a:endParaRPr lang="zh-CN" altLang="en-US" sz="1600">
              <a:ea typeface="华文楷体" pitchFamily="2" charset="-122"/>
            </a:endParaRPr>
          </a:p>
        </p:txBody>
      </p:sp>
      <p:sp>
        <p:nvSpPr>
          <p:cNvPr id="6" name="椭圆 6"/>
          <p:cNvSpPr>
            <a:spLocks noChangeArrowheads="1"/>
          </p:cNvSpPr>
          <p:nvPr/>
        </p:nvSpPr>
        <p:spPr bwMode="auto">
          <a:xfrm>
            <a:off x="2124075" y="4365625"/>
            <a:ext cx="5040313" cy="1584325"/>
          </a:xfrm>
          <a:prstGeom prst="ellipse">
            <a:avLst/>
          </a:prstGeom>
          <a:noFill/>
          <a:ln w="9525" algn="ctr">
            <a:noFill/>
            <a:round/>
            <a:headEnd/>
            <a:tailEnd/>
          </a:ln>
        </p:spPr>
        <p:txBody>
          <a:bodyPr lIns="73025" tIns="36512" rIns="73025" bIns="36512"/>
          <a:lstStyle/>
          <a:p>
            <a:endParaRPr lang="zh-CN" altLang="en-US" sz="1600">
              <a:ea typeface="华文楷体" pitchFamily="2" charset="-122"/>
            </a:endParaRPr>
          </a:p>
        </p:txBody>
      </p:sp>
      <p:sp>
        <p:nvSpPr>
          <p:cNvPr id="7" name="椭圆 7"/>
          <p:cNvSpPr>
            <a:spLocks noChangeArrowheads="1"/>
          </p:cNvSpPr>
          <p:nvPr/>
        </p:nvSpPr>
        <p:spPr bwMode="auto">
          <a:xfrm>
            <a:off x="1941513" y="4108450"/>
            <a:ext cx="5222875" cy="2057400"/>
          </a:xfrm>
          <a:prstGeom prst="ellipse">
            <a:avLst/>
          </a:prstGeom>
          <a:noFill/>
          <a:ln w="9525" algn="ctr">
            <a:solidFill>
              <a:srgbClr val="FF0000"/>
            </a:solidFill>
            <a:round/>
            <a:headEnd/>
            <a:tailEnd/>
          </a:ln>
        </p:spPr>
        <p:txBody>
          <a:bodyPr lIns="73025" tIns="36512" rIns="73025" bIns="36512"/>
          <a:lstStyle/>
          <a:p>
            <a:endParaRPr lang="zh-CN" altLang="en-US" sz="1600">
              <a:ea typeface="华文楷体" pitchFamily="2" charset="-122"/>
            </a:endParaRPr>
          </a:p>
        </p:txBody>
      </p:sp>
      <p:sp>
        <p:nvSpPr>
          <p:cNvPr id="8" name="文本框 8"/>
          <p:cNvSpPr txBox="1">
            <a:spLocks noChangeArrowheads="1"/>
          </p:cNvSpPr>
          <p:nvPr/>
        </p:nvSpPr>
        <p:spPr bwMode="auto">
          <a:xfrm>
            <a:off x="3708400" y="5637213"/>
            <a:ext cx="1871663" cy="307975"/>
          </a:xfrm>
          <a:prstGeom prst="rect">
            <a:avLst/>
          </a:prstGeom>
          <a:noFill/>
          <a:ln w="9525">
            <a:noFill/>
            <a:miter lim="800000"/>
            <a:headEnd/>
            <a:tailEnd/>
          </a:ln>
        </p:spPr>
        <p:txBody>
          <a:bodyPr>
            <a:spAutoFit/>
          </a:bodyPr>
          <a:lstStyle/>
          <a:p>
            <a:r>
              <a:rPr lang="zh-CN" altLang="en-US">
                <a:solidFill>
                  <a:srgbClr val="FF0000"/>
                </a:solidFill>
              </a:rPr>
              <a:t>虚拟</a:t>
            </a:r>
            <a:r>
              <a:rPr lang="en-US" altLang="zh-CN">
                <a:solidFill>
                  <a:srgbClr val="FF0000"/>
                </a:solidFill>
              </a:rPr>
              <a:t>VLAN</a:t>
            </a:r>
            <a:r>
              <a:rPr lang="zh-CN" altLang="en-US">
                <a:solidFill>
                  <a:srgbClr val="FF0000"/>
                </a:solidFill>
              </a:rPr>
              <a:t>接口及</a:t>
            </a:r>
            <a:r>
              <a:rPr lang="en-US" altLang="zh-CN">
                <a:solidFill>
                  <a:srgbClr val="FF0000"/>
                </a:solidFill>
              </a:rPr>
              <a:t>IP</a:t>
            </a:r>
            <a:endParaRPr lang="zh-CN" altLang="en-US">
              <a:solidFill>
                <a:srgbClr val="FF0000"/>
              </a:solidFill>
            </a:endParaRPr>
          </a:p>
        </p:txBody>
      </p:sp>
      <p:sp>
        <p:nvSpPr>
          <p:cNvPr id="9" name="标题 1"/>
          <p:cNvSpPr txBox="1">
            <a:spLocks/>
          </p:cNvSpPr>
          <p:nvPr/>
        </p:nvSpPr>
        <p:spPr>
          <a:xfrm>
            <a:off x="285720" y="785794"/>
            <a:ext cx="8145463" cy="334962"/>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dirty="0" smtClean="0">
                <a:ln>
                  <a:noFill/>
                </a:ln>
                <a:solidFill>
                  <a:srgbClr val="FF0000"/>
                </a:solidFill>
                <a:effectLst/>
                <a:uLnTx/>
                <a:uFillTx/>
                <a:latin typeface="+mj-lt"/>
                <a:ea typeface="+mj-ea"/>
                <a:cs typeface="+mj-cs"/>
              </a:rPr>
              <a:t>实验拓扑示例</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zh-CN" altLang="en-US" sz="4000" dirty="0" smtClean="0">
                <a:effectLst>
                  <a:outerShdw blurRad="38100" dist="38100" dir="2700000" algn="tl">
                    <a:srgbClr val="000000">
                      <a:alpha val="43137"/>
                    </a:srgbClr>
                  </a:outerShdw>
                </a:effectLst>
              </a:rPr>
              <a:t>动态路由</a:t>
            </a:r>
            <a:r>
              <a:rPr lang="zh-CN" altLang="en-US" sz="4000" dirty="0" smtClean="0"/>
              <a:t>实验</a:t>
            </a:r>
          </a:p>
        </p:txBody>
      </p:sp>
      <p:sp>
        <p:nvSpPr>
          <p:cNvPr id="32771" name="Rectangle 3"/>
          <p:cNvSpPr>
            <a:spLocks noGrp="1" noChangeArrowheads="1"/>
          </p:cNvSpPr>
          <p:nvPr>
            <p:ph type="body" idx="1"/>
          </p:nvPr>
        </p:nvSpPr>
        <p:spPr>
          <a:xfrm>
            <a:off x="323850" y="908050"/>
            <a:ext cx="8496300" cy="5400675"/>
          </a:xfrm>
        </p:spPr>
        <p:txBody>
          <a:bodyPr/>
          <a:lstStyle/>
          <a:p>
            <a:r>
              <a:rPr lang="zh-CN" altLang="en-US" dirty="0" smtClean="0"/>
              <a:t>实验步骤：</a:t>
            </a:r>
          </a:p>
          <a:p>
            <a:pPr lvl="1"/>
            <a:r>
              <a:rPr lang="zh-CN" altLang="en-US" sz="3200" dirty="0" smtClean="0"/>
              <a:t>按实验拓扑进行实验参数规划。</a:t>
            </a:r>
          </a:p>
          <a:p>
            <a:pPr lvl="1"/>
            <a:r>
              <a:rPr lang="zh-CN" altLang="en-US" sz="3200" dirty="0" smtClean="0"/>
              <a:t>按规划连接网络</a:t>
            </a:r>
            <a:endParaRPr lang="en-US" altLang="zh-CN" sz="3200" dirty="0" smtClean="0"/>
          </a:p>
          <a:p>
            <a:pPr lvl="1"/>
            <a:r>
              <a:rPr lang="zh-CN" altLang="en-US" sz="3200" dirty="0" smtClean="0"/>
              <a:t>按</a:t>
            </a:r>
            <a:r>
              <a:rPr lang="en-US" altLang="zh-CN" sz="3200" dirty="0" smtClean="0"/>
              <a:t>IP</a:t>
            </a:r>
            <a:r>
              <a:rPr lang="zh-CN" altLang="en-US" sz="3200" dirty="0" smtClean="0"/>
              <a:t>规划配置所有接口的</a:t>
            </a:r>
            <a:r>
              <a:rPr lang="en-US" altLang="zh-CN" sz="3200" dirty="0" smtClean="0"/>
              <a:t>IP</a:t>
            </a:r>
            <a:r>
              <a:rPr lang="zh-CN" altLang="en-US" sz="3200" dirty="0" smtClean="0"/>
              <a:t>。</a:t>
            </a:r>
          </a:p>
          <a:p>
            <a:pPr lvl="1"/>
            <a:r>
              <a:rPr lang="zh-CN" altLang="en-US" sz="3200" dirty="0" smtClean="0"/>
              <a:t>配置动态路由</a:t>
            </a:r>
            <a:endParaRPr lang="en-US" altLang="zh-CN" sz="3200" dirty="0" smtClean="0"/>
          </a:p>
          <a:p>
            <a:pPr lvl="1"/>
            <a:r>
              <a:rPr lang="zh-CN" altLang="en-US" sz="3200" dirty="0" smtClean="0"/>
              <a:t>察看</a:t>
            </a:r>
            <a:r>
              <a:rPr lang="zh-CN" altLang="en-US" sz="3200" smtClean="0"/>
              <a:t>路由器的路由信息</a:t>
            </a:r>
            <a:r>
              <a:rPr lang="zh-CN" altLang="en-US" sz="3200" dirty="0" smtClean="0"/>
              <a:t>。</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type="title" idx="4294967295"/>
          </p:nvPr>
        </p:nvSpPr>
        <p:spPr/>
        <p:txBody>
          <a:bodyPr/>
          <a:lstStyle/>
          <a:p>
            <a:pPr eaLnBrk="1" hangingPunct="1"/>
            <a:r>
              <a:rPr lang="zh-CN" altLang="en-US" dirty="0" smtClean="0">
                <a:effectLst>
                  <a:outerShdw blurRad="38100" dist="38100" dir="2700000" algn="tl">
                    <a:srgbClr val="000000">
                      <a:alpha val="43137"/>
                    </a:srgbClr>
                  </a:outerShdw>
                </a:effectLst>
              </a:rPr>
              <a:t>动态路由实验</a:t>
            </a:r>
            <a:endParaRPr lang="en-US" altLang="zh-CN" dirty="0" smtClean="0">
              <a:latin typeface="宋体" pitchFamily="2" charset="-122"/>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Pixel</Template>
  <TotalTime>3616</TotalTime>
  <Words>1878</Words>
  <Application>Microsoft Office PowerPoint</Application>
  <PresentationFormat>全屏显示(4:3)</PresentationFormat>
  <Paragraphs>267</Paragraphs>
  <Slides>27</Slides>
  <Notes>25</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27</vt:i4>
      </vt:variant>
    </vt:vector>
  </HeadingPairs>
  <TitlesOfParts>
    <vt:vector size="42" baseType="lpstr">
      <vt:lpstr>Arial Unicode MS</vt:lpstr>
      <vt:lpstr>Courier</vt:lpstr>
      <vt:lpstr>黑体</vt:lpstr>
      <vt:lpstr>华文楷体</vt:lpstr>
      <vt:lpstr>楷体_GB2312</vt:lpstr>
      <vt:lpstr>宋体</vt:lpstr>
      <vt:lpstr>Arial</vt:lpstr>
      <vt:lpstr>Arial Black</vt:lpstr>
      <vt:lpstr>Courier New</vt:lpstr>
      <vt:lpstr>Helvetica</vt:lpstr>
      <vt:lpstr>Times New Roman</vt:lpstr>
      <vt:lpstr>Verdana</vt:lpstr>
      <vt:lpstr>Wingdings</vt:lpstr>
      <vt:lpstr>Pixel</vt:lpstr>
      <vt:lpstr>Visio</vt:lpstr>
      <vt:lpstr>动态路由协议 应用及配置实验</vt:lpstr>
      <vt:lpstr>实验目的</vt:lpstr>
      <vt:lpstr>动态路由协议</vt:lpstr>
      <vt:lpstr>动态路由协议</vt:lpstr>
      <vt:lpstr>动态路由协议分类</vt:lpstr>
      <vt:lpstr>距离-矢量(D-V)路由协议</vt:lpstr>
      <vt:lpstr>链路状态(L-S)路由协议</vt:lpstr>
      <vt:lpstr>RIP路由协议</vt:lpstr>
      <vt:lpstr>RIP 协议</vt:lpstr>
      <vt:lpstr>RIP 协议</vt:lpstr>
      <vt:lpstr>RIP 协议</vt:lpstr>
      <vt:lpstr>RIP 协议</vt:lpstr>
      <vt:lpstr>RIP 配置</vt:lpstr>
      <vt:lpstr>RIP 配置</vt:lpstr>
      <vt:lpstr>RIP 配置</vt:lpstr>
      <vt:lpstr>OSPF路由协议</vt:lpstr>
      <vt:lpstr>OSPF路由协议</vt:lpstr>
      <vt:lpstr>OSPF路由协议</vt:lpstr>
      <vt:lpstr>OSPF路由协议</vt:lpstr>
      <vt:lpstr>OSPF路由协议</vt:lpstr>
      <vt:lpstr>配置单区域的 OSPF</vt:lpstr>
      <vt:lpstr>配置单区域的 OSPF</vt:lpstr>
      <vt:lpstr>配置单区域的 OSPF</vt:lpstr>
      <vt:lpstr>动态路由实验</vt:lpstr>
      <vt:lpstr>动态路由实验</vt:lpstr>
      <vt:lpstr>动态路由实验</vt:lpstr>
      <vt:lpstr>动态路由实验</vt:lpstr>
    </vt:vector>
  </TitlesOfParts>
  <Company>netlab</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dc:title>
  <dc:creator>贾真</dc:creator>
  <cp:lastModifiedBy>AutoBVT</cp:lastModifiedBy>
  <cp:revision>315</cp:revision>
  <dcterms:created xsi:type="dcterms:W3CDTF">2004-09-14T08:08:58Z</dcterms:created>
  <dcterms:modified xsi:type="dcterms:W3CDTF">2021-01-06T09:50:23Z</dcterms:modified>
</cp:coreProperties>
</file>