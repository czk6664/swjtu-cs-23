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24"/>
  </p:notesMasterIdLst>
  <p:handoutMasterIdLst>
    <p:handoutMasterId r:id="rId25"/>
  </p:handoutMasterIdLst>
  <p:sldIdLst>
    <p:sldId id="283" r:id="rId6"/>
    <p:sldId id="288" r:id="rId7"/>
    <p:sldId id="349" r:id="rId8"/>
    <p:sldId id="421" r:id="rId9"/>
    <p:sldId id="424" r:id="rId10"/>
    <p:sldId id="425" r:id="rId11"/>
    <p:sldId id="430" r:id="rId12"/>
    <p:sldId id="426" r:id="rId13"/>
    <p:sldId id="431" r:id="rId14"/>
    <p:sldId id="428" r:id="rId15"/>
    <p:sldId id="439" r:id="rId16"/>
    <p:sldId id="427" r:id="rId17"/>
    <p:sldId id="436" r:id="rId18"/>
    <p:sldId id="429" r:id="rId19"/>
    <p:sldId id="437" r:id="rId20"/>
    <p:sldId id="438" r:id="rId21"/>
    <p:sldId id="292" r:id="rId22"/>
    <p:sldId id="280" r:id="rId23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8"/>
          </p14:sldIdLst>
        </p14:section>
        <p14:section name="章节页" id="{FD05EE94-C931-8C4B-83A2-004B32AA1207}">
          <p14:sldIdLst>
            <p14:sldId id="349"/>
            <p14:sldId id="421"/>
            <p14:sldId id="424"/>
            <p14:sldId id="425"/>
            <p14:sldId id="430"/>
            <p14:sldId id="426"/>
            <p14:sldId id="431"/>
            <p14:sldId id="428"/>
            <p14:sldId id="439"/>
            <p14:sldId id="427"/>
            <p14:sldId id="436"/>
            <p14:sldId id="429"/>
            <p14:sldId id="437"/>
            <p14:sldId id="438"/>
            <p14:sldId id="29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fanchangchun 00567414_2yeyVvEJ" initials="authorId_AK20210901:AK20210901JXNSXO4723448" lastIdx="1688638889" clrIdx="0"/>
  <p:cmAuthor id="2000" name="zhanghandong WX930509_Jj22FnMn" initials="authorId_AK20210901:AK20210901JXNSXO4676065" lastIdx="77472681" clrIdx="0"/>
  <p:cmAuthor id="2001" name="wuxiaojun 00342820_QRBvBJbY" initials="authorId_AK20210901:AK20210901JXNSXO124321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0E0"/>
    <a:srgbClr val="349634"/>
    <a:srgbClr val="008000"/>
    <a:srgbClr val="4848FF"/>
    <a:srgbClr val="E60000"/>
    <a:srgbClr val="E57B84"/>
    <a:srgbClr val="E6A8AD"/>
    <a:srgbClr val="E57984"/>
    <a:srgbClr val="FFFFFF"/>
    <a:srgbClr val="151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7" autoAdjust="0"/>
    <p:restoredTop sz="95652" autoAdjust="0"/>
  </p:normalViewPr>
  <p:slideViewPr>
    <p:cSldViewPr snapToGrid="0" snapToObjects="1">
      <p:cViewPr varScale="1">
        <p:scale>
          <a:sx n="66" d="100"/>
          <a:sy n="66" d="100"/>
        </p:scale>
        <p:origin x="40" y="336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/>
              <a:t>在右边这个示例中，我们把 </a:t>
            </a:r>
            <a:r>
              <a:rPr lang="en-US" altLang="zh-CN" sz="1600" dirty="0"/>
              <a:t>Flip </a:t>
            </a:r>
            <a:r>
              <a:rPr lang="zh-CN" altLang="en-US" sz="1600" dirty="0"/>
              <a:t>这个 </a:t>
            </a:r>
            <a:r>
              <a:rPr lang="en-US" altLang="zh-CN" sz="1600" dirty="0"/>
              <a:t>Future </a:t>
            </a:r>
            <a:r>
              <a:rPr lang="zh-CN" altLang="en-US" sz="1600" dirty="0"/>
              <a:t>放到另外一个函数 </a:t>
            </a:r>
            <a:r>
              <a:rPr lang="en-US" altLang="zh-CN" sz="1600" dirty="0"/>
              <a:t>f </a:t>
            </a:r>
            <a:r>
              <a:rPr lang="zh-CN" altLang="en-US" sz="1600" dirty="0"/>
              <a:t>中调用。执行 </a:t>
            </a:r>
            <a:r>
              <a:rPr lang="en-US" altLang="zh-CN" sz="1600" dirty="0"/>
              <a:t>Future </a:t>
            </a:r>
            <a:r>
              <a:rPr lang="zh-CN" altLang="en-US" sz="1600" dirty="0"/>
              <a:t>需要 </a:t>
            </a:r>
            <a:r>
              <a:rPr lang="en-US" altLang="zh-CN" sz="1600" dirty="0"/>
              <a:t>await </a:t>
            </a:r>
            <a:r>
              <a:rPr lang="zh-CN" altLang="en-US" sz="1600" dirty="0"/>
              <a:t>关键字，而调用这个 </a:t>
            </a:r>
            <a:r>
              <a:rPr lang="en-US" altLang="zh-CN" sz="1600" dirty="0"/>
              <a:t>Future </a:t>
            </a:r>
            <a:r>
              <a:rPr lang="zh-CN" altLang="en-US" sz="1600" dirty="0"/>
              <a:t>的函数 </a:t>
            </a:r>
            <a:r>
              <a:rPr lang="en-US" altLang="zh-CN" sz="1600" dirty="0"/>
              <a:t>f </a:t>
            </a:r>
            <a:r>
              <a:rPr lang="zh-CN" altLang="en-US" sz="1600" dirty="0"/>
              <a:t>也需要变成 </a:t>
            </a:r>
            <a:r>
              <a:rPr lang="en-US" altLang="zh-CN" sz="1600" dirty="0"/>
              <a:t>async </a:t>
            </a:r>
            <a:r>
              <a:rPr lang="zh-CN" altLang="en-US" sz="1600" dirty="0"/>
              <a:t>函数。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既然 </a:t>
            </a:r>
            <a:r>
              <a:rPr lang="en-US" altLang="zh-CN" sz="1600" dirty="0"/>
              <a:t>f </a:t>
            </a:r>
            <a:r>
              <a:rPr lang="zh-CN" altLang="en-US" sz="1600" dirty="0"/>
              <a:t>是 </a:t>
            </a:r>
            <a:r>
              <a:rPr lang="en-US" altLang="zh-CN" sz="1600" dirty="0"/>
              <a:t>async </a:t>
            </a:r>
            <a:r>
              <a:rPr lang="zh-CN" altLang="en-US" sz="1600" dirty="0"/>
              <a:t>函数，那么 </a:t>
            </a:r>
            <a:r>
              <a:rPr lang="en-US" altLang="zh-CN" sz="1600" dirty="0"/>
              <a:t>f(count) </a:t>
            </a:r>
            <a:r>
              <a:rPr lang="zh-CN" altLang="en-US" sz="1600" dirty="0"/>
              <a:t>这个函数调用，就不再是执行函数体的内容，它实际上是返回了一个实现了 </a:t>
            </a:r>
            <a:r>
              <a:rPr lang="en-US" altLang="zh-CN" sz="1600" dirty="0"/>
              <a:t>Future trait </a:t>
            </a:r>
            <a:r>
              <a:rPr lang="zh-CN" altLang="en-US" sz="1600" dirty="0"/>
              <a:t>的匿名类型。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要执行真正的业务逻辑，就必须执行这个匿名类型的 </a:t>
            </a:r>
            <a:r>
              <a:rPr lang="en-US" altLang="zh-CN" sz="1600" dirty="0"/>
              <a:t>poll </a:t>
            </a:r>
            <a:r>
              <a:rPr lang="zh-CN" altLang="en-US" sz="1600" dirty="0"/>
              <a:t>成员函数。因此在 </a:t>
            </a:r>
            <a:r>
              <a:rPr lang="en-US" altLang="zh-CN" sz="1600" dirty="0"/>
              <a:t>main </a:t>
            </a:r>
            <a:r>
              <a:rPr lang="zh-CN" altLang="en-US" sz="1600" dirty="0"/>
              <a:t>函数中准备了 </a:t>
            </a:r>
            <a:r>
              <a:rPr lang="en-US" altLang="zh-CN" sz="1600" dirty="0"/>
              <a:t>poll </a:t>
            </a:r>
            <a:r>
              <a:rPr lang="zh-CN" altLang="en-US" sz="1600" dirty="0"/>
              <a:t>函数需要的参数：</a:t>
            </a:r>
            <a:r>
              <a:rPr lang="en-US" altLang="zh-CN" sz="1600" dirty="0"/>
              <a:t>Pin</a:t>
            </a:r>
            <a:r>
              <a:rPr lang="zh-CN" altLang="en-US" sz="1600" dirty="0"/>
              <a:t>类型包装起来的 </a:t>
            </a:r>
            <a:r>
              <a:rPr lang="en-US" altLang="zh-CN" sz="1600" dirty="0"/>
              <a:t>self </a:t>
            </a:r>
            <a:r>
              <a:rPr lang="zh-CN" altLang="en-US" sz="1600" dirty="0"/>
              <a:t>参数，以及 </a:t>
            </a:r>
            <a:r>
              <a:rPr lang="en-US" altLang="zh-CN" sz="1600" dirty="0"/>
              <a:t>Context </a:t>
            </a:r>
            <a:r>
              <a:rPr lang="zh-CN" altLang="en-US" sz="1600" dirty="0"/>
              <a:t>参数。这两个类型的用处后面再细讲。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准备好了参数，接下来就可以调用 </a:t>
            </a:r>
            <a:r>
              <a:rPr lang="en-US" altLang="zh-CN" sz="1600" dirty="0"/>
              <a:t>poll </a:t>
            </a:r>
            <a:r>
              <a:rPr lang="zh-CN" altLang="en-US" sz="1600" dirty="0"/>
              <a:t>函数了。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从执行结果可见：</a:t>
            </a:r>
            <a:r>
              <a:rPr lang="en-US" altLang="zh-CN" sz="1600" dirty="0"/>
              <a:t>f </a:t>
            </a:r>
            <a:r>
              <a:rPr lang="zh-CN" altLang="en-US" sz="1600" dirty="0"/>
              <a:t>函数每轮循环执行到 </a:t>
            </a:r>
            <a:r>
              <a:rPr lang="en-US" altLang="zh-CN" sz="1600" dirty="0"/>
              <a:t>Flip::new().await </a:t>
            </a:r>
            <a:r>
              <a:rPr lang="zh-CN" altLang="en-US" sz="1600" dirty="0"/>
              <a:t>的时候都会暂停，返回到 </a:t>
            </a:r>
            <a:r>
              <a:rPr lang="en-US" altLang="zh-CN" sz="1600" dirty="0"/>
              <a:t>main </a:t>
            </a:r>
            <a:r>
              <a:rPr lang="zh-CN" altLang="en-US" sz="1600" dirty="0"/>
              <a:t>函数中；第二次再执行 </a:t>
            </a:r>
            <a:r>
              <a:rPr lang="en-US" altLang="zh-CN" sz="1600" dirty="0"/>
              <a:t>poll </a:t>
            </a:r>
            <a:r>
              <a:rPr lang="zh-CN" altLang="en-US" sz="1600" dirty="0"/>
              <a:t>的时候才会继续执行。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async </a:t>
            </a:r>
            <a:r>
              <a:rPr lang="zh-CN" altLang="en-US" sz="1600" dirty="0"/>
              <a:t>函数的这个特性，可以让我们实现在一个单线程中，并发执行多个 </a:t>
            </a:r>
            <a:r>
              <a:rPr lang="en-US" altLang="zh-CN" sz="1600" dirty="0"/>
              <a:t>async </a:t>
            </a:r>
            <a:r>
              <a:rPr lang="zh-CN" altLang="en-US" sz="1600" dirty="0"/>
              <a:t>函数。我们可以让每个 </a:t>
            </a:r>
            <a:r>
              <a:rPr lang="en-US" altLang="zh-CN" sz="1600" dirty="0"/>
              <a:t>async </a:t>
            </a:r>
            <a:r>
              <a:rPr lang="zh-CN" altLang="en-US" sz="1600" dirty="0"/>
              <a:t>函数都执行一小段就暂停，让另外一个 </a:t>
            </a:r>
            <a:r>
              <a:rPr lang="en-US" altLang="zh-CN" sz="1600" dirty="0"/>
              <a:t>async </a:t>
            </a:r>
            <a:r>
              <a:rPr lang="zh-CN" altLang="en-US" sz="1600" dirty="0"/>
              <a:t>函数继续。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从代码组织上，是以每个 </a:t>
            </a:r>
            <a:r>
              <a:rPr lang="en-US" altLang="zh-CN" sz="1600" dirty="0"/>
              <a:t>async </a:t>
            </a:r>
            <a:r>
              <a:rPr lang="zh-CN" altLang="en-US" sz="1600" dirty="0"/>
              <a:t>函数为单位的，但从执行流程上，可以做到多个 </a:t>
            </a:r>
            <a:r>
              <a:rPr lang="en-US" altLang="zh-CN" sz="1600" dirty="0"/>
              <a:t>async </a:t>
            </a:r>
            <a:r>
              <a:rPr lang="zh-CN" altLang="en-US" sz="1600" dirty="0"/>
              <a:t>函数交替执行的效果。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/>
              <a:t>在上页的例子中，执行器是按顺序不断调用多个 </a:t>
            </a:r>
            <a:r>
              <a:rPr lang="en-US" altLang="zh-CN" sz="1600" dirty="0"/>
              <a:t>Future </a:t>
            </a:r>
            <a:r>
              <a:rPr lang="zh-CN" altLang="en-US" sz="1600" dirty="0"/>
              <a:t>的。但在实际使用场景中，比如异步</a:t>
            </a:r>
            <a:r>
              <a:rPr lang="en-US" altLang="zh-CN" sz="1600" dirty="0"/>
              <a:t>IO</a:t>
            </a:r>
            <a:r>
              <a:rPr lang="zh-CN" altLang="en-US" sz="1600" dirty="0"/>
              <a:t>场景，我们不希望由执行器不断尝试调用 </a:t>
            </a:r>
            <a:r>
              <a:rPr lang="en-US" altLang="zh-CN" sz="1600" dirty="0"/>
              <a:t>poll </a:t>
            </a:r>
            <a:r>
              <a:rPr lang="zh-CN" altLang="en-US" sz="1600" dirty="0"/>
              <a:t>查看结果是不是 </a:t>
            </a:r>
            <a:r>
              <a:rPr lang="en-US" altLang="zh-CN" sz="1600" dirty="0"/>
              <a:t>Pending</a:t>
            </a:r>
            <a:r>
              <a:rPr lang="zh-CN" altLang="en-US" sz="1600" dirty="0"/>
              <a:t>，而是用一个主动通知的机制，使得执行器只在有必要的时候调用 </a:t>
            </a:r>
            <a:r>
              <a:rPr lang="en-US" altLang="zh-CN" sz="1600" dirty="0"/>
              <a:t>poll </a:t>
            </a:r>
            <a:r>
              <a:rPr lang="zh-CN" altLang="en-US" sz="1600" dirty="0"/>
              <a:t>函数。而 </a:t>
            </a:r>
            <a:r>
              <a:rPr lang="en-US" altLang="zh-CN" sz="1600" dirty="0"/>
              <a:t>Context </a:t>
            </a:r>
            <a:r>
              <a:rPr lang="zh-CN" altLang="en-US" sz="1600" dirty="0"/>
              <a:t>这个参数，就是为此准备的。</a:t>
            </a:r>
            <a:endParaRPr lang="en-US" altLang="zh-CN" sz="16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异步编程</a:t>
            </a: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>
                <a:cs typeface="+mn-ea"/>
                <a:sym typeface="+mn-lt"/>
              </a:rPr>
              <a:t>Security Level:</a:t>
            </a:r>
            <a:endParaRPr lang="en-US" sz="100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8781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通过本章节的学习，掌握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异步编程的概念和使用，掌握异步编程方法和原理。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3243628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3213170"/>
            <a:ext cx="5104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async/await</a:t>
            </a:r>
            <a:r>
              <a:rPr lang="zh-CN" altLang="en-US">
                <a:cs typeface="+mn-ea"/>
                <a:sym typeface="+mn-lt"/>
              </a:rPr>
              <a:t>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Future trait</a:t>
            </a:r>
            <a:r>
              <a:rPr lang="zh-CN" altLang="en-US">
                <a:cs typeface="+mn-ea"/>
                <a:sym typeface="+mn-lt"/>
              </a:rPr>
              <a:t>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Task Context</a:t>
            </a:r>
            <a:r>
              <a:rPr lang="zh-CN" altLang="en-US">
                <a:cs typeface="+mn-ea"/>
                <a:sym typeface="+mn-lt"/>
              </a:rPr>
              <a:t>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async/await </a:t>
            </a:r>
            <a:r>
              <a:rPr lang="zh-CN" altLang="en-US">
                <a:cs typeface="+mn-ea"/>
                <a:sym typeface="+mn-lt"/>
              </a:rPr>
              <a:t>内部原理；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Pin</a:t>
            </a:r>
            <a:r>
              <a:rPr lang="zh-CN" altLang="en-US">
                <a:cs typeface="+mn-ea"/>
                <a:sym typeface="+mn-lt"/>
              </a:rPr>
              <a:t>类型；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Unpin trait</a:t>
            </a:r>
            <a:r>
              <a:rPr lang="zh-CN" altLang="en-US">
                <a:cs typeface="+mn-ea"/>
                <a:sym typeface="+mn-lt"/>
              </a:rPr>
              <a:t>；</a:t>
            </a:r>
            <a:endParaRPr lang="en-US" altLang="zh-CN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795455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AutoNum type="arabicPlain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async/await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关键字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lain" startAt="2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Future trait</a:t>
            </a:r>
          </a:p>
          <a:p>
            <a:pPr marL="354965" indent="-342900">
              <a:lnSpc>
                <a:spcPct val="150000"/>
              </a:lnSpc>
              <a:buAutoNum type="arabicPlain" startAt="2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Context</a:t>
            </a:r>
          </a:p>
          <a:p>
            <a:pPr marL="354965" indent="-342900">
              <a:lnSpc>
                <a:spcPct val="150000"/>
              </a:lnSpc>
              <a:buAutoNum type="arabicPlain" startAt="2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async/await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内部原理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 </a:t>
            </a:r>
          </a:p>
          <a:p>
            <a:pPr marL="354965" indent="-342900">
              <a:lnSpc>
                <a:spcPct val="150000"/>
              </a:lnSpc>
              <a:buAutoNum type="arabicPlain" startAt="2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Pin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类型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lain" startAt="2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Unpin trait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7999" y="148227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async/await-async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关键字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187999" y="2667316"/>
            <a:ext cx="5128719" cy="36202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async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函数、闭包、代码块代表的是一个“可以暂停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恢复”的执行流。一个被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async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修饰的返回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R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类型的函数，它的真实返回类型会被编译器当成 </a:t>
            </a: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impl Future&lt;Output=R&gt;</a:t>
            </a:r>
          </a:p>
          <a:p>
            <a:pPr>
              <a:lnSpc>
                <a:spcPct val="150000"/>
              </a:lnSpc>
            </a:pP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在第一个例子中，函数调用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f()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并不会执行这个函数体，它只是创建了一个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Future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，用于在暂停的时候保存函数的局部变量。如果希望真正执行打印语句，需要调用这个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Future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的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poll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成员函数。第二个例子和第一个例子类似，都是只创建了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Future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，没有执行打印。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329938" y="871842"/>
            <a:ext cx="4920792" cy="1453839"/>
          </a:xfrm>
          <a:prstGeom prst="rect">
            <a:avLst/>
          </a:prstGeom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async </a:t>
            </a:r>
            <a:r>
              <a:rPr lang="zh-CN" altLang="en-US" sz="1600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关键字</a:t>
            </a:r>
            <a:r>
              <a:rPr lang="zh-CN" altLang="en-US" sz="16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可用于修饰</a:t>
            </a:r>
            <a:r>
              <a:rPr lang="zh-CN" altLang="en-US" sz="1600" b="1">
                <a:latin typeface="+mn-lt"/>
                <a:ea typeface="+mn-ea"/>
                <a:cs typeface="+mn-ea"/>
                <a:sym typeface="+mn-lt"/>
              </a:rPr>
              <a:t>函数定义</a:t>
            </a:r>
            <a:endParaRPr lang="en-US" altLang="zh-CN" sz="1600" b="1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可用于修饰</a:t>
            </a:r>
            <a:r>
              <a:rPr lang="zh-CN" altLang="en-US" sz="1600" b="1">
                <a:latin typeface="+mn-lt"/>
                <a:ea typeface="+mn-ea"/>
                <a:cs typeface="+mn-ea"/>
                <a:sym typeface="+mn-lt"/>
              </a:rPr>
              <a:t>闭包</a:t>
            </a:r>
            <a:endParaRPr lang="en-US" altLang="zh-CN" sz="1600" b="1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可用于修饰</a:t>
            </a:r>
            <a:r>
              <a:rPr lang="zh-CN" altLang="en-US" sz="1600" b="1">
                <a:latin typeface="+mn-lt"/>
                <a:ea typeface="+mn-ea"/>
                <a:cs typeface="+mn-ea"/>
                <a:sym typeface="+mn-lt"/>
              </a:rPr>
              <a:t>代码块</a:t>
            </a:r>
            <a:endParaRPr lang="en-US" altLang="zh-CN" sz="1600" b="1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25343" y="882153"/>
            <a:ext cx="5419465" cy="15995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async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// 修饰函数定义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"async fn is called."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25343" y="2667316"/>
            <a:ext cx="5419465" cy="15995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该特性依然处于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unstable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状态，不属于考试内容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async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// 修饰闭包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"async closure is called."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25343" y="4452479"/>
            <a:ext cx="5419465" cy="1383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async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// 修饰代码块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"async block is called."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87999" y="64492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7999" y="164288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async/await-await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关键字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413420" y="4017918"/>
            <a:ext cx="11239746" cy="116737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在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async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上下文中，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await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代表一个可能 “暂停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恢复”的点。</a:t>
            </a: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f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是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async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函数，所以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f()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调用后的结果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x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不再是简单的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i32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类型，而是一个实现了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Future&lt;Output=i32&gt;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的匿名类型。 </a:t>
            </a: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对于这种类型，我们可以用于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await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表达式，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await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之后的类型是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Output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的类型，即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i32.</a:t>
            </a:r>
            <a:endParaRPr lang="zh-CN" altLang="en-US" sz="16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413420" y="783202"/>
            <a:ext cx="4832099" cy="855125"/>
          </a:xfrm>
          <a:prstGeom prst="rect">
            <a:avLst/>
          </a:prstGeom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await </a:t>
            </a:r>
            <a:r>
              <a:rPr lang="zh-CN" altLang="en-US" sz="16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表达式语法：</a:t>
            </a: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err="1">
                <a:latin typeface="+mn-lt"/>
                <a:ea typeface="+mn-ea"/>
                <a:cs typeface="+mn-ea"/>
                <a:sym typeface="+mn-lt"/>
              </a:rPr>
              <a:t>expression</a:t>
            </a:r>
            <a:r>
              <a:rPr lang="en-US" altLang="zh-CN" sz="1600" err="1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.await</a:t>
            </a:r>
            <a:endParaRPr lang="en-US" altLang="zh-CN" sz="1600" b="1">
              <a:solidFill>
                <a:srgbClr val="00B05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413420" y="1589831"/>
            <a:ext cx="4832098" cy="2214414"/>
          </a:xfrm>
          <a:prstGeom prst="rect">
            <a:avLst/>
          </a:prstGeom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await </a:t>
            </a:r>
            <a:r>
              <a:rPr lang="zh-CN" altLang="en-US" sz="16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表达式的规则：</a:t>
            </a: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await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表达式只能在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async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函数、闭包、语句块中使用</a:t>
            </a: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await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左侧的表达式需要实现了 </a:t>
            </a:r>
            <a:r>
              <a:rPr lang="en-US" altLang="zh-CN" sz="1600" err="1">
                <a:latin typeface="+mn-lt"/>
                <a:ea typeface="+mn-ea"/>
                <a:cs typeface="+mn-ea"/>
                <a:sym typeface="+mn-lt"/>
              </a:rPr>
              <a:t>IntoFuture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 trait</a:t>
            </a: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所有满足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Future trait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的类型都自动实现了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IntoFuture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9844" y="1157688"/>
            <a:ext cx="5319971" cy="24622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async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"async fn is called."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return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42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async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test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Future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await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42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87999" y="64492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7999" y="148227"/>
            <a:ext cx="10740640" cy="521584"/>
          </a:xfrm>
        </p:spPr>
        <p:txBody>
          <a:bodyPr/>
          <a:lstStyle/>
          <a:p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Future trait-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493370" y="4203512"/>
            <a:ext cx="10439708" cy="23583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Future trait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的核心是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poll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函数：</a:t>
            </a: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参数中的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Pin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类型可暂时忽略，将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self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当成 &amp;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mut Self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类型看待即可，后面会解释为什么需要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Pin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。参数中的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Context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类型是用于通知调度器恢复执行的，后续会解释。</a:t>
            </a: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这个函数的返回类型是 </a:t>
            </a:r>
            <a:r>
              <a:rPr lang="en-US" altLang="zh-CN" sz="1600" err="1">
                <a:latin typeface="+mn-lt"/>
                <a:ea typeface="+mn-ea"/>
                <a:cs typeface="+mn-ea"/>
                <a:sym typeface="+mn-lt"/>
              </a:rPr>
              <a:t>enum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 Poll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类型，它很像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Option&lt;T&gt;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类型，有两个状态：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Pending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状态、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Ready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状态。</a:t>
            </a: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我们需要一个“执行器”，去调用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Future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的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poll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函数，如果它返回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Pending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，说明还没执行结束，需要等待时机下次继续调用；如果它返回了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Ready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，说明执行结束了，执行结果就是这个 </a:t>
            </a:r>
            <a:r>
              <a:rPr lang="en-US" altLang="zh-CN" sz="1600" err="1">
                <a:latin typeface="+mn-lt"/>
                <a:ea typeface="+mn-ea"/>
                <a:cs typeface="+mn-ea"/>
                <a:sym typeface="+mn-lt"/>
              </a:rPr>
              <a:t>enum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的关联值。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56887" y="969320"/>
            <a:ext cx="5471752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trait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Future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poll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 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Context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_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&gt;) 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Poll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56885" y="2894150"/>
            <a:ext cx="5471754" cy="1169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Poll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Ready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Pending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488835" y="970912"/>
            <a:ext cx="4045844" cy="811068"/>
          </a:xfrm>
          <a:prstGeom prst="rect">
            <a:avLst/>
          </a:prstGeom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Future trait</a:t>
            </a:r>
            <a:r>
              <a:rPr lang="zh-CN" altLang="en-US" sz="16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是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中对“异步执行流”的统一抽象</a:t>
            </a: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87999" y="64492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488835" y="2769708"/>
            <a:ext cx="3562129" cy="46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cs typeface="+mn-ea"/>
                <a:sym typeface="+mn-lt"/>
              </a:rPr>
              <a:t>Future trait </a:t>
            </a:r>
            <a:r>
              <a:rPr lang="zh-CN" altLang="en-US">
                <a:cs typeface="+mn-ea"/>
                <a:sym typeface="+mn-lt"/>
              </a:rPr>
              <a:t>的定义如右边所示。</a:t>
            </a:r>
            <a:endParaRPr lang="en-US" altLang="zh-CN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7999" y="148227"/>
            <a:ext cx="10740640" cy="496700"/>
          </a:xfrm>
        </p:spPr>
        <p:txBody>
          <a:bodyPr/>
          <a:lstStyle/>
          <a:p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Future trait-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自定义</a:t>
            </a:r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Future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类型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348792" y="1295068"/>
            <a:ext cx="4364610" cy="440120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假设我们想定义这样的一个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Future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：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第一次返回的是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Pending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，第二次返回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Ready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。（一般情况下，我们可以假定执行器在得到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Ready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返回值之后，不会再去执行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Future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的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poll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函数。）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从这个需求描述可知，我们需要一个类型，可以保存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bool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状态，这个类型需要实现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Future trait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，在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poll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函数中需要修改它的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状态。假设不考虑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Waker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唤醒机制，调度器总是会循环调用这个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Future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的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poll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函数的话，它的实现如右所示。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33192" y="1295068"/>
            <a:ext cx="6096169" cy="43999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Flip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bool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Flip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Flip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false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Future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Flip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poll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_cx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Context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_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Poll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as_mut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!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return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Poll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Pending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// 第一次调用poll返回Pending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else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return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Poll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Ready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(());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// 第二次调用poll返回Ready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87999" y="64492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7999" y="148227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Future trait-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执行 </a:t>
            </a:r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Future</a:t>
            </a:r>
            <a:endParaRPr lang="zh-CN" altLang="en-US" b="1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315720" y="999762"/>
            <a:ext cx="3502136" cy="4454158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任何表达式，只要它的类型实现了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Future trait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，就可以用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await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关键字调用。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await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表达式的类型为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Future::Output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类型。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async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修饰的函数，返回类型自动变成了一个实现了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Future trait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的匿名类型。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要执行真正的业务逻辑，就必须执行这个匿名类型的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poll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成员函数。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7856" y="999762"/>
            <a:ext cx="5519649" cy="48320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async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count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count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while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&gt;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Flip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await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"init: {} loop in f: 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count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-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WARNING: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这个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Context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暂时用不上，随便初始化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context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Context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MaybeUninit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zeroed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assume_init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count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count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loop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as_mut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poll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context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Poll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Ready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break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Poll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Pending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"pending in main"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691" y="2260578"/>
            <a:ext cx="1952625" cy="203835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187999" y="64492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7999" y="148227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Future trait-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多个 </a:t>
            </a:r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Future 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交替执行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309599" y="1142381"/>
            <a:ext cx="3253733" cy="42013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上页的例子可以看到，一个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async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函数可以在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await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表达式的地方“暂停执行”，下次执行的时候能从上次退出的地方“继续执行”，而且上次的局部变量的值还能继续保持。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基于以上特点，可以实现多个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async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函数 的“协作式调度”功能。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84932" y="2018320"/>
            <a:ext cx="4733204" cy="32316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WARNING: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这个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Context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暂时用不上，随便初始化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context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Context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MaybeUninit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zeroed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assume_init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tasks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VecDeque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with_capacity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count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..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6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count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tasks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push_back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while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=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tasks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pop_front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as_mut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poll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context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Poll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Ready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continue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Poll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Pending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tasks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push_back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932" y="2090823"/>
            <a:ext cx="1952625" cy="29337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7999" y="64492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7999" y="159901"/>
            <a:ext cx="10740640" cy="512387"/>
          </a:xfrm>
        </p:spPr>
        <p:txBody>
          <a:bodyPr/>
          <a:lstStyle/>
          <a:p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Task Context-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概念与用法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429207" y="781310"/>
            <a:ext cx="6145247" cy="22729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任务主动通知调度器恢复执行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的机制。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Context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类型是定义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Future::poll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函数时候用到的参数类型。这个类型只有两个成员函数：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from_waker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是创建一个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Context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，是给执行器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使用的；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waker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是获得一个 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Waker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类型，是在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poll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函数体中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使用的；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590" y="857542"/>
            <a:ext cx="4848225" cy="1914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590" y="3080606"/>
            <a:ext cx="2143125" cy="666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455" y="3777426"/>
            <a:ext cx="2533650" cy="371475"/>
          </a:xfrm>
          <a:prstGeom prst="rect">
            <a:avLst/>
          </a:prstGeom>
        </p:spPr>
      </p:pic>
      <p:sp>
        <p:nvSpPr>
          <p:cNvPr id="8" name="Content Placeholder 2"/>
          <p:cNvSpPr txBox="1"/>
          <p:nvPr/>
        </p:nvSpPr>
        <p:spPr>
          <a:xfrm>
            <a:off x="523477" y="4503992"/>
            <a:ext cx="11031276" cy="1373213"/>
          </a:xfrm>
          <a:prstGeom prst="rect">
            <a:avLst/>
          </a:prstGeom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一般来说，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Waker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是由执行器创建出来，包装到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Context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里面，传递给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Future::poll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函数使用的。使用方式为：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在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poll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函数中，如果需要返回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Pending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状态，那么在返回之前，先把 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Waker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保存到某个地方。比如在某个事件被触发的时候，就调用这个保存好的 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Waker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的 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wake_by_ref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函数。调度器就会把对应的这个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Future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拿出来执行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poll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函数。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87999" y="64492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7999" y="159901"/>
            <a:ext cx="10740640" cy="512387"/>
          </a:xfrm>
        </p:spPr>
        <p:txBody>
          <a:bodyPr/>
          <a:lstStyle/>
          <a:p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Task Context-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概念与用法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187999" y="64492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87999" y="763552"/>
            <a:ext cx="10841362" cy="42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1219200">
              <a:lnSpc>
                <a:spcPct val="150000"/>
              </a:lnSpc>
              <a:defRPr/>
            </a:pPr>
            <a:r>
              <a:rPr lang="zh-CN" altLang="en-US" sz="1600">
                <a:cs typeface="+mn-ea"/>
                <a:sym typeface="+mn-lt"/>
              </a:rPr>
              <a:t>下面是一个简单的例子，它演示了如何使用</a:t>
            </a:r>
            <a:r>
              <a:rPr lang="en-US" altLang="zh-CN" sz="1600">
                <a:cs typeface="+mn-ea"/>
                <a:sym typeface="+mn-lt"/>
              </a:rPr>
              <a:t>Context</a:t>
            </a:r>
            <a:r>
              <a:rPr lang="zh-CN" altLang="en-US" sz="1600">
                <a:cs typeface="+mn-ea"/>
                <a:sym typeface="+mn-lt"/>
              </a:rPr>
              <a:t>和</a:t>
            </a:r>
            <a:r>
              <a:rPr lang="en-US" altLang="zh-CN" sz="1600">
                <a:cs typeface="+mn-ea"/>
                <a:sym typeface="+mn-lt"/>
              </a:rPr>
              <a:t>Waker</a:t>
            </a:r>
            <a:r>
              <a:rPr lang="zh-CN" altLang="en-US" sz="1600">
                <a:cs typeface="+mn-ea"/>
                <a:sym typeface="+mn-lt"/>
              </a:rPr>
              <a:t>来唤醒一个异步任务：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6960" y="1191996"/>
            <a:ext cx="7989201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EBBBFF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task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{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Context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Poll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FFEEAD"/>
                </a:solidFill>
                <a:cs typeface="+mn-ea"/>
                <a:sym typeface="+mn-lt"/>
              </a:rPr>
              <a:t>Waker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};</a:t>
            </a:r>
          </a:p>
          <a:p>
            <a:r>
              <a:rPr lang="en-US" altLang="zh-CN" sz="1400" dirty="0">
                <a:solidFill>
                  <a:srgbClr val="EBBBFF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future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Future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EBBBFF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pin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Pin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EBBBFF"/>
                </a:solidFill>
                <a:cs typeface="+mn-ea"/>
                <a:sym typeface="+mn-lt"/>
              </a:rPr>
              <a:t>static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Registry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: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Mutex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HashMap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 err="1">
                <a:solidFill>
                  <a:srgbClr val="FFEEAD"/>
                </a:solidFill>
                <a:cs typeface="+mn-ea"/>
                <a:sym typeface="+mn-lt"/>
              </a:rPr>
              <a:t>EventId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FFEEAD"/>
                </a:solidFill>
                <a:cs typeface="+mn-ea"/>
                <a:sym typeface="+mn-lt"/>
              </a:rPr>
              <a:t>Waker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&gt;&gt; 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...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EBBBFF"/>
                </a:solidFill>
                <a:cs typeface="+mn-ea"/>
                <a:sym typeface="+mn-lt"/>
              </a:rPr>
              <a:t>struct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FFEEAD"/>
                </a:solidFill>
                <a:cs typeface="+mn-ea"/>
                <a:sym typeface="+mn-lt"/>
              </a:rPr>
              <a:t>MyFuture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{ 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...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}</a:t>
            </a:r>
          </a:p>
          <a:p>
            <a:b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</a:br>
            <a:r>
              <a:rPr lang="en-US" altLang="zh-CN" sz="1400" dirty="0" err="1">
                <a:solidFill>
                  <a:srgbClr val="EBBBFF"/>
                </a:solidFill>
                <a:cs typeface="+mn-ea"/>
                <a:sym typeface="+mn-lt"/>
              </a:rPr>
              <a:t>impl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Future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BBBFF"/>
                </a:solidFill>
                <a:cs typeface="+mn-ea"/>
                <a:sym typeface="+mn-lt"/>
              </a:rPr>
              <a:t>for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FFEEAD"/>
                </a:solidFill>
                <a:cs typeface="+mn-ea"/>
                <a:sym typeface="+mn-lt"/>
              </a:rPr>
              <a:t>MyFuture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BBBFF"/>
                </a:solidFill>
                <a:cs typeface="+mn-ea"/>
                <a:sym typeface="+mn-lt"/>
              </a:rPr>
              <a:t>type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Output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();</a:t>
            </a:r>
          </a:p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EBBBFF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BBDAFF"/>
                </a:solidFill>
                <a:cs typeface="+mn-ea"/>
                <a:sym typeface="+mn-lt"/>
              </a:rPr>
              <a:t>poll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FF9DA4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: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Pin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&amp;</a:t>
            </a:r>
            <a:r>
              <a:rPr lang="en-US" altLang="zh-CN" sz="1400" dirty="0" err="1">
                <a:solidFill>
                  <a:srgbClr val="EBBBFF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FF9DA4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&gt;, </a:t>
            </a:r>
            <a:r>
              <a:rPr lang="en-US" altLang="zh-CN" sz="1400" dirty="0">
                <a:solidFill>
                  <a:srgbClr val="FF9DA4"/>
                </a:solidFill>
                <a:cs typeface="+mn-ea"/>
                <a:sym typeface="+mn-lt"/>
              </a:rPr>
              <a:t>cx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: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&amp;</a:t>
            </a:r>
            <a:r>
              <a:rPr lang="en-US" altLang="zh-CN" sz="1400" dirty="0" err="1">
                <a:solidFill>
                  <a:srgbClr val="EBBBFF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Context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&lt;'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_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&gt;) 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-&gt;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Poll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FF9DA4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Output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EBBBFF"/>
                </a:solidFill>
                <a:cs typeface="+mn-ea"/>
                <a:sym typeface="+mn-lt"/>
              </a:rPr>
              <a:t>if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FF9DA4"/>
                </a:solidFill>
                <a:cs typeface="+mn-ea"/>
                <a:sym typeface="+mn-lt"/>
              </a:rPr>
              <a:t>need_to_wait_for_event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7285B7"/>
                </a:solidFill>
                <a:cs typeface="+mn-ea"/>
                <a:sym typeface="+mn-lt"/>
              </a:rPr>
              <a:t>            //</a:t>
            </a:r>
            <a:r>
              <a:rPr lang="zh-CN" altLang="en-US" sz="1400" dirty="0">
                <a:solidFill>
                  <a:srgbClr val="7285B7"/>
                </a:solidFill>
                <a:cs typeface="+mn-ea"/>
                <a:sym typeface="+mn-lt"/>
              </a:rPr>
              <a:t>将</a:t>
            </a:r>
            <a:r>
              <a:rPr lang="en-US" altLang="zh-CN" sz="1400" dirty="0" err="1">
                <a:solidFill>
                  <a:srgbClr val="7285B7"/>
                </a:solidFill>
                <a:cs typeface="+mn-ea"/>
                <a:sym typeface="+mn-lt"/>
              </a:rPr>
              <a:t>waker</a:t>
            </a:r>
            <a:r>
              <a:rPr lang="zh-CN" altLang="en-US" sz="1400" dirty="0">
                <a:solidFill>
                  <a:srgbClr val="7285B7"/>
                </a:solidFill>
                <a:cs typeface="+mn-ea"/>
                <a:sym typeface="+mn-lt"/>
              </a:rPr>
              <a:t>保存到某个地方，等待将来条件成熟的时候用它唤醒当前任务</a:t>
            </a:r>
            <a:endParaRPr lang="zh-CN" altLang="en-US" sz="1400" dirty="0">
              <a:solidFill>
                <a:srgbClr val="FFFFF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FFFFF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>
                <a:solidFill>
                  <a:srgbClr val="EBBBFF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FF9DA4"/>
                </a:solidFill>
                <a:cs typeface="+mn-ea"/>
                <a:sym typeface="+mn-lt"/>
              </a:rPr>
              <a:t>waker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FF9DA4"/>
                </a:solidFill>
                <a:cs typeface="+mn-ea"/>
                <a:sym typeface="+mn-lt"/>
              </a:rPr>
              <a:t>cx</a:t>
            </a:r>
            <a:r>
              <a:rPr lang="en-US" altLang="zh-CN" sz="1400" dirty="0" err="1">
                <a:solidFill>
                  <a:srgbClr val="99FFF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BBDAFF"/>
                </a:solidFill>
                <a:cs typeface="+mn-ea"/>
                <a:sym typeface="+mn-lt"/>
              </a:rPr>
              <a:t>waker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()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.</a:t>
            </a:r>
            <a:r>
              <a:rPr lang="en-US" altLang="zh-CN" sz="1400" dirty="0">
                <a:solidFill>
                  <a:srgbClr val="BBDAFF"/>
                </a:solidFill>
                <a:cs typeface="+mn-ea"/>
                <a:sym typeface="+mn-lt"/>
              </a:rPr>
              <a:t>clone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 err="1">
                <a:solidFill>
                  <a:srgbClr val="FFEEAD"/>
                </a:solidFill>
                <a:cs typeface="+mn-ea"/>
                <a:sym typeface="+mn-lt"/>
              </a:rPr>
              <a:t>Registry</a:t>
            </a:r>
            <a:r>
              <a:rPr lang="en-US" altLang="zh-CN" sz="1400" dirty="0" err="1">
                <a:solidFill>
                  <a:srgbClr val="99FFF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BBDAFF"/>
                </a:solidFill>
                <a:cs typeface="+mn-ea"/>
                <a:sym typeface="+mn-lt"/>
              </a:rPr>
              <a:t>lock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()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.</a:t>
            </a:r>
            <a:r>
              <a:rPr lang="en-US" altLang="zh-CN" sz="1400" dirty="0">
                <a:solidFill>
                  <a:srgbClr val="BBDAFF"/>
                </a:solidFill>
                <a:cs typeface="+mn-ea"/>
                <a:sym typeface="+mn-lt"/>
              </a:rPr>
              <a:t>add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FF9DA4"/>
                </a:solidFill>
                <a:cs typeface="+mn-ea"/>
                <a:sym typeface="+mn-lt"/>
              </a:rPr>
              <a:t>event_listened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FF9DA4"/>
                </a:solidFill>
                <a:cs typeface="+mn-ea"/>
                <a:sym typeface="+mn-lt"/>
              </a:rPr>
              <a:t>waker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>
                <a:solidFill>
                  <a:srgbClr val="EBBBFF"/>
                </a:solidFill>
                <a:cs typeface="+mn-ea"/>
                <a:sym typeface="+mn-lt"/>
              </a:rPr>
              <a:t>return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Poll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Pending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        } </a:t>
            </a:r>
            <a:r>
              <a:rPr lang="en-US" altLang="zh-CN" sz="1400" dirty="0">
                <a:solidFill>
                  <a:srgbClr val="EBBBFF"/>
                </a:solidFill>
                <a:cs typeface="+mn-ea"/>
                <a:sym typeface="+mn-lt"/>
              </a:rPr>
              <a:t>else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7285B7"/>
                </a:solidFill>
                <a:cs typeface="+mn-ea"/>
                <a:sym typeface="+mn-lt"/>
              </a:rPr>
              <a:t>            //</a:t>
            </a:r>
            <a:r>
              <a:rPr lang="zh-CN" altLang="en-US" sz="1400" dirty="0">
                <a:solidFill>
                  <a:srgbClr val="7285B7"/>
                </a:solidFill>
                <a:cs typeface="+mn-ea"/>
                <a:sym typeface="+mn-lt"/>
              </a:rPr>
              <a:t>直接执行业务逻辑，并返回</a:t>
            </a:r>
            <a:r>
              <a:rPr lang="en-US" altLang="zh-CN" sz="1400" dirty="0">
                <a:solidFill>
                  <a:srgbClr val="7285B7"/>
                </a:solidFill>
                <a:cs typeface="+mn-ea"/>
                <a:sym typeface="+mn-lt"/>
              </a:rPr>
              <a:t>Ready</a:t>
            </a:r>
            <a:endParaRPr lang="en-US" altLang="zh-CN" sz="1400" dirty="0">
              <a:solidFill>
                <a:srgbClr val="FFFFF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>
                <a:solidFill>
                  <a:srgbClr val="EBBBFF"/>
                </a:solidFill>
                <a:cs typeface="+mn-ea"/>
                <a:sym typeface="+mn-lt"/>
              </a:rPr>
              <a:t>return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FFEEAD"/>
                </a:solidFill>
                <a:cs typeface="+mn-ea"/>
                <a:sym typeface="+mn-lt"/>
              </a:rPr>
              <a:t>Poll</a:t>
            </a:r>
            <a:r>
              <a:rPr lang="en-US" altLang="zh-CN" sz="1400" dirty="0">
                <a:solidFill>
                  <a:srgbClr val="99FFF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BBDAFF"/>
                </a:solidFill>
                <a:cs typeface="+mn-ea"/>
                <a:sym typeface="+mn-lt"/>
              </a:rPr>
              <a:t>Ready</a:t>
            </a:r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(());</a:t>
            </a:r>
          </a:p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7285B7"/>
                </a:solidFill>
                <a:cs typeface="+mn-ea"/>
                <a:sym typeface="+mn-lt"/>
              </a:rPr>
              <a:t>// </a:t>
            </a:r>
            <a:r>
              <a:rPr lang="zh-CN" altLang="en-US" sz="1400" dirty="0">
                <a:solidFill>
                  <a:srgbClr val="7285B7"/>
                </a:solidFill>
                <a:cs typeface="+mn-ea"/>
                <a:sym typeface="+mn-lt"/>
              </a:rPr>
              <a:t>监听事件的组件会在 </a:t>
            </a:r>
            <a:r>
              <a:rPr lang="en-US" altLang="zh-CN" sz="1400" dirty="0" err="1">
                <a:solidFill>
                  <a:srgbClr val="7285B7"/>
                </a:solidFill>
                <a:cs typeface="+mn-ea"/>
                <a:sym typeface="+mn-lt"/>
              </a:rPr>
              <a:t>EventId</a:t>
            </a:r>
            <a:r>
              <a:rPr lang="en-US" altLang="zh-CN" sz="1400" dirty="0">
                <a:solidFill>
                  <a:srgbClr val="7285B7"/>
                </a:solidFill>
                <a:cs typeface="+mn-ea"/>
                <a:sym typeface="+mn-lt"/>
              </a:rPr>
              <a:t> </a:t>
            </a:r>
            <a:r>
              <a:rPr lang="zh-CN" altLang="en-US" sz="1400" dirty="0">
                <a:solidFill>
                  <a:srgbClr val="7285B7"/>
                </a:solidFill>
                <a:cs typeface="+mn-ea"/>
                <a:sym typeface="+mn-lt"/>
              </a:rPr>
              <a:t>被触发的时候，去 </a:t>
            </a:r>
            <a:r>
              <a:rPr lang="en-US" altLang="zh-CN" sz="1400" dirty="0">
                <a:solidFill>
                  <a:srgbClr val="7285B7"/>
                </a:solidFill>
                <a:cs typeface="+mn-ea"/>
                <a:sym typeface="+mn-lt"/>
              </a:rPr>
              <a:t>Registry </a:t>
            </a:r>
            <a:r>
              <a:rPr lang="zh-CN" altLang="en-US" sz="1400" dirty="0">
                <a:solidFill>
                  <a:srgbClr val="7285B7"/>
                </a:solidFill>
                <a:cs typeface="+mn-ea"/>
                <a:sym typeface="+mn-lt"/>
              </a:rPr>
              <a:t>里面查找对应的 </a:t>
            </a:r>
            <a:r>
              <a:rPr lang="en-US" altLang="zh-CN" sz="1400" dirty="0" err="1">
                <a:solidFill>
                  <a:srgbClr val="7285B7"/>
                </a:solidFill>
                <a:cs typeface="+mn-ea"/>
                <a:sym typeface="+mn-lt"/>
              </a:rPr>
              <a:t>Waker</a:t>
            </a:r>
            <a:r>
              <a:rPr lang="zh-CN" altLang="en-US" sz="1400" dirty="0">
                <a:solidFill>
                  <a:srgbClr val="7285B7"/>
                </a:solidFill>
                <a:cs typeface="+mn-ea"/>
                <a:sym typeface="+mn-lt"/>
              </a:rPr>
              <a:t>，并调用 </a:t>
            </a:r>
            <a:r>
              <a:rPr lang="en-US" altLang="zh-CN" sz="1400" dirty="0" err="1">
                <a:solidFill>
                  <a:srgbClr val="7285B7"/>
                </a:solidFill>
                <a:cs typeface="+mn-ea"/>
                <a:sym typeface="+mn-lt"/>
              </a:rPr>
              <a:t>wake_by_ref</a:t>
            </a:r>
            <a:r>
              <a:rPr lang="en-US" altLang="zh-CN" sz="1400" dirty="0">
                <a:solidFill>
                  <a:srgbClr val="7285B7"/>
                </a:solidFill>
                <a:cs typeface="+mn-ea"/>
                <a:sym typeface="+mn-lt"/>
              </a:rPr>
              <a:t>()</a:t>
            </a:r>
            <a:r>
              <a:rPr lang="zh-CN" altLang="en-US" sz="1400" dirty="0">
                <a:solidFill>
                  <a:srgbClr val="7285B7"/>
                </a:solidFill>
                <a:cs typeface="+mn-ea"/>
                <a:sym typeface="+mn-lt"/>
              </a:rPr>
              <a:t>，通过这个函数调度器就知道对应的任务需要被唤醒执行了</a:t>
            </a:r>
            <a:endParaRPr lang="en-US" altLang="zh-CN" sz="140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395122" y="1191996"/>
            <a:ext cx="2911053" cy="4901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示例中，定义了</a:t>
            </a:r>
            <a:r>
              <a:rPr lang="en-US" altLang="zh-CN" sz="1400" dirty="0" err="1">
                <a:cs typeface="+mn-ea"/>
                <a:sym typeface="+mn-lt"/>
              </a:rPr>
              <a:t>MyFuture</a:t>
            </a:r>
            <a:r>
              <a:rPr lang="zh-CN" altLang="en-US" sz="1400" dirty="0">
                <a:cs typeface="+mn-ea"/>
                <a:sym typeface="+mn-lt"/>
              </a:rPr>
              <a:t>结构体，它实现了</a:t>
            </a:r>
            <a:r>
              <a:rPr lang="en-US" altLang="zh-CN" sz="1400" dirty="0">
                <a:cs typeface="+mn-ea"/>
                <a:sym typeface="+mn-lt"/>
              </a:rPr>
              <a:t>Future trait</a:t>
            </a:r>
            <a:r>
              <a:rPr lang="zh-CN" altLang="en-US" sz="1400" dirty="0">
                <a:cs typeface="+mn-ea"/>
                <a:sym typeface="+mn-lt"/>
              </a:rPr>
              <a:t>。</a:t>
            </a:r>
            <a:endParaRPr lang="en-US" altLang="zh-CN" sz="14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在</a:t>
            </a:r>
            <a:r>
              <a:rPr lang="en-US" altLang="zh-CN" sz="1400" dirty="0">
                <a:cs typeface="+mn-ea"/>
                <a:sym typeface="+mn-lt"/>
              </a:rPr>
              <a:t>poll</a:t>
            </a:r>
            <a:r>
              <a:rPr lang="zh-CN" altLang="en-US" sz="1400" dirty="0">
                <a:cs typeface="+mn-ea"/>
                <a:sym typeface="+mn-lt"/>
              </a:rPr>
              <a:t>方法中，首先检查是否有必要阻塞。如果条件已经满足，可以直接执行，则返回</a:t>
            </a:r>
            <a:r>
              <a:rPr lang="en-US" altLang="zh-CN" sz="1400" dirty="0">
                <a:cs typeface="+mn-ea"/>
                <a:sym typeface="+mn-lt"/>
              </a:rPr>
              <a:t>Ready</a:t>
            </a:r>
            <a:r>
              <a:rPr lang="zh-CN" altLang="en-US" sz="1400" dirty="0">
                <a:cs typeface="+mn-ea"/>
                <a:sym typeface="+mn-lt"/>
              </a:rPr>
              <a:t>。否则，使用传入的</a:t>
            </a:r>
            <a:r>
              <a:rPr lang="en-US" altLang="zh-CN" sz="1400" dirty="0">
                <a:cs typeface="+mn-ea"/>
                <a:sym typeface="+mn-lt"/>
              </a:rPr>
              <a:t>Context</a:t>
            </a:r>
            <a:r>
              <a:rPr lang="zh-CN" altLang="en-US" sz="1400" dirty="0">
                <a:cs typeface="+mn-ea"/>
                <a:sym typeface="+mn-lt"/>
              </a:rPr>
              <a:t>对象来获取当前任务的</a:t>
            </a:r>
            <a:r>
              <a:rPr lang="en-US" altLang="zh-CN" sz="1400" dirty="0" err="1">
                <a:cs typeface="+mn-ea"/>
                <a:sym typeface="+mn-lt"/>
              </a:rPr>
              <a:t>Waker</a:t>
            </a:r>
            <a:r>
              <a:rPr lang="zh-CN" altLang="en-US" sz="1400" dirty="0">
                <a:cs typeface="+mn-ea"/>
                <a:sym typeface="+mn-lt"/>
              </a:rPr>
              <a:t>对象，并将其存储在某个地方，返回</a:t>
            </a:r>
            <a:r>
              <a:rPr lang="en-US" altLang="zh-CN" sz="1400" dirty="0">
                <a:cs typeface="+mn-ea"/>
                <a:sym typeface="+mn-lt"/>
              </a:rPr>
              <a:t>Pending</a:t>
            </a:r>
            <a:r>
              <a:rPr lang="zh-CN" altLang="en-US" sz="1400" dirty="0">
                <a:cs typeface="+mn-ea"/>
                <a:sym typeface="+mn-lt"/>
              </a:rPr>
              <a:t>。</a:t>
            </a:r>
            <a:endParaRPr lang="en-US" altLang="zh-CN" sz="14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等将来条件成熟的时候，事件监听器可以根据前面保存的</a:t>
            </a:r>
            <a:r>
              <a:rPr lang="en-US" altLang="zh-CN" sz="1400" dirty="0" err="1">
                <a:cs typeface="+mn-ea"/>
                <a:sym typeface="+mn-lt"/>
              </a:rPr>
              <a:t>Waker</a:t>
            </a:r>
            <a:r>
              <a:rPr lang="zh-CN" altLang="en-US" sz="1400" dirty="0">
                <a:cs typeface="+mn-ea"/>
                <a:sym typeface="+mn-lt"/>
              </a:rPr>
              <a:t>，调用 </a:t>
            </a:r>
            <a:r>
              <a:rPr lang="en-US" altLang="zh-CN" sz="1400" dirty="0" err="1">
                <a:cs typeface="+mn-ea"/>
                <a:sym typeface="+mn-lt"/>
              </a:rPr>
              <a:t>wake_by_ref</a:t>
            </a:r>
            <a:r>
              <a:rPr lang="en-US" altLang="zh-CN" sz="1400" dirty="0">
                <a:cs typeface="+mn-ea"/>
                <a:sym typeface="+mn-lt"/>
              </a:rPr>
              <a:t>() </a:t>
            </a:r>
            <a:r>
              <a:rPr lang="zh-CN" altLang="en-US" sz="1400" dirty="0">
                <a:cs typeface="+mn-ea"/>
                <a:sym typeface="+mn-lt"/>
              </a:rPr>
              <a:t>函数，这样调度器就知道对应的任务需要被唤醒执行了。调度器就会把这个 </a:t>
            </a:r>
            <a:r>
              <a:rPr lang="en-US" altLang="zh-CN" sz="1400" dirty="0">
                <a:cs typeface="+mn-ea"/>
                <a:sym typeface="+mn-lt"/>
              </a:rPr>
              <a:t>Future </a:t>
            </a:r>
            <a:r>
              <a:rPr lang="zh-CN" altLang="en-US" sz="1400" dirty="0">
                <a:cs typeface="+mn-ea"/>
                <a:sym typeface="+mn-lt"/>
              </a:rPr>
              <a:t>重新拿来执行 </a:t>
            </a:r>
            <a:r>
              <a:rPr lang="en-US" altLang="zh-CN" sz="1400" dirty="0">
                <a:cs typeface="+mn-ea"/>
                <a:sym typeface="+mn-lt"/>
              </a:rPr>
              <a:t>poll </a:t>
            </a:r>
            <a:r>
              <a:rPr lang="zh-CN" altLang="en-US" sz="1400" dirty="0">
                <a:cs typeface="+mn-ea"/>
                <a:sym typeface="+mn-lt"/>
              </a:rPr>
              <a:t>函数。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7999" y="149486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async/await 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内部原理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475811" y="3748069"/>
            <a:ext cx="3061962" cy="12288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在 </a:t>
            </a:r>
            <a:r>
              <a:rPr lang="en-US" altLang="zh-CN" sz="160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&lt;body&gt; </a:t>
            </a:r>
            <a:r>
              <a:rPr lang="zh-CN" altLang="en-US" sz="160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中的</a:t>
            </a:r>
            <a:r>
              <a:rPr lang="en-US" altLang="zh-CN" sz="160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operand.</a:t>
            </a:r>
            <a:r>
              <a:rPr lang="en-US" altLang="zh-CN" sz="160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await</a:t>
            </a:r>
            <a:r>
              <a:rPr lang="en-US" altLang="zh-CN" sz="160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表达式基本会被编译器翻译成右边这个样子。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1459" y="3526520"/>
            <a:ext cx="7419358" cy="2246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伪代码示例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operand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into_future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pinned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loop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new_unchecked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pinned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Future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poll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as_mut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 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current_context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Poll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Ready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break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Poll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Pending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yield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Poll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Pending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475811" y="5921212"/>
            <a:ext cx="10982181" cy="569168"/>
          </a:xfrm>
          <a:prstGeom prst="rect">
            <a:avLst/>
          </a:prstGeom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其中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yield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关键字代表，这个函数在执行到这里的时候直接返回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Poll::Pending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，下次恢复执行的时候，会从这里继续。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 </a:t>
            </a:r>
            <a:endParaRPr lang="zh-CN" altLang="en-US" sz="16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Content Placeholder 2"/>
          <p:cNvSpPr txBox="1"/>
          <p:nvPr/>
        </p:nvSpPr>
        <p:spPr>
          <a:xfrm>
            <a:off x="475811" y="1188504"/>
            <a:ext cx="3061962" cy="727731"/>
          </a:xfrm>
          <a:prstGeom prst="rect">
            <a:avLst/>
          </a:prstGeom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async </a:t>
            </a:r>
            <a:r>
              <a:rPr lang="zh-CN" altLang="en-US" sz="160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函数的签名，在编译器内部被这样解糖：</a:t>
            </a:r>
            <a:endParaRPr lang="zh-CN" altLang="en-US" sz="16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81459" y="984899"/>
            <a:ext cx="7419358" cy="24622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async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函数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async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ReturnTy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&lt;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body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解糖为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Future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ReturnTy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from_generator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_task_context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ReturnTy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&lt;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body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87999" y="64492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7999" y="148227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async/await 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内部原理</a:t>
            </a:r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-yield 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解糖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423571" y="728274"/>
            <a:ext cx="3769567" cy="216494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yield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关键字和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generator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特性还没稳定，因此这部分不是考点。</a:t>
            </a: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但它是目前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async/await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底层实现的基础，理解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yield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的机制，有助于用于理解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async/await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的原理。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24298" y="2683932"/>
            <a:ext cx="4035766" cy="24273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fibonacci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loop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yield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// yield 关键字被解糖为右图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4298" y="5239589"/>
            <a:ext cx="4016031" cy="135183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FibGen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Start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YieldPoint1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},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09401" y="789392"/>
            <a:ext cx="6769036" cy="591057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Generator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FibGen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Yield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Return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resume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resume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())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     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GeneratorState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()&gt;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::mem;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mem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replace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*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FibGen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FibGen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Start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    *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FibGen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YieldPoint1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return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GeneratorState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Yielded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// 设置状态并return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FibGen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YieldPoint1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} =&gt;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    *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FibGen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YieldPoint1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return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GeneratorState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Yielded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// 设置状态并return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FibGen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return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GeneratorState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Completed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panic!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"generator resumed after completion"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187999" y="64492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7999" y="154201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Pin-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自引用类型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354563" y="812269"/>
            <a:ext cx="4681542" cy="554187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自引用类型指的是一个对象中，存在一个借用或者指针，指向本对象。那么这个对象就属于自引用类型。</a:t>
            </a: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自引用类型的变量，有一个重要的限制，那就是这个变量不可“移动”。一旦这个变量发生了移动，那么内部的引用的值就成了“野指针”。</a:t>
            </a: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右下图中，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x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y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都是同类型的“自引用”变量。现在假设我们用 </a:t>
            </a:r>
            <a:r>
              <a:rPr lang="en-US" altLang="zh-CN" sz="1600" err="1">
                <a:latin typeface="+mn-lt"/>
                <a:ea typeface="+mn-ea"/>
                <a:cs typeface="+mn-ea"/>
                <a:sym typeface="+mn-lt"/>
              </a:rPr>
              <a:t>std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::mem::swap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交换这两个变量的值，我们就会看到它们各自内部的引用都指向了错误的地方。</a:t>
            </a: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根据前述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async/await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解糖方案可以看出，编译器很容易为 </a:t>
            </a: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async 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函数生成“自引用”对象。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202669" y="929549"/>
            <a:ext cx="6096000" cy="2676525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伪代码示例（一般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Rust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代码是编译错误，但是编译器自动生成的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Future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可能产生这种现象）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如果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self.b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指向的是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self.a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，那么就形成了“自引用”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SelfReferential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Test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zh-CN" altLang="en-US" sz="1400">
                <a:solidFill>
                  <a:srgbClr val="E5C07B"/>
                </a:solidFill>
                <a:cs typeface="+mn-ea"/>
                <a:sym typeface="+mn-lt"/>
              </a:rPr>
              <a:t>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'a Test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SelfReferential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...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SelfReferential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...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swap(</a:t>
            </a:r>
            <a:r>
              <a:rPr lang="zh-CN" altLang="en-US" sz="1400">
                <a:solidFill>
                  <a:srgbClr val="E5C07B"/>
                </a:solidFill>
                <a:cs typeface="+mn-ea"/>
                <a:sym typeface="+mn-lt"/>
              </a:rPr>
              <a:t>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mut x, </a:t>
            </a:r>
            <a:r>
              <a:rPr lang="zh-CN" altLang="en-US" sz="1400">
                <a:solidFill>
                  <a:srgbClr val="E5C07B"/>
                </a:solidFill>
                <a:cs typeface="+mn-ea"/>
                <a:sym typeface="+mn-lt"/>
              </a:rPr>
              <a:t>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mut y);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26" name="Picture 2" descr="swap_probl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720" y="3583208"/>
            <a:ext cx="5571897" cy="300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直接连接符 6"/>
          <p:cNvCxnSpPr/>
          <p:nvPr/>
        </p:nvCxnSpPr>
        <p:spPr>
          <a:xfrm>
            <a:off x="187999" y="64492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7999" y="191589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Pin-move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drop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与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box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410338" y="821095"/>
            <a:ext cx="5010073" cy="50074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标准库中的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std::pin::Pin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类型就是为了保证一个对象不能被“移动” 。（除非它实现了 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UnPin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）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Pin&lt;P&gt;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的使用方式为：参数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是一个引用或者指针类型。对于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struct S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，不能用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Pin&lt;S&gt;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。以下这些使用方式都是可以的：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一般情况下，用户无法从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Pin&lt;Pointer&lt;S&gt;&gt;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类型中获取到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&amp;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mut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 S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型指针。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0983" y="3231398"/>
            <a:ext cx="2595432" cy="10772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&lt;&amp;</a:t>
            </a:r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S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&gt;</a:t>
            </a:r>
          </a:p>
          <a:p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&lt;&amp;</a:t>
            </a:r>
            <a:r>
              <a:rPr lang="en-US" altLang="zh-CN" sz="16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S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&gt;</a:t>
            </a:r>
          </a:p>
          <a:p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S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&gt;&gt;</a:t>
            </a:r>
          </a:p>
          <a:p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S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&gt;&gt;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4127" y="2923621"/>
            <a:ext cx="6096000" cy="1384995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DerefMut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Target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Unpin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DerefMut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deref_mut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Target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get_mut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as_mut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4127" y="1215391"/>
            <a:ext cx="6096000" cy="1600438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Deref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Deref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Target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Target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deref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Target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get_ref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as_ref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87999" y="64492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 txBox="1"/>
          <p:nvPr/>
        </p:nvSpPr>
        <p:spPr>
          <a:xfrm>
            <a:off x="5774126" y="4659003"/>
            <a:ext cx="6012297" cy="2007408"/>
          </a:xfrm>
          <a:prstGeom prst="rect">
            <a:avLst/>
          </a:prstGeom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b="1" dirty="0">
                <a:latin typeface="+mn-lt"/>
                <a:ea typeface="+mn-ea"/>
                <a:cs typeface="+mn-ea"/>
                <a:sym typeface="+mn-lt"/>
              </a:rPr>
              <a:t>注意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：因为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Drop trait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中的 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fn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 drop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的签名是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&amp;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mut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 self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类型，如果这个类型本身不能被随意移动，那么在实现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drop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函数的时候，要自觉保证这一点。在这种情况下，使用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swap/replace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或者直接解引用赋值都可能导致这个对象被移动，但编译器无法报错，需要程序员自己保证。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7999" y="191589"/>
            <a:ext cx="10740640" cy="993400"/>
          </a:xfrm>
        </p:spPr>
        <p:txBody>
          <a:bodyPr/>
          <a:lstStyle/>
          <a:p>
            <a:r>
              <a:rPr lang="en-US" altLang="zh-CN" b="1" dirty="0" err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UnPin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 trait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410339" y="821095"/>
            <a:ext cx="4861458" cy="50074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有些类型，内部不包含“自引用类型”，它们是可以随意移动的。而只有“自引用类型”才会关心它自己有没有被移动。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为了区分这两种情况，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Rust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用一个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auto trait 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UnPin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对类型做标记。基础类型（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bool, i32, String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）等都实现了 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UnPin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；编译器生成的匿名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Future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类型都满足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!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UnPin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对于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T: 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UnPin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的情况，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Pin&lt;P&gt;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的能力和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是一样的；对于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T: !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UnPin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的情况，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Pin&lt;P&gt;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是无法获取 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&amp;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mut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 T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型借用的。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74127" y="2923621"/>
            <a:ext cx="6096000" cy="1384995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DerefMut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Target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Unpin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DerefMut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deref_mut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Target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get_mut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as_mut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87999" y="64492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5774127" y="985042"/>
            <a:ext cx="6096000" cy="1815882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Deref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Target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Unpin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pointer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    // SAFETY: the value pointed to is `Unpin`,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    // and so has no requirements around pinning.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new_unchecked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pointer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Rust</a:t>
            </a:r>
            <a:r>
              <a:rPr lang="zh-CN" altLang="en-US" sz="1800">
                <a:cs typeface="+mn-ea"/>
                <a:sym typeface="+mn-lt"/>
              </a:rPr>
              <a:t>的异步编程的原理；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 </a:t>
            </a:r>
            <a:r>
              <a:rPr lang="en-US" altLang="zh-CN" sz="1800">
                <a:cs typeface="+mn-ea"/>
                <a:sym typeface="+mn-lt"/>
              </a:rPr>
              <a:t>async/await </a:t>
            </a:r>
            <a:r>
              <a:rPr lang="zh-CN" altLang="en-US" sz="1800">
                <a:cs typeface="+mn-ea"/>
                <a:sym typeface="+mn-lt"/>
              </a:rPr>
              <a:t>关键字的意义；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 </a:t>
            </a:r>
            <a:r>
              <a:rPr lang="en-US" altLang="zh-CN" sz="1800">
                <a:cs typeface="+mn-ea"/>
                <a:sym typeface="+mn-lt"/>
              </a:rPr>
              <a:t>Future trait </a:t>
            </a:r>
            <a:r>
              <a:rPr lang="zh-CN" altLang="en-US" sz="1800">
                <a:cs typeface="+mn-ea"/>
                <a:sym typeface="+mn-lt"/>
              </a:rPr>
              <a:t>的含义；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 </a:t>
            </a:r>
            <a:r>
              <a:rPr lang="en-US" altLang="zh-CN" sz="1800">
                <a:cs typeface="+mn-ea"/>
                <a:sym typeface="+mn-lt"/>
              </a:rPr>
              <a:t>Context / </a:t>
            </a:r>
            <a:r>
              <a:rPr lang="en-US" altLang="zh-CN" sz="1800" err="1">
                <a:cs typeface="+mn-ea"/>
                <a:sym typeface="+mn-lt"/>
              </a:rPr>
              <a:t>Waker</a:t>
            </a:r>
            <a:r>
              <a:rPr lang="en-US" altLang="zh-CN" sz="1800">
                <a:cs typeface="+mn-ea"/>
                <a:sym typeface="+mn-lt"/>
              </a:rPr>
              <a:t> </a:t>
            </a:r>
            <a:r>
              <a:rPr lang="zh-CN" altLang="en-US" sz="1800">
                <a:cs typeface="+mn-ea"/>
                <a:sym typeface="+mn-lt"/>
              </a:rPr>
              <a:t>的作用；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 </a:t>
            </a:r>
            <a:r>
              <a:rPr lang="en-US" altLang="zh-CN" sz="1800">
                <a:cs typeface="+mn-ea"/>
                <a:sym typeface="+mn-lt"/>
              </a:rPr>
              <a:t>Pin </a:t>
            </a:r>
            <a:r>
              <a:rPr lang="zh-CN" altLang="en-US" sz="1800">
                <a:cs typeface="+mn-ea"/>
                <a:sym typeface="+mn-lt"/>
              </a:rPr>
              <a:t>类型的作用；</a:t>
            </a:r>
            <a:endParaRPr lang="en-US" altLang="zh-CN" sz="180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22092" y="94350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no0hrex2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no0hrex2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no0hrex2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no0hrex2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no0hrex2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4434</Words>
  <Application>Microsoft Office PowerPoint</Application>
  <PresentationFormat>自定义</PresentationFormat>
  <Paragraphs>359</Paragraphs>
  <Slides>18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异步编程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异步编程（仅限专业级）</dc:title>
  <dc:creator>fanyan (A)</dc:creator>
  <cp:lastModifiedBy>Zhangyandong (ben)</cp:lastModifiedBy>
  <cp:revision>7</cp:revision>
  <dcterms:created xsi:type="dcterms:W3CDTF">2023-10-18T07:26:34Z</dcterms:created>
  <dcterms:modified xsi:type="dcterms:W3CDTF">2024-11-20T02:34:28Z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(3)woZrN7bi0hWSRUFM0sX51czCPisd2ti5P+1P8AhGZOjQBAndBztzGwMU8lCmUYIuytI3Qpi5
2YzeUDg871Lz2nejjAu3TKbDnWnSjdl5MPljDnBm+xtSUSWJsH5/ayhYzpfjwyNR7g14adHl
Lgfhabrvh/ds7ZBkA0OZjoXEAcoYvZPjcuYG1hI7oXfTVDfrDkm7pUf5PjjcJkTQapvuzOuM
0+2BKOwyTXcNvJFPDZ</vt:lpwstr>
  </property>
  <property fmtid="{D5CDD505-2E9C-101B-9397-08002B2CF9AE}" pid="3" name="_2015_ms_pID_7253431">
    <vt:lpwstr>0CHJdCRamR/2w/t3aUHLmgPUl291P+Z2oLZX7qB/4eFPDxfI+Xe7dv
tNM5C0f2ZWFQMYvMHwu8hXlVn14wcSc3smendr4cRTEIUbLG9gCq+jv4Puwx+t0NpjofCxc4
il1Mtc+FdspQeLkllAcjraSkgFCKtmFrlwwaXQuBQuy6yUBu2Ap8KVKgoYIaYAlik6vehSfP
zPY9iWoVi5JqKTsMXjUAXVJOUL+N3z+sDe87</vt:lpwstr>
  </property>
  <property fmtid="{D5CDD505-2E9C-101B-9397-08002B2CF9AE}" pid="4" name="_2015_ms_pID_7253432">
    <vt:lpwstr>Ow==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1697544692</vt:lpwstr>
  </property>
</Properties>
</file>