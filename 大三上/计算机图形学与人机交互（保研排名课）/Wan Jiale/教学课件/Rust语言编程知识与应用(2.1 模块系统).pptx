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55" r:id="rId3"/>
    <p:sldMasterId id="2147483658" r:id="rId4"/>
    <p:sldMasterId id="2147483660" r:id="rId5"/>
  </p:sldMasterIdLst>
  <p:notesMasterIdLst>
    <p:notesMasterId r:id="rId23"/>
  </p:notesMasterIdLst>
  <p:handoutMasterIdLst>
    <p:handoutMasterId r:id="rId24"/>
  </p:handoutMasterIdLst>
  <p:sldIdLst>
    <p:sldId id="283" r:id="rId6"/>
    <p:sldId id="312" r:id="rId7"/>
    <p:sldId id="315" r:id="rId8"/>
    <p:sldId id="320" r:id="rId9"/>
    <p:sldId id="306" r:id="rId10"/>
    <p:sldId id="316" r:id="rId11"/>
    <p:sldId id="307" r:id="rId12"/>
    <p:sldId id="311" r:id="rId13"/>
    <p:sldId id="317" r:id="rId14"/>
    <p:sldId id="308" r:id="rId15"/>
    <p:sldId id="318" r:id="rId16"/>
    <p:sldId id="337" r:id="rId17"/>
    <p:sldId id="327" r:id="rId18"/>
    <p:sldId id="324" r:id="rId19"/>
    <p:sldId id="323" r:id="rId20"/>
    <p:sldId id="314" r:id="rId21"/>
    <p:sldId id="280" r:id="rId22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312"/>
          </p14:sldIdLst>
        </p14:section>
        <p14:section name="章节页" id="{FD05EE94-C931-8C4B-83A2-004B32AA1207}">
          <p14:sldIdLst>
            <p14:sldId id="315"/>
            <p14:sldId id="320"/>
            <p14:sldId id="306"/>
            <p14:sldId id="316"/>
            <p14:sldId id="307"/>
            <p14:sldId id="311"/>
            <p14:sldId id="317"/>
            <p14:sldId id="308"/>
            <p14:sldId id="318"/>
            <p14:sldId id="337"/>
            <p14:sldId id="327"/>
            <p14:sldId id="324"/>
            <p14:sldId id="323"/>
            <p14:sldId id="314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2" name="wuxiaojun 00342820_QRBvBJbY" initials="authorId_AK20210901:AK20210901JXNSXO124321" lastIdx="1151377372" clrIdx="0"/>
  <p:cmAuthor id="2003" name="liyuan 00575100_AN3aEzey" initials="authorId_AK20210901:AK20210901JXNSXO4974597" lastIdx="1688661517" clrIdx="0"/>
  <p:cmAuthor id="2004" name="liziqiang 00556901_ERbuA7r6" initials="authorId_AK20210901:AK20210901JXNSXO4497046" lastIdx="614753540" clrIdx="0"/>
  <p:cmAuthor id="2005" name="gaoshang 00419539_MRJvMvEj" initials="authorId_AK20210901:AK20210901JXNSXO980865" lastIdx="1152323610" clrIdx="0"/>
  <p:cmAuthor id="2000" name="fanchangchun 00567414_2yeyVvEJ" initials="authorId_AK20210901:AK20210901JXNSXO4723448" lastIdx="0" clrIdx="0"/>
  <p:cmAuthor id="2001" name="zhanghandong WX930509_Jj22FnMn" initials="authorId_AK20210901:AK20210901JXNSXO4676065" lastIdx="168808434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E9002F"/>
    <a:srgbClr val="000000"/>
    <a:srgbClr val="FFFFFF"/>
    <a:srgbClr val="595757"/>
    <a:srgbClr val="221815"/>
    <a:srgbClr val="888888"/>
    <a:srgbClr val="898989"/>
    <a:srgbClr val="B5B5B5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543" autoAdjust="0"/>
  </p:normalViewPr>
  <p:slideViewPr>
    <p:cSldViewPr snapToGrid="0" snapToObjects="1">
      <p:cViewPr varScale="1">
        <p:scale>
          <a:sx n="69" d="100"/>
          <a:sy n="69" d="100"/>
        </p:scale>
        <p:origin x="52" y="1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															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ea typeface="方正兰亭黑简体" panose="02000000000000000000" pitchFamily="2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ea typeface="方正兰亭黑简体" panose="02000000000000000000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ea typeface="方正兰亭黑简体" panose="02000000000000000000" pitchFamily="2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ea typeface="方正兰亭黑简体" panose="02000000000000000000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ea typeface="方正兰亭黑简体" panose="02000000000000000000" pitchFamily="2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ea typeface="方正兰亭黑简体" panose="02000000000000000000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ea typeface="方正兰亭黑简体" panose="02000000000000000000" pitchFamily="2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ea typeface="方正兰亭黑简体" panose="02000000000000000000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596" y="1122363"/>
            <a:ext cx="914757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596" y="3602038"/>
            <a:ext cx="914757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52550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12289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5" y="1709739"/>
            <a:ext cx="1051970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5" y="4589464"/>
            <a:ext cx="1051970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20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528" y="1825625"/>
            <a:ext cx="5183624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4611" y="1825625"/>
            <a:ext cx="5183624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28803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116" y="365126"/>
            <a:ext cx="10519708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117" y="1681163"/>
            <a:ext cx="51598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117" y="2505075"/>
            <a:ext cx="5159802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4611" y="1681163"/>
            <a:ext cx="51852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4611" y="2505075"/>
            <a:ext cx="518521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76105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15601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29396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117" y="457200"/>
            <a:ext cx="39337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5213" y="987426"/>
            <a:ext cx="617461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117" y="2057400"/>
            <a:ext cx="39337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29864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117" y="457200"/>
            <a:ext cx="39337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5213" y="987426"/>
            <a:ext cx="617461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117" y="2057400"/>
            <a:ext cx="39337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1406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27451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8309" y="365125"/>
            <a:ext cx="2629927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527" y="365125"/>
            <a:ext cx="7737322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652542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029409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528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tif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tif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image" Target="../media/image1.tiff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  <a:ea typeface="方正兰亭黑简体" panose="02000000000000000000" pitchFamily="2" charset="-122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  <a:ea typeface="方正兰亭黑简体" panose="02000000000000000000" pitchFamily="2" charset="-122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  <a:ea typeface="方正兰亭黑简体" panose="02000000000000000000" pitchFamily="2" charset="-122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  <a:ea typeface="方正兰亭黑简体" panose="02000000000000000000" pitchFamily="2" charset="-122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Microsoft YaHei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方正兰亭黑简体" panose="02000000000000000000" pitchFamily="2" charset="-122"/>
              <a:cs typeface="Microsoft YaHei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方正兰亭黑简体" panose="02000000000000000000" pitchFamily="2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528" y="365126"/>
            <a:ext cx="105197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528" y="1825625"/>
            <a:ext cx="105197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527" y="6356351"/>
            <a:ext cx="27442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40178" y="6356351"/>
            <a:ext cx="4116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3964" y="6356351"/>
            <a:ext cx="27442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7D0ED6A-DAA2-4120-87E2-6D47C564A084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A82089EA-3CC1-4A98-9A75-B949FEE11C1F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7359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模块系统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19">
        <p:fade/>
      </p:transition>
    </mc:Choice>
    <mc:Fallback xmlns="">
      <p:transition spd="med" advTm="5619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了解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Rust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模块系统的组成和使用，熟练使用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Rust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可见性规则。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729175" y="3243628"/>
            <a:ext cx="20736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19122" y="3213170"/>
            <a:ext cx="4196421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dirty="0">
                <a:cs typeface="+mn-ea"/>
                <a:sym typeface="+mn-lt"/>
              </a:rPr>
              <a:t>package</a:t>
            </a:r>
            <a:r>
              <a:rPr lang="zh-CN" altLang="en-US" dirty="0">
                <a:cs typeface="+mn-ea"/>
                <a:sym typeface="+mn-lt"/>
              </a:rPr>
              <a:t>、</a:t>
            </a:r>
            <a:r>
              <a:rPr lang="en-US" altLang="zh-CN" dirty="0">
                <a:cs typeface="+mn-ea"/>
                <a:sym typeface="+mn-lt"/>
              </a:rPr>
              <a:t>crate</a:t>
            </a:r>
            <a:r>
              <a:rPr lang="zh-CN" altLang="en-US" dirty="0">
                <a:cs typeface="+mn-ea"/>
                <a:sym typeface="+mn-lt"/>
              </a:rPr>
              <a:t>、</a:t>
            </a:r>
            <a:r>
              <a:rPr lang="en-US" altLang="zh-CN" dirty="0">
                <a:cs typeface="+mn-ea"/>
                <a:sym typeface="+mn-lt"/>
              </a:rPr>
              <a:t>mod</a:t>
            </a:r>
            <a:r>
              <a:rPr lang="zh-CN" altLang="en-US" dirty="0">
                <a:cs typeface="+mn-ea"/>
                <a:sym typeface="+mn-lt"/>
              </a:rPr>
              <a:t>概念；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cs typeface="+mn-ea"/>
                <a:sym typeface="+mn-lt"/>
              </a:rPr>
              <a:t>可见性规则；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cs typeface="+mn-ea"/>
                <a:sym typeface="+mn-lt"/>
              </a:rPr>
              <a:t>模块的组织方式；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dirty="0">
                <a:cs typeface="+mn-ea"/>
                <a:sym typeface="+mn-lt"/>
              </a:rPr>
              <a:t>use</a:t>
            </a:r>
            <a:r>
              <a:rPr lang="zh-CN" altLang="en-US" dirty="0">
                <a:cs typeface="+mn-ea"/>
                <a:sym typeface="+mn-lt"/>
              </a:rPr>
              <a:t>语句；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cs typeface="+mn-ea"/>
                <a:sym typeface="+mn-lt"/>
              </a:rPr>
              <a:t>相对路径和绝对路径；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2795455"/>
            <a:ext cx="2276585" cy="4649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9" name="直接连接符 8"/>
          <p:cNvCxnSpPr>
            <a:stCxn id="2" idx="1"/>
            <a:endCxn id="2" idx="3"/>
          </p:cNvCxnSpPr>
          <p:nvPr/>
        </p:nvCxnSpPr>
        <p:spPr>
          <a:xfrm>
            <a:off x="728663" y="952501"/>
            <a:ext cx="10741025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55"/>
    </mc:Choice>
    <mc:Fallback xmlns="">
      <p:transition spd="slow" advTm="1995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24474" y="0"/>
            <a:ext cx="36000" cy="6840000"/>
          </a:xfrm>
          <a:prstGeom prst="rect">
            <a:avLst/>
          </a:prstGeom>
          <a:gradFill>
            <a:gsLst>
              <a:gs pos="4000">
                <a:schemeClr val="tx2">
                  <a:lumMod val="85000"/>
                </a:schemeClr>
              </a:gs>
              <a:gs pos="54000">
                <a:schemeClr val="tx2">
                  <a:lumMod val="85000"/>
                </a:schemeClr>
              </a:gs>
              <a:gs pos="100000">
                <a:schemeClr val="tx2">
                  <a:lumMod val="85000"/>
                  <a:alpha val="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481893"/>
            <a:ext cx="10733557" cy="4690459"/>
          </a:xfrm>
        </p:spPr>
        <p:txBody>
          <a:bodyPr/>
          <a:lstStyle/>
          <a:p>
            <a:pPr marL="354965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package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crate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mod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概念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可见性规则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模块组织方式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use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语句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相对路径和绝对路径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0543" y="-297"/>
            <a:ext cx="4465966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3200" b="1" dirty="0">
                <a:solidFill>
                  <a:srgbClr val="C00000"/>
                </a:solidFill>
                <a:cs typeface="+mn-ea"/>
                <a:sym typeface="+mn-lt"/>
              </a:rPr>
              <a:t>package/crate/mod</a:t>
            </a:r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概念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32756" y="1144859"/>
            <a:ext cx="10417083" cy="25844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+mn-ea"/>
                <a:sym typeface="+mn-lt"/>
              </a:rPr>
              <a:t>package</a:t>
            </a:r>
            <a:r>
              <a:rPr lang="zh-CN" altLang="en-US" sz="1600" dirty="0">
                <a:cs typeface="+mn-ea"/>
                <a:sym typeface="+mn-lt"/>
              </a:rPr>
              <a:t>：通过</a:t>
            </a:r>
            <a:r>
              <a:rPr lang="en-US" altLang="zh-CN" sz="1600" dirty="0">
                <a:cs typeface="+mn-ea"/>
                <a:sym typeface="+mn-lt"/>
              </a:rPr>
              <a:t>Cargo</a:t>
            </a:r>
            <a:r>
              <a:rPr lang="zh-CN" altLang="en-US" sz="1600" dirty="0">
                <a:cs typeface="+mn-ea"/>
                <a:sym typeface="+mn-lt"/>
              </a:rPr>
              <a:t>构建一个完整功能的</a:t>
            </a:r>
            <a:r>
              <a:rPr lang="en-US" altLang="zh-CN" sz="1600" dirty="0">
                <a:cs typeface="+mn-ea"/>
                <a:sym typeface="+mn-lt"/>
              </a:rPr>
              <a:t>crate</a:t>
            </a:r>
            <a:r>
              <a:rPr lang="zh-CN" altLang="en-US" sz="1600" dirty="0">
                <a:cs typeface="+mn-ea"/>
                <a:sym typeface="+mn-lt"/>
              </a:rPr>
              <a:t>集合。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一个</a:t>
            </a: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package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通常包含一个</a:t>
            </a:r>
            <a:r>
              <a:rPr kumimoji="1"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Cargo.toml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的配置文件用于描述整个</a:t>
            </a: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package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的构建。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cs typeface="+mn-ea"/>
                <a:sym typeface="+mn-lt"/>
              </a:rPr>
              <a:t>crate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Rust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模块的树形结构，可编译生成二进制文件或库。</a:t>
            </a:r>
            <a:endParaRPr kumimoji="1"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mod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mod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本身也是</a:t>
            </a: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Item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，用于包含其他</a:t>
            </a: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Item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；</a:t>
            </a: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mod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可以嵌套，并且可以控制其内部项的可见性。</a:t>
            </a:r>
          </a:p>
          <a:p>
            <a:pPr indent="0">
              <a:lnSpc>
                <a:spcPct val="150000"/>
              </a:lnSpc>
              <a:buNone/>
            </a:pP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注意：</a:t>
            </a: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crate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是一个特殊的</a:t>
            </a: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mod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，其源码文件为</a:t>
            </a: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lib.rs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或</a:t>
            </a: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main.rs</a:t>
            </a:r>
            <a:r>
              <a:rPr kumimoji="1"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，作为目标文件传递给编译器进行编译</a:t>
            </a:r>
            <a:endParaRPr kumimoji="1"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257797" y="529854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68682" y="548708"/>
            <a:ext cx="10430741" cy="464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在 </a:t>
            </a:r>
            <a:r>
              <a:rPr lang="en-US" altLang="zh-CN" dirty="0">
                <a:cs typeface="+mn-ea"/>
                <a:sym typeface="+mn-lt"/>
              </a:rPr>
              <a:t>Rust </a:t>
            </a:r>
            <a:r>
              <a:rPr lang="zh-CN" altLang="en-US" dirty="0">
                <a:cs typeface="+mn-ea"/>
                <a:sym typeface="+mn-lt"/>
              </a:rPr>
              <a:t>中，</a:t>
            </a:r>
            <a:r>
              <a:rPr lang="en-US" altLang="zh-CN" dirty="0">
                <a:cs typeface="+mn-ea"/>
                <a:sym typeface="+mn-lt"/>
              </a:rPr>
              <a:t>package</a:t>
            </a:r>
            <a:r>
              <a:rPr lang="zh-CN" altLang="en-US" dirty="0">
                <a:cs typeface="+mn-ea"/>
                <a:sym typeface="+mn-lt"/>
              </a:rPr>
              <a:t>、</a:t>
            </a:r>
            <a:r>
              <a:rPr lang="en-US" altLang="zh-CN" dirty="0">
                <a:cs typeface="+mn-ea"/>
                <a:sym typeface="+mn-lt"/>
              </a:rPr>
              <a:t>crate </a:t>
            </a:r>
            <a:r>
              <a:rPr lang="zh-CN" altLang="en-US" dirty="0">
                <a:cs typeface="+mn-ea"/>
                <a:sym typeface="+mn-lt"/>
              </a:rPr>
              <a:t>和 </a:t>
            </a:r>
            <a:r>
              <a:rPr lang="en-US" altLang="zh-CN" dirty="0">
                <a:cs typeface="+mn-ea"/>
                <a:sym typeface="+mn-lt"/>
              </a:rPr>
              <a:t>mod </a:t>
            </a:r>
            <a:r>
              <a:rPr lang="zh-CN" altLang="en-US" dirty="0">
                <a:cs typeface="+mn-ea"/>
                <a:sym typeface="+mn-lt"/>
              </a:rPr>
              <a:t>是用来组织和管理代码的三个概念。</a:t>
            </a:r>
          </a:p>
        </p:txBody>
      </p:sp>
      <p:pic>
        <p:nvPicPr>
          <p:cNvPr id="5" name="Picture 4" descr="upload_5203055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77" y="3224943"/>
            <a:ext cx="2090344" cy="2757263"/>
          </a:xfrm>
          <a:prstGeom prst="rect">
            <a:avLst/>
          </a:prstGeom>
        </p:spPr>
      </p:pic>
      <p:pic>
        <p:nvPicPr>
          <p:cNvPr id="6" name="Picture 5" descr="upload_0737043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8155" y="3280001"/>
            <a:ext cx="4658481" cy="22496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47843">
        <p:fade/>
      </p:transition>
    </mc:Choice>
    <mc:Fallback xmlns="">
      <p:transition spd="med" advTm="147843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0543" y="-297"/>
            <a:ext cx="389048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可见性规则</a:t>
            </a:r>
            <a:r>
              <a:rPr kumimoji="1" lang="en-US" altLang="zh-CN" sz="3200" b="1" dirty="0">
                <a:solidFill>
                  <a:srgbClr val="C00000"/>
                </a:solidFill>
                <a:cs typeface="+mn-ea"/>
                <a:sym typeface="+mn-lt"/>
              </a:rPr>
              <a:t>-mod</a:t>
            </a:r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概念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57797" y="717210"/>
            <a:ext cx="10740640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1600" dirty="0">
                <a:cs typeface="+mn-ea"/>
                <a:sym typeface="+mn-lt"/>
              </a:rPr>
              <a:t>模块</a:t>
            </a:r>
            <a:r>
              <a:rPr kumimoji="1" lang="en-US" altLang="zh-CN" sz="1600" dirty="0">
                <a:cs typeface="+mn-ea"/>
                <a:sym typeface="+mn-lt"/>
              </a:rPr>
              <a:t>(Modules)</a:t>
            </a:r>
            <a:r>
              <a:rPr kumimoji="1" lang="zh-CN" altLang="en-US" sz="1600" dirty="0">
                <a:cs typeface="+mn-ea"/>
                <a:sym typeface="+mn-lt"/>
              </a:rPr>
              <a:t>是</a:t>
            </a:r>
            <a:r>
              <a:rPr kumimoji="1" lang="en-US" altLang="zh-CN" sz="1600" dirty="0">
                <a:cs typeface="+mn-ea"/>
                <a:sym typeface="+mn-lt"/>
              </a:rPr>
              <a:t>crate</a:t>
            </a:r>
            <a:r>
              <a:rPr kumimoji="1" lang="zh-CN" altLang="en-US" sz="1600" dirty="0">
                <a:cs typeface="+mn-ea"/>
                <a:sym typeface="+mn-lt"/>
              </a:rPr>
              <a:t>用于代码划分和组织的核心结构。</a:t>
            </a:r>
            <a:endParaRPr kumimoji="1" lang="en-US" altLang="zh-CN" sz="16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cs typeface="+mn-ea"/>
                <a:sym typeface="+mn-lt"/>
              </a:rPr>
              <a:t>每个模块中可以包含任意个</a:t>
            </a:r>
            <a:r>
              <a:rPr kumimoji="1" lang="en-US" altLang="zh-CN" sz="1600" dirty="0">
                <a:cs typeface="+mn-ea"/>
                <a:sym typeface="+mn-lt"/>
              </a:rPr>
              <a:t>Rust</a:t>
            </a:r>
            <a:r>
              <a:rPr kumimoji="1" lang="zh-CN" altLang="en-US" sz="1600" dirty="0">
                <a:cs typeface="+mn-ea"/>
                <a:sym typeface="+mn-lt"/>
              </a:rPr>
              <a:t>语言</a:t>
            </a:r>
            <a:r>
              <a:rPr kumimoji="1" lang="en-US" altLang="zh-CN" sz="1600" dirty="0">
                <a:cs typeface="+mn-ea"/>
                <a:sym typeface="+mn-lt"/>
              </a:rPr>
              <a:t>Item</a:t>
            </a:r>
            <a:r>
              <a:rPr kumimoji="1" lang="zh-CN" altLang="en-US" sz="1600" dirty="0">
                <a:cs typeface="+mn-ea"/>
                <a:sym typeface="+mn-lt"/>
              </a:rPr>
              <a:t>（函数、结构体、</a:t>
            </a:r>
            <a:r>
              <a:rPr kumimoji="1" lang="en-US" altLang="zh-CN" sz="1600" dirty="0">
                <a:cs typeface="+mn-ea"/>
                <a:sym typeface="+mn-lt"/>
              </a:rPr>
              <a:t>trait</a:t>
            </a:r>
            <a:r>
              <a:rPr kumimoji="1" lang="zh-CN" altLang="en-US" sz="1600" dirty="0">
                <a:cs typeface="+mn-ea"/>
                <a:sym typeface="+mn-lt"/>
              </a:rPr>
              <a:t>等），这些</a:t>
            </a:r>
            <a:r>
              <a:rPr kumimoji="1" lang="en-US" altLang="zh-CN" sz="1600" dirty="0">
                <a:cs typeface="+mn-ea"/>
                <a:sym typeface="+mn-lt"/>
              </a:rPr>
              <a:t>Item</a:t>
            </a:r>
            <a:r>
              <a:rPr kumimoji="1" lang="zh-CN" altLang="en-US" sz="1600" dirty="0">
                <a:cs typeface="+mn-ea"/>
                <a:sym typeface="+mn-lt"/>
              </a:rPr>
              <a:t>作为模块成员被模块本身或外部的代码所访问。</a:t>
            </a:r>
            <a:endParaRPr kumimoji="1" lang="en-US" altLang="zh-CN" sz="16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 sz="1600" dirty="0">
                <a:cs typeface="+mn-ea"/>
                <a:sym typeface="+mn-lt"/>
              </a:rPr>
              <a:t>crate</a:t>
            </a:r>
            <a:r>
              <a:rPr kumimoji="1" lang="zh-CN" altLang="en-US" sz="1600" dirty="0">
                <a:cs typeface="+mn-ea"/>
                <a:sym typeface="+mn-lt"/>
              </a:rPr>
              <a:t>中的各个模块以树形结构进行组织。根模块一般由</a:t>
            </a:r>
            <a:r>
              <a:rPr kumimoji="1" lang="en-US" altLang="zh-CN" sz="1600" dirty="0">
                <a:cs typeface="+mn-ea"/>
                <a:sym typeface="+mn-lt"/>
              </a:rPr>
              <a:t>lib.rs</a:t>
            </a:r>
            <a:r>
              <a:rPr kumimoji="1" lang="zh-CN" altLang="en-US" sz="1600" dirty="0">
                <a:cs typeface="+mn-ea"/>
                <a:sym typeface="+mn-lt"/>
              </a:rPr>
              <a:t>或</a:t>
            </a:r>
            <a:r>
              <a:rPr kumimoji="1" lang="en-US" altLang="zh-CN" sz="1600" dirty="0">
                <a:cs typeface="+mn-ea"/>
                <a:sym typeface="+mn-lt"/>
              </a:rPr>
              <a:t>main.rs</a:t>
            </a:r>
            <a:r>
              <a:rPr kumimoji="1" lang="zh-CN" altLang="en-US" sz="1600" dirty="0">
                <a:cs typeface="+mn-ea"/>
                <a:sym typeface="+mn-lt"/>
              </a:rPr>
              <a:t>文件定义，子模块本身是父模块的一个</a:t>
            </a:r>
            <a:r>
              <a:rPr kumimoji="1" lang="en-US" altLang="zh-CN" sz="1600" dirty="0">
                <a:cs typeface="+mn-ea"/>
                <a:sym typeface="+mn-lt"/>
              </a:rPr>
              <a:t>Item</a:t>
            </a:r>
            <a:r>
              <a:rPr kumimoji="1" lang="zh-CN" altLang="en-US" sz="1600" dirty="0">
                <a:cs typeface="+mn-ea"/>
                <a:sym typeface="+mn-lt"/>
              </a:rPr>
              <a:t>。</a:t>
            </a:r>
            <a:endParaRPr kumimoji="1" lang="en-US" altLang="zh-CN" sz="1600" dirty="0">
              <a:cs typeface="+mn-ea"/>
              <a:sym typeface="+mn-lt"/>
            </a:endParaRPr>
          </a:p>
        </p:txBody>
      </p:sp>
      <p:sp>
        <p:nvSpPr>
          <p:cNvPr id="4" name="矩形: 剪去单角 3"/>
          <p:cNvSpPr/>
          <p:nvPr/>
        </p:nvSpPr>
        <p:spPr>
          <a:xfrm>
            <a:off x="1993083" y="2679107"/>
            <a:ext cx="1481270" cy="700755"/>
          </a:xfrm>
          <a:prstGeom prst="snip1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>
                <a:cs typeface="+mn-ea"/>
                <a:sym typeface="+mn-lt"/>
              </a:rPr>
              <a:t>lib.rs/main.rs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: 剪去单角 5"/>
          <p:cNvSpPr/>
          <p:nvPr/>
        </p:nvSpPr>
        <p:spPr>
          <a:xfrm>
            <a:off x="745397" y="3680936"/>
            <a:ext cx="1247686" cy="700755"/>
          </a:xfrm>
          <a:prstGeom prst="snip1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>
                <a:cs typeface="+mn-ea"/>
                <a:sym typeface="+mn-lt"/>
              </a:rPr>
              <a:t>mod1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: 剪去单角 6"/>
          <p:cNvSpPr/>
          <p:nvPr/>
        </p:nvSpPr>
        <p:spPr>
          <a:xfrm>
            <a:off x="3002911" y="3689647"/>
            <a:ext cx="1247686" cy="700755"/>
          </a:xfrm>
          <a:prstGeom prst="snip1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>
                <a:cs typeface="+mn-ea"/>
                <a:sym typeface="+mn-lt"/>
              </a:rPr>
              <a:t>mod2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: 剪去单角 7"/>
          <p:cNvSpPr/>
          <p:nvPr/>
        </p:nvSpPr>
        <p:spPr>
          <a:xfrm>
            <a:off x="2226667" y="4992550"/>
            <a:ext cx="1247686" cy="700755"/>
          </a:xfrm>
          <a:prstGeom prst="snip1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>
                <a:cs typeface="+mn-ea"/>
                <a:sym typeface="+mn-lt"/>
              </a:rPr>
              <a:t>mod3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矩形: 剪去单角 8"/>
          <p:cNvSpPr/>
          <p:nvPr/>
        </p:nvSpPr>
        <p:spPr>
          <a:xfrm>
            <a:off x="3900219" y="4992550"/>
            <a:ext cx="1247686" cy="700755"/>
          </a:xfrm>
          <a:prstGeom prst="snip1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>
                <a:cs typeface="+mn-ea"/>
                <a:sym typeface="+mn-lt"/>
              </a:rPr>
              <a:t>mod4</a:t>
            </a:r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1" name="连接符: 肘形 10"/>
          <p:cNvCxnSpPr>
            <a:stCxn id="4" idx="1"/>
            <a:endCxn id="6" idx="3"/>
          </p:cNvCxnSpPr>
          <p:nvPr/>
        </p:nvCxnSpPr>
        <p:spPr>
          <a:xfrm rot="5400000">
            <a:off x="1900942" y="2848160"/>
            <a:ext cx="301074" cy="136447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12"/>
          <p:cNvCxnSpPr>
            <a:stCxn id="4" idx="1"/>
            <a:endCxn id="7" idx="3"/>
          </p:cNvCxnSpPr>
          <p:nvPr/>
        </p:nvCxnSpPr>
        <p:spPr>
          <a:xfrm rot="16200000" flipH="1">
            <a:off x="3025344" y="3088236"/>
            <a:ext cx="309785" cy="89303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肘形 14"/>
          <p:cNvCxnSpPr>
            <a:stCxn id="7" idx="1"/>
            <a:endCxn id="8" idx="3"/>
          </p:cNvCxnSpPr>
          <p:nvPr/>
        </p:nvCxnSpPr>
        <p:spPr>
          <a:xfrm rot="5400000">
            <a:off x="2937558" y="4303354"/>
            <a:ext cx="602148" cy="77624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肘形 16"/>
          <p:cNvCxnSpPr>
            <a:stCxn id="7" idx="1"/>
            <a:endCxn id="9" idx="3"/>
          </p:cNvCxnSpPr>
          <p:nvPr/>
        </p:nvCxnSpPr>
        <p:spPr>
          <a:xfrm rot="16200000" flipH="1">
            <a:off x="3774334" y="4242822"/>
            <a:ext cx="602148" cy="89730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剪去单角 17"/>
          <p:cNvSpPr/>
          <p:nvPr/>
        </p:nvSpPr>
        <p:spPr>
          <a:xfrm>
            <a:off x="6335528" y="2626015"/>
            <a:ext cx="4468961" cy="2965060"/>
          </a:xfrm>
          <a:prstGeom prst="snip1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r>
              <a:rPr lang="zh-CN" altLang="en-US">
                <a:cs typeface="+mn-ea"/>
                <a:sym typeface="+mn-lt"/>
              </a:rPr>
              <a:t>模块</a:t>
            </a:r>
          </a:p>
        </p:txBody>
      </p:sp>
      <p:sp>
        <p:nvSpPr>
          <p:cNvPr id="19" name="矩形: 圆角 18"/>
          <p:cNvSpPr/>
          <p:nvPr/>
        </p:nvSpPr>
        <p:spPr>
          <a:xfrm>
            <a:off x="7768370" y="3305086"/>
            <a:ext cx="801638" cy="384561"/>
          </a:xfrm>
          <a:prstGeom prst="round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>
                <a:cs typeface="+mn-ea"/>
                <a:sym typeface="+mn-lt"/>
              </a:rPr>
              <a:t>子模块</a:t>
            </a:r>
          </a:p>
        </p:txBody>
      </p:sp>
      <p:sp>
        <p:nvSpPr>
          <p:cNvPr id="20" name="矩形: 圆角 19"/>
          <p:cNvSpPr/>
          <p:nvPr/>
        </p:nvSpPr>
        <p:spPr>
          <a:xfrm>
            <a:off x="6721514" y="3305086"/>
            <a:ext cx="801638" cy="384561"/>
          </a:xfrm>
          <a:prstGeom prst="round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>
                <a:cs typeface="+mn-ea"/>
                <a:sym typeface="+mn-lt"/>
              </a:rPr>
              <a:t>函数</a:t>
            </a:r>
          </a:p>
        </p:txBody>
      </p:sp>
      <p:sp>
        <p:nvSpPr>
          <p:cNvPr id="21" name="矩形: 圆角 20"/>
          <p:cNvSpPr/>
          <p:nvPr/>
        </p:nvSpPr>
        <p:spPr>
          <a:xfrm>
            <a:off x="8793033" y="3305086"/>
            <a:ext cx="801638" cy="384561"/>
          </a:xfrm>
          <a:prstGeom prst="round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>
                <a:cs typeface="+mn-ea"/>
                <a:sym typeface="+mn-lt"/>
              </a:rPr>
              <a:t>常量</a:t>
            </a:r>
            <a:endParaRPr lang="en-US" altLang="zh-CN" sz="1200">
              <a:cs typeface="+mn-ea"/>
              <a:sym typeface="+mn-lt"/>
            </a:endParaRPr>
          </a:p>
          <a:p>
            <a:pPr algn="ctr"/>
            <a:r>
              <a:rPr lang="zh-CN" altLang="en-US" sz="1200">
                <a:cs typeface="+mn-ea"/>
                <a:sym typeface="+mn-lt"/>
              </a:rPr>
              <a:t>声明</a:t>
            </a:r>
          </a:p>
        </p:txBody>
      </p:sp>
      <p:sp>
        <p:nvSpPr>
          <p:cNvPr id="22" name="矩形: 圆角 21"/>
          <p:cNvSpPr/>
          <p:nvPr/>
        </p:nvSpPr>
        <p:spPr>
          <a:xfrm>
            <a:off x="9747071" y="3310071"/>
            <a:ext cx="801638" cy="384561"/>
          </a:xfrm>
          <a:prstGeom prst="round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>
                <a:cs typeface="+mn-ea"/>
                <a:sym typeface="+mn-lt"/>
              </a:rPr>
              <a:t>静态</a:t>
            </a:r>
            <a:endParaRPr lang="en-US" altLang="zh-CN" sz="1200">
              <a:cs typeface="+mn-ea"/>
              <a:sym typeface="+mn-lt"/>
            </a:endParaRPr>
          </a:p>
          <a:p>
            <a:pPr algn="ctr"/>
            <a:r>
              <a:rPr lang="zh-CN" altLang="en-US" sz="1200">
                <a:cs typeface="+mn-ea"/>
                <a:sym typeface="+mn-lt"/>
              </a:rPr>
              <a:t>变量</a:t>
            </a:r>
          </a:p>
        </p:txBody>
      </p:sp>
      <p:sp>
        <p:nvSpPr>
          <p:cNvPr id="23" name="矩形: 圆角 22"/>
          <p:cNvSpPr/>
          <p:nvPr/>
        </p:nvSpPr>
        <p:spPr>
          <a:xfrm>
            <a:off x="6721514" y="3916264"/>
            <a:ext cx="801638" cy="384561"/>
          </a:xfrm>
          <a:prstGeom prst="round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>
                <a:cs typeface="+mn-ea"/>
                <a:sym typeface="+mn-lt"/>
              </a:rPr>
              <a:t>枚举</a:t>
            </a:r>
          </a:p>
        </p:txBody>
      </p:sp>
      <p:sp>
        <p:nvSpPr>
          <p:cNvPr id="24" name="矩形: 圆角 23"/>
          <p:cNvSpPr/>
          <p:nvPr/>
        </p:nvSpPr>
        <p:spPr>
          <a:xfrm>
            <a:off x="7768370" y="3942768"/>
            <a:ext cx="801638" cy="384561"/>
          </a:xfrm>
          <a:prstGeom prst="round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>
                <a:cs typeface="+mn-ea"/>
                <a:sym typeface="+mn-lt"/>
              </a:rPr>
              <a:t>结构体</a:t>
            </a:r>
          </a:p>
        </p:txBody>
      </p:sp>
      <p:sp>
        <p:nvSpPr>
          <p:cNvPr id="25" name="矩形: 圆角 24"/>
          <p:cNvSpPr/>
          <p:nvPr/>
        </p:nvSpPr>
        <p:spPr>
          <a:xfrm>
            <a:off x="8793033" y="3944501"/>
            <a:ext cx="801638" cy="384561"/>
          </a:xfrm>
          <a:prstGeom prst="round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>
                <a:cs typeface="+mn-ea"/>
                <a:sym typeface="+mn-lt"/>
              </a:rPr>
              <a:t>trait</a:t>
            </a:r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9757631" y="3944501"/>
            <a:ext cx="801638" cy="384561"/>
          </a:xfrm>
          <a:prstGeom prst="round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>
                <a:cs typeface="+mn-ea"/>
                <a:sym typeface="+mn-lt"/>
              </a:rPr>
              <a:t>impl</a:t>
            </a:r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6721514" y="4527442"/>
            <a:ext cx="801638" cy="384561"/>
          </a:xfrm>
          <a:prstGeom prst="round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>
                <a:cs typeface="+mn-ea"/>
                <a:sym typeface="+mn-lt"/>
              </a:rPr>
              <a:t>宏定义</a:t>
            </a:r>
          </a:p>
        </p:txBody>
      </p:sp>
      <p:sp>
        <p:nvSpPr>
          <p:cNvPr id="28" name="矩形: 圆角 27"/>
          <p:cNvSpPr/>
          <p:nvPr/>
        </p:nvSpPr>
        <p:spPr>
          <a:xfrm>
            <a:off x="7768370" y="4527442"/>
            <a:ext cx="801638" cy="384561"/>
          </a:xfrm>
          <a:prstGeom prst="round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>
                <a:cs typeface="+mn-ea"/>
                <a:sym typeface="+mn-lt"/>
              </a:rPr>
              <a:t>宏调用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9006300" y="4635004"/>
            <a:ext cx="16030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dirty="0">
                <a:solidFill>
                  <a:srgbClr val="000000"/>
                </a:solidFill>
                <a:cs typeface="+mn-ea"/>
                <a:sym typeface="+mn-lt"/>
              </a:rPr>
              <a:t>…</a:t>
            </a:r>
            <a:endParaRPr kumimoji="1" lang="zh-CN" altLang="en-US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31" name="连接符: 曲线 30"/>
          <p:cNvCxnSpPr>
            <a:stCxn id="7" idx="0"/>
          </p:cNvCxnSpPr>
          <p:nvPr/>
        </p:nvCxnSpPr>
        <p:spPr>
          <a:xfrm flipV="1">
            <a:off x="4250597" y="3530399"/>
            <a:ext cx="2084931" cy="50962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257797" y="492146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9558">
        <p:fade/>
      </p:transition>
    </mc:Choice>
    <mc:Fallback xmlns="">
      <p:transition spd="med" advTm="59558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57797" y="-297"/>
            <a:ext cx="389048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可见性规则</a:t>
            </a:r>
            <a:r>
              <a:rPr kumimoji="1" lang="en-US" altLang="zh-CN" sz="3200" b="1" dirty="0">
                <a:solidFill>
                  <a:srgbClr val="C00000"/>
                </a:solidFill>
                <a:cs typeface="+mn-ea"/>
                <a:sym typeface="+mn-lt"/>
              </a:rPr>
              <a:t>-mod</a:t>
            </a:r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成员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86302" y="1182478"/>
            <a:ext cx="5281301" cy="331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r>
              <a:rPr kumimoji="1" lang="zh-CN" altLang="en-US" sz="1600" dirty="0">
                <a:cs typeface="+mn-ea"/>
                <a:sym typeface="+mn-lt"/>
              </a:rPr>
              <a:t>模块中所定义的所有</a:t>
            </a:r>
            <a:r>
              <a:rPr kumimoji="1" lang="en-US" altLang="zh-CN" sz="1600" dirty="0">
                <a:cs typeface="+mn-ea"/>
                <a:sym typeface="+mn-lt"/>
              </a:rPr>
              <a:t>Item</a:t>
            </a:r>
            <a:r>
              <a:rPr kumimoji="1" lang="zh-CN" altLang="en-US" sz="1600" dirty="0">
                <a:cs typeface="+mn-ea"/>
                <a:sym typeface="+mn-lt"/>
              </a:rPr>
              <a:t>对该模块所有其他成员中可见</a:t>
            </a:r>
            <a:endParaRPr kumimoji="1" lang="en-US" altLang="zh-CN" sz="1600" dirty="0"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57797" y="492146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6301" y="1555572"/>
            <a:ext cx="5281301" cy="181588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 </a:t>
            </a:r>
          </a:p>
          <a:p>
            <a:r>
              <a:rPr lang="pt-BR" altLang="zh-CN" sz="140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pt-BR" altLang="zh-CN" sz="1400">
                <a:solidFill>
                  <a:srgbClr val="D19A66"/>
                </a:solidFill>
                <a:cs typeface="+mn-ea"/>
                <a:sym typeface="+mn-lt"/>
              </a:rPr>
              <a:t>N1</a:t>
            </a:r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pt-BR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pt-BR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pt-BR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pt-BR" altLang="zh-CN" sz="140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pt-BR" altLang="zh-CN" sz="1400">
                <a:solidFill>
                  <a:srgbClr val="D19A66"/>
                </a:solidFill>
                <a:cs typeface="+mn-ea"/>
                <a:sym typeface="+mn-lt"/>
              </a:rPr>
              <a:t>N2</a:t>
            </a:r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pt-BR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pt-BR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pt-BR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pt-BR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pt-BR" altLang="zh-CN" sz="1400">
                <a:solidFill>
                  <a:srgbClr val="61AFEF"/>
                </a:solidFill>
                <a:cs typeface="+mn-ea"/>
                <a:sym typeface="+mn-lt"/>
              </a:rPr>
              <a:t>foo</a:t>
            </a:r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pt-BR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pt-BR" altLang="zh-CN" sz="1400">
                <a:solidFill>
                  <a:srgbClr val="E5C07B"/>
                </a:solidFill>
                <a:cs typeface="+mn-ea"/>
                <a:sym typeface="+mn-lt"/>
              </a:rPr>
              <a:t>N1</a:t>
            </a:r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pt-BR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pt-BR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pt-BR" altLang="zh-CN" sz="1400">
                <a:solidFill>
                  <a:srgbClr val="E5C07B"/>
                </a:solidFill>
                <a:cs typeface="+mn-ea"/>
                <a:sym typeface="+mn-lt"/>
              </a:rPr>
              <a:t>N2</a:t>
            </a:r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pt-BR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pt-BR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pt-BR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7977">
        <p:fade/>
      </p:transition>
    </mc:Choice>
    <mc:Fallback xmlns="">
      <p:transition spd="med" advTm="27977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57797" y="-297"/>
            <a:ext cx="389048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可见性规则</a:t>
            </a:r>
            <a:r>
              <a:rPr kumimoji="1" lang="en-US" altLang="zh-CN" sz="3200" b="1" dirty="0">
                <a:solidFill>
                  <a:srgbClr val="C00000"/>
                </a:solidFill>
                <a:cs typeface="+mn-ea"/>
                <a:sym typeface="+mn-lt"/>
              </a:rPr>
              <a:t>-mod</a:t>
            </a:r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成员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27480" y="751868"/>
            <a:ext cx="10846978" cy="14770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600" dirty="0">
                <a:cs typeface="+mn-ea"/>
                <a:sym typeface="+mn-lt"/>
              </a:rPr>
              <a:t>2. </a:t>
            </a:r>
            <a:r>
              <a:rPr kumimoji="1" lang="zh-CN" altLang="en-US" sz="1600" dirty="0">
                <a:cs typeface="+mn-ea"/>
                <a:sym typeface="+mn-lt"/>
              </a:rPr>
              <a:t>模块中的</a:t>
            </a:r>
            <a:r>
              <a:rPr kumimoji="1" lang="en-US" altLang="zh-CN" sz="1600" dirty="0">
                <a:cs typeface="+mn-ea"/>
                <a:sym typeface="+mn-lt"/>
              </a:rPr>
              <a:t>Item</a:t>
            </a:r>
            <a:r>
              <a:rPr kumimoji="1" lang="zh-CN" altLang="en-US" sz="1600" dirty="0">
                <a:cs typeface="+mn-ea"/>
                <a:sym typeface="+mn-lt"/>
              </a:rPr>
              <a:t>默认为私有，不可被其他模块访问。</a:t>
            </a:r>
            <a:endParaRPr kumimoji="1" lang="en-US" altLang="zh-CN" sz="1600" dirty="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600" dirty="0">
                <a:cs typeface="+mn-ea"/>
                <a:sym typeface="+mn-lt"/>
              </a:rPr>
              <a:t>如示例所示，子模块</a:t>
            </a:r>
            <a:r>
              <a:rPr kumimoji="1" lang="en-US" altLang="zh-CN" sz="1600" dirty="0">
                <a:cs typeface="+mn-ea"/>
                <a:sym typeface="+mn-lt"/>
              </a:rPr>
              <a:t>m2</a:t>
            </a:r>
            <a:r>
              <a:rPr kumimoji="1" lang="zh-CN" altLang="en-US" sz="1600" dirty="0">
                <a:cs typeface="+mn-ea"/>
                <a:sym typeface="+mn-lt"/>
              </a:rPr>
              <a:t>中未声明为</a:t>
            </a:r>
            <a:r>
              <a:rPr kumimoji="1" lang="en-US" altLang="zh-CN" sz="1600" dirty="0">
                <a:cs typeface="+mn-ea"/>
                <a:sym typeface="+mn-lt"/>
              </a:rPr>
              <a:t>pub</a:t>
            </a:r>
            <a:r>
              <a:rPr kumimoji="1" lang="zh-CN" altLang="en-US" sz="1600" dirty="0">
                <a:cs typeface="+mn-ea"/>
                <a:sym typeface="+mn-lt"/>
              </a:rPr>
              <a:t>的常量</a:t>
            </a:r>
            <a:r>
              <a:rPr kumimoji="1" lang="en-US" altLang="zh-CN" sz="1600" dirty="0">
                <a:cs typeface="+mn-ea"/>
                <a:sym typeface="+mn-lt"/>
              </a:rPr>
              <a:t>M1</a:t>
            </a:r>
            <a:r>
              <a:rPr kumimoji="1" lang="zh-CN" altLang="en-US" sz="1600" dirty="0">
                <a:cs typeface="+mn-ea"/>
                <a:sym typeface="+mn-lt"/>
              </a:rPr>
              <a:t>在父模块中不可见。</a:t>
            </a:r>
          </a:p>
          <a:p>
            <a:pPr algn="l">
              <a:lnSpc>
                <a:spcPct val="150000"/>
              </a:lnSpc>
            </a:pPr>
            <a:r>
              <a:rPr kumimoji="1" lang="zh-CN" altLang="en-US" sz="1600" dirty="0">
                <a:solidFill>
                  <a:srgbClr val="FF0000"/>
                </a:solidFill>
                <a:cs typeface="+mn-ea"/>
                <a:sym typeface="+mn-lt"/>
              </a:rPr>
              <a:t>注</a:t>
            </a:r>
            <a:r>
              <a:rPr kumimoji="1" lang="en-US" altLang="zh-CN" sz="1600" dirty="0">
                <a:solidFill>
                  <a:srgbClr val="FF0000"/>
                </a:solidFill>
                <a:cs typeface="+mn-ea"/>
                <a:sym typeface="+mn-lt"/>
              </a:rPr>
              <a:t>1</a:t>
            </a:r>
            <a:r>
              <a:rPr kumimoji="1" lang="zh-CN" altLang="en-US" sz="1600" dirty="0">
                <a:solidFill>
                  <a:srgbClr val="FF0000"/>
                </a:solidFill>
                <a:cs typeface="+mn-ea"/>
                <a:sym typeface="+mn-lt"/>
              </a:rPr>
              <a:t>：</a:t>
            </a:r>
            <a:r>
              <a:rPr kumimoji="1" lang="en-US" altLang="zh-CN" sz="1600" dirty="0">
                <a:solidFill>
                  <a:srgbClr val="FF0000"/>
                </a:solidFill>
                <a:cs typeface="+mn-ea"/>
                <a:sym typeface="+mn-lt"/>
              </a:rPr>
              <a:t>pub(</a:t>
            </a:r>
            <a:r>
              <a:rPr kumimoji="1" lang="zh-CN" altLang="en-US" sz="1600" dirty="0">
                <a:solidFill>
                  <a:srgbClr val="FF0000"/>
                </a:solidFill>
                <a:cs typeface="+mn-ea"/>
                <a:sym typeface="+mn-lt"/>
              </a:rPr>
              <a:t>可见范围</a:t>
            </a:r>
            <a:r>
              <a:rPr kumimoji="1" lang="en-US" altLang="zh-CN" sz="1600" dirty="0">
                <a:solidFill>
                  <a:srgbClr val="FF0000"/>
                </a:solidFill>
                <a:cs typeface="+mn-ea"/>
                <a:sym typeface="+mn-lt"/>
              </a:rPr>
              <a:t>)</a:t>
            </a:r>
            <a:r>
              <a:rPr kumimoji="1" lang="zh-CN" altLang="en-US" sz="1600" dirty="0">
                <a:solidFill>
                  <a:srgbClr val="FF0000"/>
                </a:solidFill>
                <a:cs typeface="+mn-ea"/>
                <a:sym typeface="+mn-lt"/>
              </a:rPr>
              <a:t>的语法规则见</a:t>
            </a:r>
            <a:r>
              <a:rPr kumimoji="1" lang="en-US" altLang="zh-CN" sz="1600" dirty="0">
                <a:solidFill>
                  <a:srgbClr val="FF0000"/>
                </a:solidFill>
                <a:cs typeface="+mn-ea"/>
                <a:sym typeface="+mn-lt"/>
              </a:rPr>
              <a:t>https://doc.rust</a:t>
            </a:r>
            <a:r>
              <a:rPr kumimoji="1" lang="zh-CN" altLang="en-US" sz="1600" dirty="0">
                <a:solidFill>
                  <a:srgbClr val="FF0000"/>
                </a:solidFill>
                <a:cs typeface="+mn-ea"/>
                <a:sym typeface="+mn-lt"/>
              </a:rPr>
              <a:t>-</a:t>
            </a:r>
            <a:r>
              <a:rPr kumimoji="1" lang="en-US" altLang="zh-CN" sz="1600" dirty="0">
                <a:solidFill>
                  <a:srgbClr val="FF0000"/>
                </a:solidFill>
                <a:cs typeface="+mn-ea"/>
                <a:sym typeface="+mn-lt"/>
              </a:rPr>
              <a:t>lang.org/stable/reference/visibility</a:t>
            </a:r>
            <a:r>
              <a:rPr kumimoji="1" lang="zh-CN" altLang="en-US" sz="1600" dirty="0">
                <a:solidFill>
                  <a:srgbClr val="FF0000"/>
                </a:solidFill>
                <a:cs typeface="+mn-ea"/>
                <a:sym typeface="+mn-lt"/>
              </a:rPr>
              <a:t>-</a:t>
            </a:r>
            <a:r>
              <a:rPr kumimoji="1" lang="en-US" altLang="zh-CN" sz="1600" dirty="0">
                <a:solidFill>
                  <a:srgbClr val="FF0000"/>
                </a:solidFill>
                <a:cs typeface="+mn-ea"/>
                <a:sym typeface="+mn-lt"/>
              </a:rPr>
              <a:t>and</a:t>
            </a:r>
            <a:r>
              <a:rPr kumimoji="1" lang="zh-CN" altLang="en-US" sz="1600" dirty="0">
                <a:solidFill>
                  <a:srgbClr val="FF0000"/>
                </a:solidFill>
                <a:cs typeface="+mn-ea"/>
                <a:sym typeface="+mn-lt"/>
              </a:rPr>
              <a:t>-</a:t>
            </a:r>
            <a:r>
              <a:rPr kumimoji="1" lang="en-US" altLang="zh-CN" sz="1600" dirty="0">
                <a:solidFill>
                  <a:srgbClr val="FF0000"/>
                </a:solidFill>
                <a:cs typeface="+mn-ea"/>
                <a:sym typeface="+mn-lt"/>
              </a:rPr>
              <a:t>privacy.html</a:t>
            </a:r>
            <a:endParaRPr kumimoji="1" lang="en-US" altLang="zh-CN" sz="16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FF0000"/>
                </a:solidFill>
                <a:cs typeface="+mn-ea"/>
                <a:sym typeface="+mn-lt"/>
              </a:rPr>
              <a:t>注</a:t>
            </a:r>
            <a:r>
              <a:rPr kumimoji="1" lang="en-US" altLang="zh-CN" sz="1600" dirty="0">
                <a:solidFill>
                  <a:srgbClr val="FF0000"/>
                </a:solidFill>
                <a:cs typeface="+mn-ea"/>
                <a:sym typeface="+mn-lt"/>
              </a:rPr>
              <a:t>2</a:t>
            </a:r>
            <a:r>
              <a:rPr kumimoji="1" lang="zh-CN" altLang="en-US" sz="1600" dirty="0">
                <a:solidFill>
                  <a:srgbClr val="FF0000"/>
                </a:solidFill>
                <a:cs typeface="+mn-ea"/>
                <a:sym typeface="+mn-lt"/>
              </a:rPr>
              <a:t>：只有根模块中声明为</a:t>
            </a:r>
            <a:r>
              <a:rPr kumimoji="1" lang="en-US" altLang="zh-CN" sz="1600" dirty="0">
                <a:solidFill>
                  <a:srgbClr val="FF0000"/>
                </a:solidFill>
                <a:cs typeface="+mn-ea"/>
                <a:sym typeface="+mn-lt"/>
              </a:rPr>
              <a:t>pub</a:t>
            </a:r>
            <a:r>
              <a:rPr kumimoji="1" lang="zh-CN" altLang="en-US" sz="1600" dirty="0">
                <a:solidFill>
                  <a:srgbClr val="FF0000"/>
                </a:solidFill>
                <a:cs typeface="+mn-ea"/>
                <a:sym typeface="+mn-lt"/>
              </a:rPr>
              <a:t>的</a:t>
            </a:r>
            <a:r>
              <a:rPr kumimoji="1" lang="en-US" altLang="zh-CN" sz="1600" dirty="0">
                <a:solidFill>
                  <a:srgbClr val="FF0000"/>
                </a:solidFill>
                <a:cs typeface="+mn-ea"/>
                <a:sym typeface="+mn-lt"/>
              </a:rPr>
              <a:t>Item</a:t>
            </a:r>
            <a:r>
              <a:rPr kumimoji="1" lang="zh-CN" altLang="en-US" sz="1600" dirty="0">
                <a:solidFill>
                  <a:srgbClr val="FF0000"/>
                </a:solidFill>
                <a:cs typeface="+mn-ea"/>
                <a:sym typeface="+mn-lt"/>
              </a:rPr>
              <a:t>才能被其他</a:t>
            </a:r>
            <a:r>
              <a:rPr kumimoji="1" lang="en-US" altLang="zh-CN" sz="1600" dirty="0">
                <a:solidFill>
                  <a:srgbClr val="FF0000"/>
                </a:solidFill>
                <a:cs typeface="+mn-ea"/>
                <a:sym typeface="+mn-lt"/>
              </a:rPr>
              <a:t>crate</a:t>
            </a:r>
            <a:r>
              <a:rPr kumimoji="1" lang="zh-CN" altLang="en-US" sz="1600" dirty="0">
                <a:solidFill>
                  <a:srgbClr val="FF0000"/>
                </a:solidFill>
                <a:cs typeface="+mn-ea"/>
                <a:sym typeface="+mn-lt"/>
              </a:rPr>
              <a:t>可见</a:t>
            </a:r>
            <a:endParaRPr kumimoji="1" lang="en-US" altLang="zh-CN" sz="1600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57797" y="492146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375410" y="2259330"/>
            <a:ext cx="3854450" cy="26777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 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mod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m2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M1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M2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foo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3" name="右箭头 2"/>
          <p:cNvSpPr/>
          <p:nvPr/>
        </p:nvSpPr>
        <p:spPr>
          <a:xfrm>
            <a:off x="5344795" y="3227705"/>
            <a:ext cx="311150" cy="716280"/>
          </a:xfrm>
          <a:prstGeom prst="rightArrow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图片 3" descr="upload_5938500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847" y="2918914"/>
            <a:ext cx="5259550" cy="1348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1246">
        <p:fade/>
      </p:transition>
    </mc:Choice>
    <mc:Fallback xmlns="">
      <p:transition spd="med" advTm="41246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57797" y="-12526"/>
            <a:ext cx="479778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可见性规则</a:t>
            </a:r>
            <a:r>
              <a:rPr kumimoji="1" lang="en-US" altLang="zh-CN" sz="3200" b="1" dirty="0">
                <a:solidFill>
                  <a:srgbClr val="C00000"/>
                </a:solidFill>
                <a:cs typeface="+mn-ea"/>
                <a:sym typeface="+mn-lt"/>
              </a:rPr>
              <a:t>-</a:t>
            </a:r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结构体与枚举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64065" y="1192179"/>
            <a:ext cx="6161857" cy="331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600" dirty="0">
                <a:cs typeface="+mn-ea"/>
                <a:sym typeface="+mn-lt"/>
              </a:rPr>
              <a:t>1. </a:t>
            </a:r>
            <a:r>
              <a:rPr kumimoji="1" lang="zh-CN" altLang="en-US" sz="1600" dirty="0">
                <a:cs typeface="+mn-ea"/>
                <a:sym typeface="+mn-lt"/>
              </a:rPr>
              <a:t>结构体中所定义的所有成员对所在模块中所有其他成员中可见</a:t>
            </a:r>
            <a:endParaRPr kumimoji="1" lang="en-US" altLang="zh-CN" sz="1600" dirty="0"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57797" y="492146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821750" y="1573897"/>
            <a:ext cx="4774644" cy="33239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 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MyStruct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field1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field2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foo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MyStruct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.field1);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.field2);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foo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MyStruct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field1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field2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9195">
        <p:fade/>
      </p:transition>
    </mc:Choice>
    <mc:Fallback xmlns="">
      <p:transition spd="med" advTm="19195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57797" y="-12526"/>
            <a:ext cx="479778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可见性规则</a:t>
            </a:r>
            <a:r>
              <a:rPr kumimoji="1" lang="en-US" altLang="zh-CN" sz="3200" b="1" dirty="0">
                <a:solidFill>
                  <a:srgbClr val="C00000"/>
                </a:solidFill>
                <a:cs typeface="+mn-ea"/>
                <a:sym typeface="+mn-lt"/>
              </a:rPr>
              <a:t>-</a:t>
            </a:r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结构体与枚举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96312" y="901214"/>
            <a:ext cx="7015441" cy="331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600" dirty="0">
                <a:cs typeface="+mn-ea"/>
                <a:sym typeface="+mn-lt"/>
              </a:rPr>
              <a:t>2. </a:t>
            </a:r>
            <a:r>
              <a:rPr kumimoji="1" lang="zh-CN" altLang="en-US" sz="1600" dirty="0">
                <a:cs typeface="+mn-ea"/>
                <a:sym typeface="+mn-lt"/>
              </a:rPr>
              <a:t>结构体中只有声明为</a:t>
            </a:r>
            <a:r>
              <a:rPr kumimoji="1" lang="en-US" altLang="zh-CN" sz="1600" dirty="0">
                <a:cs typeface="+mn-ea"/>
                <a:sym typeface="+mn-lt"/>
              </a:rPr>
              <a:t>pub</a:t>
            </a:r>
            <a:r>
              <a:rPr kumimoji="1" lang="zh-CN" altLang="en-US" sz="1600" dirty="0">
                <a:cs typeface="+mn-ea"/>
                <a:sym typeface="+mn-lt"/>
              </a:rPr>
              <a:t>或</a:t>
            </a:r>
            <a:r>
              <a:rPr kumimoji="1" lang="en-US" altLang="zh-CN" sz="1600" dirty="0">
                <a:cs typeface="+mn-ea"/>
                <a:sym typeface="+mn-lt"/>
              </a:rPr>
              <a:t>pub(</a:t>
            </a:r>
            <a:r>
              <a:rPr kumimoji="1" lang="zh-CN" altLang="en-US" sz="1600" dirty="0">
                <a:cs typeface="+mn-ea"/>
                <a:sym typeface="+mn-lt"/>
              </a:rPr>
              <a:t>可见范围</a:t>
            </a:r>
            <a:r>
              <a:rPr kumimoji="1" lang="en-US" altLang="zh-CN" sz="1600" dirty="0">
                <a:cs typeface="+mn-ea"/>
                <a:sym typeface="+mn-lt"/>
              </a:rPr>
              <a:t>)</a:t>
            </a:r>
            <a:r>
              <a:rPr kumimoji="1" lang="zh-CN" altLang="en-US" sz="1600" dirty="0">
                <a:cs typeface="+mn-ea"/>
                <a:sym typeface="+mn-lt"/>
              </a:rPr>
              <a:t>的成员才可被父模块访问</a:t>
            </a:r>
            <a:endParaRPr kumimoji="1" lang="en-US" altLang="zh-CN" sz="1600" dirty="0"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57797" y="492146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496312" y="1310281"/>
            <a:ext cx="10590173" cy="4616648"/>
            <a:chOff x="496312" y="1136518"/>
            <a:chExt cx="10590173" cy="4616648"/>
          </a:xfrm>
        </p:grpSpPr>
        <p:sp>
          <p:nvSpPr>
            <p:cNvPr id="2" name="矩形 1"/>
            <p:cNvSpPr/>
            <p:nvPr/>
          </p:nvSpPr>
          <p:spPr>
            <a:xfrm>
              <a:off x="496312" y="1136518"/>
              <a:ext cx="5159770" cy="4616648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400">
                  <a:solidFill>
                    <a:schemeClr val="bg2"/>
                  </a:solidFill>
                  <a:cs typeface="+mn-ea"/>
                  <a:sym typeface="+mn-lt"/>
                </a:rPr>
                <a:t>// </a:t>
              </a:r>
              <a:r>
                <a:rPr lang="zh-CN" altLang="en-US" sz="1400" b="1">
                  <a:solidFill>
                    <a:srgbClr val="00B050"/>
                  </a:solidFill>
                  <a:cs typeface="+mn-ea"/>
                  <a:sym typeface="+mn-lt"/>
                </a:rPr>
                <a:t>代码示例</a:t>
              </a:r>
              <a:r>
                <a:rPr lang="en-US" altLang="zh-CN" sz="1400" b="1">
                  <a:solidFill>
                    <a:srgbClr val="00B050"/>
                  </a:solidFill>
                  <a:cs typeface="+mn-ea"/>
                  <a:sym typeface="+mn-lt"/>
                </a:rPr>
                <a:t> </a:t>
              </a:r>
            </a:p>
            <a:p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mod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m1 {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pub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struct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MyStruct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{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   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pub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field1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: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u32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,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   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field2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: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u32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,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}</a:t>
              </a:r>
            </a:p>
            <a:p>
              <a:b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</a:b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pub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fn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foo1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s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: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MyStruct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) {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   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println!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98C379"/>
                  </a:solidFill>
                  <a:cs typeface="+mn-ea"/>
                  <a:sym typeface="+mn-lt"/>
                </a:rPr>
                <a:t>"{}"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,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s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.field1);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   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println!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98C379"/>
                  </a:solidFill>
                  <a:cs typeface="+mn-ea"/>
                  <a:sym typeface="+mn-lt"/>
                </a:rPr>
                <a:t>"{}"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,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s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.field2);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}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}</a:t>
              </a:r>
            </a:p>
            <a:p>
              <a:b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</a:b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use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m1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::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MyStruct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;</a:t>
              </a:r>
            </a:p>
            <a:p>
              <a:b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</a:b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fn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main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() {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m1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::</a:t>
              </a:r>
              <a:r>
                <a:rPr lang="en-US" altLang="zh-CN" sz="1400">
                  <a:solidFill>
                    <a:srgbClr val="61AFEF"/>
                  </a:solidFill>
                  <a:cs typeface="+mn-ea"/>
                  <a:sym typeface="+mn-lt"/>
                </a:rPr>
                <a:t>foo1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>
                  <a:solidFill>
                    <a:srgbClr val="E5C07B"/>
                  </a:solidFill>
                  <a:cs typeface="+mn-ea"/>
                  <a:sym typeface="+mn-lt"/>
                </a:rPr>
                <a:t>MyStruct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 {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   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field1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: </a:t>
              </a:r>
              <a:r>
                <a:rPr lang="en-US" altLang="zh-CN" sz="1400">
                  <a:solidFill>
                    <a:srgbClr val="D19A66"/>
                  </a:solidFill>
                  <a:cs typeface="+mn-ea"/>
                  <a:sym typeface="+mn-lt"/>
                </a:rPr>
                <a:t>1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,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    </a:t>
              </a:r>
              <a:r>
                <a:rPr lang="en-US" altLang="zh-CN" sz="1400">
                  <a:solidFill>
                    <a:srgbClr val="E06C75"/>
                  </a:solidFill>
                  <a:cs typeface="+mn-ea"/>
                  <a:sym typeface="+mn-lt"/>
                </a:rPr>
                <a:t>field2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: </a:t>
              </a:r>
              <a:r>
                <a:rPr lang="en-US" altLang="zh-CN" sz="1400">
                  <a:solidFill>
                    <a:srgbClr val="D19A66"/>
                  </a:solidFill>
                  <a:cs typeface="+mn-ea"/>
                  <a:sym typeface="+mn-lt"/>
                </a:rPr>
                <a:t>2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,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    });</a:t>
              </a:r>
            </a:p>
            <a:p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}</a:t>
              </a:r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57310" y="2350661"/>
              <a:ext cx="4829175" cy="1628775"/>
            </a:xfrm>
            <a:prstGeom prst="rect">
              <a:avLst/>
            </a:prstGeom>
          </p:spPr>
        </p:pic>
        <p:sp>
          <p:nvSpPr>
            <p:cNvPr id="9" name="右箭头 8"/>
            <p:cNvSpPr/>
            <p:nvPr/>
          </p:nvSpPr>
          <p:spPr>
            <a:xfrm>
              <a:off x="5806904" y="2806829"/>
              <a:ext cx="311084" cy="716437"/>
            </a:xfrm>
            <a:prstGeom prst="rightArrow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2147">
        <p:fade/>
      </p:transition>
    </mc:Choice>
    <mc:Fallback xmlns="">
      <p:transition spd="med" advTm="22147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82353" y="-297"/>
            <a:ext cx="2462213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模块组织方式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57797" y="608956"/>
            <a:ext cx="10287712" cy="331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1600" dirty="0">
                <a:cs typeface="+mn-ea"/>
                <a:sym typeface="+mn-lt"/>
              </a:rPr>
              <a:t>模块的声明或组织方式有五种。</a:t>
            </a:r>
            <a:endParaRPr kumimoji="1" lang="en-US" altLang="zh-CN" sz="1600" dirty="0"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60" y="3845665"/>
            <a:ext cx="3476377" cy="16359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002754" y="1111676"/>
            <a:ext cx="4442145" cy="331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600" dirty="0">
                <a:cs typeface="+mn-ea"/>
                <a:sym typeface="+mn-lt"/>
              </a:rPr>
              <a:t>2. </a:t>
            </a:r>
            <a:r>
              <a:rPr kumimoji="1" lang="zh-CN" altLang="en-US" sz="1600" dirty="0">
                <a:cs typeface="+mn-ea"/>
                <a:sym typeface="+mn-lt"/>
              </a:rPr>
              <a:t>在源码中通过</a:t>
            </a:r>
            <a:r>
              <a:rPr kumimoji="1" lang="en-US" altLang="zh-CN" sz="1600" dirty="0">
                <a:cs typeface="+mn-ea"/>
                <a:sym typeface="+mn-lt"/>
              </a:rPr>
              <a:t>mod</a:t>
            </a:r>
            <a:r>
              <a:rPr kumimoji="1" lang="zh-CN" altLang="en-US" sz="1600" dirty="0">
                <a:cs typeface="+mn-ea"/>
                <a:sym typeface="+mn-lt"/>
              </a:rPr>
              <a:t>关键字定义子模块；</a:t>
            </a:r>
            <a:endParaRPr kumimoji="1" lang="en-US" altLang="zh-CN" sz="1600" dirty="0">
              <a:cs typeface="+mn-ea"/>
              <a:sym typeface="+mn-lt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257797" y="492146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6002754" y="1683334"/>
            <a:ext cx="4762656" cy="418576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 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mod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m1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MyStruct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field1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field2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foo1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MyStruct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.field1);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.field2);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foo2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foo1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MyStruct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field1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field2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});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3" name="矩形 2"/>
          <p:cNvSpPr/>
          <p:nvPr/>
        </p:nvSpPr>
        <p:spPr>
          <a:xfrm>
            <a:off x="257797" y="1088600"/>
            <a:ext cx="42670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cs typeface="+mn-ea"/>
                <a:sym typeface="+mn-lt"/>
              </a:rPr>
              <a:t>1. crate </a:t>
            </a:r>
            <a:r>
              <a:rPr kumimoji="1" lang="en-US" altLang="zh-CN" sz="1600" dirty="0" err="1">
                <a:cs typeface="+mn-ea"/>
                <a:sym typeface="+mn-lt"/>
              </a:rPr>
              <a:t>src</a:t>
            </a:r>
            <a:r>
              <a:rPr kumimoji="1" lang="zh-CN" altLang="en-US" sz="1600" dirty="0">
                <a:cs typeface="+mn-ea"/>
                <a:sym typeface="+mn-lt"/>
              </a:rPr>
              <a:t>目录下的</a:t>
            </a:r>
            <a:r>
              <a:rPr kumimoji="1" lang="en-US" altLang="zh-CN" sz="1600" dirty="0">
                <a:cs typeface="+mn-ea"/>
                <a:sym typeface="+mn-lt"/>
              </a:rPr>
              <a:t>lib.rs</a:t>
            </a:r>
            <a:r>
              <a:rPr kumimoji="1" lang="zh-CN" altLang="en-US" sz="1600" dirty="0">
                <a:cs typeface="+mn-ea"/>
                <a:sym typeface="+mn-lt"/>
              </a:rPr>
              <a:t> </a:t>
            </a:r>
            <a:r>
              <a:rPr kumimoji="1" lang="en-US" altLang="zh-CN" sz="1600" dirty="0">
                <a:cs typeface="+mn-ea"/>
                <a:sym typeface="+mn-lt"/>
              </a:rPr>
              <a:t>/</a:t>
            </a:r>
            <a:r>
              <a:rPr kumimoji="1" lang="zh-CN" altLang="en-US" sz="1600" dirty="0">
                <a:cs typeface="+mn-ea"/>
                <a:sym typeface="+mn-lt"/>
              </a:rPr>
              <a:t> </a:t>
            </a:r>
            <a:r>
              <a:rPr kumimoji="1" lang="en-US" altLang="zh-CN" sz="1600" dirty="0">
                <a:cs typeface="+mn-ea"/>
                <a:sym typeface="+mn-lt"/>
              </a:rPr>
              <a:t>main.rs </a:t>
            </a:r>
            <a:r>
              <a:rPr kumimoji="1" lang="zh-CN" altLang="en-US" sz="1600" dirty="0">
                <a:cs typeface="+mn-ea"/>
                <a:sym typeface="+mn-lt"/>
              </a:rPr>
              <a:t>为根模块（也可通过</a:t>
            </a:r>
            <a:r>
              <a:rPr kumimoji="1" lang="en-US" altLang="zh-CN" sz="1600" dirty="0" err="1">
                <a:cs typeface="+mn-ea"/>
                <a:sym typeface="+mn-lt"/>
              </a:rPr>
              <a:t>Cargo.toml</a:t>
            </a:r>
            <a:r>
              <a:rPr kumimoji="1" lang="zh-CN" altLang="en-US" sz="1600" dirty="0">
                <a:cs typeface="+mn-ea"/>
                <a:sym typeface="+mn-lt"/>
              </a:rPr>
              <a:t>将根模块设定为其他</a:t>
            </a:r>
            <a:r>
              <a:rPr kumimoji="1" lang="en-US" altLang="zh-CN" sz="1600" dirty="0">
                <a:cs typeface="+mn-ea"/>
                <a:sym typeface="+mn-lt"/>
              </a:rPr>
              <a:t>.</a:t>
            </a:r>
            <a:r>
              <a:rPr kumimoji="1" lang="en-US" altLang="zh-CN" sz="1600" dirty="0" err="1">
                <a:cs typeface="+mn-ea"/>
                <a:sym typeface="+mn-lt"/>
              </a:rPr>
              <a:t>rs</a:t>
            </a:r>
            <a:r>
              <a:rPr kumimoji="1" lang="zh-CN" altLang="en-US" sz="1600" dirty="0">
                <a:cs typeface="+mn-ea"/>
                <a:sym typeface="+mn-lt"/>
              </a:rPr>
              <a:t>文件）；</a:t>
            </a:r>
            <a:endParaRPr kumimoji="1" lang="en-US" altLang="zh-CN" sz="1600" dirty="0"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382799" y="771885"/>
            <a:ext cx="18854" cy="5845731"/>
          </a:xfrm>
          <a:prstGeom prst="line">
            <a:avLst/>
          </a:prstGeom>
          <a:ln w="19050"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9464">
        <p:fade/>
      </p:transition>
    </mc:Choice>
    <mc:Fallback xmlns="">
      <p:transition spd="med" advTm="69464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82353" y="-297"/>
            <a:ext cx="2462213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模块组织方式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82353" y="524773"/>
            <a:ext cx="8450000" cy="331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600" dirty="0">
                <a:cs typeface="+mn-ea"/>
                <a:sym typeface="+mn-lt"/>
              </a:rPr>
              <a:t>3. </a:t>
            </a:r>
            <a:r>
              <a:rPr kumimoji="1" lang="zh-CN" altLang="en-US" sz="1600" dirty="0">
                <a:cs typeface="+mn-ea"/>
                <a:sym typeface="+mn-lt"/>
              </a:rPr>
              <a:t>在父模块同一目录下新建</a:t>
            </a:r>
            <a:r>
              <a:rPr kumimoji="1" lang="en-US" altLang="zh-CN" sz="1600" dirty="0">
                <a:cs typeface="+mn-ea"/>
                <a:sym typeface="+mn-lt"/>
              </a:rPr>
              <a:t>.</a:t>
            </a:r>
            <a:r>
              <a:rPr kumimoji="1" lang="en-US" altLang="zh-CN" sz="1600" dirty="0" err="1">
                <a:cs typeface="+mn-ea"/>
                <a:sym typeface="+mn-lt"/>
              </a:rPr>
              <a:t>rs</a:t>
            </a:r>
            <a:r>
              <a:rPr kumimoji="1" lang="zh-CN" altLang="en-US" sz="1600" dirty="0">
                <a:cs typeface="+mn-ea"/>
                <a:sym typeface="+mn-lt"/>
              </a:rPr>
              <a:t>文件，并通过</a:t>
            </a:r>
            <a:r>
              <a:rPr kumimoji="1" lang="en-US" altLang="zh-CN" sz="1600" dirty="0">
                <a:cs typeface="+mn-ea"/>
                <a:sym typeface="+mn-lt"/>
              </a:rPr>
              <a:t>mod</a:t>
            </a:r>
            <a:r>
              <a:rPr kumimoji="1" lang="zh-CN" altLang="en-US" sz="1600" dirty="0">
                <a:cs typeface="+mn-ea"/>
                <a:sym typeface="+mn-lt"/>
              </a:rPr>
              <a:t>语句引入父模块。此时文件名即为模块名。</a:t>
            </a:r>
            <a:endParaRPr kumimoji="1" lang="en-US" altLang="zh-CN" sz="1600" dirty="0"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34" y="918173"/>
            <a:ext cx="3501207" cy="1977152"/>
          </a:xfrm>
          <a:prstGeom prst="rect">
            <a:avLst/>
          </a:prstGeom>
        </p:spPr>
      </p:pic>
      <p:cxnSp>
        <p:nvCxnSpPr>
          <p:cNvPr id="30" name="直接连接符 29"/>
          <p:cNvCxnSpPr/>
          <p:nvPr/>
        </p:nvCxnSpPr>
        <p:spPr>
          <a:xfrm>
            <a:off x="257797" y="492146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282353" y="3562972"/>
            <a:ext cx="10716083" cy="7020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600" dirty="0">
                <a:cs typeface="+mn-ea"/>
                <a:sym typeface="+mn-lt"/>
              </a:rPr>
              <a:t>4. </a:t>
            </a:r>
            <a:r>
              <a:rPr kumimoji="1" lang="zh-CN" altLang="en-US" sz="1600" dirty="0">
                <a:cs typeface="+mn-ea"/>
                <a:sym typeface="+mn-lt"/>
              </a:rPr>
              <a:t>新建子文件夹，在子文件中新建</a:t>
            </a:r>
            <a:r>
              <a:rPr kumimoji="1" lang="en-US" altLang="zh-CN" sz="1600" dirty="0">
                <a:cs typeface="+mn-ea"/>
                <a:sym typeface="+mn-lt"/>
              </a:rPr>
              <a:t>mod.rs</a:t>
            </a:r>
            <a:r>
              <a:rPr kumimoji="1" lang="zh-CN" altLang="en-US" sz="1600" dirty="0">
                <a:cs typeface="+mn-ea"/>
                <a:sym typeface="+mn-lt"/>
              </a:rPr>
              <a:t>文件，在上层</a:t>
            </a:r>
            <a:r>
              <a:rPr kumimoji="1" lang="zh-CN" altLang="en-US" sz="1600" dirty="0">
                <a:solidFill>
                  <a:srgbClr val="FF0000"/>
                </a:solidFill>
                <a:cs typeface="+mn-ea"/>
                <a:sym typeface="+mn-lt"/>
              </a:rPr>
              <a:t>模块入口文件</a:t>
            </a:r>
            <a:r>
              <a:rPr kumimoji="1" lang="en-US" altLang="zh-CN" sz="1600" dirty="0">
                <a:solidFill>
                  <a:srgbClr val="FF0000"/>
                </a:solidFill>
                <a:cs typeface="+mn-ea"/>
                <a:sym typeface="+mn-lt"/>
              </a:rPr>
              <a:t>(mod.rs/lib.rs/main.rs)</a:t>
            </a:r>
            <a:r>
              <a:rPr kumimoji="1" lang="zh-CN" altLang="en-US" sz="1600" dirty="0">
                <a:cs typeface="+mn-ea"/>
                <a:sym typeface="+mn-lt"/>
              </a:rPr>
              <a:t>中通过</a:t>
            </a:r>
            <a:r>
              <a:rPr kumimoji="1" lang="en-US" altLang="zh-CN" sz="1600" dirty="0">
                <a:cs typeface="+mn-ea"/>
                <a:sym typeface="+mn-lt"/>
              </a:rPr>
              <a:t>mod</a:t>
            </a:r>
            <a:r>
              <a:rPr kumimoji="1" lang="zh-CN" altLang="en-US" sz="1600" dirty="0">
                <a:cs typeface="+mn-ea"/>
                <a:sym typeface="+mn-lt"/>
              </a:rPr>
              <a:t>语句引入。此时子文件夹名即为模块名。</a:t>
            </a:r>
            <a:endParaRPr kumimoji="1" lang="en-US" altLang="zh-CN" sz="1600" dirty="0">
              <a:cs typeface="+mn-ea"/>
              <a:sym typeface="+mn-lt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34" y="4301636"/>
            <a:ext cx="3069926" cy="209798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006941" y="918173"/>
            <a:ext cx="2252254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main.rs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 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mod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m2;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foo2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40049" y="894105"/>
            <a:ext cx="4368011" cy="267765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m2.rs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 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MyStruct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field1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field2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foo1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MyStruct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.field1);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.field2);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foo2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foo1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MyStruct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field1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field2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,});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06941" y="4297367"/>
            <a:ext cx="2252254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main.rs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 </a:t>
            </a:r>
          </a:p>
          <a:p>
            <a:r>
              <a:rPr lang="da-DK" altLang="zh-CN" sz="1400">
                <a:solidFill>
                  <a:srgbClr val="C678DD"/>
                </a:solidFill>
                <a:cs typeface="+mn-ea"/>
                <a:sym typeface="+mn-lt"/>
              </a:rPr>
              <a:t>mod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 m2;</a:t>
            </a:r>
          </a:p>
          <a:p>
            <a:r>
              <a:rPr lang="da-DK" altLang="zh-CN" sz="1400">
                <a:solidFill>
                  <a:srgbClr val="C678DD"/>
                </a:solidFill>
                <a:cs typeface="+mn-ea"/>
                <a:sym typeface="+mn-lt"/>
              </a:rPr>
              <a:t>mod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 m3;</a:t>
            </a:r>
          </a:p>
          <a:p>
            <a:b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da-DK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da-DK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(){</a:t>
            </a:r>
          </a:p>
          <a:p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da-DK" altLang="zh-CN" sz="1400">
                <a:solidFill>
                  <a:srgbClr val="E5C07B"/>
                </a:solidFill>
                <a:cs typeface="+mn-ea"/>
                <a:sym typeface="+mn-lt"/>
              </a:rPr>
              <a:t>m3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da-DK" altLang="zh-CN" sz="1400">
                <a:solidFill>
                  <a:srgbClr val="61AFEF"/>
                </a:solidFill>
                <a:cs typeface="+mn-ea"/>
                <a:sym typeface="+mn-lt"/>
              </a:rPr>
              <a:t>foo2</a:t>
            </a:r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da-DK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da-DK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40048" y="4011798"/>
            <a:ext cx="4368011" cy="267765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m3/mod.rs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 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MyStruct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field1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field2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foo1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MyStruct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.field1);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.field2);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foo2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foo1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MyStruct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field1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field2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,});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8063">
        <p:fade/>
      </p:transition>
    </mc:Choice>
    <mc:Fallback xmlns="">
      <p:transition spd="med" advTm="58063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82353" y="-297"/>
            <a:ext cx="2462213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模块组织方式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21998" y="1327079"/>
            <a:ext cx="10523821" cy="7020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cs typeface="+mn-ea"/>
                <a:sym typeface="+mn-lt"/>
              </a:rPr>
              <a:t>5. </a:t>
            </a:r>
            <a:r>
              <a:rPr kumimoji="1" lang="zh-CN" altLang="en-US" sz="1600" dirty="0">
                <a:cs typeface="+mn-ea"/>
                <a:sym typeface="+mn-lt"/>
              </a:rPr>
              <a:t>新建子文件夹，在子文件中新任意</a:t>
            </a:r>
            <a:r>
              <a:rPr kumimoji="1" lang="en-US" altLang="zh-CN" sz="1600" dirty="0">
                <a:cs typeface="+mn-ea"/>
                <a:sym typeface="+mn-lt"/>
              </a:rPr>
              <a:t>.</a:t>
            </a:r>
            <a:r>
              <a:rPr kumimoji="1" lang="en-US" altLang="zh-CN" sz="1600" dirty="0" err="1">
                <a:cs typeface="+mn-ea"/>
                <a:sym typeface="+mn-lt"/>
              </a:rPr>
              <a:t>rs</a:t>
            </a:r>
            <a:r>
              <a:rPr kumimoji="1" lang="zh-CN" altLang="en-US" sz="1600" dirty="0">
                <a:cs typeface="+mn-ea"/>
                <a:sym typeface="+mn-lt"/>
              </a:rPr>
              <a:t>文件，随后在上层模块入口中通过</a:t>
            </a:r>
            <a:r>
              <a:rPr kumimoji="1" lang="en-US" altLang="zh-CN" sz="1600" dirty="0">
                <a:cs typeface="+mn-ea"/>
                <a:sym typeface="+mn-lt"/>
              </a:rPr>
              <a:t>mod</a:t>
            </a:r>
            <a:r>
              <a:rPr kumimoji="1" lang="zh-CN" altLang="en-US" sz="1600" dirty="0">
                <a:cs typeface="+mn-ea"/>
                <a:sym typeface="+mn-lt"/>
              </a:rPr>
              <a:t>语句引入。此时子文件夹名和文件名都为模块名。</a:t>
            </a:r>
            <a:endParaRPr kumimoji="1" lang="en-US" altLang="zh-CN" sz="1600" dirty="0">
              <a:cs typeface="+mn-ea"/>
              <a:sym typeface="+mn-lt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257797" y="492146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509512" y="2178161"/>
            <a:ext cx="2795832" cy="1383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main.rs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 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mod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m3;</a:t>
            </a:r>
          </a:p>
          <a:p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let m </a:t>
            </a:r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m3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m5::m5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::M5;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85641" y="2173465"/>
            <a:ext cx="4326903" cy="52197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m3/m5/m5.rs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 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pub 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M5;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" name="图片 4" descr="upload_2504928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65" y="2294553"/>
            <a:ext cx="2458642" cy="241882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499558" y="3785123"/>
            <a:ext cx="2795832" cy="116840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m3/mod.rs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r>
              <a:rPr lang="en-US" altLang="zh-CN" sz="1400" b="1">
                <a:solidFill>
                  <a:srgbClr val="00B050"/>
                </a:solidFill>
                <a:cs typeface="+mn-ea"/>
                <a:sym typeface="+mn-lt"/>
              </a:rPr>
              <a:t> </a:t>
            </a:r>
            <a:endParaRPr lang="en-US" altLang="zh-CN" sz="140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mod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m5 {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    pub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mod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m5;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2169">
        <p:fade/>
      </p:transition>
    </mc:Choice>
    <mc:Fallback xmlns="">
      <p:transition spd="med" advTm="52169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57797" y="0"/>
            <a:ext cx="4746492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zh-CN" sz="3200" b="1" dirty="0">
                <a:solidFill>
                  <a:srgbClr val="C00000"/>
                </a:solidFill>
                <a:cs typeface="+mn-ea"/>
                <a:sym typeface="+mn-lt"/>
              </a:rPr>
              <a:t>use</a:t>
            </a:r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和</a:t>
            </a:r>
            <a:r>
              <a:rPr kumimoji="1" lang="en-US" altLang="zh-CN" sz="3200" b="1" dirty="0">
                <a:solidFill>
                  <a:srgbClr val="C00000"/>
                </a:solidFill>
                <a:cs typeface="+mn-ea"/>
                <a:sym typeface="+mn-lt"/>
              </a:rPr>
              <a:t>path</a:t>
            </a:r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语句</a:t>
            </a:r>
            <a:r>
              <a:rPr kumimoji="1" lang="en-US" altLang="zh-CN" sz="3200" b="1" dirty="0">
                <a:solidFill>
                  <a:srgbClr val="C00000"/>
                </a:solidFill>
                <a:cs typeface="+mn-ea"/>
                <a:sym typeface="+mn-lt"/>
              </a:rPr>
              <a:t>-use</a:t>
            </a:r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重导出</a:t>
            </a:r>
            <a:endParaRPr kumimoji="1" lang="en-US" altLang="zh-CN" sz="32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57797" y="492146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257797" y="525534"/>
            <a:ext cx="107406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使用 </a:t>
            </a:r>
            <a:r>
              <a:rPr lang="en-US" altLang="zh-CN" sz="1600" dirty="0">
                <a:cs typeface="+mn-ea"/>
                <a:sym typeface="+mn-lt"/>
              </a:rPr>
              <a:t>use</a:t>
            </a:r>
            <a:r>
              <a:rPr lang="zh-CN" altLang="en-US" sz="1600" dirty="0">
                <a:cs typeface="+mn-ea"/>
                <a:sym typeface="+mn-lt"/>
              </a:rPr>
              <a:t> 关键字，将某个名称导入当前作用域后，这个名称在此作用域中就可以使用了，但它对此作用域之外还是私有的。如果想让其他人调用我们的代码时，也能够正常使用这个名称，就好像它本来就在当前作用域一样，那我们可以将 </a:t>
            </a:r>
            <a:r>
              <a:rPr lang="en-US" altLang="zh-CN" sz="1600" dirty="0">
                <a:cs typeface="+mn-ea"/>
                <a:sym typeface="+mn-lt"/>
              </a:rPr>
              <a:t>pub</a:t>
            </a:r>
            <a:r>
              <a:rPr lang="zh-CN" altLang="en-US" sz="1600" dirty="0">
                <a:cs typeface="+mn-ea"/>
                <a:sym typeface="+mn-lt"/>
              </a:rPr>
              <a:t> 和 </a:t>
            </a:r>
            <a:r>
              <a:rPr lang="en-US" altLang="zh-CN" sz="1600" dirty="0">
                <a:cs typeface="+mn-ea"/>
                <a:sym typeface="+mn-lt"/>
              </a:rPr>
              <a:t>use</a:t>
            </a:r>
            <a:r>
              <a:rPr lang="zh-CN" altLang="en-US" sz="1600" dirty="0">
                <a:cs typeface="+mn-ea"/>
                <a:sym typeface="+mn-lt"/>
              </a:rPr>
              <a:t> 合起来使用。</a:t>
            </a:r>
          </a:p>
        </p:txBody>
      </p:sp>
      <p:sp>
        <p:nvSpPr>
          <p:cNvPr id="4" name="矩形 3"/>
          <p:cNvSpPr/>
          <p:nvPr/>
        </p:nvSpPr>
        <p:spPr>
          <a:xfrm>
            <a:off x="4011658" y="2280757"/>
            <a:ext cx="4185743" cy="267765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mod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front_of_house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mod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hosting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add_to_waitlist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crate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front_of_house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::hosting;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eat_at_restaurant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hosting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add_to_waitlist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1090">
        <p:fade/>
      </p:transition>
    </mc:Choice>
    <mc:Fallback xmlns="">
      <p:transition spd="med" advTm="4109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57797" y="0"/>
            <a:ext cx="5158463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3200" b="1" dirty="0">
                <a:solidFill>
                  <a:srgbClr val="C00000"/>
                </a:solidFill>
                <a:cs typeface="+mn-ea"/>
                <a:sym typeface="+mn-lt"/>
              </a:rPr>
              <a:t>use</a:t>
            </a:r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和</a:t>
            </a:r>
            <a:r>
              <a:rPr kumimoji="1" lang="en-US" altLang="zh-CN" sz="3200" b="1" dirty="0">
                <a:solidFill>
                  <a:srgbClr val="C00000"/>
                </a:solidFill>
                <a:cs typeface="+mn-ea"/>
                <a:sym typeface="+mn-lt"/>
              </a:rPr>
              <a:t>path</a:t>
            </a:r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语句</a:t>
            </a:r>
            <a:r>
              <a:rPr kumimoji="1" lang="en-US" altLang="zh-CN" sz="3200" b="1" dirty="0">
                <a:solidFill>
                  <a:srgbClr val="C00000"/>
                </a:solidFill>
                <a:cs typeface="+mn-ea"/>
                <a:sym typeface="+mn-lt"/>
              </a:rPr>
              <a:t>-use</a:t>
            </a:r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语句使用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57797" y="730025"/>
            <a:ext cx="10740640" cy="10645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600" dirty="0">
                <a:cs typeface="+mn-ea"/>
                <a:sym typeface="+mn-lt"/>
              </a:rPr>
              <a:t>use</a:t>
            </a:r>
            <a:r>
              <a:rPr kumimoji="1" lang="zh-CN" altLang="en-US" sz="1600" dirty="0">
                <a:cs typeface="+mn-ea"/>
                <a:sym typeface="+mn-lt"/>
              </a:rPr>
              <a:t>语句的作用是将其他模块中的</a:t>
            </a:r>
            <a:r>
              <a:rPr kumimoji="1" lang="en-US" altLang="zh-CN" sz="1600" dirty="0">
                <a:cs typeface="+mn-ea"/>
                <a:sym typeface="+mn-lt"/>
              </a:rPr>
              <a:t>Item</a:t>
            </a:r>
            <a:r>
              <a:rPr kumimoji="1" lang="zh-CN" altLang="en-US" sz="1600" dirty="0">
                <a:cs typeface="+mn-ea"/>
                <a:sym typeface="+mn-lt"/>
              </a:rPr>
              <a:t>或元素重导入至</a:t>
            </a:r>
            <a:r>
              <a:rPr kumimoji="1" lang="en-US" altLang="zh-CN" sz="1600" dirty="0">
                <a:cs typeface="+mn-ea"/>
                <a:sym typeface="+mn-lt"/>
              </a:rPr>
              <a:t>use</a:t>
            </a:r>
            <a:r>
              <a:rPr kumimoji="1" lang="zh-CN" altLang="en-US" sz="1600" dirty="0">
                <a:cs typeface="+mn-ea"/>
                <a:sym typeface="+mn-lt"/>
              </a:rPr>
              <a:t>语句所在的语句块或模块中。</a:t>
            </a:r>
            <a:endParaRPr kumimoji="1" lang="en-US" altLang="zh-CN" sz="1600" dirty="0">
              <a:cs typeface="+mn-ea"/>
              <a:sym typeface="+mn-lt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cs typeface="+mn-ea"/>
                <a:sym typeface="+mn-lt"/>
              </a:rPr>
              <a:t>被重导入的</a:t>
            </a:r>
            <a:r>
              <a:rPr kumimoji="1" lang="en-US" altLang="zh-CN" sz="1600" dirty="0">
                <a:cs typeface="+mn-ea"/>
                <a:sym typeface="+mn-lt"/>
              </a:rPr>
              <a:t>Item</a:t>
            </a:r>
            <a:r>
              <a:rPr kumimoji="1" lang="zh-CN" altLang="en-US" sz="1600" dirty="0">
                <a:cs typeface="+mn-ea"/>
                <a:sym typeface="+mn-lt"/>
              </a:rPr>
              <a:t>或元素不必再通过全量</a:t>
            </a:r>
            <a:r>
              <a:rPr kumimoji="1" lang="en-US" altLang="zh-CN" sz="1600" dirty="0">
                <a:cs typeface="+mn-ea"/>
                <a:sym typeface="+mn-lt"/>
              </a:rPr>
              <a:t>path</a:t>
            </a:r>
            <a:r>
              <a:rPr kumimoji="1" lang="zh-CN" altLang="en-US" sz="1600" dirty="0">
                <a:cs typeface="+mn-ea"/>
                <a:sym typeface="+mn-lt"/>
              </a:rPr>
              <a:t>进行使用；</a:t>
            </a:r>
            <a:endParaRPr kumimoji="1" lang="en-US" altLang="zh-CN" sz="1600" dirty="0">
              <a:cs typeface="+mn-ea"/>
              <a:sym typeface="+mn-lt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cs typeface="+mn-ea"/>
                <a:sym typeface="+mn-lt"/>
              </a:rPr>
              <a:t>use</a:t>
            </a:r>
            <a:r>
              <a:rPr kumimoji="1" lang="zh-CN" altLang="en-US" sz="1600" dirty="0">
                <a:cs typeface="+mn-ea"/>
                <a:sym typeface="+mn-lt"/>
              </a:rPr>
              <a:t>语句可在任何语句块或模块中使用；</a:t>
            </a:r>
            <a:endParaRPr kumimoji="1" lang="en-US" altLang="zh-CN" sz="1600" dirty="0"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57797" y="492146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57797" y="2103739"/>
            <a:ext cx="3126601" cy="3538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r>
              <a:rPr lang="en-US" altLang="zh-CN" sz="1400" b="1" dirty="0">
                <a:solidFill>
                  <a:srgbClr val="00B050"/>
                </a:solidFill>
                <a:cs typeface="+mn-ea"/>
                <a:sym typeface="+mn-lt"/>
              </a:rPr>
              <a:t> 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mod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m1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M1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M2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M3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15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m1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M1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m1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M2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   assert_eq!(M1, 5);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   assert_eq!(M2, 10);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   assert_eq!(m1::M3, 15);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580376" y="2103739"/>
            <a:ext cx="7881483" cy="2938145"/>
            <a:chOff x="3580376" y="2103739"/>
            <a:chExt cx="7881483" cy="2938145"/>
          </a:xfrm>
        </p:grpSpPr>
        <p:sp>
          <p:nvSpPr>
            <p:cNvPr id="10" name="矩形 9"/>
            <p:cNvSpPr/>
            <p:nvPr/>
          </p:nvSpPr>
          <p:spPr>
            <a:xfrm>
              <a:off x="3580376" y="2103739"/>
              <a:ext cx="3531940" cy="2938145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bg2"/>
                  </a:solidFill>
                  <a:cs typeface="+mn-ea"/>
                  <a:sym typeface="+mn-lt"/>
                </a:rPr>
                <a:t>// </a:t>
              </a:r>
              <a:r>
                <a:rPr lang="zh-CN" altLang="en-US" sz="1400" b="1" dirty="0">
                  <a:solidFill>
                    <a:srgbClr val="00B050"/>
                  </a:solidFill>
                  <a:cs typeface="+mn-ea"/>
                  <a:sym typeface="+mn-lt"/>
                </a:rPr>
                <a:t>代码示例</a:t>
              </a:r>
              <a:r>
                <a:rPr lang="en-US" altLang="zh-CN" sz="1400" b="1" dirty="0">
                  <a:solidFill>
                    <a:srgbClr val="00B050"/>
                  </a:solidFill>
                  <a:cs typeface="+mn-ea"/>
                  <a:sym typeface="+mn-lt"/>
                </a:rPr>
                <a:t> </a:t>
              </a:r>
            </a:p>
            <a:p>
              <a:r>
                <a:rPr lang="en-US" altLang="zh-CN" sz="1400" dirty="0">
                  <a:solidFill>
                    <a:srgbClr val="C678DD"/>
                  </a:solidFill>
                  <a:cs typeface="+mn-ea"/>
                  <a:sym typeface="+mn-lt"/>
                </a:rPr>
                <a:t>mod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 m1 {</a:t>
              </a:r>
            </a:p>
            <a:p>
              <a:r>
                <a:rPr lang="zh-CN" sz="1500" b="0" i="1" u="none" dirty="0">
                  <a:solidFill>
                    <a:srgbClr val="7F848E"/>
                  </a:solidFill>
                  <a:cs typeface="+mn-ea"/>
                  <a:sym typeface="+mn-lt"/>
                </a:rPr>
                <a:t>// 使用pub(crate)语句，使得Item或元素只能在被声明的crate中使用，最大使用范围是crate</a:t>
              </a:r>
              <a:endParaRPr lang="en-US" altLang="zh-CN" sz="1400" dirty="0">
                <a:solidFill>
                  <a:srgbClr val="AFABAB"/>
                </a:solidFill>
                <a:cs typeface="+mn-ea"/>
                <a:sym typeface="+mn-lt"/>
              </a:endParaRPr>
            </a:p>
            <a:p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 dirty="0">
                  <a:solidFill>
                    <a:srgbClr val="C678DD"/>
                  </a:solidFill>
                  <a:cs typeface="+mn-ea"/>
                  <a:sym typeface="+mn-lt"/>
                </a:rPr>
                <a:t>pub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 dirty="0">
                  <a:solidFill>
                    <a:srgbClr val="C678DD"/>
                  </a:solidFill>
                  <a:cs typeface="+mn-ea"/>
                  <a:sym typeface="+mn-lt"/>
                </a:rPr>
                <a:t>crate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) </a:t>
              </a:r>
              <a:r>
                <a:rPr lang="en-US" altLang="zh-CN" sz="1400" dirty="0">
                  <a:solidFill>
                    <a:srgbClr val="C678DD"/>
                  </a:solidFill>
                  <a:cs typeface="+mn-ea"/>
                  <a:sym typeface="+mn-lt"/>
                </a:rPr>
                <a:t>const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 dirty="0">
                  <a:solidFill>
                    <a:srgbClr val="D19A66"/>
                  </a:solidFill>
                  <a:cs typeface="+mn-ea"/>
                  <a:sym typeface="+mn-lt"/>
                </a:rPr>
                <a:t>M1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: </a:t>
              </a:r>
              <a:r>
                <a:rPr lang="en-US" altLang="zh-CN" sz="1400" dirty="0">
                  <a:solidFill>
                    <a:srgbClr val="E5C07B"/>
                  </a:solidFill>
                  <a:cs typeface="+mn-ea"/>
                  <a:sym typeface="+mn-lt"/>
                </a:rPr>
                <a:t>u32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 dirty="0">
                  <a:solidFill>
                    <a:srgbClr val="56B6C2"/>
                  </a:solidFill>
                  <a:cs typeface="+mn-ea"/>
                  <a:sym typeface="+mn-lt"/>
                </a:rPr>
                <a:t>=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 dirty="0">
                  <a:solidFill>
                    <a:srgbClr val="D19A66"/>
                  </a:solidFill>
                  <a:cs typeface="+mn-ea"/>
                  <a:sym typeface="+mn-lt"/>
                </a:rPr>
                <a:t>5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;</a:t>
              </a:r>
            </a:p>
            <a:p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}</a:t>
              </a:r>
            </a:p>
            <a:p>
              <a:b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</a:br>
              <a:r>
                <a:rPr lang="en-US" altLang="zh-CN" sz="1400" dirty="0">
                  <a:solidFill>
                    <a:srgbClr val="C678DD"/>
                  </a:solidFill>
                  <a:cs typeface="+mn-ea"/>
                  <a:sym typeface="+mn-lt"/>
                </a:rPr>
                <a:t>pub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 dirty="0">
                  <a:solidFill>
                    <a:srgbClr val="C678DD"/>
                  </a:solidFill>
                  <a:cs typeface="+mn-ea"/>
                  <a:sym typeface="+mn-lt"/>
                </a:rPr>
                <a:t>use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 dirty="0">
                  <a:solidFill>
                    <a:srgbClr val="E5C07B"/>
                  </a:solidFill>
                  <a:cs typeface="+mn-ea"/>
                  <a:sym typeface="+mn-lt"/>
                </a:rPr>
                <a:t>m1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::</a:t>
              </a:r>
              <a:r>
                <a:rPr lang="en-US" altLang="zh-CN" sz="1400" dirty="0">
                  <a:solidFill>
                    <a:srgbClr val="E5C07B"/>
                  </a:solidFill>
                  <a:cs typeface="+mn-ea"/>
                  <a:sym typeface="+mn-lt"/>
                </a:rPr>
                <a:t>M1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;</a:t>
              </a:r>
            </a:p>
            <a:p>
              <a:b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</a:br>
              <a:r>
                <a:rPr lang="en-US" altLang="zh-CN" sz="1400" dirty="0">
                  <a:solidFill>
                    <a:srgbClr val="C678DD"/>
                  </a:solidFill>
                  <a:cs typeface="+mn-ea"/>
                  <a:sym typeface="+mn-lt"/>
                </a:rPr>
                <a:t>fn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 dirty="0">
                  <a:solidFill>
                    <a:srgbClr val="61AFEF"/>
                  </a:solidFill>
                  <a:cs typeface="+mn-ea"/>
                  <a:sym typeface="+mn-lt"/>
                </a:rPr>
                <a:t>main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() {</a:t>
              </a:r>
            </a:p>
            <a:p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    assert_eq!(M1, 5);</a:t>
              </a:r>
            </a:p>
            <a:p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}</a:t>
              </a:r>
              <a:endParaRPr lang="en-US" altLang="zh-CN" sz="1400" b="0" dirty="0">
                <a:solidFill>
                  <a:srgbClr val="ABB2BF"/>
                </a:solidFill>
                <a:effectLst/>
                <a:cs typeface="+mn-ea"/>
                <a:sym typeface="+mn-lt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81246" y="2217858"/>
              <a:ext cx="3780613" cy="1825648"/>
            </a:xfrm>
            <a:prstGeom prst="rect">
              <a:avLst/>
            </a:prstGeom>
          </p:spPr>
        </p:pic>
        <p:sp>
          <p:nvSpPr>
            <p:cNvPr id="11" name="右箭头 10"/>
            <p:cNvSpPr/>
            <p:nvPr/>
          </p:nvSpPr>
          <p:spPr>
            <a:xfrm>
              <a:off x="7272200" y="2772463"/>
              <a:ext cx="311084" cy="716437"/>
            </a:xfrm>
            <a:prstGeom prst="rightArrow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981">
        <p:fade/>
      </p:transition>
    </mc:Choice>
    <mc:Fallback xmlns="">
      <p:transition spd="med" advTm="56981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57797" y="0"/>
            <a:ext cx="369331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zh-CN" altLang="en-US" sz="3200" b="1" dirty="0">
                <a:solidFill>
                  <a:srgbClr val="C00000"/>
                </a:solidFill>
                <a:cs typeface="+mn-ea"/>
                <a:sym typeface="+mn-lt"/>
              </a:rPr>
              <a:t>相对路径和绝对路径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57797" y="492146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41018" y="1084498"/>
            <a:ext cx="5907333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想要调用一个函数，就需要知道它的路径，在 </a:t>
            </a:r>
            <a:r>
              <a:rPr lang="en-US" altLang="zh-CN" sz="1600" dirty="0">
                <a:cs typeface="+mn-ea"/>
                <a:sym typeface="+mn-lt"/>
              </a:rPr>
              <a:t>Rust </a:t>
            </a:r>
            <a:r>
              <a:rPr lang="zh-CN" altLang="en-US" sz="1600" dirty="0">
                <a:cs typeface="+mn-ea"/>
                <a:sym typeface="+mn-lt"/>
              </a:rPr>
              <a:t>中，这种路径有两种形式：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cs typeface="+mn-ea"/>
                <a:sym typeface="+mn-lt"/>
              </a:rPr>
              <a:t>绝对路径</a:t>
            </a:r>
            <a:r>
              <a:rPr lang="zh-CN" altLang="en-US" sz="1600" dirty="0">
                <a:cs typeface="+mn-ea"/>
                <a:sym typeface="+mn-lt"/>
              </a:rPr>
              <a:t>，从包根开始，路径名以包名或者 </a:t>
            </a:r>
            <a:r>
              <a:rPr lang="en-US" altLang="zh-CN" sz="1600" dirty="0">
                <a:cs typeface="+mn-ea"/>
                <a:sym typeface="+mn-lt"/>
              </a:rPr>
              <a:t>crate </a:t>
            </a:r>
            <a:r>
              <a:rPr lang="zh-CN" altLang="en-US" sz="1600" dirty="0">
                <a:cs typeface="+mn-ea"/>
                <a:sym typeface="+mn-lt"/>
              </a:rPr>
              <a:t>作为开头；</a:t>
            </a:r>
            <a:r>
              <a:rPr lang="en-US" altLang="zh-CN" sz="1600" dirty="0">
                <a:cs typeface="+mn-ea"/>
                <a:sym typeface="+mn-lt"/>
              </a:rPr>
              <a:t>crate</a:t>
            </a:r>
            <a:r>
              <a:rPr lang="zh-CN" altLang="en-US" sz="1600" dirty="0">
                <a:cs typeface="+mn-ea"/>
                <a:sym typeface="+mn-lt"/>
              </a:rPr>
              <a:t>关键字表示当前</a:t>
            </a:r>
            <a:r>
              <a:rPr lang="en-US" altLang="zh-CN" sz="1600" dirty="0">
                <a:cs typeface="+mn-ea"/>
                <a:sym typeface="+mn-lt"/>
              </a:rPr>
              <a:t>crate</a:t>
            </a:r>
            <a:endParaRPr lang="zh-CN" altLang="en-US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cs typeface="+mn-ea"/>
                <a:sym typeface="+mn-lt"/>
              </a:rPr>
              <a:t>相对路径</a:t>
            </a:r>
            <a:r>
              <a:rPr lang="zh-CN" altLang="en-US" sz="1600" dirty="0">
                <a:cs typeface="+mn-ea"/>
                <a:sym typeface="+mn-lt"/>
              </a:rPr>
              <a:t>，从当前模块开始，以 </a:t>
            </a:r>
            <a:r>
              <a:rPr lang="en-US" altLang="zh-CN" sz="1600" dirty="0">
                <a:cs typeface="+mn-ea"/>
                <a:sym typeface="+mn-lt"/>
              </a:rPr>
              <a:t>self</a:t>
            </a:r>
            <a:r>
              <a:rPr lang="zh-CN" altLang="en-US" sz="1600" dirty="0">
                <a:cs typeface="+mn-ea"/>
                <a:sym typeface="+mn-lt"/>
              </a:rPr>
              <a:t>，</a:t>
            </a:r>
            <a:r>
              <a:rPr lang="en-US" altLang="zh-CN" sz="1600" dirty="0">
                <a:cs typeface="+mn-ea"/>
                <a:sym typeface="+mn-lt"/>
              </a:rPr>
              <a:t>super </a:t>
            </a:r>
            <a:r>
              <a:rPr lang="zh-CN" altLang="en-US" sz="1600" dirty="0">
                <a:cs typeface="+mn-ea"/>
                <a:sym typeface="+mn-lt"/>
              </a:rPr>
              <a:t>或当前模块的标识符作为开头；</a:t>
            </a:r>
          </a:p>
        </p:txBody>
      </p:sp>
      <p:sp>
        <p:nvSpPr>
          <p:cNvPr id="4" name="矩形 3"/>
          <p:cNvSpPr/>
          <p:nvPr/>
        </p:nvSpPr>
        <p:spPr>
          <a:xfrm>
            <a:off x="6311263" y="928897"/>
            <a:ext cx="4388160" cy="22467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mod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mod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bar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pub 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func1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func2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crate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bar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func1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绝对路径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bar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func1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相对路径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7797" y="3740554"/>
            <a:ext cx="5990554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cs typeface="+mn-ea"/>
                <a:sym typeface="+mn-lt"/>
              </a:rPr>
              <a:t>使用 </a:t>
            </a:r>
            <a:r>
              <a:rPr lang="en-US" altLang="zh-CN" sz="1600" b="1" dirty="0">
                <a:cs typeface="+mn-ea"/>
                <a:sym typeface="+mn-lt"/>
              </a:rPr>
              <a:t>super/self </a:t>
            </a:r>
            <a:r>
              <a:rPr lang="zh-CN" altLang="en-US" sz="1600" b="1" dirty="0">
                <a:cs typeface="+mn-ea"/>
                <a:sym typeface="+mn-lt"/>
              </a:rPr>
              <a:t>引用模块</a:t>
            </a:r>
            <a:r>
              <a:rPr lang="zh-CN" altLang="en-US" sz="1600" dirty="0">
                <a:cs typeface="+mn-ea"/>
                <a:sym typeface="+mn-lt"/>
              </a:rPr>
              <a:t>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+mn-ea"/>
                <a:sym typeface="+mn-lt"/>
              </a:rPr>
              <a:t>super </a:t>
            </a:r>
            <a:r>
              <a:rPr lang="zh-CN" altLang="en-US" sz="1600" dirty="0">
                <a:cs typeface="+mn-ea"/>
                <a:sym typeface="+mn-lt"/>
              </a:rPr>
              <a:t>代表的是父模块为开始的引用方式，非常类似于文件系统中的 </a:t>
            </a:r>
            <a:r>
              <a:rPr lang="en-US" altLang="zh-CN" sz="1600" dirty="0">
                <a:cs typeface="+mn-ea"/>
                <a:sym typeface="+mn-lt"/>
              </a:rPr>
              <a:t>.. </a:t>
            </a:r>
            <a:r>
              <a:rPr lang="zh-CN" altLang="en-US" sz="1600" dirty="0">
                <a:cs typeface="+mn-ea"/>
                <a:sym typeface="+mn-lt"/>
              </a:rPr>
              <a:t>语法；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+mn-ea"/>
                <a:sym typeface="+mn-lt"/>
              </a:rPr>
              <a:t>self </a:t>
            </a:r>
            <a:r>
              <a:rPr lang="zh-CN" altLang="en-US" sz="1600" dirty="0">
                <a:cs typeface="+mn-ea"/>
                <a:sym typeface="+mn-lt"/>
              </a:rPr>
              <a:t>表示在自身的模块中寻找进行调用；可省略</a:t>
            </a:r>
            <a:endParaRPr lang="en-US" altLang="zh-CN" sz="1600" dirty="0"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311263" y="3595100"/>
            <a:ext cx="4388160" cy="310854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mod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mod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bar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func_1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func_2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self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bar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func_1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mod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xyz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func_3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 i="1" dirty="0">
                <a:solidFill>
                  <a:srgbClr val="C678DD"/>
                </a:solidFill>
                <a:cs typeface="+mn-ea"/>
                <a:sym typeface="+mn-lt"/>
              </a:rPr>
              <a:t>super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bar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func_1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8647">
        <p:fade/>
      </p:transition>
    </mc:Choice>
    <mc:Fallback xmlns="">
      <p:transition spd="med" advTm="78647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掌握</a:t>
            </a:r>
            <a:r>
              <a:rPr lang="en-US" altLang="zh-CN" sz="1800" dirty="0">
                <a:cs typeface="+mn-ea"/>
                <a:sym typeface="+mn-lt"/>
              </a:rPr>
              <a:t>Rust crate</a:t>
            </a:r>
            <a:r>
              <a:rPr lang="zh-CN" altLang="en-US" sz="1800" dirty="0">
                <a:cs typeface="+mn-ea"/>
                <a:sym typeface="+mn-lt"/>
              </a:rPr>
              <a:t>、模块系统的概念和使用；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理解并掌握</a:t>
            </a:r>
            <a:r>
              <a:rPr lang="en-US" altLang="zh-CN" sz="1800" dirty="0">
                <a:cs typeface="+mn-ea"/>
                <a:sym typeface="+mn-lt"/>
              </a:rPr>
              <a:t>Rust</a:t>
            </a:r>
            <a:r>
              <a:rPr lang="zh-CN" altLang="en-US" sz="1800" dirty="0">
                <a:cs typeface="+mn-ea"/>
                <a:sym typeface="+mn-lt"/>
              </a:rPr>
              <a:t>可见性规则；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掌握</a:t>
            </a:r>
            <a:r>
              <a:rPr lang="en-US" altLang="zh-CN" sz="1800" dirty="0">
                <a:cs typeface="+mn-ea"/>
                <a:sym typeface="+mn-lt"/>
              </a:rPr>
              <a:t>Rust</a:t>
            </a:r>
            <a:r>
              <a:rPr lang="zh-CN" altLang="en-US" sz="1800" dirty="0">
                <a:cs typeface="+mn-ea"/>
                <a:sym typeface="+mn-lt"/>
              </a:rPr>
              <a:t>中</a:t>
            </a:r>
            <a:r>
              <a:rPr lang="en-US" altLang="zh-CN" sz="1800" dirty="0">
                <a:cs typeface="+mn-ea"/>
                <a:sym typeface="+mn-lt"/>
              </a:rPr>
              <a:t>use</a:t>
            </a:r>
            <a:r>
              <a:rPr lang="zh-CN" altLang="en-US" sz="1800" dirty="0">
                <a:cs typeface="+mn-ea"/>
                <a:sym typeface="+mn-lt"/>
              </a:rPr>
              <a:t>语句的使用；</a:t>
            </a:r>
            <a:endParaRPr lang="en-US" altLang="zh-CN" sz="1800" dirty="0"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22092" y="945152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262"/>
    </mc:Choice>
    <mc:Fallback xmlns="">
      <p:transition spd="slow" advTm="28262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z45zfazp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z45zfazp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z45zfazp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z45zfazp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z45zfazp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1390</TotalTime>
  <Words>2183</Words>
  <Application>Microsoft Office PowerPoint</Application>
  <PresentationFormat>自定义</PresentationFormat>
  <Paragraphs>260</Paragraphs>
  <Slides>17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方正兰亭黑简体</vt:lpstr>
      <vt:lpstr>Microsoft YaHei</vt:lpstr>
      <vt:lpstr>Arial</vt:lpstr>
      <vt:lpstr>Calibri</vt:lpstr>
      <vt:lpstr>Huawei Sans</vt:lpstr>
      <vt:lpstr>Wingdings</vt:lpstr>
      <vt:lpstr>封面页_图片版 </vt:lpstr>
      <vt:lpstr>目录页</vt:lpstr>
      <vt:lpstr>章节页</vt:lpstr>
      <vt:lpstr>结束页</vt:lpstr>
      <vt:lpstr>Office Theme</vt:lpstr>
      <vt:lpstr>模块系统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模块系统</dc:title>
  <dc:creator>Yijun Yu</dc:creator>
  <cp:lastModifiedBy>Zhangyandong (ben)</cp:lastModifiedBy>
  <cp:revision>24</cp:revision>
  <dcterms:created xsi:type="dcterms:W3CDTF">2023-10-18T07:16:59Z</dcterms:created>
  <dcterms:modified xsi:type="dcterms:W3CDTF">2024-11-20T02:24:10Z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(3)Gn9vwTUyrGG3xXBsT2AUjYsgu/ApXxTAUrweonpNfRwERwlCOpwqc12elF8pzLxw22aKLZWZ
/agcQDYiumREi5ruYEQHXWT+XLO/3ZXijZcr2g+8gyS9/l5AeRMwvnX8ZgMfUItA3KbBLBC1
zUfcvVCSec+19CzZjh9VLOpwX9naYkrjLUppfiutHbjkknNsZA678I6mdI9Io7/Je54u4Zod
bUFjdbul1J8sW7xOZW</vt:lpwstr>
  </property>
  <property fmtid="{D5CDD505-2E9C-101B-9397-08002B2CF9AE}" pid="3" name="_2015_ms_pID_7253431">
    <vt:lpwstr>TIkO5yUiZz0AaUBmWKoZwT8awYhJVDTG8SPZQxYxrbX+uV9q1R7G4E
JjOHeWwRn7ceK4Fxj+a937Ksk1DqltmSN2Q1vJwdDs4gDYBdw9n2JHie8ZPLVmdbQSdU0Njq
z8Ksa9kqRLELLQLGy5fSEso+oD0jE44v3CVMKmtGEAuFIDzgVqGhKgscUZL0343yHscKXFEr
Tm5yKP24pkfX8WrkN60VutxfNOZxuttB1OTp</vt:lpwstr>
  </property>
  <property fmtid="{D5CDD505-2E9C-101B-9397-08002B2CF9AE}" pid="4" name="_2015_ms_pID_7253432">
    <vt:lpwstr>5w==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1697544692</vt:lpwstr>
  </property>
</Properties>
</file>