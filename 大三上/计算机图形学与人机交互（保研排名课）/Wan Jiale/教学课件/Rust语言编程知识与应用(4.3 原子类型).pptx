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  <p:sldMasterId id="2147483659" r:id="rId3"/>
    <p:sldMasterId id="2147483660" r:id="rId4"/>
    <p:sldMasterId id="2147483662" r:id="rId5"/>
  </p:sldMasterIdLst>
  <p:notesMasterIdLst>
    <p:notesMasterId r:id="rId26"/>
  </p:notesMasterIdLst>
  <p:handoutMasterIdLst>
    <p:handoutMasterId r:id="rId27"/>
  </p:handoutMasterIdLst>
  <p:sldIdLst>
    <p:sldId id="283" r:id="rId6"/>
    <p:sldId id="288" r:id="rId7"/>
    <p:sldId id="349" r:id="rId8"/>
    <p:sldId id="438" r:id="rId9"/>
    <p:sldId id="439" r:id="rId10"/>
    <p:sldId id="432" r:id="rId11"/>
    <p:sldId id="421" r:id="rId12"/>
    <p:sldId id="390" r:id="rId13"/>
    <p:sldId id="422" r:id="rId14"/>
    <p:sldId id="431" r:id="rId15"/>
    <p:sldId id="425" r:id="rId16"/>
    <p:sldId id="423" r:id="rId17"/>
    <p:sldId id="426" r:id="rId18"/>
    <p:sldId id="392" r:id="rId19"/>
    <p:sldId id="428" r:id="rId20"/>
    <p:sldId id="429" r:id="rId21"/>
    <p:sldId id="433" r:id="rId22"/>
    <p:sldId id="292" r:id="rId23"/>
    <p:sldId id="437" r:id="rId24"/>
    <p:sldId id="280" r:id="rId25"/>
  </p:sldIdLst>
  <p:sldSz cx="12196763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>
            <p14:sldId id="288"/>
            <p14:sldId id="349"/>
          </p14:sldIdLst>
        </p14:section>
        <p14:section name="章节页" id="{FD05EE94-C931-8C4B-83A2-004B32AA1207}">
          <p14:sldIdLst>
            <p14:sldId id="438"/>
            <p14:sldId id="439"/>
            <p14:sldId id="432"/>
            <p14:sldId id="421"/>
            <p14:sldId id="390"/>
            <p14:sldId id="422"/>
            <p14:sldId id="431"/>
            <p14:sldId id="425"/>
            <p14:sldId id="423"/>
            <p14:sldId id="426"/>
            <p14:sldId id="392"/>
            <p14:sldId id="428"/>
            <p14:sldId id="429"/>
            <p14:sldId id="433"/>
            <p14:sldId id="292"/>
            <p14:sldId id="437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pos="3701">
          <p15:clr>
            <a:srgbClr val="A4A3A4"/>
          </p15:clr>
        </p15:guide>
        <p15:guide id="2" orient="horz" pos="2159">
          <p15:clr>
            <a:srgbClr val="A4A3A4"/>
          </p15:clr>
        </p15:guide>
        <p15:guide id="3" pos="35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002" name="wuxiaojun 00342820_QRBvBJbY" initials="authorId_AK20210901:AK20210901JXNSXO124321" lastIdx="0" clrIdx="0"/>
  <p:cmAuthor id="2003" name="hantingjun 00339793_ya2iumaE" initials="authorId_AK20210901:AK20210901JXNSXO115905" lastIdx="1688573715" clrIdx="0"/>
  <p:cmAuthor id="2000" name="fanchangchun 00567414_2yeyVvEJ" initials="authorId_AK20210901:AK20210901JXNSXO4723448" lastIdx="0" clrIdx="0"/>
  <p:cmAuthor id="2001" name="zhanghandong WX930509_Jj22FnMn" initials="authorId_AK20210901:AK20210901JXNSXO4676065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E57B84"/>
    <a:srgbClr val="E6A8AD"/>
    <a:srgbClr val="E57984"/>
    <a:srgbClr val="FFFFFF"/>
    <a:srgbClr val="151515"/>
    <a:srgbClr val="C7000B"/>
    <a:srgbClr val="575756"/>
    <a:srgbClr val="DD4654"/>
    <a:srgbClr val="F3D2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17" autoAdjust="0"/>
    <p:restoredTop sz="90888" autoAdjust="0"/>
  </p:normalViewPr>
  <p:slideViewPr>
    <p:cSldViewPr snapToGrid="0" snapToObjects="1">
      <p:cViewPr varScale="1">
        <p:scale>
          <a:sx n="66" d="100"/>
          <a:sy n="66" d="100"/>
        </p:scale>
        <p:origin x="32" y="208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5943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697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346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41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831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3205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452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318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2489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5710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9721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2796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8571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3130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0878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1094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3312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8434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0377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975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54" y="-57144"/>
            <a:ext cx="12243078" cy="5625189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036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75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234/90/79</a:t>
                </a: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120/0/15</a:t>
                </a: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248/181/60</a:t>
                </a: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235/92/1</a:t>
                </a: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137/137/137</a:t>
                </a: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35/24/21</a:t>
                </a: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221/221/221</a:t>
                </a: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233/140/128</a:t>
                </a: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159/0/1</a:t>
                </a: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245/220/87</a:t>
                </a: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240/133/0</a:t>
                </a: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181/181/181</a:t>
                </a: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89/87/87</a:t>
                </a: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255/255/255</a:t>
                </a: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8" y="6321130"/>
            <a:ext cx="1269075" cy="27754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把数字世界带入每个人、每个家庭、</a:t>
            </a:r>
            <a:br>
              <a:rPr kumimoji="1" lang="en-US" altLang="zh-CN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</a:br>
            <a:r>
              <a:rPr kumimoji="1" lang="zh-CN" altLang="en-US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>
              <a:solidFill>
                <a:srgbClr val="1D1D1B"/>
              </a:solidFill>
              <a:latin typeface="+mn-lt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8" y="5237637"/>
            <a:ext cx="1869596" cy="4088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948808" y="1066890"/>
            <a:ext cx="6559809" cy="690255"/>
          </a:xfrm>
        </p:spPr>
        <p:txBody>
          <a:bodyPr>
            <a:no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原子类型</a:t>
            </a:r>
          </a:p>
        </p:txBody>
      </p:sp>
      <p:sp>
        <p:nvSpPr>
          <p:cNvPr id="4" name="Text Placeholder 3"/>
          <p:cNvSpPr txBox="1"/>
          <p:nvPr/>
        </p:nvSpPr>
        <p:spPr>
          <a:xfrm>
            <a:off x="948808" y="6264112"/>
            <a:ext cx="2606870" cy="1366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kumimoji="1" lang="en-US" altLang="zh-CN" sz="1000">
                <a:cs typeface="+mn-ea"/>
                <a:sym typeface="+mn-lt"/>
              </a:rPr>
              <a:t>Security Level:</a:t>
            </a:r>
            <a:endParaRPr lang="en-US" sz="1000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01663" y="5858894"/>
            <a:ext cx="2794958" cy="888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关于本章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377391"/>
            <a:ext cx="10733557" cy="87813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章节目标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通过本章节的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学习，理解原子类型的基本原理和使用方法。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29175" y="1811383"/>
            <a:ext cx="9065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9175" y="2854330"/>
            <a:ext cx="207366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419122" y="2823872"/>
            <a:ext cx="4196421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>
                <a:cs typeface="+mn-ea"/>
                <a:sym typeface="+mn-lt"/>
              </a:rPr>
              <a:t>原子类型简介；</a:t>
            </a:r>
            <a:endParaRPr lang="en-US" altLang="zh-CN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>
                <a:cs typeface="+mn-ea"/>
                <a:sym typeface="+mn-lt"/>
              </a:rPr>
              <a:t>原子类型基本操作；</a:t>
            </a:r>
            <a:endParaRPr lang="en-US" altLang="zh-CN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>
                <a:cs typeface="+mn-ea"/>
                <a:sym typeface="+mn-lt"/>
              </a:rPr>
              <a:t>指令重排；</a:t>
            </a:r>
            <a:endParaRPr lang="en-US" altLang="zh-CN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>
                <a:cs typeface="+mn-ea"/>
                <a:sym typeface="+mn-lt"/>
              </a:rPr>
              <a:t>内存顺序；</a:t>
            </a:r>
            <a:endParaRPr lang="en-US" altLang="zh-CN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>
                <a:cs typeface="+mn-ea"/>
                <a:sym typeface="+mn-lt"/>
              </a:rPr>
              <a:t>Fence</a:t>
            </a:r>
            <a:r>
              <a:rPr lang="zh-CN" altLang="en-US">
                <a:cs typeface="+mn-ea"/>
                <a:sym typeface="+mn-lt"/>
              </a:rPr>
              <a:t>接口；</a:t>
            </a:r>
            <a:endParaRPr lang="en-US" altLang="zh-CN" dirty="0"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4926" y="2406157"/>
            <a:ext cx="2276585" cy="466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cs typeface="+mn-ea"/>
                <a:sym typeface="+mn-lt"/>
              </a:rPr>
              <a:t>本章预期掌握知识点</a:t>
            </a:r>
            <a:endParaRPr lang="en-US" altLang="zh-CN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729175" y="952834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624474" y="0"/>
            <a:ext cx="36000" cy="6840000"/>
          </a:xfrm>
          <a:prstGeom prst="rect">
            <a:avLst/>
          </a:prstGeom>
          <a:gradFill>
            <a:gsLst>
              <a:gs pos="4000">
                <a:schemeClr val="tx2">
                  <a:lumMod val="85000"/>
                </a:schemeClr>
              </a:gs>
              <a:gs pos="54000">
                <a:schemeClr val="tx2">
                  <a:lumMod val="85000"/>
                </a:schemeClr>
              </a:gs>
              <a:gs pos="100000">
                <a:schemeClr val="tx2">
                  <a:lumMod val="85000"/>
                  <a:alpha val="7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目录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090007"/>
            <a:ext cx="10733557" cy="4690459"/>
          </a:xfrm>
        </p:spPr>
        <p:txBody>
          <a:bodyPr/>
          <a:lstStyle/>
          <a:p>
            <a:pPr marL="354965" indent="-342900">
              <a:lnSpc>
                <a:spcPct val="150000"/>
              </a:lnSpc>
              <a:buAutoNum type="arabicPlain"/>
            </a:pP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原子类型简介</a:t>
            </a:r>
            <a:endParaRPr lang="en-US" altLang="zh-CN">
              <a:latin typeface="+mn-lt"/>
              <a:ea typeface="+mn-ea"/>
              <a:cs typeface="+mn-ea"/>
              <a:sym typeface="+mn-lt"/>
            </a:endParaRPr>
          </a:p>
          <a:p>
            <a:pPr marL="354965" indent="-342900">
              <a:lnSpc>
                <a:spcPct val="150000"/>
              </a:lnSpc>
              <a:buAutoNum type="arabicPlain"/>
            </a:pP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原子类型基本操作</a:t>
            </a:r>
            <a:endParaRPr lang="en-US" altLang="zh-CN">
              <a:latin typeface="+mn-lt"/>
              <a:ea typeface="+mn-ea"/>
              <a:cs typeface="+mn-ea"/>
              <a:sym typeface="+mn-lt"/>
            </a:endParaRPr>
          </a:p>
          <a:p>
            <a:pPr marL="354965" indent="-342900">
              <a:lnSpc>
                <a:spcPct val="150000"/>
              </a:lnSpc>
              <a:buAutoNum type="arabicPlain"/>
            </a:pP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指令重排</a:t>
            </a:r>
            <a:endParaRPr lang="en-US" altLang="zh-CN">
              <a:latin typeface="+mn-lt"/>
              <a:ea typeface="+mn-ea"/>
              <a:cs typeface="+mn-ea"/>
              <a:sym typeface="+mn-lt"/>
            </a:endParaRPr>
          </a:p>
          <a:p>
            <a:pPr marL="354965" indent="-342900">
              <a:lnSpc>
                <a:spcPct val="150000"/>
              </a:lnSpc>
              <a:buAutoNum type="arabicPlain"/>
            </a:pP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内存顺序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354965" indent="-342900">
              <a:lnSpc>
                <a:spcPct val="150000"/>
              </a:lnSpc>
              <a:buFontTx/>
              <a:buAutoNum type="arabicPlain"/>
            </a:pP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Fence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接口</a:t>
            </a:r>
            <a:endParaRPr lang="en-US" altLang="zh-CN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29175" y="952834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514569" y="1364683"/>
            <a:ext cx="10795423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cs typeface="+mn-ea"/>
                <a:sym typeface="+mn-lt"/>
              </a:rPr>
              <a:t>原子操作，由单条</a:t>
            </a:r>
            <a:r>
              <a:rPr lang="en-US" altLang="zh-CN" sz="1400" b="1">
                <a:cs typeface="+mn-ea"/>
                <a:sym typeface="+mn-lt"/>
              </a:rPr>
              <a:t>CPU</a:t>
            </a:r>
            <a:r>
              <a:rPr lang="zh-CN" altLang="en-US" sz="1400" b="1">
                <a:cs typeface="+mn-ea"/>
                <a:sym typeface="+mn-lt"/>
              </a:rPr>
              <a:t>指令完成，满足：</a:t>
            </a:r>
            <a:endParaRPr lang="en-US" altLang="zh-CN" sz="1400" b="1">
              <a:cs typeface="+mn-ea"/>
              <a:sym typeface="+mn-lt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>
                <a:cs typeface="+mn-ea"/>
                <a:sym typeface="+mn-lt"/>
              </a:rPr>
              <a:t>写操作时，任何其他线程都不可能看到一个半完成状态</a:t>
            </a:r>
            <a:endParaRPr lang="en-US" altLang="zh-CN" sz="1400">
              <a:cs typeface="+mn-ea"/>
              <a:sym typeface="+mn-lt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>
                <a:cs typeface="+mn-ea"/>
                <a:sym typeface="+mn-lt"/>
              </a:rPr>
              <a:t>读操作时，一定读取到一个完整的值</a:t>
            </a:r>
            <a:endParaRPr lang="en-US" altLang="zh-CN" sz="1400">
              <a:cs typeface="+mn-ea"/>
              <a:sym typeface="+mn-lt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200" i="1">
                <a:cs typeface="+mn-ea"/>
                <a:sym typeface="+mn-lt"/>
              </a:rPr>
              <a:t>注：不满足上述两个条件，就意味着存在数据竞争</a:t>
            </a:r>
            <a:endParaRPr lang="en-US" altLang="zh-CN" sz="1200" i="1">
              <a:cs typeface="+mn-ea"/>
              <a:sym typeface="+mn-lt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14570" y="2692918"/>
            <a:ext cx="11013170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cs typeface="+mn-ea"/>
                <a:sym typeface="+mn-lt"/>
              </a:rPr>
              <a:t>非原子操作</a:t>
            </a:r>
            <a:endParaRPr lang="en-US" altLang="zh-CN" sz="1400" b="1" dirty="0">
              <a:cs typeface="+mn-ea"/>
              <a:sym typeface="+mn-lt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cs typeface="+mn-ea"/>
                <a:sym typeface="+mn-lt"/>
              </a:rPr>
              <a:t>可能是生成多条指令，比如</a:t>
            </a:r>
            <a:r>
              <a:rPr lang="en-US" altLang="zh-CN" sz="1400" dirty="0">
                <a:cs typeface="+mn-ea"/>
                <a:sym typeface="+mn-lt"/>
              </a:rPr>
              <a:t> let x: u64 = 0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cs typeface="+mn-ea"/>
                <a:sym typeface="+mn-lt"/>
              </a:rPr>
              <a:t>可能不满足原子性的单条指令，比如</a:t>
            </a:r>
            <a:r>
              <a:rPr lang="en-US" altLang="zh-CN" sz="1400" dirty="0">
                <a:cs typeface="+mn-ea"/>
                <a:sym typeface="+mn-lt"/>
              </a:rPr>
              <a:t>ARMv7</a:t>
            </a:r>
            <a:r>
              <a:rPr lang="zh-CN" altLang="en-US" sz="1400" dirty="0">
                <a:cs typeface="+mn-ea"/>
                <a:sym typeface="+mn-lt"/>
              </a:rPr>
              <a:t>的：</a:t>
            </a:r>
            <a:r>
              <a:rPr lang="en-US" altLang="zh-CN" sz="1400" dirty="0" err="1">
                <a:cs typeface="+mn-ea"/>
                <a:sym typeface="+mn-lt"/>
              </a:rPr>
              <a:t>strd</a:t>
            </a:r>
            <a:r>
              <a:rPr lang="en-US" altLang="zh-CN" sz="1400" dirty="0">
                <a:cs typeface="+mn-ea"/>
                <a:sym typeface="+mn-lt"/>
              </a:rPr>
              <a:t> r0, r1, [r2]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cs typeface="+mn-ea"/>
                <a:sym typeface="+mn-lt"/>
              </a:rPr>
              <a:t>特定条件下不满足原子性的单条指令，比如</a:t>
            </a:r>
            <a:r>
              <a:rPr lang="en-US" altLang="zh-CN" sz="1400" dirty="0">
                <a:cs typeface="+mn-ea"/>
                <a:sym typeface="+mn-lt"/>
              </a:rPr>
              <a:t>x86</a:t>
            </a:r>
            <a:r>
              <a:rPr lang="zh-CN" altLang="en-US" sz="1400" dirty="0">
                <a:cs typeface="+mn-ea"/>
                <a:sym typeface="+mn-lt"/>
              </a:rPr>
              <a:t>下的</a:t>
            </a:r>
            <a:r>
              <a:rPr lang="en-US" altLang="zh-CN" sz="1400" dirty="0">
                <a:cs typeface="+mn-ea"/>
                <a:sym typeface="+mn-lt"/>
              </a:rPr>
              <a:t>MOV</a:t>
            </a:r>
            <a:r>
              <a:rPr lang="zh-CN" altLang="en-US" sz="1400" dirty="0">
                <a:cs typeface="+mn-ea"/>
                <a:sym typeface="+mn-lt"/>
              </a:rPr>
              <a:t>指令，如果作用于非</a:t>
            </a:r>
            <a:r>
              <a:rPr lang="en-US" altLang="zh-CN" sz="1400" dirty="0">
                <a:cs typeface="+mn-ea"/>
                <a:sym typeface="+mn-lt"/>
              </a:rPr>
              <a:t>4</a:t>
            </a:r>
            <a:r>
              <a:rPr lang="zh-CN" altLang="en-US" sz="1400" dirty="0">
                <a:cs typeface="+mn-ea"/>
                <a:sym typeface="+mn-lt"/>
              </a:rPr>
              <a:t>字节对齐的</a:t>
            </a:r>
            <a:r>
              <a:rPr lang="en-US" altLang="zh-CN" sz="1400" dirty="0">
                <a:cs typeface="+mn-ea"/>
                <a:sym typeface="+mn-lt"/>
              </a:rPr>
              <a:t>u32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cs typeface="+mn-ea"/>
                <a:sym typeface="+mn-lt"/>
              </a:rPr>
              <a:t>最核心的</a:t>
            </a:r>
            <a:r>
              <a:rPr lang="en-US" altLang="zh-CN" sz="1400" dirty="0">
                <a:cs typeface="+mn-ea"/>
                <a:sym typeface="+mn-lt"/>
              </a:rPr>
              <a:t>-</a:t>
            </a:r>
            <a:r>
              <a:rPr lang="zh-CN" altLang="en-US" sz="1400" b="1" dirty="0">
                <a:cs typeface="+mn-ea"/>
                <a:sym typeface="+mn-lt"/>
              </a:rPr>
              <a:t>语言标准定义的非原子操作</a:t>
            </a:r>
            <a:r>
              <a:rPr lang="zh-CN" altLang="en-US" sz="1400" dirty="0">
                <a:cs typeface="+mn-ea"/>
                <a:sym typeface="+mn-lt"/>
              </a:rPr>
              <a:t>：</a:t>
            </a:r>
            <a:r>
              <a:rPr lang="en-US" altLang="zh-CN" sz="1400" dirty="0">
                <a:cs typeface="+mn-ea"/>
                <a:sym typeface="+mn-lt"/>
              </a:rPr>
              <a:t>C/C++/RUST</a:t>
            </a:r>
            <a:r>
              <a:rPr lang="zh-CN" altLang="en-US" sz="1400" dirty="0">
                <a:cs typeface="+mn-ea"/>
                <a:sym typeface="+mn-lt"/>
              </a:rPr>
              <a:t>定义非</a:t>
            </a:r>
            <a:r>
              <a:rPr lang="en-US" altLang="zh-CN" sz="1400" dirty="0">
                <a:cs typeface="+mn-ea"/>
                <a:sym typeface="+mn-lt"/>
              </a:rPr>
              <a:t>atomic</a:t>
            </a:r>
            <a:r>
              <a:rPr lang="zh-CN" altLang="en-US" sz="1400" dirty="0">
                <a:cs typeface="+mn-ea"/>
                <a:sym typeface="+mn-lt"/>
              </a:rPr>
              <a:t>类型的操作均应视为非原子操作，而非依赖目标平台的实现</a:t>
            </a:r>
            <a:endParaRPr lang="en-US" altLang="zh-CN" sz="1400" dirty="0">
              <a:cs typeface="+mn-ea"/>
              <a:sym typeface="+mn-lt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14569" y="4401078"/>
            <a:ext cx="11204680" cy="1675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cs typeface="+mn-ea"/>
                <a:sym typeface="+mn-lt"/>
              </a:rPr>
              <a:t>原子类型依赖</a:t>
            </a:r>
            <a:r>
              <a:rPr lang="en-US" altLang="zh-CN" sz="1400" b="1" dirty="0">
                <a:cs typeface="+mn-ea"/>
                <a:sym typeface="+mn-lt"/>
              </a:rPr>
              <a:t>CPU</a:t>
            </a:r>
            <a:r>
              <a:rPr lang="zh-CN" altLang="en-US" sz="1400" b="1" dirty="0">
                <a:cs typeface="+mn-ea"/>
                <a:sym typeface="+mn-lt"/>
              </a:rPr>
              <a:t>指令的原子性，和目标平台紧密相关</a:t>
            </a:r>
            <a:endParaRPr lang="en-US" altLang="zh-CN" sz="1400" b="1" dirty="0">
              <a:cs typeface="+mn-ea"/>
              <a:sym typeface="+mn-lt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cs typeface="+mn-ea"/>
                <a:sym typeface="+mn-lt"/>
              </a:rPr>
              <a:t>PowerPC</a:t>
            </a:r>
            <a:r>
              <a:rPr lang="zh-CN" altLang="en-US" sz="1400" dirty="0">
                <a:cs typeface="+mn-ea"/>
                <a:sym typeface="+mn-lt"/>
              </a:rPr>
              <a:t>和</a:t>
            </a:r>
            <a:r>
              <a:rPr lang="en-US" altLang="zh-CN" sz="1400" dirty="0">
                <a:cs typeface="+mn-ea"/>
                <a:sym typeface="+mn-lt"/>
              </a:rPr>
              <a:t>MIPS</a:t>
            </a:r>
            <a:r>
              <a:rPr lang="zh-CN" altLang="en-US" sz="1400" dirty="0">
                <a:cs typeface="+mn-ea"/>
                <a:sym typeface="+mn-lt"/>
              </a:rPr>
              <a:t>不</a:t>
            </a:r>
            <a:r>
              <a:rPr lang="zh-CN" altLang="en-US" sz="1400">
                <a:cs typeface="+mn-ea"/>
                <a:sym typeface="+mn-lt"/>
              </a:rPr>
              <a:t>支持</a:t>
            </a:r>
            <a:r>
              <a:rPr lang="en-US" altLang="zh-CN" sz="1400">
                <a:cs typeface="+mn-ea"/>
                <a:sym typeface="+mn-lt"/>
              </a:rPr>
              <a:t>AtomicU64</a:t>
            </a:r>
            <a:r>
              <a:rPr lang="zh-CN" altLang="en-US" sz="1400">
                <a:cs typeface="+mn-ea"/>
                <a:sym typeface="+mn-lt"/>
              </a:rPr>
              <a:t>，</a:t>
            </a:r>
            <a:r>
              <a:rPr lang="en-US" altLang="zh-CN" sz="1400">
                <a:cs typeface="+mn-ea"/>
                <a:sym typeface="+mn-lt"/>
              </a:rPr>
              <a:t>AtomicI64</a:t>
            </a:r>
            <a:endParaRPr lang="en-US" altLang="zh-CN" sz="1400" dirty="0">
              <a:cs typeface="+mn-ea"/>
              <a:sym typeface="+mn-lt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cs typeface="+mn-ea"/>
                <a:sym typeface="+mn-lt"/>
              </a:rPr>
              <a:t>Armv5te</a:t>
            </a:r>
            <a:r>
              <a:rPr lang="zh-CN" altLang="en-US" sz="1400" dirty="0">
                <a:cs typeface="+mn-ea"/>
                <a:sym typeface="+mn-lt"/>
              </a:rPr>
              <a:t>在非</a:t>
            </a:r>
            <a:r>
              <a:rPr lang="en-US" altLang="zh-CN" sz="1400" dirty="0" err="1">
                <a:cs typeface="+mn-ea"/>
                <a:sym typeface="+mn-lt"/>
              </a:rPr>
              <a:t>linux</a:t>
            </a:r>
            <a:r>
              <a:rPr lang="zh-CN" altLang="en-US" sz="1400" dirty="0">
                <a:cs typeface="+mn-ea"/>
                <a:sym typeface="+mn-lt"/>
              </a:rPr>
              <a:t>平台下仅支持</a:t>
            </a:r>
            <a:r>
              <a:rPr lang="en-US" altLang="zh-CN" sz="1400" dirty="0">
                <a:cs typeface="+mn-ea"/>
                <a:sym typeface="+mn-lt"/>
              </a:rPr>
              <a:t>load/store</a:t>
            </a:r>
            <a:r>
              <a:rPr lang="zh-CN" altLang="en-US" sz="1400" dirty="0">
                <a:cs typeface="+mn-ea"/>
                <a:sym typeface="+mn-lt"/>
              </a:rPr>
              <a:t>操作，不</a:t>
            </a:r>
            <a:r>
              <a:rPr lang="zh-CN" altLang="en-US" sz="1400">
                <a:cs typeface="+mn-ea"/>
                <a:sym typeface="+mn-lt"/>
              </a:rPr>
              <a:t>支持</a:t>
            </a:r>
            <a:r>
              <a:rPr lang="en-US" altLang="zh-CN" sz="1400">
                <a:cs typeface="+mn-ea"/>
                <a:sym typeface="+mn-lt"/>
              </a:rPr>
              <a:t>cas</a:t>
            </a:r>
            <a:r>
              <a:rPr lang="zh-CN" altLang="en-US" sz="1400">
                <a:cs typeface="+mn-ea"/>
                <a:sym typeface="+mn-lt"/>
              </a:rPr>
              <a:t>，</a:t>
            </a:r>
            <a:r>
              <a:rPr lang="en-US" altLang="zh-CN" sz="1400">
                <a:cs typeface="+mn-ea"/>
                <a:sym typeface="+mn-lt"/>
              </a:rPr>
              <a:t>swap</a:t>
            </a:r>
            <a:r>
              <a:rPr lang="zh-CN" altLang="en-US" sz="1400">
                <a:cs typeface="+mn-ea"/>
                <a:sym typeface="+mn-lt"/>
              </a:rPr>
              <a:t>，</a:t>
            </a:r>
            <a:r>
              <a:rPr lang="en-US" altLang="zh-CN" sz="1400">
                <a:cs typeface="+mn-ea"/>
                <a:sym typeface="+mn-lt"/>
              </a:rPr>
              <a:t>fetch_add</a:t>
            </a:r>
            <a:r>
              <a:rPr lang="zh-CN" altLang="en-US" sz="1400" dirty="0">
                <a:cs typeface="+mn-ea"/>
                <a:sym typeface="+mn-lt"/>
              </a:rPr>
              <a:t>等，</a:t>
            </a:r>
            <a:r>
              <a:rPr lang="en-US" altLang="zh-CN" sz="1400" dirty="0" err="1">
                <a:cs typeface="+mn-ea"/>
                <a:sym typeface="+mn-lt"/>
              </a:rPr>
              <a:t>linux</a:t>
            </a:r>
            <a:r>
              <a:rPr lang="zh-CN" altLang="en-US" sz="1400" dirty="0">
                <a:cs typeface="+mn-ea"/>
                <a:sym typeface="+mn-lt"/>
              </a:rPr>
              <a:t>平台由</a:t>
            </a:r>
            <a:r>
              <a:rPr lang="en-US" altLang="zh-CN" sz="1400" dirty="0">
                <a:cs typeface="+mn-ea"/>
                <a:sym typeface="+mn-lt"/>
              </a:rPr>
              <a:t>OS</a:t>
            </a:r>
            <a:r>
              <a:rPr lang="zh-CN" altLang="en-US" sz="1400" dirty="0">
                <a:cs typeface="+mn-ea"/>
                <a:sym typeface="+mn-lt"/>
              </a:rPr>
              <a:t>提供支持，可能存在性能瓶颈</a:t>
            </a:r>
            <a:endParaRPr lang="en-US" altLang="zh-CN" sz="1400" dirty="0">
              <a:cs typeface="+mn-ea"/>
              <a:sym typeface="+mn-lt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cs typeface="+mn-ea"/>
                <a:sym typeface="+mn-lt"/>
              </a:rPr>
              <a:t>ARM</a:t>
            </a:r>
            <a:r>
              <a:rPr lang="zh-CN" altLang="en-US" sz="1400" dirty="0">
                <a:cs typeface="+mn-ea"/>
                <a:sym typeface="+mn-lt"/>
              </a:rPr>
              <a:t>的</a:t>
            </a:r>
            <a:r>
              <a:rPr lang="en-US" altLang="zh-CN" sz="1400" dirty="0">
                <a:cs typeface="+mn-ea"/>
                <a:sym typeface="+mn-lt"/>
              </a:rPr>
              <a:t>thumbv6m</a:t>
            </a:r>
            <a:r>
              <a:rPr lang="zh-CN" altLang="en-US" sz="1400" dirty="0">
                <a:cs typeface="+mn-ea"/>
                <a:sym typeface="+mn-lt"/>
              </a:rPr>
              <a:t>目标平台，仅支持</a:t>
            </a:r>
            <a:r>
              <a:rPr lang="en-US" altLang="zh-CN" sz="1400" dirty="0">
                <a:cs typeface="+mn-ea"/>
                <a:sym typeface="+mn-lt"/>
              </a:rPr>
              <a:t>load/store</a:t>
            </a:r>
            <a:r>
              <a:rPr lang="zh-CN" altLang="en-US" sz="1400" dirty="0">
                <a:cs typeface="+mn-ea"/>
                <a:sym typeface="+mn-lt"/>
              </a:rPr>
              <a:t>操作，不</a:t>
            </a:r>
            <a:r>
              <a:rPr lang="zh-CN" altLang="en-US" sz="1400">
                <a:cs typeface="+mn-ea"/>
                <a:sym typeface="+mn-lt"/>
              </a:rPr>
              <a:t>支持</a:t>
            </a:r>
            <a:r>
              <a:rPr lang="en-US" altLang="zh-CN" sz="1400">
                <a:cs typeface="+mn-ea"/>
                <a:sym typeface="+mn-lt"/>
              </a:rPr>
              <a:t>cas</a:t>
            </a:r>
            <a:r>
              <a:rPr lang="zh-CN" altLang="en-US" sz="1400">
                <a:cs typeface="+mn-ea"/>
                <a:sym typeface="+mn-lt"/>
              </a:rPr>
              <a:t>，</a:t>
            </a:r>
            <a:r>
              <a:rPr lang="en-US" altLang="zh-CN" sz="1400">
                <a:cs typeface="+mn-ea"/>
                <a:sym typeface="+mn-lt"/>
              </a:rPr>
              <a:t>swap</a:t>
            </a:r>
            <a:r>
              <a:rPr lang="zh-CN" altLang="en-US" sz="1400">
                <a:cs typeface="+mn-ea"/>
                <a:sym typeface="+mn-lt"/>
              </a:rPr>
              <a:t>，</a:t>
            </a:r>
            <a:r>
              <a:rPr lang="en-US" altLang="zh-CN" sz="1400">
                <a:cs typeface="+mn-ea"/>
                <a:sym typeface="+mn-lt"/>
              </a:rPr>
              <a:t>fetch_add</a:t>
            </a:r>
            <a:r>
              <a:rPr lang="zh-CN" altLang="en-US" sz="1400" dirty="0">
                <a:cs typeface="+mn-ea"/>
                <a:sym typeface="+mn-lt"/>
              </a:rPr>
              <a:t>等</a:t>
            </a:r>
            <a:endParaRPr lang="en-US" altLang="zh-CN" sz="1400" dirty="0">
              <a:cs typeface="+mn-ea"/>
              <a:sym typeface="+mn-lt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cs typeface="+mn-ea"/>
                <a:sym typeface="+mn-lt"/>
              </a:rPr>
              <a:t>Rust</a:t>
            </a:r>
            <a:r>
              <a:rPr lang="zh-CN" altLang="en-US" sz="1400" dirty="0">
                <a:cs typeface="+mn-ea"/>
                <a:sym typeface="+mn-lt"/>
              </a:rPr>
              <a:t>提供</a:t>
            </a:r>
            <a:r>
              <a:rPr lang="en-US" altLang="zh-CN" sz="1400" dirty="0">
                <a:cs typeface="+mn-ea"/>
                <a:sym typeface="+mn-lt"/>
              </a:rPr>
              <a:t>#[</a:t>
            </a:r>
            <a:r>
              <a:rPr lang="en-US" altLang="zh-CN" sz="1400" dirty="0" err="1">
                <a:cs typeface="+mn-ea"/>
                <a:sym typeface="+mn-lt"/>
              </a:rPr>
              <a:t>cfg</a:t>
            </a:r>
            <a:r>
              <a:rPr lang="en-US" altLang="zh-CN" sz="1400" dirty="0">
                <a:cs typeface="+mn-ea"/>
                <a:sym typeface="+mn-lt"/>
              </a:rPr>
              <a:t>(</a:t>
            </a:r>
            <a:r>
              <a:rPr lang="en-US" altLang="zh-CN" sz="1400" dirty="0" err="1">
                <a:cs typeface="+mn-ea"/>
                <a:sym typeface="+mn-lt"/>
              </a:rPr>
              <a:t>target_has_atomic</a:t>
            </a:r>
            <a:r>
              <a:rPr lang="en-US" altLang="zh-CN" sz="1400" dirty="0">
                <a:cs typeface="+mn-ea"/>
                <a:sym typeface="+mn-lt"/>
              </a:rPr>
              <a:t>=</a:t>
            </a:r>
            <a:r>
              <a:rPr lang="zh-CN" altLang="en-US" sz="1400" dirty="0">
                <a:cs typeface="+mn-ea"/>
                <a:sym typeface="+mn-lt"/>
              </a:rPr>
              <a:t>“</a:t>
            </a:r>
            <a:r>
              <a:rPr lang="en-US" altLang="zh-CN" sz="1400" dirty="0">
                <a:cs typeface="+mn-ea"/>
                <a:sym typeface="+mn-lt"/>
              </a:rPr>
              <a:t>64</a:t>
            </a:r>
            <a:r>
              <a:rPr lang="zh-CN" altLang="en-US" sz="1400" dirty="0">
                <a:cs typeface="+mn-ea"/>
                <a:sym typeface="+mn-lt"/>
              </a:rPr>
              <a:t>”</a:t>
            </a:r>
            <a:r>
              <a:rPr lang="en-US" altLang="zh-CN" sz="1400" dirty="0">
                <a:cs typeface="+mn-ea"/>
                <a:sym typeface="+mn-lt"/>
              </a:rPr>
              <a:t>)]</a:t>
            </a:r>
            <a:r>
              <a:rPr lang="zh-CN" altLang="en-US" sz="1400" dirty="0">
                <a:cs typeface="+mn-ea"/>
                <a:sym typeface="+mn-lt"/>
              </a:rPr>
              <a:t>这类宏帮助编写可移植的代码</a:t>
            </a:r>
            <a:endParaRPr lang="en-US" altLang="zh-CN" sz="1400" dirty="0">
              <a:cs typeface="+mn-ea"/>
              <a:sym typeface="+mn-lt"/>
            </a:endParaRPr>
          </a:p>
        </p:txBody>
      </p:sp>
      <p:sp>
        <p:nvSpPr>
          <p:cNvPr id="11" name="副标题 1"/>
          <p:cNvSpPr>
            <a:spLocks noGrp="1"/>
          </p:cNvSpPr>
          <p:nvPr>
            <p:ph type="subTitle" idx="1"/>
          </p:nvPr>
        </p:nvSpPr>
        <p:spPr>
          <a:xfrm>
            <a:off x="160008" y="98931"/>
            <a:ext cx="10740640" cy="993400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原子类型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简介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60008" y="5676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139760" y="579780"/>
            <a:ext cx="11206264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>
                <a:cs typeface="+mn-ea"/>
                <a:sym typeface="+mn-lt"/>
              </a:rPr>
              <a:t>Rust </a:t>
            </a:r>
            <a:r>
              <a:rPr lang="zh-CN" altLang="en-US" sz="1600">
                <a:cs typeface="+mn-ea"/>
                <a:sym typeface="+mn-lt"/>
              </a:rPr>
              <a:t>中的原子类型提供了原子操作，可以在多线程环境中安全地访问和修改，原子类型包括 </a:t>
            </a:r>
            <a:r>
              <a:rPr lang="en-US" altLang="zh-CN" sz="1600">
                <a:cs typeface="+mn-ea"/>
                <a:sym typeface="+mn-lt"/>
              </a:rPr>
              <a:t>AtomicBool</a:t>
            </a:r>
            <a:r>
              <a:rPr lang="zh-CN" altLang="en-US" sz="1600">
                <a:cs typeface="+mn-ea"/>
                <a:sym typeface="+mn-lt"/>
              </a:rPr>
              <a:t>、</a:t>
            </a:r>
            <a:r>
              <a:rPr lang="en-US" altLang="zh-CN" sz="1600">
                <a:cs typeface="+mn-ea"/>
                <a:sym typeface="+mn-lt"/>
              </a:rPr>
              <a:t>AtomicIsize</a:t>
            </a:r>
            <a:r>
              <a:rPr lang="zh-CN" altLang="en-US" sz="1600">
                <a:cs typeface="+mn-ea"/>
                <a:sym typeface="+mn-lt"/>
              </a:rPr>
              <a:t>、</a:t>
            </a:r>
            <a:r>
              <a:rPr lang="en-US" altLang="zh-CN" sz="1600">
                <a:cs typeface="+mn-ea"/>
                <a:sym typeface="+mn-lt"/>
              </a:rPr>
              <a:t>AtomicUsize </a:t>
            </a:r>
            <a:r>
              <a:rPr lang="zh-CN" altLang="en-US" sz="1600">
                <a:cs typeface="+mn-ea"/>
                <a:sym typeface="+mn-lt"/>
              </a:rPr>
              <a:t>等。</a:t>
            </a:r>
            <a:endParaRPr lang="zh-CN" altLang="en-US" sz="1600" dirty="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副标题 1"/>
          <p:cNvSpPr>
            <a:spLocks noGrp="1"/>
          </p:cNvSpPr>
          <p:nvPr>
            <p:ph type="subTitle" idx="1"/>
          </p:nvPr>
        </p:nvSpPr>
        <p:spPr>
          <a:xfrm>
            <a:off x="160008" y="98931"/>
            <a:ext cx="10740640" cy="993400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原子类型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简介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60008" y="5676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139760" y="579780"/>
            <a:ext cx="11206264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>
                <a:cs typeface="+mn-ea"/>
                <a:sym typeface="+mn-lt"/>
              </a:rPr>
              <a:t>Rust </a:t>
            </a:r>
            <a:r>
              <a:rPr lang="zh-CN" altLang="en-US" sz="1600">
                <a:cs typeface="+mn-ea"/>
                <a:sym typeface="+mn-lt"/>
              </a:rPr>
              <a:t>中的原子类型提供了原子操作，可以在多线程环境中安全地访问和修改，原子类型包括 </a:t>
            </a:r>
            <a:r>
              <a:rPr lang="en-US" altLang="zh-CN" sz="1600">
                <a:cs typeface="+mn-ea"/>
                <a:sym typeface="+mn-lt"/>
              </a:rPr>
              <a:t>AtomicBool</a:t>
            </a:r>
            <a:r>
              <a:rPr lang="zh-CN" altLang="en-US" sz="1600">
                <a:cs typeface="+mn-ea"/>
                <a:sym typeface="+mn-lt"/>
              </a:rPr>
              <a:t>、</a:t>
            </a:r>
            <a:r>
              <a:rPr lang="en-US" altLang="zh-CN" sz="1600">
                <a:cs typeface="+mn-ea"/>
                <a:sym typeface="+mn-lt"/>
              </a:rPr>
              <a:t>AtomicIsize</a:t>
            </a:r>
            <a:r>
              <a:rPr lang="zh-CN" altLang="en-US" sz="1600">
                <a:cs typeface="+mn-ea"/>
                <a:sym typeface="+mn-lt"/>
              </a:rPr>
              <a:t>、</a:t>
            </a:r>
            <a:r>
              <a:rPr lang="en-US" altLang="zh-CN" sz="1600">
                <a:cs typeface="+mn-ea"/>
                <a:sym typeface="+mn-lt"/>
              </a:rPr>
              <a:t>AtomicUsize </a:t>
            </a:r>
            <a:r>
              <a:rPr lang="zh-CN" altLang="en-US" sz="1600">
                <a:cs typeface="+mn-ea"/>
                <a:sym typeface="+mn-lt"/>
              </a:rPr>
              <a:t>等。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76976" y="1422918"/>
            <a:ext cx="6096000" cy="4399915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sync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atomic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::{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AtomicUsize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::thread;</a:t>
            </a:r>
          </a:p>
          <a:p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static COUNTER: AtomicUsize </a:t>
            </a:r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= 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AtomicUsize::new(0);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handles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vec!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[];</a:t>
            </a:r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_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..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handle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thread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spawn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move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COUNTER.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fetch_add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::SeqCst);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});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handles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push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handle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handle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handles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handle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join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unwrap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(10, COUNTER.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load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::SeqCst));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961431" y="1573180"/>
            <a:ext cx="4384593" cy="1060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cs typeface="+mn-ea"/>
                <a:sym typeface="+mn-lt"/>
              </a:rPr>
              <a:t>示例中，我们创建了一个  </a:t>
            </a:r>
            <a:r>
              <a:rPr lang="en-US" altLang="zh-CN" sz="1400">
                <a:cs typeface="+mn-ea"/>
                <a:sym typeface="+mn-lt"/>
              </a:rPr>
              <a:t>AtomicUsize</a:t>
            </a:r>
            <a:r>
              <a:rPr lang="zh-CN" altLang="en-US" sz="1400">
                <a:cs typeface="+mn-ea"/>
                <a:sym typeface="+mn-lt"/>
              </a:rPr>
              <a:t> 类型的静态数据。并在多个线程中使用 </a:t>
            </a:r>
            <a:r>
              <a:rPr lang="en-US" altLang="zh-CN" sz="1400">
                <a:cs typeface="+mn-ea"/>
                <a:sym typeface="+mn-lt"/>
              </a:rPr>
              <a:t>fetch_add</a:t>
            </a:r>
            <a:r>
              <a:rPr lang="zh-CN" altLang="en-US" sz="1400">
                <a:cs typeface="+mn-ea"/>
                <a:sym typeface="+mn-lt"/>
              </a:rPr>
              <a:t> 方法来增加计数器的值。</a:t>
            </a:r>
            <a:endParaRPr lang="zh-CN" altLang="en-US" sz="1400" dirty="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14" y="1738698"/>
            <a:ext cx="4152900" cy="3238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314" y="1439978"/>
            <a:ext cx="4476750" cy="2286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264" y="2036360"/>
            <a:ext cx="5676900" cy="2286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214" y="2325555"/>
            <a:ext cx="5715000" cy="20955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314" y="2632742"/>
            <a:ext cx="2771775" cy="29527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4264" y="3635413"/>
            <a:ext cx="2028825" cy="19812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38867" y="3000044"/>
            <a:ext cx="2466975" cy="16002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39189" y="4672271"/>
            <a:ext cx="2705100" cy="1609725"/>
          </a:xfrm>
          <a:prstGeom prst="rect">
            <a:avLst/>
          </a:prstGeom>
        </p:spPr>
      </p:pic>
      <p:sp>
        <p:nvSpPr>
          <p:cNvPr id="17" name="副标题 1"/>
          <p:cNvSpPr txBox="1"/>
          <p:nvPr/>
        </p:nvSpPr>
        <p:spPr>
          <a:xfrm>
            <a:off x="160008" y="98931"/>
            <a:ext cx="10740640" cy="58220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8085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72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08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81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3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26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62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34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07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原子类型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基本操作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160008" y="5676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160008" y="588286"/>
            <a:ext cx="10740640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>
                <a:cs typeface="+mn-ea"/>
                <a:sym typeface="+mn-lt"/>
              </a:rPr>
              <a:t>Rust </a:t>
            </a:r>
            <a:r>
              <a:rPr lang="zh-CN" altLang="en-US" sz="1600">
                <a:cs typeface="+mn-ea"/>
                <a:sym typeface="+mn-lt"/>
              </a:rPr>
              <a:t>中的原子类型提供了一系列基本操作，可以在多线程环境中安全地访问和修改数据。这些操作包括</a:t>
            </a:r>
            <a:r>
              <a:rPr lang="en-US" altLang="zh-CN" sz="1600">
                <a:cs typeface="+mn-ea"/>
                <a:sym typeface="+mn-lt"/>
              </a:rPr>
              <a:t>store</a:t>
            </a:r>
            <a:r>
              <a:rPr lang="zh-CN" altLang="en-US" sz="1600">
                <a:cs typeface="+mn-ea"/>
                <a:sym typeface="+mn-lt"/>
              </a:rPr>
              <a:t>、</a:t>
            </a:r>
            <a:r>
              <a:rPr lang="en-US" altLang="zh-CN" sz="1600">
                <a:cs typeface="+mn-ea"/>
                <a:sym typeface="+mn-lt"/>
              </a:rPr>
              <a:t> load </a:t>
            </a:r>
            <a:r>
              <a:rPr lang="zh-CN" altLang="en-US" sz="1600">
                <a:cs typeface="+mn-ea"/>
                <a:sym typeface="+mn-lt"/>
              </a:rPr>
              <a:t>、</a:t>
            </a:r>
            <a:r>
              <a:rPr lang="en-US" altLang="zh-CN" sz="1600">
                <a:cs typeface="+mn-ea"/>
                <a:sym typeface="+mn-lt"/>
              </a:rPr>
              <a:t>fetch_add</a:t>
            </a:r>
            <a:r>
              <a:rPr lang="zh-CN" altLang="en-US" sz="1600">
                <a:cs typeface="+mn-ea"/>
                <a:sym typeface="+mn-lt"/>
              </a:rPr>
              <a:t>、</a:t>
            </a:r>
            <a:r>
              <a:rPr lang="en-US" altLang="zh-CN" sz="1600">
                <a:cs typeface="+mn-ea"/>
                <a:sym typeface="+mn-lt"/>
              </a:rPr>
              <a:t>fetch_sub </a:t>
            </a:r>
            <a:r>
              <a:rPr lang="zh-CN" altLang="en-US" sz="1600">
                <a:cs typeface="+mn-ea"/>
                <a:sym typeface="+mn-lt"/>
              </a:rPr>
              <a:t>等。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949264" y="1790138"/>
            <a:ext cx="5329302" cy="15995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00B050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sync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atomic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::{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AtomicU8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};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some_var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AtomicU8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some_var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load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::SeqCst),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949264" y="3625830"/>
            <a:ext cx="5329302" cy="20300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00B050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sync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atomic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::{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AtomicUsize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};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some_var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AtomicUsize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some_var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store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Relaxed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some_var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load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::SeqCst),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9027" y="3276924"/>
            <a:ext cx="270983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>
                <a:cs typeface="+mn-ea"/>
                <a:sym typeface="+mn-lt"/>
              </a:rPr>
              <a:t>Ordering </a:t>
            </a:r>
            <a:r>
              <a:rPr lang="zh-CN" altLang="en-US" sz="1400">
                <a:cs typeface="+mn-ea"/>
                <a:sym typeface="+mn-lt"/>
              </a:rPr>
              <a:t>用于指定内存顺序。</a:t>
            </a:r>
            <a:endParaRPr lang="zh-CN" altLang="en-US" sz="1400" dirty="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160008" y="98931"/>
            <a:ext cx="10740640" cy="535551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内存序背景 - 指令重排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90" y="687739"/>
            <a:ext cx="4667250" cy="43815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08208" y="5225600"/>
            <a:ext cx="2930610" cy="475066"/>
          </a:xfrm>
          <a:prstGeom prst="rect">
            <a:avLst/>
          </a:prstGeom>
          <a:solidFill>
            <a:schemeClr val="tx2"/>
          </a:solidFill>
        </p:spPr>
        <p:txBody>
          <a:bodyPr vert="horz" wrap="non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600" i="1">
                <a:cs typeface="+mn-ea"/>
                <a:sym typeface="+mn-lt"/>
              </a:rPr>
              <a:t>典型的多</a:t>
            </a:r>
            <a:r>
              <a:rPr lang="en-US" altLang="zh-CN" sz="1600" i="1">
                <a:cs typeface="+mn-ea"/>
                <a:sym typeface="+mn-lt"/>
              </a:rPr>
              <a:t>CPU</a:t>
            </a:r>
            <a:r>
              <a:rPr lang="zh-CN" altLang="en-US" sz="1600" i="1">
                <a:cs typeface="+mn-ea"/>
                <a:sym typeface="+mn-lt"/>
              </a:rPr>
              <a:t>计算机系统模型</a:t>
            </a:r>
            <a:endParaRPr lang="zh-CN" altLang="en-US" sz="1600" i="1" dirty="0"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801978" y="687739"/>
            <a:ext cx="5318540" cy="13469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>
                <a:cs typeface="+mn-ea"/>
                <a:sym typeface="+mn-lt"/>
              </a:rPr>
              <a:t>CPU</a:t>
            </a:r>
            <a:r>
              <a:rPr lang="zh-CN" altLang="en-US" sz="1400" b="1">
                <a:cs typeface="+mn-ea"/>
                <a:sym typeface="+mn-lt"/>
              </a:rPr>
              <a:t>的权利</a:t>
            </a:r>
            <a:endParaRPr lang="en-US" altLang="zh-CN" sz="1400" b="1">
              <a:cs typeface="+mn-ea"/>
              <a:sym typeface="+mn-lt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400">
                <a:cs typeface="+mn-ea"/>
                <a:sym typeface="+mn-lt"/>
              </a:rPr>
              <a:t>CPU</a:t>
            </a:r>
            <a:r>
              <a:rPr lang="zh-CN" altLang="en-US" sz="1400">
                <a:cs typeface="+mn-ea"/>
                <a:sym typeface="+mn-lt"/>
              </a:rPr>
              <a:t>仅保证它能理解的数据依赖关系不被破坏，在这个范围之外的内存存取指令其执行顺序不可预测</a:t>
            </a:r>
            <a:endParaRPr lang="en-US" altLang="zh-CN" sz="1400">
              <a:cs typeface="+mn-ea"/>
              <a:sym typeface="+mn-lt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1400" dirty="0"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801978" y="2205035"/>
            <a:ext cx="5318540" cy="1670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cs typeface="+mn-ea"/>
                <a:sym typeface="+mn-lt"/>
              </a:rPr>
              <a:t>编译器的权利</a:t>
            </a:r>
            <a:endParaRPr lang="en-US" altLang="zh-CN" sz="1400" b="1">
              <a:cs typeface="+mn-ea"/>
              <a:sym typeface="+mn-lt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>
                <a:cs typeface="+mn-ea"/>
                <a:sym typeface="+mn-lt"/>
              </a:rPr>
              <a:t>编译器的优化也可能导致内存存取指令被重排、合并，这些优化适合单线程执行，但不保证多线程下运行逻辑符合程序员预期</a:t>
            </a:r>
            <a:endParaRPr lang="en-US" altLang="zh-CN" sz="1400">
              <a:cs typeface="+mn-ea"/>
              <a:sym typeface="+mn-lt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1400" dirty="0"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801978" y="4054185"/>
            <a:ext cx="5318540" cy="1023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cs typeface="+mn-ea"/>
                <a:sym typeface="+mn-lt"/>
              </a:rPr>
              <a:t>程序员的义务</a:t>
            </a:r>
            <a:endParaRPr lang="en-US" altLang="zh-CN" sz="1400" b="1">
              <a:cs typeface="+mn-ea"/>
              <a:sym typeface="+mn-lt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>
                <a:cs typeface="+mn-ea"/>
                <a:sym typeface="+mn-lt"/>
              </a:rPr>
              <a:t>基于编程接口，定义编译器和</a:t>
            </a:r>
            <a:r>
              <a:rPr lang="en-US" altLang="zh-CN" sz="1400">
                <a:cs typeface="+mn-ea"/>
                <a:sym typeface="+mn-lt"/>
              </a:rPr>
              <a:t>CPU</a:t>
            </a:r>
            <a:r>
              <a:rPr lang="zh-CN" altLang="en-US" sz="1400">
                <a:cs typeface="+mn-ea"/>
                <a:sym typeface="+mn-lt"/>
              </a:rPr>
              <a:t>指令重排的规则，保证多线程环境下数据存取逻辑符合预期</a:t>
            </a:r>
            <a:endParaRPr lang="en-US" altLang="zh-CN" sz="1400" dirty="0">
              <a:cs typeface="+mn-ea"/>
              <a:sym typeface="+mn-lt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60008" y="5676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401216" y="5827327"/>
            <a:ext cx="10719302" cy="787523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内存顺序决定了编译器和处理器可以对指令进行重排的程度。例如，当你使用 </a:t>
            </a:r>
            <a:r>
              <a:rPr lang="en-US" altLang="zh-CN" sz="1600">
                <a:cs typeface="+mn-ea"/>
                <a:sym typeface="+mn-lt"/>
              </a:rPr>
              <a:t>Ordering::SeqCst </a:t>
            </a:r>
            <a:r>
              <a:rPr lang="zh-CN" altLang="en-US" sz="1600">
                <a:cs typeface="+mn-ea"/>
                <a:sym typeface="+mn-lt"/>
              </a:rPr>
              <a:t>时，编译器和处理器都不能对指令进行重排。而当你使用 </a:t>
            </a:r>
            <a:r>
              <a:rPr lang="en-US" altLang="zh-CN" sz="1600">
                <a:cs typeface="+mn-ea"/>
                <a:sym typeface="+mn-lt"/>
              </a:rPr>
              <a:t>Ordering::Relaxed </a:t>
            </a:r>
            <a:r>
              <a:rPr lang="zh-CN" altLang="en-US" sz="1600">
                <a:cs typeface="+mn-ea"/>
                <a:sym typeface="+mn-lt"/>
              </a:rPr>
              <a:t>时，编译器和处理器都可以自由地对指令进行重排。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152294" y="118106"/>
            <a:ext cx="10740640" cy="993400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指令重排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-CPU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指令重排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39526" y="868903"/>
            <a:ext cx="3090504" cy="466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cs typeface="+mn-ea"/>
                <a:sym typeface="+mn-lt"/>
              </a:rPr>
              <a:t>1</a:t>
            </a:r>
            <a:r>
              <a:rPr lang="zh-CN" altLang="en-US" b="1">
                <a:cs typeface="+mn-ea"/>
                <a:sym typeface="+mn-lt"/>
              </a:rPr>
              <a:t>、无任何依赖的指令重排</a:t>
            </a:r>
            <a:endParaRPr lang="zh-CN" altLang="en-US" b="1" dirty="0"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75" y="1435210"/>
            <a:ext cx="4745845" cy="131138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175" y="2938869"/>
            <a:ext cx="4711849" cy="190746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175" y="5038610"/>
            <a:ext cx="4793439" cy="103626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39526" y="2518611"/>
            <a:ext cx="2372008" cy="45595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pPr>
              <a:lnSpc>
                <a:spcPts val="3440"/>
              </a:lnSpc>
            </a:pPr>
            <a:r>
              <a:rPr lang="zh-CN" altLang="en-US" sz="1100">
                <a:solidFill>
                  <a:schemeClr val="accent1"/>
                </a:solidFill>
                <a:cs typeface="+mn-ea"/>
                <a:sym typeface="+mn-lt"/>
              </a:rPr>
              <a:t>可能的执行顺序：</a:t>
            </a:r>
            <a:endParaRPr lang="zh-CN" altLang="en-US" sz="11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39526" y="4692056"/>
            <a:ext cx="2372008" cy="45595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pPr>
              <a:lnSpc>
                <a:spcPts val="3440"/>
              </a:lnSpc>
            </a:pPr>
            <a:r>
              <a:rPr lang="en-US" altLang="zh-CN" sz="1100">
                <a:solidFill>
                  <a:schemeClr val="accent1"/>
                </a:solidFill>
                <a:cs typeface="+mn-ea"/>
                <a:sym typeface="+mn-lt"/>
              </a:rPr>
              <a:t>CPU2</a:t>
            </a:r>
            <a:r>
              <a:rPr lang="zh-CN" altLang="en-US" sz="1100">
                <a:solidFill>
                  <a:schemeClr val="accent1"/>
                </a:solidFill>
                <a:cs typeface="+mn-ea"/>
                <a:sym typeface="+mn-lt"/>
              </a:rPr>
              <a:t>可能得到的结果：</a:t>
            </a:r>
            <a:endParaRPr lang="zh-CN" altLang="en-US" sz="11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1540" y="1435210"/>
            <a:ext cx="5248275" cy="1400175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6098381" y="868903"/>
            <a:ext cx="3090504" cy="466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cs typeface="+mn-ea"/>
                <a:sym typeface="+mn-lt"/>
              </a:rPr>
              <a:t>1</a:t>
            </a:r>
            <a:r>
              <a:rPr lang="zh-CN" altLang="en-US" b="1">
                <a:cs typeface="+mn-ea"/>
                <a:sym typeface="+mn-lt"/>
              </a:rPr>
              <a:t>、地址依赖的指令重排</a:t>
            </a:r>
            <a:endParaRPr lang="zh-CN" altLang="en-US" b="1" dirty="0">
              <a:cs typeface="+mn-ea"/>
              <a:sym typeface="+mn-lt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8380" y="5088985"/>
            <a:ext cx="5305425" cy="866775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6098380" y="4653494"/>
            <a:ext cx="2372008" cy="45595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pPr>
              <a:lnSpc>
                <a:spcPts val="3440"/>
              </a:lnSpc>
            </a:pPr>
            <a:r>
              <a:rPr lang="en-US" altLang="zh-CN" sz="1100">
                <a:solidFill>
                  <a:schemeClr val="accent1"/>
                </a:solidFill>
                <a:cs typeface="+mn-ea"/>
                <a:sym typeface="+mn-lt"/>
              </a:rPr>
              <a:t>CPU2</a:t>
            </a:r>
            <a:r>
              <a:rPr lang="zh-CN" altLang="en-US" sz="1100">
                <a:solidFill>
                  <a:schemeClr val="accent1"/>
                </a:solidFill>
                <a:cs typeface="+mn-ea"/>
                <a:sym typeface="+mn-lt"/>
              </a:rPr>
              <a:t>可能得到的结果：</a:t>
            </a:r>
            <a:endParaRPr lang="zh-CN" altLang="en-US" sz="11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098380" y="2648772"/>
            <a:ext cx="2372008" cy="45595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pPr>
              <a:lnSpc>
                <a:spcPts val="3440"/>
              </a:lnSpc>
            </a:pPr>
            <a:r>
              <a:rPr lang="zh-CN" altLang="en-US" sz="1100">
                <a:solidFill>
                  <a:schemeClr val="accent1"/>
                </a:solidFill>
                <a:cs typeface="+mn-ea"/>
                <a:sym typeface="+mn-lt"/>
              </a:rPr>
              <a:t>可能的执行顺序：</a:t>
            </a:r>
            <a:endParaRPr lang="zh-CN" altLang="en-US" sz="11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151275" y="3133733"/>
            <a:ext cx="5318540" cy="337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accent1"/>
                </a:solidFill>
                <a:cs typeface="+mn-ea"/>
                <a:sym typeface="+mn-lt"/>
              </a:rPr>
              <a:t>Q = LOAD P-&gt;&amp;A,   D = LOAD *P -&gt; 1</a:t>
            </a:r>
            <a:r>
              <a:rPr lang="en-US" altLang="zh-CN" sz="1200">
                <a:cs typeface="+mn-ea"/>
                <a:sym typeface="+mn-lt"/>
              </a:rPr>
              <a:t>,  STORE B = 4,  STORE P = &amp;B</a:t>
            </a:r>
            <a:endParaRPr lang="en-US" altLang="zh-CN" sz="1200" dirty="0">
              <a:cs typeface="+mn-ea"/>
              <a:sym typeface="+mn-lt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149048" y="3508340"/>
            <a:ext cx="5318540" cy="337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cs typeface="+mn-ea"/>
                <a:sym typeface="+mn-lt"/>
              </a:rPr>
              <a:t>STORE P = &amp;B, </a:t>
            </a:r>
            <a:r>
              <a:rPr lang="en-US" altLang="zh-CN" sz="1200">
                <a:solidFill>
                  <a:schemeClr val="accent1"/>
                </a:solidFill>
                <a:cs typeface="+mn-ea"/>
                <a:sym typeface="+mn-lt"/>
              </a:rPr>
              <a:t>Q = LOAD P-&gt;&amp;B,   D = LOAD *P -&gt; 2</a:t>
            </a:r>
            <a:r>
              <a:rPr lang="en-US" altLang="zh-CN" sz="1200">
                <a:cs typeface="+mn-ea"/>
                <a:sym typeface="+mn-lt"/>
              </a:rPr>
              <a:t>, STORE B = 4</a:t>
            </a:r>
            <a:endParaRPr lang="en-US" altLang="zh-CN" sz="1200" dirty="0">
              <a:cs typeface="+mn-ea"/>
              <a:sym typeface="+mn-lt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149048" y="3940662"/>
            <a:ext cx="5318540" cy="337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cs typeface="+mn-ea"/>
                <a:sym typeface="+mn-lt"/>
              </a:rPr>
              <a:t>STORE B = 4,  STORE P = &amp;B, </a:t>
            </a:r>
            <a:r>
              <a:rPr lang="en-US" altLang="zh-CN" sz="1200">
                <a:solidFill>
                  <a:schemeClr val="accent1"/>
                </a:solidFill>
                <a:cs typeface="+mn-ea"/>
                <a:sym typeface="+mn-lt"/>
              </a:rPr>
              <a:t>Q = LOAD P-&gt;&amp;B,   D = LOAD *P -&gt; 4</a:t>
            </a:r>
            <a:endParaRPr lang="en-US" altLang="zh-CN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160008" y="5676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160008" y="113236"/>
            <a:ext cx="10740640" cy="993400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指令重排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编译器指令重排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39526" y="868903"/>
            <a:ext cx="5346926" cy="1705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cs typeface="+mn-ea"/>
                <a:sym typeface="+mn-lt"/>
              </a:rPr>
              <a:t>1</a:t>
            </a:r>
            <a:r>
              <a:rPr lang="zh-CN" altLang="en-US" b="1">
                <a:cs typeface="+mn-ea"/>
                <a:sym typeface="+mn-lt"/>
              </a:rPr>
              <a:t>、不保证同一个变量的重复存取顺序</a:t>
            </a:r>
            <a:endParaRPr lang="en-US" altLang="zh-CN" b="1"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en-US" altLang="zh-CN">
                <a:cs typeface="+mn-ea"/>
                <a:sym typeface="+mn-lt"/>
              </a:rPr>
              <a:t>CPU 0     CPU 1</a:t>
            </a:r>
          </a:p>
          <a:p>
            <a:pPr lvl="1">
              <a:lnSpc>
                <a:spcPct val="150000"/>
              </a:lnSpc>
            </a:pPr>
            <a:r>
              <a:rPr lang="en-US" altLang="zh-CN">
                <a:cs typeface="+mn-ea"/>
                <a:sym typeface="+mn-lt"/>
              </a:rPr>
              <a:t>x += 1;   A[0] = x;</a:t>
            </a:r>
          </a:p>
          <a:p>
            <a:pPr lvl="1">
              <a:lnSpc>
                <a:spcPct val="150000"/>
              </a:lnSpc>
            </a:pPr>
            <a:r>
              <a:rPr lang="en-US" altLang="zh-CN">
                <a:cs typeface="+mn-ea"/>
                <a:sym typeface="+mn-lt"/>
              </a:rPr>
              <a:t>x += 1;   A[1] = x</a:t>
            </a:r>
            <a:r>
              <a:rPr lang="en-US" altLang="zh-CN" sz="1400">
                <a:cs typeface="+mn-ea"/>
                <a:sym typeface="+mn-lt"/>
              </a:rPr>
              <a:t>; </a:t>
            </a:r>
            <a:r>
              <a:rPr lang="en-US" altLang="zh-CN" sz="1100">
                <a:highlight>
                  <a:srgbClr val="FFFF00"/>
                </a:highlight>
                <a:cs typeface="+mn-ea"/>
                <a:sym typeface="+mn-lt"/>
              </a:rPr>
              <a:t>//</a:t>
            </a:r>
            <a:r>
              <a:rPr lang="zh-CN" altLang="en-US" sz="1100">
                <a:highlight>
                  <a:srgbClr val="FFFF00"/>
                </a:highlight>
                <a:cs typeface="+mn-ea"/>
                <a:sym typeface="+mn-lt"/>
              </a:rPr>
              <a:t>不保证大于</a:t>
            </a:r>
            <a:r>
              <a:rPr lang="en-US" altLang="zh-CN" sz="1100">
                <a:highlight>
                  <a:srgbClr val="FFFF00"/>
                </a:highlight>
                <a:cs typeface="+mn-ea"/>
                <a:sym typeface="+mn-lt"/>
              </a:rPr>
              <a:t>A[0]</a:t>
            </a:r>
            <a:r>
              <a:rPr lang="zh-CN" altLang="en-US" sz="1100">
                <a:highlight>
                  <a:srgbClr val="FFFF00"/>
                </a:highlight>
                <a:cs typeface="+mn-ea"/>
                <a:sym typeface="+mn-lt"/>
              </a:rPr>
              <a:t>，可能相同，可能更小</a:t>
            </a:r>
            <a:endParaRPr lang="zh-CN" altLang="en-US" dirty="0">
              <a:highlight>
                <a:srgbClr val="FFFF00"/>
              </a:highlight>
              <a:cs typeface="+mn-ea"/>
              <a:sym typeface="+mn-lt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098381" y="868903"/>
            <a:ext cx="3090504" cy="466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cs typeface="+mn-ea"/>
                <a:sym typeface="+mn-lt"/>
              </a:rPr>
              <a:t>4</a:t>
            </a:r>
            <a:r>
              <a:rPr lang="zh-CN" altLang="en-US" b="1">
                <a:cs typeface="+mn-ea"/>
                <a:sym typeface="+mn-lt"/>
              </a:rPr>
              <a:t>、可能生成新的赋值指令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29175" y="2587116"/>
            <a:ext cx="4004902" cy="466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cs typeface="+mn-ea"/>
                <a:sym typeface="+mn-lt"/>
              </a:rPr>
              <a:t>2</a:t>
            </a:r>
            <a:r>
              <a:rPr lang="zh-CN" altLang="en-US" b="1">
                <a:cs typeface="+mn-ea"/>
                <a:sym typeface="+mn-lt"/>
              </a:rPr>
              <a:t>、可能合并同一个变量的多次读取</a:t>
            </a:r>
            <a:endParaRPr lang="zh-CN" altLang="en-US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78" y="3161850"/>
            <a:ext cx="2178468" cy="6477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8166" y="3161850"/>
            <a:ext cx="2494160" cy="857250"/>
          </a:xfrm>
          <a:prstGeom prst="rect">
            <a:avLst/>
          </a:prstGeom>
        </p:spPr>
      </p:pic>
      <p:sp>
        <p:nvSpPr>
          <p:cNvPr id="10" name="箭头: 右 9"/>
          <p:cNvSpPr/>
          <p:nvPr/>
        </p:nvSpPr>
        <p:spPr>
          <a:xfrm>
            <a:off x="2815628" y="3429000"/>
            <a:ext cx="298764" cy="165226"/>
          </a:xfrm>
          <a:prstGeom prst="rightArrow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29175" y="4205164"/>
            <a:ext cx="4004902" cy="466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cs typeface="+mn-ea"/>
                <a:sym typeface="+mn-lt"/>
              </a:rPr>
              <a:t>3</a:t>
            </a:r>
            <a:r>
              <a:rPr lang="zh-CN" altLang="en-US" b="1">
                <a:cs typeface="+mn-ea"/>
                <a:sym typeface="+mn-lt"/>
              </a:rPr>
              <a:t>、可能多次加载同一个变量</a:t>
            </a:r>
            <a:endParaRPr lang="zh-CN" altLang="en-US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3105" y="4984294"/>
            <a:ext cx="2684282" cy="52766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78" y="4924274"/>
            <a:ext cx="2222099" cy="647700"/>
          </a:xfrm>
          <a:prstGeom prst="rect">
            <a:avLst/>
          </a:prstGeom>
        </p:spPr>
      </p:pic>
      <p:sp>
        <p:nvSpPr>
          <p:cNvPr id="29" name="箭头: 右 28"/>
          <p:cNvSpPr/>
          <p:nvPr/>
        </p:nvSpPr>
        <p:spPr>
          <a:xfrm>
            <a:off x="2815628" y="5090197"/>
            <a:ext cx="298764" cy="165226"/>
          </a:xfrm>
          <a:prstGeom prst="rightArrow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79784" y="5599817"/>
            <a:ext cx="1223412" cy="44678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900">
                <a:cs typeface="+mn-ea"/>
                <a:sym typeface="+mn-lt"/>
              </a:rPr>
              <a:t>注：寄存器受限场景</a:t>
            </a:r>
            <a:endParaRPr lang="zh-CN" altLang="en-US" sz="900" dirty="0">
              <a:cs typeface="+mn-ea"/>
              <a:sym typeface="+mn-lt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8381" y="1573103"/>
            <a:ext cx="1819275" cy="82112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5885" y="1541954"/>
            <a:ext cx="1638300" cy="736379"/>
          </a:xfrm>
          <a:prstGeom prst="rect">
            <a:avLst/>
          </a:prstGeom>
        </p:spPr>
      </p:pic>
      <p:sp>
        <p:nvSpPr>
          <p:cNvPr id="30" name="箭头: 右 29"/>
          <p:cNvSpPr/>
          <p:nvPr/>
        </p:nvSpPr>
        <p:spPr>
          <a:xfrm>
            <a:off x="8133006" y="1742272"/>
            <a:ext cx="298764" cy="165226"/>
          </a:xfrm>
          <a:prstGeom prst="rightArrow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098380" y="2450327"/>
            <a:ext cx="3480185" cy="18547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cs typeface="+mn-ea"/>
                <a:sym typeface="+mn-lt"/>
              </a:rPr>
              <a:t>5</a:t>
            </a:r>
            <a:r>
              <a:rPr lang="zh-CN" altLang="en-US" b="1">
                <a:cs typeface="+mn-ea"/>
                <a:sym typeface="+mn-lt"/>
              </a:rPr>
              <a:t>、可能忽略它认为冗余的指令</a:t>
            </a:r>
            <a:endParaRPr lang="en-US" altLang="zh-CN" b="1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b="1"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en-US" altLang="zh-CN" sz="1400">
                <a:cs typeface="+mn-ea"/>
                <a:sym typeface="+mn-lt"/>
              </a:rPr>
              <a:t>X = 1;   ----        X = 3;</a:t>
            </a:r>
          </a:p>
          <a:p>
            <a:pPr lvl="1">
              <a:lnSpc>
                <a:spcPct val="150000"/>
              </a:lnSpc>
            </a:pPr>
            <a:r>
              <a:rPr lang="en-US" altLang="zh-CN" sz="1400">
                <a:cs typeface="+mn-ea"/>
                <a:sym typeface="+mn-lt"/>
              </a:rPr>
              <a:t>Y = 2;                    Y = 2;</a:t>
            </a:r>
          </a:p>
          <a:p>
            <a:pPr lvl="1">
              <a:lnSpc>
                <a:spcPct val="150000"/>
              </a:lnSpc>
            </a:pPr>
            <a:r>
              <a:rPr lang="en-US" altLang="zh-CN" sz="1400">
                <a:cs typeface="+mn-ea"/>
                <a:sym typeface="+mn-lt"/>
              </a:rPr>
              <a:t>X  = 3;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177563" y="4257453"/>
            <a:ext cx="3480185" cy="466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cs typeface="+mn-ea"/>
                <a:sym typeface="+mn-lt"/>
              </a:rPr>
              <a:t>6</a:t>
            </a:r>
            <a:r>
              <a:rPr lang="zh-CN" altLang="en-US" b="1">
                <a:cs typeface="+mn-ea"/>
                <a:sym typeface="+mn-lt"/>
              </a:rPr>
              <a:t>、指令顺序调整</a:t>
            </a:r>
            <a:endParaRPr lang="en-US" altLang="zh-CN" b="1">
              <a:cs typeface="+mn-ea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8380" y="5007532"/>
            <a:ext cx="3022137" cy="1602917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14466" y="4971409"/>
            <a:ext cx="2155349" cy="877545"/>
          </a:xfrm>
          <a:prstGeom prst="rect">
            <a:avLst/>
          </a:prstGeom>
        </p:spPr>
      </p:pic>
      <p:sp>
        <p:nvSpPr>
          <p:cNvPr id="34" name="箭头: 右 33"/>
          <p:cNvSpPr/>
          <p:nvPr/>
        </p:nvSpPr>
        <p:spPr>
          <a:xfrm>
            <a:off x="8699909" y="5327568"/>
            <a:ext cx="298764" cy="165226"/>
          </a:xfrm>
          <a:prstGeom prst="rightArrow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160008" y="5676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670411" y="2816570"/>
            <a:ext cx="4695516" cy="45692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100">
                <a:highlight>
                  <a:srgbClr val="FFFF00"/>
                </a:highlight>
                <a:cs typeface="+mn-ea"/>
                <a:sym typeface="+mn-lt"/>
              </a:rPr>
              <a:t>实际代码                                                      可能的编译后代码</a:t>
            </a:r>
            <a:r>
              <a:rPr lang="en-US" altLang="zh-CN" sz="1100">
                <a:highlight>
                  <a:srgbClr val="FFFF00"/>
                </a:highlight>
                <a:cs typeface="+mn-ea"/>
                <a:sym typeface="+mn-lt"/>
              </a:rPr>
              <a:t>(</a:t>
            </a:r>
            <a:r>
              <a:rPr lang="zh-CN" altLang="en-US" sz="1100">
                <a:highlight>
                  <a:srgbClr val="FFFF00"/>
                </a:highlight>
                <a:cs typeface="+mn-ea"/>
                <a:sym typeface="+mn-lt"/>
              </a:rPr>
              <a:t>重排）</a:t>
            </a:r>
            <a:endParaRPr lang="zh-CN" altLang="en-US" sz="1100" dirty="0">
              <a:highlight>
                <a:srgbClr val="FFFF00"/>
              </a:highlight>
              <a:cs typeface="+mn-ea"/>
              <a:sym typeface="+mn-lt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84830" y="4527838"/>
            <a:ext cx="4695516" cy="45692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100">
                <a:highlight>
                  <a:srgbClr val="FFFF00"/>
                </a:highlight>
                <a:cs typeface="+mn-ea"/>
                <a:sym typeface="+mn-lt"/>
              </a:rPr>
              <a:t>实际代码                                                     可能的 编译后代码</a:t>
            </a:r>
            <a:r>
              <a:rPr lang="en-US" altLang="zh-CN" sz="1100">
                <a:highlight>
                  <a:srgbClr val="FFFF00"/>
                </a:highlight>
                <a:cs typeface="+mn-ea"/>
                <a:sym typeface="+mn-lt"/>
              </a:rPr>
              <a:t>(</a:t>
            </a:r>
            <a:r>
              <a:rPr lang="zh-CN" altLang="en-US" sz="1100">
                <a:highlight>
                  <a:srgbClr val="FFFF00"/>
                </a:highlight>
                <a:cs typeface="+mn-ea"/>
                <a:sym typeface="+mn-lt"/>
              </a:rPr>
              <a:t>重排）</a:t>
            </a:r>
            <a:endParaRPr lang="zh-CN" altLang="en-US" sz="1100" dirty="0">
              <a:highlight>
                <a:srgbClr val="FFFF00"/>
              </a:highlight>
              <a:cs typeface="+mn-ea"/>
              <a:sym typeface="+mn-lt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079825" y="1157232"/>
            <a:ext cx="4695516" cy="45692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100">
                <a:highlight>
                  <a:srgbClr val="FFFF00"/>
                </a:highlight>
                <a:cs typeface="+mn-ea"/>
                <a:sym typeface="+mn-lt"/>
              </a:rPr>
              <a:t>实际代码                                                     可能的 编译后代码</a:t>
            </a:r>
            <a:r>
              <a:rPr lang="en-US" altLang="zh-CN" sz="1100">
                <a:highlight>
                  <a:srgbClr val="FFFF00"/>
                </a:highlight>
                <a:cs typeface="+mn-ea"/>
                <a:sym typeface="+mn-lt"/>
              </a:rPr>
              <a:t>(</a:t>
            </a:r>
            <a:r>
              <a:rPr lang="zh-CN" altLang="en-US" sz="1100">
                <a:highlight>
                  <a:srgbClr val="FFFF00"/>
                </a:highlight>
                <a:cs typeface="+mn-ea"/>
                <a:sym typeface="+mn-lt"/>
              </a:rPr>
              <a:t>重排）</a:t>
            </a:r>
            <a:endParaRPr lang="zh-CN" altLang="en-US" sz="1100" dirty="0">
              <a:highlight>
                <a:srgbClr val="FFFF00"/>
              </a:highlight>
              <a:cs typeface="+mn-ea"/>
              <a:sym typeface="+mn-lt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340408" y="2790455"/>
            <a:ext cx="3656770" cy="45692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100">
                <a:highlight>
                  <a:srgbClr val="FFFF00"/>
                </a:highlight>
                <a:cs typeface="+mn-ea"/>
                <a:sym typeface="+mn-lt"/>
              </a:rPr>
              <a:t>实际代码                             可能的 编译后代码</a:t>
            </a:r>
            <a:r>
              <a:rPr lang="en-US" altLang="zh-CN" sz="1100">
                <a:highlight>
                  <a:srgbClr val="FFFF00"/>
                </a:highlight>
                <a:cs typeface="+mn-ea"/>
                <a:sym typeface="+mn-lt"/>
              </a:rPr>
              <a:t>(</a:t>
            </a:r>
            <a:r>
              <a:rPr lang="zh-CN" altLang="en-US" sz="1100">
                <a:highlight>
                  <a:srgbClr val="FFFF00"/>
                </a:highlight>
                <a:cs typeface="+mn-ea"/>
                <a:sym typeface="+mn-lt"/>
              </a:rPr>
              <a:t>重排）</a:t>
            </a:r>
            <a:endParaRPr lang="zh-CN" altLang="en-US" sz="1100" dirty="0">
              <a:highlight>
                <a:srgbClr val="FFFF00"/>
              </a:highlight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545025" y="4524128"/>
            <a:ext cx="4608954" cy="45692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100">
                <a:highlight>
                  <a:srgbClr val="FFFF00"/>
                </a:highlight>
                <a:cs typeface="+mn-ea"/>
                <a:sym typeface="+mn-lt"/>
              </a:rPr>
              <a:t>实际代码                                                   可能的 编译后代码</a:t>
            </a:r>
            <a:r>
              <a:rPr lang="en-US" altLang="zh-CN" sz="1100">
                <a:highlight>
                  <a:srgbClr val="FFFF00"/>
                </a:highlight>
                <a:cs typeface="+mn-ea"/>
                <a:sym typeface="+mn-lt"/>
              </a:rPr>
              <a:t>(</a:t>
            </a:r>
            <a:r>
              <a:rPr lang="zh-CN" altLang="en-US" sz="1100">
                <a:highlight>
                  <a:srgbClr val="FFFF00"/>
                </a:highlight>
                <a:cs typeface="+mn-ea"/>
                <a:sym typeface="+mn-lt"/>
              </a:rPr>
              <a:t>重排）</a:t>
            </a:r>
            <a:endParaRPr lang="zh-CN" altLang="en-US" sz="1100" dirty="0">
              <a:highlight>
                <a:srgbClr val="FFFF00"/>
              </a:highlight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13456" y="1795803"/>
            <a:ext cx="4637041" cy="507831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RefCountObject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E06C75"/>
                </a:solidFill>
                <a:cs typeface="+mn-ea"/>
                <a:sym typeface="+mn-lt"/>
              </a:rPr>
              <a:t>val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E06C75"/>
                </a:solidFill>
                <a:cs typeface="+mn-ea"/>
                <a:sym typeface="+mn-lt"/>
              </a:rPr>
              <a:t>refcnt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AtomicUsize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SimpleArc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E06C75"/>
                </a:solidFill>
                <a:cs typeface="+mn-ea"/>
                <a:sym typeface="+mn-lt"/>
              </a:rPr>
              <a:t>ptr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NonNull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RefCountObject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&gt;&gt;,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unsafe 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impl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&lt;T: Sync&gt; Sync for 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SimpleArc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&lt;T&gt; {}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unsafe 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impl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&lt;T: Sync </a:t>
            </a:r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+ 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Send&gt; Send for 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SimmpleArc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&lt;T&gt; {}</a:t>
            </a:r>
          </a:p>
          <a:p>
            <a:b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&gt;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Clone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SimpleArc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.refcnt.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fetch_add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Relaxed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200" dirty="0" err="1">
                <a:solidFill>
                  <a:srgbClr val="E06C75"/>
                </a:solidFill>
                <a:cs typeface="+mn-ea"/>
                <a:sym typeface="+mn-lt"/>
              </a:rPr>
              <a:t>ptr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.ptr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}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&gt;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Drop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SimpleArc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drop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if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.refcnt.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fetch_sub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Release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 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==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	 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fenc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(Acquire);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release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    }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160008" y="111507"/>
            <a:ext cx="10740640" cy="567844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内存顺序（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Relaxed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）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13456" y="850033"/>
            <a:ext cx="7948800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>
                <a:cs typeface="+mn-ea"/>
                <a:sym typeface="+mn-lt"/>
              </a:rPr>
              <a:t>1</a:t>
            </a:r>
            <a:r>
              <a:rPr lang="zh-CN" altLang="en-US" sz="1600">
                <a:cs typeface="+mn-ea"/>
                <a:sym typeface="+mn-lt"/>
              </a:rPr>
              <a:t>、对编译器</a:t>
            </a:r>
            <a:r>
              <a:rPr lang="en-US" altLang="zh-CN" sz="1600">
                <a:cs typeface="+mn-ea"/>
                <a:sym typeface="+mn-lt"/>
              </a:rPr>
              <a:t>/CPU</a:t>
            </a:r>
            <a:r>
              <a:rPr lang="zh-CN" altLang="en-US" sz="1600">
                <a:cs typeface="+mn-ea"/>
                <a:sym typeface="+mn-lt"/>
              </a:rPr>
              <a:t>的指令重排机制完全无约束</a:t>
            </a:r>
            <a:endParaRPr lang="en-US" altLang="zh-CN" sz="160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cs typeface="+mn-ea"/>
                <a:sym typeface="+mn-lt"/>
              </a:rPr>
              <a:t>2</a:t>
            </a:r>
            <a:r>
              <a:rPr lang="zh-CN" altLang="en-US" sz="1600">
                <a:cs typeface="+mn-ea"/>
                <a:sym typeface="+mn-lt"/>
              </a:rPr>
              <a:t>、独立状态修改，无其他依赖数据读写操作</a:t>
            </a:r>
            <a:endParaRPr lang="zh-CN" altLang="en-US" sz="1600" dirty="0"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160008" y="5676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6046246" y="3139217"/>
            <a:ext cx="523656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cs typeface="+mn-ea"/>
                <a:sym typeface="+mn-lt"/>
              </a:rPr>
              <a:t>典型应用场景</a:t>
            </a:r>
            <a:r>
              <a:rPr lang="zh-CN" altLang="en-US" sz="1600" dirty="0">
                <a:cs typeface="+mn-ea"/>
                <a:sym typeface="+mn-lt"/>
              </a:rPr>
              <a:t>：增加引用计数。其他成员的读取写入不依赖它的取值。因为</a:t>
            </a:r>
            <a:r>
              <a:rPr lang="en-US" altLang="zh-CN" sz="1600" dirty="0" err="1">
                <a:cs typeface="+mn-ea"/>
                <a:sym typeface="+mn-lt"/>
              </a:rPr>
              <a:t>SimpleArc</a:t>
            </a:r>
            <a:r>
              <a:rPr lang="zh-CN" altLang="en-US" sz="1600" dirty="0">
                <a:cs typeface="+mn-ea"/>
                <a:sym typeface="+mn-lt"/>
              </a:rPr>
              <a:t>在线程间传递必然有其他同步机制，这些同步机制一定能保证它可以正确读取传递前修改的状态。</a:t>
            </a:r>
            <a:endParaRPr lang="en-US" altLang="zh-CN" sz="1600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cs typeface="+mn-ea"/>
                <a:sym typeface="+mn-lt"/>
              </a:rPr>
              <a:t>注意：减少引用技术并不满足这个条件。</a:t>
            </a:r>
            <a:endParaRPr lang="en-US" altLang="zh-CN" sz="1600" b="1" dirty="0">
              <a:cs typeface="+mn-ea"/>
              <a:sym typeface="+mn-lt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4186989" y="4242140"/>
            <a:ext cx="1780674" cy="243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160008" y="78116"/>
            <a:ext cx="10740640" cy="567844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内存顺序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lang="en-US" altLang="zh-CN" b="1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Acquire/Release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)-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读写免锁队列问题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99738" y="1618846"/>
            <a:ext cx="3997617" cy="466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cs typeface="+mn-ea"/>
                <a:sym typeface="+mn-lt"/>
              </a:rPr>
              <a:t>Write Thread:</a:t>
            </a:r>
          </a:p>
        </p:txBody>
      </p:sp>
      <p:sp>
        <p:nvSpPr>
          <p:cNvPr id="8" name="矩形 7"/>
          <p:cNvSpPr/>
          <p:nvPr/>
        </p:nvSpPr>
        <p:spPr>
          <a:xfrm>
            <a:off x="2649062" y="918663"/>
            <a:ext cx="669957" cy="271604"/>
          </a:xfrm>
          <a:prstGeom prst="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319019" y="918663"/>
            <a:ext cx="669957" cy="271604"/>
          </a:xfrm>
          <a:prstGeom prst="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988976" y="918663"/>
            <a:ext cx="669957" cy="271604"/>
          </a:xfrm>
          <a:prstGeom prst="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658933" y="918663"/>
            <a:ext cx="669957" cy="271604"/>
          </a:xfrm>
          <a:prstGeom prst="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328890" y="918663"/>
            <a:ext cx="669957" cy="271604"/>
          </a:xfrm>
          <a:prstGeom prst="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998847" y="918663"/>
            <a:ext cx="669957" cy="271604"/>
          </a:xfrm>
          <a:prstGeom prst="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668804" y="918663"/>
            <a:ext cx="669957" cy="271604"/>
          </a:xfrm>
          <a:prstGeom prst="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338761" y="918663"/>
            <a:ext cx="669957" cy="271604"/>
          </a:xfrm>
          <a:prstGeom prst="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909757" y="744187"/>
            <a:ext cx="728084" cy="47628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altLang="zh-CN">
                <a:cs typeface="+mn-ea"/>
                <a:sym typeface="+mn-lt"/>
              </a:rPr>
              <a:t>array</a:t>
            </a:r>
            <a:endParaRPr lang="zh-CN" altLang="en-US" dirty="0">
              <a:cs typeface="+mn-ea"/>
              <a:sym typeface="+mn-lt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 flipV="1">
            <a:off x="3653997" y="1292418"/>
            <a:ext cx="0" cy="326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3653997" y="1235843"/>
            <a:ext cx="1915909" cy="47628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altLang="zh-CN">
                <a:cs typeface="+mn-ea"/>
                <a:sym typeface="+mn-lt"/>
              </a:rPr>
              <a:t>Idx: AtomicUsize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99738" y="3851287"/>
            <a:ext cx="5236563" cy="466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cs typeface="+mn-ea"/>
                <a:sym typeface="+mn-lt"/>
              </a:rPr>
              <a:t>Read Thread</a:t>
            </a:r>
            <a:endParaRPr lang="en-US" altLang="zh-CN">
              <a:cs typeface="+mn-ea"/>
              <a:sym typeface="+mn-lt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422687" y="1613765"/>
            <a:ext cx="4356664" cy="18004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cs typeface="+mn-ea"/>
                <a:sym typeface="+mn-lt"/>
              </a:rPr>
              <a:t>Write Thread:</a:t>
            </a:r>
          </a:p>
          <a:p>
            <a:pPr>
              <a:lnSpc>
                <a:spcPct val="150000"/>
              </a:lnSpc>
            </a:pPr>
            <a:endParaRPr lang="en-US" altLang="zh-CN" sz="1400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STORE </a:t>
            </a:r>
            <a:r>
              <a:rPr lang="en-US" altLang="zh-CN" sz="1400" dirty="0" err="1">
                <a:cs typeface="+mn-ea"/>
                <a:sym typeface="+mn-lt"/>
              </a:rPr>
              <a:t>idx</a:t>
            </a:r>
            <a:r>
              <a:rPr lang="en-US" altLang="zh-CN" sz="1400" dirty="0">
                <a:cs typeface="+mn-ea"/>
                <a:sym typeface="+mn-lt"/>
              </a:rPr>
              <a:t>, n + 1                </a:t>
            </a:r>
            <a:r>
              <a:rPr lang="en-US" altLang="zh-CN" sz="1400" b="1" dirty="0">
                <a:solidFill>
                  <a:srgbClr val="C00000"/>
                </a:solidFill>
                <a:cs typeface="+mn-ea"/>
                <a:sym typeface="+mn-lt"/>
              </a:rPr>
              <a:t>//</a:t>
            </a:r>
            <a:r>
              <a:rPr lang="zh-CN" altLang="en-US" sz="1400" b="1" dirty="0">
                <a:solidFill>
                  <a:srgbClr val="C00000"/>
                </a:solidFill>
                <a:cs typeface="+mn-ea"/>
                <a:sym typeface="+mn-lt"/>
              </a:rPr>
              <a:t>可能最先更新了</a:t>
            </a:r>
            <a:r>
              <a:rPr lang="en-US" altLang="zh-CN" sz="1400" b="1" dirty="0" err="1">
                <a:solidFill>
                  <a:srgbClr val="C00000"/>
                </a:solidFill>
                <a:cs typeface="+mn-ea"/>
                <a:sym typeface="+mn-lt"/>
              </a:rPr>
              <a:t>idx</a:t>
            </a:r>
            <a:endParaRPr lang="en-US" altLang="zh-CN" sz="1400" b="1" dirty="0">
              <a:solidFill>
                <a:srgbClr val="C00000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STORE array[n], m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STORE sum, sum + m</a:t>
            </a:r>
          </a:p>
        </p:txBody>
      </p:sp>
      <p:sp>
        <p:nvSpPr>
          <p:cNvPr id="28" name="矩形 27"/>
          <p:cNvSpPr/>
          <p:nvPr/>
        </p:nvSpPr>
        <p:spPr>
          <a:xfrm>
            <a:off x="6422687" y="4022501"/>
            <a:ext cx="4356664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cs typeface="+mn-ea"/>
                <a:sym typeface="+mn-lt"/>
              </a:rPr>
              <a:t>Read Thread</a:t>
            </a:r>
          </a:p>
          <a:p>
            <a:pPr>
              <a:lnSpc>
                <a:spcPct val="150000"/>
              </a:lnSpc>
            </a:pPr>
            <a:endParaRPr lang="en-US" altLang="zh-CN" b="1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LOAD sum           </a:t>
            </a:r>
            <a:r>
              <a:rPr lang="en-US" altLang="zh-CN" sz="1400" b="1" dirty="0">
                <a:solidFill>
                  <a:srgbClr val="C00000"/>
                </a:solidFill>
                <a:cs typeface="+mn-ea"/>
                <a:sym typeface="+mn-lt"/>
              </a:rPr>
              <a:t>//</a:t>
            </a:r>
            <a:r>
              <a:rPr lang="zh-CN" altLang="en-US" sz="1400" b="1" dirty="0">
                <a:solidFill>
                  <a:srgbClr val="C00000"/>
                </a:solidFill>
                <a:cs typeface="+mn-ea"/>
                <a:sym typeface="+mn-lt"/>
              </a:rPr>
              <a:t>可能先读取到未更新的</a:t>
            </a:r>
            <a:r>
              <a:rPr lang="en-US" altLang="zh-CN" sz="1400" b="1" dirty="0">
                <a:solidFill>
                  <a:srgbClr val="C00000"/>
                </a:solidFill>
                <a:cs typeface="+mn-ea"/>
                <a:sym typeface="+mn-lt"/>
              </a:rPr>
              <a:t>sum</a:t>
            </a:r>
            <a:r>
              <a:rPr lang="zh-CN" altLang="en-US" sz="1400" b="1" dirty="0">
                <a:solidFill>
                  <a:srgbClr val="C00000"/>
                </a:solidFill>
                <a:cs typeface="+mn-ea"/>
                <a:sym typeface="+mn-lt"/>
              </a:rPr>
              <a:t>值</a:t>
            </a:r>
            <a:endParaRPr lang="en-US" altLang="zh-CN" sz="1400" b="1" dirty="0">
              <a:solidFill>
                <a:srgbClr val="C00000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LOAD </a:t>
            </a:r>
            <a:r>
              <a:rPr lang="en-US" altLang="zh-CN" sz="1400" dirty="0" err="1">
                <a:cs typeface="+mn-ea"/>
                <a:sym typeface="+mn-lt"/>
              </a:rPr>
              <a:t>idx</a:t>
            </a:r>
            <a:endParaRPr lang="en-US" altLang="zh-CN" sz="1400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LOAD array[n]     </a:t>
            </a:r>
            <a:r>
              <a:rPr lang="en-US" altLang="zh-CN" sz="1400" b="1" dirty="0">
                <a:solidFill>
                  <a:srgbClr val="C00000"/>
                </a:solidFill>
                <a:cs typeface="+mn-ea"/>
                <a:sym typeface="+mn-lt"/>
              </a:rPr>
              <a:t>//</a:t>
            </a:r>
            <a:r>
              <a:rPr lang="zh-CN" altLang="en-US" sz="1400" b="1" dirty="0">
                <a:solidFill>
                  <a:srgbClr val="C00000"/>
                </a:solidFill>
                <a:cs typeface="+mn-ea"/>
                <a:sym typeface="+mn-lt"/>
              </a:rPr>
              <a:t>可能读取到未初始化的</a:t>
            </a:r>
            <a:r>
              <a:rPr lang="en-US" altLang="zh-CN" sz="1400" b="1" dirty="0">
                <a:solidFill>
                  <a:srgbClr val="C00000"/>
                </a:solidFill>
                <a:cs typeface="+mn-ea"/>
                <a:sym typeface="+mn-lt"/>
              </a:rPr>
              <a:t>array[n]</a:t>
            </a: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3755421" y="4213278"/>
            <a:ext cx="19102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3605233" y="3689185"/>
            <a:ext cx="2262158" cy="48205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>
                <a:cs typeface="+mn-ea"/>
                <a:sym typeface="+mn-lt"/>
              </a:rPr>
              <a:t>一种可能的指令重排</a:t>
            </a:r>
            <a:endParaRPr lang="zh-CN" altLang="en-US" dirty="0">
              <a:cs typeface="+mn-ea"/>
              <a:sym typeface="+mn-lt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160008" y="5676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499737" y="2110502"/>
            <a:ext cx="3997617" cy="13849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idx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load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Relaxed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if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&lt;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array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len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array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]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sum.fetch_add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m, Relaxed)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 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idx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store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+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Relaxed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99736" y="4665985"/>
            <a:ext cx="3997617" cy="13849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last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idx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load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Relaxed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if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pos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..last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val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array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];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…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sum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sum.load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(Relaxed)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160008" y="96413"/>
            <a:ext cx="10740640" cy="567844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内存顺序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lang="en-US" altLang="zh-CN" b="1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Acquire/Release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)-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读写免锁队列方案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70360" y="993310"/>
            <a:ext cx="669957" cy="271604"/>
          </a:xfrm>
          <a:prstGeom prst="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440317" y="993310"/>
            <a:ext cx="669957" cy="271604"/>
          </a:xfrm>
          <a:prstGeom prst="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4110274" y="993310"/>
            <a:ext cx="669957" cy="271604"/>
          </a:xfrm>
          <a:prstGeom prst="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780231" y="993310"/>
            <a:ext cx="669957" cy="271604"/>
          </a:xfrm>
          <a:prstGeom prst="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450188" y="993310"/>
            <a:ext cx="669957" cy="271604"/>
          </a:xfrm>
          <a:prstGeom prst="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6120145" y="993310"/>
            <a:ext cx="669957" cy="271604"/>
          </a:xfrm>
          <a:prstGeom prst="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790102" y="993310"/>
            <a:ext cx="669957" cy="271604"/>
          </a:xfrm>
          <a:prstGeom prst="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460059" y="993310"/>
            <a:ext cx="669957" cy="271604"/>
          </a:xfrm>
          <a:prstGeom prst="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996381" y="790617"/>
            <a:ext cx="728084" cy="47628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altLang="zh-CN">
                <a:cs typeface="+mn-ea"/>
                <a:sym typeface="+mn-lt"/>
              </a:rPr>
              <a:t>array</a:t>
            </a:r>
            <a:endParaRPr lang="zh-CN" altLang="en-US" dirty="0">
              <a:cs typeface="+mn-ea"/>
              <a:sym typeface="+mn-lt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 flipV="1">
            <a:off x="3775295" y="1367065"/>
            <a:ext cx="0" cy="326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3775295" y="1310490"/>
            <a:ext cx="1915909" cy="47628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altLang="zh-CN">
                <a:cs typeface="+mn-ea"/>
                <a:sym typeface="+mn-lt"/>
              </a:rPr>
              <a:t>Idx: AtomicUsize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21037" y="1693493"/>
            <a:ext cx="3017904" cy="466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cs typeface="+mn-ea"/>
                <a:sym typeface="+mn-lt"/>
              </a:rPr>
              <a:t>Write Thread:</a:t>
            </a:r>
          </a:p>
        </p:txBody>
      </p:sp>
      <p:sp>
        <p:nvSpPr>
          <p:cNvPr id="47" name="矩形 46"/>
          <p:cNvSpPr/>
          <p:nvPr/>
        </p:nvSpPr>
        <p:spPr>
          <a:xfrm>
            <a:off x="499055" y="4155388"/>
            <a:ext cx="3139885" cy="466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cs typeface="+mn-ea"/>
                <a:sym typeface="+mn-lt"/>
              </a:rPr>
              <a:t>Read Thread</a:t>
            </a:r>
            <a:endParaRPr lang="en-US" altLang="zh-CN">
              <a:cs typeface="+mn-ea"/>
              <a:sym typeface="+mn-lt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203749" y="1784787"/>
            <a:ext cx="4095623" cy="18004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cs typeface="+mn-ea"/>
                <a:sym typeface="+mn-lt"/>
              </a:rPr>
              <a:t>Write Thread:</a:t>
            </a:r>
          </a:p>
          <a:p>
            <a:pPr>
              <a:lnSpc>
                <a:spcPct val="150000"/>
              </a:lnSpc>
            </a:pPr>
            <a:endParaRPr lang="en-US" altLang="zh-CN" sz="1400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STORE sum, sum + m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STORE array[n], m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  <a:cs typeface="+mn-ea"/>
                <a:sym typeface="+mn-lt"/>
              </a:rPr>
              <a:t>STORE </a:t>
            </a:r>
            <a:r>
              <a:rPr lang="en-US" altLang="zh-CN" sz="1400" b="1" dirty="0" err="1">
                <a:solidFill>
                  <a:srgbClr val="C00000"/>
                </a:solidFill>
                <a:cs typeface="+mn-ea"/>
                <a:sym typeface="+mn-lt"/>
              </a:rPr>
              <a:t>idx</a:t>
            </a:r>
            <a:r>
              <a:rPr lang="en-US" altLang="zh-CN" sz="1400" b="1" dirty="0">
                <a:solidFill>
                  <a:srgbClr val="C00000"/>
                </a:solidFill>
                <a:cs typeface="+mn-ea"/>
                <a:sym typeface="+mn-lt"/>
              </a:rPr>
              <a:t>, n + 1                </a:t>
            </a:r>
          </a:p>
        </p:txBody>
      </p:sp>
      <p:sp>
        <p:nvSpPr>
          <p:cNvPr id="49" name="矩形 48"/>
          <p:cNvSpPr/>
          <p:nvPr/>
        </p:nvSpPr>
        <p:spPr>
          <a:xfrm>
            <a:off x="7203750" y="4127880"/>
            <a:ext cx="4095622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cs typeface="+mn-ea"/>
                <a:sym typeface="+mn-lt"/>
              </a:rPr>
              <a:t>Read Thread</a:t>
            </a:r>
          </a:p>
          <a:p>
            <a:pPr>
              <a:lnSpc>
                <a:spcPct val="150000"/>
              </a:lnSpc>
            </a:pPr>
            <a:endParaRPr lang="en-US" altLang="zh-CN" b="1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  <a:cs typeface="+mn-ea"/>
                <a:sym typeface="+mn-lt"/>
              </a:rPr>
              <a:t>LOAD </a:t>
            </a:r>
            <a:r>
              <a:rPr lang="en-US" altLang="zh-CN" sz="1400" b="1" dirty="0" err="1">
                <a:solidFill>
                  <a:srgbClr val="C00000"/>
                </a:solidFill>
                <a:cs typeface="+mn-ea"/>
                <a:sym typeface="+mn-lt"/>
              </a:rPr>
              <a:t>idx</a:t>
            </a:r>
            <a:endParaRPr lang="en-US" altLang="zh-CN" sz="1400" b="1" dirty="0">
              <a:solidFill>
                <a:srgbClr val="C00000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LOAD sum              </a:t>
            </a:r>
            <a:r>
              <a:rPr lang="en-US" altLang="zh-CN" sz="1400" b="1" dirty="0">
                <a:solidFill>
                  <a:srgbClr val="C00000"/>
                </a:solidFill>
                <a:cs typeface="+mn-ea"/>
                <a:sym typeface="+mn-lt"/>
              </a:rPr>
              <a:t>//</a:t>
            </a:r>
            <a:r>
              <a:rPr lang="zh-CN" altLang="en-US" sz="1400" b="1" dirty="0">
                <a:solidFill>
                  <a:srgbClr val="C00000"/>
                </a:solidFill>
                <a:cs typeface="+mn-ea"/>
                <a:sym typeface="+mn-lt"/>
              </a:rPr>
              <a:t>一定读取到更新的</a:t>
            </a:r>
            <a:r>
              <a:rPr lang="en-US" altLang="zh-CN" sz="1400" b="1" dirty="0">
                <a:solidFill>
                  <a:srgbClr val="C00000"/>
                </a:solidFill>
                <a:cs typeface="+mn-ea"/>
                <a:sym typeface="+mn-lt"/>
              </a:rPr>
              <a:t>sum</a:t>
            </a:r>
            <a:r>
              <a:rPr lang="zh-CN" altLang="en-US" sz="1400" b="1" dirty="0">
                <a:solidFill>
                  <a:srgbClr val="C00000"/>
                </a:solidFill>
                <a:cs typeface="+mn-ea"/>
                <a:sym typeface="+mn-lt"/>
              </a:rPr>
              <a:t>值</a:t>
            </a:r>
            <a:endParaRPr lang="en-US" altLang="zh-CN" sz="1400" b="1" dirty="0">
              <a:solidFill>
                <a:srgbClr val="C00000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LOAD array[n]        </a:t>
            </a:r>
            <a:r>
              <a:rPr lang="en-US" altLang="zh-CN" sz="1400" b="1" dirty="0">
                <a:solidFill>
                  <a:srgbClr val="C00000"/>
                </a:solidFill>
                <a:cs typeface="+mn-ea"/>
                <a:sym typeface="+mn-lt"/>
              </a:rPr>
              <a:t>//</a:t>
            </a:r>
            <a:r>
              <a:rPr lang="zh-CN" altLang="en-US" sz="1400" b="1" dirty="0">
                <a:solidFill>
                  <a:srgbClr val="C00000"/>
                </a:solidFill>
                <a:cs typeface="+mn-ea"/>
                <a:sym typeface="+mn-lt"/>
              </a:rPr>
              <a:t>一定读取到写入的</a:t>
            </a:r>
            <a:r>
              <a:rPr lang="en-US" altLang="zh-CN" sz="1400" b="1" dirty="0">
                <a:solidFill>
                  <a:srgbClr val="C00000"/>
                </a:solidFill>
                <a:cs typeface="+mn-ea"/>
                <a:sym typeface="+mn-lt"/>
              </a:rPr>
              <a:t>array[n]</a:t>
            </a:r>
          </a:p>
        </p:txBody>
      </p:sp>
      <p:cxnSp>
        <p:nvCxnSpPr>
          <p:cNvPr id="53" name="直接连接符 52"/>
          <p:cNvCxnSpPr/>
          <p:nvPr/>
        </p:nvCxnSpPr>
        <p:spPr>
          <a:xfrm>
            <a:off x="3754531" y="3554744"/>
            <a:ext cx="3022092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3754531" y="4491623"/>
            <a:ext cx="3098109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/>
        </p:nvSpPr>
        <p:spPr>
          <a:xfrm>
            <a:off x="4201125" y="3311004"/>
            <a:ext cx="1620957" cy="468141"/>
          </a:xfrm>
          <a:prstGeom prst="rect">
            <a:avLst/>
          </a:prstGeom>
          <a:solidFill>
            <a:schemeClr val="accent4"/>
          </a:solidFill>
        </p:spPr>
        <p:txBody>
          <a:bodyPr vert="horz" wrap="non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400">
                <a:cs typeface="+mn-ea"/>
                <a:sym typeface="+mn-lt"/>
              </a:rPr>
              <a:t>写指令重排分界线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4201125" y="4251776"/>
            <a:ext cx="1620957" cy="468141"/>
          </a:xfrm>
          <a:prstGeom prst="rect">
            <a:avLst/>
          </a:prstGeom>
          <a:solidFill>
            <a:schemeClr val="accent4"/>
          </a:solidFill>
        </p:spPr>
        <p:txBody>
          <a:bodyPr vert="horz" wrap="non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400">
                <a:cs typeface="+mn-ea"/>
                <a:sym typeface="+mn-lt"/>
              </a:rPr>
              <a:t>读指令重排分界线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3713831" y="2136154"/>
            <a:ext cx="3472714" cy="89498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b="1" dirty="0">
                <a:solidFill>
                  <a:srgbClr val="C00000"/>
                </a:solidFill>
                <a:cs typeface="+mn-ea"/>
                <a:sym typeface="+mn-lt"/>
              </a:rPr>
              <a:t>Release</a:t>
            </a:r>
            <a:r>
              <a:rPr lang="zh-CN" altLang="en-US" sz="1200" b="1" dirty="0">
                <a:solidFill>
                  <a:srgbClr val="C00000"/>
                </a:solidFill>
                <a:cs typeface="+mn-ea"/>
                <a:sym typeface="+mn-lt"/>
              </a:rPr>
              <a:t>规则</a:t>
            </a:r>
            <a:endParaRPr lang="en-US" altLang="zh-CN" sz="1200" b="1" dirty="0">
              <a:solidFill>
                <a:srgbClr val="C00000"/>
              </a:solidFill>
              <a:cs typeface="+mn-ea"/>
              <a:sym typeface="+mn-lt"/>
            </a:endParaRPr>
          </a:p>
          <a:p>
            <a:pPr marL="228600" indent="-228600" algn="l">
              <a:lnSpc>
                <a:spcPct val="150000"/>
              </a:lnSpc>
              <a:buAutoNum type="arabicPeriod"/>
            </a:pPr>
            <a:r>
              <a:rPr lang="en-US" altLang="zh-CN" sz="1200" dirty="0">
                <a:solidFill>
                  <a:srgbClr val="C00000"/>
                </a:solidFill>
                <a:cs typeface="+mn-ea"/>
                <a:sym typeface="+mn-lt"/>
              </a:rPr>
              <a:t>Release</a:t>
            </a:r>
            <a:r>
              <a:rPr lang="zh-CN" altLang="en-US" sz="1200" dirty="0">
                <a:solidFill>
                  <a:srgbClr val="C00000"/>
                </a:solidFill>
                <a:cs typeface="+mn-ea"/>
                <a:sym typeface="+mn-lt"/>
              </a:rPr>
              <a:t>之前的写指令不可重排到</a:t>
            </a:r>
            <a:r>
              <a:rPr lang="en-US" altLang="zh-CN" sz="1200" dirty="0">
                <a:solidFill>
                  <a:srgbClr val="C00000"/>
                </a:solidFill>
                <a:cs typeface="+mn-ea"/>
                <a:sym typeface="+mn-lt"/>
              </a:rPr>
              <a:t>Release</a:t>
            </a:r>
            <a:r>
              <a:rPr lang="zh-CN" altLang="en-US" sz="1200" dirty="0">
                <a:solidFill>
                  <a:srgbClr val="C00000"/>
                </a:solidFill>
                <a:cs typeface="+mn-ea"/>
                <a:sym typeface="+mn-lt"/>
              </a:rPr>
              <a:t>之后</a:t>
            </a:r>
            <a:endParaRPr lang="en-US" altLang="zh-CN" sz="1200" dirty="0">
              <a:solidFill>
                <a:srgbClr val="C00000"/>
              </a:solidFill>
              <a:cs typeface="+mn-ea"/>
              <a:sym typeface="+mn-lt"/>
            </a:endParaRPr>
          </a:p>
          <a:p>
            <a:pPr marL="228600" indent="-228600">
              <a:lnSpc>
                <a:spcPct val="150000"/>
              </a:lnSpc>
              <a:buFontTx/>
              <a:buAutoNum type="arabicPeriod"/>
            </a:pPr>
            <a:r>
              <a:rPr lang="en-US" altLang="zh-CN" sz="1200" dirty="0">
                <a:cs typeface="+mn-ea"/>
                <a:sym typeface="+mn-lt"/>
              </a:rPr>
              <a:t>Release</a:t>
            </a:r>
            <a:r>
              <a:rPr lang="zh-CN" altLang="en-US" sz="1200" dirty="0">
                <a:cs typeface="+mn-ea"/>
                <a:sym typeface="+mn-lt"/>
              </a:rPr>
              <a:t>之后的写指令可重排到</a:t>
            </a:r>
            <a:r>
              <a:rPr lang="en-US" altLang="zh-CN" sz="1200" dirty="0">
                <a:cs typeface="+mn-ea"/>
                <a:sym typeface="+mn-lt"/>
              </a:rPr>
              <a:t>Release</a:t>
            </a:r>
            <a:r>
              <a:rPr lang="zh-CN" altLang="en-US" sz="1200" dirty="0">
                <a:cs typeface="+mn-ea"/>
                <a:sym typeface="+mn-lt"/>
              </a:rPr>
              <a:t>之前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3741149" y="4706418"/>
            <a:ext cx="3445396" cy="89498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b="1" dirty="0">
                <a:solidFill>
                  <a:srgbClr val="C00000"/>
                </a:solidFill>
                <a:cs typeface="+mn-ea"/>
                <a:sym typeface="+mn-lt"/>
              </a:rPr>
              <a:t>Acquire</a:t>
            </a:r>
            <a:r>
              <a:rPr lang="zh-CN" altLang="en-US" sz="1200" b="1" dirty="0">
                <a:solidFill>
                  <a:srgbClr val="C00000"/>
                </a:solidFill>
                <a:cs typeface="+mn-ea"/>
                <a:sym typeface="+mn-lt"/>
              </a:rPr>
              <a:t>规则</a:t>
            </a:r>
            <a:endParaRPr lang="en-US" altLang="zh-CN" sz="1200" b="1" dirty="0">
              <a:solidFill>
                <a:srgbClr val="C00000"/>
              </a:solidFill>
              <a:cs typeface="+mn-ea"/>
              <a:sym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zh-CN" sz="1200" dirty="0">
                <a:solidFill>
                  <a:srgbClr val="C00000"/>
                </a:solidFill>
                <a:cs typeface="+mn-ea"/>
                <a:sym typeface="+mn-lt"/>
              </a:rPr>
              <a:t>Acquire</a:t>
            </a:r>
            <a:r>
              <a:rPr lang="zh-CN" altLang="en-US" sz="1200" dirty="0">
                <a:solidFill>
                  <a:srgbClr val="C00000"/>
                </a:solidFill>
                <a:cs typeface="+mn-ea"/>
                <a:sym typeface="+mn-lt"/>
              </a:rPr>
              <a:t>之后的读指令不可重排到</a:t>
            </a:r>
            <a:r>
              <a:rPr lang="en-US" altLang="zh-CN" sz="1200" dirty="0">
                <a:solidFill>
                  <a:srgbClr val="C00000"/>
                </a:solidFill>
                <a:cs typeface="+mn-ea"/>
                <a:sym typeface="+mn-lt"/>
              </a:rPr>
              <a:t>Acquire</a:t>
            </a:r>
            <a:r>
              <a:rPr lang="zh-CN" altLang="en-US" sz="1200" dirty="0">
                <a:solidFill>
                  <a:srgbClr val="C00000"/>
                </a:solidFill>
                <a:cs typeface="+mn-ea"/>
                <a:sym typeface="+mn-lt"/>
              </a:rPr>
              <a:t>之前</a:t>
            </a:r>
            <a:endParaRPr lang="en-US" altLang="zh-CN" sz="1200" dirty="0">
              <a:solidFill>
                <a:srgbClr val="C00000"/>
              </a:solidFill>
              <a:cs typeface="+mn-ea"/>
              <a:sym typeface="+mn-lt"/>
            </a:endParaRPr>
          </a:p>
          <a:p>
            <a:pPr marL="228600" indent="-228600">
              <a:lnSpc>
                <a:spcPct val="150000"/>
              </a:lnSpc>
              <a:buFontTx/>
              <a:buAutoNum type="arabicPeriod"/>
            </a:pPr>
            <a:r>
              <a:rPr lang="en-US" altLang="zh-CN" sz="1200" dirty="0">
                <a:cs typeface="+mn-ea"/>
                <a:sym typeface="+mn-lt"/>
              </a:rPr>
              <a:t>Acquire</a:t>
            </a:r>
            <a:r>
              <a:rPr lang="zh-CN" altLang="en-US" sz="1200" dirty="0">
                <a:cs typeface="+mn-ea"/>
                <a:sym typeface="+mn-lt"/>
              </a:rPr>
              <a:t>之前的读指令可重排到</a:t>
            </a:r>
            <a:r>
              <a:rPr lang="en-US" altLang="zh-CN" sz="1200" dirty="0">
                <a:cs typeface="+mn-ea"/>
                <a:sym typeface="+mn-lt"/>
              </a:rPr>
              <a:t>Acquire</a:t>
            </a:r>
            <a:r>
              <a:rPr lang="zh-CN" altLang="en-US" sz="1200" dirty="0">
                <a:cs typeface="+mn-ea"/>
                <a:sym typeface="+mn-lt"/>
              </a:rPr>
              <a:t>之后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160008" y="5676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499055" y="2170171"/>
            <a:ext cx="3139885" cy="13849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idx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load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Relaxed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if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&lt;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array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len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array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]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sum.fetch_add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m, Relaxed)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 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idx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store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+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Release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</p:txBody>
      </p:sp>
      <p:sp>
        <p:nvSpPr>
          <p:cNvPr id="4" name="矩形 3"/>
          <p:cNvSpPr/>
          <p:nvPr/>
        </p:nvSpPr>
        <p:spPr>
          <a:xfrm>
            <a:off x="499056" y="4635711"/>
            <a:ext cx="3139884" cy="13849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last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idx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load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Acquire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if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pos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..last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val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array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–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];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   …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sum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sum.load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(Relaxed)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160008" y="74185"/>
            <a:ext cx="10740640" cy="567844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内存顺序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lang="en-US" altLang="zh-CN" b="1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Acquire/Release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)-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总结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34755" y="1411343"/>
            <a:ext cx="794880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>
                <a:cs typeface="+mn-ea"/>
                <a:sym typeface="+mn-lt"/>
              </a:rPr>
              <a:t>1</a:t>
            </a:r>
            <a:r>
              <a:rPr lang="zh-CN" altLang="en-US" sz="1600">
                <a:cs typeface="+mn-ea"/>
                <a:sym typeface="+mn-lt"/>
              </a:rPr>
              <a:t>、所有写指令必须在同一个线程</a:t>
            </a:r>
            <a:endParaRPr lang="en-US" altLang="zh-CN" sz="160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cs typeface="+mn-ea"/>
                <a:sym typeface="+mn-lt"/>
              </a:rPr>
              <a:t>2</a:t>
            </a:r>
            <a:r>
              <a:rPr lang="zh-CN" altLang="en-US" sz="1600">
                <a:cs typeface="+mn-ea"/>
                <a:sym typeface="+mn-lt"/>
              </a:rPr>
              <a:t>、</a:t>
            </a:r>
            <a:r>
              <a:rPr lang="en-US" altLang="zh-CN" sz="1600">
                <a:cs typeface="+mn-ea"/>
                <a:sym typeface="+mn-lt"/>
              </a:rPr>
              <a:t>Acquire/Release</a:t>
            </a:r>
            <a:r>
              <a:rPr lang="zh-CN" altLang="en-US" sz="1600">
                <a:cs typeface="+mn-ea"/>
                <a:sym typeface="+mn-lt"/>
              </a:rPr>
              <a:t>必须配套，缺一不可</a:t>
            </a:r>
            <a:endParaRPr lang="en-US" altLang="zh-CN" sz="160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cs typeface="+mn-ea"/>
                <a:sym typeface="+mn-lt"/>
              </a:rPr>
              <a:t>3</a:t>
            </a:r>
            <a:r>
              <a:rPr lang="zh-CN" altLang="en-US" sz="1600">
                <a:cs typeface="+mn-ea"/>
                <a:sym typeface="+mn-lt"/>
              </a:rPr>
              <a:t>、</a:t>
            </a:r>
            <a:r>
              <a:rPr lang="en-US" altLang="zh-CN" sz="1600" b="1">
                <a:cs typeface="+mn-ea"/>
                <a:sym typeface="+mn-lt"/>
              </a:rPr>
              <a:t>AcqRel</a:t>
            </a:r>
            <a:r>
              <a:rPr lang="zh-CN" altLang="en-US" sz="1600">
                <a:cs typeface="+mn-ea"/>
                <a:sym typeface="+mn-lt"/>
              </a:rPr>
              <a:t>用于同时约束之前的写指令和之后的读指令的重排</a:t>
            </a:r>
            <a:endParaRPr lang="zh-CN" altLang="en-US" sz="1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60008" y="5676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16799" y="778022"/>
            <a:ext cx="5344246" cy="526297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// thread1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recv_wr_event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WR_EVENT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store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true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Release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// thread2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recv_rd_event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RD_EVENT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store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true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Release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// thread3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wait_wr_event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while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!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WR_EVENT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load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Acquire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{}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if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RD_EVENT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load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Acquire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EVENT_CNT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fetch_add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Relaxed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// thread4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wait_rd_event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while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!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RD_EVENT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load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Acquire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{}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if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WR_EVENT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load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Acquire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EVENT_CNT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fetch_add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Relaxed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thr1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join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();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thr2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join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();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thr3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join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();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thr4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join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assert!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EVENT_CNT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load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Relaxed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&gt;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 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有可能出现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panic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160008" y="81613"/>
            <a:ext cx="10740640" cy="590008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内存顺序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lang="en-US" altLang="zh-CN" b="1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SeqCst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)-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多线程多变量读写问题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4142792" y="1376618"/>
            <a:ext cx="2170007" cy="3170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V="1">
            <a:off x="4142792" y="2057844"/>
            <a:ext cx="2170007" cy="1890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6312799" y="1093283"/>
            <a:ext cx="5236563" cy="11160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>
                <a:cs typeface="+mn-ea"/>
                <a:sym typeface="+mn-lt"/>
              </a:rPr>
              <a:t>实际执行的顺序：</a:t>
            </a:r>
            <a:endParaRPr lang="en-US" altLang="zh-CN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cs typeface="+mn-ea"/>
                <a:sym typeface="+mn-lt"/>
              </a:rPr>
              <a:t>STORE WR_EVENT TRUE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cs typeface="+mn-ea"/>
                <a:sym typeface="+mn-lt"/>
              </a:rPr>
              <a:t>STORE RD_EVEN TRUE</a:t>
            </a:r>
          </a:p>
        </p:txBody>
      </p:sp>
      <p:sp>
        <p:nvSpPr>
          <p:cNvPr id="39" name="矩形 38"/>
          <p:cNvSpPr/>
          <p:nvPr/>
        </p:nvSpPr>
        <p:spPr>
          <a:xfrm>
            <a:off x="6312799" y="2676377"/>
            <a:ext cx="5236563" cy="11160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>
                <a:cs typeface="+mn-ea"/>
                <a:sym typeface="+mn-lt"/>
              </a:rPr>
              <a:t>本线程可能的</a:t>
            </a:r>
            <a:r>
              <a:rPr lang="en-US" altLang="zh-CN" b="1">
                <a:cs typeface="+mn-ea"/>
                <a:sym typeface="+mn-lt"/>
              </a:rPr>
              <a:t>LOAD</a:t>
            </a:r>
            <a:r>
              <a:rPr lang="zh-CN" altLang="en-US" b="1">
                <a:cs typeface="+mn-ea"/>
                <a:sym typeface="+mn-lt"/>
              </a:rPr>
              <a:t>结果：</a:t>
            </a:r>
            <a:endParaRPr lang="en-US" altLang="zh-CN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cs typeface="+mn-ea"/>
                <a:sym typeface="+mn-lt"/>
              </a:rPr>
              <a:t>LOAD WR_EVENT -&gt; TRUE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cs typeface="+mn-ea"/>
                <a:sym typeface="+mn-lt"/>
              </a:rPr>
              <a:t>LOAD RD_EVENT -&gt; FALSE</a:t>
            </a:r>
          </a:p>
        </p:txBody>
      </p:sp>
      <p:sp>
        <p:nvSpPr>
          <p:cNvPr id="40" name="矩形 39"/>
          <p:cNvSpPr/>
          <p:nvPr/>
        </p:nvSpPr>
        <p:spPr>
          <a:xfrm>
            <a:off x="6312799" y="4090605"/>
            <a:ext cx="5236563" cy="11160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>
                <a:cs typeface="+mn-ea"/>
                <a:sym typeface="+mn-lt"/>
              </a:rPr>
              <a:t>本线程可能的</a:t>
            </a:r>
            <a:r>
              <a:rPr lang="en-US" altLang="zh-CN" b="1">
                <a:cs typeface="+mn-ea"/>
                <a:sym typeface="+mn-lt"/>
              </a:rPr>
              <a:t>LOAD</a:t>
            </a:r>
            <a:r>
              <a:rPr lang="zh-CN" altLang="en-US" b="1">
                <a:cs typeface="+mn-ea"/>
                <a:sym typeface="+mn-lt"/>
              </a:rPr>
              <a:t>结果：</a:t>
            </a:r>
            <a:endParaRPr lang="en-US" altLang="zh-CN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cs typeface="+mn-ea"/>
                <a:sym typeface="+mn-lt"/>
              </a:rPr>
              <a:t>LOAD RD_EVENT -&gt; TRUE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cs typeface="+mn-ea"/>
                <a:sym typeface="+mn-lt"/>
              </a:rPr>
              <a:t>LOAD WR_EVENT -&gt; FALSE</a:t>
            </a:r>
          </a:p>
        </p:txBody>
      </p:sp>
      <p:cxnSp>
        <p:nvCxnSpPr>
          <p:cNvPr id="42" name="直接箭头连接符 41"/>
          <p:cNvCxnSpPr/>
          <p:nvPr/>
        </p:nvCxnSpPr>
        <p:spPr>
          <a:xfrm>
            <a:off x="4422710" y="3234414"/>
            <a:ext cx="19687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>
            <a:off x="4422710" y="4736682"/>
            <a:ext cx="18884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>
            <a:off x="5355771" y="5774635"/>
            <a:ext cx="5281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6312799" y="5536803"/>
            <a:ext cx="5236563" cy="383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>
                <a:solidFill>
                  <a:schemeClr val="accent1"/>
                </a:solidFill>
                <a:cs typeface="+mn-ea"/>
                <a:sym typeface="+mn-lt"/>
              </a:rPr>
              <a:t>LOAD EVENT_CNT -&gt; 0</a:t>
            </a:r>
            <a:endParaRPr lang="en-US" altLang="zh-CN" sz="1100" b="1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>
            <a:off x="9067965" y="3429000"/>
            <a:ext cx="5794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9067965" y="4744016"/>
            <a:ext cx="5794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9686922" y="3124612"/>
            <a:ext cx="1431802" cy="4602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200">
                <a:cs typeface="+mn-ea"/>
                <a:sym typeface="+mn-lt"/>
              </a:rPr>
              <a:t>先写入</a:t>
            </a:r>
            <a:r>
              <a:rPr lang="en-US" altLang="zh-CN" sz="1200">
                <a:cs typeface="+mn-ea"/>
                <a:sym typeface="+mn-lt"/>
              </a:rPr>
              <a:t>WR_EVENT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686922" y="4420662"/>
            <a:ext cx="1394934" cy="4602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200">
                <a:cs typeface="+mn-ea"/>
                <a:sym typeface="+mn-lt"/>
              </a:rPr>
              <a:t>先写入</a:t>
            </a:r>
            <a:r>
              <a:rPr lang="en-US" altLang="zh-CN" sz="1200">
                <a:cs typeface="+mn-ea"/>
                <a:sym typeface="+mn-lt"/>
              </a:rPr>
              <a:t>RD_EVENT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357676" y="3737744"/>
            <a:ext cx="2262158" cy="48205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>
                <a:solidFill>
                  <a:schemeClr val="accent1"/>
                </a:solidFill>
                <a:cs typeface="+mn-ea"/>
                <a:sym typeface="+mn-lt"/>
              </a:rPr>
              <a:t>“不同的写入顺序”</a:t>
            </a:r>
            <a:endParaRPr lang="zh-CN" altLang="en-US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0154381" y="3580571"/>
            <a:ext cx="0" cy="21188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0154381" y="4212041"/>
            <a:ext cx="0" cy="33279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60008" y="5676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38096" y="1023079"/>
            <a:ext cx="5409561" cy="544764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// thread1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recv_wr_event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WR_EVENT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store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true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SeqCst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// thread2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recv_rd_event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RD_EVENT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store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true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SeqCst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// thread3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wait_wr_event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while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!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WR_EVENT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load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SeqCst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{}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if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RD_EVENT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load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SeqCst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EVENT_CNT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fetch_add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Relaxed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// thread4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wait_rd_event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while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!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RD_EVENT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load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SeqCst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{}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if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WR_EVENT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load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SeqCst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EVENT_CNT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fetch_add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Relaxed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thr1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join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();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thr2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join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();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thr3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join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();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thr4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join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assert!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EVENT_CNT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load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Relaxed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&gt;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 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一定满足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160008" y="91166"/>
            <a:ext cx="10740640" cy="590008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内存顺序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lang="en-US" altLang="zh-CN" b="1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SeqCst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)-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多线程多变量读写方案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6312800" y="1093283"/>
            <a:ext cx="2771566" cy="11160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>
                <a:cs typeface="+mn-ea"/>
                <a:sym typeface="+mn-lt"/>
              </a:rPr>
              <a:t>可能的执行的顺序：</a:t>
            </a:r>
            <a:endParaRPr lang="en-US" altLang="zh-CN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cs typeface="+mn-ea"/>
                <a:sym typeface="+mn-lt"/>
              </a:rPr>
              <a:t>STORE XX_EVENT TRUE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cs typeface="+mn-ea"/>
                <a:sym typeface="+mn-lt"/>
              </a:rPr>
              <a:t>STORE XX_EVEN TRUE</a:t>
            </a:r>
          </a:p>
        </p:txBody>
      </p:sp>
      <p:sp>
        <p:nvSpPr>
          <p:cNvPr id="39" name="矩形 38"/>
          <p:cNvSpPr/>
          <p:nvPr/>
        </p:nvSpPr>
        <p:spPr>
          <a:xfrm>
            <a:off x="6312799" y="2676377"/>
            <a:ext cx="2771567" cy="11176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>
                <a:cs typeface="+mn-ea"/>
                <a:sym typeface="+mn-lt"/>
              </a:rPr>
              <a:t>本线程可能的</a:t>
            </a:r>
            <a:r>
              <a:rPr lang="en-US" altLang="zh-CN" b="1">
                <a:cs typeface="+mn-ea"/>
                <a:sym typeface="+mn-lt"/>
              </a:rPr>
              <a:t>LOAD</a:t>
            </a:r>
            <a:r>
              <a:rPr lang="zh-CN" altLang="en-US" b="1">
                <a:cs typeface="+mn-ea"/>
                <a:sym typeface="+mn-lt"/>
              </a:rPr>
              <a:t>结果：</a:t>
            </a:r>
            <a:endParaRPr lang="en-US" altLang="zh-CN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cs typeface="+mn-ea"/>
                <a:sym typeface="+mn-lt"/>
              </a:rPr>
              <a:t>LOAD WR_EVENT -&gt; TRUE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cs typeface="+mn-ea"/>
                <a:sym typeface="+mn-lt"/>
              </a:rPr>
              <a:t>LOAD RD_EVENT -&gt; FALSE</a:t>
            </a:r>
          </a:p>
        </p:txBody>
      </p:sp>
      <p:sp>
        <p:nvSpPr>
          <p:cNvPr id="40" name="矩形 39"/>
          <p:cNvSpPr/>
          <p:nvPr/>
        </p:nvSpPr>
        <p:spPr>
          <a:xfrm>
            <a:off x="6312800" y="4090605"/>
            <a:ext cx="2960410" cy="11160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>
                <a:cs typeface="+mn-ea"/>
                <a:sym typeface="+mn-lt"/>
              </a:rPr>
              <a:t>本线程</a:t>
            </a:r>
            <a:r>
              <a:rPr lang="en-US" altLang="zh-CN" b="1">
                <a:cs typeface="+mn-ea"/>
                <a:sym typeface="+mn-lt"/>
              </a:rPr>
              <a:t>LOAD</a:t>
            </a:r>
            <a:r>
              <a:rPr lang="zh-CN" altLang="en-US" b="1">
                <a:cs typeface="+mn-ea"/>
                <a:sym typeface="+mn-lt"/>
              </a:rPr>
              <a:t>结果</a:t>
            </a:r>
            <a:r>
              <a:rPr lang="en-US" altLang="zh-CN" b="1">
                <a:cs typeface="+mn-ea"/>
                <a:sym typeface="+mn-lt"/>
              </a:rPr>
              <a:t>-</a:t>
            </a:r>
            <a:r>
              <a:rPr lang="zh-CN" altLang="en-US" b="1">
                <a:cs typeface="+mn-ea"/>
                <a:sym typeface="+mn-lt"/>
              </a:rPr>
              <a:t>确定</a:t>
            </a:r>
            <a:endParaRPr lang="en-US" altLang="zh-CN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cs typeface="+mn-ea"/>
                <a:sym typeface="+mn-lt"/>
              </a:rPr>
              <a:t>LOAD RD_EVENT -&gt; TRUE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cs typeface="+mn-ea"/>
                <a:sym typeface="+mn-lt"/>
              </a:rPr>
              <a:t>LOAD WR_EVENT -&gt; TRUE</a:t>
            </a:r>
          </a:p>
        </p:txBody>
      </p:sp>
      <p:sp>
        <p:nvSpPr>
          <p:cNvPr id="47" name="矩形 46"/>
          <p:cNvSpPr/>
          <p:nvPr/>
        </p:nvSpPr>
        <p:spPr>
          <a:xfrm>
            <a:off x="6312799" y="5536803"/>
            <a:ext cx="5236563" cy="383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>
                <a:solidFill>
                  <a:schemeClr val="accent1"/>
                </a:solidFill>
                <a:cs typeface="+mn-ea"/>
                <a:sym typeface="+mn-lt"/>
              </a:rPr>
              <a:t>LOAD EVENT_CNT -&gt; 1                </a:t>
            </a:r>
            <a:r>
              <a:rPr lang="en-US" altLang="zh-CN" sz="1100" b="1">
                <a:solidFill>
                  <a:schemeClr val="accent1"/>
                </a:solidFill>
                <a:cs typeface="+mn-ea"/>
                <a:sym typeface="+mn-lt"/>
              </a:rPr>
              <a:t>LOAD EVENT_CNT -&gt; 2</a:t>
            </a:r>
            <a:endParaRPr lang="en-US" altLang="zh-CN" sz="1000" b="1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165329" y="2676377"/>
            <a:ext cx="2771567" cy="11176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>
                <a:cs typeface="+mn-ea"/>
                <a:sym typeface="+mn-lt"/>
              </a:rPr>
              <a:t>本线程可能的</a:t>
            </a:r>
            <a:r>
              <a:rPr lang="en-US" altLang="zh-CN" b="1">
                <a:cs typeface="+mn-ea"/>
                <a:sym typeface="+mn-lt"/>
              </a:rPr>
              <a:t>LOAD</a:t>
            </a:r>
            <a:r>
              <a:rPr lang="zh-CN" altLang="en-US" b="1">
                <a:cs typeface="+mn-ea"/>
                <a:sym typeface="+mn-lt"/>
              </a:rPr>
              <a:t>结果：</a:t>
            </a:r>
            <a:endParaRPr lang="en-US" altLang="zh-CN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cs typeface="+mn-ea"/>
                <a:sym typeface="+mn-lt"/>
              </a:rPr>
              <a:t>LOAD WR_EVENT -&gt; TRUE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cs typeface="+mn-ea"/>
                <a:sym typeface="+mn-lt"/>
              </a:rPr>
              <a:t>LOAD RD_EVENT -&gt; TRUE</a:t>
            </a:r>
          </a:p>
        </p:txBody>
      </p:sp>
      <p:cxnSp>
        <p:nvCxnSpPr>
          <p:cNvPr id="9" name="直接箭头连接符 8"/>
          <p:cNvCxnSpPr/>
          <p:nvPr/>
        </p:nvCxnSpPr>
        <p:spPr>
          <a:xfrm>
            <a:off x="3866322" y="1550504"/>
            <a:ext cx="2366527" cy="211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V="1">
            <a:off x="3866322" y="2040274"/>
            <a:ext cx="2366527" cy="325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>
            <a:off x="4301412" y="3432027"/>
            <a:ext cx="1931437" cy="21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>
            <a:off x="4432852" y="4880083"/>
            <a:ext cx="18884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>
            <a:off x="5377070" y="5774635"/>
            <a:ext cx="5068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8926961" y="4070697"/>
            <a:ext cx="755373" cy="352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8926961" y="4701179"/>
            <a:ext cx="755373" cy="357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9710112" y="4246790"/>
            <a:ext cx="2262158" cy="48205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>
                <a:solidFill>
                  <a:schemeClr val="accent1"/>
                </a:solidFill>
                <a:cs typeface="+mn-ea"/>
                <a:sym typeface="+mn-lt"/>
              </a:rPr>
              <a:t>“相同的写入顺序”</a:t>
            </a:r>
            <a:endParaRPr lang="zh-CN" altLang="en-US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160008" y="5676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160008" y="74185"/>
            <a:ext cx="10740640" cy="567844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内存顺序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lang="en-US" altLang="zh-CN" b="1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SeqCst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)-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总结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868020" y="1170790"/>
            <a:ext cx="63911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>
                <a:cs typeface="+mn-ea"/>
                <a:sym typeface="+mn-lt"/>
              </a:rPr>
              <a:t>1</a:t>
            </a:r>
            <a:r>
              <a:rPr lang="zh-CN" altLang="en-US" sz="1600">
                <a:cs typeface="+mn-ea"/>
                <a:sym typeface="+mn-lt"/>
              </a:rPr>
              <a:t>、场景：用于多线程写多变量的读写顺序保证；</a:t>
            </a:r>
            <a:endParaRPr lang="en-US" altLang="zh-CN" sz="160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cs typeface="+mn-ea"/>
                <a:sym typeface="+mn-lt"/>
              </a:rPr>
              <a:t>2</a:t>
            </a:r>
            <a:r>
              <a:rPr lang="zh-CN" altLang="en-US" sz="1600">
                <a:cs typeface="+mn-ea"/>
                <a:sym typeface="+mn-lt"/>
              </a:rPr>
              <a:t>、目的：多个读线程</a:t>
            </a:r>
            <a:r>
              <a:rPr lang="en-US" altLang="zh-CN" sz="1600">
                <a:cs typeface="+mn-ea"/>
                <a:sym typeface="+mn-lt"/>
              </a:rPr>
              <a:t>”</a:t>
            </a:r>
            <a:r>
              <a:rPr lang="zh-CN" altLang="en-US" sz="1600">
                <a:cs typeface="+mn-ea"/>
                <a:sym typeface="+mn-lt"/>
              </a:rPr>
              <a:t>看</a:t>
            </a:r>
            <a:r>
              <a:rPr lang="en-US" altLang="zh-CN" sz="1600">
                <a:cs typeface="+mn-ea"/>
                <a:sym typeface="+mn-lt"/>
              </a:rPr>
              <a:t>”</a:t>
            </a:r>
            <a:r>
              <a:rPr lang="zh-CN" altLang="en-US" sz="1600">
                <a:cs typeface="+mn-ea"/>
                <a:sym typeface="+mn-lt"/>
              </a:rPr>
              <a:t>到的变量写入顺序是相同的；</a:t>
            </a:r>
            <a:endParaRPr lang="en-US" altLang="zh-CN" sz="160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cs typeface="+mn-ea"/>
                <a:sym typeface="+mn-lt"/>
              </a:rPr>
              <a:t>3</a:t>
            </a:r>
            <a:r>
              <a:rPr lang="zh-CN" altLang="en-US" sz="1600">
                <a:cs typeface="+mn-ea"/>
                <a:sym typeface="+mn-lt"/>
              </a:rPr>
              <a:t>、约束：顺序保证只作用于</a:t>
            </a:r>
            <a:r>
              <a:rPr lang="en-US" altLang="zh-CN" sz="1600">
                <a:cs typeface="+mn-ea"/>
                <a:sym typeface="+mn-lt"/>
              </a:rPr>
              <a:t>SeqCst</a:t>
            </a:r>
            <a:r>
              <a:rPr lang="zh-CN" altLang="en-US" sz="1600">
                <a:cs typeface="+mn-ea"/>
                <a:sym typeface="+mn-lt"/>
              </a:rPr>
              <a:t>内存序读写的变量；</a:t>
            </a:r>
            <a:endParaRPr lang="zh-CN" altLang="en-US" sz="1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160008" y="5676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160008" y="79961"/>
            <a:ext cx="10740640" cy="567844"/>
          </a:xfrm>
        </p:spPr>
        <p:txBody>
          <a:bodyPr/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Fence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接口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结合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atomic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使用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08" y="1421343"/>
            <a:ext cx="4501970" cy="201125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60008" y="3962511"/>
            <a:ext cx="2066660" cy="1023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>
                <a:cs typeface="+mn-ea"/>
                <a:sym typeface="+mn-lt"/>
              </a:rPr>
              <a:t>Thread1</a:t>
            </a:r>
          </a:p>
          <a:p>
            <a:pPr>
              <a:lnSpc>
                <a:spcPct val="150000"/>
              </a:lnSpc>
            </a:pPr>
            <a:endParaRPr lang="en-US" altLang="zh-CN" sz="140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cs typeface="+mn-ea"/>
                <a:sym typeface="+mn-lt"/>
              </a:rPr>
              <a:t>x.store(3, Release);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524811" y="3962511"/>
            <a:ext cx="194455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>
                <a:cs typeface="+mn-ea"/>
                <a:sym typeface="+mn-lt"/>
              </a:rPr>
              <a:t>Thread2</a:t>
            </a:r>
          </a:p>
          <a:p>
            <a:pPr>
              <a:lnSpc>
                <a:spcPct val="150000"/>
              </a:lnSpc>
            </a:pPr>
            <a:endParaRPr lang="en-US" altLang="zh-CN" sz="140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cs typeface="+mn-ea"/>
                <a:sym typeface="+mn-lt"/>
              </a:rPr>
              <a:t>if x.store(Acquire) == 3 {…}</a:t>
            </a:r>
            <a:endParaRPr lang="zh-CN" altLang="en-US" sz="1400" dirty="0">
              <a:cs typeface="+mn-ea"/>
              <a:sym typeface="+mn-lt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60008" y="5676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851918" y="637125"/>
            <a:ext cx="5236563" cy="4250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>
                <a:cs typeface="+mn-ea"/>
                <a:sym typeface="+mn-lt"/>
              </a:rPr>
              <a:t>1. </a:t>
            </a:r>
            <a:r>
              <a:rPr lang="zh-CN" altLang="en-US" sz="1600" b="1">
                <a:cs typeface="+mn-ea"/>
                <a:sym typeface="+mn-lt"/>
              </a:rPr>
              <a:t>在特定分支使用，目的是性能。</a:t>
            </a:r>
            <a:endParaRPr lang="en-US" altLang="zh-CN" sz="1400" b="1"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851918" y="3962511"/>
            <a:ext cx="5236563" cy="4250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>
                <a:cs typeface="+mn-ea"/>
                <a:sym typeface="+mn-lt"/>
              </a:rPr>
              <a:t>2. </a:t>
            </a:r>
            <a:r>
              <a:rPr lang="zh-CN" altLang="en-US" sz="1600" b="1">
                <a:cs typeface="+mn-ea"/>
                <a:sym typeface="+mn-lt"/>
              </a:rPr>
              <a:t>原子操作不支持的内存序，只能单独使用。</a:t>
            </a:r>
            <a:endParaRPr lang="en-US" altLang="zh-CN" sz="1400" b="1"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851918" y="1100189"/>
            <a:ext cx="7035283" cy="267765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lock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// Wait until the old value is `false`.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while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.flag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compare_exchange_weak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false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true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Relaxed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Relaxed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is_err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{}</a:t>
            </a: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// This fence synchronizes-with store in `unlock`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fence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Acquire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unlock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.flag.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store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false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Release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851917" y="4474382"/>
            <a:ext cx="7035283" cy="193899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Err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TASK_RETURN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=&gt;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.status.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store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exit_code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Release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fence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Acquire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.waker.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take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unwrap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wake_by_ref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Err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TASK_JOIN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=&gt;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unsafe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.status.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store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exit_code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Release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fence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Acquire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.join.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get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unwrap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as_mut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post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},</a:t>
            </a:r>
            <a:endParaRPr lang="en-US" altLang="zh-CN" sz="12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总结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298460"/>
              </p:ext>
            </p:extLst>
          </p:nvPr>
        </p:nvGraphicFramePr>
        <p:xfrm>
          <a:off x="856215" y="1722459"/>
          <a:ext cx="9599750" cy="2148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4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2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46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45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+mn-lt"/>
                          <a:ea typeface="+mn-ea"/>
                          <a:cs typeface="+mn-ea"/>
                          <a:sym typeface="+mn-lt"/>
                        </a:rPr>
                        <a:t>单变量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+mn-lt"/>
                          <a:ea typeface="+mn-ea"/>
                          <a:cs typeface="+mn-ea"/>
                          <a:sym typeface="+mn-lt"/>
                        </a:rPr>
                        <a:t>多变量单线程写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+mn-lt"/>
                          <a:ea typeface="+mn-ea"/>
                          <a:cs typeface="+mn-ea"/>
                          <a:sym typeface="+mn-lt"/>
                        </a:rPr>
                        <a:t>多变量多线程写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+mn-lt"/>
                          <a:ea typeface="+mn-ea"/>
                          <a:cs typeface="+mn-ea"/>
                          <a:sym typeface="+mn-lt"/>
                        </a:rPr>
                        <a:t>性能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+mn-lt"/>
                          <a:ea typeface="+mn-ea"/>
                          <a:cs typeface="+mn-ea"/>
                          <a:sym typeface="+mn-lt"/>
                        </a:rPr>
                        <a:t>Relaxed</a:t>
                      </a:r>
                      <a:endParaRPr lang="zh-CN" altLang="en-US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+mn-lt"/>
                          <a:ea typeface="+mn-ea"/>
                          <a:cs typeface="+mn-ea"/>
                          <a:sym typeface="+mn-lt"/>
                        </a:rPr>
                        <a:t>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+mn-lt"/>
                          <a:ea typeface="+mn-ea"/>
                          <a:cs typeface="+mn-ea"/>
                          <a:sym typeface="+mn-lt"/>
                        </a:rPr>
                        <a:t>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+mn-lt"/>
                          <a:ea typeface="+mn-ea"/>
                          <a:cs typeface="+mn-ea"/>
                          <a:sym typeface="+mn-lt"/>
                        </a:rPr>
                        <a:t>Acquire/Release/AcqRel</a:t>
                      </a:r>
                      <a:endParaRPr lang="zh-CN" altLang="en-US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+mn-lt"/>
                          <a:ea typeface="+mn-ea"/>
                          <a:cs typeface="+mn-ea"/>
                          <a:sym typeface="+mn-lt"/>
                        </a:rPr>
                        <a:t>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+mn-lt"/>
                          <a:ea typeface="+mn-ea"/>
                          <a:cs typeface="+mn-ea"/>
                          <a:sym typeface="+mn-lt"/>
                        </a:rPr>
                        <a:t>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+mn-lt"/>
                          <a:ea typeface="+mn-ea"/>
                          <a:cs typeface="+mn-ea"/>
                          <a:sym typeface="+mn-lt"/>
                        </a:rPr>
                        <a:t>SeqCst</a:t>
                      </a:r>
                      <a:endParaRPr lang="zh-CN" altLang="en-US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+mn-lt"/>
                          <a:ea typeface="+mn-ea"/>
                          <a:cs typeface="+mn-ea"/>
                          <a:sym typeface="+mn-lt"/>
                        </a:rPr>
                        <a:t>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+mn-lt"/>
                          <a:ea typeface="+mn-ea"/>
                          <a:cs typeface="+mn-ea"/>
                          <a:sym typeface="+mn-lt"/>
                        </a:rPr>
                        <a:t>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4" name="直接连接符 3"/>
          <p:cNvCxnSpPr/>
          <p:nvPr/>
        </p:nvCxnSpPr>
        <p:spPr>
          <a:xfrm>
            <a:off x="729175" y="959523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本章小结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090007"/>
            <a:ext cx="10733557" cy="4690459"/>
          </a:xfrm>
        </p:spPr>
        <p:txBody>
          <a:bodyPr/>
          <a:lstStyle/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学完本章，希望可以：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</a:t>
            </a:r>
            <a:r>
              <a:rPr lang="en-US" altLang="zh-CN" sz="1800">
                <a:cs typeface="+mn-ea"/>
                <a:sym typeface="+mn-lt"/>
              </a:rPr>
              <a:t>Atomic</a:t>
            </a:r>
            <a:r>
              <a:rPr lang="zh-CN" altLang="en-US" sz="1800">
                <a:cs typeface="+mn-ea"/>
                <a:sym typeface="+mn-lt"/>
              </a:rPr>
              <a:t>类型的基本使用接口；</a:t>
            </a:r>
            <a:endParaRPr lang="en-US" altLang="zh-CN" sz="1800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</a:t>
            </a:r>
            <a:r>
              <a:rPr lang="en-US" altLang="zh-CN" sz="1800">
                <a:cs typeface="+mn-ea"/>
                <a:sym typeface="+mn-lt"/>
              </a:rPr>
              <a:t>Acquire/Release/AcqRel/Relaxed/SeqCst</a:t>
            </a:r>
            <a:r>
              <a:rPr lang="zh-CN" altLang="en-US" sz="1800">
                <a:cs typeface="+mn-ea"/>
                <a:sym typeface="+mn-lt"/>
              </a:rPr>
              <a:t>不同内存序的正确使用；</a:t>
            </a:r>
            <a:endParaRPr lang="en-US" altLang="zh-CN" sz="180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</a:t>
            </a:r>
            <a:r>
              <a:rPr lang="en-US" altLang="zh-CN" sz="1800">
                <a:cs typeface="+mn-ea"/>
                <a:sym typeface="+mn-lt"/>
              </a:rPr>
              <a:t>Fence</a:t>
            </a:r>
            <a:r>
              <a:rPr lang="zh-CN" altLang="en-US" sz="1800">
                <a:cs typeface="+mn-ea"/>
                <a:sym typeface="+mn-lt"/>
              </a:rPr>
              <a:t>接口的概念和使用；</a:t>
            </a:r>
            <a:endParaRPr lang="en-US" altLang="zh-CN" sz="180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详细的</a:t>
            </a:r>
            <a:r>
              <a:rPr lang="en-US" altLang="zh-CN" sz="1800">
                <a:cs typeface="+mn-ea"/>
                <a:sym typeface="+mn-lt"/>
              </a:rPr>
              <a:t>API</a:t>
            </a:r>
            <a:r>
              <a:rPr lang="zh-CN" altLang="en-US" sz="1800">
                <a:cs typeface="+mn-ea"/>
                <a:sym typeface="+mn-lt"/>
              </a:rPr>
              <a:t>功能、输入参数和返回值说明，请查阅标准库的文档</a:t>
            </a:r>
            <a:endParaRPr lang="en-US" altLang="zh-CN" sz="180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zh-CN" sz="1800" dirty="0"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22092" y="945152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jxs2u50c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jxs2u50c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jxs2u50c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jxs2u50c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15151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vert="horz" wrap="none" rtlCol="0">
        <a:spAutoFit/>
      </a:bodyPr>
      <a:lstStyle>
        <a:defPPr algn="l">
          <a:lnSpc>
            <a:spcPts val="3440"/>
          </a:lnSpc>
          <a:defRPr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jxs2u50c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2680</TotalTime>
  <Words>3126</Words>
  <Application>Microsoft Office PowerPoint</Application>
  <PresentationFormat>自定义</PresentationFormat>
  <Paragraphs>358</Paragraphs>
  <Slides>20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Microsoft YaHei</vt:lpstr>
      <vt:lpstr>Arial</vt:lpstr>
      <vt:lpstr>Calibri</vt:lpstr>
      <vt:lpstr>Huawei Sans</vt:lpstr>
      <vt:lpstr>Wingdings</vt:lpstr>
      <vt:lpstr>1_Title Slide</vt:lpstr>
      <vt:lpstr>2_Title Slide</vt:lpstr>
      <vt:lpstr>Chart page</vt:lpstr>
      <vt:lpstr>4_Chart page</vt:lpstr>
      <vt:lpstr>End page</vt:lpstr>
      <vt:lpstr>原子类型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原子类型（仅限专业级）</dc:title>
  <dc:creator>fanyan (A)</dc:creator>
  <cp:lastModifiedBy>Zhangyandong (ben)</cp:lastModifiedBy>
  <cp:revision>14</cp:revision>
  <dcterms:created xsi:type="dcterms:W3CDTF">2023-10-18T07:24:25Z</dcterms:created>
  <dcterms:modified xsi:type="dcterms:W3CDTF">2024-11-20T02:34:13Z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(3)kNN3FHV4djWVrmQHS1AaigVZZPbw4JZVNmrHu1JL3ovPYKfhBf1VcJJq9NpcCOwR/K4rUHFb
oDRjwTZ9T92KHIF7VMZ7vJTyTmRh8EB/VGFt5Tap4pmtrDINzJrrCq/gzb/4NIw6rnw0bz1u
y4ewLy/0VhwqgIvS9fZ3oqIn6nd7K0OXhTArIVGtn5tR2VDGATW2sGmp9di7LK0BpE4Wd/7V
9J91JurpIVfZBTq+d/</vt:lpwstr>
  </property>
  <property fmtid="{D5CDD505-2E9C-101B-9397-08002B2CF9AE}" pid="3" name="_2015_ms_pID_7253431">
    <vt:lpwstr>+ahZ+AkPaWt2JVB3578h1TfyPhV5H3nb92kIthR8eDBFZBvCt8zXit
rs3F7DJYNIWTa7bF+idf4J9izpe5Hs7eprONOQ+HRqL476cY5iNEVQV7CUPRq/KplbYzDemL
gGZf2WtDxLPJMrMcuaZO5GpzsT6h92jxsaU9+ZAkzJqhBo+k40HY9ycOWxDJKDO61gkACKWt
hWwE70hZgesuFCovoCUVUQYxArwLgpMvdA5j</vt:lpwstr>
  </property>
  <property fmtid="{D5CDD505-2E9C-101B-9397-08002B2CF9AE}" pid="4" name="_2015_ms_pID_7253432">
    <vt:lpwstr>uw==</vt:lpwstr>
  </property>
  <property fmtid="{D5CDD505-2E9C-101B-9397-08002B2CF9AE}" pid="5" name="KSOProductBuildVer">
    <vt:lpwstr>2052-0.0.0.0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1703150963</vt:lpwstr>
  </property>
</Properties>
</file>