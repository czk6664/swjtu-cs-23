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5" r:id="rId2"/>
    <p:sldMasterId id="2147483659" r:id="rId3"/>
    <p:sldMasterId id="2147483660" r:id="rId4"/>
    <p:sldMasterId id="2147483663" r:id="rId5"/>
  </p:sldMasterIdLst>
  <p:notesMasterIdLst>
    <p:notesMasterId r:id="rId23"/>
  </p:notesMasterIdLst>
  <p:handoutMasterIdLst>
    <p:handoutMasterId r:id="rId24"/>
  </p:handoutMasterIdLst>
  <p:sldIdLst>
    <p:sldId id="452" r:id="rId6"/>
    <p:sldId id="288" r:id="rId7"/>
    <p:sldId id="349" r:id="rId8"/>
    <p:sldId id="448" r:id="rId9"/>
    <p:sldId id="449" r:id="rId10"/>
    <p:sldId id="451" r:id="rId11"/>
    <p:sldId id="447" r:id="rId12"/>
    <p:sldId id="471" r:id="rId13"/>
    <p:sldId id="421" r:id="rId14"/>
    <p:sldId id="436" r:id="rId15"/>
    <p:sldId id="437" r:id="rId16"/>
    <p:sldId id="439" r:id="rId17"/>
    <p:sldId id="440" r:id="rId18"/>
    <p:sldId id="453" r:id="rId19"/>
    <p:sldId id="455" r:id="rId20"/>
    <p:sldId id="446" r:id="rId21"/>
    <p:sldId id="280" r:id="rId22"/>
  </p:sldIdLst>
  <p:sldSz cx="12196763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452"/>
          </p14:sldIdLst>
        </p14:section>
        <p14:section name="目录页" id="{9D221634-295C-7843-AF5C-A0CB4F229241}">
          <p14:sldIdLst>
            <p14:sldId id="288"/>
          </p14:sldIdLst>
        </p14:section>
        <p14:section name="章节页" id="{FD05EE94-C931-8C4B-83A2-004B32AA1207}">
          <p14:sldIdLst>
            <p14:sldId id="349"/>
            <p14:sldId id="448"/>
            <p14:sldId id="449"/>
            <p14:sldId id="451"/>
            <p14:sldId id="447"/>
            <p14:sldId id="471"/>
            <p14:sldId id="421"/>
            <p14:sldId id="436"/>
            <p14:sldId id="437"/>
            <p14:sldId id="439"/>
            <p14:sldId id="440"/>
            <p14:sldId id="453"/>
            <p14:sldId id="455"/>
            <p14:sldId id="446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pos="3701">
          <p15:clr>
            <a:srgbClr val="A4A3A4"/>
          </p15:clr>
        </p15:guide>
        <p15:guide id="2" orient="horz" pos="2159">
          <p15:clr>
            <a:srgbClr val="A4A3A4"/>
          </p15:clr>
        </p15:guide>
        <p15:guide id="3" pos="35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002" name="wuxiaojun 00342820_QRBvBJbY" initials="authorId_AK20210901:AK20210901JXNSXO124321" lastIdx="0" clrIdx="0"/>
  <p:cmAuthor id="2003" name="hantingjun 00339793_ya2iumaE" initials="authorId_AK20210901:AK20210901JXNSXO115905" lastIdx="1688577923" clrIdx="0"/>
  <p:cmAuthor id="2004" name="gaoshang 00419539_MRJvMvEj" initials="authorId_AK20210901:AK20210901JXNSXO980865" lastIdx="1690059030" clrIdx="0"/>
  <p:cmAuthor id="2000" name="fanchangchun 00567414_2yeyVvEJ" initials="authorId_AK20210901:AK20210901JXNSXO4723448" lastIdx="0" clrIdx="0"/>
  <p:cmAuthor id="2001" name="zhanghandong WX930509_Jj22FnMn" initials="authorId_AK20210901:AK20210901JXNSXO4676065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57B84"/>
    <a:srgbClr val="E6A8AD"/>
    <a:srgbClr val="E57984"/>
    <a:srgbClr val="FFFFFF"/>
    <a:srgbClr val="151515"/>
    <a:srgbClr val="C7000B"/>
    <a:srgbClr val="575756"/>
    <a:srgbClr val="DD4654"/>
    <a:srgbClr val="F3D2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2734" autoAdjust="0"/>
  </p:normalViewPr>
  <p:slideViewPr>
    <p:cSldViewPr snapToGrid="0" snapToObjects="1">
      <p:cViewPr varScale="1">
        <p:scale>
          <a:sx n="67" d="100"/>
          <a:sy n="67" d="100"/>
        </p:scale>
        <p:origin x="68" y="280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11/20/2024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sz="1600" b="1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07326F3-4732-B74B-9C70-D0992466E499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5154" y="-57144"/>
            <a:ext cx="12243078" cy="5625189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20363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创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9" name="L 形 8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/>
          <p:cNvSpPr>
            <a:spLocks noGrp="1"/>
          </p:cNvSpPr>
          <p:nvPr>
            <p:ph idx="12" hasCustomPrompt="1"/>
          </p:nvPr>
        </p:nvSpPr>
        <p:spPr>
          <a:xfrm>
            <a:off x="726021" y="1512875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79705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93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770" algn="ctr"/>
              </a:tabLst>
              <a:defRPr sz="16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550" marR="0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770" algn="ctr"/>
              </a:tabLst>
              <a:defRPr sz="1300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2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930" marR="0" lvl="1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550" marR="0" lvl="2" indent="-168275" algn="l" defTabSz="11880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770" algn="ctr"/>
              </a:tabLst>
              <a:defRPr/>
            </a:pPr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800" dirty="0">
                <a:solidFill>
                  <a:schemeClr val="tx1"/>
                </a:solidFill>
              </a:rPr>
              <a:t>Thank you.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.jpe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0030"/>
            <a:ext cx="2256665" cy="493531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0" baseline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‹#›</a:t>
            </a:fld>
            <a:endParaRPr lang="en-US" sz="975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200/16/46</a:t>
                </a: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P</a:t>
                </a:r>
                <a:r>
                  <a:rPr kumimoji="1" lang="en-US" altLang="en-US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ANTONE</a:t>
                </a: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199/0/11</a:t>
                </a: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234/90/79</a:t>
                </a: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120/0/15</a:t>
                </a: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248/181/60</a:t>
                </a: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235/92/1</a:t>
                </a: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137/137/137</a:t>
                </a: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35/24/21</a:t>
                </a: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221/221/221</a:t>
                </a: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233/140/128</a:t>
                </a: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159/0/1</a:t>
                </a: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245/220/87</a:t>
                </a: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240/133/0</a:t>
                </a: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181/181/181</a:t>
                </a: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tx2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89/87/87</a:t>
                </a: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>
                    <a:solidFill>
                      <a:schemeClr val="bg1"/>
                    </a:solidFill>
                    <a:latin typeface="Arial" panose="020B0604020202020204" pitchFamily="34" charset="0"/>
                    <a:ea typeface="Arial" panose="020B0604020202020204" pitchFamily="34" charset="0"/>
                    <a:cs typeface="Arial" panose="020B0604020202020204" pitchFamily="34" charset="0"/>
                  </a:rPr>
                  <a:t>RGB 255/255/255</a:t>
                </a: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8" y="6321130"/>
            <a:ext cx="1269075" cy="27754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  <a:t>Copyright©2018 Huawei Technologies Co., Ltd.</a:t>
            </a:r>
            <a:b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8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把数字世界带入每个人、每个家庭、</a:t>
            </a:r>
            <a:br>
              <a:rPr kumimoji="1" lang="en-US" altLang="zh-CN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</a:br>
            <a:r>
              <a:rPr kumimoji="1" lang="zh-CN" altLang="en-US" sz="1300">
                <a:solidFill>
                  <a:srgbClr val="1D1D1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每个组织，构建万物互联的智能世界。</a:t>
            </a: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 and </a:t>
            </a:r>
            <a:b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>
              <a:solidFill>
                <a:srgbClr val="1D1D1B"/>
              </a:solidFill>
              <a:latin typeface="+mn-lt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8" y="5237637"/>
            <a:ext cx="1869596" cy="40888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20204" pitchFamily="34" charset="0"/>
        <a:buNone/>
        <a:defRPr sz="1820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948808" y="1066890"/>
            <a:ext cx="8762120" cy="690255"/>
          </a:xfrm>
        </p:spPr>
        <p:txBody>
          <a:bodyPr>
            <a:noAutofit/>
          </a:bodyPr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并发编程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4" name="Text Placeholder 3"/>
          <p:cNvSpPr txBox="1"/>
          <p:nvPr/>
        </p:nvSpPr>
        <p:spPr>
          <a:xfrm>
            <a:off x="948808" y="6264112"/>
            <a:ext cx="2606870" cy="13669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kumimoji="1" lang="en-US" altLang="zh-CN" sz="1000">
                <a:cs typeface="+mn-ea"/>
                <a:sym typeface="+mn-lt"/>
              </a:rPr>
              <a:t>Security Level:</a:t>
            </a:r>
            <a:endParaRPr lang="en-US" sz="1000">
              <a:cs typeface="+mn-ea"/>
              <a:sym typeface="+mn-lt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001663" y="5858894"/>
            <a:ext cx="2794958" cy="888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关于本章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377391"/>
            <a:ext cx="10733557" cy="87813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章节目标</a:t>
            </a: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通过本章节的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学习，理解线程的概念和基本用法，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Send&amp;Sync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相关的概念的和使用场景。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>
              <a:lnSpc>
                <a:spcPct val="150000"/>
              </a:lnSpc>
            </a:pPr>
            <a:endParaRPr lang="en-US" altLang="zh-CN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729175" y="1811383"/>
            <a:ext cx="906585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29175" y="2854330"/>
            <a:ext cx="2073660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矩形 4"/>
          <p:cNvSpPr/>
          <p:nvPr/>
        </p:nvSpPr>
        <p:spPr>
          <a:xfrm>
            <a:off x="419122" y="2823872"/>
            <a:ext cx="4196421" cy="8744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>
                <a:cs typeface="+mn-ea"/>
                <a:sym typeface="+mn-lt"/>
              </a:rPr>
              <a:t>线程；</a:t>
            </a:r>
            <a:endParaRPr lang="en-US" altLang="zh-CN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>
                <a:cs typeface="+mn-ea"/>
                <a:sym typeface="+mn-lt"/>
              </a:rPr>
              <a:t>Send</a:t>
            </a:r>
            <a:r>
              <a:rPr lang="zh-CN" altLang="en-US">
                <a:cs typeface="+mn-ea"/>
                <a:sym typeface="+mn-lt"/>
              </a:rPr>
              <a:t>和</a:t>
            </a:r>
            <a:r>
              <a:rPr lang="en-US" altLang="zh-CN">
                <a:cs typeface="+mn-ea"/>
                <a:sym typeface="+mn-lt"/>
              </a:rPr>
              <a:t>Sync</a:t>
            </a:r>
            <a:r>
              <a:rPr lang="zh-CN" altLang="en-US">
                <a:cs typeface="+mn-ea"/>
                <a:sym typeface="+mn-lt"/>
              </a:rPr>
              <a:t>；</a:t>
            </a:r>
            <a:endParaRPr lang="en-US" altLang="zh-CN" dirty="0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4926" y="2406157"/>
            <a:ext cx="2276585" cy="466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C00000"/>
                </a:solidFill>
                <a:cs typeface="+mn-ea"/>
                <a:sym typeface="+mn-lt"/>
              </a:rPr>
              <a:t>本章预期掌握知识点</a:t>
            </a:r>
            <a:endParaRPr lang="en-US" altLang="zh-CN" b="1" dirty="0">
              <a:solidFill>
                <a:srgbClr val="C00000"/>
              </a:solidFill>
              <a:cs typeface="+mn-ea"/>
              <a:sym typeface="+mn-lt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729175" y="947055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624474" y="0"/>
            <a:ext cx="36000" cy="6840000"/>
          </a:xfrm>
          <a:prstGeom prst="rect">
            <a:avLst/>
          </a:prstGeom>
          <a:gradFill>
            <a:gsLst>
              <a:gs pos="4000">
                <a:schemeClr val="tx2">
                  <a:lumMod val="85000"/>
                </a:schemeClr>
              </a:gs>
              <a:gs pos="54000">
                <a:schemeClr val="tx2">
                  <a:lumMod val="85000"/>
                </a:schemeClr>
              </a:gs>
              <a:gs pos="100000">
                <a:schemeClr val="tx2">
                  <a:lumMod val="85000"/>
                  <a:alpha val="7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354965" indent="-342900">
              <a:lnSpc>
                <a:spcPct val="150000"/>
              </a:lnSpc>
              <a:buAutoNum type="arabicPlain"/>
            </a:pP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线程和数据的并发访问</a:t>
            </a:r>
            <a:endParaRPr lang="en-US" altLang="zh-CN">
              <a:latin typeface="+mn-lt"/>
              <a:ea typeface="+mn-ea"/>
              <a:cs typeface="+mn-ea"/>
              <a:sym typeface="+mn-lt"/>
            </a:endParaRPr>
          </a:p>
          <a:p>
            <a:pPr marL="354965" indent="-342900">
              <a:lnSpc>
                <a:spcPct val="150000"/>
              </a:lnSpc>
              <a:buAutoNum type="arabicPlain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Send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和</a:t>
            </a: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Sync</a:t>
            </a:r>
          </a:p>
          <a:p>
            <a:pPr marL="354965" indent="-342900">
              <a:lnSpc>
                <a:spcPct val="150000"/>
              </a:lnSpc>
              <a:buAutoNum type="arabicPlain"/>
            </a:pPr>
            <a:r>
              <a:rPr lang="en-US" altLang="zh-CN">
                <a:latin typeface="+mn-lt"/>
                <a:ea typeface="+mn-ea"/>
                <a:cs typeface="+mn-ea"/>
                <a:sym typeface="+mn-lt"/>
              </a:rPr>
              <a:t>Arc</a:t>
            </a:r>
          </a:p>
          <a:p>
            <a:pPr marL="354965" indent="-342900">
              <a:lnSpc>
                <a:spcPct val="150000"/>
              </a:lnSpc>
              <a:buAutoNum type="arabicPlain" startAt="4"/>
            </a:pP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29175" y="947055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84664" y="120967"/>
            <a:ext cx="10740640" cy="99340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线程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多线程编程概念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84664" y="5943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657117" y="3996820"/>
            <a:ext cx="10188419" cy="1895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>
                <a:cs typeface="+mn-ea"/>
                <a:sym typeface="+mn-lt"/>
              </a:rPr>
              <a:t>进程和线程</a:t>
            </a:r>
            <a:endParaRPr lang="en-US" altLang="zh-CN" sz="1600" b="1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线程也被称为轻量级的进程，是操作系统内核的调度单元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线程内的程序指令都是顺序执行，需要利用多个线程获取并发并行执行的能力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任何一个线程都必须依附在某个进程内，同进程内其他线程共享同样的内存空间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进程入口为主线程，可基于系统调用或者基础库在同一个进程内创建更多的线程</a:t>
            </a:r>
            <a:endParaRPr lang="en-US" altLang="zh-CN" sz="1600">
              <a:cs typeface="+mn-ea"/>
              <a:sym typeface="+mn-lt"/>
            </a:endParaRPr>
          </a:p>
        </p:txBody>
      </p:sp>
      <p:sp>
        <p:nvSpPr>
          <p:cNvPr id="5" name="矩形: 圆角 4"/>
          <p:cNvSpPr/>
          <p:nvPr/>
        </p:nvSpPr>
        <p:spPr>
          <a:xfrm>
            <a:off x="1653524" y="1806169"/>
            <a:ext cx="1240325" cy="413468"/>
          </a:xfrm>
          <a:prstGeom prst="round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cs typeface="+mn-ea"/>
                <a:sym typeface="+mn-lt"/>
              </a:rPr>
              <a:t>应用程序</a:t>
            </a:r>
          </a:p>
        </p:txBody>
      </p:sp>
      <p:sp>
        <p:nvSpPr>
          <p:cNvPr id="23" name="矩形: 圆角 22"/>
          <p:cNvSpPr/>
          <p:nvPr/>
        </p:nvSpPr>
        <p:spPr>
          <a:xfrm>
            <a:off x="3535391" y="1092441"/>
            <a:ext cx="1240325" cy="413468"/>
          </a:xfrm>
          <a:prstGeom prst="round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cs typeface="+mn-ea"/>
                <a:sym typeface="+mn-lt"/>
              </a:rPr>
              <a:t>进程</a:t>
            </a:r>
          </a:p>
        </p:txBody>
      </p:sp>
      <p:sp>
        <p:nvSpPr>
          <p:cNvPr id="24" name="矩形: 圆角 23"/>
          <p:cNvSpPr/>
          <p:nvPr/>
        </p:nvSpPr>
        <p:spPr>
          <a:xfrm>
            <a:off x="3535390" y="1806169"/>
            <a:ext cx="1240325" cy="413468"/>
          </a:xfrm>
          <a:prstGeom prst="round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cs typeface="+mn-ea"/>
                <a:sym typeface="+mn-lt"/>
              </a:rPr>
              <a:t>进程</a:t>
            </a:r>
          </a:p>
        </p:txBody>
      </p:sp>
      <p:sp>
        <p:nvSpPr>
          <p:cNvPr id="25" name="矩形: 圆角 24"/>
          <p:cNvSpPr/>
          <p:nvPr/>
        </p:nvSpPr>
        <p:spPr>
          <a:xfrm>
            <a:off x="3535391" y="2437335"/>
            <a:ext cx="1240325" cy="413468"/>
          </a:xfrm>
          <a:prstGeom prst="round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cs typeface="+mn-ea"/>
                <a:sym typeface="+mn-lt"/>
              </a:rPr>
              <a:t>…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5507408" y="1092441"/>
            <a:ext cx="1240325" cy="413468"/>
          </a:xfrm>
          <a:prstGeom prst="round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cs typeface="+mn-ea"/>
                <a:sym typeface="+mn-lt"/>
              </a:rPr>
              <a:t>线程</a:t>
            </a:r>
          </a:p>
        </p:txBody>
      </p:sp>
      <p:sp>
        <p:nvSpPr>
          <p:cNvPr id="27" name="矩形: 圆角 26"/>
          <p:cNvSpPr/>
          <p:nvPr/>
        </p:nvSpPr>
        <p:spPr>
          <a:xfrm>
            <a:off x="5507408" y="1797906"/>
            <a:ext cx="1240325" cy="413468"/>
          </a:xfrm>
          <a:prstGeom prst="round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cs typeface="+mn-ea"/>
                <a:sym typeface="+mn-lt"/>
              </a:rPr>
              <a:t>线程</a:t>
            </a:r>
          </a:p>
        </p:txBody>
      </p:sp>
      <p:sp>
        <p:nvSpPr>
          <p:cNvPr id="28" name="矩形: 圆角 27"/>
          <p:cNvSpPr/>
          <p:nvPr/>
        </p:nvSpPr>
        <p:spPr>
          <a:xfrm>
            <a:off x="5507408" y="2442655"/>
            <a:ext cx="1240325" cy="413468"/>
          </a:xfrm>
          <a:prstGeom prst="round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cs typeface="+mn-ea"/>
                <a:sym typeface="+mn-lt"/>
              </a:rPr>
              <a:t>…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矩形: 圆角 28"/>
          <p:cNvSpPr/>
          <p:nvPr/>
        </p:nvSpPr>
        <p:spPr>
          <a:xfrm>
            <a:off x="7309048" y="1114367"/>
            <a:ext cx="1240325" cy="413468"/>
          </a:xfrm>
          <a:prstGeom prst="round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cs typeface="+mn-ea"/>
                <a:sym typeface="+mn-lt"/>
              </a:rPr>
              <a:t>协程</a:t>
            </a:r>
          </a:p>
        </p:txBody>
      </p:sp>
      <p:sp>
        <p:nvSpPr>
          <p:cNvPr id="31" name="矩形: 圆角 30"/>
          <p:cNvSpPr/>
          <p:nvPr/>
        </p:nvSpPr>
        <p:spPr>
          <a:xfrm>
            <a:off x="7309048" y="1806169"/>
            <a:ext cx="1240325" cy="413468"/>
          </a:xfrm>
          <a:prstGeom prst="round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cs typeface="+mn-ea"/>
                <a:sym typeface="+mn-lt"/>
              </a:rPr>
              <a:t>协程</a:t>
            </a:r>
          </a:p>
        </p:txBody>
      </p:sp>
      <p:sp>
        <p:nvSpPr>
          <p:cNvPr id="32" name="矩形: 圆角 31"/>
          <p:cNvSpPr/>
          <p:nvPr/>
        </p:nvSpPr>
        <p:spPr>
          <a:xfrm>
            <a:off x="7309047" y="2420024"/>
            <a:ext cx="1240325" cy="413468"/>
          </a:xfrm>
          <a:prstGeom prst="round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cs typeface="+mn-ea"/>
                <a:sym typeface="+mn-lt"/>
              </a:rPr>
              <a:t>…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33" name="矩形: 圆角 32"/>
          <p:cNvSpPr/>
          <p:nvPr/>
        </p:nvSpPr>
        <p:spPr>
          <a:xfrm>
            <a:off x="9054013" y="1109033"/>
            <a:ext cx="1240325" cy="413468"/>
          </a:xfrm>
          <a:prstGeom prst="round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cs typeface="+mn-ea"/>
                <a:sym typeface="+mn-lt"/>
              </a:rPr>
              <a:t>事件</a:t>
            </a:r>
          </a:p>
        </p:txBody>
      </p:sp>
      <p:sp>
        <p:nvSpPr>
          <p:cNvPr id="34" name="矩形: 圆角 33"/>
          <p:cNvSpPr/>
          <p:nvPr/>
        </p:nvSpPr>
        <p:spPr>
          <a:xfrm>
            <a:off x="9054012" y="1806150"/>
            <a:ext cx="1240325" cy="413468"/>
          </a:xfrm>
          <a:prstGeom prst="round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cs typeface="+mn-ea"/>
                <a:sym typeface="+mn-lt"/>
              </a:rPr>
              <a:t>事件</a:t>
            </a:r>
          </a:p>
        </p:txBody>
      </p:sp>
      <p:sp>
        <p:nvSpPr>
          <p:cNvPr id="35" name="矩形: 圆角 34"/>
          <p:cNvSpPr/>
          <p:nvPr/>
        </p:nvSpPr>
        <p:spPr>
          <a:xfrm>
            <a:off x="9054013" y="2420024"/>
            <a:ext cx="1240325" cy="413468"/>
          </a:xfrm>
          <a:prstGeom prst="round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cs typeface="+mn-ea"/>
                <a:sym typeface="+mn-lt"/>
              </a:rPr>
              <a:t>…</a:t>
            </a:r>
            <a:endParaRPr lang="zh-CN" altLang="en-US">
              <a:cs typeface="+mn-ea"/>
              <a:sym typeface="+mn-lt"/>
            </a:endParaRPr>
          </a:p>
        </p:txBody>
      </p:sp>
      <p:cxnSp>
        <p:nvCxnSpPr>
          <p:cNvPr id="7" name="直接箭头连接符 6"/>
          <p:cNvCxnSpPr>
            <a:stCxn id="5" idx="3"/>
            <a:endCxn id="23" idx="1"/>
          </p:cNvCxnSpPr>
          <p:nvPr/>
        </p:nvCxnSpPr>
        <p:spPr>
          <a:xfrm flipV="1">
            <a:off x="2893849" y="1299175"/>
            <a:ext cx="641542" cy="713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>
            <a:stCxn id="5" idx="3"/>
            <a:endCxn id="24" idx="1"/>
          </p:cNvCxnSpPr>
          <p:nvPr/>
        </p:nvCxnSpPr>
        <p:spPr>
          <a:xfrm>
            <a:off x="2893849" y="2012903"/>
            <a:ext cx="64154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>
            <a:stCxn id="5" idx="3"/>
            <a:endCxn id="25" idx="1"/>
          </p:cNvCxnSpPr>
          <p:nvPr/>
        </p:nvCxnSpPr>
        <p:spPr>
          <a:xfrm>
            <a:off x="2893849" y="2012903"/>
            <a:ext cx="641542" cy="6311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24" idx="3"/>
            <a:endCxn id="26" idx="1"/>
          </p:cNvCxnSpPr>
          <p:nvPr/>
        </p:nvCxnSpPr>
        <p:spPr>
          <a:xfrm flipV="1">
            <a:off x="4775715" y="1299175"/>
            <a:ext cx="731693" cy="7137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24" idx="3"/>
            <a:endCxn id="27" idx="1"/>
          </p:cNvCxnSpPr>
          <p:nvPr/>
        </p:nvCxnSpPr>
        <p:spPr>
          <a:xfrm flipV="1">
            <a:off x="4775715" y="2004640"/>
            <a:ext cx="731693" cy="8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24" idx="3"/>
            <a:endCxn id="28" idx="1"/>
          </p:cNvCxnSpPr>
          <p:nvPr/>
        </p:nvCxnSpPr>
        <p:spPr>
          <a:xfrm>
            <a:off x="4775715" y="2012903"/>
            <a:ext cx="731693" cy="6364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27" idx="3"/>
            <a:endCxn id="29" idx="1"/>
          </p:cNvCxnSpPr>
          <p:nvPr/>
        </p:nvCxnSpPr>
        <p:spPr>
          <a:xfrm flipV="1">
            <a:off x="6747733" y="1321101"/>
            <a:ext cx="561315" cy="6835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27" idx="3"/>
            <a:endCxn id="31" idx="1"/>
          </p:cNvCxnSpPr>
          <p:nvPr/>
        </p:nvCxnSpPr>
        <p:spPr>
          <a:xfrm>
            <a:off x="6747733" y="2004640"/>
            <a:ext cx="561315" cy="826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>
            <a:stCxn id="27" idx="3"/>
            <a:endCxn id="32" idx="1"/>
          </p:cNvCxnSpPr>
          <p:nvPr/>
        </p:nvCxnSpPr>
        <p:spPr>
          <a:xfrm>
            <a:off x="6747733" y="2004640"/>
            <a:ext cx="561314" cy="6221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stCxn id="31" idx="3"/>
            <a:endCxn id="33" idx="1"/>
          </p:cNvCxnSpPr>
          <p:nvPr/>
        </p:nvCxnSpPr>
        <p:spPr>
          <a:xfrm flipV="1">
            <a:off x="8549373" y="1315767"/>
            <a:ext cx="504640" cy="6971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31" idx="3"/>
            <a:endCxn id="34" idx="1"/>
          </p:cNvCxnSpPr>
          <p:nvPr/>
        </p:nvCxnSpPr>
        <p:spPr>
          <a:xfrm flipV="1">
            <a:off x="8549373" y="2012884"/>
            <a:ext cx="504639" cy="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31" idx="3"/>
            <a:endCxn id="35" idx="1"/>
          </p:cNvCxnSpPr>
          <p:nvPr/>
        </p:nvCxnSpPr>
        <p:spPr>
          <a:xfrm>
            <a:off x="8549373" y="2012903"/>
            <a:ext cx="504640" cy="6138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>
            <a:stCxn id="27" idx="3"/>
            <a:endCxn id="33" idx="1"/>
          </p:cNvCxnSpPr>
          <p:nvPr/>
        </p:nvCxnSpPr>
        <p:spPr>
          <a:xfrm flipV="1">
            <a:off x="6747733" y="1315767"/>
            <a:ext cx="2306280" cy="688873"/>
          </a:xfrm>
          <a:prstGeom prst="straightConnector1">
            <a:avLst/>
          </a:prstGeom>
          <a:ln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>
            <a:stCxn id="27" idx="3"/>
            <a:endCxn id="35" idx="1"/>
          </p:cNvCxnSpPr>
          <p:nvPr/>
        </p:nvCxnSpPr>
        <p:spPr>
          <a:xfrm>
            <a:off x="6747733" y="2004640"/>
            <a:ext cx="2306280" cy="622118"/>
          </a:xfrm>
          <a:prstGeom prst="straightConnector1">
            <a:avLst/>
          </a:prstGeom>
          <a:ln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>
            <a:stCxn id="27" idx="3"/>
            <a:endCxn id="34" idx="1"/>
          </p:cNvCxnSpPr>
          <p:nvPr/>
        </p:nvCxnSpPr>
        <p:spPr>
          <a:xfrm>
            <a:off x="6747733" y="2004640"/>
            <a:ext cx="2306279" cy="8244"/>
          </a:xfrm>
          <a:prstGeom prst="straightConnector1">
            <a:avLst/>
          </a:prstGeom>
          <a:ln>
            <a:solidFill>
              <a:srgbClr val="0070C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连接符 60"/>
          <p:cNvCxnSpPr/>
          <p:nvPr/>
        </p:nvCxnSpPr>
        <p:spPr>
          <a:xfrm>
            <a:off x="639523" y="3137014"/>
            <a:ext cx="103061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: 圆角 62"/>
          <p:cNvSpPr/>
          <p:nvPr/>
        </p:nvSpPr>
        <p:spPr>
          <a:xfrm>
            <a:off x="3535391" y="3428681"/>
            <a:ext cx="1240325" cy="413468"/>
          </a:xfrm>
          <a:prstGeom prst="round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cs typeface="+mn-ea"/>
                <a:sym typeface="+mn-lt"/>
              </a:rPr>
              <a:t>task</a:t>
            </a:r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矩形: 圆角 67"/>
          <p:cNvSpPr/>
          <p:nvPr/>
        </p:nvSpPr>
        <p:spPr>
          <a:xfrm>
            <a:off x="5507408" y="3417905"/>
            <a:ext cx="1240325" cy="413468"/>
          </a:xfrm>
          <a:prstGeom prst="roundRect">
            <a:avLst/>
          </a:prstGeom>
          <a:noFill/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>
                <a:cs typeface="+mn-ea"/>
                <a:sym typeface="+mn-lt"/>
              </a:rPr>
              <a:t>task</a:t>
            </a:r>
            <a:endParaRPr lang="zh-CN" altLang="en-US">
              <a:cs typeface="+mn-ea"/>
              <a:sym typeface="+mn-lt"/>
            </a:endParaRPr>
          </a:p>
        </p:txBody>
      </p:sp>
      <p:cxnSp>
        <p:nvCxnSpPr>
          <p:cNvPr id="72" name="直接连接符 71"/>
          <p:cNvCxnSpPr>
            <a:stCxn id="68" idx="0"/>
            <a:endCxn id="28" idx="2"/>
          </p:cNvCxnSpPr>
          <p:nvPr/>
        </p:nvCxnSpPr>
        <p:spPr>
          <a:xfrm flipV="1">
            <a:off x="6127571" y="2856123"/>
            <a:ext cx="0" cy="5617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>
            <a:stCxn id="63" idx="0"/>
            <a:endCxn id="25" idx="2"/>
          </p:cNvCxnSpPr>
          <p:nvPr/>
        </p:nvCxnSpPr>
        <p:spPr>
          <a:xfrm flipV="1">
            <a:off x="4155554" y="2850803"/>
            <a:ext cx="0" cy="5778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文本框 76"/>
          <p:cNvSpPr txBox="1"/>
          <p:nvPr/>
        </p:nvSpPr>
        <p:spPr>
          <a:xfrm>
            <a:off x="7309048" y="643243"/>
            <a:ext cx="1240325" cy="4742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400">
                <a:cs typeface="+mn-ea"/>
                <a:sym typeface="+mn-lt"/>
              </a:rPr>
              <a:t>协程库：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9054013" y="626473"/>
            <a:ext cx="1855426" cy="4681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400">
                <a:cs typeface="+mn-ea"/>
                <a:sym typeface="+mn-lt"/>
              </a:rPr>
              <a:t>事件调度框架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639523" y="3220023"/>
            <a:ext cx="1240325" cy="4742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400">
                <a:cs typeface="+mn-ea"/>
                <a:sym typeface="+mn-lt"/>
              </a:rPr>
              <a:t>内核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0" name="文本框 79"/>
          <p:cNvSpPr txBox="1"/>
          <p:nvPr/>
        </p:nvSpPr>
        <p:spPr>
          <a:xfrm>
            <a:off x="608949" y="2523159"/>
            <a:ext cx="1240325" cy="47429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400">
                <a:cs typeface="+mn-ea"/>
                <a:sym typeface="+mn-lt"/>
              </a:rPr>
              <a:t>用户态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7311398" y="4691003"/>
            <a:ext cx="3404274" cy="157265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sz="1200" b="0" u="none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 err="1">
                <a:solidFill>
                  <a:srgbClr val="61AFEF"/>
                </a:solidFill>
                <a:cs typeface="+mn-ea"/>
                <a:sym typeface="+mn-lt"/>
              </a:rPr>
              <a:t>baz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D19A66"/>
                </a:solidFill>
                <a:cs typeface="+mn-ea"/>
                <a:sym typeface="+mn-lt"/>
              </a:rPr>
              <a:t>100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_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scope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scope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_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 err="1">
                <a:solidFill>
                  <a:srgbClr val="E06C75"/>
                </a:solidFill>
                <a:cs typeface="+mn-ea"/>
                <a:sym typeface="+mn-lt"/>
              </a:rPr>
              <a:t>scope</a:t>
            </a:r>
            <a:r>
              <a:rPr lang="en-US" sz="1200" b="0" u="none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200" b="0" u="none" dirty="0" err="1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        </a:t>
            </a:r>
            <a:r>
              <a:rPr lang="en-US" sz="1200" b="0" u="none" dirty="0" err="1">
                <a:solidFill>
                  <a:srgbClr val="61AFEF"/>
                </a:solidFill>
                <a:cs typeface="+mn-ea"/>
                <a:sym typeface="+mn-lt"/>
              </a:rPr>
              <a:t>println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 dirty="0">
                <a:solidFill>
                  <a:srgbClr val="98C379"/>
                </a:solidFill>
                <a:cs typeface="+mn-ea"/>
                <a:sym typeface="+mn-lt"/>
              </a:rPr>
              <a:t>"i = {}"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, &amp;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    });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});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030490" y="781476"/>
            <a:ext cx="3404274" cy="1697837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sz="1500" b="0" u="none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bar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static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500" b="0" u="none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100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_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 </a:t>
            </a:r>
            <a:r>
              <a:rPr lang="en-US" sz="1500" b="0" u="none" dirty="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500" b="0" u="none" dirty="0" err="1">
                <a:solidFill>
                  <a:srgbClr val="61AFEF"/>
                </a:solidFill>
                <a:cs typeface="+mn-ea"/>
                <a:sym typeface="+mn-lt"/>
              </a:rPr>
              <a:t>println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>
                <a:solidFill>
                  <a:srgbClr val="98C379"/>
                </a:solidFill>
                <a:cs typeface="+mn-ea"/>
                <a:sym typeface="+mn-lt"/>
              </a:rPr>
              <a:t>"i = {}"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 &amp;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}).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500" b="0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39032" y="786367"/>
            <a:ext cx="3404274" cy="164998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sz="1500" b="0" u="none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foo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D19A66"/>
                </a:solidFill>
                <a:cs typeface="+mn-ea"/>
                <a:sym typeface="+mn-lt"/>
              </a:rPr>
              <a:t>100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_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 dirty="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500" b="0" u="none" dirty="0" err="1">
                <a:solidFill>
                  <a:srgbClr val="61AFEF"/>
                </a:solidFill>
                <a:cs typeface="+mn-ea"/>
                <a:sym typeface="+mn-lt"/>
              </a:rPr>
              <a:t>println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 dirty="0">
                <a:solidFill>
                  <a:srgbClr val="98C379"/>
                </a:solidFill>
                <a:cs typeface="+mn-ea"/>
                <a:sym typeface="+mn-lt"/>
              </a:rPr>
              <a:t>"i = {}"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, &amp;</a:t>
            </a:r>
            <a:r>
              <a:rPr lang="en-US" sz="1500" b="0" u="none" dirty="0">
                <a:solidFill>
                  <a:srgbClr val="E06C75"/>
                </a:solidFill>
                <a:cs typeface="+mn-ea"/>
                <a:sym typeface="+mn-lt"/>
              </a:rPr>
              <a:t>i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    }).</a:t>
            </a:r>
            <a:r>
              <a:rPr lang="en-US" sz="1500" b="0" u="none" dirty="0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5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500" b="0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84664" y="120967"/>
            <a:ext cx="10740640" cy="99340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线程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-spawn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和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scope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用法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84664" y="5943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374384" y="2010979"/>
            <a:ext cx="10188419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cs typeface="+mn-ea"/>
                <a:sym typeface="+mn-lt"/>
              </a:rPr>
              <a:t>线程带来的挑战和应对策略：</a:t>
            </a:r>
            <a:endParaRPr lang="en-US" altLang="zh-CN" sz="1600" b="1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cs typeface="+mn-ea"/>
                <a:sym typeface="+mn-lt"/>
              </a:rPr>
              <a:t>生命周期：需要保证传递到线程的资源在线程整个生命周期内有效，需要所有权转移或者</a:t>
            </a:r>
            <a:r>
              <a:rPr lang="en-US" altLang="zh-CN" sz="1600" dirty="0">
                <a:cs typeface="+mn-ea"/>
                <a:sym typeface="+mn-lt"/>
              </a:rPr>
              <a:t>static</a:t>
            </a:r>
            <a:r>
              <a:rPr lang="zh-CN" altLang="en-US" sz="1600" dirty="0">
                <a:cs typeface="+mn-ea"/>
                <a:sym typeface="+mn-lt"/>
              </a:rPr>
              <a:t>生命周期（</a:t>
            </a:r>
            <a:r>
              <a:rPr lang="zh-CN" altLang="en-US" sz="1400" i="1" dirty="0">
                <a:cs typeface="+mn-ea"/>
                <a:sym typeface="+mn-lt"/>
              </a:rPr>
              <a:t>注：编译器不可能理解线程库中</a:t>
            </a:r>
            <a:r>
              <a:rPr lang="en-US" altLang="zh-CN" sz="1400" i="1" dirty="0" err="1">
                <a:cs typeface="+mn-ea"/>
                <a:sym typeface="+mn-lt"/>
              </a:rPr>
              <a:t>JoinHandle</a:t>
            </a:r>
            <a:r>
              <a:rPr lang="en-US" altLang="zh-CN" sz="1400" i="1" dirty="0">
                <a:cs typeface="+mn-ea"/>
                <a:sym typeface="+mn-lt"/>
              </a:rPr>
              <a:t>::join</a:t>
            </a:r>
            <a:r>
              <a:rPr lang="zh-CN" altLang="en-US" sz="1400" i="1" dirty="0">
                <a:cs typeface="+mn-ea"/>
                <a:sym typeface="+mn-lt"/>
              </a:rPr>
              <a:t>的语义</a:t>
            </a:r>
            <a:r>
              <a:rPr lang="zh-CN" altLang="en-US" sz="1600" dirty="0">
                <a:cs typeface="+mn-ea"/>
                <a:sym typeface="+mn-lt"/>
              </a:rPr>
              <a:t>）；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cs typeface="+mn-ea"/>
                <a:sym typeface="+mn-lt"/>
              </a:rPr>
              <a:t>灵活应用：的确存在不满足</a:t>
            </a:r>
            <a:r>
              <a:rPr lang="en-US" altLang="zh-CN" sz="1600" dirty="0">
                <a:cs typeface="+mn-ea"/>
                <a:sym typeface="+mn-lt"/>
              </a:rPr>
              <a:t>spawn</a:t>
            </a:r>
            <a:r>
              <a:rPr lang="zh-CN" altLang="en-US" sz="1600" dirty="0">
                <a:cs typeface="+mn-ea"/>
                <a:sym typeface="+mn-lt"/>
              </a:rPr>
              <a:t>约束的内存数据需要多线程调度的业务述求，使用</a:t>
            </a:r>
            <a:r>
              <a:rPr lang="en-US" altLang="zh-CN" sz="1600" dirty="0">
                <a:cs typeface="+mn-ea"/>
                <a:sym typeface="+mn-lt"/>
              </a:rPr>
              <a:t>scope</a:t>
            </a:r>
            <a:r>
              <a:rPr lang="zh-CN" altLang="en-US" sz="1600" dirty="0">
                <a:cs typeface="+mn-ea"/>
                <a:sym typeface="+mn-lt"/>
              </a:rPr>
              <a:t>，可以保证新的线程在</a:t>
            </a:r>
            <a:r>
              <a:rPr lang="en-US" altLang="zh-CN" sz="1600" dirty="0">
                <a:cs typeface="+mn-ea"/>
                <a:sym typeface="+mn-lt"/>
              </a:rPr>
              <a:t>scope</a:t>
            </a:r>
            <a:r>
              <a:rPr lang="zh-CN" altLang="en-US" sz="1600" dirty="0">
                <a:cs typeface="+mn-ea"/>
                <a:sym typeface="+mn-lt"/>
              </a:rPr>
              <a:t>返回前一定结束；</a:t>
            </a:r>
            <a:endParaRPr lang="en-US" altLang="zh-CN" sz="1600" dirty="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cs typeface="+mn-ea"/>
                <a:sym typeface="+mn-lt"/>
              </a:rPr>
              <a:t>共享访问：除生命周期之外，还需要确保传递到线程的资源满足多线程访问安全机制，参见下一页；</a:t>
            </a:r>
            <a:endParaRPr lang="en-US" altLang="zh-CN" sz="1600" dirty="0">
              <a:cs typeface="+mn-ea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384" y="857139"/>
            <a:ext cx="4000500" cy="8763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664" y="4691759"/>
            <a:ext cx="4953000" cy="68580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664" y="5412279"/>
            <a:ext cx="6400800" cy="771525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9872589" y="4556783"/>
            <a:ext cx="2018501" cy="460254"/>
          </a:xfrm>
          <a:prstGeom prst="rect">
            <a:avLst/>
          </a:prstGeom>
          <a:noFill/>
        </p:spPr>
        <p:txBody>
          <a:bodyPr vert="horz" wrap="non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200">
                <a:solidFill>
                  <a:schemeClr val="accent1"/>
                </a:solidFill>
                <a:cs typeface="+mn-ea"/>
                <a:sym typeface="+mn-lt"/>
              </a:rPr>
              <a:t>无</a:t>
            </a:r>
            <a:r>
              <a:rPr lang="en-US" altLang="zh-CN" sz="1200">
                <a:solidFill>
                  <a:schemeClr val="accent1"/>
                </a:solidFill>
                <a:cs typeface="+mn-ea"/>
                <a:sym typeface="+mn-lt"/>
              </a:rPr>
              <a:t>move</a:t>
            </a:r>
            <a:r>
              <a:rPr lang="zh-CN" altLang="en-US" sz="1200">
                <a:solidFill>
                  <a:schemeClr val="accent1"/>
                </a:solidFill>
                <a:cs typeface="+mn-ea"/>
                <a:sym typeface="+mn-lt"/>
              </a:rPr>
              <a:t>也非</a:t>
            </a:r>
            <a:r>
              <a:rPr lang="en-US" altLang="zh-CN" sz="1200">
                <a:solidFill>
                  <a:schemeClr val="accent1"/>
                </a:solidFill>
                <a:cs typeface="+mn-ea"/>
                <a:sym typeface="+mn-lt"/>
              </a:rPr>
              <a:t>static</a:t>
            </a:r>
            <a:r>
              <a:rPr lang="zh-CN" altLang="en-US" sz="1200">
                <a:solidFill>
                  <a:schemeClr val="accent1"/>
                </a:solidFill>
                <a:cs typeface="+mn-ea"/>
                <a:sym typeface="+mn-lt"/>
              </a:rPr>
              <a:t>生命周期</a:t>
            </a:r>
            <a:endParaRPr lang="zh-CN" altLang="en-US" sz="1200" dirty="0">
              <a:solidFill>
                <a:schemeClr val="accent1"/>
              </a:solidFill>
              <a:cs typeface="+mn-ea"/>
              <a:sym typeface="+mn-lt"/>
            </a:endParaRPr>
          </a:p>
        </p:txBody>
      </p:sp>
      <p:cxnSp>
        <p:nvCxnSpPr>
          <p:cNvPr id="20" name="直接连接符 19"/>
          <p:cNvCxnSpPr/>
          <p:nvPr/>
        </p:nvCxnSpPr>
        <p:spPr>
          <a:xfrm flipV="1">
            <a:off x="9166418" y="4897033"/>
            <a:ext cx="606582" cy="1157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椭圆 20"/>
          <p:cNvSpPr/>
          <p:nvPr/>
        </p:nvSpPr>
        <p:spPr>
          <a:xfrm>
            <a:off x="6491191" y="1276450"/>
            <a:ext cx="492894" cy="29097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6" name="椭圆 55"/>
          <p:cNvSpPr/>
          <p:nvPr/>
        </p:nvSpPr>
        <p:spPr>
          <a:xfrm>
            <a:off x="8568700" y="1047174"/>
            <a:ext cx="492894" cy="290978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84664" y="120967"/>
            <a:ext cx="10740640" cy="993400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线程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数据的多线程访问安全机制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84664" y="5943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/>
        </p:nvSpPr>
        <p:spPr>
          <a:xfrm>
            <a:off x="458035" y="755878"/>
            <a:ext cx="10188419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>
                <a:cs typeface="+mn-ea"/>
                <a:sym typeface="+mn-lt"/>
              </a:rPr>
              <a:t>机制</a:t>
            </a:r>
            <a:r>
              <a:rPr lang="en-US" altLang="zh-CN" sz="1600" b="1">
                <a:cs typeface="+mn-ea"/>
                <a:sym typeface="+mn-lt"/>
              </a:rPr>
              <a:t>1</a:t>
            </a:r>
            <a:r>
              <a:rPr lang="zh-CN" altLang="en-US" sz="1600" b="1">
                <a:cs typeface="+mn-ea"/>
                <a:sym typeface="+mn-lt"/>
              </a:rPr>
              <a:t>：多线程共享数据</a:t>
            </a:r>
            <a:endParaRPr lang="en-US" altLang="zh-CN" sz="1600" b="1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使用方式：引用</a:t>
            </a:r>
            <a:r>
              <a:rPr lang="en-US" altLang="zh-CN" sz="1600">
                <a:cs typeface="+mn-ea"/>
                <a:sym typeface="+mn-lt"/>
              </a:rPr>
              <a:t>/</a:t>
            </a:r>
            <a:r>
              <a:rPr lang="zh-CN" altLang="en-US" sz="1600">
                <a:cs typeface="+mn-ea"/>
                <a:sym typeface="+mn-lt"/>
              </a:rPr>
              <a:t>指针在多个线程间传递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安全机制：数据类型必须支持</a:t>
            </a:r>
            <a:r>
              <a:rPr lang="en-US" altLang="zh-CN" sz="1600">
                <a:cs typeface="+mn-ea"/>
                <a:sym typeface="+mn-lt"/>
              </a:rPr>
              <a:t>Sync trait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>
              <a:cs typeface="+mn-ea"/>
              <a:sym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85607" y="1923479"/>
            <a:ext cx="10188419" cy="11568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>
                <a:cs typeface="+mn-ea"/>
                <a:sym typeface="+mn-lt"/>
              </a:rPr>
              <a:t>机制</a:t>
            </a:r>
            <a:r>
              <a:rPr lang="en-US" altLang="zh-CN" sz="1600" b="1">
                <a:cs typeface="+mn-ea"/>
                <a:sym typeface="+mn-lt"/>
              </a:rPr>
              <a:t>2</a:t>
            </a:r>
            <a:r>
              <a:rPr lang="zh-CN" altLang="en-US" sz="1600" b="1">
                <a:cs typeface="+mn-ea"/>
                <a:sym typeface="+mn-lt"/>
              </a:rPr>
              <a:t>：独享线程外数据</a:t>
            </a:r>
            <a:endParaRPr lang="en-US" altLang="zh-CN" sz="1600" b="1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使用方式：线程外数据通过所有权转移到线程内使用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安全机制：数据类型必须支持</a:t>
            </a:r>
            <a:r>
              <a:rPr lang="en-US" altLang="zh-CN" sz="1600">
                <a:cs typeface="+mn-ea"/>
                <a:sym typeface="+mn-lt"/>
              </a:rPr>
              <a:t>Send trait</a:t>
            </a:r>
          </a:p>
        </p:txBody>
      </p:sp>
      <p:sp>
        <p:nvSpPr>
          <p:cNvPr id="16" name="矩形 15"/>
          <p:cNvSpPr/>
          <p:nvPr/>
        </p:nvSpPr>
        <p:spPr>
          <a:xfrm>
            <a:off x="458034" y="3080334"/>
            <a:ext cx="10188419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>
                <a:cs typeface="+mn-ea"/>
                <a:sym typeface="+mn-lt"/>
              </a:rPr>
              <a:t>机制</a:t>
            </a:r>
            <a:r>
              <a:rPr lang="en-US" altLang="zh-CN" sz="1600" b="1">
                <a:cs typeface="+mn-ea"/>
                <a:sym typeface="+mn-lt"/>
              </a:rPr>
              <a:t>3</a:t>
            </a:r>
            <a:r>
              <a:rPr lang="zh-CN" altLang="en-US" sz="1600" b="1">
                <a:cs typeface="+mn-ea"/>
                <a:sym typeface="+mn-lt"/>
              </a:rPr>
              <a:t>：静态变量</a:t>
            </a:r>
            <a:endParaRPr lang="en-US" altLang="zh-CN" sz="1600" b="1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使用方式：线程共享进程内的全部内存空间，可直接访问。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安全机制</a:t>
            </a:r>
            <a:r>
              <a:rPr lang="en-US" altLang="zh-CN" sz="1600">
                <a:cs typeface="+mn-ea"/>
                <a:sym typeface="+mn-lt"/>
              </a:rPr>
              <a:t>1</a:t>
            </a:r>
            <a:r>
              <a:rPr lang="zh-CN" altLang="en-US" sz="1600">
                <a:cs typeface="+mn-ea"/>
                <a:sym typeface="+mn-lt"/>
              </a:rPr>
              <a:t>：静态变量的数据类型必须支持</a:t>
            </a:r>
            <a:r>
              <a:rPr lang="en-US" altLang="zh-CN" sz="1600">
                <a:cs typeface="+mn-ea"/>
                <a:sym typeface="+mn-lt"/>
              </a:rPr>
              <a:t>Sync trait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安全机制</a:t>
            </a:r>
            <a:r>
              <a:rPr lang="en-US" altLang="zh-CN" sz="1600">
                <a:cs typeface="+mn-ea"/>
                <a:sym typeface="+mn-lt"/>
              </a:rPr>
              <a:t>2</a:t>
            </a:r>
            <a:r>
              <a:rPr lang="zh-CN" altLang="en-US" sz="1600">
                <a:cs typeface="+mn-ea"/>
                <a:sym typeface="+mn-lt"/>
              </a:rPr>
              <a:t>：定义线程局部存储</a:t>
            </a:r>
            <a:r>
              <a:rPr lang="en-US" altLang="zh-CN" sz="1600">
                <a:cs typeface="+mn-ea"/>
                <a:sym typeface="+mn-lt"/>
              </a:rPr>
              <a:t>(TLS)</a:t>
            </a:r>
            <a:r>
              <a:rPr lang="zh-CN" altLang="en-US" sz="1600">
                <a:cs typeface="+mn-ea"/>
                <a:sym typeface="+mn-lt"/>
              </a:rPr>
              <a:t>的静态变量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84664" y="120967"/>
            <a:ext cx="10740640" cy="993400"/>
          </a:xfrm>
        </p:spPr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线程局部存储（</a:t>
            </a:r>
            <a:r>
              <a:rPr lang="en-US" altLang="zh-CN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TLS)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84664" y="5943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846" y="1370412"/>
            <a:ext cx="4743450" cy="11239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0846" y="2633615"/>
            <a:ext cx="5172075" cy="695325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5688427" y="1319752"/>
            <a:ext cx="6054298" cy="17701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400">
                <a:cs typeface="+mn-ea"/>
                <a:sym typeface="+mn-lt"/>
              </a:rPr>
              <a:t>注意事项：</a:t>
            </a:r>
            <a:r>
              <a:rPr lang="zh-CN" altLang="en-US" sz="1400" b="1">
                <a:cs typeface="+mn-ea"/>
                <a:sym typeface="+mn-lt"/>
              </a:rPr>
              <a:t>程序行为不能依赖</a:t>
            </a:r>
            <a:r>
              <a:rPr lang="en-US" altLang="zh-CN" sz="1400" b="1">
                <a:cs typeface="+mn-ea"/>
                <a:sym typeface="+mn-lt"/>
              </a:rPr>
              <a:t>TLS</a:t>
            </a:r>
            <a:r>
              <a:rPr lang="zh-CN" altLang="en-US" sz="1400" b="1">
                <a:cs typeface="+mn-ea"/>
                <a:sym typeface="+mn-lt"/>
              </a:rPr>
              <a:t>变量析构机制</a:t>
            </a:r>
            <a:r>
              <a:rPr lang="zh-CN" altLang="en-US" sz="1400">
                <a:cs typeface="+mn-ea"/>
                <a:sym typeface="+mn-lt"/>
              </a:rPr>
              <a:t>，因为其行为不可靠</a:t>
            </a:r>
            <a:endParaRPr lang="en-US" altLang="zh-CN" sz="1400">
              <a:cs typeface="+mn-ea"/>
              <a:sym typeface="+mn-lt"/>
            </a:endParaRPr>
          </a:p>
          <a:p>
            <a:pPr algn="l">
              <a:lnSpc>
                <a:spcPts val="3440"/>
              </a:lnSpc>
            </a:pPr>
            <a:r>
              <a:rPr lang="en-US" altLang="zh-CN" sz="1400">
                <a:cs typeface="+mn-ea"/>
                <a:sym typeface="+mn-lt"/>
              </a:rPr>
              <a:t>1</a:t>
            </a:r>
            <a:r>
              <a:rPr lang="zh-CN" altLang="en-US" sz="1400">
                <a:cs typeface="+mn-ea"/>
                <a:sym typeface="+mn-lt"/>
              </a:rPr>
              <a:t>、</a:t>
            </a:r>
            <a:r>
              <a:rPr lang="en-US" altLang="zh-CN" sz="1400">
                <a:cs typeface="+mn-ea"/>
                <a:sym typeface="+mn-lt"/>
              </a:rPr>
              <a:t>unix</a:t>
            </a:r>
            <a:r>
              <a:rPr lang="zh-CN" altLang="en-US" sz="1400">
                <a:cs typeface="+mn-ea"/>
                <a:sym typeface="+mn-lt"/>
              </a:rPr>
              <a:t>平台下，主线程退出时其</a:t>
            </a:r>
            <a:r>
              <a:rPr lang="en-US" altLang="zh-CN" sz="1400">
                <a:cs typeface="+mn-ea"/>
                <a:sym typeface="+mn-lt"/>
              </a:rPr>
              <a:t>TLS</a:t>
            </a:r>
            <a:r>
              <a:rPr lang="zh-CN" altLang="en-US" sz="1400">
                <a:cs typeface="+mn-ea"/>
                <a:sym typeface="+mn-lt"/>
              </a:rPr>
              <a:t>变量不会析构</a:t>
            </a:r>
            <a:endParaRPr lang="en-US" altLang="zh-CN" sz="1400">
              <a:cs typeface="+mn-ea"/>
              <a:sym typeface="+mn-lt"/>
            </a:endParaRPr>
          </a:p>
          <a:p>
            <a:pPr algn="l">
              <a:lnSpc>
                <a:spcPts val="3440"/>
              </a:lnSpc>
            </a:pPr>
            <a:r>
              <a:rPr lang="en-US" altLang="zh-CN" sz="1400">
                <a:cs typeface="+mn-ea"/>
                <a:sym typeface="+mn-lt"/>
              </a:rPr>
              <a:t>2</a:t>
            </a:r>
            <a:r>
              <a:rPr lang="zh-CN" altLang="en-US" sz="1400">
                <a:cs typeface="+mn-ea"/>
                <a:sym typeface="+mn-lt"/>
              </a:rPr>
              <a:t>、析构动作有可能再次初始化一个</a:t>
            </a:r>
            <a:r>
              <a:rPr lang="en-US" altLang="zh-CN" sz="1400">
                <a:cs typeface="+mn-ea"/>
                <a:sym typeface="+mn-lt"/>
              </a:rPr>
              <a:t>TLS</a:t>
            </a:r>
            <a:r>
              <a:rPr lang="zh-CN" altLang="en-US" sz="1400">
                <a:cs typeface="+mn-ea"/>
                <a:sym typeface="+mn-lt"/>
              </a:rPr>
              <a:t>变量</a:t>
            </a:r>
            <a:endParaRPr lang="en-US" altLang="zh-CN" sz="1400">
              <a:cs typeface="+mn-ea"/>
              <a:sym typeface="+mn-lt"/>
            </a:endParaRPr>
          </a:p>
          <a:p>
            <a:pPr algn="l">
              <a:lnSpc>
                <a:spcPts val="3440"/>
              </a:lnSpc>
            </a:pPr>
            <a:r>
              <a:rPr lang="en-US" altLang="zh-CN" sz="1400">
                <a:cs typeface="+mn-ea"/>
                <a:sym typeface="+mn-lt"/>
              </a:rPr>
              <a:t>3</a:t>
            </a:r>
            <a:r>
              <a:rPr lang="zh-CN" altLang="en-US" sz="1400">
                <a:cs typeface="+mn-ea"/>
                <a:sym typeface="+mn-lt"/>
              </a:rPr>
              <a:t>、</a:t>
            </a:r>
            <a:r>
              <a:rPr lang="en-US" altLang="zh-CN" sz="1400">
                <a:cs typeface="+mn-ea"/>
                <a:sym typeface="+mn-lt"/>
              </a:rPr>
              <a:t>windows</a:t>
            </a:r>
            <a:r>
              <a:rPr lang="zh-CN" altLang="en-US" sz="1400">
                <a:cs typeface="+mn-ea"/>
                <a:sym typeface="+mn-lt"/>
              </a:rPr>
              <a:t>下，只有导致进程退出的线程中的</a:t>
            </a:r>
            <a:r>
              <a:rPr lang="en-US" altLang="zh-CN" sz="1400">
                <a:cs typeface="+mn-ea"/>
                <a:sym typeface="+mn-lt"/>
              </a:rPr>
              <a:t>TLS</a:t>
            </a:r>
            <a:r>
              <a:rPr lang="zh-CN" altLang="en-US" sz="1400">
                <a:cs typeface="+mn-ea"/>
                <a:sym typeface="+mn-lt"/>
              </a:rPr>
              <a:t>变量可以正常析构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83171" y="766343"/>
            <a:ext cx="10792658" cy="574757"/>
          </a:xfrm>
          <a:prstGeom prst="rect">
            <a:avLst/>
          </a:prstGeom>
          <a:noFill/>
        </p:spPr>
        <p:txBody>
          <a:bodyPr vert="horz" wrap="square" rtlCol="0" anchor="t">
            <a:noAutofit/>
          </a:bodyPr>
          <a:lstStyle/>
          <a:p>
            <a:pPr algn="l">
              <a:lnSpc>
                <a:spcPts val="3440"/>
              </a:lnSpc>
            </a:pPr>
            <a:r>
              <a:rPr lang="zh-CN" altLang="en-US">
                <a:cs typeface="+mn-ea"/>
                <a:sym typeface="+mn-lt"/>
              </a:rPr>
              <a:t>特点：同名不同体，每个线程访问同名变量，实际地址不同，即线程独享。无需支持</a:t>
            </a:r>
            <a:r>
              <a:rPr lang="en-US" altLang="zh-CN">
                <a:cs typeface="+mn-ea"/>
                <a:sym typeface="+mn-lt"/>
              </a:rPr>
              <a:t>Send/Sync</a:t>
            </a:r>
            <a:r>
              <a:rPr lang="zh-CN" altLang="en-US">
                <a:cs typeface="+mn-ea"/>
                <a:sym typeface="+mn-lt"/>
              </a:rPr>
              <a:t>的约束。</a:t>
            </a:r>
            <a:endParaRPr lang="zh-CN" altLang="en-US" dirty="0">
              <a:cs typeface="+mn-ea"/>
              <a:sym typeface="+mn-lt"/>
            </a:endParaRPr>
          </a:p>
        </p:txBody>
      </p:sp>
      <p:sp>
        <p:nvSpPr>
          <p:cNvPr id="12" name="矩形 2"/>
          <p:cNvSpPr/>
          <p:nvPr/>
        </p:nvSpPr>
        <p:spPr>
          <a:xfrm>
            <a:off x="449690" y="3372676"/>
            <a:ext cx="6183240" cy="3091620"/>
          </a:xfrm>
          <a:prstGeom prst="rect">
            <a:avLst/>
          </a:prstGeom>
          <a:solidFill>
            <a:schemeClr val="tx1"/>
          </a:solidFill>
        </p:spPr>
        <p:txBody>
          <a:bodyPr wrap="square">
            <a:noAutofit/>
          </a:bodyPr>
          <a:lstStyle/>
          <a:p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::thread;</a:t>
            </a:r>
            <a:endParaRPr lang="en-US" sz="12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endParaRPr lang="en-US" sz="12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200" b="0" u="none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 dirty="0" err="1">
                <a:solidFill>
                  <a:srgbClr val="61AFEF"/>
                </a:solidFill>
                <a:cs typeface="+mn-ea"/>
                <a:sym typeface="+mn-lt"/>
              </a:rPr>
              <a:t>thread_local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{ </a:t>
            </a:r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static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D19A66"/>
                </a:solidFill>
                <a:cs typeface="+mn-ea"/>
                <a:sym typeface="+mn-lt"/>
              </a:rPr>
              <a:t>FOO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&gt; 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Cell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); }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handles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 err="1">
                <a:solidFill>
                  <a:srgbClr val="61AFEF"/>
                </a:solidFill>
                <a:cs typeface="+mn-ea"/>
                <a:sym typeface="+mn-lt"/>
              </a:rPr>
              <a:t>vec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[];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n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in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..</a:t>
            </a:r>
            <a:r>
              <a:rPr lang="en-US" sz="1200" b="0" u="none" dirty="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200" b="0" u="none" dirty="0" err="1">
                <a:solidFill>
                  <a:srgbClr val="E06C75"/>
                </a:solidFill>
                <a:cs typeface="+mn-ea"/>
                <a:sym typeface="+mn-lt"/>
              </a:rPr>
              <a:t>handles</a:t>
            </a:r>
            <a:r>
              <a:rPr lang="en-US" sz="1200" b="0" u="none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200" b="0" u="none" dirty="0" err="1">
                <a:solidFill>
                  <a:srgbClr val="61AFEF"/>
                </a:solidFill>
                <a:cs typeface="+mn-ea"/>
                <a:sym typeface="+mn-lt"/>
              </a:rPr>
              <a:t>push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thread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        </a:t>
            </a:r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 err="1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 err="1">
                <a:solidFill>
                  <a:srgbClr val="D19A66"/>
                </a:solidFill>
                <a:cs typeface="+mn-ea"/>
                <a:sym typeface="+mn-lt"/>
              </a:rPr>
              <a:t>FOO</a:t>
            </a:r>
            <a:r>
              <a:rPr lang="en-US" sz="1200" b="0" u="none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200" b="0" u="none" dirty="0" err="1">
                <a:solidFill>
                  <a:srgbClr val="61AFEF"/>
                </a:solidFill>
                <a:cs typeface="+mn-ea"/>
                <a:sym typeface="+mn-lt"/>
              </a:rPr>
              <a:t>with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foo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 err="1">
                <a:solidFill>
                  <a:srgbClr val="E06C75"/>
                </a:solidFill>
                <a:cs typeface="+mn-ea"/>
                <a:sym typeface="+mn-lt"/>
              </a:rPr>
              <a:t>foo</a:t>
            </a:r>
            <a:r>
              <a:rPr lang="en-US" sz="1200" b="0" u="none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200" b="0" u="none" dirty="0" err="1">
                <a:solidFill>
                  <a:srgbClr val="61AFEF"/>
                </a:solidFill>
                <a:cs typeface="+mn-ea"/>
                <a:sym typeface="+mn-lt"/>
              </a:rPr>
              <a:t>get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());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        </a:t>
            </a:r>
            <a:r>
              <a:rPr lang="en-US" sz="1200" b="0" u="none" dirty="0" err="1">
                <a:solidFill>
                  <a:srgbClr val="D19A66"/>
                </a:solidFill>
                <a:cs typeface="+mn-ea"/>
                <a:sym typeface="+mn-lt"/>
              </a:rPr>
              <a:t>FOO</a:t>
            </a:r>
            <a:r>
              <a:rPr lang="en-US" sz="1200" b="0" u="none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200" b="0" u="none" dirty="0" err="1">
                <a:solidFill>
                  <a:srgbClr val="61AFEF"/>
                </a:solidFill>
                <a:cs typeface="+mn-ea"/>
                <a:sym typeface="+mn-lt"/>
              </a:rPr>
              <a:t>with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foo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 err="1">
                <a:solidFill>
                  <a:srgbClr val="E06C75"/>
                </a:solidFill>
                <a:cs typeface="+mn-ea"/>
                <a:sym typeface="+mn-lt"/>
              </a:rPr>
              <a:t>foo</a:t>
            </a:r>
            <a:r>
              <a:rPr lang="en-US" sz="1200" b="0" u="none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200" b="0" u="none" dirty="0" err="1">
                <a:solidFill>
                  <a:srgbClr val="61AFEF"/>
                </a:solidFill>
                <a:cs typeface="+mn-ea"/>
                <a:sym typeface="+mn-lt"/>
              </a:rPr>
              <a:t>set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 dirty="0" err="1">
                <a:solidFill>
                  <a:srgbClr val="E06C75"/>
                </a:solidFill>
                <a:cs typeface="+mn-ea"/>
                <a:sym typeface="+mn-lt"/>
              </a:rPr>
              <a:t>val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+ </a:t>
            </a:r>
            <a:r>
              <a:rPr lang="en-US" sz="1200" b="0" u="none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        </a:t>
            </a:r>
            <a:r>
              <a:rPr lang="en-US" sz="1200" b="0" u="none" dirty="0" err="1">
                <a:solidFill>
                  <a:srgbClr val="61AFEF"/>
                </a:solidFill>
                <a:cs typeface="+mn-ea"/>
                <a:sym typeface="+mn-lt"/>
              </a:rPr>
              <a:t>assert_eq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200" b="0" u="none" dirty="0" err="1">
                <a:solidFill>
                  <a:srgbClr val="D19A66"/>
                </a:solidFill>
                <a:cs typeface="+mn-ea"/>
                <a:sym typeface="+mn-lt"/>
              </a:rPr>
              <a:t>FOO</a:t>
            </a:r>
            <a:r>
              <a:rPr lang="en-US" sz="1200" b="0" u="none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200" b="0" u="none" dirty="0" err="1">
                <a:solidFill>
                  <a:srgbClr val="61AFEF"/>
                </a:solidFill>
                <a:cs typeface="+mn-ea"/>
                <a:sym typeface="+mn-lt"/>
              </a:rPr>
              <a:t>with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foo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|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 err="1">
                <a:solidFill>
                  <a:srgbClr val="E06C75"/>
                </a:solidFill>
                <a:cs typeface="+mn-ea"/>
                <a:sym typeface="+mn-lt"/>
              </a:rPr>
              <a:t>foo</a:t>
            </a:r>
            <a:r>
              <a:rPr lang="en-US" sz="1200" b="0" u="none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200" b="0" u="none" dirty="0" err="1">
                <a:solidFill>
                  <a:srgbClr val="61AFEF"/>
                </a:solidFill>
                <a:cs typeface="+mn-ea"/>
                <a:sym typeface="+mn-lt"/>
              </a:rPr>
              <a:t>get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()));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    }));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}    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h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in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06C75"/>
                </a:solidFill>
                <a:cs typeface="+mn-ea"/>
                <a:sym typeface="+mn-lt"/>
              </a:rPr>
              <a:t>handles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200" b="0" u="none" dirty="0" err="1">
                <a:solidFill>
                  <a:srgbClr val="E06C75"/>
                </a:solidFill>
                <a:cs typeface="+mn-ea"/>
                <a:sym typeface="+mn-lt"/>
              </a:rPr>
              <a:t>h</a:t>
            </a:r>
            <a:r>
              <a:rPr lang="en-US" sz="1200" b="0" u="none" dirty="0" err="1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200" b="0" u="none" dirty="0" err="1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}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pic>
        <p:nvPicPr>
          <p:cNvPr id="14" name="Picture 13" descr="upload_65663319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1564" y="3400782"/>
            <a:ext cx="5087120" cy="702641"/>
          </a:xfrm>
          <a:prstGeom prst="rect">
            <a:avLst/>
          </a:prstGeom>
        </p:spPr>
      </p:pic>
      <p:sp>
        <p:nvSpPr>
          <p:cNvPr id="15" name="文本框 10"/>
          <p:cNvSpPr txBox="1"/>
          <p:nvPr/>
        </p:nvSpPr>
        <p:spPr>
          <a:xfrm>
            <a:off x="6829670" y="4468796"/>
            <a:ext cx="5002803" cy="61832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400" dirty="0">
                <a:cs typeface="+mn-ea"/>
                <a:sym typeface="+mn-lt"/>
              </a:rPr>
              <a:t>注：目前</a:t>
            </a:r>
            <a:r>
              <a:rPr lang="en-US" altLang="zh-CN" sz="1400" dirty="0">
                <a:cs typeface="+mn-ea"/>
                <a:sym typeface="+mn-lt"/>
              </a:rPr>
              <a:t>thread_local</a:t>
            </a:r>
            <a:r>
              <a:rPr lang="zh-CN" altLang="en-US" sz="1400" dirty="0">
                <a:cs typeface="+mn-ea"/>
                <a:sym typeface="+mn-lt"/>
              </a:rPr>
              <a:t>定义的变量只能通过</a:t>
            </a:r>
            <a:r>
              <a:rPr lang="en-US" altLang="zh-CN" sz="1400" dirty="0">
                <a:cs typeface="+mn-ea"/>
                <a:sym typeface="+mn-lt"/>
              </a:rPr>
              <a:t>with</a:t>
            </a:r>
            <a:r>
              <a:rPr lang="zh-CN" altLang="en-US" sz="1400" dirty="0">
                <a:cs typeface="+mn-ea"/>
                <a:sym typeface="+mn-lt"/>
              </a:rPr>
              <a:t>方法完成读写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84664" y="120967"/>
            <a:ext cx="10740640" cy="993400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Send/Sync-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概念和用法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84664" y="5943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639525" y="882160"/>
            <a:ext cx="5404659" cy="1938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>
                <a:cs typeface="+mn-ea"/>
                <a:sym typeface="+mn-lt"/>
              </a:rPr>
              <a:t>Send</a:t>
            </a:r>
            <a:r>
              <a:rPr lang="zh-CN" altLang="en-US" sz="1600" b="1">
                <a:cs typeface="+mn-ea"/>
                <a:sym typeface="+mn-lt"/>
              </a:rPr>
              <a:t>：定义数据所有权是否可以在线程间转移</a:t>
            </a:r>
            <a:endParaRPr lang="en-US" altLang="zh-CN" sz="1600" b="1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所有权转移有两个场景：单线程内和线程间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所有数据结构都支持单线程内的所有权转移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线程间的所有权转移需要用</a:t>
            </a:r>
            <a:r>
              <a:rPr lang="en-US" altLang="zh-CN" sz="1600">
                <a:cs typeface="+mn-ea"/>
                <a:sym typeface="+mn-lt"/>
              </a:rPr>
              <a:t>Send Trait</a:t>
            </a:r>
            <a:r>
              <a:rPr lang="zh-CN" altLang="en-US" sz="1600">
                <a:cs typeface="+mn-ea"/>
                <a:sym typeface="+mn-lt"/>
              </a:rPr>
              <a:t>标识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zh-CN" sz="1600" b="1">
              <a:cs typeface="+mn-ea"/>
              <a:sym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60775" y="2584284"/>
            <a:ext cx="657154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>
                <a:cs typeface="+mn-ea"/>
                <a:sym typeface="+mn-lt"/>
              </a:rPr>
              <a:t>Sync</a:t>
            </a:r>
            <a:r>
              <a:rPr lang="zh-CN" altLang="en-US" sz="1600" b="1">
                <a:cs typeface="+mn-ea"/>
                <a:sym typeface="+mn-lt"/>
              </a:rPr>
              <a:t>：定义数据可否在多线程间共享访问</a:t>
            </a:r>
            <a:endParaRPr lang="en-US" altLang="zh-CN" sz="1600" b="1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共享访问和借用规则不冲突，仅指只读借用在多线程间共享访问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共享访问要求只读借用本身支持</a:t>
            </a:r>
            <a:r>
              <a:rPr lang="en-US" altLang="zh-CN" sz="1600">
                <a:cs typeface="+mn-ea"/>
                <a:sym typeface="+mn-lt"/>
              </a:rPr>
              <a:t>Send Trait</a:t>
            </a:r>
            <a:r>
              <a:rPr lang="zh-CN" altLang="en-US" sz="1600">
                <a:cs typeface="+mn-ea"/>
                <a:sym typeface="+mn-lt"/>
              </a:rPr>
              <a:t>，实现在线程间传递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静态变量，多线程可以直接访问，必须支持</a:t>
            </a:r>
            <a:r>
              <a:rPr lang="en-US" altLang="zh-CN" sz="1600">
                <a:cs typeface="+mn-ea"/>
                <a:sym typeface="+mn-lt"/>
              </a:rPr>
              <a:t>Sync Trait</a:t>
            </a:r>
          </a:p>
        </p:txBody>
      </p:sp>
      <p:sp>
        <p:nvSpPr>
          <p:cNvPr id="18" name="矩形 17"/>
          <p:cNvSpPr/>
          <p:nvPr/>
        </p:nvSpPr>
        <p:spPr>
          <a:xfrm>
            <a:off x="639523" y="4305330"/>
            <a:ext cx="10188419" cy="1895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>
                <a:solidFill>
                  <a:schemeClr val="accent1"/>
                </a:solidFill>
                <a:cs typeface="+mn-ea"/>
                <a:sym typeface="+mn-lt"/>
              </a:rPr>
              <a:t>Rustc</a:t>
            </a:r>
            <a:r>
              <a:rPr lang="zh-CN" altLang="en-US" sz="1600" b="1">
                <a:solidFill>
                  <a:schemeClr val="accent1"/>
                </a:solidFill>
                <a:cs typeface="+mn-ea"/>
                <a:sym typeface="+mn-lt"/>
              </a:rPr>
              <a:t>不认识线程，只认识</a:t>
            </a:r>
            <a:r>
              <a:rPr lang="en-US" altLang="zh-CN" sz="1600" b="1">
                <a:solidFill>
                  <a:schemeClr val="accent1"/>
                </a:solidFill>
                <a:cs typeface="+mn-ea"/>
                <a:sym typeface="+mn-lt"/>
              </a:rPr>
              <a:t>Send Trait/Sync Trait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线程间数据传递接口需要正确利用</a:t>
            </a:r>
            <a:r>
              <a:rPr lang="en-US" altLang="zh-CN" sz="1600">
                <a:cs typeface="+mn-ea"/>
                <a:sym typeface="+mn-lt"/>
              </a:rPr>
              <a:t>Send Trait</a:t>
            </a:r>
            <a:r>
              <a:rPr lang="zh-CN" altLang="en-US" sz="1600">
                <a:cs typeface="+mn-ea"/>
                <a:sym typeface="+mn-lt"/>
              </a:rPr>
              <a:t>进行参数限定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1600">
                <a:cs typeface="+mn-ea"/>
                <a:sym typeface="+mn-lt"/>
              </a:rPr>
              <a:t>正确定义数据结构是否支持</a:t>
            </a:r>
            <a:r>
              <a:rPr lang="en-US" altLang="zh-CN" sz="1600">
                <a:cs typeface="+mn-ea"/>
                <a:sym typeface="+mn-lt"/>
              </a:rPr>
              <a:t>Send Trait/Sync Trait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cs typeface="+mn-ea"/>
                <a:sym typeface="+mn-lt"/>
              </a:rPr>
              <a:t>Sync Trait</a:t>
            </a:r>
            <a:r>
              <a:rPr lang="zh-CN" altLang="en-US" sz="1600">
                <a:cs typeface="+mn-ea"/>
                <a:sym typeface="+mn-lt"/>
              </a:rPr>
              <a:t>决定了数据结构的只读借用是否支持</a:t>
            </a:r>
            <a:r>
              <a:rPr lang="en-US" altLang="zh-CN" sz="1600">
                <a:cs typeface="+mn-ea"/>
                <a:sym typeface="+mn-lt"/>
              </a:rPr>
              <a:t>Send Trait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cs typeface="+mn-ea"/>
                <a:sym typeface="+mn-lt"/>
              </a:rPr>
              <a:t>Send Trait</a:t>
            </a:r>
            <a:r>
              <a:rPr lang="zh-CN" altLang="en-US" sz="1600">
                <a:cs typeface="+mn-ea"/>
                <a:sym typeface="+mn-lt"/>
              </a:rPr>
              <a:t>取决于所有权在多线程间转移后内存访问是否安全</a:t>
            </a:r>
            <a:endParaRPr lang="en-US" altLang="zh-CN" sz="1600">
              <a:cs typeface="+mn-ea"/>
              <a:sym typeface="+mn-lt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438294" y="900256"/>
            <a:ext cx="3762375" cy="133408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400" i="1">
                <a:cs typeface="+mn-ea"/>
                <a:sym typeface="+mn-lt"/>
              </a:rPr>
              <a:t>总结 - 支持</a:t>
            </a:r>
            <a:r>
              <a:rPr lang="en-US" altLang="zh-CN" sz="1400" i="1">
                <a:cs typeface="+mn-ea"/>
                <a:sym typeface="+mn-lt"/>
              </a:rPr>
              <a:t>Send</a:t>
            </a:r>
            <a:r>
              <a:rPr lang="zh-CN" altLang="en-US" sz="1400" i="1">
                <a:cs typeface="+mn-ea"/>
                <a:sym typeface="+mn-lt"/>
              </a:rPr>
              <a:t>的条件：</a:t>
            </a:r>
            <a:endParaRPr lang="en-US" altLang="zh-CN" sz="1400" i="1">
              <a:cs typeface="+mn-ea"/>
              <a:sym typeface="+mn-lt"/>
            </a:endParaRPr>
          </a:p>
          <a:p>
            <a:pPr marL="342900" indent="-342900" algn="l">
              <a:lnSpc>
                <a:spcPts val="3440"/>
              </a:lnSpc>
              <a:buAutoNum type="arabicPeriod"/>
            </a:pPr>
            <a:r>
              <a:rPr lang="zh-CN" altLang="en-US" sz="1400" i="1">
                <a:cs typeface="+mn-ea"/>
                <a:sym typeface="+mn-lt"/>
              </a:rPr>
              <a:t>变量间无共享资源</a:t>
            </a:r>
            <a:endParaRPr lang="en-US" altLang="zh-CN" sz="1400" i="1">
              <a:cs typeface="+mn-ea"/>
              <a:sym typeface="+mn-lt"/>
            </a:endParaRPr>
          </a:p>
          <a:p>
            <a:pPr marL="342900" indent="-342900" algn="l">
              <a:lnSpc>
                <a:spcPts val="3440"/>
              </a:lnSpc>
              <a:buAutoNum type="arabicPeriod"/>
            </a:pPr>
            <a:r>
              <a:rPr lang="zh-CN" altLang="en-US" sz="1400" i="1">
                <a:cs typeface="+mn-ea"/>
                <a:sym typeface="+mn-lt"/>
              </a:rPr>
              <a:t>或共享资源支持</a:t>
            </a:r>
            <a:r>
              <a:rPr lang="en-US" altLang="zh-CN" sz="1400" i="1">
                <a:cs typeface="+mn-ea"/>
                <a:sym typeface="+mn-lt"/>
              </a:rPr>
              <a:t>Sync</a:t>
            </a:r>
            <a:endParaRPr lang="zh-CN" altLang="en-US" sz="1400" i="1" dirty="0">
              <a:cs typeface="+mn-ea"/>
              <a:sym typeface="+mn-lt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7451630" y="4771870"/>
            <a:ext cx="4059935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cs typeface="+mn-ea"/>
                <a:sym typeface="+mn-lt"/>
              </a:rPr>
              <a:t>有一些类型并没有实现 </a:t>
            </a:r>
            <a:r>
              <a:rPr lang="en-US" altLang="zh-CN" sz="1400">
                <a:cs typeface="+mn-ea"/>
                <a:sym typeface="+mn-lt"/>
              </a:rPr>
              <a:t>Send </a:t>
            </a:r>
            <a:r>
              <a:rPr lang="zh-CN" altLang="en-US" sz="1400">
                <a:cs typeface="+mn-ea"/>
                <a:sym typeface="+mn-lt"/>
              </a:rPr>
              <a:t>或 </a:t>
            </a:r>
            <a:r>
              <a:rPr lang="en-US" altLang="zh-CN" sz="1400">
                <a:cs typeface="+mn-ea"/>
                <a:sym typeface="+mn-lt"/>
              </a:rPr>
              <a:t>Sync </a:t>
            </a:r>
            <a:r>
              <a:rPr lang="zh-CN" altLang="en-US" sz="1400">
                <a:cs typeface="+mn-ea"/>
                <a:sym typeface="+mn-lt"/>
              </a:rPr>
              <a:t>特征，这些类型被称为 </a:t>
            </a:r>
            <a:r>
              <a:rPr lang="en-US" altLang="zh-CN" sz="1400">
                <a:cs typeface="+mn-ea"/>
                <a:sym typeface="+mn-lt"/>
              </a:rPr>
              <a:t>!Send </a:t>
            </a:r>
            <a:r>
              <a:rPr lang="zh-CN" altLang="en-US" sz="1400">
                <a:cs typeface="+mn-ea"/>
                <a:sym typeface="+mn-lt"/>
              </a:rPr>
              <a:t>或 </a:t>
            </a:r>
            <a:r>
              <a:rPr lang="en-US" altLang="zh-CN" sz="1400">
                <a:cs typeface="+mn-ea"/>
                <a:sym typeface="+mn-lt"/>
              </a:rPr>
              <a:t>!Sync </a:t>
            </a:r>
            <a:r>
              <a:rPr lang="zh-CN" altLang="en-US" sz="1400">
                <a:cs typeface="+mn-ea"/>
                <a:sym typeface="+mn-lt"/>
              </a:rPr>
              <a:t>类型。这些类型通常不是线程安全的，因此不能在线程间共享或传递所有权。</a:t>
            </a:r>
            <a:endParaRPr lang="zh-CN" altLang="en-US" sz="1400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84664" y="120967"/>
            <a:ext cx="10740640" cy="993400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Send/Sync- Send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定义数据是否可在线程间转移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(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传递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)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529" y="1198522"/>
            <a:ext cx="3914775" cy="952500"/>
          </a:xfrm>
          <a:prstGeom prst="rect">
            <a:avLst/>
          </a:prstGeom>
        </p:spPr>
      </p:pic>
      <p:sp>
        <p:nvSpPr>
          <p:cNvPr id="13" name="椭圆 12"/>
          <p:cNvSpPr/>
          <p:nvPr/>
        </p:nvSpPr>
        <p:spPr>
          <a:xfrm>
            <a:off x="8863342" y="1665839"/>
            <a:ext cx="606584" cy="226336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4" name="椭圆 13"/>
          <p:cNvSpPr/>
          <p:nvPr/>
        </p:nvSpPr>
        <p:spPr>
          <a:xfrm>
            <a:off x="7559643" y="1883122"/>
            <a:ext cx="606584" cy="226336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284664" y="5943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721976" y="873316"/>
            <a:ext cx="5116639" cy="175323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2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::thread;</a:t>
            </a:r>
            <a:endParaRPr lang="en-US" sz="12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200" b="0" u="none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200" b="0" u="none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endParaRPr lang="en-US" sz="12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200" b="0" u="none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 err="1">
                <a:solidFill>
                  <a:srgbClr val="E06C75"/>
                </a:solidFill>
                <a:cs typeface="+mn-ea"/>
                <a:sym typeface="+mn-lt"/>
              </a:rPr>
              <a:t>rc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thread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200" b="0" u="none" dirty="0" err="1">
                <a:solidFill>
                  <a:srgbClr val="61AFEF"/>
                </a:solidFill>
                <a:cs typeface="+mn-ea"/>
                <a:sym typeface="+mn-lt"/>
              </a:rPr>
              <a:t>println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sz="1200" b="0" u="none" dirty="0" err="1">
                <a:solidFill>
                  <a:srgbClr val="98C379"/>
                </a:solidFill>
                <a:cs typeface="+mn-ea"/>
                <a:sym typeface="+mn-lt"/>
              </a:rPr>
              <a:t>rc</a:t>
            </a:r>
            <a:r>
              <a:rPr lang="en-US" sz="1200" b="0" u="none" dirty="0">
                <a:solidFill>
                  <a:srgbClr val="98C379"/>
                </a:solidFill>
                <a:cs typeface="+mn-ea"/>
                <a:sym typeface="+mn-lt"/>
              </a:rPr>
              <a:t> = {</a:t>
            </a:r>
            <a:r>
              <a:rPr lang="en-US" sz="1200" b="0" u="none" dirty="0" err="1">
                <a:solidFill>
                  <a:srgbClr val="98C379"/>
                </a:solidFill>
                <a:cs typeface="+mn-ea"/>
                <a:sym typeface="+mn-lt"/>
              </a:rPr>
              <a:t>rc</a:t>
            </a:r>
            <a:r>
              <a:rPr lang="en-US" sz="1200" b="0" u="none" dirty="0">
                <a:solidFill>
                  <a:srgbClr val="98C379"/>
                </a:solidFill>
                <a:cs typeface="+mn-ea"/>
                <a:sym typeface="+mn-lt"/>
              </a:rPr>
              <a:t>}"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}).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E77F7AE-55DB-43B4-A334-D94EBCEF0D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976" y="3512298"/>
            <a:ext cx="8549832" cy="2669610"/>
          </a:xfrm>
          <a:prstGeom prst="rect">
            <a:avLst/>
          </a:prstGeom>
        </p:spPr>
      </p:pic>
      <p:sp>
        <p:nvSpPr>
          <p:cNvPr id="12" name="下箭头 5">
            <a:extLst>
              <a:ext uri="{FF2B5EF4-FFF2-40B4-BE49-F238E27FC236}">
                <a16:creationId xmlns:a16="http://schemas.microsoft.com/office/drawing/2014/main" id="{0C6F6111-D8BE-4C51-AC37-55F82ECACC52}"/>
              </a:ext>
            </a:extLst>
          </p:cNvPr>
          <p:cNvSpPr/>
          <p:nvPr/>
        </p:nvSpPr>
        <p:spPr>
          <a:xfrm>
            <a:off x="2191064" y="2879446"/>
            <a:ext cx="975995" cy="301625"/>
          </a:xfrm>
          <a:prstGeom prst="downArrow">
            <a:avLst/>
          </a:prstGeom>
          <a:solidFill>
            <a:schemeClr val="accent3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84664" y="97638"/>
            <a:ext cx="10740640" cy="993400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Send/Sync- Sync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定义数据是否可在线程间共享访问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485" y="1121914"/>
            <a:ext cx="3914775" cy="952500"/>
          </a:xfrm>
          <a:prstGeom prst="rect">
            <a:avLst/>
          </a:prstGeom>
        </p:spPr>
      </p:pic>
      <p:cxnSp>
        <p:nvCxnSpPr>
          <p:cNvPr id="7" name="直接连接符 6"/>
          <p:cNvCxnSpPr/>
          <p:nvPr/>
        </p:nvCxnSpPr>
        <p:spPr>
          <a:xfrm>
            <a:off x="284664" y="5943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306874" y="809454"/>
            <a:ext cx="5116639" cy="175323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200" dirty="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200" b="1" dirty="0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200" b="1" dirty="0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::thread;</a:t>
            </a:r>
            <a:endParaRPr lang="en-US" sz="12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200" b="0" u="none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200" b="0" u="none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;</a:t>
            </a:r>
            <a:endParaRPr lang="en-US" sz="1200" b="0" u="none" dirty="0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200" b="0" u="none" dirty="0" err="1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 err="1">
                <a:solidFill>
                  <a:srgbClr val="C678DD"/>
                </a:solidFill>
                <a:cs typeface="+mn-ea"/>
                <a:sym typeface="+mn-lt"/>
              </a:rPr>
              <a:t>mut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 err="1">
                <a:solidFill>
                  <a:srgbClr val="E06C75"/>
                </a:solidFill>
                <a:cs typeface="+mn-ea"/>
                <a:sym typeface="+mn-lt"/>
              </a:rPr>
              <a:t>rc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 err="1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 dirty="0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200" b="0" u="none" dirty="0">
                <a:solidFill>
                  <a:srgbClr val="E5C07B"/>
                </a:solidFill>
                <a:cs typeface="+mn-ea"/>
                <a:sym typeface="+mn-lt"/>
              </a:rPr>
              <a:t>thread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 dirty="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200" b="0" u="none" dirty="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200" b="0" u="none" dirty="0" err="1">
                <a:solidFill>
                  <a:srgbClr val="61AFEF"/>
                </a:solidFill>
                <a:cs typeface="+mn-ea"/>
                <a:sym typeface="+mn-lt"/>
              </a:rPr>
              <a:t>println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!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200" b="0" u="none" dirty="0">
                <a:solidFill>
                  <a:srgbClr val="98C379"/>
                </a:solidFill>
                <a:cs typeface="+mn-ea"/>
                <a:sym typeface="+mn-lt"/>
              </a:rPr>
              <a:t>"</a:t>
            </a:r>
            <a:r>
              <a:rPr lang="en-US" sz="1200" b="0" u="none" dirty="0" err="1">
                <a:solidFill>
                  <a:srgbClr val="98C379"/>
                </a:solidFill>
                <a:cs typeface="+mn-ea"/>
                <a:sym typeface="+mn-lt"/>
              </a:rPr>
              <a:t>rc</a:t>
            </a:r>
            <a:r>
              <a:rPr lang="en-US" sz="1200" b="0" u="none" dirty="0">
                <a:solidFill>
                  <a:srgbClr val="98C379"/>
                </a:solidFill>
                <a:cs typeface="+mn-ea"/>
                <a:sym typeface="+mn-lt"/>
              </a:rPr>
              <a:t> = {}"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, &amp;</a:t>
            </a:r>
            <a:r>
              <a:rPr lang="en-US" sz="1200" b="0" u="none" dirty="0" err="1">
                <a:solidFill>
                  <a:srgbClr val="E06C75"/>
                </a:solidFill>
                <a:cs typeface="+mn-ea"/>
                <a:sym typeface="+mn-lt"/>
              </a:rPr>
              <a:t>rc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    }).</a:t>
            </a:r>
            <a:r>
              <a:rPr lang="en-US" sz="1200" b="0" u="none" dirty="0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200" b="0" u="none" dirty="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200" b="0" u="none" dirty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pic>
        <p:nvPicPr>
          <p:cNvPr id="6" name="Picture 5" descr="upload_96504566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275" y="3161163"/>
            <a:ext cx="8333976" cy="293764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84664" y="97638"/>
            <a:ext cx="10740640" cy="993400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Send/Sync-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自动判定规则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9525" y="882160"/>
            <a:ext cx="10188419" cy="37846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cs typeface="+mn-ea"/>
                <a:sym typeface="+mn-lt"/>
              </a:rPr>
              <a:t>如果</a:t>
            </a:r>
            <a:r>
              <a:rPr lang="en-US" altLang="zh-CN" sz="1600" dirty="0">
                <a:cs typeface="+mn-ea"/>
                <a:sym typeface="+mn-lt"/>
              </a:rPr>
              <a:t>T</a:t>
            </a:r>
            <a:r>
              <a:rPr lang="zh-CN" altLang="en-US" sz="1600" dirty="0">
                <a:cs typeface="+mn-ea"/>
                <a:sym typeface="+mn-lt"/>
              </a:rPr>
              <a:t>支持</a:t>
            </a:r>
            <a:r>
              <a:rPr lang="en-US" altLang="zh-CN" sz="1600" dirty="0">
                <a:cs typeface="+mn-ea"/>
                <a:sym typeface="+mn-lt"/>
              </a:rPr>
              <a:t>Sync</a:t>
            </a:r>
            <a:r>
              <a:rPr lang="zh-CN" altLang="en-US" sz="1600" dirty="0">
                <a:cs typeface="+mn-ea"/>
                <a:sym typeface="+mn-lt"/>
              </a:rPr>
              <a:t>则</a:t>
            </a:r>
            <a:r>
              <a:rPr lang="en-US" altLang="zh-CN" sz="1600" dirty="0">
                <a:cs typeface="+mn-ea"/>
                <a:sym typeface="+mn-lt"/>
              </a:rPr>
              <a:t> &amp;T </a:t>
            </a:r>
            <a:r>
              <a:rPr lang="zh-CN" altLang="en-US" sz="1600" dirty="0">
                <a:cs typeface="+mn-ea"/>
                <a:sym typeface="+mn-lt"/>
              </a:rPr>
              <a:t>支持</a:t>
            </a:r>
            <a:r>
              <a:rPr lang="en-US" altLang="zh-CN" sz="1600" dirty="0">
                <a:cs typeface="+mn-ea"/>
                <a:sym typeface="+mn-lt"/>
              </a:rPr>
              <a:t>Send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cs typeface="+mn-ea"/>
                <a:sym typeface="+mn-lt"/>
              </a:rPr>
              <a:t>如果</a:t>
            </a:r>
            <a:r>
              <a:rPr lang="en-US" altLang="zh-CN" sz="1600" dirty="0">
                <a:cs typeface="+mn-ea"/>
                <a:sym typeface="+mn-lt"/>
              </a:rPr>
              <a:t>&amp;T</a:t>
            </a:r>
            <a:r>
              <a:rPr lang="zh-CN" altLang="en-US" sz="1600" dirty="0">
                <a:cs typeface="+mn-ea"/>
                <a:sym typeface="+mn-lt"/>
              </a:rPr>
              <a:t>支持</a:t>
            </a:r>
            <a:r>
              <a:rPr lang="en-US" altLang="zh-CN" sz="1600" dirty="0">
                <a:cs typeface="+mn-ea"/>
                <a:sym typeface="+mn-lt"/>
              </a:rPr>
              <a:t>Send</a:t>
            </a:r>
            <a:r>
              <a:rPr lang="zh-CN" altLang="en-US" sz="1600" dirty="0">
                <a:cs typeface="+mn-ea"/>
                <a:sym typeface="+mn-lt"/>
              </a:rPr>
              <a:t>则</a:t>
            </a:r>
            <a:r>
              <a:rPr lang="en-US" altLang="zh-CN" sz="1600" dirty="0">
                <a:cs typeface="+mn-ea"/>
                <a:sym typeface="+mn-lt"/>
              </a:rPr>
              <a:t> T</a:t>
            </a:r>
            <a:r>
              <a:rPr lang="zh-CN" altLang="en-US" sz="1600" dirty="0">
                <a:cs typeface="+mn-ea"/>
                <a:sym typeface="+mn-lt"/>
              </a:rPr>
              <a:t>支持</a:t>
            </a:r>
            <a:r>
              <a:rPr lang="en-US" altLang="zh-CN" sz="1600" dirty="0">
                <a:cs typeface="+mn-ea"/>
                <a:sym typeface="+mn-lt"/>
              </a:rPr>
              <a:t>Sync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cs typeface="+mn-ea"/>
                <a:sym typeface="+mn-lt"/>
              </a:rPr>
              <a:t>如果复合类型所有成员支持</a:t>
            </a:r>
            <a:r>
              <a:rPr lang="en-US" altLang="zh-CN" sz="1600" dirty="0">
                <a:cs typeface="+mn-ea"/>
                <a:sym typeface="+mn-lt"/>
              </a:rPr>
              <a:t>Send/Sync</a:t>
            </a:r>
            <a:r>
              <a:rPr lang="zh-CN" altLang="en-US" sz="1600" dirty="0">
                <a:cs typeface="+mn-ea"/>
                <a:sym typeface="+mn-lt"/>
              </a:rPr>
              <a:t>则复合类型支持</a:t>
            </a:r>
            <a:r>
              <a:rPr lang="en-US" altLang="zh-CN" sz="1600" dirty="0">
                <a:cs typeface="+mn-ea"/>
                <a:sym typeface="+mn-lt"/>
              </a:rPr>
              <a:t>Send/Sync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cs typeface="+mn-ea"/>
                <a:sym typeface="+mn-lt"/>
              </a:rPr>
              <a:t>除以下类型之外的基本类型都支持</a:t>
            </a:r>
            <a:r>
              <a:rPr lang="en-US" altLang="zh-CN" sz="1600" dirty="0">
                <a:cs typeface="+mn-ea"/>
                <a:sym typeface="+mn-lt"/>
              </a:rPr>
              <a:t>Send/Sync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cs typeface="+mn-ea"/>
                <a:sym typeface="+mn-lt"/>
              </a:rPr>
              <a:t>不支持</a:t>
            </a:r>
            <a:r>
              <a:rPr lang="en-US" altLang="zh-CN" sz="1600" dirty="0">
                <a:cs typeface="+mn-ea"/>
                <a:sym typeface="+mn-lt"/>
              </a:rPr>
              <a:t>Send/Sync</a:t>
            </a:r>
            <a:r>
              <a:rPr lang="zh-CN" altLang="en-US" sz="1600" dirty="0">
                <a:cs typeface="+mn-ea"/>
                <a:sym typeface="+mn-lt"/>
              </a:rPr>
              <a:t>：</a:t>
            </a:r>
            <a:r>
              <a:rPr lang="en-US" altLang="zh-CN" sz="1600" dirty="0">
                <a:cs typeface="+mn-ea"/>
                <a:sym typeface="+mn-lt"/>
              </a:rPr>
              <a:t>*const T, *</a:t>
            </a:r>
            <a:r>
              <a:rPr lang="en-US" altLang="zh-CN" sz="1600" dirty="0" err="1">
                <a:cs typeface="+mn-ea"/>
                <a:sym typeface="+mn-lt"/>
              </a:rPr>
              <a:t>mut</a:t>
            </a:r>
            <a:r>
              <a:rPr lang="en-US" altLang="zh-CN" sz="1600" dirty="0">
                <a:cs typeface="+mn-ea"/>
                <a:sym typeface="+mn-lt"/>
              </a:rPr>
              <a:t> T, </a:t>
            </a:r>
            <a:r>
              <a:rPr lang="en-US" altLang="zh-CN" sz="1600" dirty="0" err="1">
                <a:cs typeface="+mn-ea"/>
                <a:sym typeface="+mn-lt"/>
              </a:rPr>
              <a:t>NonNull</a:t>
            </a:r>
            <a:r>
              <a:rPr lang="en-US" altLang="zh-CN" sz="1600" dirty="0">
                <a:cs typeface="+mn-ea"/>
                <a:sym typeface="+mn-lt"/>
              </a:rPr>
              <a:t>&lt;T&gt;</a:t>
            </a:r>
            <a:r>
              <a:rPr lang="zh-CN" altLang="en-US" sz="1600" dirty="0">
                <a:cs typeface="+mn-ea"/>
                <a:sym typeface="+mn-lt"/>
              </a:rPr>
              <a:t>，</a:t>
            </a:r>
            <a:r>
              <a:rPr lang="en-US" altLang="zh-CN" sz="1600" dirty="0" err="1">
                <a:cs typeface="+mn-ea"/>
                <a:sym typeface="+mn-lt"/>
              </a:rPr>
              <a:t>Rc</a:t>
            </a:r>
            <a:r>
              <a:rPr lang="en-US" altLang="zh-CN" sz="1600" dirty="0">
                <a:cs typeface="+mn-ea"/>
                <a:sym typeface="+mn-lt"/>
              </a:rPr>
              <a:t>&lt;T&gt;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cs typeface="+mn-ea"/>
                <a:sym typeface="+mn-lt"/>
              </a:rPr>
              <a:t>不支持</a:t>
            </a:r>
            <a:r>
              <a:rPr lang="en-US" altLang="zh-CN" sz="1600" dirty="0">
                <a:cs typeface="+mn-ea"/>
                <a:sym typeface="+mn-lt"/>
              </a:rPr>
              <a:t>Sync</a:t>
            </a:r>
            <a:r>
              <a:rPr lang="zh-CN" altLang="en-US" sz="1600" dirty="0">
                <a:cs typeface="+mn-ea"/>
                <a:sym typeface="+mn-lt"/>
              </a:rPr>
              <a:t>：</a:t>
            </a:r>
            <a:r>
              <a:rPr lang="en-US" altLang="zh-CN" sz="1600" dirty="0" err="1">
                <a:cs typeface="+mn-ea"/>
                <a:sym typeface="+mn-lt"/>
              </a:rPr>
              <a:t>UnsafeCell</a:t>
            </a:r>
            <a:r>
              <a:rPr lang="en-US" altLang="zh-CN" sz="1600" dirty="0">
                <a:cs typeface="+mn-ea"/>
                <a:sym typeface="+mn-lt"/>
              </a:rPr>
              <a:t>/Cell/</a:t>
            </a:r>
            <a:r>
              <a:rPr lang="en-US" altLang="zh-CN" sz="1600" dirty="0" err="1">
                <a:cs typeface="+mn-ea"/>
                <a:sym typeface="+mn-lt"/>
              </a:rPr>
              <a:t>RefCell</a:t>
            </a:r>
            <a:endParaRPr lang="en-US" altLang="zh-CN" sz="1600" dirty="0"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1600" dirty="0">
                <a:cs typeface="+mn-ea"/>
                <a:sym typeface="+mn-lt"/>
              </a:rPr>
              <a:t>有条件支持</a:t>
            </a:r>
            <a:r>
              <a:rPr lang="en-US" altLang="zh-CN" sz="1600" dirty="0">
                <a:cs typeface="+mn-ea"/>
                <a:sym typeface="+mn-lt"/>
              </a:rPr>
              <a:t>Send(</a:t>
            </a:r>
            <a:r>
              <a:rPr lang="zh-CN" altLang="en-US" sz="1600" dirty="0">
                <a:cs typeface="+mn-ea"/>
                <a:sym typeface="+mn-lt"/>
              </a:rPr>
              <a:t>泛型参数支持</a:t>
            </a:r>
            <a:r>
              <a:rPr lang="en-US" altLang="zh-CN" sz="1600" dirty="0">
                <a:cs typeface="+mn-ea"/>
                <a:sym typeface="+mn-lt"/>
              </a:rPr>
              <a:t>Send): </a:t>
            </a:r>
            <a:r>
              <a:rPr lang="en-US" altLang="zh-CN" sz="1600" dirty="0" err="1">
                <a:cs typeface="+mn-ea"/>
                <a:sym typeface="+mn-lt"/>
              </a:rPr>
              <a:t>UnsafeCell</a:t>
            </a:r>
            <a:r>
              <a:rPr lang="en-US" altLang="zh-CN" sz="1600" dirty="0">
                <a:cs typeface="+mn-ea"/>
                <a:sym typeface="+mn-lt"/>
              </a:rPr>
              <a:t>/Cell/</a:t>
            </a:r>
            <a:r>
              <a:rPr lang="en-US" altLang="zh-CN" sz="1600" dirty="0" err="1">
                <a:cs typeface="+mn-ea"/>
                <a:sym typeface="+mn-lt"/>
              </a:rPr>
              <a:t>RefCell</a:t>
            </a:r>
            <a:endParaRPr lang="en-US" altLang="zh-CN" sz="1600" dirty="0">
              <a:cs typeface="+mn-ea"/>
              <a:sym typeface="+mn-lt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endParaRPr lang="zh-CN" altLang="en-US" sz="1600" dirty="0">
              <a:cs typeface="+mn-ea"/>
              <a:sym typeface="+mn-lt"/>
            </a:endParaRPr>
          </a:p>
          <a:p>
            <a:pPr indent="0">
              <a:lnSpc>
                <a:spcPct val="150000"/>
              </a:lnSpc>
              <a:buNone/>
            </a:pPr>
            <a:r>
              <a:rPr lang="zh-CN" altLang="en-US" sz="1600" dirty="0">
                <a:cs typeface="+mn-ea"/>
                <a:sym typeface="+mn-lt"/>
              </a:rPr>
              <a:t>参考链接：</a:t>
            </a:r>
            <a:r>
              <a:rPr lang="en-US" altLang="zh-CN" sz="1600" dirty="0">
                <a:cs typeface="+mn-ea"/>
                <a:sym typeface="+mn-lt"/>
              </a:rPr>
              <a:t>https://doc.rust</a:t>
            </a:r>
            <a:r>
              <a:rPr lang="zh-CN" altLang="en-US" sz="1600" dirty="0">
                <a:cs typeface="+mn-ea"/>
                <a:sym typeface="+mn-lt"/>
              </a:rPr>
              <a:t>-</a:t>
            </a:r>
            <a:r>
              <a:rPr lang="en-US" altLang="zh-CN" sz="1600" dirty="0">
                <a:cs typeface="+mn-ea"/>
                <a:sym typeface="+mn-lt"/>
              </a:rPr>
              <a:t>lang.org/</a:t>
            </a:r>
            <a:r>
              <a:rPr lang="en-US" altLang="zh-CN" sz="1600" dirty="0" err="1">
                <a:cs typeface="+mn-ea"/>
                <a:sym typeface="+mn-lt"/>
              </a:rPr>
              <a:t>nomicon</a:t>
            </a:r>
            <a:r>
              <a:rPr lang="en-US" altLang="zh-CN" sz="1600" dirty="0">
                <a:cs typeface="+mn-ea"/>
                <a:sym typeface="+mn-lt"/>
              </a:rPr>
              <a:t>/send</a:t>
            </a:r>
            <a:r>
              <a:rPr lang="zh-CN" altLang="en-US" sz="1600" dirty="0">
                <a:cs typeface="+mn-ea"/>
                <a:sym typeface="+mn-lt"/>
              </a:rPr>
              <a:t>-</a:t>
            </a:r>
            <a:r>
              <a:rPr lang="en-US" altLang="zh-CN" sz="1600" dirty="0">
                <a:cs typeface="+mn-ea"/>
                <a:sym typeface="+mn-lt"/>
              </a:rPr>
              <a:t>and</a:t>
            </a:r>
            <a:r>
              <a:rPr lang="zh-CN" altLang="en-US" sz="1600" dirty="0">
                <a:cs typeface="+mn-ea"/>
                <a:sym typeface="+mn-lt"/>
              </a:rPr>
              <a:t>-</a:t>
            </a:r>
            <a:r>
              <a:rPr lang="en-US" altLang="zh-CN" sz="1600" dirty="0">
                <a:cs typeface="+mn-ea"/>
                <a:sym typeface="+mn-lt"/>
              </a:rPr>
              <a:t>sync.html</a:t>
            </a:r>
          </a:p>
          <a:p>
            <a:pPr lvl="1" indent="0">
              <a:lnSpc>
                <a:spcPct val="150000"/>
              </a:lnSpc>
              <a:buNone/>
            </a:pPr>
            <a:endParaRPr lang="zh-CN" altLang="en-US" sz="1600" dirty="0">
              <a:cs typeface="+mn-ea"/>
              <a:sym typeface="+mn-lt"/>
            </a:endParaRPr>
          </a:p>
        </p:txBody>
      </p:sp>
      <p:cxnSp>
        <p:nvCxnSpPr>
          <p:cNvPr id="4" name="直接连接符 3"/>
          <p:cNvCxnSpPr/>
          <p:nvPr/>
        </p:nvCxnSpPr>
        <p:spPr>
          <a:xfrm>
            <a:off x="284664" y="5943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7980007" y="1106158"/>
            <a:ext cx="3762837" cy="133408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zh-CN" altLang="en-US" sz="1400" i="1">
                <a:cs typeface="+mn-ea"/>
                <a:sym typeface="+mn-lt"/>
              </a:rPr>
              <a:t>总结 - 支持</a:t>
            </a:r>
            <a:r>
              <a:rPr lang="en-US" altLang="zh-CN" sz="1400" i="1">
                <a:cs typeface="+mn-ea"/>
                <a:sym typeface="+mn-lt"/>
              </a:rPr>
              <a:t>Send</a:t>
            </a:r>
            <a:r>
              <a:rPr lang="zh-CN" altLang="en-US" sz="1400" i="1">
                <a:cs typeface="+mn-ea"/>
                <a:sym typeface="+mn-lt"/>
              </a:rPr>
              <a:t>的条件：</a:t>
            </a:r>
            <a:endParaRPr lang="en-US" altLang="zh-CN" sz="1400" i="1">
              <a:cs typeface="+mn-ea"/>
              <a:sym typeface="+mn-lt"/>
            </a:endParaRPr>
          </a:p>
          <a:p>
            <a:pPr marL="342900" indent="-342900" algn="l">
              <a:lnSpc>
                <a:spcPts val="3440"/>
              </a:lnSpc>
              <a:buAutoNum type="arabicPeriod"/>
            </a:pPr>
            <a:r>
              <a:rPr lang="zh-CN" altLang="en-US" sz="1400" i="1">
                <a:cs typeface="+mn-ea"/>
                <a:sym typeface="+mn-lt"/>
              </a:rPr>
              <a:t>变量间无共享资源</a:t>
            </a:r>
            <a:endParaRPr lang="en-US" altLang="zh-CN" sz="1400" i="1">
              <a:cs typeface="+mn-ea"/>
              <a:sym typeface="+mn-lt"/>
            </a:endParaRPr>
          </a:p>
          <a:p>
            <a:pPr marL="342900" indent="-342900" algn="l">
              <a:lnSpc>
                <a:spcPts val="3440"/>
              </a:lnSpc>
              <a:buAutoNum type="arabicPeriod"/>
            </a:pPr>
            <a:r>
              <a:rPr lang="zh-CN" altLang="en-US" sz="1400" i="1">
                <a:cs typeface="+mn-ea"/>
                <a:sym typeface="+mn-lt"/>
              </a:rPr>
              <a:t>或共享资源支持</a:t>
            </a:r>
            <a:r>
              <a:rPr lang="en-US" altLang="zh-CN" sz="1400" i="1">
                <a:cs typeface="+mn-ea"/>
                <a:sym typeface="+mn-lt"/>
              </a:rPr>
              <a:t>Sync</a:t>
            </a:r>
            <a:endParaRPr lang="zh-CN" altLang="en-US" sz="1400" i="1" dirty="0"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84664" y="98090"/>
            <a:ext cx="10740640" cy="993400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Send/Sync-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显式指定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639525" y="1162078"/>
            <a:ext cx="9610899" cy="1077218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6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6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6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6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60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 ( *</a:t>
            </a:r>
            <a:r>
              <a:rPr lang="en-US" altLang="zh-CN" sz="160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6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);</a:t>
            </a:r>
            <a:r>
              <a:rPr lang="en-US" altLang="zh-CN" sz="1600" i="1">
                <a:solidFill>
                  <a:srgbClr val="7F848E"/>
                </a:solidFill>
                <a:cs typeface="+mn-ea"/>
                <a:sym typeface="+mn-lt"/>
              </a:rPr>
              <a:t>    //</a:t>
            </a:r>
            <a:r>
              <a:rPr lang="zh-CN" altLang="en-US" sz="1600" i="1">
                <a:solidFill>
                  <a:srgbClr val="7F848E"/>
                </a:solidFill>
                <a:cs typeface="+mn-ea"/>
                <a:sym typeface="+mn-lt"/>
              </a:rPr>
              <a:t>自动判定规则推断出不支持</a:t>
            </a:r>
            <a:r>
              <a:rPr lang="en-US" altLang="zh-CN" sz="1600" i="1">
                <a:solidFill>
                  <a:srgbClr val="7F848E"/>
                </a:solidFill>
                <a:cs typeface="+mn-ea"/>
                <a:sym typeface="+mn-lt"/>
              </a:rPr>
              <a:t>Send/Sync</a:t>
            </a:r>
            <a:endParaRPr lang="en-US" altLang="zh-CN" sz="16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60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6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600">
                <a:solidFill>
                  <a:srgbClr val="E5C07B"/>
                </a:solidFill>
                <a:cs typeface="+mn-ea"/>
                <a:sym typeface="+mn-lt"/>
              </a:rPr>
              <a:t>Sync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6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60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 {}</a:t>
            </a:r>
          </a:p>
          <a:p>
            <a:r>
              <a:rPr lang="en-US" altLang="zh-CN" sz="160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6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600">
                <a:solidFill>
                  <a:srgbClr val="E5C07B"/>
                </a:solidFill>
                <a:cs typeface="+mn-ea"/>
                <a:sym typeface="+mn-lt"/>
              </a:rPr>
              <a:t>Send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6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60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altLang="zh-CN" sz="1600">
                <a:solidFill>
                  <a:srgbClr val="ABB2BF"/>
                </a:solidFill>
                <a:cs typeface="+mn-ea"/>
                <a:sym typeface="+mn-lt"/>
              </a:rPr>
              <a:t> {}</a:t>
            </a:r>
            <a:endParaRPr lang="en-US" altLang="zh-CN" sz="16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39525" y="2323583"/>
            <a:ext cx="961090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None/>
            </a:pPr>
            <a:endParaRPr lang="en-US" altLang="zh-CN" sz="1600"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>
                <a:cs typeface="+mn-ea"/>
                <a:sym typeface="+mn-lt"/>
              </a:rPr>
              <a:t>Send/Sync </a:t>
            </a:r>
            <a:r>
              <a:rPr lang="zh-CN" altLang="en-US" sz="1600">
                <a:cs typeface="+mn-ea"/>
                <a:sym typeface="+mn-lt"/>
              </a:rPr>
              <a:t>均为 </a:t>
            </a:r>
            <a:r>
              <a:rPr lang="en-US" altLang="zh-CN" sz="1600">
                <a:cs typeface="+mn-ea"/>
                <a:sym typeface="+mn-lt"/>
              </a:rPr>
              <a:t>unsafe trait</a:t>
            </a:r>
            <a:r>
              <a:rPr lang="zh-CN" altLang="en-US" sz="1600">
                <a:cs typeface="+mn-ea"/>
                <a:sym typeface="+mn-lt"/>
              </a:rPr>
              <a:t>，程序员保证类型的线程安全和声明的一致性；</a:t>
            </a:r>
            <a:endParaRPr lang="en-US" altLang="zh-CN" sz="1600">
              <a:cs typeface="+mn-ea"/>
              <a:sym typeface="+mn-lt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zh-CN" sz="1600">
                <a:cs typeface="+mn-ea"/>
                <a:sym typeface="+mn-lt"/>
              </a:rPr>
              <a:t>Send</a:t>
            </a:r>
            <a:r>
              <a:rPr lang="zh-CN" altLang="en-US" sz="1600">
                <a:cs typeface="+mn-ea"/>
                <a:sym typeface="+mn-lt"/>
              </a:rPr>
              <a:t>和</a:t>
            </a:r>
            <a:r>
              <a:rPr lang="en-US" altLang="zh-CN" sz="1600">
                <a:cs typeface="+mn-ea"/>
                <a:sym typeface="+mn-lt"/>
              </a:rPr>
              <a:t>Sync </a:t>
            </a:r>
            <a:r>
              <a:rPr lang="zh-CN" altLang="en-US" sz="1600">
                <a:cs typeface="+mn-ea"/>
                <a:sym typeface="+mn-lt"/>
              </a:rPr>
              <a:t>均需要独立声明；</a:t>
            </a:r>
            <a:endParaRPr lang="zh-CN" altLang="en-US" sz="1600" dirty="0"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284664" y="5943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3"/>
          <p:cNvSpPr/>
          <p:nvPr/>
        </p:nvSpPr>
        <p:spPr>
          <a:xfrm>
            <a:off x="654102" y="3912076"/>
            <a:ext cx="9610900" cy="1568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None/>
            </a:pPr>
            <a:r>
              <a:rPr lang="zh-CN" altLang="en-US" sz="1600" dirty="0">
                <a:cs typeface="+mn-ea"/>
                <a:sym typeface="+mn-lt"/>
              </a:rPr>
              <a:t>备注：</a:t>
            </a:r>
          </a:p>
          <a:p>
            <a:pPr indent="0">
              <a:lnSpc>
                <a:spcPct val="150000"/>
              </a:lnSpc>
              <a:buNone/>
            </a:pPr>
            <a:r>
              <a:rPr lang="en-US" altLang="zh-CN" sz="1600" dirty="0">
                <a:cs typeface="+mn-ea"/>
                <a:sym typeface="+mn-lt"/>
              </a:rPr>
              <a:t>1.</a:t>
            </a:r>
            <a:r>
              <a:rPr lang="zh-CN" altLang="en-US" sz="1600" dirty="0">
                <a:cs typeface="+mn-ea"/>
                <a:sym typeface="+mn-lt"/>
              </a:rPr>
              <a:t> </a:t>
            </a:r>
            <a:r>
              <a:rPr lang="en-US" altLang="zh-CN" sz="1600" dirty="0">
                <a:cs typeface="+mn-ea"/>
                <a:sym typeface="+mn-lt"/>
              </a:rPr>
              <a:t>*const T</a:t>
            </a:r>
            <a:r>
              <a:rPr lang="zh-CN" altLang="en-US" sz="1600" dirty="0">
                <a:cs typeface="+mn-ea"/>
                <a:sym typeface="+mn-lt"/>
              </a:rPr>
              <a:t>为裸指针类型，关于裸指针类型的具体使用方式参见《</a:t>
            </a:r>
            <a:r>
              <a:rPr lang="en-US" altLang="zh-CN" sz="1600" dirty="0">
                <a:cs typeface="+mn-ea"/>
                <a:sym typeface="+mn-lt"/>
              </a:rPr>
              <a:t>unsafe rust</a:t>
            </a:r>
            <a:r>
              <a:rPr lang="zh-CN" altLang="en-US" sz="1600" dirty="0">
                <a:cs typeface="+mn-ea"/>
                <a:sym typeface="+mn-lt"/>
              </a:rPr>
              <a:t>》培训课程内容。</a:t>
            </a:r>
          </a:p>
          <a:p>
            <a:pPr indent="0">
              <a:lnSpc>
                <a:spcPct val="150000"/>
              </a:lnSpc>
              <a:buNone/>
            </a:pPr>
            <a:r>
              <a:rPr lang="en-US" altLang="zh-CN" sz="1600" dirty="0">
                <a:cs typeface="+mn-ea"/>
                <a:sym typeface="+mn-lt"/>
              </a:rPr>
              <a:t>2.</a:t>
            </a:r>
            <a:r>
              <a:rPr lang="zh-CN" altLang="en-US" sz="1600" dirty="0">
                <a:cs typeface="+mn-ea"/>
                <a:sym typeface="+mn-lt"/>
              </a:rPr>
              <a:t> </a:t>
            </a:r>
            <a:r>
              <a:rPr lang="en-US" altLang="zh-CN" sz="1600" dirty="0">
                <a:cs typeface="+mn-ea"/>
                <a:sym typeface="+mn-lt"/>
              </a:rPr>
              <a:t>"unsafe"</a:t>
            </a:r>
            <a:r>
              <a:rPr lang="zh-CN" altLang="en-US" sz="1600" dirty="0">
                <a:cs typeface="+mn-ea"/>
                <a:sym typeface="+mn-lt"/>
              </a:rPr>
              <a:t>关键字必须是因为</a:t>
            </a:r>
            <a:r>
              <a:rPr lang="en-US" altLang="zh-CN" sz="1600" dirty="0">
                <a:cs typeface="+mn-ea"/>
                <a:sym typeface="+mn-lt"/>
              </a:rPr>
              <a:t>Sync/Send</a:t>
            </a:r>
            <a:r>
              <a:rPr lang="zh-CN" altLang="en-US" sz="1600" dirty="0">
                <a:cs typeface="+mn-ea"/>
                <a:sym typeface="+mn-lt"/>
              </a:rPr>
              <a:t>被定义为</a:t>
            </a:r>
            <a:r>
              <a:rPr lang="en-US" altLang="zh-CN" sz="1600" dirty="0">
                <a:cs typeface="+mn-ea"/>
                <a:sym typeface="+mn-lt"/>
              </a:rPr>
              <a:t>unsafe trait.  Sync/Send</a:t>
            </a:r>
            <a:r>
              <a:rPr lang="zh-CN" altLang="en-US" sz="1600" dirty="0">
                <a:cs typeface="+mn-ea"/>
                <a:sym typeface="+mn-lt"/>
              </a:rPr>
              <a:t>仅代表编译器和程序员之间的一种契约，</a:t>
            </a:r>
            <a:r>
              <a:rPr lang="en-US" altLang="zh-CN" sz="1600" dirty="0">
                <a:cs typeface="+mn-ea"/>
                <a:sym typeface="+mn-lt"/>
              </a:rPr>
              <a:t>"unsafe"</a:t>
            </a:r>
            <a:r>
              <a:rPr lang="zh-CN" altLang="en-US" sz="1600" dirty="0">
                <a:cs typeface="+mn-ea"/>
                <a:sym typeface="+mn-lt"/>
              </a:rPr>
              <a:t>的含义是必须由程序员保证一个类型被声明为支持</a:t>
            </a:r>
            <a:r>
              <a:rPr lang="en-US" altLang="zh-CN" sz="1600" dirty="0">
                <a:cs typeface="+mn-ea"/>
                <a:sym typeface="+mn-lt"/>
              </a:rPr>
              <a:t>Sync/Send</a:t>
            </a:r>
            <a:r>
              <a:rPr lang="zh-CN" altLang="en-US" sz="1600" dirty="0">
                <a:cs typeface="+mn-ea"/>
                <a:sym typeface="+mn-lt"/>
              </a:rPr>
              <a:t>的正确性。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84664" y="120165"/>
            <a:ext cx="10740640" cy="993400"/>
          </a:xfrm>
        </p:spPr>
        <p:txBody>
          <a:bodyPr/>
          <a:lstStyle/>
          <a:p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Send/Sync-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显式禁止：可明确定义仅单线程使用数据结构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458400" y="663827"/>
            <a:ext cx="10188419" cy="4250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1</a:t>
            </a:r>
            <a:r>
              <a:rPr lang="zh-CN" altLang="en-US" sz="1600">
                <a:cs typeface="+mn-ea"/>
                <a:sym typeface="+mn-lt"/>
              </a:rPr>
              <a:t>、方案</a:t>
            </a:r>
            <a:r>
              <a:rPr lang="en-US" altLang="zh-CN" sz="1600">
                <a:cs typeface="+mn-ea"/>
                <a:sym typeface="+mn-lt"/>
              </a:rPr>
              <a:t>1</a:t>
            </a:r>
            <a:r>
              <a:rPr lang="zh-CN" altLang="en-US" sz="1600">
                <a:cs typeface="+mn-ea"/>
                <a:sym typeface="+mn-lt"/>
              </a:rPr>
              <a:t>：利用</a:t>
            </a:r>
            <a:r>
              <a:rPr lang="en-US" altLang="zh-CN" sz="1600">
                <a:cs typeface="+mn-ea"/>
                <a:sym typeface="+mn-lt"/>
              </a:rPr>
              <a:t>PhantomData</a:t>
            </a:r>
            <a:r>
              <a:rPr lang="zh-CN" altLang="en-US" sz="1600">
                <a:cs typeface="+mn-ea"/>
                <a:sym typeface="+mn-lt"/>
              </a:rPr>
              <a:t>定义一个不支持</a:t>
            </a:r>
            <a:r>
              <a:rPr lang="en-US" altLang="zh-CN" sz="1600">
                <a:cs typeface="+mn-ea"/>
                <a:sym typeface="+mn-lt"/>
              </a:rPr>
              <a:t>Send/Sync</a:t>
            </a:r>
            <a:r>
              <a:rPr lang="zh-CN" altLang="en-US" sz="1600">
                <a:cs typeface="+mn-ea"/>
                <a:sym typeface="+mn-lt"/>
              </a:rPr>
              <a:t>的标记类型成员；</a:t>
            </a:r>
            <a:endParaRPr lang="en-US" altLang="zh-CN" sz="1600">
              <a:cs typeface="+mn-ea"/>
              <a:sym typeface="+mn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00" y="4746170"/>
            <a:ext cx="6919185" cy="703871"/>
          </a:xfrm>
          <a:prstGeom prst="rect">
            <a:avLst/>
          </a:prstGeom>
        </p:spPr>
      </p:pic>
      <p:cxnSp>
        <p:nvCxnSpPr>
          <p:cNvPr id="6" name="直接连接符 5"/>
          <p:cNvCxnSpPr/>
          <p:nvPr/>
        </p:nvCxnSpPr>
        <p:spPr>
          <a:xfrm>
            <a:off x="284664" y="5943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458400" y="1120602"/>
            <a:ext cx="9746304" cy="2031325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自动判定规则推断出不支持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Send/Sync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mark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PhantomData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&lt;*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const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()&gt;,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 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struct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//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自动判定规则推断出不支持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Sync, 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但支持</a:t>
            </a:r>
            <a:r>
              <a:rPr lang="en-US" altLang="zh-CN" sz="1400" i="1">
                <a:solidFill>
                  <a:srgbClr val="7F848E"/>
                </a:solidFill>
                <a:cs typeface="+mn-ea"/>
                <a:sym typeface="+mn-lt"/>
              </a:rPr>
              <a:t>Send</a:t>
            </a:r>
            <a:r>
              <a:rPr lang="zh-CN" altLang="en-US" sz="1400" i="1">
                <a:solidFill>
                  <a:srgbClr val="7F848E"/>
                </a:solidFill>
                <a:cs typeface="+mn-ea"/>
                <a:sym typeface="+mn-lt"/>
              </a:rPr>
              <a:t>，或者自定义标记类型实现类似功能</a:t>
            </a:r>
            <a:endParaRPr lang="en-US" altLang="zh-CN" sz="1400">
              <a:solidFill>
                <a:srgbClr val="ABB2BF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mark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PhantomData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UnsafeCell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&lt;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i32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&gt;&gt;,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58400" y="3214570"/>
            <a:ext cx="5418471" cy="46538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cs typeface="+mn-ea"/>
                <a:sym typeface="+mn-lt"/>
              </a:rPr>
              <a:t>2</a:t>
            </a:r>
            <a:r>
              <a:rPr lang="zh-CN" altLang="en-US">
                <a:cs typeface="+mn-ea"/>
                <a:sym typeface="+mn-lt"/>
              </a:rPr>
              <a:t>、方案</a:t>
            </a:r>
            <a:r>
              <a:rPr lang="en-US" altLang="zh-CN">
                <a:cs typeface="+mn-ea"/>
                <a:sym typeface="+mn-lt"/>
              </a:rPr>
              <a:t>2</a:t>
            </a:r>
            <a:r>
              <a:rPr lang="zh-CN" altLang="en-US">
                <a:cs typeface="+mn-ea"/>
                <a:sym typeface="+mn-lt"/>
              </a:rPr>
              <a:t>：利用</a:t>
            </a:r>
            <a:r>
              <a:rPr lang="en-US" altLang="zh-CN">
                <a:cs typeface="+mn-ea"/>
                <a:sym typeface="+mn-lt"/>
              </a:rPr>
              <a:t>!Send</a:t>
            </a:r>
            <a:r>
              <a:rPr lang="zh-CN" altLang="en-US">
                <a:cs typeface="+mn-ea"/>
                <a:sym typeface="+mn-lt"/>
              </a:rPr>
              <a:t>和</a:t>
            </a:r>
            <a:r>
              <a:rPr lang="en-US" altLang="zh-CN">
                <a:cs typeface="+mn-ea"/>
                <a:sym typeface="+mn-lt"/>
              </a:rPr>
              <a:t>!Sync, </a:t>
            </a:r>
            <a:r>
              <a:rPr lang="zh-CN" altLang="en-US">
                <a:cs typeface="+mn-ea"/>
                <a:sym typeface="+mn-lt"/>
              </a:rPr>
              <a:t>但仅</a:t>
            </a:r>
            <a:r>
              <a:rPr lang="en-US" altLang="zh-CN">
                <a:cs typeface="+mn-ea"/>
                <a:sym typeface="+mn-lt"/>
              </a:rPr>
              <a:t>nightly</a:t>
            </a:r>
            <a:r>
              <a:rPr lang="zh-CN" altLang="en-US">
                <a:cs typeface="+mn-ea"/>
                <a:sym typeface="+mn-lt"/>
              </a:rPr>
              <a:t>版本支持</a:t>
            </a:r>
            <a:endParaRPr lang="en-US" altLang="zh-CN">
              <a:cs typeface="+mn-ea"/>
              <a:sym typeface="+mn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58400" y="3722401"/>
            <a:ext cx="9746304" cy="73866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altLang="zh-CN" sz="1400">
                <a:solidFill>
                  <a:schemeClr val="bg2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代码示例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!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Sync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{}</a:t>
            </a: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unsafe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impl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!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Send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Foo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{}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84664" y="137971"/>
            <a:ext cx="11340282" cy="1087474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线程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-Arc&lt;T&gt;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概念和用法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19309" y="2937647"/>
            <a:ext cx="5140882" cy="290571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noAutofit/>
          </a:bodyPr>
          <a:lstStyle/>
          <a:p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::thread;</a:t>
            </a:r>
            <a:endParaRPr lang="en-US" sz="1500" b="0" u="none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use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std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sync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Arc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;</a:t>
            </a:r>
            <a:endParaRPr lang="en-US" sz="1500" b="0" u="none">
              <a:solidFill>
                <a:srgbClr val="C678DD"/>
              </a:solidFill>
              <a:cs typeface="+mn-ea"/>
              <a:sym typeface="+mn-lt"/>
            </a:endParaRPr>
          </a:p>
          <a:p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Arc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((</a:t>
            </a:r>
            <a:r>
              <a:rPr lang="en-US" sz="1500" b="0" u="none">
                <a:solidFill>
                  <a:srgbClr val="D19A66"/>
                </a:solidFill>
                <a:cs typeface="+mn-ea"/>
                <a:sym typeface="+mn-lt"/>
              </a:rPr>
              <a:t>1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98C379"/>
                </a:solidFill>
                <a:cs typeface="+mn-ea"/>
                <a:sym typeface="+mn-lt"/>
              </a:rPr>
              <a:t>"name"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cloned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handle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E5C07B"/>
                </a:solidFill>
                <a:cs typeface="+mn-ea"/>
                <a:sym typeface="+mn-lt"/>
              </a:rPr>
              <a:t>thread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sz="1500" b="0" u="none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    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98C379"/>
                </a:solidFill>
                <a:cs typeface="+mn-ea"/>
                <a:sym typeface="+mn-lt"/>
              </a:rPr>
              <a:t>"data = {:?}"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cloned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});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sz="1500" b="0" u="none">
                <a:solidFill>
                  <a:srgbClr val="98C379"/>
                </a:solidFill>
                <a:cs typeface="+mn-ea"/>
                <a:sym typeface="+mn-lt"/>
              </a:rPr>
              <a:t>"main data = {:?}"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data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    </a:t>
            </a:r>
            <a:r>
              <a:rPr lang="en-US" sz="1500" b="0" u="none">
                <a:solidFill>
                  <a:srgbClr val="E06C75"/>
                </a:solidFill>
                <a:cs typeface="+mn-ea"/>
                <a:sym typeface="+mn-lt"/>
              </a:rPr>
              <a:t>handle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.</a:t>
            </a:r>
            <a:r>
              <a:rPr lang="en-US" sz="1500" b="0" u="none">
                <a:solidFill>
                  <a:srgbClr val="61AFEF"/>
                </a:solidFill>
                <a:cs typeface="+mn-ea"/>
                <a:sym typeface="+mn-lt"/>
              </a:rPr>
              <a:t>join</a:t>
            </a:r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();</a:t>
            </a:r>
          </a:p>
          <a:p>
            <a:r>
              <a:rPr lang="en-US" sz="1500" b="0" u="none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500" b="0" u="none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284664" y="5943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284664" y="559701"/>
            <a:ext cx="11108760" cy="787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>
                <a:cs typeface="+mn-ea"/>
                <a:sym typeface="+mn-lt"/>
              </a:rPr>
              <a:t>Arc </a:t>
            </a:r>
            <a:r>
              <a:rPr lang="zh-CN" altLang="en-US" sz="1600">
                <a:cs typeface="+mn-ea"/>
                <a:sym typeface="+mn-lt"/>
              </a:rPr>
              <a:t>是一种智能指针，基于原子操作的引用计数控制生命周期，用于多线程环境。</a:t>
            </a:r>
          </a:p>
          <a:p>
            <a:pPr>
              <a:lnSpc>
                <a:spcPct val="150000"/>
              </a:lnSpc>
            </a:pPr>
            <a:r>
              <a:rPr lang="en-US" altLang="zh-CN" sz="1600" b="1">
                <a:cs typeface="+mn-ea"/>
                <a:sym typeface="+mn-lt"/>
              </a:rPr>
              <a:t>1.</a:t>
            </a:r>
            <a:r>
              <a:rPr lang="zh-CN" altLang="en-US" sz="1600" b="1">
                <a:cs typeface="+mn-ea"/>
                <a:sym typeface="+mn-lt"/>
              </a:rPr>
              <a:t> 前提是封装数据（类型</a:t>
            </a:r>
            <a:r>
              <a:rPr lang="en-US" altLang="zh-CN" sz="1600" b="1">
                <a:cs typeface="+mn-ea"/>
                <a:sym typeface="+mn-lt"/>
              </a:rPr>
              <a:t>T</a:t>
            </a:r>
            <a:r>
              <a:rPr lang="zh-CN" altLang="en-US" sz="1600" b="1">
                <a:cs typeface="+mn-ea"/>
                <a:sym typeface="+mn-lt"/>
              </a:rPr>
              <a:t>）本身必须支持</a:t>
            </a:r>
            <a:r>
              <a:rPr lang="en-US" altLang="zh-CN" sz="1600" b="1">
                <a:cs typeface="+mn-ea"/>
                <a:sym typeface="+mn-lt"/>
              </a:rPr>
              <a:t>Send</a:t>
            </a:r>
            <a:r>
              <a:rPr lang="zh-CN" altLang="en-US" sz="1600" b="1">
                <a:cs typeface="+mn-ea"/>
                <a:sym typeface="+mn-lt"/>
              </a:rPr>
              <a:t>+</a:t>
            </a:r>
            <a:r>
              <a:rPr lang="en-US" altLang="zh-CN" sz="1600" b="1">
                <a:cs typeface="+mn-ea"/>
                <a:sym typeface="+mn-lt"/>
              </a:rPr>
              <a:t>Sync</a:t>
            </a:r>
            <a:endParaRPr lang="zh-CN" altLang="en-US" sz="1600" b="1">
              <a:cs typeface="+mn-ea"/>
              <a:sym typeface="+mn-lt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84664" y="1614840"/>
            <a:ext cx="10468680" cy="1060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cs typeface="+mn-ea"/>
                <a:sym typeface="+mn-lt"/>
              </a:rPr>
              <a:t>使用典型场景：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1. </a:t>
            </a:r>
            <a:r>
              <a:rPr lang="zh-CN" altLang="en-US" sz="1400">
                <a:cs typeface="+mn-ea"/>
                <a:sym typeface="+mn-lt"/>
              </a:rPr>
              <a:t>需要在多个线程中共享的非全局资源（全局资源可用静态变量）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cs typeface="+mn-ea"/>
                <a:sym typeface="+mn-lt"/>
              </a:rPr>
              <a:t>2.</a:t>
            </a:r>
            <a:r>
              <a:rPr lang="zh-CN" altLang="en-US" sz="1400">
                <a:cs typeface="+mn-ea"/>
                <a:sym typeface="+mn-lt"/>
              </a:rPr>
              <a:t> 需要在没有线程使用后及时释放资源（无需释放可用</a:t>
            </a:r>
            <a:r>
              <a:rPr lang="en-US" altLang="zh-CN" sz="1400">
                <a:cs typeface="+mn-ea"/>
                <a:sym typeface="+mn-lt"/>
              </a:rPr>
              <a:t>Box::leak</a:t>
            </a:r>
            <a:r>
              <a:rPr lang="zh-CN" altLang="en-US" sz="1400">
                <a:cs typeface="+mn-ea"/>
                <a:sym typeface="+mn-lt"/>
              </a:rPr>
              <a:t>）</a:t>
            </a:r>
          </a:p>
        </p:txBody>
      </p:sp>
      <p:pic>
        <p:nvPicPr>
          <p:cNvPr id="3" name="Picture 2" descr="upload_44616763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3599" y="941963"/>
            <a:ext cx="4023299" cy="1979718"/>
          </a:xfrm>
          <a:prstGeom prst="rect">
            <a:avLst/>
          </a:prstGeom>
        </p:spPr>
      </p:pic>
      <p:pic>
        <p:nvPicPr>
          <p:cNvPr id="5" name="Picture 4" descr="upload_7443716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2154" y="3847679"/>
            <a:ext cx="4981227" cy="111758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>
          <a:xfrm>
            <a:off x="284664" y="137971"/>
            <a:ext cx="11340282" cy="1087474"/>
          </a:xfrm>
        </p:spPr>
        <p:txBody>
          <a:bodyPr/>
          <a:lstStyle/>
          <a:p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线程</a:t>
            </a:r>
            <a:r>
              <a:rPr lang="en-US" altLang="zh-CN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-Arc&lt;T&gt;</a:t>
            </a:r>
            <a:r>
              <a:rPr lang="zh-CN" altLang="en-US" b="1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概念和用法</a:t>
            </a:r>
            <a:endParaRPr lang="zh-CN" alt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84664" y="1782197"/>
            <a:ext cx="5113176" cy="224676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FF0000"/>
                </a:solidFill>
                <a:cs typeface="+mn-ea"/>
                <a:sym typeface="+mn-lt"/>
              </a:rPr>
              <a:t>错误示例</a:t>
            </a:r>
            <a:endParaRPr lang="en-US" altLang="zh-CN" sz="1400" b="1">
              <a:solidFill>
                <a:srgbClr val="FF000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"Multi Thread"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_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..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handle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thread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});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5494569" y="2546352"/>
            <a:ext cx="320830" cy="718457"/>
          </a:xfrm>
          <a:prstGeom prst="rightArrow">
            <a:avLst/>
          </a:prstGeom>
          <a:solidFill>
            <a:srgbClr val="FFC000"/>
          </a:solidFill>
          <a:ln>
            <a:solidFill>
              <a:srgbClr val="15151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284664" y="4262062"/>
            <a:ext cx="5113176" cy="2246769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rtlCol="0">
            <a:spAutoFit/>
          </a:bodyPr>
          <a:lstStyle/>
          <a:p>
            <a:r>
              <a:rPr lang="en-US" altLang="zh-CN" sz="1400">
                <a:solidFill>
                  <a:srgbClr val="FFFFFF"/>
                </a:solidFill>
                <a:cs typeface="+mn-ea"/>
                <a:sym typeface="+mn-lt"/>
              </a:rPr>
              <a:t>// </a:t>
            </a:r>
            <a:r>
              <a:rPr lang="zh-CN" altLang="en-US" sz="1400" b="1">
                <a:solidFill>
                  <a:srgbClr val="00B050"/>
                </a:solidFill>
                <a:cs typeface="+mn-ea"/>
                <a:sym typeface="+mn-lt"/>
              </a:rPr>
              <a:t>正确示例</a:t>
            </a:r>
            <a:endParaRPr lang="en-US" altLang="zh-CN" sz="1400" b="1">
              <a:solidFill>
                <a:srgbClr val="00B050"/>
              </a:solidFill>
              <a:cs typeface="+mn-ea"/>
              <a:sym typeface="+mn-lt"/>
            </a:endParaRPr>
          </a:p>
          <a:p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main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()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new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String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from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"Multi Thread"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for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_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in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..</a:t>
            </a:r>
            <a:r>
              <a:rPr lang="en-US" altLang="zh-CN" sz="1400">
                <a:solidFill>
                  <a:srgbClr val="D19A66"/>
                </a:solidFill>
                <a:cs typeface="+mn-ea"/>
                <a:sym typeface="+mn-lt"/>
              </a:rPr>
              <a:t>10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Arc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clone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(&amp;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let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handle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=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E5C07B"/>
                </a:solidFill>
                <a:cs typeface="+mn-ea"/>
                <a:sym typeface="+mn-lt"/>
              </a:rPr>
              <a:t>thread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::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spawn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C678DD"/>
                </a:solidFill>
                <a:cs typeface="+mn-ea"/>
                <a:sym typeface="+mn-lt"/>
              </a:rPr>
              <a:t>move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</a:t>
            </a:r>
            <a:r>
              <a:rPr lang="en-US" altLang="zh-CN" sz="1400">
                <a:solidFill>
                  <a:srgbClr val="56B6C2"/>
                </a:solidFill>
                <a:cs typeface="+mn-ea"/>
                <a:sym typeface="+mn-lt"/>
              </a:rPr>
              <a:t>||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 {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   </a:t>
            </a:r>
            <a:r>
              <a:rPr lang="en-US" altLang="zh-CN" sz="1400">
                <a:solidFill>
                  <a:srgbClr val="61AFEF"/>
                </a:solidFill>
                <a:cs typeface="+mn-ea"/>
                <a:sym typeface="+mn-lt"/>
              </a:rPr>
              <a:t>println!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(</a:t>
            </a:r>
            <a:r>
              <a:rPr lang="en-US" altLang="zh-CN" sz="1400">
                <a:solidFill>
                  <a:srgbClr val="98C379"/>
                </a:solidFill>
                <a:cs typeface="+mn-ea"/>
                <a:sym typeface="+mn-lt"/>
              </a:rPr>
              <a:t>"{}"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, </a:t>
            </a:r>
            <a:r>
              <a:rPr lang="en-US" altLang="zh-CN" sz="1400">
                <a:solidFill>
                  <a:srgbClr val="E06C75"/>
                </a:solidFill>
                <a:cs typeface="+mn-ea"/>
                <a:sym typeface="+mn-lt"/>
              </a:rPr>
              <a:t>s</a:t>
            </a:r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)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    });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    }</a:t>
            </a:r>
          </a:p>
          <a:p>
            <a:r>
              <a:rPr lang="en-US" altLang="zh-CN" sz="1400">
                <a:solidFill>
                  <a:srgbClr val="ABB2BF"/>
                </a:solidFill>
                <a:cs typeface="+mn-ea"/>
                <a:sym typeface="+mn-lt"/>
              </a:rPr>
              <a:t>}</a:t>
            </a:r>
            <a:endParaRPr lang="en-US" altLang="zh-CN" sz="1400" b="0">
              <a:solidFill>
                <a:srgbClr val="ABB2BF"/>
              </a:solidFill>
              <a:effectLst/>
              <a:cs typeface="+mn-ea"/>
              <a:sym typeface="+mn-lt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284664" y="594338"/>
            <a:ext cx="1074064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284664" y="600588"/>
            <a:ext cx="10740640" cy="1198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>
                <a:cs typeface="+mn-ea"/>
                <a:sym typeface="+mn-lt"/>
              </a:rPr>
              <a:t>与智能指针</a:t>
            </a:r>
            <a:r>
              <a:rPr lang="en-US" altLang="zh-CN" sz="1600">
                <a:cs typeface="+mn-ea"/>
                <a:sym typeface="+mn-lt"/>
              </a:rPr>
              <a:t>Arc</a:t>
            </a:r>
            <a:r>
              <a:rPr lang="zh-CN" altLang="en-US" sz="1600">
                <a:cs typeface="+mn-ea"/>
                <a:sym typeface="+mn-lt"/>
              </a:rPr>
              <a:t>类似，为了解决允许一个数据资源在同一时刻拥有多个所有者的问题。但是：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cs typeface="+mn-ea"/>
                <a:sym typeface="+mn-lt"/>
              </a:rPr>
              <a:t>Rc&lt;T&gt;</a:t>
            </a:r>
            <a:r>
              <a:rPr lang="zh-CN" altLang="en-US" sz="1600">
                <a:cs typeface="+mn-ea"/>
                <a:sym typeface="+mn-lt"/>
              </a:rPr>
              <a:t>引用计数非原子操作，只用于单线程；</a:t>
            </a:r>
            <a:endParaRPr lang="en-US" altLang="zh-CN" sz="1600">
              <a:cs typeface="+mn-ea"/>
              <a:sym typeface="+mn-lt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>
                <a:cs typeface="+mn-ea"/>
                <a:sym typeface="+mn-lt"/>
              </a:rPr>
              <a:t>Arc&lt;T&gt;</a:t>
            </a:r>
            <a:r>
              <a:rPr lang="zh-CN" altLang="en-US" sz="1600">
                <a:cs typeface="+mn-ea"/>
                <a:sym typeface="+mn-lt"/>
              </a:rPr>
              <a:t>引用计数是原子操作，适用于多线程；</a:t>
            </a:r>
            <a:endParaRPr lang="en-US" altLang="zh-CN" sz="1600">
              <a:cs typeface="+mn-ea"/>
              <a:sym typeface="+mn-lt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5954805" y="4701536"/>
            <a:ext cx="4816732" cy="7005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cs typeface="+mn-ea"/>
                <a:sym typeface="+mn-lt"/>
              </a:rPr>
              <a:t>尝试在线程中使用 </a:t>
            </a:r>
            <a:r>
              <a:rPr lang="en-US" altLang="zh-CN" sz="1400">
                <a:cs typeface="+mn-ea"/>
                <a:sym typeface="+mn-lt"/>
              </a:rPr>
              <a:t>Rc </a:t>
            </a:r>
            <a:r>
              <a:rPr lang="zh-CN" altLang="en-US" sz="1400">
                <a:cs typeface="+mn-ea"/>
                <a:sym typeface="+mn-lt"/>
              </a:rPr>
              <a:t>指针时，代码无法编译通过。</a:t>
            </a:r>
            <a:r>
              <a:rPr lang="zh-CN" altLang="en-US" sz="1400" b="1">
                <a:cs typeface="+mn-ea"/>
                <a:sym typeface="+mn-lt"/>
              </a:rPr>
              <a:t>其原因为</a:t>
            </a:r>
            <a:r>
              <a:rPr lang="en-US" altLang="zh-CN" sz="1400" b="1">
                <a:cs typeface="+mn-ea"/>
                <a:sym typeface="+mn-lt"/>
              </a:rPr>
              <a:t>Rc</a:t>
            </a:r>
            <a:r>
              <a:rPr lang="zh-CN" altLang="en-US" sz="1400" b="1">
                <a:cs typeface="+mn-ea"/>
                <a:sym typeface="+mn-lt"/>
              </a:rPr>
              <a:t>不支持</a:t>
            </a:r>
            <a:r>
              <a:rPr lang="en-US" altLang="zh-CN" sz="1400" b="1">
                <a:cs typeface="+mn-ea"/>
                <a:sym typeface="+mn-lt"/>
              </a:rPr>
              <a:t>Send</a:t>
            </a:r>
            <a:r>
              <a:rPr lang="zh-CN" altLang="en-US" sz="1400" b="1">
                <a:cs typeface="+mn-ea"/>
                <a:sym typeface="+mn-lt"/>
              </a:rPr>
              <a:t>，无法满足</a:t>
            </a:r>
            <a:r>
              <a:rPr lang="en-US" altLang="zh-CN" sz="1400" b="1">
                <a:cs typeface="+mn-ea"/>
                <a:sym typeface="+mn-lt"/>
              </a:rPr>
              <a:t>spawn</a:t>
            </a:r>
            <a:r>
              <a:rPr lang="zh-CN" altLang="en-US" sz="1400" b="1">
                <a:cs typeface="+mn-ea"/>
                <a:sym typeface="+mn-lt"/>
              </a:rPr>
              <a:t>接口参数的约束。</a:t>
            </a:r>
          </a:p>
        </p:txBody>
      </p:sp>
      <p:pic>
        <p:nvPicPr>
          <p:cNvPr id="7" name="图片 6" descr="upload_6129864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0346" y="2170698"/>
            <a:ext cx="5270885" cy="147358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  <a:cs typeface="+mn-ea"/>
                <a:sym typeface="+mn-lt"/>
              </a:rPr>
              <a:t>本章小结</a:t>
            </a:r>
            <a:endParaRPr lang="en-US" b="1" dirty="0">
              <a:solidFill>
                <a:srgbClr val="C00000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0"/>
          </p:nvPr>
        </p:nvSpPr>
        <p:spPr>
          <a:xfrm>
            <a:off x="729175" y="1090007"/>
            <a:ext cx="10733557" cy="4690459"/>
          </a:xfrm>
        </p:spPr>
        <p:txBody>
          <a:bodyPr/>
          <a:lstStyle/>
          <a:p>
            <a:pPr marL="29781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+mn-lt"/>
                <a:ea typeface="+mn-ea"/>
                <a:cs typeface="+mn-ea"/>
                <a:sym typeface="+mn-lt"/>
              </a:rPr>
              <a:t>学完本章，希望</a:t>
            </a:r>
            <a:r>
              <a:rPr lang="zh-CN" altLang="en-US">
                <a:latin typeface="+mn-lt"/>
                <a:ea typeface="+mn-ea"/>
                <a:cs typeface="+mn-ea"/>
                <a:sym typeface="+mn-lt"/>
              </a:rPr>
              <a:t>可以：</a:t>
            </a:r>
            <a:endParaRPr lang="en-US" altLang="zh-CN" dirty="0">
              <a:latin typeface="+mn-lt"/>
              <a:ea typeface="+mn-ea"/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掌握线程的概念和</a:t>
            </a:r>
            <a:r>
              <a:rPr lang="en-US" altLang="zh-CN" sz="1800">
                <a:cs typeface="+mn-ea"/>
                <a:sym typeface="+mn-lt"/>
              </a:rPr>
              <a:t>spawn</a:t>
            </a:r>
            <a:r>
              <a:rPr lang="zh-CN" altLang="en-US" sz="1800">
                <a:cs typeface="+mn-ea"/>
                <a:sym typeface="+mn-lt"/>
              </a:rPr>
              <a:t>和</a:t>
            </a:r>
            <a:r>
              <a:rPr lang="en-US" altLang="zh-CN" sz="1800">
                <a:cs typeface="+mn-ea"/>
                <a:sym typeface="+mn-lt"/>
              </a:rPr>
              <a:t>scope</a:t>
            </a:r>
            <a:r>
              <a:rPr lang="zh-CN" altLang="en-US" sz="1800">
                <a:cs typeface="+mn-ea"/>
                <a:sym typeface="+mn-lt"/>
              </a:rPr>
              <a:t>的用法和应用场景及约束；</a:t>
            </a:r>
            <a:endParaRPr lang="en-US" altLang="zh-CN" sz="180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</a:t>
            </a:r>
            <a:r>
              <a:rPr lang="en-US" altLang="zh-CN" sz="1800">
                <a:cs typeface="+mn-ea"/>
                <a:sym typeface="+mn-lt"/>
              </a:rPr>
              <a:t>Send/Sync</a:t>
            </a:r>
            <a:r>
              <a:rPr lang="zh-CN" altLang="en-US" sz="1800">
                <a:cs typeface="+mn-ea"/>
                <a:sym typeface="+mn-lt"/>
              </a:rPr>
              <a:t>的工作原理，可为自定义类型</a:t>
            </a:r>
            <a:r>
              <a:rPr lang="zh-CN" altLang="en-US" sz="1800" b="1">
                <a:cs typeface="+mn-ea"/>
                <a:sym typeface="+mn-lt"/>
              </a:rPr>
              <a:t>安全定制</a:t>
            </a:r>
            <a:r>
              <a:rPr lang="en-US" altLang="zh-CN" sz="1800">
                <a:cs typeface="+mn-ea"/>
                <a:sym typeface="+mn-lt"/>
              </a:rPr>
              <a:t>Send/Sync</a:t>
            </a:r>
            <a:r>
              <a:rPr lang="zh-CN" altLang="en-US" sz="1800">
                <a:cs typeface="+mn-ea"/>
                <a:sym typeface="+mn-lt"/>
              </a:rPr>
              <a:t>或者</a:t>
            </a:r>
            <a:r>
              <a:rPr lang="en-US" altLang="zh-CN" sz="1800">
                <a:cs typeface="+mn-ea"/>
                <a:sym typeface="+mn-lt"/>
              </a:rPr>
              <a:t>!Send/!Sync</a:t>
            </a:r>
            <a:r>
              <a:rPr lang="zh-CN" altLang="en-US" sz="1800">
                <a:cs typeface="+mn-ea"/>
                <a:sym typeface="+mn-lt"/>
              </a:rPr>
              <a:t> </a:t>
            </a:r>
            <a:r>
              <a:rPr lang="en-US" altLang="zh-CN" sz="1800">
                <a:cs typeface="+mn-ea"/>
                <a:sym typeface="+mn-lt"/>
              </a:rPr>
              <a:t>trait</a:t>
            </a:r>
            <a:r>
              <a:rPr lang="zh-CN" altLang="en-US" sz="1800">
                <a:cs typeface="+mn-ea"/>
                <a:sym typeface="+mn-lt"/>
              </a:rPr>
              <a:t>；</a:t>
            </a:r>
            <a:endParaRPr lang="en-US" altLang="zh-CN" sz="1800" dirty="0">
              <a:cs typeface="+mn-ea"/>
              <a:sym typeface="+mn-lt"/>
            </a:endParaRPr>
          </a:p>
          <a:p>
            <a:pPr marL="811530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1800">
                <a:cs typeface="+mn-ea"/>
                <a:sym typeface="+mn-lt"/>
              </a:rPr>
              <a:t>掌握</a:t>
            </a:r>
            <a:r>
              <a:rPr lang="en-US" altLang="zh-CN" sz="1800">
                <a:cs typeface="+mn-ea"/>
                <a:sym typeface="+mn-lt"/>
              </a:rPr>
              <a:t>Rust</a:t>
            </a:r>
            <a:r>
              <a:rPr lang="zh-CN" altLang="en-US" sz="1800">
                <a:cs typeface="+mn-ea"/>
                <a:sym typeface="+mn-lt"/>
              </a:rPr>
              <a:t>内部可变性和线程安全；</a:t>
            </a:r>
            <a:endParaRPr lang="en-US" altLang="zh-CN" sz="1800" dirty="0">
              <a:cs typeface="+mn-ea"/>
              <a:sym typeface="+mn-lt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722092" y="945152"/>
            <a:ext cx="10740640" cy="0"/>
          </a:xfrm>
          <a:prstGeom prst="line">
            <a:avLst/>
          </a:prstGeom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1pip42cp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1pip42cp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1pip42cp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1pip42cp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solidFill>
            <a:srgbClr val="151515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vert="horz" wrap="none" rtlCol="0">
        <a:spAutoFit/>
      </a:bodyPr>
      <a:lstStyle>
        <a:defPPr algn="l">
          <a:lnSpc>
            <a:spcPts val="3440"/>
          </a:lnSpc>
          <a:defRPr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1pip42cp">
      <a:majorFont>
        <a:latin typeface="Huawei Sans"/>
        <a:ea typeface="方正兰亭黑简体"/>
        <a:cs typeface=""/>
      </a:majorFont>
      <a:minorFont>
        <a:latin typeface="Huawei San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2061</Words>
  <Application>Microsoft Office PowerPoint</Application>
  <PresentationFormat>自定义</PresentationFormat>
  <Paragraphs>237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17</vt:i4>
      </vt:variant>
    </vt:vector>
  </HeadingPairs>
  <TitlesOfParts>
    <vt:vector size="27" baseType="lpstr">
      <vt:lpstr>Microsoft YaHei</vt:lpstr>
      <vt:lpstr>Arial</vt:lpstr>
      <vt:lpstr>Calibri</vt:lpstr>
      <vt:lpstr>Huawei Sans</vt:lpstr>
      <vt:lpstr>Wingdings</vt:lpstr>
      <vt:lpstr>1_Title Slide</vt:lpstr>
      <vt:lpstr>2_Title Slide</vt:lpstr>
      <vt:lpstr>Chart page</vt:lpstr>
      <vt:lpstr>4_Chart page</vt:lpstr>
      <vt:lpstr>End page</vt:lpstr>
      <vt:lpstr>并发编程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并发编程</dc:title>
  <dc:creator>fanyan (A)</dc:creator>
  <cp:lastModifiedBy>Zhangyandong (ben)</cp:lastModifiedBy>
  <cp:revision>8</cp:revision>
  <dcterms:created xsi:type="dcterms:W3CDTF">2023-10-18T07:23:28Z</dcterms:created>
  <dcterms:modified xsi:type="dcterms:W3CDTF">2024-11-20T02:33:38Z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(3)ifDJjrRdaj7W4lHzKRs6QSBtRrxAI40KAeacnQFWscXMIgiCni615OGkO7RQQE3uX5WRvFSQ
PvPhra7nZY3W1kVJuCAOXcqAplWcLE3DDqmDvQ/TZl+gpBjKXNcbEzzeEJ4kQkdgSiMKfNko
+BC3sl6aAMSJ4bNGKOa0h8H0CGiD+mBHFyrc+HN4v8cxXLBkAu6SALG19Wpnr757kUfCusSX
6JfyVNG8XSj9Dj+0uw</vt:lpwstr>
  </property>
  <property fmtid="{D5CDD505-2E9C-101B-9397-08002B2CF9AE}" pid="3" name="_2015_ms_pID_7253431">
    <vt:lpwstr>vgRXhc5o1Z8J30pmwXR96546zwQV72V9Wk5AA2s4Tr7leHVULyFJ3A
JfA+Ue/iu3Jz9C+fOB2AMPYcFcZchyrMLx7Y5j2yZafRpryncuutY54YYQQirHxDJzvIt0DV
N+Pt6ZllSHq9YaGFgu7WVXTSKwTCk1S3jKHUhTiAV8ClAYRMIJcx+Laq2TpqPTDuNLPiTUn4
soO9r/+3DDtjTK879a78OIADO5YwwqWJb03z</vt:lpwstr>
  </property>
  <property fmtid="{D5CDD505-2E9C-101B-9397-08002B2CF9AE}" pid="4" name="_2015_ms_pID_7253432">
    <vt:lpwstr>aA==</vt:lpwstr>
  </property>
  <property fmtid="{D5CDD505-2E9C-101B-9397-08002B2CF9AE}" pid="5" name="KSOProductBuildVer">
    <vt:lpwstr>2052-0.0.0.0</vt:lpwstr>
  </property>
  <property fmtid="{D5CDD505-2E9C-101B-9397-08002B2CF9AE}" pid="6" name="_readonly">
    <vt:lpwstr/>
  </property>
  <property fmtid="{D5CDD505-2E9C-101B-9397-08002B2CF9AE}" pid="7" name="_change">
    <vt:lpwstr/>
  </property>
  <property fmtid="{D5CDD505-2E9C-101B-9397-08002B2CF9AE}" pid="8" name="_full-control">
    <vt:lpwstr/>
  </property>
  <property fmtid="{D5CDD505-2E9C-101B-9397-08002B2CF9AE}" pid="9" name="sflag">
    <vt:lpwstr>1697544692</vt:lpwstr>
  </property>
</Properties>
</file>