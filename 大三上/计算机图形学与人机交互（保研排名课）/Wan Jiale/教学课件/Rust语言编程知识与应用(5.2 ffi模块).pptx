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36"/>
  </p:notesMasterIdLst>
  <p:handoutMasterIdLst>
    <p:handoutMasterId r:id="rId37"/>
  </p:handoutMasterIdLst>
  <p:sldIdLst>
    <p:sldId id="283" r:id="rId6"/>
    <p:sldId id="288" r:id="rId7"/>
    <p:sldId id="44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88" r:id="rId23"/>
    <p:sldId id="489" r:id="rId24"/>
    <p:sldId id="490" r:id="rId25"/>
    <p:sldId id="491" r:id="rId26"/>
    <p:sldId id="492" r:id="rId27"/>
    <p:sldId id="493" r:id="rId28"/>
    <p:sldId id="445" r:id="rId29"/>
    <p:sldId id="446" r:id="rId30"/>
    <p:sldId id="447" r:id="rId31"/>
    <p:sldId id="448" r:id="rId32"/>
    <p:sldId id="450" r:id="rId33"/>
    <p:sldId id="292" r:id="rId34"/>
    <p:sldId id="280" r:id="rId35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4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45"/>
            <p14:sldId id="446"/>
            <p14:sldId id="447"/>
            <p14:sldId id="448"/>
            <p14:sldId id="450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liziqiang 00556901_ERbuA7r6" initials="authorId_AK20210901:AK20210901JXNSXO4497046" lastIdx="78408354" clrIdx="0"/>
  <p:cmAuthor id="2000" name="fanchangchun 00567414_2yeyVvEJ" initials="authorId_AK20210901:AK20210901JXNSXO4723448" lastIdx="1151214849" clrIdx="0"/>
  <p:cmAuthor id="2001" name="wuxiaojun 00342820_QRBvBJbY" initials="authorId_AK20210901:AK20210901JXNSXO124321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40" y="26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的基本概念和常用方法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795759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29176" y="2802674"/>
            <a:ext cx="2947086" cy="3830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FFI </a:t>
            </a:r>
            <a:r>
              <a:rPr lang="zh-CN" altLang="en-US">
                <a:cs typeface="+mn-ea"/>
                <a:sym typeface="+mn-lt"/>
              </a:rPr>
              <a:t>基础概念；</a:t>
            </a:r>
            <a:endParaRPr lang="en-US" altLang="zh-CN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FFI </a:t>
            </a:r>
            <a:r>
              <a:rPr lang="zh-CN" altLang="en-US">
                <a:cs typeface="+mn-ea"/>
                <a:sym typeface="+mn-lt"/>
              </a:rPr>
              <a:t>安全原则；</a:t>
            </a:r>
            <a:endParaRPr lang="en-US" altLang="zh-CN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FFI </a:t>
            </a:r>
            <a:r>
              <a:rPr lang="zh-CN" altLang="en-US">
                <a:cs typeface="+mn-ea"/>
                <a:sym typeface="+mn-lt"/>
              </a:rPr>
              <a:t>类型安全问题；</a:t>
            </a:r>
            <a:endParaRPr lang="en-US" altLang="zh-CN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FFI</a:t>
            </a:r>
            <a:r>
              <a:rPr lang="zh-CN" altLang="en-US">
                <a:cs typeface="+mn-ea"/>
                <a:sym typeface="+mn-lt"/>
              </a:rPr>
              <a:t>中的指针安全抽象；</a:t>
            </a: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cs typeface="+mn-ea"/>
                <a:sym typeface="+mn-lt"/>
              </a:rPr>
              <a:t>std::ffi </a:t>
            </a:r>
            <a:r>
              <a:rPr lang="zh-CN" altLang="en-US" dirty="0">
                <a:cs typeface="+mn-ea"/>
                <a:sym typeface="+mn-lt"/>
              </a:rPr>
              <a:t>模块；</a:t>
            </a:r>
            <a:endParaRPr lang="en-US" altLang="zh-CN" dirty="0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内存管理；</a:t>
            </a:r>
            <a:endParaRPr lang="en-US" altLang="zh-CN" dirty="0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CString/CStr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 dirty="0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OsString/OsStr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  <a:p>
            <a:pPr marL="35433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其他类型；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35853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729175" y="382562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411480" indent="-342900">
              <a:lnSpc>
                <a:spcPct val="150000"/>
              </a:lnSpc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基础概念；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安全原则；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类型安全问题；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中的指针安全抽象；</a:t>
            </a: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std::ffi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模块；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内存管理；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CString/CStr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OsString/OsStr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；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411480" lvl="0" indent="-342900">
              <a:lnSpc>
                <a:spcPct val="150000"/>
              </a:lnSpc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其他类型；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87818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57978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基础概念</a:t>
            </a:r>
          </a:p>
        </p:txBody>
      </p:sp>
      <p:sp>
        <p:nvSpPr>
          <p:cNvPr id="4" name="矩形 3"/>
          <p:cNvSpPr/>
          <p:nvPr/>
        </p:nvSpPr>
        <p:spPr>
          <a:xfrm>
            <a:off x="447869" y="684904"/>
            <a:ext cx="107166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是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Foreign Function Interface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的缩写，中文可以翻译为“外部函数接口”。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是一种编程技术，它允许在一个语言中调用另一个语言编写的函数。在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中，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主要用于与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语言进行交互，但也可以与其他语言进行交互。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特点是安全和高效。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提供了一套丰富的类型和抽象，用于安全地处理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语言的数据和函数。同时，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调用的性能与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语言的直接调用相当，没有额外的运行时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开销。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67622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基础概念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-ABI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概念介绍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3943" y="745505"/>
            <a:ext cx="1042090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ABI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是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Application Binary Interface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的缩写，中文可以翻译为“应用程序二进制接口”。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ABI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定义了函数调用的细节，包括参数如何传递，返回值如何返回，寄存器如何使用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等等。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在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进行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时，必须确保调用方和被调用方遵循同一套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ABI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，否则可能会导致未定义行为。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safety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就是指在进行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时，如何确保程序的安全性。在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中，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safety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主要依赖于正确的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ABI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使用和正确的类型转换。如果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ABI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或类型转换错误，可能会导致内存安全问题，例如访问未初始化的内存，越界访问数组，释放同一块内存两次等等。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因此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，虽然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提供了丰富的类型和抽象，但仍然需要程序员小心地处理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ABI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和类型转换，以确保程序的安全性。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67622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基础概念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-extern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3943" y="745505"/>
            <a:ext cx="10420906" cy="1531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在</a:t>
            </a:r>
            <a:r>
              <a:rPr lang="en-US" altLang="zh-CN" sz="1600">
                <a:cs typeface="+mn-ea"/>
                <a:sym typeface="+mn-lt"/>
              </a:rPr>
              <a:t>Rust</a:t>
            </a:r>
            <a:r>
              <a:rPr lang="zh-CN" altLang="en-US" sz="1600">
                <a:cs typeface="+mn-ea"/>
                <a:sym typeface="+mn-lt"/>
              </a:rPr>
              <a:t>中，</a:t>
            </a:r>
            <a:r>
              <a:rPr lang="en-US" altLang="zh-CN" sz="1600">
                <a:cs typeface="+mn-ea"/>
                <a:sym typeface="+mn-lt"/>
              </a:rPr>
              <a:t>extern</a:t>
            </a:r>
            <a:r>
              <a:rPr lang="zh-CN" altLang="en-US" sz="1600">
                <a:cs typeface="+mn-ea"/>
                <a:sym typeface="+mn-lt"/>
              </a:rPr>
              <a:t>关键字用于链接或导入外部代码。它在</a:t>
            </a:r>
            <a:r>
              <a:rPr lang="en-US" altLang="zh-CN" sz="1600">
                <a:cs typeface="+mn-ea"/>
                <a:sym typeface="+mn-lt"/>
              </a:rPr>
              <a:t>Rust</a:t>
            </a:r>
            <a:r>
              <a:rPr lang="zh-CN" altLang="en-US" sz="1600">
                <a:cs typeface="+mn-ea"/>
                <a:sym typeface="+mn-lt"/>
              </a:rPr>
              <a:t>中有两种用途：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一种是与</a:t>
            </a:r>
            <a:r>
              <a:rPr lang="en-US" altLang="zh-CN" sz="1600">
                <a:cs typeface="+mn-ea"/>
                <a:sym typeface="+mn-lt"/>
              </a:rPr>
              <a:t>crate</a:t>
            </a:r>
            <a:r>
              <a:rPr lang="zh-CN" altLang="en-US" sz="1600">
                <a:cs typeface="+mn-ea"/>
                <a:sym typeface="+mn-lt"/>
              </a:rPr>
              <a:t>关键字结合使用，使您的</a:t>
            </a:r>
            <a:r>
              <a:rPr lang="en-US" altLang="zh-CN" sz="1600">
                <a:cs typeface="+mn-ea"/>
                <a:sym typeface="+mn-lt"/>
              </a:rPr>
              <a:t>Rust</a:t>
            </a:r>
            <a:r>
              <a:rPr lang="zh-CN" altLang="en-US" sz="1600">
                <a:cs typeface="+mn-ea"/>
                <a:sym typeface="+mn-lt"/>
              </a:rPr>
              <a:t>代码知道您项目中的其他</a:t>
            </a:r>
            <a:r>
              <a:rPr lang="en-US" altLang="zh-CN" sz="1600">
                <a:cs typeface="+mn-ea"/>
                <a:sym typeface="+mn-lt"/>
              </a:rPr>
              <a:t> crates</a:t>
            </a:r>
            <a:r>
              <a:rPr lang="zh-CN" altLang="en-US" sz="1600">
                <a:cs typeface="+mn-ea"/>
                <a:sym typeface="+mn-lt"/>
              </a:rPr>
              <a:t>，例如</a:t>
            </a:r>
            <a:r>
              <a:rPr lang="en-US" altLang="zh-CN" sz="1600">
                <a:cs typeface="+mn-ea"/>
                <a:sym typeface="+mn-lt"/>
              </a:rPr>
              <a:t>extern crate lazy_static</a:t>
            </a:r>
            <a:r>
              <a:rPr lang="zh-CN" altLang="en-US" sz="1600">
                <a:cs typeface="+mn-ea"/>
                <a:sym typeface="+mn-lt"/>
              </a:rPr>
              <a:t>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一种是在外部函数接口（</a:t>
            </a:r>
            <a:r>
              <a:rPr lang="en-US" altLang="zh-CN" sz="1600">
                <a:cs typeface="+mn-ea"/>
                <a:sym typeface="+mn-lt"/>
              </a:rPr>
              <a:t>FFI</a:t>
            </a:r>
            <a:r>
              <a:rPr lang="zh-CN" altLang="en-US" sz="1600">
                <a:cs typeface="+mn-ea"/>
                <a:sym typeface="+mn-lt"/>
              </a:rPr>
              <a:t>）中使用；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extern</a:t>
            </a:r>
            <a:r>
              <a:rPr lang="zh-CN" altLang="en-US" sz="1600">
                <a:cs typeface="+mn-ea"/>
                <a:sym typeface="+mn-lt"/>
              </a:rPr>
              <a:t>在</a:t>
            </a:r>
            <a:r>
              <a:rPr lang="en-US" altLang="zh-CN" sz="1600">
                <a:cs typeface="+mn-ea"/>
                <a:sym typeface="+mn-lt"/>
              </a:rPr>
              <a:t>FFI</a:t>
            </a:r>
            <a:r>
              <a:rPr lang="zh-CN" altLang="en-US" sz="1600">
                <a:cs typeface="+mn-ea"/>
                <a:sym typeface="+mn-lt"/>
              </a:rPr>
              <a:t>中用于两种不同的上下文。第一种是外部块的形式，用于声明</a:t>
            </a:r>
            <a:r>
              <a:rPr lang="en-US" altLang="zh-CN" sz="1600">
                <a:cs typeface="+mn-ea"/>
                <a:sym typeface="+mn-lt"/>
              </a:rPr>
              <a:t>Rust</a:t>
            </a:r>
            <a:r>
              <a:rPr lang="zh-CN" altLang="en-US" sz="1600">
                <a:cs typeface="+mn-ea"/>
                <a:sym typeface="+mn-lt"/>
              </a:rPr>
              <a:t>代码可以调用外部代码的函数接口。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7869" y="4014734"/>
            <a:ext cx="107166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+mn-ea"/>
                <a:sym typeface="+mn-lt"/>
              </a:rPr>
              <a:t>extern "C" 表示这是一个 C 语言的函数，printf 是函数名，*const c_char 和 c_int 是 C 语言的类型，它们在 Rust 中被映射为对应的类型。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+mn-ea"/>
                <a:sym typeface="+mn-lt"/>
              </a:rPr>
              <a:t> </a:t>
            </a:r>
            <a:endParaRPr lang="en-US" altLang="zh-CN" sz="1600" dirty="0"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latin typeface="+mn-lt"/>
                <a:cs typeface="+mn-ea"/>
                <a:sym typeface="+mn-lt"/>
              </a:rPr>
              <a:t>extern </a:t>
            </a:r>
            <a:r>
              <a:rPr lang="zh-CN" altLang="en-US" sz="1600" dirty="0">
                <a:latin typeface="+mn-lt"/>
                <a:cs typeface="+mn-ea"/>
                <a:sym typeface="+mn-lt"/>
              </a:rPr>
              <a:t>关键字后面的 </a:t>
            </a:r>
            <a:r>
              <a:rPr lang="en-US" altLang="zh-CN" sz="1600" dirty="0">
                <a:latin typeface="+mn-lt"/>
                <a:cs typeface="+mn-ea"/>
                <a:sym typeface="+mn-lt"/>
              </a:rPr>
              <a:t>C </a:t>
            </a:r>
            <a:r>
              <a:rPr lang="zh-CN" altLang="en-US" sz="1600" dirty="0">
                <a:latin typeface="+mn-lt"/>
                <a:cs typeface="+mn-ea"/>
                <a:sym typeface="+mn-lt"/>
              </a:rPr>
              <a:t>实际代表 </a:t>
            </a:r>
            <a:r>
              <a:rPr lang="en-US" altLang="zh-CN" sz="1600" dirty="0">
                <a:latin typeface="+mn-lt"/>
                <a:cs typeface="+mn-ea"/>
                <a:sym typeface="+mn-lt"/>
              </a:rPr>
              <a:t>C-ABI </a:t>
            </a:r>
            <a:r>
              <a:rPr lang="zh-CN" altLang="en-US" sz="1600" dirty="0">
                <a:latin typeface="+mn-lt"/>
                <a:cs typeface="+mn-ea"/>
                <a:sym typeface="+mn-lt"/>
              </a:rPr>
              <a:t>，默认缺省的情况是代表 </a:t>
            </a:r>
            <a:r>
              <a:rPr lang="en-US" altLang="zh-CN" sz="1600" dirty="0">
                <a:latin typeface="+mn-lt"/>
                <a:cs typeface="+mn-ea"/>
                <a:sym typeface="+mn-lt"/>
              </a:rPr>
              <a:t>C-ABI</a:t>
            </a:r>
            <a:r>
              <a:rPr lang="zh-CN" altLang="en-US" sz="1600" dirty="0">
                <a:latin typeface="+mn-lt"/>
                <a:cs typeface="+mn-ea"/>
                <a:sym typeface="+mn-lt"/>
              </a:rPr>
              <a:t>，而非 </a:t>
            </a:r>
            <a:r>
              <a:rPr lang="en-US" altLang="zh-CN" sz="1600" dirty="0">
                <a:latin typeface="+mn-lt"/>
                <a:cs typeface="+mn-ea"/>
                <a:sym typeface="+mn-lt"/>
              </a:rPr>
              <a:t>Rust ABI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latin typeface="+mn-lt"/>
                <a:cs typeface="+mn-ea"/>
                <a:sym typeface="+mn-lt"/>
              </a:rPr>
              <a:t>调用外部函数需要用 </a:t>
            </a:r>
            <a:r>
              <a:rPr lang="en-US" altLang="zh-CN" sz="1600" dirty="0">
                <a:latin typeface="+mn-lt"/>
                <a:cs typeface="+mn-ea"/>
                <a:sym typeface="+mn-lt"/>
              </a:rPr>
              <a:t>unsafe </a:t>
            </a:r>
            <a:r>
              <a:rPr lang="zh-CN" altLang="en-US" sz="1600" dirty="0">
                <a:latin typeface="+mn-lt"/>
                <a:cs typeface="+mn-ea"/>
                <a:sym typeface="+mn-lt"/>
              </a:rPr>
              <a:t>关键字</a:t>
            </a:r>
            <a:endParaRPr lang="en-US" altLang="zh-CN" sz="1600" dirty="0">
              <a:latin typeface="+mn-lt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05774" y="2789157"/>
            <a:ext cx="6654249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61AFEF"/>
                </a:solidFill>
                <a:cs typeface="+mn-ea"/>
                <a:sym typeface="+mn-lt"/>
              </a:rPr>
              <a:t>printf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E06C75"/>
                </a:solidFill>
                <a:cs typeface="+mn-ea"/>
                <a:sym typeface="+mn-lt"/>
              </a:rPr>
              <a:t>format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E06C75"/>
                </a:solidFill>
                <a:cs typeface="+mn-ea"/>
                <a:sym typeface="+mn-lt"/>
              </a:rPr>
              <a:t>c_char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, ...) -&gt; </a:t>
            </a:r>
            <a:r>
              <a:rPr lang="en-US" altLang="zh-CN" dirty="0" err="1">
                <a:solidFill>
                  <a:srgbClr val="E06C75"/>
                </a:solidFill>
                <a:cs typeface="+mn-ea"/>
                <a:sym typeface="+mn-lt"/>
              </a:rPr>
              <a:t>c_int</a:t>
            </a:r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50863"/>
            <a:ext cx="10740640" cy="456713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 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安全原则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确保 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ABI 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兼容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327" y="597159"/>
            <a:ext cx="4249548" cy="5962045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36312" y="847566"/>
            <a:ext cx="6376455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/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以下是需要考虑的一些核心因素：</a:t>
            </a:r>
            <a:endParaRPr lang="en-US" altLang="zh-CN" sz="1400" b="1">
              <a:solidFill>
                <a:srgbClr val="000000"/>
              </a:solidFill>
              <a:cs typeface="+mn-ea"/>
              <a:sym typeface="+mn-lt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400" b="1">
                <a:solidFill>
                  <a:srgbClr val="000000"/>
                </a:solidFill>
                <a:cs typeface="+mn-ea"/>
                <a:sym typeface="+mn-lt"/>
              </a:rPr>
              <a:t>函数签名</a:t>
            </a: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：你需要确保 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中的函数签名与 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中的函数签名完全一致。这包括函数的参数类型、参数顺序和返回类型。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400" b="1">
                <a:solidFill>
                  <a:srgbClr val="000000"/>
                </a:solidFill>
                <a:cs typeface="+mn-ea"/>
                <a:sym typeface="+mn-lt"/>
              </a:rPr>
              <a:t>数据布局</a:t>
            </a:r>
            <a:r>
              <a:rPr lang="zh-CN" altLang="zh-CN" sz="1400">
                <a:solidFill>
                  <a:srgbClr val="000000"/>
                </a:solidFill>
                <a:cs typeface="+mn-ea"/>
                <a:sym typeface="+mn-lt"/>
              </a:rPr>
              <a:t>：Rust 和 C 有不同的数据布局规则。例如，结构体的字段在内存中的布局顺序，以及结构体的对齐方式。如果你需要在 Rust 和 C 之间传递结构体，你需要使用 #[repr(C)] 属性来确保 Rust 使用 C 的数据布局规则。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400" b="1">
                <a:solidFill>
                  <a:srgbClr val="000000"/>
                </a:solidFill>
                <a:cs typeface="+mn-ea"/>
                <a:sym typeface="+mn-lt"/>
              </a:rPr>
              <a:t>生命周期</a:t>
            </a:r>
            <a:r>
              <a:rPr lang="zh-CN" altLang="zh-CN" sz="1400">
                <a:solidFill>
                  <a:srgbClr val="000000"/>
                </a:solidFill>
                <a:cs typeface="+mn-ea"/>
                <a:sym typeface="+mn-lt"/>
              </a:rPr>
              <a:t>：在 C 中，你需要手动管理内存。如果你在 Rust 中创建了一个对象，并将其传递给 C，你需要确保该对象在 C 使用期间一直有效。同样，如果 C 创建了一个对象并返回给 Rust，你需要在 Rust 中正确地管理这个对象的生命周期。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400" b="1">
                <a:solidFill>
                  <a:srgbClr val="000000"/>
                </a:solidFill>
                <a:cs typeface="+mn-ea"/>
                <a:sym typeface="+mn-lt"/>
              </a:rPr>
              <a:t>异常</a:t>
            </a:r>
            <a:r>
              <a:rPr lang="zh-CN" altLang="zh-CN" sz="1400">
                <a:solidFill>
                  <a:srgbClr val="000000"/>
                </a:solidFill>
                <a:cs typeface="+mn-ea"/>
                <a:sym typeface="+mn-lt"/>
              </a:rPr>
              <a:t>：Rust 的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panic</a:t>
            </a:r>
            <a:r>
              <a:rPr lang="zh-CN" altLang="zh-CN" sz="1400">
                <a:solidFill>
                  <a:srgbClr val="000000"/>
                </a:solidFill>
                <a:cs typeface="+mn-ea"/>
                <a:sym typeface="+mn-lt"/>
              </a:rPr>
              <a:t>和 C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++</a:t>
            </a:r>
            <a:r>
              <a:rPr lang="zh-CN" altLang="zh-CN" sz="1400">
                <a:solidFill>
                  <a:srgbClr val="000000"/>
                </a:solidFill>
                <a:cs typeface="+mn-ea"/>
                <a:sym typeface="+mn-lt"/>
              </a:rPr>
              <a:t> 的异常是不兼容的。如果你在 C 的函数中抛出了异常，Rust 是无法捕获的。同样，如果你在 Rust 的函数中抛出了异常，C 也是无法捕获的。因此，你需要在 ABI 边界上处理好所有的异常。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10558" y="6559204"/>
            <a:ext cx="40096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和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基本类型的映射表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3930"/>
            <a:ext cx="10740640" cy="463646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84829" y="944548"/>
            <a:ext cx="6546396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2"/>
                </a:solidFill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chemeClr val="accent2"/>
                </a:solidFill>
                <a:cs typeface="+mn-ea"/>
                <a:sym typeface="+mn-lt"/>
              </a:rPr>
              <a:t> 常见安全问题以下几类会导致未定义行为（</a:t>
            </a:r>
            <a:r>
              <a:rPr lang="en-US" altLang="zh-CN" b="1">
                <a:solidFill>
                  <a:schemeClr val="accent2"/>
                </a:solidFill>
                <a:cs typeface="+mn-ea"/>
                <a:sym typeface="+mn-lt"/>
              </a:rPr>
              <a:t>UB</a:t>
            </a:r>
            <a:r>
              <a:rPr lang="zh-CN" altLang="en-US" b="1">
                <a:solidFill>
                  <a:schemeClr val="accent2"/>
                </a:solidFill>
                <a:cs typeface="+mn-ea"/>
                <a:sym typeface="+mn-lt"/>
              </a:rPr>
              <a:t>）：</a:t>
            </a:r>
            <a:endParaRPr lang="zh-CN" altLang="zh-CN">
              <a:cs typeface="+mn-ea"/>
              <a:sym typeface="+mn-lt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zh-CN">
                <a:solidFill>
                  <a:srgbClr val="000000"/>
                </a:solidFill>
                <a:cs typeface="+mn-ea"/>
                <a:sym typeface="+mn-lt"/>
              </a:rPr>
              <a:t>类型安全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>
                <a:solidFill>
                  <a:srgbClr val="000000"/>
                </a:solidFill>
                <a:cs typeface="+mn-ea"/>
                <a:sym typeface="+mn-lt"/>
              </a:rPr>
              <a:t>内存安全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>
                <a:solidFill>
                  <a:srgbClr val="000000"/>
                </a:solidFill>
                <a:cs typeface="+mn-ea"/>
                <a:sym typeface="+mn-lt"/>
              </a:rPr>
              <a:t>所有权和生命周期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>
                <a:solidFill>
                  <a:srgbClr val="000000"/>
                </a:solidFill>
                <a:cs typeface="+mn-ea"/>
                <a:sym typeface="+mn-lt"/>
              </a:rPr>
              <a:t>线程安全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>
                <a:solidFill>
                  <a:srgbClr val="000000"/>
                </a:solidFill>
                <a:cs typeface="+mn-ea"/>
                <a:sym typeface="+mn-lt"/>
              </a:rPr>
              <a:t>异常安全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平台特定问题</a:t>
            </a:r>
            <a:endParaRPr lang="zh-CN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57531"/>
            <a:ext cx="10740640" cy="497821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类型不兼容导致 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UB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7135" y="1784517"/>
            <a:ext cx="4452424" cy="181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c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void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do_something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int32_t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Rust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do_something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i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7135" y="3790207"/>
            <a:ext cx="4452424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这个函数实际上需要一个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int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参数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flag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这里可能导致未定义行为。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因为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语言并不保证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bool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的具体表示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（可能是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0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和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1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，也可能是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0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和非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0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）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18362" y="1784517"/>
            <a:ext cx="5538270" cy="34470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repr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align(16))]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}];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的内存对齐小于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16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这里可能会导致未定义行为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as_ptr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991" y="555352"/>
            <a:ext cx="10740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000000"/>
                </a:solidFill>
                <a:cs typeface="+mn-ea"/>
                <a:sym typeface="+mn-lt"/>
              </a:rPr>
              <a:t>类型安全</a:t>
            </a: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：在 Rust 和其他语言之间传递数据时，必须确保正确的类型映射。例如，Rust 的 i32 对应 C 的 int32_t，f64 对应 double 等。同时，复杂的类型，如结构体（struct）和联合体（union），在布局、对齐和填充方面也必须符合对方语言的规定。</a:t>
            </a: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8649"/>
            <a:ext cx="10740640" cy="490393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内存操作不当导致 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UB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48120" y="2089341"/>
            <a:ext cx="4618403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*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c_function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返回的数组长度小于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10,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这里可能会导致越界访问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*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arr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offset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63964" y="2089341"/>
            <a:ext cx="5711473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这个函数会读取传入的数据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uninit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c_funtion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读取了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data,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那么这里可能会导致未定义行为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,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因为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data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是未初始化的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as_ptr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992" y="539042"/>
            <a:ext cx="10971412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000000"/>
                </a:solidFill>
                <a:cs typeface="+mn-ea"/>
                <a:sym typeface="+mn-lt"/>
              </a:rPr>
              <a:t>内存安全</a:t>
            </a: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：你需要正确地管理内存分配和释放，尤其是在跨语言的边界。例如，如果你在 Rust 中分配了内存，并把指针传递给 C 代码，你需要确保在适当的时候释放这个内存。</a:t>
            </a: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8200"/>
            <a:ext cx="10740640" cy="459376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生命周期管理不当导致 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UB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7135" y="2046665"/>
            <a:ext cx="3894196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*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C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回调用于释放内存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c_free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如果忘记调用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c_free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,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而直接用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  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的方式释放内存，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可能会导致内存错误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drop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from_raw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81024" y="2046665"/>
            <a:ext cx="5347964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返回的指针的生命周期应由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管理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*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my_struct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&amp;*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如果在此后的代码中再次使用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my_struct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而其实实际上已经被释放，那么可能会导致未定义行为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所以，需要开发者自行确认该如何安全管理该指针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991" y="648308"/>
            <a:ext cx="10740641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000000"/>
                </a:solidFill>
                <a:cs typeface="+mn-ea"/>
                <a:sym typeface="+mn-lt"/>
              </a:rPr>
              <a:t>所有权和生命周期</a:t>
            </a: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：当你把 Rust 的数据传递给其他语言时，你需要确保这些数据在需要的期间保持有效。例如，如果你把 Rust 字符串的引用传给 C 代码，你需要确保在 C 代码使用期间，这个字符串不会被移动或者删除。</a:t>
            </a: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57530"/>
            <a:ext cx="10740640" cy="491997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调用约定不匹配导致 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UB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08936" y="1239548"/>
            <a:ext cx="5077376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repr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假设在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中的调用约定实际上是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stdcall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这里可能会导致未定义行为，因为调用约定不匹配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58370" y="1239548"/>
            <a:ext cx="5098262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String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类型不适合在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FFI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中使用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使用不适用于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FFI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类型可能会导致问题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58370" y="3573436"/>
            <a:ext cx="5098262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repr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(packed)]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在某些平台上，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u32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需要对齐到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4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字节边界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错误的数据对齐可能会导致未定义行为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992" y="549527"/>
            <a:ext cx="10924760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000000"/>
                </a:solidFill>
                <a:cs typeface="+mn-ea"/>
                <a:sym typeface="+mn-lt"/>
              </a:rPr>
              <a:t>调用约定</a:t>
            </a: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：不同的编程语言可能有不同的函数调用约定。你需要确保你在声明 FFI 函数时使用了正确的调用约定。</a:t>
            </a: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6655"/>
            <a:ext cx="10740640" cy="460921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多线程下操作不当导致数据竞争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04661" y="1949154"/>
            <a:ext cx="4119266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假设这个函数不是线程安全的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into_raw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data_clone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这里可能会导致数据竞争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data_clone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52685" y="1949154"/>
            <a:ext cx="4396241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GLOBAL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GLOBAL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GLOBAL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c_funtion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访问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GLOBAL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可能会导致数据竞争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5992" y="610326"/>
            <a:ext cx="1074064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cs typeface="+mn-ea"/>
                <a:sym typeface="+mn-lt"/>
              </a:rPr>
              <a:t>线程安全</a:t>
            </a:r>
            <a:r>
              <a:rPr lang="zh-CN" altLang="zh-CN">
                <a:solidFill>
                  <a:srgbClr val="000000"/>
                </a:solidFill>
                <a:cs typeface="+mn-ea"/>
                <a:sym typeface="+mn-lt"/>
              </a:rPr>
              <a:t>：你需要知道你调用的外部函数是否线程安全。如果它们不是，那么你可能需要使用某种形式的同步来保证安全性。</a:t>
            </a:r>
            <a:endParaRPr lang="zh-CN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8649"/>
            <a:ext cx="10740640" cy="458927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类型安全问题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不支持平台特定指令导致 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UB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7133" y="1233201"/>
            <a:ext cx="7467821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假设这个函数会抛出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C++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异常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c_function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抛出了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C++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异常，那么这里可能会导致程序立即终止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或者在一些复杂的函数调用内部，可能会因为这样的异常导致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UB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7133" y="4458391"/>
            <a:ext cx="6096000" cy="138499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如果这个函数使用了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不支持的平台特定指令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可能会导致未定义行为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 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992" y="611132"/>
            <a:ext cx="10740640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cs typeface="+mn-ea"/>
                <a:sym typeface="+mn-lt"/>
              </a:rPr>
              <a:t>平台特定问题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。</a:t>
            </a:r>
            <a:r>
              <a:rPr lang="zh-CN" altLang="en-US">
                <a:cs typeface="+mn-ea"/>
                <a:sym typeface="+mn-lt"/>
              </a:rPr>
              <a:t>比如，</a:t>
            </a:r>
            <a:r>
              <a:rPr lang="en-US" altLang="zh-CN">
                <a:cs typeface="+mn-ea"/>
                <a:sym typeface="+mn-lt"/>
              </a:rPr>
              <a:t>Rust </a:t>
            </a:r>
            <a:r>
              <a:rPr lang="zh-CN" altLang="en-US">
                <a:cs typeface="+mn-ea"/>
                <a:sym typeface="+mn-lt"/>
              </a:rPr>
              <a:t>代码尝试在不支持的平台上调用平台特定的 </a:t>
            </a:r>
            <a:r>
              <a:rPr lang="en-US" altLang="zh-CN">
                <a:cs typeface="+mn-ea"/>
                <a:sym typeface="+mn-lt"/>
              </a:rPr>
              <a:t>C </a:t>
            </a:r>
            <a:r>
              <a:rPr lang="zh-CN" altLang="en-US">
                <a:cs typeface="+mn-ea"/>
                <a:sym typeface="+mn-lt"/>
              </a:rPr>
              <a:t>函数</a:t>
            </a:r>
            <a:endParaRPr lang="zh-CN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38869"/>
            <a:ext cx="10740640" cy="468707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指针安全抽象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1053" y="711921"/>
            <a:ext cx="35509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将指针抽象为引用需要注意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什么？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98900" y="527255"/>
            <a:ext cx="30572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如何管理外部函数返回的指针？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21053" y="1050475"/>
            <a:ext cx="5227997" cy="181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::ptr;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*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指针转为引用是unsafe的，需要保证指针的有效性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}.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1053" y="3408203"/>
            <a:ext cx="5227997" cy="15995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::ptr;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as_mut_ptr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指针转为引用，如果指针未初始化就用uninit对应的方法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as_uninit_ref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};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50284" y="896587"/>
            <a:ext cx="5188193" cy="5909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CStr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os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raw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c_void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*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c_void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回调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free_resource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c_void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MyType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resource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c_void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MyType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MyType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resource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c_function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通过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RAII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管理指针生命周期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Drop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MyType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drop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free_resource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.resource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};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38869"/>
            <a:ext cx="10740640" cy="468707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指针安全抽象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7135" y="1406210"/>
            <a:ext cx="47887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有时需要创建一个包含原始指针的安全抽象，但是原始指针并不跟踪它们指向的数据的生命周期。为了在安全的抽象中表示这个生命周期，我们可以</a:t>
            </a:r>
            <a:r>
              <a:rPr lang="zh-CN" altLang="en-US" sz="1600">
                <a:cs typeface="+mn-ea"/>
                <a:sym typeface="+mn-lt"/>
              </a:rPr>
              <a:t>使用 </a:t>
            </a:r>
            <a:r>
              <a:rPr lang="en-US" altLang="zh-CN" sz="1600">
                <a:cs typeface="+mn-ea"/>
                <a:sym typeface="+mn-lt"/>
              </a:rPr>
              <a:t>PhantomData</a:t>
            </a:r>
            <a:r>
              <a:rPr lang="zh-CN" altLang="en-US" sz="1600">
                <a:cs typeface="+mn-ea"/>
                <a:sym typeface="+mn-lt"/>
              </a:rPr>
              <a:t>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7134" y="3073228"/>
            <a:ext cx="4788755" cy="1531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此外，</a:t>
            </a:r>
            <a:r>
              <a:rPr lang="en-US" altLang="zh-CN" sz="1600" dirty="0" err="1">
                <a:cs typeface="+mn-ea"/>
                <a:sym typeface="+mn-lt"/>
              </a:rPr>
              <a:t>MyRef</a:t>
            </a:r>
            <a:r>
              <a:rPr lang="en-US" altLang="zh-CN" sz="1600" dirty="0">
                <a:cs typeface="+mn-ea"/>
                <a:sym typeface="+mn-lt"/>
              </a:rPr>
              <a:t>&lt;‘a, T&gt; </a:t>
            </a:r>
            <a:r>
              <a:rPr lang="zh-CN" altLang="en-US" sz="1600" dirty="0">
                <a:cs typeface="+mn-ea"/>
                <a:sym typeface="+mn-lt"/>
              </a:rPr>
              <a:t>现在是对 </a:t>
            </a:r>
            <a:r>
              <a:rPr lang="en-US" altLang="zh-CN" sz="1600" dirty="0">
                <a:cs typeface="+mn-ea"/>
                <a:sym typeface="+mn-lt"/>
              </a:rPr>
              <a:t>’a </a:t>
            </a:r>
            <a:r>
              <a:rPr lang="zh-CN" altLang="en-US" sz="1600" dirty="0">
                <a:cs typeface="+mn-ea"/>
                <a:sym typeface="+mn-lt"/>
              </a:rPr>
              <a:t>的协变的，因为 </a:t>
            </a:r>
            <a:r>
              <a:rPr lang="en-US" altLang="zh-CN" sz="1600" dirty="0" err="1">
                <a:cs typeface="+mn-ea"/>
                <a:sym typeface="+mn-lt"/>
              </a:rPr>
              <a:t>PhantomData</a:t>
            </a:r>
            <a:r>
              <a:rPr lang="en-US" altLang="zh-CN" sz="1600" dirty="0">
                <a:cs typeface="+mn-ea"/>
                <a:sym typeface="+mn-lt"/>
              </a:rPr>
              <a:t>&lt;&amp;‘a T&gt; </a:t>
            </a:r>
            <a:r>
              <a:rPr lang="zh-CN" altLang="en-US" sz="1600" dirty="0">
                <a:cs typeface="+mn-ea"/>
                <a:sym typeface="+mn-lt"/>
              </a:rPr>
              <a:t>是对 </a:t>
            </a:r>
            <a:r>
              <a:rPr lang="en-US" altLang="zh-CN" sz="1600" dirty="0">
                <a:cs typeface="+mn-ea"/>
                <a:sym typeface="+mn-lt"/>
              </a:rPr>
              <a:t>’a </a:t>
            </a:r>
            <a:r>
              <a:rPr lang="zh-CN" altLang="en-US" sz="1600" dirty="0">
                <a:cs typeface="+mn-ea"/>
                <a:sym typeface="+mn-lt"/>
              </a:rPr>
              <a:t>的协变的。这意味着我们现在可以安全地将 </a:t>
            </a:r>
            <a:r>
              <a:rPr lang="en-US" altLang="zh-CN" sz="1600" dirty="0" err="1">
                <a:cs typeface="+mn-ea"/>
                <a:sym typeface="+mn-lt"/>
              </a:rPr>
              <a:t>MyRef</a:t>
            </a:r>
            <a:r>
              <a:rPr lang="en-US" altLang="zh-CN" sz="1600" dirty="0">
                <a:cs typeface="+mn-ea"/>
                <a:sym typeface="+mn-lt"/>
              </a:rPr>
              <a:t>&lt;‘a, T&gt; </a:t>
            </a:r>
            <a:r>
              <a:rPr lang="zh-CN" altLang="en-US" sz="1600" dirty="0">
                <a:cs typeface="+mn-ea"/>
                <a:sym typeface="+mn-lt"/>
              </a:rPr>
              <a:t>转换为 </a:t>
            </a:r>
            <a:r>
              <a:rPr lang="en-US" altLang="zh-CN" sz="1600" dirty="0" err="1">
                <a:cs typeface="+mn-ea"/>
                <a:sym typeface="+mn-lt"/>
              </a:rPr>
              <a:t>MyRef</a:t>
            </a:r>
            <a:r>
              <a:rPr lang="en-US" altLang="zh-CN" sz="1600" dirty="0">
                <a:cs typeface="+mn-ea"/>
                <a:sym typeface="+mn-lt"/>
              </a:rPr>
              <a:t>&lt;‘b, T&gt;</a:t>
            </a:r>
            <a:r>
              <a:rPr lang="zh-CN" altLang="en-US" sz="1600" dirty="0">
                <a:cs typeface="+mn-ea"/>
                <a:sym typeface="+mn-lt"/>
              </a:rPr>
              <a:t>，只要 </a:t>
            </a:r>
            <a:r>
              <a:rPr lang="en-US" altLang="zh-CN" sz="1600" dirty="0">
                <a:cs typeface="+mn-ea"/>
                <a:sym typeface="+mn-lt"/>
              </a:rPr>
              <a:t>‘a </a:t>
            </a:r>
            <a:r>
              <a:rPr lang="zh-CN" altLang="en-US" sz="1600" dirty="0">
                <a:cs typeface="+mn-ea"/>
                <a:sym typeface="+mn-lt"/>
              </a:rPr>
              <a:t>的生命周期长于 </a:t>
            </a:r>
            <a:r>
              <a:rPr lang="en-US" altLang="zh-CN" sz="1600" dirty="0">
                <a:cs typeface="+mn-ea"/>
                <a:sym typeface="+mn-lt"/>
              </a:rPr>
              <a:t>'b</a:t>
            </a:r>
            <a:r>
              <a:rPr lang="zh-CN" altLang="en-US" sz="1600" dirty="0">
                <a:cs typeface="+mn-ea"/>
                <a:sym typeface="+mn-lt"/>
              </a:rPr>
              <a:t>。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586312" y="964732"/>
            <a:ext cx="450008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marker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MyRef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phantom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&lt;&amp;'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MyRef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MyRef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MyRef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phantom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&amp;'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 &amp;*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.ptr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my_ref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MyRef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my_ref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29538"/>
            <a:ext cx="10740640" cy="478038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指针安全抽象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7135" y="1406210"/>
            <a:ext cx="47887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这个例子展示了如何</a:t>
            </a:r>
            <a:r>
              <a:rPr lang="zh-CN" altLang="en-US" sz="1600">
                <a:cs typeface="+mn-ea"/>
                <a:sym typeface="+mn-lt"/>
              </a:rPr>
              <a:t>使用 </a:t>
            </a:r>
            <a:r>
              <a:rPr lang="en-US" altLang="zh-CN" sz="1600">
                <a:cs typeface="+mn-ea"/>
                <a:sym typeface="+mn-lt"/>
              </a:rPr>
              <a:t>PhantomData </a:t>
            </a:r>
            <a:r>
              <a:rPr lang="zh-CN" altLang="en-US" sz="1600" dirty="0">
                <a:cs typeface="+mn-ea"/>
                <a:sym typeface="+mn-lt"/>
              </a:rPr>
              <a:t>来正确地表示出类型的所有权，这在创建安全的抽象时非常重要</a:t>
            </a:r>
          </a:p>
        </p:txBody>
      </p:sp>
      <p:sp>
        <p:nvSpPr>
          <p:cNvPr id="3" name="矩形 2"/>
          <p:cNvSpPr/>
          <p:nvPr/>
        </p:nvSpPr>
        <p:spPr>
          <a:xfrm>
            <a:off x="687135" y="2606539"/>
            <a:ext cx="4597588" cy="1531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MyBox&lt;T&gt; </a:t>
            </a:r>
            <a:r>
              <a:rPr lang="zh-CN" altLang="en-US" sz="1600" dirty="0">
                <a:cs typeface="+mn-ea"/>
                <a:sym typeface="+mn-lt"/>
              </a:rPr>
              <a:t>现在表示它拥有一</a:t>
            </a:r>
            <a:r>
              <a:rPr lang="zh-CN" altLang="en-US" sz="1600">
                <a:cs typeface="+mn-ea"/>
                <a:sym typeface="+mn-lt"/>
              </a:rPr>
              <a:t>个 </a:t>
            </a:r>
            <a:r>
              <a:rPr lang="en-US" altLang="zh-CN" sz="1600">
                <a:cs typeface="+mn-ea"/>
                <a:sym typeface="+mn-lt"/>
              </a:rPr>
              <a:t>T</a:t>
            </a:r>
            <a:r>
              <a:rPr lang="zh-CN" altLang="en-US" sz="1600">
                <a:cs typeface="+mn-ea"/>
                <a:sym typeface="+mn-lt"/>
              </a:rPr>
              <a:t>，因为 </a:t>
            </a:r>
            <a:r>
              <a:rPr lang="en-US" altLang="zh-CN" sz="1600">
                <a:cs typeface="+mn-ea"/>
                <a:sym typeface="+mn-lt"/>
              </a:rPr>
              <a:t>PhantomData&lt;T&gt; </a:t>
            </a:r>
            <a:r>
              <a:rPr lang="zh-CN" altLang="en-US" sz="1600" dirty="0">
                <a:cs typeface="+mn-ea"/>
                <a:sym typeface="+mn-lt"/>
              </a:rPr>
              <a:t>表示</a:t>
            </a:r>
            <a:r>
              <a:rPr lang="zh-CN" altLang="en-US" sz="1600">
                <a:cs typeface="+mn-ea"/>
                <a:sym typeface="+mn-lt"/>
              </a:rPr>
              <a:t>对 </a:t>
            </a:r>
            <a:r>
              <a:rPr lang="en-US" altLang="zh-CN" sz="1600">
                <a:cs typeface="+mn-ea"/>
                <a:sym typeface="+mn-lt"/>
              </a:rPr>
              <a:t>T </a:t>
            </a:r>
            <a:r>
              <a:rPr lang="zh-CN" altLang="en-US" sz="1600" dirty="0">
                <a:cs typeface="+mn-ea"/>
                <a:sym typeface="+mn-lt"/>
              </a:rPr>
              <a:t>的所有权。这意味着我们现在可以安全地</a:t>
            </a:r>
            <a:r>
              <a:rPr lang="zh-CN" altLang="en-US" sz="1600">
                <a:cs typeface="+mn-ea"/>
                <a:sym typeface="+mn-lt"/>
              </a:rPr>
              <a:t>在 </a:t>
            </a:r>
            <a:r>
              <a:rPr lang="en-US" altLang="zh-CN" sz="1600">
                <a:cs typeface="+mn-ea"/>
                <a:sym typeface="+mn-lt"/>
              </a:rPr>
              <a:t>MyBox&lt;T&gt; </a:t>
            </a:r>
            <a:r>
              <a:rPr lang="zh-CN" altLang="en-US" sz="1600" dirty="0">
                <a:cs typeface="+mn-ea"/>
                <a:sym typeface="+mn-lt"/>
              </a:rPr>
              <a:t>上</a:t>
            </a:r>
            <a:r>
              <a:rPr lang="zh-CN" altLang="en-US" sz="1600">
                <a:cs typeface="+mn-ea"/>
                <a:sym typeface="+mn-lt"/>
              </a:rPr>
              <a:t>实现 </a:t>
            </a:r>
            <a:r>
              <a:rPr lang="en-US" altLang="zh-CN" sz="1600">
                <a:cs typeface="+mn-ea"/>
                <a:sym typeface="+mn-lt"/>
              </a:rPr>
              <a:t>Drop </a:t>
            </a:r>
            <a:r>
              <a:rPr lang="en-US" altLang="zh-CN" sz="1600" dirty="0">
                <a:cs typeface="+mn-ea"/>
                <a:sym typeface="+mn-lt"/>
              </a:rPr>
              <a:t>trait</a:t>
            </a:r>
            <a:r>
              <a:rPr lang="zh-CN" altLang="en-US" sz="1600" dirty="0">
                <a:cs typeface="+mn-ea"/>
                <a:sym typeface="+mn-lt"/>
              </a:rPr>
              <a:t>，以便</a:t>
            </a:r>
            <a:r>
              <a:rPr lang="zh-CN" altLang="en-US" sz="1600">
                <a:cs typeface="+mn-ea"/>
                <a:sym typeface="+mn-lt"/>
              </a:rPr>
              <a:t>在 </a:t>
            </a:r>
            <a:r>
              <a:rPr lang="en-US" altLang="zh-CN" sz="1600">
                <a:cs typeface="+mn-ea"/>
                <a:sym typeface="+mn-lt"/>
              </a:rPr>
              <a:t>MyBox&lt;T&gt; </a:t>
            </a:r>
            <a:r>
              <a:rPr lang="zh-CN" altLang="en-US" sz="1600" dirty="0">
                <a:cs typeface="+mn-ea"/>
                <a:sym typeface="+mn-lt"/>
              </a:rPr>
              <a:t>被丢弃时</a:t>
            </a:r>
            <a:r>
              <a:rPr lang="zh-CN" altLang="en-US" sz="1600">
                <a:cs typeface="+mn-ea"/>
                <a:sym typeface="+mn-lt"/>
              </a:rPr>
              <a:t>释放 </a:t>
            </a:r>
            <a:r>
              <a:rPr lang="en-US" altLang="zh-CN" sz="1600">
                <a:cs typeface="+mn-ea"/>
                <a:sym typeface="+mn-lt"/>
              </a:rPr>
              <a:t>T</a:t>
            </a:r>
            <a:r>
              <a:rPr lang="zh-CN" altLang="en-US" sz="1600">
                <a:cs typeface="+mn-ea"/>
                <a:sym typeface="+mn-lt"/>
              </a:rPr>
              <a:t>。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58102" y="2006374"/>
            <a:ext cx="3976363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i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i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marker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_marker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38869"/>
            <a:ext cx="10740640" cy="4967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不透明类型与特殊类型</a:t>
            </a:r>
          </a:p>
        </p:txBody>
      </p:sp>
      <p:sp>
        <p:nvSpPr>
          <p:cNvPr id="7" name="矩形 6"/>
          <p:cNvSpPr/>
          <p:nvPr/>
        </p:nvSpPr>
        <p:spPr>
          <a:xfrm>
            <a:off x="184343" y="1339907"/>
            <a:ext cx="47612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边界传递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对象的一个包含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UB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示例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78055" y="1359904"/>
            <a:ext cx="37048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FFI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边界传递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对象的安全示例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50717" y="556211"/>
            <a:ext cx="115965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在</a:t>
            </a:r>
            <a:r>
              <a:rPr lang="en-US" altLang="zh-CN" sz="1600" dirty="0">
                <a:cs typeface="+mn-ea"/>
                <a:sym typeface="+mn-lt"/>
              </a:rPr>
              <a:t>Rust</a:t>
            </a:r>
            <a:r>
              <a:rPr lang="zh-CN" altLang="en-US" sz="1600" dirty="0">
                <a:cs typeface="+mn-ea"/>
                <a:sym typeface="+mn-lt"/>
              </a:rPr>
              <a:t>中，不透明类型（</a:t>
            </a:r>
            <a:r>
              <a:rPr lang="en-US" altLang="zh-CN" sz="1600" dirty="0">
                <a:cs typeface="+mn-ea"/>
                <a:sym typeface="+mn-lt"/>
              </a:rPr>
              <a:t>opaque type</a:t>
            </a:r>
            <a:r>
              <a:rPr lang="zh-CN" altLang="en-US" sz="1600" dirty="0">
                <a:cs typeface="+mn-ea"/>
                <a:sym typeface="+mn-lt"/>
              </a:rPr>
              <a:t>）是一种特殊的类型，它允许隐藏类型的实现细节。这种类型通常用于定义抽象数据类型（</a:t>
            </a:r>
            <a:r>
              <a:rPr lang="en-US" altLang="zh-CN" sz="1600" dirty="0">
                <a:cs typeface="+mn-ea"/>
                <a:sym typeface="+mn-lt"/>
              </a:rPr>
              <a:t>ADT</a:t>
            </a:r>
            <a:r>
              <a:rPr lang="zh-CN" altLang="en-US" sz="1600" dirty="0">
                <a:cs typeface="+mn-ea"/>
                <a:sym typeface="+mn-lt"/>
              </a:rPr>
              <a:t>），例如栈和队列。不透明类型可以通过定义一个</a:t>
            </a:r>
            <a:r>
              <a:rPr lang="en-US" altLang="zh-CN" sz="1600" dirty="0">
                <a:cs typeface="+mn-ea"/>
                <a:sym typeface="+mn-lt"/>
              </a:rPr>
              <a:t>trait</a:t>
            </a:r>
            <a:r>
              <a:rPr lang="zh-CN" altLang="en-US" sz="1600" dirty="0">
                <a:cs typeface="+mn-ea"/>
                <a:sym typeface="+mn-lt"/>
              </a:rPr>
              <a:t>并使用</a:t>
            </a:r>
            <a:r>
              <a:rPr lang="en-US" altLang="zh-CN" sz="1600" dirty="0" err="1">
                <a:cs typeface="+mn-ea"/>
                <a:sym typeface="+mn-lt"/>
              </a:rPr>
              <a:t>impl</a:t>
            </a:r>
            <a:r>
              <a:rPr lang="en-US" altLang="zh-CN" sz="1600" dirty="0">
                <a:cs typeface="+mn-ea"/>
                <a:sym typeface="+mn-lt"/>
              </a:rPr>
              <a:t> Trait</a:t>
            </a:r>
            <a:r>
              <a:rPr lang="zh-CN" altLang="en-US" sz="1600" dirty="0">
                <a:cs typeface="+mn-ea"/>
                <a:sym typeface="+mn-lt"/>
              </a:rPr>
              <a:t>语法来实现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0494EA-335E-4626-B731-A2E10A4C3999}"/>
              </a:ext>
            </a:extLst>
          </p:cNvPr>
          <p:cNvSpPr/>
          <p:nvPr/>
        </p:nvSpPr>
        <p:spPr>
          <a:xfrm>
            <a:off x="5884333" y="1698458"/>
            <a:ext cx="6189134" cy="47089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std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os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raw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c_void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my_method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); }</a:t>
            </a: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ADADA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}</a:t>
            </a:r>
          </a:p>
          <a:p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my_method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BD63C5"/>
                </a:solidFill>
                <a:cs typeface="+mn-ea"/>
                <a:sym typeface="+mn-lt"/>
              </a:rPr>
              <a:t>println</a:t>
            </a:r>
            <a:r>
              <a:rPr lang="en-US" altLang="zh-CN" sz="12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"Value: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DADADA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extern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"C"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create_my_struct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c_void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DADADA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boxed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&gt; =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new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into_raw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boxed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c_void</a:t>
            </a:r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extern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"C"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use_my_struct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raw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c_void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trait_object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&gt; =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::&lt;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&gt;::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from_raw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raw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&gt; };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trait_object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my_method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注意：在这里，当 </a:t>
            </a:r>
            <a:r>
              <a:rPr lang="en-US" altLang="zh-CN" sz="1200" dirty="0" err="1">
                <a:solidFill>
                  <a:srgbClr val="6A9955"/>
                </a:solidFill>
                <a:cs typeface="+mn-ea"/>
                <a:sym typeface="+mn-lt"/>
              </a:rPr>
              <a:t>trait_object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离开作用城时，它将被自动释放。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如果你不希望这样，你可以使用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Box::</a:t>
            </a:r>
            <a:r>
              <a:rPr lang="en-US" altLang="zh-CN" sz="1200" dirty="0" err="1">
                <a:solidFill>
                  <a:srgbClr val="6A9955"/>
                </a:solidFill>
                <a:cs typeface="+mn-ea"/>
                <a:sym typeface="+mn-lt"/>
              </a:rPr>
              <a:t>into_raw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6A9955"/>
                </a:solidFill>
                <a:cs typeface="+mn-ea"/>
                <a:sym typeface="+mn-lt"/>
              </a:rPr>
              <a:t>trait_object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）来获取裸指针，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并阻止 </a:t>
            </a:r>
            <a:r>
              <a:rPr lang="en-US" altLang="zh-CN" sz="1200" dirty="0" err="1">
                <a:solidFill>
                  <a:srgbClr val="6A9955"/>
                </a:solidFill>
                <a:cs typeface="+mn-ea"/>
                <a:sym typeface="+mn-lt"/>
              </a:rPr>
              <a:t>trait_object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被释放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CAED79-5753-46C4-A1C8-6EB7BB4D612F}"/>
              </a:ext>
            </a:extLst>
          </p:cNvPr>
          <p:cNvSpPr/>
          <p:nvPr/>
        </p:nvSpPr>
        <p:spPr>
          <a:xfrm>
            <a:off x="53139" y="1698458"/>
            <a:ext cx="5778055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my_method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); }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   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定义一个实现了</a:t>
            </a:r>
            <a:r>
              <a:rPr lang="en-US" altLang="zh-CN" sz="1200" dirty="0" err="1">
                <a:solidFill>
                  <a:srgbClr val="6A9955"/>
                </a:solidFill>
                <a:cs typeface="+mn-ea"/>
                <a:sym typeface="+mn-lt"/>
              </a:rPr>
              <a:t>MyTrait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的结构体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ADADA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my_method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 err="1">
                <a:solidFill>
                  <a:srgbClr val="BD63C5"/>
                </a:solidFill>
                <a:cs typeface="+mn-ea"/>
                <a:sym typeface="+mn-lt"/>
              </a:rPr>
              <a:t>println</a:t>
            </a:r>
            <a:r>
              <a:rPr lang="en-US" altLang="zh-CN" sz="12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200" dirty="0" err="1">
                <a:solidFill>
                  <a:srgbClr val="CE9178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DADADA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FFI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边界创建一个不透明指针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extern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"C"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create_my_struct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DADADA"/>
                </a:solidFill>
                <a:cs typeface="+mn-ea"/>
                <a:sym typeface="+mn-lt"/>
              </a:rPr>
              <a:t>value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into_raw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new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))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FFI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边界使用不透明指针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这里会产生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UB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，因为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trait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对象是宽指针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extern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"C"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use_my_struct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7F7F7F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MyTrait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 &amp;*</a:t>
            </a:r>
            <a:r>
              <a:rPr lang="en-US" altLang="zh-CN" sz="1200" dirty="0" err="1">
                <a:solidFill>
                  <a:srgbClr val="7F7F7F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my_struct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my_method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8200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不透明类型与特殊类型</a:t>
            </a:r>
          </a:p>
        </p:txBody>
      </p:sp>
      <p:sp>
        <p:nvSpPr>
          <p:cNvPr id="7" name="矩形 6"/>
          <p:cNvSpPr/>
          <p:nvPr/>
        </p:nvSpPr>
        <p:spPr>
          <a:xfrm>
            <a:off x="215991" y="652461"/>
            <a:ext cx="6608141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中接收一个通过 </a:t>
            </a:r>
            <a:r>
              <a:rPr lang="en-US" altLang="zh-CN" sz="1600" dirty="0">
                <a:cs typeface="+mn-ea"/>
                <a:sym typeface="+mn-lt"/>
              </a:rPr>
              <a:t>C ABI </a:t>
            </a:r>
            <a:r>
              <a:rPr lang="zh-CN" altLang="en-US" sz="1600" dirty="0">
                <a:cs typeface="+mn-ea"/>
                <a:sym typeface="+mn-lt"/>
              </a:rPr>
              <a:t>传递过来的数组，并在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中处理它；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然后，我们将在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中定义一个回调函数，并在 </a:t>
            </a:r>
            <a:r>
              <a:rPr lang="en-US" altLang="zh-CN" sz="1600" dirty="0">
                <a:cs typeface="+mn-ea"/>
                <a:sym typeface="+mn-lt"/>
              </a:rPr>
              <a:t>C </a:t>
            </a:r>
            <a:r>
              <a:rPr lang="zh-CN" altLang="en-US" sz="1600" dirty="0">
                <a:cs typeface="+mn-ea"/>
                <a:sym typeface="+mn-lt"/>
              </a:rPr>
              <a:t>中调用它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586312" y="2105436"/>
            <a:ext cx="6066045" cy="3785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os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raw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c_int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c_void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这是我们将在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C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中调用的外部函数，它接收一个指向致组的指针和数组的长度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process_array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*const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c_int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len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c_int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slice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assert!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(!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is_null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slice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56B6C2"/>
                </a:solidFill>
                <a:cs typeface="+mn-ea"/>
                <a:sym typeface="+mn-lt"/>
              </a:rPr>
              <a:t>from_raw_parts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len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在这里处理数组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...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这是我们将在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C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中调用的回调函数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"C"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callback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FnOnce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()&gt;(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closure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c_void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FnOnce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closure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=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from_raw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closure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*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};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closure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215992" y="2101761"/>
            <a:ext cx="5195763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#include &lt;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stdint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.h&gt;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这是在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Rust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中定义的外部函数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void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process_array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int32_t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*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int32_t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len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这是在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Rust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中定义的回调函数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extern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void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callback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void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 (*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closure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());</a:t>
            </a:r>
          </a:p>
          <a:p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void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closure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在这里做一些事情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void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call_rust_functions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int32_t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[]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process_array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sizeof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/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sizeof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int32_t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callback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closure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8200"/>
            <a:ext cx="10740640" cy="55829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内存管理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-MaybeUninit&lt;T&gt;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3952" y="806045"/>
            <a:ext cx="107826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MaybeUninit&lt;T&gt; </a:t>
            </a:r>
            <a:r>
              <a:rPr lang="zh-CN" altLang="en-US" sz="1600" dirty="0">
                <a:cs typeface="+mn-ea"/>
                <a:sym typeface="+mn-lt"/>
              </a:rPr>
              <a:t>是一个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标准库中的结构，被用来处理未初始化的内存。它代表了可能没有被初始化的内存。如果直接使用未初始化的内存，那么将会导致未定义行为（</a:t>
            </a:r>
            <a:r>
              <a:rPr lang="en-US" altLang="zh-CN" sz="1600" dirty="0">
                <a:cs typeface="+mn-ea"/>
                <a:sym typeface="+mn-lt"/>
              </a:rPr>
              <a:t>Undefined Behavior</a:t>
            </a:r>
            <a:r>
              <a:rPr lang="zh-CN" altLang="en-US" sz="1600" dirty="0">
                <a:cs typeface="+mn-ea"/>
                <a:sym typeface="+mn-lt"/>
              </a:rPr>
              <a:t>）。</a:t>
            </a:r>
            <a:r>
              <a:rPr lang="zh-CN" altLang="en-US" sz="1600">
                <a:cs typeface="+mn-ea"/>
                <a:sym typeface="+mn-lt"/>
              </a:rPr>
              <a:t>所以，</a:t>
            </a:r>
            <a:r>
              <a:rPr lang="en-US" altLang="zh-CN" sz="1600">
                <a:cs typeface="+mn-ea"/>
                <a:sym typeface="+mn-lt"/>
              </a:rPr>
              <a:t>MaybeUninit&lt;T&gt; </a:t>
            </a:r>
            <a:r>
              <a:rPr lang="zh-CN" altLang="en-US" sz="1600" dirty="0">
                <a:cs typeface="+mn-ea"/>
                <a:sym typeface="+mn-lt"/>
              </a:rPr>
              <a:t>提供了一种在尚未确定内存已经被正确初始化的情况下，安全地处理这段内存的方法。</a:t>
            </a:r>
          </a:p>
        </p:txBody>
      </p:sp>
      <p:sp>
        <p:nvSpPr>
          <p:cNvPr id="7" name="矩形 6"/>
          <p:cNvSpPr/>
          <p:nvPr/>
        </p:nvSpPr>
        <p:spPr>
          <a:xfrm>
            <a:off x="223936" y="2999140"/>
            <a:ext cx="5592664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示例中，创建了一个未初始化的 </a:t>
            </a:r>
            <a:r>
              <a:rPr lang="en-US" altLang="zh-CN" sz="1600" dirty="0" err="1">
                <a:cs typeface="+mn-ea"/>
                <a:sym typeface="+mn-lt"/>
              </a:rPr>
              <a:t>MaybeUninit</a:t>
            </a:r>
            <a:r>
              <a:rPr lang="en-US" altLang="zh-CN" sz="1600" dirty="0">
                <a:cs typeface="+mn-ea"/>
                <a:sym typeface="+mn-lt"/>
              </a:rPr>
              <a:t>&lt;i32&gt;</a:t>
            </a:r>
            <a:r>
              <a:rPr lang="zh-CN" altLang="en-US" sz="1600" dirty="0">
                <a:cs typeface="+mn-ea"/>
                <a:sym typeface="+mn-lt"/>
              </a:rPr>
              <a:t>。然后，我们通过 </a:t>
            </a:r>
            <a:r>
              <a:rPr lang="en-US" altLang="zh-CN" sz="1600" dirty="0" err="1">
                <a:cs typeface="+mn-ea"/>
                <a:sym typeface="+mn-lt"/>
              </a:rPr>
              <a:t>as_mut_ptr</a:t>
            </a:r>
            <a:r>
              <a:rPr lang="en-US" altLang="zh-CN" sz="1600" dirty="0">
                <a:cs typeface="+mn-ea"/>
                <a:sym typeface="+mn-lt"/>
              </a:rPr>
              <a:t>() </a:t>
            </a:r>
            <a:r>
              <a:rPr lang="zh-CN" altLang="en-US" sz="1600" dirty="0">
                <a:cs typeface="+mn-ea"/>
                <a:sym typeface="+mn-lt"/>
              </a:rPr>
              <a:t>获得它的裸指针，并通过这个裸指针向其写入一个整数值。最后，我们通过 </a:t>
            </a:r>
            <a:r>
              <a:rPr lang="en-US" altLang="zh-CN" sz="1600" dirty="0" err="1">
                <a:cs typeface="+mn-ea"/>
                <a:sym typeface="+mn-lt"/>
              </a:rPr>
              <a:t>assume_init</a:t>
            </a:r>
            <a:r>
              <a:rPr lang="en-US" altLang="zh-CN" sz="1600" dirty="0">
                <a:cs typeface="+mn-ea"/>
                <a:sym typeface="+mn-lt"/>
              </a:rPr>
              <a:t>() </a:t>
            </a:r>
            <a:r>
              <a:rPr lang="zh-CN" altLang="en-US" sz="1600" dirty="0">
                <a:cs typeface="+mn-ea"/>
                <a:sym typeface="+mn-lt"/>
              </a:rPr>
              <a:t>假定它已经被初始化，并将它转换为普通的 </a:t>
            </a:r>
            <a:r>
              <a:rPr lang="en-US" altLang="zh-CN" sz="1600" dirty="0">
                <a:cs typeface="+mn-ea"/>
                <a:sym typeface="+mn-lt"/>
              </a:rPr>
              <a:t>i32</a:t>
            </a:r>
            <a:r>
              <a:rPr lang="zh-CN" altLang="en-US" sz="1600" dirty="0">
                <a:cs typeface="+mn-ea"/>
                <a:sym typeface="+mn-lt"/>
              </a:rPr>
              <a:t>。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982798" y="3175425"/>
            <a:ext cx="4973834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as_mut_ptr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write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x_init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assume_init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};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39318"/>
            <a:ext cx="10740640" cy="468258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内存管理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-MaybeUninit&lt;T&gt;</a:t>
            </a:r>
          </a:p>
        </p:txBody>
      </p:sp>
      <p:sp>
        <p:nvSpPr>
          <p:cNvPr id="5" name="矩形 4"/>
          <p:cNvSpPr/>
          <p:nvPr/>
        </p:nvSpPr>
        <p:spPr>
          <a:xfrm>
            <a:off x="215993" y="591539"/>
            <a:ext cx="107406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如果我们在确认</a:t>
            </a:r>
            <a:r>
              <a:rPr lang="zh-CN" altLang="en-US" sz="1600">
                <a:cs typeface="+mn-ea"/>
                <a:sym typeface="+mn-lt"/>
              </a:rPr>
              <a:t>某个 </a:t>
            </a:r>
            <a:r>
              <a:rPr lang="en-US" altLang="zh-CN" sz="1600">
                <a:cs typeface="+mn-ea"/>
                <a:sym typeface="+mn-lt"/>
              </a:rPr>
              <a:t>MaybeUninit&lt;T&gt; </a:t>
            </a:r>
            <a:r>
              <a:rPr lang="zh-CN" altLang="en-US" sz="1600" dirty="0">
                <a:cs typeface="+mn-ea"/>
                <a:sym typeface="+mn-lt"/>
              </a:rPr>
              <a:t>已经被初始化之前就尝试使用它，那么将会引发</a:t>
            </a:r>
            <a:r>
              <a:rPr lang="zh-CN" altLang="en-US" sz="1600">
                <a:cs typeface="+mn-ea"/>
                <a:sym typeface="+mn-lt"/>
              </a:rPr>
              <a:t>未定义行为。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48319" y="1814569"/>
            <a:ext cx="5080081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示例中，创建了一个未初始化的 </a:t>
            </a:r>
            <a:r>
              <a:rPr lang="en-US" altLang="zh-CN" sz="1600" dirty="0" err="1">
                <a:cs typeface="+mn-ea"/>
                <a:sym typeface="+mn-lt"/>
              </a:rPr>
              <a:t>MaybeUninit</a:t>
            </a:r>
            <a:r>
              <a:rPr lang="en-US" altLang="zh-CN" sz="1600" dirty="0">
                <a:cs typeface="+mn-ea"/>
                <a:sym typeface="+mn-lt"/>
              </a:rPr>
              <a:t>&lt;i32&gt;</a:t>
            </a:r>
            <a:r>
              <a:rPr lang="zh-CN" altLang="en-US" sz="1600" dirty="0">
                <a:cs typeface="+mn-ea"/>
                <a:sym typeface="+mn-lt"/>
              </a:rPr>
              <a:t>，然后直接调用 </a:t>
            </a:r>
            <a:r>
              <a:rPr lang="en-US" altLang="zh-CN" sz="1600" dirty="0" err="1">
                <a:cs typeface="+mn-ea"/>
                <a:sym typeface="+mn-lt"/>
              </a:rPr>
              <a:t>assume_init</a:t>
            </a:r>
            <a:r>
              <a:rPr lang="en-US" altLang="zh-CN" sz="1600" dirty="0">
                <a:cs typeface="+mn-ea"/>
                <a:sym typeface="+mn-lt"/>
              </a:rPr>
              <a:t>()</a:t>
            </a:r>
            <a:r>
              <a:rPr lang="zh-CN" altLang="en-US" sz="1600" dirty="0">
                <a:cs typeface="+mn-ea"/>
                <a:sym typeface="+mn-lt"/>
              </a:rPr>
              <a:t>，假定它已经被初始化。但是事实上，我们并没有初始化它。因此，这段代码会引发未定义行为</a:t>
            </a:r>
          </a:p>
        </p:txBody>
      </p:sp>
      <p:sp>
        <p:nvSpPr>
          <p:cNvPr id="11" name="矩形 10"/>
          <p:cNvSpPr/>
          <p:nvPr/>
        </p:nvSpPr>
        <p:spPr>
          <a:xfrm>
            <a:off x="215992" y="4147041"/>
            <a:ext cx="10122217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注意：应当确保在调用 </a:t>
            </a:r>
            <a:r>
              <a:rPr lang="en-US" altLang="zh-CN" sz="1600" dirty="0" err="1">
                <a:cs typeface="+mn-ea"/>
                <a:sym typeface="+mn-lt"/>
              </a:rPr>
              <a:t>assume_init</a:t>
            </a:r>
            <a:r>
              <a:rPr lang="en-US" altLang="zh-CN" sz="1600" dirty="0">
                <a:cs typeface="+mn-ea"/>
                <a:sym typeface="+mn-lt"/>
              </a:rPr>
              <a:t>() </a:t>
            </a:r>
            <a:r>
              <a:rPr lang="zh-CN" altLang="en-US" sz="1600" dirty="0">
                <a:cs typeface="+mn-ea"/>
                <a:sym typeface="+mn-lt"/>
              </a:rPr>
              <a:t>之前，</a:t>
            </a:r>
            <a:r>
              <a:rPr lang="en-US" altLang="zh-CN" sz="1600" dirty="0" err="1">
                <a:cs typeface="+mn-ea"/>
                <a:sym typeface="+mn-lt"/>
              </a:rPr>
              <a:t>MaybeUninit</a:t>
            </a:r>
            <a:r>
              <a:rPr lang="en-US" altLang="zh-CN" sz="1600" dirty="0">
                <a:cs typeface="+mn-ea"/>
                <a:sym typeface="+mn-lt"/>
              </a:rPr>
              <a:t>&lt;T&gt; </a:t>
            </a:r>
            <a:r>
              <a:rPr lang="zh-CN" altLang="en-US" sz="1600" dirty="0">
                <a:cs typeface="+mn-ea"/>
                <a:sym typeface="+mn-lt"/>
              </a:rPr>
              <a:t>必须已经被正确地初始化了。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15993" y="1995773"/>
            <a:ext cx="5831633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MaybeUninit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UB: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我们尚未初始化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x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x_init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assume_init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};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8200"/>
            <a:ext cx="10740640" cy="459376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内存管理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-ManuallyDrop&lt;T&gt;</a:t>
            </a:r>
          </a:p>
        </p:txBody>
      </p:sp>
      <p:sp>
        <p:nvSpPr>
          <p:cNvPr id="3" name="矩形 2"/>
          <p:cNvSpPr/>
          <p:nvPr/>
        </p:nvSpPr>
        <p:spPr>
          <a:xfrm>
            <a:off x="215993" y="669979"/>
            <a:ext cx="10740639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std</a:t>
            </a:r>
            <a:r>
              <a:rPr lang="en-US" altLang="zh-CN" sz="1600" dirty="0">
                <a:cs typeface="+mn-ea"/>
                <a:sym typeface="+mn-lt"/>
              </a:rPr>
              <a:t>::mem::</a:t>
            </a:r>
            <a:r>
              <a:rPr lang="en-US" altLang="zh-CN" sz="1600" err="1">
                <a:cs typeface="+mn-ea"/>
                <a:sym typeface="+mn-lt"/>
              </a:rPr>
              <a:t>ManuallyDrop</a:t>
            </a:r>
            <a:r>
              <a:rPr lang="en-US" altLang="zh-CN" sz="1600">
                <a:cs typeface="+mn-ea"/>
                <a:sym typeface="+mn-lt"/>
              </a:rPr>
              <a:t>&lt;T&gt; </a:t>
            </a:r>
            <a:r>
              <a:rPr lang="zh-CN" altLang="en-US" sz="1600" dirty="0">
                <a:cs typeface="+mn-ea"/>
                <a:sym typeface="+mn-lt"/>
              </a:rPr>
              <a:t>是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标准库中的一个包装类型，用于阻止其包装的</a:t>
            </a:r>
            <a:r>
              <a:rPr lang="zh-CN" altLang="en-US" sz="1600">
                <a:cs typeface="+mn-ea"/>
                <a:sym typeface="+mn-lt"/>
              </a:rPr>
              <a:t>类型 </a:t>
            </a:r>
            <a:r>
              <a:rPr lang="en-US" altLang="zh-CN" sz="1600">
                <a:cs typeface="+mn-ea"/>
                <a:sym typeface="+mn-lt"/>
              </a:rPr>
              <a:t>T </a:t>
            </a:r>
            <a:r>
              <a:rPr lang="zh-CN" altLang="en-US" sz="1600" dirty="0">
                <a:cs typeface="+mn-ea"/>
                <a:sym typeface="+mn-lt"/>
              </a:rPr>
              <a:t>的析构函数自动调用。这意味着</a:t>
            </a:r>
            <a:r>
              <a:rPr lang="zh-CN" altLang="en-US" sz="1600">
                <a:cs typeface="+mn-ea"/>
                <a:sym typeface="+mn-lt"/>
              </a:rPr>
              <a:t>当 </a:t>
            </a:r>
            <a:r>
              <a:rPr lang="en-US" altLang="zh-CN" sz="1600">
                <a:cs typeface="+mn-ea"/>
                <a:sym typeface="+mn-lt"/>
              </a:rPr>
              <a:t>ManuallyDrop&lt;T&gt; </a:t>
            </a:r>
            <a:r>
              <a:rPr lang="zh-CN" altLang="en-US" sz="1600" dirty="0">
                <a:cs typeface="+mn-ea"/>
                <a:sym typeface="+mn-lt"/>
              </a:rPr>
              <a:t>实例离开作用域</a:t>
            </a:r>
            <a:r>
              <a:rPr lang="zh-CN" altLang="en-US" sz="1600">
                <a:cs typeface="+mn-ea"/>
                <a:sym typeface="+mn-lt"/>
              </a:rPr>
              <a:t>时，</a:t>
            </a:r>
            <a:r>
              <a:rPr lang="en-US" altLang="zh-CN" sz="1600">
                <a:cs typeface="+mn-ea"/>
                <a:sym typeface="+mn-lt"/>
              </a:rPr>
              <a:t>T </a:t>
            </a:r>
            <a:r>
              <a:rPr lang="zh-CN" altLang="en-US" sz="1600" dirty="0">
                <a:cs typeface="+mn-ea"/>
                <a:sym typeface="+mn-lt"/>
              </a:rPr>
              <a:t>的析构函数不会被调用，内存也不会被释放。</a:t>
            </a:r>
          </a:p>
        </p:txBody>
      </p:sp>
      <p:sp>
        <p:nvSpPr>
          <p:cNvPr id="8" name="矩形 7"/>
          <p:cNvSpPr/>
          <p:nvPr/>
        </p:nvSpPr>
        <p:spPr>
          <a:xfrm>
            <a:off x="215993" y="3686405"/>
            <a:ext cx="10740639" cy="1531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示例中，</a:t>
            </a:r>
            <a:r>
              <a:rPr lang="en-US" altLang="zh-CN" sz="1600">
                <a:cs typeface="+mn-ea"/>
                <a:sym typeface="+mn-lt"/>
              </a:rPr>
              <a:t>value </a:t>
            </a:r>
            <a:r>
              <a:rPr lang="zh-CN" altLang="en-US" sz="1600" dirty="0">
                <a:cs typeface="+mn-ea"/>
                <a:sym typeface="+mn-lt"/>
              </a:rPr>
              <a:t>是一</a:t>
            </a:r>
            <a:r>
              <a:rPr lang="zh-CN" altLang="en-US" sz="1600">
                <a:cs typeface="+mn-ea"/>
                <a:sym typeface="+mn-lt"/>
              </a:rPr>
              <a:t>个 </a:t>
            </a:r>
            <a:r>
              <a:rPr lang="en-US" altLang="zh-CN" sz="1600">
                <a:cs typeface="+mn-ea"/>
                <a:sym typeface="+mn-lt"/>
              </a:rPr>
              <a:t>ManuallyDrop&lt;String&gt;</a:t>
            </a:r>
            <a:r>
              <a:rPr lang="zh-CN" altLang="en-US" sz="1600">
                <a:cs typeface="+mn-ea"/>
                <a:sym typeface="+mn-lt"/>
              </a:rPr>
              <a:t>。当 </a:t>
            </a:r>
            <a:r>
              <a:rPr lang="en-US" altLang="zh-CN" sz="1600">
                <a:cs typeface="+mn-ea"/>
                <a:sym typeface="+mn-lt"/>
              </a:rPr>
              <a:t>value </a:t>
            </a:r>
            <a:r>
              <a:rPr lang="zh-CN" altLang="en-US" sz="1600" dirty="0">
                <a:cs typeface="+mn-ea"/>
                <a:sym typeface="+mn-lt"/>
              </a:rPr>
              <a:t>离开作用域</a:t>
            </a:r>
            <a:r>
              <a:rPr lang="zh-CN" altLang="en-US" sz="1600">
                <a:cs typeface="+mn-ea"/>
                <a:sym typeface="+mn-lt"/>
              </a:rPr>
              <a:t>时，</a:t>
            </a:r>
            <a:r>
              <a:rPr lang="en-US" altLang="zh-CN" sz="1600">
                <a:cs typeface="+mn-ea"/>
                <a:sym typeface="+mn-lt"/>
              </a:rPr>
              <a:t>String </a:t>
            </a:r>
            <a:r>
              <a:rPr lang="zh-CN" altLang="en-US" sz="1600" dirty="0">
                <a:cs typeface="+mn-ea"/>
                <a:sym typeface="+mn-lt"/>
              </a:rPr>
              <a:t>的析构函数不会被调用，所以不会释放字符串的内存。然后我们</a:t>
            </a:r>
            <a:r>
              <a:rPr lang="zh-CN" altLang="en-US" sz="1600">
                <a:cs typeface="+mn-ea"/>
                <a:sym typeface="+mn-lt"/>
              </a:rPr>
              <a:t>通过 </a:t>
            </a:r>
            <a:r>
              <a:rPr lang="en-US" altLang="zh-CN" sz="1600">
                <a:cs typeface="+mn-ea"/>
                <a:sym typeface="+mn-lt"/>
              </a:rPr>
              <a:t>ManuallyDrop::into_inner </a:t>
            </a:r>
            <a:r>
              <a:rPr lang="zh-CN" altLang="en-US" sz="1600" dirty="0">
                <a:cs typeface="+mn-ea"/>
                <a:sym typeface="+mn-lt"/>
              </a:rPr>
              <a:t>方法</a:t>
            </a:r>
            <a:r>
              <a:rPr lang="zh-CN" altLang="en-US" sz="1600">
                <a:cs typeface="+mn-ea"/>
                <a:sym typeface="+mn-lt"/>
              </a:rPr>
              <a:t>取出 </a:t>
            </a:r>
            <a:r>
              <a:rPr lang="en-US" altLang="zh-CN" sz="1600">
                <a:cs typeface="+mn-ea"/>
                <a:sym typeface="+mn-lt"/>
              </a:rPr>
              <a:t>String</a:t>
            </a:r>
            <a:r>
              <a:rPr lang="zh-CN" altLang="en-US" sz="1600">
                <a:cs typeface="+mn-ea"/>
                <a:sym typeface="+mn-lt"/>
              </a:rPr>
              <a:t>，</a:t>
            </a:r>
            <a:r>
              <a:rPr lang="zh-CN" altLang="en-US" sz="1600" dirty="0">
                <a:cs typeface="+mn-ea"/>
                <a:sym typeface="+mn-lt"/>
              </a:rPr>
              <a:t>这样就可以正常使用这个字符串了。</a:t>
            </a:r>
            <a:br>
              <a:rPr lang="zh-CN" altLang="en-US" sz="1600" dirty="0">
                <a:cs typeface="+mn-ea"/>
                <a:sym typeface="+mn-lt"/>
              </a:rPr>
            </a:br>
            <a:br>
              <a:rPr lang="zh-CN" altLang="en-US" sz="1600" dirty="0">
                <a:cs typeface="+mn-ea"/>
                <a:sym typeface="+mn-lt"/>
              </a:rPr>
            </a:br>
            <a:r>
              <a:rPr lang="zh-CN" altLang="en-US" sz="1600" dirty="0">
                <a:cs typeface="+mn-ea"/>
                <a:sym typeface="+mn-lt"/>
              </a:rPr>
              <a:t>需要注意的是，</a:t>
            </a:r>
            <a:r>
              <a:rPr lang="zh-CN" altLang="en-US" sz="1600">
                <a:cs typeface="+mn-ea"/>
                <a:sym typeface="+mn-lt"/>
              </a:rPr>
              <a:t>使用 </a:t>
            </a:r>
            <a:r>
              <a:rPr lang="en-US" altLang="zh-CN" sz="1600">
                <a:cs typeface="+mn-ea"/>
                <a:sym typeface="+mn-lt"/>
              </a:rPr>
              <a:t>ManuallyDrop </a:t>
            </a:r>
            <a:r>
              <a:rPr lang="zh-CN" altLang="en-US" sz="1600" dirty="0">
                <a:cs typeface="+mn-ea"/>
                <a:sym typeface="+mn-lt"/>
              </a:rPr>
              <a:t>需要谨慎，因为如果忘记手动释放资源，就可能会导致内存泄漏。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550061" y="1763483"/>
            <a:ext cx="8371081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ManuallyDrop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ManuallyDrop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Extract the value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ManuallyDrop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5992" y="46655"/>
            <a:ext cx="10740640" cy="46092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内存管理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-GlobalAlloc trait</a:t>
            </a:r>
          </a:p>
        </p:txBody>
      </p:sp>
      <p:sp>
        <p:nvSpPr>
          <p:cNvPr id="9" name="矩形 8"/>
          <p:cNvSpPr/>
          <p:nvPr/>
        </p:nvSpPr>
        <p:spPr>
          <a:xfrm>
            <a:off x="215992" y="541445"/>
            <a:ext cx="51507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cs typeface="+mn-ea"/>
                <a:sym typeface="+mn-lt"/>
              </a:rPr>
              <a:t>GlobalAlloc trait </a:t>
            </a: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中定义自定义内存分配器。</a:t>
            </a:r>
          </a:p>
        </p:txBody>
      </p:sp>
      <p:sp>
        <p:nvSpPr>
          <p:cNvPr id="10" name="矩形 9"/>
          <p:cNvSpPr/>
          <p:nvPr/>
        </p:nvSpPr>
        <p:spPr>
          <a:xfrm>
            <a:off x="215992" y="913867"/>
            <a:ext cx="5342979" cy="4855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示例中，</a:t>
            </a:r>
            <a:r>
              <a:rPr lang="en-US" altLang="zh-CN" sz="1600" dirty="0">
                <a:cs typeface="+mn-ea"/>
                <a:sym typeface="+mn-lt"/>
              </a:rPr>
              <a:t>MyAllocator </a:t>
            </a:r>
            <a:r>
              <a:rPr lang="zh-CN" altLang="en-US" sz="1600" dirty="0">
                <a:cs typeface="+mn-ea"/>
                <a:sym typeface="+mn-lt"/>
              </a:rPr>
              <a:t>是一个实现了 </a:t>
            </a:r>
            <a:r>
              <a:rPr lang="en-US" altLang="zh-CN" sz="1600" dirty="0">
                <a:cs typeface="+mn-ea"/>
                <a:sym typeface="+mn-lt"/>
              </a:rPr>
              <a:t>GlobalAlloc trait </a:t>
            </a:r>
            <a:r>
              <a:rPr lang="zh-CN" altLang="en-US" sz="1600" dirty="0">
                <a:cs typeface="+mn-ea"/>
                <a:sym typeface="+mn-lt"/>
              </a:rPr>
              <a:t>的结构体。</a:t>
            </a:r>
            <a:r>
              <a:rPr lang="en-US" altLang="zh-CN" sz="1600" dirty="0">
                <a:cs typeface="+mn-ea"/>
                <a:sym typeface="+mn-lt"/>
              </a:rPr>
              <a:t>GlobalAlloc trait </a:t>
            </a:r>
            <a:r>
              <a:rPr lang="zh-CN" altLang="en-US" sz="1600" dirty="0">
                <a:cs typeface="+mn-ea"/>
                <a:sym typeface="+mn-lt"/>
              </a:rPr>
              <a:t>需要实现两个方法：</a:t>
            </a:r>
            <a:r>
              <a:rPr lang="en-US" altLang="zh-CN" sz="1600" dirty="0">
                <a:cs typeface="+mn-ea"/>
                <a:sym typeface="+mn-lt"/>
              </a:rPr>
              <a:t>alloc </a:t>
            </a:r>
            <a:r>
              <a:rPr lang="zh-CN" altLang="en-US" sz="1600" dirty="0">
                <a:cs typeface="+mn-ea"/>
                <a:sym typeface="+mn-lt"/>
              </a:rPr>
              <a:t>和 </a:t>
            </a:r>
            <a:r>
              <a:rPr lang="en-US" altLang="zh-CN" sz="1600" dirty="0">
                <a:cs typeface="+mn-ea"/>
                <a:sym typeface="+mn-lt"/>
              </a:rPr>
              <a:t>dealloc</a:t>
            </a:r>
            <a:r>
              <a:rPr lang="zh-CN" altLang="en-US" sz="1600" dirty="0">
                <a:cs typeface="+mn-ea"/>
                <a:sym typeface="+mn-lt"/>
              </a:rPr>
              <a:t>。这两个方法在每次分配或释放内存时都会被调用。</a:t>
            </a:r>
            <a:br>
              <a:rPr lang="zh-CN" altLang="en-US" sz="1600" dirty="0">
                <a:cs typeface="+mn-ea"/>
                <a:sym typeface="+mn-lt"/>
              </a:rPr>
            </a:br>
            <a:br>
              <a:rPr lang="zh-CN" altLang="en-US" sz="1600" dirty="0">
                <a:cs typeface="+mn-ea"/>
                <a:sym typeface="+mn-lt"/>
              </a:rPr>
            </a:br>
            <a:r>
              <a:rPr lang="en-US" altLang="zh-CN" sz="1600" dirty="0">
                <a:cs typeface="+mn-ea"/>
                <a:sym typeface="+mn-lt"/>
              </a:rPr>
              <a:t>#[global_allocator] </a:t>
            </a:r>
            <a:r>
              <a:rPr lang="zh-CN" altLang="en-US" sz="1600" dirty="0">
                <a:cs typeface="+mn-ea"/>
                <a:sym typeface="+mn-lt"/>
              </a:rPr>
              <a:t>属性用于设置 </a:t>
            </a:r>
            <a:r>
              <a:rPr lang="en-US" altLang="zh-CN" sz="1600" dirty="0">
                <a:cs typeface="+mn-ea"/>
                <a:sym typeface="+mn-lt"/>
              </a:rPr>
              <a:t>MyAllocator </a:t>
            </a:r>
            <a:r>
              <a:rPr lang="zh-CN" altLang="en-US" sz="1600" dirty="0">
                <a:cs typeface="+mn-ea"/>
                <a:sym typeface="+mn-lt"/>
              </a:rPr>
              <a:t>为全局分配器。现在，每当分配或释放内存时，我们的自定义方法都会被调用。</a:t>
            </a:r>
            <a:br>
              <a:rPr lang="zh-CN" altLang="en-US" sz="1600" dirty="0">
                <a:cs typeface="+mn-ea"/>
                <a:sym typeface="+mn-lt"/>
              </a:rPr>
            </a:b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>
                <a:cs typeface="+mn-ea"/>
                <a:sym typeface="+mn-lt"/>
              </a:rPr>
              <a:t>main </a:t>
            </a:r>
            <a:r>
              <a:rPr lang="zh-CN" altLang="en-US" sz="1600" dirty="0">
                <a:cs typeface="+mn-ea"/>
                <a:sym typeface="+mn-lt"/>
              </a:rPr>
              <a:t>函数中，我们使用 </a:t>
            </a:r>
            <a:r>
              <a:rPr lang="en-US" altLang="zh-CN" sz="1600" dirty="0">
                <a:cs typeface="+mn-ea"/>
                <a:sym typeface="+mn-lt"/>
              </a:rPr>
              <a:t>Box::new </a:t>
            </a:r>
            <a:r>
              <a:rPr lang="zh-CN" altLang="en-US" sz="1600" dirty="0">
                <a:cs typeface="+mn-ea"/>
                <a:sym typeface="+mn-lt"/>
              </a:rPr>
              <a:t>在堆上为一个整数分配内存。这会触发对 </a:t>
            </a:r>
            <a:r>
              <a:rPr lang="en-US" altLang="zh-CN" sz="1600" dirty="0">
                <a:cs typeface="+mn-ea"/>
                <a:sym typeface="+mn-lt"/>
              </a:rPr>
              <a:t>MyAllocator::alloc </a:t>
            </a:r>
            <a:r>
              <a:rPr lang="zh-CN" altLang="en-US" sz="1600" dirty="0">
                <a:cs typeface="+mn-ea"/>
                <a:sym typeface="+mn-lt"/>
              </a:rPr>
              <a:t>的调用。</a:t>
            </a:r>
            <a:br>
              <a:rPr lang="zh-CN" altLang="en-US" sz="1600" dirty="0">
                <a:cs typeface="+mn-ea"/>
                <a:sym typeface="+mn-lt"/>
              </a:rPr>
            </a:br>
            <a:br>
              <a:rPr lang="zh-CN" altLang="en-US" sz="1600" dirty="0">
                <a:cs typeface="+mn-ea"/>
                <a:sym typeface="+mn-lt"/>
              </a:rPr>
            </a:br>
            <a:r>
              <a:rPr lang="zh-CN" altLang="en-US" sz="1600" dirty="0">
                <a:cs typeface="+mn-ea"/>
                <a:sym typeface="+mn-lt"/>
              </a:rPr>
              <a:t>请注意，编写自定义分配器是一项高级主题，需要谨慎处理。如果分配器实现不正确，可能会导致内存泄漏、未定义行为和其他严重问题。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215992" y="507576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708128" y="594258"/>
            <a:ext cx="6096000" cy="6217087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 i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i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导入所需的模块和类型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GlobalAlloc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System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定义我们的自定义分配器结构体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MyAllocator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为我们的分配器实观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GlobalAlloc trait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GlobalAlloc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MyAllocator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当需要分配内存时，会调用此方法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*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使用系统分配器分配内存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System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打印日志信息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分配了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{:?} 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字节，地址为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{:?}."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返回分配的内存地址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当需要释放内存时，会调用此方法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dealloc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*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打印日志信息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释放了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{:?} 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字节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, 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地址为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{:?}."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使用系统分配器释放内存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System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dealloc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layout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#[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global_allocator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]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属性设置我们的分配器为全局分配器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global_allocator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GLOBAL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MyAllocator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MyAllocator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主函数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在堆上分配一个整数的内存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这会触发我们的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alloc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方法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_s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123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76330" y="724044"/>
            <a:ext cx="2830286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CString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6330" y="4687199"/>
            <a:ext cx="2830286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CStr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6330" y="1172390"/>
            <a:ext cx="109297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Rust 使用CString来表示用以传给 C 程序的字符串。</a:t>
            </a:r>
            <a:r>
              <a:rPr lang="zh-CN" altLang="en-US" sz="1600">
                <a:cs typeface="+mn-ea"/>
                <a:sym typeface="+mn-lt"/>
              </a:rPr>
              <a:t>CString以空字符\</a:t>
            </a:r>
            <a:r>
              <a:rPr lang="en-US" altLang="zh-CN" sz="1600">
                <a:cs typeface="+mn-ea"/>
                <a:sym typeface="+mn-lt"/>
              </a:rPr>
              <a:t>0</a:t>
            </a:r>
            <a:r>
              <a:rPr lang="zh-CN" altLang="en-US" sz="1600">
                <a:cs typeface="+mn-ea"/>
                <a:sym typeface="+mn-lt"/>
              </a:rPr>
              <a:t>结尾，并且内部没有\</a:t>
            </a:r>
            <a:r>
              <a:rPr lang="en-US" altLang="zh-CN" sz="1600">
                <a:cs typeface="+mn-ea"/>
                <a:sym typeface="+mn-lt"/>
              </a:rPr>
              <a:t>0</a:t>
            </a:r>
            <a:r>
              <a:rPr lang="zh-CN" altLang="en-US" sz="1600">
                <a:cs typeface="+mn-ea"/>
                <a:sym typeface="+mn-lt"/>
              </a:rPr>
              <a:t>字符</a:t>
            </a:r>
            <a:r>
              <a:rPr lang="zh-CN" altLang="en-US" sz="1600" dirty="0">
                <a:cs typeface="+mn-ea"/>
                <a:sym typeface="+mn-lt"/>
              </a:rPr>
              <a:t>，代码可以首先从 Rust 语言的普通字符串创建CString类型，然后将其作为参数传递给使用 C-ABI 约定的字符串函数。实现从 Rust 语言到 C 语言的字符串传递。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08686" y="2372760"/>
            <a:ext cx="8665021" cy="20928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CString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c_to_print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 World!"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c_str_to_print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6330" y="5163646"/>
            <a:ext cx="10740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 C 语言中生成的字符串，Rust 使用CStr来表示，它和str类型对应，表明并不拥有这个字符串的所有权。所以CStr表示一</a:t>
            </a:r>
            <a:r>
              <a:rPr lang="zh-CN" altLang="en-US" sz="1600">
                <a:cs typeface="+mn-ea"/>
                <a:sym typeface="+mn-lt"/>
              </a:rPr>
              <a:t>个以空字符结尾</a:t>
            </a:r>
            <a:r>
              <a:rPr lang="zh-CN" altLang="en-US" sz="1600" dirty="0">
                <a:cs typeface="+mn-ea"/>
                <a:sym typeface="+mn-lt"/>
              </a:rPr>
              <a:t>的字节数组的引用，如果它是有效的 UTF-8 字符串，则可以将其转换为 Rust 语言中的＆str。实现从 C 语言到 Rust 语言的字符串传递。</a:t>
            </a:r>
          </a:p>
        </p:txBody>
      </p:sp>
      <p:sp>
        <p:nvSpPr>
          <p:cNvPr id="10" name="副标题 1"/>
          <p:cNvSpPr txBox="1"/>
          <p:nvPr/>
        </p:nvSpPr>
        <p:spPr>
          <a:xfrm>
            <a:off x="206660" y="50855"/>
            <a:ext cx="11340282" cy="108747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-CString/CStr: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06660" y="5540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1"/>
          <p:cNvSpPr txBox="1"/>
          <p:nvPr/>
        </p:nvSpPr>
        <p:spPr>
          <a:xfrm>
            <a:off x="211014" y="50860"/>
            <a:ext cx="11340282" cy="108747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-CString/CStr: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转换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6330" y="806727"/>
            <a:ext cx="7656317" cy="35394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valid_utf8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b'f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b'o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b'o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valid_utf8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expect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::new failed"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into_string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expect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into_string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() call failed"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invalid_utf8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b'f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0xff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b'o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b'o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invalid_utf8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expect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::new failed"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cstring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into_string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expect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into_string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().err() failed"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utf8_error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valid_up_to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64286" y="1889079"/>
            <a:ext cx="2852684" cy="13402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>
                <a:cs typeface="+mn-ea"/>
                <a:sym typeface="+mn-lt"/>
              </a:rPr>
              <a:t>如果包含的有效的</a:t>
            </a:r>
            <a:r>
              <a:rPr lang="en-US" altLang="zh-CN" sz="1600">
                <a:cs typeface="+mn-ea"/>
                <a:sym typeface="+mn-lt"/>
              </a:rPr>
              <a:t>UTF-8</a:t>
            </a:r>
            <a:r>
              <a:rPr lang="zh-CN" altLang="en-US" sz="1600">
                <a:cs typeface="+mn-ea"/>
                <a:sym typeface="+mn-lt"/>
              </a:rPr>
              <a:t>数据可以通过内置函数转换为</a:t>
            </a:r>
            <a:r>
              <a:rPr lang="en-US" altLang="zh-CN" sz="1600">
                <a:cs typeface="+mn-ea"/>
                <a:sym typeface="+mn-lt"/>
              </a:rPr>
              <a:t>String&amp;Str</a:t>
            </a:r>
            <a:r>
              <a:rPr lang="zh-CN" altLang="en-US" sz="1600">
                <a:cs typeface="+mn-ea"/>
                <a:sym typeface="+mn-lt"/>
              </a:rPr>
              <a:t>类型。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6330" y="4882863"/>
            <a:ext cx="9642111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CStr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CStr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from_bytes_with_nul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b"foo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\0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expect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CStr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from_bytes_with_nul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 failed"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cstr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to_str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06660" y="5540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6660" y="692238"/>
            <a:ext cx="3394956" cy="482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en-US" altLang="zh-CN" dirty="0">
                <a:solidFill>
                  <a:srgbClr val="C00000"/>
                </a:solidFill>
                <a:cs typeface="+mn-ea"/>
                <a:sym typeface="+mn-lt"/>
              </a:rPr>
              <a:t>OsString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6660" y="4004118"/>
            <a:ext cx="4602407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cs typeface="+mn-ea"/>
                <a:sym typeface="+mn-lt"/>
              </a:rPr>
              <a:t>创建</a:t>
            </a:r>
            <a:r>
              <a:rPr lang="en-US" altLang="zh-CN" sz="1400" dirty="0">
                <a:solidFill>
                  <a:srgbClr val="00B050"/>
                </a:solidFill>
                <a:cs typeface="+mn-ea"/>
                <a:sym typeface="+mn-lt"/>
              </a:rPr>
              <a:t>OsString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OsString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   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os_string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OsString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endParaRPr lang="en-US" altLang="zh-CN" sz="1400" dirty="0">
              <a:solidFill>
                <a:schemeClr val="tx2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2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cs typeface="+mn-ea"/>
                <a:sym typeface="+mn-lt"/>
              </a:rPr>
              <a:t>创建</a:t>
            </a:r>
            <a:r>
              <a:rPr lang="en-US" altLang="zh-CN" sz="1400" dirty="0">
                <a:solidFill>
                  <a:srgbClr val="00B050"/>
                </a:solidFill>
                <a:cs typeface="+mn-ea"/>
                <a:sym typeface="+mn-lt"/>
              </a:rPr>
              <a:t>OsStr</a:t>
            </a:r>
          </a:p>
          <a:p>
            <a:r>
              <a:rPr lang="nn-NO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nn-NO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nn-NO" altLang="zh-CN" sz="1400" dirty="0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nn-NO" altLang="zh-CN" sz="1400" dirty="0">
                <a:solidFill>
                  <a:srgbClr val="E5C07B"/>
                </a:solidFill>
                <a:cs typeface="+mn-ea"/>
                <a:sym typeface="+mn-lt"/>
              </a:rPr>
              <a:t>OsStr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</a:p>
          <a:p>
            <a:r>
              <a:rPr lang="nn-NO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nn-NO" altLang="zh-CN" sz="1400" dirty="0">
                <a:solidFill>
                  <a:srgbClr val="E06C75"/>
                </a:solidFill>
                <a:cs typeface="+mn-ea"/>
                <a:sym typeface="+mn-lt"/>
              </a:rPr>
              <a:t>os_str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nn-NO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nn-NO" altLang="zh-CN" sz="1400" dirty="0">
                <a:solidFill>
                  <a:srgbClr val="E5C07B"/>
                </a:solidFill>
                <a:cs typeface="+mn-ea"/>
                <a:sym typeface="+mn-lt"/>
              </a:rPr>
              <a:t>OsStr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nn-NO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nn-NO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nn-NO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nn-NO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659" y="1181083"/>
            <a:ext cx="11570473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一个可以表示拥有的、可变的平台原生字符串的类型，可以与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字符串相互转换；之所以需要这种类型，这是因为</a:t>
            </a:r>
            <a:r>
              <a:rPr lang="en-US" altLang="zh-CN" sz="1600" dirty="0">
                <a:cs typeface="+mn-ea"/>
                <a:sym typeface="+mn-lt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在</a:t>
            </a:r>
            <a:r>
              <a:rPr lang="en-US" altLang="zh-CN" sz="1600" dirty="0">
                <a:cs typeface="+mn-ea"/>
                <a:sym typeface="+mn-lt"/>
              </a:rPr>
              <a:t>Unix</a:t>
            </a:r>
            <a:r>
              <a:rPr lang="zh-CN" altLang="en-US" sz="1600" dirty="0">
                <a:cs typeface="+mn-ea"/>
                <a:sym typeface="+mn-lt"/>
              </a:rPr>
              <a:t>系统中，字符串通常是由非零字节组成的任意序列，在许多情况下被解释为</a:t>
            </a:r>
            <a:r>
              <a:rPr lang="en-US" altLang="zh-CN" sz="1600" dirty="0">
                <a:cs typeface="+mn-ea"/>
                <a:sym typeface="+mn-lt"/>
              </a:rPr>
              <a:t>UTF-8</a:t>
            </a:r>
            <a:r>
              <a:rPr lang="zh-CN" altLang="en-US" sz="1600" dirty="0">
                <a:cs typeface="+mn-ea"/>
                <a:sym typeface="+mn-lt"/>
              </a:rPr>
              <a:t>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在</a:t>
            </a:r>
            <a:r>
              <a:rPr lang="en-US" altLang="zh-CN" sz="1600" dirty="0">
                <a:cs typeface="+mn-ea"/>
                <a:sym typeface="+mn-lt"/>
              </a:rPr>
              <a:t>Windows</a:t>
            </a:r>
            <a:r>
              <a:rPr lang="zh-CN" altLang="en-US" sz="1600" dirty="0">
                <a:cs typeface="+mn-ea"/>
                <a:sym typeface="+mn-lt"/>
              </a:rPr>
              <a:t>上，字符串通常是非零的</a:t>
            </a:r>
            <a:r>
              <a:rPr lang="en-US" altLang="zh-CN" sz="1600" dirty="0">
                <a:cs typeface="+mn-ea"/>
                <a:sym typeface="+mn-lt"/>
              </a:rPr>
              <a:t>16</a:t>
            </a:r>
            <a:r>
              <a:rPr lang="zh-CN" altLang="en-US" sz="1600" dirty="0">
                <a:cs typeface="+mn-ea"/>
                <a:sym typeface="+mn-lt"/>
              </a:rPr>
              <a:t>位值的任意序列，在有效的情况下被解释为</a:t>
            </a:r>
            <a:r>
              <a:rPr lang="en-US" altLang="zh-CN" sz="1600" dirty="0">
                <a:cs typeface="+mn-ea"/>
                <a:sym typeface="+mn-lt"/>
              </a:rPr>
              <a:t>UTF-16</a:t>
            </a:r>
            <a:r>
              <a:rPr lang="zh-CN" altLang="en-US" sz="1600" dirty="0">
                <a:cs typeface="+mn-ea"/>
                <a:sym typeface="+mn-lt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在</a:t>
            </a:r>
            <a:r>
              <a:rPr lang="en-US" altLang="zh-CN" sz="1600" dirty="0">
                <a:cs typeface="+mn-ea"/>
                <a:sym typeface="+mn-lt"/>
              </a:rPr>
              <a:t>Rust</a:t>
            </a:r>
            <a:r>
              <a:rPr lang="zh-CN" altLang="en-US" sz="1600" dirty="0">
                <a:cs typeface="+mn-ea"/>
                <a:sym typeface="+mn-lt"/>
              </a:rPr>
              <a:t>中，字符串总是有效的</a:t>
            </a:r>
            <a:r>
              <a:rPr lang="en-US" altLang="zh-CN" sz="1600" dirty="0">
                <a:cs typeface="+mn-ea"/>
                <a:sym typeface="+mn-lt"/>
              </a:rPr>
              <a:t>UTF-8</a:t>
            </a:r>
            <a:r>
              <a:rPr lang="zh-CN" altLang="en-US" sz="1600" dirty="0">
                <a:cs typeface="+mn-ea"/>
                <a:sym typeface="+mn-lt"/>
              </a:rPr>
              <a:t>，其中可能包含</a:t>
            </a:r>
            <a:r>
              <a:rPr lang="en-US" altLang="zh-CN" sz="1600" dirty="0">
                <a:cs typeface="+mn-ea"/>
                <a:sym typeface="+mn-lt"/>
              </a:rPr>
              <a:t>0</a:t>
            </a:r>
            <a:r>
              <a:rPr lang="zh-CN" altLang="en-US" sz="1600" dirty="0">
                <a:cs typeface="+mn-ea"/>
                <a:sym typeface="+mn-lt"/>
              </a:rPr>
              <a:t>；</a:t>
            </a:r>
            <a:endParaRPr lang="zh-CN" altLang="en-US" sz="1600" b="0" i="0" dirty="0"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60" y="3049457"/>
            <a:ext cx="2830286" cy="489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en-US" altLang="zh-CN" sz="2000" dirty="0">
                <a:solidFill>
                  <a:srgbClr val="C00000"/>
                </a:solidFill>
                <a:cs typeface="+mn-ea"/>
                <a:sym typeface="+mn-lt"/>
              </a:rPr>
              <a:t>Os</a:t>
            </a:r>
            <a:r>
              <a:rPr lang="en-US" altLang="zh-CN" dirty="0">
                <a:solidFill>
                  <a:srgbClr val="C00000"/>
                </a:solidFill>
                <a:cs typeface="+mn-ea"/>
                <a:sym typeface="+mn-lt"/>
              </a:rPr>
              <a:t>Str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6661" y="3524608"/>
            <a:ext cx="10020690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这种类型代表了对操作系统首选表示法中的字符串的</a:t>
            </a:r>
            <a:r>
              <a:rPr lang="zh-CN" altLang="en-US" sz="1600">
                <a:cs typeface="+mn-ea"/>
                <a:sym typeface="+mn-lt"/>
              </a:rPr>
              <a:t>借用引用；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副标题 1"/>
          <p:cNvSpPr txBox="1"/>
          <p:nvPr/>
        </p:nvSpPr>
        <p:spPr>
          <a:xfrm>
            <a:off x="206660" y="54765"/>
            <a:ext cx="11340282" cy="108747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-OsString/OsStr: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06660" y="5540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"/>
          <p:cNvSpPr txBox="1"/>
          <p:nvPr/>
        </p:nvSpPr>
        <p:spPr>
          <a:xfrm>
            <a:off x="206660" y="60193"/>
            <a:ext cx="11340282" cy="108747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-OsSstring/OsStr: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转换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6660" y="1210577"/>
            <a:ext cx="5559659" cy="1384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OsStr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os_str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OsStr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os_str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to_str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6660" y="3977069"/>
            <a:ext cx="5559659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OsStr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OsString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E06C75"/>
                </a:solidFill>
                <a:cs typeface="+mn-ea"/>
                <a:sym typeface="+mn-lt"/>
              </a:rPr>
              <a:t>os_str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OsStr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a-DK" altLang="zh-CN" sz="140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E06C75"/>
                </a:solidFill>
                <a:cs typeface="+mn-ea"/>
                <a:sym typeface="+mn-lt"/>
              </a:rPr>
              <a:t>os_string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E06C75"/>
                </a:solidFill>
                <a:cs typeface="+mn-ea"/>
                <a:sym typeface="+mn-lt"/>
              </a:rPr>
              <a:t>os_str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to_os_string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a-DK" altLang="zh-CN" sz="1400">
                <a:solidFill>
                  <a:srgbClr val="E06C75"/>
                </a:solidFill>
                <a:cs typeface="+mn-ea"/>
                <a:sym typeface="+mn-lt"/>
              </a:rPr>
              <a:t>os_string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OsString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a-DK" altLang="zh-CN" sz="140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095641" y="1192337"/>
            <a:ext cx="4851659" cy="20928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// </a:t>
            </a:r>
            <a:r>
              <a:rPr lang="en-US" altLang="zh-CN" sz="1400" dirty="0" err="1">
                <a:solidFill>
                  <a:srgbClr val="00B050"/>
                </a:solidFill>
                <a:cs typeface="+mn-ea"/>
                <a:sym typeface="+mn-lt"/>
              </a:rPr>
              <a:t>OsString</a:t>
            </a:r>
            <a:r>
              <a:rPr lang="en-US" altLang="zh-CN" sz="1400" dirty="0">
                <a:solidFill>
                  <a:srgbClr val="00B050"/>
                </a:solidFill>
                <a:cs typeface="+mn-ea"/>
                <a:sym typeface="+mn-lt"/>
              </a:rPr>
              <a:t> convert String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#![allow(unused)]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ffi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OsString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os_string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OsString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os_string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into_string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"foo"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06660" y="5540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6660" y="771750"/>
            <a:ext cx="4290695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OsStr</a:t>
            </a:r>
            <a:r>
              <a:rPr lang="zh-CN" altLang="en-US" sz="1600">
                <a:cs typeface="+mn-ea"/>
                <a:sym typeface="+mn-lt"/>
              </a:rPr>
              <a:t>类型转换为</a:t>
            </a:r>
            <a:r>
              <a:rPr lang="en-US" altLang="zh-CN" sz="1600">
                <a:cs typeface="+mn-ea"/>
                <a:sym typeface="+mn-lt"/>
              </a:rPr>
              <a:t>str</a:t>
            </a:r>
            <a:r>
              <a:rPr lang="zh-CN" altLang="en-US" sz="1600">
                <a:cs typeface="+mn-ea"/>
                <a:sym typeface="+mn-lt"/>
              </a:rPr>
              <a:t>类型：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59" y="3515404"/>
            <a:ext cx="5559660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OsStr</a:t>
            </a:r>
            <a:r>
              <a:rPr lang="zh-CN" altLang="en-US" sz="1600">
                <a:cs typeface="+mn-ea"/>
                <a:sym typeface="+mn-lt"/>
              </a:rPr>
              <a:t>类型转换为类型</a:t>
            </a:r>
            <a:r>
              <a:rPr lang="en-US" altLang="zh-CN" sz="1600">
                <a:cs typeface="+mn-ea"/>
                <a:sym typeface="+mn-lt"/>
              </a:rPr>
              <a:t>OsString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5641" y="730672"/>
            <a:ext cx="4851659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OsString</a:t>
            </a:r>
            <a:r>
              <a:rPr lang="zh-CN" altLang="en-US" sz="1600">
                <a:cs typeface="+mn-ea"/>
                <a:sym typeface="+mn-lt"/>
              </a:rPr>
              <a:t>类型转换为</a:t>
            </a:r>
            <a:r>
              <a:rPr lang="en-US" altLang="zh-CN" sz="1600">
                <a:cs typeface="+mn-ea"/>
                <a:sym typeface="+mn-lt"/>
              </a:rPr>
              <a:t>String</a:t>
            </a:r>
            <a:r>
              <a:rPr lang="zh-CN" altLang="en-US" sz="1600">
                <a:cs typeface="+mn-ea"/>
                <a:sym typeface="+mn-lt"/>
              </a:rPr>
              <a:t>类型：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"/>
          <p:cNvSpPr txBox="1"/>
          <p:nvPr/>
        </p:nvSpPr>
        <p:spPr>
          <a:xfrm>
            <a:off x="206660" y="88183"/>
            <a:ext cx="11340282" cy="108747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ffi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其他数据类型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611441"/>
              </p:ext>
            </p:extLst>
          </p:nvPr>
        </p:nvGraphicFramePr>
        <p:xfrm>
          <a:off x="892991" y="1380931"/>
          <a:ext cx="9650601" cy="2763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2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9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Rust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描述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std::ffi::c_void</a:t>
                      </a:r>
                      <a:endParaRPr lang="zh-CN" altLang="en-US" sz="18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当作为指针类型等同于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中的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void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类型。本质上，*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const c_void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等价于 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C's const void* 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且*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mut c_void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等价于 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C's void*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。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std::ffi::c_int</a:t>
                      </a:r>
                      <a:endParaRPr lang="zh-CN" altLang="en-US" sz="18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相当于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signed int( int)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std::ffi::c_char</a:t>
                      </a:r>
                      <a:endParaRPr lang="zh-CN" altLang="en-US" sz="18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等同于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char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类型；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 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char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类型与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Rust 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char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类型完全不同；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Rust 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的类型代表一个 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unicode 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标量值，而 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 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char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类型只是一个普通的整数。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std::ffi::c_uint</a:t>
                      </a:r>
                      <a:endParaRPr lang="zh-CN" altLang="en-US" sz="18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相当于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unsigned int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std::ffi::c_long</a:t>
                      </a:r>
                      <a:endParaRPr lang="zh-CN" altLang="en-US" sz="18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相当于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signed long( long)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类型。这种类型始终是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i32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或者</a:t>
                      </a:r>
                      <a:r>
                        <a:rPr lang="en-US" altLang="zh-CN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i64</a:t>
                      </a:r>
                      <a:r>
                        <a:rPr lang="zh-CN" altLang="en-US" sz="1800">
                          <a:latin typeface="+mn-lt"/>
                          <a:ea typeface="+mn-ea"/>
                          <a:cs typeface="+mn-ea"/>
                          <a:sym typeface="+mn-lt"/>
                        </a:rPr>
                        <a:t>。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892991" y="4783885"/>
            <a:ext cx="6476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cs typeface="+mn-ea"/>
                <a:sym typeface="+mn-lt"/>
              </a:rPr>
              <a:t>更多类型请参考：https://doc.rust-lang.org/std/ffi/index.html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06660" y="5540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FFI</a:t>
            </a:r>
            <a:r>
              <a:rPr lang="zh-CN" altLang="en-US" sz="1800">
                <a:cs typeface="+mn-ea"/>
                <a:sym typeface="+mn-lt"/>
              </a:rPr>
              <a:t>概念和使用以及常见类型安全问题；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掌握内存管理相关方法；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 </a:t>
            </a:r>
            <a:r>
              <a:rPr lang="zh-CN" altLang="en-US" sz="1800">
                <a:cs typeface="+mn-ea"/>
                <a:sym typeface="+mn-lt"/>
              </a:rPr>
              <a:t>标准库中</a:t>
            </a:r>
            <a:r>
              <a:rPr lang="en-US" altLang="zh-CN" sz="1800">
                <a:cs typeface="+mn-ea"/>
                <a:sym typeface="+mn-lt"/>
              </a:rPr>
              <a:t>FFI</a:t>
            </a:r>
            <a:r>
              <a:rPr lang="zh-CN" altLang="en-US" sz="1800">
                <a:cs typeface="+mn-ea"/>
                <a:sym typeface="+mn-lt"/>
              </a:rPr>
              <a:t>模块几种常用数据类型的概念和用法、以及相互转换；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了解、熟悉标准库中</a:t>
            </a:r>
            <a:r>
              <a:rPr lang="en-US" altLang="zh-CN" sz="1800">
                <a:cs typeface="+mn-ea"/>
                <a:sym typeface="+mn-lt"/>
              </a:rPr>
              <a:t>FFI</a:t>
            </a:r>
            <a:r>
              <a:rPr lang="zh-CN" altLang="en-US" sz="1800">
                <a:cs typeface="+mn-ea"/>
                <a:sym typeface="+mn-lt"/>
              </a:rPr>
              <a:t>模块的几种常用的几种数据类型；</a:t>
            </a:r>
            <a:endParaRPr lang="en-US" altLang="zh-CN" sz="180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460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duxaph0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duxaph0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kduxaph0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duxaph0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duxaph0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6657</Words>
  <Application>Microsoft Office PowerPoint</Application>
  <PresentationFormat>自定义</PresentationFormat>
  <Paragraphs>579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FFI 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FFI 模块（仅限专业级）</dc:title>
  <dc:creator>fanyan (A)</dc:creator>
  <cp:lastModifiedBy>Zhangyandong (ben)</cp:lastModifiedBy>
  <cp:revision>15</cp:revision>
  <dcterms:created xsi:type="dcterms:W3CDTF">2023-10-18T07:25:29Z</dcterms:created>
  <dcterms:modified xsi:type="dcterms:W3CDTF">2024-11-20T02:35:03Z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(3)J5HwqL7EP8VJYjfj/lLPkI/EUGMlCojWnI2Tqtfog0LQgRmpwccXczvD5wPIC2wDJpLzvZER
Q3sCDCYQklhtxlhnC1wPpslc4q6S4h3pgGQLtAYDXjFm/ubytcScBM+6ZINSnhIJGU9BtKCq
fw05Cipb9Rh9i1ahhmSSJ3JXm6fcExzDFraIfAXjYcZVB8zwWdtHU71Gg8GW82XaOBDgMpPz
3g9k9a7YW6ngGG/p0O</vt:lpwstr>
  </property>
  <property fmtid="{D5CDD505-2E9C-101B-9397-08002B2CF9AE}" pid="3" name="_2015_ms_pID_7253431">
    <vt:lpwstr>EhQBwoSPQn7fgxuG0CRsg0nEB+630bfY6/kNojnY+BNz8WkuEuobOH
JLNo6CH7RFILyTaoYv2df5TENVOZn6/yUM7NYV11+m5PDEILBUxAjgjyvPdh12+IOTSjlKYj
gHjF3eaD04/g/MuWC1T3T69T1p9gBMGbya+JzUGMRXHFWQVNLtq+07YuzRjNuEoEnD9/x+4c
QSENsHPO74BPXr3dTahmRzkZGiB4cHRMxMEV</vt:lpwstr>
  </property>
  <property fmtid="{D5CDD505-2E9C-101B-9397-08002B2CF9AE}" pid="4" name="_2015_ms_pID_7253432">
    <vt:lpwstr>ZA==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