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  <p:sldMasterId id="2147483659" r:id="rId3"/>
    <p:sldMasterId id="2147483660" r:id="rId4"/>
    <p:sldMasterId id="2147483662" r:id="rId5"/>
  </p:sldMasterIdLst>
  <p:notesMasterIdLst>
    <p:notesMasterId r:id="rId16"/>
  </p:notesMasterIdLst>
  <p:handoutMasterIdLst>
    <p:handoutMasterId r:id="rId17"/>
  </p:handoutMasterIdLst>
  <p:sldIdLst>
    <p:sldId id="424" r:id="rId6"/>
    <p:sldId id="423" r:id="rId7"/>
    <p:sldId id="429" r:id="rId8"/>
    <p:sldId id="443" r:id="rId9"/>
    <p:sldId id="436" r:id="rId10"/>
    <p:sldId id="445" r:id="rId11"/>
    <p:sldId id="444" r:id="rId12"/>
    <p:sldId id="440" r:id="rId13"/>
    <p:sldId id="442" r:id="rId14"/>
    <p:sldId id="280" r:id="rId15"/>
  </p:sldIdLst>
  <p:sldSz cx="121967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424"/>
          </p14:sldIdLst>
        </p14:section>
        <p14:section name="目录页" id="{9D221634-295C-7843-AF5C-A0CB4F229241}">
          <p14:sldIdLst>
            <p14:sldId id="423"/>
          </p14:sldIdLst>
        </p14:section>
        <p14:section name="章节页" id="{FD05EE94-C931-8C4B-83A2-004B32AA1207}">
          <p14:sldIdLst>
            <p14:sldId id="429"/>
            <p14:sldId id="443"/>
            <p14:sldId id="436"/>
            <p14:sldId id="445"/>
            <p14:sldId id="444"/>
            <p14:sldId id="440"/>
            <p14:sldId id="442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pos="3701">
          <p15:clr>
            <a:srgbClr val="A4A3A4"/>
          </p15:clr>
        </p15:guide>
        <p15:guide id="2" orient="horz" pos="2159">
          <p15:clr>
            <a:srgbClr val="A4A3A4"/>
          </p15:clr>
        </p15:guide>
        <p15:guide id="3" pos="35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002" name="zhanghandong WX930509_Jj22FnMn" initials="authorId_AK20210901:AK20210901JXNSXO4676065" lastIdx="1153429424" clrIdx="0"/>
  <p:cmAuthor id="1" name="liziqiang (A)" initials="l(" lastIdx="28" clrIdx="0"/>
  <p:cmAuthor id="2000" name="gaoshang 00419539_MRJvMvEj" initials="authorId_AK20210901:AK20210901JXNSXO980865" lastIdx="1689190230" clrIdx="0"/>
  <p:cmAuthor id="2001" name="liziqiang 00556901_ERbuA7r6" initials="authorId_AK20210901:AK20210901JXNSXO4497046" lastIdx="168901882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57B84"/>
    <a:srgbClr val="E6A8AD"/>
    <a:srgbClr val="E57984"/>
    <a:srgbClr val="FFFFFF"/>
    <a:srgbClr val="151515"/>
    <a:srgbClr val="C7000B"/>
    <a:srgbClr val="575756"/>
    <a:srgbClr val="DD4654"/>
    <a:srgbClr val="F3D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17" autoAdjust="0"/>
    <p:restoredTop sz="92618" autoAdjust="0"/>
  </p:normalViewPr>
  <p:slideViewPr>
    <p:cSldViewPr snapToGrid="0" snapToObjects="1">
      <p:cViewPr varScale="1">
        <p:scale>
          <a:sx n="66" d="100"/>
          <a:sy n="66" d="100"/>
        </p:scale>
        <p:origin x="32" y="240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方正兰亭黑简体" panose="02000000000000000000" pitchFamily="2" charset="-122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方正兰亭黑简体" panose="02000000000000000000" pitchFamily="2" charset="-122"/>
              </a:rPr>
              <a:t>11/20/2024</a:t>
            </a:fld>
            <a:endParaRPr lang="en-US" dirty="0">
              <a:latin typeface="方正兰亭黑简体" panose="02000000000000000000" pitchFamily="2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方正兰亭黑简体" panose="02000000000000000000" pitchFamily="2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方正兰亭黑简体" panose="02000000000000000000" pitchFamily="2" charset="-122"/>
              </a:rPr>
              <a:t>‹#›</a:t>
            </a:fld>
            <a:endParaRPr lang="en-US" dirty="0">
              <a:latin typeface="方正兰亭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方正兰亭黑简体" panose="02000000000000000000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方正兰亭黑简体" panose="02000000000000000000" pitchFamily="2" charset="-122"/>
              </a:defRPr>
            </a:lvl1pPr>
          </a:lstStyle>
          <a:p>
            <a:fld id="{0DD60A27-BF12-6744-9E93-932A0E34D8BB}" type="datetimeFigureOut">
              <a:rPr lang="en-US" smtClean="0"/>
              <a:pPr/>
              <a:t>11/20/2024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方正兰亭黑简体" panose="02000000000000000000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方正兰亭黑简体" panose="02000000000000000000" pitchFamily="2" charset="-122"/>
              </a:defRPr>
            </a:lvl1pPr>
          </a:lstStyle>
          <a:p>
            <a:fld id="{F07326F3-4732-B74B-9C70-D0992466E49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方正兰亭黑简体" panose="02000000000000000000" pitchFamily="2" charset="-122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方正兰亭黑简体" panose="02000000000000000000" pitchFamily="2" charset="-122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方正兰亭黑简体" panose="02000000000000000000" pitchFamily="2" charset="-122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方正兰亭黑简体" panose="02000000000000000000" pitchFamily="2" charset="-122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方正兰亭黑简体" panose="02000000000000000000" pitchFamily="2" charset="-122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ea typeface="方正兰亭黑简体" panose="02000000000000000000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ea typeface="方正兰亭黑简体" panose="02000000000000000000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ea typeface="方正兰亭黑简体" panose="02000000000000000000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ea typeface="方正兰亭黑简体" panose="02000000000000000000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b="0" i="0" kern="1200" dirty="0">
              <a:solidFill>
                <a:schemeClr val="tx1"/>
              </a:solidFill>
              <a:effectLst/>
              <a:ea typeface="方正兰亭黑简体" panose="02000000000000000000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b="0" i="0" kern="1200" dirty="0">
              <a:solidFill>
                <a:schemeClr val="tx1"/>
              </a:solidFill>
              <a:effectLst/>
              <a:ea typeface="方正兰亭黑简体" panose="02000000000000000000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ea typeface="方正兰亭黑简体" panose="02000000000000000000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b="0" i="0" kern="1200" dirty="0">
              <a:solidFill>
                <a:schemeClr val="tx1"/>
              </a:solidFill>
              <a:effectLst/>
              <a:ea typeface="方正兰亭黑简体" panose="02000000000000000000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54" y="-57144"/>
            <a:ext cx="12243078" cy="5625189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0363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方正兰亭黑简体" panose="02000000000000000000" pitchFamily="2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方正兰亭黑简体" panose="02000000000000000000" pitchFamily="2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方正兰亭黑简体" panose="02000000000000000000" pitchFamily="2" charset="-122"/>
                    <a:ea typeface="方正兰亭黑简体" panose="02000000000000000000" pitchFamily="2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234/90/79</a:t>
                </a: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120/0/15</a:t>
                </a: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方正兰亭黑简体" panose="02000000000000000000" pitchFamily="2" charset="-122"/>
                    <a:ea typeface="方正兰亭黑简体" panose="02000000000000000000" pitchFamily="2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248/181/60</a:t>
                </a: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235/92/1</a:t>
                </a: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137/137/137</a:t>
                </a: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35/24/21</a:t>
                </a: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221/221/221</a:t>
                </a: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233/140/128</a:t>
                </a: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159/0/1</a:t>
                </a: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245/220/87</a:t>
                </a: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240/133/0</a:t>
                </a: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181/181/181</a:t>
                </a: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89/87/87</a:t>
                </a: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255/255/255</a:t>
                </a: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  <a:ea typeface="方正兰亭黑简体" panose="02000000000000000000" pitchFamily="2" charset="-122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  <a:ea typeface="方正兰亭黑简体" panose="02000000000000000000" pitchFamily="2" charset="-122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  <a:ea typeface="方正兰亭黑简体" panose="02000000000000000000" pitchFamily="2" charset="-122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  <a:ea typeface="方正兰亭黑简体" panose="02000000000000000000" pitchFamily="2" charset="-122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Microsoft YaHei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Microsoft YaHei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Microsoft YaHei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ea typeface="方正兰亭黑简体" panose="02000000000000000000" pitchFamily="2" charset="-122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方正兰亭黑简体" panose="02000000000000000000" pitchFamily="2" charset="-122"/>
              <a:cs typeface="Microsoft YaHei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8" y="5237637"/>
            <a:ext cx="1869596" cy="4088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方正兰亭黑简体" panose="02000000000000000000" pitchFamily="2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948808" y="1066890"/>
            <a:ext cx="6559809" cy="690255"/>
          </a:xfrm>
        </p:spPr>
        <p:txBody>
          <a:bodyPr>
            <a:noAutofit/>
          </a:bodyPr>
          <a:lstStyle/>
          <a:p>
            <a:r>
              <a:rPr lang="en-US" altLang="zh-CN" b="1" dirty="0" err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Vec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和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String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Text Placeholder 3"/>
          <p:cNvSpPr txBox="1"/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en-US" altLang="zh-CN" sz="1000">
                <a:cs typeface="+mn-ea"/>
                <a:sym typeface="+mn-lt"/>
              </a:rPr>
              <a:t>Security Level:</a:t>
            </a:r>
            <a:endParaRPr lang="en-US" sz="100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01663" y="5858894"/>
            <a:ext cx="2794958" cy="888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关于本章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377391"/>
            <a:ext cx="10733557" cy="141806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章节目标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通过本章节的学习，掌握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Rust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Vec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和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String 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数据类型的概念和基本使用。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29175" y="1811383"/>
            <a:ext cx="9065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9175" y="3243628"/>
            <a:ext cx="207366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19122" y="3213170"/>
            <a:ext cx="4196421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dirty="0" err="1">
                <a:cs typeface="+mn-ea"/>
                <a:sym typeface="+mn-lt"/>
              </a:rPr>
              <a:t>Vec</a:t>
            </a:r>
            <a:r>
              <a:rPr lang="zh-CN" altLang="en-US" dirty="0">
                <a:cs typeface="+mn-ea"/>
                <a:sym typeface="+mn-lt"/>
              </a:rPr>
              <a:t>；</a:t>
            </a:r>
            <a:endParaRPr lang="en-US" altLang="zh-CN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dirty="0">
                <a:cs typeface="+mn-ea"/>
                <a:sym typeface="+mn-lt"/>
              </a:rPr>
              <a:t>String</a:t>
            </a:r>
            <a:r>
              <a:rPr lang="zh-CN" altLang="en-US" dirty="0">
                <a:cs typeface="+mn-ea"/>
                <a:sym typeface="+mn-lt"/>
              </a:rPr>
              <a:t>；</a:t>
            </a:r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4926" y="2795455"/>
            <a:ext cx="2276585" cy="4649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cs typeface="+mn-ea"/>
                <a:sym typeface="+mn-lt"/>
              </a:rPr>
              <a:t>本章预期掌握知识点</a:t>
            </a:r>
            <a:endParaRPr lang="en-US" altLang="zh-CN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9" name="直接连接符 8"/>
          <p:cNvCxnSpPr>
            <a:stCxn id="2" idx="1"/>
            <a:endCxn id="2" idx="3"/>
          </p:cNvCxnSpPr>
          <p:nvPr/>
        </p:nvCxnSpPr>
        <p:spPr>
          <a:xfrm>
            <a:off x="729175" y="95283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624474" y="0"/>
            <a:ext cx="36000" cy="6840000"/>
          </a:xfrm>
          <a:prstGeom prst="rect">
            <a:avLst/>
          </a:prstGeom>
          <a:gradFill>
            <a:gsLst>
              <a:gs pos="4000">
                <a:schemeClr val="tx2">
                  <a:lumMod val="85000"/>
                </a:schemeClr>
              </a:gs>
              <a:gs pos="54000">
                <a:schemeClr val="tx2">
                  <a:lumMod val="85000"/>
                </a:schemeClr>
              </a:gs>
              <a:gs pos="100000">
                <a:schemeClr val="tx2">
                  <a:lumMod val="85000"/>
                  <a:alpha val="7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481893"/>
            <a:ext cx="10733557" cy="469045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  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Vec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AutoNum type="arabicPlain" startAt="2"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String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722092" y="972607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39006" y="97512"/>
            <a:ext cx="11340282" cy="1087474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堆与栈概念理解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239006" y="534245"/>
            <a:ext cx="113402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396733" y="725455"/>
            <a:ext cx="11017851" cy="51008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在</a:t>
            </a:r>
            <a:r>
              <a:rPr lang="en-US" altLang="zh-CN" sz="1600" dirty="0">
                <a:cs typeface="+mn-ea"/>
                <a:sym typeface="+mn-lt"/>
              </a:rPr>
              <a:t>Rust</a:t>
            </a:r>
            <a:r>
              <a:rPr lang="zh-CN" altLang="en-US" sz="1600" dirty="0">
                <a:cs typeface="+mn-ea"/>
                <a:sym typeface="+mn-lt"/>
              </a:rPr>
              <a:t>语言中，值是在栈上还是在堆上影响语言的行为。栈和堆都是代码在运行时可供使用的内存，但是它们的结构不同。</a:t>
            </a:r>
            <a:endParaRPr lang="en-US" altLang="zh-CN" sz="1600" dirty="0">
              <a:cs typeface="+mn-ea"/>
              <a:sym typeface="+mn-lt"/>
            </a:endParaRPr>
          </a:p>
        </p:txBody>
      </p:sp>
      <p:pic>
        <p:nvPicPr>
          <p:cNvPr id="1026" name="Picture 2" descr="https://shihyu.github.io/rust_hacks/ch5/2020_12_23_160873344454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9143" y="3508280"/>
            <a:ext cx="3985366" cy="2379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表格 4"/>
          <p:cNvGraphicFramePr/>
          <p:nvPr>
            <p:extLst>
              <p:ext uri="{D42A27DB-BD31-4B8C-83A1-F6EECF244321}">
                <p14:modId xmlns:p14="http://schemas.microsoft.com/office/powerpoint/2010/main" val="38245695"/>
              </p:ext>
            </p:extLst>
          </p:nvPr>
        </p:nvGraphicFramePr>
        <p:xfrm>
          <a:off x="1688950" y="1337558"/>
          <a:ext cx="8535670" cy="2042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67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栈 </a:t>
                      </a:r>
                      <a:r>
                        <a:rPr lang="en-US" altLang="zh-CN" sz="16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stack</a:t>
                      </a:r>
                      <a:endParaRPr lang="zh-CN" altLang="en-US" sz="16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7E6E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堆 </a:t>
                      </a:r>
                      <a:r>
                        <a:rPr lang="en-US" altLang="zh-CN" sz="16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heap</a:t>
                      </a:r>
                      <a:endParaRPr lang="zh-CN" altLang="en-US" sz="16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7E6E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b="0" u="none" dirty="0">
                          <a:solidFill>
                            <a:srgbClr val="11111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存储在计算机的RAM中</a:t>
                      </a:r>
                      <a:endParaRPr lang="zh-CN" altLang="en-US" sz="1400" b="0" u="none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b="0" u="none" dirty="0">
                          <a:solidFill>
                            <a:srgbClr val="11111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存储在计算机的RAM中</a:t>
                      </a:r>
                      <a:endParaRPr lang="zh-CN" altLang="en-US" sz="1400" b="0" u="none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="0" dirty="0">
                          <a:solidFill>
                            <a:srgbClr val="11111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分配速度较快</a:t>
                      </a:r>
                      <a:endParaRPr lang="zh-CN" altLang="en-US" sz="1400" b="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分配速度较慢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="0" u="none" dirty="0">
                          <a:solidFill>
                            <a:srgbClr val="11111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存储的是：</a:t>
                      </a:r>
                      <a:r>
                        <a:rPr lang="zh-CN" sz="1400" b="0" u="none" dirty="0">
                          <a:solidFill>
                            <a:srgbClr val="11111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局部</a:t>
                      </a:r>
                      <a:r>
                        <a:rPr lang="zh-CN" altLang="en-US" sz="1400" b="0" u="none" dirty="0">
                          <a:solidFill>
                            <a:srgbClr val="11111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变量、</a:t>
                      </a:r>
                      <a:r>
                        <a:rPr lang="zh-CN" sz="1400" b="0" u="none" dirty="0">
                          <a:solidFill>
                            <a:srgbClr val="11111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返回地址</a:t>
                      </a:r>
                      <a:r>
                        <a:rPr lang="zh-CN" altLang="en-US" sz="1400" b="0" u="none" dirty="0">
                          <a:solidFill>
                            <a:srgbClr val="11111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、函数参数</a:t>
                      </a:r>
                      <a:endParaRPr lang="zh-CN" altLang="en-US" sz="1400" b="0" u="none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b="0" u="none" dirty="0">
                          <a:solidFill>
                            <a:srgbClr val="11111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为程序分配一块数据块</a:t>
                      </a:r>
                      <a:r>
                        <a:rPr lang="zh-CN" altLang="en-US" sz="1400" b="0" u="none" dirty="0">
                          <a:solidFill>
                            <a:srgbClr val="11111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，</a:t>
                      </a:r>
                      <a:r>
                        <a:rPr lang="zh-CN" sz="1400" b="0" u="none" dirty="0">
                          <a:solidFill>
                            <a:srgbClr val="11111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创建的数据将由指针指向</a:t>
                      </a:r>
                      <a:r>
                        <a:rPr lang="zh-CN" altLang="en-US" sz="1400" b="0" u="none" dirty="0">
                          <a:solidFill>
                            <a:srgbClr val="11111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，</a:t>
                      </a:r>
                      <a:r>
                        <a:rPr lang="zh-CN" sz="1400" b="0" u="none" dirty="0">
                          <a:solidFill>
                            <a:srgbClr val="11111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当有很多分配和释放时可能会有碎片化现象</a:t>
                      </a:r>
                      <a:endParaRPr lang="zh-CN" altLang="en-US" sz="1400" b="0" u="none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b="0" u="none" dirty="0">
                          <a:solidFill>
                            <a:srgbClr val="11111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如果你在编译时就知道需要分配多少数据，并且数据不是太大，那么</a:t>
                      </a:r>
                      <a:r>
                        <a:rPr lang="zh-CN" altLang="en-US" sz="1400" b="0" u="none" dirty="0">
                          <a:solidFill>
                            <a:srgbClr val="11111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可以</a:t>
                      </a:r>
                      <a:r>
                        <a:rPr lang="zh-CN" sz="1400" b="0" u="none" dirty="0">
                          <a:solidFill>
                            <a:srgbClr val="11111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使用栈</a:t>
                      </a:r>
                      <a:endParaRPr lang="zh-CN" altLang="en-US" sz="1400" b="0" u="none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400" b="0" u="none" dirty="0">
                          <a:solidFill>
                            <a:srgbClr val="11111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如果在运行时</a:t>
                      </a:r>
                      <a:r>
                        <a:rPr lang="zh-CN" altLang="en-US" sz="1400" b="0" u="none" dirty="0">
                          <a:solidFill>
                            <a:srgbClr val="11111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才</a:t>
                      </a:r>
                      <a:r>
                        <a:rPr lang="zh-CN" sz="1400" b="0" u="none" dirty="0">
                          <a:solidFill>
                            <a:srgbClr val="11111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知道需要多少</a:t>
                      </a:r>
                      <a:r>
                        <a:rPr lang="zh-CN" altLang="en-US" sz="1400" b="0" u="none" dirty="0">
                          <a:solidFill>
                            <a:srgbClr val="11111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内存空间</a:t>
                      </a:r>
                      <a:r>
                        <a:rPr lang="zh-CN" sz="1400" b="0" u="none" dirty="0">
                          <a:solidFill>
                            <a:srgbClr val="11111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，或者需要分配大量数据，那么</a:t>
                      </a:r>
                      <a:r>
                        <a:rPr lang="zh-CN" altLang="en-US" sz="1400" b="0" u="none" dirty="0">
                          <a:solidFill>
                            <a:srgbClr val="11111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可以</a:t>
                      </a:r>
                      <a:r>
                        <a:rPr lang="zh-CN" sz="1400" b="0" u="none" dirty="0">
                          <a:solidFill>
                            <a:srgbClr val="11111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使用堆</a:t>
                      </a:r>
                      <a:endParaRPr lang="zh-CN" altLang="en-US" sz="1400" b="0" u="none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382899" y="5746965"/>
            <a:ext cx="9612281" cy="600768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200" i="1" dirty="0">
                <a:cs typeface="+mn-ea"/>
                <a:sym typeface="+mn-lt"/>
              </a:rPr>
              <a:t>参考链接：https://stackoverflow.com/questions/79923/what-and-where-are-the-stack-and-heap/79936#79936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302455" y="218387"/>
            <a:ext cx="10740640" cy="993400"/>
          </a:xfrm>
        </p:spPr>
        <p:txBody>
          <a:bodyPr/>
          <a:lstStyle/>
          <a:p>
            <a:r>
              <a:rPr lang="en-US" altLang="zh-CN" b="1" dirty="0" err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Vec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概念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302455" y="70090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02455" y="738727"/>
            <a:ext cx="10975145" cy="11568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cs typeface="+mn-ea"/>
                <a:sym typeface="+mn-lt"/>
              </a:rPr>
              <a:t>Rust </a:t>
            </a:r>
            <a:r>
              <a:rPr lang="zh-CN" altLang="en-US" sz="1600" dirty="0">
                <a:cs typeface="+mn-ea"/>
                <a:sym typeface="+mn-lt"/>
              </a:rPr>
              <a:t>的数组类型 </a:t>
            </a:r>
            <a:r>
              <a:rPr lang="en-US" altLang="zh-CN" sz="1600" dirty="0">
                <a:cs typeface="+mn-ea"/>
                <a:sym typeface="+mn-lt"/>
              </a:rPr>
              <a:t>[T; N]</a:t>
            </a:r>
            <a:r>
              <a:rPr lang="zh-CN" altLang="en-US" sz="1600" dirty="0">
                <a:cs typeface="+mn-ea"/>
                <a:sym typeface="+mn-lt"/>
              </a:rPr>
              <a:t>，长度必须是编译时已知的，而且长度不能修改。</a:t>
            </a:r>
            <a:endParaRPr lang="en-US" altLang="zh-CN" sz="1600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cs typeface="+mn-ea"/>
                <a:sym typeface="+mn-lt"/>
              </a:rPr>
              <a:t>Vec</a:t>
            </a:r>
            <a:r>
              <a:rPr lang="en-US" altLang="zh-CN" sz="1600" dirty="0">
                <a:cs typeface="+mn-ea"/>
                <a:sym typeface="+mn-lt"/>
              </a:rPr>
              <a:t>&lt;T&gt;</a:t>
            </a:r>
            <a:r>
              <a:rPr lang="zh-CN" altLang="en-US" sz="1600" dirty="0">
                <a:cs typeface="+mn-ea"/>
                <a:sym typeface="+mn-lt"/>
              </a:rPr>
              <a:t> 则允许我们一个挨着一个地储存一系列数量可变的值，它指向的数据是储存在堆上的，这意味着数据的数量不必在编译时就已知，并且还可以随着程序的运行增长或缩小。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419667" y="2493239"/>
            <a:ext cx="6506216" cy="28931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新建</a:t>
            </a:r>
            <a:r>
              <a:rPr lang="en-US" altLang="zh-CN" sz="1400" b="1" dirty="0" err="1">
                <a:solidFill>
                  <a:srgbClr val="00B050"/>
                </a:solidFill>
                <a:cs typeface="+mn-ea"/>
                <a:sym typeface="+mn-lt"/>
              </a:rPr>
              <a:t>Vec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en-US" altLang="zh-CN" sz="1400" i="1" dirty="0" err="1">
                <a:solidFill>
                  <a:srgbClr val="7F848E"/>
                </a:solidFill>
                <a:cs typeface="+mn-ea"/>
                <a:sym typeface="+mn-lt"/>
              </a:rPr>
              <a:t>Vec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 是带有类型参数的 泛型 类型。泛型参数代表的是内部元素的类型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创建一个空的 </a:t>
            </a:r>
            <a:r>
              <a:rPr lang="en-US" altLang="zh-CN" sz="1400" i="1" dirty="0" err="1">
                <a:solidFill>
                  <a:srgbClr val="7F848E"/>
                </a:solidFill>
                <a:cs typeface="+mn-ea"/>
                <a:sym typeface="+mn-lt"/>
              </a:rPr>
              <a:t>Vec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Vec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Vec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&gt;::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创建</a:t>
            </a:r>
            <a:r>
              <a:rPr lang="en-US" altLang="zh-CN" sz="1400" i="1" dirty="0" err="1">
                <a:solidFill>
                  <a:srgbClr val="7F848E"/>
                </a:solidFill>
                <a:cs typeface="+mn-ea"/>
                <a:sym typeface="+mn-lt"/>
              </a:rPr>
              <a:t>Vec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并提供了初始值，分别是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1,2,3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Vec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vec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  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创建</a:t>
            </a:r>
            <a:r>
              <a:rPr lang="en-US" altLang="zh-CN" sz="1400" i="1" dirty="0" err="1">
                <a:solidFill>
                  <a:srgbClr val="7F848E"/>
                </a:solidFill>
                <a:cs typeface="+mn-ea"/>
                <a:sym typeface="+mn-lt"/>
              </a:rPr>
              <a:t>Vec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并提供了初始值，分别是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0,0,0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Vec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vec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0; 3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302455" y="218387"/>
            <a:ext cx="10740640" cy="993400"/>
          </a:xfrm>
        </p:spPr>
        <p:txBody>
          <a:bodyPr/>
          <a:lstStyle/>
          <a:p>
            <a:r>
              <a:rPr lang="en-US" altLang="zh-CN" b="1" dirty="0" err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Vec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基本用法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302455" y="70090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20199" y="1100511"/>
            <a:ext cx="6400800" cy="544764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2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en-US" altLang="zh-CN" sz="1200" b="1" dirty="0" err="1">
                <a:solidFill>
                  <a:srgbClr val="00B050"/>
                </a:solidFill>
                <a:cs typeface="+mn-ea"/>
                <a:sym typeface="+mn-lt"/>
              </a:rPr>
              <a:t>Vec</a:t>
            </a:r>
            <a:r>
              <a:rPr lang="zh-CN" altLang="en-US" sz="1200" b="1" dirty="0">
                <a:solidFill>
                  <a:srgbClr val="00B050"/>
                </a:solidFill>
                <a:cs typeface="+mn-ea"/>
                <a:sym typeface="+mn-lt"/>
              </a:rPr>
              <a:t>类型基本用法示例</a:t>
            </a:r>
            <a:endParaRPr lang="en-US" altLang="zh-CN" sz="12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u="sng" dirty="0" err="1">
                <a:solidFill>
                  <a:srgbClr val="E06C75"/>
                </a:solidFill>
                <a:cs typeface="+mn-ea"/>
                <a:sym typeface="+mn-lt"/>
              </a:rPr>
              <a:t>vec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Vec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新建 </a:t>
            </a:r>
            <a:r>
              <a:rPr lang="en-US" altLang="zh-CN" sz="1200" i="1" dirty="0" err="1">
                <a:solidFill>
                  <a:srgbClr val="7F848E"/>
                </a:solidFill>
                <a:cs typeface="+mn-ea"/>
                <a:sym typeface="+mn-lt"/>
              </a:rPr>
              <a:t>Vec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u="sng" dirty="0" err="1">
                <a:solidFill>
                  <a:srgbClr val="E06C75"/>
                </a:solidFill>
                <a:cs typeface="+mn-ea"/>
                <a:sym typeface="+mn-lt"/>
              </a:rPr>
              <a:t>vec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u="sng" dirty="0" err="1">
                <a:solidFill>
                  <a:srgbClr val="61AFEF"/>
                </a:solidFill>
                <a:cs typeface="+mn-ea"/>
                <a:sym typeface="+mn-lt"/>
              </a:rPr>
              <a:t>push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在 </a:t>
            </a:r>
            <a:r>
              <a:rPr lang="en-US" altLang="zh-CN" sz="1200" i="1" dirty="0" err="1">
                <a:solidFill>
                  <a:srgbClr val="7F848E"/>
                </a:solidFill>
                <a:cs typeface="+mn-ea"/>
                <a:sym typeface="+mn-lt"/>
              </a:rPr>
              <a:t>Vec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追加元素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u="sng" dirty="0" err="1">
                <a:solidFill>
                  <a:srgbClr val="E06C75"/>
                </a:solidFill>
                <a:cs typeface="+mn-ea"/>
                <a:sym typeface="+mn-lt"/>
              </a:rPr>
              <a:t>vec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u="sng" dirty="0" err="1">
                <a:solidFill>
                  <a:srgbClr val="61AFEF"/>
                </a:solidFill>
                <a:cs typeface="+mn-ea"/>
                <a:sym typeface="+mn-lt"/>
              </a:rPr>
              <a:t>push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D19A66"/>
                </a:solidFill>
                <a:cs typeface="+mn-ea"/>
                <a:sym typeface="+mn-lt"/>
              </a:rPr>
              <a:t>assert_eq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u="sng" dirty="0" err="1">
                <a:solidFill>
                  <a:srgbClr val="E06C75"/>
                </a:solidFill>
                <a:cs typeface="+mn-ea"/>
                <a:sym typeface="+mn-lt"/>
              </a:rPr>
              <a:t>vec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len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 // </a:t>
            </a:r>
            <a:r>
              <a:rPr lang="en-US" altLang="zh-CN" sz="1200" i="1" dirty="0" err="1">
                <a:solidFill>
                  <a:srgbClr val="7F848E"/>
                </a:solidFill>
                <a:cs typeface="+mn-ea"/>
                <a:sym typeface="+mn-lt"/>
              </a:rPr>
              <a:t>len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()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可获得 </a:t>
            </a:r>
            <a:r>
              <a:rPr lang="en-US" altLang="zh-CN" sz="1200" i="1" dirty="0" err="1">
                <a:solidFill>
                  <a:srgbClr val="7F848E"/>
                </a:solidFill>
                <a:cs typeface="+mn-ea"/>
                <a:sym typeface="+mn-lt"/>
              </a:rPr>
              <a:t>Vec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长度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D19A66"/>
                </a:solidFill>
                <a:cs typeface="+mn-ea"/>
                <a:sym typeface="+mn-lt"/>
              </a:rPr>
              <a:t>assert_eq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u="sng" dirty="0" err="1">
                <a:solidFill>
                  <a:srgbClr val="E06C75"/>
                </a:solidFill>
                <a:cs typeface="+mn-ea"/>
                <a:sym typeface="+mn-lt"/>
              </a:rPr>
              <a:t>vec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],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获取 </a:t>
            </a:r>
            <a:r>
              <a:rPr lang="en-US" altLang="zh-CN" sz="1200" i="1" dirty="0" err="1">
                <a:solidFill>
                  <a:srgbClr val="7F848E"/>
                </a:solidFill>
                <a:cs typeface="+mn-ea"/>
                <a:sym typeface="+mn-lt"/>
              </a:rPr>
              <a:t>Vec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中的元素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b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u="sng" dirty="0" err="1">
                <a:solidFill>
                  <a:srgbClr val="E06C75"/>
                </a:solidFill>
                <a:cs typeface="+mn-ea"/>
                <a:sym typeface="+mn-lt"/>
              </a:rPr>
              <a:t>vec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] =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7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修改 </a:t>
            </a:r>
            <a:r>
              <a:rPr lang="en-US" altLang="zh-CN" sz="1200" i="1" dirty="0" err="1">
                <a:solidFill>
                  <a:srgbClr val="7F848E"/>
                </a:solidFill>
                <a:cs typeface="+mn-ea"/>
                <a:sym typeface="+mn-lt"/>
              </a:rPr>
              <a:t>Vec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中的元素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D19A66"/>
                </a:solidFill>
                <a:cs typeface="+mn-ea"/>
                <a:sym typeface="+mn-lt"/>
              </a:rPr>
              <a:t>assert_eq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u="sng" dirty="0" err="1">
                <a:solidFill>
                  <a:srgbClr val="E06C75"/>
                </a:solidFill>
                <a:cs typeface="+mn-ea"/>
                <a:sym typeface="+mn-lt"/>
              </a:rPr>
              <a:t>vec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],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7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u="sng" dirty="0" err="1">
                <a:solidFill>
                  <a:srgbClr val="E06C75"/>
                </a:solidFill>
                <a:cs typeface="+mn-ea"/>
                <a:sym typeface="+mn-lt"/>
              </a:rPr>
              <a:t>vec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u="sng" dirty="0" err="1">
                <a:solidFill>
                  <a:srgbClr val="61AFEF"/>
                </a:solidFill>
                <a:cs typeface="+mn-ea"/>
                <a:sym typeface="+mn-lt"/>
              </a:rPr>
              <a:t>extend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([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]);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扩展 </a:t>
            </a:r>
            <a:r>
              <a:rPr lang="en-US" altLang="zh-CN" sz="1200" i="1" dirty="0" err="1">
                <a:solidFill>
                  <a:srgbClr val="7F848E"/>
                </a:solidFill>
                <a:cs typeface="+mn-ea"/>
                <a:sym typeface="+mn-lt"/>
              </a:rPr>
              <a:t>Vec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D19A66"/>
                </a:solidFill>
                <a:cs typeface="+mn-ea"/>
                <a:sym typeface="+mn-lt"/>
              </a:rPr>
              <a:t>assert_eq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u="sng" dirty="0" err="1">
                <a:solidFill>
                  <a:srgbClr val="E06C75"/>
                </a:solidFill>
                <a:cs typeface="+mn-ea"/>
                <a:sym typeface="+mn-lt"/>
              </a:rPr>
              <a:t>vec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[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7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]);</a:t>
            </a:r>
          </a:p>
          <a:p>
            <a:b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u="sng" dirty="0">
                <a:solidFill>
                  <a:srgbClr val="E06C75"/>
                </a:solidFill>
                <a:cs typeface="+mn-ea"/>
                <a:sym typeface="+mn-lt"/>
              </a:rPr>
              <a:t>vec1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dirty="0" err="1">
                <a:solidFill>
                  <a:srgbClr val="D19A66"/>
                </a:solidFill>
                <a:cs typeface="+mn-ea"/>
                <a:sym typeface="+mn-lt"/>
              </a:rPr>
              <a:t>vec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];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可以使用 </a:t>
            </a:r>
            <a:r>
              <a:rPr lang="en-US" altLang="zh-CN" sz="1200" i="1" dirty="0" err="1">
                <a:solidFill>
                  <a:srgbClr val="7F848E"/>
                </a:solidFill>
                <a:cs typeface="+mn-ea"/>
                <a:sym typeface="+mn-lt"/>
              </a:rPr>
              <a:t>vec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!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初始化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u="sng" dirty="0">
                <a:solidFill>
                  <a:srgbClr val="E06C75"/>
                </a:solidFill>
                <a:cs typeface="+mn-ea"/>
                <a:sym typeface="+mn-lt"/>
              </a:rPr>
              <a:t>vec1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u="sng" dirty="0">
                <a:solidFill>
                  <a:srgbClr val="61AFEF"/>
                </a:solidFill>
                <a:cs typeface="+mn-ea"/>
                <a:sym typeface="+mn-lt"/>
              </a:rPr>
              <a:t>push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4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vec2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Vec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([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4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]);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D19A66"/>
                </a:solidFill>
                <a:cs typeface="+mn-ea"/>
                <a:sym typeface="+mn-lt"/>
              </a:rPr>
              <a:t>assert_eq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u="sng" dirty="0">
                <a:solidFill>
                  <a:srgbClr val="E06C75"/>
                </a:solidFill>
                <a:cs typeface="+mn-ea"/>
                <a:sym typeface="+mn-lt"/>
              </a:rPr>
              <a:t>vec1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vec2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s: &amp;[i32]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&amp;vec2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1..3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D19A66"/>
                </a:solidFill>
                <a:cs typeface="+mn-ea"/>
                <a:sym typeface="+mn-lt"/>
              </a:rPr>
              <a:t>assert_eq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u="sng" dirty="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[2,3] );</a:t>
            </a:r>
          </a:p>
          <a:p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b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E06C75"/>
                </a:solidFill>
                <a:cs typeface="+mn-ea"/>
                <a:sym typeface="+mn-lt"/>
              </a:rPr>
              <a:t>vec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dirty="0" err="1">
                <a:solidFill>
                  <a:srgbClr val="D19A66"/>
                </a:solidFill>
                <a:cs typeface="+mn-ea"/>
                <a:sym typeface="+mn-lt"/>
              </a:rPr>
              <a:t>vec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];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使用宏给定值初始化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D19A66"/>
                </a:solidFill>
                <a:cs typeface="+mn-ea"/>
                <a:sym typeface="+mn-lt"/>
              </a:rPr>
              <a:t>assert_eq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 err="1">
                <a:solidFill>
                  <a:srgbClr val="E06C75"/>
                </a:solidFill>
                <a:cs typeface="+mn-ea"/>
                <a:sym typeface="+mn-lt"/>
              </a:rPr>
              <a:t>vec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[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]);</a:t>
            </a:r>
          </a:p>
          <a:p>
            <a:b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en-US" altLang="zh-CN" sz="1200" i="1" dirty="0" err="1">
                <a:solidFill>
                  <a:srgbClr val="7F848E"/>
                </a:solidFill>
                <a:cs typeface="+mn-ea"/>
                <a:sym typeface="+mn-lt"/>
              </a:rPr>
              <a:t>with_capacity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用于创建一个具有指定容量的 </a:t>
            </a:r>
            <a:r>
              <a:rPr lang="en-US" altLang="zh-CN" sz="1200" i="1" dirty="0" err="1">
                <a:solidFill>
                  <a:srgbClr val="7F848E"/>
                </a:solidFill>
                <a:cs typeface="+mn-ea"/>
                <a:sym typeface="+mn-lt"/>
              </a:rPr>
              <a:t>Vec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u="sng" dirty="0" err="1">
                <a:solidFill>
                  <a:srgbClr val="E06C75"/>
                </a:solidFill>
                <a:cs typeface="+mn-ea"/>
                <a:sym typeface="+mn-lt"/>
              </a:rPr>
              <a:t>vec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dirty="0" err="1">
                <a:solidFill>
                  <a:srgbClr val="E5C07B"/>
                </a:solidFill>
                <a:cs typeface="+mn-ea"/>
                <a:sym typeface="+mn-lt"/>
              </a:rPr>
              <a:t>Vec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with_capacity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u="sng" dirty="0" err="1">
                <a:solidFill>
                  <a:srgbClr val="E06C75"/>
                </a:solidFill>
                <a:cs typeface="+mn-ea"/>
                <a:sym typeface="+mn-lt"/>
              </a:rPr>
              <a:t>vec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u="sng" dirty="0" err="1">
                <a:solidFill>
                  <a:srgbClr val="61AFEF"/>
                </a:solidFill>
                <a:cs typeface="+mn-ea"/>
                <a:sym typeface="+mn-lt"/>
              </a:rPr>
              <a:t>resize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   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D19A66"/>
                </a:solidFill>
                <a:cs typeface="+mn-ea"/>
                <a:sym typeface="+mn-lt"/>
              </a:rPr>
              <a:t>assert_eq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u="sng" dirty="0" err="1">
                <a:solidFill>
                  <a:srgbClr val="E06C75"/>
                </a:solidFill>
                <a:cs typeface="+mn-ea"/>
                <a:sym typeface="+mn-lt"/>
              </a:rPr>
              <a:t>vec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[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]);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  <p:sp>
        <p:nvSpPr>
          <p:cNvPr id="3" name="矩形 2"/>
          <p:cNvSpPr/>
          <p:nvPr/>
        </p:nvSpPr>
        <p:spPr>
          <a:xfrm>
            <a:off x="7270502" y="5497440"/>
            <a:ext cx="36230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cs typeface="+mn-ea"/>
                <a:sym typeface="+mn-lt"/>
              </a:rPr>
              <a:t>更多用法参考：</a:t>
            </a:r>
            <a:r>
              <a:rPr lang="en-US" altLang="zh-CN" dirty="0">
                <a:cs typeface="+mn-ea"/>
                <a:sym typeface="+mn-lt"/>
              </a:rPr>
              <a:t>https://doc.rust-lang.org/std/vec/struct.Vec.html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0750F73-5B1C-4ED2-91B8-0940D836A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6820" y="1211787"/>
            <a:ext cx="2981325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459205" y="168744"/>
            <a:ext cx="10740640" cy="615021"/>
          </a:xfrm>
        </p:spPr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String-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基本用法</a:t>
            </a:r>
          </a:p>
        </p:txBody>
      </p:sp>
      <p:cxnSp>
        <p:nvCxnSpPr>
          <p:cNvPr id="18" name="直接连接符 17"/>
          <p:cNvCxnSpPr/>
          <p:nvPr/>
        </p:nvCxnSpPr>
        <p:spPr>
          <a:xfrm>
            <a:off x="459205" y="683359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70540" y="2714920"/>
            <a:ext cx="5771930" cy="341632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pPr lvl="0"/>
            <a:r>
              <a:rPr lang="en-US" altLang="zh-CN" sz="12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en-US" altLang="zh-CN" sz="1200" b="1" dirty="0">
                <a:solidFill>
                  <a:srgbClr val="00B050"/>
                </a:solidFill>
                <a:cs typeface="+mn-ea"/>
                <a:sym typeface="+mn-lt"/>
              </a:rPr>
              <a:t>String</a:t>
            </a:r>
            <a:r>
              <a:rPr lang="zh-CN" altLang="en-US" sz="1200" b="1" dirty="0">
                <a:solidFill>
                  <a:srgbClr val="00B050"/>
                </a:solidFill>
                <a:cs typeface="+mn-ea"/>
                <a:sym typeface="+mn-lt"/>
              </a:rPr>
              <a:t>类型基本用法示例</a:t>
            </a:r>
            <a:endParaRPr lang="en-US" altLang="zh-CN" sz="1200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新建字符串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u="sng" dirty="0">
                <a:solidFill>
                  <a:srgbClr val="E06C75"/>
                </a:solidFill>
                <a:cs typeface="+mn-ea"/>
                <a:sym typeface="+mn-lt"/>
              </a:rPr>
              <a:t>s1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s2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"initial contents"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追加字符和字符串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u="sng" dirty="0">
                <a:solidFill>
                  <a:srgbClr val="E06C75"/>
                </a:solidFill>
                <a:cs typeface="+mn-ea"/>
                <a:sym typeface="+mn-lt"/>
              </a:rPr>
              <a:t>hello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"Hello, "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u="sng" dirty="0" err="1">
                <a:solidFill>
                  <a:srgbClr val="E06C75"/>
                </a:solidFill>
                <a:cs typeface="+mn-ea"/>
                <a:sym typeface="+mn-lt"/>
              </a:rPr>
              <a:t>hello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u="sng" dirty="0" err="1">
                <a:solidFill>
                  <a:srgbClr val="61AFEF"/>
                </a:solidFill>
                <a:cs typeface="+mn-ea"/>
                <a:sym typeface="+mn-lt"/>
              </a:rPr>
              <a:t>push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'w'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u="sng" dirty="0" err="1">
                <a:solidFill>
                  <a:srgbClr val="E06C75"/>
                </a:solidFill>
                <a:cs typeface="+mn-ea"/>
                <a:sym typeface="+mn-lt"/>
              </a:rPr>
              <a:t>hello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u="sng" dirty="0" err="1">
                <a:solidFill>
                  <a:srgbClr val="61AFEF"/>
                </a:solidFill>
                <a:cs typeface="+mn-ea"/>
                <a:sym typeface="+mn-lt"/>
              </a:rPr>
              <a:t>push_str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 dirty="0" err="1">
                <a:solidFill>
                  <a:srgbClr val="98C379"/>
                </a:solidFill>
                <a:cs typeface="+mn-ea"/>
                <a:sym typeface="+mn-lt"/>
              </a:rPr>
              <a:t>orld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!"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将字节向量转化为字符串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E06C75"/>
                </a:solidFill>
                <a:cs typeface="+mn-ea"/>
                <a:sym typeface="+mn-lt"/>
              </a:rPr>
              <a:t>sparkle_heart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dirty="0" err="1">
                <a:solidFill>
                  <a:srgbClr val="D19A66"/>
                </a:solidFill>
                <a:cs typeface="+mn-ea"/>
                <a:sym typeface="+mn-lt"/>
              </a:rPr>
              <a:t>vec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65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66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67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68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E06C75"/>
                </a:solidFill>
                <a:cs typeface="+mn-ea"/>
                <a:sym typeface="+mn-lt"/>
              </a:rPr>
              <a:t>sparkle_heart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from_utf8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 err="1">
                <a:solidFill>
                  <a:srgbClr val="E06C75"/>
                </a:solidFill>
                <a:cs typeface="+mn-ea"/>
                <a:sym typeface="+mn-lt"/>
              </a:rPr>
              <a:t>sparkle_heart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).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D19A66"/>
                </a:solidFill>
                <a:cs typeface="+mn-ea"/>
                <a:sym typeface="+mn-lt"/>
              </a:rPr>
              <a:t>assert_eq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"ABCD"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 dirty="0" err="1">
                <a:solidFill>
                  <a:srgbClr val="E06C75"/>
                </a:solidFill>
                <a:cs typeface="+mn-ea"/>
                <a:sym typeface="+mn-lt"/>
              </a:rPr>
              <a:t>sparkle_heart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拼接字符串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s5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"Hello, "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s6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"world!"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s7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s5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s6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  <p:sp>
        <p:nvSpPr>
          <p:cNvPr id="9" name="矩形 8"/>
          <p:cNvSpPr/>
          <p:nvPr/>
        </p:nvSpPr>
        <p:spPr>
          <a:xfrm>
            <a:off x="2561423" y="6400834"/>
            <a:ext cx="73244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cs typeface="+mn-ea"/>
                <a:sym typeface="+mn-lt"/>
              </a:rPr>
              <a:t>更多用法参考：</a:t>
            </a:r>
            <a:r>
              <a:rPr lang="en-US" altLang="zh-CN" dirty="0">
                <a:cs typeface="+mn-ea"/>
                <a:sym typeface="+mn-lt"/>
              </a:rPr>
              <a:t>https://doc.rust-lang.org/std/string/struct.String.html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14444" y="1892977"/>
            <a:ext cx="4413550" cy="323165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pPr lvl="0"/>
            <a:r>
              <a:rPr lang="en-US" altLang="zh-CN" sz="12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en-US" altLang="zh-CN" sz="1200" b="1" dirty="0">
                <a:solidFill>
                  <a:srgbClr val="00B050"/>
                </a:solidFill>
                <a:cs typeface="+mn-ea"/>
                <a:sym typeface="+mn-lt"/>
              </a:rPr>
              <a:t>String</a:t>
            </a:r>
            <a:r>
              <a:rPr lang="zh-CN" altLang="en-US" sz="1200" b="1" dirty="0">
                <a:solidFill>
                  <a:srgbClr val="00B050"/>
                </a:solidFill>
                <a:cs typeface="+mn-ea"/>
                <a:sym typeface="+mn-lt"/>
              </a:rPr>
              <a:t>类型基本用法示例</a:t>
            </a:r>
            <a:endParaRPr lang="en-US" altLang="zh-CN" sz="1200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字符：使用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chars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方法返回 </a:t>
            </a:r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Unicode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字符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word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dirty="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zh-CN" altLang="en-US" sz="1200" dirty="0">
                <a:solidFill>
                  <a:srgbClr val="98C379"/>
                </a:solidFill>
                <a:cs typeface="+mn-ea"/>
                <a:sym typeface="+mn-lt"/>
              </a:rPr>
              <a:t>中国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u="sng" dirty="0">
                <a:solidFill>
                  <a:srgbClr val="E06C75"/>
                </a:solidFill>
                <a:cs typeface="+mn-ea"/>
                <a:sym typeface="+mn-lt"/>
              </a:rPr>
              <a:t>chars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dirty="0" err="1">
                <a:solidFill>
                  <a:srgbClr val="E06C75"/>
                </a:solidFill>
                <a:cs typeface="+mn-ea"/>
                <a:sym typeface="+mn-lt"/>
              </a:rPr>
              <a:t>word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chars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D19A66"/>
                </a:solidFill>
                <a:cs typeface="+mn-ea"/>
                <a:sym typeface="+mn-lt"/>
              </a:rPr>
              <a:t>assert_eq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Some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'</a:t>
            </a:r>
            <a:r>
              <a:rPr lang="zh-CN" altLang="en-US" sz="1200" dirty="0">
                <a:solidFill>
                  <a:srgbClr val="98C379"/>
                </a:solidFill>
                <a:cs typeface="+mn-ea"/>
                <a:sym typeface="+mn-lt"/>
              </a:rPr>
              <a:t>中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'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altLang="zh-CN" sz="1200" u="sng" dirty="0" err="1">
                <a:solidFill>
                  <a:srgbClr val="E06C75"/>
                </a:solidFill>
                <a:cs typeface="+mn-ea"/>
                <a:sym typeface="+mn-lt"/>
              </a:rPr>
              <a:t>chars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u="sng" dirty="0" err="1">
                <a:solidFill>
                  <a:srgbClr val="61AFEF"/>
                </a:solidFill>
                <a:cs typeface="+mn-ea"/>
                <a:sym typeface="+mn-lt"/>
              </a:rPr>
              <a:t>next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D19A66"/>
                </a:solidFill>
                <a:cs typeface="+mn-ea"/>
                <a:sym typeface="+mn-lt"/>
              </a:rPr>
              <a:t>assert_eq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Some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'</a:t>
            </a:r>
            <a:r>
              <a:rPr lang="zh-CN" altLang="en-US" sz="1200" dirty="0">
                <a:solidFill>
                  <a:srgbClr val="98C379"/>
                </a:solidFill>
                <a:cs typeface="+mn-ea"/>
                <a:sym typeface="+mn-lt"/>
              </a:rPr>
              <a:t>国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'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altLang="zh-CN" sz="1200" u="sng" dirty="0" err="1">
                <a:solidFill>
                  <a:srgbClr val="E06C75"/>
                </a:solidFill>
                <a:cs typeface="+mn-ea"/>
                <a:sym typeface="+mn-lt"/>
              </a:rPr>
              <a:t>chars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u="sng" dirty="0" err="1">
                <a:solidFill>
                  <a:srgbClr val="61AFEF"/>
                </a:solidFill>
                <a:cs typeface="+mn-ea"/>
                <a:sym typeface="+mn-lt"/>
              </a:rPr>
              <a:t>next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 dirty="0">
                <a:solidFill>
                  <a:srgbClr val="7F848E"/>
                </a:solidFill>
                <a:cs typeface="+mn-ea"/>
                <a:sym typeface="+mn-lt"/>
              </a:rPr>
              <a:t>字节：返回字符串的底层字节数组表现形式</a:t>
            </a:r>
            <a:endParaRPr lang="zh-CN" altLang="en-US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u="sng" dirty="0">
                <a:solidFill>
                  <a:srgbClr val="E06C75"/>
                </a:solidFill>
                <a:cs typeface="+mn-ea"/>
                <a:sym typeface="+mn-lt"/>
              </a:rPr>
              <a:t>bytes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 dirty="0" err="1">
                <a:solidFill>
                  <a:srgbClr val="98C379"/>
                </a:solidFill>
                <a:cs typeface="+mn-ea"/>
                <a:sym typeface="+mn-lt"/>
              </a:rPr>
              <a:t>bors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dirty="0">
                <a:solidFill>
                  <a:srgbClr val="61AFEF"/>
                </a:solidFill>
                <a:cs typeface="+mn-ea"/>
                <a:sym typeface="+mn-lt"/>
              </a:rPr>
              <a:t>bytes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D19A66"/>
                </a:solidFill>
                <a:cs typeface="+mn-ea"/>
                <a:sym typeface="+mn-lt"/>
              </a:rPr>
              <a:t>assert_eq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Some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 err="1">
                <a:solidFill>
                  <a:srgbClr val="D19A66"/>
                </a:solidFill>
                <a:cs typeface="+mn-ea"/>
                <a:sym typeface="+mn-lt"/>
              </a:rPr>
              <a:t>b'b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'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altLang="zh-CN" sz="1200" u="sng" dirty="0" err="1">
                <a:solidFill>
                  <a:srgbClr val="E06C75"/>
                </a:solidFill>
                <a:cs typeface="+mn-ea"/>
                <a:sym typeface="+mn-lt"/>
              </a:rPr>
              <a:t>bytes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u="sng" dirty="0" err="1">
                <a:solidFill>
                  <a:srgbClr val="61AFEF"/>
                </a:solidFill>
                <a:cs typeface="+mn-ea"/>
                <a:sym typeface="+mn-lt"/>
              </a:rPr>
              <a:t>next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D19A66"/>
                </a:solidFill>
                <a:cs typeface="+mn-ea"/>
                <a:sym typeface="+mn-lt"/>
              </a:rPr>
              <a:t>assert_eq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Some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 err="1">
                <a:solidFill>
                  <a:srgbClr val="D19A66"/>
                </a:solidFill>
                <a:cs typeface="+mn-ea"/>
                <a:sym typeface="+mn-lt"/>
              </a:rPr>
              <a:t>b'o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'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altLang="zh-CN" sz="1200" u="sng" dirty="0" err="1">
                <a:solidFill>
                  <a:srgbClr val="E06C75"/>
                </a:solidFill>
                <a:cs typeface="+mn-ea"/>
                <a:sym typeface="+mn-lt"/>
              </a:rPr>
              <a:t>bytes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u="sng" dirty="0" err="1">
                <a:solidFill>
                  <a:srgbClr val="61AFEF"/>
                </a:solidFill>
                <a:cs typeface="+mn-ea"/>
                <a:sym typeface="+mn-lt"/>
              </a:rPr>
              <a:t>next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D19A66"/>
                </a:solidFill>
                <a:cs typeface="+mn-ea"/>
                <a:sym typeface="+mn-lt"/>
              </a:rPr>
              <a:t>assert_eq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Some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 err="1">
                <a:solidFill>
                  <a:srgbClr val="D19A66"/>
                </a:solidFill>
                <a:cs typeface="+mn-ea"/>
                <a:sym typeface="+mn-lt"/>
              </a:rPr>
              <a:t>b'r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'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altLang="zh-CN" sz="1200" u="sng" dirty="0" err="1">
                <a:solidFill>
                  <a:srgbClr val="E06C75"/>
                </a:solidFill>
                <a:cs typeface="+mn-ea"/>
                <a:sym typeface="+mn-lt"/>
              </a:rPr>
              <a:t>bytes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u="sng" dirty="0" err="1">
                <a:solidFill>
                  <a:srgbClr val="61AFEF"/>
                </a:solidFill>
                <a:cs typeface="+mn-ea"/>
                <a:sym typeface="+mn-lt"/>
              </a:rPr>
              <a:t>next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 err="1">
                <a:solidFill>
                  <a:srgbClr val="D19A66"/>
                </a:solidFill>
                <a:cs typeface="+mn-ea"/>
                <a:sym typeface="+mn-lt"/>
              </a:rPr>
              <a:t>assert_eq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56B6C2"/>
                </a:solidFill>
                <a:cs typeface="+mn-ea"/>
                <a:sym typeface="+mn-lt"/>
              </a:rPr>
              <a:t>Some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b's'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altLang="zh-CN" sz="1200" u="sng" dirty="0" err="1">
                <a:solidFill>
                  <a:srgbClr val="E06C75"/>
                </a:solidFill>
                <a:cs typeface="+mn-ea"/>
                <a:sym typeface="+mn-lt"/>
              </a:rPr>
              <a:t>bytes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u="sng" dirty="0" err="1">
                <a:solidFill>
                  <a:srgbClr val="61AFEF"/>
                </a:solidFill>
                <a:cs typeface="+mn-ea"/>
                <a:sym typeface="+mn-lt"/>
              </a:rPr>
              <a:t>next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2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en-US" altLang="zh-CN" sz="1200" i="1" dirty="0" err="1">
                <a:solidFill>
                  <a:srgbClr val="7F848E"/>
                </a:solidFill>
                <a:cs typeface="+mn-ea"/>
                <a:sym typeface="+mn-lt"/>
              </a:rPr>
              <a:t>starts_with</a:t>
            </a:r>
            <a:endParaRPr lang="en-US" altLang="zh-CN" sz="12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E06C75"/>
                </a:solidFill>
                <a:cs typeface="+mn-ea"/>
                <a:sym typeface="+mn-lt"/>
              </a:rPr>
              <a:t>bananas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"bananas"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 dirty="0">
                <a:solidFill>
                  <a:srgbClr val="D19A66"/>
                </a:solidFill>
                <a:cs typeface="+mn-ea"/>
                <a:sym typeface="+mn-lt"/>
              </a:rPr>
              <a:t>assert!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 err="1">
                <a:solidFill>
                  <a:srgbClr val="E06C75"/>
                </a:solidFill>
                <a:cs typeface="+mn-ea"/>
                <a:sym typeface="+mn-lt"/>
              </a:rPr>
              <a:t>bananas</a:t>
            </a:r>
            <a:r>
              <a:rPr lang="en-US" altLang="zh-CN" sz="12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 dirty="0" err="1">
                <a:solidFill>
                  <a:srgbClr val="61AFEF"/>
                </a:solidFill>
                <a:cs typeface="+mn-ea"/>
                <a:sym typeface="+mn-lt"/>
              </a:rPr>
              <a:t>starts_with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 dirty="0" err="1">
                <a:solidFill>
                  <a:srgbClr val="98C379"/>
                </a:solidFill>
                <a:cs typeface="+mn-ea"/>
                <a:sym typeface="+mn-lt"/>
              </a:rPr>
              <a:t>bana</a:t>
            </a:r>
            <a:r>
              <a:rPr lang="en-US" altLang="zh-CN" sz="1200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2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70540" y="839256"/>
            <a:ext cx="5771930" cy="42351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cs typeface="+mn-ea"/>
                <a:sym typeface="+mn-lt"/>
              </a:rPr>
              <a:t>String</a:t>
            </a:r>
            <a:r>
              <a:rPr lang="zh-CN" altLang="en-US" sz="1600" dirty="0">
                <a:cs typeface="+mn-ea"/>
                <a:sym typeface="+mn-lt"/>
              </a:rPr>
              <a:t>是 </a:t>
            </a:r>
            <a:r>
              <a:rPr lang="en-US" altLang="zh-CN" sz="1600" dirty="0">
                <a:cs typeface="+mn-ea"/>
                <a:sym typeface="+mn-lt"/>
              </a:rPr>
              <a:t>UTF-8 </a:t>
            </a:r>
            <a:r>
              <a:rPr lang="zh-CN" altLang="en-US" sz="1600" dirty="0">
                <a:cs typeface="+mn-ea"/>
                <a:sym typeface="+mn-lt"/>
              </a:rPr>
              <a:t>编码、可修改的动态字符串。</a:t>
            </a:r>
            <a:endParaRPr lang="en-US" altLang="zh-CN" sz="1600" dirty="0"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81875" y="1704354"/>
            <a:ext cx="5760595" cy="7386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pPr lvl="0"/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字符串索引</a:t>
            </a:r>
            <a:endParaRPr lang="en-US" altLang="zh-CN" sz="1400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s1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"hello"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h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s1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];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 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字符串不支持索引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6578452" y="922302"/>
            <a:ext cx="3980815" cy="704850"/>
            <a:chOff x="1447206" y="1402792"/>
            <a:chExt cx="3980815" cy="704850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61046" y="1402792"/>
              <a:ext cx="2466975" cy="704850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1447206" y="1491042"/>
              <a:ext cx="1513840" cy="46814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l">
                <a:lnSpc>
                  <a:spcPts val="3440"/>
                </a:lnSpc>
              </a:pPr>
              <a:r>
                <a:rPr lang="zh-CN" altLang="en-US" sz="1400" dirty="0">
                  <a:cs typeface="+mn-ea"/>
                  <a:sym typeface="+mn-lt"/>
                </a:rPr>
                <a:t>标准库定义：</a:t>
              </a: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6514444" y="5373156"/>
            <a:ext cx="5092838" cy="38215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Some </a:t>
            </a:r>
            <a:r>
              <a:rPr lang="zh-CN" altLang="en-US" sz="1400" dirty="0">
                <a:cs typeface="+mn-ea"/>
                <a:sym typeface="+mn-lt"/>
              </a:rPr>
              <a:t>和 </a:t>
            </a:r>
            <a:r>
              <a:rPr lang="en-US" altLang="zh-CN" sz="1400" dirty="0">
                <a:cs typeface="+mn-ea"/>
                <a:sym typeface="+mn-lt"/>
              </a:rPr>
              <a:t>None </a:t>
            </a:r>
            <a:r>
              <a:rPr lang="zh-CN" altLang="en-US" sz="1400" dirty="0">
                <a:cs typeface="+mn-ea"/>
                <a:sym typeface="+mn-lt"/>
              </a:rPr>
              <a:t>是标准库中 </a:t>
            </a:r>
            <a:r>
              <a:rPr lang="en-US" altLang="zh-CN" sz="1400" dirty="0" err="1">
                <a:cs typeface="+mn-ea"/>
                <a:sym typeface="+mn-lt"/>
              </a:rPr>
              <a:t>enum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Option </a:t>
            </a:r>
            <a:r>
              <a:rPr lang="zh-CN" altLang="en-US" sz="1400" dirty="0">
                <a:cs typeface="+mn-ea"/>
                <a:sym typeface="+mn-lt"/>
              </a:rPr>
              <a:t>类型的两个变体。</a:t>
            </a:r>
            <a:endParaRPr lang="en-US" altLang="zh-CN" sz="1400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459205" y="168744"/>
            <a:ext cx="10740640" cy="615021"/>
          </a:xfrm>
        </p:spPr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String-str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概念和常用方法</a:t>
            </a:r>
          </a:p>
        </p:txBody>
      </p:sp>
      <p:cxnSp>
        <p:nvCxnSpPr>
          <p:cNvPr id="18" name="直接连接符 17"/>
          <p:cNvCxnSpPr/>
          <p:nvPr/>
        </p:nvCxnSpPr>
        <p:spPr>
          <a:xfrm>
            <a:off x="459205" y="683359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322488" y="2998197"/>
            <a:ext cx="5461884" cy="310769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pPr lvl="0"/>
            <a:r>
              <a:rPr lang="en-US" altLang="zh-CN" sz="1400" dirty="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en-US" altLang="zh-CN" sz="1400" b="1" dirty="0">
                <a:solidFill>
                  <a:srgbClr val="00B050"/>
                </a:solidFill>
                <a:cs typeface="+mn-ea"/>
                <a:sym typeface="+mn-lt"/>
              </a:rPr>
              <a:t>str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声明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str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类型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hello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"Hello, World!"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hello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98C379"/>
                </a:solidFill>
                <a:cs typeface="+mn-ea"/>
                <a:sym typeface="+mn-lt"/>
              </a:rPr>
              <a:t>r#"Hello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, world!"#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contains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方法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bananas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"bananas"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assert!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bananas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contains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"nana"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assert!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!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bananas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contains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"apples"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split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方法</a:t>
            </a:r>
          </a:p>
          <a:p>
            <a:r>
              <a:rPr lang="zh-CN" sz="1400" b="0" i="1" u="none" dirty="0">
                <a:solidFill>
                  <a:srgbClr val="7F848E"/>
                </a:solidFill>
                <a:cs typeface="+mn-ea"/>
                <a:sym typeface="+mn-lt"/>
              </a:rPr>
              <a:t>// collect方法会收集</a:t>
            </a:r>
            <a:r>
              <a:rPr lang="zh-CN" altLang="en-US" sz="1400" b="0" i="1" u="none" dirty="0">
                <a:solidFill>
                  <a:srgbClr val="7F848E"/>
                </a:solidFill>
                <a:cs typeface="+mn-ea"/>
                <a:sym typeface="+mn-lt"/>
              </a:rPr>
              <a:t>切分</a:t>
            </a:r>
            <a:r>
              <a:rPr lang="zh-CN" sz="1400" b="0" i="1" u="none" dirty="0">
                <a:solidFill>
                  <a:srgbClr val="7F848E"/>
                </a:solidFill>
                <a:cs typeface="+mn-ea"/>
                <a:sym typeface="+mn-lt"/>
              </a:rPr>
              <a:t>的元素并转换为相关的集合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Vec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&lt;&amp;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str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"Hello </a:t>
            </a:r>
            <a:r>
              <a:rPr lang="en-US" altLang="zh-CN" sz="1400" dirty="0" err="1">
                <a:solidFill>
                  <a:srgbClr val="98C379"/>
                </a:solidFill>
                <a:cs typeface="+mn-ea"/>
                <a:sym typeface="+mn-lt"/>
              </a:rPr>
              <a:t>World"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split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' '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).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collect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[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"Hello"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"World"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]);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8722" y="1122189"/>
            <a:ext cx="5452249" cy="155292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1400" dirty="0">
                <a:cs typeface="+mn-ea"/>
                <a:sym typeface="+mn-lt"/>
              </a:rPr>
              <a:t>str </a:t>
            </a:r>
            <a:r>
              <a:rPr lang="zh-CN" altLang="en-US" sz="1400" dirty="0">
                <a:cs typeface="+mn-ea"/>
                <a:sym typeface="+mn-lt"/>
              </a:rPr>
              <a:t>类型，也称为字符串切片，是最原始的字符串类型，经常以借用的方式出现（</a:t>
            </a:r>
            <a:r>
              <a:rPr lang="en-US" altLang="zh-CN" sz="1400" dirty="0">
                <a:cs typeface="+mn-ea"/>
                <a:sym typeface="+mn-lt"/>
              </a:rPr>
              <a:t>&amp;str</a:t>
            </a:r>
            <a:r>
              <a:rPr lang="zh-CN" altLang="en-US" sz="1400" dirty="0">
                <a:cs typeface="+mn-ea"/>
                <a:sym typeface="+mn-lt"/>
              </a:rPr>
              <a:t>）。</a:t>
            </a:r>
            <a:endParaRPr lang="en-US" altLang="zh-CN" sz="14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cs typeface="+mn-ea"/>
                <a:sym typeface="+mn-lt"/>
              </a:rPr>
              <a:t>str </a:t>
            </a:r>
            <a:r>
              <a:rPr lang="zh-CN" altLang="en-US" sz="1400" dirty="0">
                <a:cs typeface="+mn-ea"/>
                <a:sym typeface="+mn-lt"/>
              </a:rPr>
              <a:t>类型是总是有效 </a:t>
            </a:r>
            <a:r>
              <a:rPr lang="en-US" altLang="zh-CN" sz="1400" dirty="0">
                <a:cs typeface="+mn-ea"/>
                <a:sym typeface="+mn-lt"/>
              </a:rPr>
              <a:t>UTF-8 </a:t>
            </a:r>
            <a:r>
              <a:rPr lang="zh-CN" altLang="en-US" sz="1400" dirty="0">
                <a:cs typeface="+mn-ea"/>
                <a:sym typeface="+mn-lt"/>
              </a:rPr>
              <a:t>的，它保证了它包含的字节序列是符合 </a:t>
            </a:r>
            <a:r>
              <a:rPr lang="en-US" altLang="zh-CN" sz="1400" dirty="0">
                <a:cs typeface="+mn-ea"/>
                <a:sym typeface="+mn-lt"/>
              </a:rPr>
              <a:t>UTF-8 </a:t>
            </a:r>
            <a:r>
              <a:rPr lang="zh-CN" altLang="en-US" sz="1400" dirty="0">
                <a:cs typeface="+mn-ea"/>
                <a:sym typeface="+mn-lt"/>
              </a:rPr>
              <a:t>编码规范的；</a:t>
            </a:r>
            <a:endParaRPr lang="en-US" altLang="zh-CN" sz="14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cs typeface="+mn-ea"/>
                <a:sym typeface="+mn-lt"/>
              </a:rPr>
              <a:t>&amp;str </a:t>
            </a:r>
            <a:r>
              <a:rPr lang="zh-CN" altLang="en-US" sz="1400" dirty="0">
                <a:cs typeface="+mn-ea"/>
                <a:sym typeface="+mn-lt"/>
              </a:rPr>
              <a:t>由两个组件组成：一个指向某些字节的指针，和一个长度；</a:t>
            </a:r>
            <a:endParaRPr lang="en-US" altLang="zh-CN" sz="1400" dirty="0"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985005" y="2743127"/>
            <a:ext cx="5361567" cy="145091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pPr lvl="0"/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"hello world"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hello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&amp;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str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&amp;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..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];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 // hello = “hello”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world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&amp;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str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&amp;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6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..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];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// world = “world”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9921" y="4596503"/>
            <a:ext cx="1847644" cy="2131025"/>
          </a:xfrm>
          <a:prstGeom prst="rect">
            <a:avLst/>
          </a:prstGeom>
        </p:spPr>
      </p:pic>
      <p:cxnSp>
        <p:nvCxnSpPr>
          <p:cNvPr id="11" name="直接箭头连接符 10"/>
          <p:cNvCxnSpPr>
            <a:endCxn id="10" idx="0"/>
          </p:cNvCxnSpPr>
          <p:nvPr/>
        </p:nvCxnSpPr>
        <p:spPr>
          <a:xfrm>
            <a:off x="8394355" y="4270044"/>
            <a:ext cx="1" cy="3267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143699" y="952160"/>
            <a:ext cx="5202874" cy="160960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pPr lvl="0"/>
            <a:r>
              <a:rPr lang="zh-CN" sz="1200" b="0" i="1" u="none" dirty="0">
                <a:solidFill>
                  <a:srgbClr val="7F848E"/>
                </a:solidFill>
                <a:cs typeface="+mn-ea"/>
                <a:sym typeface="+mn-lt"/>
              </a:rPr>
              <a:t>// 字符串字面量</a:t>
            </a:r>
            <a:endParaRPr lang="en-US" sz="12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pPr lvl="0"/>
            <a:r>
              <a:rPr lang="en-US" sz="12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E06C75"/>
                </a:solidFill>
                <a:cs typeface="+mn-ea"/>
                <a:sym typeface="+mn-lt"/>
              </a:rPr>
              <a:t>a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 &amp;</a:t>
            </a:r>
            <a:r>
              <a:rPr lang="en-US" sz="1200" b="0" u="none" dirty="0">
                <a:solidFill>
                  <a:srgbClr val="E5C07B"/>
                </a:solidFill>
                <a:cs typeface="+mn-ea"/>
                <a:sym typeface="+mn-lt"/>
              </a:rPr>
              <a:t>str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200" b="0" u="none" dirty="0">
                <a:solidFill>
                  <a:srgbClr val="98C379"/>
                </a:solidFill>
                <a:cs typeface="+mn-ea"/>
                <a:sym typeface="+mn-lt"/>
              </a:rPr>
              <a:t>"hello"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  <a:endParaRPr lang="zh-CN" sz="1200" b="0" i="1" u="none" dirty="0">
              <a:solidFill>
                <a:srgbClr val="7F848E"/>
              </a:solidFill>
              <a:cs typeface="+mn-ea"/>
              <a:sym typeface="+mn-lt"/>
            </a:endParaRPr>
          </a:p>
          <a:p>
            <a:pPr lvl="0"/>
            <a:r>
              <a:rPr lang="zh-CN" sz="1200" b="0" i="1" u="none" dirty="0">
                <a:solidFill>
                  <a:srgbClr val="7F848E"/>
                </a:solidFill>
                <a:cs typeface="+mn-ea"/>
                <a:sym typeface="+mn-lt"/>
              </a:rPr>
              <a:t>// 原始字符串字面量，不会处理转义字符</a:t>
            </a:r>
            <a:endParaRPr lang="en-US" sz="12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pPr lvl="0"/>
            <a:r>
              <a:rPr lang="en-US" sz="12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E06C75"/>
                </a:solidFill>
                <a:cs typeface="+mn-ea"/>
                <a:sym typeface="+mn-lt"/>
              </a:rPr>
              <a:t>b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 &amp;</a:t>
            </a:r>
            <a:r>
              <a:rPr lang="en-US" sz="1200" b="0" u="none" dirty="0">
                <a:solidFill>
                  <a:srgbClr val="E5C07B"/>
                </a:solidFill>
                <a:cs typeface="+mn-ea"/>
                <a:sym typeface="+mn-lt"/>
              </a:rPr>
              <a:t>str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200" b="0" u="none" dirty="0" err="1">
                <a:solidFill>
                  <a:srgbClr val="98C379"/>
                </a:solidFill>
                <a:cs typeface="+mn-ea"/>
                <a:sym typeface="+mn-lt"/>
              </a:rPr>
              <a:t>r"hello</a:t>
            </a:r>
            <a:r>
              <a:rPr lang="en-US" altLang="zh-CN" sz="1200" b="0" u="none" dirty="0">
                <a:solidFill>
                  <a:srgbClr val="98C379"/>
                </a:solidFill>
                <a:cs typeface="+mn-ea"/>
                <a:sym typeface="+mn-lt"/>
              </a:rPr>
              <a:t>\world</a:t>
            </a:r>
            <a:r>
              <a:rPr lang="en-US" sz="1200" b="0" u="none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  <a:endParaRPr lang="zh-CN" sz="1200" b="0" i="1" u="none" dirty="0">
              <a:solidFill>
                <a:srgbClr val="7F848E"/>
              </a:solidFill>
              <a:cs typeface="+mn-ea"/>
              <a:sym typeface="+mn-lt"/>
            </a:endParaRPr>
          </a:p>
          <a:p>
            <a:pPr lvl="0"/>
            <a:r>
              <a:rPr lang="zh-CN" sz="1200" b="0" i="1" u="none" dirty="0">
                <a:solidFill>
                  <a:srgbClr val="7F848E"/>
                </a:solidFill>
                <a:cs typeface="+mn-ea"/>
                <a:sym typeface="+mn-lt"/>
              </a:rPr>
              <a:t>// 当字符串中包含双引号，可以使用一个或者#来创建原始字符串字面量</a:t>
            </a:r>
            <a:endParaRPr lang="en-US" sz="12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pPr lvl="0"/>
            <a:r>
              <a:rPr lang="en-US" sz="12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E06C75"/>
                </a:solidFill>
                <a:cs typeface="+mn-ea"/>
                <a:sym typeface="+mn-lt"/>
              </a:rPr>
              <a:t>c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 &amp;</a:t>
            </a:r>
            <a:r>
              <a:rPr lang="en-US" sz="1200" b="0" u="none" dirty="0">
                <a:solidFill>
                  <a:srgbClr val="E5C07B"/>
                </a:solidFill>
                <a:cs typeface="+mn-ea"/>
                <a:sym typeface="+mn-lt"/>
              </a:rPr>
              <a:t>str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sz="1200" b="0" u="none" dirty="0">
                <a:solidFill>
                  <a:srgbClr val="98C379"/>
                </a:solidFill>
                <a:cs typeface="+mn-ea"/>
                <a:sym typeface="+mn-lt"/>
              </a:rPr>
              <a:t>r#"</a:t>
            </a:r>
            <a:r>
              <a:rPr lang="en-US" sz="1200" b="0" u="none" dirty="0" err="1">
                <a:solidFill>
                  <a:srgbClr val="98C379"/>
                </a:solidFill>
                <a:cs typeface="+mn-ea"/>
                <a:sym typeface="+mn-lt"/>
              </a:rPr>
              <a:t>hell"o</a:t>
            </a:r>
            <a:r>
              <a:rPr lang="en-US" sz="1200" b="0" u="none" dirty="0">
                <a:solidFill>
                  <a:srgbClr val="98C379"/>
                </a:solidFill>
                <a:cs typeface="+mn-ea"/>
                <a:sym typeface="+mn-lt"/>
              </a:rPr>
              <a:t>"#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  <a:endParaRPr lang="zh-CN" sz="1200" b="0" i="1" u="none" dirty="0">
              <a:solidFill>
                <a:srgbClr val="7F848E"/>
              </a:solidFill>
              <a:cs typeface="+mn-ea"/>
              <a:sym typeface="+mn-lt"/>
            </a:endParaRPr>
          </a:p>
          <a:p>
            <a:pPr lvl="0"/>
            <a:r>
              <a:rPr lang="zh-CN" sz="1200" b="0" i="1" u="none" dirty="0">
                <a:solidFill>
                  <a:srgbClr val="7F848E"/>
                </a:solidFill>
                <a:cs typeface="+mn-ea"/>
                <a:sym typeface="+mn-lt"/>
              </a:rPr>
              <a:t>// 想要非 UTF-8 字符串，或者需要一个字节数组，可以使用字节数组</a:t>
            </a:r>
            <a:endParaRPr lang="en-US" sz="12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pPr lvl="0"/>
            <a:r>
              <a:rPr lang="en-US" sz="12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E06C75"/>
                </a:solidFill>
                <a:cs typeface="+mn-ea"/>
                <a:sym typeface="+mn-lt"/>
              </a:rPr>
              <a:t>d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 &amp;[</a:t>
            </a:r>
            <a:r>
              <a:rPr lang="en-US" sz="1200" b="0" u="none" dirty="0">
                <a:solidFill>
                  <a:srgbClr val="E5C07B"/>
                </a:solidFill>
                <a:cs typeface="+mn-ea"/>
                <a:sym typeface="+mn-lt"/>
              </a:rPr>
              <a:t>u8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; </a:t>
            </a:r>
            <a:r>
              <a:rPr lang="en-US" sz="1200" b="0" u="none" dirty="0">
                <a:solidFill>
                  <a:srgbClr val="D19A66"/>
                </a:solidFill>
                <a:cs typeface="+mn-ea"/>
                <a:sym typeface="+mn-lt"/>
              </a:rPr>
              <a:t>5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] = </a:t>
            </a:r>
            <a:r>
              <a:rPr lang="en-US" sz="1200" b="0" u="none" dirty="0" err="1">
                <a:solidFill>
                  <a:srgbClr val="98C379"/>
                </a:solidFill>
                <a:cs typeface="+mn-ea"/>
                <a:sym typeface="+mn-lt"/>
              </a:rPr>
              <a:t>br</a:t>
            </a:r>
            <a:r>
              <a:rPr lang="en-US" sz="1200" b="0" u="none" dirty="0">
                <a:solidFill>
                  <a:srgbClr val="98C379"/>
                </a:solidFill>
                <a:cs typeface="+mn-ea"/>
                <a:sym typeface="+mn-lt"/>
              </a:rPr>
              <a:t>#"hello"#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  <a:endParaRPr lang="en-US" altLang="zh-CN" sz="1200" b="0" u="none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本章小结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090007"/>
            <a:ext cx="10733557" cy="4690459"/>
          </a:xfrm>
        </p:spPr>
        <p:txBody>
          <a:bodyPr/>
          <a:lstStyle/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学完本章，希望可以：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>
                <a:cs typeface="+mn-ea"/>
                <a:sym typeface="+mn-lt"/>
              </a:rPr>
              <a:t>了解程序中堆和栈的概念；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>
                <a:cs typeface="+mn-ea"/>
                <a:sym typeface="+mn-lt"/>
              </a:rPr>
              <a:t>掌握</a:t>
            </a:r>
            <a:r>
              <a:rPr lang="en-US" altLang="zh-CN" sz="1800" dirty="0">
                <a:cs typeface="+mn-ea"/>
                <a:sym typeface="+mn-lt"/>
              </a:rPr>
              <a:t>Rust </a:t>
            </a:r>
            <a:r>
              <a:rPr lang="en-US" altLang="zh-CN" sz="1800" dirty="0" err="1">
                <a:cs typeface="+mn-ea"/>
                <a:sym typeface="+mn-lt"/>
              </a:rPr>
              <a:t>Vec</a:t>
            </a:r>
            <a:r>
              <a:rPr lang="zh-CN" altLang="en-US" sz="1800" dirty="0">
                <a:cs typeface="+mn-ea"/>
                <a:sym typeface="+mn-lt"/>
              </a:rPr>
              <a:t>数据类型的概念和基本用法；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 dirty="0">
                <a:cs typeface="+mn-ea"/>
                <a:sym typeface="+mn-lt"/>
              </a:rPr>
              <a:t>掌握</a:t>
            </a:r>
            <a:r>
              <a:rPr lang="en-US" altLang="zh-CN" sz="1800" dirty="0">
                <a:cs typeface="+mn-ea"/>
                <a:sym typeface="+mn-lt"/>
              </a:rPr>
              <a:t>Rust String</a:t>
            </a:r>
            <a:r>
              <a:rPr lang="zh-CN" altLang="en-US" sz="1800" dirty="0">
                <a:cs typeface="+mn-ea"/>
                <a:sym typeface="+mn-lt"/>
              </a:rPr>
              <a:t>和</a:t>
            </a:r>
            <a:r>
              <a:rPr lang="en-US" altLang="zh-CN" sz="1800" dirty="0">
                <a:cs typeface="+mn-ea"/>
                <a:sym typeface="+mn-lt"/>
              </a:rPr>
              <a:t>str</a:t>
            </a:r>
            <a:r>
              <a:rPr lang="zh-CN" altLang="en-US" sz="1800" dirty="0">
                <a:cs typeface="+mn-ea"/>
                <a:sym typeface="+mn-lt"/>
              </a:rPr>
              <a:t>数据类型概念、声明语法和基础使用；</a:t>
            </a:r>
            <a:endParaRPr lang="en-US" altLang="zh-CN" sz="1800" dirty="0"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22092" y="962165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j44a5bpw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j44a5bpw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j44a5bpw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j44a5bpw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15151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vert="horz" wrap="none" rtlCol="0">
        <a:spAutoFit/>
      </a:bodyPr>
      <a:lstStyle>
        <a:defPPr algn="l">
          <a:lnSpc>
            <a:spcPts val="3440"/>
          </a:lnSpc>
          <a:defRPr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j44a5bpw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1352</TotalTime>
  <Words>1680</Words>
  <Application>Microsoft Office PowerPoint</Application>
  <PresentationFormat>自定义</PresentationFormat>
  <Paragraphs>152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方正兰亭黑简体</vt:lpstr>
      <vt:lpstr>Microsoft YaHei</vt:lpstr>
      <vt:lpstr>Arial</vt:lpstr>
      <vt:lpstr>Huawei Sans</vt:lpstr>
      <vt:lpstr>Wingdings</vt:lpstr>
      <vt:lpstr>1_Title Slide</vt:lpstr>
      <vt:lpstr>2_Title Slide</vt:lpstr>
      <vt:lpstr>Chart page</vt:lpstr>
      <vt:lpstr>4_Chart page</vt:lpstr>
      <vt:lpstr>End page</vt:lpstr>
      <vt:lpstr>Vec和String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Vec和String</dc:title>
  <dc:creator>fanyan (A)</dc:creator>
  <cp:lastModifiedBy>Zhangyandong (ben)</cp:lastModifiedBy>
  <cp:revision>21</cp:revision>
  <dcterms:created xsi:type="dcterms:W3CDTF">2023-10-18T07:15:48Z</dcterms:created>
  <dcterms:modified xsi:type="dcterms:W3CDTF">2024-11-20T02:26:11Z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(3)iMbBZPFn/0LuT2+4/NINL6twPgcejmgJG6DGV43k0wwc6Z3FfQE47rGWB3hYETLIJqVY91Go
xhcA2jubie2WsAgcvjT9qohffBDZVnEcYQBWzcAk02JDBEMtvyw9/fFtbw3b8DW1mk60DYSv
mQbLjH8vGT6sN/sjazU1s+mnWWqMwN6hyKXLN9kSIwhZ+FHRa/E5JOpR6yeAE88/TeGeY9Fn
mXn/hN/SXYniPdUCNw</vt:lpwstr>
  </property>
  <property fmtid="{D5CDD505-2E9C-101B-9397-08002B2CF9AE}" pid="3" name="_2015_ms_pID_7253431">
    <vt:lpwstr>74rJqwqzPeB8K6h7dKUyEQzG4bWttRtQ2ZgtVQ8rwHhlQlL0hNEqzA
6i8DmOhNYIth6nibLOHKyaYzssxoEoVFdCPAepydewqUUAPI5JNtBo3upsaKV1Nik9UBzSbz
6pMwG8oiBWTIXy6vi1fv7KkgrAjrg1Y8b4LCgOKLqTSnEV1q25r8gf34vKZ4RxeKGHPQCcRZ
qXgdyDbqlkya8aykEKoJULQlYbrPyHsI7yJT</vt:lpwstr>
  </property>
  <property fmtid="{D5CDD505-2E9C-101B-9397-08002B2CF9AE}" pid="4" name="_2015_ms_pID_7253432">
    <vt:lpwstr>gA==</vt:lpwstr>
  </property>
  <property fmtid="{D5CDD505-2E9C-101B-9397-08002B2CF9AE}" pid="5" name="KSOProductBuildVer">
    <vt:lpwstr>2052-0.0.0.0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1697529755</vt:lpwstr>
  </property>
</Properties>
</file>