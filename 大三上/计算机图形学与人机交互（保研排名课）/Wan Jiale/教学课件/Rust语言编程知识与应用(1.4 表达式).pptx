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 id="2147483659" r:id="rId3"/>
    <p:sldMasterId id="2147483660" r:id="rId4"/>
    <p:sldMasterId id="2147483662" r:id="rId5"/>
  </p:sldMasterIdLst>
  <p:notesMasterIdLst>
    <p:notesMasterId r:id="rId33"/>
  </p:notesMasterIdLst>
  <p:handoutMasterIdLst>
    <p:handoutMasterId r:id="rId34"/>
  </p:handoutMasterIdLst>
  <p:sldIdLst>
    <p:sldId id="283" r:id="rId6"/>
    <p:sldId id="288" r:id="rId7"/>
    <p:sldId id="349" r:id="rId8"/>
    <p:sldId id="472" r:id="rId9"/>
    <p:sldId id="395" r:id="rId10"/>
    <p:sldId id="483" r:id="rId11"/>
    <p:sldId id="471" r:id="rId12"/>
    <p:sldId id="475" r:id="rId13"/>
    <p:sldId id="503" r:id="rId14"/>
    <p:sldId id="476" r:id="rId15"/>
    <p:sldId id="421" r:id="rId16"/>
    <p:sldId id="473" r:id="rId17"/>
    <p:sldId id="441" r:id="rId18"/>
    <p:sldId id="474" r:id="rId19"/>
    <p:sldId id="443" r:id="rId20"/>
    <p:sldId id="423" r:id="rId21"/>
    <p:sldId id="424" r:id="rId22"/>
    <p:sldId id="478" r:id="rId23"/>
    <p:sldId id="521" r:id="rId24"/>
    <p:sldId id="480" r:id="rId25"/>
    <p:sldId id="481" r:id="rId26"/>
    <p:sldId id="482" r:id="rId27"/>
    <p:sldId id="463" r:id="rId28"/>
    <p:sldId id="467" r:id="rId29"/>
    <p:sldId id="459" r:id="rId30"/>
    <p:sldId id="292" r:id="rId31"/>
    <p:sldId id="280" r:id="rId32"/>
  </p:sldIdLst>
  <p:sldSz cx="1219676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_图片版" id="{E8D0D622-F6C6-F44A-B365-B4A5FF6195C2}">
          <p14:sldIdLst>
            <p14:sldId id="283"/>
          </p14:sldIdLst>
        </p14:section>
        <p14:section name="目录页" id="{9D221634-295C-7843-AF5C-A0CB4F229241}">
          <p14:sldIdLst>
            <p14:sldId id="288"/>
          </p14:sldIdLst>
        </p14:section>
        <p14:section name="章节页" id="{FD05EE94-C931-8C4B-83A2-004B32AA1207}">
          <p14:sldIdLst>
            <p14:sldId id="349"/>
            <p14:sldId id="472"/>
            <p14:sldId id="395"/>
            <p14:sldId id="483"/>
            <p14:sldId id="471"/>
            <p14:sldId id="475"/>
            <p14:sldId id="503"/>
            <p14:sldId id="476"/>
            <p14:sldId id="421"/>
            <p14:sldId id="473"/>
            <p14:sldId id="441"/>
            <p14:sldId id="474"/>
            <p14:sldId id="443"/>
            <p14:sldId id="423"/>
            <p14:sldId id="424"/>
            <p14:sldId id="478"/>
            <p14:sldId id="521"/>
            <p14:sldId id="480"/>
            <p14:sldId id="481"/>
            <p14:sldId id="482"/>
            <p14:sldId id="463"/>
            <p14:sldId id="467"/>
            <p14:sldId id="459"/>
            <p14:sldId id="292"/>
          </p14:sldIdLst>
        </p14:section>
        <p14:section name="结束页" id="{3F9D54A7-3BE2-2540-BB4C-DFE5509085F3}">
          <p14:sldIdLst>
            <p14:sldId id="280"/>
          </p14:sldIdLst>
        </p14:section>
      </p14:sectionLst>
    </p:ext>
    <p:ext uri="{EFAFB233-063F-42B5-8137-9DF3F51BA10A}">
      <p15:sldGuideLst xmlns:p15="http://schemas.microsoft.com/office/powerpoint/2012/main">
        <p15:guide id="1" pos="3701">
          <p15:clr>
            <a:srgbClr val="A4A3A4"/>
          </p15:clr>
        </p15:guide>
        <p15:guide id="2" orient="horz" pos="2159">
          <p15:clr>
            <a:srgbClr val="A4A3A4"/>
          </p15:clr>
        </p15:guide>
        <p15:guide id="3" pos="3539">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002" name="Wuxiaojun" initials="W" lastIdx="1" clrIdx="1">
    <p:extLst>
      <p:ext uri="{19B8F6BF-5375-455C-9EA6-DF929625EA0E}">
        <p15:presenceInfo xmlns:p15="http://schemas.microsoft.com/office/powerpoint/2012/main" userId="S-1-5-21-147214757-305610072-1517763936-507486" providerId="AD"/>
      </p:ext>
    </p:extLst>
  </p:cmAuthor>
  <p:cmAuthor id="1" name="liziqiang (A)" initials="l(" lastIdx="59" clrIdx="0"/>
  <p:cmAuthor id="2000" name="gaoshang 00419539_MRJvMvEj" initials="authorId_AK20210901:AK20210901JXNSXO980865" lastIdx="1153175877" clrIdx="0"/>
  <p:cmAuthor id="2001" name="liziqiang 00556901_ERbuA7r6" initials="authorId_AK20210901:AK20210901JXNSXO4497046" lastIdx="169030119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0000"/>
    <a:srgbClr val="E57B84"/>
    <a:srgbClr val="E6A8AD"/>
    <a:srgbClr val="E57984"/>
    <a:srgbClr val="FFFFFF"/>
    <a:srgbClr val="151515"/>
    <a:srgbClr val="C7000B"/>
    <a:srgbClr val="575756"/>
    <a:srgbClr val="DD4654"/>
    <a:srgbClr val="F3D2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84264" autoAdjust="0"/>
  </p:normalViewPr>
  <p:slideViewPr>
    <p:cSldViewPr snapToGrid="0" snapToObjects="1">
      <p:cViewPr varScale="1">
        <p:scale>
          <a:sx n="69" d="100"/>
          <a:sy n="69" d="100"/>
        </p:scale>
        <p:origin x="48" y="76"/>
      </p:cViewPr>
      <p:guideLst>
        <p:guide pos="3701"/>
        <p:guide orient="horz" pos="2159"/>
        <p:guide pos="3539"/>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方正兰亭黑简体" panose="02000000000000000000" pitchFamily="2" charset="-122"/>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方正兰亭黑简体" panose="02000000000000000000" pitchFamily="2" charset="-122"/>
              </a:rPr>
              <a:t>11/20/2024</a:t>
            </a:fld>
            <a:endParaRPr lang="en-US" dirty="0">
              <a:latin typeface="方正兰亭黑简体" panose="02000000000000000000" pitchFamily="2" charset="-122"/>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方正兰亭黑简体" panose="02000000000000000000" pitchFamily="2" charset="-122"/>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方正兰亭黑简体" panose="02000000000000000000" pitchFamily="2" charset="-122"/>
              </a:rPr>
              <a:t>‹#›</a:t>
            </a:fld>
            <a:endParaRPr lang="en-US" dirty="0">
              <a:latin typeface="方正兰亭黑简体" panose="02000000000000000000" pitchFamily="2"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方正兰亭黑简体" panose="02000000000000000000" pitchFamily="2" charset="-122"/>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方正兰亭黑简体" panose="02000000000000000000" pitchFamily="2" charset="-122"/>
              </a:defRPr>
            </a:lvl1pPr>
          </a:lstStyle>
          <a:p>
            <a:fld id="{0DD60A27-BF12-6744-9E93-932A0E34D8BB}" type="datetimeFigureOut">
              <a:rPr lang="en-US" smtClean="0"/>
              <a:pPr/>
              <a:t>11/20/2024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方正兰亭黑简体" panose="02000000000000000000" pitchFamily="2" charset="-122"/>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方正兰亭黑简体" panose="02000000000000000000" pitchFamily="2" charset="-122"/>
              </a:defRPr>
            </a:lvl1pPr>
          </a:lstStyle>
          <a:p>
            <a:fld id="{F07326F3-4732-B74B-9C70-D0992466E499}"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方正兰亭黑简体" panose="02000000000000000000" pitchFamily="2" charset="-122"/>
        <a:ea typeface="+mn-ea"/>
        <a:cs typeface="+mn-cs"/>
      </a:defRPr>
    </a:lvl1pPr>
    <a:lvl2pPr marL="609600" algn="l" defTabSz="1219200" rtl="0" eaLnBrk="1" latinLnBrk="0" hangingPunct="1">
      <a:defRPr sz="1600" kern="1200">
        <a:solidFill>
          <a:schemeClr val="tx1"/>
        </a:solidFill>
        <a:latin typeface="方正兰亭黑简体" panose="02000000000000000000" pitchFamily="2" charset="-122"/>
        <a:ea typeface="+mn-ea"/>
        <a:cs typeface="+mn-cs"/>
      </a:defRPr>
    </a:lvl2pPr>
    <a:lvl3pPr marL="1219200" algn="l" defTabSz="1219200" rtl="0" eaLnBrk="1" latinLnBrk="0" hangingPunct="1">
      <a:defRPr sz="1600" kern="1200">
        <a:solidFill>
          <a:schemeClr val="tx1"/>
        </a:solidFill>
        <a:latin typeface="方正兰亭黑简体" panose="02000000000000000000" pitchFamily="2" charset="-122"/>
        <a:ea typeface="+mn-ea"/>
        <a:cs typeface="+mn-cs"/>
      </a:defRPr>
    </a:lvl3pPr>
    <a:lvl4pPr marL="1828800" algn="l" defTabSz="1219200" rtl="0" eaLnBrk="1" latinLnBrk="0" hangingPunct="1">
      <a:defRPr sz="1600" kern="1200">
        <a:solidFill>
          <a:schemeClr val="tx1"/>
        </a:solidFill>
        <a:latin typeface="方正兰亭黑简体" panose="02000000000000000000" pitchFamily="2" charset="-122"/>
        <a:ea typeface="+mn-ea"/>
        <a:cs typeface="+mn-cs"/>
      </a:defRPr>
    </a:lvl4pPr>
    <a:lvl5pPr marL="2438400" algn="l" defTabSz="1219200" rtl="0" eaLnBrk="1" latinLnBrk="0" hangingPunct="1">
      <a:defRPr sz="1600" kern="1200">
        <a:solidFill>
          <a:schemeClr val="tx1"/>
        </a:solidFill>
        <a:latin typeface="方正兰亭黑简体" panose="02000000000000000000" pitchFamily="2" charset="-122"/>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i="1" kern="1200" dirty="0">
                <a:solidFill>
                  <a:schemeClr val="tx1"/>
                </a:solidFill>
                <a:latin typeface="方正兰亭黑简体" panose="02000000000000000000" pitchFamily="2" charset="-122"/>
                <a:ea typeface="方正兰亭黑简体" panose="02000000000000000000" pitchFamily="2" charset="-122"/>
                <a:cs typeface="+mn-cs"/>
              </a:rPr>
              <a:t>本章我们介绍</a:t>
            </a:r>
            <a:r>
              <a:rPr lang="en-US" altLang="zh-CN" sz="1200" i="1" kern="1200" dirty="0">
                <a:solidFill>
                  <a:schemeClr val="tx1"/>
                </a:solidFill>
                <a:latin typeface="方正兰亭黑简体" panose="02000000000000000000" pitchFamily="2" charset="-122"/>
                <a:ea typeface="方正兰亭黑简体" panose="02000000000000000000" pitchFamily="2" charset="-122"/>
                <a:cs typeface="+mn-cs"/>
              </a:rPr>
              <a:t>Rust</a:t>
            </a:r>
            <a:r>
              <a:rPr lang="zh-CN" altLang="en-US" sz="1200" i="1" kern="1200" dirty="0">
                <a:solidFill>
                  <a:schemeClr val="tx1"/>
                </a:solidFill>
                <a:latin typeface="方正兰亭黑简体" panose="02000000000000000000" pitchFamily="2" charset="-122"/>
                <a:ea typeface="方正兰亭黑简体" panose="02000000000000000000" pitchFamily="2" charset="-122"/>
                <a:cs typeface="+mn-cs"/>
              </a:rPr>
              <a:t>表达式</a:t>
            </a:r>
          </a:p>
        </p:txBody>
      </p:sp>
      <p:sp>
        <p:nvSpPr>
          <p:cNvPr id="4" name="灯片编号占位符 3"/>
          <p:cNvSpPr>
            <a:spLocks noGrp="1"/>
          </p:cNvSpPr>
          <p:nvPr>
            <p:ph type="sldNum" sz="quarter" idx="10"/>
          </p:nvPr>
        </p:nvSpPr>
        <p:spPr/>
        <p:txBody>
          <a:bodyPr/>
          <a:lstStyle/>
          <a:p>
            <a:fld id="{F07326F3-4732-B74B-9C70-D0992466E499}"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dirty="0">
              <a:solidFill>
                <a:schemeClr val="tx1"/>
              </a:solidFill>
              <a:effectLs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dirty="0">
              <a:solidFill>
                <a:schemeClr val="tx1"/>
              </a:solidFill>
              <a:effectLs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kern="1200" dirty="0">
                <a:solidFill>
                  <a:schemeClr val="tx1"/>
                </a:solidFill>
                <a:latin typeface="方正兰亭黑简体" panose="02000000000000000000" pitchFamily="2" charset="-122"/>
                <a:ea typeface="方正兰亭黑简体" panose="02000000000000000000" pitchFamily="2" charset="-122"/>
                <a:cs typeface="+mn-cs"/>
              </a:rPr>
              <a:t>C/C++</a:t>
            </a:r>
            <a:r>
              <a:rPr lang="zh-CN" altLang="en-US" sz="1400" kern="1200" dirty="0">
                <a:solidFill>
                  <a:schemeClr val="tx1"/>
                </a:solidFill>
                <a:latin typeface="方正兰亭黑简体" panose="02000000000000000000" pitchFamily="2" charset="-122"/>
                <a:ea typeface="方正兰亭黑简体" panose="02000000000000000000" pitchFamily="2" charset="-122"/>
                <a:cs typeface="+mn-cs"/>
              </a:rPr>
              <a:t>语言：按位取反“</a:t>
            </a:r>
            <a:r>
              <a:rPr lang="en-US" altLang="zh-CN" sz="1400" kern="1200" dirty="0">
                <a:solidFill>
                  <a:schemeClr val="tx1"/>
                </a:solidFill>
                <a:latin typeface="方正兰亭黑简体" panose="02000000000000000000" pitchFamily="2" charset="-122"/>
                <a:ea typeface="方正兰亭黑简体" panose="02000000000000000000" pitchFamily="2" charset="-122"/>
                <a:cs typeface="+mn-cs"/>
              </a:rPr>
              <a:t>~”</a:t>
            </a:r>
            <a:r>
              <a:rPr lang="zh-CN" altLang="en-US" sz="1400" kern="1200" dirty="0">
                <a:solidFill>
                  <a:schemeClr val="tx1"/>
                </a:solidFill>
                <a:latin typeface="方正兰亭黑简体" panose="02000000000000000000" pitchFamily="2" charset="-122"/>
                <a:ea typeface="方正兰亭黑简体" panose="02000000000000000000" pitchFamily="2" charset="-122"/>
                <a:cs typeface="+mn-cs"/>
              </a:rPr>
              <a:t>，这与</a:t>
            </a:r>
            <a:r>
              <a:rPr lang="en-US" altLang="zh-CN" sz="1400" kern="1200" dirty="0">
                <a:solidFill>
                  <a:schemeClr val="tx1"/>
                </a:solidFill>
                <a:latin typeface="方正兰亭黑简体" panose="02000000000000000000" pitchFamily="2" charset="-122"/>
                <a:ea typeface="方正兰亭黑简体" panose="02000000000000000000" pitchFamily="2" charset="-122"/>
                <a:cs typeface="+mn-cs"/>
              </a:rPr>
              <a:t>Rust</a:t>
            </a:r>
            <a:r>
              <a:rPr lang="zh-CN" altLang="en-US" sz="1400" kern="1200" dirty="0">
                <a:solidFill>
                  <a:schemeClr val="tx1"/>
                </a:solidFill>
                <a:latin typeface="方正兰亭黑简体" panose="02000000000000000000" pitchFamily="2" charset="-122"/>
                <a:ea typeface="方正兰亭黑简体" panose="02000000000000000000" pitchFamily="2" charset="-122"/>
                <a:cs typeface="+mn-cs"/>
              </a:rPr>
              <a:t>不一致</a:t>
            </a:r>
          </a:p>
        </p:txBody>
      </p:sp>
      <p:sp>
        <p:nvSpPr>
          <p:cNvPr id="4" name="灯片编号占位符 3"/>
          <p:cNvSpPr>
            <a:spLocks noGrp="1"/>
          </p:cNvSpPr>
          <p:nvPr>
            <p:ph type="sldNum" sz="quarter" idx="10"/>
          </p:nvPr>
        </p:nvSpPr>
        <p:spPr/>
        <p:txBody>
          <a:bodyPr/>
          <a:lstStyle/>
          <a:p>
            <a:fld id="{F07326F3-4732-B74B-9C70-D0992466E499}" type="slidenum">
              <a:rPr lang="en-US" smtClean="0"/>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F07326F3-4732-B74B-9C70-D0992466E499}" type="slidenum">
              <a:rPr lang="en-US" smtClean="0"/>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ea typeface="方正兰亭黑简体" panose="02000000000000000000" pitchFamily="2" charset="-122"/>
              </a:rPr>
              <a:t>If/else</a:t>
            </a:r>
            <a:r>
              <a:rPr lang="zh-CN" altLang="en-US" baseline="0" dirty="0">
                <a:ea typeface="方正兰亭黑简体" panose="02000000000000000000" pitchFamily="2" charset="-122"/>
              </a:rPr>
              <a:t>内的可省略最后一条语句后面的分号</a:t>
            </a:r>
          </a:p>
        </p:txBody>
      </p:sp>
      <p:sp>
        <p:nvSpPr>
          <p:cNvPr id="4" name="灯片编号占位符 3"/>
          <p:cNvSpPr>
            <a:spLocks noGrp="1"/>
          </p:cNvSpPr>
          <p:nvPr>
            <p:ph type="sldNum" sz="quarter" idx="10"/>
          </p:nvPr>
        </p:nvSpPr>
        <p:spPr/>
        <p:txBody>
          <a:bodyPr/>
          <a:lstStyle/>
          <a:p>
            <a:fld id="{F07326F3-4732-B74B-9C70-D0992466E499}" type="slidenum">
              <a:rPr lang="en-US" smtClean="0"/>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baseline="0" dirty="0">
                <a:solidFill>
                  <a:schemeClr val="tx1"/>
                </a:solidFill>
                <a:effectLst/>
                <a:ea typeface="方正兰亭黑简体" panose="02000000000000000000" pitchFamily="2" charset="-122"/>
                <a:cs typeface="+mn-cs"/>
              </a:rPr>
              <a:t>break</a:t>
            </a:r>
            <a:r>
              <a:rPr lang="zh-CN" altLang="en-US" sz="1600" i="1" baseline="0" dirty="0">
                <a:solidFill>
                  <a:srgbClr val="7F848E"/>
                </a:solidFill>
                <a:latin typeface="方正兰亭黑简体" panose="02000000000000000000" pitchFamily="2" charset="-122"/>
                <a:ea typeface="方正兰亭黑简体" panose="02000000000000000000" pitchFamily="2" charset="-122"/>
              </a:rPr>
              <a:t>退出循环支持带返回值</a:t>
            </a:r>
            <a:endParaRPr lang="zh-CN" altLang="en-US" sz="1600" baseline="0" dirty="0">
              <a:solidFill>
                <a:srgbClr val="ABB2BF"/>
              </a:solidFill>
              <a:latin typeface="方正兰亭黑简体" panose="02000000000000000000" pitchFamily="2" charset="-122"/>
              <a:ea typeface="方正兰亭黑简体" panose="02000000000000000000" pitchFamily="2" charset="-122"/>
            </a:endParaRPr>
          </a:p>
        </p:txBody>
      </p:sp>
      <p:sp>
        <p:nvSpPr>
          <p:cNvPr id="4" name="灯片编号占位符 3"/>
          <p:cNvSpPr>
            <a:spLocks noGrp="1"/>
          </p:cNvSpPr>
          <p:nvPr>
            <p:ph type="sldNum" sz="quarter" idx="10"/>
          </p:nvPr>
        </p:nvSpPr>
        <p:spPr/>
        <p:txBody>
          <a:bodyPr/>
          <a:lstStyle/>
          <a:p>
            <a:fld id="{F07326F3-4732-B74B-9C70-D0992466E499}" type="slidenum">
              <a:rPr lang="en-US" smtClean="0"/>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dirty="0"/>
          </a:p>
        </p:txBody>
      </p:sp>
      <p:sp>
        <p:nvSpPr>
          <p:cNvPr id="4" name="灯片编号占位符 3"/>
          <p:cNvSpPr>
            <a:spLocks noGrp="1"/>
          </p:cNvSpPr>
          <p:nvPr>
            <p:ph type="sldNum" sz="quarter" idx="10"/>
          </p:nvPr>
        </p:nvSpPr>
        <p:spPr/>
        <p:txBody>
          <a:bodyPr/>
          <a:lstStyle/>
          <a:p>
            <a:fld id="{F07326F3-4732-B74B-9C70-D0992466E499}" type="slidenum">
              <a:rPr lang="en-US" smtClean="0"/>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1" kern="1200" baseline="0" dirty="0">
                <a:solidFill>
                  <a:schemeClr val="tx1"/>
                </a:solidFill>
                <a:latin typeface="方正兰亭黑简体" panose="02000000000000000000" pitchFamily="2" charset="-122"/>
                <a:ea typeface="方正兰亭黑简体" panose="02000000000000000000" pitchFamily="2" charset="-122"/>
                <a:cs typeface="Arial" panose="020B0604020202020204" pitchFamily="34" charset="0"/>
              </a:rPr>
              <a:t>continue</a:t>
            </a:r>
            <a:r>
              <a:rPr lang="zh-CN" altLang="en-US" sz="1600" b="1" kern="1200" baseline="0" dirty="0">
                <a:solidFill>
                  <a:schemeClr val="tx1"/>
                </a:solidFill>
                <a:latin typeface="方正兰亭黑简体" panose="02000000000000000000" pitchFamily="2" charset="-122"/>
                <a:ea typeface="方正兰亭黑简体" panose="02000000000000000000" pitchFamily="2" charset="-122"/>
                <a:cs typeface="Arial" panose="020B0604020202020204" pitchFamily="34" charset="0"/>
              </a:rPr>
              <a:t>后面也可以带标签</a:t>
            </a:r>
            <a:r>
              <a:rPr lang="en-US" altLang="zh-CN" sz="1600" b="1" kern="1200" baseline="0" dirty="0">
                <a:solidFill>
                  <a:schemeClr val="tx1"/>
                </a:solidFill>
                <a:latin typeface="方正兰亭黑简体" panose="02000000000000000000" pitchFamily="2" charset="-122"/>
                <a:ea typeface="方正兰亭黑简体" panose="02000000000000000000" pitchFamily="2" charset="-122"/>
                <a:cs typeface="Arial" panose="020B0604020202020204" pitchFamily="34" charset="0"/>
              </a:rPr>
              <a:t> </a:t>
            </a:r>
            <a:endParaRPr lang="zh-CN" altLang="en-US" sz="1600" b="1" kern="1200" baseline="0" dirty="0">
              <a:solidFill>
                <a:schemeClr val="tx1"/>
              </a:solidFill>
              <a:latin typeface="方正兰亭黑简体" panose="02000000000000000000" pitchFamily="2" charset="-122"/>
              <a:ea typeface="方正兰亭黑简体" panose="02000000000000000000" pitchFamily="2" charset="-122"/>
              <a:cs typeface="Arial" panose="020B0604020202020204" pitchFamily="34" charset="0"/>
            </a:endParaRPr>
          </a:p>
        </p:txBody>
      </p:sp>
      <p:sp>
        <p:nvSpPr>
          <p:cNvPr id="4" name="灯片编号占位符 3"/>
          <p:cNvSpPr>
            <a:spLocks noGrp="1"/>
          </p:cNvSpPr>
          <p:nvPr>
            <p:ph type="sldNum" sz="quarter" idx="10"/>
          </p:nvPr>
        </p:nvSpPr>
        <p:spPr/>
        <p:txBody>
          <a:bodyPr/>
          <a:lstStyle/>
          <a:p>
            <a:fld id="{F07326F3-4732-B74B-9C70-D0992466E499}" type="slidenum">
              <a:rPr lang="en-US" smtClean="0"/>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600" kern="1200" dirty="0">
              <a:solidFill>
                <a:schemeClr val="tx1"/>
              </a:solidFill>
              <a:effectLst/>
              <a:ea typeface="+mn-ea"/>
              <a:cs typeface="+mn-cs"/>
            </a:endParaRPr>
          </a:p>
        </p:txBody>
      </p:sp>
      <p:sp>
        <p:nvSpPr>
          <p:cNvPr id="4" name="灯片编号占位符 3"/>
          <p:cNvSpPr>
            <a:spLocks noGrp="1"/>
          </p:cNvSpPr>
          <p:nvPr>
            <p:ph type="sldNum" sz="quarter" idx="10"/>
          </p:nvPr>
        </p:nvSpPr>
        <p:spPr/>
        <p:txBody>
          <a:bodyPr/>
          <a:lstStyle/>
          <a:p>
            <a:fld id="{F07326F3-4732-B74B-9C70-D0992466E499}" type="slidenum">
              <a:rPr lang="en-US" smtClean="0"/>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7326F3-4732-B74B-9C70-D0992466E499}" type="slidenum">
              <a:rPr lang="en-US" smtClean="0"/>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t>27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探索">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latin typeface="方正兰亭黑简体" panose="02000000000000000000" pitchFamily="2" charset="-122"/>
            </a:endParaRPr>
          </a:p>
        </p:txBody>
      </p:sp>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方正兰亭黑简体" panose="02000000000000000000" pitchFamily="2" charset="-122"/>
                <a:ea typeface="方正兰亭黑简体" panose="02000000000000000000" pitchFamily="2"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攀登">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3825" r="2034" b="5607"/>
          <a:stretch>
            <a:fillRect/>
          </a:stretch>
        </p:blipFill>
        <p:spPr>
          <a:xfrm>
            <a:off x="1" y="-36206"/>
            <a:ext cx="12196763" cy="5638471"/>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方正兰亭黑简体" panose="02000000000000000000" pitchFamily="2" charset="-122"/>
                <a:ea typeface="方正兰亭黑简体" panose="02000000000000000000" pitchFamily="2"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latin typeface="方正兰亭黑简体" panose="02000000000000000000" pitchFamily="2" charset="-122"/>
            </a:endParaRPr>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探索">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154" y="-57144"/>
            <a:ext cx="12243078" cy="5625189"/>
          </a:xfrm>
          <a:prstGeom prst="rect">
            <a:avLst/>
          </a:prstGeom>
        </p:spPr>
      </p:pic>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方正兰亭黑简体" panose="02000000000000000000" pitchFamily="2" charset="-122"/>
                <a:ea typeface="方正兰亭黑简体" panose="02000000000000000000" pitchFamily="2"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18" name="L 形 17"/>
          <p:cNvSpPr/>
          <p:nvPr userDrawn="1"/>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latin typeface="方正兰亭黑简体" panose="02000000000000000000" pitchFamily="2" charset="-122"/>
            </a:endParaRPr>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方正兰亭黑简体" panose="02000000000000000000" pitchFamily="2" charset="-122"/>
                <a:ea typeface="方正兰亭黑简体" panose="02000000000000000000" pitchFamily="2"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创新">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latin typeface="方正兰亭黑简体" panose="02000000000000000000" pitchFamily="2" charset="-122"/>
            </a:endParaRPr>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方正兰亭黑简体" panose="02000000000000000000" pitchFamily="2" charset="-122"/>
                <a:ea typeface="方正兰亭黑简体" panose="02000000000000000000" pitchFamily="2"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0363" cy="1325563"/>
          </a:xfrm>
          <a:prstGeom prst="rect">
            <a:avLst/>
          </a:prstGeom>
        </p:spPr>
        <p:txBody>
          <a:bodyPr/>
          <a:lstStyle>
            <a:lvl1pPr>
              <a:defRPr>
                <a:latin typeface="方正兰亭黑简体" panose="02000000000000000000" pitchFamily="2" charset="-122"/>
                <a:ea typeface="方正兰亭黑简体" panose="02000000000000000000" pitchFamily="2" charset="-122"/>
              </a:defRPr>
            </a:lvl1p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18" name="L 形 17"/>
          <p:cNvSpPr/>
          <p:nvPr userDrawn="1"/>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latin typeface="方正兰亭黑简体" panose="02000000000000000000" pitchFamily="2" charset="-122"/>
            </a:endParaRPr>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方正兰亭黑简体" panose="02000000000000000000" pitchFamily="2" charset="-122"/>
                <a:ea typeface="方正兰亭黑简体" panose="02000000000000000000" pitchFamily="2"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创新">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latin typeface="方正兰亭黑简体" panose="02000000000000000000" pitchFamily="2" charset="-122"/>
            </a:endParaRPr>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方正兰亭黑简体" panose="02000000000000000000" pitchFamily="2" charset="-122"/>
                <a:ea typeface="方正兰亭黑简体" panose="02000000000000000000" pitchFamily="2"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攀登">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3825" r="2034" b="5607"/>
          <a:stretch>
            <a:fillRect/>
          </a:stretch>
        </p:blipFill>
        <p:spPr>
          <a:xfrm>
            <a:off x="1" y="-36206"/>
            <a:ext cx="12196763" cy="5638471"/>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方正兰亭黑简体" panose="02000000000000000000" pitchFamily="2" charset="-122"/>
                <a:ea typeface="方正兰亭黑简体" panose="02000000000000000000" pitchFamily="2"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latin typeface="方正兰亭黑简体" panose="02000000000000000000" pitchFamily="2" charset="-122"/>
            </a:endParaRPr>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8"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780" indent="-171450">
              <a:buFont typeface="Arial" panose="020B0604020202020204" pitchFamily="34" charset="0"/>
              <a:buChar char="•"/>
              <a:tabLst>
                <a:tab pos="1208405" algn="ctr"/>
              </a:tabLst>
              <a:defRPr sz="1300" baseline="0"/>
            </a:lvl2pPr>
            <a:lvl3pPr marL="525780" indent="-171450">
              <a:buFont typeface="Arial" panose="020B0604020202020204" pitchFamily="34" charset="0"/>
              <a:buChar char="•"/>
              <a:tabLst>
                <a:tab pos="1208405" algn="ctr"/>
              </a:tabLst>
              <a:defRPr sz="1300" baseline="0"/>
            </a:lvl3pPr>
            <a:lvl4pPr marL="525780" indent="-171450">
              <a:buFont typeface="Arial" panose="020B0604020202020204" pitchFamily="34" charset="0"/>
              <a:buChar char="•"/>
              <a:tabLst>
                <a:tab pos="1208405" algn="ctr"/>
              </a:tabLst>
              <a:defRPr sz="1300" baseline="0"/>
            </a:lvl4pPr>
            <a:lvl5pPr marL="525780" indent="-171450">
              <a:buFont typeface="Arial" panose="020B0604020202020204" pitchFamily="34" charset="0"/>
              <a:buChar char="•"/>
              <a:tabLst>
                <a:tab pos="1208405" algn="ctr"/>
              </a:tabLst>
              <a:defRPr sz="1300" baseline="0"/>
            </a:lvl5pPr>
          </a:lstStyle>
          <a:p>
            <a:pPr lvl="0"/>
            <a:r>
              <a:rPr lang="zh-CN" altLang="en-US" dirty="0"/>
              <a:t>单击此处添加文本</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FFFFFF"/>
        </a:solidFill>
        <a:effectLst/>
      </p:bgPr>
    </p:bg>
    <p:spTree>
      <p:nvGrpSpPr>
        <p:cNvPr id="1" name=""/>
        <p:cNvGrpSpPr/>
        <p:nvPr/>
      </p:nvGrpSpPr>
      <p:grpSpPr>
        <a:xfrm>
          <a:off x="0" y="0"/>
          <a:ext cx="0" cy="0"/>
          <a:chOff x="0" y="0"/>
          <a:chExt cx="0" cy="0"/>
        </a:xfrm>
      </p:grpSpPr>
      <p:sp>
        <p:nvSpPr>
          <p:cNvPr id="4" name="TextBox 3"/>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Text Placeholder 14"/>
          <p:cNvSpPr>
            <a:spLocks noGrp="1"/>
          </p:cNvSpPr>
          <p:nvPr>
            <p:ph type="body" idx="1"/>
          </p:nvPr>
        </p:nvSpPr>
        <p:spPr>
          <a:xfrm>
            <a:off x="909309" y="6270651"/>
            <a:ext cx="1982316" cy="153611"/>
          </a:xfrm>
          <a:prstGeom prst="rect">
            <a:avLst/>
          </a:prstGeom>
        </p:spPr>
        <p:txBody>
          <a:bodyPr vert="horz" lIns="0" tIns="0" rIns="0" bIns="0" rtlCol="0">
            <a:noAutofit/>
          </a:bodyPr>
          <a:lstStyle/>
          <a:p>
            <a:pPr lvl="0"/>
            <a:r>
              <a:rPr lang="en-US" dirty="0"/>
              <a:t>Edit Master text styles</a:t>
            </a:r>
          </a:p>
        </p:txBody>
      </p:sp>
      <p:pic>
        <p:nvPicPr>
          <p:cNvPr id="4" name="图片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206684" y="5970030"/>
            <a:ext cx="2256665" cy="49353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Text Placeholder 14"/>
          <p:cNvSpPr>
            <a:spLocks noGrp="1"/>
          </p:cNvSpPr>
          <p:nvPr>
            <p:ph type="body" idx="1"/>
          </p:nvPr>
        </p:nvSpPr>
        <p:spPr>
          <a:xfrm>
            <a:off x="909309" y="6270651"/>
            <a:ext cx="1982316" cy="153611"/>
          </a:xfrm>
          <a:prstGeom prst="rect">
            <a:avLst/>
          </a:prstGeom>
        </p:spPr>
        <p:txBody>
          <a:bodyPr vert="horz" lIns="0" tIns="0" rIns="0" bIns="0" rtlCol="0">
            <a:noAutofit/>
          </a:bodyPr>
          <a:lstStyle/>
          <a:p>
            <a:pPr lvl="0"/>
            <a:r>
              <a:rPr lang="en-US" dirty="0"/>
              <a:t>Edit Master text styles</a:t>
            </a:r>
          </a:p>
        </p:txBody>
      </p:sp>
      <p:pic>
        <p:nvPicPr>
          <p:cNvPr id="4" name="图片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206684" y="5970030"/>
            <a:ext cx="2256665" cy="493531"/>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1463467" cy="246221"/>
          </a:xfrm>
          <a:prstGeom prst="rect">
            <a:avLst/>
          </a:prstGeom>
          <a:noFill/>
        </p:spPr>
        <p:txBody>
          <a:bodyPr wrap="square" rtlCol="0">
            <a:spAutoFit/>
          </a:bodyPr>
          <a:lstStyle/>
          <a:p>
            <a:r>
              <a:rPr lang="en-US" sz="1000" b="0" baseline="0" dirty="0">
                <a:solidFill>
                  <a:srgbClr val="1D1D1B"/>
                </a:solidFill>
                <a:latin typeface="方正兰亭黑简体" panose="02000000000000000000" pitchFamily="2" charset="-122"/>
                <a:cs typeface="Arial" panose="020B0604020202020204" pitchFamily="34" charset="0"/>
              </a:rPr>
              <a:t>Huawei Confidential</a:t>
            </a:r>
          </a:p>
        </p:txBody>
      </p:sp>
      <p:sp>
        <p:nvSpPr>
          <p:cNvPr id="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smtClean="0">
                <a:solidFill>
                  <a:srgbClr val="1D1D1B"/>
                </a:solidFill>
                <a:latin typeface="方正兰亭黑简体" panose="02000000000000000000" pitchFamily="2" charset="-122"/>
                <a:cs typeface="Arial" panose="020B0604020202020204" pitchFamily="34" charset="0"/>
              </a:rPr>
              <a:t>‹#›</a:t>
            </a:fld>
            <a:endParaRPr lang="en-US" sz="975" dirty="0">
              <a:solidFill>
                <a:srgbClr val="1D1D1B"/>
              </a:solidFill>
              <a:latin typeface="方正兰亭黑简体" panose="02000000000000000000" pitchFamily="2" charset="-122"/>
              <a:cs typeface="Arial" panose="020B0604020202020204" pitchFamily="34" charset="0"/>
            </a:endParaRPr>
          </a:p>
        </p:txBody>
      </p:sp>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P</a:t>
                </a:r>
                <a:r>
                  <a:rPr kumimoji="1" lang="en-US" altLang="en-US"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ANTONE</a:t>
                </a: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 186C</a:t>
                </a:r>
              </a:p>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200/16/46</a:t>
                </a: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P</a:t>
                </a:r>
                <a:r>
                  <a:rPr kumimoji="1" lang="en-US" altLang="en-US"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ANTONE</a:t>
                </a: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 185C</a:t>
                </a:r>
              </a:p>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199/0/11</a:t>
                </a:r>
              </a:p>
            </p:txBody>
          </p:sp>
          <p:sp>
            <p:nvSpPr>
              <p:cNvPr id="46" name="文本框 31"/>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dirty="0">
                    <a:solidFill>
                      <a:schemeClr val="tx1"/>
                    </a:solidFill>
                    <a:latin typeface="方正兰亭黑简体" panose="02000000000000000000" pitchFamily="2" charset="-122"/>
                    <a:ea typeface="方正兰亭黑简体" panose="02000000000000000000" pitchFamily="2"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234/90/79</a:t>
                </a: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120/0/15</a:t>
                </a:r>
              </a:p>
            </p:txBody>
          </p:sp>
          <p:sp>
            <p:nvSpPr>
              <p:cNvPr id="30" name="文本框 15"/>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dirty="0">
                    <a:solidFill>
                      <a:schemeClr val="tx1"/>
                    </a:solidFill>
                    <a:latin typeface="方正兰亭黑简体" panose="02000000000000000000" pitchFamily="2" charset="-122"/>
                    <a:ea typeface="方正兰亭黑简体" panose="02000000000000000000" pitchFamily="2" charset="-122"/>
                  </a:rPr>
                  <a:t>辅助色</a:t>
                </a: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248/181/60</a:t>
                </a: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235/92/1</a:t>
                </a: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137/137/137</a:t>
                </a: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35/24/21</a:t>
                </a: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bg1"/>
                    </a:solidFill>
                    <a:latin typeface="方正兰亭黑简体" panose="02000000000000000000" pitchFamily="2" charset="-122"/>
                    <a:ea typeface="方正兰亭黑简体" panose="02000000000000000000" pitchFamily="2" charset="-122"/>
                    <a:cs typeface="Arial" panose="020B0604020202020204" pitchFamily="34" charset="0"/>
                  </a:rPr>
                  <a:t>RGB 221/221/221</a:t>
                </a: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233/140/128</a:t>
                </a: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159/0/1</a:t>
                </a: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bg1"/>
                    </a:solidFill>
                    <a:latin typeface="方正兰亭黑简体" panose="02000000000000000000" pitchFamily="2" charset="-122"/>
                    <a:ea typeface="方正兰亭黑简体" panose="02000000000000000000" pitchFamily="2" charset="-122"/>
                    <a:cs typeface="Arial" panose="020B0604020202020204" pitchFamily="34" charset="0"/>
                  </a:rPr>
                  <a:t>RGB 245/220/87</a:t>
                </a: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240/133/0</a:t>
                </a: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181/181/181</a:t>
                </a: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方正兰亭黑简体" panose="02000000000000000000" pitchFamily="2" charset="-122"/>
                    <a:ea typeface="方正兰亭黑简体" panose="02000000000000000000" pitchFamily="2" charset="-122"/>
                    <a:cs typeface="Arial" panose="020B0604020202020204" pitchFamily="34" charset="0"/>
                  </a:rPr>
                  <a:t>RGB 89/87/87</a:t>
                </a: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bg1"/>
                    </a:solidFill>
                    <a:latin typeface="方正兰亭黑简体" panose="02000000000000000000" pitchFamily="2" charset="-122"/>
                    <a:ea typeface="方正兰亭黑简体" panose="02000000000000000000" pitchFamily="2" charset="-122"/>
                    <a:cs typeface="Arial" panose="020B0604020202020204" pitchFamily="34" charset="0"/>
                  </a:rPr>
                  <a:t>RGB 255/255/255</a:t>
                </a:r>
              </a:p>
            </p:txBody>
          </p:sp>
        </p:grpSp>
      </p:grpSp>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5998" y="6321130"/>
            <a:ext cx="1269075" cy="277546"/>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p:cNvSpPr txBox="1"/>
          <p:nvPr userDrawn="1"/>
        </p:nvSpPr>
        <p:spPr>
          <a:xfrm>
            <a:off x="7979357" y="2794960"/>
            <a:ext cx="3225168" cy="2029962"/>
          </a:xfrm>
          <a:prstGeom prst="rect">
            <a:avLst/>
          </a:prstGeom>
        </p:spPr>
        <p:txBody>
          <a:bodyPr lIns="0" tIns="0" rIns="0" bIns="0">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方正兰亭黑简体" panose="02000000000000000000" pitchFamily="2" charset="-122"/>
                <a:ea typeface="方正兰亭黑简体" panose="02000000000000000000" pitchFamily="2" charset="-122"/>
              </a:rPr>
              <a:t>Copyright©2018 Huawei Technologies Co., Ltd.</a:t>
            </a:r>
            <a:br>
              <a:rPr kumimoji="1" lang="en-US" altLang="zh-CN" sz="850" b="1" baseline="0" dirty="0">
                <a:solidFill>
                  <a:srgbClr val="1D1D1B"/>
                </a:solidFill>
                <a:latin typeface="方正兰亭黑简体" panose="02000000000000000000" pitchFamily="2" charset="-122"/>
                <a:ea typeface="方正兰亭黑简体" panose="02000000000000000000" pitchFamily="2" charset="-122"/>
              </a:rPr>
            </a:br>
            <a:r>
              <a:rPr kumimoji="1" lang="en-US" altLang="zh-CN" sz="850" b="1" baseline="0" dirty="0">
                <a:solidFill>
                  <a:srgbClr val="1D1D1B"/>
                </a:solidFill>
                <a:latin typeface="方正兰亭黑简体" panose="02000000000000000000" pitchFamily="2" charset="-122"/>
                <a:ea typeface="方正兰亭黑简体" panose="02000000000000000000" pitchFamily="2" charset="-122"/>
              </a:rPr>
              <a:t>All Rights Reserved.</a:t>
            </a:r>
            <a:br>
              <a:rPr kumimoji="1" lang="en-US" altLang="zh-CN" sz="780" dirty="0">
                <a:solidFill>
                  <a:srgbClr val="1D1D1B"/>
                </a:solidFill>
                <a:latin typeface="方正兰亭黑简体" panose="02000000000000000000" pitchFamily="2" charset="-122"/>
                <a:ea typeface="方正兰亭黑简体" panose="02000000000000000000" pitchFamily="2" charset="-122"/>
              </a:rPr>
            </a:br>
            <a:br>
              <a:rPr kumimoji="1" lang="en-US" altLang="zh-CN" sz="780" dirty="0">
                <a:solidFill>
                  <a:srgbClr val="1D1D1B"/>
                </a:solidFill>
                <a:latin typeface="方正兰亭黑简体" panose="02000000000000000000" pitchFamily="2" charset="-122"/>
                <a:ea typeface="方正兰亭黑简体" panose="02000000000000000000" pitchFamily="2" charset="-122"/>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The information in this document may contain predictive </a:t>
            </a:r>
            <a:b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statements including, without limitation, statements regarding </a:t>
            </a:r>
            <a:b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the future financial and operating results, future product </a:t>
            </a:r>
            <a:b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portfolio, new technology, etc. There are a number of factors that </a:t>
            </a:r>
            <a:b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could cause actual results and developments to differ materially </a:t>
            </a:r>
            <a:b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from those expressed or implied in the predictive statements. </a:t>
            </a:r>
            <a:b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Therefore, such information is provided for reference purpose </a:t>
            </a:r>
            <a:b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only and constitutes neither an offer nor an acceptance. Huawei </a:t>
            </a:r>
            <a:b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850" baseline="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may change the information at any time without notice. </a:t>
            </a:r>
          </a:p>
          <a:p>
            <a:pPr>
              <a:lnSpc>
                <a:spcPts val="1065"/>
              </a:lnSpc>
            </a:pPr>
            <a:endParaRPr kumimoji="1" lang="zh-CN" altLang="en-US" sz="780" dirty="0">
              <a:solidFill>
                <a:srgbClr val="1D1D1B"/>
              </a:solidFill>
              <a:latin typeface="方正兰亭黑简体" panose="02000000000000000000" pitchFamily="2" charset="-122"/>
              <a:ea typeface="方正兰亭黑简体" panose="02000000000000000000" pitchFamily="2" charset="-122"/>
            </a:endParaRPr>
          </a:p>
        </p:txBody>
      </p:sp>
      <p:sp>
        <p:nvSpPr>
          <p:cNvPr id="6"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dirty="0">
                <a:solidFill>
                  <a:srgbClr val="1D1D1B"/>
                </a:solidFill>
                <a:latin typeface="方正兰亭黑简体" panose="02000000000000000000" pitchFamily="2" charset="-122"/>
                <a:ea typeface="方正兰亭黑简体" panose="02000000000000000000" pitchFamily="2" charset="-122"/>
                <a:cs typeface="Microsoft YaHei" panose="020B0503020204020204" pitchFamily="34" charset="-122"/>
              </a:rPr>
              <a:t>把数字世界带入每个人、每个家庭、</a:t>
            </a:r>
            <a:br>
              <a:rPr kumimoji="1" lang="en-US" altLang="zh-CN" sz="1300" dirty="0">
                <a:solidFill>
                  <a:srgbClr val="1D1D1B"/>
                </a:solidFill>
                <a:latin typeface="方正兰亭黑简体" panose="02000000000000000000" pitchFamily="2" charset="-122"/>
                <a:ea typeface="方正兰亭黑简体" panose="02000000000000000000" pitchFamily="2" charset="-122"/>
                <a:cs typeface="Microsoft YaHei" panose="020B0503020204020204" pitchFamily="34" charset="-122"/>
              </a:rPr>
            </a:br>
            <a:r>
              <a:rPr kumimoji="1" lang="zh-CN" altLang="en-US" sz="1300" dirty="0">
                <a:solidFill>
                  <a:srgbClr val="1D1D1B"/>
                </a:solidFill>
                <a:latin typeface="方正兰亭黑简体" panose="02000000000000000000" pitchFamily="2" charset="-122"/>
                <a:ea typeface="方正兰亭黑简体" panose="02000000000000000000" pitchFamily="2" charset="-122"/>
                <a:cs typeface="Microsoft YaHei" panose="020B0503020204020204" pitchFamily="34" charset="-122"/>
              </a:rPr>
              <a:t>每个组织，构建万物互联的智能世界。</a:t>
            </a:r>
          </a:p>
        </p:txBody>
      </p:sp>
      <p:sp>
        <p:nvSpPr>
          <p:cNvPr id="7"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Bring digital to every person, home and </a:t>
            </a:r>
            <a:br>
              <a:rPr kumimoji="1" lang="en-US" altLang="zh-CN" sz="120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120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organization for a fully connected, </a:t>
            </a:r>
            <a:br>
              <a:rPr kumimoji="1" lang="en-US" altLang="zh-CN" sz="120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br>
            <a:r>
              <a:rPr kumimoji="1" lang="en-US" altLang="zh-CN" sz="1200" dirty="0">
                <a:solidFill>
                  <a:srgbClr val="1D1D1B"/>
                </a:solidFill>
                <a:latin typeface="方正兰亭黑简体" panose="02000000000000000000" pitchFamily="2" charset="-122"/>
                <a:ea typeface="方正兰亭黑简体" panose="02000000000000000000" pitchFamily="2" charset="-122"/>
                <a:cs typeface="Arial" panose="020B0604020202020204" pitchFamily="34" charset="0"/>
              </a:rPr>
              <a:t>intelligent world.</a:t>
            </a:r>
            <a:endParaRPr kumimoji="1" lang="zh-CN" altLang="en-US" sz="1200" dirty="0">
              <a:solidFill>
                <a:srgbClr val="1D1D1B"/>
              </a:solidFill>
              <a:latin typeface="方正兰亭黑简体" panose="02000000000000000000" pitchFamily="2" charset="-122"/>
              <a:ea typeface="方正兰亭黑简体" panose="02000000000000000000" pitchFamily="2" charset="-122"/>
              <a:cs typeface="Microsoft YaHei" panose="020B0503020204020204" pitchFamily="34" charset="-122"/>
            </a:endParaRPr>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8" y="5237637"/>
            <a:ext cx="1869596" cy="408880"/>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1188085" rtl="0" eaLnBrk="1" latinLnBrk="0" hangingPunct="1">
        <a:lnSpc>
          <a:spcPct val="90000"/>
        </a:lnSpc>
        <a:spcBef>
          <a:spcPct val="0"/>
        </a:spcBef>
        <a:buNone/>
        <a:defRPr sz="5000" b="0" kern="1200">
          <a:solidFill>
            <a:schemeClr val="tx1"/>
          </a:solidFill>
          <a:latin typeface="方正兰亭黑简体" panose="02000000000000000000" pitchFamily="2" charset="-122"/>
          <a:ea typeface="方正兰亭黑简体" panose="02000000000000000000" pitchFamily="2" charset="-122"/>
          <a:cs typeface="Arial" panose="020B0604020202020204" pitchFamily="34" charset="0"/>
        </a:defRPr>
      </a:lvl1pPr>
    </p:titleStyle>
    <p:bodyStyle>
      <a:lvl1pPr marL="0" indent="0" algn="l" defTabSz="1188085" rtl="0" eaLnBrk="1" latinLnBrk="0" hangingPunct="1">
        <a:lnSpc>
          <a:spcPct val="90000"/>
        </a:lnSpc>
        <a:spcBef>
          <a:spcPts val="1300"/>
        </a:spcBef>
        <a:buFont typeface="Arial" panose="020B0604020202020204" pitchFamily="34" charset="0"/>
        <a:buNone/>
        <a:defRPr sz="1820" kern="1200">
          <a:solidFill>
            <a:srgbClr val="FFFFFF"/>
          </a:solidFill>
          <a:latin typeface="Microsoft YaHei" panose="020B0503020204020204" pitchFamily="34" charset="-122"/>
          <a:ea typeface="Microsoft YaHei" panose="020B0503020204020204" pitchFamily="34" charset="-122"/>
          <a:cs typeface="+mn-cs"/>
        </a:defRPr>
      </a:lvl1pPr>
      <a:lvl2pPr marL="593725" indent="0" algn="l" defTabSz="1188085" rtl="0" eaLnBrk="1" latinLnBrk="0" hangingPunct="1">
        <a:lnSpc>
          <a:spcPct val="90000"/>
        </a:lnSpc>
        <a:spcBef>
          <a:spcPts val="650"/>
        </a:spcBef>
        <a:buFont typeface="Arial" panose="020B0604020202020204" pitchFamily="34" charset="0"/>
        <a:buNone/>
        <a:defRPr sz="3120" kern="1200">
          <a:solidFill>
            <a:schemeClr val="tx1"/>
          </a:solidFill>
          <a:latin typeface="+mn-lt"/>
          <a:ea typeface="+mn-ea"/>
          <a:cs typeface="+mn-cs"/>
        </a:defRPr>
      </a:lvl2pPr>
      <a:lvl3pPr marL="1188085" indent="0" algn="l" defTabSz="1188085" rtl="0" eaLnBrk="1" latinLnBrk="0" hangingPunct="1">
        <a:lnSpc>
          <a:spcPct val="90000"/>
        </a:lnSpc>
        <a:spcBef>
          <a:spcPts val="650"/>
        </a:spcBef>
        <a:buFont typeface="Arial" panose="020B0604020202020204" pitchFamily="34" charset="0"/>
        <a:buNone/>
        <a:defRPr sz="2600" kern="1200">
          <a:solidFill>
            <a:schemeClr val="tx1"/>
          </a:solidFill>
          <a:latin typeface="+mn-lt"/>
          <a:ea typeface="+mn-ea"/>
          <a:cs typeface="+mn-cs"/>
        </a:defRPr>
      </a:lvl3pPr>
      <a:lvl4pPr marL="1781810" indent="0" algn="l" defTabSz="1188085" rtl="0" eaLnBrk="1" latinLnBrk="0" hangingPunct="1">
        <a:lnSpc>
          <a:spcPct val="90000"/>
        </a:lnSpc>
        <a:spcBef>
          <a:spcPts val="650"/>
        </a:spcBef>
        <a:buFont typeface="Arial" panose="020B0604020202020204" pitchFamily="34" charset="0"/>
        <a:buNone/>
        <a:defRPr sz="2340" kern="1200">
          <a:solidFill>
            <a:schemeClr val="tx1"/>
          </a:solidFill>
          <a:latin typeface="+mn-lt"/>
          <a:ea typeface="+mn-ea"/>
          <a:cs typeface="+mn-cs"/>
        </a:defRPr>
      </a:lvl4pPr>
      <a:lvl5pPr marL="2375535" indent="0" algn="l" defTabSz="1188085" rtl="0" eaLnBrk="1" latinLnBrk="0" hangingPunct="1">
        <a:lnSpc>
          <a:spcPct val="90000"/>
        </a:lnSpc>
        <a:spcBef>
          <a:spcPts val="650"/>
        </a:spcBef>
        <a:buFont typeface="Arial" panose="020B0604020202020204" pitchFamily="34" charset="0"/>
        <a:buNone/>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hyperlink" Target="https://doc.rust-lang.org/stable/reference/items.html"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ctrTitle"/>
          </p:nvPr>
        </p:nvSpPr>
        <p:spPr>
          <a:xfrm>
            <a:off x="948808" y="1066890"/>
            <a:ext cx="6559809" cy="690255"/>
          </a:xfrm>
        </p:spPr>
        <p:txBody>
          <a:bodyPr>
            <a:noAutofit/>
          </a:bodyPr>
          <a:lstStyle/>
          <a:p>
            <a:r>
              <a:rPr lang="zh-CN" altLang="en-US" b="1">
                <a:solidFill>
                  <a:srgbClr val="C00000"/>
                </a:solidFill>
                <a:latin typeface="+mn-lt"/>
                <a:ea typeface="+mn-ea"/>
                <a:cs typeface="+mn-ea"/>
                <a:sym typeface="+mn-lt"/>
              </a:rPr>
              <a:t>表达式</a:t>
            </a:r>
            <a:endParaRPr lang="zh-CN" altLang="en-US" b="1" dirty="0">
              <a:solidFill>
                <a:srgbClr val="C00000"/>
              </a:solidFill>
              <a:latin typeface="+mn-lt"/>
              <a:ea typeface="+mn-ea"/>
              <a:cs typeface="+mn-ea"/>
              <a:sym typeface="+mn-lt"/>
            </a:endParaRPr>
          </a:p>
        </p:txBody>
      </p:sp>
      <p:sp>
        <p:nvSpPr>
          <p:cNvPr id="4" name="Text Placeholder 3"/>
          <p:cNvSpPr txBox="1"/>
          <p:nvPr/>
        </p:nvSpPr>
        <p:spPr>
          <a:xfrm>
            <a:off x="948808" y="6264112"/>
            <a:ext cx="2606870" cy="136693"/>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kumimoji="1" lang="en-US" altLang="zh-CN" sz="1000" dirty="0">
                <a:cs typeface="+mn-ea"/>
                <a:sym typeface="+mn-lt"/>
              </a:rPr>
              <a:t>Security Level:</a:t>
            </a:r>
            <a:endParaRPr lang="en-US" sz="1000" dirty="0">
              <a:cs typeface="+mn-ea"/>
              <a:sym typeface="+mn-lt"/>
            </a:endParaRPr>
          </a:p>
        </p:txBody>
      </p:sp>
      <p:sp>
        <p:nvSpPr>
          <p:cNvPr id="6" name="矩形 5"/>
          <p:cNvSpPr/>
          <p:nvPr/>
        </p:nvSpPr>
        <p:spPr>
          <a:xfrm>
            <a:off x="9001663" y="5858894"/>
            <a:ext cx="2794958" cy="888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cs typeface="+mn-ea"/>
              <a:sym typeface="+mn-lt"/>
            </a:endParaRPr>
          </a:p>
        </p:txBody>
      </p:sp>
      <p:sp>
        <p:nvSpPr>
          <p:cNvPr id="7" name="文本框 6"/>
          <p:cNvSpPr txBox="1"/>
          <p:nvPr/>
        </p:nvSpPr>
        <p:spPr>
          <a:xfrm>
            <a:off x="137160" y="6389251"/>
            <a:ext cx="7964424" cy="340734"/>
          </a:xfrm>
          <a:prstGeom prst="rect">
            <a:avLst/>
          </a:prstGeom>
          <a:noFill/>
        </p:spPr>
        <p:txBody>
          <a:bodyPr vert="horz" wrap="square" rtlCol="0">
            <a:spAutoFit/>
          </a:bodyPr>
          <a:lstStyle/>
          <a:p>
            <a:pPr>
              <a:lnSpc>
                <a:spcPct val="150000"/>
              </a:lnSpc>
            </a:pPr>
            <a:r>
              <a:rPr lang="zh-CN" altLang="en-US" sz="1200" i="1" dirty="0">
                <a:cs typeface="+mn-ea"/>
                <a:sym typeface="+mn-lt"/>
              </a:rPr>
              <a:t>注：本课程基于</a:t>
            </a:r>
            <a:r>
              <a:rPr lang="en-US" altLang="zh-CN" sz="1200" i="1" dirty="0" err="1">
                <a:cs typeface="+mn-ea"/>
                <a:sym typeface="+mn-lt"/>
              </a:rPr>
              <a:t>rustc</a:t>
            </a:r>
            <a:r>
              <a:rPr lang="en-US" altLang="zh-CN" sz="1200" i="1" dirty="0">
                <a:cs typeface="+mn-ea"/>
                <a:sym typeface="+mn-lt"/>
              </a:rPr>
              <a:t> 1.65.0 (897e37553 2022-11-02)</a:t>
            </a:r>
            <a:r>
              <a:rPr lang="zh-CN" altLang="en-US" sz="1200" i="1" dirty="0">
                <a:cs typeface="+mn-ea"/>
                <a:sym typeface="+mn-lt"/>
              </a:rPr>
              <a:t>创作</a:t>
            </a:r>
          </a:p>
        </p:txBody>
      </p:sp>
    </p:spTree>
  </p:cSld>
  <p:clrMapOvr>
    <a:masterClrMapping/>
  </p:clrMapOvr>
  <mc:AlternateContent xmlns:mc="http://schemas.openxmlformats.org/markup-compatibility/2006" xmlns:p14="http://schemas.microsoft.com/office/powerpoint/2010/main">
    <mc:Choice Requires="p14">
      <p:transition spd="med" p14:dur="700" advTm="5139">
        <p:fade/>
      </p:transition>
    </mc:Choice>
    <mc:Fallback xmlns="">
      <p:transition spd="med" advTm="513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关于本章</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377390"/>
            <a:ext cx="10733557" cy="1266221"/>
          </a:xfrm>
        </p:spPr>
        <p:txBody>
          <a:bodyPr/>
          <a:lstStyle/>
          <a:p>
            <a:pPr>
              <a:lnSpc>
                <a:spcPct val="150000"/>
              </a:lnSpc>
            </a:pPr>
            <a:r>
              <a:rPr lang="zh-CN" altLang="en-US" b="1" dirty="0">
                <a:solidFill>
                  <a:srgbClr val="C00000"/>
                </a:solidFill>
                <a:latin typeface="+mn-lt"/>
                <a:ea typeface="+mn-ea"/>
                <a:cs typeface="+mn-ea"/>
                <a:sym typeface="+mn-lt"/>
              </a:rPr>
              <a:t>章节目标</a:t>
            </a:r>
            <a:endParaRPr lang="en-US" altLang="zh-CN" b="1" dirty="0">
              <a:solidFill>
                <a:srgbClr val="C00000"/>
              </a:solidFill>
              <a:latin typeface="+mn-lt"/>
              <a:ea typeface="+mn-ea"/>
              <a:cs typeface="+mn-ea"/>
              <a:sym typeface="+mn-lt"/>
            </a:endParaRPr>
          </a:p>
          <a:p>
            <a:pPr>
              <a:lnSpc>
                <a:spcPct val="150000"/>
              </a:lnSpc>
            </a:pPr>
            <a:r>
              <a:rPr lang="zh-CN" altLang="en-US" dirty="0">
                <a:latin typeface="+mn-lt"/>
                <a:ea typeface="+mn-ea"/>
                <a:cs typeface="+mn-ea"/>
                <a:sym typeface="+mn-lt"/>
              </a:rPr>
              <a:t>通过本章节的学习，掌握</a:t>
            </a:r>
            <a:r>
              <a:rPr lang="en-US" altLang="zh-CN" dirty="0">
                <a:latin typeface="+mn-lt"/>
                <a:ea typeface="+mn-ea"/>
                <a:cs typeface="+mn-ea"/>
                <a:sym typeface="+mn-lt"/>
              </a:rPr>
              <a:t>Rust</a:t>
            </a:r>
            <a:r>
              <a:rPr lang="zh-CN" altLang="en-US" dirty="0">
                <a:latin typeface="+mn-lt"/>
                <a:ea typeface="+mn-ea"/>
                <a:cs typeface="+mn-ea"/>
                <a:sym typeface="+mn-lt"/>
              </a:rPr>
              <a:t>语言表达式、流程控制和模式匹配，通过本章的学习可以理解和掌握</a:t>
            </a:r>
            <a:r>
              <a:rPr lang="en-US" altLang="zh-CN" dirty="0">
                <a:latin typeface="+mn-lt"/>
                <a:ea typeface="+mn-ea"/>
                <a:cs typeface="+mn-ea"/>
                <a:sym typeface="+mn-lt"/>
              </a:rPr>
              <a:t>Rust</a:t>
            </a:r>
            <a:r>
              <a:rPr lang="zh-CN" altLang="en-US" dirty="0">
                <a:latin typeface="+mn-lt"/>
                <a:ea typeface="+mn-ea"/>
                <a:cs typeface="+mn-ea"/>
                <a:sym typeface="+mn-lt"/>
              </a:rPr>
              <a:t>常见表达式的基本用法以及</a:t>
            </a:r>
            <a:r>
              <a:rPr lang="en-US" altLang="zh-CN" dirty="0">
                <a:latin typeface="+mn-lt"/>
                <a:ea typeface="+mn-ea"/>
                <a:cs typeface="+mn-ea"/>
                <a:sym typeface="+mn-lt"/>
              </a:rPr>
              <a:t>never</a:t>
            </a:r>
            <a:r>
              <a:rPr lang="zh-CN" altLang="en-US" dirty="0">
                <a:latin typeface="+mn-lt"/>
                <a:ea typeface="+mn-ea"/>
                <a:cs typeface="+mn-ea"/>
                <a:sym typeface="+mn-lt"/>
              </a:rPr>
              <a:t>类型的概念和用法。</a:t>
            </a:r>
            <a:endParaRPr lang="en-US" altLang="zh-CN" b="1" dirty="0">
              <a:solidFill>
                <a:srgbClr val="C00000"/>
              </a:solidFill>
              <a:latin typeface="+mn-lt"/>
              <a:ea typeface="+mn-ea"/>
              <a:cs typeface="+mn-ea"/>
              <a:sym typeface="+mn-lt"/>
            </a:endParaRPr>
          </a:p>
        </p:txBody>
      </p:sp>
      <p:cxnSp>
        <p:nvCxnSpPr>
          <p:cNvPr id="6" name="直接连接符 5"/>
          <p:cNvCxnSpPr/>
          <p:nvPr/>
        </p:nvCxnSpPr>
        <p:spPr>
          <a:xfrm>
            <a:off x="729175" y="1811383"/>
            <a:ext cx="90658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29175" y="3243628"/>
            <a:ext cx="207366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19122" y="3213170"/>
            <a:ext cx="4196421" cy="1754326"/>
          </a:xfrm>
          <a:prstGeom prst="rect">
            <a:avLst/>
          </a:prstGeom>
        </p:spPr>
        <p:txBody>
          <a:bodyPr wrap="square">
            <a:spAutoFit/>
          </a:bodyPr>
          <a:lstStyle/>
          <a:p>
            <a:pPr marL="811530" lvl="1" indent="-285750">
              <a:lnSpc>
                <a:spcPct val="150000"/>
              </a:lnSpc>
              <a:buFont typeface="Wingdings" panose="05000000000000000000" pitchFamily="2" charset="2"/>
              <a:buChar char="ü"/>
            </a:pPr>
            <a:r>
              <a:rPr lang="zh-CN" altLang="en-US" dirty="0">
                <a:cs typeface="+mn-ea"/>
                <a:sym typeface="+mn-lt"/>
              </a:rPr>
              <a:t>表达式；</a:t>
            </a:r>
            <a:endParaRPr lang="en-US" altLang="zh-CN" dirty="0">
              <a:cs typeface="+mn-ea"/>
              <a:sym typeface="+mn-lt"/>
            </a:endParaRPr>
          </a:p>
          <a:p>
            <a:pPr marL="811530" lvl="1" indent="-285750">
              <a:lnSpc>
                <a:spcPct val="150000"/>
              </a:lnSpc>
              <a:buFont typeface="Wingdings" panose="05000000000000000000" pitchFamily="2" charset="2"/>
              <a:buChar char="ü"/>
            </a:pPr>
            <a:r>
              <a:rPr lang="zh-CN" altLang="en-US" dirty="0">
                <a:cs typeface="+mn-ea"/>
                <a:sym typeface="+mn-lt"/>
              </a:rPr>
              <a:t>流程控制；</a:t>
            </a:r>
            <a:endParaRPr lang="en-US" altLang="zh-CN" dirty="0">
              <a:cs typeface="+mn-ea"/>
              <a:sym typeface="+mn-lt"/>
            </a:endParaRPr>
          </a:p>
          <a:p>
            <a:pPr marL="811530" lvl="1" indent="-285750">
              <a:lnSpc>
                <a:spcPct val="150000"/>
              </a:lnSpc>
              <a:buFont typeface="Wingdings" panose="05000000000000000000" pitchFamily="2" charset="2"/>
              <a:buChar char="ü"/>
            </a:pPr>
            <a:r>
              <a:rPr lang="zh-CN" altLang="en-US" dirty="0">
                <a:cs typeface="+mn-ea"/>
                <a:sym typeface="+mn-lt"/>
              </a:rPr>
              <a:t>模式匹配；</a:t>
            </a:r>
            <a:endParaRPr lang="en-US" altLang="zh-CN" dirty="0">
              <a:cs typeface="+mn-ea"/>
              <a:sym typeface="+mn-lt"/>
            </a:endParaRPr>
          </a:p>
          <a:p>
            <a:pPr marL="811530" lvl="1" indent="-285750">
              <a:lnSpc>
                <a:spcPct val="150000"/>
              </a:lnSpc>
              <a:buFont typeface="Wingdings" panose="05000000000000000000" pitchFamily="2" charset="2"/>
              <a:buChar char="ü"/>
            </a:pPr>
            <a:r>
              <a:rPr lang="en-US" altLang="zh-CN" dirty="0">
                <a:cs typeface="+mn-ea"/>
                <a:sym typeface="+mn-lt"/>
              </a:rPr>
              <a:t>never</a:t>
            </a:r>
            <a:r>
              <a:rPr lang="zh-CN" altLang="en-US" dirty="0">
                <a:cs typeface="+mn-ea"/>
                <a:sym typeface="+mn-lt"/>
              </a:rPr>
              <a:t>类型；</a:t>
            </a:r>
            <a:endParaRPr lang="en-US" altLang="zh-CN" dirty="0">
              <a:cs typeface="+mn-ea"/>
              <a:sym typeface="+mn-lt"/>
            </a:endParaRPr>
          </a:p>
        </p:txBody>
      </p:sp>
      <p:sp>
        <p:nvSpPr>
          <p:cNvPr id="4" name="矩形 3"/>
          <p:cNvSpPr/>
          <p:nvPr/>
        </p:nvSpPr>
        <p:spPr>
          <a:xfrm>
            <a:off x="634926" y="2795455"/>
            <a:ext cx="2276585" cy="464935"/>
          </a:xfrm>
          <a:prstGeom prst="rect">
            <a:avLst/>
          </a:prstGeom>
        </p:spPr>
        <p:txBody>
          <a:bodyPr wrap="none">
            <a:spAutoFit/>
          </a:bodyPr>
          <a:lstStyle/>
          <a:p>
            <a:pPr>
              <a:lnSpc>
                <a:spcPct val="150000"/>
              </a:lnSpc>
            </a:pPr>
            <a:r>
              <a:rPr lang="zh-CN" altLang="en-US" b="1" dirty="0">
                <a:solidFill>
                  <a:srgbClr val="C00000"/>
                </a:solidFill>
                <a:cs typeface="+mn-ea"/>
                <a:sym typeface="+mn-lt"/>
              </a:rPr>
              <a:t>本章预期掌握知识点</a:t>
            </a:r>
            <a:endParaRPr lang="en-US" altLang="zh-CN" b="1" dirty="0">
              <a:solidFill>
                <a:srgbClr val="C00000"/>
              </a:solidFill>
              <a:cs typeface="+mn-ea"/>
              <a:sym typeface="+mn-lt"/>
            </a:endParaRPr>
          </a:p>
        </p:txBody>
      </p:sp>
      <p:cxnSp>
        <p:nvCxnSpPr>
          <p:cNvPr id="8" name="直接连接符 7"/>
          <p:cNvCxnSpPr/>
          <p:nvPr/>
        </p:nvCxnSpPr>
        <p:spPr>
          <a:xfrm>
            <a:off x="722092" y="977133"/>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13812"/>
    </mc:Choice>
    <mc:Fallback xmlns="">
      <p:transition spd="slow" advTm="1381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24474" y="0"/>
            <a:ext cx="36000" cy="6840000"/>
          </a:xfrm>
          <a:prstGeom prst="rect">
            <a:avLst/>
          </a:prstGeom>
          <a:gradFill>
            <a:gsLst>
              <a:gs pos="4000">
                <a:schemeClr val="tx2">
                  <a:lumMod val="85000"/>
                </a:schemeClr>
              </a:gs>
              <a:gs pos="54000">
                <a:schemeClr val="tx2">
                  <a:lumMod val="85000"/>
                </a:schemeClr>
              </a:gs>
              <a:gs pos="100000">
                <a:schemeClr val="tx2">
                  <a:lumMod val="85000"/>
                  <a:alpha val="7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目录</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573482"/>
            <a:ext cx="10733557" cy="4690459"/>
          </a:xfrm>
        </p:spPr>
        <p:txBody>
          <a:bodyPr/>
          <a:lstStyle/>
          <a:p>
            <a:pPr marL="354965" indent="-342900">
              <a:lnSpc>
                <a:spcPct val="150000"/>
              </a:lnSpc>
              <a:buAutoNum type="arabicPlain"/>
            </a:pPr>
            <a:r>
              <a:rPr lang="zh-CN" altLang="en-US" dirty="0">
                <a:latin typeface="+mn-lt"/>
                <a:ea typeface="+mn-ea"/>
                <a:cs typeface="+mn-ea"/>
                <a:sym typeface="+mn-lt"/>
              </a:rPr>
              <a:t>什么是表达式</a:t>
            </a:r>
            <a:endParaRPr lang="en-US" altLang="zh-CN" dirty="0">
              <a:latin typeface="+mn-lt"/>
              <a:ea typeface="+mn-ea"/>
              <a:cs typeface="+mn-ea"/>
              <a:sym typeface="+mn-lt"/>
            </a:endParaRPr>
          </a:p>
          <a:p>
            <a:pPr marL="354965" indent="-342900">
              <a:lnSpc>
                <a:spcPct val="150000"/>
              </a:lnSpc>
              <a:buAutoNum type="arabicPlain"/>
            </a:pPr>
            <a:r>
              <a:rPr lang="zh-CN" altLang="en-US" dirty="0">
                <a:latin typeface="+mn-lt"/>
                <a:ea typeface="+mn-ea"/>
                <a:cs typeface="+mn-ea"/>
                <a:sym typeface="+mn-lt"/>
              </a:rPr>
              <a:t>表达式和流程控制</a:t>
            </a:r>
            <a:endParaRPr lang="en-US" altLang="zh-CN" dirty="0">
              <a:latin typeface="+mn-lt"/>
              <a:ea typeface="+mn-ea"/>
              <a:cs typeface="+mn-ea"/>
              <a:sym typeface="+mn-lt"/>
            </a:endParaRPr>
          </a:p>
          <a:p>
            <a:pPr>
              <a:lnSpc>
                <a:spcPct val="150000"/>
              </a:lnSpc>
            </a:pPr>
            <a:r>
              <a:rPr lang="en-US" altLang="zh-CN" dirty="0">
                <a:latin typeface="+mn-lt"/>
                <a:ea typeface="+mn-ea"/>
                <a:cs typeface="+mn-ea"/>
                <a:sym typeface="+mn-lt"/>
              </a:rPr>
              <a:t>3   </a:t>
            </a:r>
            <a:r>
              <a:rPr lang="zh-CN" altLang="en-US" dirty="0">
                <a:latin typeface="+mn-lt"/>
                <a:ea typeface="+mn-ea"/>
                <a:cs typeface="+mn-ea"/>
                <a:sym typeface="+mn-lt"/>
              </a:rPr>
              <a:t>模式匹配</a:t>
            </a:r>
            <a:endParaRPr lang="en-US" altLang="zh-CN" dirty="0">
              <a:latin typeface="+mn-lt"/>
              <a:ea typeface="+mn-ea"/>
              <a:cs typeface="+mn-ea"/>
              <a:sym typeface="+mn-lt"/>
            </a:endParaRPr>
          </a:p>
          <a:p>
            <a:pPr>
              <a:lnSpc>
                <a:spcPct val="150000"/>
              </a:lnSpc>
            </a:pPr>
            <a:r>
              <a:rPr lang="en-US" dirty="0">
                <a:latin typeface="+mn-lt"/>
                <a:ea typeface="+mn-ea"/>
                <a:cs typeface="+mn-ea"/>
                <a:sym typeface="+mn-lt"/>
              </a:rPr>
              <a:t>4   </a:t>
            </a:r>
            <a:r>
              <a:rPr lang="en-US" altLang="zh-CN" dirty="0">
                <a:latin typeface="+mn-lt"/>
                <a:ea typeface="+mn-ea"/>
                <a:cs typeface="+mn-ea"/>
                <a:sym typeface="+mn-lt"/>
              </a:rPr>
              <a:t>never</a:t>
            </a:r>
            <a:r>
              <a:rPr lang="zh-CN" altLang="en-US" dirty="0">
                <a:latin typeface="+mn-lt"/>
                <a:ea typeface="+mn-ea"/>
                <a:cs typeface="+mn-ea"/>
                <a:sym typeface="+mn-lt"/>
              </a:rPr>
              <a:t>类型</a:t>
            </a:r>
            <a:endParaRPr lang="en-US" dirty="0">
              <a:latin typeface="+mn-lt"/>
              <a:ea typeface="+mn-ea"/>
              <a:cs typeface="+mn-ea"/>
              <a:sym typeface="+mn-lt"/>
            </a:endParaRPr>
          </a:p>
        </p:txBody>
      </p:sp>
      <p:cxnSp>
        <p:nvCxnSpPr>
          <p:cNvPr id="5" name="直接连接符 4"/>
          <p:cNvCxnSpPr/>
          <p:nvPr/>
        </p:nvCxnSpPr>
        <p:spPr>
          <a:xfrm>
            <a:off x="729175" y="958083"/>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什么是表达式</a:t>
            </a:r>
          </a:p>
        </p:txBody>
      </p:sp>
      <p:cxnSp>
        <p:nvCxnSpPr>
          <p:cNvPr id="14" name="直接连接符 13"/>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509047" y="1272390"/>
            <a:ext cx="10551465" cy="3323987"/>
          </a:xfrm>
          <a:prstGeom prst="rect">
            <a:avLst/>
          </a:prstGeom>
        </p:spPr>
        <p:txBody>
          <a:bodyPr wrap="square">
            <a:spAutoFit/>
          </a:bodyPr>
          <a:lstStyle/>
          <a:p>
            <a:pPr>
              <a:lnSpc>
                <a:spcPct val="150000"/>
              </a:lnSpc>
            </a:pPr>
            <a:r>
              <a:rPr lang="en-US" altLang="zh-CN" sz="1400" dirty="0">
                <a:solidFill>
                  <a:srgbClr val="000000"/>
                </a:solidFill>
                <a:cs typeface="+mn-ea"/>
                <a:sym typeface="+mn-lt"/>
              </a:rPr>
              <a:t>Rust </a:t>
            </a:r>
            <a:r>
              <a:rPr lang="zh-CN" altLang="en-US" sz="1400" dirty="0">
                <a:solidFill>
                  <a:srgbClr val="000000"/>
                </a:solidFill>
                <a:cs typeface="+mn-ea"/>
                <a:sym typeface="+mn-lt"/>
              </a:rPr>
              <a:t>基本上是一种表达式语言，表达式求值</a:t>
            </a:r>
            <a:r>
              <a:rPr lang="en-US" altLang="zh-CN" sz="1400" dirty="0">
                <a:solidFill>
                  <a:srgbClr val="000000"/>
                </a:solidFill>
                <a:cs typeface="+mn-ea"/>
                <a:sym typeface="+mn-lt"/>
              </a:rPr>
              <a:t>/</a:t>
            </a:r>
            <a:r>
              <a:rPr lang="zh-CN" altLang="en-US" sz="1400" dirty="0">
                <a:solidFill>
                  <a:srgbClr val="000000"/>
                </a:solidFill>
                <a:cs typeface="+mn-ea"/>
                <a:sym typeface="+mn-lt"/>
              </a:rPr>
              <a:t>计算值，并在求值期间表达出效果。每一种表达式通常都可以内嵌到另一种表达式中，表达式的求值规则包括指定表达式产生的值和指定其各个子表达式的求值顺序。</a:t>
            </a:r>
            <a:endParaRPr lang="en-US" altLang="zh-CN" sz="1400" dirty="0">
              <a:solidFill>
                <a:srgbClr val="000000"/>
              </a:solidFill>
              <a:cs typeface="+mn-ea"/>
              <a:sym typeface="+mn-lt"/>
            </a:endParaRPr>
          </a:p>
          <a:p>
            <a:pPr>
              <a:lnSpc>
                <a:spcPct val="150000"/>
              </a:lnSpc>
            </a:pPr>
            <a:endParaRPr lang="en-US" altLang="zh-CN" sz="1400" dirty="0">
              <a:solidFill>
                <a:srgbClr val="000000"/>
              </a:solidFill>
              <a:cs typeface="+mn-ea"/>
              <a:sym typeface="+mn-lt"/>
            </a:endParaRPr>
          </a:p>
          <a:p>
            <a:pPr>
              <a:lnSpc>
                <a:spcPct val="150000"/>
              </a:lnSpc>
            </a:pPr>
            <a:r>
              <a:rPr lang="zh-CN" altLang="en-US" sz="1400" dirty="0">
                <a:solidFill>
                  <a:srgbClr val="000000"/>
                </a:solidFill>
                <a:cs typeface="+mn-ea"/>
                <a:sym typeface="+mn-lt"/>
              </a:rPr>
              <a:t>表达式有可能包含子表达式，这里子表达式称为此表达式的操作数。每种表达式都表达了以下几点含义：</a:t>
            </a:r>
            <a:endParaRPr lang="en-US" altLang="zh-CN" sz="1400" dirty="0">
              <a:solidFill>
                <a:srgbClr val="000000"/>
              </a:solidFill>
              <a:cs typeface="+mn-ea"/>
              <a:sym typeface="+mn-lt"/>
            </a:endParaRPr>
          </a:p>
          <a:p>
            <a:pPr marL="285750" indent="-285750">
              <a:lnSpc>
                <a:spcPct val="150000"/>
              </a:lnSpc>
              <a:buFont typeface="Arial" panose="020B0604020202020204" pitchFamily="34" charset="0"/>
              <a:buChar char="•"/>
            </a:pPr>
            <a:r>
              <a:rPr lang="zh-CN" altLang="en-US" sz="1400" dirty="0">
                <a:solidFill>
                  <a:srgbClr val="000000"/>
                </a:solidFill>
                <a:cs typeface="+mn-ea"/>
                <a:sym typeface="+mn-lt"/>
              </a:rPr>
              <a:t>在对表达式求值时是否对操作数求值；</a:t>
            </a:r>
          </a:p>
          <a:p>
            <a:pPr marL="285750" indent="-285750">
              <a:lnSpc>
                <a:spcPct val="150000"/>
              </a:lnSpc>
              <a:buFont typeface="Arial" panose="020B0604020202020204" pitchFamily="34" charset="0"/>
              <a:buChar char="•"/>
            </a:pPr>
            <a:r>
              <a:rPr lang="zh-CN" altLang="en-US" sz="1400" dirty="0">
                <a:solidFill>
                  <a:srgbClr val="000000"/>
                </a:solidFill>
                <a:cs typeface="+mn-ea"/>
                <a:sym typeface="+mn-lt"/>
              </a:rPr>
              <a:t>对操作数求值的顺序；</a:t>
            </a:r>
          </a:p>
          <a:p>
            <a:pPr marL="285750" indent="-285750">
              <a:lnSpc>
                <a:spcPct val="150000"/>
              </a:lnSpc>
              <a:buFont typeface="Arial" panose="020B0604020202020204" pitchFamily="34" charset="0"/>
              <a:buChar char="•"/>
            </a:pPr>
            <a:r>
              <a:rPr lang="zh-CN" altLang="en-US" sz="1400" dirty="0">
                <a:solidFill>
                  <a:srgbClr val="000000"/>
                </a:solidFill>
                <a:cs typeface="+mn-ea"/>
                <a:sym typeface="+mn-lt"/>
              </a:rPr>
              <a:t>如何组合操作数的值来获取表达式的值；</a:t>
            </a:r>
            <a:endParaRPr lang="en-US" altLang="zh-CN" sz="1400" dirty="0">
              <a:solidFill>
                <a:srgbClr val="000000"/>
              </a:solidFill>
              <a:cs typeface="+mn-ea"/>
              <a:sym typeface="+mn-lt"/>
            </a:endParaRPr>
          </a:p>
          <a:p>
            <a:pPr marL="285750" indent="-285750">
              <a:lnSpc>
                <a:spcPct val="150000"/>
              </a:lnSpc>
              <a:buFont typeface="Arial" panose="020B0604020202020204" pitchFamily="34" charset="0"/>
              <a:buChar char="•"/>
            </a:pPr>
            <a:endParaRPr lang="en-US" altLang="zh-CN" sz="1400" dirty="0">
              <a:solidFill>
                <a:srgbClr val="000000"/>
              </a:solidFill>
              <a:cs typeface="+mn-ea"/>
              <a:sym typeface="+mn-lt"/>
            </a:endParaRPr>
          </a:p>
          <a:p>
            <a:pPr>
              <a:lnSpc>
                <a:spcPct val="150000"/>
              </a:lnSpc>
            </a:pPr>
            <a:r>
              <a:rPr lang="zh-CN" altLang="en-US" sz="1400" dirty="0">
                <a:solidFill>
                  <a:srgbClr val="000000"/>
                </a:solidFill>
                <a:cs typeface="+mn-ea"/>
                <a:sym typeface="+mn-lt"/>
              </a:rPr>
              <a:t>基于对这几种含义的实现要求，表达式通过其内在结构规定了其执行结构。</a:t>
            </a:r>
          </a:p>
          <a:p>
            <a:pPr>
              <a:lnSpc>
                <a:spcPct val="150000"/>
              </a:lnSpc>
            </a:pPr>
            <a:r>
              <a:rPr lang="zh-CN" altLang="en-US" sz="1400" dirty="0">
                <a:solidFill>
                  <a:srgbClr val="000000"/>
                </a:solidFill>
                <a:cs typeface="+mn-ea"/>
                <a:sym typeface="+mn-lt"/>
              </a:rPr>
              <a:t>块只是另一种表达式，所以块、语句和表达式可以递归地彼此嵌套到任意深度。</a:t>
            </a:r>
            <a:endParaRPr lang="en-US" altLang="zh-CN" sz="1400" dirty="0">
              <a:solidFill>
                <a:srgbClr val="000000"/>
              </a:solidFill>
              <a:cs typeface="+mn-ea"/>
              <a:sym typeface="+mn-lt"/>
            </a:endParaRPr>
          </a:p>
        </p:txBody>
      </p:sp>
      <p:sp>
        <p:nvSpPr>
          <p:cNvPr id="10" name="矩形 9"/>
          <p:cNvSpPr/>
          <p:nvPr/>
        </p:nvSpPr>
        <p:spPr>
          <a:xfrm>
            <a:off x="319872" y="5506768"/>
            <a:ext cx="10740640" cy="307777"/>
          </a:xfrm>
          <a:prstGeom prst="rect">
            <a:avLst/>
          </a:prstGeom>
        </p:spPr>
        <p:txBody>
          <a:bodyPr wrap="square">
            <a:spAutoFit/>
          </a:bodyPr>
          <a:lstStyle/>
          <a:p>
            <a:r>
              <a:rPr lang="zh-CN" altLang="en-US" sz="1400" dirty="0">
                <a:solidFill>
                  <a:srgbClr val="000000"/>
                </a:solidFill>
                <a:cs typeface="+mn-ea"/>
                <a:sym typeface="+mn-lt"/>
              </a:rPr>
              <a:t>表达式参考：https://doc.rust-lang.org/stable/reference/expressions.html</a:t>
            </a:r>
          </a:p>
        </p:txBody>
      </p:sp>
    </p:spTree>
  </p:cSld>
  <p:clrMapOvr>
    <a:masterClrMapping/>
  </p:clrMapOvr>
  <mc:AlternateContent xmlns:mc="http://schemas.openxmlformats.org/markup-compatibility/2006" xmlns:p14="http://schemas.microsoft.com/office/powerpoint/2010/main">
    <mc:Choice Requires="p14">
      <p:transition spd="slow" p14:dur="2000" advTm="81555"/>
    </mc:Choice>
    <mc:Fallback xmlns="">
      <p:transition spd="slow" advTm="8155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表达式和流程控制</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块表达式</a:t>
            </a:r>
          </a:p>
        </p:txBody>
      </p:sp>
      <p:sp>
        <p:nvSpPr>
          <p:cNvPr id="9" name="文本框 8"/>
          <p:cNvSpPr txBox="1"/>
          <p:nvPr/>
        </p:nvSpPr>
        <p:spPr>
          <a:xfrm>
            <a:off x="6959853" y="774580"/>
            <a:ext cx="4474586" cy="3046988"/>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sz="1200" b="0" u="none" dirty="0">
              <a:solidFill>
                <a:srgbClr val="C678DD"/>
              </a:solidFill>
              <a:cs typeface="+mn-ea"/>
              <a:sym typeface="+mn-lt"/>
            </a:endParaRPr>
          </a:p>
          <a:p>
            <a:r>
              <a:rPr lang="en-US" sz="1200" b="0" u="none" dirty="0">
                <a:solidFill>
                  <a:srgbClr val="C678DD"/>
                </a:solidFill>
                <a:cs typeface="+mn-ea"/>
                <a:sym typeface="+mn-lt"/>
              </a:rPr>
              <a:t>fn</a:t>
            </a:r>
            <a:r>
              <a:rPr lang="en-US" sz="1200" b="0" u="none" dirty="0">
                <a:solidFill>
                  <a:srgbClr val="ABB2BF"/>
                </a:solidFill>
                <a:cs typeface="+mn-ea"/>
                <a:sym typeface="+mn-lt"/>
              </a:rPr>
              <a:t> </a:t>
            </a:r>
            <a:r>
              <a:rPr lang="en-US" sz="1200" b="0" u="none" dirty="0">
                <a:solidFill>
                  <a:srgbClr val="61AFEF"/>
                </a:solidFill>
                <a:cs typeface="+mn-ea"/>
                <a:sym typeface="+mn-lt"/>
              </a:rPr>
              <a:t>main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x</a:t>
            </a:r>
            <a:r>
              <a:rPr lang="en-US" sz="1200" b="0" u="none" dirty="0">
                <a:solidFill>
                  <a:srgbClr val="ABB2BF"/>
                </a:solidFill>
                <a:cs typeface="+mn-ea"/>
                <a:sym typeface="+mn-lt"/>
              </a:rPr>
              <a:t> = </a:t>
            </a:r>
            <a:r>
              <a:rPr lang="en-US" sz="1200" b="0" u="none" dirty="0">
                <a:solidFill>
                  <a:srgbClr val="D19A66"/>
                </a:solidFill>
                <a:cs typeface="+mn-ea"/>
                <a:sym typeface="+mn-lt"/>
              </a:rPr>
              <a:t>5u32</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y</a:t>
            </a:r>
            <a:r>
              <a:rPr lang="en-US" sz="1200" b="0" u="none" dirty="0">
                <a:solidFill>
                  <a:srgbClr val="ABB2BF"/>
                </a:solidFill>
                <a:cs typeface="+mn-ea"/>
                <a:sym typeface="+mn-lt"/>
              </a:rPr>
              <a:t> = {</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err="1">
                <a:solidFill>
                  <a:srgbClr val="E06C75"/>
                </a:solidFill>
                <a:cs typeface="+mn-ea"/>
                <a:sym typeface="+mn-lt"/>
              </a:rPr>
              <a:t>x_squared</a:t>
            </a:r>
            <a:r>
              <a:rPr lang="en-US" sz="1200" b="0" u="none" dirty="0">
                <a:solidFill>
                  <a:srgbClr val="ABB2BF"/>
                </a:solidFill>
                <a:cs typeface="+mn-ea"/>
                <a:sym typeface="+mn-lt"/>
              </a:rPr>
              <a:t> = </a:t>
            </a:r>
            <a:r>
              <a:rPr lang="en-US" sz="1200" b="0" u="none" dirty="0">
                <a:solidFill>
                  <a:srgbClr val="E06C75"/>
                </a:solidFill>
                <a:cs typeface="+mn-ea"/>
                <a:sym typeface="+mn-lt"/>
              </a:rPr>
              <a:t>x</a:t>
            </a:r>
            <a:r>
              <a:rPr lang="en-US" sz="1200" b="0" u="none" dirty="0">
                <a:solidFill>
                  <a:srgbClr val="ABB2BF"/>
                </a:solidFill>
                <a:cs typeface="+mn-ea"/>
                <a:sym typeface="+mn-lt"/>
              </a:rPr>
              <a:t> * </a:t>
            </a:r>
            <a:r>
              <a:rPr lang="en-US" sz="1200" b="0" u="none" dirty="0">
                <a:solidFill>
                  <a:srgbClr val="E06C75"/>
                </a:solidFill>
                <a:cs typeface="+mn-ea"/>
                <a:sym typeface="+mn-lt"/>
              </a:rPr>
              <a:t>x</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err="1">
                <a:solidFill>
                  <a:srgbClr val="E06C75"/>
                </a:solidFill>
                <a:cs typeface="+mn-ea"/>
                <a:sym typeface="+mn-lt"/>
              </a:rPr>
              <a:t>x_cube</a:t>
            </a:r>
            <a:r>
              <a:rPr lang="en-US" sz="1200" b="0" u="none" dirty="0">
                <a:solidFill>
                  <a:srgbClr val="ABB2BF"/>
                </a:solidFill>
                <a:cs typeface="+mn-ea"/>
                <a:sym typeface="+mn-lt"/>
              </a:rPr>
              <a:t> = </a:t>
            </a:r>
            <a:r>
              <a:rPr lang="en-US" sz="1200" b="0" u="none" dirty="0" err="1">
                <a:solidFill>
                  <a:srgbClr val="E06C75"/>
                </a:solidFill>
                <a:cs typeface="+mn-ea"/>
                <a:sym typeface="+mn-lt"/>
              </a:rPr>
              <a:t>x_squared</a:t>
            </a:r>
            <a:r>
              <a:rPr lang="en-US" sz="1200" b="0" u="none" dirty="0">
                <a:solidFill>
                  <a:srgbClr val="ABB2BF"/>
                </a:solidFill>
                <a:cs typeface="+mn-ea"/>
                <a:sym typeface="+mn-lt"/>
              </a:rPr>
              <a:t> * </a:t>
            </a:r>
            <a:r>
              <a:rPr lang="en-US" sz="1200" b="0" u="none" dirty="0">
                <a:solidFill>
                  <a:srgbClr val="E06C75"/>
                </a:solidFill>
                <a:cs typeface="+mn-ea"/>
                <a:sym typeface="+mn-lt"/>
              </a:rPr>
              <a:t>x</a:t>
            </a:r>
            <a:r>
              <a:rPr lang="en-US" sz="1200" b="0" u="none" dirty="0">
                <a:solidFill>
                  <a:srgbClr val="ABB2BF"/>
                </a:solidFill>
                <a:cs typeface="+mn-ea"/>
                <a:sym typeface="+mn-lt"/>
              </a:rPr>
              <a:t>;</a:t>
            </a:r>
            <a:endParaRPr lang="en-US" sz="1200" b="0" i="1" u="none" dirty="0">
              <a:solidFill>
                <a:srgbClr val="7F848E"/>
              </a:solidFill>
              <a:cs typeface="+mn-ea"/>
              <a:sym typeface="+mn-lt"/>
            </a:endParaRPr>
          </a:p>
          <a:p>
            <a:r>
              <a:rPr lang="en-US" sz="1200" b="0" i="1" u="none" dirty="0">
                <a:solidFill>
                  <a:srgbClr val="7F848E"/>
                </a:solidFill>
                <a:cs typeface="+mn-ea"/>
                <a:sym typeface="+mn-lt"/>
              </a:rPr>
              <a:t>        </a:t>
            </a:r>
            <a:r>
              <a:rPr lang="zh-CN" sz="1200" b="0" i="1" u="none" dirty="0">
                <a:solidFill>
                  <a:srgbClr val="7F848E"/>
                </a:solidFill>
                <a:cs typeface="+mn-ea"/>
                <a:sym typeface="+mn-lt"/>
              </a:rPr>
              <a:t>// 最终表达式求值并返回</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err="1">
                <a:solidFill>
                  <a:srgbClr val="E06C75"/>
                </a:solidFill>
                <a:cs typeface="+mn-ea"/>
                <a:sym typeface="+mn-lt"/>
              </a:rPr>
              <a:t>x_cube</a:t>
            </a:r>
            <a:r>
              <a:rPr lang="en-US" sz="1200" b="0" u="none" dirty="0">
                <a:solidFill>
                  <a:srgbClr val="ABB2BF"/>
                </a:solidFill>
                <a:cs typeface="+mn-ea"/>
                <a:sym typeface="+mn-lt"/>
              </a:rPr>
              <a:t> + </a:t>
            </a:r>
            <a:r>
              <a:rPr lang="en-US" sz="1200" b="0" u="none" dirty="0" err="1">
                <a:solidFill>
                  <a:srgbClr val="E06C75"/>
                </a:solidFill>
                <a:cs typeface="+mn-ea"/>
                <a:sym typeface="+mn-lt"/>
              </a:rPr>
              <a:t>x_squared</a:t>
            </a:r>
            <a:r>
              <a:rPr lang="en-US" sz="1200" b="0" u="none" dirty="0">
                <a:solidFill>
                  <a:srgbClr val="ABB2BF"/>
                </a:solidFill>
                <a:cs typeface="+mn-ea"/>
                <a:sym typeface="+mn-lt"/>
              </a:rPr>
              <a:t> + </a:t>
            </a:r>
            <a:r>
              <a:rPr lang="en-US" sz="1200" b="0" u="none" dirty="0">
                <a:solidFill>
                  <a:srgbClr val="E06C75"/>
                </a:solidFill>
                <a:cs typeface="+mn-ea"/>
                <a:sym typeface="+mn-lt"/>
              </a:rPr>
              <a:t>x</a:t>
            </a:r>
            <a:endParaRPr lang="en-US" sz="1200" b="0" u="none" dirty="0">
              <a:solidFill>
                <a:srgbClr val="ABB2BF"/>
              </a:solidFill>
              <a:cs typeface="+mn-ea"/>
              <a:sym typeface="+mn-lt"/>
            </a:endParaRPr>
          </a:p>
          <a:p>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z</a:t>
            </a:r>
            <a:r>
              <a:rPr lang="en-US" sz="1200" b="0" u="none" dirty="0">
                <a:solidFill>
                  <a:srgbClr val="ABB2BF"/>
                </a:solidFill>
                <a:cs typeface="+mn-ea"/>
                <a:sym typeface="+mn-lt"/>
              </a:rPr>
              <a:t> = {</a:t>
            </a:r>
          </a:p>
          <a:p>
            <a:r>
              <a:rPr lang="en-US" sz="1200" b="0" u="none" dirty="0">
                <a:solidFill>
                  <a:srgbClr val="ABB2BF"/>
                </a:solidFill>
                <a:cs typeface="+mn-ea"/>
                <a:sym typeface="+mn-lt"/>
              </a:rPr>
              <a:t>        </a:t>
            </a:r>
            <a:r>
              <a:rPr lang="en-US" sz="1200" b="0" u="none" dirty="0">
                <a:solidFill>
                  <a:srgbClr val="D19A66"/>
                </a:solidFill>
                <a:cs typeface="+mn-ea"/>
                <a:sym typeface="+mn-lt"/>
              </a:rPr>
              <a:t>2</a:t>
            </a:r>
            <a:r>
              <a:rPr lang="en-US" sz="1200" b="0" u="none" dirty="0">
                <a:solidFill>
                  <a:srgbClr val="ABB2BF"/>
                </a:solidFill>
                <a:cs typeface="+mn-ea"/>
                <a:sym typeface="+mn-lt"/>
              </a:rPr>
              <a:t> * </a:t>
            </a:r>
            <a:r>
              <a:rPr lang="en-US" sz="1200" b="0" u="none" dirty="0">
                <a:solidFill>
                  <a:srgbClr val="E06C75"/>
                </a:solidFill>
                <a:cs typeface="+mn-ea"/>
                <a:sym typeface="+mn-lt"/>
              </a:rPr>
              <a:t>x</a:t>
            </a:r>
            <a:r>
              <a:rPr lang="en-US" sz="1200" b="0" u="none" dirty="0">
                <a:solidFill>
                  <a:srgbClr val="ABB2BF"/>
                </a:solidFill>
                <a:cs typeface="+mn-ea"/>
                <a:sym typeface="+mn-lt"/>
              </a:rPr>
              <a:t>;</a:t>
            </a:r>
          </a:p>
          <a:p>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err="1">
                <a:solidFill>
                  <a:srgbClr val="D19A66"/>
                </a:solidFill>
                <a:cs typeface="+mn-ea"/>
                <a:sym typeface="+mn-lt"/>
              </a:rPr>
              <a:t>assert_eq</a:t>
            </a:r>
            <a:r>
              <a:rPr lang="en-US" sz="1200" b="0" u="none" dirty="0">
                <a:solidFill>
                  <a:srgbClr val="D19A66"/>
                </a:solidFill>
                <a:cs typeface="+mn-ea"/>
                <a:sym typeface="+mn-lt"/>
              </a:rPr>
              <a:t>!</a:t>
            </a:r>
            <a:r>
              <a:rPr lang="en-US" sz="1200" b="0" u="none" dirty="0">
                <a:solidFill>
                  <a:srgbClr val="ABB2BF"/>
                </a:solidFill>
                <a:cs typeface="+mn-ea"/>
                <a:sym typeface="+mn-lt"/>
              </a:rPr>
              <a:t>(</a:t>
            </a:r>
            <a:r>
              <a:rPr lang="en-US" sz="1200" b="0" u="none" dirty="0">
                <a:solidFill>
                  <a:srgbClr val="D19A66"/>
                </a:solidFill>
                <a:cs typeface="+mn-ea"/>
                <a:sym typeface="+mn-lt"/>
              </a:rPr>
              <a:t>5</a:t>
            </a:r>
            <a:r>
              <a:rPr lang="en-US" sz="1200" b="0" u="none" dirty="0">
                <a:solidFill>
                  <a:srgbClr val="ABB2BF"/>
                </a:solidFill>
                <a:cs typeface="+mn-ea"/>
                <a:sym typeface="+mn-lt"/>
              </a:rPr>
              <a:t>, </a:t>
            </a:r>
            <a:r>
              <a:rPr lang="en-US" sz="1200" b="0" u="none" dirty="0">
                <a:solidFill>
                  <a:srgbClr val="E06C75"/>
                </a:solidFill>
                <a:cs typeface="+mn-ea"/>
                <a:sym typeface="+mn-lt"/>
              </a:rPr>
              <a:t>x</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err="1">
                <a:solidFill>
                  <a:srgbClr val="D19A66"/>
                </a:solidFill>
                <a:cs typeface="+mn-ea"/>
                <a:sym typeface="+mn-lt"/>
              </a:rPr>
              <a:t>assert_eq</a:t>
            </a:r>
            <a:r>
              <a:rPr lang="en-US" sz="1200" b="0" u="none" dirty="0">
                <a:solidFill>
                  <a:srgbClr val="D19A66"/>
                </a:solidFill>
                <a:cs typeface="+mn-ea"/>
                <a:sym typeface="+mn-lt"/>
              </a:rPr>
              <a:t>!</a:t>
            </a:r>
            <a:r>
              <a:rPr lang="en-US" sz="1200" b="0" u="none" dirty="0">
                <a:solidFill>
                  <a:srgbClr val="ABB2BF"/>
                </a:solidFill>
                <a:cs typeface="+mn-ea"/>
                <a:sym typeface="+mn-lt"/>
              </a:rPr>
              <a:t>(</a:t>
            </a:r>
            <a:r>
              <a:rPr lang="en-US" sz="1200" b="0" u="none" dirty="0">
                <a:solidFill>
                  <a:srgbClr val="D19A66"/>
                </a:solidFill>
                <a:cs typeface="+mn-ea"/>
                <a:sym typeface="+mn-lt"/>
              </a:rPr>
              <a:t>155</a:t>
            </a:r>
            <a:r>
              <a:rPr lang="en-US" sz="1200" b="0" u="none" dirty="0">
                <a:solidFill>
                  <a:srgbClr val="ABB2BF"/>
                </a:solidFill>
                <a:cs typeface="+mn-ea"/>
                <a:sym typeface="+mn-lt"/>
              </a:rPr>
              <a:t>, </a:t>
            </a:r>
            <a:r>
              <a:rPr lang="en-US" sz="1200" b="0" u="none" dirty="0">
                <a:solidFill>
                  <a:srgbClr val="E06C75"/>
                </a:solidFill>
                <a:cs typeface="+mn-ea"/>
                <a:sym typeface="+mn-lt"/>
              </a:rPr>
              <a:t>y</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err="1">
                <a:solidFill>
                  <a:srgbClr val="D19A66"/>
                </a:solidFill>
                <a:cs typeface="+mn-ea"/>
                <a:sym typeface="+mn-lt"/>
              </a:rPr>
              <a:t>assert_eq</a:t>
            </a:r>
            <a:r>
              <a:rPr lang="en-US" sz="1200" b="0" u="none" dirty="0">
                <a:solidFill>
                  <a:srgbClr val="D19A66"/>
                </a:solidFill>
                <a:cs typeface="+mn-ea"/>
                <a:sym typeface="+mn-lt"/>
              </a:rPr>
              <a:t>!</a:t>
            </a:r>
            <a:r>
              <a:rPr lang="en-US" sz="1200" b="0" u="none" dirty="0">
                <a:solidFill>
                  <a:srgbClr val="ABB2BF"/>
                </a:solidFill>
                <a:cs typeface="+mn-ea"/>
                <a:sym typeface="+mn-lt"/>
              </a:rPr>
              <a:t>((), </a:t>
            </a:r>
            <a:r>
              <a:rPr lang="en-US" sz="1200" b="0" u="none" dirty="0">
                <a:solidFill>
                  <a:srgbClr val="E06C75"/>
                </a:solidFill>
                <a:cs typeface="+mn-ea"/>
                <a:sym typeface="+mn-lt"/>
              </a:rPr>
              <a:t>z</a:t>
            </a:r>
            <a:r>
              <a:rPr lang="en-US" sz="1200" b="0" u="none" dirty="0">
                <a:solidFill>
                  <a:srgbClr val="ABB2BF"/>
                </a:solidFill>
                <a:cs typeface="+mn-ea"/>
                <a:sym typeface="+mn-lt"/>
              </a:rPr>
              <a:t>);</a:t>
            </a:r>
          </a:p>
          <a:p>
            <a:r>
              <a:rPr lang="en-US" sz="1200" b="0" u="none" dirty="0">
                <a:solidFill>
                  <a:srgbClr val="ABB2BF"/>
                </a:solidFill>
                <a:cs typeface="+mn-ea"/>
                <a:sym typeface="+mn-lt"/>
              </a:rPr>
              <a:t>}</a:t>
            </a:r>
            <a:endParaRPr lang="en-US" altLang="zh-CN" sz="1200" b="0" u="none" dirty="0">
              <a:solidFill>
                <a:srgbClr val="ABB2BF"/>
              </a:solidFill>
              <a:effectLst/>
              <a:cs typeface="+mn-ea"/>
              <a:sym typeface="+mn-lt"/>
            </a:endParaRPr>
          </a:p>
        </p:txBody>
      </p:sp>
      <p:sp>
        <p:nvSpPr>
          <p:cNvPr id="12" name="文本框 11"/>
          <p:cNvSpPr txBox="1"/>
          <p:nvPr/>
        </p:nvSpPr>
        <p:spPr>
          <a:xfrm>
            <a:off x="398157" y="862633"/>
            <a:ext cx="6436276" cy="3003515"/>
          </a:xfrm>
          <a:prstGeom prst="rect">
            <a:avLst/>
          </a:prstGeom>
          <a:noFill/>
        </p:spPr>
        <p:txBody>
          <a:bodyPr vert="horz" wrap="square" rtlCol="0">
            <a:spAutoFit/>
          </a:bodyPr>
          <a:lstStyle/>
          <a:p>
            <a:pPr>
              <a:lnSpc>
                <a:spcPct val="150000"/>
              </a:lnSpc>
            </a:pPr>
            <a:r>
              <a:rPr lang="zh-CN" altLang="en-US" sz="1600" dirty="0">
                <a:cs typeface="+mn-ea"/>
                <a:sym typeface="+mn-lt"/>
              </a:rPr>
              <a:t>块表达式是一个控制流表达式。</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任何一个可用来包含代码的大括号都是一个单独的作用范围；</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作为控制流表达式，块按顺序执行其非</a:t>
            </a:r>
            <a:r>
              <a:rPr lang="en-US" altLang="zh-CN" sz="1600" dirty="0">
                <a:cs typeface="+mn-ea"/>
                <a:sym typeface="+mn-lt"/>
              </a:rPr>
              <a:t>Item</a:t>
            </a:r>
            <a:r>
              <a:rPr lang="zh-CN" altLang="en-US" sz="1600" dirty="0">
                <a:cs typeface="+mn-ea"/>
                <a:sym typeface="+mn-lt"/>
              </a:rPr>
              <a:t>声明的语句，最后执行可选的最终表达式；</a:t>
            </a:r>
            <a:endParaRPr lang="en-US" altLang="zh-CN" sz="1600" dirty="0">
              <a:solidFill>
                <a:srgbClr val="000000"/>
              </a:solidFill>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语句之间通常需要后跟分号，但有两个例外： </a:t>
            </a:r>
            <a:endParaRPr lang="en-US" altLang="zh-CN" sz="1600" dirty="0">
              <a:cs typeface="+mn-ea"/>
              <a:sym typeface="+mn-lt"/>
            </a:endParaRPr>
          </a:p>
          <a:p>
            <a:pPr marL="800100" lvl="1" indent="-342900">
              <a:lnSpc>
                <a:spcPct val="150000"/>
              </a:lnSpc>
              <a:buFont typeface="+mj-lt"/>
              <a:buAutoNum type="arabicPeriod"/>
            </a:pPr>
            <a:r>
              <a:rPr lang="en-US" altLang="zh-CN" sz="1600" dirty="0">
                <a:cs typeface="+mn-ea"/>
                <a:sym typeface="+mn-lt"/>
              </a:rPr>
              <a:t>Item</a:t>
            </a:r>
            <a:r>
              <a:rPr lang="zh-CN" altLang="en-US" sz="1600" dirty="0">
                <a:cs typeface="+mn-ea"/>
                <a:sym typeface="+mn-lt"/>
              </a:rPr>
              <a:t>声明语句不需要后跟分号；</a:t>
            </a:r>
            <a:endParaRPr lang="en-US" altLang="zh-CN" sz="1600" dirty="0">
              <a:cs typeface="+mn-ea"/>
              <a:sym typeface="+mn-lt"/>
            </a:endParaRPr>
          </a:p>
          <a:p>
            <a:pPr marL="800100" lvl="1" indent="-342900">
              <a:lnSpc>
                <a:spcPct val="150000"/>
              </a:lnSpc>
              <a:buFont typeface="+mj-lt"/>
              <a:buAutoNum type="arabicPeriod"/>
            </a:pPr>
            <a:r>
              <a:rPr lang="zh-CN" altLang="en-US" sz="1600" dirty="0">
                <a:cs typeface="+mn-ea"/>
                <a:sym typeface="+mn-lt"/>
              </a:rPr>
              <a:t>表达式语句通常需要后面的分号，但它的外层表达式是控制流表达式时不需要；</a:t>
            </a:r>
            <a:endParaRPr lang="en-US" altLang="zh-CN" sz="1600" dirty="0">
              <a:cs typeface="+mn-ea"/>
              <a:sym typeface="+mn-lt"/>
            </a:endParaRPr>
          </a:p>
        </p:txBody>
      </p:sp>
      <p:cxnSp>
        <p:nvCxnSpPr>
          <p:cNvPr id="5" name="直接连接符 4"/>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98157" y="5762754"/>
            <a:ext cx="5911901" cy="523220"/>
          </a:xfrm>
          <a:prstGeom prst="rect">
            <a:avLst/>
          </a:prstGeom>
        </p:spPr>
        <p:txBody>
          <a:bodyPr wrap="square">
            <a:spAutoFit/>
          </a:bodyPr>
          <a:lstStyle/>
          <a:p>
            <a:r>
              <a:rPr lang="zh-CN" altLang="en-US" sz="1400" i="1" dirty="0">
                <a:cs typeface="+mn-ea"/>
                <a:sym typeface="+mn-lt"/>
              </a:rPr>
              <a:t>参考链接：</a:t>
            </a:r>
            <a:r>
              <a:rPr lang="zh-CN" altLang="en-US" sz="1400" i="1" dirty="0">
                <a:cs typeface="+mn-ea"/>
                <a:sym typeface="+mn-lt"/>
                <a:hlinkClick r:id="rId3"/>
              </a:rPr>
              <a:t>https://doc.rust-lang.org/stable/reference/items.html</a:t>
            </a:r>
            <a:endParaRPr lang="en-US" altLang="zh-CN" sz="1400" i="1" dirty="0">
              <a:cs typeface="+mn-ea"/>
              <a:sym typeface="+mn-lt"/>
            </a:endParaRPr>
          </a:p>
          <a:p>
            <a:endParaRPr lang="en-US" altLang="zh-CN" sz="1400" i="1" dirty="0">
              <a:cs typeface="+mn-ea"/>
              <a:sym typeface="+mn-lt"/>
            </a:endParaRPr>
          </a:p>
        </p:txBody>
      </p:sp>
      <p:sp>
        <p:nvSpPr>
          <p:cNvPr id="10" name="矩形 9">
            <a:extLst>
              <a:ext uri="{FF2B5EF4-FFF2-40B4-BE49-F238E27FC236}">
                <a16:creationId xmlns:a16="http://schemas.microsoft.com/office/drawing/2014/main" id="{7927D0E5-8FB0-4B6E-A8FA-D8CDB02FDE27}"/>
              </a:ext>
            </a:extLst>
          </p:cNvPr>
          <p:cNvSpPr/>
          <p:nvPr/>
        </p:nvSpPr>
        <p:spPr>
          <a:xfrm>
            <a:off x="6959854" y="3959762"/>
            <a:ext cx="4474586" cy="2123658"/>
          </a:xfrm>
          <a:prstGeom prst="rect">
            <a:avLst/>
          </a:prstGeom>
          <a:solidFill>
            <a:schemeClr val="tx1"/>
          </a:solidFill>
        </p:spPr>
        <p:txBody>
          <a:bodyPr wrap="square">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altLang="zh-CN" sz="1200" dirty="0">
              <a:solidFill>
                <a:srgbClr val="569CD6"/>
              </a:solidFill>
              <a:cs typeface="+mn-ea"/>
              <a:sym typeface="+mn-lt"/>
            </a:endParaRPr>
          </a:p>
          <a:p>
            <a:r>
              <a:rPr lang="en-US" altLang="zh-CN" sz="1200" dirty="0">
                <a:solidFill>
                  <a:srgbClr val="569CD6"/>
                </a:solidFill>
                <a:cs typeface="+mn-ea"/>
                <a:sym typeface="+mn-lt"/>
              </a:rPr>
              <a:t>fn</a:t>
            </a:r>
            <a:r>
              <a:rPr lang="en-US" altLang="zh-CN" sz="1200" dirty="0">
                <a:solidFill>
                  <a:srgbClr val="D4D4D4"/>
                </a:solidFill>
                <a:cs typeface="+mn-ea"/>
                <a:sym typeface="+mn-lt"/>
              </a:rPr>
              <a:t> </a:t>
            </a:r>
            <a:r>
              <a:rPr lang="en-US" altLang="zh-CN" sz="1200" dirty="0">
                <a:solidFill>
                  <a:srgbClr val="C8C8C8"/>
                </a:solidFill>
                <a:cs typeface="+mn-ea"/>
                <a:sym typeface="+mn-lt"/>
              </a:rPr>
              <a:t>main</a:t>
            </a:r>
            <a:r>
              <a:rPr lang="en-US" altLang="zh-CN" sz="1200" dirty="0">
                <a:solidFill>
                  <a:srgbClr val="D4D4D4"/>
                </a:solidFill>
                <a:cs typeface="+mn-ea"/>
                <a:sym typeface="+mn-lt"/>
              </a:rPr>
              <a:t>() {</a:t>
            </a:r>
          </a:p>
          <a:p>
            <a:r>
              <a:rPr lang="en-US" altLang="zh-CN" sz="1200" dirty="0">
                <a:solidFill>
                  <a:srgbClr val="6A9955"/>
                </a:solidFill>
                <a:cs typeface="+mn-ea"/>
                <a:sym typeface="+mn-lt"/>
              </a:rPr>
              <a:t>    // </a:t>
            </a:r>
            <a:r>
              <a:rPr lang="zh-CN" altLang="en-US" sz="1200" dirty="0">
                <a:solidFill>
                  <a:srgbClr val="6A9955"/>
                </a:solidFill>
                <a:cs typeface="+mn-ea"/>
                <a:sym typeface="+mn-lt"/>
              </a:rPr>
              <a:t>例外一：</a:t>
            </a:r>
            <a:r>
              <a:rPr lang="en-US" altLang="zh-CN" sz="1200" dirty="0">
                <a:solidFill>
                  <a:srgbClr val="6A9955"/>
                </a:solidFill>
                <a:cs typeface="+mn-ea"/>
                <a:sym typeface="+mn-lt"/>
              </a:rPr>
              <a:t>Item</a:t>
            </a:r>
            <a:r>
              <a:rPr lang="zh-CN" altLang="en-US" sz="1200" dirty="0">
                <a:solidFill>
                  <a:srgbClr val="6A9955"/>
                </a:solidFill>
                <a:cs typeface="+mn-ea"/>
                <a:sym typeface="+mn-lt"/>
              </a:rPr>
              <a:t>声明</a:t>
            </a:r>
            <a:endParaRPr lang="zh-CN" altLang="en-US" sz="1200" dirty="0">
              <a:solidFill>
                <a:srgbClr val="D4D4D4"/>
              </a:solidFill>
              <a:cs typeface="+mn-ea"/>
              <a:sym typeface="+mn-lt"/>
            </a:endParaRPr>
          </a:p>
          <a:p>
            <a:r>
              <a:rPr lang="zh-CN" altLang="en-US" sz="1200" dirty="0">
                <a:solidFill>
                  <a:srgbClr val="D4D4D4"/>
                </a:solidFill>
                <a:cs typeface="+mn-ea"/>
                <a:sym typeface="+mn-lt"/>
              </a:rPr>
              <a:t>    </a:t>
            </a:r>
            <a:r>
              <a:rPr lang="en-US" altLang="zh-CN" sz="1200" dirty="0">
                <a:solidFill>
                  <a:srgbClr val="569CD6"/>
                </a:solidFill>
                <a:cs typeface="+mn-ea"/>
                <a:sym typeface="+mn-lt"/>
              </a:rPr>
              <a:t>struct</a:t>
            </a:r>
            <a:r>
              <a:rPr lang="en-US" altLang="zh-CN" sz="1200" dirty="0">
                <a:solidFill>
                  <a:srgbClr val="D4D4D4"/>
                </a:solidFill>
                <a:cs typeface="+mn-ea"/>
                <a:sym typeface="+mn-lt"/>
              </a:rPr>
              <a:t> </a:t>
            </a:r>
            <a:r>
              <a:rPr lang="en-US" altLang="zh-CN" sz="1200" dirty="0">
                <a:solidFill>
                  <a:srgbClr val="4EC9B0"/>
                </a:solidFill>
                <a:cs typeface="+mn-ea"/>
                <a:sym typeface="+mn-lt"/>
              </a:rPr>
              <a:t>Foo</a:t>
            </a:r>
            <a:r>
              <a:rPr lang="en-US" altLang="zh-CN" sz="1200" dirty="0">
                <a:solidFill>
                  <a:srgbClr val="D4D4D4"/>
                </a:solidFill>
                <a:cs typeface="+mn-ea"/>
                <a:sym typeface="+mn-lt"/>
              </a:rPr>
              <a:t> {}</a:t>
            </a:r>
          </a:p>
          <a:p>
            <a:br>
              <a:rPr lang="en-US" altLang="zh-CN" sz="1200" dirty="0">
                <a:solidFill>
                  <a:srgbClr val="D4D4D4"/>
                </a:solidFill>
                <a:cs typeface="+mn-ea"/>
                <a:sym typeface="+mn-lt"/>
              </a:rPr>
            </a:br>
            <a:r>
              <a:rPr lang="en-US" altLang="zh-CN" sz="1200" dirty="0">
                <a:solidFill>
                  <a:srgbClr val="6A9955"/>
                </a:solidFill>
                <a:cs typeface="+mn-ea"/>
                <a:sym typeface="+mn-lt"/>
              </a:rPr>
              <a:t>    // </a:t>
            </a:r>
            <a:r>
              <a:rPr lang="zh-CN" altLang="en-US" sz="1200" dirty="0">
                <a:solidFill>
                  <a:srgbClr val="6A9955"/>
                </a:solidFill>
                <a:cs typeface="+mn-ea"/>
                <a:sym typeface="+mn-lt"/>
              </a:rPr>
              <a:t>例外二：外层为控制流表示</a:t>
            </a:r>
            <a:endParaRPr lang="zh-CN" altLang="en-US" sz="1200" dirty="0">
              <a:solidFill>
                <a:srgbClr val="D4D4D4"/>
              </a:solidFill>
              <a:cs typeface="+mn-ea"/>
              <a:sym typeface="+mn-lt"/>
            </a:endParaRPr>
          </a:p>
          <a:p>
            <a:r>
              <a:rPr lang="zh-CN" altLang="en-US" sz="1200" dirty="0">
                <a:solidFill>
                  <a:srgbClr val="D4D4D4"/>
                </a:solidFill>
                <a:cs typeface="+mn-ea"/>
                <a:sym typeface="+mn-lt"/>
              </a:rPr>
              <a:t>    </a:t>
            </a:r>
            <a:r>
              <a:rPr lang="en-US" altLang="zh-CN" sz="1200" dirty="0">
                <a:solidFill>
                  <a:srgbClr val="569CD6"/>
                </a:solidFill>
                <a:cs typeface="+mn-ea"/>
                <a:sym typeface="+mn-lt"/>
              </a:rPr>
              <a:t>let</a:t>
            </a:r>
            <a:r>
              <a:rPr lang="en-US" altLang="zh-CN" sz="1200" dirty="0">
                <a:solidFill>
                  <a:srgbClr val="D4D4D4"/>
                </a:solidFill>
                <a:cs typeface="+mn-ea"/>
                <a:sym typeface="+mn-lt"/>
              </a:rPr>
              <a:t> </a:t>
            </a:r>
            <a:r>
              <a:rPr lang="en-US" altLang="zh-CN" sz="1200" dirty="0" err="1">
                <a:solidFill>
                  <a:srgbClr val="569CD6"/>
                </a:solidFill>
                <a:cs typeface="+mn-ea"/>
                <a:sym typeface="+mn-lt"/>
              </a:rPr>
              <a:t>mut</a:t>
            </a:r>
            <a:r>
              <a:rPr lang="en-US" altLang="zh-CN" sz="1200" dirty="0">
                <a:solidFill>
                  <a:srgbClr val="D4D4D4"/>
                </a:solidFill>
                <a:cs typeface="+mn-ea"/>
                <a:sym typeface="+mn-lt"/>
              </a:rPr>
              <a:t> </a:t>
            </a:r>
            <a:r>
              <a:rPr lang="en-US" altLang="zh-CN" sz="1200" u="sng" dirty="0">
                <a:solidFill>
                  <a:srgbClr val="C8C8C8"/>
                </a:solidFill>
                <a:cs typeface="+mn-ea"/>
                <a:sym typeface="+mn-lt"/>
              </a:rPr>
              <a:t>v</a:t>
            </a:r>
            <a:r>
              <a:rPr lang="en-US" altLang="zh-CN" sz="1200" dirty="0">
                <a:solidFill>
                  <a:srgbClr val="D4D4D4"/>
                </a:solidFill>
                <a:cs typeface="+mn-ea"/>
                <a:sym typeface="+mn-lt"/>
              </a:rPr>
              <a:t> = </a:t>
            </a:r>
            <a:r>
              <a:rPr lang="en-US" altLang="zh-CN" sz="1200" dirty="0" err="1">
                <a:solidFill>
                  <a:srgbClr val="BD63C5"/>
                </a:solidFill>
                <a:cs typeface="+mn-ea"/>
                <a:sym typeface="+mn-lt"/>
              </a:rPr>
              <a:t>vec</a:t>
            </a:r>
            <a:r>
              <a:rPr lang="en-US" altLang="zh-CN" sz="1200" dirty="0">
                <a:solidFill>
                  <a:srgbClr val="BD63C5"/>
                </a:solidFill>
                <a:cs typeface="+mn-ea"/>
                <a:sym typeface="+mn-lt"/>
              </a:rPr>
              <a:t>!</a:t>
            </a:r>
            <a:r>
              <a:rPr lang="en-US" altLang="zh-CN" sz="1200" dirty="0">
                <a:solidFill>
                  <a:srgbClr val="D4D4D4"/>
                </a:solidFill>
                <a:cs typeface="+mn-ea"/>
                <a:sym typeface="+mn-lt"/>
              </a:rPr>
              <a:t>[</a:t>
            </a:r>
            <a:r>
              <a:rPr lang="en-US" altLang="zh-CN" sz="1200" dirty="0">
                <a:solidFill>
                  <a:srgbClr val="B5CEA8"/>
                </a:solidFill>
                <a:cs typeface="+mn-ea"/>
                <a:sym typeface="+mn-lt"/>
              </a:rPr>
              <a:t>1</a:t>
            </a:r>
            <a:r>
              <a:rPr lang="en-US" altLang="zh-CN" sz="1200" dirty="0">
                <a:solidFill>
                  <a:srgbClr val="D4D4D4"/>
                </a:solidFill>
                <a:cs typeface="+mn-ea"/>
                <a:sym typeface="+mn-lt"/>
              </a:rPr>
              <a:t>, </a:t>
            </a:r>
            <a:r>
              <a:rPr lang="en-US" altLang="zh-CN" sz="1200" dirty="0">
                <a:solidFill>
                  <a:srgbClr val="B5CEA8"/>
                </a:solidFill>
                <a:cs typeface="+mn-ea"/>
                <a:sym typeface="+mn-lt"/>
              </a:rPr>
              <a:t>2</a:t>
            </a:r>
            <a:r>
              <a:rPr lang="en-US" altLang="zh-CN" sz="1200" dirty="0">
                <a:solidFill>
                  <a:srgbClr val="D4D4D4"/>
                </a:solidFill>
                <a:cs typeface="+mn-ea"/>
                <a:sym typeface="+mn-lt"/>
              </a:rPr>
              <a:t>, </a:t>
            </a:r>
            <a:r>
              <a:rPr lang="en-US" altLang="zh-CN" sz="1200" dirty="0">
                <a:solidFill>
                  <a:srgbClr val="B5CEA8"/>
                </a:solidFill>
                <a:cs typeface="+mn-ea"/>
                <a:sym typeface="+mn-lt"/>
              </a:rPr>
              <a:t>3</a:t>
            </a:r>
            <a:r>
              <a:rPr lang="en-US" altLang="zh-CN" sz="1200" dirty="0">
                <a:solidFill>
                  <a:srgbClr val="D4D4D4"/>
                </a:solidFill>
                <a:cs typeface="+mn-ea"/>
                <a:sym typeface="+mn-lt"/>
              </a:rPr>
              <a:t>];</a:t>
            </a:r>
          </a:p>
          <a:p>
            <a:r>
              <a:rPr lang="en-US" altLang="zh-CN" sz="1200" dirty="0">
                <a:solidFill>
                  <a:srgbClr val="D4D4D4"/>
                </a:solidFill>
                <a:cs typeface="+mn-ea"/>
                <a:sym typeface="+mn-lt"/>
              </a:rPr>
              <a:t>    </a:t>
            </a:r>
            <a:r>
              <a:rPr lang="en-US" altLang="zh-CN" sz="1200" dirty="0">
                <a:solidFill>
                  <a:srgbClr val="569CD6"/>
                </a:solidFill>
                <a:cs typeface="+mn-ea"/>
                <a:sym typeface="+mn-lt"/>
              </a:rPr>
              <a:t>if</a:t>
            </a:r>
            <a:r>
              <a:rPr lang="en-US" altLang="zh-CN" sz="1200" dirty="0">
                <a:solidFill>
                  <a:srgbClr val="D4D4D4"/>
                </a:solidFill>
                <a:cs typeface="+mn-ea"/>
                <a:sym typeface="+mn-lt"/>
              </a:rPr>
              <a:t> !</a:t>
            </a:r>
            <a:r>
              <a:rPr lang="en-US" altLang="zh-CN" sz="1200" u="sng" dirty="0">
                <a:solidFill>
                  <a:srgbClr val="C8C8C8"/>
                </a:solidFill>
                <a:cs typeface="+mn-ea"/>
                <a:sym typeface="+mn-lt"/>
              </a:rPr>
              <a:t>v</a:t>
            </a:r>
            <a:r>
              <a:rPr lang="en-US" altLang="zh-CN" sz="1200" dirty="0">
                <a:solidFill>
                  <a:srgbClr val="D4D4D4"/>
                </a:solidFill>
                <a:cs typeface="+mn-ea"/>
                <a:sym typeface="+mn-lt"/>
              </a:rPr>
              <a:t>.</a:t>
            </a:r>
            <a:r>
              <a:rPr lang="en-US" altLang="zh-CN" sz="1200" dirty="0">
                <a:solidFill>
                  <a:srgbClr val="C8C8C8"/>
                </a:solidFill>
                <a:cs typeface="+mn-ea"/>
                <a:sym typeface="+mn-lt"/>
              </a:rPr>
              <a:t>is_empty</a:t>
            </a:r>
            <a:r>
              <a:rPr lang="en-US" altLang="zh-CN" sz="1200" dirty="0">
                <a:solidFill>
                  <a:srgbClr val="D4D4D4"/>
                </a:solidFill>
                <a:cs typeface="+mn-ea"/>
                <a:sym typeface="+mn-lt"/>
              </a:rPr>
              <a:t>() {</a:t>
            </a:r>
          </a:p>
          <a:p>
            <a:r>
              <a:rPr lang="en-US" altLang="zh-CN" sz="1200" dirty="0">
                <a:solidFill>
                  <a:srgbClr val="D4D4D4"/>
                </a:solidFill>
                <a:cs typeface="+mn-ea"/>
                <a:sym typeface="+mn-lt"/>
              </a:rPr>
              <a:t>        </a:t>
            </a:r>
            <a:r>
              <a:rPr lang="en-US" altLang="zh-CN" sz="1200" dirty="0">
                <a:solidFill>
                  <a:srgbClr val="BD63C5"/>
                </a:solidFill>
                <a:cs typeface="+mn-ea"/>
                <a:sym typeface="+mn-lt"/>
              </a:rPr>
              <a:t>println!</a:t>
            </a:r>
            <a:r>
              <a:rPr lang="en-US" altLang="zh-CN" sz="1200" dirty="0">
                <a:solidFill>
                  <a:srgbClr val="D4D4D4"/>
                </a:solidFill>
                <a:cs typeface="+mn-ea"/>
                <a:sym typeface="+mn-lt"/>
              </a:rPr>
              <a:t>(</a:t>
            </a:r>
            <a:r>
              <a:rPr lang="en-US" altLang="zh-CN" sz="1200" dirty="0">
                <a:solidFill>
                  <a:srgbClr val="CE9178"/>
                </a:solidFill>
                <a:cs typeface="+mn-ea"/>
                <a:sym typeface="+mn-lt"/>
              </a:rPr>
              <a:t>"</a:t>
            </a:r>
            <a:r>
              <a:rPr lang="en-US" altLang="zh-CN" sz="1200" dirty="0">
                <a:solidFill>
                  <a:srgbClr val="569CD6"/>
                </a:solidFill>
                <a:cs typeface="+mn-ea"/>
                <a:sym typeface="+mn-lt"/>
              </a:rPr>
              <a:t>{}</a:t>
            </a:r>
            <a:r>
              <a:rPr lang="en-US" altLang="zh-CN" sz="1200" dirty="0">
                <a:solidFill>
                  <a:srgbClr val="CE9178"/>
                </a:solidFill>
                <a:cs typeface="+mn-ea"/>
                <a:sym typeface="+mn-lt"/>
              </a:rPr>
              <a:t>"</a:t>
            </a:r>
            <a:r>
              <a:rPr lang="en-US" altLang="zh-CN" sz="1200" dirty="0">
                <a:solidFill>
                  <a:srgbClr val="D4D4D4"/>
                </a:solidFill>
                <a:cs typeface="+mn-ea"/>
                <a:sym typeface="+mn-lt"/>
              </a:rPr>
              <a:t>, </a:t>
            </a:r>
            <a:r>
              <a:rPr lang="en-US" altLang="zh-CN" sz="1200" u="sng" dirty="0" err="1">
                <a:solidFill>
                  <a:srgbClr val="C8C8C8"/>
                </a:solidFill>
                <a:cs typeface="+mn-ea"/>
                <a:sym typeface="+mn-lt"/>
              </a:rPr>
              <a:t>v</a:t>
            </a:r>
            <a:r>
              <a:rPr lang="en-US" altLang="zh-CN" sz="1200" dirty="0" err="1">
                <a:solidFill>
                  <a:srgbClr val="D4D4D4"/>
                </a:solidFill>
                <a:cs typeface="+mn-ea"/>
                <a:sym typeface="+mn-lt"/>
              </a:rPr>
              <a:t>.</a:t>
            </a:r>
            <a:r>
              <a:rPr lang="en-US" altLang="zh-CN" sz="1200" u="sng" dirty="0" err="1">
                <a:solidFill>
                  <a:srgbClr val="C8C8C8"/>
                </a:solidFill>
                <a:cs typeface="+mn-ea"/>
                <a:sym typeface="+mn-lt"/>
              </a:rPr>
              <a:t>pop</a:t>
            </a:r>
            <a:r>
              <a:rPr lang="en-US" altLang="zh-CN" sz="1200" dirty="0">
                <a:solidFill>
                  <a:srgbClr val="D4D4D4"/>
                </a:solidFill>
                <a:cs typeface="+mn-ea"/>
                <a:sym typeface="+mn-lt"/>
              </a:rPr>
              <a:t>().</a:t>
            </a:r>
            <a:r>
              <a:rPr lang="en-US" altLang="zh-CN" sz="1200" dirty="0">
                <a:solidFill>
                  <a:srgbClr val="C8C8C8"/>
                </a:solidFill>
                <a:cs typeface="+mn-ea"/>
                <a:sym typeface="+mn-lt"/>
              </a:rPr>
              <a:t>unwrap</a:t>
            </a:r>
            <a:r>
              <a:rPr lang="en-US" altLang="zh-CN" sz="1200" dirty="0">
                <a:solidFill>
                  <a:srgbClr val="D4D4D4"/>
                </a:solidFill>
                <a:cs typeface="+mn-ea"/>
                <a:sym typeface="+mn-lt"/>
              </a:rPr>
              <a:t>())</a:t>
            </a:r>
          </a:p>
          <a:p>
            <a:r>
              <a:rPr lang="en-US" altLang="zh-CN" sz="1200" dirty="0">
                <a:solidFill>
                  <a:srgbClr val="D4D4D4"/>
                </a:solidFill>
                <a:cs typeface="+mn-ea"/>
                <a:sym typeface="+mn-lt"/>
              </a:rPr>
              <a:t>    }</a:t>
            </a:r>
          </a:p>
          <a:p>
            <a:r>
              <a:rPr lang="en-US" altLang="zh-CN" sz="1200" dirty="0">
                <a:solidFill>
                  <a:srgbClr val="D4D4D4"/>
                </a:solidFill>
                <a:cs typeface="+mn-ea"/>
                <a:sym typeface="+mn-lt"/>
              </a:rPr>
              <a:t>}</a:t>
            </a:r>
          </a:p>
        </p:txBody>
      </p:sp>
      <p:sp>
        <p:nvSpPr>
          <p:cNvPr id="13" name="文本框 12">
            <a:extLst>
              <a:ext uri="{FF2B5EF4-FFF2-40B4-BE49-F238E27FC236}">
                <a16:creationId xmlns:a16="http://schemas.microsoft.com/office/drawing/2014/main" id="{0DDE2AB9-10AF-4F8D-AAF2-E063A4DCEC59}"/>
              </a:ext>
            </a:extLst>
          </p:cNvPr>
          <p:cNvSpPr txBox="1"/>
          <p:nvPr/>
        </p:nvSpPr>
        <p:spPr>
          <a:xfrm>
            <a:off x="398157" y="4290819"/>
            <a:ext cx="6436276" cy="1156855"/>
          </a:xfrm>
          <a:prstGeom prst="rect">
            <a:avLst/>
          </a:prstGeom>
          <a:noFill/>
        </p:spPr>
        <p:txBody>
          <a:bodyPr vert="horz" wrap="square" rtlCol="0">
            <a:spAutoFit/>
          </a:bodyPr>
          <a:lstStyle/>
          <a:p>
            <a:pPr lvl="0" indent="0">
              <a:lnSpc>
                <a:spcPct val="150000"/>
              </a:lnSpc>
              <a:buNone/>
            </a:pPr>
            <a:r>
              <a:rPr lang="zh-CN" altLang="en-US" sz="1600" dirty="0">
                <a:cs typeface="+mn-ea"/>
                <a:sym typeface="+mn-lt"/>
              </a:rPr>
              <a:t>注：</a:t>
            </a:r>
            <a:endParaRPr lang="en-US" altLang="zh-CN" sz="1600" dirty="0">
              <a:cs typeface="+mn-ea"/>
              <a:sym typeface="+mn-lt"/>
            </a:endParaRPr>
          </a:p>
          <a:p>
            <a:pPr lvl="0" indent="0">
              <a:lnSpc>
                <a:spcPct val="150000"/>
              </a:lnSpc>
              <a:buNone/>
            </a:pPr>
            <a:r>
              <a:rPr lang="en-US" altLang="zh-CN" sz="1600" dirty="0">
                <a:cs typeface="+mn-ea"/>
                <a:sym typeface="+mn-lt"/>
              </a:rPr>
              <a:t>Item</a:t>
            </a:r>
            <a:r>
              <a:rPr lang="zh-CN" altLang="en-US" sz="1600" dirty="0">
                <a:cs typeface="+mn-ea"/>
                <a:sym typeface="+mn-lt"/>
              </a:rPr>
              <a:t>是组成</a:t>
            </a:r>
            <a:r>
              <a:rPr lang="en-US" altLang="zh-CN" sz="1600" dirty="0">
                <a:cs typeface="+mn-ea"/>
                <a:sym typeface="+mn-lt"/>
              </a:rPr>
              <a:t>crate</a:t>
            </a:r>
            <a:r>
              <a:rPr lang="zh-CN" altLang="en-US" sz="1600" dirty="0">
                <a:cs typeface="+mn-ea"/>
                <a:sym typeface="+mn-lt"/>
              </a:rPr>
              <a:t>的组件，包含 </a:t>
            </a:r>
            <a:r>
              <a:rPr lang="en-US" altLang="zh-CN" sz="1600" dirty="0">
                <a:cs typeface="+mn-ea"/>
                <a:sym typeface="+mn-lt"/>
              </a:rPr>
              <a:t>modules</a:t>
            </a:r>
            <a:r>
              <a:rPr lang="zh-CN" altLang="en-US" sz="1600" dirty="0">
                <a:cs typeface="+mn-ea"/>
                <a:sym typeface="+mn-lt"/>
              </a:rPr>
              <a:t>、</a:t>
            </a:r>
            <a:r>
              <a:rPr lang="en-US" altLang="zh-CN" sz="1600" dirty="0">
                <a:cs typeface="+mn-ea"/>
                <a:sym typeface="+mn-lt"/>
              </a:rPr>
              <a:t>use</a:t>
            </a:r>
            <a:r>
              <a:rPr lang="zh-CN" altLang="en-US" sz="1600" dirty="0">
                <a:cs typeface="+mn-ea"/>
                <a:sym typeface="+mn-lt"/>
              </a:rPr>
              <a:t>声明、函数和类型的定义、全局常量和变量定义、</a:t>
            </a:r>
            <a:r>
              <a:rPr lang="en-US" altLang="zh-CN" sz="1600" dirty="0">
                <a:cs typeface="+mn-ea"/>
                <a:sym typeface="+mn-lt"/>
              </a:rPr>
              <a:t>impl</a:t>
            </a:r>
            <a:r>
              <a:rPr lang="zh-CN" altLang="en-US" sz="1600" dirty="0">
                <a:cs typeface="+mn-ea"/>
                <a:sym typeface="+mn-lt"/>
              </a:rPr>
              <a:t>块等。</a:t>
            </a:r>
            <a:endParaRPr lang="en-US" altLang="zh-CN" sz="160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100904"/>
    </mc:Choice>
    <mc:Fallback xmlns="">
      <p:transition spd="slow" advTm="10090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表达式与语句</a:t>
            </a:r>
          </a:p>
        </p:txBody>
      </p:sp>
      <p:cxnSp>
        <p:nvCxnSpPr>
          <p:cNvPr id="14" name="直接连接符 13"/>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19876" y="3897307"/>
            <a:ext cx="4893153" cy="1938992"/>
          </a:xfrm>
          <a:prstGeom prst="rect">
            <a:avLst/>
          </a:prstGeom>
        </p:spPr>
        <p:txBody>
          <a:bodyPr wrap="square">
            <a:spAutoFit/>
          </a:bodyPr>
          <a:lstStyle/>
          <a:p>
            <a:pPr>
              <a:lnSpc>
                <a:spcPct val="150000"/>
              </a:lnSpc>
            </a:pPr>
            <a:r>
              <a:rPr lang="zh-CN" altLang="en-US" sz="1600" b="1" dirty="0">
                <a:solidFill>
                  <a:srgbClr val="000000"/>
                </a:solidFill>
                <a:cs typeface="+mn-ea"/>
                <a:sym typeface="+mn-lt"/>
              </a:rPr>
              <a:t>表达式语句：</a:t>
            </a:r>
            <a:endParaRPr lang="en-US" altLang="zh-CN" sz="1600" b="1" dirty="0">
              <a:solidFill>
                <a:srgbClr val="000000"/>
              </a:solidFill>
              <a:cs typeface="+mn-ea"/>
              <a:sym typeface="+mn-lt"/>
            </a:endParaRPr>
          </a:p>
          <a:p>
            <a:pPr>
              <a:lnSpc>
                <a:spcPct val="150000"/>
              </a:lnSpc>
            </a:pPr>
            <a:r>
              <a:rPr lang="zh-CN" altLang="en-US" sz="1600" dirty="0">
                <a:solidFill>
                  <a:srgbClr val="000000"/>
                </a:solidFill>
                <a:cs typeface="+mn-ea"/>
                <a:sym typeface="+mn-lt"/>
              </a:rPr>
              <a:t>表达式语句是对表达式求值并忽略其结果的语句。</a:t>
            </a:r>
            <a:endParaRPr lang="en-US" altLang="zh-CN" sz="1600" dirty="0">
              <a:solidFill>
                <a:srgbClr val="000000"/>
              </a:solidFill>
              <a:cs typeface="+mn-ea"/>
              <a:sym typeface="+mn-lt"/>
            </a:endParaRPr>
          </a:p>
          <a:p>
            <a:pPr>
              <a:lnSpc>
                <a:spcPct val="150000"/>
              </a:lnSpc>
            </a:pPr>
            <a:r>
              <a:rPr lang="zh-CN" altLang="en-US" sz="1600" dirty="0">
                <a:solidFill>
                  <a:srgbClr val="000000"/>
                </a:solidFill>
                <a:cs typeface="+mn-ea"/>
                <a:sym typeface="+mn-lt"/>
              </a:rPr>
              <a:t>仅由</a:t>
            </a:r>
            <a:r>
              <a:rPr lang="zh-CN" altLang="en-US" sz="1600" dirty="0">
                <a:cs typeface="+mn-ea"/>
                <a:sym typeface="+mn-lt"/>
              </a:rPr>
              <a:t>块表达式</a:t>
            </a:r>
            <a:r>
              <a:rPr lang="zh-CN" altLang="en-US" sz="1600" dirty="0">
                <a:solidFill>
                  <a:srgbClr val="000000"/>
                </a:solidFill>
                <a:cs typeface="+mn-ea"/>
                <a:sym typeface="+mn-lt"/>
              </a:rPr>
              <a:t>或控制流表达式组成的表达式，如果它们在允许使用语句的上下文中使用时，是可以省略其后面的分号的。如右图示例：</a:t>
            </a:r>
            <a:endParaRPr lang="zh-CN" altLang="en-US" sz="1600" dirty="0">
              <a:cs typeface="+mn-ea"/>
              <a:sym typeface="+mn-lt"/>
            </a:endParaRPr>
          </a:p>
        </p:txBody>
      </p:sp>
      <p:sp>
        <p:nvSpPr>
          <p:cNvPr id="7" name="文本框 6"/>
          <p:cNvSpPr txBox="1"/>
          <p:nvPr/>
        </p:nvSpPr>
        <p:spPr>
          <a:xfrm>
            <a:off x="5690192" y="1187952"/>
            <a:ext cx="5370320" cy="470789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altLang="zh-CN" sz="1200" dirty="0">
              <a:solidFill>
                <a:srgbClr val="FFFFFF"/>
              </a:solidFill>
              <a:cs typeface="+mn-ea"/>
              <a:sym typeface="+mn-lt"/>
            </a:endParaRPr>
          </a:p>
          <a:p>
            <a:r>
              <a:rPr lang="en-US" altLang="zh-CN" sz="1200" dirty="0">
                <a:solidFill>
                  <a:srgbClr val="C678DD"/>
                </a:solidFill>
                <a:cs typeface="+mn-ea"/>
                <a:sym typeface="+mn-lt"/>
              </a:rPr>
              <a:t>fn</a:t>
            </a:r>
            <a:r>
              <a:rPr lang="zh-CN" altLang="en-US"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zh-CN" altLang="en-US" sz="1200" dirty="0">
                <a:solidFill>
                  <a:srgbClr val="ABB2BF"/>
                </a:solidFill>
                <a:cs typeface="+mn-ea"/>
                <a:sym typeface="+mn-lt"/>
              </a:rPr>
              <a:t> </a:t>
            </a:r>
            <a:r>
              <a:rPr lang="en-US" altLang="zh-CN" sz="1200" dirty="0" err="1">
                <a:solidFill>
                  <a:srgbClr val="C678DD"/>
                </a:solidFill>
                <a:cs typeface="+mn-ea"/>
                <a:sym typeface="+mn-lt"/>
              </a:rPr>
              <a:t>mut</a:t>
            </a:r>
            <a:r>
              <a:rPr lang="zh-CN" altLang="en-US" sz="1200" dirty="0">
                <a:solidFill>
                  <a:srgbClr val="ABB2BF"/>
                </a:solidFill>
                <a:cs typeface="+mn-ea"/>
                <a:sym typeface="+mn-lt"/>
              </a:rPr>
              <a:t> </a:t>
            </a:r>
            <a:r>
              <a:rPr lang="en-US" altLang="zh-CN" sz="1200" dirty="0">
                <a:solidFill>
                  <a:srgbClr val="E06C75"/>
                </a:solidFill>
                <a:cs typeface="+mn-ea"/>
                <a:sym typeface="+mn-lt"/>
              </a:rPr>
              <a:t>v</a:t>
            </a:r>
            <a:r>
              <a:rPr lang="zh-CN" altLang="en-US" sz="1200" dirty="0">
                <a:solidFill>
                  <a:srgbClr val="ABB2BF"/>
                </a:solidFill>
                <a:cs typeface="+mn-ea"/>
                <a:sym typeface="+mn-lt"/>
              </a:rPr>
              <a:t> </a:t>
            </a:r>
            <a:r>
              <a:rPr lang="en-US" altLang="zh-CN" sz="1200" dirty="0">
                <a:solidFill>
                  <a:srgbClr val="56B6C2"/>
                </a:solidFill>
                <a:cs typeface="+mn-ea"/>
                <a:sym typeface="+mn-lt"/>
              </a:rPr>
              <a:t>=</a:t>
            </a:r>
            <a:r>
              <a:rPr lang="zh-CN" altLang="en-US" sz="1200" dirty="0">
                <a:solidFill>
                  <a:srgbClr val="ABB2BF"/>
                </a:solidFill>
                <a:cs typeface="+mn-ea"/>
                <a:sym typeface="+mn-lt"/>
              </a:rPr>
              <a:t> </a:t>
            </a:r>
            <a:r>
              <a:rPr lang="en-US" altLang="zh-CN" sz="1200" dirty="0" err="1">
                <a:solidFill>
                  <a:srgbClr val="61AFEF"/>
                </a:solidFill>
                <a:cs typeface="+mn-ea"/>
                <a:sym typeface="+mn-lt"/>
              </a:rPr>
              <a:t>vec</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E06C75"/>
                </a:solidFill>
                <a:cs typeface="+mn-ea"/>
                <a:sym typeface="+mn-lt"/>
              </a:rPr>
              <a:t>v</a:t>
            </a:r>
            <a:r>
              <a:rPr lang="en-US" altLang="zh-CN" sz="1200" dirty="0" err="1">
                <a:solidFill>
                  <a:srgbClr val="ABB2BF"/>
                </a:solidFill>
                <a:cs typeface="+mn-ea"/>
                <a:sym typeface="+mn-lt"/>
              </a:rPr>
              <a:t>.</a:t>
            </a:r>
            <a:r>
              <a:rPr lang="en-US" altLang="zh-CN" sz="1200" dirty="0" err="1">
                <a:solidFill>
                  <a:srgbClr val="61AFEF"/>
                </a:solidFill>
                <a:cs typeface="+mn-ea"/>
                <a:sym typeface="+mn-lt"/>
              </a:rPr>
              <a:t>pop</a:t>
            </a:r>
            <a:r>
              <a:rPr lang="en-US" altLang="zh-CN" sz="1200" dirty="0">
                <a:solidFill>
                  <a:srgbClr val="ABB2BF"/>
                </a:solidFill>
                <a:cs typeface="+mn-ea"/>
                <a:sym typeface="+mn-lt"/>
              </a:rPr>
              <a:t>();</a:t>
            </a:r>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调用函数是表达式，忽略从 </a:t>
            </a:r>
            <a:r>
              <a:rPr lang="en-US" altLang="zh-CN" sz="1200" i="1" dirty="0">
                <a:solidFill>
                  <a:srgbClr val="7F848E"/>
                </a:solidFill>
                <a:cs typeface="+mn-ea"/>
                <a:sym typeface="+mn-lt"/>
              </a:rPr>
              <a:t>pop </a:t>
            </a:r>
            <a:r>
              <a:rPr lang="zh-CN" altLang="en-US" sz="1200" i="1" dirty="0">
                <a:solidFill>
                  <a:srgbClr val="7F848E"/>
                </a:solidFill>
                <a:cs typeface="+mn-ea"/>
                <a:sym typeface="+mn-lt"/>
              </a:rPr>
              <a:t>返回的元素</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if</a:t>
            </a:r>
            <a:r>
              <a:rPr lang="zh-CN" altLang="en-US" sz="1200" dirty="0">
                <a:solidFill>
                  <a:srgbClr val="ABB2BF"/>
                </a:solidFill>
                <a:cs typeface="+mn-ea"/>
                <a:sym typeface="+mn-lt"/>
              </a:rPr>
              <a:t> </a:t>
            </a:r>
            <a:r>
              <a:rPr lang="en-US" altLang="zh-CN" sz="1200" dirty="0">
                <a:solidFill>
                  <a:srgbClr val="E06C75"/>
                </a:solidFill>
                <a:cs typeface="+mn-ea"/>
                <a:sym typeface="+mn-lt"/>
              </a:rPr>
              <a:t>v</a:t>
            </a:r>
            <a:r>
              <a:rPr lang="en-US" altLang="zh-CN" sz="1200" dirty="0">
                <a:solidFill>
                  <a:srgbClr val="ABB2BF"/>
                </a:solidFill>
                <a:cs typeface="+mn-ea"/>
                <a:sym typeface="+mn-lt"/>
              </a:rPr>
              <a:t>.</a:t>
            </a:r>
            <a:r>
              <a:rPr lang="en-US" altLang="zh-CN" sz="1200" dirty="0">
                <a:solidFill>
                  <a:srgbClr val="61AFEF"/>
                </a:solidFill>
                <a:cs typeface="+mn-ea"/>
                <a:sym typeface="+mn-lt"/>
              </a:rPr>
              <a:t>is_empty</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E06C75"/>
                </a:solidFill>
                <a:cs typeface="+mn-ea"/>
                <a:sym typeface="+mn-lt"/>
              </a:rPr>
              <a:t>v</a:t>
            </a:r>
            <a:r>
              <a:rPr lang="en-US" altLang="zh-CN" sz="1200" dirty="0" err="1">
                <a:solidFill>
                  <a:srgbClr val="ABB2BF"/>
                </a:solidFill>
                <a:cs typeface="+mn-ea"/>
                <a:sym typeface="+mn-lt"/>
              </a:rPr>
              <a:t>.</a:t>
            </a:r>
            <a:r>
              <a:rPr lang="en-US" altLang="zh-CN" sz="1200" dirty="0" err="1">
                <a:solidFill>
                  <a:srgbClr val="61AFEF"/>
                </a:solidFill>
                <a:cs typeface="+mn-ea"/>
                <a:sym typeface="+mn-lt"/>
              </a:rPr>
              <a:t>push</a:t>
            </a:r>
            <a:r>
              <a:rPr lang="en-US" altLang="zh-CN" sz="1200" dirty="0">
                <a:solidFill>
                  <a:srgbClr val="ABB2BF"/>
                </a:solidFill>
                <a:cs typeface="+mn-ea"/>
                <a:sym typeface="+mn-lt"/>
              </a:rPr>
              <a:t>(</a:t>
            </a:r>
            <a:r>
              <a:rPr lang="en-US" altLang="zh-CN" sz="1200" dirty="0">
                <a:solidFill>
                  <a:srgbClr val="D19A66"/>
                </a:solidFill>
                <a:cs typeface="+mn-ea"/>
                <a:sym typeface="+mn-lt"/>
              </a:rPr>
              <a:t>5</a:t>
            </a:r>
            <a:r>
              <a:rPr lang="en-US" altLang="zh-CN" sz="1200" dirty="0">
                <a:solidFill>
                  <a:srgbClr val="ABB2BF"/>
                </a:solidFill>
                <a:cs typeface="+mn-ea"/>
                <a:sym typeface="+mn-lt"/>
              </a:rPr>
              <a:t>);</a:t>
            </a:r>
          </a:p>
          <a:p>
            <a:r>
              <a:rPr lang="en-US" altLang="zh-CN" sz="1200" dirty="0">
                <a:solidFill>
                  <a:srgbClr val="ABB2BF"/>
                </a:solidFill>
                <a:cs typeface="+mn-ea"/>
                <a:sym typeface="+mn-lt"/>
              </a:rPr>
              <a:t>    } </a:t>
            </a:r>
            <a:r>
              <a:rPr lang="en-US" altLang="zh-CN" sz="1200" dirty="0">
                <a:solidFill>
                  <a:srgbClr val="C678DD"/>
                </a:solidFill>
                <a:cs typeface="+mn-ea"/>
                <a:sym typeface="+mn-lt"/>
              </a:rPr>
              <a:t>else</a:t>
            </a:r>
            <a:r>
              <a:rPr lang="zh-CN" altLang="en-US" sz="1200" dirty="0">
                <a:solidFill>
                  <a:srgbClr val="ABB2BF"/>
                </a:solidFill>
                <a:cs typeface="+mn-ea"/>
                <a:sym typeface="+mn-lt"/>
              </a:rPr>
              <a:t> </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E06C75"/>
                </a:solidFill>
                <a:cs typeface="+mn-ea"/>
                <a:sym typeface="+mn-lt"/>
              </a:rPr>
              <a:t>v</a:t>
            </a:r>
            <a:r>
              <a:rPr lang="en-US" altLang="zh-CN" sz="1200" dirty="0" err="1">
                <a:solidFill>
                  <a:srgbClr val="ABB2BF"/>
                </a:solidFill>
                <a:cs typeface="+mn-ea"/>
                <a:sym typeface="+mn-lt"/>
              </a:rPr>
              <a:t>.</a:t>
            </a:r>
            <a:r>
              <a:rPr lang="en-US" altLang="zh-CN" sz="1200" dirty="0" err="1">
                <a:solidFill>
                  <a:srgbClr val="61AFEF"/>
                </a:solidFill>
                <a:cs typeface="+mn-ea"/>
                <a:sym typeface="+mn-lt"/>
              </a:rPr>
              <a:t>remove</a:t>
            </a:r>
            <a:r>
              <a:rPr lang="en-US" altLang="zh-CN" sz="1200" dirty="0">
                <a:solidFill>
                  <a:srgbClr val="ABB2BF"/>
                </a:solidFill>
                <a:cs typeface="+mn-ea"/>
                <a:sym typeface="+mn-lt"/>
              </a:rPr>
              <a:t>(</a:t>
            </a:r>
            <a:r>
              <a:rPr lang="en-US" altLang="zh-CN" sz="1200" dirty="0">
                <a:solidFill>
                  <a:srgbClr val="D19A66"/>
                </a:solidFill>
                <a:cs typeface="+mn-ea"/>
                <a:sym typeface="+mn-lt"/>
              </a:rPr>
              <a:t>0</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分号可以省略</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p>
          <a:p>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在代码块中拥有更小的作用范围</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zh-CN" altLang="en-US" sz="1200" dirty="0">
                <a:solidFill>
                  <a:srgbClr val="ABB2BF"/>
                </a:solidFill>
                <a:cs typeface="+mn-ea"/>
                <a:sym typeface="+mn-lt"/>
              </a:rPr>
              <a:t> </a:t>
            </a:r>
            <a:r>
              <a:rPr lang="en-US" altLang="zh-CN" sz="1200" dirty="0">
                <a:solidFill>
                  <a:srgbClr val="E06C75"/>
                </a:solidFill>
                <a:cs typeface="+mn-ea"/>
                <a:sym typeface="+mn-lt"/>
              </a:rPr>
              <a:t>y</a:t>
            </a:r>
            <a:r>
              <a:rPr lang="zh-CN" altLang="en-US" sz="1200" dirty="0">
                <a:solidFill>
                  <a:srgbClr val="ABB2BF"/>
                </a:solidFill>
                <a:cs typeface="+mn-ea"/>
                <a:sym typeface="+mn-lt"/>
              </a:rPr>
              <a:t> </a:t>
            </a:r>
            <a:r>
              <a:rPr lang="en-US" altLang="zh-CN" sz="1200" dirty="0">
                <a:solidFill>
                  <a:srgbClr val="56B6C2"/>
                </a:solidFill>
                <a:cs typeface="+mn-ea"/>
                <a:sym typeface="+mn-lt"/>
              </a:rPr>
              <a:t>=</a:t>
            </a:r>
            <a:r>
              <a:rPr lang="zh-CN" altLang="en-US" sz="1200" dirty="0">
                <a:solidFill>
                  <a:srgbClr val="ABB2BF"/>
                </a:solidFill>
                <a:cs typeface="+mn-ea"/>
                <a:sym typeface="+mn-lt"/>
              </a:rPr>
              <a:t> </a:t>
            </a:r>
            <a:r>
              <a:rPr lang="en-US" altLang="zh-CN" sz="1200" dirty="0">
                <a:solidFill>
                  <a:srgbClr val="ABB2BF"/>
                </a:solidFill>
                <a:cs typeface="+mn-ea"/>
                <a:sym typeface="+mn-lt"/>
              </a:rPr>
              <a:t>{</a:t>
            </a:r>
          </a:p>
          <a:p>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变量绑定只存在于代码块中</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zh-CN" altLang="en-US" sz="1200" dirty="0">
                <a:solidFill>
                  <a:srgbClr val="ABB2BF"/>
                </a:solidFill>
                <a:cs typeface="+mn-ea"/>
                <a:sym typeface="+mn-lt"/>
              </a:rPr>
              <a:t> </a:t>
            </a:r>
            <a:r>
              <a:rPr lang="en-US" altLang="zh-CN" sz="1200" dirty="0">
                <a:solidFill>
                  <a:srgbClr val="E06C75"/>
                </a:solidFill>
                <a:cs typeface="+mn-ea"/>
                <a:sym typeface="+mn-lt"/>
              </a:rPr>
              <a:t>x</a:t>
            </a:r>
            <a:r>
              <a:rPr lang="zh-CN" altLang="en-US" sz="1200" dirty="0">
                <a:solidFill>
                  <a:srgbClr val="ABB2BF"/>
                </a:solidFill>
                <a:cs typeface="+mn-ea"/>
                <a:sym typeface="+mn-lt"/>
              </a:rPr>
              <a:t> </a:t>
            </a:r>
            <a:r>
              <a:rPr lang="en-US" altLang="zh-CN" sz="1200" dirty="0">
                <a:solidFill>
                  <a:srgbClr val="56B6C2"/>
                </a:solidFill>
                <a:cs typeface="+mn-ea"/>
                <a:sym typeface="+mn-lt"/>
              </a:rPr>
              <a:t>=</a:t>
            </a:r>
            <a:r>
              <a:rPr lang="zh-CN" altLang="en-US"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E06C75"/>
                </a:solidFill>
                <a:cs typeface="+mn-ea"/>
                <a:sym typeface="+mn-lt"/>
              </a:rPr>
              <a:t>x</a:t>
            </a:r>
            <a:r>
              <a:rPr lang="zh-CN" altLang="en-US" sz="1200" dirty="0">
                <a:solidFill>
                  <a:srgbClr val="ABB2BF"/>
                </a:solidFill>
                <a:cs typeface="+mn-ea"/>
                <a:sym typeface="+mn-lt"/>
              </a:rPr>
              <a:t> </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它的最后一行是表达式</a:t>
            </a:r>
            <a:endParaRPr lang="zh-CN" altLang="en-US" sz="1200" dirty="0">
              <a:solidFill>
                <a:srgbClr val="ABB2BF"/>
              </a:solidFill>
              <a:cs typeface="+mn-ea"/>
              <a:sym typeface="+mn-lt"/>
            </a:endParaRPr>
          </a:p>
          <a:p>
            <a:r>
              <a:rPr lang="zh-CN" altLang="en-US" sz="1200" i="1" dirty="0">
                <a:solidFill>
                  <a:srgbClr val="7F848E"/>
                </a:solidFill>
                <a:cs typeface="+mn-ea"/>
                <a:sym typeface="+mn-lt"/>
              </a:rPr>
              <a:t>              </a:t>
            </a:r>
            <a:r>
              <a:rPr lang="en-US" altLang="zh-CN" sz="1200" i="1" dirty="0">
                <a:solidFill>
                  <a:srgbClr val="7F848E"/>
                </a:solidFill>
                <a:cs typeface="+mn-ea"/>
                <a:sym typeface="+mn-lt"/>
              </a:rPr>
              <a:t>// x + 1</a:t>
            </a:r>
            <a:r>
              <a:rPr lang="zh-CN" altLang="en-US" sz="1200" i="1" dirty="0">
                <a:solidFill>
                  <a:srgbClr val="7F848E"/>
                </a:solidFill>
                <a:cs typeface="+mn-ea"/>
                <a:sym typeface="+mn-lt"/>
              </a:rPr>
              <a:t>不能以分号结尾，否则就会从表达式变成语句</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4</a:t>
            </a:r>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a:t>
            </a:r>
          </a:p>
          <a:p>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下面块的类型是</a:t>
            </a:r>
            <a:r>
              <a:rPr lang="en-US" altLang="zh-CN" sz="1200" i="1" dirty="0">
                <a:solidFill>
                  <a:srgbClr val="7F848E"/>
                </a:solidFill>
                <a:cs typeface="+mn-ea"/>
                <a:sym typeface="+mn-lt"/>
              </a:rPr>
              <a:t>i32</a:t>
            </a:r>
            <a:r>
              <a:rPr lang="zh-CN" altLang="en-US" sz="1200" i="1" dirty="0">
                <a:solidFill>
                  <a:srgbClr val="7F848E"/>
                </a:solidFill>
                <a:cs typeface="+mn-ea"/>
                <a:sym typeface="+mn-lt"/>
              </a:rPr>
              <a:t>，（加</a:t>
            </a:r>
            <a:r>
              <a:rPr lang="en-US" altLang="zh-CN" sz="1200" i="1" dirty="0">
                <a:solidFill>
                  <a:srgbClr val="7F848E"/>
                </a:solidFill>
                <a:cs typeface="+mn-ea"/>
                <a:sym typeface="+mn-lt"/>
              </a:rPr>
              <a:t>;</a:t>
            </a:r>
            <a:r>
              <a:rPr lang="zh-CN" altLang="en-US" sz="1200" i="1" dirty="0">
                <a:solidFill>
                  <a:srgbClr val="7F848E"/>
                </a:solidFill>
                <a:cs typeface="+mn-ea"/>
                <a:sym typeface="+mn-lt"/>
              </a:rPr>
              <a:t>后语句的返回值就是 </a:t>
            </a:r>
            <a:r>
              <a:rPr lang="en-US" altLang="zh-CN" sz="1200" i="1" dirty="0">
                <a:solidFill>
                  <a:srgbClr val="7F848E"/>
                </a:solidFill>
                <a:cs typeface="+mn-ea"/>
                <a:sym typeface="+mn-lt"/>
              </a:rPr>
              <a:t>()</a:t>
            </a:r>
            <a:r>
              <a:rPr lang="zh-CN" altLang="en-US" sz="1200" i="1" dirty="0">
                <a:solidFill>
                  <a:srgbClr val="7F848E"/>
                </a:solidFill>
                <a:cs typeface="+mn-ea"/>
                <a:sym typeface="+mn-lt"/>
              </a:rPr>
              <a:t>了）</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if</a:t>
            </a:r>
            <a:r>
              <a:rPr lang="zh-CN" altLang="en-US" sz="1200" dirty="0">
                <a:solidFill>
                  <a:srgbClr val="ABB2BF"/>
                </a:solidFill>
                <a:cs typeface="+mn-ea"/>
                <a:sym typeface="+mn-lt"/>
              </a:rPr>
              <a:t> </a:t>
            </a:r>
            <a:r>
              <a:rPr lang="en-US" altLang="zh-CN" sz="1200" dirty="0">
                <a:solidFill>
                  <a:srgbClr val="D19A66"/>
                </a:solidFill>
                <a:cs typeface="+mn-ea"/>
                <a:sym typeface="+mn-lt"/>
              </a:rPr>
              <a:t>true</a:t>
            </a:r>
            <a:r>
              <a:rPr lang="zh-CN" altLang="en-US" sz="1200" dirty="0">
                <a:solidFill>
                  <a:srgbClr val="ABB2BF"/>
                </a:solidFill>
                <a:cs typeface="+mn-ea"/>
                <a:sym typeface="+mn-lt"/>
              </a:rPr>
              <a:t> </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D19A66"/>
                </a:solidFill>
                <a:cs typeface="+mn-ea"/>
                <a:sym typeface="+mn-lt"/>
              </a:rPr>
              <a:t>1</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ABB2BF"/>
                </a:solidFill>
                <a:cs typeface="+mn-ea"/>
                <a:sym typeface="+mn-lt"/>
              </a:rPr>
              <a:t>} </a:t>
            </a:r>
            <a:r>
              <a:rPr lang="en-US" altLang="zh-CN" sz="1200" dirty="0">
                <a:solidFill>
                  <a:srgbClr val="C678DD"/>
                </a:solidFill>
                <a:cs typeface="+mn-ea"/>
                <a:sym typeface="+mn-lt"/>
              </a:rPr>
              <a:t>else</a:t>
            </a:r>
            <a:r>
              <a:rPr lang="zh-CN" altLang="en-US" sz="1200" dirty="0">
                <a:solidFill>
                  <a:srgbClr val="ABB2BF"/>
                </a:solidFill>
                <a:cs typeface="+mn-ea"/>
                <a:sym typeface="+mn-lt"/>
              </a:rPr>
              <a:t> </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D19A66"/>
                </a:solidFill>
                <a:cs typeface="+mn-ea"/>
                <a:sym typeface="+mn-lt"/>
              </a:rPr>
              <a:t>2</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ABB2BF"/>
                </a:solidFill>
                <a:cs typeface="+mn-ea"/>
                <a:sym typeface="+mn-lt"/>
              </a:rPr>
              <a:t>};</a:t>
            </a:r>
          </a:p>
          <a:p>
            <a:r>
              <a:rPr lang="en-US" altLang="zh-CN" sz="1200" dirty="0">
                <a:solidFill>
                  <a:srgbClr val="ABB2BF"/>
                </a:solidFill>
                <a:cs typeface="+mn-ea"/>
                <a:sym typeface="+mn-lt"/>
              </a:rPr>
              <a:t>}</a:t>
            </a:r>
          </a:p>
        </p:txBody>
      </p:sp>
      <p:sp>
        <p:nvSpPr>
          <p:cNvPr id="12" name="文本框 11"/>
          <p:cNvSpPr txBox="1"/>
          <p:nvPr/>
        </p:nvSpPr>
        <p:spPr>
          <a:xfrm>
            <a:off x="319876" y="2156902"/>
            <a:ext cx="4893150" cy="138499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语句会执行一些操作但是不会返回一个值</a:t>
            </a:r>
            <a:endParaRPr lang="en-US" altLang="zh-CN" sz="1200" dirty="0">
              <a:solidFill>
                <a:srgbClr val="FFFFFF"/>
              </a:solidFill>
              <a:cs typeface="+mn-ea"/>
              <a:sym typeface="+mn-lt"/>
            </a:endParaRP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8</a:t>
            </a:r>
            <a:r>
              <a:rPr lang="en-US" altLang="zh-CN" sz="1200" dirty="0">
                <a:solidFill>
                  <a:srgbClr val="ABB2BF"/>
                </a:solidFill>
                <a:cs typeface="+mn-ea"/>
                <a:sym typeface="+mn-lt"/>
              </a:rPr>
              <a:t>;</a:t>
            </a: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a:t>
            </a:r>
            <a:r>
              <a:rPr lang="en-US" altLang="zh-CN" sz="1200" dirty="0" err="1">
                <a:solidFill>
                  <a:srgbClr val="E5C07B"/>
                </a:solidFill>
                <a:cs typeface="+mn-ea"/>
                <a:sym typeface="+mn-lt"/>
              </a:rPr>
              <a:t>Vec</a:t>
            </a:r>
            <a:r>
              <a:rPr lang="en-US" altLang="zh-CN" sz="1200" dirty="0">
                <a:solidFill>
                  <a:srgbClr val="ABB2BF"/>
                </a:solidFill>
                <a:cs typeface="+mn-ea"/>
                <a:sym typeface="+mn-lt"/>
              </a:rPr>
              <a:t>&lt;</a:t>
            </a:r>
            <a:r>
              <a:rPr lang="en-US" altLang="zh-CN" sz="1200" dirty="0">
                <a:solidFill>
                  <a:srgbClr val="E5C07B"/>
                </a:solidFill>
                <a:cs typeface="+mn-ea"/>
                <a:sym typeface="+mn-lt"/>
              </a:rPr>
              <a:t>f64</a:t>
            </a:r>
            <a:r>
              <a:rPr lang="en-US" altLang="zh-CN" sz="1200" dirty="0">
                <a:solidFill>
                  <a:srgbClr val="ABB2BF"/>
                </a:solidFill>
                <a:cs typeface="+mn-ea"/>
                <a:sym typeface="+mn-lt"/>
              </a:rPr>
              <a:t>&gt;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err="1">
                <a:solidFill>
                  <a:srgbClr val="E5C07B"/>
                </a:solidFill>
                <a:cs typeface="+mn-ea"/>
                <a:sym typeface="+mn-lt"/>
              </a:rPr>
              <a:t>Vec</a:t>
            </a:r>
            <a:r>
              <a:rPr lang="en-US" altLang="zh-CN" sz="1200" dirty="0">
                <a:solidFill>
                  <a:srgbClr val="ABB2BF"/>
                </a:solidFill>
                <a:cs typeface="+mn-ea"/>
                <a:sym typeface="+mn-lt"/>
              </a:rPr>
              <a:t>::</a:t>
            </a:r>
            <a:r>
              <a:rPr lang="en-US" altLang="zh-CN" sz="1200" dirty="0">
                <a:solidFill>
                  <a:srgbClr val="61AFEF"/>
                </a:solidFill>
                <a:cs typeface="+mn-ea"/>
                <a:sym typeface="+mn-lt"/>
              </a:rPr>
              <a:t>new</a:t>
            </a:r>
            <a:r>
              <a:rPr lang="en-US" altLang="zh-CN" sz="1200" dirty="0">
                <a:solidFill>
                  <a:srgbClr val="ABB2BF"/>
                </a:solidFill>
                <a:cs typeface="+mn-ea"/>
                <a:sym typeface="+mn-lt"/>
              </a:rPr>
              <a:t>();</a:t>
            </a: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E06C75"/>
                </a:solidFill>
                <a:cs typeface="+mn-ea"/>
                <a:sym typeface="+mn-lt"/>
              </a:rPr>
              <a:t>c</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98C379"/>
                </a:solidFill>
                <a:cs typeface="+mn-ea"/>
                <a:sym typeface="+mn-lt"/>
              </a:rPr>
              <a:t>"hi"</a:t>
            </a:r>
            <a:r>
              <a:rPr lang="en-US" altLang="zh-CN" sz="1200" dirty="0">
                <a:solidFill>
                  <a:srgbClr val="ABB2BF"/>
                </a:solidFill>
                <a:cs typeface="+mn-ea"/>
                <a:sym typeface="+mn-lt"/>
              </a:rPr>
              <a:t>, </a:t>
            </a:r>
            <a:r>
              <a:rPr lang="en-US" altLang="zh-CN" sz="1200" dirty="0">
                <a:solidFill>
                  <a:srgbClr val="D19A66"/>
                </a:solidFill>
                <a:cs typeface="+mn-ea"/>
                <a:sym typeface="+mn-lt"/>
              </a:rPr>
              <a:t>false</a:t>
            </a:r>
            <a:r>
              <a:rPr lang="en-US" altLang="zh-CN" sz="1200" dirty="0">
                <a:solidFill>
                  <a:srgbClr val="ABB2BF"/>
                </a:solidFill>
                <a:cs typeface="+mn-ea"/>
                <a:sym typeface="+mn-lt"/>
              </a:rPr>
              <a:t>);</a:t>
            </a:r>
          </a:p>
          <a:p>
            <a:endParaRPr lang="en-US" altLang="zh-CN" sz="1200" b="0" dirty="0">
              <a:solidFill>
                <a:srgbClr val="ABB2BF"/>
              </a:solidFill>
              <a:effectLst/>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错误：</a:t>
            </a:r>
            <a:r>
              <a:rPr lang="en-US" altLang="zh-CN" sz="1200" i="1" dirty="0">
                <a:solidFill>
                  <a:srgbClr val="7F848E"/>
                </a:solidFill>
                <a:cs typeface="+mn-ea"/>
                <a:sym typeface="+mn-lt"/>
              </a:rPr>
              <a:t>let </a:t>
            </a:r>
            <a:r>
              <a:rPr lang="zh-CN" altLang="en-US" sz="1200" i="1" dirty="0">
                <a:solidFill>
                  <a:srgbClr val="7F848E"/>
                </a:solidFill>
                <a:cs typeface="+mn-ea"/>
                <a:sym typeface="+mn-lt"/>
              </a:rPr>
              <a:t>是语句，因此不能将 </a:t>
            </a:r>
            <a:r>
              <a:rPr lang="en-US" altLang="zh-CN" sz="1200" i="1" dirty="0">
                <a:solidFill>
                  <a:srgbClr val="7F848E"/>
                </a:solidFill>
                <a:cs typeface="+mn-ea"/>
                <a:sym typeface="+mn-lt"/>
              </a:rPr>
              <a:t>let </a:t>
            </a:r>
            <a:r>
              <a:rPr lang="zh-CN" altLang="en-US" sz="1200" i="1" dirty="0">
                <a:solidFill>
                  <a:srgbClr val="7F848E"/>
                </a:solidFill>
                <a:cs typeface="+mn-ea"/>
                <a:sym typeface="+mn-lt"/>
              </a:rPr>
              <a:t>语句赋值给其它变量</a:t>
            </a:r>
            <a:endParaRPr lang="zh-CN" altLang="en-US" sz="1200" dirty="0">
              <a:solidFill>
                <a:srgbClr val="ABB2BF"/>
              </a:solidFill>
              <a:cs typeface="+mn-ea"/>
              <a:sym typeface="+mn-lt"/>
            </a:endParaRP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8</a:t>
            </a:r>
            <a:r>
              <a:rPr lang="en-US" altLang="zh-CN" sz="1200" dirty="0">
                <a:solidFill>
                  <a:srgbClr val="ABB2BF"/>
                </a:solidFill>
                <a:cs typeface="+mn-ea"/>
                <a:sym typeface="+mn-lt"/>
              </a:rPr>
              <a:t>);</a:t>
            </a:r>
          </a:p>
        </p:txBody>
      </p:sp>
      <p:sp>
        <p:nvSpPr>
          <p:cNvPr id="8" name="矩形 7">
            <a:extLst>
              <a:ext uri="{FF2B5EF4-FFF2-40B4-BE49-F238E27FC236}">
                <a16:creationId xmlns:a16="http://schemas.microsoft.com/office/drawing/2014/main" id="{41087D18-E200-48A5-A947-569B7968ADA8}"/>
              </a:ext>
            </a:extLst>
          </p:cNvPr>
          <p:cNvSpPr/>
          <p:nvPr/>
        </p:nvSpPr>
        <p:spPr>
          <a:xfrm>
            <a:off x="257052" y="834343"/>
            <a:ext cx="4893153" cy="1156855"/>
          </a:xfrm>
          <a:prstGeom prst="rect">
            <a:avLst/>
          </a:prstGeom>
        </p:spPr>
        <p:txBody>
          <a:bodyPr wrap="square">
            <a:spAutoFit/>
          </a:bodyPr>
          <a:lstStyle/>
          <a:p>
            <a:pPr>
              <a:lnSpc>
                <a:spcPct val="150000"/>
              </a:lnSpc>
            </a:pPr>
            <a:r>
              <a:rPr lang="zh-CN" altLang="en-US" sz="1600" b="1" dirty="0">
                <a:solidFill>
                  <a:srgbClr val="000000"/>
                </a:solidFill>
                <a:cs typeface="+mn-ea"/>
                <a:sym typeface="+mn-lt"/>
              </a:rPr>
              <a:t>声明语句：</a:t>
            </a:r>
            <a:endParaRPr lang="en-US" altLang="zh-CN" sz="1600" b="1" dirty="0">
              <a:solidFill>
                <a:srgbClr val="000000"/>
              </a:solidFill>
              <a:cs typeface="+mn-ea"/>
              <a:sym typeface="+mn-lt"/>
            </a:endParaRPr>
          </a:p>
          <a:p>
            <a:pPr>
              <a:lnSpc>
                <a:spcPct val="150000"/>
              </a:lnSpc>
            </a:pPr>
            <a:r>
              <a:rPr lang="zh-CN" altLang="en-US" sz="1600" dirty="0">
                <a:cs typeface="+mn-ea"/>
                <a:sym typeface="+mn-lt"/>
              </a:rPr>
              <a:t>声明语句是在它自己封闭的语句块的内部引入一个或多个名称的语句。如下图示例：</a:t>
            </a:r>
            <a:endParaRPr lang="en-US" altLang="zh-CN" sz="160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115747"/>
    </mc:Choice>
    <mc:Fallback xmlns="">
      <p:transition spd="slow" advTm="11574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优先级、结合性和求值顺序</a:t>
            </a:r>
          </a:p>
        </p:txBody>
      </p:sp>
      <p:cxnSp>
        <p:nvCxnSpPr>
          <p:cNvPr id="14" name="直接连接符 13"/>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19872" y="1031673"/>
            <a:ext cx="3741765" cy="1568450"/>
          </a:xfrm>
          <a:prstGeom prst="rect">
            <a:avLst/>
          </a:prstGeom>
        </p:spPr>
        <p:txBody>
          <a:bodyPr wrap="square">
            <a:spAutoFit/>
          </a:bodyPr>
          <a:lstStyle/>
          <a:p>
            <a:pPr>
              <a:lnSpc>
                <a:spcPct val="150000"/>
              </a:lnSpc>
            </a:pPr>
            <a:r>
              <a:rPr lang="en-US" altLang="zh-CN" sz="1600" dirty="0">
                <a:cs typeface="+mn-ea"/>
                <a:sym typeface="+mn-lt"/>
              </a:rPr>
              <a:t>Rust </a:t>
            </a:r>
            <a:r>
              <a:rPr lang="zh-CN" altLang="en-US" sz="1600" dirty="0">
                <a:cs typeface="+mn-ea"/>
                <a:sym typeface="+mn-lt"/>
              </a:rPr>
              <a:t>运算符和表达式的优先级顺序如右所示，从上到下为由高到低。</a:t>
            </a:r>
            <a:endParaRPr lang="en-US" altLang="zh-CN" sz="1600" dirty="0">
              <a:cs typeface="+mn-ea"/>
              <a:sym typeface="+mn-lt"/>
            </a:endParaRPr>
          </a:p>
          <a:p>
            <a:pPr>
              <a:lnSpc>
                <a:spcPct val="150000"/>
              </a:lnSpc>
            </a:pPr>
            <a:r>
              <a:rPr lang="zh-CN" altLang="en-US" sz="1600" dirty="0">
                <a:cs typeface="+mn-ea"/>
                <a:sym typeface="+mn-lt"/>
              </a:rPr>
              <a:t>具有相同优先级的二元运算符按其结合</a:t>
            </a:r>
            <a:r>
              <a:rPr lang="en-US" altLang="zh-CN" sz="1600" dirty="0">
                <a:cs typeface="+mn-ea"/>
                <a:sym typeface="+mn-lt"/>
              </a:rPr>
              <a:t>(associativity)</a:t>
            </a:r>
            <a:r>
              <a:rPr lang="zh-CN" altLang="en-US" sz="1600" dirty="0">
                <a:cs typeface="+mn-ea"/>
                <a:sym typeface="+mn-lt"/>
              </a:rPr>
              <a:t>顺序做了分组。</a:t>
            </a:r>
          </a:p>
        </p:txBody>
      </p:sp>
      <p:graphicFrame>
        <p:nvGraphicFramePr>
          <p:cNvPr id="7" name="表格 6"/>
          <p:cNvGraphicFramePr>
            <a:graphicFrameLocks noGrp="1"/>
          </p:cNvGraphicFramePr>
          <p:nvPr>
            <p:extLst>
              <p:ext uri="{D42A27DB-BD31-4B8C-83A1-F6EECF244321}">
                <p14:modId xmlns:p14="http://schemas.microsoft.com/office/powerpoint/2010/main" val="443582152"/>
              </p:ext>
            </p:extLst>
          </p:nvPr>
        </p:nvGraphicFramePr>
        <p:xfrm>
          <a:off x="4455043" y="934681"/>
          <a:ext cx="6444605" cy="5887968"/>
        </p:xfrm>
        <a:graphic>
          <a:graphicData uri="http://schemas.openxmlformats.org/drawingml/2006/table">
            <a:tbl>
              <a:tblPr/>
              <a:tblGrid>
                <a:gridCol w="4888891">
                  <a:extLst>
                    <a:ext uri="{9D8B030D-6E8A-4147-A177-3AD203B41FA5}">
                      <a16:colId xmlns:a16="http://schemas.microsoft.com/office/drawing/2014/main" val="20000"/>
                    </a:ext>
                  </a:extLst>
                </a:gridCol>
                <a:gridCol w="1555714">
                  <a:extLst>
                    <a:ext uri="{9D8B030D-6E8A-4147-A177-3AD203B41FA5}">
                      <a16:colId xmlns:a16="http://schemas.microsoft.com/office/drawing/2014/main" val="20001"/>
                    </a:ext>
                  </a:extLst>
                </a:gridCol>
              </a:tblGrid>
              <a:tr h="0">
                <a:tc>
                  <a:txBody>
                    <a:bodyPr/>
                    <a:lstStyle/>
                    <a:p>
                      <a:r>
                        <a:rPr lang="zh-CN" altLang="en-US" sz="1600" dirty="0">
                          <a:effectLst/>
                          <a:latin typeface="+mn-lt"/>
                          <a:ea typeface="+mn-ea"/>
                          <a:cs typeface="+mn-ea"/>
                          <a:sym typeface="+mn-lt"/>
                        </a:rPr>
                        <a:t>运算符</a:t>
                      </a:r>
                      <a:r>
                        <a:rPr lang="en-US" altLang="zh-CN" sz="1600" dirty="0">
                          <a:effectLst/>
                          <a:latin typeface="+mn-lt"/>
                          <a:ea typeface="+mn-ea"/>
                          <a:cs typeface="+mn-ea"/>
                          <a:sym typeface="+mn-lt"/>
                        </a:rPr>
                        <a:t>/</a:t>
                      </a:r>
                      <a:r>
                        <a:rPr lang="zh-CN" altLang="en-US" sz="1600" dirty="0">
                          <a:effectLst/>
                          <a:latin typeface="+mn-lt"/>
                          <a:ea typeface="+mn-ea"/>
                          <a:cs typeface="+mn-ea"/>
                          <a:sym typeface="+mn-lt"/>
                        </a:rPr>
                        <a:t>表达式</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r>
                        <a:rPr lang="zh-CN" altLang="en-US" sz="1600" dirty="0">
                          <a:effectLst/>
                          <a:latin typeface="+mn-lt"/>
                          <a:ea typeface="+mn-ea"/>
                          <a:cs typeface="+mn-ea"/>
                          <a:sym typeface="+mn-lt"/>
                        </a:rPr>
                        <a:t>结合性</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extLst>
                  <a:ext uri="{0D108BD9-81ED-4DB2-BD59-A6C34878D82A}">
                    <a16:rowId xmlns:a16="http://schemas.microsoft.com/office/drawing/2014/main" val="10000"/>
                  </a:ext>
                </a:extLst>
              </a:tr>
              <a:tr h="0">
                <a:tc>
                  <a:txBody>
                    <a:bodyPr/>
                    <a:lstStyle/>
                    <a:p>
                      <a:r>
                        <a:rPr lang="en-US" sz="1600" dirty="0">
                          <a:effectLst/>
                          <a:latin typeface="+mn-lt"/>
                          <a:ea typeface="+mn-ea"/>
                          <a:cs typeface="+mn-ea"/>
                          <a:sym typeface="+mn-lt"/>
                        </a:rPr>
                        <a:t>Paths（</a:t>
                      </a:r>
                      <a:r>
                        <a:rPr lang="zh-CN" altLang="en-US" sz="1600" dirty="0">
                          <a:effectLst/>
                          <a:latin typeface="+mn-lt"/>
                          <a:ea typeface="+mn-ea"/>
                          <a:cs typeface="+mn-ea"/>
                          <a:sym typeface="+mn-lt"/>
                        </a:rPr>
                        <a:t>路径）</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endParaRPr lang="zh-CN" altLang="en-US" sz="1600" dirty="0">
                        <a:effectLst/>
                        <a:latin typeface="+mn-lt"/>
                        <a:ea typeface="+mn-ea"/>
                        <a:cs typeface="+mn-ea"/>
                        <a:sym typeface="+mn-lt"/>
                      </a:endParaRP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0">
                <a:tc>
                  <a:txBody>
                    <a:bodyPr/>
                    <a:lstStyle/>
                    <a:p>
                      <a:r>
                        <a:rPr lang="en-US" sz="1600" dirty="0">
                          <a:effectLst/>
                          <a:latin typeface="+mn-lt"/>
                          <a:ea typeface="+mn-ea"/>
                          <a:cs typeface="+mn-ea"/>
                          <a:sym typeface="+mn-lt"/>
                        </a:rPr>
                        <a:t>Method calls（</a:t>
                      </a:r>
                      <a:r>
                        <a:rPr lang="zh-CN" altLang="en-US" sz="1600" dirty="0">
                          <a:effectLst/>
                          <a:latin typeface="+mn-lt"/>
                          <a:ea typeface="+mn-ea"/>
                          <a:cs typeface="+mn-ea"/>
                          <a:sym typeface="+mn-lt"/>
                        </a:rPr>
                        <a:t>方法调用）</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endParaRPr lang="zh-CN" altLang="en-US" sz="1600" dirty="0">
                        <a:effectLst/>
                        <a:latin typeface="+mn-lt"/>
                        <a:ea typeface="+mn-ea"/>
                        <a:cs typeface="+mn-ea"/>
                        <a:sym typeface="+mn-lt"/>
                      </a:endParaRP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2"/>
                  </a:ext>
                </a:extLst>
              </a:tr>
              <a:tr h="0">
                <a:tc>
                  <a:txBody>
                    <a:bodyPr/>
                    <a:lstStyle/>
                    <a:p>
                      <a:r>
                        <a:rPr lang="en-US" sz="1600" dirty="0">
                          <a:effectLst/>
                          <a:latin typeface="+mn-lt"/>
                          <a:ea typeface="+mn-ea"/>
                          <a:cs typeface="+mn-ea"/>
                          <a:sym typeface="+mn-lt"/>
                        </a:rPr>
                        <a:t>Field expressions （</a:t>
                      </a:r>
                      <a:r>
                        <a:rPr lang="zh-CN" altLang="en-US" sz="1600" dirty="0">
                          <a:effectLst/>
                          <a:latin typeface="+mn-lt"/>
                          <a:ea typeface="+mn-ea"/>
                          <a:cs typeface="+mn-ea"/>
                          <a:sym typeface="+mn-lt"/>
                        </a:rPr>
                        <a:t>字段表达式）</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3"/>
                  </a:ext>
                </a:extLst>
              </a:tr>
              <a:tr h="0">
                <a:tc>
                  <a:txBody>
                    <a:bodyPr/>
                    <a:lstStyle/>
                    <a:p>
                      <a:r>
                        <a:rPr lang="en-US" sz="1600" dirty="0">
                          <a:effectLst/>
                          <a:latin typeface="+mn-lt"/>
                          <a:ea typeface="+mn-ea"/>
                          <a:cs typeface="+mn-ea"/>
                          <a:sym typeface="+mn-lt"/>
                        </a:rPr>
                        <a:t>Function calls, array indexing（</a:t>
                      </a:r>
                      <a:r>
                        <a:rPr lang="zh-CN" altLang="en-US" sz="1600" dirty="0">
                          <a:effectLst/>
                          <a:latin typeface="+mn-lt"/>
                          <a:ea typeface="+mn-ea"/>
                          <a:cs typeface="+mn-ea"/>
                          <a:sym typeface="+mn-lt"/>
                        </a:rPr>
                        <a:t>函数调用，数组索引）</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endParaRPr lang="zh-CN" altLang="en-US" sz="1600" dirty="0">
                        <a:effectLst/>
                        <a:latin typeface="+mn-lt"/>
                        <a:ea typeface="+mn-ea"/>
                        <a:cs typeface="+mn-ea"/>
                        <a:sym typeface="+mn-lt"/>
                      </a:endParaRP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4"/>
                  </a:ext>
                </a:extLst>
              </a:tr>
              <a:tr h="0">
                <a:tc>
                  <a:txBody>
                    <a:bodyPr/>
                    <a:lstStyle/>
                    <a:p>
                      <a:r>
                        <a:rPr lang="en-US" altLang="zh-CN" sz="1600" dirty="0">
                          <a:effectLst/>
                          <a:latin typeface="+mn-lt"/>
                          <a:ea typeface="+mn-ea"/>
                          <a:cs typeface="+mn-ea"/>
                          <a:sym typeface="+mn-lt"/>
                        </a:rPr>
                        <a:t>?</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endParaRPr lang="zh-CN" altLang="en-US" sz="1600" dirty="0">
                        <a:effectLst/>
                        <a:latin typeface="+mn-lt"/>
                        <a:ea typeface="+mn-ea"/>
                        <a:cs typeface="+mn-ea"/>
                        <a:sym typeface="+mn-lt"/>
                      </a:endParaRP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5"/>
                  </a:ext>
                </a:extLst>
              </a:tr>
              <a:tr h="0">
                <a:tc>
                  <a:txBody>
                    <a:bodyPr/>
                    <a:lstStyle/>
                    <a:p>
                      <a:r>
                        <a:rPr lang="en-US" sz="1600" dirty="0">
                          <a:effectLst/>
                          <a:latin typeface="+mn-lt"/>
                          <a:ea typeface="+mn-ea"/>
                          <a:cs typeface="+mn-ea"/>
                          <a:sym typeface="+mn-lt"/>
                        </a:rPr>
                        <a:t>Unary（</a:t>
                      </a:r>
                      <a:r>
                        <a:rPr lang="zh-CN" altLang="en-US" sz="1600" dirty="0">
                          <a:effectLst/>
                          <a:latin typeface="+mn-lt"/>
                          <a:ea typeface="+mn-ea"/>
                          <a:cs typeface="+mn-ea"/>
                          <a:sym typeface="+mn-lt"/>
                        </a:rPr>
                        <a:t>一元运算符） </a:t>
                      </a:r>
                      <a:r>
                        <a:rPr lang="en-US" altLang="zh-CN" sz="1600" dirty="0">
                          <a:effectLst/>
                          <a:latin typeface="+mn-lt"/>
                          <a:ea typeface="+mn-ea"/>
                          <a:cs typeface="+mn-ea"/>
                          <a:sym typeface="+mn-lt"/>
                        </a:rPr>
                        <a:t>- * ! &amp; &amp;</a:t>
                      </a:r>
                      <a:r>
                        <a:rPr lang="en-US" sz="1600" dirty="0">
                          <a:effectLst/>
                          <a:latin typeface="+mn-lt"/>
                          <a:ea typeface="+mn-ea"/>
                          <a:cs typeface="+mn-ea"/>
                          <a:sym typeface="+mn-lt"/>
                        </a:rPr>
                        <a:t>mut</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endParaRPr lang="zh-CN" altLang="en-US" sz="1600" dirty="0">
                        <a:effectLst/>
                        <a:latin typeface="+mn-lt"/>
                        <a:ea typeface="+mn-ea"/>
                        <a:cs typeface="+mn-ea"/>
                        <a:sym typeface="+mn-lt"/>
                      </a:endParaRP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6"/>
                  </a:ext>
                </a:extLst>
              </a:tr>
              <a:tr h="0">
                <a:tc>
                  <a:txBody>
                    <a:bodyPr/>
                    <a:lstStyle/>
                    <a:p>
                      <a:r>
                        <a:rPr lang="en-US" sz="1600" dirty="0">
                          <a:effectLst/>
                          <a:latin typeface="+mn-lt"/>
                          <a:ea typeface="+mn-ea"/>
                          <a:cs typeface="+mn-ea"/>
                          <a:sym typeface="+mn-lt"/>
                        </a:rPr>
                        <a:t>as</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7"/>
                  </a:ext>
                </a:extLst>
              </a:tr>
              <a:tr h="0">
                <a:tc>
                  <a:txBody>
                    <a:bodyPr/>
                    <a:lstStyle/>
                    <a:p>
                      <a:r>
                        <a:rPr lang="zh-CN" altLang="en-US" sz="1600" dirty="0">
                          <a:effectLst/>
                          <a:latin typeface="+mn-lt"/>
                          <a:ea typeface="+mn-ea"/>
                          <a:cs typeface="+mn-ea"/>
                          <a:sym typeface="+mn-lt"/>
                        </a:rPr>
                        <a:t>* </a:t>
                      </a:r>
                      <a:r>
                        <a:rPr lang="en-US" altLang="zh-CN" sz="1600" dirty="0">
                          <a:effectLst/>
                          <a:latin typeface="+mn-lt"/>
                          <a:ea typeface="+mn-ea"/>
                          <a:cs typeface="+mn-ea"/>
                          <a:sym typeface="+mn-lt"/>
                        </a:rPr>
                        <a:t>/ %</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8"/>
                  </a:ext>
                </a:extLst>
              </a:tr>
              <a:tr h="0">
                <a:tc>
                  <a:txBody>
                    <a:bodyPr/>
                    <a:lstStyle/>
                    <a:p>
                      <a:r>
                        <a:rPr lang="en-US" altLang="zh-CN" sz="1600" dirty="0">
                          <a:effectLst/>
                          <a:latin typeface="+mn-lt"/>
                          <a:ea typeface="+mn-ea"/>
                          <a:cs typeface="+mn-ea"/>
                          <a:sym typeface="+mn-lt"/>
                        </a:rPr>
                        <a:t>+ -</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9"/>
                  </a:ext>
                </a:extLst>
              </a:tr>
              <a:tr h="0">
                <a:tc>
                  <a:txBody>
                    <a:bodyPr/>
                    <a:lstStyle/>
                    <a:p>
                      <a:r>
                        <a:rPr lang="en-US" altLang="zh-CN" sz="1600" dirty="0">
                          <a:effectLst/>
                          <a:latin typeface="+mn-lt"/>
                          <a:ea typeface="+mn-ea"/>
                          <a:cs typeface="+mn-ea"/>
                          <a:sym typeface="+mn-lt"/>
                        </a:rPr>
                        <a:t>&lt;&lt; &gt;&gt;</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0"/>
                  </a:ext>
                </a:extLst>
              </a:tr>
              <a:tr h="0">
                <a:tc>
                  <a:txBody>
                    <a:bodyPr/>
                    <a:lstStyle/>
                    <a:p>
                      <a:r>
                        <a:rPr lang="en-US" altLang="zh-CN" sz="1600" dirty="0">
                          <a:effectLst/>
                          <a:latin typeface="+mn-lt"/>
                          <a:ea typeface="+mn-ea"/>
                          <a:cs typeface="+mn-ea"/>
                          <a:sym typeface="+mn-lt"/>
                        </a:rPr>
                        <a:t>&amp;</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1"/>
                  </a:ext>
                </a:extLst>
              </a:tr>
              <a:tr h="0">
                <a:tc>
                  <a:txBody>
                    <a:bodyPr/>
                    <a:lstStyle/>
                    <a:p>
                      <a:r>
                        <a:rPr lang="en-US" altLang="zh-CN" sz="1600" dirty="0">
                          <a:effectLst/>
                          <a:latin typeface="+mn-lt"/>
                          <a:ea typeface="+mn-ea"/>
                          <a:cs typeface="+mn-ea"/>
                          <a:sym typeface="+mn-lt"/>
                        </a:rPr>
                        <a:t>^</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2"/>
                  </a:ext>
                </a:extLst>
              </a:tr>
              <a:tr h="0">
                <a:tc>
                  <a:txBody>
                    <a:bodyPr/>
                    <a:lstStyle/>
                    <a:p>
                      <a:r>
                        <a:rPr lang="en-US" altLang="zh-CN" sz="1600" dirty="0">
                          <a:effectLst/>
                          <a:latin typeface="+mn-lt"/>
                          <a:ea typeface="+mn-ea"/>
                          <a:cs typeface="+mn-ea"/>
                          <a:sym typeface="+mn-lt"/>
                        </a:rPr>
                        <a:t>|</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3"/>
                  </a:ext>
                </a:extLst>
              </a:tr>
              <a:tr h="0">
                <a:tc>
                  <a:txBody>
                    <a:bodyPr/>
                    <a:lstStyle/>
                    <a:p>
                      <a:r>
                        <a:rPr lang="en-US" altLang="zh-CN" sz="1600" dirty="0">
                          <a:effectLst/>
                          <a:latin typeface="+mn-lt"/>
                          <a:ea typeface="+mn-ea"/>
                          <a:cs typeface="+mn-ea"/>
                          <a:sym typeface="+mn-lt"/>
                        </a:rPr>
                        <a:t>== != &lt; &gt; &lt;= &gt;=</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需要圆括号</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4"/>
                  </a:ext>
                </a:extLst>
              </a:tr>
              <a:tr h="0">
                <a:tc>
                  <a:txBody>
                    <a:bodyPr/>
                    <a:lstStyle/>
                    <a:p>
                      <a:r>
                        <a:rPr lang="en-US" altLang="zh-CN" sz="1600" dirty="0">
                          <a:effectLst/>
                          <a:latin typeface="+mn-lt"/>
                          <a:ea typeface="+mn-ea"/>
                          <a:cs typeface="+mn-ea"/>
                          <a:sym typeface="+mn-lt"/>
                        </a:rPr>
                        <a:t>&amp;&amp;</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5"/>
                  </a:ext>
                </a:extLst>
              </a:tr>
              <a:tr h="0">
                <a:tc>
                  <a:txBody>
                    <a:bodyPr/>
                    <a:lstStyle/>
                    <a:p>
                      <a:r>
                        <a:rPr lang="en-US" altLang="zh-CN" sz="1600" dirty="0">
                          <a:effectLst/>
                          <a:latin typeface="+mn-lt"/>
                          <a:ea typeface="+mn-ea"/>
                          <a:cs typeface="+mn-ea"/>
                          <a:sym typeface="+mn-lt"/>
                        </a:rPr>
                        <a:t>||</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从左向右</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6"/>
                  </a:ext>
                </a:extLst>
              </a:tr>
              <a:tr h="0">
                <a:tc>
                  <a:txBody>
                    <a:bodyPr/>
                    <a:lstStyle/>
                    <a:p>
                      <a:r>
                        <a:rPr lang="en-US" altLang="zh-CN" sz="1600" dirty="0">
                          <a:effectLst/>
                          <a:latin typeface="+mn-lt"/>
                          <a:ea typeface="+mn-ea"/>
                          <a:cs typeface="+mn-ea"/>
                          <a:sym typeface="+mn-lt"/>
                        </a:rPr>
                        <a:t>.. ..=</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需要圆括号</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7"/>
                  </a:ext>
                </a:extLst>
              </a:tr>
              <a:tr h="0">
                <a:tc>
                  <a:txBody>
                    <a:bodyPr/>
                    <a:lstStyle/>
                    <a:p>
                      <a:r>
                        <a:rPr lang="en-US" altLang="zh-CN" sz="1600" dirty="0">
                          <a:effectLst/>
                          <a:latin typeface="+mn-lt"/>
                          <a:ea typeface="+mn-ea"/>
                          <a:cs typeface="+mn-ea"/>
                          <a:sym typeface="+mn-lt"/>
                        </a:rPr>
                        <a:t>= += -= *= /= %=</a:t>
                      </a:r>
                      <a:br>
                        <a:rPr lang="en-US" altLang="zh-CN" sz="1600" dirty="0">
                          <a:effectLst/>
                          <a:latin typeface="+mn-lt"/>
                          <a:ea typeface="+mn-ea"/>
                          <a:cs typeface="+mn-ea"/>
                          <a:sym typeface="+mn-lt"/>
                        </a:rPr>
                      </a:br>
                      <a:r>
                        <a:rPr lang="en-US" altLang="zh-CN" sz="1600" dirty="0">
                          <a:effectLst/>
                          <a:latin typeface="+mn-lt"/>
                          <a:ea typeface="+mn-ea"/>
                          <a:cs typeface="+mn-ea"/>
                          <a:sym typeface="+mn-lt"/>
                        </a:rPr>
                        <a:t>&amp;= |= ^= &lt;&lt;= &gt;&gt;=</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zh-CN" altLang="en-US" sz="1600" dirty="0">
                          <a:effectLst/>
                          <a:latin typeface="+mn-lt"/>
                          <a:ea typeface="+mn-ea"/>
                          <a:cs typeface="+mn-ea"/>
                          <a:sym typeface="+mn-lt"/>
                        </a:rPr>
                        <a:t>从右向左</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8"/>
                  </a:ext>
                </a:extLst>
              </a:tr>
              <a:tr h="0">
                <a:tc>
                  <a:txBody>
                    <a:bodyPr/>
                    <a:lstStyle/>
                    <a:p>
                      <a:r>
                        <a:rPr lang="en-US" sz="1600" dirty="0">
                          <a:effectLst/>
                          <a:latin typeface="+mn-lt"/>
                          <a:ea typeface="+mn-ea"/>
                          <a:cs typeface="+mn-ea"/>
                          <a:sym typeface="+mn-lt"/>
                        </a:rPr>
                        <a:t>return break closures（</a:t>
                      </a:r>
                      <a:r>
                        <a:rPr lang="zh-CN" altLang="en-US" sz="1600" dirty="0">
                          <a:effectLst/>
                          <a:latin typeface="+mn-lt"/>
                          <a:ea typeface="+mn-ea"/>
                          <a:cs typeface="+mn-ea"/>
                          <a:sym typeface="+mn-lt"/>
                        </a:rPr>
                        <a:t>返回、中断、闭包）</a:t>
                      </a:r>
                    </a:p>
                  </a:txBody>
                  <a:tcPr marL="84709" marR="84709" marT="12706" marB="12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endParaRPr lang="zh-CN" altLang="en-US" sz="1600" dirty="0">
                        <a:latin typeface="+mn-lt"/>
                        <a:ea typeface="+mn-ea"/>
                        <a:cs typeface="+mn-ea"/>
                        <a:sym typeface="+mn-lt"/>
                      </a:endParaRPr>
                    </a:p>
                  </a:txBody>
                  <a:tcPr marL="40660" marR="40660" marT="20330" marB="203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19"/>
                  </a:ext>
                </a:extLst>
              </a:tr>
            </a:tbl>
          </a:graphicData>
        </a:graphic>
      </p:graphicFrame>
      <p:sp>
        <p:nvSpPr>
          <p:cNvPr id="15" name="矩形 14"/>
          <p:cNvSpPr/>
          <p:nvPr/>
        </p:nvSpPr>
        <p:spPr>
          <a:xfrm>
            <a:off x="306270" y="2710514"/>
            <a:ext cx="3860149" cy="2308324"/>
          </a:xfrm>
          <a:prstGeom prst="rect">
            <a:avLst/>
          </a:prstGeom>
        </p:spPr>
        <p:txBody>
          <a:bodyPr wrap="square">
            <a:spAutoFit/>
          </a:bodyPr>
          <a:lstStyle/>
          <a:p>
            <a:pPr>
              <a:lnSpc>
                <a:spcPct val="150000"/>
              </a:lnSpc>
            </a:pPr>
            <a:r>
              <a:rPr lang="zh-CN" altLang="en-US" sz="1600" b="1" dirty="0">
                <a:cs typeface="+mn-ea"/>
                <a:sym typeface="+mn-lt"/>
              </a:rPr>
              <a:t>求值顺序：</a:t>
            </a:r>
            <a:endParaRPr lang="en-US" altLang="zh-CN" sz="1600" b="1" dirty="0">
              <a:cs typeface="+mn-ea"/>
              <a:sym typeface="+mn-lt"/>
            </a:endParaRPr>
          </a:p>
          <a:p>
            <a:pPr>
              <a:lnSpc>
                <a:spcPct val="150000"/>
              </a:lnSpc>
            </a:pPr>
            <a:r>
              <a:rPr lang="zh-CN" altLang="en-US" sz="1600" dirty="0">
                <a:cs typeface="+mn-ea"/>
                <a:sym typeface="+mn-lt"/>
              </a:rPr>
              <a:t>在实现执行这些表达式的效果之前，会先对这些表达式的操作数进行求值。拥有多个操作数的表达式会按照源代码书写的顺序从左到右计算。</a:t>
            </a:r>
            <a:endParaRPr lang="en-US" altLang="zh-CN" sz="1600" dirty="0">
              <a:cs typeface="+mn-ea"/>
              <a:sym typeface="+mn-lt"/>
            </a:endParaRPr>
          </a:p>
          <a:p>
            <a:pPr>
              <a:lnSpc>
                <a:spcPct val="150000"/>
              </a:lnSpc>
            </a:pPr>
            <a:r>
              <a:rPr lang="zh-CN" altLang="en-US" sz="1600" dirty="0">
                <a:cs typeface="+mn-ea"/>
                <a:sym typeface="+mn-lt"/>
              </a:rPr>
              <a:t>修改运算优先级时需要借助圆括号。</a:t>
            </a:r>
          </a:p>
        </p:txBody>
      </p:sp>
    </p:spTree>
  </p:cSld>
  <p:clrMapOvr>
    <a:masterClrMapping/>
  </p:clrMapOvr>
  <mc:AlternateContent xmlns:mc="http://schemas.openxmlformats.org/markup-compatibility/2006" xmlns:p14="http://schemas.microsoft.com/office/powerpoint/2010/main">
    <mc:Choice Requires="p14">
      <p:transition spd="slow" p14:dur="2000" advTm="129629"/>
    </mc:Choice>
    <mc:Fallback xmlns="">
      <p:transition spd="slow" advTm="12962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运算</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操作符</a:t>
            </a:r>
          </a:p>
        </p:txBody>
      </p:sp>
      <p:cxnSp>
        <p:nvCxnSpPr>
          <p:cNvPr id="14" name="直接连接符 13"/>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372643" y="2465977"/>
            <a:ext cx="2691809" cy="307777"/>
          </a:xfrm>
          <a:prstGeom prst="rect">
            <a:avLst/>
          </a:prstGeom>
          <a:noFill/>
        </p:spPr>
        <p:txBody>
          <a:bodyPr vert="horz" wrap="square" rtlCol="0">
            <a:spAutoFit/>
          </a:bodyPr>
          <a:lstStyle/>
          <a:p>
            <a:pPr algn="l"/>
            <a:r>
              <a:rPr lang="zh-CN" altLang="en-US" sz="1400" b="1" dirty="0">
                <a:cs typeface="+mn-ea"/>
                <a:sym typeface="+mn-lt"/>
              </a:rPr>
              <a:t>比较操作符</a:t>
            </a:r>
            <a:endParaRPr lang="en-US" altLang="zh-CN" sz="1400" b="1" dirty="0">
              <a:cs typeface="+mn-ea"/>
              <a:sym typeface="+mn-lt"/>
            </a:endParaRPr>
          </a:p>
        </p:txBody>
      </p:sp>
      <p:graphicFrame>
        <p:nvGraphicFramePr>
          <p:cNvPr id="6" name="表格 5"/>
          <p:cNvGraphicFramePr>
            <a:graphicFrameLocks noGrp="1"/>
          </p:cNvGraphicFramePr>
          <p:nvPr>
            <p:extLst>
              <p:ext uri="{D42A27DB-BD31-4B8C-83A1-F6EECF244321}">
                <p14:modId xmlns:p14="http://schemas.microsoft.com/office/powerpoint/2010/main" val="3567154565"/>
              </p:ext>
            </p:extLst>
          </p:nvPr>
        </p:nvGraphicFramePr>
        <p:xfrm>
          <a:off x="4372643" y="2788930"/>
          <a:ext cx="2691809" cy="1680210"/>
        </p:xfrm>
        <a:graphic>
          <a:graphicData uri="http://schemas.openxmlformats.org/drawingml/2006/table">
            <a:tbl>
              <a:tblPr/>
              <a:tblGrid>
                <a:gridCol w="883819">
                  <a:extLst>
                    <a:ext uri="{9D8B030D-6E8A-4147-A177-3AD203B41FA5}">
                      <a16:colId xmlns:a16="http://schemas.microsoft.com/office/drawing/2014/main" val="20000"/>
                    </a:ext>
                  </a:extLst>
                </a:gridCol>
                <a:gridCol w="1807990">
                  <a:extLst>
                    <a:ext uri="{9D8B030D-6E8A-4147-A177-3AD203B41FA5}">
                      <a16:colId xmlns:a16="http://schemas.microsoft.com/office/drawing/2014/main" val="20001"/>
                    </a:ext>
                  </a:extLst>
                </a:gridCol>
              </a:tblGrid>
              <a:tr h="210823">
                <a:tc>
                  <a:txBody>
                    <a:bodyPr/>
                    <a:lstStyle/>
                    <a:p>
                      <a:r>
                        <a:rPr lang="zh-CN" altLang="en-US" sz="1200" b="1" dirty="0">
                          <a:effectLst/>
                          <a:latin typeface="+mn-lt"/>
                          <a:ea typeface="+mn-ea"/>
                          <a:cs typeface="+mn-ea"/>
                          <a:sym typeface="+mn-lt"/>
                        </a:rPr>
                        <a:t>符号</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zh-CN" altLang="en-US" sz="1200" b="1" dirty="0">
                          <a:effectLst/>
                          <a:latin typeface="+mn-lt"/>
                          <a:ea typeface="+mn-ea"/>
                          <a:cs typeface="+mn-ea"/>
                          <a:sym typeface="+mn-lt"/>
                        </a:rPr>
                        <a:t>含义</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0"/>
                  </a:ext>
                </a:extLst>
              </a:tr>
              <a:tr h="136360">
                <a:tc>
                  <a:txBody>
                    <a:bodyPr/>
                    <a:lstStyle/>
                    <a:p>
                      <a:r>
                        <a:rPr lang="en-US" altLang="zh-CN" sz="1200" dirty="0">
                          <a:effectLst/>
                          <a:latin typeface="+mn-lt"/>
                          <a:ea typeface="+mn-ea"/>
                          <a:cs typeface="+mn-ea"/>
                          <a:sym typeface="+mn-lt"/>
                        </a:rPr>
                        <a: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等于</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6360">
                <a:tc>
                  <a:txBody>
                    <a:bodyPr/>
                    <a:lstStyle/>
                    <a:p>
                      <a:r>
                        <a:rPr lang="en-US" altLang="zh-CN" sz="1200" dirty="0">
                          <a:effectLst/>
                          <a:latin typeface="+mn-lt"/>
                          <a:ea typeface="+mn-ea"/>
                          <a:cs typeface="+mn-ea"/>
                          <a:sym typeface="+mn-lt"/>
                        </a:rPr>
                        <a: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不等于</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6360">
                <a:tc>
                  <a:txBody>
                    <a:bodyPr/>
                    <a:lstStyle/>
                    <a:p>
                      <a:r>
                        <a:rPr lang="en-US" altLang="zh-CN" sz="1200" dirty="0">
                          <a:effectLst/>
                          <a:latin typeface="+mn-lt"/>
                          <a:ea typeface="+mn-ea"/>
                          <a:cs typeface="+mn-ea"/>
                          <a:sym typeface="+mn-lt"/>
                        </a:rPr>
                        <a:t>&gt;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大于</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36360">
                <a:tc>
                  <a:txBody>
                    <a:bodyPr/>
                    <a:lstStyle/>
                    <a:p>
                      <a:r>
                        <a:rPr lang="en-US" altLang="zh-CN" sz="1200" dirty="0">
                          <a:effectLst/>
                          <a:latin typeface="+mn-lt"/>
                          <a:ea typeface="+mn-ea"/>
                          <a:cs typeface="+mn-ea"/>
                          <a:sym typeface="+mn-lt"/>
                        </a:rPr>
                        <a:t>&lt;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小于</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36360">
                <a:tc>
                  <a:txBody>
                    <a:bodyPr/>
                    <a:lstStyle/>
                    <a:p>
                      <a:r>
                        <a:rPr lang="en-US" altLang="zh-CN" sz="1200" dirty="0">
                          <a:effectLst/>
                          <a:latin typeface="+mn-lt"/>
                          <a:ea typeface="+mn-ea"/>
                          <a:cs typeface="+mn-ea"/>
                          <a:sym typeface="+mn-lt"/>
                        </a:rPr>
                        <a:t>&gt;=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大于或等于</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36360">
                <a:tc>
                  <a:txBody>
                    <a:bodyPr/>
                    <a:lstStyle/>
                    <a:p>
                      <a:r>
                        <a:rPr lang="en-US" altLang="zh-CN" sz="1200" dirty="0">
                          <a:effectLst/>
                          <a:latin typeface="+mn-lt"/>
                          <a:ea typeface="+mn-ea"/>
                          <a:cs typeface="+mn-ea"/>
                          <a:sym typeface="+mn-lt"/>
                        </a:rPr>
                        <a:t>&lt;=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小于或等于</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矩形 8"/>
          <p:cNvSpPr/>
          <p:nvPr/>
        </p:nvSpPr>
        <p:spPr>
          <a:xfrm>
            <a:off x="523831" y="2470670"/>
            <a:ext cx="3590969" cy="307777"/>
          </a:xfrm>
          <a:prstGeom prst="rect">
            <a:avLst/>
          </a:prstGeom>
        </p:spPr>
        <p:txBody>
          <a:bodyPr wrap="square">
            <a:spAutoFit/>
          </a:bodyPr>
          <a:lstStyle/>
          <a:p>
            <a:r>
              <a:rPr lang="zh-CN" altLang="en-US" sz="1400" b="1" dirty="0">
                <a:cs typeface="+mn-ea"/>
                <a:sym typeface="+mn-lt"/>
              </a:rPr>
              <a:t>算术和逻辑二元运算符</a:t>
            </a:r>
          </a:p>
        </p:txBody>
      </p:sp>
      <p:graphicFrame>
        <p:nvGraphicFramePr>
          <p:cNvPr id="10" name="表格 9"/>
          <p:cNvGraphicFramePr>
            <a:graphicFrameLocks noGrp="1"/>
          </p:cNvGraphicFramePr>
          <p:nvPr>
            <p:extLst>
              <p:ext uri="{D42A27DB-BD31-4B8C-83A1-F6EECF244321}">
                <p14:modId xmlns:p14="http://schemas.microsoft.com/office/powerpoint/2010/main" val="3380018060"/>
              </p:ext>
            </p:extLst>
          </p:nvPr>
        </p:nvGraphicFramePr>
        <p:xfrm>
          <a:off x="523832" y="2788930"/>
          <a:ext cx="3590968" cy="2393555"/>
        </p:xfrm>
        <a:graphic>
          <a:graphicData uri="http://schemas.openxmlformats.org/drawingml/2006/table">
            <a:tbl>
              <a:tblPr/>
              <a:tblGrid>
                <a:gridCol w="683176">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gridCol w="850392">
                  <a:extLst>
                    <a:ext uri="{9D8B030D-6E8A-4147-A177-3AD203B41FA5}">
                      <a16:colId xmlns:a16="http://schemas.microsoft.com/office/drawing/2014/main" val="20002"/>
                    </a:ext>
                  </a:extLst>
                </a:gridCol>
                <a:gridCol w="1179576">
                  <a:extLst>
                    <a:ext uri="{9D8B030D-6E8A-4147-A177-3AD203B41FA5}">
                      <a16:colId xmlns:a16="http://schemas.microsoft.com/office/drawing/2014/main" val="20003"/>
                    </a:ext>
                  </a:extLst>
                </a:gridCol>
              </a:tblGrid>
              <a:tr h="330255">
                <a:tc>
                  <a:txBody>
                    <a:bodyPr/>
                    <a:lstStyle/>
                    <a:p>
                      <a:r>
                        <a:rPr lang="zh-CN" altLang="en-US" sz="1200" dirty="0">
                          <a:effectLst/>
                          <a:latin typeface="+mn-lt"/>
                          <a:ea typeface="+mn-ea"/>
                          <a:cs typeface="+mn-ea"/>
                          <a:sym typeface="+mn-lt"/>
                        </a:rPr>
                        <a:t>符号</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zh-CN" altLang="en-US" sz="1200" dirty="0">
                          <a:effectLst/>
                          <a:latin typeface="+mn-lt"/>
                          <a:ea typeface="+mn-ea"/>
                          <a:cs typeface="+mn-ea"/>
                          <a:sym typeface="+mn-lt"/>
                        </a:rPr>
                        <a:t>整数</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US" sz="1200" dirty="0">
                          <a:effectLst/>
                          <a:latin typeface="+mn-lt"/>
                          <a:ea typeface="+mn-ea"/>
                          <a:cs typeface="+mn-ea"/>
                          <a:sym typeface="+mn-lt"/>
                        </a:rPr>
                        <a:t>bool</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zh-CN" altLang="en-US" sz="1200" dirty="0">
                          <a:effectLst/>
                          <a:latin typeface="+mn-lt"/>
                          <a:ea typeface="+mn-ea"/>
                          <a:cs typeface="+mn-ea"/>
                          <a:sym typeface="+mn-lt"/>
                        </a:rPr>
                        <a:t>浮点数</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0"/>
                  </a:ext>
                </a:extLst>
              </a:tr>
              <a:tr h="0">
                <a:tc>
                  <a:txBody>
                    <a:bodyPr/>
                    <a:lstStyle/>
                    <a:p>
                      <a:r>
                        <a:rPr lang="en-US" altLang="zh-CN" sz="1200" dirty="0">
                          <a:effectLst/>
                          <a:latin typeface="+mn-lt"/>
                          <a:ea typeface="+mn-ea"/>
                          <a:cs typeface="+mn-ea"/>
                          <a:sym typeface="+mn-lt"/>
                        </a:rPr>
                        <a: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加法</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加法</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r>
                        <a:rPr lang="en-US" altLang="zh-CN" sz="1200" dirty="0">
                          <a:effectLst/>
                          <a:latin typeface="+mn-lt"/>
                          <a:ea typeface="+mn-ea"/>
                          <a:cs typeface="+mn-ea"/>
                          <a:sym typeface="+mn-lt"/>
                        </a:rPr>
                        <a: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减法</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减法</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r>
                        <a:rPr lang="zh-CN" altLang="en-US" sz="1200" dirty="0">
                          <a:effectLst/>
                          <a:latin typeface="+mn-lt"/>
                          <a:ea typeface="+mn-ea"/>
                          <a:cs typeface="+mn-ea"/>
                          <a:sym typeface="+mn-lt"/>
                        </a:rPr>
                        <a: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乘法</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乘法</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r>
                        <a:rPr lang="en-US" altLang="zh-CN" sz="1200" dirty="0">
                          <a:effectLst/>
                          <a:latin typeface="+mn-lt"/>
                          <a:ea typeface="+mn-ea"/>
                          <a:cs typeface="+mn-ea"/>
                          <a:sym typeface="+mn-lt"/>
                        </a:rPr>
                        <a: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除法*</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除法</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r>
                        <a:rPr lang="en-US" altLang="zh-CN" sz="1200" dirty="0">
                          <a:effectLst/>
                          <a:latin typeface="+mn-lt"/>
                          <a:ea typeface="+mn-ea"/>
                          <a:cs typeface="+mn-ea"/>
                          <a:sym typeface="+mn-lt"/>
                        </a:rPr>
                        <a: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取余</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取余</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r>
                        <a:rPr lang="en-US" altLang="zh-CN" sz="1200" dirty="0">
                          <a:effectLst/>
                          <a:latin typeface="+mn-lt"/>
                          <a:ea typeface="+mn-ea"/>
                          <a:cs typeface="+mn-ea"/>
                          <a:sym typeface="+mn-lt"/>
                        </a:rPr>
                        <a:t>&amp;</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按位与</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u="none" strike="noStrike" dirty="0">
                          <a:effectLst/>
                          <a:latin typeface="+mn-lt"/>
                          <a:ea typeface="+mn-ea"/>
                          <a:cs typeface="+mn-ea"/>
                          <a:sym typeface="+mn-lt"/>
                        </a:rPr>
                        <a:t>逻辑与</a:t>
                      </a:r>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r>
                        <a:rPr lang="en-US" altLang="zh-CN" sz="1200" dirty="0">
                          <a:effectLst/>
                          <a:latin typeface="+mn-lt"/>
                          <a:ea typeface="+mn-ea"/>
                          <a:cs typeface="+mn-ea"/>
                          <a:sym typeface="+mn-lt"/>
                        </a:rPr>
                        <a: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按位或</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u="none" strike="noStrike" dirty="0">
                          <a:effectLst/>
                          <a:latin typeface="+mn-lt"/>
                          <a:ea typeface="+mn-ea"/>
                          <a:cs typeface="+mn-ea"/>
                          <a:sym typeface="+mn-lt"/>
                        </a:rPr>
                        <a:t>逻辑或</a:t>
                      </a:r>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r>
                        <a:rPr lang="en-US" altLang="zh-CN" sz="1200" dirty="0">
                          <a:effectLst/>
                          <a:latin typeface="+mn-lt"/>
                          <a:ea typeface="+mn-ea"/>
                          <a:cs typeface="+mn-ea"/>
                          <a:sym typeface="+mn-lt"/>
                        </a:rPr>
                        <a: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按位异或</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u="none" strike="noStrike" dirty="0">
                          <a:effectLst/>
                          <a:latin typeface="+mn-lt"/>
                          <a:ea typeface="+mn-ea"/>
                          <a:cs typeface="+mn-ea"/>
                          <a:sym typeface="+mn-lt"/>
                        </a:rPr>
                        <a:t>逻辑异或</a:t>
                      </a:r>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r>
                        <a:rPr lang="en-US" altLang="zh-CN" sz="1200" dirty="0">
                          <a:effectLst/>
                          <a:latin typeface="+mn-lt"/>
                          <a:ea typeface="+mn-ea"/>
                          <a:cs typeface="+mn-ea"/>
                          <a:sym typeface="+mn-lt"/>
                        </a:rPr>
                        <a:t>&lt;&lt;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左移位</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r>
                        <a:rPr lang="en-US" altLang="zh-CN" sz="1200" dirty="0">
                          <a:effectLst/>
                          <a:latin typeface="+mn-lt"/>
                          <a:ea typeface="+mn-ea"/>
                          <a:cs typeface="+mn-ea"/>
                          <a:sym typeface="+mn-lt"/>
                        </a:rPr>
                        <a:t>&gt;&gt;</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右移位**</a:t>
                      </a: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78164" marR="78164" marT="11725" marB="11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8" name="文本框 7"/>
          <p:cNvSpPr txBox="1"/>
          <p:nvPr/>
        </p:nvSpPr>
        <p:spPr>
          <a:xfrm>
            <a:off x="7328318" y="878632"/>
            <a:ext cx="3738216" cy="5293757"/>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altLang="zh-CN" sz="1200" dirty="0">
              <a:solidFill>
                <a:srgbClr val="FFFFFF"/>
              </a:solidFill>
              <a:cs typeface="+mn-ea"/>
              <a:sym typeface="+mn-lt"/>
            </a:endParaRPr>
          </a:p>
          <a:p>
            <a:r>
              <a:rPr lang="en-US" altLang="zh-CN" sz="1200" dirty="0">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i="1" dirty="0">
                <a:solidFill>
                  <a:srgbClr val="7F848E"/>
                </a:solidFill>
                <a:cs typeface="+mn-ea"/>
                <a:sym typeface="+mn-lt"/>
              </a:rPr>
              <a:t>    // </a:t>
            </a:r>
            <a:r>
              <a:rPr lang="zh-CN" altLang="en-US" sz="1200" i="1" dirty="0">
                <a:solidFill>
                  <a:srgbClr val="7F848E"/>
                </a:solidFill>
                <a:cs typeface="+mn-ea"/>
                <a:sym typeface="+mn-lt"/>
              </a:rPr>
              <a:t>取反运算符</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6</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D19A66"/>
                </a:solidFill>
                <a:cs typeface="+mn-ea"/>
                <a:sym typeface="+mn-lt"/>
              </a:rPr>
              <a:t>6</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56B6C2"/>
                </a:solidFill>
                <a:cs typeface="+mn-ea"/>
                <a:sym typeface="+mn-lt"/>
              </a:rPr>
              <a:t>!</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D19A66"/>
                </a:solidFill>
                <a:cs typeface="+mn-ea"/>
                <a:sym typeface="+mn-lt"/>
              </a:rPr>
              <a:t>7</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true</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D19A66"/>
                </a:solidFill>
                <a:cs typeface="+mn-ea"/>
                <a:sym typeface="+mn-lt"/>
              </a:rPr>
              <a:t>false</a:t>
            </a:r>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i="1" dirty="0">
                <a:solidFill>
                  <a:srgbClr val="7F848E"/>
                </a:solidFill>
                <a:cs typeface="+mn-ea"/>
                <a:sym typeface="+mn-lt"/>
              </a:rPr>
              <a:t>    // </a:t>
            </a:r>
            <a:r>
              <a:rPr lang="zh-CN" altLang="en-US" sz="1200" i="1" dirty="0">
                <a:solidFill>
                  <a:srgbClr val="7F848E"/>
                </a:solidFill>
                <a:cs typeface="+mn-ea"/>
                <a:sym typeface="+mn-lt"/>
              </a:rPr>
              <a:t>算术和逻辑二元运算符</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3</a:t>
            </a:r>
            <a:r>
              <a:rPr lang="en-US" altLang="zh-CN" sz="1200" dirty="0">
                <a:solidFill>
                  <a:srgbClr val="ABB2BF"/>
                </a:solidFill>
                <a:cs typeface="+mn-ea"/>
                <a:sym typeface="+mn-lt"/>
              </a:rPr>
              <a:t> + </a:t>
            </a:r>
            <a:r>
              <a:rPr lang="en-US" altLang="zh-CN" sz="1200" dirty="0">
                <a:solidFill>
                  <a:srgbClr val="D19A66"/>
                </a:solidFill>
                <a:cs typeface="+mn-ea"/>
                <a:sym typeface="+mn-lt"/>
              </a:rPr>
              <a:t>6</a:t>
            </a:r>
            <a:r>
              <a:rPr lang="en-US" altLang="zh-CN" sz="1200" dirty="0">
                <a:solidFill>
                  <a:srgbClr val="ABB2BF"/>
                </a:solidFill>
                <a:cs typeface="+mn-ea"/>
                <a:sym typeface="+mn-lt"/>
              </a:rPr>
              <a:t>, </a:t>
            </a:r>
            <a:r>
              <a:rPr lang="en-US" altLang="zh-CN" sz="1200" dirty="0">
                <a:solidFill>
                  <a:srgbClr val="D19A66"/>
                </a:solidFill>
                <a:cs typeface="+mn-ea"/>
                <a:sym typeface="+mn-lt"/>
              </a:rPr>
              <a:t>9</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5.5</a:t>
            </a:r>
            <a:r>
              <a:rPr lang="en-US" altLang="zh-CN" sz="1200" dirty="0">
                <a:solidFill>
                  <a:srgbClr val="ABB2BF"/>
                </a:solidFill>
                <a:cs typeface="+mn-ea"/>
                <a:sym typeface="+mn-lt"/>
              </a:rPr>
              <a:t> - </a:t>
            </a:r>
            <a:r>
              <a:rPr lang="en-US" altLang="zh-CN" sz="1200" dirty="0">
                <a:solidFill>
                  <a:srgbClr val="D19A66"/>
                </a:solidFill>
                <a:cs typeface="+mn-ea"/>
                <a:sym typeface="+mn-lt"/>
              </a:rPr>
              <a:t>1.25</a:t>
            </a:r>
            <a:r>
              <a:rPr lang="en-US" altLang="zh-CN" sz="1200" dirty="0">
                <a:solidFill>
                  <a:srgbClr val="ABB2BF"/>
                </a:solidFill>
                <a:cs typeface="+mn-ea"/>
                <a:sym typeface="+mn-lt"/>
              </a:rPr>
              <a:t>, </a:t>
            </a:r>
            <a:r>
              <a:rPr lang="en-US" altLang="zh-CN" sz="1200" dirty="0">
                <a:solidFill>
                  <a:srgbClr val="D19A66"/>
                </a:solidFill>
                <a:cs typeface="+mn-ea"/>
                <a:sym typeface="+mn-lt"/>
              </a:rPr>
              <a:t>4.25</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5</a:t>
            </a:r>
            <a:r>
              <a:rPr lang="en-US" altLang="zh-CN" sz="1200" dirty="0">
                <a:solidFill>
                  <a:srgbClr val="ABB2BF"/>
                </a:solidFill>
                <a:cs typeface="+mn-ea"/>
                <a:sym typeface="+mn-lt"/>
              </a:rPr>
              <a:t> * </a:t>
            </a:r>
            <a:r>
              <a:rPr lang="en-US" altLang="zh-CN" sz="1200" dirty="0">
                <a:solidFill>
                  <a:srgbClr val="D19A66"/>
                </a:solidFill>
                <a:cs typeface="+mn-ea"/>
                <a:sym typeface="+mn-lt"/>
              </a:rPr>
              <a:t>14</a:t>
            </a:r>
            <a:r>
              <a:rPr lang="en-US" altLang="zh-CN" sz="1200" dirty="0">
                <a:solidFill>
                  <a:srgbClr val="ABB2BF"/>
                </a:solidFill>
                <a:cs typeface="+mn-ea"/>
                <a:sym typeface="+mn-lt"/>
              </a:rPr>
              <a:t>, -</a:t>
            </a:r>
            <a:r>
              <a:rPr lang="en-US" altLang="zh-CN" sz="1200" dirty="0">
                <a:solidFill>
                  <a:srgbClr val="D19A66"/>
                </a:solidFill>
                <a:cs typeface="+mn-ea"/>
                <a:sym typeface="+mn-lt"/>
              </a:rPr>
              <a:t>70</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14</a:t>
            </a:r>
            <a:r>
              <a:rPr lang="en-US" altLang="zh-CN" sz="1200" dirty="0">
                <a:solidFill>
                  <a:srgbClr val="ABB2BF"/>
                </a:solidFill>
                <a:cs typeface="+mn-ea"/>
                <a:sym typeface="+mn-lt"/>
              </a:rPr>
              <a:t> / </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4</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100</a:t>
            </a:r>
            <a:r>
              <a:rPr lang="en-US" altLang="zh-CN" sz="1200" dirty="0">
                <a:solidFill>
                  <a:srgbClr val="ABB2BF"/>
                </a:solidFill>
                <a:cs typeface="+mn-ea"/>
                <a:sym typeface="+mn-lt"/>
              </a:rPr>
              <a:t> % </a:t>
            </a:r>
            <a:r>
              <a:rPr lang="en-US" altLang="zh-CN" sz="1200" dirty="0">
                <a:solidFill>
                  <a:srgbClr val="D19A66"/>
                </a:solidFill>
                <a:cs typeface="+mn-ea"/>
                <a:sym typeface="+mn-lt"/>
              </a:rPr>
              <a:t>7</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0b1010</a:t>
            </a:r>
            <a:r>
              <a:rPr lang="en-US" altLang="zh-CN" sz="1200" dirty="0">
                <a:solidFill>
                  <a:srgbClr val="ABB2BF"/>
                </a:solidFill>
                <a:cs typeface="+mn-ea"/>
                <a:sym typeface="+mn-lt"/>
              </a:rPr>
              <a:t> &amp; </a:t>
            </a:r>
            <a:r>
              <a:rPr lang="en-US" altLang="zh-CN" sz="1200" dirty="0">
                <a:solidFill>
                  <a:srgbClr val="D19A66"/>
                </a:solidFill>
                <a:cs typeface="+mn-ea"/>
                <a:sym typeface="+mn-lt"/>
              </a:rPr>
              <a:t>0b1100</a:t>
            </a:r>
            <a:r>
              <a:rPr lang="en-US" altLang="zh-CN" sz="1200" dirty="0">
                <a:solidFill>
                  <a:srgbClr val="ABB2BF"/>
                </a:solidFill>
                <a:cs typeface="+mn-ea"/>
                <a:sym typeface="+mn-lt"/>
              </a:rPr>
              <a:t>, </a:t>
            </a:r>
            <a:r>
              <a:rPr lang="en-US" altLang="zh-CN" sz="1200" dirty="0">
                <a:solidFill>
                  <a:srgbClr val="D19A66"/>
                </a:solidFill>
                <a:cs typeface="+mn-ea"/>
                <a:sym typeface="+mn-lt"/>
              </a:rPr>
              <a:t>0b1000</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0b1010</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0b1100</a:t>
            </a:r>
            <a:r>
              <a:rPr lang="en-US" altLang="zh-CN" sz="1200" dirty="0">
                <a:solidFill>
                  <a:srgbClr val="ABB2BF"/>
                </a:solidFill>
                <a:cs typeface="+mn-ea"/>
                <a:sym typeface="+mn-lt"/>
              </a:rPr>
              <a:t>, </a:t>
            </a:r>
            <a:r>
              <a:rPr lang="en-US" altLang="zh-CN" sz="1200" dirty="0">
                <a:solidFill>
                  <a:srgbClr val="D19A66"/>
                </a:solidFill>
                <a:cs typeface="+mn-ea"/>
                <a:sym typeface="+mn-lt"/>
              </a:rPr>
              <a:t>0b1110</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0b1010</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0b1100</a:t>
            </a:r>
            <a:r>
              <a:rPr lang="en-US" altLang="zh-CN" sz="1200" dirty="0">
                <a:solidFill>
                  <a:srgbClr val="ABB2BF"/>
                </a:solidFill>
                <a:cs typeface="+mn-ea"/>
                <a:sym typeface="+mn-lt"/>
              </a:rPr>
              <a:t>, </a:t>
            </a:r>
            <a:r>
              <a:rPr lang="en-US" altLang="zh-CN" sz="1200" dirty="0">
                <a:solidFill>
                  <a:srgbClr val="D19A66"/>
                </a:solidFill>
                <a:cs typeface="+mn-ea"/>
                <a:sym typeface="+mn-lt"/>
              </a:rPr>
              <a:t>0b110</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13</a:t>
            </a:r>
            <a:r>
              <a:rPr lang="en-US" altLang="zh-CN" sz="1200" dirty="0">
                <a:solidFill>
                  <a:srgbClr val="ABB2BF"/>
                </a:solidFill>
                <a:cs typeface="+mn-ea"/>
                <a:sym typeface="+mn-lt"/>
              </a:rPr>
              <a:t> </a:t>
            </a:r>
            <a:r>
              <a:rPr lang="en-US" altLang="zh-CN" sz="1200" dirty="0">
                <a:solidFill>
                  <a:srgbClr val="56B6C2"/>
                </a:solidFill>
                <a:cs typeface="+mn-ea"/>
                <a:sym typeface="+mn-lt"/>
              </a:rPr>
              <a:t>&lt;&lt;</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104</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10</a:t>
            </a:r>
            <a:r>
              <a:rPr lang="en-US" altLang="zh-CN" sz="1200" dirty="0">
                <a:solidFill>
                  <a:srgbClr val="ABB2BF"/>
                </a:solidFill>
                <a:cs typeface="+mn-ea"/>
                <a:sym typeface="+mn-lt"/>
              </a:rPr>
              <a:t> </a:t>
            </a:r>
            <a:r>
              <a:rPr lang="en-US" altLang="zh-CN" sz="1200" dirty="0">
                <a:solidFill>
                  <a:srgbClr val="56B6C2"/>
                </a:solidFill>
                <a:cs typeface="+mn-ea"/>
                <a:sym typeface="+mn-lt"/>
              </a:rPr>
              <a:t>&gt;&gt;</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i="1" dirty="0">
                <a:solidFill>
                  <a:srgbClr val="7F848E"/>
                </a:solidFill>
                <a:cs typeface="+mn-ea"/>
                <a:sym typeface="+mn-lt"/>
              </a:rPr>
              <a:t>    // </a:t>
            </a:r>
            <a:r>
              <a:rPr lang="zh-CN" altLang="en-US" sz="1200" i="1" dirty="0">
                <a:solidFill>
                  <a:srgbClr val="7F848E"/>
                </a:solidFill>
                <a:cs typeface="+mn-ea"/>
                <a:sym typeface="+mn-lt"/>
              </a:rPr>
              <a:t>比较运算符</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61AFEF"/>
                </a:solidFill>
                <a:cs typeface="+mn-ea"/>
                <a:sym typeface="+mn-lt"/>
              </a:rPr>
              <a:t>assert!</a:t>
            </a:r>
            <a:r>
              <a:rPr lang="en-US" altLang="zh-CN" sz="1200" dirty="0">
                <a:solidFill>
                  <a:srgbClr val="ABB2BF"/>
                </a:solidFill>
                <a:cs typeface="+mn-ea"/>
                <a:sym typeface="+mn-lt"/>
              </a:rPr>
              <a:t>(</a:t>
            </a:r>
            <a:r>
              <a:rPr lang="en-US" altLang="zh-CN" sz="1200" dirty="0">
                <a:solidFill>
                  <a:srgbClr val="D19A66"/>
                </a:solidFill>
                <a:cs typeface="+mn-ea"/>
                <a:sym typeface="+mn-lt"/>
              </a:rPr>
              <a:t>123</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123</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61AFEF"/>
                </a:solidFill>
                <a:cs typeface="+mn-ea"/>
                <a:sym typeface="+mn-lt"/>
              </a:rPr>
              <a:t>assert!</a:t>
            </a:r>
            <a:r>
              <a:rPr lang="en-US" altLang="zh-CN" sz="1200" dirty="0">
                <a:solidFill>
                  <a:srgbClr val="ABB2BF"/>
                </a:solidFill>
                <a:cs typeface="+mn-ea"/>
                <a:sym typeface="+mn-lt"/>
              </a:rPr>
              <a:t>(</a:t>
            </a:r>
            <a:r>
              <a:rPr lang="en-US" altLang="zh-CN" sz="1200" dirty="0">
                <a:solidFill>
                  <a:srgbClr val="D19A66"/>
                </a:solidFill>
                <a:cs typeface="+mn-ea"/>
                <a:sym typeface="+mn-lt"/>
              </a:rPr>
              <a:t>23</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12</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61AFEF"/>
                </a:solidFill>
                <a:cs typeface="+mn-ea"/>
                <a:sym typeface="+mn-lt"/>
              </a:rPr>
              <a:t>assert!</a:t>
            </a:r>
            <a:r>
              <a:rPr lang="en-US" altLang="zh-CN" sz="1200" dirty="0">
                <a:solidFill>
                  <a:srgbClr val="ABB2BF"/>
                </a:solidFill>
                <a:cs typeface="+mn-ea"/>
                <a:sym typeface="+mn-lt"/>
              </a:rPr>
              <a:t>(</a:t>
            </a:r>
            <a:r>
              <a:rPr lang="en-US" altLang="zh-CN" sz="1200" dirty="0">
                <a:solidFill>
                  <a:srgbClr val="D19A66"/>
                </a:solidFill>
                <a:cs typeface="+mn-ea"/>
                <a:sym typeface="+mn-lt"/>
              </a:rPr>
              <a:t>12.5</a:t>
            </a:r>
            <a:r>
              <a:rPr lang="en-US" altLang="zh-CN" sz="1200" dirty="0">
                <a:solidFill>
                  <a:srgbClr val="ABB2BF"/>
                </a:solidFill>
                <a:cs typeface="+mn-ea"/>
                <a:sym typeface="+mn-lt"/>
              </a:rPr>
              <a:t> </a:t>
            </a:r>
            <a:r>
              <a:rPr lang="en-US" altLang="zh-CN" sz="1200" dirty="0">
                <a:solidFill>
                  <a:srgbClr val="56B6C2"/>
                </a:solidFill>
                <a:cs typeface="+mn-ea"/>
                <a:sym typeface="+mn-lt"/>
              </a:rPr>
              <a:t>&gt;</a:t>
            </a:r>
            <a:r>
              <a:rPr lang="en-US" altLang="zh-CN" sz="1200" dirty="0">
                <a:solidFill>
                  <a:srgbClr val="ABB2BF"/>
                </a:solidFill>
                <a:cs typeface="+mn-ea"/>
                <a:sym typeface="+mn-lt"/>
              </a:rPr>
              <a:t> </a:t>
            </a:r>
            <a:r>
              <a:rPr lang="en-US" altLang="zh-CN" sz="1200" dirty="0">
                <a:solidFill>
                  <a:srgbClr val="D19A66"/>
                </a:solidFill>
                <a:cs typeface="+mn-ea"/>
                <a:sym typeface="+mn-lt"/>
              </a:rPr>
              <a:t>12.2</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61AFEF"/>
                </a:solidFill>
                <a:cs typeface="+mn-ea"/>
                <a:sym typeface="+mn-lt"/>
              </a:rPr>
              <a:t>assert!</a:t>
            </a:r>
            <a:r>
              <a:rPr lang="en-US" altLang="zh-CN" sz="1200" dirty="0">
                <a:solidFill>
                  <a:srgbClr val="ABB2BF"/>
                </a:solidFill>
                <a:cs typeface="+mn-ea"/>
                <a:sym typeface="+mn-lt"/>
              </a:rPr>
              <a:t>([</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56B6C2"/>
                </a:solidFill>
                <a:cs typeface="+mn-ea"/>
                <a:sym typeface="+mn-lt"/>
              </a:rPr>
              <a:t>&lt;</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4</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61AFEF"/>
                </a:solidFill>
                <a:cs typeface="+mn-ea"/>
                <a:sym typeface="+mn-lt"/>
              </a:rPr>
              <a:t>assert!</a:t>
            </a:r>
            <a:r>
              <a:rPr lang="en-US" altLang="zh-CN" sz="1200" dirty="0">
                <a:solidFill>
                  <a:srgbClr val="ABB2BF"/>
                </a:solidFill>
                <a:cs typeface="+mn-ea"/>
                <a:sym typeface="+mn-lt"/>
              </a:rPr>
              <a:t>(</a:t>
            </a:r>
            <a:r>
              <a:rPr lang="en-US" altLang="zh-CN" sz="1200" dirty="0">
                <a:solidFill>
                  <a:srgbClr val="98C379"/>
                </a:solidFill>
                <a:cs typeface="+mn-ea"/>
                <a:sym typeface="+mn-lt"/>
              </a:rPr>
              <a:t>'A'</a:t>
            </a:r>
            <a:r>
              <a:rPr lang="en-US" altLang="zh-CN" sz="1200" dirty="0">
                <a:solidFill>
                  <a:srgbClr val="ABB2BF"/>
                </a:solidFill>
                <a:cs typeface="+mn-ea"/>
                <a:sym typeface="+mn-lt"/>
              </a:rPr>
              <a:t> </a:t>
            </a:r>
            <a:r>
              <a:rPr lang="en-US" altLang="zh-CN" sz="1200" dirty="0">
                <a:solidFill>
                  <a:srgbClr val="56B6C2"/>
                </a:solidFill>
                <a:cs typeface="+mn-ea"/>
                <a:sym typeface="+mn-lt"/>
              </a:rPr>
              <a:t>&lt;=</a:t>
            </a:r>
            <a:r>
              <a:rPr lang="en-US" altLang="zh-CN" sz="1200" dirty="0">
                <a:solidFill>
                  <a:srgbClr val="ABB2BF"/>
                </a:solidFill>
                <a:cs typeface="+mn-ea"/>
                <a:sym typeface="+mn-lt"/>
              </a:rPr>
              <a:t> </a:t>
            </a:r>
            <a:r>
              <a:rPr lang="en-US" altLang="zh-CN" sz="1200" dirty="0">
                <a:solidFill>
                  <a:srgbClr val="98C379"/>
                </a:solidFill>
                <a:cs typeface="+mn-ea"/>
                <a:sym typeface="+mn-lt"/>
              </a:rPr>
              <a:t>'B'</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61AFEF"/>
                </a:solidFill>
                <a:cs typeface="+mn-ea"/>
                <a:sym typeface="+mn-lt"/>
              </a:rPr>
              <a:t>assert!</a:t>
            </a:r>
            <a:r>
              <a:rPr lang="en-US" altLang="zh-CN" sz="1200" dirty="0">
                <a:solidFill>
                  <a:srgbClr val="ABB2BF"/>
                </a:solidFill>
                <a:cs typeface="+mn-ea"/>
                <a:sym typeface="+mn-lt"/>
              </a:rPr>
              <a:t>(</a:t>
            </a:r>
            <a:r>
              <a:rPr lang="en-US" altLang="zh-CN" sz="1200" dirty="0">
                <a:solidFill>
                  <a:srgbClr val="98C379"/>
                </a:solidFill>
                <a:cs typeface="+mn-ea"/>
                <a:sym typeface="+mn-lt"/>
              </a:rPr>
              <a:t>"World"</a:t>
            </a:r>
            <a:r>
              <a:rPr lang="en-US" altLang="zh-CN" sz="1200" dirty="0">
                <a:solidFill>
                  <a:srgbClr val="ABB2BF"/>
                </a:solidFill>
                <a:cs typeface="+mn-ea"/>
                <a:sym typeface="+mn-lt"/>
              </a:rPr>
              <a:t> </a:t>
            </a:r>
            <a:r>
              <a:rPr lang="en-US" altLang="zh-CN" sz="1200" dirty="0">
                <a:solidFill>
                  <a:srgbClr val="56B6C2"/>
                </a:solidFill>
                <a:cs typeface="+mn-ea"/>
                <a:sym typeface="+mn-lt"/>
              </a:rPr>
              <a:t>&gt;=</a:t>
            </a:r>
            <a:r>
              <a:rPr lang="en-US" altLang="zh-CN" sz="1200" dirty="0">
                <a:solidFill>
                  <a:srgbClr val="ABB2BF"/>
                </a:solidFill>
                <a:cs typeface="+mn-ea"/>
                <a:sym typeface="+mn-lt"/>
              </a:rPr>
              <a:t> </a:t>
            </a:r>
            <a:r>
              <a:rPr lang="en-US" altLang="zh-CN" sz="1200" dirty="0">
                <a:solidFill>
                  <a:srgbClr val="98C379"/>
                </a:solidFill>
                <a:cs typeface="+mn-ea"/>
                <a:sym typeface="+mn-lt"/>
              </a:rPr>
              <a:t>"Hello"</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151270245"/>
              </p:ext>
            </p:extLst>
          </p:nvPr>
        </p:nvGraphicFramePr>
        <p:xfrm>
          <a:off x="523832" y="1208832"/>
          <a:ext cx="5712376" cy="820433"/>
        </p:xfrm>
        <a:graphic>
          <a:graphicData uri="http://schemas.openxmlformats.org/drawingml/2006/table">
            <a:tbl>
              <a:tblPr/>
              <a:tblGrid>
                <a:gridCol w="821067">
                  <a:extLst>
                    <a:ext uri="{9D8B030D-6E8A-4147-A177-3AD203B41FA5}">
                      <a16:colId xmlns:a16="http://schemas.microsoft.com/office/drawing/2014/main" val="20000"/>
                    </a:ext>
                  </a:extLst>
                </a:gridCol>
                <a:gridCol w="1241558">
                  <a:extLst>
                    <a:ext uri="{9D8B030D-6E8A-4147-A177-3AD203B41FA5}">
                      <a16:colId xmlns:a16="http://schemas.microsoft.com/office/drawing/2014/main" val="20001"/>
                    </a:ext>
                  </a:extLst>
                </a:gridCol>
                <a:gridCol w="933984">
                  <a:extLst>
                    <a:ext uri="{9D8B030D-6E8A-4147-A177-3AD203B41FA5}">
                      <a16:colId xmlns:a16="http://schemas.microsoft.com/office/drawing/2014/main" val="20002"/>
                    </a:ext>
                  </a:extLst>
                </a:gridCol>
                <a:gridCol w="1069848">
                  <a:extLst>
                    <a:ext uri="{9D8B030D-6E8A-4147-A177-3AD203B41FA5}">
                      <a16:colId xmlns:a16="http://schemas.microsoft.com/office/drawing/2014/main" val="20003"/>
                    </a:ext>
                  </a:extLst>
                </a:gridCol>
                <a:gridCol w="1645919">
                  <a:extLst>
                    <a:ext uri="{9D8B030D-6E8A-4147-A177-3AD203B41FA5}">
                      <a16:colId xmlns:a16="http://schemas.microsoft.com/office/drawing/2014/main" val="20004"/>
                    </a:ext>
                  </a:extLst>
                </a:gridCol>
              </a:tblGrid>
              <a:tr h="276111">
                <a:tc>
                  <a:txBody>
                    <a:bodyPr/>
                    <a:lstStyle/>
                    <a:p>
                      <a:r>
                        <a:rPr lang="zh-CN" altLang="en-US" sz="1200" dirty="0">
                          <a:effectLst/>
                          <a:latin typeface="+mn-lt"/>
                          <a:ea typeface="+mn-ea"/>
                          <a:cs typeface="+mn-ea"/>
                          <a:sym typeface="+mn-lt"/>
                        </a:rPr>
                        <a:t>符号</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zh-CN" altLang="en-US" sz="1200" dirty="0">
                          <a:effectLst/>
                          <a:latin typeface="+mn-lt"/>
                          <a:ea typeface="+mn-ea"/>
                          <a:cs typeface="+mn-ea"/>
                          <a:sym typeface="+mn-lt"/>
                        </a:rPr>
                        <a:t>整数</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200" dirty="0">
                          <a:effectLst/>
                          <a:latin typeface="+mn-lt"/>
                          <a:ea typeface="+mn-ea"/>
                          <a:cs typeface="+mn-ea"/>
                          <a:sym typeface="+mn-lt"/>
                        </a:rPr>
                        <a:t>bool</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zh-CN" altLang="en-US" sz="1200" dirty="0">
                          <a:effectLst/>
                          <a:latin typeface="+mn-lt"/>
                          <a:ea typeface="+mn-ea"/>
                          <a:cs typeface="+mn-ea"/>
                          <a:sym typeface="+mn-lt"/>
                        </a:rPr>
                        <a:t>浮点数</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zh-CN" altLang="en-US" sz="1200" dirty="0">
                          <a:effectLst/>
                          <a:latin typeface="+mn-lt"/>
                          <a:ea typeface="+mn-ea"/>
                          <a:cs typeface="+mn-ea"/>
                          <a:sym typeface="+mn-lt"/>
                        </a:rPr>
                        <a:t>用于重载的 </a:t>
                      </a:r>
                      <a:r>
                        <a:rPr lang="en-US" sz="1200" dirty="0">
                          <a:effectLst/>
                          <a:latin typeface="+mn-lt"/>
                          <a:ea typeface="+mn-ea"/>
                          <a:cs typeface="+mn-ea"/>
                          <a:sym typeface="+mn-lt"/>
                        </a:rPr>
                        <a:t>trait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0000"/>
                  </a:ext>
                </a:extLst>
              </a:tr>
              <a:tr h="215825">
                <a:tc>
                  <a:txBody>
                    <a:bodyPr/>
                    <a:lstStyle/>
                    <a:p>
                      <a:r>
                        <a:rPr lang="en-US" altLang="zh-CN" sz="1200" dirty="0">
                          <a:effectLst/>
                          <a:latin typeface="+mn-lt"/>
                          <a:ea typeface="+mn-ea"/>
                          <a:cs typeface="+mn-ea"/>
                          <a:sym typeface="+mn-lt"/>
                        </a:rPr>
                        <a: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符号取反*</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符号取反</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200" dirty="0">
                          <a:effectLst/>
                          <a:latin typeface="+mn-lt"/>
                          <a:ea typeface="+mn-ea"/>
                          <a:cs typeface="+mn-ea"/>
                          <a:sym typeface="+mn-lt"/>
                        </a:rPr>
                        <a:t>std::ops::Neg</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r>
                        <a:rPr lang="en-US" altLang="zh-CN" sz="1200" dirty="0">
                          <a:effectLst/>
                          <a:latin typeface="+mn-lt"/>
                          <a:ea typeface="+mn-ea"/>
                          <a:cs typeface="+mn-ea"/>
                          <a:sym typeface="+mn-lt"/>
                        </a:rPr>
                        <a: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dirty="0">
                          <a:effectLst/>
                          <a:latin typeface="+mn-lt"/>
                          <a:ea typeface="+mn-ea"/>
                          <a:cs typeface="+mn-ea"/>
                          <a:sym typeface="+mn-lt"/>
                        </a:rPr>
                        <a:t>按位取反</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u="none" strike="noStrike" dirty="0">
                          <a:effectLst/>
                          <a:latin typeface="+mn-lt"/>
                          <a:ea typeface="+mn-ea"/>
                          <a:cs typeface="+mn-ea"/>
                          <a:sym typeface="+mn-lt"/>
                        </a:rPr>
                        <a:t>逻辑非</a:t>
                      </a:r>
                      <a:endParaRPr lang="zh-CN" altLang="en-US" sz="1200" dirty="0">
                        <a:effectLst/>
                        <a:latin typeface="+mn-lt"/>
                        <a:ea typeface="+mn-ea"/>
                        <a:cs typeface="+mn-ea"/>
                        <a:sym typeface="+mn-lt"/>
                      </a:endParaRP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zh-CN" altLang="en-US" sz="1200" dirty="0">
                        <a:effectLst/>
                        <a:latin typeface="+mn-lt"/>
                        <a:ea typeface="+mn-ea"/>
                        <a:cs typeface="+mn-ea"/>
                        <a:sym typeface="+mn-lt"/>
                      </a:endParaRP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50000"/>
                        </a:lnSpc>
                      </a:pPr>
                      <a:r>
                        <a:rPr lang="en-US" sz="1200" dirty="0">
                          <a:effectLst/>
                          <a:latin typeface="+mn-lt"/>
                          <a:ea typeface="+mn-ea"/>
                          <a:cs typeface="+mn-ea"/>
                          <a:sym typeface="+mn-lt"/>
                        </a:rPr>
                        <a:t>std::ops::Not</a:t>
                      </a:r>
                    </a:p>
                  </a:txBody>
                  <a:tcPr marL="190500" marR="190500"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矩形 4"/>
          <p:cNvSpPr/>
          <p:nvPr/>
        </p:nvSpPr>
        <p:spPr>
          <a:xfrm>
            <a:off x="606127" y="2080120"/>
            <a:ext cx="3590968" cy="307777"/>
          </a:xfrm>
          <a:prstGeom prst="rect">
            <a:avLst/>
          </a:prstGeom>
          <a:solidFill>
            <a:schemeClr val="tx2"/>
          </a:solidFill>
        </p:spPr>
        <p:txBody>
          <a:bodyPr wrap="square">
            <a:spAutoFit/>
          </a:bodyPr>
          <a:lstStyle/>
          <a:p>
            <a:r>
              <a:rPr lang="zh-CN" altLang="en-US" sz="1400" dirty="0">
                <a:cs typeface="+mn-ea"/>
                <a:sym typeface="+mn-lt"/>
              </a:rPr>
              <a:t>* 仅适用于有符号整数类型</a:t>
            </a:r>
          </a:p>
        </p:txBody>
      </p:sp>
      <p:sp>
        <p:nvSpPr>
          <p:cNvPr id="11" name="矩形 10"/>
          <p:cNvSpPr/>
          <p:nvPr/>
        </p:nvSpPr>
        <p:spPr>
          <a:xfrm>
            <a:off x="523834" y="870581"/>
            <a:ext cx="5712374" cy="307777"/>
          </a:xfrm>
          <a:prstGeom prst="rect">
            <a:avLst/>
          </a:prstGeom>
        </p:spPr>
        <p:txBody>
          <a:bodyPr wrap="square">
            <a:spAutoFit/>
          </a:bodyPr>
          <a:lstStyle/>
          <a:p>
            <a:r>
              <a:rPr lang="zh-CN" altLang="en-US" sz="1400" b="1" dirty="0">
                <a:cs typeface="+mn-ea"/>
                <a:sym typeface="+mn-lt"/>
              </a:rPr>
              <a:t>取反运算符</a:t>
            </a:r>
          </a:p>
        </p:txBody>
      </p:sp>
      <p:sp>
        <p:nvSpPr>
          <p:cNvPr id="7" name="矩形 6"/>
          <p:cNvSpPr/>
          <p:nvPr/>
        </p:nvSpPr>
        <p:spPr>
          <a:xfrm>
            <a:off x="414314" y="5261140"/>
            <a:ext cx="6650137" cy="523220"/>
          </a:xfrm>
          <a:prstGeom prst="rect">
            <a:avLst/>
          </a:prstGeom>
        </p:spPr>
        <p:txBody>
          <a:bodyPr wrap="square">
            <a:spAutoFit/>
          </a:bodyPr>
          <a:lstStyle/>
          <a:p>
            <a:r>
              <a:rPr lang="zh-CN" altLang="en-US" sz="1400" dirty="0">
                <a:cs typeface="+mn-ea"/>
                <a:sym typeface="+mn-lt"/>
              </a:rPr>
              <a:t>* 整数除法趋零取整。</a:t>
            </a:r>
          </a:p>
          <a:p>
            <a:r>
              <a:rPr lang="zh-CN" altLang="en-US" sz="1400" dirty="0">
                <a:cs typeface="+mn-ea"/>
                <a:sym typeface="+mn-lt"/>
              </a:rPr>
              <a:t>** 有符号整数类型算术右移位，无符号整数类型逻辑右移位。</a:t>
            </a:r>
          </a:p>
        </p:txBody>
      </p:sp>
      <p:sp>
        <p:nvSpPr>
          <p:cNvPr id="12" name="矩形 11"/>
          <p:cNvSpPr/>
          <p:nvPr/>
        </p:nvSpPr>
        <p:spPr>
          <a:xfrm>
            <a:off x="319872" y="6031248"/>
            <a:ext cx="7002424" cy="523220"/>
          </a:xfrm>
          <a:prstGeom prst="rect">
            <a:avLst/>
          </a:prstGeom>
        </p:spPr>
        <p:txBody>
          <a:bodyPr wrap="square">
            <a:spAutoFit/>
          </a:bodyPr>
          <a:lstStyle/>
          <a:p>
            <a:r>
              <a:rPr lang="zh-CN" altLang="en-US" sz="1400" i="1" dirty="0">
                <a:cs typeface="+mn-ea"/>
                <a:sym typeface="+mn-lt"/>
              </a:rPr>
              <a:t>操作符详细参考：</a:t>
            </a:r>
            <a:r>
              <a:rPr lang="en-US" altLang="zh-CN" sz="1400" i="1" dirty="0">
                <a:cs typeface="+mn-ea"/>
                <a:sym typeface="+mn-lt"/>
              </a:rPr>
              <a:t>https://doc.rust-lang.org/stable/reference/expressions/operator-expr.html</a:t>
            </a:r>
            <a:endParaRPr lang="zh-CN" altLang="en-US" sz="1400" i="1"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83882"/>
    </mc:Choice>
    <mc:Fallback xmlns="">
      <p:transition spd="slow" advTm="8388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76330" y="172159"/>
            <a:ext cx="11340282" cy="1087474"/>
          </a:xfrm>
        </p:spPr>
        <p:txBody>
          <a:bodyPr/>
          <a:lstStyle/>
          <a:p>
            <a:r>
              <a:rPr lang="zh-CN" altLang="en-US" b="1" dirty="0">
                <a:solidFill>
                  <a:srgbClr val="C00000"/>
                </a:solidFill>
                <a:latin typeface="+mn-lt"/>
                <a:ea typeface="+mn-ea"/>
                <a:cs typeface="+mn-ea"/>
                <a:sym typeface="+mn-lt"/>
              </a:rPr>
              <a:t>运算符</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整型溢出</a:t>
            </a:r>
          </a:p>
        </p:txBody>
      </p:sp>
      <p:cxnSp>
        <p:nvCxnSpPr>
          <p:cNvPr id="7" name="直接连接符 6"/>
          <p:cNvCxnSpPr>
            <a:stCxn id="2" idx="1"/>
            <a:endCxn id="2" idx="3"/>
          </p:cNvCxnSpPr>
          <p:nvPr/>
        </p:nvCxnSpPr>
        <p:spPr>
          <a:xfrm>
            <a:off x="276330" y="715896"/>
            <a:ext cx="1134028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33696" y="799855"/>
            <a:ext cx="11425549" cy="1706880"/>
          </a:xfrm>
          <a:prstGeom prst="rect">
            <a:avLst/>
          </a:prstGeom>
        </p:spPr>
        <p:txBody>
          <a:bodyPr wrap="square">
            <a:spAutoFit/>
          </a:bodyPr>
          <a:lstStyle/>
          <a:p>
            <a:pPr defTabSz="914400" eaLnBrk="0" fontAlgn="base" hangingPunct="0">
              <a:lnSpc>
                <a:spcPct val="150000"/>
              </a:lnSpc>
              <a:spcBef>
                <a:spcPct val="0"/>
              </a:spcBef>
              <a:spcAft>
                <a:spcPct val="0"/>
              </a:spcAft>
            </a:pPr>
            <a:r>
              <a:rPr lang="zh-CN" altLang="en-US" sz="1400" b="1" dirty="0">
                <a:cs typeface="+mn-ea"/>
                <a:sym typeface="+mn-lt"/>
              </a:rPr>
              <a:t>整型溢出：</a:t>
            </a:r>
            <a:endParaRPr lang="en-US" altLang="zh-CN" sz="1400" b="1" dirty="0">
              <a:cs typeface="+mn-ea"/>
              <a:sym typeface="+mn-lt"/>
            </a:endParaRPr>
          </a:p>
          <a:p>
            <a:pPr defTabSz="914400" eaLnBrk="0" fontAlgn="base" hangingPunct="0">
              <a:lnSpc>
                <a:spcPct val="150000"/>
              </a:lnSpc>
              <a:spcBef>
                <a:spcPct val="0"/>
              </a:spcBef>
              <a:spcAft>
                <a:spcPct val="0"/>
              </a:spcAft>
            </a:pPr>
            <a:r>
              <a:rPr lang="zh-CN" altLang="en-US" sz="1400" dirty="0">
                <a:cs typeface="+mn-ea"/>
                <a:sym typeface="+mn-lt"/>
              </a:rPr>
              <a:t>当存放的值超过整型类型的范围，则会发生</a:t>
            </a:r>
            <a:r>
              <a:rPr lang="zh-CN" altLang="en-US" sz="1400" b="1" dirty="0">
                <a:cs typeface="+mn-ea"/>
                <a:sym typeface="+mn-lt"/>
              </a:rPr>
              <a:t>整型溢出</a:t>
            </a:r>
            <a:r>
              <a:rPr lang="zh-CN" altLang="en-US" sz="1400" dirty="0">
                <a:cs typeface="+mn-ea"/>
                <a:sym typeface="+mn-lt"/>
              </a:rPr>
              <a:t>。</a:t>
            </a:r>
            <a:endParaRPr lang="en-US" altLang="zh-CN" sz="1400" dirty="0">
              <a:cs typeface="+mn-ea"/>
              <a:sym typeface="+mn-lt"/>
            </a:endParaRPr>
          </a:p>
          <a:p>
            <a:pPr marL="285750" indent="-285750" defTabSz="914400" eaLnBrk="0" fontAlgn="base" hangingPunct="0">
              <a:lnSpc>
                <a:spcPct val="150000"/>
              </a:lnSpc>
              <a:spcBef>
                <a:spcPct val="0"/>
              </a:spcBef>
              <a:spcAft>
                <a:spcPct val="0"/>
              </a:spcAft>
              <a:buFont typeface="Arial" panose="020B0604020202020204" pitchFamily="34" charset="0"/>
              <a:buChar char="•"/>
            </a:pPr>
            <a:r>
              <a:rPr lang="zh-CN" altLang="en-US" sz="1400" dirty="0">
                <a:cs typeface="+mn-ea"/>
                <a:sym typeface="+mn-lt"/>
              </a:rPr>
              <a:t>在 </a:t>
            </a:r>
            <a:r>
              <a:rPr lang="en-US" altLang="zh-CN" sz="1400" dirty="0">
                <a:cs typeface="+mn-ea"/>
                <a:sym typeface="+mn-lt"/>
              </a:rPr>
              <a:t>debug </a:t>
            </a:r>
            <a:r>
              <a:rPr lang="zh-CN" altLang="en-US" sz="1400" dirty="0">
                <a:cs typeface="+mn-ea"/>
                <a:sym typeface="+mn-lt"/>
              </a:rPr>
              <a:t>模式运行时，</a:t>
            </a:r>
            <a:r>
              <a:rPr lang="en-US" altLang="zh-CN" sz="1400" dirty="0">
                <a:cs typeface="+mn-ea"/>
                <a:sym typeface="+mn-lt"/>
              </a:rPr>
              <a:t>Rust </a:t>
            </a:r>
            <a:r>
              <a:rPr lang="zh-CN" altLang="en-US" sz="1400" dirty="0">
                <a:cs typeface="+mn-ea"/>
                <a:sym typeface="+mn-lt"/>
              </a:rPr>
              <a:t>会检查整型溢出，若存在溢出，程序在运行时会发生 </a:t>
            </a:r>
            <a:r>
              <a:rPr lang="en-US" altLang="zh-CN" sz="1400" dirty="0">
                <a:cs typeface="+mn-ea"/>
                <a:sym typeface="+mn-lt"/>
              </a:rPr>
              <a:t>panic</a:t>
            </a:r>
            <a:r>
              <a:rPr lang="zh-CN" altLang="en-US" sz="1400" dirty="0">
                <a:cs typeface="+mn-ea"/>
                <a:sym typeface="+mn-lt"/>
              </a:rPr>
              <a:t>；</a:t>
            </a:r>
            <a:endParaRPr lang="en-US" altLang="zh-CN" sz="1400" dirty="0">
              <a:cs typeface="+mn-ea"/>
              <a:sym typeface="+mn-lt"/>
            </a:endParaRPr>
          </a:p>
          <a:p>
            <a:pPr marL="285750" indent="-285750" defTabSz="914400" eaLnBrk="0" fontAlgn="base" hangingPunct="0">
              <a:lnSpc>
                <a:spcPct val="150000"/>
              </a:lnSpc>
              <a:spcBef>
                <a:spcPct val="0"/>
              </a:spcBef>
              <a:spcAft>
                <a:spcPct val="0"/>
              </a:spcAft>
              <a:buFont typeface="Arial" panose="020B0604020202020204" pitchFamily="34" charset="0"/>
              <a:buChar char="•"/>
            </a:pPr>
            <a:r>
              <a:rPr lang="zh-CN" altLang="en-US" sz="1400" dirty="0">
                <a:cs typeface="+mn-ea"/>
                <a:sym typeface="+mn-lt"/>
              </a:rPr>
              <a:t>在 </a:t>
            </a:r>
            <a:r>
              <a:rPr lang="en-US" altLang="zh-CN" sz="1400" dirty="0">
                <a:cs typeface="+mn-ea"/>
                <a:sym typeface="+mn-lt"/>
              </a:rPr>
              <a:t>release </a:t>
            </a:r>
            <a:r>
              <a:rPr lang="zh-CN" altLang="en-US" sz="1400" dirty="0">
                <a:cs typeface="+mn-ea"/>
                <a:sym typeface="+mn-lt"/>
              </a:rPr>
              <a:t>模式运行时，当发生整型溢出时，</a:t>
            </a:r>
            <a:r>
              <a:rPr lang="en-US" altLang="zh-CN" sz="1400" dirty="0">
                <a:cs typeface="+mn-ea"/>
                <a:sym typeface="+mn-lt"/>
              </a:rPr>
              <a:t>Rust </a:t>
            </a:r>
            <a:r>
              <a:rPr lang="zh-CN" altLang="en-US" sz="1400" dirty="0">
                <a:cs typeface="+mn-ea"/>
                <a:sym typeface="+mn-lt"/>
              </a:rPr>
              <a:t>会按照补码循环溢出的规则处理</a:t>
            </a:r>
            <a:r>
              <a:rPr lang="en-US" altLang="zh-CN" sz="1400" dirty="0">
                <a:cs typeface="+mn-ea"/>
                <a:sym typeface="+mn-lt"/>
              </a:rPr>
              <a:t>(</a:t>
            </a:r>
            <a:r>
              <a:rPr lang="zh-CN" altLang="en-US" sz="1400" dirty="0">
                <a:cs typeface="+mn-ea"/>
                <a:sym typeface="+mn-lt"/>
              </a:rPr>
              <a:t>例如当一个值超过其类型的最大值，它会回绕到该类型的最小值开始计数，例如，如果</a:t>
            </a:r>
            <a:r>
              <a:rPr lang="zh-CN" sz="1400" b="0" u="none" dirty="0">
                <a:solidFill>
                  <a:srgbClr val="111111"/>
                </a:solidFill>
                <a:cs typeface="+mn-ea"/>
                <a:sym typeface="+mn-lt"/>
              </a:rPr>
              <a:t>有一个</a:t>
            </a:r>
            <a:r>
              <a:rPr sz="1400" b="0" u="none" dirty="0">
                <a:cs typeface="+mn-ea"/>
                <a:sym typeface="+mn-lt"/>
              </a:rPr>
              <a:t>u8</a:t>
            </a:r>
            <a:r>
              <a:rPr lang="zh-CN" sz="1400" b="0" u="none" dirty="0">
                <a:solidFill>
                  <a:srgbClr val="111111"/>
                </a:solidFill>
                <a:cs typeface="+mn-ea"/>
                <a:sym typeface="+mn-lt"/>
              </a:rPr>
              <a:t>类型的值</a:t>
            </a:r>
            <a:r>
              <a:rPr sz="1400" b="0" u="none" dirty="0">
                <a:cs typeface="+mn-ea"/>
                <a:sym typeface="+mn-lt"/>
              </a:rPr>
              <a:t>255</a:t>
            </a:r>
            <a:r>
              <a:rPr lang="zh-CN" sz="1400" b="0" u="none" dirty="0">
                <a:solidFill>
                  <a:srgbClr val="111111"/>
                </a:solidFill>
                <a:cs typeface="+mn-ea"/>
                <a:sym typeface="+mn-lt"/>
              </a:rPr>
              <a:t>，给它加上</a:t>
            </a:r>
            <a:r>
              <a:rPr lang="en-US" altLang="zh-CN" sz="1400" b="0" u="none" dirty="0">
                <a:solidFill>
                  <a:srgbClr val="111111"/>
                </a:solidFill>
                <a:cs typeface="+mn-ea"/>
                <a:sym typeface="+mn-lt"/>
              </a:rPr>
              <a:t>2</a:t>
            </a:r>
            <a:r>
              <a:rPr lang="zh-CN" sz="1400" b="0" u="none" dirty="0">
                <a:solidFill>
                  <a:srgbClr val="111111"/>
                </a:solidFill>
                <a:cs typeface="+mn-ea"/>
                <a:sym typeface="+mn-lt"/>
              </a:rPr>
              <a:t>，结果将是</a:t>
            </a:r>
            <a:r>
              <a:rPr lang="en-US" altLang="zh-CN" sz="1400" b="0" u="none" dirty="0">
                <a:solidFill>
                  <a:srgbClr val="111111"/>
                </a:solidFill>
                <a:cs typeface="+mn-ea"/>
                <a:sym typeface="+mn-lt"/>
              </a:rPr>
              <a:t>1</a:t>
            </a:r>
            <a:r>
              <a:rPr lang="en-US" altLang="zh-CN" sz="1400" dirty="0">
                <a:cs typeface="+mn-ea"/>
                <a:sym typeface="+mn-lt"/>
              </a:rPr>
              <a:t>)</a:t>
            </a:r>
            <a:r>
              <a:rPr lang="zh-CN" altLang="en-US" sz="1400" dirty="0">
                <a:cs typeface="+mn-ea"/>
                <a:sym typeface="+mn-lt"/>
              </a:rPr>
              <a:t>；</a:t>
            </a:r>
          </a:p>
        </p:txBody>
      </p:sp>
      <p:grpSp>
        <p:nvGrpSpPr>
          <p:cNvPr id="3" name="组合 2"/>
          <p:cNvGrpSpPr/>
          <p:nvPr/>
        </p:nvGrpSpPr>
        <p:grpSpPr>
          <a:xfrm>
            <a:off x="657444" y="2709122"/>
            <a:ext cx="10953510" cy="2040342"/>
            <a:chOff x="810276" y="1873380"/>
            <a:chExt cx="10953510" cy="2040342"/>
          </a:xfrm>
        </p:grpSpPr>
        <p:sp>
          <p:nvSpPr>
            <p:cNvPr id="5" name="文本框 4"/>
            <p:cNvSpPr txBox="1"/>
            <p:nvPr/>
          </p:nvSpPr>
          <p:spPr>
            <a:xfrm>
              <a:off x="810276" y="1873380"/>
              <a:ext cx="3185201" cy="2040342"/>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no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sz="1400" b="0" u="none" dirty="0" err="1">
                  <a:solidFill>
                    <a:srgbClr val="C678DD"/>
                  </a:solidFill>
                  <a:cs typeface="+mn-ea"/>
                  <a:sym typeface="+mn-lt"/>
                </a:rPr>
                <a:t>fn</a:t>
              </a:r>
              <a:r>
                <a:rPr lang="en-US" sz="1400" b="0" u="none" dirty="0">
                  <a:solidFill>
                    <a:srgbClr val="ABB2BF"/>
                  </a:solidFill>
                  <a:cs typeface="+mn-ea"/>
                  <a:sym typeface="+mn-lt"/>
                </a:rPr>
                <a:t> </a:t>
              </a:r>
              <a:r>
                <a:rPr lang="en-US" sz="1400" b="0" u="none" dirty="0">
                  <a:solidFill>
                    <a:srgbClr val="61AFEF"/>
                  </a:solidFill>
                  <a:cs typeface="+mn-ea"/>
                  <a:sym typeface="+mn-lt"/>
                </a:rPr>
                <a:t>main</a:t>
              </a:r>
              <a:r>
                <a:rPr lang="en-US" sz="1400" b="0" u="none" dirty="0">
                  <a:solidFill>
                    <a:srgbClr val="ABB2BF"/>
                  </a:solidFill>
                  <a:cs typeface="+mn-ea"/>
                  <a:sym typeface="+mn-lt"/>
                </a:rPr>
                <a:t>() {</a:t>
              </a:r>
              <a:endParaRPr lang="en-US" sz="1400" b="0" i="1" u="none" dirty="0">
                <a:solidFill>
                  <a:srgbClr val="7F848E"/>
                </a:solidFill>
                <a:cs typeface="+mn-ea"/>
                <a:sym typeface="+mn-lt"/>
              </a:endParaRPr>
            </a:p>
            <a:p>
              <a:r>
                <a:rPr lang="en-US" sz="1400" b="0" i="1" u="none" dirty="0">
                  <a:solidFill>
                    <a:srgbClr val="7F848E"/>
                  </a:solidFill>
                  <a:cs typeface="+mn-ea"/>
                  <a:sym typeface="+mn-lt"/>
                </a:rPr>
                <a:t>    </a:t>
              </a:r>
              <a:r>
                <a:rPr lang="zh-CN" sz="1400" b="0" i="1" u="none" dirty="0">
                  <a:solidFill>
                    <a:srgbClr val="7F848E"/>
                  </a:solidFill>
                  <a:cs typeface="+mn-ea"/>
                  <a:sym typeface="+mn-lt"/>
                </a:rPr>
                <a:t>// mut 表示变量 a 是可修改的</a:t>
              </a:r>
              <a:endParaRPr lang="en-US" sz="1400" b="0" i="1" u="none" dirty="0">
                <a:solidFill>
                  <a:srgbClr val="7F848E"/>
                </a:solidFill>
                <a:cs typeface="+mn-ea"/>
                <a:sym typeface="+mn-lt"/>
              </a:endParaRPr>
            </a:p>
            <a:p>
              <a:r>
                <a:rPr lang="en-US" sz="1400" b="0" i="1" u="none" dirty="0">
                  <a:solidFill>
                    <a:srgbClr val="7F848E"/>
                  </a:solidFill>
                  <a:cs typeface="+mn-ea"/>
                  <a:sym typeface="+mn-lt"/>
                </a:rPr>
                <a:t>    </a:t>
              </a:r>
              <a:r>
                <a:rPr lang="zh-CN" sz="1400" b="0" i="1" u="none" dirty="0">
                  <a:solidFill>
                    <a:srgbClr val="7F848E"/>
                  </a:solidFill>
                  <a:cs typeface="+mn-ea"/>
                  <a:sym typeface="+mn-lt"/>
                </a:rPr>
                <a:t>// 未加 mut 默认是不可修改的</a:t>
              </a:r>
              <a:endParaRPr lang="en-US" sz="1400" b="0" u="none" dirty="0">
                <a:solidFill>
                  <a:srgbClr val="ABB2BF"/>
                </a:solidFill>
                <a:cs typeface="+mn-ea"/>
                <a:sym typeface="+mn-lt"/>
              </a:endParaRP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a</a:t>
              </a:r>
              <a:r>
                <a:rPr lang="en-US" sz="1400" b="0" u="none" dirty="0">
                  <a:solidFill>
                    <a:srgbClr val="ABB2BF"/>
                  </a:solidFill>
                  <a:cs typeface="+mn-ea"/>
                  <a:sym typeface="+mn-lt"/>
                </a:rPr>
                <a:t>: </a:t>
              </a:r>
              <a:r>
                <a:rPr lang="en-US" sz="1400" b="0" u="none" dirty="0">
                  <a:solidFill>
                    <a:srgbClr val="E5C07B"/>
                  </a:solidFill>
                  <a:cs typeface="+mn-ea"/>
                  <a:sym typeface="+mn-lt"/>
                </a:rPr>
                <a:t>u8</a:t>
              </a:r>
              <a:r>
                <a:rPr lang="en-US" sz="1400" b="0" u="none" dirty="0">
                  <a:solidFill>
                    <a:srgbClr val="ABB2BF"/>
                  </a:solidFill>
                  <a:cs typeface="+mn-ea"/>
                  <a:sym typeface="+mn-lt"/>
                </a:rPr>
                <a:t> = </a:t>
              </a:r>
              <a:r>
                <a:rPr lang="en-US" sz="1400" b="0" u="none" dirty="0">
                  <a:solidFill>
                    <a:srgbClr val="D19A66"/>
                  </a:solidFill>
                  <a:cs typeface="+mn-ea"/>
                  <a:sym typeface="+mn-lt"/>
                </a:rPr>
                <a:t>255</a:t>
              </a:r>
              <a:r>
                <a:rPr lang="en-US" sz="1400" b="0" u="none" dirty="0">
                  <a:solidFill>
                    <a:srgbClr val="ABB2BF"/>
                  </a:solidFill>
                  <a:cs typeface="+mn-ea"/>
                  <a:sym typeface="+mn-lt"/>
                </a:rPr>
                <a:t>;</a:t>
              </a:r>
              <a:endParaRPr lang="en-US" sz="1400" b="0" i="1" u="none" dirty="0">
                <a:solidFill>
                  <a:srgbClr val="7F848E"/>
                </a:solidFill>
                <a:cs typeface="+mn-ea"/>
                <a:sym typeface="+mn-lt"/>
              </a:endParaRPr>
            </a:p>
            <a:p>
              <a:r>
                <a:rPr lang="en-US" sz="1400" b="0" i="1" u="none" dirty="0">
                  <a:solidFill>
                    <a:srgbClr val="7F848E"/>
                  </a:solidFill>
                  <a:cs typeface="+mn-ea"/>
                  <a:sym typeface="+mn-lt"/>
                </a:rPr>
                <a:t>    </a:t>
              </a:r>
              <a:r>
                <a:rPr lang="zh-CN" sz="1400" b="0" i="1" u="none" dirty="0">
                  <a:solidFill>
                    <a:srgbClr val="7F848E"/>
                  </a:solidFill>
                  <a:cs typeface="+mn-ea"/>
                  <a:sym typeface="+mn-lt"/>
                </a:rPr>
                <a:t>// 整数溢出</a:t>
              </a:r>
              <a:endParaRPr lang="en-US" sz="1400" b="0" u="none" dirty="0">
                <a:solidFill>
                  <a:srgbClr val="ABB2BF"/>
                </a:solidFill>
                <a:cs typeface="+mn-ea"/>
                <a:sym typeface="+mn-lt"/>
              </a:endParaRPr>
            </a:p>
            <a:p>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a</a:t>
              </a:r>
              <a:r>
                <a:rPr lang="en-US" sz="1400" b="0" u="none" dirty="0">
                  <a:solidFill>
                    <a:srgbClr val="ABB2BF"/>
                  </a:solidFill>
                  <a:cs typeface="+mn-ea"/>
                  <a:sym typeface="+mn-lt"/>
                </a:rPr>
                <a:t> = </a:t>
              </a:r>
              <a:r>
                <a:rPr lang="en-US" sz="1400" b="0" u="none" dirty="0">
                  <a:solidFill>
                    <a:srgbClr val="E06C75"/>
                  </a:solidFill>
                  <a:uFill>
                    <a:solidFill>
                      <a:srgbClr val="000000"/>
                    </a:solidFill>
                  </a:uFill>
                  <a:cs typeface="+mn-ea"/>
                  <a:sym typeface="+mn-lt"/>
                </a:rPr>
                <a:t>a</a:t>
              </a:r>
              <a:r>
                <a:rPr lang="en-US" sz="1400" b="0" u="none" dirty="0">
                  <a:solidFill>
                    <a:srgbClr val="ABB2BF"/>
                  </a:solidFill>
                  <a:cs typeface="+mn-ea"/>
                  <a:sym typeface="+mn-lt"/>
                </a:rPr>
                <a:t> + </a:t>
              </a:r>
              <a:r>
                <a:rPr lang="en-US" sz="1400" b="0" u="none" dirty="0">
                  <a:solidFill>
                    <a:srgbClr val="D19A66"/>
                  </a:solidFill>
                  <a:cs typeface="+mn-ea"/>
                  <a:sym typeface="+mn-lt"/>
                </a:rPr>
                <a:t>100</a:t>
              </a:r>
              <a:r>
                <a:rPr lang="en-US" sz="1400" b="0" u="none" dirty="0">
                  <a:solidFill>
                    <a:srgbClr val="ABB2BF"/>
                  </a:solidFill>
                  <a:cs typeface="+mn-ea"/>
                  <a:sym typeface="+mn-lt"/>
                </a:rPr>
                <a:t>;</a:t>
              </a:r>
            </a:p>
            <a:p>
              <a:r>
                <a:rPr lang="en-US" sz="1400" b="0" u="none" dirty="0">
                  <a:solidFill>
                    <a:srgbClr val="ABB2BF"/>
                  </a:solidFill>
                  <a:cs typeface="+mn-ea"/>
                  <a:sym typeface="+mn-lt"/>
                </a:rPr>
                <a:t>    </a:t>
              </a:r>
              <a:r>
                <a:rPr lang="en-US" sz="1400" b="0" u="none" dirty="0" err="1">
                  <a:solidFill>
                    <a:srgbClr val="D19A66"/>
                  </a:solidFill>
                  <a:cs typeface="+mn-ea"/>
                  <a:sym typeface="+mn-lt"/>
                </a:rPr>
                <a:t>assert_eq</a:t>
              </a:r>
              <a:r>
                <a:rPr lang="en-US" sz="1400" b="0" u="none" dirty="0">
                  <a:solidFill>
                    <a:srgbClr val="D19A66"/>
                  </a:solidFill>
                  <a:cs typeface="+mn-ea"/>
                  <a:sym typeface="+mn-lt"/>
                </a:rPr>
                <a:t>!</a:t>
              </a:r>
              <a:r>
                <a:rPr lang="en-US" sz="1400" b="0" u="none" dirty="0">
                  <a:solidFill>
                    <a:srgbClr val="ABB2BF"/>
                  </a:solidFill>
                  <a:cs typeface="+mn-ea"/>
                  <a:sym typeface="+mn-lt"/>
                </a:rPr>
                <a:t>(</a:t>
              </a:r>
              <a:r>
                <a:rPr lang="en-US" sz="1400" b="0" u="none" dirty="0">
                  <a:solidFill>
                    <a:srgbClr val="E06C75"/>
                  </a:solidFill>
                  <a:uFill>
                    <a:solidFill>
                      <a:srgbClr val="000000"/>
                    </a:solidFill>
                  </a:uFill>
                  <a:cs typeface="+mn-ea"/>
                  <a:sym typeface="+mn-lt"/>
                </a:rPr>
                <a:t>a</a:t>
              </a:r>
              <a:r>
                <a:rPr lang="en-US" sz="1400" b="0" u="none" dirty="0">
                  <a:solidFill>
                    <a:srgbClr val="ABB2BF"/>
                  </a:solidFill>
                  <a:cs typeface="+mn-ea"/>
                  <a:sym typeface="+mn-lt"/>
                </a:rPr>
                <a:t>, </a:t>
              </a:r>
              <a:r>
                <a:rPr lang="en-US" sz="1400" b="0" u="none" dirty="0">
                  <a:solidFill>
                    <a:srgbClr val="D19A66"/>
                  </a:solidFill>
                  <a:cs typeface="+mn-ea"/>
                  <a:sym typeface="+mn-lt"/>
                </a:rPr>
                <a:t>99</a:t>
              </a:r>
              <a:r>
                <a:rPr lang="en-US" sz="1400" b="0" u="none" dirty="0">
                  <a:solidFill>
                    <a:srgbClr val="ABB2BF"/>
                  </a:solidFill>
                  <a:cs typeface="+mn-ea"/>
                  <a:sym typeface="+mn-lt"/>
                </a:rPr>
                <a:t>);</a:t>
              </a:r>
            </a:p>
            <a:p>
              <a:r>
                <a:rPr lang="en-US" sz="1400" b="0" u="none" dirty="0">
                  <a:solidFill>
                    <a:srgbClr val="ABB2BF"/>
                  </a:solidFill>
                  <a:cs typeface="+mn-ea"/>
                  <a:sym typeface="+mn-lt"/>
                </a:rPr>
                <a:t>}</a:t>
              </a:r>
              <a:endParaRPr lang="en-US" altLang="zh-CN" sz="1400" b="0" u="none" dirty="0">
                <a:solidFill>
                  <a:srgbClr val="ABB2BF"/>
                </a:solidFill>
                <a:effectLst/>
                <a:cs typeface="+mn-ea"/>
                <a:sym typeface="+mn-lt"/>
              </a:endParaRPr>
            </a:p>
          </p:txBody>
        </p:sp>
        <p:sp>
          <p:nvSpPr>
            <p:cNvPr id="12" name="右箭头 11"/>
            <p:cNvSpPr/>
            <p:nvPr/>
          </p:nvSpPr>
          <p:spPr>
            <a:xfrm>
              <a:off x="4146862" y="2222910"/>
              <a:ext cx="1323975" cy="438150"/>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cs typeface="+mn-ea"/>
                  <a:sym typeface="+mn-lt"/>
                </a:rPr>
                <a:t>Debug</a:t>
              </a:r>
              <a:r>
                <a:rPr lang="zh-CN" altLang="en-US" sz="1400" dirty="0">
                  <a:solidFill>
                    <a:schemeClr val="tx1"/>
                  </a:solidFill>
                  <a:cs typeface="+mn-ea"/>
                  <a:sym typeface="+mn-lt"/>
                </a:rPr>
                <a:t>模式</a:t>
              </a:r>
            </a:p>
          </p:txBody>
        </p:sp>
        <p:pic>
          <p:nvPicPr>
            <p:cNvPr id="13" name="图片 12"/>
            <p:cNvPicPr>
              <a:picLocks noChangeAspect="1"/>
            </p:cNvPicPr>
            <p:nvPr/>
          </p:nvPicPr>
          <p:blipFill>
            <a:blip r:embed="rId3"/>
            <a:stretch>
              <a:fillRect/>
            </a:stretch>
          </p:blipFill>
          <p:spPr>
            <a:xfrm>
              <a:off x="5574746" y="1981097"/>
              <a:ext cx="6189040" cy="884148"/>
            </a:xfrm>
            <a:prstGeom prst="rect">
              <a:avLst/>
            </a:prstGeom>
          </p:spPr>
        </p:pic>
        <p:pic>
          <p:nvPicPr>
            <p:cNvPr id="14" name="图片 13"/>
            <p:cNvPicPr>
              <a:picLocks noChangeAspect="1"/>
            </p:cNvPicPr>
            <p:nvPr/>
          </p:nvPicPr>
          <p:blipFill>
            <a:blip r:embed="rId4"/>
            <a:stretch>
              <a:fillRect/>
            </a:stretch>
          </p:blipFill>
          <p:spPr>
            <a:xfrm>
              <a:off x="5565504" y="3381872"/>
              <a:ext cx="4162425" cy="485775"/>
            </a:xfrm>
            <a:prstGeom prst="rect">
              <a:avLst/>
            </a:prstGeom>
          </p:spPr>
        </p:pic>
        <p:sp>
          <p:nvSpPr>
            <p:cNvPr id="15" name="右箭头 14"/>
            <p:cNvSpPr/>
            <p:nvPr/>
          </p:nvSpPr>
          <p:spPr>
            <a:xfrm>
              <a:off x="4146862" y="3418017"/>
              <a:ext cx="1323975" cy="438150"/>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cs typeface="+mn-ea"/>
                  <a:sym typeface="+mn-lt"/>
                </a:rPr>
                <a:t>Release</a:t>
              </a:r>
              <a:r>
                <a:rPr lang="zh-CN" altLang="en-US" sz="1400" dirty="0">
                  <a:solidFill>
                    <a:schemeClr val="tx1"/>
                  </a:solidFill>
                  <a:cs typeface="+mn-ea"/>
                  <a:sym typeface="+mn-lt"/>
                </a:rPr>
                <a:t>模式</a:t>
              </a:r>
            </a:p>
          </p:txBody>
        </p:sp>
      </p:grpSp>
    </p:spTree>
  </p:cSld>
  <p:clrMapOvr>
    <a:masterClrMapping/>
  </p:clrMapOvr>
  <mc:AlternateContent xmlns:mc="http://schemas.openxmlformats.org/markup-compatibility/2006" xmlns:p14="http://schemas.microsoft.com/office/powerpoint/2010/main">
    <mc:Choice Requires="p14">
      <p:transition spd="slow" p14:dur="2000" advTm="60241"/>
    </mc:Choice>
    <mc:Fallback xmlns="">
      <p:transition spd="slow" advTm="6024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91591" y="134886"/>
            <a:ext cx="10740640" cy="510517"/>
          </a:xfrm>
        </p:spPr>
        <p:txBody>
          <a:bodyPr/>
          <a:lstStyle/>
          <a:p>
            <a:r>
              <a:rPr lang="en-US" altLang="zh-CN" b="1" dirty="0">
                <a:solidFill>
                  <a:srgbClr val="C00000"/>
                </a:solidFill>
                <a:latin typeface="+mn-lt"/>
                <a:ea typeface="+mn-ea"/>
                <a:cs typeface="+mn-ea"/>
                <a:sym typeface="+mn-lt"/>
              </a:rPr>
              <a:t>never</a:t>
            </a:r>
            <a:r>
              <a:rPr lang="zh-CN" altLang="en-US" b="1" dirty="0">
                <a:solidFill>
                  <a:srgbClr val="C00000"/>
                </a:solidFill>
                <a:latin typeface="+mn-lt"/>
                <a:ea typeface="+mn-ea"/>
                <a:cs typeface="+mn-ea"/>
                <a:sym typeface="+mn-lt"/>
              </a:rPr>
              <a:t>类型</a:t>
            </a:r>
          </a:p>
        </p:txBody>
      </p:sp>
      <p:cxnSp>
        <p:nvCxnSpPr>
          <p:cNvPr id="6" name="直接连接符 5"/>
          <p:cNvCxnSpPr/>
          <p:nvPr/>
        </p:nvCxnSpPr>
        <p:spPr>
          <a:xfrm>
            <a:off x="291591" y="634919"/>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291591" y="697720"/>
            <a:ext cx="10740640" cy="423514"/>
          </a:xfrm>
          <a:prstGeom prst="rect">
            <a:avLst/>
          </a:prstGeom>
        </p:spPr>
        <p:txBody>
          <a:bodyPr wrap="square">
            <a:spAutoFit/>
          </a:bodyPr>
          <a:lstStyle/>
          <a:p>
            <a:pPr lvl="0" defTabSz="1219200">
              <a:lnSpc>
                <a:spcPct val="150000"/>
              </a:lnSpc>
              <a:defRPr/>
            </a:pPr>
            <a:r>
              <a:rPr lang="en-US" altLang="zh-CN" sz="1600" dirty="0">
                <a:cs typeface="+mn-ea"/>
                <a:sym typeface="+mn-lt"/>
              </a:rPr>
              <a:t>Rust </a:t>
            </a:r>
            <a:r>
              <a:rPr lang="zh-CN" altLang="en-US" sz="1600" dirty="0">
                <a:cs typeface="+mn-ea"/>
                <a:sym typeface="+mn-lt"/>
              </a:rPr>
              <a:t>有一个叫做 </a:t>
            </a:r>
            <a:r>
              <a:rPr lang="en-US" altLang="zh-CN" sz="1600" dirty="0">
                <a:cs typeface="+mn-ea"/>
                <a:sym typeface="+mn-lt"/>
              </a:rPr>
              <a:t>!</a:t>
            </a:r>
            <a:r>
              <a:rPr lang="zh-CN" altLang="en-US" sz="1600" dirty="0">
                <a:cs typeface="+mn-ea"/>
                <a:sym typeface="+mn-lt"/>
              </a:rPr>
              <a:t> 的特殊类型，它被称之为 </a:t>
            </a:r>
            <a:r>
              <a:rPr lang="en-US" altLang="zh-CN" sz="1600" i="1" dirty="0">
                <a:cs typeface="+mn-ea"/>
                <a:sym typeface="+mn-lt"/>
              </a:rPr>
              <a:t>never type</a:t>
            </a:r>
            <a:r>
              <a:rPr lang="zh-CN" altLang="en-US" sz="1600" dirty="0">
                <a:cs typeface="+mn-ea"/>
                <a:sym typeface="+mn-lt"/>
              </a:rPr>
              <a:t>。</a:t>
            </a:r>
            <a:endParaRPr lang="en-US" altLang="zh-CN" sz="1600" dirty="0">
              <a:cs typeface="+mn-ea"/>
              <a:sym typeface="+mn-lt"/>
            </a:endParaRPr>
          </a:p>
        </p:txBody>
      </p:sp>
      <p:sp>
        <p:nvSpPr>
          <p:cNvPr id="9" name="文本框 8"/>
          <p:cNvSpPr txBox="1"/>
          <p:nvPr/>
        </p:nvSpPr>
        <p:spPr>
          <a:xfrm>
            <a:off x="2838315" y="3314762"/>
            <a:ext cx="5075693" cy="1815882"/>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chemeClr val="bg2"/>
                </a:solidFill>
                <a:cs typeface="+mn-ea"/>
                <a:sym typeface="+mn-lt"/>
              </a:rPr>
              <a:t>// </a:t>
            </a:r>
            <a:r>
              <a:rPr lang="en-US" altLang="zh-CN" sz="1400" b="1" dirty="0">
                <a:solidFill>
                  <a:srgbClr val="00B050"/>
                </a:solidFill>
                <a:cs typeface="+mn-ea"/>
                <a:sym typeface="+mn-lt"/>
              </a:rPr>
              <a:t>loop</a:t>
            </a:r>
            <a:r>
              <a:rPr lang="zh-CN" altLang="en-US" sz="1400" b="1" dirty="0">
                <a:solidFill>
                  <a:srgbClr val="00B050"/>
                </a:solidFill>
                <a:cs typeface="+mn-ea"/>
                <a:sym typeface="+mn-lt"/>
              </a:rPr>
              <a:t>表达式一直执行，表达式的值为</a:t>
            </a:r>
            <a:r>
              <a:rPr lang="en-US" altLang="zh-CN" sz="1400" b="1" dirty="0">
                <a:solidFill>
                  <a:srgbClr val="00B050"/>
                </a:solidFill>
                <a:cs typeface="+mn-ea"/>
                <a:sym typeface="+mn-lt"/>
              </a:rPr>
              <a:t>never</a:t>
            </a:r>
            <a:r>
              <a:rPr lang="zh-CN" altLang="en-US" sz="1400" b="1" dirty="0">
                <a:solidFill>
                  <a:srgbClr val="00B050"/>
                </a:solidFill>
                <a:cs typeface="+mn-ea"/>
                <a:sym typeface="+mn-lt"/>
              </a:rPr>
              <a:t>类型</a:t>
            </a:r>
            <a:endParaRPr lang="en-US" altLang="zh-CN" sz="1400" b="1" dirty="0">
              <a:solidFill>
                <a:srgbClr val="00B050"/>
              </a:solidFill>
              <a:cs typeface="+mn-ea"/>
              <a:sym typeface="+mn-lt"/>
            </a:endParaRPr>
          </a:p>
          <a:p>
            <a:r>
              <a:rPr lang="en-US" altLang="zh-CN" sz="1400" i="1" dirty="0">
                <a:solidFill>
                  <a:srgbClr val="7F848E"/>
                </a:solidFill>
                <a:cs typeface="+mn-ea"/>
                <a:sym typeface="+mn-lt"/>
              </a:rPr>
              <a:t>// loop</a:t>
            </a:r>
            <a:r>
              <a:rPr lang="zh-CN" altLang="en-US" sz="1400" i="1" dirty="0">
                <a:solidFill>
                  <a:srgbClr val="7F848E"/>
                </a:solidFill>
                <a:cs typeface="+mn-ea"/>
                <a:sym typeface="+mn-lt"/>
              </a:rPr>
              <a:t>为循环关键字，代码块将一直执行，直到程序退出</a:t>
            </a:r>
            <a:endParaRPr lang="en-US" altLang="zh-CN" sz="1400" b="1" dirty="0">
              <a:solidFill>
                <a:srgbClr val="00B050"/>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61AFEF"/>
                </a:solidFill>
                <a:cs typeface="+mn-ea"/>
                <a:sym typeface="+mn-lt"/>
              </a:rPr>
              <a:t>print!</a:t>
            </a:r>
            <a:r>
              <a:rPr lang="en-US" altLang="zh-CN" sz="1400" dirty="0">
                <a:solidFill>
                  <a:srgbClr val="ABB2BF"/>
                </a:solidFill>
                <a:cs typeface="+mn-ea"/>
                <a:sym typeface="+mn-lt"/>
              </a:rPr>
              <a:t>(</a:t>
            </a:r>
            <a:r>
              <a:rPr lang="en-US" altLang="zh-CN" sz="1400" dirty="0">
                <a:solidFill>
                  <a:srgbClr val="98C379"/>
                </a:solidFill>
                <a:cs typeface="+mn-ea"/>
                <a:sym typeface="+mn-lt"/>
              </a:rPr>
              <a:t>"forever "</a:t>
            </a:r>
            <a:r>
              <a:rPr lang="en-US" altLang="zh-CN" sz="1400" dirty="0">
                <a:solidFill>
                  <a:srgbClr val="ABB2BF"/>
                </a:solidFill>
                <a:cs typeface="+mn-ea"/>
                <a:sym typeface="+mn-lt"/>
              </a:rPr>
              <a:t>);</a:t>
            </a:r>
            <a:br>
              <a:rPr lang="en-US" altLang="zh-CN" sz="1400" dirty="0">
                <a:solidFill>
                  <a:srgbClr val="ABB2BF"/>
                </a:solidFill>
                <a:cs typeface="+mn-ea"/>
                <a:sym typeface="+mn-lt"/>
              </a:rPr>
            </a:br>
            <a:r>
              <a:rPr lang="en-US" altLang="zh-CN" sz="1400" dirty="0">
                <a:solidFill>
                  <a:srgbClr val="ABB2BF"/>
                </a:solidFill>
                <a:cs typeface="+mn-ea"/>
                <a:sym typeface="+mn-lt"/>
              </a:rPr>
              <a:t>    </a:t>
            </a:r>
            <a:r>
              <a:rPr lang="en-US" altLang="zh-CN" sz="1400" dirty="0">
                <a:solidFill>
                  <a:srgbClr val="C678DD"/>
                </a:solidFill>
                <a:cs typeface="+mn-ea"/>
                <a:sym typeface="+mn-lt"/>
              </a:rPr>
              <a:t>loop</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61AFEF"/>
                </a:solidFill>
                <a:cs typeface="+mn-ea"/>
                <a:sym typeface="+mn-lt"/>
              </a:rPr>
              <a:t>print!</a:t>
            </a:r>
            <a:r>
              <a:rPr lang="en-US" altLang="zh-CN" sz="1400" dirty="0">
                <a:solidFill>
                  <a:srgbClr val="ABB2BF"/>
                </a:solidFill>
                <a:cs typeface="+mn-ea"/>
                <a:sym typeface="+mn-lt"/>
              </a:rPr>
              <a:t>(</a:t>
            </a:r>
            <a:r>
              <a:rPr lang="en-US" altLang="zh-CN" sz="1400" dirty="0">
                <a:solidFill>
                  <a:srgbClr val="98C379"/>
                </a:solidFill>
                <a:cs typeface="+mn-ea"/>
                <a:sym typeface="+mn-lt"/>
              </a:rPr>
              <a:t>"and ever "</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10" name="文本框 9"/>
          <p:cNvSpPr txBox="1"/>
          <p:nvPr/>
        </p:nvSpPr>
        <p:spPr>
          <a:xfrm>
            <a:off x="2838315" y="1571857"/>
            <a:ext cx="5075693" cy="1169551"/>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i="1" dirty="0">
                <a:solidFill>
                  <a:srgbClr val="7F848E"/>
                </a:solidFill>
                <a:cs typeface="+mn-ea"/>
                <a:sym typeface="+mn-lt"/>
              </a:rPr>
              <a:t>// panic!</a:t>
            </a:r>
            <a:r>
              <a:rPr lang="zh-CN" altLang="en-US" sz="1400" i="1" dirty="0">
                <a:solidFill>
                  <a:srgbClr val="7F848E"/>
                </a:solidFill>
                <a:cs typeface="+mn-ea"/>
                <a:sym typeface="+mn-lt"/>
              </a:rPr>
              <a:t>返回的类型为 </a:t>
            </a:r>
            <a:r>
              <a:rPr lang="en-US" altLang="zh-CN" sz="1400" i="1" dirty="0">
                <a:solidFill>
                  <a:srgbClr val="7F848E"/>
                </a:solidFill>
                <a:cs typeface="+mn-ea"/>
                <a:sym typeface="+mn-lt"/>
              </a:rPr>
              <a:t>never </a:t>
            </a:r>
            <a:r>
              <a:rPr lang="zh-CN" altLang="en-US" sz="1400" i="1" dirty="0">
                <a:solidFill>
                  <a:srgbClr val="7F848E"/>
                </a:solidFill>
                <a:cs typeface="+mn-ea"/>
                <a:sym typeface="+mn-lt"/>
              </a:rPr>
              <a:t>类型</a:t>
            </a:r>
            <a:endParaRPr lang="en-US" altLang="zh-CN" sz="1400" i="1" dirty="0">
              <a:solidFill>
                <a:srgbClr val="7F848E"/>
              </a:solidFill>
              <a:cs typeface="+mn-ea"/>
              <a:sym typeface="+mn-lt"/>
            </a:endParaRPr>
          </a:p>
          <a:p>
            <a:r>
              <a:rPr lang="en-US" altLang="zh-CN" sz="1400" i="1" dirty="0">
                <a:solidFill>
                  <a:srgbClr val="7F848E"/>
                </a:solidFill>
                <a:cs typeface="+mn-ea"/>
                <a:sym typeface="+mn-lt"/>
              </a:rPr>
              <a:t>// </a:t>
            </a:r>
            <a:r>
              <a:rPr lang="zh-CN" altLang="en-US" sz="1400" i="1" dirty="0">
                <a:solidFill>
                  <a:srgbClr val="7F848E"/>
                </a:solidFill>
                <a:cs typeface="+mn-ea"/>
                <a:sym typeface="+mn-lt"/>
              </a:rPr>
              <a:t>通过显示调用</a:t>
            </a:r>
            <a:r>
              <a:rPr lang="en-US" altLang="zh-CN" sz="1400" i="1" dirty="0">
                <a:solidFill>
                  <a:srgbClr val="7F848E"/>
                </a:solidFill>
                <a:cs typeface="+mn-ea"/>
                <a:sym typeface="+mn-lt"/>
              </a:rPr>
              <a:t>panic</a:t>
            </a:r>
            <a:r>
              <a:rPr lang="zh-CN" altLang="en-US" sz="1400" i="1" dirty="0">
                <a:solidFill>
                  <a:srgbClr val="7F848E"/>
                </a:solidFill>
                <a:cs typeface="+mn-ea"/>
                <a:sym typeface="+mn-lt"/>
              </a:rPr>
              <a:t>宏会导致程序停止执行并输出错误信息</a:t>
            </a:r>
            <a:endParaRPr lang="en-US" altLang="zh-CN" sz="1400" i="1" dirty="0">
              <a:solidFill>
                <a:srgbClr val="7F848E"/>
              </a:solidFill>
              <a:cs typeface="+mn-ea"/>
              <a:sym typeface="+mn-lt"/>
            </a:endParaRP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61AFEF"/>
                </a:solidFill>
                <a:cs typeface="+mn-ea"/>
                <a:sym typeface="+mn-lt"/>
              </a:rPr>
              <a:t>panic!</a:t>
            </a:r>
            <a:r>
              <a:rPr lang="en-US" altLang="zh-CN" sz="1400" dirty="0">
                <a:solidFill>
                  <a:srgbClr val="ABB2BF"/>
                </a:solidFill>
                <a:cs typeface="+mn-ea"/>
                <a:sym typeface="+mn-lt"/>
              </a:rPr>
              <a:t>();</a:t>
            </a:r>
          </a:p>
          <a:p>
            <a:r>
              <a:rPr lang="en-US" altLang="zh-CN" sz="1400" i="1" dirty="0">
                <a:solidFill>
                  <a:srgbClr val="7F848E"/>
                </a:solidFill>
                <a:cs typeface="+mn-ea"/>
                <a:sym typeface="+mn-lt"/>
              </a:rPr>
              <a:t>// </a:t>
            </a:r>
            <a:r>
              <a:rPr lang="zh-CN" altLang="en-US" sz="1400" i="1" dirty="0">
                <a:solidFill>
                  <a:srgbClr val="7F848E"/>
                </a:solidFill>
                <a:cs typeface="+mn-ea"/>
                <a:sym typeface="+mn-lt"/>
              </a:rPr>
              <a:t>可以强转为任何类型</a:t>
            </a:r>
            <a:endParaRPr lang="zh-CN" altLang="en-US" sz="1400" dirty="0">
              <a:solidFill>
                <a:srgbClr val="ABB2BF"/>
              </a:solidFill>
              <a:cs typeface="+mn-ea"/>
              <a:sym typeface="+mn-lt"/>
            </a:endParaRP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u32</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52999"/>
    </mc:Choice>
    <mc:Fallback xmlns="">
      <p:transition spd="slow" advTm="5299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表达式和流程控制</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条件表达式</a:t>
            </a:r>
          </a:p>
        </p:txBody>
      </p:sp>
      <p:sp>
        <p:nvSpPr>
          <p:cNvPr id="7" name="内容占位符 2"/>
          <p:cNvSpPr>
            <a:spLocks noGrp="1"/>
          </p:cNvSpPr>
          <p:nvPr>
            <p:ph idx="10"/>
          </p:nvPr>
        </p:nvSpPr>
        <p:spPr>
          <a:xfrm>
            <a:off x="319872" y="737622"/>
            <a:ext cx="5314574" cy="1413810"/>
          </a:xfrm>
        </p:spPr>
        <p:txBody>
          <a:bodyPr/>
          <a:lstStyle/>
          <a:p>
            <a:pPr>
              <a:lnSpc>
                <a:spcPct val="150000"/>
              </a:lnSpc>
            </a:pPr>
            <a:r>
              <a:rPr lang="zh-CN" altLang="en-US" sz="1600" b="1" dirty="0">
                <a:latin typeface="+mn-lt"/>
                <a:ea typeface="+mn-ea"/>
                <a:cs typeface="+mn-ea"/>
                <a:sym typeface="+mn-lt"/>
              </a:rPr>
              <a:t>条件表达式：</a:t>
            </a:r>
            <a:endParaRPr lang="en-US" altLang="zh-CN" sz="1600" b="1" dirty="0">
              <a:latin typeface="+mn-lt"/>
              <a:ea typeface="+mn-ea"/>
              <a:cs typeface="+mn-ea"/>
              <a:sym typeface="+mn-lt"/>
            </a:endParaRPr>
          </a:p>
          <a:p>
            <a:pPr marL="811530" lvl="1" indent="-285750">
              <a:lnSpc>
                <a:spcPct val="150000"/>
              </a:lnSpc>
              <a:spcBef>
                <a:spcPts val="0"/>
              </a:spcBef>
            </a:pPr>
            <a:r>
              <a:rPr lang="en-US" altLang="zh-CN" sz="1600" dirty="0">
                <a:cs typeface="+mn-ea"/>
                <a:sym typeface="+mn-lt"/>
              </a:rPr>
              <a:t>if</a:t>
            </a:r>
          </a:p>
          <a:p>
            <a:pPr marL="811530" lvl="1" indent="-285750">
              <a:lnSpc>
                <a:spcPct val="150000"/>
              </a:lnSpc>
              <a:spcBef>
                <a:spcPts val="0"/>
              </a:spcBef>
            </a:pPr>
            <a:r>
              <a:rPr lang="en-US" altLang="zh-CN" sz="1600" dirty="0">
                <a:cs typeface="+mn-ea"/>
                <a:sym typeface="+mn-lt"/>
              </a:rPr>
              <a:t>if-else</a:t>
            </a:r>
          </a:p>
          <a:p>
            <a:pPr marL="811530" lvl="1" indent="-285750">
              <a:lnSpc>
                <a:spcPct val="150000"/>
              </a:lnSpc>
              <a:spcBef>
                <a:spcPts val="0"/>
              </a:spcBef>
            </a:pPr>
            <a:r>
              <a:rPr lang="en-US" altLang="zh-CN" sz="1600" dirty="0">
                <a:cs typeface="+mn-ea"/>
                <a:sym typeface="+mn-lt"/>
              </a:rPr>
              <a:t>if-let</a:t>
            </a:r>
          </a:p>
        </p:txBody>
      </p:sp>
      <p:sp>
        <p:nvSpPr>
          <p:cNvPr id="6" name="文本框 5"/>
          <p:cNvSpPr txBox="1"/>
          <p:nvPr/>
        </p:nvSpPr>
        <p:spPr>
          <a:xfrm>
            <a:off x="2670048" y="988508"/>
            <a:ext cx="7951552" cy="3077766"/>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if-else</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200" dirty="0">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5</a:t>
            </a:r>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i="1" dirty="0">
                <a:solidFill>
                  <a:srgbClr val="7F848E"/>
                </a:solidFill>
                <a:cs typeface="+mn-ea"/>
                <a:sym typeface="+mn-lt"/>
              </a:rPr>
              <a:t>    // </a:t>
            </a:r>
            <a:r>
              <a:rPr lang="zh-CN" altLang="en-US" sz="1200" i="1" dirty="0">
                <a:solidFill>
                  <a:srgbClr val="7F848E"/>
                </a:solidFill>
                <a:cs typeface="+mn-ea"/>
                <a:sym typeface="+mn-lt"/>
              </a:rPr>
              <a:t>如果条件为真，则执行紧跟的块，并跳过后续的 </a:t>
            </a:r>
            <a:r>
              <a:rPr lang="en-US" altLang="zh-CN" sz="1200" i="1" dirty="0">
                <a:solidFill>
                  <a:srgbClr val="7F848E"/>
                </a:solidFill>
                <a:cs typeface="+mn-ea"/>
                <a:sym typeface="+mn-lt"/>
              </a:rPr>
              <a:t>else if </a:t>
            </a:r>
            <a:r>
              <a:rPr lang="zh-CN" altLang="en-US" sz="1200" i="1" dirty="0">
                <a:solidFill>
                  <a:srgbClr val="7F848E"/>
                </a:solidFill>
                <a:cs typeface="+mn-ea"/>
                <a:sym typeface="+mn-lt"/>
              </a:rPr>
              <a:t>块或 </a:t>
            </a:r>
            <a:r>
              <a:rPr lang="en-US" altLang="zh-CN" sz="1200" i="1" dirty="0">
                <a:solidFill>
                  <a:srgbClr val="7F848E"/>
                </a:solidFill>
                <a:cs typeface="+mn-ea"/>
                <a:sym typeface="+mn-lt"/>
              </a:rPr>
              <a:t>else </a:t>
            </a:r>
            <a:r>
              <a:rPr lang="zh-CN" altLang="en-US" sz="1200" i="1" dirty="0">
                <a:solidFill>
                  <a:srgbClr val="7F848E"/>
                </a:solidFill>
                <a:cs typeface="+mn-ea"/>
                <a:sym typeface="+mn-lt"/>
              </a:rPr>
              <a:t>块</a:t>
            </a:r>
            <a:endParaRPr lang="zh-CN" altLang="en-US" sz="1200" dirty="0">
              <a:solidFill>
                <a:srgbClr val="ABB2BF"/>
              </a:solidFill>
              <a:cs typeface="+mn-ea"/>
              <a:sym typeface="+mn-lt"/>
            </a:endParaRPr>
          </a:p>
          <a:p>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如果条件为假，则跳过紧跟的块，并按顺序求值后续的 </a:t>
            </a:r>
            <a:r>
              <a:rPr lang="en-US" altLang="zh-CN" sz="1200" i="1" dirty="0">
                <a:solidFill>
                  <a:srgbClr val="7F848E"/>
                </a:solidFill>
                <a:cs typeface="+mn-ea"/>
                <a:sym typeface="+mn-lt"/>
              </a:rPr>
              <a:t>else if </a:t>
            </a:r>
            <a:r>
              <a:rPr lang="zh-CN" altLang="en-US" sz="1200" i="1" dirty="0">
                <a:solidFill>
                  <a:srgbClr val="7F848E"/>
                </a:solidFill>
                <a:cs typeface="+mn-ea"/>
                <a:sym typeface="+mn-lt"/>
              </a:rPr>
              <a:t>表达式</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a:t>
            </a:r>
            <a:r>
              <a:rPr lang="en-US" altLang="zh-CN" sz="1200" dirty="0">
                <a:solidFill>
                  <a:srgbClr val="56B6C2"/>
                </a:solidFill>
                <a:cs typeface="+mn-ea"/>
                <a:sym typeface="+mn-lt"/>
              </a:rPr>
              <a:t>&lt;</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61AFEF"/>
                </a:solidFill>
                <a:cs typeface="+mn-ea"/>
                <a:sym typeface="+mn-lt"/>
              </a:rPr>
              <a:t>print!</a:t>
            </a:r>
            <a:r>
              <a:rPr lang="en-US" altLang="zh-CN" sz="1200" dirty="0">
                <a:solidFill>
                  <a:srgbClr val="ABB2BF"/>
                </a:solidFill>
                <a:cs typeface="+mn-ea"/>
                <a:sym typeface="+mn-lt"/>
              </a:rPr>
              <a:t>(</a:t>
            </a:r>
            <a:r>
              <a:rPr lang="en-US" altLang="zh-CN" sz="1200" dirty="0">
                <a:solidFill>
                  <a:srgbClr val="98C379"/>
                </a:solidFill>
                <a:cs typeface="+mn-ea"/>
                <a:sym typeface="+mn-lt"/>
              </a:rPr>
              <a:t>"value is small: {}"</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a:t>
            </a:r>
          </a:p>
          <a:p>
            <a:r>
              <a:rPr lang="en-US" altLang="zh-CN" sz="1200" i="1" dirty="0">
                <a:solidFill>
                  <a:srgbClr val="7F848E"/>
                </a:solidFill>
                <a:cs typeface="+mn-ea"/>
                <a:sym typeface="+mn-lt"/>
              </a:rPr>
              <a:t>    // </a:t>
            </a:r>
            <a:r>
              <a:rPr lang="zh-CN" altLang="en-US" sz="1200" i="1" dirty="0">
                <a:solidFill>
                  <a:srgbClr val="7F848E"/>
                </a:solidFill>
                <a:cs typeface="+mn-ea"/>
                <a:sym typeface="+mn-lt"/>
              </a:rPr>
              <a:t>可以使用小括号确定条件表达式的优先级，大括号不能取消</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ABB2BF"/>
                </a:solidFill>
                <a:cs typeface="+mn-ea"/>
                <a:sym typeface="+mn-lt"/>
              </a:rPr>
              <a:t>} </a:t>
            </a:r>
            <a:r>
              <a:rPr lang="en-US" altLang="zh-CN" sz="1200" dirty="0">
                <a:solidFill>
                  <a:srgbClr val="C678DD"/>
                </a:solidFill>
                <a:cs typeface="+mn-ea"/>
                <a:sym typeface="+mn-lt"/>
              </a:rPr>
              <a:t>else</a:t>
            </a:r>
            <a:r>
              <a:rPr lang="en-US" altLang="zh-CN"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a:t>
            </a:r>
            <a:r>
              <a:rPr lang="en-US" altLang="zh-CN" sz="1200" dirty="0">
                <a:solidFill>
                  <a:srgbClr val="56B6C2"/>
                </a:solidFill>
                <a:cs typeface="+mn-ea"/>
                <a:sym typeface="+mn-lt"/>
              </a:rPr>
              <a:t>&gt;</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r>
              <a:rPr lang="en-US" altLang="zh-CN" sz="1200" dirty="0">
                <a:solidFill>
                  <a:srgbClr val="56B6C2"/>
                </a:solidFill>
                <a:cs typeface="+mn-ea"/>
                <a:sym typeface="+mn-lt"/>
              </a:rPr>
              <a:t>&amp;&amp;</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a:t>
            </a:r>
            <a:r>
              <a:rPr lang="en-US" altLang="zh-CN" sz="1200" dirty="0">
                <a:solidFill>
                  <a:srgbClr val="56B6C2"/>
                </a:solidFill>
                <a:cs typeface="+mn-ea"/>
                <a:sym typeface="+mn-lt"/>
              </a:rPr>
              <a:t>&lt;</a:t>
            </a:r>
            <a:r>
              <a:rPr lang="en-US" altLang="zh-CN" sz="1200" dirty="0">
                <a:solidFill>
                  <a:srgbClr val="ABB2BF"/>
                </a:solidFill>
                <a:cs typeface="+mn-ea"/>
                <a:sym typeface="+mn-lt"/>
              </a:rPr>
              <a:t> </a:t>
            </a:r>
            <a:r>
              <a:rPr lang="en-US" altLang="zh-CN" sz="1200" dirty="0">
                <a:solidFill>
                  <a:srgbClr val="D19A66"/>
                </a:solidFill>
                <a:cs typeface="+mn-ea"/>
                <a:sym typeface="+mn-lt"/>
              </a:rPr>
              <a:t>10</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a:t>
            </a:r>
            <a:r>
              <a:rPr lang="en-US" altLang="zh-CN" sz="1200" dirty="0">
                <a:solidFill>
                  <a:srgbClr val="56B6C2"/>
                </a:solidFill>
                <a:cs typeface="+mn-ea"/>
                <a:sym typeface="+mn-lt"/>
              </a:rPr>
              <a:t>&gt;</a:t>
            </a:r>
            <a:r>
              <a:rPr lang="en-US" altLang="zh-CN" sz="1200" dirty="0">
                <a:solidFill>
                  <a:srgbClr val="ABB2BF"/>
                </a:solidFill>
                <a:cs typeface="+mn-ea"/>
                <a:sym typeface="+mn-lt"/>
              </a:rPr>
              <a:t> </a:t>
            </a:r>
            <a:r>
              <a:rPr lang="en-US" altLang="zh-CN" sz="1200" dirty="0">
                <a:solidFill>
                  <a:srgbClr val="D19A66"/>
                </a:solidFill>
                <a:cs typeface="+mn-ea"/>
                <a:sym typeface="+mn-lt"/>
              </a:rPr>
              <a:t>100</a:t>
            </a:r>
            <a:r>
              <a:rPr lang="en-US" altLang="zh-CN" sz="1200" dirty="0">
                <a:solidFill>
                  <a:srgbClr val="ABB2BF"/>
                </a:solidFill>
                <a:cs typeface="+mn-ea"/>
                <a:sym typeface="+mn-lt"/>
              </a:rPr>
              <a:t> </a:t>
            </a:r>
            <a:r>
              <a:rPr lang="en-US" altLang="zh-CN" sz="1200" dirty="0">
                <a:solidFill>
                  <a:srgbClr val="56B6C2"/>
                </a:solidFill>
                <a:cs typeface="+mn-ea"/>
                <a:sym typeface="+mn-lt"/>
              </a:rPr>
              <a:t>&amp;&amp;</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a:t>
            </a:r>
            <a:r>
              <a:rPr lang="en-US" altLang="zh-CN" sz="1200" dirty="0">
                <a:solidFill>
                  <a:srgbClr val="56B6C2"/>
                </a:solidFill>
                <a:cs typeface="+mn-ea"/>
                <a:sym typeface="+mn-lt"/>
              </a:rPr>
              <a:t>&lt;</a:t>
            </a:r>
            <a:r>
              <a:rPr lang="en-US" altLang="zh-CN" sz="1200" dirty="0">
                <a:solidFill>
                  <a:srgbClr val="ABB2BF"/>
                </a:solidFill>
                <a:cs typeface="+mn-ea"/>
                <a:sym typeface="+mn-lt"/>
              </a:rPr>
              <a:t> </a:t>
            </a:r>
            <a:r>
              <a:rPr lang="en-US" altLang="zh-CN" sz="1200" dirty="0">
                <a:solidFill>
                  <a:srgbClr val="D19A66"/>
                </a:solidFill>
                <a:cs typeface="+mn-ea"/>
                <a:sym typeface="+mn-lt"/>
              </a:rPr>
              <a:t>200</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61AFEF"/>
                </a:solidFill>
                <a:cs typeface="+mn-ea"/>
                <a:sym typeface="+mn-lt"/>
              </a:rPr>
              <a:t>print!</a:t>
            </a:r>
            <a:r>
              <a:rPr lang="en-US" altLang="zh-CN" sz="1200" dirty="0">
                <a:solidFill>
                  <a:srgbClr val="ABB2BF"/>
                </a:solidFill>
                <a:cs typeface="+mn-ea"/>
                <a:sym typeface="+mn-lt"/>
              </a:rPr>
              <a:t>(</a:t>
            </a:r>
            <a:r>
              <a:rPr lang="en-US" altLang="zh-CN" sz="1200" dirty="0">
                <a:solidFill>
                  <a:srgbClr val="98C379"/>
                </a:solidFill>
                <a:cs typeface="+mn-ea"/>
                <a:sym typeface="+mn-lt"/>
              </a:rPr>
              <a:t>"value is bigger: {}"</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a:t>
            </a:r>
          </a:p>
          <a:p>
            <a:r>
              <a:rPr lang="en-US" altLang="zh-CN" sz="1200" i="1" dirty="0">
                <a:solidFill>
                  <a:srgbClr val="7F848E"/>
                </a:solidFill>
                <a:cs typeface="+mn-ea"/>
                <a:sym typeface="+mn-lt"/>
              </a:rPr>
              <a:t>    // </a:t>
            </a:r>
            <a:r>
              <a:rPr lang="zh-CN" altLang="en-US" sz="1200" i="1" dirty="0">
                <a:solidFill>
                  <a:srgbClr val="7F848E"/>
                </a:solidFill>
                <a:cs typeface="+mn-ea"/>
                <a:sym typeface="+mn-lt"/>
              </a:rPr>
              <a:t>如果之前的条件表达式全部为假，则执行 </a:t>
            </a:r>
            <a:r>
              <a:rPr lang="en-US" altLang="zh-CN" sz="1200" i="1" dirty="0">
                <a:solidFill>
                  <a:srgbClr val="7F848E"/>
                </a:solidFill>
                <a:cs typeface="+mn-ea"/>
                <a:sym typeface="+mn-lt"/>
              </a:rPr>
              <a:t>else </a:t>
            </a:r>
            <a:r>
              <a:rPr lang="zh-CN" altLang="en-US" sz="1200" i="1" dirty="0">
                <a:solidFill>
                  <a:srgbClr val="7F848E"/>
                </a:solidFill>
                <a:cs typeface="+mn-ea"/>
                <a:sym typeface="+mn-lt"/>
              </a:rPr>
              <a:t>块</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ABB2BF"/>
                </a:solidFill>
                <a:cs typeface="+mn-ea"/>
                <a:sym typeface="+mn-lt"/>
              </a:rPr>
              <a:t>} </a:t>
            </a:r>
            <a:r>
              <a:rPr lang="en-US" altLang="zh-CN" sz="1200" dirty="0">
                <a:solidFill>
                  <a:srgbClr val="C678DD"/>
                </a:solidFill>
                <a:cs typeface="+mn-ea"/>
                <a:sym typeface="+mn-lt"/>
              </a:rPr>
              <a:t>else</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61AFEF"/>
                </a:solidFill>
                <a:cs typeface="+mn-ea"/>
                <a:sym typeface="+mn-lt"/>
              </a:rPr>
              <a:t>print!</a:t>
            </a:r>
            <a:r>
              <a:rPr lang="en-US" altLang="zh-CN" sz="1200" dirty="0">
                <a:solidFill>
                  <a:srgbClr val="ABB2BF"/>
                </a:solidFill>
                <a:cs typeface="+mn-ea"/>
                <a:sym typeface="+mn-lt"/>
              </a:rPr>
              <a:t>(</a:t>
            </a:r>
            <a:r>
              <a:rPr lang="en-US" altLang="zh-CN" sz="1200" dirty="0">
                <a:solidFill>
                  <a:srgbClr val="98C379"/>
                </a:solidFill>
                <a:cs typeface="+mn-ea"/>
                <a:sym typeface="+mn-lt"/>
              </a:rPr>
              <a:t>"value is large :{}"</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cxnSp>
        <p:nvCxnSpPr>
          <p:cNvPr id="8" name="直接连接符 7"/>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934509" y="4247177"/>
            <a:ext cx="9687091" cy="1754326"/>
            <a:chOff x="1952699" y="2055183"/>
            <a:chExt cx="9687091" cy="1754326"/>
          </a:xfrm>
        </p:grpSpPr>
        <p:sp>
          <p:nvSpPr>
            <p:cNvPr id="14" name="文本框 13"/>
            <p:cNvSpPr txBox="1"/>
            <p:nvPr/>
          </p:nvSpPr>
          <p:spPr>
            <a:xfrm>
              <a:off x="1952699" y="2180081"/>
              <a:ext cx="4782313" cy="156966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FF0000"/>
                  </a:solidFill>
                  <a:cs typeface="+mn-ea"/>
                  <a:sym typeface="+mn-lt"/>
                </a:rPr>
                <a:t>错误示例</a:t>
              </a:r>
              <a:endParaRPr lang="en-US" altLang="zh-CN" sz="1200" dirty="0">
                <a:solidFill>
                  <a:srgbClr val="FF0000"/>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number</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r>
                <a:rPr lang="en-US" altLang="zh-CN" sz="1200" i="1" dirty="0">
                  <a:solidFill>
                    <a:srgbClr val="7F848E"/>
                  </a:solidFill>
                  <a:cs typeface="+mn-ea"/>
                  <a:sym typeface="+mn-lt"/>
                </a:rPr>
                <a:t>    // </a:t>
              </a:r>
              <a:r>
                <a:rPr lang="zh-CN" altLang="en-US" sz="1200" i="1" dirty="0">
                  <a:solidFill>
                    <a:srgbClr val="7F848E"/>
                  </a:solidFill>
                  <a:cs typeface="+mn-ea"/>
                  <a:sym typeface="+mn-lt"/>
                </a:rPr>
                <a:t>错误：</a:t>
              </a:r>
              <a:r>
                <a:rPr lang="en-US" altLang="zh-CN" sz="1200" i="1" dirty="0">
                  <a:solidFill>
                    <a:srgbClr val="7F848E"/>
                  </a:solidFill>
                  <a:cs typeface="+mn-ea"/>
                  <a:sym typeface="+mn-lt"/>
                </a:rPr>
                <a:t>if </a:t>
              </a:r>
              <a:r>
                <a:rPr lang="zh-CN" altLang="en-US" sz="1200" i="1" dirty="0">
                  <a:solidFill>
                    <a:srgbClr val="7F848E"/>
                  </a:solidFill>
                  <a:cs typeface="+mn-ea"/>
                  <a:sym typeface="+mn-lt"/>
                </a:rPr>
                <a:t>的判断条件必须是 </a:t>
              </a:r>
              <a:r>
                <a:rPr lang="en-US" altLang="zh-CN" sz="1200" i="1" dirty="0">
                  <a:solidFill>
                    <a:srgbClr val="7F848E"/>
                  </a:solidFill>
                  <a:cs typeface="+mn-ea"/>
                  <a:sym typeface="+mn-lt"/>
                </a:rPr>
                <a:t>bool </a:t>
              </a:r>
              <a:r>
                <a:rPr lang="zh-CN" altLang="en-US" sz="1200" i="1" dirty="0">
                  <a:solidFill>
                    <a:srgbClr val="7F848E"/>
                  </a:solidFill>
                  <a:cs typeface="+mn-ea"/>
                  <a:sym typeface="+mn-lt"/>
                </a:rPr>
                <a:t>值</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E06C75"/>
                  </a:solidFill>
                  <a:cs typeface="+mn-ea"/>
                  <a:sym typeface="+mn-lt"/>
                </a:rPr>
                <a:t>number</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E06C75"/>
                  </a:solidFill>
                  <a:cs typeface="+mn-ea"/>
                  <a:sym typeface="+mn-lt"/>
                </a:rPr>
                <a:t>number</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
          <p:nvSpPr>
            <p:cNvPr id="15" name="文本框 14"/>
            <p:cNvSpPr txBox="1"/>
            <p:nvPr/>
          </p:nvSpPr>
          <p:spPr>
            <a:xfrm>
              <a:off x="7220130" y="2055183"/>
              <a:ext cx="4419660" cy="1754326"/>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正确示例</a:t>
              </a:r>
              <a:endParaRPr lang="en-US" altLang="zh-CN" sz="1200" dirty="0">
                <a:solidFill>
                  <a:srgbClr val="00B050"/>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number</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r>
                <a:rPr lang="en-US" altLang="zh-CN" sz="1200" i="1" dirty="0">
                  <a:solidFill>
                    <a:srgbClr val="7F848E"/>
                  </a:solidFill>
                  <a:cs typeface="+mn-ea"/>
                  <a:sym typeface="+mn-lt"/>
                </a:rPr>
                <a:t>    // </a:t>
              </a:r>
              <a:r>
                <a:rPr lang="zh-CN" altLang="en-US" sz="1200" i="1" dirty="0">
                  <a:solidFill>
                    <a:srgbClr val="7F848E"/>
                  </a:solidFill>
                  <a:cs typeface="+mn-ea"/>
                  <a:sym typeface="+mn-lt"/>
                </a:rPr>
                <a:t>如果条件为真，则执行大括号中的代码</a:t>
              </a:r>
              <a:endParaRPr lang="zh-CN" altLang="en-US" sz="1200" dirty="0">
                <a:solidFill>
                  <a:srgbClr val="ABB2BF"/>
                </a:solidFill>
                <a:cs typeface="+mn-ea"/>
                <a:sym typeface="+mn-lt"/>
              </a:endParaRPr>
            </a:p>
            <a:p>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判断条件可以不用括号括起来</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E06C75"/>
                  </a:solidFill>
                  <a:cs typeface="+mn-ea"/>
                  <a:sym typeface="+mn-lt"/>
                </a:rPr>
                <a:t>number</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E06C75"/>
                  </a:solidFill>
                  <a:cs typeface="+mn-ea"/>
                  <a:sym typeface="+mn-lt"/>
                </a:rPr>
                <a:t>number</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
          <p:nvSpPr>
            <p:cNvPr id="16" name="右箭头 15"/>
            <p:cNvSpPr/>
            <p:nvPr/>
          </p:nvSpPr>
          <p:spPr>
            <a:xfrm>
              <a:off x="6840411" y="2720808"/>
              <a:ext cx="274320" cy="484632"/>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71630"/>
    </mc:Choice>
    <mc:Fallback xmlns="">
      <p:transition spd="slow" advTm="7163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表达式和流程控制</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条件表达式</a:t>
            </a:r>
          </a:p>
        </p:txBody>
      </p:sp>
      <p:sp>
        <p:nvSpPr>
          <p:cNvPr id="6" name="文本框 5"/>
          <p:cNvSpPr txBox="1"/>
          <p:nvPr/>
        </p:nvSpPr>
        <p:spPr>
          <a:xfrm>
            <a:off x="378652" y="948800"/>
            <a:ext cx="4782312" cy="2339102"/>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chemeClr val="accent2"/>
                </a:solidFill>
                <a:cs typeface="+mn-ea"/>
                <a:sym typeface="+mn-lt"/>
              </a:rPr>
              <a:t>条件表达式返回值类型不一致错误示例</a:t>
            </a:r>
            <a:endParaRPr lang="en-US" altLang="zh-CN" sz="1200" b="1" dirty="0">
              <a:solidFill>
                <a:schemeClr val="accent2"/>
              </a:solidFill>
              <a:cs typeface="+mn-ea"/>
              <a:sym typeface="+mn-lt"/>
            </a:endParaRPr>
          </a:p>
          <a:p>
            <a:r>
              <a:rPr lang="en-US" altLang="zh-CN" sz="1200" i="1" dirty="0">
                <a:solidFill>
                  <a:srgbClr val="7F848E"/>
                </a:solidFill>
                <a:cs typeface="+mn-ea"/>
                <a:sym typeface="+mn-lt"/>
              </a:rPr>
              <a:t>// if </a:t>
            </a:r>
            <a:r>
              <a:rPr lang="zh-CN" altLang="en-US" sz="1200" i="1" dirty="0">
                <a:solidFill>
                  <a:srgbClr val="7F848E"/>
                </a:solidFill>
                <a:cs typeface="+mn-ea"/>
                <a:sym typeface="+mn-lt"/>
              </a:rPr>
              <a:t>表达式的求值结果就是所执行的块的返回值；</a:t>
            </a:r>
            <a:endParaRPr lang="zh-CN" altLang="en-US" sz="1200" dirty="0">
              <a:solidFill>
                <a:srgbClr val="ABB2BF"/>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如果没有块被求值那 </a:t>
            </a:r>
            <a:r>
              <a:rPr lang="en-US" altLang="zh-CN" sz="1200" i="1" dirty="0">
                <a:solidFill>
                  <a:srgbClr val="7F848E"/>
                </a:solidFill>
                <a:cs typeface="+mn-ea"/>
                <a:sym typeface="+mn-lt"/>
              </a:rPr>
              <a:t>if </a:t>
            </a:r>
            <a:r>
              <a:rPr lang="zh-CN" altLang="en-US" sz="1200" i="1" dirty="0">
                <a:solidFill>
                  <a:srgbClr val="7F848E"/>
                </a:solidFill>
                <a:cs typeface="+mn-ea"/>
                <a:sym typeface="+mn-lt"/>
              </a:rPr>
              <a:t>表达式的求值结果就是 </a:t>
            </a:r>
            <a:r>
              <a:rPr lang="en-US" altLang="zh-CN" sz="1200" i="1" dirty="0">
                <a:solidFill>
                  <a:srgbClr val="7F848E"/>
                </a:solidFill>
                <a:cs typeface="+mn-ea"/>
                <a:sym typeface="+mn-lt"/>
              </a:rPr>
              <a:t>()</a:t>
            </a:r>
            <a:endParaRPr lang="en-US" altLang="zh-CN" sz="1200" dirty="0">
              <a:solidFill>
                <a:srgbClr val="FF0000"/>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5</a:t>
            </a:r>
            <a:r>
              <a:rPr lang="en-US" altLang="zh-CN" sz="1200" dirty="0">
                <a:solidFill>
                  <a:srgbClr val="ABB2BF"/>
                </a:solidFill>
                <a:cs typeface="+mn-ea"/>
                <a:sym typeface="+mn-lt"/>
              </a:rPr>
              <a:t>;</a:t>
            </a:r>
          </a:p>
          <a:p>
            <a:r>
              <a:rPr lang="en-US" altLang="zh-CN" sz="1200" i="1" dirty="0">
                <a:solidFill>
                  <a:srgbClr val="7F848E"/>
                </a:solidFill>
                <a:cs typeface="+mn-ea"/>
                <a:sym typeface="+mn-lt"/>
              </a:rPr>
              <a:t>    // </a:t>
            </a:r>
            <a:r>
              <a:rPr lang="zh-CN" altLang="en-US" sz="1200" i="1" dirty="0">
                <a:solidFill>
                  <a:srgbClr val="7F848E"/>
                </a:solidFill>
                <a:cs typeface="+mn-ea"/>
                <a:sym typeface="+mn-lt"/>
              </a:rPr>
              <a:t>错误：</a:t>
            </a:r>
            <a:r>
              <a:rPr lang="en-US" altLang="zh-CN" sz="1200" i="1" dirty="0">
                <a:solidFill>
                  <a:srgbClr val="7F848E"/>
                </a:solidFill>
                <a:cs typeface="+mn-ea"/>
                <a:sym typeface="+mn-lt"/>
              </a:rPr>
              <a:t>if-else </a:t>
            </a:r>
            <a:r>
              <a:rPr lang="zh-CN" altLang="en-US" sz="1200" i="1" dirty="0">
                <a:solidFill>
                  <a:srgbClr val="7F848E"/>
                </a:solidFill>
                <a:cs typeface="+mn-ea"/>
                <a:sym typeface="+mn-lt"/>
              </a:rPr>
              <a:t>所有分支都必须返回相同的类型</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E06C75"/>
                </a:solidFill>
                <a:cs typeface="+mn-ea"/>
                <a:sym typeface="+mn-lt"/>
              </a:rPr>
              <a:t>big_n</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a:t>
            </a:r>
            <a:r>
              <a:rPr lang="en-US" altLang="zh-CN" sz="1200" dirty="0">
                <a:solidFill>
                  <a:srgbClr val="56B6C2"/>
                </a:solidFill>
                <a:cs typeface="+mn-ea"/>
                <a:sym typeface="+mn-lt"/>
              </a:rPr>
              <a:t>&lt;</a:t>
            </a:r>
            <a:r>
              <a:rPr lang="en-US" altLang="zh-CN" sz="1200" dirty="0">
                <a:solidFill>
                  <a:srgbClr val="ABB2BF"/>
                </a:solidFill>
                <a:cs typeface="+mn-ea"/>
                <a:sym typeface="+mn-lt"/>
              </a:rPr>
              <a:t> </a:t>
            </a:r>
            <a:r>
              <a:rPr lang="en-US" altLang="zh-CN" sz="1200" dirty="0">
                <a:solidFill>
                  <a:srgbClr val="D19A66"/>
                </a:solidFill>
                <a:cs typeface="+mn-ea"/>
                <a:sym typeface="+mn-lt"/>
              </a:rPr>
              <a:t>10</a:t>
            </a:r>
            <a:r>
              <a:rPr lang="en-US" altLang="zh-CN" sz="1200" dirty="0">
                <a:solidFill>
                  <a:srgbClr val="ABB2BF"/>
                </a:solidFill>
                <a:cs typeface="+mn-ea"/>
                <a:sym typeface="+mn-lt"/>
              </a:rPr>
              <a:t> </a:t>
            </a:r>
            <a:r>
              <a:rPr lang="en-US" altLang="zh-CN" sz="1200" dirty="0">
                <a:solidFill>
                  <a:srgbClr val="56B6C2"/>
                </a:solidFill>
                <a:cs typeface="+mn-ea"/>
                <a:sym typeface="+mn-lt"/>
              </a:rPr>
              <a:t>&amp;&amp;</a:t>
            </a:r>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&gt; -</a:t>
            </a:r>
            <a:r>
              <a:rPr lang="en-US" altLang="zh-CN" sz="1200" dirty="0">
                <a:solidFill>
                  <a:srgbClr val="D19A66"/>
                </a:solidFill>
                <a:cs typeface="+mn-ea"/>
                <a:sym typeface="+mn-lt"/>
              </a:rPr>
              <a:t>10</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D19A66"/>
                </a:solidFill>
                <a:cs typeface="+mn-ea"/>
                <a:sym typeface="+mn-lt"/>
              </a:rPr>
              <a:t>10</a:t>
            </a:r>
            <a:r>
              <a:rPr lang="en-US" altLang="zh-CN" sz="1200" dirty="0">
                <a:solidFill>
                  <a:srgbClr val="ABB2BF"/>
                </a:solidFill>
                <a:cs typeface="+mn-ea"/>
                <a:sym typeface="+mn-lt"/>
              </a:rPr>
              <a:t> * </a:t>
            </a:r>
            <a:r>
              <a:rPr lang="en-US" altLang="zh-CN" sz="1200" dirty="0">
                <a:solidFill>
                  <a:srgbClr val="E06C75"/>
                </a:solidFill>
                <a:cs typeface="+mn-ea"/>
                <a:sym typeface="+mn-lt"/>
              </a:rPr>
              <a:t>n</a:t>
            </a:r>
            <a:r>
              <a:rPr lang="en-US" altLang="zh-CN" sz="1200" i="1" dirty="0">
                <a:solidFill>
                  <a:srgbClr val="7F848E"/>
                </a:solidFill>
                <a:cs typeface="+mn-ea"/>
                <a:sym typeface="+mn-lt"/>
              </a:rPr>
              <a:t> // </a:t>
            </a:r>
            <a:r>
              <a:rPr lang="zh-CN" altLang="en-US" sz="1200" i="1" dirty="0">
                <a:solidFill>
                  <a:srgbClr val="7F848E"/>
                </a:solidFill>
                <a:cs typeface="+mn-ea"/>
                <a:sym typeface="+mn-lt"/>
              </a:rPr>
              <a:t>返回 </a:t>
            </a:r>
            <a:r>
              <a:rPr lang="en-US" altLang="zh-CN" sz="1200" i="1" dirty="0">
                <a:solidFill>
                  <a:srgbClr val="7F848E"/>
                </a:solidFill>
                <a:cs typeface="+mn-ea"/>
                <a:sym typeface="+mn-lt"/>
              </a:rPr>
              <a:t>i32 </a:t>
            </a:r>
            <a:r>
              <a:rPr lang="zh-CN" altLang="en-US" sz="1200" i="1" dirty="0">
                <a:solidFill>
                  <a:srgbClr val="7F848E"/>
                </a:solidFill>
                <a:cs typeface="+mn-ea"/>
                <a:sym typeface="+mn-lt"/>
              </a:rPr>
              <a:t>类型</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ABB2BF"/>
                </a:solidFill>
                <a:cs typeface="+mn-ea"/>
                <a:sym typeface="+mn-lt"/>
              </a:rPr>
              <a:t>} </a:t>
            </a:r>
            <a:r>
              <a:rPr lang="en-US" altLang="zh-CN" sz="1200" dirty="0">
                <a:solidFill>
                  <a:srgbClr val="C678DD"/>
                </a:solidFill>
                <a:cs typeface="+mn-ea"/>
                <a:sym typeface="+mn-lt"/>
              </a:rPr>
              <a:t>else</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n</a:t>
            </a:r>
            <a:r>
              <a:rPr lang="en-US" altLang="zh-CN" sz="1200" dirty="0">
                <a:solidFill>
                  <a:srgbClr val="ABB2BF"/>
                </a:solidFill>
                <a:cs typeface="+mn-ea"/>
                <a:sym typeface="+mn-lt"/>
              </a:rPr>
              <a:t> / </a:t>
            </a:r>
            <a:r>
              <a:rPr lang="en-US" altLang="zh-CN" sz="1200" dirty="0">
                <a:solidFill>
                  <a:srgbClr val="D19A66"/>
                </a:solidFill>
                <a:cs typeface="+mn-ea"/>
                <a:sym typeface="+mn-lt"/>
              </a:rPr>
              <a:t>2</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zh-CN" altLang="en-US" sz="1200" i="1" dirty="0">
                <a:solidFill>
                  <a:srgbClr val="7F848E"/>
                </a:solidFill>
                <a:cs typeface="+mn-ea"/>
                <a:sym typeface="+mn-lt"/>
              </a:rPr>
              <a:t>返回单元类型</a:t>
            </a:r>
            <a:r>
              <a:rPr lang="en-US" altLang="zh-CN" sz="1200" i="1" dirty="0">
                <a:solidFill>
                  <a:srgbClr val="7F848E"/>
                </a:solidFill>
                <a:cs typeface="+mn-ea"/>
                <a:sym typeface="+mn-lt"/>
              </a:rPr>
              <a:t>()</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cxnSp>
        <p:nvCxnSpPr>
          <p:cNvPr id="8" name="直接连接符 7"/>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tretch>
            <a:fillRect/>
          </a:stretch>
        </p:blipFill>
        <p:spPr>
          <a:xfrm>
            <a:off x="640080" y="3707638"/>
            <a:ext cx="4255708" cy="2664142"/>
          </a:xfrm>
          <a:prstGeom prst="rect">
            <a:avLst/>
          </a:prstGeom>
        </p:spPr>
      </p:pic>
      <p:sp>
        <p:nvSpPr>
          <p:cNvPr id="4" name="右箭头 3"/>
          <p:cNvSpPr/>
          <p:nvPr/>
        </p:nvSpPr>
        <p:spPr>
          <a:xfrm rot="5400000">
            <a:off x="2632648" y="3270855"/>
            <a:ext cx="274320" cy="484632"/>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文本框 11"/>
          <p:cNvSpPr txBox="1"/>
          <p:nvPr/>
        </p:nvSpPr>
        <p:spPr>
          <a:xfrm>
            <a:off x="5293556" y="884149"/>
            <a:ext cx="6666072" cy="4930828"/>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noAutofit/>
          </a:bodyPr>
          <a:lstStyle/>
          <a:p>
            <a:r>
              <a:rPr lang="en-US" altLang="zh-CN" sz="1200" dirty="0">
                <a:solidFill>
                  <a:srgbClr val="FFFFFF"/>
                </a:solidFill>
                <a:cs typeface="+mn-ea"/>
                <a:sym typeface="+mn-lt"/>
              </a:rPr>
              <a:t>// </a:t>
            </a:r>
            <a:r>
              <a:rPr lang="en-US" altLang="zh-CN" sz="1200" b="1" dirty="0">
                <a:solidFill>
                  <a:srgbClr val="00B050"/>
                </a:solidFill>
                <a:cs typeface="+mn-ea"/>
                <a:sym typeface="+mn-lt"/>
              </a:rPr>
              <a:t>if-let</a:t>
            </a:r>
            <a:r>
              <a:rPr lang="zh-CN" altLang="en-US" sz="1200" b="1" dirty="0">
                <a:solidFill>
                  <a:srgbClr val="00B050"/>
                </a:solidFill>
                <a:cs typeface="+mn-ea"/>
                <a:sym typeface="+mn-lt"/>
              </a:rPr>
              <a:t>代码示例</a:t>
            </a:r>
            <a:endParaRPr lang="en-US" altLang="zh-CN" sz="1200" b="1" dirty="0">
              <a:solidFill>
                <a:srgbClr val="00B050"/>
              </a:solidFill>
              <a:cs typeface="+mn-ea"/>
              <a:sym typeface="+mn-lt"/>
            </a:endParaRPr>
          </a:p>
          <a:p>
            <a:r>
              <a:rPr lang="en-US" altLang="zh-CN" sz="1200" dirty="0" err="1">
                <a:solidFill>
                  <a:srgbClr val="C678DD"/>
                </a:solidFill>
                <a:cs typeface="+mn-ea"/>
                <a:sym typeface="+mn-lt"/>
              </a:rPr>
              <a:t>enum</a:t>
            </a:r>
            <a:r>
              <a:rPr lang="en-US" altLang="zh-CN" sz="1200" dirty="0">
                <a:solidFill>
                  <a:srgbClr val="ABB2BF"/>
                </a:solidFill>
                <a:cs typeface="+mn-ea"/>
                <a:sym typeface="+mn-lt"/>
              </a:rPr>
              <a:t> </a:t>
            </a:r>
            <a:r>
              <a:rPr lang="en-US" altLang="zh-CN" sz="1200" dirty="0">
                <a:solidFill>
                  <a:srgbClr val="E5C07B"/>
                </a:solidFill>
                <a:cs typeface="+mn-ea"/>
                <a:sym typeface="+mn-lt"/>
              </a:rPr>
              <a:t>Foo</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56B6C2"/>
                </a:solidFill>
                <a:cs typeface="+mn-ea"/>
                <a:sym typeface="+mn-lt"/>
              </a:rPr>
              <a:t>Bar</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56B6C2"/>
                </a:solidFill>
                <a:cs typeface="+mn-ea"/>
                <a:sym typeface="+mn-lt"/>
              </a:rPr>
              <a:t>Baz</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56B6C2"/>
                </a:solidFill>
                <a:cs typeface="+mn-ea"/>
                <a:sym typeface="+mn-lt"/>
              </a:rPr>
              <a:t>Qux</a:t>
            </a:r>
            <a:r>
              <a:rPr lang="en-US" altLang="zh-CN" sz="1200" dirty="0">
                <a:solidFill>
                  <a:srgbClr val="ABB2BF"/>
                </a:solidFill>
                <a:cs typeface="+mn-ea"/>
                <a:sym typeface="+mn-lt"/>
              </a:rPr>
              <a:t>(</a:t>
            </a:r>
            <a:r>
              <a:rPr lang="en-US" altLang="zh-CN" sz="1200" dirty="0">
                <a:solidFill>
                  <a:srgbClr val="E5C07B"/>
                </a:solidFill>
                <a:cs typeface="+mn-ea"/>
                <a:sym typeface="+mn-lt"/>
              </a:rPr>
              <a:t>u32</a:t>
            </a:r>
            <a:r>
              <a:rPr lang="en-US" altLang="zh-CN" sz="1200" dirty="0">
                <a:solidFill>
                  <a:srgbClr val="ABB2BF"/>
                </a:solidFill>
                <a:cs typeface="+mn-ea"/>
                <a:sym typeface="+mn-lt"/>
              </a:rPr>
              <a:t>),</a:t>
            </a:r>
          </a:p>
          <a:p>
            <a:r>
              <a:rPr lang="en-US" altLang="zh-CN" sz="1200" dirty="0">
                <a:solidFill>
                  <a:srgbClr val="ABB2BF"/>
                </a:solidFill>
                <a:cs typeface="+mn-ea"/>
                <a:sym typeface="+mn-lt"/>
              </a:rPr>
              <a:t>}</a:t>
            </a:r>
          </a:p>
          <a:p>
            <a:r>
              <a:rPr lang="en-US" altLang="zh-CN" sz="1200" i="1" dirty="0">
                <a:solidFill>
                  <a:srgbClr val="7F848E"/>
                </a:solidFill>
                <a:cs typeface="+mn-ea"/>
                <a:sym typeface="+mn-lt"/>
              </a:rPr>
              <a:t>// if-let </a:t>
            </a:r>
            <a:r>
              <a:rPr lang="zh-CN" altLang="en-US" sz="1200" i="1" dirty="0">
                <a:solidFill>
                  <a:srgbClr val="7F848E"/>
                </a:solidFill>
                <a:cs typeface="+mn-ea"/>
                <a:sym typeface="+mn-lt"/>
              </a:rPr>
              <a:t>表达式在语义上类似于 </a:t>
            </a:r>
            <a:r>
              <a:rPr lang="en-US" altLang="zh-CN" sz="1200" i="1" dirty="0">
                <a:solidFill>
                  <a:srgbClr val="7F848E"/>
                </a:solidFill>
                <a:cs typeface="+mn-ea"/>
                <a:sym typeface="+mn-lt"/>
              </a:rPr>
              <a:t>if </a:t>
            </a:r>
            <a:r>
              <a:rPr lang="zh-CN" altLang="en-US" sz="1200" i="1" dirty="0">
                <a:solidFill>
                  <a:srgbClr val="7F848E"/>
                </a:solidFill>
                <a:cs typeface="+mn-ea"/>
                <a:sym typeface="+mn-lt"/>
              </a:rPr>
              <a:t>表达式</a:t>
            </a:r>
            <a:endParaRPr lang="zh-CN" altLang="en-US" sz="1200" dirty="0">
              <a:solidFill>
                <a:srgbClr val="ABB2BF"/>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但是代替条件操作数的是一个关键字</a:t>
            </a:r>
            <a:r>
              <a:rPr lang="en-US" altLang="zh-CN" sz="1200" i="1" dirty="0">
                <a:solidFill>
                  <a:srgbClr val="7F848E"/>
                </a:solidFill>
                <a:cs typeface="+mn-ea"/>
                <a:sym typeface="+mn-lt"/>
              </a:rPr>
              <a:t>let</a:t>
            </a:r>
            <a:r>
              <a:rPr lang="zh-CN" altLang="en-US" sz="1200" i="1" dirty="0">
                <a:solidFill>
                  <a:srgbClr val="7F848E"/>
                </a:solidFill>
                <a:cs typeface="+mn-ea"/>
                <a:sym typeface="+mn-lt"/>
              </a:rPr>
              <a:t>，再后面是一个模式、一个</a:t>
            </a:r>
            <a:r>
              <a:rPr lang="en-US" altLang="zh-CN" sz="1200" i="1" dirty="0">
                <a:solidFill>
                  <a:srgbClr val="7F848E"/>
                </a:solidFill>
                <a:cs typeface="+mn-ea"/>
                <a:sym typeface="+mn-lt"/>
              </a:rPr>
              <a:t>=</a:t>
            </a:r>
            <a:r>
              <a:rPr lang="zh-CN" altLang="en-US" sz="1200" i="1" dirty="0">
                <a:solidFill>
                  <a:srgbClr val="7F848E"/>
                </a:solidFill>
                <a:cs typeface="+mn-ea"/>
                <a:sym typeface="+mn-lt"/>
              </a:rPr>
              <a:t>和一个检验对象操作数</a:t>
            </a:r>
            <a:endParaRPr lang="zh-CN" altLang="en-US" sz="1200" dirty="0">
              <a:solidFill>
                <a:srgbClr val="ABB2BF"/>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如果检验对象操作数的值与模式匹配，则执行相应的块</a:t>
            </a:r>
            <a:endParaRPr lang="zh-CN" altLang="en-US" sz="1200" dirty="0">
              <a:solidFill>
                <a:srgbClr val="ABB2BF"/>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否则，如果存在 </a:t>
            </a:r>
            <a:r>
              <a:rPr lang="en-US" altLang="zh-CN" sz="1200" i="1" dirty="0">
                <a:solidFill>
                  <a:srgbClr val="7F848E"/>
                </a:solidFill>
                <a:cs typeface="+mn-ea"/>
                <a:sym typeface="+mn-lt"/>
              </a:rPr>
              <a:t>else</a:t>
            </a:r>
            <a:r>
              <a:rPr lang="zh-CN" altLang="en-US" sz="1200" i="1" dirty="0">
                <a:solidFill>
                  <a:srgbClr val="7F848E"/>
                </a:solidFill>
                <a:cs typeface="+mn-ea"/>
                <a:sym typeface="+mn-lt"/>
              </a:rPr>
              <a:t>块，则继续处理后面的 </a:t>
            </a:r>
            <a:r>
              <a:rPr lang="en-US" altLang="zh-CN" sz="1200" i="1" dirty="0">
                <a:solidFill>
                  <a:srgbClr val="7F848E"/>
                </a:solidFill>
                <a:cs typeface="+mn-ea"/>
                <a:sym typeface="+mn-lt"/>
              </a:rPr>
              <a:t>else</a:t>
            </a:r>
            <a:r>
              <a:rPr lang="zh-CN" altLang="en-US" sz="1200" i="1" dirty="0">
                <a:solidFill>
                  <a:srgbClr val="7F848E"/>
                </a:solidFill>
                <a:cs typeface="+mn-ea"/>
                <a:sym typeface="+mn-lt"/>
              </a:rPr>
              <a:t>块。</a:t>
            </a:r>
            <a:endParaRPr lang="zh-CN" altLang="en-US" sz="1200" dirty="0">
              <a:solidFill>
                <a:srgbClr val="ABB2BF"/>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 </a:t>
            </a:r>
            <a:r>
              <a:rPr lang="en-US" altLang="zh-CN" sz="1200" dirty="0">
                <a:solidFill>
                  <a:srgbClr val="E5C07B"/>
                </a:solidFill>
                <a:cs typeface="+mn-ea"/>
                <a:sym typeface="+mn-lt"/>
              </a:rPr>
              <a:t>Foo</a:t>
            </a:r>
            <a:r>
              <a:rPr lang="en-US" altLang="zh-CN" sz="1200" dirty="0">
                <a:solidFill>
                  <a:srgbClr val="ABB2BF"/>
                </a:solidFill>
                <a:cs typeface="+mn-ea"/>
                <a:sym typeface="+mn-lt"/>
              </a:rPr>
              <a:t>::</a:t>
            </a:r>
            <a:r>
              <a:rPr lang="en-US" altLang="zh-CN" sz="1200" dirty="0">
                <a:solidFill>
                  <a:srgbClr val="56B6C2"/>
                </a:solidFill>
                <a:cs typeface="+mn-ea"/>
                <a:sym typeface="+mn-lt"/>
              </a:rPr>
              <a:t>Bar</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 </a:t>
            </a:r>
            <a:r>
              <a:rPr lang="en-US" altLang="zh-CN" sz="1200" dirty="0">
                <a:solidFill>
                  <a:srgbClr val="E5C07B"/>
                </a:solidFill>
                <a:cs typeface="+mn-ea"/>
                <a:sym typeface="+mn-lt"/>
              </a:rPr>
              <a:t>Foo</a:t>
            </a:r>
            <a:r>
              <a:rPr lang="en-US" altLang="zh-CN" sz="1200" dirty="0">
                <a:solidFill>
                  <a:srgbClr val="ABB2BF"/>
                </a:solidFill>
                <a:cs typeface="+mn-ea"/>
                <a:sym typeface="+mn-lt"/>
              </a:rPr>
              <a:t>::</a:t>
            </a:r>
            <a:r>
              <a:rPr lang="en-US" altLang="zh-CN" sz="1200" dirty="0">
                <a:solidFill>
                  <a:srgbClr val="56B6C2"/>
                </a:solidFill>
                <a:cs typeface="+mn-ea"/>
                <a:sym typeface="+mn-lt"/>
              </a:rPr>
              <a:t>Baz</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c</a:t>
            </a:r>
            <a:r>
              <a:rPr lang="en-US" altLang="zh-CN" sz="1200" dirty="0">
                <a:solidFill>
                  <a:srgbClr val="ABB2BF"/>
                </a:solidFill>
                <a:cs typeface="+mn-ea"/>
                <a:sym typeface="+mn-lt"/>
              </a:rPr>
              <a:t> = </a:t>
            </a:r>
            <a:r>
              <a:rPr lang="en-US" altLang="zh-CN" sz="1200" dirty="0">
                <a:solidFill>
                  <a:srgbClr val="E5C07B"/>
                </a:solidFill>
                <a:cs typeface="+mn-ea"/>
                <a:sym typeface="+mn-lt"/>
              </a:rPr>
              <a:t>Foo</a:t>
            </a:r>
            <a:r>
              <a:rPr lang="en-US" altLang="zh-CN" sz="1200" dirty="0">
                <a:solidFill>
                  <a:srgbClr val="ABB2BF"/>
                </a:solidFill>
                <a:cs typeface="+mn-ea"/>
                <a:sym typeface="+mn-lt"/>
              </a:rPr>
              <a:t>::</a:t>
            </a:r>
            <a:r>
              <a:rPr lang="en-US" altLang="zh-CN" sz="1200" dirty="0" err="1">
                <a:solidFill>
                  <a:srgbClr val="56B6C2"/>
                </a:solidFill>
                <a:cs typeface="+mn-ea"/>
                <a:sym typeface="+mn-lt"/>
              </a:rPr>
              <a:t>Qux</a:t>
            </a:r>
            <a:r>
              <a:rPr lang="en-US" altLang="zh-CN" sz="1200" dirty="0">
                <a:solidFill>
                  <a:srgbClr val="ABB2BF"/>
                </a:solidFill>
                <a:cs typeface="+mn-ea"/>
                <a:sym typeface="+mn-lt"/>
              </a:rPr>
              <a:t>(</a:t>
            </a:r>
            <a:r>
              <a:rPr lang="en-US" altLang="zh-CN" sz="1200" dirty="0">
                <a:solidFill>
                  <a:srgbClr val="D19A66"/>
                </a:solidFill>
                <a:cs typeface="+mn-ea"/>
                <a:sym typeface="+mn-lt"/>
              </a:rPr>
              <a:t>100</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5C07B"/>
                </a:solidFill>
                <a:cs typeface="+mn-ea"/>
                <a:sym typeface="+mn-lt"/>
              </a:rPr>
              <a:t>Foo</a:t>
            </a:r>
            <a:r>
              <a:rPr lang="en-US" altLang="zh-CN" sz="1200" dirty="0">
                <a:solidFill>
                  <a:srgbClr val="ABB2BF"/>
                </a:solidFill>
                <a:cs typeface="+mn-ea"/>
                <a:sym typeface="+mn-lt"/>
              </a:rPr>
              <a:t>::</a:t>
            </a:r>
            <a:r>
              <a:rPr lang="en-US" altLang="zh-CN" sz="1200" dirty="0">
                <a:solidFill>
                  <a:srgbClr val="56B6C2"/>
                </a:solidFill>
                <a:cs typeface="+mn-ea"/>
                <a:sym typeface="+mn-lt"/>
              </a:rPr>
              <a:t>Bar</a:t>
            </a:r>
            <a:r>
              <a:rPr lang="en-US" altLang="zh-CN" sz="1200" dirty="0">
                <a:solidFill>
                  <a:srgbClr val="ABB2BF"/>
                </a:solidFill>
                <a:cs typeface="+mn-ea"/>
                <a:sym typeface="+mn-lt"/>
              </a:rPr>
              <a:t> = </a:t>
            </a:r>
            <a:r>
              <a:rPr lang="en-US" altLang="zh-CN" sz="1200" dirty="0">
                <a:solidFill>
                  <a:srgbClr val="E06C75"/>
                </a:solidFill>
                <a:cs typeface="+mn-ea"/>
                <a:sym typeface="+mn-lt"/>
              </a:rPr>
              <a:t>a</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D19A66"/>
                </a:solidFill>
                <a:cs typeface="+mn-ea"/>
                <a:sym typeface="+mn-lt"/>
              </a:rPr>
              <a:t>println</a:t>
            </a:r>
            <a:r>
              <a:rPr lang="en-US" altLang="zh-CN" sz="1200" dirty="0">
                <a:solidFill>
                  <a:srgbClr val="D19A66"/>
                </a:solidFill>
                <a:cs typeface="+mn-ea"/>
                <a:sym typeface="+mn-lt"/>
              </a:rPr>
              <a:t>!</a:t>
            </a:r>
            <a:r>
              <a:rPr lang="en-US" altLang="zh-CN" sz="1200" dirty="0">
                <a:solidFill>
                  <a:srgbClr val="ABB2BF"/>
                </a:solidFill>
                <a:cs typeface="+mn-ea"/>
                <a:sym typeface="+mn-lt"/>
              </a:rPr>
              <a:t>(</a:t>
            </a:r>
            <a:r>
              <a:rPr lang="en-US" altLang="zh-CN" sz="1200" dirty="0">
                <a:solidFill>
                  <a:srgbClr val="98C379"/>
                </a:solidFill>
                <a:cs typeface="+mn-ea"/>
                <a:sym typeface="+mn-lt"/>
              </a:rPr>
              <a:t>"a is </a:t>
            </a:r>
            <a:r>
              <a:rPr lang="en-US" altLang="zh-CN" sz="1200" dirty="0" err="1">
                <a:solidFill>
                  <a:srgbClr val="98C379"/>
                </a:solidFill>
                <a:cs typeface="+mn-ea"/>
                <a:sym typeface="+mn-lt"/>
              </a:rPr>
              <a:t>foobar</a:t>
            </a:r>
            <a:r>
              <a:rPr lang="en-US" altLang="zh-CN" sz="1200" dirty="0">
                <a:solidFill>
                  <a:srgbClr val="98C379"/>
                </a:solidFill>
                <a:cs typeface="+mn-ea"/>
                <a:sym typeface="+mn-lt"/>
              </a:rPr>
              <a:t>"</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5C07B"/>
                </a:solidFill>
                <a:cs typeface="+mn-ea"/>
                <a:sym typeface="+mn-lt"/>
              </a:rPr>
              <a:t>Foo</a:t>
            </a:r>
            <a:r>
              <a:rPr lang="en-US" altLang="zh-CN" sz="1200" dirty="0">
                <a:solidFill>
                  <a:srgbClr val="ABB2BF"/>
                </a:solidFill>
                <a:cs typeface="+mn-ea"/>
                <a:sym typeface="+mn-lt"/>
              </a:rPr>
              <a:t>::</a:t>
            </a:r>
            <a:r>
              <a:rPr lang="en-US" altLang="zh-CN" sz="1200" dirty="0">
                <a:solidFill>
                  <a:srgbClr val="56B6C2"/>
                </a:solidFill>
                <a:cs typeface="+mn-ea"/>
                <a:sym typeface="+mn-lt"/>
              </a:rPr>
              <a:t>Bar</a:t>
            </a:r>
            <a:r>
              <a:rPr lang="en-US" altLang="zh-CN" sz="1200" dirty="0">
                <a:solidFill>
                  <a:srgbClr val="ABB2BF"/>
                </a:solidFill>
                <a:cs typeface="+mn-ea"/>
                <a:sym typeface="+mn-lt"/>
              </a:rPr>
              <a:t> = </a:t>
            </a:r>
            <a:r>
              <a:rPr lang="en-US" altLang="zh-CN" sz="1200" dirty="0">
                <a:solidFill>
                  <a:srgbClr val="E06C75"/>
                </a:solidFill>
                <a:cs typeface="+mn-ea"/>
                <a:sym typeface="+mn-lt"/>
              </a:rPr>
              <a:t>b</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D19A66"/>
                </a:solidFill>
                <a:cs typeface="+mn-ea"/>
                <a:sym typeface="+mn-lt"/>
              </a:rPr>
              <a:t>println</a:t>
            </a:r>
            <a:r>
              <a:rPr lang="en-US" altLang="zh-CN" sz="1200" dirty="0">
                <a:solidFill>
                  <a:srgbClr val="D19A66"/>
                </a:solidFill>
                <a:cs typeface="+mn-ea"/>
                <a:sym typeface="+mn-lt"/>
              </a:rPr>
              <a:t>!</a:t>
            </a:r>
            <a:r>
              <a:rPr lang="en-US" altLang="zh-CN" sz="1200" dirty="0">
                <a:solidFill>
                  <a:srgbClr val="ABB2BF"/>
                </a:solidFill>
                <a:cs typeface="+mn-ea"/>
                <a:sym typeface="+mn-lt"/>
              </a:rPr>
              <a:t>(</a:t>
            </a:r>
            <a:r>
              <a:rPr lang="en-US" altLang="zh-CN" sz="1200" dirty="0">
                <a:solidFill>
                  <a:srgbClr val="98C379"/>
                </a:solidFill>
                <a:cs typeface="+mn-ea"/>
                <a:sym typeface="+mn-lt"/>
              </a:rPr>
              <a:t>"b is </a:t>
            </a:r>
            <a:r>
              <a:rPr lang="en-US" altLang="zh-CN" sz="1200" dirty="0" err="1">
                <a:solidFill>
                  <a:srgbClr val="98C379"/>
                </a:solidFill>
                <a:cs typeface="+mn-ea"/>
                <a:sym typeface="+mn-lt"/>
              </a:rPr>
              <a:t>foobar</a:t>
            </a:r>
            <a:r>
              <a:rPr lang="en-US" altLang="zh-CN" sz="1200" dirty="0">
                <a:solidFill>
                  <a:srgbClr val="98C379"/>
                </a:solidFill>
                <a:cs typeface="+mn-ea"/>
                <a:sym typeface="+mn-lt"/>
              </a:rPr>
              <a:t>"</a:t>
            </a:r>
            <a:r>
              <a:rPr lang="en-US" altLang="zh-CN" sz="1200" dirty="0">
                <a:solidFill>
                  <a:srgbClr val="ABB2BF"/>
                </a:solidFill>
                <a:cs typeface="+mn-ea"/>
                <a:sym typeface="+mn-lt"/>
              </a:rPr>
              <a:t>);</a:t>
            </a:r>
          </a:p>
          <a:p>
            <a:r>
              <a:rPr lang="en-US" altLang="zh-CN" sz="1200" dirty="0">
                <a:solidFill>
                  <a:srgbClr val="ABB2BF"/>
                </a:solidFill>
                <a:cs typeface="+mn-ea"/>
                <a:sym typeface="+mn-lt"/>
              </a:rPr>
              <a:t>    } </a:t>
            </a:r>
            <a:r>
              <a:rPr lang="en-US" altLang="zh-CN" sz="1200" dirty="0">
                <a:solidFill>
                  <a:srgbClr val="C678DD"/>
                </a:solidFill>
                <a:cs typeface="+mn-ea"/>
                <a:sym typeface="+mn-lt"/>
              </a:rPr>
              <a:t>else</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D19A66"/>
                </a:solidFill>
                <a:cs typeface="+mn-ea"/>
                <a:sym typeface="+mn-lt"/>
              </a:rPr>
              <a:t>println</a:t>
            </a:r>
            <a:r>
              <a:rPr lang="en-US" altLang="zh-CN" sz="1200" dirty="0">
                <a:solidFill>
                  <a:srgbClr val="D19A66"/>
                </a:solidFill>
                <a:cs typeface="+mn-ea"/>
                <a:sym typeface="+mn-lt"/>
              </a:rPr>
              <a:t>!</a:t>
            </a:r>
            <a:r>
              <a:rPr lang="en-US" altLang="zh-CN" sz="1200" dirty="0">
                <a:solidFill>
                  <a:srgbClr val="ABB2BF"/>
                </a:solidFill>
                <a:cs typeface="+mn-ea"/>
                <a:sym typeface="+mn-lt"/>
              </a:rPr>
              <a:t>(</a:t>
            </a:r>
            <a:r>
              <a:rPr lang="en-US" altLang="zh-CN" sz="1200" dirty="0">
                <a:solidFill>
                  <a:srgbClr val="98C379"/>
                </a:solidFill>
                <a:cs typeface="+mn-ea"/>
                <a:sym typeface="+mn-lt"/>
              </a:rPr>
              <a:t>"</a:t>
            </a:r>
            <a:r>
              <a:rPr lang="en-US" altLang="zh-CN" sz="1200" dirty="0" err="1">
                <a:solidFill>
                  <a:srgbClr val="98C379"/>
                </a:solidFill>
                <a:cs typeface="+mn-ea"/>
                <a:sym typeface="+mn-lt"/>
              </a:rPr>
              <a:t>bbbbb</a:t>
            </a:r>
            <a:r>
              <a:rPr lang="en-US" altLang="zh-CN" sz="1200" dirty="0">
                <a:solidFill>
                  <a:srgbClr val="98C379"/>
                </a:solidFill>
                <a:cs typeface="+mn-ea"/>
                <a:sym typeface="+mn-lt"/>
              </a:rPr>
              <a:t>"</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5C07B"/>
                </a:solidFill>
                <a:cs typeface="+mn-ea"/>
                <a:sym typeface="+mn-lt"/>
              </a:rPr>
              <a:t>Foo</a:t>
            </a:r>
            <a:r>
              <a:rPr lang="en-US" altLang="zh-CN" sz="1200" dirty="0">
                <a:solidFill>
                  <a:srgbClr val="ABB2BF"/>
                </a:solidFill>
                <a:cs typeface="+mn-ea"/>
                <a:sym typeface="+mn-lt"/>
              </a:rPr>
              <a:t>::</a:t>
            </a:r>
            <a:r>
              <a:rPr lang="en-US" altLang="zh-CN" sz="1200" dirty="0" err="1">
                <a:solidFill>
                  <a:srgbClr val="56B6C2"/>
                </a:solidFill>
                <a:cs typeface="+mn-ea"/>
                <a:sym typeface="+mn-lt"/>
              </a:rPr>
              <a:t>Qux</a:t>
            </a:r>
            <a:r>
              <a:rPr lang="en-US" altLang="zh-CN" sz="1200" dirty="0">
                <a:solidFill>
                  <a:srgbClr val="ABB2BF"/>
                </a:solidFill>
                <a:cs typeface="+mn-ea"/>
                <a:sym typeface="+mn-lt"/>
              </a:rPr>
              <a:t>(</a:t>
            </a:r>
            <a:r>
              <a:rPr lang="en-US" altLang="zh-CN" sz="1200" dirty="0">
                <a:solidFill>
                  <a:srgbClr val="E06C75"/>
                </a:solidFill>
                <a:cs typeface="+mn-ea"/>
                <a:sym typeface="+mn-lt"/>
              </a:rPr>
              <a:t>value</a:t>
            </a:r>
            <a:r>
              <a:rPr lang="en-US" altLang="zh-CN" sz="1200" dirty="0">
                <a:solidFill>
                  <a:srgbClr val="ABB2BF"/>
                </a:solidFill>
                <a:cs typeface="+mn-ea"/>
                <a:sym typeface="+mn-lt"/>
              </a:rPr>
              <a:t>) = </a:t>
            </a:r>
            <a:r>
              <a:rPr lang="en-US" altLang="zh-CN" sz="1200" dirty="0">
                <a:solidFill>
                  <a:srgbClr val="E06C75"/>
                </a:solidFill>
                <a:cs typeface="+mn-ea"/>
                <a:sym typeface="+mn-lt"/>
              </a:rPr>
              <a:t>c</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D19A66"/>
                </a:solidFill>
                <a:cs typeface="+mn-ea"/>
                <a:sym typeface="+mn-lt"/>
              </a:rPr>
              <a:t>assert_eq</a:t>
            </a:r>
            <a:r>
              <a:rPr lang="en-US" altLang="zh-CN" sz="1200" dirty="0">
                <a:solidFill>
                  <a:srgbClr val="D19A66"/>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100</a:t>
            </a:r>
            <a:r>
              <a:rPr lang="en-US" altLang="zh-CN" sz="1200" dirty="0">
                <a:solidFill>
                  <a:srgbClr val="ABB2BF"/>
                </a:solidFill>
                <a:cs typeface="+mn-ea"/>
                <a:sym typeface="+mn-lt"/>
              </a:rPr>
              <a:t>, </a:t>
            </a:r>
            <a:r>
              <a:rPr lang="en-US" altLang="zh-CN" sz="1200" dirty="0">
                <a:solidFill>
                  <a:srgbClr val="E06C75"/>
                </a:solidFill>
                <a:cs typeface="+mn-ea"/>
                <a:sym typeface="+mn-lt"/>
              </a:rPr>
              <a:t>value</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a:t>
            </a:r>
          </a:p>
        </p:txBody>
      </p:sp>
      <p:pic>
        <p:nvPicPr>
          <p:cNvPr id="5" name="Picture 4" descr="upload_965205089"/>
          <p:cNvPicPr>
            <a:picLocks noChangeAspect="1"/>
          </p:cNvPicPr>
          <p:nvPr/>
        </p:nvPicPr>
        <p:blipFill>
          <a:blip r:embed="rId4"/>
          <a:stretch>
            <a:fillRect/>
          </a:stretch>
        </p:blipFill>
        <p:spPr>
          <a:xfrm>
            <a:off x="6330859" y="5962335"/>
            <a:ext cx="4296055" cy="7707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6272"/>
    </mc:Choice>
    <mc:Fallback xmlns="">
      <p:transition spd="slow" advTm="5627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表达式和流程控制</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循环表达式</a:t>
            </a:r>
          </a:p>
        </p:txBody>
      </p:sp>
      <p:sp>
        <p:nvSpPr>
          <p:cNvPr id="9" name="文本框 8"/>
          <p:cNvSpPr txBox="1"/>
          <p:nvPr/>
        </p:nvSpPr>
        <p:spPr>
          <a:xfrm>
            <a:off x="2556284" y="909806"/>
            <a:ext cx="6697444" cy="3323987"/>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loop</a:t>
            </a:r>
            <a:r>
              <a:rPr lang="zh-CN" altLang="en-US" sz="1400" b="1" dirty="0">
                <a:solidFill>
                  <a:srgbClr val="00B050"/>
                </a:solidFill>
                <a:cs typeface="+mn-ea"/>
                <a:sym typeface="+mn-lt"/>
              </a:rPr>
              <a:t>表达式代码示例</a:t>
            </a:r>
            <a:endParaRPr lang="en-US" altLang="zh-CN" sz="1400" dirty="0">
              <a:solidFill>
                <a:srgbClr val="FFFFFF"/>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06C75"/>
                </a:solidFill>
                <a:cs typeface="+mn-ea"/>
                <a:sym typeface="+mn-lt"/>
              </a:rPr>
              <a:t>counter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a:t>
            </a:r>
          </a:p>
          <a:p>
            <a:r>
              <a:rPr lang="en-US" altLang="zh-CN" sz="1400" i="1" dirty="0">
                <a:solidFill>
                  <a:srgbClr val="7F848E"/>
                </a:solidFill>
                <a:cs typeface="+mn-ea"/>
                <a:sym typeface="+mn-lt"/>
              </a:rPr>
              <a:t>    // </a:t>
            </a:r>
            <a:r>
              <a:rPr lang="zh-CN" altLang="en-US" sz="1400" i="1" dirty="0">
                <a:solidFill>
                  <a:srgbClr val="7F848E"/>
                </a:solidFill>
                <a:cs typeface="+mn-ea"/>
                <a:sym typeface="+mn-lt"/>
              </a:rPr>
              <a:t>使用 </a:t>
            </a:r>
            <a:r>
              <a:rPr lang="en-US" altLang="zh-CN" sz="1400" i="1" dirty="0">
                <a:solidFill>
                  <a:srgbClr val="7F848E"/>
                </a:solidFill>
                <a:cs typeface="+mn-ea"/>
                <a:sym typeface="+mn-lt"/>
              </a:rPr>
              <a:t>loop </a:t>
            </a:r>
            <a:r>
              <a:rPr lang="zh-CN" altLang="en-US" sz="1400" i="1" dirty="0">
                <a:solidFill>
                  <a:srgbClr val="7F848E"/>
                </a:solidFill>
                <a:cs typeface="+mn-ea"/>
                <a:sym typeface="+mn-lt"/>
              </a:rPr>
              <a:t>重复执行代码</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result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C678DD"/>
                </a:solidFill>
                <a:cs typeface="+mn-ea"/>
                <a:sym typeface="+mn-lt"/>
              </a:rPr>
              <a:t>loop</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counter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counter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p>
          <a:p>
            <a:r>
              <a:rPr lang="en-US" altLang="zh-CN" sz="1400" i="1" dirty="0">
                <a:solidFill>
                  <a:srgbClr val="7F848E"/>
                </a:solidFill>
                <a:cs typeface="+mn-ea"/>
                <a:sym typeface="+mn-lt"/>
              </a:rPr>
              <a:t>            // break</a:t>
            </a:r>
            <a:r>
              <a:rPr lang="zh-CN" altLang="en-US" sz="1400" i="1" dirty="0">
                <a:solidFill>
                  <a:srgbClr val="7F848E"/>
                </a:solidFill>
                <a:cs typeface="+mn-ea"/>
                <a:sym typeface="+mn-lt"/>
              </a:rPr>
              <a:t>表达式只允许在循环体内使用</a:t>
            </a:r>
            <a:endParaRPr lang="en-US" altLang="zh-CN" sz="1400" i="1" dirty="0">
              <a:solidFill>
                <a:srgbClr val="7F848E"/>
              </a:solidFill>
              <a:cs typeface="+mn-ea"/>
              <a:sym typeface="+mn-lt"/>
            </a:endParaRPr>
          </a:p>
          <a:p>
            <a:r>
              <a:rPr lang="zh-CN" altLang="en-US" sz="1400" i="1" dirty="0">
                <a:solidFill>
                  <a:srgbClr val="7F848E"/>
                </a:solidFill>
                <a:cs typeface="+mn-ea"/>
                <a:sym typeface="+mn-lt"/>
              </a:rPr>
              <a:t>            </a:t>
            </a:r>
            <a:r>
              <a:rPr lang="en-US" altLang="zh-CN" sz="1400" i="1" dirty="0">
                <a:solidFill>
                  <a:srgbClr val="7F848E"/>
                </a:solidFill>
                <a:cs typeface="+mn-ea"/>
                <a:sym typeface="+mn-lt"/>
              </a:rPr>
              <a:t>// </a:t>
            </a:r>
            <a:r>
              <a:rPr lang="zh-CN" altLang="en-US" sz="1400" i="1" dirty="0">
                <a:solidFill>
                  <a:srgbClr val="7F848E"/>
                </a:solidFill>
                <a:cs typeface="+mn-ea"/>
                <a:sym typeface="+mn-lt"/>
              </a:rPr>
              <a:t>退出循环并返回值，如果未指定值，</a:t>
            </a:r>
            <a:r>
              <a:rPr lang="en-US" altLang="zh-CN" sz="1400" i="1" dirty="0">
                <a:solidFill>
                  <a:srgbClr val="7F848E"/>
                </a:solidFill>
                <a:cs typeface="+mn-ea"/>
                <a:sym typeface="+mn-lt"/>
              </a:rPr>
              <a:t>break</a:t>
            </a:r>
            <a:r>
              <a:rPr lang="zh-CN" altLang="en-US" sz="1400" i="1" dirty="0">
                <a:solidFill>
                  <a:srgbClr val="7F848E"/>
                </a:solidFill>
                <a:cs typeface="+mn-ea"/>
                <a:sym typeface="+mn-lt"/>
              </a:rPr>
              <a:t>；返回</a:t>
            </a:r>
            <a:r>
              <a:rPr lang="en-US" altLang="zh-CN" sz="1400" i="1" dirty="0">
                <a:solidFill>
                  <a:srgbClr val="7F848E"/>
                </a:solidFill>
                <a:cs typeface="+mn-ea"/>
                <a:sym typeface="+mn-lt"/>
              </a:rPr>
              <a:t>()</a:t>
            </a:r>
            <a:endParaRPr lang="zh-CN" altLang="en-US" sz="1400" dirty="0">
              <a:solidFill>
                <a:srgbClr val="ABB2BF"/>
              </a:solidFill>
              <a:cs typeface="+mn-ea"/>
              <a:sym typeface="+mn-lt"/>
            </a:endParaRPr>
          </a:p>
          <a:p>
            <a:r>
              <a:rPr lang="zh-CN" altLang="en-US" sz="1400" i="1" dirty="0">
                <a:solidFill>
                  <a:srgbClr val="7F848E"/>
                </a:solidFill>
                <a:cs typeface="+mn-ea"/>
                <a:sym typeface="+mn-lt"/>
              </a:rPr>
              <a:t>            </a:t>
            </a:r>
            <a:r>
              <a:rPr lang="en-US" altLang="zh-CN" sz="1400" i="1" dirty="0">
                <a:solidFill>
                  <a:srgbClr val="7F848E"/>
                </a:solidFill>
                <a:cs typeface="+mn-ea"/>
                <a:sym typeface="+mn-lt"/>
              </a:rPr>
              <a:t>// </a:t>
            </a:r>
            <a:r>
              <a:rPr lang="zh-CN" altLang="en-US" sz="1400" i="1" dirty="0">
                <a:solidFill>
                  <a:srgbClr val="7F848E"/>
                </a:solidFill>
                <a:cs typeface="+mn-ea"/>
                <a:sym typeface="+mn-lt"/>
              </a:rPr>
              <a:t>循环内的每个</a:t>
            </a:r>
            <a:r>
              <a:rPr lang="en-US" altLang="zh-CN" sz="1400" i="1" dirty="0">
                <a:solidFill>
                  <a:srgbClr val="7F848E"/>
                </a:solidFill>
                <a:cs typeface="+mn-ea"/>
                <a:sym typeface="+mn-lt"/>
              </a:rPr>
              <a:t>break</a:t>
            </a:r>
            <a:r>
              <a:rPr lang="zh-CN" altLang="en-US" sz="1400" i="1" dirty="0">
                <a:solidFill>
                  <a:srgbClr val="7F848E"/>
                </a:solidFill>
                <a:cs typeface="+mn-ea"/>
                <a:sym typeface="+mn-lt"/>
              </a:rPr>
              <a:t>必须返回相同的类型</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break</a:t>
            </a:r>
            <a:r>
              <a:rPr lang="en-US" altLang="zh-CN" sz="1400" dirty="0">
                <a:solidFill>
                  <a:srgbClr val="ABB2BF"/>
                </a:solidFill>
                <a:cs typeface="+mn-ea"/>
                <a:sym typeface="+mn-lt"/>
              </a:rPr>
              <a:t> </a:t>
            </a:r>
            <a:r>
              <a:rPr lang="en-US" altLang="zh-CN" sz="1400" dirty="0">
                <a:solidFill>
                  <a:srgbClr val="E06C75"/>
                </a:solidFill>
                <a:cs typeface="+mn-ea"/>
                <a:sym typeface="+mn-lt"/>
              </a:rPr>
              <a:t>counter</a:t>
            </a:r>
            <a:r>
              <a:rPr lang="en-US" altLang="zh-CN" sz="1400" dirty="0">
                <a:solidFill>
                  <a:srgbClr val="ABB2BF"/>
                </a:solidFill>
                <a:cs typeface="+mn-ea"/>
                <a:sym typeface="+mn-lt"/>
              </a:rPr>
              <a:t> * </a:t>
            </a:r>
            <a:r>
              <a:rPr lang="en-US" altLang="zh-CN" sz="1400" dirty="0">
                <a:solidFill>
                  <a:srgbClr val="D19A66"/>
                </a:solidFill>
                <a:cs typeface="+mn-ea"/>
                <a:sym typeface="+mn-lt"/>
              </a:rPr>
              <a:t>2</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20</a:t>
            </a:r>
            <a:r>
              <a:rPr lang="en-US" altLang="zh-CN" sz="1400" dirty="0">
                <a:solidFill>
                  <a:srgbClr val="ABB2BF"/>
                </a:solidFill>
                <a:cs typeface="+mn-ea"/>
                <a:sym typeface="+mn-lt"/>
              </a:rPr>
              <a:t>, </a:t>
            </a:r>
            <a:r>
              <a:rPr lang="en-US" altLang="zh-CN" sz="1400" dirty="0">
                <a:solidFill>
                  <a:srgbClr val="E06C75"/>
                </a:solidFill>
                <a:cs typeface="+mn-ea"/>
                <a:sym typeface="+mn-lt"/>
              </a:rPr>
              <a:t>result</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cxnSp>
        <p:nvCxnSpPr>
          <p:cNvPr id="5" name="直接连接符 4"/>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 name="内容占位符 2"/>
          <p:cNvSpPr>
            <a:spLocks noGrp="1"/>
          </p:cNvSpPr>
          <p:nvPr>
            <p:ph idx="10"/>
          </p:nvPr>
        </p:nvSpPr>
        <p:spPr>
          <a:xfrm>
            <a:off x="319873" y="789804"/>
            <a:ext cx="1655232" cy="2426061"/>
          </a:xfrm>
        </p:spPr>
        <p:txBody>
          <a:bodyPr/>
          <a:lstStyle/>
          <a:p>
            <a:pPr>
              <a:lnSpc>
                <a:spcPct val="150000"/>
              </a:lnSpc>
            </a:pPr>
            <a:r>
              <a:rPr lang="zh-CN" altLang="en-US" sz="1600" b="1" dirty="0">
                <a:latin typeface="+mn-lt"/>
                <a:ea typeface="+mn-ea"/>
                <a:cs typeface="+mn-ea"/>
                <a:sym typeface="+mn-lt"/>
              </a:rPr>
              <a:t>循环表达式：</a:t>
            </a:r>
            <a:endParaRPr lang="en-US" altLang="zh-CN" sz="1600" b="1" dirty="0">
              <a:latin typeface="+mn-lt"/>
              <a:ea typeface="+mn-ea"/>
              <a:cs typeface="+mn-ea"/>
              <a:sym typeface="+mn-lt"/>
            </a:endParaRPr>
          </a:p>
          <a:p>
            <a:pPr marL="811530" lvl="1" indent="-285750">
              <a:lnSpc>
                <a:spcPct val="100000"/>
              </a:lnSpc>
            </a:pPr>
            <a:r>
              <a:rPr lang="en-US" altLang="zh-CN" sz="1400" dirty="0">
                <a:cs typeface="+mn-ea"/>
                <a:sym typeface="+mn-lt"/>
              </a:rPr>
              <a:t>loop</a:t>
            </a:r>
          </a:p>
          <a:p>
            <a:pPr marL="811530" lvl="1" indent="-285750">
              <a:lnSpc>
                <a:spcPct val="100000"/>
              </a:lnSpc>
            </a:pPr>
            <a:r>
              <a:rPr lang="en-US" altLang="zh-CN" sz="1400" dirty="0">
                <a:cs typeface="+mn-ea"/>
                <a:sym typeface="+mn-lt"/>
              </a:rPr>
              <a:t>for</a:t>
            </a:r>
          </a:p>
          <a:p>
            <a:pPr marL="811530" lvl="1" indent="-285750">
              <a:lnSpc>
                <a:spcPct val="100000"/>
              </a:lnSpc>
            </a:pPr>
            <a:r>
              <a:rPr lang="en-US" altLang="zh-CN" sz="1400" dirty="0">
                <a:cs typeface="+mn-ea"/>
                <a:sym typeface="+mn-lt"/>
              </a:rPr>
              <a:t>while</a:t>
            </a:r>
          </a:p>
          <a:p>
            <a:pPr marL="811530" lvl="1" indent="-285750">
              <a:lnSpc>
                <a:spcPct val="100000"/>
              </a:lnSpc>
            </a:pPr>
            <a:r>
              <a:rPr lang="en-US" altLang="zh-CN" sz="1400" dirty="0">
                <a:cs typeface="+mn-ea"/>
                <a:sym typeface="+mn-lt"/>
              </a:rPr>
              <a:t>break</a:t>
            </a:r>
          </a:p>
          <a:p>
            <a:pPr marL="811530" lvl="1" indent="-285750">
              <a:lnSpc>
                <a:spcPct val="100000"/>
              </a:lnSpc>
            </a:pPr>
            <a:r>
              <a:rPr lang="en-US" altLang="zh-CN" sz="1400" dirty="0">
                <a:cs typeface="+mn-ea"/>
                <a:sym typeface="+mn-lt"/>
              </a:rPr>
              <a:t>continue</a:t>
            </a:r>
          </a:p>
        </p:txBody>
      </p:sp>
      <p:sp>
        <p:nvSpPr>
          <p:cNvPr id="14" name="文本框 13"/>
          <p:cNvSpPr txBox="1"/>
          <p:nvPr/>
        </p:nvSpPr>
        <p:spPr>
          <a:xfrm>
            <a:off x="1052326" y="4320002"/>
            <a:ext cx="4499028" cy="224536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for</a:t>
            </a:r>
            <a:r>
              <a:rPr lang="zh-CN" altLang="en-US" sz="1400" b="1" dirty="0">
                <a:solidFill>
                  <a:srgbClr val="00B050"/>
                </a:solidFill>
                <a:cs typeface="+mn-ea"/>
                <a:sym typeface="+mn-lt"/>
              </a:rPr>
              <a:t>表达式代码示例</a:t>
            </a:r>
            <a:endParaRPr lang="en-US" altLang="zh-CN" sz="1400" dirty="0">
              <a:solidFill>
                <a:srgbClr val="FFFFFF"/>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r>
              <a:rPr lang="en-US" altLang="zh-CN" sz="1400" dirty="0">
                <a:solidFill>
                  <a:srgbClr val="D19A66"/>
                </a:solidFill>
                <a:cs typeface="+mn-ea"/>
                <a:sym typeface="+mn-lt"/>
              </a:rPr>
              <a:t>20</a:t>
            </a:r>
            <a:r>
              <a:rPr lang="en-US" altLang="zh-CN" sz="1400" dirty="0">
                <a:solidFill>
                  <a:srgbClr val="ABB2BF"/>
                </a:solidFill>
                <a:cs typeface="+mn-ea"/>
                <a:sym typeface="+mn-lt"/>
              </a:rPr>
              <a:t>, </a:t>
            </a:r>
            <a:r>
              <a:rPr lang="en-US" altLang="zh-CN" sz="1400" dirty="0">
                <a:solidFill>
                  <a:srgbClr val="D19A66"/>
                </a:solidFill>
                <a:cs typeface="+mn-ea"/>
                <a:sym typeface="+mn-lt"/>
              </a:rPr>
              <a:t>30</a:t>
            </a:r>
            <a:r>
              <a:rPr lang="en-US" altLang="zh-CN" sz="1400" dirty="0">
                <a:solidFill>
                  <a:srgbClr val="ABB2BF"/>
                </a:solidFill>
                <a:cs typeface="+mn-ea"/>
                <a:sym typeface="+mn-lt"/>
              </a:rPr>
              <a:t>, </a:t>
            </a:r>
            <a:r>
              <a:rPr lang="en-US" altLang="zh-CN" sz="1400" dirty="0">
                <a:solidFill>
                  <a:srgbClr val="D19A66"/>
                </a:solidFill>
                <a:cs typeface="+mn-ea"/>
                <a:sym typeface="+mn-lt"/>
              </a:rPr>
              <a:t>40</a:t>
            </a:r>
            <a:r>
              <a:rPr lang="en-US" altLang="zh-CN" sz="1400" dirty="0">
                <a:solidFill>
                  <a:srgbClr val="ABB2BF"/>
                </a:solidFill>
                <a:cs typeface="+mn-ea"/>
                <a:sym typeface="+mn-lt"/>
              </a:rPr>
              <a:t>, </a:t>
            </a:r>
            <a:r>
              <a:rPr lang="en-US" altLang="zh-CN" sz="1400" dirty="0">
                <a:solidFill>
                  <a:srgbClr val="D19A66"/>
                </a:solidFill>
                <a:cs typeface="+mn-ea"/>
                <a:sym typeface="+mn-lt"/>
              </a:rPr>
              <a:t>50</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for</a:t>
            </a:r>
            <a:r>
              <a:rPr lang="en-US" altLang="zh-CN" sz="1400" dirty="0">
                <a:solidFill>
                  <a:srgbClr val="ABB2BF"/>
                </a:solidFill>
                <a:cs typeface="+mn-ea"/>
                <a:sym typeface="+mn-lt"/>
              </a:rPr>
              <a:t> </a:t>
            </a:r>
            <a:r>
              <a:rPr lang="en-US" altLang="zh-CN" sz="1400" dirty="0">
                <a:solidFill>
                  <a:srgbClr val="E06C75"/>
                </a:solidFill>
                <a:cs typeface="+mn-ea"/>
                <a:sym typeface="+mn-lt"/>
              </a:rPr>
              <a:t>element</a:t>
            </a:r>
            <a:r>
              <a:rPr lang="en-US" altLang="zh-CN" sz="1400" dirty="0">
                <a:solidFill>
                  <a:srgbClr val="ABB2BF"/>
                </a:solidFill>
                <a:cs typeface="+mn-ea"/>
                <a:sym typeface="+mn-lt"/>
              </a:rPr>
              <a:t> </a:t>
            </a:r>
            <a:r>
              <a:rPr lang="en-US" altLang="zh-CN" sz="1400" dirty="0">
                <a:solidFill>
                  <a:srgbClr val="C678DD"/>
                </a:solidFill>
                <a:cs typeface="+mn-ea"/>
                <a:sym typeface="+mn-lt"/>
              </a:rPr>
              <a:t>in</a:t>
            </a:r>
            <a:r>
              <a:rPr lang="en-US" altLang="zh-CN" sz="1400" dirty="0">
                <a:solidFill>
                  <a:srgbClr val="ABB2BF"/>
                </a:solidFill>
                <a:cs typeface="+mn-ea"/>
                <a:sym typeface="+mn-lt"/>
              </a:rPr>
              <a:t> </a:t>
            </a:r>
            <a:r>
              <a:rPr lang="en-US" altLang="zh-CN" sz="1400" dirty="0">
                <a:solidFill>
                  <a:srgbClr val="E06C75"/>
                </a:solidFill>
                <a:cs typeface="+mn-ea"/>
                <a:sym typeface="+mn-lt"/>
              </a:rPr>
              <a:t>a</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element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30</a:t>
            </a:r>
            <a:r>
              <a:rPr lang="en-US" altLang="zh-CN" sz="1400" dirty="0">
                <a:solidFill>
                  <a:srgbClr val="ABB2BF"/>
                </a:solidFill>
                <a:cs typeface="+mn-ea"/>
                <a:sym typeface="+mn-lt"/>
              </a:rPr>
              <a:t> {</a:t>
            </a:r>
            <a:endParaRPr lang="en-US" altLang="zh-CN" sz="1400" i="1" dirty="0">
              <a:solidFill>
                <a:srgbClr val="7F848E"/>
              </a:solidFill>
              <a:cs typeface="+mn-ea"/>
              <a:sym typeface="+mn-lt"/>
            </a:endParaRPr>
          </a:p>
          <a:p>
            <a:r>
              <a:rPr lang="en-US" altLang="zh-CN" sz="1400" dirty="0">
                <a:solidFill>
                  <a:srgbClr val="ABB2BF"/>
                </a:solidFill>
                <a:cs typeface="+mn-ea"/>
                <a:sym typeface="+mn-lt"/>
              </a:rPr>
              <a:t>            </a:t>
            </a:r>
            <a:r>
              <a:rPr lang="en-US" altLang="zh-CN" sz="1400" dirty="0">
                <a:solidFill>
                  <a:srgbClr val="C678DD"/>
                </a:solidFill>
                <a:cs typeface="+mn-ea"/>
                <a:sym typeface="+mn-lt"/>
              </a:rPr>
              <a:t>continue</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"the value is: {element}"</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pic>
        <p:nvPicPr>
          <p:cNvPr id="15" name="图片 14"/>
          <p:cNvPicPr>
            <a:picLocks noChangeAspect="1"/>
          </p:cNvPicPr>
          <p:nvPr/>
        </p:nvPicPr>
        <p:blipFill>
          <a:blip r:embed="rId3"/>
          <a:stretch>
            <a:fillRect/>
          </a:stretch>
        </p:blipFill>
        <p:spPr>
          <a:xfrm>
            <a:off x="6418897" y="4833075"/>
            <a:ext cx="4352925" cy="1152525"/>
          </a:xfrm>
          <a:prstGeom prst="rect">
            <a:avLst/>
          </a:prstGeom>
        </p:spPr>
      </p:pic>
      <p:sp>
        <p:nvSpPr>
          <p:cNvPr id="16" name="右箭头 15"/>
          <p:cNvSpPr/>
          <p:nvPr/>
        </p:nvSpPr>
        <p:spPr>
          <a:xfrm>
            <a:off x="5774813" y="5145572"/>
            <a:ext cx="420624" cy="527529"/>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74574"/>
    </mc:Choice>
    <mc:Fallback xmlns="">
      <p:transition spd="slow" advTm="7457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表达式和流程控制</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循环表达式</a:t>
            </a:r>
          </a:p>
        </p:txBody>
      </p:sp>
      <p:cxnSp>
        <p:nvCxnSpPr>
          <p:cNvPr id="5" name="直接连接符 4"/>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 name="内容占位符 2"/>
          <p:cNvSpPr>
            <a:spLocks noGrp="1"/>
          </p:cNvSpPr>
          <p:nvPr>
            <p:ph idx="10"/>
          </p:nvPr>
        </p:nvSpPr>
        <p:spPr>
          <a:xfrm>
            <a:off x="319873" y="789804"/>
            <a:ext cx="1655232" cy="2426061"/>
          </a:xfrm>
        </p:spPr>
        <p:txBody>
          <a:bodyPr/>
          <a:lstStyle/>
          <a:p>
            <a:pPr>
              <a:lnSpc>
                <a:spcPct val="150000"/>
              </a:lnSpc>
            </a:pPr>
            <a:r>
              <a:rPr lang="zh-CN" altLang="en-US" sz="1600" b="1" dirty="0">
                <a:latin typeface="+mn-lt"/>
                <a:ea typeface="+mn-ea"/>
                <a:cs typeface="+mn-ea"/>
                <a:sym typeface="+mn-lt"/>
              </a:rPr>
              <a:t>循环表达式：</a:t>
            </a:r>
            <a:endParaRPr lang="en-US" altLang="zh-CN" sz="1600" b="1" dirty="0">
              <a:latin typeface="+mn-lt"/>
              <a:ea typeface="+mn-ea"/>
              <a:cs typeface="+mn-ea"/>
              <a:sym typeface="+mn-lt"/>
            </a:endParaRPr>
          </a:p>
          <a:p>
            <a:pPr marL="811530" lvl="1" indent="-285750">
              <a:lnSpc>
                <a:spcPct val="100000"/>
              </a:lnSpc>
            </a:pPr>
            <a:r>
              <a:rPr lang="en-US" altLang="zh-CN" sz="1400" dirty="0">
                <a:cs typeface="+mn-ea"/>
                <a:sym typeface="+mn-lt"/>
              </a:rPr>
              <a:t>loop</a:t>
            </a:r>
          </a:p>
          <a:p>
            <a:pPr marL="811530" lvl="1" indent="-285750">
              <a:lnSpc>
                <a:spcPct val="100000"/>
              </a:lnSpc>
            </a:pPr>
            <a:r>
              <a:rPr lang="en-US" altLang="zh-CN" sz="1400" dirty="0">
                <a:cs typeface="+mn-ea"/>
                <a:sym typeface="+mn-lt"/>
              </a:rPr>
              <a:t>for</a:t>
            </a:r>
          </a:p>
          <a:p>
            <a:pPr marL="811530" lvl="1" indent="-285750">
              <a:lnSpc>
                <a:spcPct val="100000"/>
              </a:lnSpc>
            </a:pPr>
            <a:r>
              <a:rPr lang="en-US" altLang="zh-CN" sz="1400" dirty="0">
                <a:cs typeface="+mn-ea"/>
                <a:sym typeface="+mn-lt"/>
              </a:rPr>
              <a:t>while</a:t>
            </a:r>
          </a:p>
          <a:p>
            <a:pPr marL="811530" lvl="1" indent="-285750">
              <a:lnSpc>
                <a:spcPct val="100000"/>
              </a:lnSpc>
            </a:pPr>
            <a:r>
              <a:rPr lang="en-US" altLang="zh-CN" sz="1400" dirty="0">
                <a:cs typeface="+mn-ea"/>
                <a:sym typeface="+mn-lt"/>
              </a:rPr>
              <a:t>break</a:t>
            </a:r>
          </a:p>
          <a:p>
            <a:pPr marL="811530" lvl="1" indent="-285750">
              <a:lnSpc>
                <a:spcPct val="100000"/>
              </a:lnSpc>
            </a:pPr>
            <a:r>
              <a:rPr lang="en-US" altLang="zh-CN" sz="1400" dirty="0">
                <a:cs typeface="+mn-ea"/>
                <a:sym typeface="+mn-lt"/>
              </a:rPr>
              <a:t>continue</a:t>
            </a:r>
          </a:p>
        </p:txBody>
      </p:sp>
      <p:pic>
        <p:nvPicPr>
          <p:cNvPr id="3" name="图片 2"/>
          <p:cNvPicPr>
            <a:picLocks noChangeAspect="1"/>
          </p:cNvPicPr>
          <p:nvPr/>
        </p:nvPicPr>
        <p:blipFill>
          <a:blip r:embed="rId3"/>
          <a:stretch>
            <a:fillRect/>
          </a:stretch>
        </p:blipFill>
        <p:spPr>
          <a:xfrm>
            <a:off x="5868829" y="4125447"/>
            <a:ext cx="3776658" cy="722491"/>
          </a:xfrm>
          <a:prstGeom prst="rect">
            <a:avLst/>
          </a:prstGeom>
        </p:spPr>
      </p:pic>
      <p:sp>
        <p:nvSpPr>
          <p:cNvPr id="4" name="下箭头 3"/>
          <p:cNvSpPr/>
          <p:nvPr/>
        </p:nvSpPr>
        <p:spPr>
          <a:xfrm>
            <a:off x="7551060" y="3797204"/>
            <a:ext cx="412195" cy="228600"/>
          </a:xfrm>
          <a:prstGeom prst="down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文本框 10"/>
          <p:cNvSpPr txBox="1"/>
          <p:nvPr/>
        </p:nvSpPr>
        <p:spPr>
          <a:xfrm>
            <a:off x="2929223" y="789804"/>
            <a:ext cx="8131289" cy="289310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while</a:t>
            </a:r>
            <a:r>
              <a:rPr lang="zh-CN" altLang="en-US" sz="1400" b="1" dirty="0">
                <a:solidFill>
                  <a:srgbClr val="00B050"/>
                </a:solidFill>
                <a:cs typeface="+mn-ea"/>
                <a:sym typeface="+mn-lt"/>
              </a:rPr>
              <a:t>表达式代码示例</a:t>
            </a:r>
            <a:endParaRPr lang="en-US" altLang="zh-CN" sz="1400" b="1" dirty="0">
              <a:solidFill>
                <a:srgbClr val="00B050"/>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06C75"/>
                </a:solidFill>
                <a:cs typeface="+mn-ea"/>
                <a:sym typeface="+mn-lt"/>
              </a:rPr>
              <a:t>number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while</a:t>
            </a:r>
            <a:r>
              <a:rPr lang="en-US" altLang="zh-CN" sz="1400" dirty="0">
                <a:solidFill>
                  <a:srgbClr val="ABB2BF"/>
                </a:solidFill>
                <a:cs typeface="+mn-ea"/>
                <a:sym typeface="+mn-lt"/>
              </a:rPr>
              <a:t> </a:t>
            </a:r>
            <a:r>
              <a:rPr lang="en-US" altLang="zh-CN" sz="1400" dirty="0">
                <a:solidFill>
                  <a:srgbClr val="E06C75"/>
                </a:solidFill>
                <a:cs typeface="+mn-ea"/>
                <a:sym typeface="+mn-lt"/>
              </a:rPr>
              <a:t>number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number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number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p>
          <a:p>
            <a:r>
              <a:rPr lang="en-US" altLang="zh-CN" sz="1400" i="1" dirty="0">
                <a:solidFill>
                  <a:srgbClr val="7F848E"/>
                </a:solidFill>
                <a:cs typeface="+mn-ea"/>
                <a:sym typeface="+mn-lt"/>
              </a:rPr>
              <a:t>            // continue</a:t>
            </a:r>
            <a:r>
              <a:rPr lang="zh-CN" altLang="en-US" sz="1400" i="1" dirty="0">
                <a:solidFill>
                  <a:srgbClr val="7F848E"/>
                </a:solidFill>
                <a:cs typeface="+mn-ea"/>
                <a:sym typeface="+mn-lt"/>
              </a:rPr>
              <a:t>表达式只允许在循环体内部使用</a:t>
            </a:r>
            <a:endParaRPr lang="zh-CN" altLang="en-US" sz="1400" dirty="0">
              <a:solidFill>
                <a:srgbClr val="ABB2BF"/>
              </a:solidFill>
              <a:cs typeface="+mn-ea"/>
              <a:sym typeface="+mn-lt"/>
            </a:endParaRPr>
          </a:p>
          <a:p>
            <a:r>
              <a:rPr lang="zh-CN" altLang="en-US" sz="1400" i="1" dirty="0">
                <a:solidFill>
                  <a:srgbClr val="7F848E"/>
                </a:solidFill>
                <a:cs typeface="+mn-ea"/>
                <a:sym typeface="+mn-lt"/>
              </a:rPr>
              <a:t>            </a:t>
            </a:r>
            <a:r>
              <a:rPr lang="en-US" altLang="zh-CN" sz="1400" i="1" dirty="0">
                <a:solidFill>
                  <a:srgbClr val="7F848E"/>
                </a:solidFill>
                <a:cs typeface="+mn-ea"/>
                <a:sym typeface="+mn-lt"/>
              </a:rPr>
              <a:t>// </a:t>
            </a:r>
            <a:r>
              <a:rPr lang="zh-CN" altLang="en-US" sz="1400" i="1" dirty="0">
                <a:solidFill>
                  <a:srgbClr val="7F848E"/>
                </a:solidFill>
                <a:cs typeface="+mn-ea"/>
                <a:sym typeface="+mn-lt"/>
              </a:rPr>
              <a:t>当遇到 </a:t>
            </a:r>
            <a:r>
              <a:rPr lang="en-US" altLang="zh-CN" sz="1400" i="1" dirty="0">
                <a:solidFill>
                  <a:srgbClr val="7F848E"/>
                </a:solidFill>
                <a:cs typeface="+mn-ea"/>
                <a:sym typeface="+mn-lt"/>
              </a:rPr>
              <a:t>continue </a:t>
            </a:r>
            <a:r>
              <a:rPr lang="zh-CN" altLang="en-US" sz="1400" i="1" dirty="0">
                <a:solidFill>
                  <a:srgbClr val="7F848E"/>
                </a:solidFill>
                <a:cs typeface="+mn-ea"/>
                <a:sym typeface="+mn-lt"/>
              </a:rPr>
              <a:t>时，循环体的当前迭代将立即结束，并将控制流返回到循环头</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continue</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"{number}!"</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12" name="文本框 11"/>
          <p:cNvSpPr txBox="1"/>
          <p:nvPr/>
        </p:nvSpPr>
        <p:spPr>
          <a:xfrm>
            <a:off x="319873" y="3823969"/>
            <a:ext cx="5019961" cy="289310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while</a:t>
            </a:r>
            <a:r>
              <a:rPr lang="zh-CN" altLang="en-US" sz="1400" b="1" dirty="0">
                <a:solidFill>
                  <a:srgbClr val="00B050"/>
                </a:solidFill>
                <a:cs typeface="+mn-ea"/>
                <a:sym typeface="+mn-lt"/>
              </a:rPr>
              <a:t>表达式代码示例</a:t>
            </a:r>
            <a:endParaRPr lang="en-US" altLang="zh-CN" sz="1400" b="1" dirty="0">
              <a:solidFill>
                <a:srgbClr val="00B050"/>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06C75"/>
                </a:solidFill>
                <a:cs typeface="+mn-ea"/>
                <a:sym typeface="+mn-lt"/>
              </a:rPr>
              <a:t>counter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ABB2BF"/>
                </a:solidFill>
                <a:cs typeface="+mn-ea"/>
                <a:sym typeface="+mn-lt"/>
              </a:rPr>
              <a:t>    </a:t>
            </a:r>
            <a:r>
              <a:rPr lang="en-US" altLang="zh-CN" sz="1400" dirty="0">
                <a:solidFill>
                  <a:srgbClr val="C678DD"/>
                </a:solidFill>
                <a:cs typeface="+mn-ea"/>
                <a:sym typeface="+mn-lt"/>
              </a:rPr>
              <a:t>while</a:t>
            </a:r>
            <a:r>
              <a:rPr lang="en-US" altLang="zh-CN" sz="1400" dirty="0">
                <a:solidFill>
                  <a:srgbClr val="ABB2BF"/>
                </a:solidFill>
                <a:cs typeface="+mn-ea"/>
                <a:sym typeface="+mn-lt"/>
              </a:rPr>
              <a:t> </a:t>
            </a:r>
            <a:r>
              <a:rPr lang="en-US" altLang="zh-CN" sz="1400" dirty="0">
                <a:solidFill>
                  <a:srgbClr val="D19A66"/>
                </a:solidFill>
                <a:cs typeface="+mn-ea"/>
                <a:sym typeface="+mn-lt"/>
              </a:rPr>
              <a:t>true</a:t>
            </a:r>
            <a:r>
              <a:rPr lang="en-US" altLang="zh-CN" sz="1400" dirty="0">
                <a:solidFill>
                  <a:srgbClr val="ABB2BF"/>
                </a:solidFill>
                <a:cs typeface="+mn-ea"/>
                <a:sym typeface="+mn-lt"/>
              </a:rPr>
              <a:t> {</a:t>
            </a:r>
            <a:r>
              <a:rPr lang="en-US" altLang="zh-CN" sz="1400" i="1" dirty="0">
                <a:solidFill>
                  <a:srgbClr val="7F848E"/>
                </a:solidFill>
                <a:cs typeface="+mn-ea"/>
                <a:sym typeface="+mn-lt"/>
              </a:rPr>
              <a:t>  // </a:t>
            </a:r>
            <a:r>
              <a:rPr lang="zh-CN" altLang="en-US" sz="1400" i="1" dirty="0">
                <a:solidFill>
                  <a:srgbClr val="7F848E"/>
                </a:solidFill>
                <a:cs typeface="+mn-ea"/>
                <a:sym typeface="+mn-lt"/>
              </a:rPr>
              <a:t>创建一个无限循环</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E06C75"/>
                </a:solidFill>
                <a:cs typeface="+mn-ea"/>
                <a:sym typeface="+mn-lt"/>
              </a:rPr>
              <a:t>counter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"Counter: {}"</a:t>
            </a:r>
            <a:r>
              <a:rPr lang="en-US" altLang="zh-CN" sz="1400" dirty="0">
                <a:solidFill>
                  <a:srgbClr val="ABB2BF"/>
                </a:solidFill>
                <a:cs typeface="+mn-ea"/>
                <a:sym typeface="+mn-lt"/>
              </a:rPr>
              <a:t>, </a:t>
            </a:r>
            <a:r>
              <a:rPr lang="en-US" altLang="zh-CN" sz="1400" dirty="0">
                <a:solidFill>
                  <a:srgbClr val="E06C75"/>
                </a:solidFill>
                <a:cs typeface="+mn-ea"/>
                <a:sym typeface="+mn-lt"/>
              </a:rPr>
              <a:t>counter</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counter</a:t>
            </a:r>
            <a:r>
              <a:rPr lang="en-US" altLang="zh-CN" sz="1400" dirty="0">
                <a:solidFill>
                  <a:srgbClr val="ABB2BF"/>
                </a:solidFill>
                <a:cs typeface="+mn-ea"/>
                <a:sym typeface="+mn-lt"/>
              </a:rPr>
              <a:t> </a:t>
            </a:r>
            <a:r>
              <a:rPr lang="en-US" altLang="zh-CN" sz="1400" dirty="0">
                <a:solidFill>
                  <a:srgbClr val="56B6C2"/>
                </a:solidFill>
                <a:cs typeface="+mn-ea"/>
                <a:sym typeface="+mn-lt"/>
              </a:rPr>
              <a:t>&gt;=</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break</a:t>
            </a:r>
            <a:r>
              <a:rPr lang="en-US" altLang="zh-CN" sz="1400" dirty="0">
                <a:solidFill>
                  <a:srgbClr val="ABB2BF"/>
                </a:solidFill>
                <a:cs typeface="+mn-ea"/>
                <a:sym typeface="+mn-lt"/>
              </a:rPr>
              <a:t>;</a:t>
            </a:r>
            <a:r>
              <a:rPr lang="en-US" altLang="zh-CN" sz="1400" i="1" dirty="0">
                <a:solidFill>
                  <a:srgbClr val="7F848E"/>
                </a:solidFill>
                <a:cs typeface="+mn-ea"/>
                <a:sym typeface="+mn-lt"/>
              </a:rPr>
              <a:t>  // </a:t>
            </a:r>
            <a:r>
              <a:rPr lang="zh-CN" altLang="en-US" sz="1400" i="1" dirty="0">
                <a:solidFill>
                  <a:srgbClr val="7F848E"/>
                </a:solidFill>
                <a:cs typeface="+mn-ea"/>
                <a:sym typeface="+mn-lt"/>
              </a:rPr>
              <a:t>使用</a:t>
            </a:r>
            <a:r>
              <a:rPr lang="en-US" altLang="zh-CN" sz="1400" i="1" dirty="0">
                <a:solidFill>
                  <a:srgbClr val="7F848E"/>
                </a:solidFill>
                <a:cs typeface="+mn-ea"/>
                <a:sym typeface="+mn-lt"/>
              </a:rPr>
              <a:t>break</a:t>
            </a:r>
            <a:r>
              <a:rPr lang="zh-CN" altLang="en-US" sz="1400" i="1" dirty="0">
                <a:solidFill>
                  <a:srgbClr val="7F848E"/>
                </a:solidFill>
                <a:cs typeface="+mn-ea"/>
                <a:sym typeface="+mn-lt"/>
              </a:rPr>
              <a:t>关键字来终止循环</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pic>
        <p:nvPicPr>
          <p:cNvPr id="13" name="图片 12"/>
          <p:cNvPicPr>
            <a:picLocks noChangeAspect="1"/>
          </p:cNvPicPr>
          <p:nvPr/>
        </p:nvPicPr>
        <p:blipFill>
          <a:blip r:embed="rId4"/>
          <a:stretch>
            <a:fillRect/>
          </a:stretch>
        </p:blipFill>
        <p:spPr>
          <a:xfrm>
            <a:off x="5868829" y="4947580"/>
            <a:ext cx="3960972" cy="1744202"/>
          </a:xfrm>
          <a:prstGeom prst="rect">
            <a:avLst/>
          </a:prstGeom>
        </p:spPr>
      </p:pic>
      <p:sp>
        <p:nvSpPr>
          <p:cNvPr id="14" name="下箭头 13"/>
          <p:cNvSpPr/>
          <p:nvPr/>
        </p:nvSpPr>
        <p:spPr>
          <a:xfrm rot="16200000">
            <a:off x="5398234" y="5705381"/>
            <a:ext cx="412195" cy="228600"/>
          </a:xfrm>
          <a:prstGeom prst="down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57658"/>
    </mc:Choice>
    <mc:Fallback xmlns="">
      <p:transition spd="slow" advTm="5765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表达式和流程控制</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循环表达式</a:t>
            </a:r>
          </a:p>
        </p:txBody>
      </p:sp>
      <p:sp>
        <p:nvSpPr>
          <p:cNvPr id="9" name="文本框 8"/>
          <p:cNvSpPr txBox="1"/>
          <p:nvPr/>
        </p:nvSpPr>
        <p:spPr>
          <a:xfrm>
            <a:off x="283963" y="1407247"/>
            <a:ext cx="5083565" cy="4832092"/>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label</a:t>
            </a:r>
            <a:r>
              <a:rPr lang="zh-CN" altLang="en-US" sz="1400" b="1" dirty="0">
                <a:solidFill>
                  <a:srgbClr val="00B050"/>
                </a:solidFill>
                <a:cs typeface="+mn-ea"/>
                <a:sym typeface="+mn-lt"/>
              </a:rPr>
              <a:t>关键字代码示例</a:t>
            </a:r>
            <a:endParaRPr lang="en-US" altLang="zh-CN" sz="1400" b="1" dirty="0">
              <a:solidFill>
                <a:srgbClr val="00B050"/>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06C75"/>
                </a:solidFill>
                <a:cs typeface="+mn-ea"/>
                <a:sym typeface="+mn-lt"/>
              </a:rPr>
              <a:t>count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a:t>
            </a:r>
          </a:p>
          <a:p>
            <a:r>
              <a:rPr lang="en-US" altLang="zh-CN" sz="1400" i="1" dirty="0">
                <a:solidFill>
                  <a:srgbClr val="7F848E"/>
                </a:solidFill>
                <a:cs typeface="+mn-ea"/>
                <a:sym typeface="+mn-lt"/>
              </a:rPr>
              <a:t>    // </a:t>
            </a:r>
            <a:r>
              <a:rPr lang="en-US" altLang="zh-CN" sz="1400" i="1" dirty="0" err="1">
                <a:solidFill>
                  <a:srgbClr val="7F848E"/>
                </a:solidFill>
                <a:cs typeface="+mn-ea"/>
                <a:sym typeface="+mn-lt"/>
              </a:rPr>
              <a:t>counting_up</a:t>
            </a:r>
            <a:r>
              <a:rPr lang="en-US" altLang="zh-CN" sz="1400" i="1" dirty="0">
                <a:solidFill>
                  <a:srgbClr val="7F848E"/>
                </a:solidFill>
                <a:cs typeface="+mn-ea"/>
                <a:sym typeface="+mn-lt"/>
              </a:rPr>
              <a:t>:</a:t>
            </a:r>
            <a:r>
              <a:rPr lang="zh-CN" altLang="en-US" sz="1400" i="1" dirty="0">
                <a:solidFill>
                  <a:srgbClr val="7F848E"/>
                </a:solidFill>
                <a:cs typeface="+mn-ea"/>
                <a:sym typeface="+mn-lt"/>
              </a:rPr>
              <a:t>为循环标签</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ABB2BF"/>
                </a:solidFill>
                <a:cs typeface="+mn-ea"/>
                <a:sym typeface="+mn-lt"/>
              </a:rPr>
              <a:t>'</a:t>
            </a:r>
            <a:r>
              <a:rPr lang="en-US" altLang="zh-CN" sz="1400" dirty="0" err="1">
                <a:solidFill>
                  <a:srgbClr val="E5C07B"/>
                </a:solidFill>
                <a:cs typeface="+mn-ea"/>
                <a:sym typeface="+mn-lt"/>
              </a:rPr>
              <a:t>counting_up</a:t>
            </a:r>
            <a:r>
              <a:rPr lang="en-US" altLang="zh-CN" sz="1400" dirty="0">
                <a:solidFill>
                  <a:srgbClr val="ABB2BF"/>
                </a:solidFill>
                <a:cs typeface="+mn-ea"/>
                <a:sym typeface="+mn-lt"/>
              </a:rPr>
              <a:t>: </a:t>
            </a:r>
            <a:r>
              <a:rPr lang="en-US" altLang="zh-CN" sz="1400" dirty="0">
                <a:solidFill>
                  <a:srgbClr val="C678DD"/>
                </a:solidFill>
                <a:cs typeface="+mn-ea"/>
                <a:sym typeface="+mn-lt"/>
              </a:rPr>
              <a:t>loop</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"count = {count}"</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06C75"/>
                </a:solidFill>
                <a:cs typeface="+mn-ea"/>
                <a:sym typeface="+mn-lt"/>
              </a:rPr>
              <a:t>remaining</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loop</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"remaining = {remaining}"</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remaining</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9</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break</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count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p>
          <a:p>
            <a:r>
              <a:rPr lang="en-US" altLang="zh-CN" sz="1400" i="1" dirty="0">
                <a:solidFill>
                  <a:srgbClr val="7F848E"/>
                </a:solidFill>
                <a:cs typeface="+mn-ea"/>
                <a:sym typeface="+mn-lt"/>
              </a:rPr>
              <a:t>                // </a:t>
            </a:r>
            <a:r>
              <a:rPr lang="zh-CN" altLang="en-US" sz="1400" i="1" dirty="0">
                <a:solidFill>
                  <a:srgbClr val="7F848E"/>
                </a:solidFill>
                <a:cs typeface="+mn-ea"/>
                <a:sym typeface="+mn-lt"/>
              </a:rPr>
              <a:t>跳转到 </a:t>
            </a:r>
            <a:r>
              <a:rPr lang="en-US" altLang="zh-CN" sz="1400" i="1" dirty="0" err="1">
                <a:solidFill>
                  <a:srgbClr val="7F848E"/>
                </a:solidFill>
                <a:cs typeface="+mn-ea"/>
                <a:sym typeface="+mn-lt"/>
              </a:rPr>
              <a:t>counting_up</a:t>
            </a:r>
            <a:r>
              <a:rPr lang="en-US" altLang="zh-CN" sz="1400" i="1" dirty="0">
                <a:solidFill>
                  <a:srgbClr val="7F848E"/>
                </a:solidFill>
                <a:cs typeface="+mn-ea"/>
                <a:sym typeface="+mn-lt"/>
              </a:rPr>
              <a:t> </a:t>
            </a:r>
            <a:r>
              <a:rPr lang="zh-CN" altLang="en-US" sz="1400" i="1" dirty="0">
                <a:solidFill>
                  <a:srgbClr val="7F848E"/>
                </a:solidFill>
                <a:cs typeface="+mn-ea"/>
                <a:sym typeface="+mn-lt"/>
              </a:rPr>
              <a:t>标签位置</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break</a:t>
            </a:r>
            <a:r>
              <a:rPr lang="en-US" altLang="zh-CN" sz="1400" dirty="0">
                <a:solidFill>
                  <a:srgbClr val="ABB2BF"/>
                </a:solidFill>
                <a:cs typeface="+mn-ea"/>
                <a:sym typeface="+mn-lt"/>
              </a:rPr>
              <a:t> '</a:t>
            </a:r>
            <a:r>
              <a:rPr lang="en-US" altLang="zh-CN" sz="1400" dirty="0" err="1">
                <a:solidFill>
                  <a:srgbClr val="E5C07B"/>
                </a:solidFill>
                <a:cs typeface="+mn-ea"/>
                <a:sym typeface="+mn-lt"/>
              </a:rPr>
              <a:t>counting_up</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remaining</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count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"End count = {count}"</a:t>
            </a:r>
            <a:r>
              <a:rPr lang="en-US" altLang="zh-CN" sz="1400" dirty="0">
                <a:solidFill>
                  <a:srgbClr val="ABB2BF"/>
                </a:solidFill>
                <a:cs typeface="+mn-ea"/>
                <a:sym typeface="+mn-lt"/>
              </a:rPr>
              <a:t>);</a:t>
            </a:r>
          </a:p>
          <a:p>
            <a:r>
              <a:rPr lang="en-US" altLang="zh-CN" sz="1400" dirty="0">
                <a:solidFill>
                  <a:srgbClr val="ABB2BF"/>
                </a:solidFill>
                <a:cs typeface="+mn-ea"/>
                <a:sym typeface="+mn-lt"/>
              </a:rPr>
              <a:t>}</a:t>
            </a:r>
          </a:p>
        </p:txBody>
      </p:sp>
      <p:cxnSp>
        <p:nvCxnSpPr>
          <p:cNvPr id="5" name="直接连接符 4"/>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tretch>
            <a:fillRect/>
          </a:stretch>
        </p:blipFill>
        <p:spPr>
          <a:xfrm>
            <a:off x="6282213" y="4859678"/>
            <a:ext cx="3680365" cy="1534727"/>
          </a:xfrm>
          <a:prstGeom prst="rect">
            <a:avLst/>
          </a:prstGeom>
        </p:spPr>
      </p:pic>
      <p:sp>
        <p:nvSpPr>
          <p:cNvPr id="7" name="内容占位符 2"/>
          <p:cNvSpPr txBox="1"/>
          <p:nvPr/>
        </p:nvSpPr>
        <p:spPr>
          <a:xfrm>
            <a:off x="319872" y="700908"/>
            <a:ext cx="2812669" cy="805588"/>
          </a:xfrm>
          <a:prstGeom prst="rect">
            <a:avLst/>
          </a:prstGeom>
        </p:spPr>
        <p:txBody>
          <a:bodyPr lIns="0" tIns="0" rIns="0" bIns="0"/>
          <a:lstStyle>
            <a:lvl1pPr marL="12065" indent="0" algn="l" defTabSz="1188085" rtl="0" eaLnBrk="1" latinLnBrk="0" hangingPunct="1">
              <a:lnSpc>
                <a:spcPct val="100000"/>
              </a:lnSpc>
              <a:spcBef>
                <a:spcPts val="0"/>
              </a:spcBef>
              <a:buFontTx/>
              <a:buNone/>
              <a:tabLst>
                <a:tab pos="1208405"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2pPr>
            <a:lvl3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3pPr>
            <a:lvl4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4pPr>
            <a:lvl5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a:lstStyle>
          <a:p>
            <a:pPr>
              <a:lnSpc>
                <a:spcPct val="150000"/>
              </a:lnSpc>
            </a:pPr>
            <a:r>
              <a:rPr lang="zh-CN" altLang="en-US" sz="1600" b="1" dirty="0">
                <a:latin typeface="+mn-lt"/>
                <a:ea typeface="+mn-ea"/>
                <a:cs typeface="+mn-ea"/>
                <a:sym typeface="+mn-lt"/>
              </a:rPr>
              <a:t>循环表达式：</a:t>
            </a:r>
            <a:endParaRPr lang="en-US" altLang="zh-CN" sz="1600" b="1" dirty="0">
              <a:latin typeface="+mn-lt"/>
              <a:ea typeface="+mn-ea"/>
              <a:cs typeface="+mn-ea"/>
              <a:sym typeface="+mn-lt"/>
            </a:endParaRPr>
          </a:p>
          <a:p>
            <a:pPr marL="811530" lvl="1" indent="-285750">
              <a:lnSpc>
                <a:spcPct val="150000"/>
              </a:lnSpc>
              <a:spcBef>
                <a:spcPts val="0"/>
              </a:spcBef>
            </a:pPr>
            <a:r>
              <a:rPr lang="en-US" altLang="zh-CN" sz="1400" dirty="0">
                <a:cs typeface="+mn-ea"/>
                <a:sym typeface="+mn-lt"/>
              </a:rPr>
              <a:t>label</a:t>
            </a:r>
          </a:p>
        </p:txBody>
      </p:sp>
      <p:sp>
        <p:nvSpPr>
          <p:cNvPr id="4" name="右箭头 3"/>
          <p:cNvSpPr/>
          <p:nvPr/>
        </p:nvSpPr>
        <p:spPr>
          <a:xfrm>
            <a:off x="5525309" y="5459051"/>
            <a:ext cx="365760" cy="420624"/>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 name="文本框 7"/>
          <p:cNvSpPr txBox="1"/>
          <p:nvPr/>
        </p:nvSpPr>
        <p:spPr>
          <a:xfrm>
            <a:off x="5491066" y="922615"/>
            <a:ext cx="5569446" cy="2462213"/>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for</a:t>
            </a:r>
            <a:r>
              <a:rPr lang="zh-CN" altLang="en-US" sz="1400" b="1" dirty="0">
                <a:solidFill>
                  <a:srgbClr val="00B050"/>
                </a:solidFill>
                <a:cs typeface="+mn-ea"/>
                <a:sym typeface="+mn-lt"/>
              </a:rPr>
              <a:t>循环中使用</a:t>
            </a:r>
            <a:r>
              <a:rPr lang="en-US" altLang="zh-CN" sz="1400" b="1" dirty="0">
                <a:solidFill>
                  <a:srgbClr val="00B050"/>
                </a:solidFill>
                <a:cs typeface="+mn-ea"/>
                <a:sym typeface="+mn-lt"/>
              </a:rPr>
              <a:t>label</a:t>
            </a:r>
            <a:r>
              <a:rPr lang="zh-CN" altLang="en-US" sz="1400" b="1" dirty="0">
                <a:solidFill>
                  <a:srgbClr val="00B050"/>
                </a:solidFill>
                <a:cs typeface="+mn-ea"/>
                <a:sym typeface="+mn-lt"/>
              </a:rPr>
              <a:t>代码示例</a:t>
            </a:r>
            <a:endParaRPr lang="en-US" altLang="zh-CN" sz="1400" dirty="0">
              <a:solidFill>
                <a:srgbClr val="FFFFFF"/>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5C07B"/>
                </a:solidFill>
                <a:cs typeface="+mn-ea"/>
                <a:sym typeface="+mn-lt"/>
              </a:rPr>
              <a:t>outer</a:t>
            </a:r>
            <a:r>
              <a:rPr lang="en-US" altLang="zh-CN" sz="1400" dirty="0">
                <a:solidFill>
                  <a:srgbClr val="ABB2BF"/>
                </a:solidFill>
                <a:cs typeface="+mn-ea"/>
                <a:sym typeface="+mn-lt"/>
              </a:rPr>
              <a:t>: </a:t>
            </a:r>
            <a:r>
              <a:rPr lang="en-US" altLang="zh-CN" sz="1400" dirty="0">
                <a:solidFill>
                  <a:srgbClr val="C678DD"/>
                </a:solidFill>
                <a:cs typeface="+mn-ea"/>
                <a:sym typeface="+mn-lt"/>
              </a:rPr>
              <a:t>for</a:t>
            </a:r>
            <a:r>
              <a:rPr lang="en-US" altLang="zh-CN" sz="1400" dirty="0">
                <a:solidFill>
                  <a:srgbClr val="ABB2BF"/>
                </a:solidFill>
                <a:cs typeface="+mn-ea"/>
                <a:sym typeface="+mn-lt"/>
              </a:rPr>
              <a:t> </a:t>
            </a:r>
            <a:r>
              <a:rPr lang="en-US" altLang="zh-CN" sz="1400" dirty="0">
                <a:solidFill>
                  <a:srgbClr val="E06C75"/>
                </a:solidFill>
                <a:cs typeface="+mn-ea"/>
                <a:sym typeface="+mn-lt"/>
              </a:rPr>
              <a:t>i</a:t>
            </a:r>
            <a:r>
              <a:rPr lang="en-US" altLang="zh-CN" sz="1400" dirty="0">
                <a:solidFill>
                  <a:srgbClr val="ABB2BF"/>
                </a:solidFill>
                <a:cs typeface="+mn-ea"/>
                <a:sym typeface="+mn-lt"/>
              </a:rPr>
              <a:t> </a:t>
            </a:r>
            <a:r>
              <a:rPr lang="en-US" altLang="zh-CN" sz="1400" dirty="0">
                <a:solidFill>
                  <a:srgbClr val="C678DD"/>
                </a:solidFill>
                <a:cs typeface="+mn-ea"/>
                <a:sym typeface="+mn-lt"/>
              </a:rPr>
              <a:t>in</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a:t>
            </a:r>
            <a:r>
              <a:rPr lang="en-US" altLang="zh-CN" sz="1400" dirty="0">
                <a:solidFill>
                  <a:srgbClr val="D19A66"/>
                </a:solidFill>
                <a:cs typeface="+mn-ea"/>
                <a:sym typeface="+mn-lt"/>
              </a:rPr>
              <a:t>5</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5C07B"/>
                </a:solidFill>
                <a:cs typeface="+mn-ea"/>
                <a:sym typeface="+mn-lt"/>
              </a:rPr>
              <a:t>inner</a:t>
            </a:r>
            <a:r>
              <a:rPr lang="en-US" altLang="zh-CN" sz="1400" dirty="0">
                <a:solidFill>
                  <a:srgbClr val="ABB2BF"/>
                </a:solidFill>
                <a:cs typeface="+mn-ea"/>
                <a:sym typeface="+mn-lt"/>
              </a:rPr>
              <a:t>: </a:t>
            </a:r>
            <a:r>
              <a:rPr lang="en-US" altLang="zh-CN" sz="1400" dirty="0">
                <a:solidFill>
                  <a:srgbClr val="C678DD"/>
                </a:solidFill>
                <a:cs typeface="+mn-ea"/>
                <a:sym typeface="+mn-lt"/>
              </a:rPr>
              <a:t>for</a:t>
            </a:r>
            <a:r>
              <a:rPr lang="en-US" altLang="zh-CN" sz="1400" dirty="0">
                <a:solidFill>
                  <a:srgbClr val="ABB2BF"/>
                </a:solidFill>
                <a:cs typeface="+mn-ea"/>
                <a:sym typeface="+mn-lt"/>
              </a:rPr>
              <a:t> </a:t>
            </a:r>
            <a:r>
              <a:rPr lang="en-US" altLang="zh-CN" sz="1400" dirty="0">
                <a:solidFill>
                  <a:srgbClr val="E06C75"/>
                </a:solidFill>
                <a:cs typeface="+mn-ea"/>
                <a:sym typeface="+mn-lt"/>
              </a:rPr>
              <a:t>j</a:t>
            </a:r>
            <a:r>
              <a:rPr lang="en-US" altLang="zh-CN" sz="1400" dirty="0">
                <a:solidFill>
                  <a:srgbClr val="ABB2BF"/>
                </a:solidFill>
                <a:cs typeface="+mn-ea"/>
                <a:sym typeface="+mn-lt"/>
              </a:rPr>
              <a:t> </a:t>
            </a:r>
            <a:r>
              <a:rPr lang="en-US" altLang="zh-CN" sz="1400" dirty="0">
                <a:solidFill>
                  <a:srgbClr val="C678DD"/>
                </a:solidFill>
                <a:cs typeface="+mn-ea"/>
                <a:sym typeface="+mn-lt"/>
              </a:rPr>
              <a:t>in</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a:t>
            </a:r>
            <a:r>
              <a:rPr lang="en-US" altLang="zh-CN" sz="1400" dirty="0">
                <a:solidFill>
                  <a:srgbClr val="D19A66"/>
                </a:solidFill>
                <a:cs typeface="+mn-ea"/>
                <a:sym typeface="+mn-lt"/>
              </a:rPr>
              <a:t>5</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i</a:t>
            </a:r>
            <a:r>
              <a:rPr lang="en-US" altLang="zh-CN" sz="1400" dirty="0">
                <a:solidFill>
                  <a:srgbClr val="ABB2BF"/>
                </a:solidFill>
                <a:cs typeface="+mn-ea"/>
                <a:sym typeface="+mn-lt"/>
              </a:rPr>
              <a:t> * </a:t>
            </a:r>
            <a:r>
              <a:rPr lang="en-US" altLang="zh-CN" sz="1400" dirty="0">
                <a:solidFill>
                  <a:srgbClr val="E06C75"/>
                </a:solidFill>
                <a:cs typeface="+mn-ea"/>
                <a:sym typeface="+mn-lt"/>
              </a:rPr>
              <a:t>j</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6</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"Breaking outer loop at i={}, j={}"</a:t>
            </a:r>
            <a:r>
              <a:rPr lang="en-US" altLang="zh-CN" sz="1400" dirty="0">
                <a:solidFill>
                  <a:srgbClr val="ABB2BF"/>
                </a:solidFill>
                <a:cs typeface="+mn-ea"/>
                <a:sym typeface="+mn-lt"/>
              </a:rPr>
              <a:t>, </a:t>
            </a:r>
            <a:r>
              <a:rPr lang="en-US" altLang="zh-CN" sz="1400" dirty="0">
                <a:solidFill>
                  <a:srgbClr val="E06C75"/>
                </a:solidFill>
                <a:cs typeface="+mn-ea"/>
                <a:sym typeface="+mn-lt"/>
              </a:rPr>
              <a:t>i</a:t>
            </a:r>
            <a:r>
              <a:rPr lang="en-US" altLang="zh-CN" sz="1400" dirty="0">
                <a:solidFill>
                  <a:srgbClr val="ABB2BF"/>
                </a:solidFill>
                <a:cs typeface="+mn-ea"/>
                <a:sym typeface="+mn-lt"/>
              </a:rPr>
              <a:t>, </a:t>
            </a:r>
            <a:r>
              <a:rPr lang="en-US" altLang="zh-CN" sz="1400" dirty="0">
                <a:solidFill>
                  <a:srgbClr val="E06C75"/>
                </a:solidFill>
                <a:cs typeface="+mn-ea"/>
                <a:sym typeface="+mn-lt"/>
              </a:rPr>
              <a:t>j</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break</a:t>
            </a:r>
            <a:r>
              <a:rPr lang="en-US" altLang="zh-CN" sz="1400" dirty="0">
                <a:solidFill>
                  <a:srgbClr val="ABB2BF"/>
                </a:solidFill>
                <a:cs typeface="+mn-ea"/>
                <a:sym typeface="+mn-lt"/>
              </a:rPr>
              <a:t> '</a:t>
            </a:r>
            <a:r>
              <a:rPr lang="en-US" altLang="zh-CN" sz="1400" dirty="0">
                <a:solidFill>
                  <a:srgbClr val="E5C07B"/>
                </a:solidFill>
                <a:cs typeface="+mn-ea"/>
                <a:sym typeface="+mn-lt"/>
              </a:rPr>
              <a:t>outer</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pic>
        <p:nvPicPr>
          <p:cNvPr id="6" name="图片 5"/>
          <p:cNvPicPr>
            <a:picLocks noChangeAspect="1"/>
          </p:cNvPicPr>
          <p:nvPr/>
        </p:nvPicPr>
        <p:blipFill>
          <a:blip r:embed="rId4"/>
          <a:stretch>
            <a:fillRect/>
          </a:stretch>
        </p:blipFill>
        <p:spPr>
          <a:xfrm>
            <a:off x="6282213" y="4152527"/>
            <a:ext cx="4238625" cy="542925"/>
          </a:xfrm>
          <a:prstGeom prst="rect">
            <a:avLst/>
          </a:prstGeom>
        </p:spPr>
      </p:pic>
      <p:sp>
        <p:nvSpPr>
          <p:cNvPr id="10" name="右箭头 9"/>
          <p:cNvSpPr/>
          <p:nvPr/>
        </p:nvSpPr>
        <p:spPr>
          <a:xfrm rot="5400000">
            <a:off x="8092909" y="3666087"/>
            <a:ext cx="365760" cy="420624"/>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46749"/>
    </mc:Choice>
    <mc:Fallback xmlns="">
      <p:transition spd="slow" advTm="4674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表达式和流程控制</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范围表达式</a:t>
            </a:r>
          </a:p>
        </p:txBody>
      </p:sp>
      <p:sp>
        <p:nvSpPr>
          <p:cNvPr id="4" name="矩形 3"/>
          <p:cNvSpPr/>
          <p:nvPr/>
        </p:nvSpPr>
        <p:spPr>
          <a:xfrm>
            <a:off x="228432" y="774972"/>
            <a:ext cx="4379725" cy="307777"/>
          </a:xfrm>
          <a:prstGeom prst="rect">
            <a:avLst/>
          </a:prstGeom>
        </p:spPr>
        <p:txBody>
          <a:bodyPr wrap="none">
            <a:spAutoFit/>
          </a:bodyPr>
          <a:lstStyle/>
          <a:p>
            <a:r>
              <a:rPr lang="en-US" altLang="zh-CN" sz="1400" dirty="0">
                <a:solidFill>
                  <a:srgbClr val="262625"/>
                </a:solidFill>
                <a:cs typeface="+mn-ea"/>
                <a:sym typeface="+mn-lt"/>
              </a:rPr>
              <a:t>Rust</a:t>
            </a:r>
            <a:r>
              <a:rPr lang="zh-CN" altLang="en-US" sz="1400" dirty="0">
                <a:solidFill>
                  <a:srgbClr val="262625"/>
                </a:solidFill>
                <a:cs typeface="+mn-ea"/>
                <a:sym typeface="+mn-lt"/>
              </a:rPr>
              <a:t>支持范围操作符，有以下几种表示范围表达式：</a:t>
            </a:r>
            <a:endParaRPr lang="zh-CN" altLang="en-US" sz="1400" dirty="0">
              <a:cs typeface="+mn-ea"/>
              <a:sym typeface="+mn-lt"/>
            </a:endParaRPr>
          </a:p>
        </p:txBody>
      </p:sp>
      <p:graphicFrame>
        <p:nvGraphicFramePr>
          <p:cNvPr id="5" name="表格 4"/>
          <p:cNvGraphicFramePr>
            <a:graphicFrameLocks noGrp="1"/>
          </p:cNvGraphicFramePr>
          <p:nvPr>
            <p:extLst>
              <p:ext uri="{D42A27DB-BD31-4B8C-83A1-F6EECF244321}">
                <p14:modId xmlns:p14="http://schemas.microsoft.com/office/powerpoint/2010/main" val="1072342259"/>
              </p:ext>
            </p:extLst>
          </p:nvPr>
        </p:nvGraphicFramePr>
        <p:xfrm>
          <a:off x="1516850" y="1099480"/>
          <a:ext cx="8119188" cy="2795690"/>
        </p:xfrm>
        <a:graphic>
          <a:graphicData uri="http://schemas.openxmlformats.org/drawingml/2006/table">
            <a:tbl>
              <a:tblPr>
                <a:tableStyleId>{5940675A-B579-460E-94D1-54222C63F5DA}</a:tableStyleId>
              </a:tblPr>
              <a:tblGrid>
                <a:gridCol w="2706396">
                  <a:extLst>
                    <a:ext uri="{9D8B030D-6E8A-4147-A177-3AD203B41FA5}">
                      <a16:colId xmlns:a16="http://schemas.microsoft.com/office/drawing/2014/main" val="20000"/>
                    </a:ext>
                  </a:extLst>
                </a:gridCol>
                <a:gridCol w="2706396">
                  <a:extLst>
                    <a:ext uri="{9D8B030D-6E8A-4147-A177-3AD203B41FA5}">
                      <a16:colId xmlns:a16="http://schemas.microsoft.com/office/drawing/2014/main" val="20001"/>
                    </a:ext>
                  </a:extLst>
                </a:gridCol>
                <a:gridCol w="2706396">
                  <a:extLst>
                    <a:ext uri="{9D8B030D-6E8A-4147-A177-3AD203B41FA5}">
                      <a16:colId xmlns:a16="http://schemas.microsoft.com/office/drawing/2014/main" val="20002"/>
                    </a:ext>
                  </a:extLst>
                </a:gridCol>
              </a:tblGrid>
              <a:tr h="341206">
                <a:tc>
                  <a:txBody>
                    <a:bodyPr/>
                    <a:lstStyle/>
                    <a:p>
                      <a:r>
                        <a:rPr lang="zh-CN" altLang="en-US" sz="1600" dirty="0">
                          <a:effectLst/>
                          <a:latin typeface="+mn-lt"/>
                          <a:ea typeface="+mn-ea"/>
                          <a:cs typeface="+mn-ea"/>
                          <a:sym typeface="+mn-lt"/>
                        </a:rPr>
                        <a:t>范围表达式</a:t>
                      </a:r>
                    </a:p>
                  </a:txBody>
                  <a:tcPr marL="190500" marR="190500" marT="28575" marB="28575" anchor="ctr">
                    <a:solidFill>
                      <a:schemeClr val="tx1">
                        <a:lumMod val="25000"/>
                        <a:lumOff val="75000"/>
                      </a:schemeClr>
                    </a:solidFill>
                  </a:tcPr>
                </a:tc>
                <a:tc>
                  <a:txBody>
                    <a:bodyPr/>
                    <a:lstStyle/>
                    <a:p>
                      <a:r>
                        <a:rPr lang="zh-CN" altLang="en-US" sz="1600" dirty="0">
                          <a:effectLst/>
                          <a:latin typeface="+mn-lt"/>
                          <a:ea typeface="+mn-ea"/>
                          <a:cs typeface="+mn-ea"/>
                          <a:sym typeface="+mn-lt"/>
                        </a:rPr>
                        <a:t>类型</a:t>
                      </a:r>
                    </a:p>
                  </a:txBody>
                  <a:tcPr marL="190500" marR="190500" marT="28575" marB="28575" anchor="ctr">
                    <a:solidFill>
                      <a:schemeClr val="tx1">
                        <a:lumMod val="25000"/>
                        <a:lumOff val="75000"/>
                      </a:schemeClr>
                    </a:solidFill>
                  </a:tcPr>
                </a:tc>
                <a:tc>
                  <a:txBody>
                    <a:bodyPr/>
                    <a:lstStyle/>
                    <a:p>
                      <a:r>
                        <a:rPr lang="zh-CN" altLang="en-US" sz="1600" dirty="0">
                          <a:effectLst/>
                          <a:latin typeface="+mn-lt"/>
                          <a:ea typeface="+mn-ea"/>
                          <a:cs typeface="+mn-ea"/>
                          <a:sym typeface="+mn-lt"/>
                        </a:rPr>
                        <a:t>表示的范围</a:t>
                      </a:r>
                    </a:p>
                  </a:txBody>
                  <a:tcPr marL="190500" marR="190500" marT="28575" marB="28575" anchor="ctr">
                    <a:solidFill>
                      <a:schemeClr val="tx1">
                        <a:lumMod val="25000"/>
                        <a:lumOff val="75000"/>
                      </a:schemeClr>
                    </a:solidFill>
                  </a:tcPr>
                </a:tc>
                <a:extLst>
                  <a:ext uri="{0D108BD9-81ED-4DB2-BD59-A6C34878D82A}">
                    <a16:rowId xmlns:a16="http://schemas.microsoft.com/office/drawing/2014/main" val="10000"/>
                  </a:ext>
                </a:extLst>
              </a:tr>
              <a:tr h="341206">
                <a:tc>
                  <a:txBody>
                    <a:bodyPr/>
                    <a:lstStyle/>
                    <a:p>
                      <a:r>
                        <a:rPr lang="en-US" sz="1600" dirty="0">
                          <a:effectLst/>
                          <a:latin typeface="+mn-lt"/>
                          <a:ea typeface="+mn-ea"/>
                          <a:cs typeface="+mn-ea"/>
                          <a:sym typeface="+mn-lt"/>
                        </a:rPr>
                        <a:t>start..end</a:t>
                      </a:r>
                    </a:p>
                  </a:txBody>
                  <a:tcPr marL="190500" marR="190500" marT="28575" marB="28575" anchor="ctr"/>
                </a:tc>
                <a:tc>
                  <a:txBody>
                    <a:bodyPr/>
                    <a:lstStyle/>
                    <a:p>
                      <a:r>
                        <a:rPr lang="en-US" sz="1600" dirty="0">
                          <a:effectLst/>
                          <a:latin typeface="+mn-lt"/>
                          <a:ea typeface="+mn-ea"/>
                          <a:cs typeface="+mn-ea"/>
                          <a:sym typeface="+mn-lt"/>
                        </a:rPr>
                        <a:t>std::ops::Range</a:t>
                      </a:r>
                    </a:p>
                  </a:txBody>
                  <a:tcPr marL="190500" marR="190500" marT="28575" marB="28575" anchor="ctr"/>
                </a:tc>
                <a:tc>
                  <a:txBody>
                    <a:bodyPr/>
                    <a:lstStyle/>
                    <a:p>
                      <a:r>
                        <a:rPr lang="en-US" sz="1600" dirty="0">
                          <a:effectLst/>
                          <a:latin typeface="+mn-lt"/>
                          <a:ea typeface="+mn-ea"/>
                          <a:cs typeface="+mn-ea"/>
                          <a:sym typeface="+mn-lt"/>
                        </a:rPr>
                        <a:t>start ≤ x &lt; end</a:t>
                      </a:r>
                    </a:p>
                  </a:txBody>
                  <a:tcPr marL="190500" marR="190500" marT="28575" marB="28575" anchor="ctr"/>
                </a:tc>
                <a:extLst>
                  <a:ext uri="{0D108BD9-81ED-4DB2-BD59-A6C34878D82A}">
                    <a16:rowId xmlns:a16="http://schemas.microsoft.com/office/drawing/2014/main" val="10001"/>
                  </a:ext>
                </a:extLst>
              </a:tr>
              <a:tr h="341206">
                <a:tc>
                  <a:txBody>
                    <a:bodyPr/>
                    <a:lstStyle/>
                    <a:p>
                      <a:r>
                        <a:rPr lang="en-US" sz="1600" dirty="0">
                          <a:effectLst/>
                          <a:latin typeface="+mn-lt"/>
                          <a:ea typeface="+mn-ea"/>
                          <a:cs typeface="+mn-ea"/>
                          <a:sym typeface="+mn-lt"/>
                        </a:rPr>
                        <a:t>start..</a:t>
                      </a:r>
                    </a:p>
                  </a:txBody>
                  <a:tcPr marL="190500" marR="190500" marT="28575" marB="28575" anchor="ctr"/>
                </a:tc>
                <a:tc>
                  <a:txBody>
                    <a:bodyPr/>
                    <a:lstStyle/>
                    <a:p>
                      <a:r>
                        <a:rPr lang="en-US" sz="1600" dirty="0">
                          <a:effectLst/>
                          <a:latin typeface="+mn-lt"/>
                          <a:ea typeface="+mn-ea"/>
                          <a:cs typeface="+mn-ea"/>
                          <a:sym typeface="+mn-lt"/>
                        </a:rPr>
                        <a:t>std::ops::RangeFrom</a:t>
                      </a:r>
                    </a:p>
                  </a:txBody>
                  <a:tcPr marL="190500" marR="190500" marT="28575" marB="28575" anchor="ctr"/>
                </a:tc>
                <a:tc>
                  <a:txBody>
                    <a:bodyPr/>
                    <a:lstStyle/>
                    <a:p>
                      <a:r>
                        <a:rPr lang="en-US" sz="1600" dirty="0">
                          <a:effectLst/>
                          <a:latin typeface="+mn-lt"/>
                          <a:ea typeface="+mn-ea"/>
                          <a:cs typeface="+mn-ea"/>
                          <a:sym typeface="+mn-lt"/>
                        </a:rPr>
                        <a:t>start ≤ x</a:t>
                      </a:r>
                    </a:p>
                  </a:txBody>
                  <a:tcPr marL="190500" marR="190500" marT="28575" marB="28575" anchor="ctr"/>
                </a:tc>
                <a:extLst>
                  <a:ext uri="{0D108BD9-81ED-4DB2-BD59-A6C34878D82A}">
                    <a16:rowId xmlns:a16="http://schemas.microsoft.com/office/drawing/2014/main" val="10002"/>
                  </a:ext>
                </a:extLst>
              </a:tr>
              <a:tr h="341206">
                <a:tc>
                  <a:txBody>
                    <a:bodyPr/>
                    <a:lstStyle/>
                    <a:p>
                      <a:r>
                        <a:rPr lang="en-US" sz="1600" dirty="0">
                          <a:effectLst/>
                          <a:latin typeface="+mn-lt"/>
                          <a:ea typeface="+mn-ea"/>
                          <a:cs typeface="+mn-ea"/>
                          <a:sym typeface="+mn-lt"/>
                        </a:rPr>
                        <a:t>..end</a:t>
                      </a:r>
                    </a:p>
                  </a:txBody>
                  <a:tcPr marL="190500" marR="190500" marT="28575" marB="28575" anchor="ctr"/>
                </a:tc>
                <a:tc>
                  <a:txBody>
                    <a:bodyPr/>
                    <a:lstStyle/>
                    <a:p>
                      <a:r>
                        <a:rPr lang="en-US" sz="1600" dirty="0">
                          <a:effectLst/>
                          <a:latin typeface="+mn-lt"/>
                          <a:ea typeface="+mn-ea"/>
                          <a:cs typeface="+mn-ea"/>
                          <a:sym typeface="+mn-lt"/>
                        </a:rPr>
                        <a:t>std::ops::RangeTo</a:t>
                      </a:r>
                    </a:p>
                  </a:txBody>
                  <a:tcPr marL="190500" marR="190500" marT="28575" marB="28575" anchor="ctr"/>
                </a:tc>
                <a:tc>
                  <a:txBody>
                    <a:bodyPr/>
                    <a:lstStyle/>
                    <a:p>
                      <a:r>
                        <a:rPr lang="en-US" sz="1600" dirty="0">
                          <a:effectLst/>
                          <a:latin typeface="+mn-lt"/>
                          <a:ea typeface="+mn-ea"/>
                          <a:cs typeface="+mn-ea"/>
                          <a:sym typeface="+mn-lt"/>
                        </a:rPr>
                        <a:t>x &lt; end</a:t>
                      </a:r>
                    </a:p>
                  </a:txBody>
                  <a:tcPr marL="190500" marR="190500" marT="28575" marB="28575" anchor="ctr"/>
                </a:tc>
                <a:extLst>
                  <a:ext uri="{0D108BD9-81ED-4DB2-BD59-A6C34878D82A}">
                    <a16:rowId xmlns:a16="http://schemas.microsoft.com/office/drawing/2014/main" val="10003"/>
                  </a:ext>
                </a:extLst>
              </a:tr>
              <a:tr h="341206">
                <a:tc>
                  <a:txBody>
                    <a:bodyPr/>
                    <a:lstStyle/>
                    <a:p>
                      <a:r>
                        <a:rPr lang="en-US" altLang="zh-CN" sz="1600" dirty="0">
                          <a:effectLst/>
                          <a:latin typeface="+mn-lt"/>
                          <a:ea typeface="+mn-ea"/>
                          <a:cs typeface="+mn-ea"/>
                          <a:sym typeface="+mn-lt"/>
                        </a:rPr>
                        <a:t>..</a:t>
                      </a:r>
                    </a:p>
                  </a:txBody>
                  <a:tcPr marL="190500" marR="190500" marT="28575" marB="28575" anchor="ctr"/>
                </a:tc>
                <a:tc>
                  <a:txBody>
                    <a:bodyPr/>
                    <a:lstStyle/>
                    <a:p>
                      <a:r>
                        <a:rPr lang="en-US" sz="1600" dirty="0">
                          <a:effectLst/>
                          <a:latin typeface="+mn-lt"/>
                          <a:ea typeface="+mn-ea"/>
                          <a:cs typeface="+mn-ea"/>
                          <a:sym typeface="+mn-lt"/>
                        </a:rPr>
                        <a:t>std::ops::RangeFull</a:t>
                      </a:r>
                    </a:p>
                  </a:txBody>
                  <a:tcPr marL="190500" marR="190500" marT="28575" marB="28575" anchor="ctr"/>
                </a:tc>
                <a:tc>
                  <a:txBody>
                    <a:bodyPr/>
                    <a:lstStyle/>
                    <a:p>
                      <a:r>
                        <a:rPr lang="en-US" altLang="zh-CN" sz="1600" dirty="0">
                          <a:effectLst/>
                          <a:latin typeface="+mn-lt"/>
                          <a:ea typeface="+mn-ea"/>
                          <a:cs typeface="+mn-ea"/>
                          <a:sym typeface="+mn-lt"/>
                        </a:rPr>
                        <a:t>-</a:t>
                      </a:r>
                    </a:p>
                  </a:txBody>
                  <a:tcPr marL="190500" marR="190500" marT="28575" marB="28575" anchor="ctr"/>
                </a:tc>
                <a:extLst>
                  <a:ext uri="{0D108BD9-81ED-4DB2-BD59-A6C34878D82A}">
                    <a16:rowId xmlns:a16="http://schemas.microsoft.com/office/drawing/2014/main" val="10004"/>
                  </a:ext>
                </a:extLst>
              </a:tr>
              <a:tr h="341206">
                <a:tc>
                  <a:txBody>
                    <a:bodyPr/>
                    <a:lstStyle/>
                    <a:p>
                      <a:r>
                        <a:rPr lang="en-US" sz="1600" dirty="0">
                          <a:effectLst/>
                          <a:latin typeface="+mn-lt"/>
                          <a:ea typeface="+mn-ea"/>
                          <a:cs typeface="+mn-ea"/>
                          <a:sym typeface="+mn-lt"/>
                        </a:rPr>
                        <a:t>start..=end</a:t>
                      </a:r>
                    </a:p>
                  </a:txBody>
                  <a:tcPr marL="190500" marR="190500" marT="28575" marB="28575" anchor="ctr"/>
                </a:tc>
                <a:tc>
                  <a:txBody>
                    <a:bodyPr/>
                    <a:lstStyle/>
                    <a:p>
                      <a:r>
                        <a:rPr lang="en-US" sz="1600" dirty="0">
                          <a:effectLst/>
                          <a:latin typeface="+mn-lt"/>
                          <a:ea typeface="+mn-ea"/>
                          <a:cs typeface="+mn-ea"/>
                          <a:sym typeface="+mn-lt"/>
                        </a:rPr>
                        <a:t>std::ops::RangeInclusive</a:t>
                      </a:r>
                    </a:p>
                  </a:txBody>
                  <a:tcPr marL="190500" marR="190500" marT="28575" marB="28575" anchor="ctr"/>
                </a:tc>
                <a:tc>
                  <a:txBody>
                    <a:bodyPr/>
                    <a:lstStyle/>
                    <a:p>
                      <a:r>
                        <a:rPr lang="en-US" sz="1600" dirty="0">
                          <a:effectLst/>
                          <a:latin typeface="+mn-lt"/>
                          <a:ea typeface="+mn-ea"/>
                          <a:cs typeface="+mn-ea"/>
                          <a:sym typeface="+mn-lt"/>
                        </a:rPr>
                        <a:t>start ≤ x ≤ end</a:t>
                      </a:r>
                    </a:p>
                  </a:txBody>
                  <a:tcPr marL="190500" marR="190500" marT="28575" marB="28575" anchor="ctr"/>
                </a:tc>
                <a:extLst>
                  <a:ext uri="{0D108BD9-81ED-4DB2-BD59-A6C34878D82A}">
                    <a16:rowId xmlns:a16="http://schemas.microsoft.com/office/drawing/2014/main" val="10005"/>
                  </a:ext>
                </a:extLst>
              </a:tr>
              <a:tr h="341206">
                <a:tc>
                  <a:txBody>
                    <a:bodyPr/>
                    <a:lstStyle/>
                    <a:p>
                      <a:r>
                        <a:rPr lang="en-US" sz="1600" dirty="0">
                          <a:effectLst/>
                          <a:latin typeface="+mn-lt"/>
                          <a:ea typeface="+mn-ea"/>
                          <a:cs typeface="+mn-ea"/>
                          <a:sym typeface="+mn-lt"/>
                        </a:rPr>
                        <a:t>..=end</a:t>
                      </a:r>
                    </a:p>
                  </a:txBody>
                  <a:tcPr marL="190500" marR="190500" marT="28575" marB="28575" anchor="ctr"/>
                </a:tc>
                <a:tc>
                  <a:txBody>
                    <a:bodyPr/>
                    <a:lstStyle/>
                    <a:p>
                      <a:r>
                        <a:rPr lang="en-US" sz="1600" dirty="0">
                          <a:effectLst/>
                          <a:latin typeface="+mn-lt"/>
                          <a:ea typeface="+mn-ea"/>
                          <a:cs typeface="+mn-ea"/>
                          <a:sym typeface="+mn-lt"/>
                        </a:rPr>
                        <a:t>std::ops::RangeToInclusive</a:t>
                      </a:r>
                    </a:p>
                  </a:txBody>
                  <a:tcPr marL="190500" marR="190500" marT="28575" marB="28575" anchor="ctr"/>
                </a:tc>
                <a:tc>
                  <a:txBody>
                    <a:bodyPr/>
                    <a:lstStyle/>
                    <a:p>
                      <a:r>
                        <a:rPr lang="en-US" sz="1600" dirty="0">
                          <a:effectLst/>
                          <a:latin typeface="+mn-lt"/>
                          <a:ea typeface="+mn-ea"/>
                          <a:cs typeface="+mn-ea"/>
                          <a:sym typeface="+mn-lt"/>
                        </a:rPr>
                        <a:t>x ≤ end</a:t>
                      </a:r>
                    </a:p>
                  </a:txBody>
                  <a:tcPr marL="190500" marR="190500" marT="28575" marB="28575" anchor="ctr"/>
                </a:tc>
                <a:extLst>
                  <a:ext uri="{0D108BD9-81ED-4DB2-BD59-A6C34878D82A}">
                    <a16:rowId xmlns:a16="http://schemas.microsoft.com/office/drawing/2014/main" val="10006"/>
                  </a:ext>
                </a:extLst>
              </a:tr>
            </a:tbl>
          </a:graphicData>
        </a:graphic>
      </p:graphicFrame>
      <p:grpSp>
        <p:nvGrpSpPr>
          <p:cNvPr id="12" name="组合 11"/>
          <p:cNvGrpSpPr/>
          <p:nvPr/>
        </p:nvGrpSpPr>
        <p:grpSpPr>
          <a:xfrm>
            <a:off x="7153324" y="3662855"/>
            <a:ext cx="3907188" cy="2838879"/>
            <a:chOff x="477756" y="4886942"/>
            <a:chExt cx="3907188" cy="2838879"/>
          </a:xfrm>
        </p:grpSpPr>
        <p:sp>
          <p:nvSpPr>
            <p:cNvPr id="6" name="矩形 5"/>
            <p:cNvSpPr/>
            <p:nvPr/>
          </p:nvSpPr>
          <p:spPr>
            <a:xfrm>
              <a:off x="477756" y="4886942"/>
              <a:ext cx="3191899" cy="338554"/>
            </a:xfrm>
            <a:prstGeom prst="rect">
              <a:avLst/>
            </a:prstGeom>
          </p:spPr>
          <p:txBody>
            <a:bodyPr wrap="none">
              <a:spAutoFit/>
            </a:bodyPr>
            <a:lstStyle/>
            <a:p>
              <a:r>
                <a:rPr lang="en-US" altLang="zh-CN" sz="1600" dirty="0">
                  <a:solidFill>
                    <a:srgbClr val="262625"/>
                  </a:solidFill>
                  <a:cs typeface="+mn-ea"/>
                  <a:sym typeface="+mn-lt"/>
                </a:rPr>
                <a:t>for </a:t>
              </a:r>
              <a:r>
                <a:rPr lang="zh-CN" altLang="en-US" sz="1600" dirty="0">
                  <a:solidFill>
                    <a:srgbClr val="262625"/>
                  </a:solidFill>
                  <a:cs typeface="+mn-ea"/>
                  <a:sym typeface="+mn-lt"/>
                </a:rPr>
                <a:t>循环中可以使用范围表达式：</a:t>
              </a:r>
              <a:endParaRPr lang="zh-CN" altLang="en-US" sz="1600" dirty="0">
                <a:cs typeface="+mn-ea"/>
                <a:sym typeface="+mn-lt"/>
              </a:endParaRPr>
            </a:p>
          </p:txBody>
        </p:sp>
        <p:sp>
          <p:nvSpPr>
            <p:cNvPr id="10" name="文本框 9"/>
            <p:cNvSpPr txBox="1"/>
            <p:nvPr/>
          </p:nvSpPr>
          <p:spPr>
            <a:xfrm>
              <a:off x="477756" y="5232831"/>
              <a:ext cx="3907188" cy="249299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altLang="zh-CN" sz="1200" b="1" dirty="0">
                <a:solidFill>
                  <a:srgbClr val="00B050"/>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C678DD"/>
                  </a:solidFill>
                  <a:cs typeface="+mn-ea"/>
                  <a:sym typeface="+mn-lt"/>
                </a:rPr>
                <a:t>mut</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C678DD"/>
                  </a:solidFill>
                  <a:cs typeface="+mn-ea"/>
                  <a:sym typeface="+mn-lt"/>
                </a:rPr>
                <a:t>for</a:t>
              </a:r>
              <a:r>
                <a:rPr lang="en-US" altLang="zh-CN" sz="1200" dirty="0">
                  <a:solidFill>
                    <a:srgbClr val="ABB2BF"/>
                  </a:solidFill>
                  <a:cs typeface="+mn-ea"/>
                  <a:sym typeface="+mn-lt"/>
                </a:rPr>
                <a:t> </a:t>
              </a:r>
              <a:r>
                <a:rPr lang="en-US" altLang="zh-CN" sz="1200" dirty="0">
                  <a:solidFill>
                    <a:srgbClr val="E06C75"/>
                  </a:solidFill>
                  <a:cs typeface="+mn-ea"/>
                  <a:sym typeface="+mn-lt"/>
                </a:rPr>
                <a:t>i</a:t>
              </a:r>
              <a:r>
                <a:rPr lang="en-US" altLang="zh-CN" sz="1200" dirty="0">
                  <a:solidFill>
                    <a:srgbClr val="ABB2BF"/>
                  </a:solidFill>
                  <a:cs typeface="+mn-ea"/>
                  <a:sym typeface="+mn-lt"/>
                </a:rPr>
                <a:t> </a:t>
              </a:r>
              <a:r>
                <a:rPr lang="en-US" altLang="zh-CN" sz="1200" dirty="0">
                  <a:solidFill>
                    <a:srgbClr val="C678DD"/>
                  </a:solidFill>
                  <a:cs typeface="+mn-ea"/>
                  <a:sym typeface="+mn-lt"/>
                </a:rPr>
                <a:t>in</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a:t>
              </a:r>
              <a:r>
                <a:rPr lang="en-US" altLang="zh-CN" sz="1200" dirty="0">
                  <a:solidFill>
                    <a:srgbClr val="D19A66"/>
                  </a:solidFill>
                  <a:cs typeface="+mn-ea"/>
                  <a:sym typeface="+mn-lt"/>
                </a:rPr>
                <a:t>5</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E06C75"/>
                  </a:solidFill>
                  <a:cs typeface="+mn-ea"/>
                  <a:sym typeface="+mn-lt"/>
                </a:rPr>
                <a:t>i</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D19A66"/>
                  </a:solidFill>
                  <a:cs typeface="+mn-ea"/>
                  <a:sym typeface="+mn-lt"/>
                </a:rPr>
                <a:t>11</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C678DD"/>
                  </a:solidFill>
                  <a:cs typeface="+mn-ea"/>
                  <a:sym typeface="+mn-lt"/>
                </a:rPr>
                <a:t>mut</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C678DD"/>
                  </a:solidFill>
                  <a:cs typeface="+mn-ea"/>
                  <a:sym typeface="+mn-lt"/>
                </a:rPr>
                <a:t>for</a:t>
              </a:r>
              <a:r>
                <a:rPr lang="en-US" altLang="zh-CN" sz="1200" dirty="0">
                  <a:solidFill>
                    <a:srgbClr val="ABB2BF"/>
                  </a:solidFill>
                  <a:cs typeface="+mn-ea"/>
                  <a:sym typeface="+mn-lt"/>
                </a:rPr>
                <a:t> </a:t>
              </a:r>
              <a:r>
                <a:rPr lang="en-US" altLang="zh-CN" sz="1200" dirty="0">
                  <a:solidFill>
                    <a:srgbClr val="E06C75"/>
                  </a:solidFill>
                  <a:cs typeface="+mn-ea"/>
                  <a:sym typeface="+mn-lt"/>
                </a:rPr>
                <a:t>i</a:t>
              </a:r>
              <a:r>
                <a:rPr lang="en-US" altLang="zh-CN" sz="1200" dirty="0">
                  <a:solidFill>
                    <a:srgbClr val="ABB2BF"/>
                  </a:solidFill>
                  <a:cs typeface="+mn-ea"/>
                  <a:sym typeface="+mn-lt"/>
                </a:rPr>
                <a:t> </a:t>
              </a:r>
              <a:r>
                <a:rPr lang="en-US" altLang="zh-CN" sz="1200" dirty="0">
                  <a:solidFill>
                    <a:srgbClr val="C678DD"/>
                  </a:solidFill>
                  <a:cs typeface="+mn-ea"/>
                  <a:sym typeface="+mn-lt"/>
                </a:rPr>
                <a:t>in</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a:t>
              </a:r>
              <a:r>
                <a:rPr lang="en-US" altLang="zh-CN" sz="1200" dirty="0">
                  <a:solidFill>
                    <a:srgbClr val="D19A66"/>
                  </a:solidFill>
                  <a:cs typeface="+mn-ea"/>
                  <a:sym typeface="+mn-lt"/>
                </a:rPr>
                <a:t>5</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E06C75"/>
                  </a:solidFill>
                  <a:cs typeface="+mn-ea"/>
                  <a:sym typeface="+mn-lt"/>
                </a:rPr>
                <a:t>i</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E06C75"/>
                  </a:solidFill>
                  <a:cs typeface="+mn-ea"/>
                  <a:sym typeface="+mn-lt"/>
                </a:rPr>
                <a:t>b</a:t>
              </a:r>
              <a:r>
                <a:rPr lang="en-US" altLang="zh-CN" sz="1200" dirty="0">
                  <a:solidFill>
                    <a:srgbClr val="ABB2BF"/>
                  </a:solidFill>
                  <a:cs typeface="+mn-ea"/>
                  <a:sym typeface="+mn-lt"/>
                </a:rPr>
                <a:t>, </a:t>
              </a:r>
              <a:r>
                <a:rPr lang="en-US" altLang="zh-CN" sz="1200" dirty="0">
                  <a:solidFill>
                    <a:srgbClr val="D19A66"/>
                  </a:solidFill>
                  <a:cs typeface="+mn-ea"/>
                  <a:sym typeface="+mn-lt"/>
                </a:rPr>
                <a:t>16</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grpSp>
      <p:sp>
        <p:nvSpPr>
          <p:cNvPr id="11" name="文本框 10"/>
          <p:cNvSpPr txBox="1"/>
          <p:nvPr/>
        </p:nvSpPr>
        <p:spPr>
          <a:xfrm>
            <a:off x="319872" y="3616140"/>
            <a:ext cx="6300384" cy="3046988"/>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altLang="zh-CN" sz="1200" b="1" dirty="0">
              <a:solidFill>
                <a:srgbClr val="00B050"/>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use</a:t>
            </a:r>
            <a:r>
              <a:rPr lang="en-US" altLang="zh-CN" sz="1200" dirty="0">
                <a:solidFill>
                  <a:srgbClr val="ABB2BF"/>
                </a:solidFill>
                <a:cs typeface="+mn-ea"/>
                <a:sym typeface="+mn-lt"/>
              </a:rPr>
              <a:t> </a:t>
            </a:r>
            <a:r>
              <a:rPr lang="en-US" altLang="zh-CN" sz="1200" dirty="0">
                <a:solidFill>
                  <a:srgbClr val="E5C07B"/>
                </a:solidFill>
                <a:cs typeface="+mn-ea"/>
                <a:sym typeface="+mn-lt"/>
              </a:rPr>
              <a:t>std</a:t>
            </a:r>
            <a:r>
              <a:rPr lang="en-US" altLang="zh-CN" sz="1200" dirty="0">
                <a:solidFill>
                  <a:srgbClr val="ABB2BF"/>
                </a:solidFill>
                <a:cs typeface="+mn-ea"/>
                <a:sym typeface="+mn-lt"/>
              </a:rPr>
              <a:t>::</a:t>
            </a:r>
            <a:r>
              <a:rPr lang="en-US" altLang="zh-CN" sz="1200" dirty="0">
                <a:solidFill>
                  <a:srgbClr val="E5C07B"/>
                </a:solidFill>
                <a:cs typeface="+mn-ea"/>
                <a:sym typeface="+mn-lt"/>
              </a:rPr>
              <a:t>ops</a:t>
            </a:r>
            <a:r>
              <a:rPr lang="en-US" altLang="zh-CN" sz="1200" dirty="0">
                <a:solidFill>
                  <a:srgbClr val="ABB2BF"/>
                </a:solidFill>
                <a:cs typeface="+mn-ea"/>
                <a:sym typeface="+mn-lt"/>
              </a:rPr>
              <a:t>::</a:t>
            </a:r>
            <a:r>
              <a:rPr lang="en-US" altLang="zh-CN" sz="1200" dirty="0">
                <a:solidFill>
                  <a:srgbClr val="E5C07B"/>
                </a:solidFill>
                <a:cs typeface="+mn-ea"/>
                <a:sym typeface="+mn-lt"/>
              </a:rPr>
              <a:t>Range</a:t>
            </a:r>
            <a:r>
              <a:rPr lang="en-US" altLang="zh-CN" sz="1200" dirty="0">
                <a:solidFill>
                  <a:srgbClr val="ABB2BF"/>
                </a:solidFill>
                <a:cs typeface="+mn-ea"/>
                <a:sym typeface="+mn-lt"/>
              </a:rPr>
              <a:t>;</a:t>
            </a:r>
          </a:p>
          <a:p>
            <a:r>
              <a:rPr lang="en-US" altLang="zh-CN" sz="1200" i="1" dirty="0">
                <a:solidFill>
                  <a:srgbClr val="7F848E"/>
                </a:solidFill>
                <a:cs typeface="+mn-ea"/>
                <a:sym typeface="+mn-lt"/>
              </a:rPr>
              <a:t>    // </a:t>
            </a:r>
            <a:r>
              <a:rPr lang="zh-CN" altLang="en-US" sz="1200" i="1" dirty="0">
                <a:solidFill>
                  <a:srgbClr val="7F848E"/>
                </a:solidFill>
                <a:cs typeface="+mn-ea"/>
                <a:sym typeface="+mn-lt"/>
              </a:rPr>
              <a:t>下面两者是等价的</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E5C07B"/>
                </a:solidFill>
                <a:cs typeface="+mn-ea"/>
                <a:sym typeface="+mn-lt"/>
              </a:rPr>
              <a:t>Range</a:t>
            </a:r>
            <a:r>
              <a:rPr lang="en-US" altLang="zh-CN" sz="1200" dirty="0">
                <a:solidFill>
                  <a:srgbClr val="ABB2BF"/>
                </a:solidFill>
                <a:cs typeface="+mn-ea"/>
                <a:sym typeface="+mn-lt"/>
              </a:rPr>
              <a:t>&lt;</a:t>
            </a:r>
            <a:r>
              <a:rPr lang="en-US" altLang="zh-CN" sz="1200" dirty="0">
                <a:solidFill>
                  <a:srgbClr val="E5C07B"/>
                </a:solidFill>
                <a:cs typeface="+mn-ea"/>
                <a:sym typeface="+mn-lt"/>
              </a:rPr>
              <a:t>i32</a:t>
            </a:r>
            <a:r>
              <a:rPr lang="en-US" altLang="zh-CN" sz="1200" dirty="0">
                <a:solidFill>
                  <a:srgbClr val="ABB2BF"/>
                </a:solidFill>
                <a:cs typeface="+mn-ea"/>
                <a:sym typeface="+mn-lt"/>
              </a:rPr>
              <a:t>&gt;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E5C07B"/>
                </a:solidFill>
                <a:cs typeface="+mn-ea"/>
                <a:sym typeface="+mn-lt"/>
              </a:rPr>
              <a:t>std</a:t>
            </a:r>
            <a:r>
              <a:rPr lang="en-US" altLang="zh-CN" sz="1200" dirty="0">
                <a:solidFill>
                  <a:srgbClr val="ABB2BF"/>
                </a:solidFill>
                <a:cs typeface="+mn-ea"/>
                <a:sym typeface="+mn-lt"/>
              </a:rPr>
              <a:t>::</a:t>
            </a:r>
            <a:r>
              <a:rPr lang="en-US" altLang="zh-CN" sz="1200" dirty="0">
                <a:solidFill>
                  <a:srgbClr val="E5C07B"/>
                </a:solidFill>
                <a:cs typeface="+mn-ea"/>
                <a:sym typeface="+mn-lt"/>
              </a:rPr>
              <a:t>ops</a:t>
            </a:r>
            <a:r>
              <a:rPr lang="en-US" altLang="zh-CN" sz="1200" dirty="0">
                <a:solidFill>
                  <a:srgbClr val="ABB2BF"/>
                </a:solidFill>
                <a:cs typeface="+mn-ea"/>
                <a:sym typeface="+mn-lt"/>
              </a:rPr>
              <a:t>::</a:t>
            </a:r>
            <a:r>
              <a:rPr lang="en-US" altLang="zh-CN" sz="1200" dirty="0">
                <a:solidFill>
                  <a:srgbClr val="E5C07B"/>
                </a:solidFill>
                <a:cs typeface="+mn-ea"/>
                <a:sym typeface="+mn-lt"/>
              </a:rPr>
              <a:t>Range</a:t>
            </a:r>
            <a:r>
              <a:rPr lang="en-US" altLang="zh-CN" sz="1200" dirty="0">
                <a:solidFill>
                  <a:srgbClr val="ABB2BF"/>
                </a:solidFill>
                <a:cs typeface="+mn-ea"/>
                <a:sym typeface="+mn-lt"/>
              </a:rPr>
              <a:t> { </a:t>
            </a:r>
            <a:r>
              <a:rPr lang="en-US" altLang="zh-CN" sz="1200" dirty="0">
                <a:solidFill>
                  <a:srgbClr val="E06C75"/>
                </a:solidFill>
                <a:cs typeface="+mn-ea"/>
                <a:sym typeface="+mn-lt"/>
              </a:rPr>
              <a:t>start</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r>
              <a:rPr lang="en-US" altLang="zh-CN" sz="1200" dirty="0">
                <a:solidFill>
                  <a:srgbClr val="E06C75"/>
                </a:solidFill>
                <a:cs typeface="+mn-ea"/>
                <a:sym typeface="+mn-lt"/>
              </a:rPr>
              <a:t>end</a:t>
            </a:r>
            <a:r>
              <a:rPr lang="en-US" altLang="zh-CN" sz="1200" dirty="0">
                <a:solidFill>
                  <a:srgbClr val="ABB2BF"/>
                </a:solidFill>
                <a:cs typeface="+mn-ea"/>
                <a:sym typeface="+mn-lt"/>
              </a:rPr>
              <a:t>: </a:t>
            </a:r>
            <a:r>
              <a:rPr lang="en-US" altLang="zh-CN" sz="1200" dirty="0">
                <a:solidFill>
                  <a:srgbClr val="D19A66"/>
                </a:solidFill>
                <a:cs typeface="+mn-ea"/>
                <a:sym typeface="+mn-lt"/>
              </a:rPr>
              <a:t>10</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 </a:t>
            </a:r>
            <a:r>
              <a:rPr lang="en-US" altLang="zh-CN" sz="1200" dirty="0">
                <a:solidFill>
                  <a:srgbClr val="E5C07B"/>
                </a:solidFill>
                <a:cs typeface="+mn-ea"/>
                <a:sym typeface="+mn-lt"/>
              </a:rPr>
              <a:t>Range</a:t>
            </a:r>
            <a:r>
              <a:rPr lang="en-US" altLang="zh-CN" sz="1200" dirty="0">
                <a:solidFill>
                  <a:srgbClr val="ABB2BF"/>
                </a:solidFill>
                <a:cs typeface="+mn-ea"/>
                <a:sym typeface="+mn-lt"/>
              </a:rPr>
              <a:t>&lt;</a:t>
            </a:r>
            <a:r>
              <a:rPr lang="en-US" altLang="zh-CN" sz="1200" dirty="0">
                <a:solidFill>
                  <a:srgbClr val="E5C07B"/>
                </a:solidFill>
                <a:cs typeface="+mn-ea"/>
                <a:sym typeface="+mn-lt"/>
              </a:rPr>
              <a:t>i32</a:t>
            </a:r>
            <a:r>
              <a:rPr lang="en-US" altLang="zh-CN" sz="1200" dirty="0">
                <a:solidFill>
                  <a:srgbClr val="ABB2BF"/>
                </a:solidFill>
                <a:cs typeface="+mn-ea"/>
                <a:sym typeface="+mn-lt"/>
              </a:rPr>
              <a:t>&gt;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a:t>
            </a:r>
            <a:r>
              <a:rPr lang="en-US" altLang="zh-CN" sz="1200" dirty="0">
                <a:solidFill>
                  <a:srgbClr val="D19A66"/>
                </a:solidFill>
                <a:cs typeface="+mn-ea"/>
                <a:sym typeface="+mn-lt"/>
              </a:rPr>
              <a:t>10</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E06C75"/>
                </a:solidFill>
                <a:cs typeface="+mn-ea"/>
                <a:sym typeface="+mn-lt"/>
              </a:rPr>
              <a:t>arr</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4</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err="1">
                <a:solidFill>
                  <a:srgbClr val="E06C75"/>
                </a:solidFill>
                <a:cs typeface="+mn-ea"/>
                <a:sym typeface="+mn-lt"/>
              </a:rPr>
              <a:t>arr</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4</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en-US" altLang="zh-CN" sz="1200" i="1" dirty="0" err="1">
                <a:solidFill>
                  <a:srgbClr val="7F848E"/>
                </a:solidFill>
                <a:cs typeface="+mn-ea"/>
                <a:sym typeface="+mn-lt"/>
              </a:rPr>
              <a:t>RangeFull</a:t>
            </a:r>
            <a:endParaRPr lang="en-US" altLang="zh-CN" sz="1200" dirty="0">
              <a:solidFill>
                <a:srgbClr val="ABB2BF"/>
              </a:solidFill>
              <a:cs typeface="+mn-ea"/>
              <a:sym typeface="+mn-lt"/>
            </a:endParaRP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err="1">
                <a:solidFill>
                  <a:srgbClr val="E06C75"/>
                </a:solidFill>
                <a:cs typeface="+mn-ea"/>
                <a:sym typeface="+mn-lt"/>
              </a:rPr>
              <a:t>arr</a:t>
            </a:r>
            <a:r>
              <a:rPr lang="en-US" altLang="zh-CN" sz="1200" dirty="0">
                <a:solidFill>
                  <a:srgbClr val="ABB2BF"/>
                </a:solidFill>
                <a:cs typeface="+mn-ea"/>
                <a:sym typeface="+mn-lt"/>
              </a:rPr>
              <a:t>[..</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en-US" altLang="zh-CN" sz="1200" i="1" dirty="0" err="1">
                <a:solidFill>
                  <a:srgbClr val="7F848E"/>
                </a:solidFill>
                <a:cs typeface="+mn-ea"/>
                <a:sym typeface="+mn-lt"/>
              </a:rPr>
              <a:t>RangeTo</a:t>
            </a:r>
            <a:endParaRPr lang="en-US" altLang="zh-CN" sz="1200" dirty="0">
              <a:solidFill>
                <a:srgbClr val="ABB2BF"/>
              </a:solidFill>
              <a:cs typeface="+mn-ea"/>
              <a:sym typeface="+mn-lt"/>
            </a:endParaRP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err="1">
                <a:solidFill>
                  <a:srgbClr val="E06C75"/>
                </a:solidFill>
                <a:cs typeface="+mn-ea"/>
                <a:sym typeface="+mn-lt"/>
              </a:rPr>
              <a:t>arr</a:t>
            </a:r>
            <a:r>
              <a:rPr lang="en-US" altLang="zh-CN" sz="1200" dirty="0">
                <a:solidFill>
                  <a:srgbClr val="ABB2BF"/>
                </a:solidFill>
                <a:cs typeface="+mn-ea"/>
                <a:sym typeface="+mn-lt"/>
              </a:rPr>
              <a:t>[..=</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en-US" altLang="zh-CN" sz="1200" i="1" dirty="0" err="1">
                <a:solidFill>
                  <a:srgbClr val="7F848E"/>
                </a:solidFill>
                <a:cs typeface="+mn-ea"/>
                <a:sym typeface="+mn-lt"/>
              </a:rPr>
              <a:t>RangeToInclusive</a:t>
            </a:r>
            <a:endParaRPr lang="en-US" altLang="zh-CN" sz="1200" dirty="0">
              <a:solidFill>
                <a:srgbClr val="ABB2BF"/>
              </a:solidFill>
              <a:cs typeface="+mn-ea"/>
              <a:sym typeface="+mn-lt"/>
            </a:endParaRP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err="1">
                <a:solidFill>
                  <a:srgbClr val="E06C75"/>
                </a:solidFill>
                <a:cs typeface="+mn-ea"/>
                <a:sym typeface="+mn-lt"/>
              </a:rPr>
              <a:t>arr</a:t>
            </a:r>
            <a:r>
              <a:rPr lang="en-US" altLang="zh-CN" sz="1200" dirty="0">
                <a:solidFill>
                  <a:srgbClr val="ABB2BF"/>
                </a:solidFill>
                <a:cs typeface="+mn-ea"/>
                <a:sym typeface="+mn-lt"/>
              </a:rPr>
              <a:t>[</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4</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en-US" altLang="zh-CN" sz="1200" i="1" dirty="0" err="1">
                <a:solidFill>
                  <a:srgbClr val="7F848E"/>
                </a:solidFill>
                <a:cs typeface="+mn-ea"/>
                <a:sym typeface="+mn-lt"/>
              </a:rPr>
              <a:t>RangeFrom</a:t>
            </a:r>
            <a:endParaRPr lang="en-US" altLang="zh-CN" sz="1200" dirty="0">
              <a:solidFill>
                <a:srgbClr val="ABB2BF"/>
              </a:solidFill>
              <a:cs typeface="+mn-ea"/>
              <a:sym typeface="+mn-lt"/>
            </a:endParaRP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err="1">
                <a:solidFill>
                  <a:srgbClr val="E06C75"/>
                </a:solidFill>
                <a:cs typeface="+mn-ea"/>
                <a:sym typeface="+mn-lt"/>
              </a:rPr>
              <a:t>arr</a:t>
            </a:r>
            <a:r>
              <a:rPr lang="en-US" altLang="zh-CN" sz="1200" dirty="0">
                <a:solidFill>
                  <a:srgbClr val="ABB2BF"/>
                </a:solidFill>
                <a:cs typeface="+mn-ea"/>
                <a:sym typeface="+mn-lt"/>
              </a:rPr>
              <a:t>[</a:t>
            </a:r>
            <a:r>
              <a:rPr lang="en-US" altLang="zh-CN" sz="1200" dirty="0">
                <a:solidFill>
                  <a:srgbClr val="D19A66"/>
                </a:solidFill>
                <a:cs typeface="+mn-ea"/>
                <a:sym typeface="+mn-lt"/>
              </a:rPr>
              <a:t>1</a:t>
            </a:r>
            <a:r>
              <a:rPr lang="en-US" altLang="zh-CN" sz="1200" dirty="0">
                <a:solidFill>
                  <a:srgbClr val="ABB2BF"/>
                </a:solidFill>
                <a:cs typeface="+mn-ea"/>
                <a:sym typeface="+mn-lt"/>
              </a:rPr>
              <a:t>..</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a:t>
            </a:r>
            <a:r>
              <a:rPr lang="en-US" altLang="zh-CN" sz="1200" i="1" dirty="0">
                <a:solidFill>
                  <a:srgbClr val="7F848E"/>
                </a:solidFill>
                <a:cs typeface="+mn-ea"/>
                <a:sym typeface="+mn-lt"/>
              </a:rPr>
              <a:t>        // Range</a:t>
            </a:r>
            <a:endParaRPr lang="en-US" altLang="zh-CN" sz="1200" dirty="0">
              <a:solidFill>
                <a:srgbClr val="ABB2BF"/>
              </a:solidFill>
              <a:cs typeface="+mn-ea"/>
              <a:sym typeface="+mn-lt"/>
            </a:endParaRPr>
          </a:p>
          <a:p>
            <a:r>
              <a:rPr lang="en-US" altLang="zh-CN" sz="1200" dirty="0">
                <a:solidFill>
                  <a:srgbClr val="ABB2BF"/>
                </a:solidFill>
                <a:cs typeface="+mn-ea"/>
                <a:sym typeface="+mn-lt"/>
              </a:rPr>
              <a:t>    </a:t>
            </a:r>
            <a:r>
              <a:rPr lang="en-US" altLang="zh-CN" sz="1200" dirty="0" err="1">
                <a:solidFill>
                  <a:srgbClr val="61AFEF"/>
                </a:solidFill>
                <a:cs typeface="+mn-ea"/>
                <a:sym typeface="+mn-lt"/>
              </a:rPr>
              <a:t>assert_eq</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err="1">
                <a:solidFill>
                  <a:srgbClr val="E06C75"/>
                </a:solidFill>
                <a:cs typeface="+mn-ea"/>
                <a:sym typeface="+mn-lt"/>
              </a:rPr>
              <a:t>arr</a:t>
            </a:r>
            <a:r>
              <a:rPr lang="en-US" altLang="zh-CN" sz="1200" dirty="0">
                <a:solidFill>
                  <a:srgbClr val="ABB2BF"/>
                </a:solidFill>
                <a:cs typeface="+mn-ea"/>
                <a:sym typeface="+mn-lt"/>
              </a:rPr>
              <a:t>[</a:t>
            </a:r>
            <a:r>
              <a:rPr lang="en-US" altLang="zh-CN" sz="1200" dirty="0">
                <a:solidFill>
                  <a:srgbClr val="D19A66"/>
                </a:solidFill>
                <a:cs typeface="+mn-ea"/>
                <a:sym typeface="+mn-lt"/>
              </a:rPr>
              <a:t>1</a:t>
            </a:r>
            <a:r>
              <a:rPr lang="en-US" altLang="zh-CN" sz="1200" dirty="0">
                <a:solidFill>
                  <a:srgbClr val="ABB2BF"/>
                </a:solidFill>
                <a:cs typeface="+mn-ea"/>
                <a:sym typeface="+mn-lt"/>
              </a:rPr>
              <a:t>..=</a:t>
            </a:r>
            <a:r>
              <a:rPr lang="en-US" altLang="zh-CN" sz="1200" dirty="0">
                <a:solidFill>
                  <a:srgbClr val="D19A66"/>
                </a:solidFill>
                <a:cs typeface="+mn-ea"/>
                <a:sym typeface="+mn-lt"/>
              </a:rPr>
              <a:t>3</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en-US" altLang="zh-CN" sz="1200" i="1" dirty="0" err="1">
                <a:solidFill>
                  <a:srgbClr val="7F848E"/>
                </a:solidFill>
                <a:cs typeface="+mn-ea"/>
                <a:sym typeface="+mn-lt"/>
              </a:rPr>
              <a:t>RangeInclusive</a:t>
            </a:r>
            <a:endParaRPr lang="en-US" altLang="zh-CN" sz="1200" dirty="0">
              <a:solidFill>
                <a:srgbClr val="ABB2BF"/>
              </a:solidFill>
              <a:cs typeface="+mn-ea"/>
              <a:sym typeface="+mn-lt"/>
            </a:endParaRP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cxnSp>
        <p:nvCxnSpPr>
          <p:cNvPr id="14" name="直接连接符 13"/>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81875"/>
    </mc:Choice>
    <mc:Fallback xmlns="">
      <p:transition spd="slow" advTm="8187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-match</a:t>
            </a:r>
            <a:r>
              <a:rPr lang="zh-CN" altLang="en-US" b="1" dirty="0">
                <a:solidFill>
                  <a:srgbClr val="C00000"/>
                </a:solidFill>
                <a:latin typeface="+mn-lt"/>
                <a:ea typeface="+mn-ea"/>
                <a:cs typeface="+mn-ea"/>
                <a:sym typeface="+mn-lt"/>
              </a:rPr>
              <a:t>概念与基本用法</a:t>
            </a:r>
          </a:p>
        </p:txBody>
      </p:sp>
      <p:sp>
        <p:nvSpPr>
          <p:cNvPr id="7" name="内容占位符 2"/>
          <p:cNvSpPr>
            <a:spLocks noGrp="1"/>
          </p:cNvSpPr>
          <p:nvPr>
            <p:ph idx="10"/>
          </p:nvPr>
        </p:nvSpPr>
        <p:spPr>
          <a:xfrm>
            <a:off x="317387" y="861478"/>
            <a:ext cx="10745805" cy="351392"/>
          </a:xfrm>
        </p:spPr>
        <p:txBody>
          <a:bodyPr/>
          <a:lstStyle/>
          <a:p>
            <a:r>
              <a:rPr lang="en-US" altLang="zh-CN" sz="1400" dirty="0">
                <a:latin typeface="+mn-lt"/>
                <a:ea typeface="+mn-ea"/>
                <a:cs typeface="+mn-ea"/>
                <a:sym typeface="+mn-lt"/>
              </a:rPr>
              <a:t>Rust </a:t>
            </a:r>
            <a:r>
              <a:rPr lang="zh-CN" altLang="en-US" sz="1400" dirty="0">
                <a:latin typeface="+mn-lt"/>
                <a:ea typeface="+mn-ea"/>
                <a:cs typeface="+mn-ea"/>
                <a:sym typeface="+mn-lt"/>
              </a:rPr>
              <a:t>中有极为强大的控制流运算符</a:t>
            </a:r>
            <a:r>
              <a:rPr lang="en-US" altLang="zh-CN" sz="1400" dirty="0">
                <a:latin typeface="+mn-lt"/>
                <a:ea typeface="+mn-ea"/>
                <a:cs typeface="+mn-ea"/>
                <a:sym typeface="+mn-lt"/>
              </a:rPr>
              <a:t>match</a:t>
            </a:r>
            <a:r>
              <a:rPr lang="zh-CN" altLang="en-US" sz="1400" dirty="0">
                <a:latin typeface="+mn-lt"/>
                <a:ea typeface="+mn-ea"/>
                <a:cs typeface="+mn-ea"/>
                <a:sym typeface="+mn-lt"/>
              </a:rPr>
              <a:t>，它允许将一个值与一系列的模式相比较，并根据相匹配的模式执行相应代码。</a:t>
            </a:r>
          </a:p>
        </p:txBody>
      </p:sp>
      <p:sp>
        <p:nvSpPr>
          <p:cNvPr id="11" name="文本框 10"/>
          <p:cNvSpPr txBox="1"/>
          <p:nvPr/>
        </p:nvSpPr>
        <p:spPr>
          <a:xfrm>
            <a:off x="376548" y="1546519"/>
            <a:ext cx="5815752" cy="452431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en-US" altLang="zh-CN" sz="1200" b="1" dirty="0">
                <a:solidFill>
                  <a:srgbClr val="00B050"/>
                </a:solidFill>
                <a:cs typeface="+mn-ea"/>
                <a:sym typeface="+mn-lt"/>
              </a:rPr>
              <a:t>match</a:t>
            </a:r>
            <a:r>
              <a:rPr lang="zh-CN" altLang="en-US" sz="1200" b="1" dirty="0">
                <a:solidFill>
                  <a:srgbClr val="00B050"/>
                </a:solidFill>
                <a:cs typeface="+mn-ea"/>
                <a:sym typeface="+mn-lt"/>
              </a:rPr>
              <a:t>代码示例</a:t>
            </a:r>
            <a:endParaRPr lang="en-US" altLang="zh-CN" sz="1200" dirty="0">
              <a:solidFill>
                <a:srgbClr val="FFFFFF"/>
              </a:solidFill>
              <a:cs typeface="+mn-ea"/>
              <a:sym typeface="+mn-lt"/>
            </a:endParaRPr>
          </a:p>
          <a:p>
            <a:r>
              <a:rPr lang="en-US" sz="1200" b="0" u="none" dirty="0">
                <a:solidFill>
                  <a:srgbClr val="ABB2BF"/>
                </a:solidFill>
                <a:cs typeface="+mn-ea"/>
                <a:sym typeface="+mn-lt"/>
              </a:rPr>
              <a:t>#[</a:t>
            </a:r>
            <a:r>
              <a:rPr lang="en-US" sz="1200" b="0" u="none" dirty="0">
                <a:solidFill>
                  <a:srgbClr val="61AFEF"/>
                </a:solidFill>
                <a:cs typeface="+mn-ea"/>
                <a:sym typeface="+mn-lt"/>
              </a:rPr>
              <a:t>derive</a:t>
            </a:r>
            <a:r>
              <a:rPr lang="en-US" sz="1200" b="0" u="none" dirty="0">
                <a:solidFill>
                  <a:srgbClr val="ABB2BF"/>
                </a:solidFill>
                <a:cs typeface="+mn-ea"/>
                <a:sym typeface="+mn-lt"/>
              </a:rPr>
              <a:t>(</a:t>
            </a:r>
            <a:r>
              <a:rPr lang="en-US" sz="1200" b="0" u="none" dirty="0">
                <a:solidFill>
                  <a:srgbClr val="E5C07B"/>
                </a:solidFill>
                <a:cs typeface="+mn-ea"/>
                <a:sym typeface="+mn-lt"/>
              </a:rPr>
              <a:t>Debug</a:t>
            </a:r>
            <a:r>
              <a:rPr lang="en-US" sz="1200" b="0" u="none" dirty="0">
                <a:solidFill>
                  <a:srgbClr val="ABB2BF"/>
                </a:solidFill>
                <a:cs typeface="+mn-ea"/>
                <a:sym typeface="+mn-lt"/>
              </a:rPr>
              <a:t>)]</a:t>
            </a:r>
            <a:endParaRPr lang="en-US" sz="1200" b="0" u="none" dirty="0">
              <a:solidFill>
                <a:srgbClr val="C678DD"/>
              </a:solidFill>
              <a:cs typeface="+mn-ea"/>
              <a:sym typeface="+mn-lt"/>
            </a:endParaRPr>
          </a:p>
          <a:p>
            <a:r>
              <a:rPr lang="en-US" sz="1200" b="0" u="none" dirty="0" err="1">
                <a:solidFill>
                  <a:srgbClr val="C678DD"/>
                </a:solidFill>
                <a:cs typeface="+mn-ea"/>
                <a:sym typeface="+mn-lt"/>
              </a:rPr>
              <a:t>enum</a:t>
            </a:r>
            <a:r>
              <a:rPr lang="en-US" sz="1200" b="0" u="none" dirty="0">
                <a:solidFill>
                  <a:srgbClr val="ABB2BF"/>
                </a:solidFill>
                <a:cs typeface="+mn-ea"/>
                <a:sym typeface="+mn-lt"/>
              </a:rPr>
              <a:t> </a:t>
            </a:r>
            <a:r>
              <a:rPr lang="en-US" sz="1200" b="0" u="none" dirty="0" err="1">
                <a:solidFill>
                  <a:srgbClr val="E5C07B"/>
                </a:solidFill>
                <a:cs typeface="+mn-ea"/>
                <a:sym typeface="+mn-lt"/>
              </a:rPr>
              <a:t>UsState</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56B6C2"/>
                </a:solidFill>
                <a:cs typeface="+mn-ea"/>
                <a:sym typeface="+mn-lt"/>
              </a:rPr>
              <a:t>Alabama</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56B6C2"/>
                </a:solidFill>
                <a:cs typeface="+mn-ea"/>
                <a:sym typeface="+mn-lt"/>
              </a:rPr>
              <a:t>Alaska</a:t>
            </a:r>
            <a:r>
              <a:rPr lang="en-US" sz="1200" b="0" u="none" dirty="0">
                <a:solidFill>
                  <a:srgbClr val="ABB2BF"/>
                </a:solidFill>
                <a:cs typeface="+mn-ea"/>
                <a:sym typeface="+mn-lt"/>
              </a:rPr>
              <a:t>,</a:t>
            </a:r>
          </a:p>
          <a:p>
            <a:r>
              <a:rPr lang="en-US" sz="1200" b="0" u="none" dirty="0">
                <a:solidFill>
                  <a:srgbClr val="ABB2BF"/>
                </a:solidFill>
                <a:cs typeface="+mn-ea"/>
                <a:sym typeface="+mn-lt"/>
              </a:rPr>
              <a:t>}</a:t>
            </a:r>
            <a:endParaRPr lang="en-US" sz="1200" b="0" u="none" dirty="0">
              <a:solidFill>
                <a:srgbClr val="C678DD"/>
              </a:solidFill>
              <a:cs typeface="+mn-ea"/>
              <a:sym typeface="+mn-lt"/>
            </a:endParaRPr>
          </a:p>
          <a:p>
            <a:r>
              <a:rPr lang="en-US" sz="1200" b="0" u="none" dirty="0" err="1">
                <a:solidFill>
                  <a:srgbClr val="C678DD"/>
                </a:solidFill>
                <a:cs typeface="+mn-ea"/>
                <a:sym typeface="+mn-lt"/>
              </a:rPr>
              <a:t>enum</a:t>
            </a:r>
            <a:r>
              <a:rPr lang="en-US" sz="1200" b="0" u="none" dirty="0">
                <a:solidFill>
                  <a:srgbClr val="ABB2BF"/>
                </a:solidFill>
                <a:cs typeface="+mn-ea"/>
                <a:sym typeface="+mn-lt"/>
              </a:rPr>
              <a:t> </a:t>
            </a:r>
            <a:r>
              <a:rPr lang="en-US" sz="1200" b="0" u="none" dirty="0">
                <a:solidFill>
                  <a:srgbClr val="E5C07B"/>
                </a:solidFill>
                <a:cs typeface="+mn-ea"/>
                <a:sym typeface="+mn-lt"/>
              </a:rPr>
              <a:t>Coin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56B6C2"/>
                </a:solidFill>
                <a:cs typeface="+mn-ea"/>
                <a:sym typeface="+mn-lt"/>
              </a:rPr>
              <a:t>Penny</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56B6C2"/>
                </a:solidFill>
                <a:cs typeface="+mn-ea"/>
                <a:sym typeface="+mn-lt"/>
              </a:rPr>
              <a:t>Nickel</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56B6C2"/>
                </a:solidFill>
                <a:cs typeface="+mn-ea"/>
                <a:sym typeface="+mn-lt"/>
              </a:rPr>
              <a:t>Dime</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56B6C2"/>
                </a:solidFill>
                <a:cs typeface="+mn-ea"/>
                <a:sym typeface="+mn-lt"/>
              </a:rPr>
              <a:t>Quarter</a:t>
            </a:r>
            <a:r>
              <a:rPr lang="en-US" sz="1200" b="0" u="none" dirty="0">
                <a:solidFill>
                  <a:srgbClr val="ABB2BF"/>
                </a:solidFill>
                <a:cs typeface="+mn-ea"/>
                <a:sym typeface="+mn-lt"/>
              </a:rPr>
              <a:t>(</a:t>
            </a:r>
            <a:r>
              <a:rPr lang="en-US" sz="1200" b="0" u="none" dirty="0" err="1">
                <a:solidFill>
                  <a:srgbClr val="E5C07B"/>
                </a:solidFill>
                <a:cs typeface="+mn-ea"/>
                <a:sym typeface="+mn-lt"/>
              </a:rPr>
              <a:t>UsState</a:t>
            </a:r>
            <a:r>
              <a:rPr lang="en-US" sz="1200" b="0" u="none" dirty="0">
                <a:solidFill>
                  <a:srgbClr val="ABB2BF"/>
                </a:solidFill>
                <a:cs typeface="+mn-ea"/>
                <a:sym typeface="+mn-lt"/>
              </a:rPr>
              <a:t>),</a:t>
            </a:r>
          </a:p>
          <a:p>
            <a:r>
              <a:rPr lang="en-US" sz="1200" b="0" u="none" dirty="0">
                <a:solidFill>
                  <a:srgbClr val="ABB2BF"/>
                </a:solidFill>
                <a:cs typeface="+mn-ea"/>
                <a:sym typeface="+mn-lt"/>
              </a:rPr>
              <a:t>}</a:t>
            </a:r>
            <a:endParaRPr lang="en-US" sz="1200" b="0" u="none" dirty="0">
              <a:solidFill>
                <a:srgbClr val="C678DD"/>
              </a:solidFill>
              <a:cs typeface="+mn-ea"/>
              <a:sym typeface="+mn-lt"/>
            </a:endParaRPr>
          </a:p>
          <a:p>
            <a:r>
              <a:rPr lang="en-US" sz="1200" b="0" u="none" dirty="0" err="1">
                <a:solidFill>
                  <a:srgbClr val="C678DD"/>
                </a:solidFill>
                <a:cs typeface="+mn-ea"/>
                <a:sym typeface="+mn-lt"/>
              </a:rPr>
              <a:t>fn</a:t>
            </a:r>
            <a:r>
              <a:rPr lang="en-US" sz="1200" b="0" u="none" dirty="0">
                <a:solidFill>
                  <a:srgbClr val="ABB2BF"/>
                </a:solidFill>
                <a:cs typeface="+mn-ea"/>
                <a:sym typeface="+mn-lt"/>
              </a:rPr>
              <a:t> </a:t>
            </a:r>
            <a:r>
              <a:rPr lang="en-US" sz="1200" b="0" u="none" dirty="0">
                <a:solidFill>
                  <a:srgbClr val="61AFEF"/>
                </a:solidFill>
                <a:cs typeface="+mn-ea"/>
                <a:sym typeface="+mn-lt"/>
              </a:rPr>
              <a:t>main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coin</a:t>
            </a:r>
            <a:r>
              <a:rPr lang="en-US" sz="1200" b="0" u="none" dirty="0">
                <a:solidFill>
                  <a:srgbClr val="ABB2BF"/>
                </a:solidFill>
                <a:cs typeface="+mn-ea"/>
                <a:sym typeface="+mn-lt"/>
              </a:rPr>
              <a:t> = </a:t>
            </a:r>
            <a:r>
              <a:rPr lang="en-US" sz="1200" b="0" u="none" dirty="0">
                <a:solidFill>
                  <a:srgbClr val="E5C07B"/>
                </a:solidFill>
                <a:cs typeface="+mn-ea"/>
                <a:sym typeface="+mn-lt"/>
              </a:rPr>
              <a:t>Coin</a:t>
            </a:r>
            <a:r>
              <a:rPr lang="en-US" sz="1200" b="0" u="none" dirty="0">
                <a:solidFill>
                  <a:srgbClr val="ABB2BF"/>
                </a:solidFill>
                <a:cs typeface="+mn-ea"/>
                <a:sym typeface="+mn-lt"/>
              </a:rPr>
              <a:t>::</a:t>
            </a:r>
            <a:r>
              <a:rPr lang="en-US" sz="1200" b="0" u="none" dirty="0">
                <a:solidFill>
                  <a:srgbClr val="56B6C2"/>
                </a:solidFill>
                <a:cs typeface="+mn-ea"/>
                <a:sym typeface="+mn-lt"/>
              </a:rPr>
              <a:t>Quarter</a:t>
            </a:r>
            <a:r>
              <a:rPr lang="en-US" sz="1200" b="0" u="none" dirty="0">
                <a:solidFill>
                  <a:srgbClr val="ABB2BF"/>
                </a:solidFill>
                <a:cs typeface="+mn-ea"/>
                <a:sym typeface="+mn-lt"/>
              </a:rPr>
              <a:t>(</a:t>
            </a:r>
            <a:r>
              <a:rPr lang="en-US" sz="1200" b="0" u="none" dirty="0" err="1">
                <a:solidFill>
                  <a:srgbClr val="E5C07B"/>
                </a:solidFill>
                <a:cs typeface="+mn-ea"/>
                <a:sym typeface="+mn-lt"/>
              </a:rPr>
              <a:t>UsState</a:t>
            </a:r>
            <a:r>
              <a:rPr lang="en-US" sz="1200" b="0" u="none" dirty="0">
                <a:solidFill>
                  <a:srgbClr val="ABB2BF"/>
                </a:solidFill>
                <a:cs typeface="+mn-ea"/>
                <a:sym typeface="+mn-lt"/>
              </a:rPr>
              <a:t>::</a:t>
            </a:r>
            <a:r>
              <a:rPr lang="en-US" sz="1200" b="0" u="none" dirty="0">
                <a:solidFill>
                  <a:srgbClr val="56B6C2"/>
                </a:solidFill>
                <a:cs typeface="+mn-ea"/>
                <a:sym typeface="+mn-lt"/>
              </a:rPr>
              <a:t>Alaska</a:t>
            </a:r>
            <a:r>
              <a:rPr lang="en-US" sz="1200" b="0" u="none" dirty="0">
                <a:solidFill>
                  <a:srgbClr val="ABB2BF"/>
                </a:solidFill>
                <a:cs typeface="+mn-ea"/>
                <a:sym typeface="+mn-lt"/>
              </a:rPr>
              <a:t>);</a:t>
            </a:r>
            <a:endParaRPr lang="en-US" sz="1200" b="0" i="1" u="none" dirty="0">
              <a:solidFill>
                <a:srgbClr val="7F848E"/>
              </a:solidFill>
              <a:cs typeface="+mn-ea"/>
              <a:sym typeface="+mn-lt"/>
            </a:endParaRPr>
          </a:p>
          <a:p>
            <a:r>
              <a:rPr lang="en-US" sz="1200" b="0" i="1" u="none" dirty="0">
                <a:solidFill>
                  <a:srgbClr val="7F848E"/>
                </a:solidFill>
                <a:cs typeface="+mn-ea"/>
                <a:sym typeface="+mn-lt"/>
              </a:rPr>
              <a:t>    </a:t>
            </a:r>
            <a:r>
              <a:rPr lang="zh-CN" sz="1200" b="0" i="1" u="none" dirty="0">
                <a:solidFill>
                  <a:srgbClr val="7F848E"/>
                </a:solidFill>
                <a:cs typeface="+mn-ea"/>
                <a:sym typeface="+mn-lt"/>
              </a:rPr>
              <a:t>// 下方有四个分支，每个分支有两个部分；模式和代码</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a:solidFill>
                  <a:srgbClr val="C678DD"/>
                </a:solidFill>
                <a:cs typeface="+mn-ea"/>
                <a:sym typeface="+mn-lt"/>
              </a:rPr>
              <a:t>match</a:t>
            </a:r>
            <a:r>
              <a:rPr lang="en-US" sz="1200" b="0" u="none" dirty="0">
                <a:solidFill>
                  <a:srgbClr val="ABB2BF"/>
                </a:solidFill>
                <a:cs typeface="+mn-ea"/>
                <a:sym typeface="+mn-lt"/>
              </a:rPr>
              <a:t> </a:t>
            </a:r>
            <a:r>
              <a:rPr lang="en-US" sz="1200" b="0" u="none" dirty="0">
                <a:solidFill>
                  <a:srgbClr val="E06C75"/>
                </a:solidFill>
                <a:cs typeface="+mn-ea"/>
                <a:sym typeface="+mn-lt"/>
              </a:rPr>
              <a:t>coin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E5C07B"/>
                </a:solidFill>
                <a:cs typeface="+mn-ea"/>
                <a:sym typeface="+mn-lt"/>
              </a:rPr>
              <a:t>Coin</a:t>
            </a:r>
            <a:r>
              <a:rPr lang="en-US" sz="1200" b="0" u="none" dirty="0">
                <a:solidFill>
                  <a:srgbClr val="ABB2BF"/>
                </a:solidFill>
                <a:cs typeface="+mn-ea"/>
                <a:sym typeface="+mn-lt"/>
              </a:rPr>
              <a:t>::</a:t>
            </a:r>
            <a:r>
              <a:rPr lang="en-US" sz="1200" b="0" u="none" dirty="0">
                <a:solidFill>
                  <a:srgbClr val="56B6C2"/>
                </a:solidFill>
                <a:cs typeface="+mn-ea"/>
                <a:sym typeface="+mn-lt"/>
              </a:rPr>
              <a:t>Penny</a:t>
            </a:r>
            <a:r>
              <a:rPr lang="en-US" sz="1200" b="0" u="none" dirty="0">
                <a:solidFill>
                  <a:srgbClr val="ABB2BF"/>
                </a:solidFill>
                <a:cs typeface="+mn-ea"/>
                <a:sym typeface="+mn-lt"/>
              </a:rPr>
              <a:t> =&gt; </a:t>
            </a:r>
            <a:r>
              <a:rPr lang="en-US" sz="1200" b="0" u="none" dirty="0" err="1">
                <a:solidFill>
                  <a:srgbClr val="D19A66"/>
                </a:solidFill>
                <a:cs typeface="+mn-ea"/>
                <a:sym typeface="+mn-lt"/>
              </a:rPr>
              <a:t>println</a:t>
            </a:r>
            <a:r>
              <a:rPr lang="en-US" sz="1200" b="0" u="none" dirty="0">
                <a:solidFill>
                  <a:srgbClr val="D19A66"/>
                </a:solidFill>
                <a:cs typeface="+mn-ea"/>
                <a:sym typeface="+mn-lt"/>
              </a:rPr>
              <a:t>!</a:t>
            </a:r>
            <a:r>
              <a:rPr lang="en-US" sz="1200" b="0" u="none" dirty="0">
                <a:solidFill>
                  <a:srgbClr val="ABB2BF"/>
                </a:solidFill>
                <a:cs typeface="+mn-ea"/>
                <a:sym typeface="+mn-lt"/>
              </a:rPr>
              <a:t>(</a:t>
            </a:r>
            <a:r>
              <a:rPr lang="en-US" sz="1200" b="0" u="none" dirty="0">
                <a:solidFill>
                  <a:srgbClr val="98C379"/>
                </a:solidFill>
                <a:cs typeface="+mn-ea"/>
                <a:sym typeface="+mn-lt"/>
              </a:rPr>
              <a:t>"1"</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E5C07B"/>
                </a:solidFill>
                <a:cs typeface="+mn-ea"/>
                <a:sym typeface="+mn-lt"/>
              </a:rPr>
              <a:t>Coin</a:t>
            </a:r>
            <a:r>
              <a:rPr lang="en-US" sz="1200" b="0" u="none" dirty="0">
                <a:solidFill>
                  <a:srgbClr val="ABB2BF"/>
                </a:solidFill>
                <a:cs typeface="+mn-ea"/>
                <a:sym typeface="+mn-lt"/>
              </a:rPr>
              <a:t>::</a:t>
            </a:r>
            <a:r>
              <a:rPr lang="en-US" sz="1200" b="0" u="none" dirty="0">
                <a:solidFill>
                  <a:srgbClr val="56B6C2"/>
                </a:solidFill>
                <a:cs typeface="+mn-ea"/>
                <a:sym typeface="+mn-lt"/>
              </a:rPr>
              <a:t>Nickel</a:t>
            </a:r>
            <a:r>
              <a:rPr lang="en-US" sz="1200" b="0" u="none" dirty="0">
                <a:solidFill>
                  <a:srgbClr val="ABB2BF"/>
                </a:solidFill>
                <a:cs typeface="+mn-ea"/>
                <a:sym typeface="+mn-lt"/>
              </a:rPr>
              <a:t> =&gt; </a:t>
            </a:r>
            <a:r>
              <a:rPr lang="en-US" sz="1200" b="0" u="none" dirty="0" err="1">
                <a:solidFill>
                  <a:srgbClr val="D19A66"/>
                </a:solidFill>
                <a:cs typeface="+mn-ea"/>
                <a:sym typeface="+mn-lt"/>
              </a:rPr>
              <a:t>println</a:t>
            </a:r>
            <a:r>
              <a:rPr lang="en-US" sz="1200" b="0" u="none" dirty="0">
                <a:solidFill>
                  <a:srgbClr val="D19A66"/>
                </a:solidFill>
                <a:cs typeface="+mn-ea"/>
                <a:sym typeface="+mn-lt"/>
              </a:rPr>
              <a:t>!</a:t>
            </a:r>
            <a:r>
              <a:rPr lang="en-US" sz="1200" b="0" u="none" dirty="0">
                <a:solidFill>
                  <a:srgbClr val="ABB2BF"/>
                </a:solidFill>
                <a:cs typeface="+mn-ea"/>
                <a:sym typeface="+mn-lt"/>
              </a:rPr>
              <a:t>(</a:t>
            </a:r>
            <a:r>
              <a:rPr lang="en-US" sz="1200" b="0" u="none" dirty="0">
                <a:solidFill>
                  <a:srgbClr val="98C379"/>
                </a:solidFill>
                <a:cs typeface="+mn-ea"/>
                <a:sym typeface="+mn-lt"/>
              </a:rPr>
              <a:t>"5"</a:t>
            </a:r>
            <a:r>
              <a:rPr lang="en-US" sz="1200" b="0" u="none" dirty="0">
                <a:solidFill>
                  <a:srgbClr val="ABB2BF"/>
                </a:solidFill>
                <a:cs typeface="+mn-ea"/>
                <a:sym typeface="+mn-lt"/>
              </a:rPr>
              <a:t>),</a:t>
            </a:r>
          </a:p>
          <a:p>
            <a:r>
              <a:rPr lang="en-US" sz="1200" b="0" u="none" dirty="0">
                <a:solidFill>
                  <a:srgbClr val="ABB2BF"/>
                </a:solidFill>
                <a:cs typeface="+mn-ea"/>
                <a:sym typeface="+mn-lt"/>
              </a:rPr>
              <a:t>        </a:t>
            </a:r>
            <a:r>
              <a:rPr lang="en-US" sz="1200" b="0" u="none" dirty="0">
                <a:solidFill>
                  <a:srgbClr val="E5C07B"/>
                </a:solidFill>
                <a:cs typeface="+mn-ea"/>
                <a:sym typeface="+mn-lt"/>
              </a:rPr>
              <a:t>Coin</a:t>
            </a:r>
            <a:r>
              <a:rPr lang="en-US" sz="1200" b="0" u="none" dirty="0">
                <a:solidFill>
                  <a:srgbClr val="ABB2BF"/>
                </a:solidFill>
                <a:cs typeface="+mn-ea"/>
                <a:sym typeface="+mn-lt"/>
              </a:rPr>
              <a:t>::</a:t>
            </a:r>
            <a:r>
              <a:rPr lang="en-US" sz="1200" b="0" u="none" dirty="0">
                <a:solidFill>
                  <a:srgbClr val="56B6C2"/>
                </a:solidFill>
                <a:cs typeface="+mn-ea"/>
                <a:sym typeface="+mn-lt"/>
              </a:rPr>
              <a:t>Dime</a:t>
            </a:r>
            <a:r>
              <a:rPr lang="en-US" sz="1200" b="0" u="none" dirty="0">
                <a:solidFill>
                  <a:srgbClr val="ABB2BF"/>
                </a:solidFill>
                <a:cs typeface="+mn-ea"/>
                <a:sym typeface="+mn-lt"/>
              </a:rPr>
              <a:t> =&gt; </a:t>
            </a:r>
            <a:r>
              <a:rPr lang="en-US" sz="1200" b="0" u="none" dirty="0" err="1">
                <a:solidFill>
                  <a:srgbClr val="D19A66"/>
                </a:solidFill>
                <a:cs typeface="+mn-ea"/>
                <a:sym typeface="+mn-lt"/>
              </a:rPr>
              <a:t>println</a:t>
            </a:r>
            <a:r>
              <a:rPr lang="en-US" sz="1200" b="0" u="none" dirty="0">
                <a:solidFill>
                  <a:srgbClr val="D19A66"/>
                </a:solidFill>
                <a:cs typeface="+mn-ea"/>
                <a:sym typeface="+mn-lt"/>
              </a:rPr>
              <a:t>!</a:t>
            </a:r>
            <a:r>
              <a:rPr lang="en-US" sz="1200" b="0" u="none" dirty="0">
                <a:solidFill>
                  <a:srgbClr val="ABB2BF"/>
                </a:solidFill>
                <a:cs typeface="+mn-ea"/>
                <a:sym typeface="+mn-lt"/>
              </a:rPr>
              <a:t>(</a:t>
            </a:r>
            <a:r>
              <a:rPr lang="en-US" sz="1200" b="0" u="none" dirty="0">
                <a:solidFill>
                  <a:srgbClr val="98C379"/>
                </a:solidFill>
                <a:cs typeface="+mn-ea"/>
                <a:sym typeface="+mn-lt"/>
              </a:rPr>
              <a:t>"10"</a:t>
            </a:r>
            <a:r>
              <a:rPr lang="en-US" sz="1200" b="0" u="none" dirty="0">
                <a:solidFill>
                  <a:srgbClr val="ABB2BF"/>
                </a:solidFill>
                <a:cs typeface="+mn-ea"/>
                <a:sym typeface="+mn-lt"/>
              </a:rPr>
              <a:t>),</a:t>
            </a:r>
            <a:endParaRPr lang="en-US" sz="1200" b="0" i="1" u="none" dirty="0">
              <a:solidFill>
                <a:srgbClr val="7F848E"/>
              </a:solidFill>
              <a:cs typeface="+mn-ea"/>
              <a:sym typeface="+mn-lt"/>
            </a:endParaRPr>
          </a:p>
          <a:p>
            <a:r>
              <a:rPr lang="en-US" sz="1200" b="0" i="1" u="none" dirty="0">
                <a:solidFill>
                  <a:srgbClr val="7F848E"/>
                </a:solidFill>
                <a:cs typeface="+mn-ea"/>
                <a:sym typeface="+mn-lt"/>
              </a:rPr>
              <a:t>        </a:t>
            </a:r>
            <a:r>
              <a:rPr lang="zh-CN" sz="1200" b="0" i="1" u="none" dirty="0">
                <a:solidFill>
                  <a:srgbClr val="7F848E"/>
                </a:solidFill>
                <a:cs typeface="+mn-ea"/>
                <a:sym typeface="+mn-lt"/>
              </a:rPr>
              <a:t>// 如果想要在分支中运行多行代码，可以使用大括号</a:t>
            </a:r>
            <a:endParaRPr lang="en-US" sz="1200" b="0" i="1" u="none" dirty="0">
              <a:solidFill>
                <a:srgbClr val="7F848E"/>
              </a:solidFill>
              <a:cs typeface="+mn-ea"/>
              <a:sym typeface="+mn-lt"/>
            </a:endParaRPr>
          </a:p>
          <a:p>
            <a:r>
              <a:rPr lang="en-US" sz="1200" b="0" i="1" u="none" dirty="0">
                <a:solidFill>
                  <a:srgbClr val="7F848E"/>
                </a:solidFill>
                <a:cs typeface="+mn-ea"/>
                <a:sym typeface="+mn-lt"/>
              </a:rPr>
              <a:t>        </a:t>
            </a:r>
            <a:r>
              <a:rPr lang="zh-CN" sz="1200" b="0" i="1" u="none" dirty="0">
                <a:solidFill>
                  <a:srgbClr val="7F848E"/>
                </a:solidFill>
                <a:cs typeface="+mn-ea"/>
                <a:sym typeface="+mn-lt"/>
              </a:rPr>
              <a:t>// 可以绑定匹配的模式的部分值</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a:solidFill>
                  <a:srgbClr val="E5C07B"/>
                </a:solidFill>
                <a:cs typeface="+mn-ea"/>
                <a:sym typeface="+mn-lt"/>
              </a:rPr>
              <a:t>Coin</a:t>
            </a:r>
            <a:r>
              <a:rPr lang="en-US" sz="1200" b="0" u="none" dirty="0">
                <a:solidFill>
                  <a:srgbClr val="ABB2BF"/>
                </a:solidFill>
                <a:cs typeface="+mn-ea"/>
                <a:sym typeface="+mn-lt"/>
              </a:rPr>
              <a:t>::</a:t>
            </a:r>
            <a:r>
              <a:rPr lang="en-US" sz="1200" b="0" u="none" dirty="0">
                <a:solidFill>
                  <a:srgbClr val="56B6C2"/>
                </a:solidFill>
                <a:cs typeface="+mn-ea"/>
                <a:sym typeface="+mn-lt"/>
              </a:rPr>
              <a:t>Quarter</a:t>
            </a:r>
            <a:r>
              <a:rPr lang="en-US" sz="1200" b="0" u="none" dirty="0">
                <a:solidFill>
                  <a:srgbClr val="ABB2BF"/>
                </a:solidFill>
                <a:cs typeface="+mn-ea"/>
                <a:sym typeface="+mn-lt"/>
              </a:rPr>
              <a:t>(</a:t>
            </a:r>
            <a:r>
              <a:rPr lang="en-US" sz="1200" b="0" u="none" dirty="0">
                <a:solidFill>
                  <a:srgbClr val="E06C75"/>
                </a:solidFill>
                <a:cs typeface="+mn-ea"/>
                <a:sym typeface="+mn-lt"/>
              </a:rPr>
              <a:t>state</a:t>
            </a:r>
            <a:r>
              <a:rPr lang="en-US" sz="1200" b="0" u="none" dirty="0">
                <a:solidFill>
                  <a:srgbClr val="ABB2BF"/>
                </a:solidFill>
                <a:cs typeface="+mn-ea"/>
                <a:sym typeface="+mn-lt"/>
              </a:rPr>
              <a:t>) =&gt; </a:t>
            </a:r>
            <a:r>
              <a:rPr lang="en-US" sz="1200" b="0" u="none" dirty="0" err="1">
                <a:solidFill>
                  <a:srgbClr val="D19A66"/>
                </a:solidFill>
                <a:cs typeface="+mn-ea"/>
                <a:sym typeface="+mn-lt"/>
              </a:rPr>
              <a:t>println</a:t>
            </a:r>
            <a:r>
              <a:rPr lang="en-US" sz="1200" b="0" u="none" dirty="0">
                <a:solidFill>
                  <a:srgbClr val="D19A66"/>
                </a:solidFill>
                <a:cs typeface="+mn-ea"/>
                <a:sym typeface="+mn-lt"/>
              </a:rPr>
              <a:t>!</a:t>
            </a:r>
            <a:r>
              <a:rPr lang="en-US" sz="1200" b="0" u="none" dirty="0">
                <a:solidFill>
                  <a:srgbClr val="ABB2BF"/>
                </a:solidFill>
                <a:cs typeface="+mn-ea"/>
                <a:sym typeface="+mn-lt"/>
              </a:rPr>
              <a:t>(</a:t>
            </a:r>
            <a:r>
              <a:rPr lang="en-US" sz="1200" b="0" u="none" dirty="0">
                <a:solidFill>
                  <a:srgbClr val="98C379"/>
                </a:solidFill>
                <a:cs typeface="+mn-ea"/>
                <a:sym typeface="+mn-lt"/>
              </a:rPr>
              <a:t>"State quarter from </a:t>
            </a:r>
            <a:r>
              <a:rPr lang="en-US" sz="1200" b="0" u="none" dirty="0">
                <a:solidFill>
                  <a:srgbClr val="C678DD"/>
                </a:solidFill>
                <a:cs typeface="+mn-ea"/>
                <a:sym typeface="+mn-lt"/>
              </a:rPr>
              <a:t>{:?}</a:t>
            </a:r>
            <a:r>
              <a:rPr lang="en-US" sz="1200" b="0" u="none" dirty="0">
                <a:solidFill>
                  <a:srgbClr val="98C379"/>
                </a:solidFill>
                <a:cs typeface="+mn-ea"/>
                <a:sym typeface="+mn-lt"/>
              </a:rPr>
              <a:t>!"</a:t>
            </a:r>
            <a:r>
              <a:rPr lang="en-US" sz="1200" b="0" u="none" dirty="0">
                <a:solidFill>
                  <a:srgbClr val="ABB2BF"/>
                </a:solidFill>
                <a:cs typeface="+mn-ea"/>
                <a:sym typeface="+mn-lt"/>
              </a:rPr>
              <a:t>, </a:t>
            </a:r>
            <a:r>
              <a:rPr lang="en-US" sz="1200" b="0" u="none" dirty="0">
                <a:solidFill>
                  <a:srgbClr val="E06C75"/>
                </a:solidFill>
                <a:cs typeface="+mn-ea"/>
                <a:sym typeface="+mn-lt"/>
              </a:rPr>
              <a:t>state</a:t>
            </a:r>
            <a:r>
              <a:rPr lang="en-US" sz="1200" b="0" u="none" dirty="0">
                <a:solidFill>
                  <a:srgbClr val="ABB2BF"/>
                </a:solidFill>
                <a:cs typeface="+mn-ea"/>
                <a:sym typeface="+mn-lt"/>
              </a:rPr>
              <a:t>),</a:t>
            </a:r>
          </a:p>
          <a:p>
            <a:r>
              <a:rPr lang="en-US" sz="1200" b="0" u="none" dirty="0">
                <a:solidFill>
                  <a:srgbClr val="ABB2BF"/>
                </a:solidFill>
                <a:cs typeface="+mn-ea"/>
                <a:sym typeface="+mn-lt"/>
              </a:rPr>
              <a:t>    }</a:t>
            </a:r>
          </a:p>
          <a:p>
            <a:r>
              <a:rPr lang="en-US" sz="1200" b="0" u="none" dirty="0">
                <a:solidFill>
                  <a:srgbClr val="ABB2BF"/>
                </a:solidFill>
                <a:cs typeface="+mn-ea"/>
                <a:sym typeface="+mn-lt"/>
              </a:rPr>
              <a:t>}</a:t>
            </a:r>
            <a:endParaRPr lang="en-US" altLang="zh-CN" sz="1200" b="0" u="none" dirty="0">
              <a:solidFill>
                <a:srgbClr val="ABB2BF"/>
              </a:solidFill>
              <a:cs typeface="+mn-ea"/>
              <a:sym typeface="+mn-lt"/>
            </a:endParaRPr>
          </a:p>
        </p:txBody>
      </p:sp>
      <p:cxnSp>
        <p:nvCxnSpPr>
          <p:cNvPr id="13" name="直接连接符 12"/>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5" name="图片 14"/>
          <p:cNvPicPr>
            <a:picLocks noChangeAspect="1"/>
          </p:cNvPicPr>
          <p:nvPr/>
        </p:nvPicPr>
        <p:blipFill>
          <a:blip r:embed="rId3"/>
          <a:stretch>
            <a:fillRect/>
          </a:stretch>
        </p:blipFill>
        <p:spPr>
          <a:xfrm>
            <a:off x="6748811" y="4919754"/>
            <a:ext cx="4314825" cy="476250"/>
          </a:xfrm>
          <a:prstGeom prst="rect">
            <a:avLst/>
          </a:prstGeom>
        </p:spPr>
      </p:pic>
      <p:sp>
        <p:nvSpPr>
          <p:cNvPr id="16" name="右箭头 15"/>
          <p:cNvSpPr/>
          <p:nvPr/>
        </p:nvSpPr>
        <p:spPr>
          <a:xfrm>
            <a:off x="6364763" y="4970237"/>
            <a:ext cx="256032" cy="375285"/>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7" name="文本框 16"/>
          <p:cNvSpPr txBox="1"/>
          <p:nvPr/>
        </p:nvSpPr>
        <p:spPr>
          <a:xfrm>
            <a:off x="6379926" y="1545730"/>
            <a:ext cx="4680586" cy="304609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en-US" altLang="zh-CN" sz="1200" b="1" dirty="0">
                <a:solidFill>
                  <a:srgbClr val="00B050"/>
                </a:solidFill>
                <a:cs typeface="+mn-ea"/>
                <a:sym typeface="+mn-lt"/>
              </a:rPr>
              <a:t>match </a:t>
            </a:r>
            <a:r>
              <a:rPr lang="zh-CN" altLang="en-US" sz="1200" b="1" dirty="0">
                <a:solidFill>
                  <a:srgbClr val="00B050"/>
                </a:solidFill>
                <a:cs typeface="+mn-ea"/>
                <a:sym typeface="+mn-lt"/>
              </a:rPr>
              <a:t>匹配</a:t>
            </a:r>
            <a:r>
              <a:rPr lang="en-US" altLang="zh-CN" sz="1200" b="1" dirty="0">
                <a:solidFill>
                  <a:srgbClr val="00B050"/>
                </a:solidFill>
                <a:cs typeface="+mn-ea"/>
                <a:sym typeface="+mn-lt"/>
              </a:rPr>
              <a:t>Option</a:t>
            </a:r>
            <a:r>
              <a:rPr lang="zh-CN" altLang="en-US" sz="1200" b="1" dirty="0">
                <a:solidFill>
                  <a:srgbClr val="00B050"/>
                </a:solidFill>
                <a:cs typeface="+mn-ea"/>
                <a:sym typeface="+mn-lt"/>
              </a:rPr>
              <a:t>代码示例</a:t>
            </a:r>
            <a:endParaRPr lang="en-US" altLang="zh-CN" sz="1200" b="1" dirty="0">
              <a:solidFill>
                <a:srgbClr val="00B050"/>
              </a:solidFill>
              <a:cs typeface="+mn-ea"/>
              <a:sym typeface="+mn-lt"/>
            </a:endParaRPr>
          </a:p>
          <a:p>
            <a:r>
              <a:rPr lang="zh-CN" sz="1200" b="0" i="1" u="none" dirty="0">
                <a:solidFill>
                  <a:srgbClr val="7F848E"/>
                </a:solidFill>
                <a:cs typeface="+mn-ea"/>
                <a:sym typeface="+mn-lt"/>
              </a:rPr>
              <a:t>// 定义枚举类型</a:t>
            </a:r>
            <a:endParaRPr lang="en-US" sz="1200" b="0" u="none" dirty="0">
              <a:solidFill>
                <a:srgbClr val="C678DD"/>
              </a:solidFill>
              <a:cs typeface="+mn-ea"/>
              <a:sym typeface="+mn-lt"/>
            </a:endParaRPr>
          </a:p>
          <a:p>
            <a:r>
              <a:rPr lang="en-US" sz="1200" b="0" u="none" dirty="0" err="1">
                <a:solidFill>
                  <a:srgbClr val="C678DD"/>
                </a:solidFill>
                <a:cs typeface="+mn-ea"/>
                <a:sym typeface="+mn-lt"/>
              </a:rPr>
              <a:t>enum</a:t>
            </a:r>
            <a:r>
              <a:rPr lang="en-US" sz="1200" b="0" u="none" dirty="0">
                <a:solidFill>
                  <a:srgbClr val="ABB2BF"/>
                </a:solidFill>
                <a:cs typeface="+mn-ea"/>
                <a:sym typeface="+mn-lt"/>
              </a:rPr>
              <a:t> </a:t>
            </a:r>
            <a:r>
              <a:rPr lang="en-US" sz="1200" b="0" u="none" dirty="0">
                <a:solidFill>
                  <a:srgbClr val="E5C07B"/>
                </a:solidFill>
                <a:cs typeface="+mn-ea"/>
                <a:sym typeface="+mn-lt"/>
              </a:rPr>
              <a:t>Option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56B6C2"/>
                </a:solidFill>
                <a:cs typeface="+mn-ea"/>
                <a:sym typeface="+mn-lt"/>
              </a:rPr>
              <a:t>Some</a:t>
            </a:r>
            <a:r>
              <a:rPr lang="en-US" sz="1200" b="0" u="none" dirty="0">
                <a:solidFill>
                  <a:srgbClr val="ABB2BF"/>
                </a:solidFill>
                <a:cs typeface="+mn-ea"/>
                <a:sym typeface="+mn-lt"/>
              </a:rPr>
              <a:t>(</a:t>
            </a:r>
            <a:r>
              <a:rPr lang="en-US" sz="1200" b="0" u="none" dirty="0">
                <a:solidFill>
                  <a:srgbClr val="E5C07B"/>
                </a:solidFill>
                <a:cs typeface="+mn-ea"/>
                <a:sym typeface="+mn-lt"/>
              </a:rPr>
              <a:t>i32</a:t>
            </a:r>
            <a:r>
              <a:rPr lang="en-US" sz="1200" b="0" u="none" dirty="0">
                <a:solidFill>
                  <a:srgbClr val="ABB2BF"/>
                </a:solidFill>
                <a:cs typeface="+mn-ea"/>
                <a:sym typeface="+mn-lt"/>
              </a:rPr>
              <a:t>), </a:t>
            </a:r>
            <a:r>
              <a:rPr lang="zh-CN" sz="1200" b="0" i="1" u="none" dirty="0">
                <a:solidFill>
                  <a:srgbClr val="7F848E"/>
                </a:solidFill>
                <a:cs typeface="+mn-ea"/>
                <a:sym typeface="+mn-lt"/>
              </a:rPr>
              <a:t>// 表示有一个类型为 i32 的值</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a:solidFill>
                  <a:srgbClr val="56B6C2"/>
                </a:solidFill>
                <a:cs typeface="+mn-ea"/>
                <a:sym typeface="+mn-lt"/>
              </a:rPr>
              <a:t>None</a:t>
            </a:r>
            <a:r>
              <a:rPr lang="en-US" sz="1200" b="0" u="none" dirty="0">
                <a:solidFill>
                  <a:srgbClr val="ABB2BF"/>
                </a:solidFill>
                <a:cs typeface="+mn-ea"/>
                <a:sym typeface="+mn-lt"/>
              </a:rPr>
              <a:t>, </a:t>
            </a:r>
            <a:r>
              <a:rPr lang="en-US" sz="1200" b="0" i="1" u="none" dirty="0">
                <a:solidFill>
                  <a:srgbClr val="7F848E"/>
                </a:solidFill>
                <a:cs typeface="+mn-ea"/>
                <a:sym typeface="+mn-lt"/>
              </a:rPr>
              <a:t>     </a:t>
            </a:r>
            <a:r>
              <a:rPr lang="zh-CN" sz="1200" b="0" i="1" u="none" dirty="0">
                <a:solidFill>
                  <a:srgbClr val="7F848E"/>
                </a:solidFill>
                <a:cs typeface="+mn-ea"/>
                <a:sym typeface="+mn-lt"/>
              </a:rPr>
              <a:t>// 表示空值</a:t>
            </a:r>
            <a:endParaRPr lang="en-US" sz="1200" b="0" u="none" dirty="0">
              <a:solidFill>
                <a:srgbClr val="ABB2BF"/>
              </a:solidFill>
              <a:cs typeface="+mn-ea"/>
              <a:sym typeface="+mn-lt"/>
            </a:endParaRPr>
          </a:p>
          <a:p>
            <a:r>
              <a:rPr lang="en-US" sz="1200" b="0" u="none" dirty="0">
                <a:solidFill>
                  <a:srgbClr val="ABB2BF"/>
                </a:solidFill>
                <a:cs typeface="+mn-ea"/>
                <a:sym typeface="+mn-lt"/>
              </a:rPr>
              <a:t>}</a:t>
            </a:r>
            <a:endParaRPr lang="en-US" sz="1200" b="0" u="none" dirty="0">
              <a:solidFill>
                <a:srgbClr val="C678DD"/>
              </a:solidFill>
              <a:cs typeface="+mn-ea"/>
              <a:sym typeface="+mn-lt"/>
            </a:endParaRPr>
          </a:p>
          <a:p>
            <a:r>
              <a:rPr lang="en-US" sz="1200" b="0" u="none" dirty="0" err="1">
                <a:solidFill>
                  <a:srgbClr val="C678DD"/>
                </a:solidFill>
                <a:cs typeface="+mn-ea"/>
                <a:sym typeface="+mn-lt"/>
              </a:rPr>
              <a:t>fn</a:t>
            </a:r>
            <a:r>
              <a:rPr lang="en-US" sz="1200" b="0" u="none" dirty="0">
                <a:solidFill>
                  <a:srgbClr val="ABB2BF"/>
                </a:solidFill>
                <a:cs typeface="+mn-ea"/>
                <a:sym typeface="+mn-lt"/>
              </a:rPr>
              <a:t> </a:t>
            </a:r>
            <a:r>
              <a:rPr lang="en-US" sz="1200" b="0" u="none" dirty="0">
                <a:solidFill>
                  <a:srgbClr val="61AFEF"/>
                </a:solidFill>
                <a:cs typeface="+mn-ea"/>
                <a:sym typeface="+mn-lt"/>
              </a:rPr>
              <a:t>main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five</a:t>
            </a:r>
            <a:r>
              <a:rPr lang="en-US" sz="1200" b="0" u="none" dirty="0">
                <a:solidFill>
                  <a:srgbClr val="ABB2BF"/>
                </a:solidFill>
                <a:cs typeface="+mn-ea"/>
                <a:sym typeface="+mn-lt"/>
              </a:rPr>
              <a:t> = </a:t>
            </a:r>
            <a:r>
              <a:rPr lang="en-US" sz="1200" b="0" u="none" dirty="0">
                <a:solidFill>
                  <a:srgbClr val="E5C07B"/>
                </a:solidFill>
                <a:cs typeface="+mn-ea"/>
                <a:sym typeface="+mn-lt"/>
              </a:rPr>
              <a:t>Option</a:t>
            </a:r>
            <a:r>
              <a:rPr lang="en-US" sz="1200" b="0" u="none" dirty="0">
                <a:solidFill>
                  <a:srgbClr val="ABB2BF"/>
                </a:solidFill>
                <a:cs typeface="+mn-ea"/>
                <a:sym typeface="+mn-lt"/>
              </a:rPr>
              <a:t>::</a:t>
            </a:r>
            <a:r>
              <a:rPr lang="en-US" sz="1200" b="0" u="none" dirty="0">
                <a:solidFill>
                  <a:srgbClr val="56B6C2"/>
                </a:solidFill>
                <a:cs typeface="+mn-ea"/>
                <a:sym typeface="+mn-lt"/>
              </a:rPr>
              <a:t>Some</a:t>
            </a:r>
            <a:r>
              <a:rPr lang="en-US" sz="1200" b="0" u="none" dirty="0">
                <a:solidFill>
                  <a:srgbClr val="ABB2BF"/>
                </a:solidFill>
                <a:cs typeface="+mn-ea"/>
                <a:sym typeface="+mn-lt"/>
              </a:rPr>
              <a:t>(</a:t>
            </a:r>
            <a:r>
              <a:rPr lang="en-US" sz="1200" b="0" u="none" dirty="0">
                <a:solidFill>
                  <a:srgbClr val="D19A66"/>
                </a:solidFill>
                <a:cs typeface="+mn-ea"/>
                <a:sym typeface="+mn-lt"/>
              </a:rPr>
              <a:t>5</a:t>
            </a:r>
            <a:r>
              <a:rPr lang="en-US" sz="1200" b="0" u="none" dirty="0">
                <a:solidFill>
                  <a:srgbClr val="ABB2BF"/>
                </a:solidFill>
                <a:cs typeface="+mn-ea"/>
                <a:sym typeface="+mn-lt"/>
              </a:rPr>
              <a:t>);</a:t>
            </a:r>
            <a:endParaRPr lang="en-US" sz="1200" b="0" i="1" u="none" dirty="0">
              <a:solidFill>
                <a:srgbClr val="7F848E"/>
              </a:solidFill>
              <a:cs typeface="+mn-ea"/>
              <a:sym typeface="+mn-lt"/>
            </a:endParaRPr>
          </a:p>
          <a:p>
            <a:r>
              <a:rPr lang="en-US" sz="1200" b="0" i="1" u="none" dirty="0">
                <a:solidFill>
                  <a:srgbClr val="7F848E"/>
                </a:solidFill>
                <a:cs typeface="+mn-ea"/>
                <a:sym typeface="+mn-lt"/>
              </a:rPr>
              <a:t>    </a:t>
            </a:r>
            <a:r>
              <a:rPr lang="zh-CN" sz="1200" b="0" i="1" u="none" dirty="0">
                <a:solidFill>
                  <a:srgbClr val="7F848E"/>
                </a:solidFill>
                <a:cs typeface="+mn-ea"/>
                <a:sym typeface="+mn-lt"/>
              </a:rPr>
              <a:t>// plus_one 函数体中的 x 是值 Some(5)</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a:solidFill>
                  <a:srgbClr val="C678DD"/>
                </a:solidFill>
                <a:cs typeface="+mn-ea"/>
                <a:sym typeface="+mn-lt"/>
              </a:rPr>
              <a:t>match</a:t>
            </a:r>
            <a:r>
              <a:rPr lang="en-US" sz="1200" b="0" u="none" dirty="0">
                <a:solidFill>
                  <a:srgbClr val="ABB2BF"/>
                </a:solidFill>
                <a:cs typeface="+mn-ea"/>
                <a:sym typeface="+mn-lt"/>
              </a:rPr>
              <a:t> </a:t>
            </a:r>
            <a:r>
              <a:rPr lang="en-US" sz="1200" b="0" u="none" dirty="0">
                <a:solidFill>
                  <a:srgbClr val="E06C75"/>
                </a:solidFill>
                <a:cs typeface="+mn-ea"/>
                <a:sym typeface="+mn-lt"/>
              </a:rPr>
              <a:t>five</a:t>
            </a:r>
            <a:r>
              <a:rPr lang="en-US" sz="1200" b="0" u="none" dirty="0">
                <a:solidFill>
                  <a:srgbClr val="ABB2BF"/>
                </a:solidFill>
                <a:cs typeface="+mn-ea"/>
                <a:sym typeface="+mn-lt"/>
              </a:rPr>
              <a:t> {</a:t>
            </a:r>
            <a:endParaRPr lang="en-US" sz="1200" b="0" i="1" u="none" dirty="0">
              <a:solidFill>
                <a:srgbClr val="7F848E"/>
              </a:solidFill>
              <a:cs typeface="+mn-ea"/>
              <a:sym typeface="+mn-lt"/>
            </a:endParaRPr>
          </a:p>
          <a:p>
            <a:r>
              <a:rPr lang="en-US" sz="1200" b="0" i="1" u="none" dirty="0">
                <a:solidFill>
                  <a:srgbClr val="7F848E"/>
                </a:solidFill>
                <a:cs typeface="+mn-ea"/>
                <a:sym typeface="+mn-lt"/>
              </a:rPr>
              <a:t>        </a:t>
            </a:r>
            <a:r>
              <a:rPr lang="zh-CN" sz="1200" b="0" i="1" u="none" dirty="0">
                <a:solidFill>
                  <a:srgbClr val="7F848E"/>
                </a:solidFill>
                <a:cs typeface="+mn-ea"/>
                <a:sym typeface="+mn-lt"/>
              </a:rPr>
              <a:t>// None 表示没有值</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a:solidFill>
                  <a:srgbClr val="E5C07B"/>
                </a:solidFill>
                <a:cs typeface="+mn-ea"/>
                <a:sym typeface="+mn-lt"/>
              </a:rPr>
              <a:t>Option</a:t>
            </a:r>
            <a:r>
              <a:rPr lang="en-US" sz="1200" b="0" u="none" dirty="0">
                <a:solidFill>
                  <a:srgbClr val="ABB2BF"/>
                </a:solidFill>
                <a:cs typeface="+mn-ea"/>
                <a:sym typeface="+mn-lt"/>
              </a:rPr>
              <a:t>::</a:t>
            </a:r>
            <a:r>
              <a:rPr lang="en-US" sz="1200" b="0" u="none" dirty="0">
                <a:solidFill>
                  <a:srgbClr val="56B6C2"/>
                </a:solidFill>
                <a:cs typeface="+mn-ea"/>
                <a:sym typeface="+mn-lt"/>
              </a:rPr>
              <a:t>None</a:t>
            </a:r>
            <a:r>
              <a:rPr lang="en-US" sz="1200" b="0" u="none" dirty="0">
                <a:solidFill>
                  <a:srgbClr val="ABB2BF"/>
                </a:solidFill>
                <a:cs typeface="+mn-ea"/>
                <a:sym typeface="+mn-lt"/>
              </a:rPr>
              <a:t> =&gt; </a:t>
            </a:r>
            <a:r>
              <a:rPr lang="en-US" sz="1200" b="0" u="none" dirty="0">
                <a:solidFill>
                  <a:srgbClr val="E5C07B"/>
                </a:solidFill>
                <a:cs typeface="+mn-ea"/>
                <a:sym typeface="+mn-lt"/>
              </a:rPr>
              <a:t>Option</a:t>
            </a:r>
            <a:r>
              <a:rPr lang="en-US" sz="1200" b="0" u="none" dirty="0">
                <a:solidFill>
                  <a:srgbClr val="ABB2BF"/>
                </a:solidFill>
                <a:cs typeface="+mn-ea"/>
                <a:sym typeface="+mn-lt"/>
              </a:rPr>
              <a:t>::</a:t>
            </a:r>
            <a:r>
              <a:rPr lang="en-US" sz="1200" b="0" u="none" dirty="0">
                <a:solidFill>
                  <a:srgbClr val="56B6C2"/>
                </a:solidFill>
                <a:cs typeface="+mn-ea"/>
                <a:sym typeface="+mn-lt"/>
              </a:rPr>
              <a:t>None</a:t>
            </a:r>
            <a:r>
              <a:rPr lang="en-US" sz="1200" b="0" u="none" dirty="0">
                <a:solidFill>
                  <a:srgbClr val="ABB2BF"/>
                </a:solidFill>
                <a:cs typeface="+mn-ea"/>
                <a:sym typeface="+mn-lt"/>
              </a:rPr>
              <a:t>,</a:t>
            </a:r>
            <a:endParaRPr lang="en-US" sz="1200" b="0" i="1" u="none" dirty="0">
              <a:solidFill>
                <a:srgbClr val="7F848E"/>
              </a:solidFill>
              <a:cs typeface="+mn-ea"/>
              <a:sym typeface="+mn-lt"/>
            </a:endParaRPr>
          </a:p>
          <a:p>
            <a:r>
              <a:rPr lang="en-US" sz="1200" b="0" i="1" u="none" dirty="0">
                <a:solidFill>
                  <a:srgbClr val="7F848E"/>
                </a:solidFill>
                <a:cs typeface="+mn-ea"/>
                <a:sym typeface="+mn-lt"/>
              </a:rPr>
              <a:t>        </a:t>
            </a:r>
            <a:r>
              <a:rPr lang="zh-CN" sz="1200" b="0" i="1" u="none" dirty="0">
                <a:solidFill>
                  <a:srgbClr val="7F848E"/>
                </a:solidFill>
                <a:cs typeface="+mn-ea"/>
                <a:sym typeface="+mn-lt"/>
              </a:rPr>
              <a:t>// i 绑定了 Some 中包含的值</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a:solidFill>
                  <a:srgbClr val="E5C07B"/>
                </a:solidFill>
                <a:cs typeface="+mn-ea"/>
                <a:sym typeface="+mn-lt"/>
              </a:rPr>
              <a:t>Option</a:t>
            </a:r>
            <a:r>
              <a:rPr lang="en-US" sz="1200" b="0" u="none" dirty="0">
                <a:solidFill>
                  <a:srgbClr val="ABB2BF"/>
                </a:solidFill>
                <a:cs typeface="+mn-ea"/>
                <a:sym typeface="+mn-lt"/>
              </a:rPr>
              <a:t>::</a:t>
            </a:r>
            <a:r>
              <a:rPr lang="en-US" sz="1200" b="0" u="none" dirty="0">
                <a:solidFill>
                  <a:srgbClr val="56B6C2"/>
                </a:solidFill>
                <a:cs typeface="+mn-ea"/>
                <a:sym typeface="+mn-lt"/>
              </a:rPr>
              <a:t>Some</a:t>
            </a:r>
            <a:r>
              <a:rPr lang="en-US" sz="1200" b="0" u="none" dirty="0">
                <a:solidFill>
                  <a:srgbClr val="ABB2BF"/>
                </a:solidFill>
                <a:cs typeface="+mn-ea"/>
                <a:sym typeface="+mn-lt"/>
              </a:rPr>
              <a:t>(</a:t>
            </a:r>
            <a:r>
              <a:rPr lang="en-US" sz="1200" b="0" u="none" dirty="0">
                <a:solidFill>
                  <a:srgbClr val="E06C75"/>
                </a:solidFill>
                <a:cs typeface="+mn-ea"/>
                <a:sym typeface="+mn-lt"/>
              </a:rPr>
              <a:t>i</a:t>
            </a:r>
            <a:r>
              <a:rPr lang="en-US" sz="1200" b="0" u="none" dirty="0">
                <a:solidFill>
                  <a:srgbClr val="ABB2BF"/>
                </a:solidFill>
                <a:cs typeface="+mn-ea"/>
                <a:sym typeface="+mn-lt"/>
              </a:rPr>
              <a:t>) =&gt; </a:t>
            </a:r>
            <a:r>
              <a:rPr lang="en-US" sz="1200" b="0" u="none" dirty="0">
                <a:solidFill>
                  <a:srgbClr val="E5C07B"/>
                </a:solidFill>
                <a:cs typeface="+mn-ea"/>
                <a:sym typeface="+mn-lt"/>
              </a:rPr>
              <a:t>Option</a:t>
            </a:r>
            <a:r>
              <a:rPr lang="en-US" sz="1200" b="0" u="none" dirty="0">
                <a:solidFill>
                  <a:srgbClr val="ABB2BF"/>
                </a:solidFill>
                <a:cs typeface="+mn-ea"/>
                <a:sym typeface="+mn-lt"/>
              </a:rPr>
              <a:t>::</a:t>
            </a:r>
            <a:r>
              <a:rPr lang="en-US" sz="1200" b="0" u="none" dirty="0">
                <a:solidFill>
                  <a:srgbClr val="56B6C2"/>
                </a:solidFill>
                <a:cs typeface="+mn-ea"/>
                <a:sym typeface="+mn-lt"/>
              </a:rPr>
              <a:t>Some</a:t>
            </a:r>
            <a:r>
              <a:rPr lang="en-US" sz="1200" b="0" u="none" dirty="0">
                <a:solidFill>
                  <a:srgbClr val="ABB2BF"/>
                </a:solidFill>
                <a:cs typeface="+mn-ea"/>
                <a:sym typeface="+mn-lt"/>
              </a:rPr>
              <a:t>(</a:t>
            </a:r>
            <a:r>
              <a:rPr lang="en-US" sz="1200" b="0" u="none" dirty="0">
                <a:solidFill>
                  <a:srgbClr val="E06C75"/>
                </a:solidFill>
                <a:cs typeface="+mn-ea"/>
                <a:sym typeface="+mn-lt"/>
              </a:rPr>
              <a:t>i</a:t>
            </a:r>
            <a:r>
              <a:rPr lang="en-US" sz="1200" b="0" u="none" dirty="0">
                <a:solidFill>
                  <a:srgbClr val="ABB2BF"/>
                </a:solidFill>
                <a:cs typeface="+mn-ea"/>
                <a:sym typeface="+mn-lt"/>
              </a:rPr>
              <a:t> + </a:t>
            </a:r>
            <a:r>
              <a:rPr lang="en-US" sz="1200" b="0" u="none" dirty="0">
                <a:solidFill>
                  <a:srgbClr val="D19A66"/>
                </a:solidFill>
                <a:cs typeface="+mn-ea"/>
                <a:sym typeface="+mn-lt"/>
              </a:rPr>
              <a:t>1</a:t>
            </a:r>
            <a:r>
              <a:rPr lang="en-US" sz="1200" b="0" u="none" dirty="0">
                <a:solidFill>
                  <a:srgbClr val="ABB2BF"/>
                </a:solidFill>
                <a:cs typeface="+mn-ea"/>
                <a:sym typeface="+mn-lt"/>
              </a:rPr>
              <a:t>),</a:t>
            </a:r>
          </a:p>
          <a:p>
            <a:r>
              <a:rPr lang="en-US" sz="1200" b="0" u="none" dirty="0">
                <a:solidFill>
                  <a:srgbClr val="ABB2BF"/>
                </a:solidFill>
                <a:cs typeface="+mn-ea"/>
                <a:sym typeface="+mn-lt"/>
              </a:rPr>
              <a:t>    };</a:t>
            </a:r>
          </a:p>
          <a:p>
            <a:r>
              <a:rPr lang="en-US" sz="1200" b="0" u="none" dirty="0">
                <a:solidFill>
                  <a:srgbClr val="ABB2BF"/>
                </a:solidFill>
                <a:cs typeface="+mn-ea"/>
                <a:sym typeface="+mn-lt"/>
              </a:rPr>
              <a:t>}</a:t>
            </a:r>
            <a:endParaRPr lang="en-US" altLang="zh-CN" sz="1200" b="0" i="1" u="none" dirty="0">
              <a:solidFill>
                <a:srgbClr val="ABB2BF"/>
              </a:solidFill>
              <a:effectLs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113746"/>
    </mc:Choice>
    <mc:Fallback xmlns="">
      <p:transition spd="slow" advTm="11374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概念与基本用法</a:t>
            </a:r>
          </a:p>
        </p:txBody>
      </p:sp>
      <p:sp>
        <p:nvSpPr>
          <p:cNvPr id="7" name="内容占位符 2"/>
          <p:cNvSpPr>
            <a:spLocks noGrp="1"/>
          </p:cNvSpPr>
          <p:nvPr>
            <p:ph idx="10"/>
          </p:nvPr>
        </p:nvSpPr>
        <p:spPr>
          <a:xfrm>
            <a:off x="646109" y="861478"/>
            <a:ext cx="10394413" cy="1042842"/>
          </a:xfrm>
        </p:spPr>
        <p:txBody>
          <a:bodyPr/>
          <a:lstStyle/>
          <a:p>
            <a:pPr>
              <a:lnSpc>
                <a:spcPct val="150000"/>
              </a:lnSpc>
            </a:pPr>
            <a:r>
              <a:rPr lang="zh-CN" altLang="en-US" sz="1400" b="1" dirty="0">
                <a:latin typeface="+mn-lt"/>
                <a:ea typeface="+mn-ea"/>
                <a:cs typeface="+mn-ea"/>
                <a:sym typeface="+mn-lt"/>
              </a:rPr>
              <a:t>模式匹配</a:t>
            </a:r>
            <a:r>
              <a:rPr lang="zh-CN" altLang="en-US" sz="1400" dirty="0">
                <a:latin typeface="+mn-lt"/>
                <a:ea typeface="+mn-ea"/>
                <a:cs typeface="+mn-ea"/>
                <a:sym typeface="+mn-lt"/>
              </a:rPr>
              <a:t>用来匹配类型中的结构，结合使用模式和 </a:t>
            </a:r>
            <a:r>
              <a:rPr lang="en-US" altLang="zh-CN" sz="1400" dirty="0">
                <a:latin typeface="+mn-lt"/>
                <a:ea typeface="+mn-ea"/>
                <a:cs typeface="+mn-ea"/>
                <a:sym typeface="+mn-lt"/>
              </a:rPr>
              <a:t>match</a:t>
            </a:r>
            <a:r>
              <a:rPr lang="zh-CN" altLang="en-US" sz="1400" dirty="0">
                <a:latin typeface="+mn-lt"/>
                <a:ea typeface="+mn-ea"/>
                <a:cs typeface="+mn-ea"/>
                <a:sym typeface="+mn-lt"/>
              </a:rPr>
              <a:t> 表达式以及其他结构可以提供更多对程序控制流的支配权。</a:t>
            </a:r>
          </a:p>
          <a:p>
            <a:pPr marL="297815" indent="-285750">
              <a:lnSpc>
                <a:spcPct val="150000"/>
              </a:lnSpc>
              <a:buFont typeface="Arial" panose="020B0604020202020204" pitchFamily="34" charset="0"/>
              <a:buChar char="•"/>
            </a:pPr>
            <a:r>
              <a:rPr lang="zh-CN" altLang="en-US" sz="1400" dirty="0">
                <a:solidFill>
                  <a:srgbClr val="000000"/>
                </a:solidFill>
                <a:latin typeface="+mn-lt"/>
                <a:ea typeface="+mn-ea"/>
                <a:cs typeface="+mn-ea"/>
                <a:sym typeface="+mn-lt"/>
              </a:rPr>
              <a:t>模式匹配允许根据数据内容匹配分支；</a:t>
            </a:r>
            <a:endParaRPr lang="en-US" altLang="zh-CN" sz="1400" dirty="0">
              <a:latin typeface="+mn-lt"/>
              <a:ea typeface="+mn-ea"/>
              <a:cs typeface="+mn-ea"/>
              <a:sym typeface="+mn-lt"/>
            </a:endParaRPr>
          </a:p>
          <a:p>
            <a:pPr marL="297815" indent="-285750">
              <a:lnSpc>
                <a:spcPct val="150000"/>
              </a:lnSpc>
              <a:buFont typeface="Arial" panose="020B0604020202020204" pitchFamily="34" charset="0"/>
              <a:buChar char="•"/>
            </a:pPr>
            <a:r>
              <a:rPr lang="zh-CN" altLang="en-US" sz="1400" dirty="0">
                <a:solidFill>
                  <a:srgbClr val="000000"/>
                </a:solidFill>
                <a:latin typeface="+mn-lt"/>
                <a:ea typeface="+mn-ea"/>
                <a:cs typeface="+mn-ea"/>
                <a:sym typeface="+mn-lt"/>
              </a:rPr>
              <a:t>模式匹配必须穷尽所有情况；</a:t>
            </a:r>
            <a:endParaRPr lang="en-US" altLang="zh-CN" sz="1400" dirty="0">
              <a:latin typeface="+mn-lt"/>
              <a:ea typeface="+mn-ea"/>
              <a:cs typeface="+mn-ea"/>
              <a:sym typeface="+mn-lt"/>
            </a:endParaRPr>
          </a:p>
        </p:txBody>
      </p:sp>
      <p:sp>
        <p:nvSpPr>
          <p:cNvPr id="11" name="文本框 10"/>
          <p:cNvSpPr txBox="1"/>
          <p:nvPr/>
        </p:nvSpPr>
        <p:spPr>
          <a:xfrm>
            <a:off x="4944649" y="3551674"/>
            <a:ext cx="6168113" cy="203009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pair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a:t>
            </a:r>
          </a:p>
          <a:p>
            <a:r>
              <a:rPr lang="en-US" altLang="zh-CN" sz="1400" dirty="0">
                <a:solidFill>
                  <a:srgbClr val="C678DD"/>
                </a:solidFill>
                <a:cs typeface="+mn-ea"/>
                <a:sym typeface="+mn-lt"/>
              </a:rPr>
              <a:t>match</a:t>
            </a:r>
            <a:r>
              <a:rPr lang="en-US" altLang="zh-CN" sz="1400" dirty="0">
                <a:solidFill>
                  <a:srgbClr val="ABB2BF"/>
                </a:solidFill>
                <a:cs typeface="+mn-ea"/>
                <a:sym typeface="+mn-lt"/>
              </a:rPr>
              <a:t> </a:t>
            </a:r>
            <a:r>
              <a:rPr lang="en-US" altLang="zh-CN" sz="1400" dirty="0">
                <a:solidFill>
                  <a:srgbClr val="E06C75"/>
                </a:solidFill>
                <a:cs typeface="+mn-ea"/>
                <a:sym typeface="+mn-lt"/>
              </a:rPr>
              <a:t>pair</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"These are twins"</a:t>
            </a:r>
            <a:r>
              <a:rPr lang="en-US" altLang="zh-CN" sz="1400" dirty="0">
                <a:solidFill>
                  <a:srgbClr val="ABB2BF"/>
                </a:solidFill>
                <a:cs typeface="+mn-ea"/>
                <a:sym typeface="+mn-lt"/>
              </a:rPr>
              <a:t>),</a:t>
            </a:r>
          </a:p>
          <a:p>
            <a:r>
              <a:rPr lang="en-US" altLang="zh-CN" sz="1400" i="1" dirty="0">
                <a:solidFill>
                  <a:srgbClr val="7F848E"/>
                </a:solidFill>
                <a:cs typeface="+mn-ea"/>
                <a:sym typeface="+mn-lt"/>
              </a:rPr>
              <a:t>            // ^ `if` </a:t>
            </a:r>
            <a:r>
              <a:rPr lang="zh-CN" altLang="en-US" sz="1400" i="1" dirty="0">
                <a:solidFill>
                  <a:srgbClr val="7F848E"/>
                </a:solidFill>
                <a:cs typeface="+mn-ea"/>
                <a:sym typeface="+mn-lt"/>
              </a:rPr>
              <a:t>条件部分是一个卫语句</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ABB2BF"/>
                </a:solidFill>
                <a:cs typeface="+mn-ea"/>
                <a:sym typeface="+mn-lt"/>
              </a:rPr>
              <a:t>(</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"Antimatter, kaboom!"</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_</a:t>
            </a:r>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"The first one is odd"</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06C75"/>
                </a:solidFill>
                <a:cs typeface="+mn-ea"/>
                <a:sym typeface="+mn-lt"/>
              </a:rPr>
              <a:t>_</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"No correlation..."</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cxnSp>
        <p:nvCxnSpPr>
          <p:cNvPr id="13" name="直接连接符 12"/>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3"/>
          <a:stretch>
            <a:fillRect/>
          </a:stretch>
        </p:blipFill>
        <p:spPr>
          <a:xfrm>
            <a:off x="5990825" y="6002034"/>
            <a:ext cx="4094485" cy="606590"/>
          </a:xfrm>
          <a:prstGeom prst="rect">
            <a:avLst/>
          </a:prstGeom>
        </p:spPr>
      </p:pic>
      <p:sp>
        <p:nvSpPr>
          <p:cNvPr id="12" name="右箭头 11"/>
          <p:cNvSpPr/>
          <p:nvPr/>
        </p:nvSpPr>
        <p:spPr>
          <a:xfrm rot="5400000">
            <a:off x="7923497" y="5571406"/>
            <a:ext cx="208084" cy="446278"/>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文本框 3"/>
          <p:cNvSpPr txBox="1"/>
          <p:nvPr/>
        </p:nvSpPr>
        <p:spPr>
          <a:xfrm>
            <a:off x="929489" y="3990004"/>
            <a:ext cx="2935826" cy="918154"/>
          </a:xfrm>
          <a:prstGeom prst="rect">
            <a:avLst/>
          </a:prstGeom>
          <a:noFill/>
        </p:spPr>
        <p:txBody>
          <a:bodyPr vert="horz" wrap="square" rtlCol="0" anchor="t">
            <a:noAutofit/>
          </a:bodyPr>
          <a:lstStyle/>
          <a:p>
            <a:pPr algn="l">
              <a:lnSpc>
                <a:spcPts val="3440"/>
              </a:lnSpc>
            </a:pPr>
            <a:r>
              <a:rPr lang="zh-CN" altLang="en-US" sz="1600" dirty="0">
                <a:solidFill>
                  <a:srgbClr val="000000"/>
                </a:solidFill>
                <a:cs typeface="+mn-ea"/>
                <a:sym typeface="+mn-lt"/>
              </a:rPr>
              <a:t>可以通过在</a:t>
            </a:r>
            <a:r>
              <a:rPr lang="en-US" altLang="zh-CN" sz="1600" dirty="0">
                <a:solidFill>
                  <a:srgbClr val="000000"/>
                </a:solidFill>
                <a:cs typeface="+mn-ea"/>
                <a:sym typeface="+mn-lt"/>
              </a:rPr>
              <a:t>match</a:t>
            </a:r>
            <a:r>
              <a:rPr lang="zh-CN" altLang="en-US" sz="1600" dirty="0">
                <a:solidFill>
                  <a:srgbClr val="000000"/>
                </a:solidFill>
                <a:cs typeface="+mn-ea"/>
                <a:sym typeface="+mn-lt"/>
              </a:rPr>
              <a:t>中加入卫语句来过滤分支</a:t>
            </a:r>
          </a:p>
        </p:txBody>
      </p:sp>
      <p:sp>
        <p:nvSpPr>
          <p:cNvPr id="5" name="文本框 4"/>
          <p:cNvSpPr txBox="1"/>
          <p:nvPr/>
        </p:nvSpPr>
        <p:spPr>
          <a:xfrm>
            <a:off x="918154" y="2312388"/>
            <a:ext cx="3377901" cy="532756"/>
          </a:xfrm>
          <a:prstGeom prst="rect">
            <a:avLst/>
          </a:prstGeom>
          <a:noFill/>
        </p:spPr>
        <p:txBody>
          <a:bodyPr vert="horz" wrap="square" rtlCol="0" anchor="t">
            <a:noAutofit/>
          </a:bodyPr>
          <a:lstStyle/>
          <a:p>
            <a:pPr algn="l">
              <a:lnSpc>
                <a:spcPts val="3440"/>
              </a:lnSpc>
            </a:pPr>
            <a:r>
              <a:rPr lang="zh-CN" altLang="en-US" sz="1600" dirty="0">
                <a:cs typeface="+mn-ea"/>
                <a:sym typeface="+mn-lt"/>
              </a:rPr>
              <a:t>通过</a:t>
            </a:r>
            <a:r>
              <a:rPr lang="en-US" altLang="zh-CN" sz="1600" dirty="0">
                <a:cs typeface="+mn-ea"/>
                <a:sym typeface="+mn-lt"/>
              </a:rPr>
              <a:t>match</a:t>
            </a:r>
            <a:r>
              <a:rPr lang="zh-CN" altLang="en-US" sz="1600" dirty="0">
                <a:cs typeface="+mn-ea"/>
                <a:sym typeface="+mn-lt"/>
              </a:rPr>
              <a:t>可以赋值操作</a:t>
            </a:r>
          </a:p>
        </p:txBody>
      </p:sp>
      <p:sp>
        <p:nvSpPr>
          <p:cNvPr id="14" name="文本框 13"/>
          <p:cNvSpPr txBox="1"/>
          <p:nvPr/>
        </p:nvSpPr>
        <p:spPr>
          <a:xfrm>
            <a:off x="4935626" y="1853701"/>
            <a:ext cx="6168113" cy="146050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sz="1500" b="0" u="none" dirty="0">
                <a:solidFill>
                  <a:srgbClr val="C678DD"/>
                </a:solidFill>
                <a:cs typeface="+mn-ea"/>
                <a:sym typeface="+mn-lt"/>
              </a:rPr>
              <a:t>let</a:t>
            </a:r>
            <a:r>
              <a:rPr lang="en-US" sz="1500" b="0" u="none" dirty="0">
                <a:solidFill>
                  <a:srgbClr val="ABB2BF"/>
                </a:solidFill>
                <a:cs typeface="+mn-ea"/>
                <a:sym typeface="+mn-lt"/>
              </a:rPr>
              <a:t> </a:t>
            </a:r>
            <a:r>
              <a:rPr lang="en-US" sz="1500" b="0" u="none" dirty="0">
                <a:solidFill>
                  <a:srgbClr val="E06C75"/>
                </a:solidFill>
                <a:cs typeface="+mn-ea"/>
                <a:sym typeface="+mn-lt"/>
              </a:rPr>
              <a:t>value</a:t>
            </a:r>
            <a:r>
              <a:rPr lang="en-US" sz="1500" b="0" u="none" dirty="0">
                <a:solidFill>
                  <a:srgbClr val="ABB2BF"/>
                </a:solidFill>
                <a:cs typeface="+mn-ea"/>
                <a:sym typeface="+mn-lt"/>
              </a:rPr>
              <a:t> = </a:t>
            </a:r>
            <a:r>
              <a:rPr lang="en-US" sz="1500" b="0" u="none" dirty="0">
                <a:solidFill>
                  <a:srgbClr val="D19A66"/>
                </a:solidFill>
                <a:cs typeface="+mn-ea"/>
                <a:sym typeface="+mn-lt"/>
              </a:rPr>
              <a:t>0</a:t>
            </a:r>
            <a:r>
              <a:rPr lang="en-US" sz="1500" b="0" u="none" dirty="0">
                <a:solidFill>
                  <a:srgbClr val="ABB2BF"/>
                </a:solidFill>
                <a:cs typeface="+mn-ea"/>
                <a:sym typeface="+mn-lt"/>
              </a:rPr>
              <a:t>;</a:t>
            </a:r>
            <a:endParaRPr lang="en-US" sz="1500" b="0" u="none" dirty="0">
              <a:solidFill>
                <a:srgbClr val="C678DD"/>
              </a:solidFill>
              <a:cs typeface="+mn-ea"/>
              <a:sym typeface="+mn-lt"/>
            </a:endParaRPr>
          </a:p>
          <a:p>
            <a:r>
              <a:rPr lang="en-US" sz="1500" b="0" u="none" dirty="0">
                <a:solidFill>
                  <a:srgbClr val="C678DD"/>
                </a:solidFill>
                <a:cs typeface="+mn-ea"/>
                <a:sym typeface="+mn-lt"/>
              </a:rPr>
              <a:t>let</a:t>
            </a:r>
            <a:r>
              <a:rPr lang="en-US" sz="1500" b="0" u="none" dirty="0">
                <a:solidFill>
                  <a:srgbClr val="ABB2BF"/>
                </a:solidFill>
                <a:cs typeface="+mn-ea"/>
                <a:sym typeface="+mn-lt"/>
              </a:rPr>
              <a:t> </a:t>
            </a:r>
            <a:r>
              <a:rPr lang="en-US" sz="1500" b="0" u="none" dirty="0">
                <a:solidFill>
                  <a:srgbClr val="E06C75"/>
                </a:solidFill>
                <a:cs typeface="+mn-ea"/>
                <a:sym typeface="+mn-lt"/>
              </a:rPr>
              <a:t>result</a:t>
            </a:r>
            <a:r>
              <a:rPr lang="en-US" sz="1500" b="0" u="none" dirty="0">
                <a:solidFill>
                  <a:srgbClr val="ABB2BF"/>
                </a:solidFill>
                <a:cs typeface="+mn-ea"/>
                <a:sym typeface="+mn-lt"/>
              </a:rPr>
              <a:t> = </a:t>
            </a:r>
            <a:r>
              <a:rPr lang="en-US" sz="1500" b="0" u="none" dirty="0">
                <a:solidFill>
                  <a:srgbClr val="C678DD"/>
                </a:solidFill>
                <a:cs typeface="+mn-ea"/>
                <a:sym typeface="+mn-lt"/>
              </a:rPr>
              <a:t>match</a:t>
            </a:r>
            <a:r>
              <a:rPr lang="en-US" sz="1500" b="0" u="none" dirty="0">
                <a:solidFill>
                  <a:srgbClr val="ABB2BF"/>
                </a:solidFill>
                <a:cs typeface="+mn-ea"/>
                <a:sym typeface="+mn-lt"/>
              </a:rPr>
              <a:t> </a:t>
            </a:r>
            <a:r>
              <a:rPr lang="en-US" sz="1500" b="0" u="none" dirty="0">
                <a:solidFill>
                  <a:srgbClr val="E06C75"/>
                </a:solidFill>
                <a:cs typeface="+mn-ea"/>
                <a:sym typeface="+mn-lt"/>
              </a:rPr>
              <a:t>value</a:t>
            </a:r>
            <a:r>
              <a:rPr lang="en-US" sz="1500" b="0" u="none" dirty="0">
                <a:solidFill>
                  <a:srgbClr val="ABB2BF"/>
                </a:solidFill>
                <a:cs typeface="+mn-ea"/>
                <a:sym typeface="+mn-lt"/>
              </a:rPr>
              <a:t> {</a:t>
            </a:r>
          </a:p>
          <a:p>
            <a:r>
              <a:rPr lang="en-US" sz="1500" b="0" u="none" dirty="0">
                <a:solidFill>
                  <a:srgbClr val="ABB2BF"/>
                </a:solidFill>
                <a:cs typeface="+mn-ea"/>
                <a:sym typeface="+mn-lt"/>
              </a:rPr>
              <a:t>    </a:t>
            </a:r>
            <a:r>
              <a:rPr lang="en-US" sz="1500" b="0" u="none" dirty="0">
                <a:solidFill>
                  <a:srgbClr val="D19A66"/>
                </a:solidFill>
                <a:cs typeface="+mn-ea"/>
                <a:sym typeface="+mn-lt"/>
              </a:rPr>
              <a:t>1</a:t>
            </a:r>
            <a:r>
              <a:rPr lang="en-US" sz="1500" b="0" u="none" dirty="0">
                <a:solidFill>
                  <a:srgbClr val="ABB2BF"/>
                </a:solidFill>
                <a:cs typeface="+mn-ea"/>
                <a:sym typeface="+mn-lt"/>
              </a:rPr>
              <a:t> =&gt; </a:t>
            </a:r>
            <a:r>
              <a:rPr lang="en-US" sz="1500" b="0" u="none" dirty="0">
                <a:solidFill>
                  <a:srgbClr val="98C379"/>
                </a:solidFill>
                <a:cs typeface="+mn-ea"/>
                <a:sym typeface="+mn-lt"/>
              </a:rPr>
              <a:t>"one"</a:t>
            </a:r>
            <a:r>
              <a:rPr lang="en-US" sz="1500" b="0" u="none" dirty="0">
                <a:solidFill>
                  <a:srgbClr val="ABB2BF"/>
                </a:solidFill>
                <a:cs typeface="+mn-ea"/>
                <a:sym typeface="+mn-lt"/>
              </a:rPr>
              <a:t>,</a:t>
            </a:r>
          </a:p>
          <a:p>
            <a:r>
              <a:rPr lang="en-US" sz="1500" b="0" u="none" dirty="0">
                <a:solidFill>
                  <a:srgbClr val="ABB2BF"/>
                </a:solidFill>
                <a:cs typeface="+mn-ea"/>
                <a:sym typeface="+mn-lt"/>
              </a:rPr>
              <a:t>    </a:t>
            </a:r>
            <a:r>
              <a:rPr lang="en-US" sz="1500" b="0" u="none" dirty="0">
                <a:solidFill>
                  <a:srgbClr val="E06C75"/>
                </a:solidFill>
                <a:cs typeface="+mn-ea"/>
                <a:sym typeface="+mn-lt"/>
              </a:rPr>
              <a:t>_</a:t>
            </a:r>
            <a:r>
              <a:rPr lang="en-US" sz="1500" b="0" u="none" dirty="0">
                <a:solidFill>
                  <a:srgbClr val="ABB2BF"/>
                </a:solidFill>
                <a:cs typeface="+mn-ea"/>
                <a:sym typeface="+mn-lt"/>
              </a:rPr>
              <a:t> =&gt; </a:t>
            </a:r>
            <a:r>
              <a:rPr lang="en-US" sz="1500" b="0" u="none" dirty="0">
                <a:solidFill>
                  <a:srgbClr val="98C379"/>
                </a:solidFill>
                <a:cs typeface="+mn-ea"/>
                <a:sym typeface="+mn-lt"/>
              </a:rPr>
              <a:t>"others"</a:t>
            </a:r>
            <a:r>
              <a:rPr lang="en-US" sz="1500" b="0" u="none" dirty="0">
                <a:solidFill>
                  <a:srgbClr val="ABB2BF"/>
                </a:solidFill>
                <a:cs typeface="+mn-ea"/>
                <a:sym typeface="+mn-lt"/>
              </a:rPr>
              <a:t>,</a:t>
            </a:r>
          </a:p>
          <a:p>
            <a:r>
              <a:rPr lang="en-US" sz="1500" b="0" u="none" dirty="0">
                <a:solidFill>
                  <a:srgbClr val="ABB2BF"/>
                </a:solidFill>
                <a:cs typeface="+mn-ea"/>
                <a:sym typeface="+mn-lt"/>
              </a:rPr>
              <a:t>};</a:t>
            </a:r>
            <a:endParaRPr lang="en-US" altLang="zh-CN" sz="1500" b="0" u="none" dirty="0">
              <a:solidFill>
                <a:srgbClr val="ABB2BF"/>
              </a:solidFill>
              <a:effectLst/>
              <a:cs typeface="+mn-ea"/>
              <a:sym typeface="+mn-lt"/>
            </a:endParaRPr>
          </a:p>
        </p:txBody>
      </p:sp>
      <p:sp>
        <p:nvSpPr>
          <p:cNvPr id="15" name="右箭头 14"/>
          <p:cNvSpPr/>
          <p:nvPr userDrawn="1"/>
        </p:nvSpPr>
        <p:spPr>
          <a:xfrm>
            <a:off x="4089219" y="2562794"/>
            <a:ext cx="510086" cy="272046"/>
          </a:xfrm>
          <a:prstGeom prst="rightArrow">
            <a:avLst/>
          </a:prstGeom>
          <a:solidFill>
            <a:srgbClr val="ED7D31">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000000"/>
              </a:solidFill>
              <a:cs typeface="+mn-ea"/>
              <a:sym typeface="+mn-lt"/>
            </a:endParaRPr>
          </a:p>
        </p:txBody>
      </p:sp>
      <p:sp>
        <p:nvSpPr>
          <p:cNvPr id="16" name="右箭头 15"/>
          <p:cNvSpPr/>
          <p:nvPr userDrawn="1"/>
        </p:nvSpPr>
        <p:spPr>
          <a:xfrm>
            <a:off x="4102867" y="4322068"/>
            <a:ext cx="510086" cy="272046"/>
          </a:xfrm>
          <a:prstGeom prst="rightArrow">
            <a:avLst/>
          </a:prstGeom>
          <a:solidFill>
            <a:srgbClr val="ED7D31">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000000"/>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64500"/>
    </mc:Choice>
    <mc:Fallback xmlns="">
      <p:transition spd="slow" advTm="645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概念与基本用法</a:t>
            </a:r>
          </a:p>
        </p:txBody>
      </p:sp>
      <p:sp>
        <p:nvSpPr>
          <p:cNvPr id="7" name="内容占位符 2"/>
          <p:cNvSpPr>
            <a:spLocks noGrp="1"/>
          </p:cNvSpPr>
          <p:nvPr>
            <p:ph idx="10"/>
          </p:nvPr>
        </p:nvSpPr>
        <p:spPr>
          <a:xfrm>
            <a:off x="452673" y="2312831"/>
            <a:ext cx="5430315" cy="1100326"/>
          </a:xfrm>
        </p:spPr>
        <p:txBody>
          <a:bodyPr/>
          <a:lstStyle/>
          <a:p>
            <a:pPr>
              <a:lnSpc>
                <a:spcPct val="150000"/>
              </a:lnSpc>
            </a:pPr>
            <a:endParaRPr lang="en-US" altLang="zh-CN" sz="1600" dirty="0">
              <a:solidFill>
                <a:srgbClr val="000000"/>
              </a:solidFill>
              <a:latin typeface="+mn-lt"/>
              <a:ea typeface="+mn-ea"/>
              <a:cs typeface="+mn-ea"/>
              <a:sym typeface="+mn-lt"/>
            </a:endParaRPr>
          </a:p>
          <a:p>
            <a:pPr>
              <a:lnSpc>
                <a:spcPct val="150000"/>
              </a:lnSpc>
              <a:buNone/>
            </a:pPr>
            <a:r>
              <a:rPr lang="en-US" altLang="zh-CN" sz="1600" dirty="0">
                <a:solidFill>
                  <a:srgbClr val="000000"/>
                </a:solidFill>
                <a:latin typeface="+mn-lt"/>
                <a:ea typeface="+mn-ea"/>
                <a:cs typeface="+mn-ea"/>
                <a:sym typeface="+mn-lt"/>
              </a:rPr>
              <a:t>match</a:t>
            </a:r>
            <a:r>
              <a:rPr lang="zh-CN" altLang="en-US" sz="1600" dirty="0">
                <a:solidFill>
                  <a:srgbClr val="000000"/>
                </a:solidFill>
                <a:latin typeface="+mn-lt"/>
                <a:ea typeface="+mn-ea"/>
                <a:cs typeface="+mn-ea"/>
                <a:sym typeface="+mn-lt"/>
              </a:rPr>
              <a:t>表达式可以使用通配符</a:t>
            </a:r>
            <a:r>
              <a:rPr lang="en-US" altLang="zh-CN" sz="1600" dirty="0">
                <a:solidFill>
                  <a:srgbClr val="000000"/>
                </a:solidFill>
                <a:latin typeface="+mn-lt"/>
                <a:ea typeface="+mn-ea"/>
                <a:cs typeface="+mn-ea"/>
                <a:sym typeface="+mn-lt"/>
              </a:rPr>
              <a:t>(_)</a:t>
            </a:r>
            <a:r>
              <a:rPr lang="zh-CN" altLang="en-US" sz="1600" dirty="0">
                <a:solidFill>
                  <a:srgbClr val="000000"/>
                </a:solidFill>
                <a:latin typeface="+mn-lt"/>
                <a:ea typeface="+mn-ea"/>
                <a:cs typeface="+mn-ea"/>
                <a:sym typeface="+mn-lt"/>
              </a:rPr>
              <a:t>表示其他的情况，</a:t>
            </a:r>
            <a:r>
              <a:rPr lang="zh-CN" altLang="en-US" sz="1600" dirty="0">
                <a:latin typeface="+mn-lt"/>
                <a:ea typeface="+mn-ea"/>
                <a:cs typeface="+mn-ea"/>
                <a:sym typeface="+mn-lt"/>
              </a:rPr>
              <a:t>可以使用 </a:t>
            </a:r>
            <a:r>
              <a:rPr lang="en-US" altLang="zh-CN" sz="1600" dirty="0">
                <a:latin typeface="+mn-lt"/>
                <a:ea typeface="+mn-ea"/>
                <a:cs typeface="+mn-ea"/>
                <a:sym typeface="+mn-lt"/>
              </a:rPr>
              <a:t>| </a:t>
            </a:r>
            <a:r>
              <a:rPr lang="zh-CN" altLang="en-US" sz="1600" dirty="0">
                <a:latin typeface="+mn-lt"/>
                <a:ea typeface="+mn-ea"/>
                <a:cs typeface="+mn-ea"/>
                <a:sym typeface="+mn-lt"/>
              </a:rPr>
              <a:t>运算符连接多个匹配模式，参考示例；</a:t>
            </a:r>
          </a:p>
          <a:p>
            <a:pPr marL="297815" indent="-285750">
              <a:lnSpc>
                <a:spcPct val="150000"/>
              </a:lnSpc>
              <a:buFont typeface="Arial" panose="020B0604020202020204" pitchFamily="34" charset="0"/>
              <a:buChar char="•"/>
            </a:pPr>
            <a:endParaRPr lang="en-US" altLang="zh-CN" sz="1600" dirty="0">
              <a:latin typeface="+mn-lt"/>
              <a:ea typeface="+mn-ea"/>
              <a:cs typeface="+mn-ea"/>
              <a:sym typeface="+mn-lt"/>
            </a:endParaRPr>
          </a:p>
        </p:txBody>
      </p:sp>
      <p:cxnSp>
        <p:nvCxnSpPr>
          <p:cNvPr id="13" name="直接连接符 12"/>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6291145" y="1755321"/>
            <a:ext cx="4354794" cy="3570877"/>
            <a:chOff x="6691158" y="1349002"/>
            <a:chExt cx="4354794" cy="3570877"/>
          </a:xfrm>
        </p:grpSpPr>
        <p:sp>
          <p:nvSpPr>
            <p:cNvPr id="6" name="文本框 5"/>
            <p:cNvSpPr txBox="1"/>
            <p:nvPr/>
          </p:nvSpPr>
          <p:spPr>
            <a:xfrm>
              <a:off x="6691158" y="1349002"/>
              <a:ext cx="4354794" cy="267652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en-US" altLang="zh-CN" sz="1400" b="1" dirty="0">
                  <a:solidFill>
                    <a:srgbClr val="00B050"/>
                  </a:solidFill>
                  <a:cs typeface="+mn-ea"/>
                  <a:sym typeface="+mn-lt"/>
                </a:rPr>
                <a:t>match</a:t>
              </a:r>
              <a:r>
                <a:rPr lang="zh-CN" altLang="en-US" sz="1400" b="1" dirty="0">
                  <a:solidFill>
                    <a:srgbClr val="00B050"/>
                  </a:solidFill>
                  <a:cs typeface="+mn-ea"/>
                  <a:sym typeface="+mn-lt"/>
                </a:rPr>
                <a:t>通配符使用以及</a:t>
              </a:r>
              <a:r>
                <a:rPr lang="en-US" altLang="zh-CN" sz="1400" b="1" dirty="0">
                  <a:solidFill>
                    <a:srgbClr val="00B050"/>
                  </a:solidFill>
                  <a:cs typeface="+mn-ea"/>
                  <a:sym typeface="+mn-lt"/>
                </a:rPr>
                <a:t>|</a:t>
              </a:r>
              <a:r>
                <a:rPr lang="zh-CN" altLang="en-US" sz="1400" b="1" dirty="0">
                  <a:solidFill>
                    <a:srgbClr val="00B050"/>
                  </a:solidFill>
                  <a:cs typeface="+mn-ea"/>
                  <a:sym typeface="+mn-lt"/>
                </a:rPr>
                <a:t>运算符使用</a:t>
              </a:r>
              <a:endParaRPr lang="en-US" altLang="zh-CN" sz="1400" b="1" dirty="0">
                <a:solidFill>
                  <a:srgbClr val="00B050"/>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9</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match</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"one"</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"two"</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"three"</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D19A66"/>
                  </a:solidFill>
                  <a:cs typeface="+mn-ea"/>
                  <a:sym typeface="+mn-lt"/>
                </a:rPr>
                <a:t>4</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5</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"not many"</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D19A66"/>
                  </a:solidFill>
                  <a:cs typeface="+mn-ea"/>
                  <a:sym typeface="+mn-lt"/>
                </a:rPr>
                <a:t>6</a:t>
              </a:r>
              <a:r>
                <a:rPr lang="en-US" altLang="zh-CN" sz="1400" dirty="0">
                  <a:solidFill>
                    <a:srgbClr val="ABB2BF"/>
                  </a:solidFill>
                  <a:cs typeface="+mn-ea"/>
                  <a:sym typeface="+mn-lt"/>
                </a:rPr>
                <a:t>..=</a:t>
              </a:r>
              <a:r>
                <a:rPr lang="en-US" altLang="zh-CN" sz="1400" dirty="0">
                  <a:solidFill>
                    <a:srgbClr val="D19A66"/>
                  </a:solidFill>
                  <a:cs typeface="+mn-ea"/>
                  <a:sym typeface="+mn-lt"/>
                </a:rPr>
                <a:t>9</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"a few"</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06C75"/>
                  </a:solidFill>
                  <a:cs typeface="+mn-ea"/>
                  <a:sym typeface="+mn-lt"/>
                </a:rPr>
                <a:t>_</a:t>
              </a:r>
              <a:r>
                <a:rPr lang="en-US" altLang="zh-CN" sz="1400" dirty="0">
                  <a:solidFill>
                    <a:srgbClr val="ABB2BF"/>
                  </a:solidFill>
                  <a:cs typeface="+mn-ea"/>
                  <a:sym typeface="+mn-lt"/>
                </a:rPr>
                <a:t> =&gt;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"something else"</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pic>
          <p:nvPicPr>
            <p:cNvPr id="8" name="图片 7"/>
            <p:cNvPicPr>
              <a:picLocks noChangeAspect="1"/>
            </p:cNvPicPr>
            <p:nvPr/>
          </p:nvPicPr>
          <p:blipFill>
            <a:blip r:embed="rId3"/>
            <a:stretch>
              <a:fillRect/>
            </a:stretch>
          </p:blipFill>
          <p:spPr>
            <a:xfrm>
              <a:off x="6822924" y="4324221"/>
              <a:ext cx="4089596" cy="595658"/>
            </a:xfrm>
            <a:prstGeom prst="rect">
              <a:avLst/>
            </a:prstGeom>
          </p:spPr>
        </p:pic>
        <p:sp>
          <p:nvSpPr>
            <p:cNvPr id="9" name="下箭头 8"/>
            <p:cNvSpPr/>
            <p:nvPr/>
          </p:nvSpPr>
          <p:spPr>
            <a:xfrm>
              <a:off x="8555795" y="4092691"/>
              <a:ext cx="630936" cy="146304"/>
            </a:xfrm>
            <a:prstGeom prst="down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53034"/>
    </mc:Choice>
    <mc:Fallback xmlns="">
      <p:transition spd="slow" advTm="5303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-while-let</a:t>
            </a:r>
            <a:r>
              <a:rPr lang="zh-CN" altLang="en-US" b="1" dirty="0">
                <a:solidFill>
                  <a:srgbClr val="C00000"/>
                </a:solidFill>
                <a:latin typeface="+mn-lt"/>
                <a:ea typeface="+mn-ea"/>
                <a:cs typeface="+mn-ea"/>
                <a:sym typeface="+mn-lt"/>
              </a:rPr>
              <a:t>、</a:t>
            </a:r>
            <a:r>
              <a:rPr lang="en-US" altLang="zh-CN" b="1" dirty="0">
                <a:solidFill>
                  <a:srgbClr val="C00000"/>
                </a:solidFill>
                <a:latin typeface="+mn-lt"/>
                <a:ea typeface="+mn-ea"/>
                <a:cs typeface="+mn-ea"/>
                <a:sym typeface="+mn-lt"/>
              </a:rPr>
              <a:t>for</a:t>
            </a:r>
            <a:endParaRPr lang="zh-CN" altLang="en-US" b="1" dirty="0">
              <a:solidFill>
                <a:srgbClr val="C00000"/>
              </a:solidFill>
              <a:latin typeface="+mn-lt"/>
              <a:ea typeface="+mn-ea"/>
              <a:cs typeface="+mn-ea"/>
              <a:sym typeface="+mn-lt"/>
            </a:endParaRPr>
          </a:p>
        </p:txBody>
      </p:sp>
      <p:cxnSp>
        <p:nvCxnSpPr>
          <p:cNvPr id="6" name="直接连接符 5"/>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829087" y="1443307"/>
            <a:ext cx="5074428" cy="3108543"/>
          </a:xfrm>
          <a:prstGeom prst="rect">
            <a:avLst/>
          </a:prstGeom>
          <a:solidFill>
            <a:schemeClr val="tx1"/>
          </a:solidFill>
        </p:spPr>
        <p:txBody>
          <a:bodyPr wrap="square">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dirty="0">
              <a:solidFill>
                <a:srgbClr val="C678DD"/>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C678DD"/>
                </a:solidFill>
                <a:cs typeface="+mn-ea"/>
                <a:sym typeface="+mn-lt"/>
              </a:rPr>
              <a:t>mut</a:t>
            </a:r>
            <a:r>
              <a:rPr lang="en-US" altLang="zh-CN" sz="1400" dirty="0">
                <a:solidFill>
                  <a:srgbClr val="ABB2BF"/>
                </a:solidFill>
                <a:cs typeface="+mn-ea"/>
                <a:sym typeface="+mn-lt"/>
              </a:rPr>
              <a:t> </a:t>
            </a:r>
            <a:r>
              <a:rPr lang="en-US" altLang="zh-CN" sz="1400" u="sng" dirty="0">
                <a:solidFill>
                  <a:srgbClr val="E06C75"/>
                </a:solidFill>
                <a:cs typeface="+mn-ea"/>
                <a:sym typeface="+mn-lt"/>
              </a:rPr>
              <a:t>stack</a:t>
            </a:r>
            <a:r>
              <a:rPr lang="en-US" altLang="zh-CN" sz="1400" dirty="0">
                <a:solidFill>
                  <a:srgbClr val="ABB2BF"/>
                </a:solidFill>
                <a:cs typeface="+mn-ea"/>
                <a:sym typeface="+mn-lt"/>
              </a:rPr>
              <a:t> = </a:t>
            </a:r>
            <a:r>
              <a:rPr lang="en-US" altLang="zh-CN" sz="1400" dirty="0" err="1">
                <a:solidFill>
                  <a:srgbClr val="E5C07B"/>
                </a:solidFill>
                <a:cs typeface="+mn-ea"/>
                <a:sym typeface="+mn-lt"/>
              </a:rPr>
              <a:t>Vec</a:t>
            </a:r>
            <a:r>
              <a:rPr lang="en-US" altLang="zh-CN" sz="1400" dirty="0">
                <a:solidFill>
                  <a:srgbClr val="ABB2BF"/>
                </a:solidFill>
                <a:cs typeface="+mn-ea"/>
                <a:sym typeface="+mn-lt"/>
              </a:rPr>
              <a:t>::</a:t>
            </a:r>
            <a:r>
              <a:rPr lang="en-US" altLang="zh-CN" sz="1400" dirty="0">
                <a:solidFill>
                  <a:srgbClr val="61AFEF"/>
                </a:solidFill>
                <a:cs typeface="+mn-ea"/>
                <a:sym typeface="+mn-lt"/>
              </a:rPr>
              <a:t>new</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u="sng" dirty="0" err="1">
                <a:solidFill>
                  <a:srgbClr val="E06C75"/>
                </a:solidFill>
                <a:cs typeface="+mn-ea"/>
                <a:sym typeface="+mn-lt"/>
              </a:rPr>
              <a:t>stack</a:t>
            </a:r>
            <a:r>
              <a:rPr lang="en-US" altLang="zh-CN" sz="1400" dirty="0" err="1">
                <a:solidFill>
                  <a:srgbClr val="ABB2BF"/>
                </a:solidFill>
                <a:cs typeface="+mn-ea"/>
                <a:sym typeface="+mn-lt"/>
              </a:rPr>
              <a:t>.</a:t>
            </a:r>
            <a:r>
              <a:rPr lang="en-US" altLang="zh-CN" sz="1400" u="sng" dirty="0" err="1">
                <a:solidFill>
                  <a:srgbClr val="61AFEF"/>
                </a:solidFill>
                <a:cs typeface="+mn-ea"/>
                <a:sym typeface="+mn-lt"/>
              </a:rPr>
              <a:t>push</a:t>
            </a:r>
            <a:r>
              <a:rPr lang="en-US" altLang="zh-CN" sz="1400" dirty="0">
                <a:solidFill>
                  <a:srgbClr val="ABB2BF"/>
                </a:solidFill>
                <a:cs typeface="+mn-ea"/>
                <a:sym typeface="+mn-lt"/>
              </a:rPr>
              <a:t>(</a:t>
            </a:r>
            <a:r>
              <a:rPr lang="en-US" altLang="zh-CN" sz="1400" dirty="0">
                <a:solidFill>
                  <a:srgbClr val="D19A66"/>
                </a:solidFill>
                <a:cs typeface="+mn-ea"/>
                <a:sym typeface="+mn-lt"/>
              </a:rPr>
              <a:t>1</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u="sng" dirty="0" err="1">
                <a:solidFill>
                  <a:srgbClr val="E06C75"/>
                </a:solidFill>
                <a:cs typeface="+mn-ea"/>
                <a:sym typeface="+mn-lt"/>
              </a:rPr>
              <a:t>stack</a:t>
            </a:r>
            <a:r>
              <a:rPr lang="en-US" altLang="zh-CN" sz="1400" dirty="0" err="1">
                <a:solidFill>
                  <a:srgbClr val="ABB2BF"/>
                </a:solidFill>
                <a:cs typeface="+mn-ea"/>
                <a:sym typeface="+mn-lt"/>
              </a:rPr>
              <a:t>.</a:t>
            </a:r>
            <a:r>
              <a:rPr lang="en-US" altLang="zh-CN" sz="1400" u="sng" dirty="0" err="1">
                <a:solidFill>
                  <a:srgbClr val="61AFEF"/>
                </a:solidFill>
                <a:cs typeface="+mn-ea"/>
                <a:sym typeface="+mn-lt"/>
              </a:rPr>
              <a:t>push</a:t>
            </a:r>
            <a:r>
              <a:rPr lang="en-US" altLang="zh-CN" sz="1400" dirty="0">
                <a:solidFill>
                  <a:srgbClr val="ABB2BF"/>
                </a:solidFill>
                <a:cs typeface="+mn-ea"/>
                <a:sym typeface="+mn-lt"/>
              </a:rPr>
              <a:t>(</a:t>
            </a:r>
            <a:r>
              <a:rPr lang="en-US" altLang="zh-CN" sz="1400" dirty="0">
                <a:solidFill>
                  <a:srgbClr val="D19A66"/>
                </a:solidFill>
                <a:cs typeface="+mn-ea"/>
                <a:sym typeface="+mn-lt"/>
              </a:rPr>
              <a:t>2</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u="sng" dirty="0" err="1">
                <a:solidFill>
                  <a:srgbClr val="E06C75"/>
                </a:solidFill>
                <a:cs typeface="+mn-ea"/>
                <a:sym typeface="+mn-lt"/>
              </a:rPr>
              <a:t>stack</a:t>
            </a:r>
            <a:r>
              <a:rPr lang="en-US" altLang="zh-CN" sz="1400" dirty="0" err="1">
                <a:solidFill>
                  <a:srgbClr val="ABB2BF"/>
                </a:solidFill>
                <a:cs typeface="+mn-ea"/>
                <a:sym typeface="+mn-lt"/>
              </a:rPr>
              <a:t>.</a:t>
            </a:r>
            <a:r>
              <a:rPr lang="en-US" altLang="zh-CN" sz="1400" u="sng" dirty="0" err="1">
                <a:solidFill>
                  <a:srgbClr val="61AFEF"/>
                </a:solidFill>
                <a:cs typeface="+mn-ea"/>
                <a:sym typeface="+mn-lt"/>
              </a:rPr>
              <a:t>push</a:t>
            </a:r>
            <a:r>
              <a:rPr lang="en-US" altLang="zh-CN" sz="1400" dirty="0">
                <a:solidFill>
                  <a:srgbClr val="ABB2BF"/>
                </a:solidFill>
                <a:cs typeface="+mn-ea"/>
                <a:sym typeface="+mn-lt"/>
              </a:rPr>
              <a:t>(</a:t>
            </a:r>
            <a:r>
              <a:rPr lang="en-US" altLang="zh-CN" sz="1400" dirty="0">
                <a:solidFill>
                  <a:srgbClr val="D19A66"/>
                </a:solidFill>
                <a:cs typeface="+mn-ea"/>
                <a:sym typeface="+mn-lt"/>
              </a:rPr>
              <a:t>3</a:t>
            </a:r>
            <a:r>
              <a:rPr lang="en-US" altLang="zh-CN" sz="1400" dirty="0">
                <a:solidFill>
                  <a:srgbClr val="ABB2BF"/>
                </a:solidFill>
                <a:cs typeface="+mn-ea"/>
                <a:sym typeface="+mn-lt"/>
              </a:rPr>
              <a:t>);</a:t>
            </a:r>
          </a:p>
          <a:p>
            <a:r>
              <a:rPr lang="en-US" altLang="zh-CN" sz="1400" i="1" dirty="0">
                <a:solidFill>
                  <a:srgbClr val="7F848E"/>
                </a:solidFill>
                <a:cs typeface="+mn-ea"/>
                <a:sym typeface="+mn-lt"/>
              </a:rPr>
              <a:t>    // </a:t>
            </a:r>
            <a:r>
              <a:rPr lang="zh-CN" altLang="en-US" sz="1400" i="1" dirty="0">
                <a:solidFill>
                  <a:srgbClr val="7F848E"/>
                </a:solidFill>
                <a:cs typeface="+mn-ea"/>
                <a:sym typeface="+mn-lt"/>
              </a:rPr>
              <a:t>只要模式匹配就一直进行 </a:t>
            </a:r>
            <a:r>
              <a:rPr lang="en-US" altLang="zh-CN" sz="1400" i="1" dirty="0">
                <a:solidFill>
                  <a:srgbClr val="7F848E"/>
                </a:solidFill>
                <a:cs typeface="+mn-ea"/>
                <a:sym typeface="+mn-lt"/>
              </a:rPr>
              <a:t>while </a:t>
            </a:r>
            <a:r>
              <a:rPr lang="zh-CN" altLang="en-US" sz="1400" i="1" dirty="0">
                <a:solidFill>
                  <a:srgbClr val="7F848E"/>
                </a:solidFill>
                <a:cs typeface="+mn-ea"/>
                <a:sym typeface="+mn-lt"/>
              </a:rPr>
              <a:t>循环</a:t>
            </a:r>
            <a:endParaRPr lang="zh-CN" altLang="en-US" sz="1400" dirty="0">
              <a:solidFill>
                <a:srgbClr val="ABB2BF"/>
              </a:solidFill>
              <a:cs typeface="+mn-ea"/>
              <a:sym typeface="+mn-lt"/>
            </a:endParaRPr>
          </a:p>
          <a:p>
            <a:r>
              <a:rPr lang="zh-CN" altLang="en-US" sz="1400" i="1" dirty="0">
                <a:solidFill>
                  <a:srgbClr val="7F848E"/>
                </a:solidFill>
                <a:cs typeface="+mn-ea"/>
                <a:sym typeface="+mn-lt"/>
              </a:rPr>
              <a:t>    </a:t>
            </a:r>
            <a:r>
              <a:rPr lang="en-US" altLang="zh-CN" sz="1400" i="1" dirty="0">
                <a:solidFill>
                  <a:srgbClr val="7F848E"/>
                </a:solidFill>
                <a:cs typeface="+mn-ea"/>
                <a:sym typeface="+mn-lt"/>
              </a:rPr>
              <a:t>// pop</a:t>
            </a:r>
            <a:r>
              <a:rPr lang="zh-CN" altLang="en-US" sz="1400" i="1" dirty="0">
                <a:solidFill>
                  <a:srgbClr val="7F848E"/>
                </a:solidFill>
                <a:cs typeface="+mn-ea"/>
                <a:sym typeface="+mn-lt"/>
              </a:rPr>
              <a:t>方法取出最后一个元素并返回 </a:t>
            </a:r>
            <a:r>
              <a:rPr lang="en-US" altLang="zh-CN" sz="1400" i="1" dirty="0">
                <a:solidFill>
                  <a:srgbClr val="7F848E"/>
                </a:solidFill>
                <a:cs typeface="+mn-ea"/>
                <a:sym typeface="+mn-lt"/>
              </a:rPr>
              <a:t>Some(top)</a:t>
            </a:r>
            <a:endParaRPr lang="en-US" altLang="zh-CN" sz="1400" dirty="0">
              <a:solidFill>
                <a:srgbClr val="ABB2BF"/>
              </a:solidFill>
              <a:cs typeface="+mn-ea"/>
              <a:sym typeface="+mn-lt"/>
            </a:endParaRPr>
          </a:p>
          <a:p>
            <a:r>
              <a:rPr lang="en-US" altLang="zh-CN" sz="1400" i="1" dirty="0">
                <a:solidFill>
                  <a:srgbClr val="7F848E"/>
                </a:solidFill>
                <a:cs typeface="+mn-ea"/>
                <a:sym typeface="+mn-lt"/>
              </a:rPr>
              <a:t>    // Some(top) </a:t>
            </a:r>
            <a:r>
              <a:rPr lang="zh-CN" altLang="en-US" sz="1400" i="1" dirty="0">
                <a:solidFill>
                  <a:srgbClr val="7F848E"/>
                </a:solidFill>
                <a:cs typeface="+mn-ea"/>
                <a:sym typeface="+mn-lt"/>
              </a:rPr>
              <a:t>表示存在一个值为 </a:t>
            </a:r>
            <a:r>
              <a:rPr lang="en-US" altLang="zh-CN" sz="1400" i="1" dirty="0">
                <a:solidFill>
                  <a:srgbClr val="7F848E"/>
                </a:solidFill>
                <a:cs typeface="+mn-ea"/>
                <a:sym typeface="+mn-lt"/>
              </a:rPr>
              <a:t>top</a:t>
            </a:r>
            <a:endParaRPr lang="en-US" altLang="zh-CN" sz="1400" dirty="0">
              <a:solidFill>
                <a:srgbClr val="ABB2BF"/>
              </a:solidFill>
              <a:cs typeface="+mn-ea"/>
              <a:sym typeface="+mn-lt"/>
            </a:endParaRPr>
          </a:p>
          <a:p>
            <a:r>
              <a:rPr lang="en-US" altLang="zh-CN" sz="1400" i="1" dirty="0">
                <a:solidFill>
                  <a:srgbClr val="7F848E"/>
                </a:solidFill>
                <a:cs typeface="+mn-ea"/>
                <a:sym typeface="+mn-lt"/>
              </a:rPr>
              <a:t>    // </a:t>
            </a:r>
            <a:r>
              <a:rPr lang="zh-CN" altLang="en-US" sz="1400" i="1" dirty="0">
                <a:solidFill>
                  <a:srgbClr val="7F848E"/>
                </a:solidFill>
                <a:cs typeface="+mn-ea"/>
                <a:sym typeface="+mn-lt"/>
              </a:rPr>
              <a:t>如果 </a:t>
            </a:r>
            <a:r>
              <a:rPr lang="en-US" altLang="zh-CN" sz="1400" i="1" dirty="0">
                <a:solidFill>
                  <a:srgbClr val="7F848E"/>
                </a:solidFill>
                <a:cs typeface="+mn-ea"/>
                <a:sym typeface="+mn-lt"/>
              </a:rPr>
              <a:t>vector </a:t>
            </a:r>
            <a:r>
              <a:rPr lang="zh-CN" altLang="en-US" sz="1400" i="1" dirty="0">
                <a:solidFill>
                  <a:srgbClr val="7F848E"/>
                </a:solidFill>
                <a:cs typeface="+mn-ea"/>
                <a:sym typeface="+mn-lt"/>
              </a:rPr>
              <a:t>是空的，它返回 </a:t>
            </a:r>
            <a:r>
              <a:rPr lang="en-US" altLang="zh-CN" sz="1400" i="1" dirty="0">
                <a:solidFill>
                  <a:srgbClr val="7F848E"/>
                </a:solidFill>
                <a:cs typeface="+mn-ea"/>
                <a:sym typeface="+mn-lt"/>
              </a:rPr>
              <a:t>None</a:t>
            </a:r>
            <a:endParaRPr lang="en-US" altLang="zh-CN" sz="1400" dirty="0">
              <a:solidFill>
                <a:srgbClr val="ABB2BF"/>
              </a:solidFill>
              <a:cs typeface="+mn-ea"/>
              <a:sym typeface="+mn-lt"/>
            </a:endParaRPr>
          </a:p>
          <a:p>
            <a:r>
              <a:rPr lang="en-US" altLang="zh-CN" sz="1400" dirty="0">
                <a:solidFill>
                  <a:srgbClr val="ABB2BF"/>
                </a:solidFill>
                <a:cs typeface="+mn-ea"/>
                <a:sym typeface="+mn-lt"/>
              </a:rPr>
              <a:t>    </a:t>
            </a:r>
            <a:r>
              <a:rPr lang="en-US" altLang="zh-CN" sz="1400" dirty="0">
                <a:solidFill>
                  <a:srgbClr val="C678DD"/>
                </a:solidFill>
                <a:cs typeface="+mn-ea"/>
                <a:sym typeface="+mn-lt"/>
              </a:rPr>
              <a:t>while</a:t>
            </a:r>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56B6C2"/>
                </a:solidFill>
                <a:cs typeface="+mn-ea"/>
                <a:sym typeface="+mn-lt"/>
              </a:rPr>
              <a:t>Some</a:t>
            </a:r>
            <a:r>
              <a:rPr lang="en-US" altLang="zh-CN" sz="1400" dirty="0">
                <a:solidFill>
                  <a:srgbClr val="ABB2BF"/>
                </a:solidFill>
                <a:cs typeface="+mn-ea"/>
                <a:sym typeface="+mn-lt"/>
              </a:rPr>
              <a:t>(</a:t>
            </a:r>
            <a:r>
              <a:rPr lang="en-US" altLang="zh-CN" sz="1400" dirty="0">
                <a:solidFill>
                  <a:srgbClr val="E06C75"/>
                </a:solidFill>
                <a:cs typeface="+mn-ea"/>
                <a:sym typeface="+mn-lt"/>
              </a:rPr>
              <a:t>top</a:t>
            </a:r>
            <a:r>
              <a:rPr lang="en-US" altLang="zh-CN" sz="1400" dirty="0">
                <a:solidFill>
                  <a:srgbClr val="ABB2BF"/>
                </a:solidFill>
                <a:cs typeface="+mn-ea"/>
                <a:sym typeface="+mn-lt"/>
              </a:rPr>
              <a:t>) = </a:t>
            </a:r>
            <a:r>
              <a:rPr lang="en-US" altLang="zh-CN" sz="1400" u="sng" dirty="0" err="1">
                <a:solidFill>
                  <a:srgbClr val="E06C75"/>
                </a:solidFill>
                <a:cs typeface="+mn-ea"/>
                <a:sym typeface="+mn-lt"/>
              </a:rPr>
              <a:t>stack</a:t>
            </a:r>
            <a:r>
              <a:rPr lang="en-US" altLang="zh-CN" sz="1400" dirty="0" err="1">
                <a:solidFill>
                  <a:srgbClr val="ABB2BF"/>
                </a:solidFill>
                <a:cs typeface="+mn-ea"/>
                <a:sym typeface="+mn-lt"/>
              </a:rPr>
              <a:t>.</a:t>
            </a:r>
            <a:r>
              <a:rPr lang="en-US" altLang="zh-CN" sz="1400" u="sng" dirty="0" err="1">
                <a:solidFill>
                  <a:srgbClr val="61AFEF"/>
                </a:solidFill>
                <a:cs typeface="+mn-ea"/>
                <a:sym typeface="+mn-lt"/>
              </a:rPr>
              <a:t>pop</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D19A66"/>
                </a:solidFill>
                <a:cs typeface="+mn-ea"/>
                <a:sym typeface="+mn-lt"/>
              </a:rPr>
              <a:t>println</a:t>
            </a:r>
            <a:r>
              <a:rPr lang="en-US" altLang="zh-CN" sz="1400" dirty="0">
                <a:solidFill>
                  <a:srgbClr val="D19A66"/>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C678DD"/>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top</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i="1" dirty="0">
                <a:solidFill>
                  <a:srgbClr val="7F848E"/>
                </a:solidFill>
                <a:cs typeface="+mn-ea"/>
                <a:sym typeface="+mn-lt"/>
              </a:rPr>
              <a:t> // else </a:t>
            </a:r>
            <a:r>
              <a:rPr lang="zh-CN" altLang="en-US" sz="1400" i="1" dirty="0">
                <a:solidFill>
                  <a:srgbClr val="7F848E"/>
                </a:solidFill>
                <a:cs typeface="+mn-ea"/>
                <a:sym typeface="+mn-lt"/>
              </a:rPr>
              <a:t>并不能直接与 </a:t>
            </a:r>
            <a:r>
              <a:rPr lang="en-US" altLang="zh-CN" sz="1400" i="1" dirty="0">
                <a:solidFill>
                  <a:srgbClr val="7F848E"/>
                </a:solidFill>
                <a:cs typeface="+mn-ea"/>
                <a:sym typeface="+mn-lt"/>
              </a:rPr>
              <a:t>while let </a:t>
            </a:r>
            <a:r>
              <a:rPr lang="zh-CN" altLang="en-US" sz="1400" i="1" dirty="0">
                <a:solidFill>
                  <a:srgbClr val="7F848E"/>
                </a:solidFill>
                <a:cs typeface="+mn-ea"/>
                <a:sym typeface="+mn-lt"/>
              </a:rPr>
              <a:t>语句一起使用</a:t>
            </a:r>
            <a:endParaRPr lang="zh-CN" altLang="en-US" sz="1400" dirty="0">
              <a:solidFill>
                <a:srgbClr val="ABB2BF"/>
              </a:solidFill>
              <a:cs typeface="+mn-ea"/>
              <a:sym typeface="+mn-lt"/>
            </a:endParaRP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13" name="文本框 12"/>
          <p:cNvSpPr txBox="1"/>
          <p:nvPr/>
        </p:nvSpPr>
        <p:spPr>
          <a:xfrm>
            <a:off x="829087" y="988540"/>
            <a:ext cx="4654464" cy="423065"/>
          </a:xfrm>
          <a:prstGeom prst="rect">
            <a:avLst/>
          </a:prstGeom>
          <a:noFill/>
        </p:spPr>
        <p:txBody>
          <a:bodyPr vert="horz" wrap="square" rtlCol="0">
            <a:spAutoFit/>
          </a:bodyPr>
          <a:lstStyle/>
          <a:p>
            <a:pPr>
              <a:lnSpc>
                <a:spcPct val="150000"/>
              </a:lnSpc>
            </a:pPr>
            <a:r>
              <a:rPr lang="zh-CN" altLang="en-US" sz="1600" dirty="0">
                <a:cs typeface="+mn-ea"/>
                <a:sym typeface="+mn-lt"/>
              </a:rPr>
              <a:t>与 </a:t>
            </a:r>
            <a:r>
              <a:rPr lang="en-US" altLang="zh-CN" sz="1600" dirty="0">
                <a:cs typeface="+mn-ea"/>
                <a:sym typeface="+mn-lt"/>
              </a:rPr>
              <a:t>if let </a:t>
            </a:r>
            <a:r>
              <a:rPr lang="zh-CN" altLang="en-US" sz="1600" dirty="0">
                <a:cs typeface="+mn-ea"/>
                <a:sym typeface="+mn-lt"/>
              </a:rPr>
              <a:t>结构类似的是 </a:t>
            </a:r>
            <a:r>
              <a:rPr lang="en-US" altLang="zh-CN" sz="1600" dirty="0">
                <a:cs typeface="+mn-ea"/>
                <a:sym typeface="+mn-lt"/>
              </a:rPr>
              <a:t>while let </a:t>
            </a:r>
            <a:r>
              <a:rPr lang="zh-CN" altLang="en-US" sz="1600" dirty="0">
                <a:cs typeface="+mn-ea"/>
                <a:sym typeface="+mn-lt"/>
              </a:rPr>
              <a:t>条件循环</a:t>
            </a:r>
            <a:r>
              <a:rPr lang="en-US" altLang="zh-CN" sz="1600" dirty="0">
                <a:cs typeface="+mn-ea"/>
                <a:sym typeface="+mn-lt"/>
              </a:rPr>
              <a:t>:</a:t>
            </a:r>
            <a:endParaRPr lang="zh-CN" altLang="en-US" sz="1600" dirty="0">
              <a:cs typeface="+mn-ea"/>
              <a:sym typeface="+mn-lt"/>
            </a:endParaRPr>
          </a:p>
        </p:txBody>
      </p:sp>
      <p:sp>
        <p:nvSpPr>
          <p:cNvPr id="17" name="矩形 16"/>
          <p:cNvSpPr/>
          <p:nvPr/>
        </p:nvSpPr>
        <p:spPr>
          <a:xfrm>
            <a:off x="6187070" y="1443307"/>
            <a:ext cx="4377624" cy="2246769"/>
          </a:xfrm>
          <a:prstGeom prst="rect">
            <a:avLst/>
          </a:prstGeom>
          <a:solidFill>
            <a:schemeClr val="tx1"/>
          </a:solidFill>
        </p:spPr>
        <p:txBody>
          <a:bodyPr wrap="square">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 }</a:t>
            </a:r>
            <a:endParaRPr lang="en-US" altLang="zh-CN" sz="1400" dirty="0">
              <a:solidFill>
                <a:srgbClr val="C678DD"/>
              </a:solidFill>
              <a:cs typeface="+mn-ea"/>
              <a:sym typeface="+mn-lt"/>
            </a:endParaRP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points</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err="1">
                <a:solidFill>
                  <a:srgbClr val="61AFEF"/>
                </a:solidFill>
                <a:cs typeface="+mn-ea"/>
                <a:sym typeface="+mn-lt"/>
              </a:rPr>
              <a:t>vec</a:t>
            </a:r>
            <a:r>
              <a:rPr lang="en-US" altLang="zh-CN" sz="1400" dirty="0">
                <a:solidFill>
                  <a:srgbClr val="61AFEF"/>
                </a:solidFill>
                <a:cs typeface="+mn-ea"/>
                <a:sym typeface="+mn-lt"/>
              </a:rPr>
              <a:t>!</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D19A66"/>
                </a:solidFill>
                <a:cs typeface="+mn-ea"/>
                <a:sym typeface="+mn-lt"/>
              </a:rPr>
              <a:t>4</a:t>
            </a:r>
            <a:r>
              <a:rPr lang="en-US" altLang="zh-CN" sz="1400" dirty="0">
                <a:solidFill>
                  <a:srgbClr val="ABB2BF"/>
                </a:solidFill>
                <a:cs typeface="+mn-ea"/>
                <a:sym typeface="+mn-lt"/>
              </a:rPr>
              <a:t> },</a:t>
            </a:r>
          </a:p>
          <a:p>
            <a:r>
              <a:rPr lang="en-US" altLang="zh-CN" sz="1400" dirty="0">
                <a:solidFill>
                  <a:srgbClr val="ABB2BF"/>
                </a:solidFill>
                <a:cs typeface="+mn-ea"/>
                <a:sym typeface="+mn-lt"/>
              </a:rPr>
              <a:t>];</a:t>
            </a:r>
          </a:p>
          <a:p>
            <a:r>
              <a:rPr lang="en-US" altLang="zh-CN" sz="1400" dirty="0">
                <a:solidFill>
                  <a:srgbClr val="C678DD"/>
                </a:solidFill>
                <a:cs typeface="+mn-ea"/>
                <a:sym typeface="+mn-lt"/>
              </a:rPr>
              <a:t>for</a:t>
            </a:r>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 </a:t>
            </a:r>
            <a:r>
              <a:rPr lang="en-US" altLang="zh-CN" sz="1400" dirty="0">
                <a:solidFill>
                  <a:srgbClr val="C678DD"/>
                </a:solidFill>
                <a:cs typeface="+mn-ea"/>
                <a:sym typeface="+mn-lt"/>
              </a:rPr>
              <a:t>in</a:t>
            </a:r>
            <a:r>
              <a:rPr lang="en-US" altLang="zh-CN" sz="1400" dirty="0">
                <a:solidFill>
                  <a:srgbClr val="ABB2BF"/>
                </a:solidFill>
                <a:cs typeface="+mn-ea"/>
                <a:sym typeface="+mn-lt"/>
              </a:rPr>
              <a:t> </a:t>
            </a:r>
            <a:r>
              <a:rPr lang="en-US" altLang="zh-CN" sz="1400" dirty="0">
                <a:solidFill>
                  <a:srgbClr val="E06C75"/>
                </a:solidFill>
                <a:cs typeface="+mn-ea"/>
                <a:sym typeface="+mn-lt"/>
              </a:rPr>
              <a:t>points</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"x = {}, y = {}"</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18" name="文本框 17"/>
          <p:cNvSpPr txBox="1"/>
          <p:nvPr/>
        </p:nvSpPr>
        <p:spPr>
          <a:xfrm>
            <a:off x="6200375" y="1110853"/>
            <a:ext cx="4613442" cy="317387"/>
          </a:xfrm>
          <a:prstGeom prst="rect">
            <a:avLst/>
          </a:prstGeom>
          <a:noFill/>
        </p:spPr>
        <p:txBody>
          <a:bodyPr vert="horz" wrap="square" rtlCol="0">
            <a:noAutofit/>
          </a:bodyPr>
          <a:lstStyle/>
          <a:p>
            <a:r>
              <a:rPr lang="zh-CN" altLang="en-US" sz="1600" dirty="0">
                <a:cs typeface="+mn-ea"/>
                <a:sym typeface="+mn-lt"/>
              </a:rPr>
              <a:t>在 </a:t>
            </a:r>
            <a:r>
              <a:rPr lang="en-US" altLang="zh-CN" sz="1600" dirty="0">
                <a:cs typeface="+mn-ea"/>
                <a:sym typeface="+mn-lt"/>
              </a:rPr>
              <a:t>for </a:t>
            </a:r>
            <a:r>
              <a:rPr lang="zh-CN" altLang="en-US" sz="1600" dirty="0">
                <a:cs typeface="+mn-ea"/>
                <a:sym typeface="+mn-lt"/>
              </a:rPr>
              <a:t>循环中，模式是 </a:t>
            </a:r>
            <a:r>
              <a:rPr lang="en-US" altLang="zh-CN" sz="1600" dirty="0">
                <a:cs typeface="+mn-ea"/>
                <a:sym typeface="+mn-lt"/>
              </a:rPr>
              <a:t>for </a:t>
            </a:r>
            <a:r>
              <a:rPr lang="zh-CN" altLang="en-US" sz="1600" dirty="0">
                <a:cs typeface="+mn-ea"/>
                <a:sym typeface="+mn-lt"/>
              </a:rPr>
              <a:t>关键字直接跟随的值：</a:t>
            </a:r>
          </a:p>
        </p:txBody>
      </p:sp>
      <p:pic>
        <p:nvPicPr>
          <p:cNvPr id="20" name="图片 19"/>
          <p:cNvPicPr>
            <a:picLocks noChangeAspect="1"/>
          </p:cNvPicPr>
          <p:nvPr/>
        </p:nvPicPr>
        <p:blipFill>
          <a:blip r:embed="rId3"/>
          <a:stretch>
            <a:fillRect/>
          </a:stretch>
        </p:blipFill>
        <p:spPr>
          <a:xfrm>
            <a:off x="6187070" y="4137520"/>
            <a:ext cx="4377624" cy="969605"/>
          </a:xfrm>
          <a:prstGeom prst="rect">
            <a:avLst/>
          </a:prstGeom>
        </p:spPr>
      </p:pic>
      <p:sp>
        <p:nvSpPr>
          <p:cNvPr id="21" name="下箭头 20"/>
          <p:cNvSpPr/>
          <p:nvPr/>
        </p:nvSpPr>
        <p:spPr>
          <a:xfrm>
            <a:off x="8162862" y="3771800"/>
            <a:ext cx="426040" cy="274320"/>
          </a:xfrm>
          <a:prstGeom prst="down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p:cNvPicPr>
            <a:picLocks noChangeAspect="1"/>
          </p:cNvPicPr>
          <p:nvPr/>
        </p:nvPicPr>
        <p:blipFill>
          <a:blip r:embed="rId4"/>
          <a:stretch>
            <a:fillRect/>
          </a:stretch>
        </p:blipFill>
        <p:spPr>
          <a:xfrm>
            <a:off x="1176864" y="5107125"/>
            <a:ext cx="4391025" cy="933450"/>
          </a:xfrm>
          <a:prstGeom prst="rect">
            <a:avLst/>
          </a:prstGeom>
        </p:spPr>
      </p:pic>
      <p:sp>
        <p:nvSpPr>
          <p:cNvPr id="11" name="下箭头 10"/>
          <p:cNvSpPr/>
          <p:nvPr/>
        </p:nvSpPr>
        <p:spPr>
          <a:xfrm>
            <a:off x="2949375" y="4742581"/>
            <a:ext cx="426040" cy="274320"/>
          </a:xfrm>
          <a:prstGeom prst="down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40769"/>
    </mc:Choice>
    <mc:Fallback xmlns="">
      <p:transition spd="slow" advTm="40769"/>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-let</a:t>
            </a:r>
            <a:endParaRPr lang="zh-CN" altLang="en-US" b="1" dirty="0">
              <a:solidFill>
                <a:srgbClr val="C00000"/>
              </a:solidFill>
              <a:latin typeface="+mn-lt"/>
              <a:ea typeface="+mn-ea"/>
              <a:cs typeface="+mn-ea"/>
              <a:sym typeface="+mn-lt"/>
            </a:endParaRPr>
          </a:p>
        </p:txBody>
      </p:sp>
      <p:sp>
        <p:nvSpPr>
          <p:cNvPr id="5" name="文本框 4"/>
          <p:cNvSpPr txBox="1"/>
          <p:nvPr/>
        </p:nvSpPr>
        <p:spPr>
          <a:xfrm>
            <a:off x="822792" y="2097535"/>
            <a:ext cx="3182280" cy="307777"/>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D19A66"/>
                </a:solidFill>
                <a:cs typeface="+mn-ea"/>
                <a:sym typeface="+mn-lt"/>
              </a:rPr>
              <a:t>PATTERN</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EXPRESSION</a:t>
            </a:r>
            <a:r>
              <a:rPr lang="en-US" altLang="zh-CN" sz="1400" dirty="0">
                <a:solidFill>
                  <a:srgbClr val="ABB2BF"/>
                </a:solidFill>
                <a:cs typeface="+mn-ea"/>
                <a:sym typeface="+mn-lt"/>
              </a:rPr>
              <a:t>;</a:t>
            </a:r>
          </a:p>
        </p:txBody>
      </p:sp>
      <p:cxnSp>
        <p:nvCxnSpPr>
          <p:cNvPr id="6" name="直接连接符 5"/>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822791" y="1626990"/>
            <a:ext cx="3182280" cy="423514"/>
          </a:xfrm>
          <a:prstGeom prst="rect">
            <a:avLst/>
          </a:prstGeom>
          <a:noFill/>
        </p:spPr>
        <p:txBody>
          <a:bodyPr vert="horz" wrap="square" rtlCol="0">
            <a:spAutoFit/>
          </a:bodyPr>
          <a:lstStyle/>
          <a:p>
            <a:pPr algn="l">
              <a:lnSpc>
                <a:spcPct val="150000"/>
              </a:lnSpc>
            </a:pPr>
            <a:r>
              <a:rPr lang="en-US" altLang="zh-CN" sz="1600" dirty="0">
                <a:cs typeface="+mn-ea"/>
                <a:sym typeface="+mn-lt"/>
              </a:rPr>
              <a:t>let</a:t>
            </a:r>
            <a:r>
              <a:rPr lang="zh-CN" altLang="en-US" sz="1600" dirty="0">
                <a:cs typeface="+mn-ea"/>
                <a:sym typeface="+mn-lt"/>
              </a:rPr>
              <a:t>模式的正式的语法为：</a:t>
            </a:r>
          </a:p>
        </p:txBody>
      </p:sp>
      <p:sp>
        <p:nvSpPr>
          <p:cNvPr id="16" name="文本框 15"/>
          <p:cNvSpPr txBox="1"/>
          <p:nvPr/>
        </p:nvSpPr>
        <p:spPr>
          <a:xfrm>
            <a:off x="4541352" y="952699"/>
            <a:ext cx="5293277" cy="538609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dirty="0">
              <a:solidFill>
                <a:srgbClr val="FFFFFF"/>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a:solidFill>
                  <a:srgbClr val="E5C07B"/>
                </a:solidFill>
                <a:cs typeface="+mn-ea"/>
                <a:sym typeface="+mn-lt"/>
              </a:rPr>
              <a:t>Foo</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5C07B"/>
                </a:solidFill>
                <a:cs typeface="+mn-ea"/>
                <a:sym typeface="+mn-lt"/>
              </a:rPr>
              <a:t>u32</a:t>
            </a:r>
            <a:r>
              <a:rPr lang="en-US" altLang="zh-CN" sz="1400" dirty="0">
                <a:solidFill>
                  <a:srgbClr val="ABB2BF"/>
                </a:solidFill>
                <a:cs typeface="+mn-ea"/>
                <a:sym typeface="+mn-lt"/>
              </a:rPr>
              <a:t>, </a:t>
            </a:r>
            <a:r>
              <a:rPr lang="en-US" altLang="zh-CN" sz="1400" dirty="0">
                <a:solidFill>
                  <a:srgbClr val="E5C07B"/>
                </a:solidFill>
                <a:cs typeface="+mn-ea"/>
                <a:sym typeface="+mn-lt"/>
              </a:rPr>
              <a:t>u32</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u32</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i="1" dirty="0">
                <a:solidFill>
                  <a:srgbClr val="7F848E"/>
                </a:solidFill>
                <a:cs typeface="+mn-ea"/>
                <a:sym typeface="+mn-lt"/>
              </a:rPr>
              <a:t>    // </a:t>
            </a:r>
            <a:r>
              <a:rPr lang="zh-CN" altLang="en-US" sz="1400" i="1" dirty="0">
                <a:solidFill>
                  <a:srgbClr val="7F848E"/>
                </a:solidFill>
                <a:cs typeface="+mn-ea"/>
                <a:sym typeface="+mn-lt"/>
              </a:rPr>
              <a:t>解构结构体的成员</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foo</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5C07B"/>
                </a:solidFill>
                <a:cs typeface="+mn-ea"/>
                <a:sym typeface="+mn-lt"/>
              </a:rPr>
              <a:t>Foo</a:t>
            </a:r>
            <a:r>
              <a:rPr lang="en-US" altLang="zh-CN" sz="1400" dirty="0">
                <a:solidFill>
                  <a:srgbClr val="ABB2BF"/>
                </a:solidFill>
                <a:cs typeface="+mn-ea"/>
                <a:sym typeface="+mn-lt"/>
              </a:rPr>
              <a:t> {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5C07B"/>
                </a:solidFill>
                <a:cs typeface="+mn-ea"/>
                <a:sym typeface="+mn-lt"/>
              </a:rPr>
              <a:t>Foo</a:t>
            </a:r>
            <a:r>
              <a:rPr lang="en-US" altLang="zh-CN" sz="1400" dirty="0">
                <a:solidFill>
                  <a:srgbClr val="ABB2BF"/>
                </a:solidFill>
                <a:cs typeface="+mn-ea"/>
                <a:sym typeface="+mn-lt"/>
              </a:rPr>
              <a:t> {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E06C75"/>
                </a:solidFill>
                <a:cs typeface="+mn-ea"/>
                <a:sym typeface="+mn-lt"/>
              </a:rPr>
              <a:t>b</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foo</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E06C75"/>
                </a:solidFill>
                <a:cs typeface="+mn-ea"/>
                <a:sym typeface="+mn-lt"/>
              </a:rPr>
              <a:t>a</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E06C75"/>
                </a:solidFill>
                <a:cs typeface="+mn-ea"/>
                <a:sym typeface="+mn-lt"/>
              </a:rPr>
              <a:t>b</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3</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i="1" dirty="0">
                <a:solidFill>
                  <a:srgbClr val="7F848E"/>
                </a:solidFill>
                <a:cs typeface="+mn-ea"/>
                <a:sym typeface="+mn-lt"/>
              </a:rPr>
              <a:t>    // </a:t>
            </a:r>
            <a:r>
              <a:rPr lang="zh-CN" altLang="en-US" sz="1400" i="1" dirty="0">
                <a:solidFill>
                  <a:srgbClr val="7F848E"/>
                </a:solidFill>
                <a:cs typeface="+mn-ea"/>
                <a:sym typeface="+mn-lt"/>
              </a:rPr>
              <a:t>可以解构结构体并重命名变量，成员顺序并不重要</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5C07B"/>
                </a:solidFill>
                <a:cs typeface="+mn-ea"/>
                <a:sym typeface="+mn-lt"/>
              </a:rPr>
              <a:t>Foo</a:t>
            </a:r>
            <a:r>
              <a:rPr lang="en-US" altLang="zh-CN" sz="1400" dirty="0">
                <a:solidFill>
                  <a:srgbClr val="ABB2BF"/>
                </a:solidFill>
                <a:cs typeface="+mn-ea"/>
                <a:sym typeface="+mn-lt"/>
              </a:rPr>
              <a:t> {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06C75"/>
                </a:solidFill>
                <a:cs typeface="+mn-ea"/>
                <a:sym typeface="+mn-lt"/>
              </a:rPr>
              <a:t>i</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j</a:t>
            </a:r>
            <a:r>
              <a:rPr lang="en-US" altLang="zh-CN" sz="1400" dirty="0">
                <a:solidFill>
                  <a:srgbClr val="ABB2BF"/>
                </a:solidFill>
                <a:cs typeface="+mn-ea"/>
                <a:sym typeface="+mn-lt"/>
              </a:rPr>
              <a:t> }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foo</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3</a:t>
            </a:r>
            <a:r>
              <a:rPr lang="en-US" altLang="zh-CN" sz="1400" dirty="0">
                <a:solidFill>
                  <a:srgbClr val="ABB2BF"/>
                </a:solidFill>
                <a:cs typeface="+mn-ea"/>
                <a:sym typeface="+mn-lt"/>
              </a:rPr>
              <a:t>, </a:t>
            </a:r>
            <a:r>
              <a:rPr lang="en-US" altLang="zh-CN" sz="1400" dirty="0">
                <a:solidFill>
                  <a:srgbClr val="E06C75"/>
                </a:solidFill>
                <a:cs typeface="+mn-ea"/>
                <a:sym typeface="+mn-lt"/>
              </a:rPr>
              <a:t>i</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E06C75"/>
                </a:solidFill>
                <a:cs typeface="+mn-ea"/>
                <a:sym typeface="+mn-lt"/>
              </a:rPr>
              <a:t>j</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i="1" dirty="0">
                <a:solidFill>
                  <a:srgbClr val="7F848E"/>
                </a:solidFill>
                <a:cs typeface="+mn-ea"/>
                <a:sym typeface="+mn-lt"/>
              </a:rPr>
              <a:t>    // </a:t>
            </a:r>
            <a:r>
              <a:rPr lang="zh-CN" altLang="en-US" sz="1400" i="1" dirty="0">
                <a:solidFill>
                  <a:srgbClr val="7F848E"/>
                </a:solidFill>
                <a:cs typeface="+mn-ea"/>
                <a:sym typeface="+mn-lt"/>
              </a:rPr>
              <a:t>也可以忽略某些变量</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5C07B"/>
                </a:solidFill>
                <a:cs typeface="+mn-ea"/>
                <a:sym typeface="+mn-lt"/>
              </a:rPr>
              <a:t>Foo</a:t>
            </a:r>
            <a:r>
              <a:rPr lang="en-US" altLang="zh-CN" sz="1400" dirty="0">
                <a:solidFill>
                  <a:srgbClr val="ABB2BF"/>
                </a:solidFill>
                <a:cs typeface="+mn-ea"/>
                <a:sym typeface="+mn-lt"/>
              </a:rPr>
              <a:t> { </a:t>
            </a:r>
            <a:r>
              <a:rPr lang="en-US" altLang="zh-CN" sz="1400" dirty="0">
                <a:solidFill>
                  <a:srgbClr val="E06C75"/>
                </a:solidFill>
                <a:cs typeface="+mn-ea"/>
                <a:sym typeface="+mn-lt"/>
              </a:rPr>
              <a:t>y</a:t>
            </a:r>
            <a:r>
              <a:rPr lang="en-US" altLang="zh-CN" sz="1400" dirty="0">
                <a:solidFill>
                  <a:srgbClr val="ABB2BF"/>
                </a:solidFill>
                <a:cs typeface="+mn-ea"/>
                <a:sym typeface="+mn-lt"/>
              </a:rPr>
              <a:t>, .. }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foo</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D19A66"/>
                </a:solidFill>
                <a:cs typeface="+mn-ea"/>
                <a:sym typeface="+mn-lt"/>
              </a:rPr>
              <a:t>3</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a:t>
            </a:r>
          </a:p>
          <a:p>
            <a:r>
              <a:rPr lang="en-US" altLang="zh-CN" sz="1400" i="1" dirty="0">
                <a:solidFill>
                  <a:srgbClr val="7F848E"/>
                </a:solidFill>
                <a:cs typeface="+mn-ea"/>
                <a:sym typeface="+mn-lt"/>
              </a:rPr>
              <a:t>    // </a:t>
            </a:r>
            <a:r>
              <a:rPr lang="zh-CN" altLang="en-US" sz="1400" i="1" dirty="0">
                <a:solidFill>
                  <a:srgbClr val="7F848E"/>
                </a:solidFill>
                <a:cs typeface="+mn-ea"/>
                <a:sym typeface="+mn-lt"/>
              </a:rPr>
              <a:t>这将得到一个错误：模式中没有提及 </a:t>
            </a:r>
            <a:r>
              <a:rPr lang="en-US" altLang="zh-CN" sz="1400" i="1" dirty="0">
                <a:solidFill>
                  <a:srgbClr val="7F848E"/>
                </a:solidFill>
                <a:cs typeface="+mn-ea"/>
                <a:sym typeface="+mn-lt"/>
              </a:rPr>
              <a:t>x </a:t>
            </a:r>
            <a:r>
              <a:rPr lang="zh-CN" altLang="en-US" sz="1400" i="1" dirty="0">
                <a:solidFill>
                  <a:srgbClr val="7F848E"/>
                </a:solidFill>
                <a:cs typeface="+mn-ea"/>
                <a:sym typeface="+mn-lt"/>
              </a:rPr>
              <a:t>字段</a:t>
            </a:r>
            <a:endParaRPr lang="zh-CN" altLang="en-US" sz="1400" dirty="0">
              <a:solidFill>
                <a:srgbClr val="ABB2BF"/>
              </a:solidFill>
              <a:cs typeface="+mn-ea"/>
              <a:sym typeface="+mn-lt"/>
            </a:endParaRPr>
          </a:p>
          <a:p>
            <a:r>
              <a:rPr lang="zh-CN" altLang="en-US" sz="1400" i="1" dirty="0">
                <a:solidFill>
                  <a:srgbClr val="7F848E"/>
                </a:solidFill>
                <a:cs typeface="+mn-ea"/>
                <a:sym typeface="+mn-lt"/>
              </a:rPr>
              <a:t>    </a:t>
            </a:r>
            <a:r>
              <a:rPr lang="en-US" altLang="zh-CN" sz="1400" i="1" dirty="0">
                <a:solidFill>
                  <a:srgbClr val="7F848E"/>
                </a:solidFill>
                <a:cs typeface="+mn-ea"/>
                <a:sym typeface="+mn-lt"/>
              </a:rPr>
              <a:t>// let Foo { y } = foo;</a:t>
            </a:r>
            <a:endParaRPr lang="en-US" altLang="zh-CN" sz="1400" dirty="0">
              <a:solidFill>
                <a:srgbClr val="ABB2BF"/>
              </a:solidFill>
              <a:cs typeface="+mn-ea"/>
              <a:sym typeface="+mn-lt"/>
            </a:endParaRP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3" name="矩形 2"/>
          <p:cNvSpPr/>
          <p:nvPr/>
        </p:nvSpPr>
        <p:spPr>
          <a:xfrm>
            <a:off x="822791" y="2830137"/>
            <a:ext cx="3182281" cy="338554"/>
          </a:xfrm>
          <a:prstGeom prst="rect">
            <a:avLst/>
          </a:prstGeom>
        </p:spPr>
        <p:txBody>
          <a:bodyPr wrap="square">
            <a:spAutoFit/>
          </a:bodyPr>
          <a:lstStyle/>
          <a:p>
            <a:r>
              <a:rPr lang="zh-CN" altLang="en-US" sz="1600" dirty="0">
                <a:cs typeface="+mn-ea"/>
                <a:sym typeface="+mn-lt"/>
              </a:rPr>
              <a:t>使用 </a:t>
            </a:r>
            <a:r>
              <a:rPr lang="en-US" altLang="zh-CN" sz="1600" dirty="0">
                <a:cs typeface="+mn-ea"/>
                <a:sym typeface="+mn-lt"/>
              </a:rPr>
              <a:t>let </a:t>
            </a:r>
            <a:r>
              <a:rPr lang="zh-CN" altLang="en-US" sz="1600" dirty="0">
                <a:cs typeface="+mn-ea"/>
                <a:sym typeface="+mn-lt"/>
              </a:rPr>
              <a:t>和模式解构一个元组：</a:t>
            </a:r>
          </a:p>
        </p:txBody>
      </p:sp>
      <p:sp>
        <p:nvSpPr>
          <p:cNvPr id="17" name="文本框 16"/>
          <p:cNvSpPr txBox="1"/>
          <p:nvPr/>
        </p:nvSpPr>
        <p:spPr>
          <a:xfrm>
            <a:off x="822791" y="3168691"/>
            <a:ext cx="3182280" cy="954107"/>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i="1" dirty="0">
                <a:solidFill>
                  <a:srgbClr val="7F848E"/>
                </a:solidFill>
                <a:cs typeface="+mn-ea"/>
                <a:sym typeface="+mn-lt"/>
              </a:rPr>
              <a:t>// </a:t>
            </a:r>
            <a:r>
              <a:rPr lang="zh-CN" altLang="en-US" sz="1400" b="1" i="1" dirty="0">
                <a:solidFill>
                  <a:srgbClr val="00B050"/>
                </a:solidFill>
                <a:cs typeface="+mn-ea"/>
                <a:sym typeface="+mn-lt"/>
              </a:rPr>
              <a:t>正确示例</a:t>
            </a:r>
            <a:endParaRPr lang="zh-CN" altLang="en-US" sz="1400" b="1" dirty="0">
              <a:solidFill>
                <a:srgbClr val="00B050"/>
              </a:solidFill>
              <a:cs typeface="+mn-ea"/>
              <a:sym typeface="+mn-lt"/>
            </a:endParaRP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06C75"/>
                </a:solidFill>
                <a:cs typeface="+mn-ea"/>
                <a:sym typeface="+mn-lt"/>
              </a:rPr>
              <a:t>z</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a:t>
            </a:r>
          </a:p>
          <a:p>
            <a:r>
              <a:rPr lang="en-US" altLang="zh-CN" sz="1400" i="1" dirty="0">
                <a:solidFill>
                  <a:srgbClr val="7F848E"/>
                </a:solidFill>
                <a:cs typeface="+mn-ea"/>
                <a:sym typeface="+mn-lt"/>
              </a:rPr>
              <a:t>// </a:t>
            </a:r>
            <a:r>
              <a:rPr lang="zh-CN" altLang="en-US" sz="1400" b="1" i="1" dirty="0">
                <a:solidFill>
                  <a:schemeClr val="accent2"/>
                </a:solidFill>
                <a:cs typeface="+mn-ea"/>
                <a:sym typeface="+mn-lt"/>
              </a:rPr>
              <a:t>错误示例</a:t>
            </a:r>
            <a:endParaRPr lang="zh-CN" altLang="en-US" sz="1400" b="1" dirty="0">
              <a:solidFill>
                <a:schemeClr val="accent2"/>
              </a:solidFill>
              <a:cs typeface="+mn-ea"/>
              <a:sym typeface="+mn-lt"/>
            </a:endParaRP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74270"/>
    </mc:Choice>
    <mc:Fallback xmlns="">
      <p:transition spd="slow" advTm="7427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-Refutability</a:t>
            </a:r>
            <a:endParaRPr lang="zh-CN" altLang="en-US" b="1" dirty="0">
              <a:solidFill>
                <a:srgbClr val="C00000"/>
              </a:solidFill>
              <a:latin typeface="+mn-lt"/>
              <a:ea typeface="+mn-ea"/>
              <a:cs typeface="+mn-ea"/>
              <a:sym typeface="+mn-lt"/>
            </a:endParaRPr>
          </a:p>
        </p:txBody>
      </p:sp>
      <p:cxnSp>
        <p:nvCxnSpPr>
          <p:cNvPr id="13" name="直接连接符 12"/>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19872" y="1108438"/>
            <a:ext cx="5861472" cy="1383665"/>
          </a:xfrm>
          <a:prstGeom prst="rect">
            <a:avLst/>
          </a:prstGeom>
        </p:spPr>
        <p:txBody>
          <a:bodyPr wrap="square">
            <a:spAutoFit/>
          </a:bodyPr>
          <a:lstStyle/>
          <a:p>
            <a:pPr>
              <a:lnSpc>
                <a:spcPct val="150000"/>
              </a:lnSpc>
            </a:pPr>
            <a:r>
              <a:rPr lang="zh-CN" altLang="en-US" sz="1400" dirty="0">
                <a:cs typeface="+mn-ea"/>
                <a:sym typeface="+mn-lt"/>
              </a:rPr>
              <a:t>模式有两种形式：</a:t>
            </a:r>
            <a:r>
              <a:rPr lang="en-US" altLang="zh-CN" sz="1400" dirty="0">
                <a:cs typeface="+mn-ea"/>
                <a:sym typeface="+mn-lt"/>
              </a:rPr>
              <a:t>refutable</a:t>
            </a:r>
            <a:r>
              <a:rPr lang="zh-CN" altLang="en-US" sz="1400" dirty="0">
                <a:cs typeface="+mn-ea"/>
                <a:sym typeface="+mn-lt"/>
              </a:rPr>
              <a:t>（可反驳的）和 </a:t>
            </a:r>
            <a:r>
              <a:rPr lang="en-US" altLang="zh-CN" sz="1400" dirty="0">
                <a:cs typeface="+mn-ea"/>
                <a:sym typeface="+mn-lt"/>
              </a:rPr>
              <a:t>irrefutable</a:t>
            </a:r>
            <a:r>
              <a:rPr lang="zh-CN" altLang="en-US" sz="1400" dirty="0">
                <a:cs typeface="+mn-ea"/>
                <a:sym typeface="+mn-lt"/>
              </a:rPr>
              <a:t>（不可反驳的），用于处理成功匹配和可能失败的情况：</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能匹配任何传递的可能值的模式被称为是 不可反驳的；</a:t>
            </a:r>
          </a:p>
          <a:p>
            <a:pPr marL="285750" indent="-285750">
              <a:lnSpc>
                <a:spcPct val="150000"/>
              </a:lnSpc>
              <a:buFont typeface="Arial" panose="020B0604020202020204" pitchFamily="34" charset="0"/>
              <a:buChar char="•"/>
            </a:pPr>
            <a:r>
              <a:rPr lang="zh-CN" altLang="en-US" sz="1400" dirty="0">
                <a:cs typeface="+mn-ea"/>
                <a:sym typeface="+mn-lt"/>
              </a:rPr>
              <a:t>对某些可能的值进行匹配会失败的模式被称为是 可反驳的；</a:t>
            </a:r>
          </a:p>
        </p:txBody>
      </p:sp>
      <p:sp>
        <p:nvSpPr>
          <p:cNvPr id="6" name="文本框 5"/>
          <p:cNvSpPr txBox="1"/>
          <p:nvPr/>
        </p:nvSpPr>
        <p:spPr>
          <a:xfrm>
            <a:off x="6181344" y="881590"/>
            <a:ext cx="5413537" cy="2769989"/>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altLang="zh-CN" sz="1200" dirty="0">
              <a:solidFill>
                <a:srgbClr val="FFFFFF"/>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不可反驳示例</a:t>
            </a:r>
            <a:endParaRPr lang="zh-CN" altLang="en-US" sz="1200" dirty="0">
              <a:solidFill>
                <a:srgbClr val="ABB2BF"/>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语句中的 </a:t>
            </a:r>
            <a:r>
              <a:rPr lang="en-US" altLang="zh-CN" sz="1200" i="1" dirty="0">
                <a:solidFill>
                  <a:srgbClr val="7F848E"/>
                </a:solidFill>
                <a:cs typeface="+mn-ea"/>
                <a:sym typeface="+mn-lt"/>
              </a:rPr>
              <a:t>x</a:t>
            </a:r>
            <a:r>
              <a:rPr lang="zh-CN" altLang="en-US" sz="1200" i="1" dirty="0">
                <a:solidFill>
                  <a:srgbClr val="7F848E"/>
                </a:solidFill>
                <a:cs typeface="+mn-ea"/>
                <a:sym typeface="+mn-lt"/>
              </a:rPr>
              <a:t>，因为 </a:t>
            </a:r>
            <a:r>
              <a:rPr lang="en-US" altLang="zh-CN" sz="1200" i="1" dirty="0">
                <a:solidFill>
                  <a:srgbClr val="7F848E"/>
                </a:solidFill>
                <a:cs typeface="+mn-ea"/>
                <a:sym typeface="+mn-lt"/>
              </a:rPr>
              <a:t>x </a:t>
            </a:r>
            <a:r>
              <a:rPr lang="zh-CN" altLang="en-US" sz="1200" i="1" dirty="0">
                <a:solidFill>
                  <a:srgbClr val="7F848E"/>
                </a:solidFill>
                <a:cs typeface="+mn-ea"/>
                <a:sym typeface="+mn-lt"/>
              </a:rPr>
              <a:t>可以匹配任何值所以不可能会失败</a:t>
            </a:r>
            <a:endParaRPr lang="zh-CN" altLang="en-US" sz="1200" dirty="0">
              <a:solidFill>
                <a:srgbClr val="ABB2BF"/>
              </a:solidFill>
              <a:cs typeface="+mn-ea"/>
              <a:sym typeface="+mn-lt"/>
            </a:endParaRP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5</a:t>
            </a:r>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zh-CN" sz="1200" b="0" i="1" u="none" dirty="0">
                <a:solidFill>
                  <a:srgbClr val="7F848E"/>
                </a:solidFill>
                <a:cs typeface="+mn-ea"/>
                <a:sym typeface="+mn-lt"/>
              </a:rPr>
              <a:t>// 定义枚举类型</a:t>
            </a:r>
            <a:endParaRPr lang="en-US" sz="1200" b="0" u="none" dirty="0">
              <a:solidFill>
                <a:srgbClr val="C678DD"/>
              </a:solidFill>
              <a:cs typeface="+mn-ea"/>
              <a:sym typeface="+mn-lt"/>
            </a:endParaRPr>
          </a:p>
          <a:p>
            <a:r>
              <a:rPr lang="en-US" sz="1200" b="0" u="none" dirty="0" err="1">
                <a:solidFill>
                  <a:srgbClr val="C678DD"/>
                </a:solidFill>
                <a:cs typeface="+mn-ea"/>
                <a:sym typeface="+mn-lt"/>
              </a:rPr>
              <a:t>enum</a:t>
            </a:r>
            <a:r>
              <a:rPr lang="en-US" sz="1200" b="0" u="none" dirty="0">
                <a:solidFill>
                  <a:srgbClr val="ABB2BF"/>
                </a:solidFill>
                <a:cs typeface="+mn-ea"/>
                <a:sym typeface="+mn-lt"/>
              </a:rPr>
              <a:t> </a:t>
            </a:r>
            <a:r>
              <a:rPr lang="en-US" sz="1200" b="0" u="none" dirty="0">
                <a:solidFill>
                  <a:srgbClr val="E5C07B"/>
                </a:solidFill>
                <a:cs typeface="+mn-ea"/>
                <a:sym typeface="+mn-lt"/>
              </a:rPr>
              <a:t>Option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56B6C2"/>
                </a:solidFill>
                <a:cs typeface="+mn-ea"/>
                <a:sym typeface="+mn-lt"/>
              </a:rPr>
              <a:t>Some</a:t>
            </a:r>
            <a:r>
              <a:rPr lang="en-US" sz="1200" b="0" u="none" dirty="0">
                <a:solidFill>
                  <a:srgbClr val="ABB2BF"/>
                </a:solidFill>
                <a:cs typeface="+mn-ea"/>
                <a:sym typeface="+mn-lt"/>
              </a:rPr>
              <a:t>(</a:t>
            </a:r>
            <a:r>
              <a:rPr lang="en-US" sz="1200" b="0" u="none" dirty="0">
                <a:solidFill>
                  <a:srgbClr val="E5C07B"/>
                </a:solidFill>
                <a:cs typeface="+mn-ea"/>
                <a:sym typeface="+mn-lt"/>
              </a:rPr>
              <a:t>i32</a:t>
            </a:r>
            <a:r>
              <a:rPr lang="en-US" sz="1200" b="0" u="none" dirty="0">
                <a:solidFill>
                  <a:srgbClr val="ABB2BF"/>
                </a:solidFill>
                <a:cs typeface="+mn-ea"/>
                <a:sym typeface="+mn-lt"/>
              </a:rPr>
              <a:t>), </a:t>
            </a:r>
            <a:r>
              <a:rPr lang="zh-CN" sz="1200" b="0" i="1" u="none" dirty="0">
                <a:solidFill>
                  <a:srgbClr val="7F848E"/>
                </a:solidFill>
                <a:cs typeface="+mn-ea"/>
                <a:sym typeface="+mn-lt"/>
              </a:rPr>
              <a:t>// 表示有一个类型为 i32 的值</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a:solidFill>
                  <a:srgbClr val="56B6C2"/>
                </a:solidFill>
                <a:cs typeface="+mn-ea"/>
                <a:sym typeface="+mn-lt"/>
              </a:rPr>
              <a:t>None</a:t>
            </a:r>
            <a:r>
              <a:rPr lang="en-US" sz="1200" b="0" u="none" dirty="0">
                <a:solidFill>
                  <a:srgbClr val="ABB2BF"/>
                </a:solidFill>
                <a:cs typeface="+mn-ea"/>
                <a:sym typeface="+mn-lt"/>
              </a:rPr>
              <a:t>, </a:t>
            </a:r>
            <a:r>
              <a:rPr lang="en-US" sz="1200" b="0" i="1" u="none" dirty="0">
                <a:solidFill>
                  <a:srgbClr val="7F848E"/>
                </a:solidFill>
                <a:cs typeface="+mn-ea"/>
                <a:sym typeface="+mn-lt"/>
              </a:rPr>
              <a:t>     </a:t>
            </a:r>
            <a:r>
              <a:rPr lang="zh-CN" sz="1200" b="0" i="1" u="none" dirty="0">
                <a:solidFill>
                  <a:srgbClr val="7F848E"/>
                </a:solidFill>
                <a:cs typeface="+mn-ea"/>
                <a:sym typeface="+mn-lt"/>
              </a:rPr>
              <a:t>// 表示空值</a:t>
            </a:r>
            <a:endParaRPr lang="en-US" sz="1200" b="0" u="none" dirty="0">
              <a:solidFill>
                <a:srgbClr val="ABB2BF"/>
              </a:solidFill>
              <a:cs typeface="+mn-ea"/>
              <a:sym typeface="+mn-lt"/>
            </a:endParaRPr>
          </a:p>
          <a:p>
            <a:r>
              <a:rPr lang="en-US" sz="1200" b="0" u="none" dirty="0">
                <a:solidFill>
                  <a:srgbClr val="ABB2BF"/>
                </a:solidFill>
                <a:cs typeface="+mn-ea"/>
                <a:sym typeface="+mn-lt"/>
              </a:rPr>
              <a:t>}</a:t>
            </a:r>
          </a:p>
          <a:p>
            <a:endParaRPr lang="zh-CN" sz="1200" b="0" i="1" u="none" dirty="0">
              <a:solidFill>
                <a:srgbClr val="7F848E"/>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可反驳示例</a:t>
            </a:r>
            <a:endParaRPr lang="zh-CN" altLang="en-US" sz="1200" dirty="0">
              <a:solidFill>
                <a:srgbClr val="ABB2BF"/>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如果 </a:t>
            </a:r>
            <a:r>
              <a:rPr lang="en-US" altLang="zh-CN" sz="1200" i="1" dirty="0" err="1">
                <a:solidFill>
                  <a:srgbClr val="7F848E"/>
                </a:solidFill>
                <a:cs typeface="+mn-ea"/>
                <a:sym typeface="+mn-lt"/>
              </a:rPr>
              <a:t>a_value</a:t>
            </a:r>
            <a:r>
              <a:rPr lang="en-US" altLang="zh-CN" sz="1200" i="1" dirty="0">
                <a:solidFill>
                  <a:srgbClr val="7F848E"/>
                </a:solidFill>
                <a:cs typeface="+mn-ea"/>
                <a:sym typeface="+mn-lt"/>
              </a:rPr>
              <a:t> </a:t>
            </a:r>
            <a:r>
              <a:rPr lang="zh-CN" altLang="en-US" sz="1200" i="1" dirty="0">
                <a:solidFill>
                  <a:srgbClr val="7F848E"/>
                </a:solidFill>
                <a:cs typeface="+mn-ea"/>
                <a:sym typeface="+mn-lt"/>
              </a:rPr>
              <a:t>中的值是 </a:t>
            </a:r>
            <a:r>
              <a:rPr lang="en-US" altLang="zh-CN" sz="1200" i="1" dirty="0">
                <a:solidFill>
                  <a:srgbClr val="7F848E"/>
                </a:solidFill>
                <a:cs typeface="+mn-ea"/>
                <a:sym typeface="+mn-lt"/>
              </a:rPr>
              <a:t>None</a:t>
            </a:r>
            <a:r>
              <a:rPr lang="zh-CN" altLang="en-US" sz="1200" i="1" dirty="0">
                <a:solidFill>
                  <a:srgbClr val="7F848E"/>
                </a:solidFill>
                <a:cs typeface="+mn-ea"/>
                <a:sym typeface="+mn-lt"/>
              </a:rPr>
              <a:t>，那么 </a:t>
            </a:r>
            <a:r>
              <a:rPr lang="en-US" altLang="zh-CN" sz="1200" i="1" dirty="0">
                <a:solidFill>
                  <a:srgbClr val="7F848E"/>
                </a:solidFill>
                <a:cs typeface="+mn-ea"/>
                <a:sym typeface="+mn-lt"/>
              </a:rPr>
              <a:t>Some(x) </a:t>
            </a:r>
            <a:r>
              <a:rPr lang="zh-CN" altLang="en-US" sz="1200" i="1" dirty="0">
                <a:solidFill>
                  <a:srgbClr val="7F848E"/>
                </a:solidFill>
                <a:cs typeface="+mn-ea"/>
                <a:sym typeface="+mn-lt"/>
              </a:rPr>
              <a:t>模式不能匹配</a:t>
            </a:r>
            <a:endParaRPr lang="zh-CN" altLang="en-US" sz="1200" dirty="0">
              <a:solidFill>
                <a:srgbClr val="ABB2BF"/>
              </a:solidFill>
              <a:cs typeface="+mn-ea"/>
              <a:sym typeface="+mn-lt"/>
            </a:endParaRPr>
          </a:p>
          <a:p>
            <a:r>
              <a:rPr lang="en-US" sz="1200" b="0" u="none" dirty="0">
                <a:solidFill>
                  <a:srgbClr val="C678DD"/>
                </a:solidFill>
                <a:cs typeface="+mn-ea"/>
                <a:sym typeface="+mn-lt"/>
              </a:rPr>
              <a:t>if</a:t>
            </a:r>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56B6C2"/>
                </a:solidFill>
                <a:cs typeface="+mn-ea"/>
                <a:sym typeface="+mn-lt"/>
              </a:rPr>
              <a:t>Some</a:t>
            </a:r>
            <a:r>
              <a:rPr lang="en-US" sz="1200" b="0" u="none" dirty="0">
                <a:solidFill>
                  <a:srgbClr val="ABB2BF"/>
                </a:solidFill>
                <a:cs typeface="+mn-ea"/>
                <a:sym typeface="+mn-lt"/>
              </a:rPr>
              <a:t>(</a:t>
            </a:r>
            <a:r>
              <a:rPr lang="en-US" sz="1200" b="0" u="none" dirty="0">
                <a:solidFill>
                  <a:srgbClr val="E06C75"/>
                </a:solidFill>
                <a:cs typeface="+mn-ea"/>
                <a:sym typeface="+mn-lt"/>
              </a:rPr>
              <a:t>x</a:t>
            </a:r>
            <a:r>
              <a:rPr lang="en-US" sz="1200" b="0" u="none" dirty="0">
                <a:solidFill>
                  <a:srgbClr val="ABB2BF"/>
                </a:solidFill>
                <a:cs typeface="+mn-ea"/>
                <a:sym typeface="+mn-lt"/>
              </a:rPr>
              <a:t>) = </a:t>
            </a:r>
            <a:r>
              <a:rPr lang="en-US" sz="1200" b="0" u="none" dirty="0" err="1">
                <a:solidFill>
                  <a:srgbClr val="E06C75"/>
                </a:solidFill>
                <a:cs typeface="+mn-ea"/>
                <a:sym typeface="+mn-lt"/>
              </a:rPr>
              <a:t>a_value</a:t>
            </a:r>
            <a:r>
              <a:rPr lang="en-US" sz="1200" b="0" u="none" dirty="0">
                <a:solidFill>
                  <a:srgbClr val="ABB2BF"/>
                </a:solidFill>
                <a:cs typeface="+mn-ea"/>
                <a:sym typeface="+mn-lt"/>
              </a:rPr>
              <a:t> </a:t>
            </a:r>
            <a:endParaRPr lang="en-US" altLang="zh-CN" sz="1200" b="0" i="1" u="none" dirty="0">
              <a:solidFill>
                <a:srgbClr val="ABB2BF"/>
              </a:solidFill>
              <a:effectLst/>
              <a:cs typeface="+mn-ea"/>
              <a:sym typeface="+mn-lt"/>
            </a:endParaRPr>
          </a:p>
        </p:txBody>
      </p:sp>
      <p:sp>
        <p:nvSpPr>
          <p:cNvPr id="3" name="矩形 2"/>
          <p:cNvSpPr/>
          <p:nvPr/>
        </p:nvSpPr>
        <p:spPr>
          <a:xfrm>
            <a:off x="319872" y="3633126"/>
            <a:ext cx="4755048" cy="2031325"/>
          </a:xfrm>
          <a:prstGeom prst="rect">
            <a:avLst/>
          </a:prstGeom>
        </p:spPr>
        <p:txBody>
          <a:bodyPr wrap="square">
            <a:spAutoFit/>
          </a:bodyPr>
          <a:lstStyle/>
          <a:p>
            <a:pPr>
              <a:lnSpc>
                <a:spcPct val="150000"/>
              </a:lnSpc>
            </a:pPr>
            <a:r>
              <a:rPr lang="zh-CN" altLang="en-US" sz="1400" dirty="0">
                <a:cs typeface="+mn-ea"/>
                <a:sym typeface="+mn-lt"/>
              </a:rPr>
              <a:t>函数参数、 </a:t>
            </a:r>
            <a:r>
              <a:rPr lang="en-US" altLang="zh-CN" sz="1400" dirty="0">
                <a:cs typeface="+mn-ea"/>
                <a:sym typeface="+mn-lt"/>
              </a:rPr>
              <a:t>let</a:t>
            </a:r>
            <a:r>
              <a:rPr lang="zh-CN" altLang="en-US" sz="1400" dirty="0">
                <a:cs typeface="+mn-ea"/>
                <a:sym typeface="+mn-lt"/>
              </a:rPr>
              <a:t> 语句和 </a:t>
            </a:r>
            <a:r>
              <a:rPr lang="en-US" altLang="zh-CN" sz="1400" dirty="0">
                <a:cs typeface="+mn-ea"/>
                <a:sym typeface="+mn-lt"/>
              </a:rPr>
              <a:t>for</a:t>
            </a:r>
            <a:r>
              <a:rPr lang="zh-CN" altLang="en-US" sz="1400" dirty="0">
                <a:cs typeface="+mn-ea"/>
                <a:sym typeface="+mn-lt"/>
              </a:rPr>
              <a:t> 循环只能接受不可反驳的模式，因为通过不匹配的值程序无法进行有意义的工作。</a:t>
            </a:r>
            <a:endParaRPr lang="en-US" altLang="zh-CN" sz="1400" dirty="0">
              <a:cs typeface="+mn-ea"/>
              <a:sym typeface="+mn-lt"/>
            </a:endParaRPr>
          </a:p>
          <a:p>
            <a:pPr>
              <a:lnSpc>
                <a:spcPct val="150000"/>
              </a:lnSpc>
            </a:pPr>
            <a:endParaRPr lang="en-US" altLang="zh-CN" sz="1400" dirty="0">
              <a:cs typeface="+mn-ea"/>
              <a:sym typeface="+mn-lt"/>
            </a:endParaRPr>
          </a:p>
          <a:p>
            <a:pPr>
              <a:lnSpc>
                <a:spcPct val="150000"/>
              </a:lnSpc>
            </a:pPr>
            <a:r>
              <a:rPr lang="en-US" altLang="zh-CN" sz="1400" dirty="0">
                <a:cs typeface="+mn-ea"/>
                <a:sym typeface="+mn-lt"/>
              </a:rPr>
              <a:t>if let </a:t>
            </a:r>
            <a:r>
              <a:rPr lang="zh-CN" altLang="en-US" sz="1400" dirty="0">
                <a:cs typeface="+mn-ea"/>
                <a:sym typeface="+mn-lt"/>
              </a:rPr>
              <a:t>和 </a:t>
            </a:r>
            <a:r>
              <a:rPr lang="en-US" altLang="zh-CN" sz="1400" dirty="0">
                <a:cs typeface="+mn-ea"/>
                <a:sym typeface="+mn-lt"/>
              </a:rPr>
              <a:t>while let </a:t>
            </a:r>
            <a:r>
              <a:rPr lang="zh-CN" altLang="en-US" sz="1400" dirty="0">
                <a:cs typeface="+mn-ea"/>
                <a:sym typeface="+mn-lt"/>
              </a:rPr>
              <a:t>表达式被限制为只能接受可反驳的模式，因为根据定义他们意在处理可能的失败：条件表达式的功能就是根据成功或失败执行不同的操作。</a:t>
            </a:r>
          </a:p>
        </p:txBody>
      </p:sp>
      <p:sp>
        <p:nvSpPr>
          <p:cNvPr id="9" name="文本框 8"/>
          <p:cNvSpPr txBox="1"/>
          <p:nvPr/>
        </p:nvSpPr>
        <p:spPr>
          <a:xfrm>
            <a:off x="5259901" y="3717956"/>
            <a:ext cx="6391656" cy="2677656"/>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200" dirty="0">
                <a:solidFill>
                  <a:srgbClr val="FFFFFF"/>
                </a:solidFill>
                <a:cs typeface="+mn-ea"/>
                <a:sym typeface="+mn-lt"/>
              </a:rPr>
              <a:t>// </a:t>
            </a:r>
            <a:r>
              <a:rPr lang="zh-CN" altLang="en-US" sz="1200" b="1" dirty="0">
                <a:solidFill>
                  <a:srgbClr val="00B050"/>
                </a:solidFill>
                <a:cs typeface="+mn-ea"/>
                <a:sym typeface="+mn-lt"/>
              </a:rPr>
              <a:t>代码示例</a:t>
            </a:r>
            <a:endParaRPr lang="en-US" sz="1200" b="0" u="none" dirty="0">
              <a:solidFill>
                <a:srgbClr val="C678DD"/>
              </a:solidFill>
              <a:cs typeface="+mn-ea"/>
              <a:sym typeface="+mn-lt"/>
            </a:endParaRPr>
          </a:p>
          <a:p>
            <a:r>
              <a:rPr lang="en-US" altLang="zh-CN" sz="1200" dirty="0" err="1">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E06C75"/>
                </a:solidFill>
                <a:cs typeface="+mn-ea"/>
                <a:sym typeface="+mn-lt"/>
              </a:rPr>
              <a:t>some_option_value</a:t>
            </a:r>
            <a:r>
              <a:rPr lang="en-US" altLang="zh-CN" sz="1200" dirty="0">
                <a:solidFill>
                  <a:srgbClr val="ABB2BF"/>
                </a:solidFill>
                <a:cs typeface="+mn-ea"/>
                <a:sym typeface="+mn-lt"/>
              </a:rPr>
              <a:t>: </a:t>
            </a:r>
            <a:r>
              <a:rPr lang="en-US" altLang="zh-CN" sz="1200" dirty="0">
                <a:solidFill>
                  <a:srgbClr val="E5C07B"/>
                </a:solidFill>
                <a:cs typeface="+mn-ea"/>
                <a:sym typeface="+mn-lt"/>
              </a:rPr>
              <a:t>Option</a:t>
            </a:r>
            <a:r>
              <a:rPr lang="en-US" altLang="zh-CN" sz="1200" dirty="0">
                <a:solidFill>
                  <a:srgbClr val="ABB2BF"/>
                </a:solidFill>
                <a:cs typeface="+mn-ea"/>
                <a:sym typeface="+mn-lt"/>
              </a:rPr>
              <a:t> = </a:t>
            </a:r>
            <a:r>
              <a:rPr lang="en-US" altLang="zh-CN" sz="1200" dirty="0">
                <a:solidFill>
                  <a:srgbClr val="E5C07B"/>
                </a:solidFill>
                <a:cs typeface="+mn-ea"/>
                <a:sym typeface="+mn-lt"/>
              </a:rPr>
              <a:t>Option</a:t>
            </a:r>
            <a:r>
              <a:rPr lang="en-US" altLang="zh-CN" sz="1200" dirty="0">
                <a:solidFill>
                  <a:srgbClr val="ABB2BF"/>
                </a:solidFill>
                <a:cs typeface="+mn-ea"/>
                <a:sym typeface="+mn-lt"/>
              </a:rPr>
              <a:t>::</a:t>
            </a:r>
            <a:r>
              <a:rPr lang="en-US" altLang="zh-CN" sz="1200" dirty="0">
                <a:solidFill>
                  <a:srgbClr val="56B6C2"/>
                </a:solidFill>
                <a:cs typeface="+mn-ea"/>
                <a:sym typeface="+mn-lt"/>
              </a:rPr>
              <a:t>None</a:t>
            </a:r>
            <a:r>
              <a:rPr lang="en-US" altLang="zh-CN" sz="1200" dirty="0">
                <a:solidFill>
                  <a:srgbClr val="ABB2BF"/>
                </a:solidFill>
                <a:cs typeface="+mn-ea"/>
                <a:sym typeface="+mn-lt"/>
              </a:rPr>
              <a:t>;</a:t>
            </a:r>
          </a:p>
          <a:p>
            <a:r>
              <a:rPr lang="en-US" altLang="zh-CN" sz="1200" i="1" dirty="0">
                <a:solidFill>
                  <a:srgbClr val="7F848E"/>
                </a:solidFill>
                <a:cs typeface="+mn-ea"/>
                <a:sym typeface="+mn-lt"/>
              </a:rPr>
              <a:t>    // </a:t>
            </a:r>
            <a:r>
              <a:rPr lang="en-US" altLang="zh-CN" sz="1200" i="1" dirty="0" err="1">
                <a:solidFill>
                  <a:srgbClr val="7F848E"/>
                </a:solidFill>
                <a:cs typeface="+mn-ea"/>
                <a:sym typeface="+mn-lt"/>
              </a:rPr>
              <a:t>some_option_value</a:t>
            </a:r>
            <a:r>
              <a:rPr lang="en-US" altLang="zh-CN" sz="1200" i="1" dirty="0">
                <a:solidFill>
                  <a:srgbClr val="7F848E"/>
                </a:solidFill>
                <a:cs typeface="+mn-ea"/>
                <a:sym typeface="+mn-lt"/>
              </a:rPr>
              <a:t> </a:t>
            </a:r>
            <a:r>
              <a:rPr lang="zh-CN" altLang="en-US" sz="1200" i="1" dirty="0">
                <a:solidFill>
                  <a:srgbClr val="7F848E"/>
                </a:solidFill>
                <a:cs typeface="+mn-ea"/>
                <a:sym typeface="+mn-lt"/>
              </a:rPr>
              <a:t>的值是 </a:t>
            </a:r>
            <a:r>
              <a:rPr lang="en-US" altLang="zh-CN" sz="1200" i="1" dirty="0">
                <a:solidFill>
                  <a:srgbClr val="7F848E"/>
                </a:solidFill>
                <a:cs typeface="+mn-ea"/>
                <a:sym typeface="+mn-lt"/>
              </a:rPr>
              <a:t>None</a:t>
            </a:r>
            <a:r>
              <a:rPr lang="zh-CN" altLang="en-US" sz="1200" i="1" dirty="0">
                <a:solidFill>
                  <a:srgbClr val="7F848E"/>
                </a:solidFill>
                <a:cs typeface="+mn-ea"/>
                <a:sym typeface="+mn-lt"/>
              </a:rPr>
              <a:t>，其不会成功匹配模式 </a:t>
            </a:r>
            <a:r>
              <a:rPr lang="en-US" altLang="zh-CN" sz="1200" i="1" dirty="0">
                <a:solidFill>
                  <a:srgbClr val="7F848E"/>
                </a:solidFill>
                <a:cs typeface="+mn-ea"/>
                <a:sym typeface="+mn-lt"/>
              </a:rPr>
              <a:t>Some(x)</a:t>
            </a:r>
            <a:endParaRPr lang="en-US" altLang="zh-CN" sz="1200" dirty="0">
              <a:solidFill>
                <a:srgbClr val="ABB2BF"/>
              </a:solidFill>
              <a:cs typeface="+mn-ea"/>
              <a:sym typeface="+mn-lt"/>
            </a:endParaRPr>
          </a:p>
          <a:p>
            <a:r>
              <a:rPr lang="en-US" altLang="zh-CN" sz="1200" i="1" dirty="0">
                <a:solidFill>
                  <a:srgbClr val="7F848E"/>
                </a:solidFill>
                <a:cs typeface="+mn-ea"/>
                <a:sym typeface="+mn-lt"/>
              </a:rPr>
              <a:t>    // </a:t>
            </a:r>
            <a:r>
              <a:rPr lang="zh-CN" altLang="en-US" sz="1200" i="1" dirty="0">
                <a:solidFill>
                  <a:srgbClr val="7F848E"/>
                </a:solidFill>
                <a:cs typeface="+mn-ea"/>
                <a:sym typeface="+mn-lt"/>
              </a:rPr>
              <a:t>因为 </a:t>
            </a:r>
            <a:r>
              <a:rPr lang="en-US" altLang="zh-CN" sz="1200" i="1" dirty="0">
                <a:solidFill>
                  <a:srgbClr val="7F848E"/>
                </a:solidFill>
                <a:cs typeface="+mn-ea"/>
                <a:sym typeface="+mn-lt"/>
              </a:rPr>
              <a:t>let </a:t>
            </a:r>
            <a:r>
              <a:rPr lang="zh-CN" altLang="en-US" sz="1200" i="1" dirty="0">
                <a:solidFill>
                  <a:srgbClr val="7F848E"/>
                </a:solidFill>
                <a:cs typeface="+mn-ea"/>
                <a:sym typeface="+mn-lt"/>
              </a:rPr>
              <a:t>对于 </a:t>
            </a:r>
            <a:r>
              <a:rPr lang="en-US" altLang="zh-CN" sz="1200" i="1" dirty="0">
                <a:solidFill>
                  <a:srgbClr val="7F848E"/>
                </a:solidFill>
                <a:cs typeface="+mn-ea"/>
                <a:sym typeface="+mn-lt"/>
              </a:rPr>
              <a:t>None </a:t>
            </a:r>
            <a:r>
              <a:rPr lang="zh-CN" altLang="en-US" sz="1200" i="1" dirty="0">
                <a:solidFill>
                  <a:srgbClr val="7F848E"/>
                </a:solidFill>
                <a:cs typeface="+mn-ea"/>
                <a:sym typeface="+mn-lt"/>
              </a:rPr>
              <a:t>匹配不能产生任何合法的代码，</a:t>
            </a:r>
            <a:endParaRPr lang="zh-CN" altLang="en-US" sz="1200" dirty="0">
              <a:solidFill>
                <a:srgbClr val="ABB2BF"/>
              </a:solidFill>
              <a:cs typeface="+mn-ea"/>
              <a:sym typeface="+mn-lt"/>
            </a:endParaRPr>
          </a:p>
          <a:p>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所以 </a:t>
            </a:r>
            <a:r>
              <a:rPr lang="en-US" altLang="zh-CN" sz="1200" i="1" dirty="0">
                <a:solidFill>
                  <a:srgbClr val="7F848E"/>
                </a:solidFill>
                <a:cs typeface="+mn-ea"/>
                <a:sym typeface="+mn-lt"/>
              </a:rPr>
              <a:t>let </a:t>
            </a:r>
            <a:r>
              <a:rPr lang="zh-CN" altLang="en-US" sz="1200" i="1" dirty="0">
                <a:solidFill>
                  <a:srgbClr val="7F848E"/>
                </a:solidFill>
                <a:cs typeface="+mn-ea"/>
                <a:sym typeface="+mn-lt"/>
              </a:rPr>
              <a:t>语句只能接受不可反驳模式</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5C07B"/>
                </a:solidFill>
                <a:cs typeface="+mn-ea"/>
                <a:sym typeface="+mn-lt"/>
              </a:rPr>
              <a:t>Option</a:t>
            </a:r>
            <a:r>
              <a:rPr lang="en-US" altLang="zh-CN" sz="1200" dirty="0">
                <a:solidFill>
                  <a:srgbClr val="ABB2BF"/>
                </a:solidFill>
                <a:cs typeface="+mn-ea"/>
                <a:sym typeface="+mn-lt"/>
              </a:rPr>
              <a:t>::</a:t>
            </a:r>
            <a:r>
              <a:rPr lang="en-US" altLang="zh-CN" sz="1200" dirty="0">
                <a:solidFill>
                  <a:srgbClr val="56B6C2"/>
                </a:solidFill>
                <a:cs typeface="+mn-ea"/>
                <a:sym typeface="+mn-lt"/>
              </a:rPr>
              <a:t>Some</a:t>
            </a:r>
            <a:r>
              <a:rPr lang="en-US" altLang="zh-CN" sz="1200" dirty="0">
                <a:solidFill>
                  <a:srgbClr val="ABB2BF"/>
                </a:solidFill>
                <a:cs typeface="+mn-ea"/>
                <a:sym typeface="+mn-lt"/>
              </a:rPr>
              <a:t>(</a:t>
            </a:r>
            <a:r>
              <a:rPr lang="en-US" altLang="zh-CN" sz="1200" dirty="0">
                <a:solidFill>
                  <a:srgbClr val="E06C75"/>
                </a:solidFill>
                <a:cs typeface="+mn-ea"/>
                <a:sym typeface="+mn-lt"/>
              </a:rPr>
              <a:t>x</a:t>
            </a:r>
            <a:r>
              <a:rPr lang="en-US" altLang="zh-CN" sz="1200" dirty="0">
                <a:solidFill>
                  <a:srgbClr val="ABB2BF"/>
                </a:solidFill>
                <a:cs typeface="+mn-ea"/>
                <a:sym typeface="+mn-lt"/>
              </a:rPr>
              <a:t>) = </a:t>
            </a:r>
            <a:r>
              <a:rPr lang="en-US" altLang="zh-CN" sz="1200" dirty="0" err="1">
                <a:solidFill>
                  <a:srgbClr val="E06C75"/>
                </a:solidFill>
                <a:cs typeface="+mn-ea"/>
                <a:sym typeface="+mn-lt"/>
              </a:rPr>
              <a:t>some_option_value</a:t>
            </a:r>
            <a:r>
              <a:rPr lang="en-US" altLang="zh-CN" sz="1200" dirty="0">
                <a:solidFill>
                  <a:srgbClr val="ABB2BF"/>
                </a:solidFill>
                <a:cs typeface="+mn-ea"/>
                <a:sym typeface="+mn-lt"/>
              </a:rPr>
              <a:t>;</a:t>
            </a:r>
            <a:r>
              <a:rPr lang="en-US" altLang="zh-CN" sz="1200" i="1" dirty="0">
                <a:solidFill>
                  <a:srgbClr val="7F848E"/>
                </a:solidFill>
                <a:cs typeface="+mn-ea"/>
                <a:sym typeface="+mn-lt"/>
              </a:rPr>
              <a:t> // error</a:t>
            </a:r>
          </a:p>
          <a:p>
            <a:endParaRPr lang="en-US" altLang="zh-CN" sz="1200" dirty="0">
              <a:solidFill>
                <a:srgbClr val="ABB2BF"/>
              </a:solidFill>
              <a:cs typeface="+mn-ea"/>
              <a:sym typeface="+mn-lt"/>
            </a:endParaRPr>
          </a:p>
          <a:p>
            <a:r>
              <a:rPr lang="en-US" altLang="zh-CN" sz="1200" i="1" dirty="0">
                <a:solidFill>
                  <a:srgbClr val="7F848E"/>
                </a:solidFill>
                <a:cs typeface="+mn-ea"/>
                <a:sym typeface="+mn-lt"/>
              </a:rPr>
              <a:t>    // </a:t>
            </a:r>
            <a:r>
              <a:rPr lang="zh-CN" altLang="en-US" sz="1200" i="1" dirty="0">
                <a:solidFill>
                  <a:srgbClr val="7F848E"/>
                </a:solidFill>
                <a:cs typeface="+mn-ea"/>
                <a:sym typeface="+mn-lt"/>
              </a:rPr>
              <a:t>如果模式不匹配，大括号中的代码将被忽略</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E06C75"/>
                </a:solidFill>
                <a:cs typeface="+mn-ea"/>
                <a:sym typeface="+mn-lt"/>
              </a:rPr>
              <a:t>some_option_value</a:t>
            </a:r>
            <a:r>
              <a:rPr lang="en-US" altLang="zh-CN" sz="1200" dirty="0">
                <a:solidFill>
                  <a:srgbClr val="ABB2BF"/>
                </a:solidFill>
                <a:cs typeface="+mn-ea"/>
                <a:sym typeface="+mn-lt"/>
              </a:rPr>
              <a:t>: </a:t>
            </a:r>
            <a:r>
              <a:rPr lang="en-US" altLang="zh-CN" sz="1200" dirty="0">
                <a:solidFill>
                  <a:srgbClr val="E5C07B"/>
                </a:solidFill>
                <a:cs typeface="+mn-ea"/>
                <a:sym typeface="+mn-lt"/>
              </a:rPr>
              <a:t>Option</a:t>
            </a:r>
            <a:r>
              <a:rPr lang="en-US" altLang="zh-CN" sz="1200" dirty="0">
                <a:solidFill>
                  <a:srgbClr val="ABB2BF"/>
                </a:solidFill>
                <a:cs typeface="+mn-ea"/>
                <a:sym typeface="+mn-lt"/>
              </a:rPr>
              <a:t> = </a:t>
            </a:r>
            <a:r>
              <a:rPr lang="en-US" altLang="zh-CN" sz="1200" dirty="0">
                <a:solidFill>
                  <a:srgbClr val="E5C07B"/>
                </a:solidFill>
                <a:cs typeface="+mn-ea"/>
                <a:sym typeface="+mn-lt"/>
              </a:rPr>
              <a:t>Option</a:t>
            </a:r>
            <a:r>
              <a:rPr lang="en-US" altLang="zh-CN" sz="1200" dirty="0">
                <a:solidFill>
                  <a:srgbClr val="ABB2BF"/>
                </a:solidFill>
                <a:cs typeface="+mn-ea"/>
                <a:sym typeface="+mn-lt"/>
              </a:rPr>
              <a:t>::</a:t>
            </a:r>
            <a:r>
              <a:rPr lang="en-US" altLang="zh-CN" sz="1200" dirty="0">
                <a:solidFill>
                  <a:srgbClr val="56B6C2"/>
                </a:solidFill>
                <a:cs typeface="+mn-ea"/>
                <a:sym typeface="+mn-lt"/>
              </a:rPr>
              <a:t>None</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5C07B"/>
                </a:solidFill>
                <a:cs typeface="+mn-ea"/>
                <a:sym typeface="+mn-lt"/>
              </a:rPr>
              <a:t>Option</a:t>
            </a:r>
            <a:r>
              <a:rPr lang="en-US" altLang="zh-CN" sz="1200" dirty="0">
                <a:solidFill>
                  <a:srgbClr val="ABB2BF"/>
                </a:solidFill>
                <a:cs typeface="+mn-ea"/>
                <a:sym typeface="+mn-lt"/>
              </a:rPr>
              <a:t>::</a:t>
            </a:r>
            <a:r>
              <a:rPr lang="en-US" altLang="zh-CN" sz="1200" dirty="0">
                <a:solidFill>
                  <a:srgbClr val="56B6C2"/>
                </a:solidFill>
                <a:cs typeface="+mn-ea"/>
                <a:sym typeface="+mn-lt"/>
              </a:rPr>
              <a:t>Some</a:t>
            </a:r>
            <a:r>
              <a:rPr lang="en-US" altLang="zh-CN" sz="1200" dirty="0">
                <a:solidFill>
                  <a:srgbClr val="ABB2BF"/>
                </a:solidFill>
                <a:cs typeface="+mn-ea"/>
                <a:sym typeface="+mn-lt"/>
              </a:rPr>
              <a:t>(</a:t>
            </a:r>
            <a:r>
              <a:rPr lang="en-US" altLang="zh-CN" sz="1200" dirty="0">
                <a:solidFill>
                  <a:srgbClr val="E06C75"/>
                </a:solidFill>
                <a:cs typeface="+mn-ea"/>
                <a:sym typeface="+mn-lt"/>
              </a:rPr>
              <a:t>x</a:t>
            </a:r>
            <a:r>
              <a:rPr lang="en-US" altLang="zh-CN" sz="1200" dirty="0">
                <a:solidFill>
                  <a:srgbClr val="ABB2BF"/>
                </a:solidFill>
                <a:cs typeface="+mn-ea"/>
                <a:sym typeface="+mn-lt"/>
              </a:rPr>
              <a:t>) = </a:t>
            </a:r>
            <a:r>
              <a:rPr lang="en-US" altLang="zh-CN" sz="1200" dirty="0" err="1">
                <a:solidFill>
                  <a:srgbClr val="E06C75"/>
                </a:solidFill>
                <a:cs typeface="+mn-ea"/>
                <a:sym typeface="+mn-lt"/>
              </a:rPr>
              <a:t>some_option_value</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D19A66"/>
                </a:solidFill>
                <a:cs typeface="+mn-ea"/>
                <a:sym typeface="+mn-lt"/>
              </a:rPr>
              <a:t>println</a:t>
            </a:r>
            <a:r>
              <a:rPr lang="en-US" altLang="zh-CN" sz="1200" dirty="0">
                <a:solidFill>
                  <a:srgbClr val="D19A66"/>
                </a:solidFill>
                <a:cs typeface="+mn-ea"/>
                <a:sym typeface="+mn-lt"/>
              </a:rPr>
              <a:t>!</a:t>
            </a:r>
            <a:r>
              <a:rPr lang="en-US" altLang="zh-CN" sz="1200" dirty="0">
                <a:solidFill>
                  <a:srgbClr val="ABB2BF"/>
                </a:solidFill>
                <a:cs typeface="+mn-ea"/>
                <a:sym typeface="+mn-lt"/>
              </a:rPr>
              <a:t>(</a:t>
            </a:r>
            <a:r>
              <a:rPr lang="en-US" altLang="zh-CN" sz="1200" dirty="0">
                <a:solidFill>
                  <a:srgbClr val="98C379"/>
                </a:solidFill>
                <a:cs typeface="+mn-ea"/>
                <a:sym typeface="+mn-lt"/>
              </a:rPr>
              <a:t>"</a:t>
            </a:r>
            <a:r>
              <a:rPr lang="en-US" altLang="zh-CN" sz="1200" dirty="0">
                <a:solidFill>
                  <a:srgbClr val="C678DD"/>
                </a:solidFill>
                <a:cs typeface="+mn-ea"/>
                <a:sym typeface="+mn-lt"/>
              </a:rPr>
              <a:t>{}</a:t>
            </a:r>
            <a:r>
              <a:rPr lang="en-US" altLang="zh-CN" sz="1200" dirty="0">
                <a:solidFill>
                  <a:srgbClr val="98C379"/>
                </a:solidFill>
                <a:cs typeface="+mn-ea"/>
                <a:sym typeface="+mn-lt"/>
              </a:rPr>
              <a:t>"</a:t>
            </a:r>
            <a:r>
              <a:rPr lang="en-US" altLang="zh-CN" sz="1200" dirty="0">
                <a:solidFill>
                  <a:srgbClr val="ABB2BF"/>
                </a:solidFill>
                <a:cs typeface="+mn-ea"/>
                <a:sym typeface="+mn-lt"/>
              </a:rPr>
              <a:t>, </a:t>
            </a:r>
            <a:r>
              <a:rPr lang="en-US" altLang="zh-CN" sz="1200" dirty="0">
                <a:solidFill>
                  <a:srgbClr val="E06C75"/>
                </a:solidFill>
                <a:cs typeface="+mn-ea"/>
                <a:sym typeface="+mn-lt"/>
              </a:rPr>
              <a:t>x</a:t>
            </a:r>
            <a:r>
              <a:rPr lang="en-US" altLang="zh-CN" sz="1200" dirty="0">
                <a:solidFill>
                  <a:srgbClr val="ABB2BF"/>
                </a:solidFill>
                <a:cs typeface="+mn-ea"/>
                <a:sym typeface="+mn-lt"/>
              </a:rPr>
              <a:t>);</a:t>
            </a:r>
          </a:p>
          <a:p>
            <a:r>
              <a:rPr lang="en-US" altLang="zh-CN" sz="1200" dirty="0">
                <a:solidFill>
                  <a:srgbClr val="ABB2BF"/>
                </a:solidFill>
                <a:cs typeface="+mn-ea"/>
                <a:sym typeface="+mn-lt"/>
              </a:rPr>
              <a:t>    }</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113628"/>
    </mc:Choice>
    <mc:Fallback xmlns="">
      <p:transition spd="slow" advTm="113628"/>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解构模式</a:t>
            </a:r>
          </a:p>
        </p:txBody>
      </p:sp>
      <p:sp>
        <p:nvSpPr>
          <p:cNvPr id="7" name="内容占位符 2"/>
          <p:cNvSpPr>
            <a:spLocks noGrp="1"/>
          </p:cNvSpPr>
          <p:nvPr>
            <p:ph idx="10"/>
          </p:nvPr>
        </p:nvSpPr>
        <p:spPr>
          <a:xfrm>
            <a:off x="394517" y="859167"/>
            <a:ext cx="5314574" cy="400623"/>
          </a:xfrm>
        </p:spPr>
        <p:txBody>
          <a:bodyPr/>
          <a:lstStyle/>
          <a:p>
            <a:pPr marL="297815" indent="-285750">
              <a:lnSpc>
                <a:spcPct val="150000"/>
              </a:lnSpc>
              <a:buFont typeface="Arial" panose="020B0604020202020204" pitchFamily="34" charset="0"/>
              <a:buChar char="•"/>
            </a:pPr>
            <a:r>
              <a:rPr lang="zh-CN" altLang="en-US" sz="1600" dirty="0">
                <a:solidFill>
                  <a:srgbClr val="000000"/>
                </a:solidFill>
                <a:latin typeface="+mn-lt"/>
                <a:ea typeface="+mn-ea"/>
                <a:cs typeface="+mn-ea"/>
                <a:sym typeface="+mn-lt"/>
              </a:rPr>
              <a:t>在结构体模式中通过名称、索引</a:t>
            </a:r>
            <a:r>
              <a:rPr lang="en-US" altLang="zh-CN" sz="1600" dirty="0">
                <a:solidFill>
                  <a:srgbClr val="000000"/>
                </a:solidFill>
                <a:latin typeface="+mn-lt"/>
                <a:ea typeface="+mn-ea"/>
                <a:cs typeface="+mn-ea"/>
                <a:sym typeface="+mn-lt"/>
              </a:rPr>
              <a:t>(</a:t>
            </a:r>
            <a:r>
              <a:rPr lang="zh-CN" altLang="en-US" sz="1600" dirty="0">
                <a:solidFill>
                  <a:srgbClr val="000000"/>
                </a:solidFill>
                <a:latin typeface="+mn-lt"/>
                <a:ea typeface="+mn-ea"/>
                <a:cs typeface="+mn-ea"/>
                <a:sym typeface="+mn-lt"/>
              </a:rPr>
              <a:t>元组结构体</a:t>
            </a:r>
            <a:r>
              <a:rPr lang="en-US" altLang="zh-CN" sz="1600" dirty="0">
                <a:solidFill>
                  <a:srgbClr val="000000"/>
                </a:solidFill>
                <a:latin typeface="+mn-lt"/>
                <a:ea typeface="+mn-ea"/>
                <a:cs typeface="+mn-ea"/>
                <a:sym typeface="+mn-lt"/>
              </a:rPr>
              <a:t>)</a:t>
            </a:r>
            <a:r>
              <a:rPr lang="zh-CN" altLang="en-US" sz="1600" dirty="0">
                <a:solidFill>
                  <a:srgbClr val="000000"/>
                </a:solidFill>
                <a:latin typeface="+mn-lt"/>
                <a:ea typeface="+mn-ea"/>
                <a:cs typeface="+mn-ea"/>
                <a:sym typeface="+mn-lt"/>
              </a:rPr>
              <a:t>进行匹配；</a:t>
            </a:r>
            <a:endParaRPr lang="en-US" altLang="zh-CN" sz="1600" dirty="0">
              <a:solidFill>
                <a:srgbClr val="000000"/>
              </a:solidFill>
              <a:latin typeface="+mn-lt"/>
              <a:ea typeface="+mn-ea"/>
              <a:cs typeface="+mn-ea"/>
              <a:sym typeface="+mn-lt"/>
            </a:endParaRPr>
          </a:p>
          <a:p>
            <a:pPr marL="297815" indent="-285750">
              <a:lnSpc>
                <a:spcPct val="150000"/>
              </a:lnSpc>
              <a:buFont typeface="Arial" panose="020B0604020202020204" pitchFamily="34" charset="0"/>
              <a:buChar char="•"/>
            </a:pPr>
            <a:r>
              <a:rPr lang="zh-CN" altLang="en-US" sz="1600" dirty="0">
                <a:solidFill>
                  <a:srgbClr val="000000"/>
                </a:solidFill>
                <a:latin typeface="+mn-lt"/>
                <a:ea typeface="+mn-ea"/>
                <a:cs typeface="+mn-ea"/>
                <a:sym typeface="+mn-lt"/>
              </a:rPr>
              <a:t>可以通过</a:t>
            </a:r>
            <a:r>
              <a:rPr lang="en-US" altLang="zh-CN" sz="1600" dirty="0">
                <a:solidFill>
                  <a:srgbClr val="000000"/>
                </a:solidFill>
                <a:latin typeface="+mn-lt"/>
                <a:ea typeface="+mn-ea"/>
                <a:cs typeface="+mn-ea"/>
                <a:sym typeface="+mn-lt"/>
              </a:rPr>
              <a:t>.. </a:t>
            </a:r>
            <a:r>
              <a:rPr lang="zh-CN" altLang="en-US" sz="1600" dirty="0">
                <a:solidFill>
                  <a:srgbClr val="000000"/>
                </a:solidFill>
                <a:latin typeface="+mn-lt"/>
                <a:ea typeface="+mn-ea"/>
                <a:cs typeface="+mn-ea"/>
                <a:sym typeface="+mn-lt"/>
              </a:rPr>
              <a:t>进行省略；</a:t>
            </a:r>
            <a:endParaRPr lang="en-US" altLang="zh-CN" sz="1600" dirty="0">
              <a:solidFill>
                <a:srgbClr val="000000"/>
              </a:solidFill>
              <a:latin typeface="+mn-lt"/>
              <a:ea typeface="+mn-ea"/>
              <a:cs typeface="+mn-ea"/>
              <a:sym typeface="+mn-lt"/>
            </a:endParaRPr>
          </a:p>
        </p:txBody>
      </p:sp>
      <p:sp>
        <p:nvSpPr>
          <p:cNvPr id="9" name="文本框 8"/>
          <p:cNvSpPr txBox="1"/>
          <p:nvPr/>
        </p:nvSpPr>
        <p:spPr>
          <a:xfrm>
            <a:off x="319872" y="1607630"/>
            <a:ext cx="6108088" cy="439991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dirty="0">
              <a:solidFill>
                <a:srgbClr val="FFFFFF"/>
              </a:solidFill>
              <a:cs typeface="+mn-ea"/>
              <a:sym typeface="+mn-lt"/>
            </a:endParaRPr>
          </a:p>
          <a:p>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5C07B"/>
                </a:solidFill>
                <a:cs typeface="+mn-ea"/>
                <a:sym typeface="+mn-lt"/>
              </a:rPr>
              <a:t>u32</a:t>
            </a:r>
            <a:r>
              <a:rPr lang="en-US" altLang="zh-CN" sz="1400" dirty="0">
                <a:solidFill>
                  <a:srgbClr val="ABB2BF"/>
                </a:solidFill>
                <a:cs typeface="+mn-ea"/>
                <a:sym typeface="+mn-lt"/>
              </a:rPr>
              <a:t>,</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u32</a:t>
            </a:r>
            <a:r>
              <a:rPr lang="en-US" altLang="zh-CN" sz="1400" dirty="0">
                <a:solidFill>
                  <a:srgbClr val="ABB2BF"/>
                </a:solidFill>
                <a:cs typeface="+mn-ea"/>
                <a:sym typeface="+mn-lt"/>
              </a:rPr>
              <a:t>}</a:t>
            </a: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s</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C678DD"/>
                </a:solidFill>
                <a:cs typeface="+mn-ea"/>
                <a:sym typeface="+mn-lt"/>
              </a:rPr>
              <a:t>match</a:t>
            </a:r>
            <a:r>
              <a:rPr lang="en-US" altLang="zh-CN" sz="1400" dirty="0">
                <a:solidFill>
                  <a:srgbClr val="ABB2BF"/>
                </a:solidFill>
                <a:cs typeface="+mn-ea"/>
                <a:sym typeface="+mn-lt"/>
              </a:rPr>
              <a:t> </a:t>
            </a:r>
            <a:r>
              <a:rPr lang="en-US" altLang="zh-CN" sz="1400" dirty="0">
                <a:solidFill>
                  <a:srgbClr val="E06C75"/>
                </a:solidFill>
                <a:cs typeface="+mn-ea"/>
                <a:sym typeface="+mn-lt"/>
              </a:rPr>
              <a:t>s</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D19A66"/>
                </a:solidFill>
                <a:cs typeface="+mn-ea"/>
                <a:sym typeface="+mn-lt"/>
              </a:rPr>
              <a:t>20</a:t>
            </a:r>
            <a:r>
              <a:rPr lang="en-US" altLang="zh-CN" sz="1400" dirty="0">
                <a:solidFill>
                  <a:srgbClr val="ABB2BF"/>
                </a:solidFill>
                <a:cs typeface="+mn-ea"/>
                <a:sym typeface="+mn-lt"/>
              </a:rPr>
              <a:t>} =&gt; (),</a:t>
            </a:r>
          </a:p>
          <a:p>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D19A66"/>
                </a:solidFill>
                <a:cs typeface="+mn-ea"/>
                <a:sym typeface="+mn-lt"/>
              </a:rPr>
              <a:t>20</a:t>
            </a:r>
            <a:r>
              <a:rPr lang="en-US" altLang="zh-CN" sz="1400" dirty="0">
                <a:solidFill>
                  <a:srgbClr val="ABB2BF"/>
                </a:solidFill>
                <a:cs typeface="+mn-ea"/>
                <a:sym typeface="+mn-lt"/>
              </a:rPr>
              <a:t>} =&gt; (),</a:t>
            </a:r>
            <a:r>
              <a:rPr lang="en-US" altLang="zh-CN" sz="1400" i="1" dirty="0">
                <a:solidFill>
                  <a:srgbClr val="7F848E"/>
                </a:solidFill>
                <a:cs typeface="+mn-ea"/>
                <a:sym typeface="+mn-lt"/>
              </a:rPr>
              <a:t> </a:t>
            </a:r>
            <a:endParaRPr lang="en-US" altLang="zh-CN" sz="1400" dirty="0">
              <a:solidFill>
                <a:srgbClr val="ABB2BF"/>
              </a:solidFill>
              <a:cs typeface="+mn-ea"/>
              <a:sym typeface="+mn-lt"/>
            </a:endParaRPr>
          </a:p>
          <a:p>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 =&gt; (),</a:t>
            </a:r>
          </a:p>
          <a:p>
            <a:r>
              <a:rPr lang="en-US" altLang="zh-CN" sz="1400" dirty="0">
                <a:solidFill>
                  <a:srgbClr val="ABB2BF"/>
                </a:solidFill>
                <a:cs typeface="+mn-ea"/>
                <a:sym typeface="+mn-lt"/>
              </a:rPr>
              <a:t>    </a:t>
            </a:r>
            <a:r>
              <a:rPr lang="en-US" altLang="zh-CN" sz="1400" dirty="0">
                <a:solidFill>
                  <a:srgbClr val="E5C07B"/>
                </a:solidFill>
                <a:cs typeface="+mn-ea"/>
                <a:sym typeface="+mn-lt"/>
              </a:rPr>
              <a:t>Point</a:t>
            </a:r>
            <a:r>
              <a:rPr lang="en-US" altLang="zh-CN" sz="1400" dirty="0">
                <a:solidFill>
                  <a:srgbClr val="ABB2BF"/>
                </a:solidFill>
                <a:cs typeface="+mn-ea"/>
                <a:sym typeface="+mn-lt"/>
              </a:rPr>
              <a:t> {..} =&gt; (),</a:t>
            </a:r>
          </a:p>
          <a:p>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err="1">
                <a:solidFill>
                  <a:srgbClr val="E5C07B"/>
                </a:solidFill>
                <a:cs typeface="+mn-ea"/>
                <a:sym typeface="+mn-lt"/>
              </a:rPr>
              <a:t>PointTuple</a:t>
            </a:r>
            <a:r>
              <a:rPr lang="en-US" altLang="zh-CN" sz="1400" dirty="0">
                <a:solidFill>
                  <a:srgbClr val="ABB2BF"/>
                </a:solidFill>
                <a:cs typeface="+mn-ea"/>
                <a:sym typeface="+mn-lt"/>
              </a:rPr>
              <a:t> (</a:t>
            </a:r>
            <a:r>
              <a:rPr lang="en-US" altLang="zh-CN" sz="1400" dirty="0">
                <a:solidFill>
                  <a:srgbClr val="E5C07B"/>
                </a:solidFill>
                <a:cs typeface="+mn-ea"/>
                <a:sym typeface="+mn-lt"/>
              </a:rPr>
              <a:t>u32</a:t>
            </a:r>
            <a:r>
              <a:rPr lang="en-US" altLang="zh-CN" sz="1400" dirty="0">
                <a:solidFill>
                  <a:srgbClr val="ABB2BF"/>
                </a:solidFill>
                <a:cs typeface="+mn-ea"/>
                <a:sym typeface="+mn-lt"/>
              </a:rPr>
              <a:t>,</a:t>
            </a:r>
            <a:r>
              <a:rPr lang="en-US" altLang="zh-CN" sz="1400" dirty="0">
                <a:solidFill>
                  <a:srgbClr val="E5C07B"/>
                </a:solidFill>
                <a:cs typeface="+mn-ea"/>
                <a:sym typeface="+mn-lt"/>
              </a:rPr>
              <a:t>u32</a:t>
            </a:r>
            <a:r>
              <a:rPr lang="en-US" altLang="zh-CN" sz="1400" dirty="0">
                <a:solidFill>
                  <a:srgbClr val="ABB2BF"/>
                </a:solidFill>
                <a:cs typeface="+mn-ea"/>
                <a:sym typeface="+mn-lt"/>
              </a:rPr>
              <a:t>);</a:t>
            </a: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err="1">
                <a:solidFill>
                  <a:srgbClr val="61AFEF"/>
                </a:solidFill>
                <a:cs typeface="+mn-ea"/>
                <a:sym typeface="+mn-lt"/>
              </a:rPr>
              <a:t>PointTuple</a:t>
            </a:r>
            <a:r>
              <a:rPr lang="en-US" altLang="zh-CN" sz="1400" dirty="0">
                <a:solidFill>
                  <a:srgbClr val="ABB2BF"/>
                </a:solidFill>
                <a:cs typeface="+mn-ea"/>
                <a:sym typeface="+mn-lt"/>
              </a:rPr>
              <a:t>(</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C678DD"/>
                </a:solidFill>
                <a:cs typeface="+mn-ea"/>
                <a:sym typeface="+mn-lt"/>
              </a:rPr>
              <a:t>match</a:t>
            </a:r>
            <a:r>
              <a:rPr lang="en-US" altLang="zh-CN" sz="1400" dirty="0">
                <a:solidFill>
                  <a:srgbClr val="ABB2BF"/>
                </a:solidFill>
                <a:cs typeface="+mn-ea"/>
                <a:sym typeface="+mn-lt"/>
              </a:rPr>
              <a:t> </a:t>
            </a:r>
            <a:r>
              <a:rPr lang="en-US" altLang="zh-CN" sz="1400" dirty="0">
                <a:solidFill>
                  <a:srgbClr val="E06C75"/>
                </a:solidFill>
                <a:cs typeface="+mn-ea"/>
                <a:sym typeface="+mn-lt"/>
              </a:rPr>
              <a:t>t</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E5C07B"/>
                </a:solidFill>
                <a:cs typeface="+mn-ea"/>
                <a:sym typeface="+mn-lt"/>
              </a:rPr>
              <a:t>PointTuple</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20</a:t>
            </a:r>
            <a:r>
              <a:rPr lang="en-US" altLang="zh-CN" sz="1400" dirty="0">
                <a:solidFill>
                  <a:srgbClr val="ABB2BF"/>
                </a:solidFill>
                <a:cs typeface="+mn-ea"/>
                <a:sym typeface="+mn-lt"/>
              </a:rPr>
              <a:t>} =&gt; (),</a:t>
            </a:r>
          </a:p>
          <a:p>
            <a:r>
              <a:rPr lang="en-US" altLang="zh-CN" sz="1400" dirty="0">
                <a:solidFill>
                  <a:srgbClr val="ABB2BF"/>
                </a:solidFill>
                <a:cs typeface="+mn-ea"/>
                <a:sym typeface="+mn-lt"/>
              </a:rPr>
              <a:t>    </a:t>
            </a:r>
            <a:r>
              <a:rPr lang="en-US" altLang="zh-CN" sz="1400" dirty="0" err="1">
                <a:solidFill>
                  <a:srgbClr val="E5C07B"/>
                </a:solidFill>
                <a:cs typeface="+mn-ea"/>
                <a:sym typeface="+mn-lt"/>
              </a:rPr>
              <a:t>PointTuple</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 </a:t>
            </a:r>
            <a:r>
              <a:rPr lang="en-US" altLang="zh-CN" sz="1400" dirty="0">
                <a:solidFill>
                  <a:srgbClr val="D19A66"/>
                </a:solidFill>
                <a:cs typeface="+mn-ea"/>
                <a:sym typeface="+mn-lt"/>
              </a:rPr>
              <a:t>20</a:t>
            </a:r>
            <a:r>
              <a:rPr lang="en-US" altLang="zh-CN" sz="1400" dirty="0">
                <a:solidFill>
                  <a:srgbClr val="ABB2BF"/>
                </a:solidFill>
                <a:cs typeface="+mn-ea"/>
                <a:sym typeface="+mn-lt"/>
              </a:rPr>
              <a:t>} =&gt; (),</a:t>
            </a:r>
          </a:p>
          <a:p>
            <a:r>
              <a:rPr lang="en-US" altLang="zh-CN" sz="1400" dirty="0">
                <a:solidFill>
                  <a:srgbClr val="ABB2BF"/>
                </a:solidFill>
                <a:cs typeface="+mn-ea"/>
                <a:sym typeface="+mn-lt"/>
              </a:rPr>
              <a:t>    </a:t>
            </a:r>
            <a:r>
              <a:rPr lang="en-US" altLang="zh-CN" sz="1400" dirty="0" err="1">
                <a:solidFill>
                  <a:srgbClr val="E5C07B"/>
                </a:solidFill>
                <a:cs typeface="+mn-ea"/>
                <a:sym typeface="+mn-lt"/>
              </a:rPr>
              <a:t>PointTuple</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 =&gt; (),</a:t>
            </a:r>
          </a:p>
          <a:p>
            <a:r>
              <a:rPr lang="en-US" altLang="zh-CN" sz="1400" dirty="0">
                <a:solidFill>
                  <a:srgbClr val="ABB2BF"/>
                </a:solidFill>
                <a:cs typeface="+mn-ea"/>
                <a:sym typeface="+mn-lt"/>
              </a:rPr>
              <a:t>    </a:t>
            </a:r>
            <a:r>
              <a:rPr lang="en-US" altLang="zh-CN" sz="1400" dirty="0" err="1">
                <a:solidFill>
                  <a:srgbClr val="E5C07B"/>
                </a:solidFill>
                <a:cs typeface="+mn-ea"/>
                <a:sym typeface="+mn-lt"/>
              </a:rPr>
              <a:t>PointTuple</a:t>
            </a:r>
            <a:r>
              <a:rPr lang="en-US" altLang="zh-CN" sz="1400" dirty="0">
                <a:solidFill>
                  <a:srgbClr val="ABB2BF"/>
                </a:solidFill>
                <a:cs typeface="+mn-ea"/>
                <a:sym typeface="+mn-lt"/>
              </a:rPr>
              <a:t> {..} =&gt;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cxnSp>
        <p:nvCxnSpPr>
          <p:cNvPr id="6" name="直接连接符 5"/>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535171" y="2612566"/>
            <a:ext cx="4682073" cy="2031325"/>
          </a:xfrm>
          <a:prstGeom prst="rect">
            <a:avLst/>
          </a:prstGeom>
          <a:solidFill>
            <a:schemeClr val="tx1"/>
          </a:solidFill>
        </p:spPr>
        <p:txBody>
          <a:bodyPr wrap="square">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dirty="0">
              <a:solidFill>
                <a:srgbClr val="C678DD"/>
              </a:solidFill>
              <a:cs typeface="+mn-ea"/>
              <a:sym typeface="+mn-lt"/>
            </a:endParaRPr>
          </a:p>
          <a:p>
            <a:r>
              <a:rPr lang="en-US" altLang="zh-CN" sz="1400" dirty="0">
                <a:solidFill>
                  <a:srgbClr val="C678DD"/>
                </a:solidFill>
                <a:cs typeface="+mn-ea"/>
                <a:sym typeface="+mn-lt"/>
              </a:rPr>
              <a:t>struct</a:t>
            </a:r>
            <a:r>
              <a:rPr lang="en-US" altLang="zh-CN" sz="1400" dirty="0">
                <a:solidFill>
                  <a:srgbClr val="ABB2BF"/>
                </a:solidFill>
                <a:cs typeface="+mn-ea"/>
                <a:sym typeface="+mn-lt"/>
              </a:rPr>
              <a:t> </a:t>
            </a:r>
            <a:r>
              <a:rPr lang="en-US" altLang="zh-CN" sz="1400" dirty="0" err="1">
                <a:solidFill>
                  <a:srgbClr val="E5C07B"/>
                </a:solidFill>
                <a:cs typeface="+mn-ea"/>
                <a:sym typeface="+mn-lt"/>
              </a:rPr>
              <a:t>Struct</a:t>
            </a:r>
            <a:r>
              <a:rPr lang="en-US" altLang="zh-CN" sz="1400" dirty="0">
                <a:solidFill>
                  <a:srgbClr val="ABB2BF"/>
                </a:solidFill>
                <a:cs typeface="+mn-ea"/>
                <a:sym typeface="+mn-lt"/>
              </a:rPr>
              <a:t> {</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a:t>
            </a:r>
            <a:r>
              <a:rPr lang="en-US" altLang="zh-CN" sz="1400" dirty="0">
                <a:solidFill>
                  <a:srgbClr val="E06C75"/>
                </a:solidFill>
                <a:cs typeface="+mn-ea"/>
                <a:sym typeface="+mn-lt"/>
              </a:rPr>
              <a:t>b</a:t>
            </a:r>
            <a:r>
              <a:rPr lang="en-US" altLang="zh-CN" sz="1400" dirty="0">
                <a:solidFill>
                  <a:srgbClr val="ABB2BF"/>
                </a:solidFill>
                <a:cs typeface="+mn-ea"/>
                <a:sym typeface="+mn-lt"/>
              </a:rPr>
              <a:t>: </a:t>
            </a:r>
            <a:r>
              <a:rPr lang="en-US" altLang="zh-CN" sz="1400" dirty="0" err="1">
                <a:solidFill>
                  <a:srgbClr val="E5C07B"/>
                </a:solidFill>
                <a:cs typeface="+mn-ea"/>
                <a:sym typeface="+mn-lt"/>
              </a:rPr>
              <a:t>char</a:t>
            </a:r>
            <a:r>
              <a:rPr lang="en-US" altLang="zh-CN" sz="1400" dirty="0" err="1">
                <a:solidFill>
                  <a:srgbClr val="ABB2BF"/>
                </a:solidFill>
                <a:cs typeface="+mn-ea"/>
                <a:sym typeface="+mn-lt"/>
              </a:rPr>
              <a:t>,</a:t>
            </a:r>
            <a:r>
              <a:rPr lang="en-US" altLang="zh-CN" sz="1400" dirty="0" err="1">
                <a:solidFill>
                  <a:srgbClr val="E06C75"/>
                </a:solidFill>
                <a:cs typeface="+mn-ea"/>
                <a:sym typeface="+mn-lt"/>
              </a:rPr>
              <a:t>c</a:t>
            </a:r>
            <a:r>
              <a:rPr lang="en-US" altLang="zh-CN" sz="1400" dirty="0">
                <a:solidFill>
                  <a:srgbClr val="ABB2BF"/>
                </a:solidFill>
                <a:cs typeface="+mn-ea"/>
                <a:sym typeface="+mn-lt"/>
              </a:rPr>
              <a:t>: </a:t>
            </a:r>
            <a:r>
              <a:rPr lang="en-US" altLang="zh-CN" sz="1400" dirty="0">
                <a:solidFill>
                  <a:srgbClr val="E5C07B"/>
                </a:solidFill>
                <a:cs typeface="+mn-ea"/>
                <a:sym typeface="+mn-lt"/>
              </a:rPr>
              <a:t>bool</a:t>
            </a:r>
            <a:r>
              <a:rPr lang="en-US" altLang="zh-CN" sz="1400" dirty="0">
                <a:solidFill>
                  <a:srgbClr val="ABB2BF"/>
                </a:solidFill>
                <a:cs typeface="+mn-ea"/>
                <a:sym typeface="+mn-lt"/>
              </a:rPr>
              <a:t>}</a:t>
            </a:r>
          </a:p>
          <a:p>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C678DD"/>
                </a:solidFill>
                <a:cs typeface="+mn-ea"/>
                <a:sym typeface="+mn-lt"/>
              </a:rPr>
              <a:t>mut</a:t>
            </a:r>
            <a:r>
              <a:rPr lang="en-US" altLang="zh-CN" sz="1400" dirty="0">
                <a:solidFill>
                  <a:srgbClr val="ABB2BF"/>
                </a:solidFill>
                <a:cs typeface="+mn-ea"/>
                <a:sym typeface="+mn-lt"/>
              </a:rPr>
              <a:t> </a:t>
            </a:r>
            <a:r>
              <a:rPr lang="en-US" altLang="zh-CN" sz="1400" dirty="0" err="1">
                <a:solidFill>
                  <a:srgbClr val="E06C75"/>
                </a:solidFill>
                <a:cs typeface="+mn-ea"/>
                <a:sym typeface="+mn-lt"/>
              </a:rPr>
              <a:t>struct_value</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5C07B"/>
                </a:solidFill>
                <a:cs typeface="+mn-ea"/>
                <a:sym typeface="+mn-lt"/>
              </a:rPr>
              <a:t>Struct</a:t>
            </a:r>
            <a:r>
              <a:rPr lang="en-US" altLang="zh-CN" sz="1400" dirty="0">
                <a:solidFill>
                  <a:srgbClr val="ABB2BF"/>
                </a:solidFill>
                <a:cs typeface="+mn-ea"/>
                <a:sym typeface="+mn-lt"/>
              </a:rPr>
              <a:t>{</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r>
              <a:rPr lang="en-US" altLang="zh-CN" sz="1400" dirty="0">
                <a:solidFill>
                  <a:srgbClr val="E06C75"/>
                </a:solidFill>
                <a:cs typeface="+mn-ea"/>
                <a:sym typeface="+mn-lt"/>
              </a:rPr>
              <a:t>b</a:t>
            </a:r>
            <a:r>
              <a:rPr lang="en-US" altLang="zh-CN" sz="1400" dirty="0">
                <a:solidFill>
                  <a:srgbClr val="ABB2BF"/>
                </a:solidFill>
                <a:cs typeface="+mn-ea"/>
                <a:sym typeface="+mn-lt"/>
              </a:rPr>
              <a:t>: </a:t>
            </a:r>
            <a:r>
              <a:rPr lang="en-US" altLang="zh-CN" sz="1400" dirty="0">
                <a:solidFill>
                  <a:srgbClr val="98C379"/>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c</a:t>
            </a:r>
            <a:r>
              <a:rPr lang="en-US" altLang="zh-CN" sz="1400" dirty="0">
                <a:solidFill>
                  <a:srgbClr val="ABB2BF"/>
                </a:solidFill>
                <a:cs typeface="+mn-ea"/>
                <a:sym typeface="+mn-lt"/>
              </a:rPr>
              <a:t>: </a:t>
            </a:r>
            <a:r>
              <a:rPr lang="en-US" altLang="zh-CN" sz="1400" dirty="0">
                <a:solidFill>
                  <a:srgbClr val="D19A66"/>
                </a:solidFill>
                <a:cs typeface="+mn-ea"/>
                <a:sym typeface="+mn-lt"/>
              </a:rPr>
              <a:t>false</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C678DD"/>
                </a:solidFill>
                <a:cs typeface="+mn-ea"/>
                <a:sym typeface="+mn-lt"/>
              </a:rPr>
              <a:t>match</a:t>
            </a:r>
            <a:r>
              <a:rPr lang="en-US" altLang="zh-CN" sz="1400" dirty="0">
                <a:solidFill>
                  <a:srgbClr val="ABB2BF"/>
                </a:solidFill>
                <a:cs typeface="+mn-ea"/>
                <a:sym typeface="+mn-lt"/>
              </a:rPr>
              <a:t> </a:t>
            </a:r>
            <a:r>
              <a:rPr lang="en-US" altLang="zh-CN" sz="1400" dirty="0" err="1">
                <a:solidFill>
                  <a:srgbClr val="E06C75"/>
                </a:solidFill>
                <a:cs typeface="+mn-ea"/>
                <a:sym typeface="+mn-lt"/>
              </a:rPr>
              <a:t>struct_value</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5C07B"/>
                </a:solidFill>
                <a:cs typeface="+mn-ea"/>
                <a:sym typeface="+mn-lt"/>
              </a:rPr>
              <a:t>Struct</a:t>
            </a:r>
            <a:r>
              <a:rPr lang="en-US" altLang="zh-CN" sz="1400" dirty="0">
                <a:solidFill>
                  <a:srgbClr val="ABB2BF"/>
                </a:solidFill>
                <a:cs typeface="+mn-ea"/>
                <a:sym typeface="+mn-lt"/>
              </a:rPr>
              <a:t>{</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r>
              <a:rPr lang="en-US" altLang="zh-CN" sz="1400" dirty="0">
                <a:solidFill>
                  <a:srgbClr val="E06C75"/>
                </a:solidFill>
                <a:cs typeface="+mn-ea"/>
                <a:sym typeface="+mn-lt"/>
              </a:rPr>
              <a:t>b</a:t>
            </a:r>
            <a:r>
              <a:rPr lang="en-US" altLang="zh-CN" sz="1400" dirty="0">
                <a:solidFill>
                  <a:srgbClr val="ABB2BF"/>
                </a:solidFill>
                <a:cs typeface="+mn-ea"/>
                <a:sym typeface="+mn-lt"/>
              </a:rPr>
              <a:t>: </a:t>
            </a:r>
            <a:r>
              <a:rPr lang="en-US" altLang="zh-CN" sz="1400" dirty="0">
                <a:solidFill>
                  <a:srgbClr val="98C379"/>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c</a:t>
            </a:r>
            <a:r>
              <a:rPr lang="en-US" altLang="zh-CN" sz="1400" dirty="0">
                <a:solidFill>
                  <a:srgbClr val="ABB2BF"/>
                </a:solidFill>
                <a:cs typeface="+mn-ea"/>
                <a:sym typeface="+mn-lt"/>
              </a:rPr>
              <a:t>: </a:t>
            </a:r>
            <a:r>
              <a:rPr lang="en-US" altLang="zh-CN" sz="1400" dirty="0">
                <a:solidFill>
                  <a:srgbClr val="D19A66"/>
                </a:solidFill>
                <a:cs typeface="+mn-ea"/>
                <a:sym typeface="+mn-lt"/>
              </a:rPr>
              <a:t>false</a:t>
            </a:r>
            <a:r>
              <a:rPr lang="en-US" altLang="zh-CN" sz="1400" dirty="0">
                <a:solidFill>
                  <a:srgbClr val="ABB2BF"/>
                </a:solidFill>
                <a:cs typeface="+mn-ea"/>
                <a:sym typeface="+mn-lt"/>
              </a:rPr>
              <a:t>} =&gt; (),</a:t>
            </a:r>
          </a:p>
          <a:p>
            <a:r>
              <a:rPr lang="en-US" altLang="zh-CN" sz="1400" dirty="0">
                <a:solidFill>
                  <a:srgbClr val="ABB2BF"/>
                </a:solidFill>
                <a:cs typeface="+mn-ea"/>
                <a:sym typeface="+mn-lt"/>
              </a:rPr>
              <a:t>    </a:t>
            </a:r>
            <a:r>
              <a:rPr lang="en-US" altLang="zh-CN" sz="1400" dirty="0">
                <a:solidFill>
                  <a:srgbClr val="E5C07B"/>
                </a:solidFill>
                <a:cs typeface="+mn-ea"/>
                <a:sym typeface="+mn-lt"/>
              </a:rPr>
              <a:t>Struct</a:t>
            </a:r>
            <a:r>
              <a:rPr lang="en-US" altLang="zh-CN" sz="1400" dirty="0">
                <a:solidFill>
                  <a:srgbClr val="ABB2BF"/>
                </a:solidFill>
                <a:cs typeface="+mn-ea"/>
                <a:sym typeface="+mn-lt"/>
              </a:rPr>
              <a:t>{</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 </a:t>
            </a:r>
            <a:r>
              <a:rPr lang="en-US" altLang="zh-CN" sz="1400" dirty="0">
                <a:solidFill>
                  <a:srgbClr val="E06C75"/>
                </a:solidFill>
                <a:cs typeface="+mn-ea"/>
                <a:sym typeface="+mn-lt"/>
              </a:rPr>
              <a:t>b</a:t>
            </a:r>
            <a:r>
              <a:rPr lang="en-US" altLang="zh-CN" sz="1400" dirty="0">
                <a:solidFill>
                  <a:srgbClr val="ABB2BF"/>
                </a:solidFill>
                <a:cs typeface="+mn-ea"/>
                <a:sym typeface="+mn-lt"/>
              </a:rPr>
              <a:t>: </a:t>
            </a:r>
            <a:r>
              <a:rPr lang="en-US" altLang="zh-CN" sz="1400" dirty="0">
                <a:solidFill>
                  <a:srgbClr val="98C379"/>
                </a:solidFill>
                <a:cs typeface="+mn-ea"/>
                <a:sym typeface="+mn-lt"/>
              </a:rPr>
              <a:t>'X'</a:t>
            </a:r>
            <a:r>
              <a:rPr lang="en-US" altLang="zh-CN" sz="1400" dirty="0">
                <a:solidFill>
                  <a:srgbClr val="ABB2BF"/>
                </a:solidFill>
                <a:cs typeface="+mn-ea"/>
                <a:sym typeface="+mn-lt"/>
              </a:rPr>
              <a:t>, </a:t>
            </a:r>
            <a:r>
              <a:rPr lang="en-US" altLang="zh-CN" sz="1400" dirty="0">
                <a:solidFill>
                  <a:srgbClr val="E06C75"/>
                </a:solidFill>
                <a:cs typeface="+mn-ea"/>
                <a:sym typeface="+mn-lt"/>
              </a:rPr>
              <a:t>c</a:t>
            </a:r>
            <a:r>
              <a:rPr lang="en-US" altLang="zh-CN" sz="1400" dirty="0">
                <a:solidFill>
                  <a:srgbClr val="ABB2BF"/>
                </a:solidFill>
                <a:cs typeface="+mn-ea"/>
                <a:sym typeface="+mn-lt"/>
              </a:rPr>
              <a:t>: </a:t>
            </a:r>
            <a:r>
              <a:rPr lang="en-US" altLang="zh-CN" sz="1400" dirty="0">
                <a:solidFill>
                  <a:srgbClr val="E06C75"/>
                </a:solidFill>
                <a:cs typeface="+mn-ea"/>
                <a:sym typeface="+mn-lt"/>
              </a:rPr>
              <a:t>_</a:t>
            </a:r>
            <a:r>
              <a:rPr lang="en-US" altLang="zh-CN" sz="1400" dirty="0">
                <a:solidFill>
                  <a:srgbClr val="ABB2BF"/>
                </a:solidFill>
                <a:cs typeface="+mn-ea"/>
                <a:sym typeface="+mn-lt"/>
              </a:rPr>
              <a:t>} =&gt; (),</a:t>
            </a:r>
          </a:p>
          <a:p>
            <a:r>
              <a:rPr lang="en-US" altLang="zh-CN" sz="1400" dirty="0">
                <a:solidFill>
                  <a:srgbClr val="ABB2BF"/>
                </a:solidFill>
                <a:cs typeface="+mn-ea"/>
                <a:sym typeface="+mn-lt"/>
              </a:rPr>
              <a:t>    </a:t>
            </a:r>
            <a:r>
              <a:rPr lang="en-US" altLang="zh-CN" sz="1400" dirty="0">
                <a:solidFill>
                  <a:srgbClr val="E5C07B"/>
                </a:solidFill>
                <a:cs typeface="+mn-ea"/>
                <a:sym typeface="+mn-lt"/>
              </a:rPr>
              <a:t>Struct</a:t>
            </a:r>
            <a:r>
              <a:rPr lang="en-US" altLang="zh-CN" sz="1400" dirty="0">
                <a:solidFill>
                  <a:srgbClr val="ABB2BF"/>
                </a:solidFill>
                <a:cs typeface="+mn-ea"/>
                <a:sym typeface="+mn-lt"/>
              </a:rPr>
              <a:t>{</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E06C75"/>
                </a:solidFill>
                <a:cs typeface="+mn-ea"/>
                <a:sym typeface="+mn-lt"/>
              </a:rPr>
              <a:t>_</a:t>
            </a:r>
            <a:r>
              <a:rPr lang="en-US" altLang="zh-CN" sz="1400" dirty="0">
                <a:solidFill>
                  <a:srgbClr val="ABB2BF"/>
                </a:solidFill>
                <a:cs typeface="+mn-ea"/>
                <a:sym typeface="+mn-lt"/>
              </a:rPr>
              <a:t>, </a:t>
            </a:r>
            <a:r>
              <a:rPr lang="en-US" altLang="zh-CN" sz="1400" dirty="0">
                <a:solidFill>
                  <a:srgbClr val="E06C75"/>
                </a:solidFill>
                <a:cs typeface="+mn-ea"/>
                <a:sym typeface="+mn-lt"/>
              </a:rPr>
              <a:t>b</a:t>
            </a:r>
            <a:r>
              <a:rPr lang="en-US" altLang="zh-CN" sz="1400" dirty="0">
                <a:solidFill>
                  <a:srgbClr val="ABB2BF"/>
                </a:solidFill>
                <a:cs typeface="+mn-ea"/>
                <a:sym typeface="+mn-lt"/>
              </a:rPr>
              <a:t>: </a:t>
            </a:r>
            <a:r>
              <a:rPr lang="en-US" altLang="zh-CN" sz="1400" dirty="0">
                <a:solidFill>
                  <a:srgbClr val="E06C75"/>
                </a:solidFill>
                <a:cs typeface="+mn-ea"/>
                <a:sym typeface="+mn-lt"/>
              </a:rPr>
              <a:t>_</a:t>
            </a:r>
            <a:r>
              <a:rPr lang="en-US" altLang="zh-CN" sz="1400" dirty="0">
                <a:solidFill>
                  <a:srgbClr val="ABB2BF"/>
                </a:solidFill>
                <a:cs typeface="+mn-ea"/>
                <a:sym typeface="+mn-lt"/>
              </a:rPr>
              <a:t>, </a:t>
            </a:r>
            <a:r>
              <a:rPr lang="en-US" altLang="zh-CN" sz="1400" dirty="0">
                <a:solidFill>
                  <a:srgbClr val="E06C75"/>
                </a:solidFill>
                <a:cs typeface="+mn-ea"/>
                <a:sym typeface="+mn-lt"/>
              </a:rPr>
              <a:t>c</a:t>
            </a:r>
            <a:r>
              <a:rPr lang="en-US" altLang="zh-CN" sz="1400" dirty="0">
                <a:solidFill>
                  <a:srgbClr val="ABB2BF"/>
                </a:solidFill>
                <a:cs typeface="+mn-ea"/>
                <a:sym typeface="+mn-lt"/>
              </a:rPr>
              <a:t>: </a:t>
            </a:r>
            <a:r>
              <a:rPr lang="en-US" altLang="zh-CN" sz="1400" dirty="0">
                <a:solidFill>
                  <a:srgbClr val="E06C75"/>
                </a:solidFill>
                <a:cs typeface="+mn-ea"/>
                <a:sym typeface="+mn-lt"/>
              </a:rPr>
              <a:t>_</a:t>
            </a:r>
            <a:r>
              <a:rPr lang="en-US" altLang="zh-CN" sz="1400" dirty="0">
                <a:solidFill>
                  <a:srgbClr val="ABB2BF"/>
                </a:solidFill>
                <a:cs typeface="+mn-ea"/>
                <a:sym typeface="+mn-lt"/>
              </a:rPr>
              <a:t>} =&gt;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8" name="内容占位符 2"/>
          <p:cNvSpPr txBox="1"/>
          <p:nvPr/>
        </p:nvSpPr>
        <p:spPr>
          <a:xfrm>
            <a:off x="6535171" y="2201460"/>
            <a:ext cx="4682073" cy="400623"/>
          </a:xfrm>
          <a:prstGeom prst="rect">
            <a:avLst/>
          </a:prstGeom>
        </p:spPr>
        <p:txBody>
          <a:bodyPr lIns="0" tIns="0" rIns="0" bIns="0"/>
          <a:lstStyle>
            <a:lvl1pPr marL="12065" indent="0" algn="l" defTabSz="1188085" rtl="0" eaLnBrk="1" latinLnBrk="0" hangingPunct="1">
              <a:lnSpc>
                <a:spcPct val="100000"/>
              </a:lnSpc>
              <a:spcBef>
                <a:spcPts val="0"/>
              </a:spcBef>
              <a:buFontTx/>
              <a:buNone/>
              <a:tabLst>
                <a:tab pos="1208405"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2pPr>
            <a:lvl3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3pPr>
            <a:lvl4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4pPr>
            <a:lvl5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a:lstStyle>
          <a:p>
            <a:pPr marL="297815" indent="-285750">
              <a:lnSpc>
                <a:spcPct val="150000"/>
              </a:lnSpc>
              <a:buFont typeface="Arial" panose="020B0604020202020204" pitchFamily="34" charset="0"/>
              <a:buChar char="•"/>
            </a:pPr>
            <a:r>
              <a:rPr lang="zh-CN" altLang="en-US" sz="1600" dirty="0">
                <a:solidFill>
                  <a:srgbClr val="000000"/>
                </a:solidFill>
                <a:latin typeface="+mn-lt"/>
                <a:ea typeface="+mn-ea"/>
                <a:cs typeface="+mn-ea"/>
                <a:sym typeface="+mn-lt"/>
              </a:rPr>
              <a:t>如果不通过</a:t>
            </a:r>
            <a:r>
              <a:rPr lang="en-US" altLang="zh-CN" sz="1600" dirty="0">
                <a:solidFill>
                  <a:srgbClr val="000000"/>
                </a:solidFill>
                <a:latin typeface="+mn-lt"/>
                <a:ea typeface="+mn-ea"/>
                <a:cs typeface="+mn-ea"/>
                <a:sym typeface="+mn-lt"/>
              </a:rPr>
              <a:t>..</a:t>
            </a:r>
            <a:r>
              <a:rPr lang="zh-CN" altLang="en-US" sz="1600" dirty="0">
                <a:solidFill>
                  <a:srgbClr val="000000"/>
                </a:solidFill>
                <a:latin typeface="+mn-lt"/>
                <a:ea typeface="+mn-ea"/>
                <a:cs typeface="+mn-ea"/>
                <a:sym typeface="+mn-lt"/>
              </a:rPr>
              <a:t>省略的情况下需要匹配所有字段；</a:t>
            </a:r>
            <a:endParaRPr lang="en-US" altLang="zh-CN" sz="1600" dirty="0">
              <a:solidFill>
                <a:srgbClr val="000000"/>
              </a:solidFill>
              <a:latin typeface="+mn-lt"/>
              <a:ea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30749"/>
    </mc:Choice>
    <mc:Fallback xmlns="">
      <p:transition spd="slow" advTm="30749"/>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切片模式</a:t>
            </a:r>
          </a:p>
        </p:txBody>
      </p:sp>
      <p:sp>
        <p:nvSpPr>
          <p:cNvPr id="9" name="文本框 8"/>
          <p:cNvSpPr txBox="1"/>
          <p:nvPr/>
        </p:nvSpPr>
        <p:spPr>
          <a:xfrm>
            <a:off x="940825" y="2765798"/>
            <a:ext cx="6041682" cy="2709122"/>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no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r>
              <a:rPr lang="en-US" altLang="zh-CN" sz="1400" b="1" dirty="0">
                <a:solidFill>
                  <a:srgbClr val="00B050"/>
                </a:solidFill>
                <a:cs typeface="+mn-ea"/>
                <a:sym typeface="+mn-lt"/>
              </a:rPr>
              <a:t>1</a:t>
            </a:r>
            <a:endParaRPr lang="en-US" altLang="zh-CN" sz="1400" dirty="0">
              <a:solidFill>
                <a:srgbClr val="FFFFFF"/>
              </a:solidFill>
              <a:cs typeface="+mn-ea"/>
              <a:sym typeface="+mn-lt"/>
            </a:endParaRPr>
          </a:p>
          <a:p>
            <a:r>
              <a:rPr lang="en-US" altLang="zh-CN" sz="1200" i="1" dirty="0">
                <a:solidFill>
                  <a:srgbClr val="7F848E"/>
                </a:solidFill>
                <a:cs typeface="+mn-ea"/>
                <a:sym typeface="+mn-lt"/>
              </a:rPr>
              <a:t>// </a:t>
            </a:r>
            <a:r>
              <a:rPr lang="zh-CN" altLang="en-US" sz="1200" i="1" dirty="0">
                <a:solidFill>
                  <a:srgbClr val="7F848E"/>
                </a:solidFill>
                <a:cs typeface="+mn-ea"/>
                <a:sym typeface="+mn-lt"/>
              </a:rPr>
              <a:t>固定大小的数组</a:t>
            </a:r>
            <a:endParaRPr lang="en-US" altLang="zh-CN" sz="1200" i="1" dirty="0">
              <a:solidFill>
                <a:srgbClr val="7F848E"/>
              </a:solidFill>
              <a:cs typeface="+mn-ea"/>
              <a:sym typeface="+mn-lt"/>
            </a:endParaRP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E06C75"/>
                </a:solidFill>
                <a:cs typeface="+mn-ea"/>
                <a:sym typeface="+mn-lt"/>
              </a:rPr>
              <a:t>arr</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r>
              <a:rPr lang="en-US" altLang="zh-CN" sz="1200" dirty="0">
                <a:solidFill>
                  <a:srgbClr val="C678DD"/>
                </a:solidFill>
                <a:cs typeface="+mn-ea"/>
                <a:sym typeface="+mn-lt"/>
              </a:rPr>
              <a:t>match</a:t>
            </a:r>
            <a:r>
              <a:rPr lang="en-US" altLang="zh-CN" sz="1200" dirty="0">
                <a:solidFill>
                  <a:srgbClr val="ABB2BF"/>
                </a:solidFill>
                <a:cs typeface="+mn-ea"/>
                <a:sym typeface="+mn-lt"/>
              </a:rPr>
              <a:t> </a:t>
            </a:r>
            <a:r>
              <a:rPr lang="en-US" altLang="zh-CN" sz="1200" dirty="0" err="1">
                <a:solidFill>
                  <a:srgbClr val="E06C75"/>
                </a:solidFill>
                <a:cs typeface="+mn-ea"/>
                <a:sym typeface="+mn-lt"/>
              </a:rPr>
              <a:t>arr</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E06C75"/>
                </a:solidFill>
                <a:cs typeface="+mn-ea"/>
                <a:sym typeface="+mn-lt"/>
              </a:rPr>
              <a:t>_</a:t>
            </a:r>
            <a:r>
              <a:rPr lang="en-US" altLang="zh-CN" sz="1200" dirty="0">
                <a:solidFill>
                  <a:srgbClr val="ABB2BF"/>
                </a:solidFill>
                <a:cs typeface="+mn-ea"/>
                <a:sym typeface="+mn-lt"/>
              </a:rPr>
              <a:t>, </a:t>
            </a:r>
            <a:r>
              <a:rPr lang="en-US" altLang="zh-CN" sz="1200" dirty="0">
                <a:solidFill>
                  <a:srgbClr val="E06C75"/>
                </a:solidFill>
                <a:cs typeface="+mn-ea"/>
                <a:sym typeface="+mn-lt"/>
              </a:rPr>
              <a:t>_</a:t>
            </a:r>
            <a:r>
              <a:rPr lang="en-US" altLang="zh-CN" sz="1200" dirty="0">
                <a:solidFill>
                  <a:srgbClr val="ABB2BF"/>
                </a:solidFill>
                <a:cs typeface="+mn-ea"/>
                <a:sym typeface="+mn-lt"/>
              </a:rPr>
              <a:t>] =&gt; </a:t>
            </a:r>
            <a:r>
              <a:rPr lang="en-US" altLang="zh-CN" sz="1200" dirty="0">
                <a:solidFill>
                  <a:srgbClr val="98C379"/>
                </a:solidFill>
                <a:cs typeface="+mn-ea"/>
                <a:sym typeface="+mn-lt"/>
              </a:rPr>
              <a:t>"starts with one"</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a:t>
            </a:r>
            <a:r>
              <a:rPr lang="en-US" altLang="zh-CN" sz="1200" dirty="0">
                <a:solidFill>
                  <a:srgbClr val="E06C75"/>
                </a:solidFill>
                <a:cs typeface="+mn-ea"/>
                <a:sym typeface="+mn-lt"/>
              </a:rPr>
              <a:t>c</a:t>
            </a:r>
            <a:r>
              <a:rPr lang="en-US" altLang="zh-CN" sz="1200" dirty="0">
                <a:solidFill>
                  <a:srgbClr val="ABB2BF"/>
                </a:solidFill>
                <a:cs typeface="+mn-ea"/>
                <a:sym typeface="+mn-lt"/>
              </a:rPr>
              <a:t>] =&gt; </a:t>
            </a:r>
            <a:r>
              <a:rPr lang="en-US" altLang="zh-CN" sz="1200" dirty="0">
                <a:solidFill>
                  <a:srgbClr val="98C379"/>
                </a:solidFill>
                <a:cs typeface="+mn-ea"/>
                <a:sym typeface="+mn-lt"/>
              </a:rPr>
              <a:t>"starts with something else"</a:t>
            </a:r>
            <a:r>
              <a:rPr lang="en-US" altLang="zh-CN" sz="1200" dirty="0">
                <a:solidFill>
                  <a:srgbClr val="ABB2BF"/>
                </a:solidFill>
                <a:cs typeface="+mn-ea"/>
                <a:sym typeface="+mn-lt"/>
              </a:rPr>
              <a:t>,</a:t>
            </a:r>
          </a:p>
          <a:p>
            <a:r>
              <a:rPr lang="en-US" altLang="zh-CN" sz="1200" dirty="0">
                <a:solidFill>
                  <a:srgbClr val="ABB2BF"/>
                </a:solidFill>
                <a:cs typeface="+mn-ea"/>
                <a:sym typeface="+mn-lt"/>
              </a:rPr>
              <a:t>};</a:t>
            </a:r>
          </a:p>
          <a:p>
            <a:r>
              <a:rPr lang="en-US" altLang="zh-CN" sz="1200" i="1" dirty="0">
                <a:solidFill>
                  <a:srgbClr val="7F848E"/>
                </a:solidFill>
                <a:cs typeface="+mn-ea"/>
                <a:sym typeface="+mn-lt"/>
              </a:rPr>
              <a:t>// </a:t>
            </a:r>
            <a:r>
              <a:rPr lang="zh-CN" altLang="en-US" sz="1200" i="1" dirty="0">
                <a:solidFill>
                  <a:srgbClr val="7F848E"/>
                </a:solidFill>
                <a:cs typeface="+mn-ea"/>
                <a:sym typeface="+mn-lt"/>
              </a:rPr>
              <a:t>动态大小的数组</a:t>
            </a:r>
            <a:endParaRPr lang="en-US" altLang="zh-CN" sz="1200" dirty="0">
              <a:solidFill>
                <a:srgbClr val="ABB2BF"/>
              </a:solidFill>
              <a:cs typeface="+mn-ea"/>
              <a:sym typeface="+mn-lt"/>
            </a:endParaRP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v</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err="1">
                <a:solidFill>
                  <a:srgbClr val="61AFEF"/>
                </a:solidFill>
                <a:cs typeface="+mn-ea"/>
                <a:sym typeface="+mn-lt"/>
              </a:rPr>
              <a:t>vec</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r>
              <a:rPr lang="en-US" altLang="zh-CN" sz="1200" dirty="0">
                <a:solidFill>
                  <a:srgbClr val="C678DD"/>
                </a:solidFill>
                <a:cs typeface="+mn-ea"/>
                <a:sym typeface="+mn-lt"/>
              </a:rPr>
              <a:t>match</a:t>
            </a:r>
            <a:r>
              <a:rPr lang="en-US" altLang="zh-CN" sz="1200" dirty="0">
                <a:solidFill>
                  <a:srgbClr val="ABB2BF"/>
                </a:solidFill>
                <a:cs typeface="+mn-ea"/>
                <a:sym typeface="+mn-lt"/>
              </a:rPr>
              <a:t> </a:t>
            </a:r>
            <a:r>
              <a:rPr lang="en-US" altLang="zh-CN" sz="1200" dirty="0">
                <a:solidFill>
                  <a:srgbClr val="E06C75"/>
                </a:solidFill>
                <a:cs typeface="+mn-ea"/>
                <a:sym typeface="+mn-lt"/>
              </a:rPr>
              <a:t>v</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=&gt; { </a:t>
            </a:r>
            <a:r>
              <a:rPr lang="en-US" altLang="zh-CN" sz="1200" i="1" dirty="0">
                <a:solidFill>
                  <a:srgbClr val="7F848E"/>
                </a:solidFill>
                <a:cs typeface="+mn-ea"/>
                <a:sym typeface="+mn-lt"/>
              </a:rPr>
              <a:t>/* ... */</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a:t>
            </a:r>
            <a:r>
              <a:rPr lang="en-US" altLang="zh-CN" sz="1200" dirty="0">
                <a:solidFill>
                  <a:srgbClr val="E06C75"/>
                </a:solidFill>
                <a:cs typeface="+mn-ea"/>
                <a:sym typeface="+mn-lt"/>
              </a:rPr>
              <a:t>c</a:t>
            </a:r>
            <a:r>
              <a:rPr lang="en-US" altLang="zh-CN" sz="1200" dirty="0">
                <a:solidFill>
                  <a:srgbClr val="ABB2BF"/>
                </a:solidFill>
                <a:cs typeface="+mn-ea"/>
                <a:sym typeface="+mn-lt"/>
              </a:rPr>
              <a:t>] =&gt; { </a:t>
            </a:r>
            <a:r>
              <a:rPr lang="en-US" altLang="zh-CN" sz="1200" i="1" dirty="0">
                <a:solidFill>
                  <a:srgbClr val="7F848E"/>
                </a:solidFill>
                <a:cs typeface="+mn-ea"/>
                <a:sym typeface="+mn-lt"/>
              </a:rPr>
              <a:t>/* ... */</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_</a:t>
            </a:r>
            <a:r>
              <a:rPr lang="en-US" altLang="zh-CN" sz="1200" dirty="0">
                <a:solidFill>
                  <a:srgbClr val="ABB2BF"/>
                </a:solidFill>
                <a:cs typeface="+mn-ea"/>
                <a:sym typeface="+mn-lt"/>
              </a:rPr>
              <a:t> =&gt; { </a:t>
            </a:r>
            <a:r>
              <a:rPr lang="en-US" altLang="zh-CN" sz="1200" i="1" dirty="0">
                <a:solidFill>
                  <a:srgbClr val="7F848E"/>
                </a:solidFill>
                <a:cs typeface="+mn-ea"/>
                <a:sym typeface="+mn-lt"/>
              </a:rPr>
              <a:t>/* ... */</a:t>
            </a:r>
            <a:r>
              <a:rPr lang="en-US" altLang="zh-CN" sz="1200" dirty="0">
                <a:solidFill>
                  <a:srgbClr val="ABB2BF"/>
                </a:solidFill>
                <a:cs typeface="+mn-ea"/>
                <a:sym typeface="+mn-lt"/>
              </a:rPr>
              <a:t> }</a:t>
            </a:r>
          </a:p>
          <a:p>
            <a:r>
              <a:rPr lang="en-US" altLang="zh-CN" sz="1200" dirty="0">
                <a:solidFill>
                  <a:srgbClr val="ABB2BF"/>
                </a:solidFill>
                <a:cs typeface="+mn-ea"/>
                <a:sym typeface="+mn-lt"/>
              </a:rPr>
              <a:t>};</a:t>
            </a:r>
          </a:p>
        </p:txBody>
      </p:sp>
      <p:cxnSp>
        <p:nvCxnSpPr>
          <p:cNvPr id="6" name="直接连接符 5"/>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19872" y="873444"/>
            <a:ext cx="10740640" cy="170816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solidFill>
                  <a:srgbClr val="000000"/>
                </a:solidFill>
                <a:cs typeface="+mn-ea"/>
                <a:sym typeface="+mn-lt"/>
              </a:rPr>
              <a:t>切片模式可以匹配固定大小的数组和动态大小的切片，参见代码示例</a:t>
            </a:r>
            <a:r>
              <a:rPr lang="en-US" altLang="zh-CN" sz="1400" dirty="0">
                <a:solidFill>
                  <a:srgbClr val="000000"/>
                </a:solidFill>
                <a:cs typeface="+mn-ea"/>
                <a:sym typeface="+mn-lt"/>
              </a:rPr>
              <a:t>1</a:t>
            </a:r>
            <a:r>
              <a:rPr lang="zh-CN" altLang="en-US" sz="1400" dirty="0">
                <a:solidFill>
                  <a:srgbClr val="000000"/>
                </a:solidFill>
                <a:cs typeface="+mn-ea"/>
                <a:sym typeface="+mn-lt"/>
              </a:rPr>
              <a:t>；</a:t>
            </a:r>
            <a:endParaRPr lang="en-US" altLang="zh-CN" sz="1400" dirty="0">
              <a:solidFill>
                <a:srgbClr val="000000"/>
              </a:solidFill>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匹配数组时，只要每个元素都是不可反驳的（</a:t>
            </a:r>
            <a:r>
              <a:rPr lang="en-US" altLang="zh-CN" sz="1400" dirty="0">
                <a:cs typeface="+mn-ea"/>
                <a:sym typeface="+mn-lt"/>
              </a:rPr>
              <a:t>irrefutable</a:t>
            </a:r>
            <a:r>
              <a:rPr lang="zh-CN" altLang="en-US" sz="1400" dirty="0">
                <a:cs typeface="+mn-ea"/>
                <a:sym typeface="+mn-lt"/>
              </a:rPr>
              <a:t>），切片模式就是不可反驳的；</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匹配切片时，只有在单个 </a:t>
            </a:r>
            <a:r>
              <a:rPr lang="en-US" altLang="zh-CN" sz="1400" dirty="0">
                <a:cs typeface="+mn-ea"/>
                <a:sym typeface="+mn-lt"/>
              </a:rPr>
              <a:t>.. </a:t>
            </a:r>
            <a:r>
              <a:rPr lang="zh-CN" altLang="en-US" sz="1400" dirty="0">
                <a:cs typeface="+mn-ea"/>
                <a:sym typeface="+mn-lt"/>
              </a:rPr>
              <a:t>模式或带有 </a:t>
            </a:r>
            <a:r>
              <a:rPr lang="en-US" altLang="zh-CN" sz="1400" dirty="0">
                <a:cs typeface="+mn-ea"/>
                <a:sym typeface="+mn-lt"/>
              </a:rPr>
              <a:t>.. </a:t>
            </a:r>
            <a:r>
              <a:rPr lang="zh-CN" altLang="en-US" sz="1400" dirty="0">
                <a:cs typeface="+mn-ea"/>
                <a:sym typeface="+mn-lt"/>
              </a:rPr>
              <a:t>子模式的标识符模式的形式下，它才是不可反驳的，</a:t>
            </a:r>
            <a:r>
              <a:rPr lang="zh-CN" altLang="en-US" sz="1400" dirty="0">
                <a:solidFill>
                  <a:srgbClr val="000000"/>
                </a:solidFill>
                <a:cs typeface="+mn-ea"/>
                <a:sym typeface="+mn-lt"/>
              </a:rPr>
              <a:t>参见代码示例</a:t>
            </a:r>
            <a:r>
              <a:rPr lang="en-US" altLang="zh-CN" sz="1400" dirty="0">
                <a:solidFill>
                  <a:srgbClr val="000000"/>
                </a:solidFill>
                <a:cs typeface="+mn-ea"/>
                <a:sym typeface="+mn-lt"/>
              </a:rPr>
              <a:t>2</a:t>
            </a:r>
            <a:r>
              <a:rPr lang="zh-CN" altLang="en-US" sz="1400" dirty="0">
                <a:cs typeface="+mn-ea"/>
                <a:sym typeface="+mn-lt"/>
              </a:rPr>
              <a:t>；</a:t>
            </a:r>
          </a:p>
          <a:p>
            <a:pPr marL="285750" indent="-285750">
              <a:lnSpc>
                <a:spcPct val="150000"/>
              </a:lnSpc>
              <a:buFont typeface="Arial" panose="020B0604020202020204" pitchFamily="34" charset="0"/>
              <a:buChar char="•"/>
            </a:pPr>
            <a:r>
              <a:rPr lang="zh-CN" altLang="en-US" sz="1400" dirty="0">
                <a:cs typeface="+mn-ea"/>
                <a:sym typeface="+mn-lt"/>
              </a:rPr>
              <a:t>在切片内部，没有上下界的范围模式必须用括号括起来，例如 </a:t>
            </a:r>
            <a:r>
              <a:rPr lang="en-US" altLang="zh-CN" sz="1400" dirty="0">
                <a:cs typeface="+mn-ea"/>
                <a:sym typeface="+mn-lt"/>
              </a:rPr>
              <a:t>(a..)</a:t>
            </a:r>
            <a:r>
              <a:rPr lang="zh-CN" altLang="en-US" sz="1400" dirty="0">
                <a:cs typeface="+mn-ea"/>
                <a:sym typeface="+mn-lt"/>
              </a:rPr>
              <a:t>，以明确它是针对单个切片元素进行匹配的。具有上下界的范围模式，如 </a:t>
            </a:r>
            <a:r>
              <a:rPr lang="en-US" altLang="zh-CN" sz="1400" dirty="0">
                <a:cs typeface="+mn-ea"/>
                <a:sym typeface="+mn-lt"/>
              </a:rPr>
              <a:t>a..=b</a:t>
            </a:r>
            <a:r>
              <a:rPr lang="zh-CN" altLang="en-US" sz="1400" dirty="0">
                <a:cs typeface="+mn-ea"/>
                <a:sym typeface="+mn-lt"/>
              </a:rPr>
              <a:t>，则不需要用括号括起来，</a:t>
            </a:r>
            <a:r>
              <a:rPr lang="zh-CN" altLang="en-US" sz="1400" dirty="0">
                <a:solidFill>
                  <a:srgbClr val="000000"/>
                </a:solidFill>
                <a:cs typeface="+mn-ea"/>
                <a:sym typeface="+mn-lt"/>
              </a:rPr>
              <a:t>参见代码示例</a:t>
            </a:r>
            <a:r>
              <a:rPr lang="en-US" altLang="zh-CN" sz="1400" dirty="0">
                <a:solidFill>
                  <a:srgbClr val="000000"/>
                </a:solidFill>
                <a:cs typeface="+mn-ea"/>
                <a:sym typeface="+mn-lt"/>
              </a:rPr>
              <a:t>3</a:t>
            </a:r>
            <a:r>
              <a:rPr lang="zh-CN" altLang="en-US" sz="1400" dirty="0">
                <a:cs typeface="+mn-ea"/>
                <a:sym typeface="+mn-lt"/>
              </a:rPr>
              <a:t>；</a:t>
            </a:r>
          </a:p>
        </p:txBody>
      </p:sp>
      <p:sp>
        <p:nvSpPr>
          <p:cNvPr id="8" name="文本框 7"/>
          <p:cNvSpPr txBox="1"/>
          <p:nvPr/>
        </p:nvSpPr>
        <p:spPr>
          <a:xfrm>
            <a:off x="7972037" y="2754138"/>
            <a:ext cx="3152480" cy="1231106"/>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r>
              <a:rPr lang="en-US" altLang="zh-CN" sz="1400" b="1" dirty="0">
                <a:solidFill>
                  <a:srgbClr val="00B050"/>
                </a:solidFill>
                <a:cs typeface="+mn-ea"/>
                <a:sym typeface="+mn-lt"/>
              </a:rPr>
              <a:t>2</a:t>
            </a:r>
            <a:endParaRPr lang="en-US" altLang="zh-CN" sz="1400" dirty="0">
              <a:solidFill>
                <a:srgbClr val="FFFFFF"/>
              </a:solidFill>
              <a:cs typeface="+mn-ea"/>
              <a:sym typeface="+mn-lt"/>
            </a:endParaRP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slice</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 ..]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E06C75"/>
                </a:solidFill>
                <a:cs typeface="+mn-ea"/>
                <a:sym typeface="+mn-lt"/>
              </a:rPr>
              <a:t>slice</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61AFEF"/>
                </a:solidFill>
                <a:cs typeface="+mn-ea"/>
                <a:sym typeface="+mn-lt"/>
              </a:rPr>
              <a:t>println</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98C379"/>
                </a:solidFill>
                <a:cs typeface="+mn-ea"/>
                <a:sym typeface="+mn-lt"/>
              </a:rPr>
              <a:t>"a: {}, b: {}"</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E06C75"/>
                </a:solidFill>
                <a:cs typeface="+mn-ea"/>
                <a:sym typeface="+mn-lt"/>
              </a:rPr>
              <a:t>b</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
        <p:nvSpPr>
          <p:cNvPr id="10" name="文本框 9"/>
          <p:cNvSpPr txBox="1"/>
          <p:nvPr/>
        </p:nvSpPr>
        <p:spPr>
          <a:xfrm>
            <a:off x="7972037" y="4231466"/>
            <a:ext cx="3152482" cy="1231106"/>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r>
              <a:rPr lang="en-US" altLang="zh-CN" sz="1400" b="1" dirty="0">
                <a:solidFill>
                  <a:srgbClr val="00B050"/>
                </a:solidFill>
                <a:cs typeface="+mn-ea"/>
                <a:sym typeface="+mn-lt"/>
              </a:rPr>
              <a:t>3</a:t>
            </a:r>
            <a:endParaRPr lang="en-US" altLang="zh-CN" sz="1400" dirty="0">
              <a:solidFill>
                <a:srgbClr val="FFFFFF"/>
              </a:solidFill>
              <a:cs typeface="+mn-ea"/>
              <a:sym typeface="+mn-lt"/>
            </a:endParaRPr>
          </a:p>
          <a:p>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slice</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D19A66"/>
                </a:solidFill>
                <a:cs typeface="+mn-ea"/>
                <a:sym typeface="+mn-lt"/>
              </a:rPr>
              <a:t>3</a:t>
            </a:r>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dirty="0">
                <a:solidFill>
                  <a:srgbClr val="C678DD"/>
                </a:solidFill>
                <a:cs typeface="+mn-ea"/>
                <a:sym typeface="+mn-lt"/>
              </a:rPr>
              <a:t>if</a:t>
            </a:r>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D19A66"/>
                </a:solidFill>
                <a:cs typeface="+mn-ea"/>
                <a:sym typeface="+mn-lt"/>
              </a:rPr>
              <a:t>2</a:t>
            </a:r>
            <a:r>
              <a:rPr lang="en-US" altLang="zh-CN" sz="1200" dirty="0">
                <a:solidFill>
                  <a:srgbClr val="ABB2BF"/>
                </a:solidFill>
                <a:cs typeface="+mn-ea"/>
                <a:sym typeface="+mn-lt"/>
              </a:rPr>
              <a:t>..), </a:t>
            </a:r>
            <a:r>
              <a:rPr lang="en-US" altLang="zh-CN" sz="1200" dirty="0">
                <a:solidFill>
                  <a:srgbClr val="E06C75"/>
                </a:solidFill>
                <a:cs typeface="+mn-ea"/>
                <a:sym typeface="+mn-lt"/>
              </a:rPr>
              <a:t>c</a:t>
            </a:r>
            <a:r>
              <a:rPr lang="en-US" altLang="zh-CN" sz="1200" dirty="0">
                <a:solidFill>
                  <a:srgbClr val="ABB2BF"/>
                </a:solidFill>
                <a:cs typeface="+mn-ea"/>
                <a:sym typeface="+mn-lt"/>
              </a:rPr>
              <a:t>] </a:t>
            </a:r>
            <a:r>
              <a:rPr lang="en-US" altLang="zh-CN" sz="1200" dirty="0">
                <a:solidFill>
                  <a:srgbClr val="56B6C2"/>
                </a:solidFill>
                <a:cs typeface="+mn-ea"/>
                <a:sym typeface="+mn-lt"/>
              </a:rPr>
              <a:t>=</a:t>
            </a:r>
            <a:r>
              <a:rPr lang="en-US" altLang="zh-CN" sz="1200" dirty="0">
                <a:solidFill>
                  <a:srgbClr val="ABB2BF"/>
                </a:solidFill>
                <a:cs typeface="+mn-ea"/>
                <a:sym typeface="+mn-lt"/>
              </a:rPr>
              <a:t> </a:t>
            </a:r>
            <a:r>
              <a:rPr lang="en-US" altLang="zh-CN" sz="1200" dirty="0">
                <a:solidFill>
                  <a:srgbClr val="E06C75"/>
                </a:solidFill>
                <a:cs typeface="+mn-ea"/>
                <a:sym typeface="+mn-lt"/>
              </a:rPr>
              <a:t>slice</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err="1">
                <a:solidFill>
                  <a:srgbClr val="61AFEF"/>
                </a:solidFill>
                <a:cs typeface="+mn-ea"/>
                <a:sym typeface="+mn-lt"/>
              </a:rPr>
              <a:t>println</a:t>
            </a:r>
            <a:r>
              <a:rPr lang="en-US" altLang="zh-CN" sz="1200" dirty="0">
                <a:solidFill>
                  <a:srgbClr val="61AFEF"/>
                </a:solidFill>
                <a:cs typeface="+mn-ea"/>
                <a:sym typeface="+mn-lt"/>
              </a:rPr>
              <a:t>!</a:t>
            </a:r>
            <a:r>
              <a:rPr lang="en-US" altLang="zh-CN" sz="1200" dirty="0">
                <a:solidFill>
                  <a:srgbClr val="ABB2BF"/>
                </a:solidFill>
                <a:cs typeface="+mn-ea"/>
                <a:sym typeface="+mn-lt"/>
              </a:rPr>
              <a:t>(</a:t>
            </a:r>
            <a:r>
              <a:rPr lang="en-US" altLang="zh-CN" sz="1200" dirty="0">
                <a:solidFill>
                  <a:srgbClr val="98C379"/>
                </a:solidFill>
                <a:cs typeface="+mn-ea"/>
                <a:sym typeface="+mn-lt"/>
              </a:rPr>
              <a:t>"a: {}, c: {}"</a:t>
            </a:r>
            <a:r>
              <a:rPr lang="en-US" altLang="zh-CN" sz="1200" dirty="0">
                <a:solidFill>
                  <a:srgbClr val="ABB2BF"/>
                </a:solidFill>
                <a:cs typeface="+mn-ea"/>
                <a:sym typeface="+mn-lt"/>
              </a:rPr>
              <a:t>, </a:t>
            </a:r>
            <a:r>
              <a:rPr lang="en-US" altLang="zh-CN" sz="1200" dirty="0">
                <a:solidFill>
                  <a:srgbClr val="E06C75"/>
                </a:solidFill>
                <a:cs typeface="+mn-ea"/>
                <a:sym typeface="+mn-lt"/>
              </a:rPr>
              <a:t>a</a:t>
            </a:r>
            <a:r>
              <a:rPr lang="en-US" altLang="zh-CN" sz="1200" dirty="0">
                <a:solidFill>
                  <a:srgbClr val="ABB2BF"/>
                </a:solidFill>
                <a:cs typeface="+mn-ea"/>
                <a:sym typeface="+mn-lt"/>
              </a:rPr>
              <a:t>, </a:t>
            </a:r>
            <a:r>
              <a:rPr lang="en-US" altLang="zh-CN" sz="1200" dirty="0">
                <a:solidFill>
                  <a:srgbClr val="E06C75"/>
                </a:solidFill>
                <a:cs typeface="+mn-ea"/>
                <a:sym typeface="+mn-lt"/>
              </a:rPr>
              <a:t>c</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51031"/>
    </mc:Choice>
    <mc:Fallback xmlns="">
      <p:transition spd="slow" advTm="5103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319872" y="200875"/>
            <a:ext cx="10740640" cy="510517"/>
          </a:xfrm>
        </p:spPr>
        <p:txBody>
          <a:bodyPr/>
          <a:lstStyle/>
          <a:p>
            <a:r>
              <a:rPr lang="zh-CN" altLang="en-US" b="1" dirty="0">
                <a:solidFill>
                  <a:srgbClr val="C00000"/>
                </a:solidFill>
                <a:latin typeface="+mn-lt"/>
                <a:ea typeface="+mn-ea"/>
                <a:cs typeface="+mn-ea"/>
                <a:sym typeface="+mn-lt"/>
              </a:rPr>
              <a:t>模式匹配</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变量绑定</a:t>
            </a:r>
          </a:p>
        </p:txBody>
      </p:sp>
      <p:cxnSp>
        <p:nvCxnSpPr>
          <p:cNvPr id="6" name="直接连接符 5"/>
          <p:cNvCxnSpPr/>
          <p:nvPr/>
        </p:nvCxnSpPr>
        <p:spPr>
          <a:xfrm>
            <a:off x="319872" y="700908"/>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右箭头 3"/>
          <p:cNvSpPr/>
          <p:nvPr/>
        </p:nvSpPr>
        <p:spPr>
          <a:xfrm>
            <a:off x="4018057" y="2034242"/>
            <a:ext cx="404037" cy="397933"/>
          </a:xfrm>
          <a:prstGeom prst="rightArrow">
            <a:avLst>
              <a:gd name="adj1" fmla="val 50000"/>
              <a:gd name="adj2" fmla="val 54481"/>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矩形 8"/>
          <p:cNvSpPr/>
          <p:nvPr/>
        </p:nvSpPr>
        <p:spPr>
          <a:xfrm>
            <a:off x="497477" y="788173"/>
            <a:ext cx="9968329" cy="7875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600" dirty="0">
                <a:cs typeface="+mn-ea"/>
                <a:sym typeface="+mn-lt"/>
              </a:rPr>
              <a:t>模式匹配允许使用变量绑定来捕获匹配的值，当模式匹配成功时，变量绑定会捕获匹配的值；</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当你使用变量绑定时，</a:t>
            </a:r>
            <a:r>
              <a:rPr lang="en-US" altLang="zh-CN" sz="1600" dirty="0">
                <a:cs typeface="+mn-ea"/>
                <a:sym typeface="+mn-lt"/>
              </a:rPr>
              <a:t>Rust </a:t>
            </a:r>
            <a:r>
              <a:rPr lang="zh-CN" altLang="en-US" sz="1600" dirty="0">
                <a:cs typeface="+mn-ea"/>
                <a:sym typeface="+mn-lt"/>
              </a:rPr>
              <a:t>会自动推断变量的类型，这意味着你不需要显式指定变量的类型；</a:t>
            </a:r>
            <a:endParaRPr lang="en-US" altLang="zh-CN" sz="1600" dirty="0">
              <a:cs typeface="+mn-ea"/>
              <a:sym typeface="+mn-lt"/>
            </a:endParaRPr>
          </a:p>
        </p:txBody>
      </p:sp>
      <p:sp>
        <p:nvSpPr>
          <p:cNvPr id="10" name="矩形 9"/>
          <p:cNvSpPr/>
          <p:nvPr/>
        </p:nvSpPr>
        <p:spPr>
          <a:xfrm>
            <a:off x="602133" y="1685308"/>
            <a:ext cx="3245588" cy="1384995"/>
          </a:xfrm>
          <a:prstGeom prst="rect">
            <a:avLst/>
          </a:prstGeom>
          <a:solidFill>
            <a:schemeClr val="tx1"/>
          </a:solidFill>
        </p:spPr>
        <p:txBody>
          <a:bodyPr wrap="square">
            <a:spAutoFit/>
          </a:bodyPr>
          <a:lstStyle/>
          <a:p>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s-ES" altLang="zh-CN" sz="1400" dirty="0">
              <a:solidFill>
                <a:srgbClr val="C678DD"/>
              </a:solidFill>
              <a:cs typeface="+mn-ea"/>
              <a:sym typeface="+mn-lt"/>
            </a:endParaRPr>
          </a:p>
          <a:p>
            <a:r>
              <a:rPr lang="es-ES" altLang="zh-CN" sz="1400" dirty="0">
                <a:solidFill>
                  <a:srgbClr val="C678DD"/>
                </a:solidFill>
                <a:cs typeface="+mn-ea"/>
                <a:sym typeface="+mn-lt"/>
              </a:rPr>
              <a:t>let</a:t>
            </a:r>
            <a:r>
              <a:rPr lang="es-ES" altLang="zh-CN" sz="1400" dirty="0">
                <a:solidFill>
                  <a:srgbClr val="ABB2BF"/>
                </a:solidFill>
                <a:cs typeface="+mn-ea"/>
                <a:sym typeface="+mn-lt"/>
              </a:rPr>
              <a:t> </a:t>
            </a:r>
            <a:r>
              <a:rPr lang="es-ES" altLang="zh-CN" sz="1400" dirty="0">
                <a:solidFill>
                  <a:srgbClr val="E06C75"/>
                </a:solidFill>
                <a:cs typeface="+mn-ea"/>
                <a:sym typeface="+mn-lt"/>
              </a:rPr>
              <a:t>x</a:t>
            </a:r>
            <a:r>
              <a:rPr lang="es-ES" altLang="zh-CN" sz="1400" dirty="0">
                <a:solidFill>
                  <a:srgbClr val="ABB2BF"/>
                </a:solidFill>
                <a:cs typeface="+mn-ea"/>
                <a:sym typeface="+mn-lt"/>
              </a:rPr>
              <a:t> </a:t>
            </a:r>
            <a:r>
              <a:rPr lang="es-ES" altLang="zh-CN" sz="1400" dirty="0">
                <a:solidFill>
                  <a:srgbClr val="56B6C2"/>
                </a:solidFill>
                <a:cs typeface="+mn-ea"/>
                <a:sym typeface="+mn-lt"/>
              </a:rPr>
              <a:t>=</a:t>
            </a:r>
            <a:r>
              <a:rPr lang="es-ES" altLang="zh-CN" sz="1400" dirty="0">
                <a:solidFill>
                  <a:srgbClr val="ABB2BF"/>
                </a:solidFill>
                <a:cs typeface="+mn-ea"/>
                <a:sym typeface="+mn-lt"/>
              </a:rPr>
              <a:t> </a:t>
            </a:r>
            <a:r>
              <a:rPr lang="es-ES" altLang="zh-CN" sz="1400" dirty="0">
                <a:solidFill>
                  <a:srgbClr val="D19A66"/>
                </a:solidFill>
                <a:cs typeface="+mn-ea"/>
                <a:sym typeface="+mn-lt"/>
              </a:rPr>
              <a:t>5</a:t>
            </a:r>
            <a:r>
              <a:rPr lang="es-ES" altLang="zh-CN" sz="1400" dirty="0">
                <a:solidFill>
                  <a:srgbClr val="ABB2BF"/>
                </a:solidFill>
                <a:cs typeface="+mn-ea"/>
                <a:sym typeface="+mn-lt"/>
              </a:rPr>
              <a:t>;</a:t>
            </a:r>
          </a:p>
          <a:p>
            <a:br>
              <a:rPr lang="es-ES" altLang="zh-CN" sz="1400" dirty="0">
                <a:solidFill>
                  <a:srgbClr val="ABB2BF"/>
                </a:solidFill>
                <a:cs typeface="+mn-ea"/>
                <a:sym typeface="+mn-lt"/>
              </a:rPr>
            </a:br>
            <a:r>
              <a:rPr lang="es-ES" altLang="zh-CN" sz="1400" dirty="0">
                <a:solidFill>
                  <a:srgbClr val="C678DD"/>
                </a:solidFill>
                <a:cs typeface="+mn-ea"/>
                <a:sym typeface="+mn-lt"/>
              </a:rPr>
              <a:t>match</a:t>
            </a:r>
            <a:r>
              <a:rPr lang="es-ES" altLang="zh-CN" sz="1400" dirty="0">
                <a:solidFill>
                  <a:srgbClr val="ABB2BF"/>
                </a:solidFill>
                <a:cs typeface="+mn-ea"/>
                <a:sym typeface="+mn-lt"/>
              </a:rPr>
              <a:t> </a:t>
            </a:r>
            <a:r>
              <a:rPr lang="es-ES" altLang="zh-CN" sz="1400" dirty="0">
                <a:solidFill>
                  <a:srgbClr val="E06C75"/>
                </a:solidFill>
                <a:cs typeface="+mn-ea"/>
                <a:sym typeface="+mn-lt"/>
              </a:rPr>
              <a:t>x</a:t>
            </a:r>
            <a:r>
              <a:rPr lang="es-ES" altLang="zh-CN" sz="1400" dirty="0">
                <a:solidFill>
                  <a:srgbClr val="ABB2BF"/>
                </a:solidFill>
                <a:cs typeface="+mn-ea"/>
                <a:sym typeface="+mn-lt"/>
              </a:rPr>
              <a:t> {</a:t>
            </a:r>
          </a:p>
          <a:p>
            <a:r>
              <a:rPr lang="es-ES" altLang="zh-CN" sz="1400" dirty="0">
                <a:solidFill>
                  <a:srgbClr val="ABB2BF"/>
                </a:solidFill>
                <a:cs typeface="+mn-ea"/>
                <a:sym typeface="+mn-lt"/>
              </a:rPr>
              <a:t>    </a:t>
            </a:r>
            <a:r>
              <a:rPr lang="es-ES" altLang="zh-CN" sz="1400" dirty="0">
                <a:solidFill>
                  <a:srgbClr val="E06C75"/>
                </a:solidFill>
                <a:cs typeface="+mn-ea"/>
                <a:sym typeface="+mn-lt"/>
              </a:rPr>
              <a:t>y</a:t>
            </a:r>
            <a:r>
              <a:rPr lang="es-ES" altLang="zh-CN" sz="1400" dirty="0">
                <a:solidFill>
                  <a:srgbClr val="ABB2BF"/>
                </a:solidFill>
                <a:cs typeface="+mn-ea"/>
                <a:sym typeface="+mn-lt"/>
              </a:rPr>
              <a:t> =&gt; </a:t>
            </a:r>
            <a:r>
              <a:rPr lang="es-ES" altLang="zh-CN" sz="1400" dirty="0">
                <a:solidFill>
                  <a:srgbClr val="61AFEF"/>
                </a:solidFill>
                <a:cs typeface="+mn-ea"/>
                <a:sym typeface="+mn-lt"/>
              </a:rPr>
              <a:t>println!</a:t>
            </a:r>
            <a:r>
              <a:rPr lang="es-ES" altLang="zh-CN" sz="1400" dirty="0">
                <a:solidFill>
                  <a:srgbClr val="ABB2BF"/>
                </a:solidFill>
                <a:cs typeface="+mn-ea"/>
                <a:sym typeface="+mn-lt"/>
              </a:rPr>
              <a:t>(</a:t>
            </a:r>
            <a:r>
              <a:rPr lang="es-ES" altLang="zh-CN" sz="1400" dirty="0">
                <a:solidFill>
                  <a:srgbClr val="98C379"/>
                </a:solidFill>
                <a:cs typeface="+mn-ea"/>
                <a:sym typeface="+mn-lt"/>
              </a:rPr>
              <a:t>"y: {}"</a:t>
            </a:r>
            <a:r>
              <a:rPr lang="es-ES" altLang="zh-CN" sz="1400" dirty="0">
                <a:solidFill>
                  <a:srgbClr val="ABB2BF"/>
                </a:solidFill>
                <a:cs typeface="+mn-ea"/>
                <a:sym typeface="+mn-lt"/>
              </a:rPr>
              <a:t>, </a:t>
            </a:r>
            <a:r>
              <a:rPr lang="es-ES" altLang="zh-CN" sz="1400" dirty="0">
                <a:solidFill>
                  <a:srgbClr val="E06C75"/>
                </a:solidFill>
                <a:cs typeface="+mn-ea"/>
                <a:sym typeface="+mn-lt"/>
              </a:rPr>
              <a:t>y</a:t>
            </a:r>
            <a:r>
              <a:rPr lang="es-ES" altLang="zh-CN" sz="1400" dirty="0">
                <a:solidFill>
                  <a:srgbClr val="ABB2BF"/>
                </a:solidFill>
                <a:cs typeface="+mn-ea"/>
                <a:sym typeface="+mn-lt"/>
              </a:rPr>
              <a:t>),</a:t>
            </a:r>
          </a:p>
          <a:p>
            <a:r>
              <a:rPr lang="es-ES" altLang="zh-CN" sz="1400" dirty="0">
                <a:solidFill>
                  <a:srgbClr val="ABB2BF"/>
                </a:solidFill>
                <a:cs typeface="+mn-ea"/>
                <a:sym typeface="+mn-lt"/>
              </a:rPr>
              <a:t>}</a:t>
            </a:r>
            <a:endParaRPr lang="es-ES" altLang="zh-CN" sz="1400" b="0" dirty="0">
              <a:solidFill>
                <a:srgbClr val="ABB2BF"/>
              </a:solidFill>
              <a:effectLst/>
              <a:cs typeface="+mn-ea"/>
              <a:sym typeface="+mn-lt"/>
            </a:endParaRPr>
          </a:p>
        </p:txBody>
      </p:sp>
      <p:pic>
        <p:nvPicPr>
          <p:cNvPr id="11" name="图片 10"/>
          <p:cNvPicPr>
            <a:picLocks noChangeAspect="1"/>
          </p:cNvPicPr>
          <p:nvPr/>
        </p:nvPicPr>
        <p:blipFill>
          <a:blip r:embed="rId3"/>
          <a:stretch>
            <a:fillRect/>
          </a:stretch>
        </p:blipFill>
        <p:spPr>
          <a:xfrm>
            <a:off x="4592430" y="1905755"/>
            <a:ext cx="4219575" cy="666750"/>
          </a:xfrm>
          <a:prstGeom prst="rect">
            <a:avLst/>
          </a:prstGeom>
        </p:spPr>
      </p:pic>
      <p:sp>
        <p:nvSpPr>
          <p:cNvPr id="13" name="矩形 12"/>
          <p:cNvSpPr/>
          <p:nvPr/>
        </p:nvSpPr>
        <p:spPr>
          <a:xfrm>
            <a:off x="602133" y="3725804"/>
            <a:ext cx="9863673" cy="338554"/>
          </a:xfrm>
          <a:prstGeom prst="rect">
            <a:avLst/>
          </a:prstGeom>
        </p:spPr>
        <p:txBody>
          <a:bodyPr wrap="square">
            <a:spAutoFit/>
          </a:bodyPr>
          <a:lstStyle/>
          <a:p>
            <a:pPr marL="285750" indent="-285750">
              <a:buFont typeface="Arial" panose="020B0604020202020204" pitchFamily="34" charset="0"/>
              <a:buChar char="•"/>
            </a:pPr>
            <a:r>
              <a:rPr lang="en-US" altLang="zh-CN" sz="1600" dirty="0">
                <a:cs typeface="+mn-ea"/>
                <a:sym typeface="+mn-lt"/>
              </a:rPr>
              <a:t>mut</a:t>
            </a:r>
            <a:r>
              <a:rPr lang="zh-CN" altLang="en-US" sz="1600" dirty="0">
                <a:cs typeface="+mn-ea"/>
                <a:sym typeface="+mn-lt"/>
              </a:rPr>
              <a:t> 修饰符允许你创建一个可变绑定，这意味着你可以在匹配后修改捕获的值；</a:t>
            </a:r>
            <a:endParaRPr lang="zh-CN" altLang="zh-CN" sz="1600" dirty="0">
              <a:cs typeface="+mn-ea"/>
              <a:sym typeface="+mn-lt"/>
            </a:endParaRPr>
          </a:p>
        </p:txBody>
      </p:sp>
      <p:sp>
        <p:nvSpPr>
          <p:cNvPr id="14" name="矩形 13"/>
          <p:cNvSpPr/>
          <p:nvPr/>
        </p:nvSpPr>
        <p:spPr>
          <a:xfrm>
            <a:off x="606217" y="4130793"/>
            <a:ext cx="3150971" cy="1815882"/>
          </a:xfrm>
          <a:prstGeom prst="rect">
            <a:avLst/>
          </a:prstGeom>
          <a:solidFill>
            <a:schemeClr val="tx1"/>
          </a:solidFill>
        </p:spPr>
        <p:txBody>
          <a:bodyPr wrap="square">
            <a:spAutoFit/>
          </a:bodyPr>
          <a:lstStyle/>
          <a:p>
            <a:r>
              <a:rPr lang="es-ES" altLang="zh-CN" sz="1400" dirty="0">
                <a:solidFill>
                  <a:srgbClr val="C678DD"/>
                </a:solidFill>
                <a:cs typeface="+mn-ea"/>
                <a:sym typeface="+mn-lt"/>
              </a:rPr>
              <a:t>let</a:t>
            </a:r>
            <a:r>
              <a:rPr lang="es-ES" altLang="zh-CN" sz="1400" dirty="0">
                <a:solidFill>
                  <a:srgbClr val="ABB2BF"/>
                </a:solidFill>
                <a:cs typeface="+mn-ea"/>
                <a:sym typeface="+mn-lt"/>
              </a:rPr>
              <a:t> </a:t>
            </a:r>
            <a:r>
              <a:rPr lang="es-ES" altLang="zh-CN" sz="1400" dirty="0">
                <a:solidFill>
                  <a:srgbClr val="C678DD"/>
                </a:solidFill>
                <a:cs typeface="+mn-ea"/>
                <a:sym typeface="+mn-lt"/>
              </a:rPr>
              <a:t>mut</a:t>
            </a:r>
            <a:r>
              <a:rPr lang="es-ES" altLang="zh-CN" sz="1400" dirty="0">
                <a:solidFill>
                  <a:srgbClr val="ABB2BF"/>
                </a:solidFill>
                <a:cs typeface="+mn-ea"/>
                <a:sym typeface="+mn-lt"/>
              </a:rPr>
              <a:t> </a:t>
            </a:r>
            <a:r>
              <a:rPr lang="es-ES" altLang="zh-CN" sz="1400" dirty="0">
                <a:solidFill>
                  <a:srgbClr val="E06C75"/>
                </a:solidFill>
                <a:cs typeface="+mn-ea"/>
                <a:sym typeface="+mn-lt"/>
              </a:rPr>
              <a:t>x</a:t>
            </a:r>
            <a:r>
              <a:rPr lang="es-ES" altLang="zh-CN" sz="1400" dirty="0">
                <a:solidFill>
                  <a:srgbClr val="ABB2BF"/>
                </a:solidFill>
                <a:cs typeface="+mn-ea"/>
                <a:sym typeface="+mn-lt"/>
              </a:rPr>
              <a:t> </a:t>
            </a:r>
            <a:r>
              <a:rPr lang="es-ES" altLang="zh-CN" sz="1400" dirty="0">
                <a:solidFill>
                  <a:srgbClr val="56B6C2"/>
                </a:solidFill>
                <a:cs typeface="+mn-ea"/>
                <a:sym typeface="+mn-lt"/>
              </a:rPr>
              <a:t>=</a:t>
            </a:r>
            <a:r>
              <a:rPr lang="es-ES" altLang="zh-CN" sz="1400" dirty="0">
                <a:solidFill>
                  <a:srgbClr val="ABB2BF"/>
                </a:solidFill>
                <a:cs typeface="+mn-ea"/>
                <a:sym typeface="+mn-lt"/>
              </a:rPr>
              <a:t> </a:t>
            </a:r>
            <a:r>
              <a:rPr lang="es-ES" altLang="zh-CN" sz="1400" dirty="0">
                <a:solidFill>
                  <a:srgbClr val="D19A66"/>
                </a:solidFill>
                <a:cs typeface="+mn-ea"/>
                <a:sym typeface="+mn-lt"/>
              </a:rPr>
              <a:t>5</a:t>
            </a:r>
            <a:r>
              <a:rPr lang="es-ES" altLang="zh-CN" sz="1400" dirty="0">
                <a:solidFill>
                  <a:srgbClr val="ABB2BF"/>
                </a:solidFill>
                <a:cs typeface="+mn-ea"/>
                <a:sym typeface="+mn-lt"/>
              </a:rPr>
              <a:t>;</a:t>
            </a:r>
          </a:p>
          <a:p>
            <a:br>
              <a:rPr lang="es-ES" altLang="zh-CN" sz="1400" dirty="0">
                <a:solidFill>
                  <a:srgbClr val="ABB2BF"/>
                </a:solidFill>
                <a:cs typeface="+mn-ea"/>
                <a:sym typeface="+mn-lt"/>
              </a:rPr>
            </a:br>
            <a:r>
              <a:rPr lang="es-ES" altLang="zh-CN" sz="1400" dirty="0">
                <a:solidFill>
                  <a:srgbClr val="C678DD"/>
                </a:solidFill>
                <a:cs typeface="+mn-ea"/>
                <a:sym typeface="+mn-lt"/>
              </a:rPr>
              <a:t>match</a:t>
            </a:r>
            <a:r>
              <a:rPr lang="es-ES" altLang="zh-CN" sz="1400" dirty="0">
                <a:solidFill>
                  <a:srgbClr val="ABB2BF"/>
                </a:solidFill>
                <a:cs typeface="+mn-ea"/>
                <a:sym typeface="+mn-lt"/>
              </a:rPr>
              <a:t> </a:t>
            </a:r>
            <a:r>
              <a:rPr lang="es-ES" altLang="zh-CN" sz="1400" dirty="0">
                <a:solidFill>
                  <a:srgbClr val="E06C75"/>
                </a:solidFill>
                <a:cs typeface="+mn-ea"/>
                <a:sym typeface="+mn-lt"/>
              </a:rPr>
              <a:t>x</a:t>
            </a:r>
            <a:r>
              <a:rPr lang="es-ES" altLang="zh-CN" sz="1400" dirty="0">
                <a:solidFill>
                  <a:srgbClr val="ABB2BF"/>
                </a:solidFill>
                <a:cs typeface="+mn-ea"/>
                <a:sym typeface="+mn-lt"/>
              </a:rPr>
              <a:t> {</a:t>
            </a:r>
          </a:p>
          <a:p>
            <a:r>
              <a:rPr lang="es-ES" altLang="zh-CN" sz="1400" dirty="0">
                <a:solidFill>
                  <a:srgbClr val="ABB2BF"/>
                </a:solidFill>
                <a:cs typeface="+mn-ea"/>
                <a:sym typeface="+mn-lt"/>
              </a:rPr>
              <a:t>    </a:t>
            </a:r>
            <a:r>
              <a:rPr lang="es-ES" altLang="zh-CN" sz="1400" dirty="0">
                <a:solidFill>
                  <a:srgbClr val="C678DD"/>
                </a:solidFill>
                <a:cs typeface="+mn-ea"/>
                <a:sym typeface="+mn-lt"/>
              </a:rPr>
              <a:t>mut</a:t>
            </a:r>
            <a:r>
              <a:rPr lang="es-ES" altLang="zh-CN" sz="1400" dirty="0">
                <a:solidFill>
                  <a:srgbClr val="ABB2BF"/>
                </a:solidFill>
                <a:cs typeface="+mn-ea"/>
                <a:sym typeface="+mn-lt"/>
              </a:rPr>
              <a:t> </a:t>
            </a:r>
            <a:r>
              <a:rPr lang="es-ES" altLang="zh-CN" sz="1400" dirty="0">
                <a:solidFill>
                  <a:srgbClr val="E06C75"/>
                </a:solidFill>
                <a:cs typeface="+mn-ea"/>
                <a:sym typeface="+mn-lt"/>
              </a:rPr>
              <a:t>y</a:t>
            </a:r>
            <a:r>
              <a:rPr lang="es-ES" altLang="zh-CN" sz="1400" dirty="0">
                <a:solidFill>
                  <a:srgbClr val="ABB2BF"/>
                </a:solidFill>
                <a:cs typeface="+mn-ea"/>
                <a:sym typeface="+mn-lt"/>
              </a:rPr>
              <a:t> =&gt; {</a:t>
            </a:r>
          </a:p>
          <a:p>
            <a:r>
              <a:rPr lang="es-ES" altLang="zh-CN" sz="1400" dirty="0">
                <a:solidFill>
                  <a:srgbClr val="ABB2BF"/>
                </a:solidFill>
                <a:cs typeface="+mn-ea"/>
                <a:sym typeface="+mn-lt"/>
              </a:rPr>
              <a:t>        </a:t>
            </a:r>
            <a:r>
              <a:rPr lang="es-ES" altLang="zh-CN" sz="1400" dirty="0">
                <a:solidFill>
                  <a:srgbClr val="E06C75"/>
                </a:solidFill>
                <a:cs typeface="+mn-ea"/>
                <a:sym typeface="+mn-lt"/>
              </a:rPr>
              <a:t>y</a:t>
            </a:r>
            <a:r>
              <a:rPr lang="es-ES" altLang="zh-CN" sz="1400" dirty="0">
                <a:solidFill>
                  <a:srgbClr val="ABB2BF"/>
                </a:solidFill>
                <a:cs typeface="+mn-ea"/>
                <a:sym typeface="+mn-lt"/>
              </a:rPr>
              <a:t> </a:t>
            </a:r>
            <a:r>
              <a:rPr lang="es-ES" altLang="zh-CN" sz="1400" dirty="0">
                <a:solidFill>
                  <a:srgbClr val="56B6C2"/>
                </a:solidFill>
                <a:cs typeface="+mn-ea"/>
                <a:sym typeface="+mn-lt"/>
              </a:rPr>
              <a:t>+=</a:t>
            </a:r>
            <a:r>
              <a:rPr lang="es-ES" altLang="zh-CN" sz="1400" dirty="0">
                <a:solidFill>
                  <a:srgbClr val="ABB2BF"/>
                </a:solidFill>
                <a:cs typeface="+mn-ea"/>
                <a:sym typeface="+mn-lt"/>
              </a:rPr>
              <a:t> </a:t>
            </a:r>
            <a:r>
              <a:rPr lang="es-ES" altLang="zh-CN" sz="1400" dirty="0">
                <a:solidFill>
                  <a:srgbClr val="D19A66"/>
                </a:solidFill>
                <a:cs typeface="+mn-ea"/>
                <a:sym typeface="+mn-lt"/>
              </a:rPr>
              <a:t>1</a:t>
            </a:r>
            <a:r>
              <a:rPr lang="es-ES" altLang="zh-CN" sz="1400" dirty="0">
                <a:solidFill>
                  <a:srgbClr val="ABB2BF"/>
                </a:solidFill>
                <a:cs typeface="+mn-ea"/>
                <a:sym typeface="+mn-lt"/>
              </a:rPr>
              <a:t>;</a:t>
            </a:r>
          </a:p>
          <a:p>
            <a:r>
              <a:rPr lang="es-ES" altLang="zh-CN" sz="1400" dirty="0">
                <a:solidFill>
                  <a:srgbClr val="ABB2BF"/>
                </a:solidFill>
                <a:cs typeface="+mn-ea"/>
                <a:sym typeface="+mn-lt"/>
              </a:rPr>
              <a:t>        </a:t>
            </a:r>
            <a:r>
              <a:rPr lang="es-ES" altLang="zh-CN" sz="1400" dirty="0">
                <a:solidFill>
                  <a:srgbClr val="61AFEF"/>
                </a:solidFill>
                <a:cs typeface="+mn-ea"/>
                <a:sym typeface="+mn-lt"/>
              </a:rPr>
              <a:t>println!</a:t>
            </a:r>
            <a:r>
              <a:rPr lang="es-ES" altLang="zh-CN" sz="1400" dirty="0">
                <a:solidFill>
                  <a:srgbClr val="ABB2BF"/>
                </a:solidFill>
                <a:cs typeface="+mn-ea"/>
                <a:sym typeface="+mn-lt"/>
              </a:rPr>
              <a:t>(</a:t>
            </a:r>
            <a:r>
              <a:rPr lang="es-ES" altLang="zh-CN" sz="1400" dirty="0">
                <a:solidFill>
                  <a:srgbClr val="98C379"/>
                </a:solidFill>
                <a:cs typeface="+mn-ea"/>
                <a:sym typeface="+mn-lt"/>
              </a:rPr>
              <a:t>"y: {}"</a:t>
            </a:r>
            <a:r>
              <a:rPr lang="es-ES" altLang="zh-CN" sz="1400" dirty="0">
                <a:solidFill>
                  <a:srgbClr val="ABB2BF"/>
                </a:solidFill>
                <a:cs typeface="+mn-ea"/>
                <a:sym typeface="+mn-lt"/>
              </a:rPr>
              <a:t>, </a:t>
            </a:r>
            <a:r>
              <a:rPr lang="es-ES" altLang="zh-CN" sz="1400" dirty="0">
                <a:solidFill>
                  <a:srgbClr val="E06C75"/>
                </a:solidFill>
                <a:cs typeface="+mn-ea"/>
                <a:sym typeface="+mn-lt"/>
              </a:rPr>
              <a:t>y</a:t>
            </a:r>
            <a:r>
              <a:rPr lang="es-ES" altLang="zh-CN" sz="1400" dirty="0">
                <a:solidFill>
                  <a:srgbClr val="ABB2BF"/>
                </a:solidFill>
                <a:cs typeface="+mn-ea"/>
                <a:sym typeface="+mn-lt"/>
              </a:rPr>
              <a:t>);</a:t>
            </a:r>
          </a:p>
          <a:p>
            <a:r>
              <a:rPr lang="es-ES" altLang="zh-CN" sz="1400" dirty="0">
                <a:solidFill>
                  <a:srgbClr val="ABB2BF"/>
                </a:solidFill>
                <a:cs typeface="+mn-ea"/>
                <a:sym typeface="+mn-lt"/>
              </a:rPr>
              <a:t>    }</a:t>
            </a:r>
          </a:p>
          <a:p>
            <a:r>
              <a:rPr lang="es-ES" altLang="zh-CN" sz="1400" dirty="0">
                <a:solidFill>
                  <a:srgbClr val="ABB2BF"/>
                </a:solidFill>
                <a:cs typeface="+mn-ea"/>
                <a:sym typeface="+mn-lt"/>
              </a:rPr>
              <a:t>}</a:t>
            </a:r>
            <a:endParaRPr lang="es-ES" altLang="zh-CN" sz="1400" b="0" dirty="0">
              <a:solidFill>
                <a:srgbClr val="ABB2BF"/>
              </a:solidFill>
              <a:effectLst/>
              <a:cs typeface="+mn-ea"/>
              <a:sym typeface="+mn-lt"/>
            </a:endParaRPr>
          </a:p>
        </p:txBody>
      </p:sp>
      <p:pic>
        <p:nvPicPr>
          <p:cNvPr id="15" name="图片 14"/>
          <p:cNvPicPr>
            <a:picLocks noChangeAspect="1"/>
          </p:cNvPicPr>
          <p:nvPr/>
        </p:nvPicPr>
        <p:blipFill>
          <a:blip r:embed="rId4"/>
          <a:stretch>
            <a:fillRect/>
          </a:stretch>
        </p:blipFill>
        <p:spPr>
          <a:xfrm>
            <a:off x="4592430" y="4716284"/>
            <a:ext cx="4200525" cy="504825"/>
          </a:xfrm>
          <a:prstGeom prst="rect">
            <a:avLst/>
          </a:prstGeom>
        </p:spPr>
      </p:pic>
      <p:sp>
        <p:nvSpPr>
          <p:cNvPr id="16" name="右箭头 15"/>
          <p:cNvSpPr/>
          <p:nvPr/>
        </p:nvSpPr>
        <p:spPr>
          <a:xfrm>
            <a:off x="4022061" y="4769729"/>
            <a:ext cx="404037" cy="397933"/>
          </a:xfrm>
          <a:prstGeom prst="rightArrow">
            <a:avLst>
              <a:gd name="adj1" fmla="val 50000"/>
              <a:gd name="adj2" fmla="val 54481"/>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Tm="66456"/>
    </mc:Choice>
    <mc:Fallback xmlns="">
      <p:transition spd="slow" advTm="66456"/>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本章小结</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423309"/>
            <a:ext cx="10733557" cy="1923395"/>
          </a:xfrm>
        </p:spPr>
        <p:txBody>
          <a:bodyPr/>
          <a:lstStyle/>
          <a:p>
            <a:pPr marL="297815" indent="-285750">
              <a:lnSpc>
                <a:spcPct val="150000"/>
              </a:lnSpc>
              <a:buFont typeface="Arial" panose="020B0604020202020204" pitchFamily="34" charset="0"/>
              <a:buChar char="•"/>
            </a:pPr>
            <a:r>
              <a:rPr lang="zh-CN" altLang="en-US" dirty="0">
                <a:latin typeface="+mn-lt"/>
                <a:ea typeface="+mn-ea"/>
                <a:cs typeface="+mn-ea"/>
                <a:sym typeface="+mn-lt"/>
              </a:rPr>
              <a:t>学完本章，希望可以：</a:t>
            </a:r>
            <a:endParaRPr lang="en-US" altLang="zh-CN" dirty="0">
              <a:latin typeface="+mn-lt"/>
              <a:ea typeface="+mn-ea"/>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掌握</a:t>
            </a:r>
            <a:r>
              <a:rPr lang="en-US" altLang="zh-CN" sz="1800" dirty="0">
                <a:cs typeface="+mn-ea"/>
                <a:sym typeface="+mn-lt"/>
              </a:rPr>
              <a:t>Rust</a:t>
            </a:r>
            <a:r>
              <a:rPr lang="zh-CN" altLang="en-US" sz="1800" dirty="0">
                <a:cs typeface="+mn-ea"/>
                <a:sym typeface="+mn-lt"/>
              </a:rPr>
              <a:t>常见表达式的概念和常用语法；</a:t>
            </a:r>
            <a:endParaRPr lang="en-US" altLang="zh-CN" sz="1800" dirty="0">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掌握模式匹配的概念、常用语法以及模式匹配常见模式；</a:t>
            </a:r>
            <a:endParaRPr lang="en-US" altLang="zh-CN" sz="1800" dirty="0">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掌握</a:t>
            </a:r>
            <a:r>
              <a:rPr lang="en-US" altLang="zh-CN" sz="1800" dirty="0">
                <a:cs typeface="+mn-ea"/>
                <a:sym typeface="+mn-lt"/>
              </a:rPr>
              <a:t>Rust</a:t>
            </a:r>
            <a:r>
              <a:rPr lang="zh-CN" altLang="en-US" sz="1800" dirty="0">
                <a:cs typeface="+mn-ea"/>
                <a:sym typeface="+mn-lt"/>
              </a:rPr>
              <a:t>中</a:t>
            </a:r>
            <a:r>
              <a:rPr lang="en-US" altLang="zh-CN" sz="1800" dirty="0">
                <a:cs typeface="+mn-ea"/>
                <a:sym typeface="+mn-lt"/>
              </a:rPr>
              <a:t>never</a:t>
            </a:r>
            <a:r>
              <a:rPr lang="zh-CN" altLang="en-US" sz="1800" dirty="0">
                <a:cs typeface="+mn-ea"/>
                <a:sym typeface="+mn-lt"/>
              </a:rPr>
              <a:t>类型的概念和用法；</a:t>
            </a:r>
            <a:endParaRPr lang="en-US" altLang="zh-CN" sz="1800" dirty="0">
              <a:cs typeface="+mn-ea"/>
              <a:sym typeface="+mn-lt"/>
            </a:endParaRPr>
          </a:p>
        </p:txBody>
      </p:sp>
      <p:cxnSp>
        <p:nvCxnSpPr>
          <p:cNvPr id="4" name="直接连接符 3"/>
          <p:cNvCxnSpPr/>
          <p:nvPr/>
        </p:nvCxnSpPr>
        <p:spPr>
          <a:xfrm>
            <a:off x="729175" y="972379"/>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23788"/>
    </mc:Choice>
    <mc:Fallback xmlns="">
      <p:transition spd="slow" advTm="23788"/>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hqlbqvcl">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hqlbqvcl">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rt pag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hqlbqvcl">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7000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800" dirty="0" smtClean="0">
            <a:solidFill>
              <a:schemeClr val="accent2"/>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hqlbqvcl">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15151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none" rtlCol="0">
        <a:spAutoFit/>
      </a:bodyPr>
      <a:lstStyle>
        <a:defPPr algn="l">
          <a:lnSpc>
            <a:spcPts val="3440"/>
          </a:lnSpc>
          <a:defRPr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End pag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hqlbqvcl">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1192</TotalTime>
  <Words>6769</Words>
  <Application>Microsoft Office PowerPoint</Application>
  <PresentationFormat>自定义</PresentationFormat>
  <Paragraphs>771</Paragraphs>
  <Slides>27</Slides>
  <Notes>27</Notes>
  <HiddenSlides>0</HiddenSlides>
  <MMClips>0</MMClips>
  <ScaleCrop>false</ScaleCrop>
  <HeadingPairs>
    <vt:vector size="6" baseType="variant">
      <vt:variant>
        <vt:lpstr>已用的字体</vt:lpstr>
      </vt:variant>
      <vt:variant>
        <vt:i4>5</vt:i4>
      </vt:variant>
      <vt:variant>
        <vt:lpstr>主题</vt:lpstr>
      </vt:variant>
      <vt:variant>
        <vt:i4>5</vt:i4>
      </vt:variant>
      <vt:variant>
        <vt:lpstr>幻灯片标题</vt:lpstr>
      </vt:variant>
      <vt:variant>
        <vt:i4>27</vt:i4>
      </vt:variant>
    </vt:vector>
  </HeadingPairs>
  <TitlesOfParts>
    <vt:vector size="37" baseType="lpstr">
      <vt:lpstr>方正兰亭黑简体</vt:lpstr>
      <vt:lpstr>Microsoft YaHei</vt:lpstr>
      <vt:lpstr>Arial</vt:lpstr>
      <vt:lpstr>Huawei Sans</vt:lpstr>
      <vt:lpstr>Wingdings</vt:lpstr>
      <vt:lpstr>1_Title Slide</vt:lpstr>
      <vt:lpstr>2_Title Slide</vt:lpstr>
      <vt:lpstr>Chart page</vt:lpstr>
      <vt:lpstr>4_Chart page</vt:lpstr>
      <vt:lpstr>End page</vt:lpstr>
      <vt:lpstr>表达式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表达式</dc:title>
  <dc:creator>Yijun Yu</dc:creator>
  <cp:lastModifiedBy>Zhangyandong (ben)</cp:lastModifiedBy>
  <cp:revision>48</cp:revision>
  <dcterms:created xsi:type="dcterms:W3CDTF">2023-10-18T07:16:08Z</dcterms:created>
  <dcterms:modified xsi:type="dcterms:W3CDTF">2024-11-20T02:26:29Z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(3)tR5ZXZVXABvz92XQjhlUhrMJBAtGQtUOFh7iKrLIAhVge3M25KFkmLOQjAiq6KEEcbwVylDd
PFkZiTfczvLnH2/u66SnQINNcfhWL+Z1/WVi8+vPEotvDVRArQbw7qQJwvgeNh/aeJbaBAw/
WOEYz84EIdEpZKeCX9TzWP85NHa5TREyXhic2dFW98sk61k+UeKtjwISw0nbuBnnb+mQdf8H
gKoNfmyvjensGS32Yg</vt:lpwstr>
  </property>
  <property fmtid="{D5CDD505-2E9C-101B-9397-08002B2CF9AE}" pid="3" name="_2015_ms_pID_7253431">
    <vt:lpwstr>J4LvbcZB33N5HK68RuE/xnd7bMrqvO+9ZhHgRBl7D1GzB+PwLI4Cvf
9yXyWd+GO2EZBxfFfRLzr/nXFmhJW1RToOi0hLb7RjMOMTFNeGfnEBUOeNAnwe/ExoTVksir
0lmv5CY68Rr//fykWDOhx21yEXXlSqHENVPja9ZvEzbTvbxMyAeN+k1hqoaH9FjXevz4i/lI
hB4FUJeXp9xrbUbSUWD+sHkmq5/HKpXmRs5t</vt:lpwstr>
  </property>
  <property fmtid="{D5CDD505-2E9C-101B-9397-08002B2CF9AE}" pid="4" name="_2015_ms_pID_7253432">
    <vt:lpwstr>Mw==</vt:lpwstr>
  </property>
  <property fmtid="{D5CDD505-2E9C-101B-9397-08002B2CF9AE}" pid="5" name="KSOProductBuildVer">
    <vt:lpwstr>2052-0.0.0.0</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1697529755</vt:lpwstr>
  </property>
</Properties>
</file>