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59" r:id="rId3"/>
    <p:sldMasterId id="2147483660" r:id="rId4"/>
    <p:sldMasterId id="2147483662" r:id="rId5"/>
  </p:sldMasterIdLst>
  <p:notesMasterIdLst>
    <p:notesMasterId r:id="rId20"/>
  </p:notesMasterIdLst>
  <p:handoutMasterIdLst>
    <p:handoutMasterId r:id="rId21"/>
  </p:handoutMasterIdLst>
  <p:sldIdLst>
    <p:sldId id="283" r:id="rId6"/>
    <p:sldId id="288" r:id="rId7"/>
    <p:sldId id="421" r:id="rId8"/>
    <p:sldId id="390" r:id="rId9"/>
    <p:sldId id="436" r:id="rId10"/>
    <p:sldId id="437" r:id="rId11"/>
    <p:sldId id="447" r:id="rId12"/>
    <p:sldId id="438" r:id="rId13"/>
    <p:sldId id="422" r:id="rId14"/>
    <p:sldId id="448" r:id="rId15"/>
    <p:sldId id="449" r:id="rId16"/>
    <p:sldId id="456" r:id="rId17"/>
    <p:sldId id="442" r:id="rId18"/>
    <p:sldId id="280" r:id="rId19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8"/>
          </p14:sldIdLst>
        </p14:section>
        <p14:section name="章节页" id="{FD05EE94-C931-8C4B-83A2-004B32AA1207}">
          <p14:sldIdLst>
            <p14:sldId id="421"/>
            <p14:sldId id="390"/>
            <p14:sldId id="436"/>
            <p14:sldId id="437"/>
            <p14:sldId id="447"/>
            <p14:sldId id="438"/>
            <p14:sldId id="422"/>
            <p14:sldId id="448"/>
            <p14:sldId id="449"/>
            <p14:sldId id="456"/>
            <p14:sldId id="442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701">
          <p15:clr>
            <a:srgbClr val="A4A3A4"/>
          </p15:clr>
        </p15:guide>
        <p15:guide id="2" orient="horz" pos="2159">
          <p15:clr>
            <a:srgbClr val="A4A3A4"/>
          </p15:clr>
        </p15:guide>
        <p15:guide id="3" pos="35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2" name="wuxiaojun 00342820_QRBvBJbY" initials="authorId_AK20210901:AK20210901JXNSXO124321" lastIdx="1151462690" clrIdx="0"/>
  <p:cmAuthor id="2003" name="hantingjun 00339793_ya2iumaE" initials="authorId_AK20210901:AK20210901JXNSXO115905" lastIdx="1151703338" clrIdx="0"/>
  <p:cmAuthor id="2000" name="fanchangchun 00567414_2yeyVvEJ" initials="authorId_AK20210901:AK20210901JXNSXO4723448" lastIdx="0" clrIdx="0"/>
  <p:cmAuthor id="2001" name="zhanghandong WX930509_Jj22FnMn" initials="authorId_AK20210901:AK20210901JXNSXO4676065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57B84"/>
    <a:srgbClr val="E6A8AD"/>
    <a:srgbClr val="E57984"/>
    <a:srgbClr val="FFFFFF"/>
    <a:srgbClr val="151515"/>
    <a:srgbClr val="C7000B"/>
    <a:srgbClr val="575756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17" autoAdjust="0"/>
    <p:restoredTop sz="90888" autoAdjust="0"/>
  </p:normalViewPr>
  <p:slideViewPr>
    <p:cSldViewPr snapToGrid="0" snapToObjects="1">
      <p:cViewPr varScale="1">
        <p:scale>
          <a:sx n="66" d="100"/>
          <a:sy n="66" d="100"/>
        </p:scale>
        <p:origin x="40" y="260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1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54" y="-57144"/>
            <a:ext cx="12243078" cy="562518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>
              <a:solidFill>
                <a:srgbClr val="1D1D1B"/>
              </a:solidFill>
              <a:latin typeface="+mn-lt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48808" y="1066890"/>
            <a:ext cx="6559809" cy="690255"/>
          </a:xfrm>
        </p:spPr>
        <p:txBody>
          <a:bodyPr>
            <a:no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同步机制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>
                <a:cs typeface="+mn-ea"/>
                <a:sym typeface="+mn-lt"/>
              </a:rPr>
              <a:t>Security Level:</a:t>
            </a:r>
            <a:endParaRPr lang="en-US" sz="100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01663" y="5858894"/>
            <a:ext cx="2794958" cy="888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377391"/>
            <a:ext cx="10733557" cy="8781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学习，理解同步锁工作的基本原理和使用方法。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81138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9175" y="2854330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19122" y="2823872"/>
            <a:ext cx="4196421" cy="2120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Mutex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RWLock</a:t>
            </a:r>
            <a:endParaRPr lang="en-US" altLang="zh-CN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CondVar</a:t>
            </a: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Barrier</a:t>
            </a: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Channel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406157"/>
            <a:ext cx="2276585" cy="466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29175" y="952834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96717" y="89483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同步机制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基本概念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680498" y="640733"/>
            <a:ext cx="5318540" cy="14908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cs typeface="+mn-ea"/>
                <a:sym typeface="+mn-lt"/>
              </a:rPr>
              <a:t>并发</a:t>
            </a:r>
            <a:r>
              <a:rPr lang="en-US" altLang="zh-CN" sz="1400">
                <a:cs typeface="+mn-ea"/>
                <a:sym typeface="+mn-lt"/>
              </a:rPr>
              <a:t>(concurrent)</a:t>
            </a:r>
            <a:r>
              <a:rPr lang="zh-CN" altLang="en-US" sz="1400" b="1">
                <a:cs typeface="+mn-ea"/>
                <a:sym typeface="+mn-lt"/>
              </a:rPr>
              <a:t>和并行</a:t>
            </a:r>
            <a:r>
              <a:rPr lang="en-US" altLang="zh-CN" sz="1400">
                <a:cs typeface="+mn-ea"/>
                <a:sym typeface="+mn-lt"/>
              </a:rPr>
              <a:t>(parallel) </a:t>
            </a:r>
            <a:r>
              <a:rPr lang="zh-CN" altLang="en-US" sz="1400" b="1">
                <a:cs typeface="+mn-ea"/>
                <a:sym typeface="+mn-lt"/>
              </a:rPr>
              <a:t>：</a:t>
            </a:r>
            <a:endParaRPr lang="en-US" altLang="zh-CN" sz="1400" b="1">
              <a:cs typeface="+mn-ea"/>
              <a:sym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cs typeface="+mn-ea"/>
                <a:sym typeface="+mn-lt"/>
              </a:rPr>
              <a:t>业务角度：多个任务同时存在，都在运行中</a:t>
            </a:r>
            <a:endParaRPr lang="en-US" altLang="zh-CN" sz="1200">
              <a:cs typeface="+mn-ea"/>
              <a:sym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cs typeface="+mn-ea"/>
                <a:sym typeface="+mn-lt"/>
              </a:rPr>
              <a:t>运行机制：并发是分时复用；并行是独占式</a:t>
            </a:r>
            <a:endParaRPr lang="en-US" altLang="zh-CN" sz="1200">
              <a:cs typeface="+mn-ea"/>
              <a:sym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cs typeface="+mn-ea"/>
                <a:sym typeface="+mn-lt"/>
              </a:rPr>
              <a:t>单核</a:t>
            </a:r>
            <a:r>
              <a:rPr lang="en-US" altLang="zh-CN" sz="1200">
                <a:cs typeface="+mn-ea"/>
                <a:sym typeface="+mn-lt"/>
              </a:rPr>
              <a:t>CPU</a:t>
            </a:r>
            <a:r>
              <a:rPr lang="zh-CN" altLang="en-US" sz="1200">
                <a:cs typeface="+mn-ea"/>
                <a:sym typeface="+mn-lt"/>
              </a:rPr>
              <a:t>：只有并发，没有并行</a:t>
            </a:r>
            <a:endParaRPr lang="en-US" altLang="zh-CN" sz="1200">
              <a:cs typeface="+mn-ea"/>
              <a:sym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cs typeface="+mn-ea"/>
                <a:sym typeface="+mn-lt"/>
              </a:rPr>
              <a:t>多核</a:t>
            </a:r>
            <a:r>
              <a:rPr lang="en-US" altLang="zh-CN" sz="1200">
                <a:cs typeface="+mn-ea"/>
                <a:sym typeface="+mn-lt"/>
              </a:rPr>
              <a:t>CPU</a:t>
            </a:r>
            <a:r>
              <a:rPr lang="zh-CN" altLang="en-US" sz="1200">
                <a:cs typeface="+mn-ea"/>
                <a:sym typeface="+mn-lt"/>
              </a:rPr>
              <a:t>：并发和并行同时存在</a:t>
            </a:r>
            <a:endParaRPr lang="en-US" altLang="zh-CN" sz="1200" dirty="0"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680498" y="2107947"/>
            <a:ext cx="5318540" cy="1245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cs typeface="+mn-ea"/>
                <a:sym typeface="+mn-lt"/>
              </a:rPr>
              <a:t>竞态条件</a:t>
            </a:r>
            <a:r>
              <a:rPr lang="en-US" altLang="zh-CN" sz="1400" b="1">
                <a:cs typeface="+mn-ea"/>
                <a:sym typeface="+mn-lt"/>
              </a:rPr>
              <a:t>(race condition)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cs typeface="+mn-ea"/>
                <a:sym typeface="+mn-lt"/>
              </a:rPr>
              <a:t>多个线程中事件发生的时间和顺序不同</a:t>
            </a:r>
            <a:endParaRPr lang="en-US" altLang="zh-CN" sz="1200">
              <a:cs typeface="+mn-ea"/>
              <a:sym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cs typeface="+mn-ea"/>
                <a:sym typeface="+mn-lt"/>
              </a:rPr>
              <a:t>并非所有的竞态条件都会导致业务逻辑错误</a:t>
            </a:r>
            <a:endParaRPr lang="en-US" altLang="zh-CN" sz="1200">
              <a:cs typeface="+mn-ea"/>
              <a:sym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cs typeface="+mn-ea"/>
                <a:sym typeface="+mn-lt"/>
              </a:rPr>
              <a:t>上下文切换，信号，内存访问，中断等的发生时间和顺序不可控</a:t>
            </a:r>
            <a:endParaRPr lang="en-US" altLang="zh-CN" sz="1200"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75" y="1238250"/>
            <a:ext cx="4724400" cy="479107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680498" y="3531377"/>
            <a:ext cx="5318540" cy="936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cs typeface="+mn-ea"/>
                <a:sym typeface="+mn-lt"/>
              </a:rPr>
              <a:t>数据竞争</a:t>
            </a:r>
            <a:r>
              <a:rPr lang="en-US" altLang="zh-CN" sz="1400" b="1">
                <a:cs typeface="+mn-ea"/>
                <a:sym typeface="+mn-lt"/>
              </a:rPr>
              <a:t>(data race)</a:t>
            </a: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cs typeface="+mn-ea"/>
                <a:sym typeface="+mn-lt"/>
              </a:rPr>
              <a:t>同一个数据的读写并行导致数据竞争</a:t>
            </a:r>
            <a:endParaRPr lang="en-US" altLang="zh-CN" sz="1200">
              <a:cs typeface="+mn-ea"/>
              <a:sym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200">
                <a:cs typeface="+mn-ea"/>
                <a:sym typeface="+mn-lt"/>
              </a:rPr>
              <a:t>RUST</a:t>
            </a:r>
            <a:r>
              <a:rPr lang="zh-CN" altLang="en-US" sz="1200">
                <a:cs typeface="+mn-ea"/>
                <a:sym typeface="+mn-lt"/>
              </a:rPr>
              <a:t>借用规则可以消除数据竞争</a:t>
            </a:r>
            <a:endParaRPr lang="en-US" altLang="zh-CN" sz="1200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680498" y="5185872"/>
            <a:ext cx="5318540" cy="1245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cs typeface="+mn-ea"/>
                <a:sym typeface="+mn-lt"/>
              </a:rPr>
              <a:t>数据同步（</a:t>
            </a:r>
            <a:r>
              <a:rPr lang="en-US" altLang="zh-CN" sz="1400" b="1">
                <a:cs typeface="+mn-ea"/>
                <a:sym typeface="+mn-lt"/>
              </a:rPr>
              <a:t>data synchronization)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cs typeface="+mn-ea"/>
                <a:sym typeface="+mn-lt"/>
              </a:rPr>
              <a:t>目标：消除临界区内有害竞态条件和数据竞争</a:t>
            </a:r>
            <a:endParaRPr lang="en-US" altLang="zh-CN" sz="1200">
              <a:cs typeface="+mn-ea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cs typeface="+mn-ea"/>
                <a:sym typeface="+mn-lt"/>
              </a:rPr>
              <a:t>思想：临界区代码片段串行执行</a:t>
            </a:r>
            <a:endParaRPr lang="en-US" altLang="zh-CN" sz="1200">
              <a:cs typeface="+mn-ea"/>
              <a:sym typeface="+mn-lt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cs typeface="+mn-ea"/>
                <a:sym typeface="+mn-lt"/>
              </a:rPr>
              <a:t>手段：</a:t>
            </a:r>
            <a:r>
              <a:rPr lang="en-US" altLang="zh-CN" sz="1200">
                <a:cs typeface="+mn-ea"/>
                <a:sym typeface="+mn-lt"/>
              </a:rPr>
              <a:t>Mutex/RWLock/CondVar/Barrier/Atomic/…</a:t>
            </a:r>
          </a:p>
        </p:txBody>
      </p:sp>
      <p:sp>
        <p:nvSpPr>
          <p:cNvPr id="13" name="任意多边形: 形状 12"/>
          <p:cNvSpPr/>
          <p:nvPr/>
        </p:nvSpPr>
        <p:spPr>
          <a:xfrm>
            <a:off x="4628860" y="4434121"/>
            <a:ext cx="314382" cy="554100"/>
          </a:xfrm>
          <a:custGeom>
            <a:avLst/>
            <a:gdLst>
              <a:gd name="connsiteX0" fmla="*/ 51782 w 314382"/>
              <a:gd name="connsiteY0" fmla="*/ 2077 h 554100"/>
              <a:gd name="connsiteX1" fmla="*/ 314332 w 314382"/>
              <a:gd name="connsiteY1" fmla="*/ 74505 h 554100"/>
              <a:gd name="connsiteX2" fmla="*/ 33675 w 314382"/>
              <a:gd name="connsiteY2" fmla="*/ 490964 h 554100"/>
              <a:gd name="connsiteX3" fmla="*/ 15568 w 314382"/>
              <a:gd name="connsiteY3" fmla="*/ 545285 h 554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382" h="554100">
                <a:moveTo>
                  <a:pt x="51782" y="2077"/>
                </a:moveTo>
                <a:cubicBezTo>
                  <a:pt x="184566" y="-2450"/>
                  <a:pt x="317350" y="-6976"/>
                  <a:pt x="314332" y="74505"/>
                </a:cubicBezTo>
                <a:cubicBezTo>
                  <a:pt x="311314" y="155986"/>
                  <a:pt x="83469" y="412501"/>
                  <a:pt x="33675" y="490964"/>
                </a:cubicBezTo>
                <a:cubicBezTo>
                  <a:pt x="-16119" y="569427"/>
                  <a:pt x="-276" y="557356"/>
                  <a:pt x="15568" y="545285"/>
                </a:cubicBezTo>
              </a:path>
            </a:pathLst>
          </a:custGeom>
          <a:noFill/>
          <a:ln>
            <a:solidFill>
              <a:srgbClr val="151515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680498" y="4434121"/>
            <a:ext cx="5318540" cy="659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cs typeface="+mn-ea"/>
                <a:sym typeface="+mn-lt"/>
              </a:rPr>
              <a:t>临界区（</a:t>
            </a:r>
            <a:r>
              <a:rPr lang="en-US" altLang="zh-CN" sz="1400" b="1">
                <a:cs typeface="+mn-ea"/>
                <a:sym typeface="+mn-lt"/>
              </a:rPr>
              <a:t>critical section</a:t>
            </a:r>
            <a:r>
              <a:rPr lang="zh-CN" altLang="en-US" sz="1400" b="1">
                <a:cs typeface="+mn-ea"/>
                <a:sym typeface="+mn-lt"/>
              </a:rPr>
              <a:t>）</a:t>
            </a:r>
            <a:endParaRPr lang="en-US" altLang="zh-CN" sz="1400" b="1">
              <a:cs typeface="+mn-ea"/>
              <a:sym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>
                <a:cs typeface="+mn-ea"/>
                <a:sym typeface="+mn-lt"/>
              </a:rPr>
              <a:t>读写线程间共享数据的代码片段</a:t>
            </a:r>
            <a:endParaRPr lang="en-US" altLang="zh-CN" sz="1200">
              <a:cs typeface="+mn-ea"/>
              <a:sym typeface="+mn-lt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187999" y="551620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87999" y="84295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互斥锁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(Mutex)-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5418498" y="1485941"/>
            <a:ext cx="1041149" cy="389300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cs typeface="+mn-ea"/>
                <a:sym typeface="+mn-lt"/>
              </a:rPr>
              <a:t>Mutex&lt;T&gt;</a:t>
            </a:r>
            <a:endParaRPr lang="zh-CN" altLang="en-US" sz="1200">
              <a:cs typeface="+mn-ea"/>
              <a:sym typeface="+mn-lt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179398" y="1481414"/>
            <a:ext cx="1208175" cy="389300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cs typeface="+mn-ea"/>
                <a:sym typeface="+mn-lt"/>
              </a:rPr>
              <a:t>MutexGuard&lt;T&gt;</a:t>
            </a:r>
            <a:endParaRPr lang="zh-CN" altLang="en-US" sz="1200">
              <a:cs typeface="+mn-ea"/>
              <a:sym typeface="+mn-lt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9107324" y="1481414"/>
            <a:ext cx="1041149" cy="389300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cs typeface="+mn-ea"/>
                <a:sym typeface="+mn-lt"/>
              </a:rPr>
              <a:t>&amp;mut T</a:t>
            </a:r>
            <a:endParaRPr lang="zh-CN" altLang="en-US" sz="1200">
              <a:cs typeface="+mn-ea"/>
              <a:sym typeface="+mn-lt"/>
            </a:endParaRPr>
          </a:p>
        </p:txBody>
      </p:sp>
      <p:cxnSp>
        <p:nvCxnSpPr>
          <p:cNvPr id="68" name="直接箭头连接符 67"/>
          <p:cNvCxnSpPr>
            <a:stCxn id="64" idx="3"/>
            <a:endCxn id="65" idx="1"/>
          </p:cNvCxnSpPr>
          <p:nvPr/>
        </p:nvCxnSpPr>
        <p:spPr>
          <a:xfrm flipV="1">
            <a:off x="6459647" y="1676064"/>
            <a:ext cx="719751" cy="4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65" idx="3"/>
            <a:endCxn id="66" idx="1"/>
          </p:cNvCxnSpPr>
          <p:nvPr/>
        </p:nvCxnSpPr>
        <p:spPr>
          <a:xfrm>
            <a:off x="8387573" y="1676064"/>
            <a:ext cx="7197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6459647" y="1226270"/>
            <a:ext cx="760491" cy="4611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1200">
                <a:cs typeface="+mn-ea"/>
                <a:sym typeface="+mn-lt"/>
              </a:rPr>
              <a:t>lock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261288" y="1248407"/>
            <a:ext cx="968720" cy="4572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1200">
                <a:cs typeface="+mn-ea"/>
                <a:sym typeface="+mn-lt"/>
              </a:rPr>
              <a:t>deref_mut</a:t>
            </a:r>
            <a:endParaRPr lang="zh-CN" altLang="en-US" sz="1200" dirty="0">
              <a:cs typeface="+mn-ea"/>
              <a:sym typeface="+mn-lt"/>
            </a:endParaRPr>
          </a:p>
        </p:txBody>
      </p:sp>
      <p:pic>
        <p:nvPicPr>
          <p:cNvPr id="73" name="图片 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498" y="1028492"/>
            <a:ext cx="4772025" cy="285750"/>
          </a:xfrm>
          <a:prstGeom prst="rect">
            <a:avLst/>
          </a:prstGeom>
        </p:spPr>
      </p:pic>
      <p:sp>
        <p:nvSpPr>
          <p:cNvPr id="74" name="矩形 73"/>
          <p:cNvSpPr/>
          <p:nvPr/>
        </p:nvSpPr>
        <p:spPr>
          <a:xfrm>
            <a:off x="5301062" y="2453496"/>
            <a:ext cx="5318540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cs typeface="+mn-ea"/>
                <a:sym typeface="+mn-lt"/>
              </a:rPr>
              <a:t>关键设计：</a:t>
            </a:r>
            <a:endParaRPr lang="en-US" altLang="zh-CN" sz="1200" b="1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zh-CN" sz="1200">
                <a:cs typeface="+mn-ea"/>
                <a:sym typeface="+mn-lt"/>
              </a:rPr>
              <a:t>RAII</a:t>
            </a:r>
            <a:r>
              <a:rPr lang="zh-CN" altLang="en-US" sz="1200">
                <a:cs typeface="+mn-ea"/>
                <a:sym typeface="+mn-lt"/>
              </a:rPr>
              <a:t>：</a:t>
            </a:r>
            <a:r>
              <a:rPr lang="en-US" altLang="zh-CN" sz="1200">
                <a:cs typeface="+mn-ea"/>
                <a:sym typeface="+mn-lt"/>
              </a:rPr>
              <a:t>MutexGuard</a:t>
            </a:r>
            <a:r>
              <a:rPr lang="zh-CN" altLang="en-US" sz="1200">
                <a:cs typeface="+mn-ea"/>
                <a:sym typeface="+mn-lt"/>
              </a:rPr>
              <a:t>生命周期定义临界区，</a:t>
            </a:r>
            <a:r>
              <a:rPr lang="en-US" altLang="zh-CN" sz="1200">
                <a:cs typeface="+mn-ea"/>
                <a:sym typeface="+mn-lt"/>
              </a:rPr>
              <a:t>Drop</a:t>
            </a:r>
            <a:r>
              <a:rPr lang="zh-CN" altLang="en-US" sz="1200">
                <a:cs typeface="+mn-ea"/>
                <a:sym typeface="+mn-lt"/>
              </a:rPr>
              <a:t>自动</a:t>
            </a:r>
            <a:r>
              <a:rPr lang="en-US" altLang="zh-CN" sz="1200">
                <a:cs typeface="+mn-ea"/>
                <a:sym typeface="+mn-lt"/>
              </a:rPr>
              <a:t>unlock</a:t>
            </a:r>
            <a:r>
              <a:rPr lang="zh-CN" altLang="en-US" sz="1200">
                <a:cs typeface="+mn-ea"/>
                <a:sym typeface="+mn-lt"/>
              </a:rPr>
              <a:t>。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共享数据：通过</a:t>
            </a:r>
            <a:r>
              <a:rPr lang="en-US" altLang="zh-CN" sz="1200">
                <a:cs typeface="+mn-ea"/>
                <a:sym typeface="+mn-lt"/>
              </a:rPr>
              <a:t>MutexGuard</a:t>
            </a:r>
            <a:r>
              <a:rPr lang="zh-CN" altLang="en-US" sz="1200">
                <a:cs typeface="+mn-ea"/>
                <a:sym typeface="+mn-lt"/>
              </a:rPr>
              <a:t>的</a:t>
            </a:r>
            <a:r>
              <a:rPr lang="en-US" altLang="zh-CN" sz="1200">
                <a:cs typeface="+mn-ea"/>
                <a:sym typeface="+mn-lt"/>
              </a:rPr>
              <a:t>DerefMut</a:t>
            </a:r>
            <a:r>
              <a:rPr lang="zh-CN" altLang="en-US" sz="1200">
                <a:cs typeface="+mn-ea"/>
                <a:sym typeface="+mn-lt"/>
              </a:rPr>
              <a:t>自动引用。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生命周期：返回值生命周期一定不大于输入参数</a:t>
            </a:r>
            <a:r>
              <a:rPr lang="en-US" altLang="zh-CN" sz="1200">
                <a:cs typeface="+mn-ea"/>
                <a:sym typeface="+mn-lt"/>
              </a:rPr>
              <a:t>self</a:t>
            </a:r>
            <a:r>
              <a:rPr lang="zh-CN" altLang="en-US" sz="1200">
                <a:cs typeface="+mn-ea"/>
                <a:sym typeface="+mn-lt"/>
              </a:rPr>
              <a:t>的生命周期。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线程安全：</a:t>
            </a:r>
            <a:r>
              <a:rPr lang="en-US" altLang="zh-CN" sz="1200">
                <a:cs typeface="+mn-ea"/>
                <a:sym typeface="+mn-lt"/>
              </a:rPr>
              <a:t>MutexGuard</a:t>
            </a:r>
            <a:r>
              <a:rPr lang="zh-CN" altLang="en-US" sz="1200">
                <a:cs typeface="+mn-ea"/>
                <a:sym typeface="+mn-lt"/>
              </a:rPr>
              <a:t>实现</a:t>
            </a:r>
            <a:r>
              <a:rPr lang="en-US" altLang="zh-CN" sz="1200">
                <a:cs typeface="+mn-ea"/>
                <a:sym typeface="+mn-lt"/>
              </a:rPr>
              <a:t>!Send</a:t>
            </a:r>
            <a:r>
              <a:rPr lang="zh-CN" altLang="en-US" sz="1200">
                <a:cs typeface="+mn-ea"/>
                <a:sym typeface="+mn-lt"/>
              </a:rPr>
              <a:t> </a:t>
            </a:r>
            <a:r>
              <a:rPr lang="en-US" altLang="zh-CN" sz="1200">
                <a:cs typeface="+mn-ea"/>
                <a:sym typeface="+mn-lt"/>
              </a:rPr>
              <a:t>trait</a:t>
            </a:r>
            <a:r>
              <a:rPr lang="zh-CN" altLang="en-US" sz="1200">
                <a:cs typeface="+mn-ea"/>
                <a:sym typeface="+mn-lt"/>
              </a:rPr>
              <a:t>，只能单线程中使用。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内存资源：非智能指针，行为同栈对象，通常结合</a:t>
            </a:r>
            <a:r>
              <a:rPr lang="en-US" altLang="zh-CN" sz="1200">
                <a:cs typeface="+mn-ea"/>
                <a:sym typeface="+mn-lt"/>
              </a:rPr>
              <a:t>Arc</a:t>
            </a:r>
            <a:r>
              <a:rPr lang="zh-CN" altLang="en-US" sz="1200">
                <a:cs typeface="+mn-ea"/>
                <a:sym typeface="+mn-lt"/>
              </a:rPr>
              <a:t>实现多线程访问。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>
                <a:cs typeface="+mn-ea"/>
                <a:sym typeface="+mn-lt"/>
              </a:rPr>
              <a:t>重复加锁</a:t>
            </a:r>
            <a:r>
              <a:rPr lang="zh-CN" altLang="en-US" sz="1200">
                <a:cs typeface="+mn-ea"/>
                <a:sym typeface="+mn-lt"/>
              </a:rPr>
              <a:t>：同一个线程重复加锁行为未明确定义，死锁或</a:t>
            </a:r>
            <a:r>
              <a:rPr lang="en-US" altLang="zh-CN" sz="1200">
                <a:cs typeface="+mn-ea"/>
                <a:sym typeface="+mn-lt"/>
              </a:rPr>
              <a:t>panic</a:t>
            </a:r>
            <a:r>
              <a:rPr lang="zh-CN" altLang="en-US" sz="1200">
                <a:cs typeface="+mn-ea"/>
                <a:sym typeface="+mn-lt"/>
              </a:rPr>
              <a:t>都有可能</a:t>
            </a:r>
            <a:endParaRPr lang="en-US" altLang="zh-CN" sz="1200">
              <a:cs typeface="+mn-ea"/>
              <a:sym typeface="+mn-lt"/>
            </a:endParaRPr>
          </a:p>
        </p:txBody>
      </p:sp>
      <p:pic>
        <p:nvPicPr>
          <p:cNvPr id="75" name="图片 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8498" y="1970058"/>
            <a:ext cx="4962525" cy="504825"/>
          </a:xfrm>
          <a:prstGeom prst="rect">
            <a:avLst/>
          </a:prstGeom>
        </p:spPr>
      </p:pic>
      <p:cxnSp>
        <p:nvCxnSpPr>
          <p:cNvPr id="81" name="直接连接符 80"/>
          <p:cNvCxnSpPr/>
          <p:nvPr/>
        </p:nvCxnSpPr>
        <p:spPr>
          <a:xfrm>
            <a:off x="5169529" y="4546368"/>
            <a:ext cx="0" cy="185737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321807" y="1030084"/>
            <a:ext cx="2091350" cy="3203799"/>
            <a:chOff x="1321807" y="1030084"/>
            <a:chExt cx="2091350" cy="3203799"/>
          </a:xfrm>
        </p:grpSpPr>
        <p:sp>
          <p:nvSpPr>
            <p:cNvPr id="18" name="矩形 17"/>
            <p:cNvSpPr/>
            <p:nvPr/>
          </p:nvSpPr>
          <p:spPr>
            <a:xfrm>
              <a:off x="1511929" y="1640808"/>
              <a:ext cx="280658" cy="217283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1511929" y="2002946"/>
              <a:ext cx="280658" cy="217283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2091351" y="1640808"/>
              <a:ext cx="280658" cy="217283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2091351" y="2002946"/>
              <a:ext cx="280658" cy="217283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2670773" y="1640808"/>
              <a:ext cx="280658" cy="21728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2670773" y="2002946"/>
              <a:ext cx="280658" cy="21728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1321807" y="2390301"/>
              <a:ext cx="181069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矩形 32"/>
            <p:cNvSpPr/>
            <p:nvPr/>
          </p:nvSpPr>
          <p:spPr>
            <a:xfrm>
              <a:off x="2091351" y="2472090"/>
              <a:ext cx="280658" cy="217283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36" name="直接连接符 35"/>
            <p:cNvCxnSpPr/>
            <p:nvPr/>
          </p:nvCxnSpPr>
          <p:spPr>
            <a:xfrm>
              <a:off x="1321807" y="3470563"/>
              <a:ext cx="181069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 36"/>
            <p:cNvSpPr/>
            <p:nvPr/>
          </p:nvSpPr>
          <p:spPr>
            <a:xfrm>
              <a:off x="1511929" y="3617406"/>
              <a:ext cx="280658" cy="217283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1511929" y="3933171"/>
              <a:ext cx="280658" cy="217283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2091351" y="3617406"/>
              <a:ext cx="280658" cy="217283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2091351" y="3933171"/>
              <a:ext cx="280658" cy="217283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2670773" y="3617406"/>
              <a:ext cx="280658" cy="21728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2670773" y="3933171"/>
              <a:ext cx="280658" cy="21728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412341" y="1030084"/>
              <a:ext cx="760491" cy="46115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en-US" altLang="zh-CN" sz="1200">
                  <a:cs typeface="+mn-ea"/>
                  <a:sym typeface="+mn-lt"/>
                </a:rPr>
                <a:t>thr1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991763" y="1050011"/>
              <a:ext cx="760491" cy="46115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en-US" altLang="zh-CN" sz="1200">
                  <a:cs typeface="+mn-ea"/>
                  <a:sym typeface="+mn-lt"/>
                </a:rPr>
                <a:t>thr2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2652666" y="1030084"/>
              <a:ext cx="760491" cy="46115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en-US" altLang="zh-CN" sz="1200">
                  <a:cs typeface="+mn-ea"/>
                  <a:sym typeface="+mn-lt"/>
                </a:rPr>
                <a:t>thr3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>
              <a:off x="1901228" y="1374633"/>
              <a:ext cx="0" cy="97232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2544024" y="1374633"/>
              <a:ext cx="1" cy="97232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2544024" y="3524100"/>
              <a:ext cx="0" cy="70978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1901228" y="3524100"/>
              <a:ext cx="0" cy="70978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/>
            <p:cNvSpPr txBox="1"/>
            <p:nvPr/>
          </p:nvSpPr>
          <p:spPr>
            <a:xfrm>
              <a:off x="2580240" y="2410183"/>
              <a:ext cx="760492" cy="8919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zh-CN" altLang="en-US" sz="1200">
                  <a:cs typeface="+mn-ea"/>
                  <a:sym typeface="+mn-lt"/>
                </a:rPr>
                <a:t>临界区串行化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2091351" y="2805374"/>
              <a:ext cx="280658" cy="217283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4" name="矩形 93"/>
            <p:cNvSpPr/>
            <p:nvPr/>
          </p:nvSpPr>
          <p:spPr>
            <a:xfrm>
              <a:off x="2098014" y="3168645"/>
              <a:ext cx="280658" cy="21728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42" name="直接连接符 41"/>
          <p:cNvCxnSpPr/>
          <p:nvPr/>
        </p:nvCxnSpPr>
        <p:spPr>
          <a:xfrm>
            <a:off x="187999" y="551620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36227" y="4326435"/>
            <a:ext cx="4488025" cy="2246769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Mutex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cloned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"thr1{}"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lock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});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"thr2 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cloned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lock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()));</a:t>
            </a:r>
          </a:p>
          <a:p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5382405" y="4484821"/>
            <a:ext cx="6168893" cy="2031325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</a:p>
          <a:p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static LOCK: Mutex&lt;i32&gt;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=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 Mutex::new(100);</a:t>
            </a:r>
          </a:p>
          <a:p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"thr1 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LOCK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lock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});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"thr2 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LOck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lock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()));</a:t>
            </a:r>
          </a:p>
          <a:p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7999" y="560346"/>
            <a:ext cx="11260663" cy="383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cs typeface="+mn-ea"/>
                <a:sym typeface="+mn-lt"/>
              </a:rPr>
              <a:t>互斥锁（</a:t>
            </a:r>
            <a:r>
              <a:rPr lang="en-US" altLang="zh-CN" sz="1400">
                <a:cs typeface="+mn-ea"/>
                <a:sym typeface="+mn-lt"/>
              </a:rPr>
              <a:t>Mutex</a:t>
            </a:r>
            <a:r>
              <a:rPr lang="zh-CN" altLang="en-US" sz="1400">
                <a:cs typeface="+mn-ea"/>
                <a:sym typeface="+mn-lt"/>
              </a:rPr>
              <a:t>）是 </a:t>
            </a:r>
            <a:r>
              <a:rPr lang="en-US" altLang="zh-CN" sz="1400">
                <a:cs typeface="+mn-ea"/>
                <a:sym typeface="+mn-lt"/>
              </a:rPr>
              <a:t>Rust </a:t>
            </a:r>
            <a:r>
              <a:rPr lang="zh-CN" altLang="en-US" sz="1400">
                <a:cs typeface="+mn-ea"/>
                <a:sym typeface="+mn-lt"/>
              </a:rPr>
              <a:t>提供的一种基于共享内存的方式来实现线程之间通信的机制，能够保护共享数据的安全访问，避免数据竞争问题。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87999" y="103079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读写锁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(RwLock)-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5311950" y="1448203"/>
            <a:ext cx="1041149" cy="226665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cs typeface="+mn-ea"/>
                <a:sym typeface="+mn-lt"/>
              </a:rPr>
              <a:t>RwLock&lt;T&gt;</a:t>
            </a:r>
            <a:endParaRPr lang="zh-CN" altLang="en-US" sz="1200">
              <a:cs typeface="+mn-ea"/>
              <a:sym typeface="+mn-lt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072850" y="1443676"/>
            <a:ext cx="1208175" cy="226665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cs typeface="+mn-ea"/>
                <a:sym typeface="+mn-lt"/>
              </a:rPr>
              <a:t>WriteGuard&lt;T&gt;</a:t>
            </a:r>
            <a:endParaRPr lang="zh-CN" altLang="en-US" sz="1200">
              <a:cs typeface="+mn-ea"/>
              <a:sym typeface="+mn-lt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9000776" y="1443676"/>
            <a:ext cx="1041149" cy="226665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cs typeface="+mn-ea"/>
                <a:sym typeface="+mn-lt"/>
              </a:rPr>
              <a:t>&amp;mut T</a:t>
            </a:r>
            <a:endParaRPr lang="zh-CN" altLang="en-US" sz="1200">
              <a:cs typeface="+mn-ea"/>
              <a:sym typeface="+mn-lt"/>
            </a:endParaRPr>
          </a:p>
        </p:txBody>
      </p:sp>
      <p:cxnSp>
        <p:nvCxnSpPr>
          <p:cNvPr id="68" name="直接箭头连接符 67"/>
          <p:cNvCxnSpPr>
            <a:stCxn id="64" idx="3"/>
            <a:endCxn id="65" idx="1"/>
          </p:cNvCxnSpPr>
          <p:nvPr/>
        </p:nvCxnSpPr>
        <p:spPr>
          <a:xfrm flipV="1">
            <a:off x="6353099" y="1557009"/>
            <a:ext cx="719751" cy="4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65" idx="3"/>
            <a:endCxn id="66" idx="1"/>
          </p:cNvCxnSpPr>
          <p:nvPr/>
        </p:nvCxnSpPr>
        <p:spPr>
          <a:xfrm>
            <a:off x="8281025" y="1557009"/>
            <a:ext cx="7197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6353099" y="1143267"/>
            <a:ext cx="760491" cy="4611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1200">
                <a:cs typeface="+mn-ea"/>
                <a:sym typeface="+mn-lt"/>
              </a:rPr>
              <a:t>write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154740" y="1165404"/>
            <a:ext cx="968720" cy="4572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1200">
                <a:cs typeface="+mn-ea"/>
                <a:sym typeface="+mn-lt"/>
              </a:rPr>
              <a:t>deref_mut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5139933" y="3084802"/>
            <a:ext cx="5578671" cy="14446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cs typeface="+mn-ea"/>
                <a:sym typeface="+mn-lt"/>
              </a:rPr>
              <a:t>关键设计：</a:t>
            </a:r>
            <a:endParaRPr lang="en-US" altLang="zh-CN" sz="1200" b="1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zh-CN" sz="1200">
                <a:cs typeface="+mn-ea"/>
                <a:sym typeface="+mn-lt"/>
              </a:rPr>
              <a:t>RAII</a:t>
            </a:r>
            <a:r>
              <a:rPr lang="zh-CN" altLang="en-US" sz="1200">
                <a:cs typeface="+mn-ea"/>
                <a:sym typeface="+mn-lt"/>
              </a:rPr>
              <a:t>、生命周期、线程安全、内存资源等完全同</a:t>
            </a:r>
            <a:r>
              <a:rPr lang="en-US" altLang="zh-CN" sz="1200">
                <a:cs typeface="+mn-ea"/>
                <a:sym typeface="+mn-lt"/>
              </a:rPr>
              <a:t>Mutex</a:t>
            </a:r>
            <a:r>
              <a:rPr lang="zh-CN" altLang="en-US" sz="1200">
                <a:cs typeface="+mn-ea"/>
                <a:sym typeface="+mn-lt"/>
              </a:rPr>
              <a:t>的设计和使用方式。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读锁共享数据：只读借用，只读借用可以多线程并存。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写锁共享数据：可写借用，同</a:t>
            </a:r>
            <a:r>
              <a:rPr lang="en-US" altLang="zh-CN" sz="1200">
                <a:cs typeface="+mn-ea"/>
                <a:sym typeface="+mn-lt"/>
              </a:rPr>
              <a:t>RUST</a:t>
            </a:r>
            <a:r>
              <a:rPr lang="zh-CN" altLang="en-US" sz="1200">
                <a:cs typeface="+mn-ea"/>
                <a:sym typeface="+mn-lt"/>
              </a:rPr>
              <a:t>借用规则，无法和只读借用并存。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 b="1">
                <a:cs typeface="+mn-ea"/>
                <a:sym typeface="+mn-lt"/>
              </a:rPr>
              <a:t>重复加锁：</a:t>
            </a:r>
            <a:r>
              <a:rPr lang="zh-CN" altLang="en-US" sz="1200">
                <a:cs typeface="+mn-ea"/>
                <a:sym typeface="+mn-lt"/>
              </a:rPr>
              <a:t>同一个线程重复加锁，无论是写锁还是读锁，都会导致</a:t>
            </a:r>
            <a:r>
              <a:rPr lang="en-US" altLang="zh-CN" sz="1200">
                <a:cs typeface="+mn-ea"/>
                <a:sym typeface="+mn-lt"/>
              </a:rPr>
              <a:t>panic</a:t>
            </a:r>
          </a:p>
        </p:txBody>
      </p:sp>
      <p:cxnSp>
        <p:nvCxnSpPr>
          <p:cNvPr id="81" name="直接连接符 80"/>
          <p:cNvCxnSpPr/>
          <p:nvPr/>
        </p:nvCxnSpPr>
        <p:spPr>
          <a:xfrm>
            <a:off x="5169529" y="4546368"/>
            <a:ext cx="0" cy="185737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529" y="926233"/>
            <a:ext cx="5181600" cy="2095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741" y="1185343"/>
            <a:ext cx="5343525" cy="200025"/>
          </a:xfrm>
          <a:prstGeom prst="rect">
            <a:avLst/>
          </a:prstGeom>
        </p:spPr>
      </p:pic>
      <p:sp>
        <p:nvSpPr>
          <p:cNvPr id="54" name="矩形 53"/>
          <p:cNvSpPr/>
          <p:nvPr/>
        </p:nvSpPr>
        <p:spPr>
          <a:xfrm>
            <a:off x="5311950" y="1703349"/>
            <a:ext cx="1041149" cy="226665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cs typeface="+mn-ea"/>
                <a:sym typeface="+mn-lt"/>
              </a:rPr>
              <a:t>RwLock&lt;T&gt;</a:t>
            </a:r>
            <a:endParaRPr lang="zh-CN" altLang="en-US" sz="1200"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7072850" y="1698822"/>
            <a:ext cx="1208175" cy="226665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cs typeface="+mn-ea"/>
                <a:sym typeface="+mn-lt"/>
              </a:rPr>
              <a:t>ReadGuard&lt;T&gt;</a:t>
            </a:r>
            <a:endParaRPr lang="zh-CN" altLang="en-US" sz="1200">
              <a:cs typeface="+mn-ea"/>
              <a:sym typeface="+mn-lt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9000776" y="1698822"/>
            <a:ext cx="1041149" cy="226665"/>
          </a:xfrm>
          <a:prstGeom prst="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cs typeface="+mn-ea"/>
                <a:sym typeface="+mn-lt"/>
              </a:rPr>
              <a:t>&amp; T</a:t>
            </a:r>
            <a:endParaRPr lang="zh-CN" altLang="en-US" sz="1200">
              <a:cs typeface="+mn-ea"/>
              <a:sym typeface="+mn-lt"/>
            </a:endParaRPr>
          </a:p>
        </p:txBody>
      </p:sp>
      <p:cxnSp>
        <p:nvCxnSpPr>
          <p:cNvPr id="67" name="直接箭头连接符 66"/>
          <p:cNvCxnSpPr>
            <a:stCxn id="54" idx="3"/>
            <a:endCxn id="58" idx="1"/>
          </p:cNvCxnSpPr>
          <p:nvPr/>
        </p:nvCxnSpPr>
        <p:spPr>
          <a:xfrm flipV="1">
            <a:off x="6353099" y="1812155"/>
            <a:ext cx="719751" cy="4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stCxn id="58" idx="3"/>
            <a:endCxn id="60" idx="1"/>
          </p:cNvCxnSpPr>
          <p:nvPr/>
        </p:nvCxnSpPr>
        <p:spPr>
          <a:xfrm>
            <a:off x="8281025" y="1812155"/>
            <a:ext cx="7197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6353099" y="1579481"/>
            <a:ext cx="760491" cy="4611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1200">
                <a:cs typeface="+mn-ea"/>
                <a:sym typeface="+mn-lt"/>
              </a:rPr>
              <a:t>read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8317694" y="1601616"/>
            <a:ext cx="968720" cy="4611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1200">
                <a:cs typeface="+mn-ea"/>
                <a:sym typeface="+mn-lt"/>
              </a:rPr>
              <a:t>deref</a:t>
            </a:r>
            <a:endParaRPr lang="zh-CN" altLang="en-US" sz="1200" dirty="0"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5741" y="2030416"/>
            <a:ext cx="4914900" cy="5143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5741" y="2608436"/>
            <a:ext cx="4819650" cy="495300"/>
          </a:xfrm>
          <a:prstGeom prst="rect">
            <a:avLst/>
          </a:prstGeom>
        </p:spPr>
      </p:pic>
      <p:sp>
        <p:nvSpPr>
          <p:cNvPr id="83" name="矩形 82"/>
          <p:cNvSpPr/>
          <p:nvPr/>
        </p:nvSpPr>
        <p:spPr>
          <a:xfrm>
            <a:off x="1511929" y="1342228"/>
            <a:ext cx="280658" cy="217283"/>
          </a:xfrm>
          <a:prstGeom prst="rect">
            <a:avLst/>
          </a:prstGeom>
          <a:solidFill>
            <a:srgbClr val="FFC00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511929" y="1704366"/>
            <a:ext cx="280658" cy="217283"/>
          </a:xfrm>
          <a:prstGeom prst="rect">
            <a:avLst/>
          </a:prstGeom>
          <a:solidFill>
            <a:srgbClr val="FFC00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2091351" y="1342228"/>
            <a:ext cx="280658" cy="217283"/>
          </a:xfrm>
          <a:prstGeom prst="rect">
            <a:avLst/>
          </a:prstGeom>
          <a:solidFill>
            <a:srgbClr val="C0000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2091351" y="1704366"/>
            <a:ext cx="280658" cy="217283"/>
          </a:xfrm>
          <a:prstGeom prst="rect">
            <a:avLst/>
          </a:prstGeom>
          <a:solidFill>
            <a:srgbClr val="C0000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2670773" y="1342228"/>
            <a:ext cx="280658" cy="217283"/>
          </a:xfrm>
          <a:prstGeom prst="rect">
            <a:avLst/>
          </a:prstGeom>
          <a:solidFill>
            <a:srgbClr val="00B05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2670773" y="1704366"/>
            <a:ext cx="280658" cy="217283"/>
          </a:xfrm>
          <a:prstGeom prst="rect">
            <a:avLst/>
          </a:prstGeom>
          <a:solidFill>
            <a:srgbClr val="00B05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89" name="直接连接符 88"/>
          <p:cNvCxnSpPr/>
          <p:nvPr/>
        </p:nvCxnSpPr>
        <p:spPr>
          <a:xfrm>
            <a:off x="1321807" y="2157032"/>
            <a:ext cx="18106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2091351" y="2285475"/>
            <a:ext cx="280658" cy="217283"/>
          </a:xfrm>
          <a:prstGeom prst="rect">
            <a:avLst/>
          </a:prstGeom>
          <a:solidFill>
            <a:srgbClr val="FFC00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1321807" y="3367925"/>
            <a:ext cx="181069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91"/>
          <p:cNvSpPr/>
          <p:nvPr/>
        </p:nvSpPr>
        <p:spPr>
          <a:xfrm>
            <a:off x="1511929" y="3524100"/>
            <a:ext cx="280658" cy="217283"/>
          </a:xfrm>
          <a:prstGeom prst="rect">
            <a:avLst/>
          </a:prstGeom>
          <a:solidFill>
            <a:srgbClr val="FFC00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1511929" y="3877185"/>
            <a:ext cx="280658" cy="217283"/>
          </a:xfrm>
          <a:prstGeom prst="rect">
            <a:avLst/>
          </a:prstGeom>
          <a:solidFill>
            <a:srgbClr val="FFC00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2091351" y="3524100"/>
            <a:ext cx="280658" cy="217283"/>
          </a:xfrm>
          <a:prstGeom prst="rect">
            <a:avLst/>
          </a:prstGeom>
          <a:solidFill>
            <a:srgbClr val="C0000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2091351" y="3877185"/>
            <a:ext cx="280658" cy="217283"/>
          </a:xfrm>
          <a:prstGeom prst="rect">
            <a:avLst/>
          </a:prstGeom>
          <a:solidFill>
            <a:srgbClr val="C0000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2670773" y="3524100"/>
            <a:ext cx="280658" cy="217283"/>
          </a:xfrm>
          <a:prstGeom prst="rect">
            <a:avLst/>
          </a:prstGeom>
          <a:solidFill>
            <a:srgbClr val="00B05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2670773" y="3877185"/>
            <a:ext cx="280658" cy="217283"/>
          </a:xfrm>
          <a:prstGeom prst="rect">
            <a:avLst/>
          </a:prstGeom>
          <a:solidFill>
            <a:srgbClr val="00B05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98" name="直接连接符 97"/>
          <p:cNvCxnSpPr/>
          <p:nvPr/>
        </p:nvCxnSpPr>
        <p:spPr>
          <a:xfrm>
            <a:off x="1901228" y="1076053"/>
            <a:ext cx="0" cy="97232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/>
          <p:cNvCxnSpPr/>
          <p:nvPr/>
        </p:nvCxnSpPr>
        <p:spPr>
          <a:xfrm>
            <a:off x="2544024" y="1076053"/>
            <a:ext cx="1" cy="972327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/>
          <p:cNvCxnSpPr/>
          <p:nvPr/>
        </p:nvCxnSpPr>
        <p:spPr>
          <a:xfrm>
            <a:off x="2544024" y="3524100"/>
            <a:ext cx="0" cy="70978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/>
        </p:nvCxnSpPr>
        <p:spPr>
          <a:xfrm>
            <a:off x="1901228" y="3524100"/>
            <a:ext cx="0" cy="70978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文本框 101"/>
          <p:cNvSpPr txBox="1"/>
          <p:nvPr/>
        </p:nvSpPr>
        <p:spPr>
          <a:xfrm>
            <a:off x="3132500" y="2278858"/>
            <a:ext cx="923450" cy="8919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200">
                <a:cs typeface="+mn-ea"/>
                <a:sym typeface="+mn-lt"/>
              </a:rPr>
              <a:t>读写串行</a:t>
            </a:r>
            <a:endParaRPr lang="en-US" altLang="zh-CN" sz="1200">
              <a:cs typeface="+mn-ea"/>
              <a:sym typeface="+mn-lt"/>
            </a:endParaRPr>
          </a:p>
          <a:p>
            <a:pPr algn="l">
              <a:lnSpc>
                <a:spcPts val="3440"/>
              </a:lnSpc>
            </a:pPr>
            <a:r>
              <a:rPr lang="zh-CN" altLang="en-US" sz="1200">
                <a:cs typeface="+mn-ea"/>
                <a:sym typeface="+mn-lt"/>
              </a:rPr>
              <a:t>只读并行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2091351" y="2618759"/>
            <a:ext cx="280658" cy="217283"/>
          </a:xfrm>
          <a:prstGeom prst="rect">
            <a:avLst/>
          </a:prstGeom>
          <a:solidFill>
            <a:srgbClr val="C0000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2626828" y="2620294"/>
            <a:ext cx="280658" cy="217283"/>
          </a:xfrm>
          <a:prstGeom prst="rect">
            <a:avLst/>
          </a:prstGeom>
          <a:solidFill>
            <a:srgbClr val="00B05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2091351" y="3006901"/>
            <a:ext cx="280658" cy="217283"/>
          </a:xfrm>
          <a:prstGeom prst="rect">
            <a:avLst/>
          </a:prstGeom>
          <a:solidFill>
            <a:srgbClr val="FFC00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1412341" y="815477"/>
            <a:ext cx="760491" cy="4611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1200">
                <a:cs typeface="+mn-ea"/>
                <a:sym typeface="+mn-lt"/>
              </a:rPr>
              <a:t>write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1991763" y="835404"/>
            <a:ext cx="760491" cy="4611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1200">
                <a:cs typeface="+mn-ea"/>
                <a:sym typeface="+mn-lt"/>
              </a:rPr>
              <a:t>read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2652666" y="815477"/>
            <a:ext cx="760491" cy="4611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1200">
                <a:cs typeface="+mn-ea"/>
                <a:sym typeface="+mn-lt"/>
              </a:rPr>
              <a:t>read</a:t>
            </a:r>
            <a:endParaRPr lang="zh-CN" altLang="en-US" sz="1200" dirty="0">
              <a:cs typeface="+mn-ea"/>
              <a:sym typeface="+mn-lt"/>
            </a:endParaRPr>
          </a:p>
        </p:txBody>
      </p:sp>
      <p:cxnSp>
        <p:nvCxnSpPr>
          <p:cNvPr id="51" name="直接连接符 50"/>
          <p:cNvCxnSpPr/>
          <p:nvPr/>
        </p:nvCxnSpPr>
        <p:spPr>
          <a:xfrm>
            <a:off x="187999" y="551620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236015" y="4441438"/>
            <a:ext cx="4833302" cy="2246769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RwLock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cloned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"thr1 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read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});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 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"thr2 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cloned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write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())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});</a:t>
            </a:r>
          </a:p>
          <a:p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460852" y="4529493"/>
            <a:ext cx="5257752" cy="2246769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全局资源，内存资源在进程退出后自动回收</a:t>
            </a:r>
            <a:endParaRPr lang="zh-CN" altLang="en-US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boxed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leak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Box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RwLock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)));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&amp;*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boxed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"thr1 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read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});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"thr2 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write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()));</a:t>
            </a:r>
          </a:p>
          <a:p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h1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7999" y="522651"/>
            <a:ext cx="10896768" cy="383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cs typeface="+mn-ea"/>
                <a:sym typeface="+mn-lt"/>
              </a:rPr>
              <a:t>读写锁（</a:t>
            </a:r>
            <a:r>
              <a:rPr lang="en-US" altLang="zh-CN" sz="1400">
                <a:cs typeface="+mn-ea"/>
                <a:sym typeface="+mn-lt"/>
              </a:rPr>
              <a:t>RwLock</a:t>
            </a:r>
            <a:r>
              <a:rPr lang="zh-CN" altLang="en-US" sz="1400">
                <a:cs typeface="+mn-ea"/>
                <a:sym typeface="+mn-lt"/>
              </a:rPr>
              <a:t>）是 </a:t>
            </a:r>
            <a:r>
              <a:rPr lang="en-US" altLang="zh-CN" sz="1400">
                <a:cs typeface="+mn-ea"/>
                <a:sym typeface="+mn-lt"/>
              </a:rPr>
              <a:t>Rust </a:t>
            </a:r>
            <a:r>
              <a:rPr lang="zh-CN" altLang="en-US" sz="1400">
                <a:cs typeface="+mn-ea"/>
                <a:sym typeface="+mn-lt"/>
              </a:rPr>
              <a:t>中常用的线程同步机制之一，它允许多个线程同时读取共享数据，但只允许一个线程写入数据。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87999" y="84102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条件变量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(Condvar)-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402603" y="1451728"/>
            <a:ext cx="436074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chemeClr val="accent1"/>
                </a:solidFill>
                <a:cs typeface="+mn-ea"/>
                <a:sym typeface="+mn-lt"/>
              </a:rPr>
              <a:t>低效的</a:t>
            </a:r>
            <a:r>
              <a:rPr lang="zh-CN" altLang="en-US" sz="1200" b="1">
                <a:cs typeface="+mn-ea"/>
                <a:sym typeface="+mn-lt"/>
              </a:rPr>
              <a:t>轮询机制：</a:t>
            </a:r>
            <a:endParaRPr lang="en-US" altLang="zh-CN" sz="1200" b="1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每次轮询需要反复获取锁，因为条件判断在临界区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多次轮询都可能先于条件修改线程获取锁，低效！</a:t>
            </a:r>
            <a:endParaRPr lang="en-US" altLang="zh-CN" sz="1200">
              <a:cs typeface="+mn-ea"/>
              <a:sym typeface="+mn-lt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5234843" y="1451728"/>
            <a:ext cx="57165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chemeClr val="accent1"/>
                </a:solidFill>
                <a:cs typeface="+mn-ea"/>
                <a:sym typeface="+mn-lt"/>
              </a:rPr>
              <a:t>高效的</a:t>
            </a:r>
            <a:r>
              <a:rPr lang="zh-CN" altLang="en-US" sz="1200" b="1">
                <a:cs typeface="+mn-ea"/>
                <a:sym typeface="+mn-lt"/>
              </a:rPr>
              <a:t>通知机制</a:t>
            </a:r>
            <a:endParaRPr lang="en-US" altLang="zh-CN" sz="1200" b="1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条件不满足时等待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条件满足后再通知</a:t>
            </a:r>
            <a:endParaRPr lang="en-US" altLang="zh-CN" sz="1200"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87999" y="551620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02603" y="2354295"/>
            <a:ext cx="4360749" cy="3816429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thread1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do_something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mutex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Mutex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loop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guard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mutex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lock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!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guard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condition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break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guard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do_something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thread2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set_condition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mutex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Mutex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guard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mutex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lock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guard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set_condition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234842" y="2370525"/>
            <a:ext cx="6017875" cy="3539430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thread1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do_something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mutex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Mutex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condvar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Condvar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guard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mutex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lock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while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!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guard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condition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guard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condvar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wait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guard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guard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do_something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thread2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set_condition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mutex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Mutex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condvar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Condvar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guard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mutex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lock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guard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set_condition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condvar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notify_all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7999" y="560166"/>
            <a:ext cx="10740640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Condvar</a:t>
            </a:r>
            <a:r>
              <a:rPr lang="zh-CN" altLang="en-US" sz="1400">
                <a:cs typeface="+mn-ea"/>
                <a:sym typeface="+mn-lt"/>
              </a:rPr>
              <a:t> 是 </a:t>
            </a:r>
            <a:r>
              <a:rPr lang="en-US" altLang="zh-CN" sz="1400">
                <a:cs typeface="+mn-ea"/>
                <a:sym typeface="+mn-lt"/>
              </a:rPr>
              <a:t>Rust </a:t>
            </a:r>
            <a:r>
              <a:rPr lang="zh-CN" altLang="en-US" sz="1400">
                <a:cs typeface="+mn-ea"/>
                <a:sym typeface="+mn-lt"/>
              </a:rPr>
              <a:t>中的条件变量，允许线程在某些条件下等待，直到被其他线程唤醒。通常与互斥锁一起使用，以便在线程间同步共享数据的访问。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87999" y="84102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条件变量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(Condvar)-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虚假唤醒机制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971593" y="3791789"/>
            <a:ext cx="4957046" cy="258445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cs typeface="+mn-ea"/>
                <a:sym typeface="+mn-lt"/>
              </a:rPr>
              <a:t>使用条件变量的关键注意事项：</a:t>
            </a:r>
            <a:endParaRPr lang="en-US" altLang="zh-CN" sz="1200" b="1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总是和</a:t>
            </a:r>
            <a:r>
              <a:rPr lang="en-US" altLang="zh-CN" sz="1200">
                <a:cs typeface="+mn-ea"/>
                <a:sym typeface="+mn-lt"/>
              </a:rPr>
              <a:t>Mutex</a:t>
            </a:r>
            <a:r>
              <a:rPr lang="zh-CN" altLang="en-US" sz="1200">
                <a:cs typeface="+mn-ea"/>
                <a:sym typeface="+mn-lt"/>
              </a:rPr>
              <a:t>配套使用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临界区总是在</a:t>
            </a:r>
            <a:r>
              <a:rPr lang="en-US" altLang="zh-CN" sz="1200">
                <a:cs typeface="+mn-ea"/>
                <a:sym typeface="+mn-lt"/>
              </a:rPr>
              <a:t>Mutex</a:t>
            </a:r>
            <a:r>
              <a:rPr lang="zh-CN" altLang="en-US" sz="1200">
                <a:cs typeface="+mn-ea"/>
                <a:sym typeface="+mn-lt"/>
              </a:rPr>
              <a:t>的保护范围，包括条件的设置和判断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唤醒后应重复判断条件是否满足</a:t>
            </a:r>
            <a:endParaRPr lang="en-US" altLang="zh-CN" sz="1200">
              <a:cs typeface="+mn-ea"/>
              <a:sym typeface="+mn-lt"/>
            </a:endParaRPr>
          </a:p>
          <a:p>
            <a:pPr marL="685800" lvl="1" indent="-2286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200">
                <a:cs typeface="+mn-ea"/>
                <a:sym typeface="+mn-lt"/>
              </a:rPr>
              <a:t>Condvar::wait</a:t>
            </a:r>
            <a:r>
              <a:rPr lang="zh-CN" altLang="en-US" sz="1200">
                <a:cs typeface="+mn-ea"/>
                <a:sym typeface="+mn-lt"/>
              </a:rPr>
              <a:t>总是先释放锁，唤醒之前再加锁</a:t>
            </a:r>
            <a:endParaRPr lang="en-US" altLang="zh-CN" sz="1200">
              <a:cs typeface="+mn-ea"/>
              <a:sym typeface="+mn-lt"/>
            </a:endParaRPr>
          </a:p>
          <a:p>
            <a:pPr marL="685800" lvl="1" indent="-2286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200">
                <a:cs typeface="+mn-ea"/>
                <a:sym typeface="+mn-lt"/>
              </a:rPr>
              <a:t>Condvar::wait</a:t>
            </a:r>
            <a:r>
              <a:rPr lang="zh-CN" altLang="en-US" sz="1200">
                <a:cs typeface="+mn-ea"/>
                <a:sym typeface="+mn-lt"/>
              </a:rPr>
              <a:t>中的锁释放和加锁之间条件可能被改变</a:t>
            </a:r>
            <a:endParaRPr lang="en-US" altLang="zh-CN" sz="1200">
              <a:cs typeface="+mn-ea"/>
              <a:sym typeface="+mn-lt"/>
            </a:endParaRPr>
          </a:p>
          <a:p>
            <a:pPr marL="685800" lvl="1" indent="-2286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200">
                <a:cs typeface="+mn-ea"/>
                <a:sym typeface="+mn-lt"/>
              </a:rPr>
              <a:t>Condvar::wait</a:t>
            </a:r>
            <a:r>
              <a:rPr lang="zh-CN" altLang="en-US" sz="1200" b="1">
                <a:cs typeface="+mn-ea"/>
                <a:sym typeface="+mn-lt"/>
              </a:rPr>
              <a:t>存在虚假唤醒的可能</a:t>
            </a:r>
            <a:r>
              <a:rPr lang="en-US" altLang="zh-CN" sz="1200">
                <a:cs typeface="+mn-ea"/>
                <a:sym typeface="+mn-lt"/>
              </a:rPr>
              <a:t>(</a:t>
            </a:r>
            <a:r>
              <a:rPr lang="zh-CN" altLang="en-US" sz="1200">
                <a:cs typeface="+mn-ea"/>
                <a:sym typeface="+mn-lt"/>
              </a:rPr>
              <a:t>可能因为系统信号机制，取决于内部实现）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200">
                <a:cs typeface="+mn-ea"/>
                <a:sym typeface="+mn-lt"/>
              </a:rPr>
              <a:t>根据业务需要选择唤醒所有</a:t>
            </a:r>
            <a:r>
              <a:rPr lang="en-US" altLang="zh-CN" sz="1200">
                <a:cs typeface="+mn-ea"/>
                <a:sym typeface="+mn-lt"/>
              </a:rPr>
              <a:t>(notify_all)</a:t>
            </a:r>
            <a:r>
              <a:rPr lang="zh-CN" altLang="en-US" sz="1200">
                <a:cs typeface="+mn-ea"/>
                <a:sym typeface="+mn-lt"/>
              </a:rPr>
              <a:t>还是一个</a:t>
            </a:r>
            <a:r>
              <a:rPr lang="en-US" altLang="zh-CN" sz="1200">
                <a:cs typeface="+mn-ea"/>
                <a:sym typeface="+mn-lt"/>
              </a:rPr>
              <a:t>(notify_one)</a:t>
            </a:r>
          </a:p>
        </p:txBody>
      </p:sp>
      <p:cxnSp>
        <p:nvCxnSpPr>
          <p:cNvPr id="8" name="直接连接符 7"/>
          <p:cNvCxnSpPr/>
          <p:nvPr/>
        </p:nvCxnSpPr>
        <p:spPr>
          <a:xfrm>
            <a:off x="187999" y="551620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355951" y="1545020"/>
            <a:ext cx="5503674" cy="4832092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sync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::{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Mutex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Condvar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::thread;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pair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Mutex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false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),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Condvar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pair2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pair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lock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cvar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&amp;*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pair2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started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lock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lock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*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started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true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cvar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notify_one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});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lock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cvar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&amp;*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pair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started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lock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lock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   // </a:t>
            </a:r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这里不能使用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if</a:t>
            </a:r>
            <a:r>
              <a:rPr lang="zh-CN" altLang="en-US" sz="1400">
                <a:solidFill>
                  <a:srgbClr val="ABB2BF"/>
                </a:solidFill>
                <a:cs typeface="+mn-ea"/>
                <a:sym typeface="+mn-lt"/>
              </a:rPr>
              <a:t>，应使用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while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while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*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started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started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cvar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wait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started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89249" y="621890"/>
            <a:ext cx="10639389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111111"/>
                </a:solidFill>
                <a:cs typeface="+mn-ea"/>
                <a:sym typeface="+mn-lt"/>
              </a:rPr>
              <a:t>在某些情况下，即使没有其他线程显式唤醒它，线程可能会被虚假唤醒。</a:t>
            </a:r>
            <a:endParaRPr lang="en-US" altLang="zh-CN" sz="1600">
              <a:solidFill>
                <a:srgbClr val="111111"/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为了避免虚假唤醒带来的问题，通常需要在一个循环中检查条件，以确保线程只有在条件满足时才会继续执行。</a:t>
            </a:r>
          </a:p>
        </p:txBody>
      </p:sp>
      <p:sp>
        <p:nvSpPr>
          <p:cNvPr id="6" name="矩形 5"/>
          <p:cNvSpPr/>
          <p:nvPr/>
        </p:nvSpPr>
        <p:spPr>
          <a:xfrm>
            <a:off x="5971592" y="1802014"/>
            <a:ext cx="4957046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cs typeface="+mn-ea"/>
                <a:sym typeface="+mn-lt"/>
              </a:rPr>
              <a:t>示例中，创建了一个 </a:t>
            </a:r>
            <a:r>
              <a:rPr lang="en-US" altLang="zh-CN" sz="1400">
                <a:cs typeface="+mn-ea"/>
                <a:sym typeface="+mn-lt"/>
              </a:rPr>
              <a:t>Arc</a:t>
            </a:r>
            <a:r>
              <a:rPr lang="zh-CN" altLang="en-US" sz="1400">
                <a:cs typeface="+mn-ea"/>
                <a:sym typeface="+mn-lt"/>
              </a:rPr>
              <a:t> 指针来共享一个包含互斥锁和条件变量的元组。然后在线程中克隆这个指针，并在线程中修改它所指向的数据。</a:t>
            </a:r>
            <a:endParaRPr lang="en-US" altLang="zh-CN" sz="1400"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cs typeface="+mn-ea"/>
                <a:sym typeface="+mn-lt"/>
              </a:rPr>
              <a:t>在主线程中，使用了一个循环来检查条件是否满足。只有当条件满足时，线程才会继续执行。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87999" y="93097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互斥锁屏障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(Barrier)-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268586" y="962954"/>
            <a:ext cx="49878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>
                <a:cs typeface="+mn-ea"/>
                <a:sym typeface="+mn-lt"/>
              </a:rPr>
              <a:t>Barrier</a:t>
            </a:r>
            <a:r>
              <a:rPr lang="zh-CN" altLang="en-US" sz="1200" b="1">
                <a:cs typeface="+mn-ea"/>
                <a:sym typeface="+mn-lt"/>
              </a:rPr>
              <a:t>应用：</a:t>
            </a:r>
            <a:endParaRPr lang="en-US" altLang="zh-CN" sz="1200" b="1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返回值提供</a:t>
            </a:r>
            <a:r>
              <a:rPr lang="en-US" altLang="zh-CN" sz="1200">
                <a:cs typeface="+mn-ea"/>
                <a:sym typeface="+mn-lt"/>
              </a:rPr>
              <a:t>is_leader</a:t>
            </a:r>
            <a:r>
              <a:rPr lang="zh-CN" altLang="en-US" sz="1200">
                <a:cs typeface="+mn-ea"/>
                <a:sym typeface="+mn-lt"/>
              </a:rPr>
              <a:t>接口，保证只有一个线程返回</a:t>
            </a:r>
            <a:r>
              <a:rPr lang="en-US" altLang="zh-CN" sz="1200">
                <a:cs typeface="+mn-ea"/>
                <a:sym typeface="+mn-lt"/>
              </a:rPr>
              <a:t>true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与其他锁机制不同，返回类型支持</a:t>
            </a:r>
            <a:r>
              <a:rPr lang="en-US" altLang="zh-CN" sz="1200">
                <a:cs typeface="+mn-ea"/>
                <a:sym typeface="+mn-lt"/>
              </a:rPr>
              <a:t>Send</a:t>
            </a:r>
            <a:r>
              <a:rPr lang="zh-CN" altLang="en-US" sz="1200">
                <a:cs typeface="+mn-ea"/>
                <a:sym typeface="+mn-lt"/>
              </a:rPr>
              <a:t>，可跨线程传递</a:t>
            </a:r>
            <a:endParaRPr lang="en-US" altLang="zh-CN" sz="1200">
              <a:cs typeface="+mn-ea"/>
              <a:sym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26" y="5805351"/>
            <a:ext cx="3663868" cy="983325"/>
          </a:xfrm>
          <a:prstGeom prst="rect">
            <a:avLst/>
          </a:prstGeom>
        </p:spPr>
      </p:pic>
      <p:grpSp>
        <p:nvGrpSpPr>
          <p:cNvPr id="84" name="组合 83"/>
          <p:cNvGrpSpPr/>
          <p:nvPr/>
        </p:nvGrpSpPr>
        <p:grpSpPr>
          <a:xfrm>
            <a:off x="1830173" y="1205858"/>
            <a:ext cx="3478945" cy="1009721"/>
            <a:chOff x="1321807" y="5210010"/>
            <a:chExt cx="3478945" cy="1009721"/>
          </a:xfrm>
        </p:grpSpPr>
        <p:sp>
          <p:nvSpPr>
            <p:cNvPr id="60" name="矩形 59"/>
            <p:cNvSpPr/>
            <p:nvPr/>
          </p:nvSpPr>
          <p:spPr>
            <a:xfrm>
              <a:off x="1511929" y="5210010"/>
              <a:ext cx="280658" cy="217283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2091351" y="5497768"/>
              <a:ext cx="280658" cy="217283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65" name="直接连接符 64"/>
            <p:cNvCxnSpPr/>
            <p:nvPr/>
          </p:nvCxnSpPr>
          <p:spPr>
            <a:xfrm>
              <a:off x="1321807" y="5832745"/>
              <a:ext cx="181069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矩形 67"/>
            <p:cNvSpPr/>
            <p:nvPr/>
          </p:nvSpPr>
          <p:spPr>
            <a:xfrm>
              <a:off x="1511929" y="5932328"/>
              <a:ext cx="280658" cy="217283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矩形 69"/>
            <p:cNvSpPr/>
            <p:nvPr/>
          </p:nvSpPr>
          <p:spPr>
            <a:xfrm>
              <a:off x="2091351" y="5932328"/>
              <a:ext cx="280658" cy="217283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2670773" y="5932328"/>
              <a:ext cx="280658" cy="21728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75" name="直接连接符 74"/>
            <p:cNvCxnSpPr/>
            <p:nvPr/>
          </p:nvCxnSpPr>
          <p:spPr>
            <a:xfrm>
              <a:off x="1901228" y="5224263"/>
              <a:ext cx="0" cy="61751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/>
            <p:cNvCxnSpPr/>
            <p:nvPr/>
          </p:nvCxnSpPr>
          <p:spPr>
            <a:xfrm>
              <a:off x="2544024" y="5224263"/>
              <a:ext cx="1" cy="61751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>
              <a:off x="2544024" y="5932328"/>
              <a:ext cx="0" cy="21728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>
              <a:off x="1901228" y="5932328"/>
              <a:ext cx="0" cy="28740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文本框 78"/>
            <p:cNvSpPr txBox="1"/>
            <p:nvPr/>
          </p:nvSpPr>
          <p:spPr>
            <a:xfrm>
              <a:off x="3222651" y="5360732"/>
              <a:ext cx="1578101" cy="461152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zh-CN" altLang="en-US" sz="1200">
                  <a:cs typeface="+mn-ea"/>
                  <a:sym typeface="+mn-lt"/>
                </a:rPr>
                <a:t>重新对时，一起触发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2663475" y="5318070"/>
              <a:ext cx="280658" cy="21728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15151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pic>
        <p:nvPicPr>
          <p:cNvPr id="85" name="图片 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57" y="1844457"/>
            <a:ext cx="3630353" cy="250689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851" y="2087834"/>
            <a:ext cx="2488256" cy="500831"/>
          </a:xfrm>
          <a:prstGeom prst="rect">
            <a:avLst/>
          </a:prstGeom>
        </p:spPr>
      </p:pic>
      <p:cxnSp>
        <p:nvCxnSpPr>
          <p:cNvPr id="22" name="直接连接符 21"/>
          <p:cNvCxnSpPr/>
          <p:nvPr/>
        </p:nvCxnSpPr>
        <p:spPr>
          <a:xfrm>
            <a:off x="187999" y="551620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87999" y="2284527"/>
            <a:ext cx="5923552" cy="3447098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>
            <a:spAutoFit/>
          </a:bodyPr>
          <a:lstStyle/>
          <a:p>
            <a:r>
              <a:rPr lang="en-US" altLang="zh-CN" sz="12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// Condvar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模拟</a:t>
            </a:r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Barrier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barrier_wait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mutex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Mutex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u64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&gt;,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condvar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Condvar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nthr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u64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guard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mutex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lock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*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gurad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+=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l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(*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guard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%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nthr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condvar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notify_all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return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ntimes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*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guard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/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nthr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loop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    // </a:t>
            </a:r>
            <a:r>
              <a:rPr lang="zh-CN" altLang="en-US" sz="1200" i="1">
                <a:solidFill>
                  <a:srgbClr val="7F848E"/>
                </a:solidFill>
                <a:cs typeface="+mn-ea"/>
                <a:sym typeface="+mn-lt"/>
              </a:rPr>
              <a:t>需要判断是否是被虚假唤醒</a:t>
            </a:r>
            <a:endParaRPr lang="zh-CN" altLang="en-US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zh-CN" altLang="en-US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guard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condvar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wait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guard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if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(*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guard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/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nthr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&gt;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ntimes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break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291851" y="2621580"/>
            <a:ext cx="4964631" cy="4001095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sync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::{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Arc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Barrier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::thread;</a:t>
            </a:r>
          </a:p>
          <a:p>
            <a:b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handles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Vec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with_capacity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barrier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Arc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Barrier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..</a:t>
            </a:r>
            <a:r>
              <a:rPr lang="en-US" altLang="zh-CN" sz="12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c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Arc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barrier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    // The same messages will be printed together.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 i="1">
                <a:solidFill>
                  <a:srgbClr val="7F848E"/>
                </a:solidFill>
                <a:cs typeface="+mn-ea"/>
                <a:sym typeface="+mn-lt"/>
              </a:rPr>
              <a:t>        // You will NOT see any interleaving.</a:t>
            </a:r>
            <a:endParaRPr lang="en-US" altLang="zh-CN" sz="12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handles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"before wait"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c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wait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200">
                <a:solidFill>
                  <a:srgbClr val="98C379"/>
                </a:solidFill>
                <a:cs typeface="+mn-ea"/>
                <a:sym typeface="+mn-lt"/>
              </a:rPr>
              <a:t>"after wait"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}));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handle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handles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200">
                <a:solidFill>
                  <a:srgbClr val="E06C75"/>
                </a:solidFill>
                <a:cs typeface="+mn-ea"/>
                <a:sym typeface="+mn-lt"/>
              </a:rPr>
              <a:t>handle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2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2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2585" y="551620"/>
            <a:ext cx="11083897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1219200">
              <a:lnSpc>
                <a:spcPct val="150000"/>
              </a:lnSpc>
              <a:defRPr/>
            </a:pPr>
            <a:r>
              <a:rPr lang="en-US" altLang="zh-CN" sz="1400">
                <a:cs typeface="+mn-ea"/>
                <a:sym typeface="+mn-lt"/>
              </a:rPr>
              <a:t>Barrier</a:t>
            </a:r>
            <a:r>
              <a:rPr lang="zh-CN" altLang="en-US" sz="1400">
                <a:cs typeface="+mn-ea"/>
                <a:sym typeface="+mn-lt"/>
              </a:rPr>
              <a:t> 是 </a:t>
            </a:r>
            <a:r>
              <a:rPr lang="en-US" altLang="zh-CN" sz="1400">
                <a:cs typeface="+mn-ea"/>
                <a:sym typeface="+mn-lt"/>
              </a:rPr>
              <a:t>Rust </a:t>
            </a:r>
            <a:r>
              <a:rPr lang="zh-CN" altLang="en-US" sz="1400">
                <a:cs typeface="+mn-ea"/>
                <a:sym typeface="+mn-lt"/>
              </a:rPr>
              <a:t>中的一个同步原语，允许多个线程相互等待，直到所有线程都到达某个同步点。它通常用于确保多个线程在继续执行之前都已完成某些操作。</a:t>
            </a:r>
            <a:endParaRPr lang="zh-CN" altLang="en-US" sz="1400" b="1">
              <a:solidFill>
                <a:srgbClr val="C0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87999" y="73122"/>
            <a:ext cx="10740640" cy="446895"/>
          </a:xfrm>
        </p:spPr>
        <p:txBody>
          <a:bodyPr>
            <a:normAutofit/>
          </a:bodyPr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mpsc::channel-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zh-CN" altLang="en-US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421090" y="2040418"/>
            <a:ext cx="4507549" cy="2372448"/>
            <a:chOff x="680271" y="2703405"/>
            <a:chExt cx="4507549" cy="2372448"/>
          </a:xfrm>
        </p:grpSpPr>
        <p:grpSp>
          <p:nvGrpSpPr>
            <p:cNvPr id="39" name="组合 38"/>
            <p:cNvGrpSpPr/>
            <p:nvPr/>
          </p:nvGrpSpPr>
          <p:grpSpPr>
            <a:xfrm>
              <a:off x="736644" y="3978181"/>
              <a:ext cx="4451176" cy="1097672"/>
              <a:chOff x="706159" y="1448554"/>
              <a:chExt cx="4028803" cy="887241"/>
            </a:xfrm>
          </p:grpSpPr>
          <p:sp>
            <p:nvSpPr>
              <p:cNvPr id="3" name="流程图: 直接访问存储器 2"/>
              <p:cNvSpPr/>
              <p:nvPr/>
            </p:nvSpPr>
            <p:spPr>
              <a:xfrm>
                <a:off x="1955539" y="1756372"/>
                <a:ext cx="1158844" cy="235391"/>
              </a:xfrm>
              <a:prstGeom prst="flowChartMagneticDrum">
                <a:avLst/>
              </a:prstGeom>
              <a:noFill/>
              <a:ln>
                <a:solidFill>
                  <a:srgbClr val="1515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" name="箭头: 五边形 3"/>
              <p:cNvSpPr/>
              <p:nvPr/>
            </p:nvSpPr>
            <p:spPr>
              <a:xfrm>
                <a:off x="706160" y="1448554"/>
                <a:ext cx="841973" cy="199177"/>
              </a:xfrm>
              <a:prstGeom prst="homePlate">
                <a:avLst/>
              </a:prstGeom>
              <a:solidFill>
                <a:srgbClr val="FFC000"/>
              </a:solidFill>
              <a:ln>
                <a:solidFill>
                  <a:srgbClr val="1515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cs typeface="+mn-ea"/>
                    <a:sym typeface="+mn-lt"/>
                  </a:rPr>
                  <a:t>DATA1</a:t>
                </a:r>
                <a:endParaRPr lang="zh-CN" altLang="en-US" sz="1200">
                  <a:cs typeface="+mn-ea"/>
                  <a:sym typeface="+mn-lt"/>
                </a:endParaRPr>
              </a:p>
            </p:txBody>
          </p:sp>
          <p:sp>
            <p:nvSpPr>
              <p:cNvPr id="25" name="箭头: 五边形 24"/>
              <p:cNvSpPr/>
              <p:nvPr/>
            </p:nvSpPr>
            <p:spPr>
              <a:xfrm>
                <a:off x="706160" y="1774479"/>
                <a:ext cx="841973" cy="199177"/>
              </a:xfrm>
              <a:prstGeom prst="homePlate">
                <a:avLst/>
              </a:prstGeom>
              <a:solidFill>
                <a:srgbClr val="FFFF00"/>
              </a:solidFill>
              <a:ln>
                <a:solidFill>
                  <a:srgbClr val="1515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cs typeface="+mn-ea"/>
                    <a:sym typeface="+mn-lt"/>
                  </a:rPr>
                  <a:t>DATA2</a:t>
                </a:r>
                <a:endParaRPr lang="zh-CN" altLang="en-US" sz="1200">
                  <a:cs typeface="+mn-ea"/>
                  <a:sym typeface="+mn-lt"/>
                </a:endParaRPr>
              </a:p>
            </p:txBody>
          </p:sp>
          <p:sp>
            <p:nvSpPr>
              <p:cNvPr id="26" name="箭头: 五边形 25"/>
              <p:cNvSpPr/>
              <p:nvPr/>
            </p:nvSpPr>
            <p:spPr>
              <a:xfrm>
                <a:off x="706159" y="2136618"/>
                <a:ext cx="841973" cy="199177"/>
              </a:xfrm>
              <a:prstGeom prst="homePlate">
                <a:avLst/>
              </a:prstGeom>
              <a:solidFill>
                <a:srgbClr val="00B050"/>
              </a:solidFill>
              <a:ln>
                <a:solidFill>
                  <a:srgbClr val="1515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cs typeface="+mn-ea"/>
                    <a:sym typeface="+mn-lt"/>
                  </a:rPr>
                  <a:t>DATA3</a:t>
                </a:r>
                <a:endParaRPr lang="zh-CN" altLang="en-US" sz="1200">
                  <a:cs typeface="+mn-ea"/>
                  <a:sym typeface="+mn-lt"/>
                </a:endParaRPr>
              </a:p>
            </p:txBody>
          </p:sp>
          <p:cxnSp>
            <p:nvCxnSpPr>
              <p:cNvPr id="8" name="直接箭头连接符 7"/>
              <p:cNvCxnSpPr>
                <a:stCxn id="4" idx="3"/>
              </p:cNvCxnSpPr>
              <p:nvPr/>
            </p:nvCxnSpPr>
            <p:spPr>
              <a:xfrm>
                <a:off x="1548133" y="1548143"/>
                <a:ext cx="407406" cy="1991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/>
              <p:cNvCxnSpPr/>
              <p:nvPr/>
            </p:nvCxnSpPr>
            <p:spPr>
              <a:xfrm>
                <a:off x="1548133" y="1874067"/>
                <a:ext cx="407406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/>
              <p:cNvCxnSpPr>
                <a:stCxn id="26" idx="3"/>
              </p:cNvCxnSpPr>
              <p:nvPr/>
            </p:nvCxnSpPr>
            <p:spPr>
              <a:xfrm flipV="1">
                <a:off x="1548132" y="1973656"/>
                <a:ext cx="407407" cy="2625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矩形 27"/>
              <p:cNvSpPr/>
              <p:nvPr/>
            </p:nvSpPr>
            <p:spPr>
              <a:xfrm>
                <a:off x="3576118" y="1702051"/>
                <a:ext cx="1158844" cy="344032"/>
              </a:xfrm>
              <a:prstGeom prst="rect">
                <a:avLst/>
              </a:prstGeom>
              <a:noFill/>
              <a:ln>
                <a:solidFill>
                  <a:srgbClr val="1515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>
                    <a:cs typeface="+mn-ea"/>
                    <a:sym typeface="+mn-lt"/>
                  </a:rPr>
                  <a:t>consumer</a:t>
                </a:r>
                <a:endParaRPr lang="zh-CN" altLang="en-US" sz="1400">
                  <a:cs typeface="+mn-ea"/>
                  <a:sym typeface="+mn-lt"/>
                </a:endParaRPr>
              </a:p>
            </p:txBody>
          </p:sp>
          <p:cxnSp>
            <p:nvCxnSpPr>
              <p:cNvPr id="36" name="直接箭头连接符 35"/>
              <p:cNvCxnSpPr>
                <a:stCxn id="3" idx="4"/>
                <a:endCxn id="28" idx="1"/>
              </p:cNvCxnSpPr>
              <p:nvPr/>
            </p:nvCxnSpPr>
            <p:spPr>
              <a:xfrm flipV="1">
                <a:off x="3114383" y="1874067"/>
                <a:ext cx="461735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矩形 37"/>
              <p:cNvSpPr/>
              <p:nvPr/>
            </p:nvSpPr>
            <p:spPr>
              <a:xfrm>
                <a:off x="2073233" y="1566249"/>
                <a:ext cx="226336" cy="153908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1515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2349364" y="1566249"/>
                <a:ext cx="226336" cy="153908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1515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2632287" y="1561723"/>
                <a:ext cx="226336" cy="153908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1515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42" name="矩形 41"/>
            <p:cNvSpPr/>
            <p:nvPr/>
          </p:nvSpPr>
          <p:spPr>
            <a:xfrm>
              <a:off x="680271" y="2703405"/>
              <a:ext cx="4153805" cy="11988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b="1">
                  <a:cs typeface="+mn-ea"/>
                  <a:sym typeface="+mn-lt"/>
                </a:rPr>
                <a:t>基于消息传递机制实现线程间通信：</a:t>
              </a:r>
              <a:endParaRPr lang="en-US" altLang="zh-CN" sz="1200" b="1">
                <a:cs typeface="+mn-ea"/>
                <a:sym typeface="+mn-lt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>
                  <a:cs typeface="+mn-ea"/>
                  <a:sym typeface="+mn-lt"/>
                </a:rPr>
                <a:t>高效拷贝：堆内存、共享内存、系统零拷贝机制、</a:t>
              </a:r>
              <a:r>
                <a:rPr lang="en-US" altLang="zh-CN" sz="1200">
                  <a:cs typeface="+mn-ea"/>
                  <a:sym typeface="+mn-lt"/>
                </a:rPr>
                <a:t>…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>
                  <a:cs typeface="+mn-ea"/>
                  <a:sym typeface="+mn-lt"/>
                </a:rPr>
                <a:t>高效传输：免锁队列、</a:t>
              </a:r>
              <a:r>
                <a:rPr lang="en-US" altLang="zh-CN" sz="1200">
                  <a:cs typeface="+mn-ea"/>
                  <a:sym typeface="+mn-lt"/>
                </a:rPr>
                <a:t>…</a:t>
              </a: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200">
                  <a:cs typeface="+mn-ea"/>
                  <a:sym typeface="+mn-lt"/>
                </a:rPr>
                <a:t>高复杂度：非阻塞读写、流控机制、容错机制、</a:t>
              </a:r>
              <a:r>
                <a:rPr lang="en-US" altLang="zh-CN" sz="1200">
                  <a:cs typeface="+mn-ea"/>
                  <a:sym typeface="+mn-lt"/>
                </a:rPr>
                <a:t>…</a:t>
              </a:r>
            </a:p>
          </p:txBody>
        </p:sp>
      </p:grpSp>
      <p:cxnSp>
        <p:nvCxnSpPr>
          <p:cNvPr id="23" name="直接连接符 22"/>
          <p:cNvCxnSpPr/>
          <p:nvPr/>
        </p:nvCxnSpPr>
        <p:spPr>
          <a:xfrm>
            <a:off x="187999" y="551620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538090" y="3114587"/>
            <a:ext cx="5429230" cy="3322955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sync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::mpsc;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::thread;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tx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mpsc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channel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"hi"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tx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send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});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received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rx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recv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("hi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received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87998" y="749303"/>
            <a:ext cx="10740641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channel </a:t>
            </a:r>
            <a:r>
              <a:rPr lang="zh-CN" altLang="en-US" sz="1400">
                <a:cs typeface="+mn-ea"/>
                <a:sym typeface="+mn-lt"/>
              </a:rPr>
              <a:t>是一种通信机制，允许多个线程之间通过发送和接收消息来进行通信。</a:t>
            </a:r>
            <a:r>
              <a:rPr lang="en-US" altLang="zh-CN" sz="1400">
                <a:cs typeface="+mn-ea"/>
                <a:sym typeface="+mn-lt"/>
              </a:rPr>
              <a:t>Rust </a:t>
            </a:r>
            <a:r>
              <a:rPr lang="zh-CN" altLang="en-US" sz="1400">
                <a:cs typeface="+mn-ea"/>
                <a:sym typeface="+mn-lt"/>
              </a:rPr>
              <a:t>提供了两种类型的 </a:t>
            </a:r>
            <a:r>
              <a:rPr lang="en-US" altLang="zh-CN" sz="1400">
                <a:cs typeface="+mn-ea"/>
                <a:sym typeface="+mn-lt"/>
              </a:rPr>
              <a:t>channel</a:t>
            </a:r>
            <a:r>
              <a:rPr lang="zh-CN" altLang="en-US" sz="1400">
                <a:cs typeface="+mn-ea"/>
                <a:sym typeface="+mn-lt"/>
              </a:rPr>
              <a:t>：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cs typeface="+mn-ea"/>
                <a:sym typeface="+mn-lt"/>
              </a:rPr>
              <a:t>无界 </a:t>
            </a:r>
            <a:r>
              <a:rPr lang="en-US" altLang="zh-CN" sz="1400">
                <a:cs typeface="+mn-ea"/>
                <a:sym typeface="+mn-lt"/>
              </a:rPr>
              <a:t>channel</a:t>
            </a:r>
            <a:r>
              <a:rPr lang="zh-CN" altLang="en-US" sz="1400">
                <a:cs typeface="+mn-ea"/>
                <a:sym typeface="+mn-lt"/>
              </a:rPr>
              <a:t>：可以无限制地发送消息；</a:t>
            </a:r>
            <a:endParaRPr lang="en-US" altLang="zh-CN" sz="14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>
                <a:cs typeface="+mn-ea"/>
                <a:sym typeface="+mn-lt"/>
              </a:rPr>
              <a:t>有界 </a:t>
            </a:r>
            <a:r>
              <a:rPr lang="en-US" altLang="zh-CN" sz="1400">
                <a:cs typeface="+mn-ea"/>
                <a:sym typeface="+mn-lt"/>
              </a:rPr>
              <a:t>channel</a:t>
            </a:r>
            <a:r>
              <a:rPr lang="zh-CN" altLang="en-US" sz="1400">
                <a:cs typeface="+mn-ea"/>
                <a:sym typeface="+mn-lt"/>
              </a:rPr>
              <a:t>：有一个固定的容量，当容量达到上限时，发送操作将被阻塞；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8090" y="2251258"/>
            <a:ext cx="5485014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cs typeface="+mn-ea"/>
                <a:sym typeface="+mn-lt"/>
              </a:rPr>
              <a:t>示例中，使用 </a:t>
            </a:r>
            <a:r>
              <a:rPr lang="en-US" altLang="zh-CN" sz="1400">
                <a:cs typeface="+mn-ea"/>
                <a:sym typeface="+mn-lt"/>
              </a:rPr>
              <a:t>mpsc::channel</a:t>
            </a:r>
            <a:r>
              <a:rPr lang="zh-CN" altLang="en-US" sz="1400">
                <a:cs typeface="+mn-ea"/>
                <a:sym typeface="+mn-lt"/>
              </a:rPr>
              <a:t> 函数创建了一个无界 </a:t>
            </a:r>
            <a:r>
              <a:rPr lang="en-US" altLang="zh-CN" sz="1400">
                <a:cs typeface="+mn-ea"/>
                <a:sym typeface="+mn-lt"/>
              </a:rPr>
              <a:t>channel</a:t>
            </a:r>
            <a:r>
              <a:rPr lang="zh-CN" altLang="en-US" sz="1400">
                <a:cs typeface="+mn-ea"/>
                <a:sym typeface="+mn-lt"/>
              </a:rPr>
              <a:t>。然后在线程中发送了一条消息，并在主线程中接收这条消息。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87999" y="73122"/>
            <a:ext cx="10740640" cy="446895"/>
          </a:xfrm>
        </p:spPr>
        <p:txBody>
          <a:bodyPr>
            <a:normAutofit/>
          </a:bodyPr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mpsc::channel-</a:t>
            </a:r>
            <a:r>
              <a:rPr lang="zh-CN" altLang="en-US" b="1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同步和异步队列</a:t>
            </a:r>
            <a:endParaRPr lang="zh-CN" altLang="en-US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88" y="938529"/>
            <a:ext cx="4438650" cy="333375"/>
          </a:xfrm>
          <a:prstGeom prst="rect">
            <a:avLst/>
          </a:prstGeom>
        </p:spPr>
      </p:pic>
      <p:sp>
        <p:nvSpPr>
          <p:cNvPr id="45" name="矩形 44"/>
          <p:cNvSpPr/>
          <p:nvPr/>
        </p:nvSpPr>
        <p:spPr>
          <a:xfrm>
            <a:off x="411388" y="1336904"/>
            <a:ext cx="4986724" cy="11676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cs typeface="+mn-ea"/>
                <a:sym typeface="+mn-lt"/>
              </a:rPr>
              <a:t>异步队列的特点：</a:t>
            </a:r>
            <a:endParaRPr lang="en-US" altLang="zh-CN" sz="1200" b="1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接收顺序同发送顺序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队列深度不受限制，内部实际利用链表来实现。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发送不阻塞，发送成功不保证接收成功（接收者可能退出或</a:t>
            </a:r>
            <a:r>
              <a:rPr lang="en-US" altLang="zh-CN" sz="1200">
                <a:cs typeface="+mn-ea"/>
                <a:sym typeface="+mn-lt"/>
              </a:rPr>
              <a:t>panic</a:t>
            </a:r>
            <a:r>
              <a:rPr lang="zh-CN" altLang="en-US" sz="1200">
                <a:cs typeface="+mn-ea"/>
                <a:sym typeface="+mn-lt"/>
              </a:rPr>
              <a:t>）。</a:t>
            </a:r>
            <a:endParaRPr lang="en-US" altLang="zh-CN" sz="1200">
              <a:cs typeface="+mn-ea"/>
              <a:sym typeface="+mn-lt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54" y="3080952"/>
            <a:ext cx="4438650" cy="314325"/>
          </a:xfrm>
          <a:prstGeom prst="rect">
            <a:avLst/>
          </a:prstGeom>
        </p:spPr>
      </p:pic>
      <p:sp>
        <p:nvSpPr>
          <p:cNvPr id="49" name="矩形 48"/>
          <p:cNvSpPr/>
          <p:nvPr/>
        </p:nvSpPr>
        <p:spPr>
          <a:xfrm>
            <a:off x="420441" y="3398168"/>
            <a:ext cx="4986724" cy="19986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cs typeface="+mn-ea"/>
                <a:sym typeface="+mn-lt"/>
              </a:rPr>
              <a:t>同步队列的特点：</a:t>
            </a:r>
            <a:endParaRPr lang="en-US" altLang="zh-CN" sz="1200" b="1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接收顺序同发送顺序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队列深度可指定，非空时，内部实际利用数组预分配缓冲区。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发送失败相比异步队列多了一种错误：缓冲区满。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同样发送成功不保证接收成功（接收者可能退出或</a:t>
            </a:r>
            <a:r>
              <a:rPr lang="en-US" altLang="zh-CN" sz="1200">
                <a:cs typeface="+mn-ea"/>
                <a:sym typeface="+mn-lt"/>
              </a:rPr>
              <a:t>panic</a:t>
            </a:r>
            <a:r>
              <a:rPr lang="zh-CN" altLang="en-US" sz="1200">
                <a:cs typeface="+mn-ea"/>
                <a:sym typeface="+mn-lt"/>
              </a:rPr>
              <a:t>）。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提供了</a:t>
            </a:r>
            <a:r>
              <a:rPr lang="en-US" altLang="zh-CN" sz="1200">
                <a:cs typeface="+mn-ea"/>
                <a:sym typeface="+mn-lt"/>
              </a:rPr>
              <a:t>try_send</a:t>
            </a:r>
            <a:r>
              <a:rPr lang="zh-CN" altLang="en-US" sz="1200">
                <a:cs typeface="+mn-ea"/>
                <a:sym typeface="+mn-lt"/>
              </a:rPr>
              <a:t>接口，用于非阻塞场景。</a:t>
            </a:r>
            <a:endParaRPr lang="en-US" altLang="zh-CN" sz="1200">
              <a:cs typeface="+mn-ea"/>
              <a:sym typeface="+mn-lt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200">
                <a:cs typeface="+mn-ea"/>
                <a:sym typeface="+mn-lt"/>
              </a:rPr>
              <a:t>队列深度为</a:t>
            </a:r>
            <a:r>
              <a:rPr lang="en-US" altLang="zh-CN" sz="1200">
                <a:cs typeface="+mn-ea"/>
                <a:sym typeface="+mn-lt"/>
              </a:rPr>
              <a:t>0</a:t>
            </a:r>
            <a:r>
              <a:rPr lang="zh-CN" altLang="en-US" sz="1200">
                <a:cs typeface="+mn-ea"/>
                <a:sym typeface="+mn-lt"/>
              </a:rPr>
              <a:t>的特殊队列，发送接口只有被接收后才返回。</a:t>
            </a:r>
            <a:endParaRPr lang="en-US" altLang="zh-CN" sz="1200">
              <a:cs typeface="+mn-ea"/>
              <a:sym typeface="+mn-lt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96628" y="5058612"/>
            <a:ext cx="4986724" cy="341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1200">
              <a:cs typeface="+mn-ea"/>
              <a:sym typeface="+mn-lt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87999" y="551620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5582131" y="2753269"/>
            <a:ext cx="5173749" cy="3662541"/>
          </a:xfrm>
          <a:prstGeom prst="rect">
            <a:avLst/>
          </a:prstGeom>
          <a:solidFill>
            <a:schemeClr val="tx1"/>
          </a:solidFill>
        </p:spPr>
        <p:txBody>
          <a:bodyPr vert="horz" wrap="square" rtlCol="0">
            <a:spAutoFit/>
          </a:bodyPr>
          <a:lstStyle/>
          <a:p>
            <a:r>
              <a:rPr lang="en-US" altLang="zh-CN" sz="12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2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1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1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100">
                <a:solidFill>
                  <a:srgbClr val="E5C07B"/>
                </a:solidFill>
                <a:cs typeface="+mn-ea"/>
                <a:sym typeface="+mn-lt"/>
              </a:rPr>
              <a:t>sync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100">
                <a:solidFill>
                  <a:srgbClr val="E5C07B"/>
                </a:solidFill>
                <a:cs typeface="+mn-ea"/>
                <a:sym typeface="+mn-lt"/>
              </a:rPr>
              <a:t>mpsc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::sync_channel;</a:t>
            </a:r>
          </a:p>
          <a:p>
            <a:r>
              <a:rPr lang="en-US" altLang="zh-CN" sz="11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1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::thread;</a:t>
            </a:r>
          </a:p>
          <a:p>
            <a:b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1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 (</a:t>
            </a:r>
            <a:r>
              <a:rPr lang="en-US" altLang="zh-CN" sz="1100">
                <a:solidFill>
                  <a:srgbClr val="E06C75"/>
                </a:solidFill>
                <a:cs typeface="+mn-ea"/>
                <a:sym typeface="+mn-lt"/>
              </a:rPr>
              <a:t>tx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100">
                <a:solidFill>
                  <a:srgbClr val="E06C75"/>
                </a:solidFill>
                <a:cs typeface="+mn-ea"/>
                <a:sym typeface="+mn-lt"/>
              </a:rPr>
              <a:t>rx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) </a:t>
            </a:r>
            <a:r>
              <a:rPr lang="en-US" altLang="zh-CN" sz="11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100">
                <a:solidFill>
                  <a:srgbClr val="61AFEF"/>
                </a:solidFill>
                <a:cs typeface="+mn-ea"/>
                <a:sym typeface="+mn-lt"/>
              </a:rPr>
              <a:t>sync_channel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1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b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1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100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100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1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..</a:t>
            </a:r>
            <a:r>
              <a:rPr lang="en-US" altLang="zh-CN" sz="1100">
                <a:solidFill>
                  <a:srgbClr val="D19A66"/>
                </a:solidFill>
                <a:cs typeface="+mn-ea"/>
                <a:sym typeface="+mn-lt"/>
              </a:rPr>
              <a:t>3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100" i="1">
                <a:solidFill>
                  <a:srgbClr val="7F848E"/>
                </a:solidFill>
                <a:cs typeface="+mn-ea"/>
                <a:sym typeface="+mn-lt"/>
              </a:rPr>
              <a:t>    // It would be the same without thread and clone here </a:t>
            </a:r>
          </a:p>
          <a:p>
            <a:r>
              <a:rPr lang="en-US" altLang="zh-CN" sz="1100" i="1">
                <a:solidFill>
                  <a:srgbClr val="7F848E"/>
                </a:solidFill>
                <a:cs typeface="+mn-ea"/>
                <a:sym typeface="+mn-lt"/>
              </a:rPr>
              <a:t>    // since there will be one `tx` left</a:t>
            </a:r>
            <a:endParaRPr lang="en-US" altLang="zh-CN" sz="11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1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100">
                <a:solidFill>
                  <a:srgbClr val="E06C75"/>
                </a:solidFill>
                <a:cs typeface="+mn-ea"/>
                <a:sym typeface="+mn-lt"/>
              </a:rPr>
              <a:t>tx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1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100">
                <a:solidFill>
                  <a:srgbClr val="E06C75"/>
                </a:solidFill>
                <a:cs typeface="+mn-ea"/>
                <a:sym typeface="+mn-lt"/>
              </a:rPr>
              <a:t>tx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1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100" i="1">
                <a:solidFill>
                  <a:srgbClr val="7F848E"/>
                </a:solidFill>
                <a:cs typeface="+mn-ea"/>
                <a:sym typeface="+mn-lt"/>
              </a:rPr>
              <a:t>    // cLoned tx dropped within thread</a:t>
            </a:r>
            <a:endParaRPr lang="en-US" altLang="zh-CN" sz="11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10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10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10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1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100">
                <a:solidFill>
                  <a:srgbClr val="E06C75"/>
                </a:solidFill>
                <a:cs typeface="+mn-ea"/>
                <a:sym typeface="+mn-lt"/>
              </a:rPr>
              <a:t>tx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100">
                <a:solidFill>
                  <a:srgbClr val="61AFEF"/>
                </a:solidFill>
                <a:cs typeface="+mn-ea"/>
                <a:sym typeface="+mn-lt"/>
              </a:rPr>
              <a:t>send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100">
                <a:solidFill>
                  <a:srgbClr val="98C379"/>
                </a:solidFill>
                <a:cs typeface="+mn-ea"/>
                <a:sym typeface="+mn-lt"/>
              </a:rPr>
              <a:t>"ok"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).</a:t>
            </a:r>
            <a:r>
              <a:rPr lang="en-US" altLang="zh-CN" sz="1100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100" i="1">
                <a:solidFill>
                  <a:srgbClr val="7F848E"/>
                </a:solidFill>
                <a:cs typeface="+mn-ea"/>
                <a:sym typeface="+mn-lt"/>
              </a:rPr>
              <a:t>// Drop the Last sender to stop `rx` waiting for message.</a:t>
            </a:r>
            <a:endParaRPr lang="en-US" altLang="zh-CN" sz="11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100" i="1">
                <a:solidFill>
                  <a:srgbClr val="7F848E"/>
                </a:solidFill>
                <a:cs typeface="+mn-ea"/>
                <a:sym typeface="+mn-lt"/>
              </a:rPr>
              <a:t>// The program will not complete if we comment this out.</a:t>
            </a:r>
            <a:endParaRPr lang="en-US" altLang="zh-CN" sz="11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100" i="1">
                <a:solidFill>
                  <a:srgbClr val="7F848E"/>
                </a:solidFill>
                <a:cs typeface="+mn-ea"/>
                <a:sym typeface="+mn-lt"/>
              </a:rPr>
              <a:t>// **All** `tx` needs to be dropped for `rx` to have `Err`.</a:t>
            </a:r>
            <a:endParaRPr lang="en-US" altLang="zh-CN" sz="11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100">
                <a:solidFill>
                  <a:srgbClr val="61AFEF"/>
                </a:solidFill>
                <a:cs typeface="+mn-ea"/>
                <a:sym typeface="+mn-lt"/>
              </a:rPr>
              <a:t>drop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100">
                <a:solidFill>
                  <a:srgbClr val="E06C75"/>
                </a:solidFill>
                <a:cs typeface="+mn-ea"/>
                <a:sym typeface="+mn-lt"/>
              </a:rPr>
              <a:t>tx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100" i="1">
                <a:solidFill>
                  <a:srgbClr val="7F848E"/>
                </a:solidFill>
                <a:cs typeface="+mn-ea"/>
                <a:sym typeface="+mn-lt"/>
              </a:rPr>
              <a:t>// Unbounded receiver waiting for all senders to commplete.</a:t>
            </a:r>
            <a:endParaRPr lang="en-US" altLang="zh-CN" sz="11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100">
                <a:solidFill>
                  <a:srgbClr val="C678DD"/>
                </a:solidFill>
                <a:cs typeface="+mn-ea"/>
                <a:sym typeface="+mn-lt"/>
              </a:rPr>
              <a:t>while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1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100">
                <a:solidFill>
                  <a:srgbClr val="E5C07B"/>
                </a:solidFill>
                <a:cs typeface="+mn-ea"/>
                <a:sym typeface="+mn-lt"/>
              </a:rPr>
              <a:t>Ok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100">
                <a:solidFill>
                  <a:srgbClr val="E06C75"/>
                </a:solidFill>
                <a:cs typeface="+mn-ea"/>
                <a:sym typeface="+mn-lt"/>
              </a:rPr>
              <a:t>msg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) </a:t>
            </a:r>
            <a:r>
              <a:rPr lang="en-US" altLang="zh-CN" sz="11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100">
                <a:solidFill>
                  <a:srgbClr val="E06C75"/>
                </a:solidFill>
                <a:cs typeface="+mn-ea"/>
                <a:sym typeface="+mn-lt"/>
              </a:rPr>
              <a:t>rx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100">
                <a:solidFill>
                  <a:srgbClr val="61AFEF"/>
                </a:solidFill>
                <a:cs typeface="+mn-ea"/>
                <a:sym typeface="+mn-lt"/>
              </a:rPr>
              <a:t>recv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1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100">
                <a:solidFill>
                  <a:srgbClr val="98C379"/>
                </a:solidFill>
                <a:cs typeface="+mn-ea"/>
                <a:sym typeface="+mn-lt"/>
              </a:rPr>
              <a:t>"{msg}"</a:t>
            </a:r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1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84664" y="1486969"/>
            <a:ext cx="7254471" cy="48320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sync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Once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static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usize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static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INIT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Once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Once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Accessing a `static mut` is unsafe much of the time, but if we do so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in a synchronized fashion (e.g., write once or read all) then we're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good to go!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This function will only call `expensive_computation` once, and will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 otherwise always return the value returned from the first invocation.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get_cached_val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usize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INIT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call_once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VAL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expensive_computation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});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VAL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b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</a:b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expensive_computation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-&gt;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usize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2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84664" y="97638"/>
            <a:ext cx="10740640" cy="993400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Once-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多线程环境下全局变量的动态初始化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3103583" y="4204689"/>
            <a:ext cx="470613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7809722" y="3604524"/>
            <a:ext cx="317952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1</a:t>
            </a:r>
            <a:r>
              <a:rPr lang="zh-CN" altLang="en-US" sz="1600">
                <a:cs typeface="+mn-ea"/>
                <a:sym typeface="+mn-lt"/>
              </a:rPr>
              <a:t>、消除多线程初始化的并发冲突</a:t>
            </a:r>
            <a:endParaRPr lang="en-US" altLang="zh-CN" sz="160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同</a:t>
            </a:r>
            <a:r>
              <a:rPr lang="en-US" altLang="zh-CN" sz="1600">
                <a:cs typeface="+mn-ea"/>
                <a:sym typeface="+mn-lt"/>
              </a:rPr>
              <a:t>pthread_once</a:t>
            </a:r>
            <a:r>
              <a:rPr lang="zh-CN" altLang="en-US" sz="1600">
                <a:cs typeface="+mn-ea"/>
                <a:sym typeface="+mn-lt"/>
              </a:rPr>
              <a:t>的作用；</a:t>
            </a:r>
            <a:endParaRPr lang="en-US" altLang="zh-CN" sz="1600">
              <a:cs typeface="+mn-ea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2</a:t>
            </a:r>
            <a:r>
              <a:rPr lang="zh-CN" altLang="en-US" sz="1600">
                <a:cs typeface="+mn-ea"/>
                <a:sym typeface="+mn-lt"/>
              </a:rPr>
              <a:t>、方便实现</a:t>
            </a:r>
            <a:r>
              <a:rPr lang="en-US" altLang="zh-CN" sz="1600">
                <a:cs typeface="+mn-ea"/>
                <a:sym typeface="+mn-lt"/>
              </a:rPr>
              <a:t>Singleton</a:t>
            </a:r>
            <a:r>
              <a:rPr lang="zh-CN" altLang="en-US" sz="1600">
                <a:cs typeface="+mn-ea"/>
                <a:sym typeface="+mn-lt"/>
              </a:rPr>
              <a:t>模式；</a:t>
            </a: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84664" y="5943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56008" y="692634"/>
            <a:ext cx="10958724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Once</a:t>
            </a:r>
            <a:r>
              <a:rPr lang="zh-CN" altLang="en-US" sz="1600">
                <a:cs typeface="+mn-ea"/>
                <a:sym typeface="+mn-lt"/>
              </a:rPr>
              <a:t> 是 </a:t>
            </a:r>
            <a:r>
              <a:rPr lang="en-US" altLang="zh-CN" sz="1600">
                <a:cs typeface="+mn-ea"/>
                <a:sym typeface="+mn-lt"/>
              </a:rPr>
              <a:t>Rust </a:t>
            </a:r>
            <a:r>
              <a:rPr lang="zh-CN" altLang="en-US" sz="1600">
                <a:cs typeface="+mn-ea"/>
                <a:sym typeface="+mn-lt"/>
              </a:rPr>
              <a:t>中的一个同步原语，它允许在多线程环境下对全局变量进行动态初始化。它提供了一个 </a:t>
            </a:r>
            <a:r>
              <a:rPr lang="en-US" altLang="zh-CN" sz="1600">
                <a:cs typeface="+mn-ea"/>
                <a:sym typeface="+mn-lt"/>
              </a:rPr>
              <a:t>call_once</a:t>
            </a:r>
            <a:r>
              <a:rPr lang="zh-CN" altLang="en-US" sz="1600">
                <a:cs typeface="+mn-ea"/>
                <a:sym typeface="+mn-lt"/>
              </a:rPr>
              <a:t> 方法，该方法接受一个闭包作为参数，并确保该闭包只会被调用一次，即使在多线程环境下也是如此。</a:t>
            </a:r>
            <a:endParaRPr lang="zh-CN" altLang="en-US" sz="16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84664" y="125631"/>
            <a:ext cx="10740640" cy="993400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OnceCell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&amp;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OnceLock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84664" y="5943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487415" y="793467"/>
            <a:ext cx="3785969" cy="193832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OnceCell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和</a:t>
            </a:r>
            <a:r>
              <a:rPr lang="en-US" altLang="zh-CN" sz="1600">
                <a:cs typeface="+mn-ea"/>
                <a:sym typeface="+mn-lt"/>
              </a:rPr>
              <a:t>Cell</a:t>
            </a:r>
            <a:r>
              <a:rPr lang="zh-CN" altLang="en-US" sz="1600">
                <a:cs typeface="+mn-ea"/>
                <a:sym typeface="+mn-lt"/>
              </a:rPr>
              <a:t>的差别：只能写入一次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和</a:t>
            </a:r>
            <a:r>
              <a:rPr lang="en-US" altLang="zh-CN" sz="1600">
                <a:cs typeface="+mn-ea"/>
                <a:sym typeface="+mn-lt"/>
              </a:rPr>
              <a:t>RefCell</a:t>
            </a:r>
            <a:r>
              <a:rPr lang="zh-CN" altLang="en-US" sz="1600">
                <a:cs typeface="+mn-ea"/>
                <a:sym typeface="+mn-lt"/>
              </a:rPr>
              <a:t>的差别：无运行时</a:t>
            </a:r>
            <a:r>
              <a:rPr lang="en-US" altLang="zh-CN" sz="1600">
                <a:cs typeface="+mn-ea"/>
                <a:sym typeface="+mn-lt"/>
              </a:rPr>
              <a:t>borrow</a:t>
            </a:r>
            <a:r>
              <a:rPr lang="zh-CN" altLang="en-US" sz="1600">
                <a:cs typeface="+mn-ea"/>
                <a:sym typeface="+mn-lt"/>
              </a:rPr>
              <a:t>检查开销；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注：</a:t>
            </a:r>
            <a:r>
              <a:rPr lang="en-US" altLang="zh-CN" sz="1600" dirty="0">
                <a:cs typeface="+mn-ea"/>
                <a:sym typeface="+mn-lt"/>
              </a:rPr>
              <a:t>take</a:t>
            </a:r>
            <a:r>
              <a:rPr lang="zh-CN" altLang="en-US" sz="1600" dirty="0">
                <a:cs typeface="+mn-ea"/>
                <a:sym typeface="+mn-lt"/>
              </a:rPr>
              <a:t>后可再次写入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2728" y="3219207"/>
            <a:ext cx="2731792" cy="156426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OnceLock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线程安全版本的</a:t>
            </a:r>
            <a:r>
              <a:rPr lang="en-US" altLang="zh-CN" sz="1600">
                <a:cs typeface="+mn-ea"/>
                <a:sym typeface="+mn-lt"/>
              </a:rPr>
              <a:t>OnceCell</a:t>
            </a:r>
            <a:r>
              <a:rPr lang="zh-CN" altLang="en-US" sz="1600">
                <a:cs typeface="+mn-ea"/>
                <a:sym typeface="+mn-lt"/>
              </a:rPr>
              <a:t>，只能写入一次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可用于静态变量的数据类型；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590771" y="838808"/>
            <a:ext cx="7401910" cy="196099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OnceCell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cell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OnceCell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cell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get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is_none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sz="1400" b="0" u="none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cell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get_or_init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400" b="0" u="none">
                <a:solidFill>
                  <a:srgbClr val="98C379"/>
                </a:solidFill>
                <a:cs typeface="+mn-ea"/>
                <a:sym typeface="+mn-lt"/>
              </a:rPr>
              <a:t>"Hello, World!"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400" b="0" u="none">
                <a:solidFill>
                  <a:srgbClr val="98C379"/>
                </a:solidFill>
                <a:cs typeface="+mn-ea"/>
                <a:sym typeface="+mn-lt"/>
              </a:rPr>
              <a:t>"Hello, World!"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assert!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400" b="0" u="none">
                <a:solidFill>
                  <a:srgbClr val="E06C75"/>
                </a:solidFill>
                <a:cs typeface="+mn-ea"/>
                <a:sym typeface="+mn-lt"/>
              </a:rPr>
              <a:t>cell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get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sz="1400" b="0" u="none">
                <a:solidFill>
                  <a:srgbClr val="61AFEF"/>
                </a:solidFill>
                <a:cs typeface="+mn-ea"/>
                <a:sym typeface="+mn-lt"/>
              </a:rPr>
              <a:t>is_some</a:t>
            </a:r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sz="14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 u="none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559265" y="3026508"/>
            <a:ext cx="8422081" cy="352525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sync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OnceLock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static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CELL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OnceLock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OnceLock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assert!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CELL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get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is_none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: &amp;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CELL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get_or_init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98C379"/>
                </a:solidFill>
                <a:cs typeface="+mn-ea"/>
                <a:sym typeface="+mn-lt"/>
              </a:rPr>
              <a:t>"Hello, World!"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to_string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98C379"/>
                </a:solidFill>
                <a:cs typeface="+mn-ea"/>
                <a:sym typeface="+mn-lt"/>
              </a:rPr>
              <a:t>"Hello, World!"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})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Option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&lt;&amp;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CELL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get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assert!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is_some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assert_eq!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value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unwrap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as_str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(), </a:t>
            </a:r>
            <a:r>
              <a:rPr lang="en-US" sz="1500" b="0" u="none">
                <a:solidFill>
                  <a:srgbClr val="98C379"/>
                </a:solidFill>
                <a:cs typeface="+mn-ea"/>
                <a:sym typeface="+mn-lt"/>
              </a:rPr>
              <a:t>"Hello, World!"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500" b="0" u="none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87415" y="5943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</a:t>
            </a:r>
            <a:r>
              <a:rPr lang="en-US" altLang="zh-CN" sz="1800">
                <a:cs typeface="+mn-ea"/>
                <a:sym typeface="+mn-lt"/>
              </a:rPr>
              <a:t>Mutex/RwLock/Condvar/Barrier/Channel</a:t>
            </a:r>
            <a:r>
              <a:rPr lang="zh-CN" altLang="en-US" sz="1800">
                <a:cs typeface="+mn-ea"/>
                <a:sym typeface="+mn-lt"/>
              </a:rPr>
              <a:t>基本原理和各自的应用场景；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理解并灵活应用</a:t>
            </a:r>
            <a:r>
              <a:rPr lang="en-US" altLang="zh-CN" sz="1800">
                <a:cs typeface="+mn-ea"/>
                <a:sym typeface="+mn-lt"/>
              </a:rPr>
              <a:t>Mutex/RwLock</a:t>
            </a:r>
            <a:r>
              <a:rPr lang="zh-CN" altLang="en-US" sz="1800">
                <a:cs typeface="+mn-ea"/>
                <a:sym typeface="+mn-lt"/>
              </a:rPr>
              <a:t>接口利用</a:t>
            </a:r>
            <a:r>
              <a:rPr lang="en-US" altLang="zh-CN" sz="1800">
                <a:cs typeface="+mn-ea"/>
                <a:sym typeface="+mn-lt"/>
              </a:rPr>
              <a:t>RAII</a:t>
            </a:r>
            <a:r>
              <a:rPr lang="zh-CN" altLang="en-US" sz="1800">
                <a:cs typeface="+mn-ea"/>
                <a:sym typeface="+mn-lt"/>
              </a:rPr>
              <a:t>和</a:t>
            </a:r>
            <a:r>
              <a:rPr lang="en-US" altLang="zh-CN" sz="1800">
                <a:cs typeface="+mn-ea"/>
                <a:sym typeface="+mn-lt"/>
              </a:rPr>
              <a:t>!Send</a:t>
            </a:r>
            <a:r>
              <a:rPr lang="zh-CN" altLang="en-US" sz="1800">
                <a:cs typeface="+mn-ea"/>
                <a:sym typeface="+mn-lt"/>
              </a:rPr>
              <a:t>保证数据安全读写的基本方法；</a:t>
            </a:r>
            <a:endParaRPr lang="en-US" altLang="zh-CN" sz="180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</a:t>
            </a:r>
            <a:r>
              <a:rPr lang="en-US" altLang="zh-CN" sz="1800">
                <a:cs typeface="+mn-ea"/>
                <a:sym typeface="+mn-lt"/>
              </a:rPr>
              <a:t>Once</a:t>
            </a:r>
            <a:r>
              <a:rPr lang="zh-CN" altLang="en-US" sz="1800">
                <a:cs typeface="+mn-ea"/>
                <a:sym typeface="+mn-lt"/>
              </a:rPr>
              <a:t>在多线程环境下全局变量的动态初始化的概念和方法；</a:t>
            </a:r>
            <a:endParaRPr lang="en-US" altLang="zh-CN" sz="180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详细的</a:t>
            </a:r>
            <a:r>
              <a:rPr lang="en-US" altLang="zh-CN" sz="1800">
                <a:cs typeface="+mn-ea"/>
                <a:sym typeface="+mn-lt"/>
              </a:rPr>
              <a:t>API</a:t>
            </a:r>
            <a:r>
              <a:rPr lang="zh-CN" altLang="en-US" sz="1800">
                <a:cs typeface="+mn-ea"/>
                <a:sym typeface="+mn-lt"/>
              </a:rPr>
              <a:t>功能、输入参数和返回值说明，请查阅标准库的文档；</a:t>
            </a:r>
            <a:endParaRPr lang="en-US" altLang="zh-CN" sz="1800"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2092" y="945152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2owfjvo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2owfjvo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2owfjvo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2owfjvo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2owfjvo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3368</Words>
  <Application>Microsoft Office PowerPoint</Application>
  <PresentationFormat>自定义</PresentationFormat>
  <Paragraphs>351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Microsoft YaHei</vt:lpstr>
      <vt:lpstr>Arial</vt:lpstr>
      <vt:lpstr>Calibri</vt:lpstr>
      <vt:lpstr>Huawei Sans</vt:lpstr>
      <vt:lpstr>Wingdings</vt:lpstr>
      <vt:lpstr>1_Title Slide</vt:lpstr>
      <vt:lpstr>2_Title Slide</vt:lpstr>
      <vt:lpstr>Chart page</vt:lpstr>
      <vt:lpstr>4_Chart page</vt:lpstr>
      <vt:lpstr>End page</vt:lpstr>
      <vt:lpstr>同步机制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同步机制</dc:title>
  <dc:creator>fanyan (A)</dc:creator>
  <cp:lastModifiedBy>Zhangyandong (ben)</cp:lastModifiedBy>
  <cp:revision>3</cp:revision>
  <dcterms:created xsi:type="dcterms:W3CDTF">2023-10-18T07:23:47Z</dcterms:created>
  <dcterms:modified xsi:type="dcterms:W3CDTF">2024-11-20T02:33:49Z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(3)M9LFWjJNbeGhHRzgiuWrXk43O2OHsg25YxpVkx5CvFtLf9I5g/k6UyRmnAVy0RgyRZXxD85x
kLdYWnEyIhhk1yFT5q7OR/PSyWi8ad6QXnDkAbrml0vOfEix144pTlsimYsebTEbBlS2C6+G
70zgbapFzW85VpSbTSP6N76lQRXXTMMsal1TRpsPusIbN5zMCToHsb9/0A5gw1t3tNBOtATL
CMczD0Gh8iibjwxSji</vt:lpwstr>
  </property>
  <property fmtid="{D5CDD505-2E9C-101B-9397-08002B2CF9AE}" pid="3" name="_2015_ms_pID_7253431">
    <vt:lpwstr>KXTaqe3jinM3obWYkmWdZipIYVT4Gv5TIZ0E6NAY7/0BPJRqjUE0Yp
QA+yc6YlsTjhdIg3R3lE8JatRSrM7MiHgNPyjuv6JvALUzlx+apVhccmG6VXsvInxWMSzjbw
L3Pn1RPv1SbACXM86IjZM1Qz2uWR/sRB4mrIgX/LVG38Jm8PPdHMJziRhL7cGqzzQRC1QdQ9
kL7a/ZwGyS/vbb6OVn1N2iWhaDuwjb43LiM0</vt:lpwstr>
  </property>
  <property fmtid="{D5CDD505-2E9C-101B-9397-08002B2CF9AE}" pid="4" name="_2015_ms_pID_7253432">
    <vt:lpwstr>gg==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1697544692</vt:lpwstr>
  </property>
</Properties>
</file>