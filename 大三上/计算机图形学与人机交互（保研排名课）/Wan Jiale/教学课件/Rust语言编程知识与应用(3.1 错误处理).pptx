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2"/>
  </p:notesMasterIdLst>
  <p:handoutMasterIdLst>
    <p:handoutMasterId r:id="rId23"/>
  </p:handoutMasterIdLst>
  <p:sldIdLst>
    <p:sldId id="283" r:id="rId6"/>
    <p:sldId id="288" r:id="rId7"/>
    <p:sldId id="434" r:id="rId8"/>
    <p:sldId id="409" r:id="rId9"/>
    <p:sldId id="436" r:id="rId10"/>
    <p:sldId id="437" r:id="rId11"/>
    <p:sldId id="451" r:id="rId12"/>
    <p:sldId id="460" r:id="rId13"/>
    <p:sldId id="450" r:id="rId14"/>
    <p:sldId id="435" r:id="rId15"/>
    <p:sldId id="448" r:id="rId16"/>
    <p:sldId id="454" r:id="rId17"/>
    <p:sldId id="449" r:id="rId18"/>
    <p:sldId id="453" r:id="rId19"/>
    <p:sldId id="292" r:id="rId20"/>
    <p:sldId id="280" r:id="rId21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34"/>
            <p14:sldId id="409"/>
            <p14:sldId id="436"/>
            <p14:sldId id="437"/>
            <p14:sldId id="451"/>
            <p14:sldId id="460"/>
            <p14:sldId id="450"/>
            <p14:sldId id="435"/>
            <p14:sldId id="448"/>
            <p14:sldId id="454"/>
            <p14:sldId id="449"/>
            <p14:sldId id="453"/>
            <p14:sldId id="29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wuxiaojun 00342820_QRBvBJbY" initials="authorId_AK20210901:AK20210901JXNSXO124321" lastIdx="614393932" clrIdx="0"/>
  <p:cmAuthor id="2003" name="liziqiang 00556901_ERbuA7r6" initials="authorId_AK20210901:AK20210901JXNSXO4497046" lastIdx="1690057225" clrIdx="0"/>
  <p:cmAuthor id="2004" name="gaoshang 00419539_MRJvMvEj" initials="authorId_AK20210901:AK20210901JXNSXO980865" lastIdx="1153167064" clrIdx="0"/>
  <p:cmAuthor id="2000" name="fanchangchun 00567414_2yeyVvEJ" initials="authorId_AK20210901:AK20210901JXNSXO4723448" lastIdx="0" clrIdx="0"/>
  <p:cmAuthor id="2001" name="zhanghandong WX930509_Jj22FnMn" initials="authorId_AK20210901:AK20210901JXNSXO4676065" lastIdx="7747030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0657" autoAdjust="0"/>
  </p:normalViewPr>
  <p:slideViewPr>
    <p:cSldViewPr snapToGrid="0" snapToObjects="1">
      <p:cViewPr varScale="1">
        <p:scale>
          <a:sx n="69" d="100"/>
          <a:sy n="69" d="100"/>
        </p:scale>
        <p:origin x="48" y="19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383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870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169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19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1270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341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69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1817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128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826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303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824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138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3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32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538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错误处理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>
                <a:cs typeface="+mn-ea"/>
                <a:sym typeface="+mn-lt"/>
              </a:rPr>
              <a:t>Security Level:</a:t>
            </a:r>
            <a:endParaRPr lang="en-US" sz="1000" dirty="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0"/>
            <a:ext cx="10733557" cy="94566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通过本章节的学习，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掌握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Rust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错误处理相关概念和用法。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3243628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3213170"/>
            <a:ext cx="419642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Option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Result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panic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标准库常用函数；</a:t>
            </a:r>
            <a:endParaRPr lang="en-US" altLang="zh-CN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795455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2092" y="977133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36258" y="1584859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Option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2   Result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FontTx/>
              <a:buAutoNum type="arabicPlain" startAt="3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Panic</a:t>
            </a:r>
          </a:p>
          <a:p>
            <a:pPr marL="354965" indent="-342900">
              <a:lnSpc>
                <a:spcPct val="150000"/>
              </a:lnSpc>
              <a:buFontTx/>
              <a:buAutoNum type="arabicPlain" startAt="3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标准库常用函数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97916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87601" y="78209"/>
            <a:ext cx="10740640" cy="615021"/>
          </a:xfrm>
        </p:spPr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错误处理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6484" y="835753"/>
            <a:ext cx="8793437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cs typeface="+mn-ea"/>
                <a:sym typeface="+mn-lt"/>
              </a:rPr>
              <a:t>错误处理（</a:t>
            </a:r>
            <a:r>
              <a:rPr lang="en-US" altLang="zh-CN" sz="1600" dirty="0">
                <a:cs typeface="+mn-ea"/>
                <a:sym typeface="+mn-lt"/>
              </a:rPr>
              <a:t>error handling</a:t>
            </a:r>
            <a:r>
              <a:rPr lang="zh-CN" altLang="en-US" sz="1600" dirty="0">
                <a:cs typeface="+mn-ea"/>
                <a:sym typeface="+mn-lt"/>
              </a:rPr>
              <a:t>）是处理可能发生的失败情况的过程。</a:t>
            </a:r>
            <a:endParaRPr lang="en-US" altLang="zh-CN" sz="1600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cs typeface="+mn-ea"/>
                <a:sym typeface="+mn-lt"/>
              </a:rPr>
              <a:t>Rust </a:t>
            </a:r>
            <a:r>
              <a:rPr lang="zh-CN" altLang="en-US" sz="1600" dirty="0">
                <a:cs typeface="+mn-ea"/>
                <a:sym typeface="+mn-lt"/>
              </a:rPr>
              <a:t>中有多种处理错误的方式，它们多少有些区别，使用场景也不尽相同：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Option</a:t>
            </a:r>
            <a:r>
              <a:rPr lang="zh-CN" altLang="en-US" sz="1600" dirty="0">
                <a:cs typeface="+mn-ea"/>
                <a:sym typeface="+mn-lt"/>
              </a:rPr>
              <a:t>：</a:t>
            </a:r>
            <a:r>
              <a:rPr lang="zh-CN" sz="1600" b="0" u="none">
                <a:solidFill>
                  <a:srgbClr val="1D1D1A"/>
                </a:solidFill>
                <a:cs typeface="+mn-ea"/>
                <a:sym typeface="+mn-lt"/>
              </a:rPr>
              <a:t>当值是可选的、或者缺少值但不是错误的情况时使用；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Result</a:t>
            </a:r>
            <a:r>
              <a:rPr lang="zh-CN" altLang="en-US" sz="1600" dirty="0">
                <a:cs typeface="+mn-ea"/>
                <a:sym typeface="+mn-lt"/>
              </a:rPr>
              <a:t>：</a:t>
            </a:r>
            <a:r>
              <a:rPr lang="zh-CN" sz="1600" b="0" u="none">
                <a:solidFill>
                  <a:srgbClr val="1D1D1A"/>
                </a:solidFill>
                <a:cs typeface="+mn-ea"/>
                <a:sym typeface="+mn-lt"/>
              </a:rPr>
              <a:t>当需要返回由调用者处理的错误时使用；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+mn-ea"/>
                <a:sym typeface="+mn-lt"/>
              </a:rPr>
              <a:t>panic</a:t>
            </a:r>
            <a:r>
              <a:rPr lang="zh-CN" altLang="en-US" sz="1600" dirty="0">
                <a:cs typeface="+mn-ea"/>
                <a:sym typeface="+mn-lt"/>
              </a:rPr>
              <a:t>：开发者无法处理的错误</a:t>
            </a:r>
            <a:r>
              <a:rPr lang="zh-CN" sz="1600" b="0" u="none">
                <a:solidFill>
                  <a:srgbClr val="1D1D1A"/>
                </a:solidFill>
                <a:cs typeface="+mn-ea"/>
                <a:sym typeface="+mn-lt"/>
              </a:rPr>
              <a:t>；</a:t>
            </a:r>
            <a:endParaRPr lang="en-US" altLang="zh-CN" sz="16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6923150" y="818623"/>
            <a:ext cx="3546539" cy="11695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在标准库中的定义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None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83465" y="653119"/>
            <a:ext cx="633840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Option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是一个枚举类型，用来表示值存在或者不存在的情况。表现</a:t>
            </a:r>
            <a:r>
              <a:rPr lang="zh-CN" altLang="en-US" sz="1600" dirty="0">
                <a:solidFill>
                  <a:srgbClr val="000000"/>
                </a:solidFill>
                <a:cs typeface="+mn-ea"/>
                <a:sym typeface="+mn-lt"/>
              </a:rPr>
              <a:t>为以下两个变体中的一个：</a:t>
            </a:r>
            <a:endParaRPr lang="zh-CN" altLang="zh-CN" sz="1600" dirty="0">
              <a:cs typeface="+mn-ea"/>
              <a:sym typeface="+mn-lt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Some(T)：找到</a:t>
            </a:r>
            <a:r>
              <a:rPr lang="zh-CN" altLang="zh-CN" sz="1600">
                <a:solidFill>
                  <a:srgbClr val="000000"/>
                </a:solidFill>
                <a:cs typeface="+mn-ea"/>
                <a:sym typeface="+mn-lt"/>
              </a:rPr>
              <a:t>一个</a:t>
            </a:r>
            <a:r>
              <a:rPr lang="zh-CN" altLang="zh-CN" sz="1600" dirty="0">
                <a:solidFill>
                  <a:srgbClr val="000000"/>
                </a:solidFill>
                <a:cs typeface="+mn-ea"/>
                <a:sym typeface="+mn-lt"/>
              </a:rPr>
              <a:t> T 类型</a:t>
            </a:r>
            <a:r>
              <a:rPr lang="zh-CN" altLang="zh-CN" sz="1600">
                <a:solidFill>
                  <a:srgbClr val="000000"/>
                </a:solidFill>
                <a:cs typeface="+mn-ea"/>
                <a:sym typeface="+mn-lt"/>
              </a:rPr>
              <a:t>的元素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；</a:t>
            </a:r>
            <a:endParaRPr lang="zh-CN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zh-CN" sz="1600">
                <a:solidFill>
                  <a:srgbClr val="000000"/>
                </a:solidFill>
                <a:cs typeface="+mn-ea"/>
                <a:sym typeface="+mn-lt"/>
              </a:rPr>
              <a:t>None：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值不存在；</a:t>
            </a:r>
            <a:endParaRPr lang="zh-CN" altLang="zh-CN" sz="1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71815" y="2239654"/>
            <a:ext cx="7575008" cy="39874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divide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numerator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denominator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f64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如果分母为零，则函数返回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None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denominator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==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None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else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函数返回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Some(x)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，其中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x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是除法的结果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numerator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/ </a:t>
            </a:r>
            <a:r>
              <a:rPr lang="en-US" altLang="zh-CN" sz="1400" i="1">
                <a:solidFill>
                  <a:srgbClr val="E06C75"/>
                </a:solidFill>
                <a:cs typeface="+mn-ea"/>
                <a:sym typeface="+mn-lt"/>
              </a:rPr>
              <a:t>denominator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divide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6.0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3.0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使用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match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对返回值进行匹配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Some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2.0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None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=&gt;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"Cannot divide by 0"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副标题 1"/>
          <p:cNvSpPr>
            <a:spLocks noGrp="1"/>
          </p:cNvSpPr>
          <p:nvPr>
            <p:ph type="subTitle" idx="1"/>
          </p:nvPr>
        </p:nvSpPr>
        <p:spPr>
          <a:xfrm>
            <a:off x="187601" y="78209"/>
            <a:ext cx="10740640" cy="615021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Option-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88185" y="2184391"/>
            <a:ext cx="6341216" cy="35394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io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open_file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返回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Result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类型：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Result&lt;File, Error&gt;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文件打开成功，则函数返回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Ok(file)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，其中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file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是一个文件句柄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   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文件打开失败，则函数返回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Err(e)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，其中 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e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是一个错误信息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=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open_file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"../example/test.txt"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"File opened successfully"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 err="1">
                <a:solidFill>
                  <a:srgbClr val="D19A66"/>
                </a:solidFill>
                <a:cs typeface="+mn-ea"/>
                <a:sym typeface="+mn-lt"/>
              </a:rPr>
              <a:t>println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"Failed to open file: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{}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open_file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filename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 dirty="0" err="1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open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i="1" dirty="0">
                <a:solidFill>
                  <a:srgbClr val="E06C75"/>
                </a:solidFill>
                <a:cs typeface="+mn-ea"/>
                <a:sym typeface="+mn-lt"/>
              </a:rPr>
              <a:t>filename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0971" y="679927"/>
            <a:ext cx="2482215" cy="116955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在标准库中的定义：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de-DE" altLang="zh-CN" sz="1400" dirty="0">
                <a:solidFill>
                  <a:srgbClr val="C678DD"/>
                </a:solidFill>
                <a:cs typeface="+mn-ea"/>
                <a:sym typeface="+mn-lt"/>
              </a:rPr>
              <a:t>pub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e-DE" altLang="zh-CN" sz="1400" dirty="0">
                <a:solidFill>
                  <a:srgbClr val="C678DD"/>
                </a:solidFill>
                <a:cs typeface="+mn-ea"/>
                <a:sym typeface="+mn-lt"/>
              </a:rPr>
              <a:t>enum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de-DE" altLang="zh-CN" sz="1400" dirty="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de-DE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de-DE" altLang="zh-CN" sz="1400" dirty="0">
                <a:solidFill>
                  <a:srgbClr val="E5C07B"/>
                </a:solidFill>
                <a:cs typeface="+mn-ea"/>
                <a:sym typeface="+mn-lt"/>
              </a:rPr>
              <a:t>E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e-DE" altLang="zh-CN" sz="1400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de-DE" altLang="zh-CN" sz="1400" dirty="0">
                <a:solidFill>
                  <a:srgbClr val="E5C07B"/>
                </a:solidFill>
                <a:cs typeface="+mn-ea"/>
                <a:sym typeface="+mn-lt"/>
              </a:rPr>
              <a:t>T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de-DE" altLang="zh-CN" sz="1400" dirty="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de-DE" altLang="zh-CN" sz="1400" dirty="0">
                <a:solidFill>
                  <a:srgbClr val="E5C07B"/>
                </a:solidFill>
                <a:cs typeface="+mn-ea"/>
                <a:sym typeface="+mn-lt"/>
              </a:rPr>
              <a:t>E</a:t>
            </a:r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</a:p>
          <a:p>
            <a:r>
              <a:rPr lang="de-DE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de-DE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7601" y="693230"/>
            <a:ext cx="8471767" cy="1533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Result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类型是一种枚举类型，用来表示操作可能成功或失败的情况。它有两个变量：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Ok(T)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，表示操作成功并返回一个值，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T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代表成功时返回的 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Ok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成员中的数据类型；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Err(E)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，表示操作失败并返回一个错误信息，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E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代表失败时返回的 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Err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成员中的错误类型；</a:t>
            </a:r>
          </a:p>
        </p:txBody>
      </p:sp>
      <p:sp>
        <p:nvSpPr>
          <p:cNvPr id="14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Result-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397" y="3458806"/>
            <a:ext cx="4448175" cy="495300"/>
          </a:xfrm>
          <a:prstGeom prst="rect">
            <a:avLst/>
          </a:prstGeom>
        </p:spPr>
      </p:pic>
      <p:sp>
        <p:nvSpPr>
          <p:cNvPr id="9" name="下箭头 8"/>
          <p:cNvSpPr/>
          <p:nvPr/>
        </p:nvSpPr>
        <p:spPr>
          <a:xfrm rot="16200000">
            <a:off x="6635596" y="3595160"/>
            <a:ext cx="378040" cy="234605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87601" y="532456"/>
            <a:ext cx="1074064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问号运算符 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?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可以用来简化错误处理，它的作用在于可以自动进行类型转换。它可以用在返回 </a:t>
            </a:r>
            <a:r>
              <a:rPr lang="en-US" altLang="zh-CN" sz="1600">
                <a:solidFill>
                  <a:srgbClr val="000000"/>
                </a:solidFill>
                <a:cs typeface="+mn-ea"/>
                <a:sym typeface="+mn-lt"/>
              </a:rPr>
              <a:t>Result 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类型的表达式后面，用来</a:t>
            </a:r>
            <a:r>
              <a:rPr lang="zh-CN" altLang="en-US" sz="1600" b="1">
                <a:solidFill>
                  <a:srgbClr val="000000"/>
                </a:solidFill>
                <a:cs typeface="+mn-ea"/>
                <a:sym typeface="+mn-lt"/>
              </a:rPr>
              <a:t>传播错误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。</a:t>
            </a:r>
            <a:endParaRPr lang="en-US" altLang="zh-CN" sz="160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4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Result-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问号运算符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87602" y="1413222"/>
            <a:ext cx="10740639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rgbClr val="000000"/>
                </a:solidFill>
                <a:cs typeface="+mn-ea"/>
                <a:sym typeface="+mn-lt"/>
              </a:rPr>
              <a:t>传播错误</a:t>
            </a:r>
            <a:r>
              <a:rPr lang="zh-CN" altLang="en-US" sz="160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zh-CN" altLang="en-US" sz="1600">
                <a:cs typeface="+mn-ea"/>
                <a:sym typeface="+mn-lt"/>
              </a:rPr>
              <a:t>一个较大的程序或者一个功能会涉及多层的函数调用，而错误处理也往往不是哪里调用出错，就在哪里处理。实际中，一般会把错误上传到调用链的上游函数处理，也就是将错误进行传播。</a:t>
            </a:r>
          </a:p>
        </p:txBody>
      </p:sp>
      <p:sp>
        <p:nvSpPr>
          <p:cNvPr id="4" name="矩形 3"/>
          <p:cNvSpPr/>
          <p:nvPr/>
        </p:nvSpPr>
        <p:spPr>
          <a:xfrm>
            <a:off x="197555" y="2616897"/>
            <a:ext cx="6856293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read_username_from_file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io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Error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open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98C379"/>
                </a:solidFill>
                <a:cs typeface="+mn-ea"/>
                <a:sym typeface="+mn-lt"/>
              </a:rPr>
              <a:t>"hello.txt"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Result&lt;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文件句柄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,</a:t>
            </a:r>
            <a:r>
              <a:rPr lang="en-US" altLang="zh-CN" sz="1400" i="1" dirty="0" err="1">
                <a:solidFill>
                  <a:srgbClr val="7F848E"/>
                </a:solidFill>
                <a:cs typeface="+mn-ea"/>
                <a:sym typeface="+mn-lt"/>
              </a:rPr>
              <a:t>io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::Error&gt;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file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      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打开文件成功，将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file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句柄赋值给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f</a:t>
            </a:r>
            <a:endParaRPr lang="en-US" altLang="zh-CN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打开文件失败，将错误返回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(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向上传播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)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match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 dirty="0" err="1">
                <a:solidFill>
                  <a:srgbClr val="61AFEF"/>
                </a:solidFill>
                <a:cs typeface="+mn-ea"/>
                <a:sym typeface="+mn-lt"/>
              </a:rPr>
              <a:t>read_to_string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{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从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f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文件句柄读取数据并写入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s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中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 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读取成功，返回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Ok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封装的字符串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 =&gt; </a:t>
            </a:r>
            <a:r>
              <a:rPr lang="en-US" altLang="zh-CN" sz="1400" dirty="0">
                <a:solidFill>
                  <a:srgbClr val="E5C07B"/>
                </a:solidFill>
                <a:cs typeface="+mn-ea"/>
                <a:sym typeface="+mn-lt"/>
              </a:rPr>
              <a:t>Err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e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),</a:t>
            </a:r>
            <a:r>
              <a:rPr lang="en-US" altLang="zh-CN" sz="1400" i="1" dirty="0">
                <a:solidFill>
                  <a:srgbClr val="7F848E"/>
                </a:solidFill>
                <a:cs typeface="+mn-ea"/>
                <a:sym typeface="+mn-lt"/>
              </a:rPr>
              <a:t> // </a:t>
            </a:r>
            <a:r>
              <a:rPr lang="zh-CN" altLang="en-US" sz="1400" i="1" dirty="0">
                <a:solidFill>
                  <a:srgbClr val="7F848E"/>
                </a:solidFill>
                <a:cs typeface="+mn-ea"/>
                <a:sym typeface="+mn-lt"/>
              </a:rPr>
              <a:t>将错误向上传播</a:t>
            </a:r>
            <a:endParaRPr lang="zh-CN" altLang="en-US" sz="1400" dirty="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600502" y="2979934"/>
            <a:ext cx="4232644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read_username_from_file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io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Error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   // ?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的作用与利用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match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匹配错误的方式类似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File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open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"hello.txt"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)?;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read_to_string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)?;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7156762" y="3363387"/>
            <a:ext cx="340825" cy="1277954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>
                <a:solidFill>
                  <a:schemeClr val="tx1"/>
                </a:solidFill>
                <a:cs typeface="+mn-ea"/>
                <a:sym typeface="+mn-lt"/>
              </a:rPr>
              <a:t>简化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Result-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问号运算符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804802" y="4069350"/>
            <a:ext cx="9657622" cy="97483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在上面的示例中，如果</a:t>
            </a:r>
            <a:r>
              <a:rPr lang="zh-CN">
                <a:solidFill>
                  <a:srgbClr val="000000"/>
                </a:solidFill>
                <a:cs typeface="+mn-ea"/>
                <a:sym typeface="+mn-lt"/>
              </a:rPr>
              <a:t>File::open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打开文件失败</a:t>
            </a:r>
            <a:r>
              <a:rPr lang="zh-CN">
                <a:solidFill>
                  <a:srgbClr val="000000"/>
                </a:solidFill>
                <a:cs typeface="+mn-ea"/>
                <a:sym typeface="+mn-lt"/>
              </a:rPr>
              <a:t>发生错误就会返回，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如果</a:t>
            </a:r>
            <a:r>
              <a:rPr lang="zh-CN">
                <a:solidFill>
                  <a:srgbClr val="000000"/>
                </a:solidFill>
                <a:cs typeface="+mn-ea"/>
                <a:sym typeface="+mn-lt"/>
              </a:rPr>
              <a:t>没有错误就将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调用</a:t>
            </a:r>
            <a:r>
              <a:rPr lang="zh-CN">
                <a:solidFill>
                  <a:srgbClr val="000000"/>
                </a:solidFill>
                <a:cs typeface="+mn-ea"/>
                <a:sym typeface="+mn-lt"/>
              </a:rPr>
              <a:t>方法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read_to_string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；</a:t>
            </a:r>
            <a:r>
              <a:rPr lang="en-US" altLang="zh-CN">
                <a:solidFill>
                  <a:srgbClr val="000000"/>
                </a:solidFill>
                <a:cs typeface="+mn-ea"/>
                <a:sym typeface="+mn-lt"/>
              </a:rPr>
              <a:t>read_to_string</a:t>
            </a:r>
            <a:r>
              <a:rPr lang="zh-CN" altLang="en-US">
                <a:solidFill>
                  <a:srgbClr val="000000"/>
                </a:solidFill>
                <a:cs typeface="+mn-ea"/>
                <a:sym typeface="+mn-lt"/>
              </a:rPr>
              <a:t>方法后的问号运算符同理。</a:t>
            </a:r>
            <a:endParaRPr lang="zh-CN" altLang="en-US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A0AE22-AC38-49E2-8CD1-0F4A9EFCDCD4}"/>
              </a:ext>
            </a:extLst>
          </p:cNvPr>
          <p:cNvSpPr/>
          <p:nvPr/>
        </p:nvSpPr>
        <p:spPr>
          <a:xfrm>
            <a:off x="1772219" y="837855"/>
            <a:ext cx="8844593" cy="313932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A9955"/>
                </a:solidFill>
                <a:cs typeface="+mn-ea"/>
                <a:sym typeface="+mn-lt"/>
              </a:rPr>
              <a:t>// </a:t>
            </a:r>
            <a:r>
              <a:rPr lang="zh-CN" altLang="en-US" dirty="0">
                <a:solidFill>
                  <a:srgbClr val="6A9955"/>
                </a:solidFill>
                <a:cs typeface="+mn-ea"/>
                <a:sym typeface="+mn-lt"/>
              </a:rPr>
              <a:t>代码示例</a:t>
            </a:r>
            <a:endParaRPr lang="zh-CN" altLang="en-US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use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std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fs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File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use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std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io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::{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Read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, 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Result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</a:br>
            <a:r>
              <a:rPr lang="en-US" altLang="zh-CN" dirty="0" err="1">
                <a:solidFill>
                  <a:srgbClr val="569CD6"/>
                </a:solidFill>
                <a:cs typeface="+mn-ea"/>
                <a:sym typeface="+mn-lt"/>
              </a:rPr>
              <a:t>fn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C8C8C8"/>
                </a:solidFill>
                <a:cs typeface="+mn-ea"/>
                <a:sym typeface="+mn-lt"/>
              </a:rPr>
              <a:t>open_file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() -&gt; 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Result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&lt;</a:t>
            </a:r>
            <a:r>
              <a:rPr lang="en-US" altLang="zh-CN" dirty="0" err="1">
                <a:solidFill>
                  <a:srgbClr val="4EC9B0"/>
                </a:solidFill>
                <a:cs typeface="+mn-ea"/>
                <a:sym typeface="+mn-lt"/>
              </a:rPr>
              <a:t>usize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&gt; {</a:t>
            </a:r>
          </a:p>
          <a:p>
            <a:r>
              <a:rPr lang="en-US" altLang="zh-CN" dirty="0">
                <a:solidFill>
                  <a:srgbClr val="6A9955"/>
                </a:solidFill>
                <a:cs typeface="+mn-ea"/>
                <a:sym typeface="+mn-lt"/>
              </a:rPr>
              <a:t>    // File::open()</a:t>
            </a:r>
            <a:r>
              <a:rPr lang="zh-CN" altLang="en-US" dirty="0">
                <a:solidFill>
                  <a:srgbClr val="6A9955"/>
                </a:solidFill>
                <a:cs typeface="+mn-ea"/>
                <a:sym typeface="+mn-lt"/>
              </a:rPr>
              <a:t>返回的错误类型为</a:t>
            </a:r>
            <a:r>
              <a:rPr lang="en-US" altLang="zh-CN" dirty="0">
                <a:solidFill>
                  <a:srgbClr val="6A9955"/>
                </a:solidFill>
                <a:cs typeface="+mn-ea"/>
                <a:sym typeface="+mn-lt"/>
              </a:rPr>
              <a:t>std::</a:t>
            </a:r>
            <a:r>
              <a:rPr lang="en-US" altLang="zh-CN" dirty="0" err="1">
                <a:solidFill>
                  <a:srgbClr val="6A9955"/>
                </a:solidFill>
                <a:cs typeface="+mn-ea"/>
                <a:sym typeface="+mn-lt"/>
              </a:rPr>
              <a:t>io</a:t>
            </a:r>
            <a:r>
              <a:rPr lang="en-US" altLang="zh-CN" dirty="0">
                <a:solidFill>
                  <a:srgbClr val="6A9955"/>
                </a:solidFill>
                <a:cs typeface="+mn-ea"/>
                <a:sym typeface="+mn-lt"/>
              </a:rPr>
              <a:t>::Error</a:t>
            </a:r>
            <a:endParaRPr lang="en-US" altLang="zh-CN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rgbClr val="6A9955"/>
                </a:solidFill>
                <a:cs typeface="+mn-ea"/>
                <a:sym typeface="+mn-lt"/>
              </a:rPr>
              <a:t>    // </a:t>
            </a:r>
            <a:r>
              <a:rPr lang="zh-CN" altLang="en-US" dirty="0">
                <a:solidFill>
                  <a:srgbClr val="6A9955"/>
                </a:solidFill>
                <a:cs typeface="+mn-ea"/>
                <a:sym typeface="+mn-lt"/>
              </a:rPr>
              <a:t>通过？运算符可以将一种错误类型转换为另一种错误类型</a:t>
            </a:r>
            <a:endParaRPr lang="zh-CN" altLang="en-US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zh-CN" altLang="en-US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u="sng" dirty="0">
                <a:solidFill>
                  <a:srgbClr val="C8C8C8"/>
                </a:solidFill>
                <a:cs typeface="+mn-ea"/>
                <a:sym typeface="+mn-lt"/>
              </a:rPr>
              <a:t>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= 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String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new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569CD6"/>
                </a:solidFill>
                <a:cs typeface="+mn-ea"/>
                <a:sym typeface="+mn-lt"/>
              </a:rPr>
              <a:t>let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r = </a:t>
            </a:r>
            <a:r>
              <a:rPr lang="en-US" altLang="zh-CN" dirty="0">
                <a:solidFill>
                  <a:srgbClr val="4EC9B0"/>
                </a:solidFill>
                <a:cs typeface="+mn-ea"/>
                <a:sym typeface="+mn-lt"/>
              </a:rPr>
              <a:t>File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::</a:t>
            </a:r>
            <a:r>
              <a:rPr lang="en-US" altLang="zh-CN" dirty="0">
                <a:solidFill>
                  <a:srgbClr val="C8C8C8"/>
                </a:solidFill>
                <a:cs typeface="+mn-ea"/>
                <a:sym typeface="+mn-lt"/>
              </a:rPr>
              <a:t>open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 dirty="0">
                <a:solidFill>
                  <a:srgbClr val="CE9178"/>
                </a:solidFill>
                <a:cs typeface="+mn-ea"/>
                <a:sym typeface="+mn-lt"/>
              </a:rPr>
              <a:t>"hello.txt"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)?.</a:t>
            </a:r>
            <a:r>
              <a:rPr lang="en-US" altLang="zh-CN" u="sng" dirty="0" err="1">
                <a:solidFill>
                  <a:srgbClr val="C8C8C8"/>
                </a:solidFill>
                <a:cs typeface="+mn-ea"/>
                <a:sym typeface="+mn-lt"/>
              </a:rPr>
              <a:t>read_to_string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(&amp;</a:t>
            </a:r>
            <a:r>
              <a:rPr lang="en-US" altLang="zh-CN" dirty="0" err="1">
                <a:solidFill>
                  <a:srgbClr val="569CD6"/>
                </a:solidFill>
                <a:cs typeface="+mn-ea"/>
                <a:sym typeface="+mn-lt"/>
              </a:rPr>
              <a:t>mut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 </a:t>
            </a:r>
            <a:r>
              <a:rPr lang="en-US" altLang="zh-CN" u="sng" dirty="0">
                <a:solidFill>
                  <a:srgbClr val="C8C8C8"/>
                </a:solidFill>
                <a:cs typeface="+mn-ea"/>
                <a:sym typeface="+mn-lt"/>
              </a:rPr>
              <a:t>s</a:t>
            </a:r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)?;</a:t>
            </a: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    </a:t>
            </a:r>
            <a:r>
              <a:rPr lang="en-US" altLang="zh-CN" dirty="0">
                <a:solidFill>
                  <a:srgbClr val="B8D7A3"/>
                </a:solidFill>
                <a:cs typeface="+mn-ea"/>
                <a:sym typeface="+mn-lt"/>
              </a:rPr>
              <a:t>Ok</a:t>
            </a:r>
            <a:r>
              <a:rPr lang="en-US" altLang="zh-CN">
                <a:solidFill>
                  <a:srgbClr val="D4D4D4"/>
                </a:solidFill>
                <a:cs typeface="+mn-ea"/>
                <a:sym typeface="+mn-lt"/>
              </a:rPr>
              <a:t>(</a:t>
            </a:r>
            <a:r>
              <a:rPr lang="en-US" altLang="zh-CN">
                <a:solidFill>
                  <a:srgbClr val="C8C8C8"/>
                </a:solidFill>
                <a:cs typeface="+mn-ea"/>
                <a:sym typeface="+mn-lt"/>
              </a:rPr>
              <a:t>r</a:t>
            </a:r>
            <a:r>
              <a:rPr lang="en-US" altLang="zh-CN">
                <a:solidFill>
                  <a:srgbClr val="D4D4D4"/>
                </a:solidFill>
                <a:cs typeface="+mn-ea"/>
                <a:sym typeface="+mn-lt"/>
              </a:rPr>
              <a:t>)</a:t>
            </a:r>
            <a:endParaRPr lang="en-US" altLang="zh-CN" dirty="0">
              <a:solidFill>
                <a:srgbClr val="D4D4D4"/>
              </a:solidFill>
              <a:cs typeface="+mn-ea"/>
              <a:sym typeface="+mn-lt"/>
            </a:endParaRPr>
          </a:p>
          <a:p>
            <a:r>
              <a:rPr lang="en-US" altLang="zh-CN" dirty="0">
                <a:solidFill>
                  <a:srgbClr val="D4D4D4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7739597" y="1392336"/>
            <a:ext cx="3188644" cy="73866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Some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"air"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"air"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标准库常用函数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87601" y="633345"/>
            <a:ext cx="11096698" cy="4230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标准库提供了一些常用的函数来处理错误。这些函数包括 </a:t>
            </a:r>
            <a:r>
              <a:rPr lang="en-US" altLang="zh-CN" sz="1600">
                <a:cs typeface="+mn-ea"/>
                <a:sym typeface="+mn-lt"/>
              </a:rPr>
              <a:t>unwrap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expect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unwrap_or</a:t>
            </a:r>
            <a:r>
              <a:rPr lang="zh-CN" altLang="en-US" sz="1600">
                <a:cs typeface="+mn-ea"/>
                <a:sym typeface="+mn-lt"/>
              </a:rPr>
              <a:t>、</a:t>
            </a:r>
            <a:r>
              <a:rPr lang="en-US" altLang="zh-CN" sz="1600">
                <a:cs typeface="+mn-ea"/>
                <a:sym typeface="+mn-lt"/>
              </a:rPr>
              <a:t>unwrap_or_else </a:t>
            </a:r>
            <a:r>
              <a:rPr lang="zh-CN" altLang="en-US" sz="1600">
                <a:cs typeface="+mn-ea"/>
                <a:sym typeface="+mn-lt"/>
              </a:rPr>
              <a:t>等。</a:t>
            </a:r>
          </a:p>
        </p:txBody>
      </p:sp>
      <p:sp>
        <p:nvSpPr>
          <p:cNvPr id="13" name="矩形 12"/>
          <p:cNvSpPr/>
          <p:nvPr/>
        </p:nvSpPr>
        <p:spPr>
          <a:xfrm>
            <a:off x="187602" y="1302451"/>
            <a:ext cx="7197936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unwrap</a:t>
            </a:r>
            <a:r>
              <a:rPr lang="zh-CN" altLang="en-US" sz="1600">
                <a:cs typeface="+mn-ea"/>
                <a:sym typeface="+mn-lt"/>
              </a:rPr>
              <a:t>：此函数用于获取 </a:t>
            </a:r>
            <a:r>
              <a:rPr lang="en-US" altLang="zh-CN" sz="1600">
                <a:cs typeface="+mn-ea"/>
                <a:sym typeface="+mn-lt"/>
              </a:rPr>
              <a:t>Option </a:t>
            </a:r>
            <a:r>
              <a:rPr lang="zh-CN" altLang="en-US" sz="1600">
                <a:cs typeface="+mn-ea"/>
                <a:sym typeface="+mn-lt"/>
              </a:rPr>
              <a:t>或 </a:t>
            </a:r>
            <a:r>
              <a:rPr lang="en-US" altLang="zh-CN" sz="1600">
                <a:cs typeface="+mn-ea"/>
                <a:sym typeface="+mn-lt"/>
              </a:rPr>
              <a:t>Result </a:t>
            </a:r>
            <a:r>
              <a:rPr lang="zh-CN" altLang="en-US" sz="1600">
                <a:cs typeface="+mn-ea"/>
                <a:sym typeface="+mn-lt"/>
              </a:rPr>
              <a:t>类型的值。如果值存在，则返回该值；否则，程序会抛出一个 </a:t>
            </a:r>
            <a:r>
              <a:rPr lang="en-US" altLang="zh-CN" sz="1600">
                <a:cs typeface="+mn-ea"/>
                <a:sym typeface="+mn-lt"/>
              </a:rPr>
              <a:t>panic</a:t>
            </a:r>
            <a:r>
              <a:rPr lang="zh-CN" altLang="en-US" sz="1600">
                <a:cs typeface="+mn-ea"/>
                <a:sym typeface="+mn-lt"/>
              </a:rPr>
              <a:t>。例如：</a:t>
            </a:r>
          </a:p>
        </p:txBody>
      </p:sp>
      <p:sp>
        <p:nvSpPr>
          <p:cNvPr id="14" name="矩形 13"/>
          <p:cNvSpPr/>
          <p:nvPr/>
        </p:nvSpPr>
        <p:spPr>
          <a:xfrm>
            <a:off x="187601" y="2198904"/>
            <a:ext cx="10740639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expect</a:t>
            </a:r>
            <a:r>
              <a:rPr lang="zh-CN" altLang="en-US" sz="1600">
                <a:cs typeface="+mn-ea"/>
                <a:sym typeface="+mn-lt"/>
              </a:rPr>
              <a:t>：此函数与 </a:t>
            </a:r>
            <a:r>
              <a:rPr lang="en-US" altLang="zh-CN" sz="1600">
                <a:cs typeface="+mn-ea"/>
                <a:sym typeface="+mn-lt"/>
              </a:rPr>
              <a:t>unwrap </a:t>
            </a:r>
            <a:r>
              <a:rPr lang="zh-CN" altLang="en-US" sz="1600">
                <a:cs typeface="+mn-ea"/>
                <a:sym typeface="+mn-lt"/>
              </a:rPr>
              <a:t>类似，但它允许我们指定一个自定义的错误信息。如果值不存在，则程序会产生一个 </a:t>
            </a:r>
            <a:r>
              <a:rPr lang="en-US" altLang="zh-CN" sz="1600">
                <a:cs typeface="+mn-ea"/>
                <a:sym typeface="+mn-lt"/>
              </a:rPr>
              <a:t>panic </a:t>
            </a:r>
            <a:r>
              <a:rPr lang="zh-CN" altLang="en-US" sz="1600">
                <a:cs typeface="+mn-ea"/>
                <a:sym typeface="+mn-lt"/>
              </a:rPr>
              <a:t>，并显示指定的错误信息。例如：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97925" y="3097805"/>
            <a:ext cx="10330315" cy="5372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config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Config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read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"some_config.toml"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expect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"Provide the correct configuration file"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 </a:t>
            </a:r>
            <a:endParaRPr lang="en-US" altLang="zh-CN" sz="15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87602" y="3904373"/>
            <a:ext cx="10740639" cy="4230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unwrap_or</a:t>
            </a:r>
            <a:r>
              <a:rPr lang="zh-CN" altLang="en-US" sz="1600">
                <a:cs typeface="+mn-ea"/>
                <a:sym typeface="+mn-lt"/>
              </a:rPr>
              <a:t>：此函数用于获取 </a:t>
            </a:r>
            <a:r>
              <a:rPr lang="en-US" altLang="zh-CN" sz="1600">
                <a:cs typeface="+mn-ea"/>
                <a:sym typeface="+mn-lt"/>
              </a:rPr>
              <a:t>Option </a:t>
            </a:r>
            <a:r>
              <a:rPr lang="zh-CN" altLang="en-US" sz="1600">
                <a:cs typeface="+mn-ea"/>
                <a:sym typeface="+mn-lt"/>
              </a:rPr>
              <a:t>或 </a:t>
            </a:r>
            <a:r>
              <a:rPr lang="en-US" altLang="zh-CN" sz="1600">
                <a:cs typeface="+mn-ea"/>
                <a:sym typeface="+mn-lt"/>
              </a:rPr>
              <a:t>Result </a:t>
            </a:r>
            <a:r>
              <a:rPr lang="zh-CN" altLang="en-US" sz="1600">
                <a:cs typeface="+mn-ea"/>
                <a:sym typeface="+mn-lt"/>
              </a:rPr>
              <a:t>类型的值。如果值存在，则返回该值；否则，返回默认值。例如：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597926" y="4341609"/>
            <a:ext cx="10330314" cy="9988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DEFAULT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5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Result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u32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9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sz="1500" b="0" u="none">
              <a:solidFill>
                <a:srgbClr val="61AFEF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x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unwrap_or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DEFAULT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9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  <a:endParaRPr lang="en-US" altLang="zh-CN" sz="15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Panic-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87601" y="630921"/>
            <a:ext cx="11172028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在 </a:t>
            </a: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中，当开发者遇到不可处理的错误时，它会产生一个 </a:t>
            </a:r>
            <a:r>
              <a:rPr lang="en-US" altLang="zh-CN" sz="1600">
                <a:cs typeface="+mn-ea"/>
                <a:sym typeface="+mn-lt"/>
              </a:rPr>
              <a:t>panic</a:t>
            </a:r>
            <a:r>
              <a:rPr lang="zh-CN" altLang="en-US" sz="1600">
                <a:cs typeface="+mn-ea"/>
                <a:sym typeface="+mn-lt"/>
              </a:rPr>
              <a:t>（恐慌）。</a:t>
            </a:r>
            <a:endParaRPr lang="en-US" altLang="zh-CN" sz="1600"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15671" y="1685488"/>
            <a:ext cx="11225198" cy="3590819"/>
            <a:chOff x="263296" y="2755336"/>
            <a:chExt cx="11225198" cy="3590819"/>
          </a:xfrm>
        </p:grpSpPr>
        <p:grpSp>
          <p:nvGrpSpPr>
            <p:cNvPr id="19" name="组合 18"/>
            <p:cNvGrpSpPr/>
            <p:nvPr/>
          </p:nvGrpSpPr>
          <p:grpSpPr>
            <a:xfrm>
              <a:off x="263296" y="4542969"/>
              <a:ext cx="4069357" cy="1803186"/>
              <a:chOff x="627563" y="3815444"/>
              <a:chExt cx="4069357" cy="1803186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717043" y="4233635"/>
                <a:ext cx="3979877" cy="1384995"/>
                <a:chOff x="640181" y="3644498"/>
                <a:chExt cx="3979877" cy="1384995"/>
              </a:xfrm>
            </p:grpSpPr>
            <p:sp>
              <p:nvSpPr>
                <p:cNvPr id="8" name="文本框 7"/>
                <p:cNvSpPr txBox="1"/>
                <p:nvPr/>
              </p:nvSpPr>
              <p:spPr>
                <a:xfrm>
                  <a:off x="640181" y="3644498"/>
                  <a:ext cx="2960270" cy="1384995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2"/>
                      </a:solidFill>
                      <a:cs typeface="+mn-ea"/>
                      <a:sym typeface="+mn-lt"/>
                    </a:rPr>
                    <a:t>//</a:t>
                  </a:r>
                  <a:r>
                    <a:rPr lang="en-US" altLang="zh-CN" sz="1400">
                      <a:solidFill>
                        <a:srgbClr val="C678DD"/>
                      </a:solidFill>
                      <a:cs typeface="+mn-ea"/>
                      <a:sym typeface="+mn-lt"/>
                    </a:rPr>
                    <a:t> </a:t>
                  </a:r>
                  <a:r>
                    <a:rPr lang="zh-CN" altLang="en-US" sz="1400" b="1">
                      <a:solidFill>
                        <a:srgbClr val="00B050"/>
                      </a:solidFill>
                      <a:cs typeface="+mn-ea"/>
                      <a:sym typeface="+mn-lt"/>
                    </a:rPr>
                    <a:t>代码示例</a:t>
                  </a:r>
                  <a:endParaRPr lang="en-US" altLang="zh-CN" sz="1400" b="1" dirty="0">
                    <a:solidFill>
                      <a:srgbClr val="00B050"/>
                    </a:solidFill>
                    <a:cs typeface="+mn-ea"/>
                    <a:sym typeface="+mn-lt"/>
                  </a:endParaRPr>
                </a:p>
                <a:p>
                  <a:r>
                    <a:rPr lang="en-US" altLang="zh-CN" sz="1400" dirty="0">
                      <a:solidFill>
                        <a:srgbClr val="C678DD"/>
                      </a:solidFill>
                      <a:cs typeface="+mn-ea"/>
                      <a:sym typeface="+mn-lt"/>
                    </a:rPr>
                    <a:t>fn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 </a:t>
                  </a:r>
                  <a:r>
                    <a:rPr lang="en-US" altLang="zh-CN" sz="1400" dirty="0">
                      <a:solidFill>
                        <a:srgbClr val="61AFEF"/>
                      </a:solidFill>
                      <a:cs typeface="+mn-ea"/>
                      <a:sym typeface="+mn-lt"/>
                    </a:rPr>
                    <a:t>main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() {</a:t>
                  </a:r>
                </a:p>
                <a:p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    </a:t>
                  </a:r>
                  <a:r>
                    <a:rPr lang="en-US" altLang="zh-CN" sz="1400" dirty="0">
                      <a:solidFill>
                        <a:srgbClr val="C678DD"/>
                      </a:solidFill>
                      <a:cs typeface="+mn-ea"/>
                      <a:sym typeface="+mn-lt"/>
                    </a:rPr>
                    <a:t>let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 </a:t>
                  </a:r>
                  <a:r>
                    <a:rPr lang="en-US" altLang="zh-CN" sz="1400" dirty="0">
                      <a:solidFill>
                        <a:srgbClr val="E06C75"/>
                      </a:solidFill>
                      <a:cs typeface="+mn-ea"/>
                      <a:sym typeface="+mn-lt"/>
                    </a:rPr>
                    <a:t>v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 </a:t>
                  </a:r>
                  <a:r>
                    <a:rPr lang="en-US" altLang="zh-CN" sz="1400" dirty="0">
                      <a:solidFill>
                        <a:srgbClr val="56B6C2"/>
                      </a:solidFill>
                      <a:cs typeface="+mn-ea"/>
                      <a:sym typeface="+mn-lt"/>
                    </a:rPr>
                    <a:t>=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 </a:t>
                  </a:r>
                  <a:r>
                    <a:rPr lang="en-US" altLang="zh-CN" sz="1400" dirty="0">
                      <a:solidFill>
                        <a:srgbClr val="61AFEF"/>
                      </a:solidFill>
                      <a:cs typeface="+mn-ea"/>
                      <a:sym typeface="+mn-lt"/>
                    </a:rPr>
                    <a:t>vec!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[</a:t>
                  </a:r>
                  <a:r>
                    <a:rPr lang="en-US" altLang="zh-CN" sz="1400" dirty="0">
                      <a:solidFill>
                        <a:srgbClr val="D19A66"/>
                      </a:solidFill>
                      <a:cs typeface="+mn-ea"/>
                      <a:sym typeface="+mn-lt"/>
                    </a:rPr>
                    <a:t>1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, </a:t>
                  </a:r>
                  <a:r>
                    <a:rPr lang="en-US" altLang="zh-CN" sz="1400" dirty="0">
                      <a:solidFill>
                        <a:srgbClr val="D19A66"/>
                      </a:solidFill>
                      <a:cs typeface="+mn-ea"/>
                      <a:sym typeface="+mn-lt"/>
                    </a:rPr>
                    <a:t>2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, </a:t>
                  </a:r>
                  <a:r>
                    <a:rPr lang="en-US" altLang="zh-CN" sz="1400" dirty="0">
                      <a:solidFill>
                        <a:srgbClr val="D19A66"/>
                      </a:solidFill>
                      <a:cs typeface="+mn-ea"/>
                      <a:sym typeface="+mn-lt"/>
                    </a:rPr>
                    <a:t>3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];</a:t>
                  </a:r>
                </a:p>
                <a:p>
                  <a:r>
                    <a:rPr lang="en-US" altLang="zh-CN" sz="1400" i="1">
                      <a:solidFill>
                        <a:srgbClr val="7F848E"/>
                      </a:solidFill>
                      <a:cs typeface="+mn-ea"/>
                      <a:sym typeface="+mn-lt"/>
                    </a:rPr>
                    <a:t>    // </a:t>
                  </a:r>
                  <a:r>
                    <a:rPr lang="zh-CN" altLang="en-US" sz="1400" i="1">
                      <a:solidFill>
                        <a:srgbClr val="7F848E"/>
                      </a:solidFill>
                      <a:cs typeface="+mn-ea"/>
                      <a:sym typeface="+mn-lt"/>
                    </a:rPr>
                    <a:t>错误：数组越界</a:t>
                  </a:r>
                  <a:br>
                    <a:rPr lang="en-US" altLang="zh-CN" sz="1400">
                      <a:solidFill>
                        <a:srgbClr val="ABB2BF"/>
                      </a:solidFill>
                      <a:cs typeface="+mn-ea"/>
                      <a:sym typeface="+mn-lt"/>
                    </a:rPr>
                  </a:br>
                  <a:r>
                    <a:rPr lang="en-US" altLang="zh-CN" sz="1400">
                      <a:solidFill>
                        <a:srgbClr val="ABB2BF"/>
                      </a:solidFill>
                      <a:cs typeface="+mn-ea"/>
                      <a:sym typeface="+mn-lt"/>
                    </a:rPr>
                    <a:t>    </a:t>
                  </a:r>
                  <a:r>
                    <a:rPr lang="en-US" altLang="zh-CN" sz="1400">
                      <a:solidFill>
                        <a:srgbClr val="E06C75"/>
                      </a:solidFill>
                      <a:cs typeface="+mn-ea"/>
                      <a:sym typeface="+mn-lt"/>
                    </a:rPr>
                    <a:t>v</a:t>
                  </a:r>
                  <a:r>
                    <a:rPr lang="en-US" altLang="zh-CN" sz="1400">
                      <a:solidFill>
                        <a:srgbClr val="ABB2BF"/>
                      </a:solidFill>
                      <a:cs typeface="+mn-ea"/>
                      <a:sym typeface="+mn-lt"/>
                    </a:rPr>
                    <a:t>[</a:t>
                  </a:r>
                  <a:r>
                    <a:rPr lang="en-US" altLang="zh-CN" sz="1400">
                      <a:solidFill>
                        <a:srgbClr val="D19A66"/>
                      </a:solidFill>
                      <a:cs typeface="+mn-ea"/>
                      <a:sym typeface="+mn-lt"/>
                    </a:rPr>
                    <a:t>99</a:t>
                  </a:r>
                  <a:r>
                    <a:rPr lang="en-US" altLang="zh-CN" sz="1400">
                      <a:solidFill>
                        <a:srgbClr val="ABB2BF"/>
                      </a:solidFill>
                      <a:cs typeface="+mn-ea"/>
                      <a:sym typeface="+mn-lt"/>
                    </a:rPr>
                    <a:t>];</a:t>
                  </a:r>
                </a:p>
                <a:p>
                  <a:r>
                    <a:rPr lang="en-US" altLang="zh-CN" sz="1400">
                      <a:solidFill>
                        <a:srgbClr val="ABB2BF"/>
                      </a:solidFill>
                      <a:cs typeface="+mn-ea"/>
                      <a:sym typeface="+mn-lt"/>
                    </a:rPr>
                    <a:t>}</a:t>
                  </a:r>
                  <a:endParaRPr lang="en-US" altLang="zh-CN" sz="1400" b="0" dirty="0">
                    <a:solidFill>
                      <a:srgbClr val="ABB2BF"/>
                    </a:solidFill>
                    <a:effectLst/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右箭头 13"/>
                <p:cNvSpPr/>
                <p:nvPr/>
              </p:nvSpPr>
              <p:spPr>
                <a:xfrm>
                  <a:off x="3915208" y="4055489"/>
                  <a:ext cx="704850" cy="563014"/>
                </a:xfrm>
                <a:prstGeom prst="rightArrow">
                  <a:avLst/>
                </a:prstGeom>
                <a:solidFill>
                  <a:schemeClr val="accent3"/>
                </a:solidFill>
                <a:ln>
                  <a:solidFill>
                    <a:srgbClr val="15151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>
                      <a:solidFill>
                        <a:schemeClr val="tx1"/>
                      </a:solidFill>
                      <a:cs typeface="+mn-ea"/>
                      <a:sym typeface="+mn-lt"/>
                    </a:rPr>
                    <a:t>运行</a:t>
                  </a:r>
                </a:p>
              </p:txBody>
            </p:sp>
          </p:grpSp>
          <p:sp>
            <p:nvSpPr>
              <p:cNvPr id="18" name="文本框 17"/>
              <p:cNvSpPr txBox="1"/>
              <p:nvPr/>
            </p:nvSpPr>
            <p:spPr>
              <a:xfrm>
                <a:off x="627563" y="3815444"/>
                <a:ext cx="2151529" cy="425053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>
                    <a:cs typeface="+mn-ea"/>
                    <a:sym typeface="+mn-lt"/>
                  </a:rPr>
                  <a:t>被动触发：</a:t>
                </a:r>
                <a:endParaRPr lang="zh-CN" altLang="en-US" sz="16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352776" y="2755336"/>
              <a:ext cx="4001061" cy="1372298"/>
              <a:chOff x="537749" y="1511752"/>
              <a:chExt cx="4001061" cy="1372298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37749" y="1929943"/>
                <a:ext cx="4001061" cy="954107"/>
                <a:chOff x="640180" y="1010011"/>
                <a:chExt cx="4001061" cy="954107"/>
              </a:xfrm>
            </p:grpSpPr>
            <p:sp>
              <p:nvSpPr>
                <p:cNvPr id="13" name="文本框 12"/>
                <p:cNvSpPr txBox="1"/>
                <p:nvPr/>
              </p:nvSpPr>
              <p:spPr>
                <a:xfrm>
                  <a:off x="640180" y="1010011"/>
                  <a:ext cx="3141245" cy="954107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horz" wrap="square" rtlCol="0">
                  <a:spAutoFit/>
                </a:bodyPr>
                <a:lstStyle/>
                <a:p>
                  <a:r>
                    <a:rPr lang="en-US" altLang="zh-CN" sz="1400">
                      <a:solidFill>
                        <a:schemeClr val="bg2"/>
                      </a:solidFill>
                      <a:cs typeface="+mn-ea"/>
                      <a:sym typeface="+mn-lt"/>
                    </a:rPr>
                    <a:t>//</a:t>
                  </a:r>
                  <a:r>
                    <a:rPr lang="en-US" altLang="zh-CN" sz="1400">
                      <a:solidFill>
                        <a:srgbClr val="C678DD"/>
                      </a:solidFill>
                      <a:cs typeface="+mn-ea"/>
                      <a:sym typeface="+mn-lt"/>
                    </a:rPr>
                    <a:t> </a:t>
                  </a:r>
                  <a:r>
                    <a:rPr lang="zh-CN" altLang="en-US" sz="1400" b="1">
                      <a:solidFill>
                        <a:srgbClr val="00B050"/>
                      </a:solidFill>
                      <a:cs typeface="+mn-ea"/>
                      <a:sym typeface="+mn-lt"/>
                    </a:rPr>
                    <a:t>代码示例</a:t>
                  </a:r>
                  <a:endParaRPr lang="en-US" altLang="zh-CN" sz="1400" b="1" dirty="0">
                    <a:solidFill>
                      <a:srgbClr val="00B050"/>
                    </a:solidFill>
                    <a:cs typeface="+mn-ea"/>
                    <a:sym typeface="+mn-lt"/>
                  </a:endParaRPr>
                </a:p>
                <a:p>
                  <a:r>
                    <a:rPr lang="en-US" altLang="zh-CN" sz="1400" dirty="0">
                      <a:solidFill>
                        <a:srgbClr val="C678DD"/>
                      </a:solidFill>
                      <a:cs typeface="+mn-ea"/>
                      <a:sym typeface="+mn-lt"/>
                    </a:rPr>
                    <a:t>fn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 </a:t>
                  </a:r>
                  <a:r>
                    <a:rPr lang="en-US" altLang="zh-CN" sz="1400" dirty="0">
                      <a:solidFill>
                        <a:srgbClr val="61AFEF"/>
                      </a:solidFill>
                      <a:cs typeface="+mn-ea"/>
                      <a:sym typeface="+mn-lt"/>
                    </a:rPr>
                    <a:t>main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() {</a:t>
                  </a:r>
                </a:p>
                <a:p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    </a:t>
                  </a:r>
                  <a:r>
                    <a:rPr lang="en-US" altLang="zh-CN" sz="1400" dirty="0">
                      <a:solidFill>
                        <a:srgbClr val="61AFEF"/>
                      </a:solidFill>
                      <a:cs typeface="+mn-ea"/>
                      <a:sym typeface="+mn-lt"/>
                    </a:rPr>
                    <a:t>panic!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(</a:t>
                  </a:r>
                  <a:r>
                    <a:rPr lang="en-US" altLang="zh-CN" sz="1400" dirty="0">
                      <a:solidFill>
                        <a:srgbClr val="98C379"/>
                      </a:solidFill>
                      <a:cs typeface="+mn-ea"/>
                      <a:sym typeface="+mn-lt"/>
                    </a:rPr>
                    <a:t>"crash and burn"</a:t>
                  </a:r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);</a:t>
                  </a:r>
                </a:p>
                <a:p>
                  <a:r>
                    <a:rPr lang="en-US" altLang="zh-CN" sz="1400" dirty="0">
                      <a:solidFill>
                        <a:srgbClr val="ABB2BF"/>
                      </a:solidFill>
                      <a:cs typeface="+mn-ea"/>
                      <a:sym typeface="+mn-lt"/>
                    </a:rPr>
                    <a:t>}</a:t>
                  </a:r>
                </a:p>
              </p:txBody>
            </p:sp>
            <p:sp>
              <p:nvSpPr>
                <p:cNvPr id="4" name="右箭头 3"/>
                <p:cNvSpPr/>
                <p:nvPr/>
              </p:nvSpPr>
              <p:spPr>
                <a:xfrm>
                  <a:off x="3915207" y="1185102"/>
                  <a:ext cx="726034" cy="603923"/>
                </a:xfrm>
                <a:prstGeom prst="rightArrow">
                  <a:avLst/>
                </a:prstGeom>
                <a:solidFill>
                  <a:schemeClr val="accent3"/>
                </a:solidFill>
                <a:ln>
                  <a:solidFill>
                    <a:srgbClr val="15151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sz="1400">
                      <a:solidFill>
                        <a:schemeClr val="tx1"/>
                      </a:solidFill>
                      <a:cs typeface="+mn-ea"/>
                      <a:sym typeface="+mn-lt"/>
                    </a:rPr>
                    <a:t>运行</a:t>
                  </a:r>
                </a:p>
              </p:txBody>
            </p:sp>
          </p:grpSp>
          <p:sp>
            <p:nvSpPr>
              <p:cNvPr id="20" name="文本框 19"/>
              <p:cNvSpPr txBox="1"/>
              <p:nvPr/>
            </p:nvSpPr>
            <p:spPr>
              <a:xfrm>
                <a:off x="537749" y="1511752"/>
                <a:ext cx="2132372" cy="425053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600">
                    <a:cs typeface="+mn-ea"/>
                    <a:sym typeface="+mn-lt"/>
                  </a:rPr>
                  <a:t>主动调用：</a:t>
                </a:r>
                <a:endParaRPr lang="zh-CN" altLang="en-US" sz="1600" dirty="0">
                  <a:cs typeface="+mn-ea"/>
                  <a:sym typeface="+mn-lt"/>
                </a:endParaRPr>
              </a:p>
            </p:txBody>
          </p:sp>
        </p:grp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7619" y="3150516"/>
              <a:ext cx="7000875" cy="1000125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7619" y="5163121"/>
              <a:ext cx="6953250" cy="981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Panic-abort vs unwind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87601" y="559240"/>
            <a:ext cx="10444805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1219200">
              <a:lnSpc>
                <a:spcPct val="150000"/>
              </a:lnSpc>
              <a:defRPr/>
            </a:pPr>
            <a:r>
              <a:rPr lang="en-US" altLang="zh-CN" sz="1600" dirty="0">
                <a:cs typeface="+mn-ea"/>
                <a:sym typeface="+mn-lt"/>
              </a:rPr>
              <a:t>Rust</a:t>
            </a:r>
            <a:r>
              <a:rPr lang="zh-CN" altLang="en-US" sz="1600" dirty="0">
                <a:cs typeface="+mn-ea"/>
                <a:sym typeface="+mn-lt"/>
              </a:rPr>
              <a:t>提供了两种方式来处理终止流程：</a:t>
            </a:r>
            <a:r>
              <a:rPr lang="zh-CN" altLang="en-US" sz="1600" b="1" dirty="0">
                <a:cs typeface="+mn-ea"/>
                <a:sym typeface="+mn-lt"/>
              </a:rPr>
              <a:t>栈展开</a:t>
            </a:r>
            <a:r>
              <a:rPr lang="zh-CN" altLang="en-US" sz="1600" dirty="0">
                <a:cs typeface="+mn-ea"/>
                <a:sym typeface="+mn-lt"/>
              </a:rPr>
              <a:t>和</a:t>
            </a:r>
            <a:r>
              <a:rPr lang="zh-CN" altLang="en-US" sz="1600" b="1" dirty="0">
                <a:cs typeface="+mn-ea"/>
                <a:sym typeface="+mn-lt"/>
              </a:rPr>
              <a:t>直接终止</a:t>
            </a:r>
            <a:r>
              <a:rPr lang="zh-CN" altLang="en-US" sz="1600" dirty="0">
                <a:cs typeface="+mn-ea"/>
                <a:sym typeface="+mn-lt"/>
              </a:rPr>
              <a:t>。</a:t>
            </a:r>
            <a:endParaRPr lang="en-US" altLang="zh-CN" sz="1600" dirty="0">
              <a:cs typeface="+mn-ea"/>
              <a:sym typeface="+mn-lt"/>
            </a:endParaRPr>
          </a:p>
          <a:p>
            <a:pPr marL="285750" lvl="0" indent="-285750" defTabSz="1219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cs typeface="+mn-ea"/>
                <a:sym typeface="+mn-lt"/>
              </a:rPr>
              <a:t>栈展开（</a:t>
            </a:r>
            <a:r>
              <a:rPr lang="en-US" altLang="zh-CN" sz="1600" dirty="0">
                <a:cs typeface="+mn-ea"/>
                <a:sym typeface="+mn-lt"/>
              </a:rPr>
              <a:t>unwind</a:t>
            </a:r>
            <a:r>
              <a:rPr lang="zh-CN" altLang="en-US" sz="1600" dirty="0">
                <a:cs typeface="+mn-ea"/>
                <a:sym typeface="+mn-lt"/>
              </a:rPr>
              <a:t>），默认处理方式，即会回溯栈上的数据和函数调用，终止出错所在的线程，程序可以处理；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lvl="0" indent="-285750" defTabSz="12192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dirty="0">
                <a:cs typeface="+mn-ea"/>
                <a:sym typeface="+mn-lt"/>
              </a:rPr>
              <a:t>直接终止（</a:t>
            </a:r>
            <a:r>
              <a:rPr lang="en-US" altLang="zh-CN" sz="1600" dirty="0">
                <a:cs typeface="+mn-ea"/>
                <a:sym typeface="+mn-lt"/>
              </a:rPr>
              <a:t>abort</a:t>
            </a:r>
            <a:r>
              <a:rPr lang="zh-CN" altLang="en-US" sz="1600" dirty="0">
                <a:cs typeface="+mn-ea"/>
                <a:sym typeface="+mn-lt"/>
              </a:rPr>
              <a:t>），当发生 </a:t>
            </a:r>
            <a:r>
              <a:rPr lang="en-US" altLang="zh-CN" sz="1600" dirty="0">
                <a:cs typeface="+mn-ea"/>
                <a:sym typeface="+mn-lt"/>
              </a:rPr>
              <a:t>panic </a:t>
            </a:r>
            <a:r>
              <a:rPr lang="zh-CN" altLang="en-US" sz="1600" dirty="0">
                <a:cs typeface="+mn-ea"/>
                <a:sym typeface="+mn-lt"/>
              </a:rPr>
              <a:t>时，程序会直接退出；</a:t>
            </a:r>
          </a:p>
          <a:p>
            <a:pPr lvl="0" indent="0" defTabSz="1219200">
              <a:lnSpc>
                <a:spcPct val="150000"/>
              </a:lnSpc>
              <a:buNone/>
              <a:defRPr/>
            </a:pPr>
            <a:endParaRPr lang="zh-CN" altLang="en-US" sz="1600" dirty="0"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043" y="3523722"/>
            <a:ext cx="5534434" cy="282694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31236" y="4819442"/>
            <a:ext cx="3443890" cy="138499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61AFEF"/>
                </a:solidFill>
                <a:cs typeface="+mn-ea"/>
                <a:sym typeface="+mn-lt"/>
              </a:rPr>
              <a:t>vec!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2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 dirty="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400" dirty="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   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错误：数组越界</a:t>
            </a:r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99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];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右箭头 2"/>
          <p:cNvSpPr/>
          <p:nvPr/>
        </p:nvSpPr>
        <p:spPr>
          <a:xfrm>
            <a:off x="4594148" y="5269623"/>
            <a:ext cx="320040" cy="484632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47471" y="3404274"/>
            <a:ext cx="4459400" cy="736597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defTabSz="1219200">
              <a:lnSpc>
                <a:spcPct val="150000"/>
              </a:lnSpc>
              <a:defRPr/>
            </a:pPr>
            <a:r>
              <a:rPr lang="zh-CN" altLang="en-US" sz="1400">
                <a:cs typeface="+mn-ea"/>
                <a:sym typeface="+mn-lt"/>
              </a:rPr>
              <a:t>栈展开的方式可以设置 </a:t>
            </a:r>
            <a:r>
              <a:rPr lang="en-US" altLang="zh-CN" sz="1400">
                <a:cs typeface="+mn-ea"/>
                <a:sym typeface="+mn-lt"/>
              </a:rPr>
              <a:t>RUST_BACKTRACE </a:t>
            </a:r>
            <a:r>
              <a:rPr lang="zh-CN" altLang="en-US" sz="1400">
                <a:cs typeface="+mn-ea"/>
                <a:sym typeface="+mn-lt"/>
              </a:rPr>
              <a:t>环境变量来得到一个 </a:t>
            </a:r>
            <a:r>
              <a:rPr lang="en-US" altLang="zh-CN" sz="1400">
                <a:cs typeface="+mn-ea"/>
                <a:sym typeface="+mn-lt"/>
              </a:rPr>
              <a:t>backtrace</a:t>
            </a:r>
            <a:r>
              <a:rPr lang="zh-CN" altLang="en-US" sz="1400">
                <a:cs typeface="+mn-ea"/>
                <a:sym typeface="+mn-lt"/>
              </a:rPr>
              <a:t>。</a:t>
            </a:r>
            <a:r>
              <a:rPr lang="en-US" altLang="zh-CN" sz="1400">
                <a:cs typeface="+mn-ea"/>
                <a:sym typeface="+mn-lt"/>
              </a:rPr>
              <a:t>backtrace </a:t>
            </a:r>
            <a:r>
              <a:rPr lang="zh-CN" altLang="en-US" sz="1400">
                <a:cs typeface="+mn-ea"/>
                <a:sym typeface="+mn-lt"/>
              </a:rPr>
              <a:t>是一个执行到目前位置所有被调用的函数的列表。详细的调用栈可以方便开发者快速定位问题。</a:t>
            </a:r>
            <a:endParaRPr lang="zh-CN" altLang="en-US" sz="1400" dirty="0"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2077916859"/>
              </p:ext>
            </p:extLst>
          </p:nvPr>
        </p:nvGraphicFramePr>
        <p:xfrm>
          <a:off x="1702137" y="1722045"/>
          <a:ext cx="8540750" cy="15703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7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6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区别项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0CEC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unwind</a:t>
                      </a:r>
                      <a:endParaRPr lang="zh-CN" altLang="en-US" sz="1400" b="1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0CEC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+mn-lt"/>
                          <a:ea typeface="+mn-ea"/>
                          <a:cs typeface="+mn-ea"/>
                          <a:sym typeface="+mn-lt"/>
                        </a:rPr>
                        <a:t>abort</a:t>
                      </a:r>
                      <a:endParaRPr lang="zh-CN" altLang="en-US" sz="1400" b="1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D0CEC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二进制大小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7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较大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较小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调试栈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7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提供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不提供（同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C/C++</a:t>
                      </a: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获取方式）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析构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7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调用析构函数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不调用析构函数</a:t>
                      </a: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catch_panic</a:t>
                      </a:r>
                      <a:endParaRPr lang="zh-CN" altLang="en-US" sz="140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E7E6E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可以捕获</a:t>
                      </a:r>
                      <a:r>
                        <a:rPr lang="en-US" altLang="zh-CN" sz="1400">
                          <a:latin typeface="+mn-lt"/>
                          <a:ea typeface="+mn-ea"/>
                          <a:cs typeface="+mn-ea"/>
                          <a:sym typeface="+mn-lt"/>
                        </a:rPr>
                        <a:t>panic</a:t>
                      </a:r>
                      <a:endParaRPr lang="zh-CN" altLang="en-US" sz="140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不可以捕获</a:t>
                      </a:r>
                      <a:r>
                        <a:rPr lang="en-US" altLang="zh-CN" sz="14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panic</a:t>
                      </a:r>
                      <a:endParaRPr lang="zh-CN" altLang="en-US" sz="14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Panic-abort vs unwind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43858" y="3082600"/>
            <a:ext cx="4016847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设置示例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[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profile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.release]</a:t>
            </a:r>
          </a:p>
          <a:p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panic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'abort'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3858" y="2074676"/>
            <a:ext cx="4174447" cy="7932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如果需要在</a:t>
            </a:r>
            <a:r>
              <a:rPr lang="en-US" altLang="zh-CN" sz="1600">
                <a:cs typeface="+mn-ea"/>
                <a:sym typeface="+mn-lt"/>
              </a:rPr>
              <a:t>release</a:t>
            </a:r>
            <a:r>
              <a:rPr lang="zh-CN" altLang="en-US" sz="1600">
                <a:cs typeface="+mn-ea"/>
                <a:sym typeface="+mn-lt"/>
              </a:rPr>
              <a:t>模式中使用直接终止模式，那么在项目的</a:t>
            </a:r>
            <a:r>
              <a:rPr lang="en-US" altLang="zh-CN" sz="1600">
                <a:cs typeface="+mn-ea"/>
                <a:sym typeface="+mn-lt"/>
              </a:rPr>
              <a:t>Cargo.toml</a:t>
            </a:r>
            <a:r>
              <a:rPr lang="zh-CN" altLang="en-US" sz="1600">
                <a:cs typeface="+mn-ea"/>
                <a:sym typeface="+mn-lt"/>
              </a:rPr>
              <a:t>中设置以下参数：</a:t>
            </a: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9126" y="547471"/>
            <a:ext cx="10740386" cy="82618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600" b="0" u="none">
                <a:solidFill>
                  <a:srgbClr val="1D1D1A"/>
                </a:solidFill>
                <a:cs typeface="+mn-ea"/>
                <a:sym typeface="+mn-lt"/>
              </a:rPr>
              <a:t>选择直接终止模式会不清理数据就退出程序，程序所使用的内存需要由操作系统来清理；选择栈展开的方式会调用析构函数，由程序释放占用的资源</a:t>
            </a:r>
            <a:r>
              <a:rPr lang="zh-CN" altLang="en-US" sz="1600">
                <a:cs typeface="+mn-ea"/>
                <a:sym typeface="+mn-lt"/>
              </a:rPr>
              <a:t>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086503" y="1483149"/>
            <a:ext cx="5683745" cy="4758020"/>
            <a:chOff x="5086503" y="1739181"/>
            <a:chExt cx="5683745" cy="4758020"/>
          </a:xfrm>
        </p:grpSpPr>
        <p:sp>
          <p:nvSpPr>
            <p:cNvPr id="13" name="文本框 12"/>
            <p:cNvSpPr txBox="1"/>
            <p:nvPr/>
          </p:nvSpPr>
          <p:spPr>
            <a:xfrm>
              <a:off x="5086503" y="1739181"/>
              <a:ext cx="5673791" cy="138360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rtlCol="0">
              <a:noAutofit/>
            </a:bodyPr>
            <a:lstStyle/>
            <a:p>
              <a:r>
                <a:rPr lang="en-US" altLang="zh-CN" sz="1400">
                  <a:solidFill>
                    <a:schemeClr val="bg2"/>
                  </a:solidFill>
                  <a:cs typeface="+mn-ea"/>
                  <a:sym typeface="+mn-lt"/>
                </a:rPr>
                <a:t>//</a:t>
              </a:r>
              <a:r>
                <a:rPr lang="en-US" altLang="zh-CN" sz="1400">
                  <a:solidFill>
                    <a:srgbClr val="C678DD"/>
                  </a:solidFill>
                  <a:cs typeface="+mn-ea"/>
                  <a:sym typeface="+mn-lt"/>
                </a:rPr>
                <a:t> </a:t>
              </a:r>
              <a:r>
                <a:rPr lang="zh-CN" altLang="en-US" sz="1400" b="1">
                  <a:solidFill>
                    <a:srgbClr val="00B050"/>
                  </a:solidFill>
                  <a:cs typeface="+mn-ea"/>
                  <a:sym typeface="+mn-lt"/>
                </a:rPr>
                <a:t>代码示例</a:t>
              </a:r>
              <a:endParaRPr lang="en-US" altLang="zh-CN" sz="1400" b="1" dirty="0">
                <a:solidFill>
                  <a:srgbClr val="00B050"/>
                </a:solidFill>
                <a:cs typeface="+mn-ea"/>
                <a:sym typeface="+mn-lt"/>
              </a:endParaRPr>
            </a:p>
            <a:p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fn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61AFEF"/>
                  </a:solidFill>
                  <a:cs typeface="+mn-ea"/>
                  <a:sym typeface="+mn-lt"/>
                </a:rPr>
                <a:t>main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() {</a:t>
              </a: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 dirty="0">
                  <a:solidFill>
                    <a:srgbClr val="C678DD"/>
                  </a:solidFill>
                  <a:cs typeface="+mn-ea"/>
                  <a:sym typeface="+mn-lt"/>
                </a:rPr>
                <a:t>let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E06C75"/>
                  </a:solidFill>
                  <a:cs typeface="+mn-ea"/>
                  <a:sym typeface="+mn-lt"/>
                </a:rPr>
                <a:t>v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56B6C2"/>
                  </a:solidFill>
                  <a:cs typeface="+mn-ea"/>
                  <a:sym typeface="+mn-lt"/>
                </a:rPr>
                <a:t>=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 </a:t>
              </a:r>
              <a:r>
                <a:rPr lang="en-US" altLang="zh-CN" sz="1400" dirty="0">
                  <a:solidFill>
                    <a:srgbClr val="61AFEF"/>
                  </a:solidFill>
                  <a:cs typeface="+mn-ea"/>
                  <a:sym typeface="+mn-lt"/>
                </a:rPr>
                <a:t>vec!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[</a:t>
              </a:r>
              <a:r>
                <a:rPr lang="en-US" altLang="zh-CN" sz="1400" dirty="0">
                  <a:solidFill>
                    <a:srgbClr val="D19A66"/>
                  </a:solidFill>
                  <a:cs typeface="+mn-ea"/>
                  <a:sym typeface="+mn-lt"/>
                </a:rPr>
                <a:t>1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 dirty="0">
                  <a:solidFill>
                    <a:srgbClr val="D19A66"/>
                  </a:solidFill>
                  <a:cs typeface="+mn-ea"/>
                  <a:sym typeface="+mn-lt"/>
                </a:rPr>
                <a:t>2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, </a:t>
              </a:r>
              <a:r>
                <a:rPr lang="en-US" altLang="zh-CN" sz="1400">
                  <a:solidFill>
                    <a:srgbClr val="D19A66"/>
                  </a:solidFill>
                  <a:cs typeface="+mn-ea"/>
                  <a:sym typeface="+mn-lt"/>
                </a:rPr>
                <a:t>3</a:t>
              </a:r>
              <a:r>
                <a:rPr lang="en-US" altLang="zh-CN" sz="1400">
                  <a:solidFill>
                    <a:srgbClr val="ABB2BF"/>
                  </a:solidFill>
                  <a:cs typeface="+mn-ea"/>
                  <a:sym typeface="+mn-lt"/>
                </a:rPr>
                <a:t>];</a:t>
              </a:r>
            </a:p>
            <a:p>
              <a:r>
                <a:rPr lang="en-US" altLang="zh-CN" sz="1400" i="1">
                  <a:solidFill>
                    <a:srgbClr val="7F848E"/>
                  </a:solidFill>
                  <a:cs typeface="+mn-ea"/>
                  <a:sym typeface="+mn-lt"/>
                </a:rPr>
                <a:t>    // </a:t>
              </a:r>
              <a:r>
                <a:rPr lang="zh-CN" altLang="en-US" sz="1400" i="1">
                  <a:solidFill>
                    <a:srgbClr val="7F848E"/>
                  </a:solidFill>
                  <a:cs typeface="+mn-ea"/>
                  <a:sym typeface="+mn-lt"/>
                </a:rPr>
                <a:t>错误：数组越界</a:t>
              </a:r>
              <a:endParaRPr lang="en-US" altLang="zh-CN" sz="1400" dirty="0">
                <a:solidFill>
                  <a:srgbClr val="ABB2BF"/>
                </a:solidFill>
                <a:cs typeface="+mn-ea"/>
                <a:sym typeface="+mn-lt"/>
              </a:endParaRP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    </a:t>
              </a:r>
              <a:r>
                <a:rPr lang="en-US" altLang="zh-CN" sz="1400" dirty="0">
                  <a:solidFill>
                    <a:srgbClr val="E06C75"/>
                  </a:solidFill>
                  <a:cs typeface="+mn-ea"/>
                  <a:sym typeface="+mn-lt"/>
                </a:rPr>
                <a:t>v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[</a:t>
              </a:r>
              <a:r>
                <a:rPr lang="en-US" altLang="zh-CN" sz="1400" dirty="0">
                  <a:solidFill>
                    <a:srgbClr val="D19A66"/>
                  </a:solidFill>
                  <a:cs typeface="+mn-ea"/>
                  <a:sym typeface="+mn-lt"/>
                </a:rPr>
                <a:t>99</a:t>
              </a:r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];</a:t>
              </a:r>
            </a:p>
            <a:p>
              <a:r>
                <a:rPr lang="en-US" altLang="zh-CN" sz="1400" dirty="0">
                  <a:solidFill>
                    <a:srgbClr val="ABB2BF"/>
                  </a:solidFill>
                  <a:cs typeface="+mn-ea"/>
                  <a:sym typeface="+mn-lt"/>
                </a:rPr>
                <a:t>}</a:t>
              </a:r>
              <a:endParaRPr lang="en-US" altLang="zh-CN" sz="1400" b="0" dirty="0">
                <a:solidFill>
                  <a:srgbClr val="ABB2BF"/>
                </a:solidFill>
                <a:effectLst/>
                <a:cs typeface="+mn-ea"/>
                <a:sym typeface="+mn-lt"/>
              </a:endParaRPr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3"/>
            <a:srcRect t="13772"/>
            <a:stretch>
              <a:fillRect/>
            </a:stretch>
          </p:blipFill>
          <p:spPr>
            <a:xfrm>
              <a:off x="5134757" y="3520725"/>
              <a:ext cx="5631545" cy="817272"/>
            </a:xfrm>
            <a:prstGeom prst="rect">
              <a:avLst/>
            </a:prstGeom>
          </p:spPr>
        </p:pic>
        <p:sp>
          <p:nvSpPr>
            <p:cNvPr id="12" name="下箭头 11"/>
            <p:cNvSpPr/>
            <p:nvPr/>
          </p:nvSpPr>
          <p:spPr>
            <a:xfrm>
              <a:off x="7490209" y="4407409"/>
              <a:ext cx="920643" cy="225362"/>
            </a:xfrm>
            <a:prstGeom prst="downArrow">
              <a:avLst/>
            </a:prstGeom>
            <a:solidFill>
              <a:schemeClr val="accent3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5906" y="4705478"/>
              <a:ext cx="5554342" cy="1791723"/>
            </a:xfrm>
            <a:prstGeom prst="rect">
              <a:avLst/>
            </a:prstGeom>
          </p:spPr>
        </p:pic>
        <p:sp>
          <p:nvSpPr>
            <p:cNvPr id="19" name="下箭头 18"/>
            <p:cNvSpPr/>
            <p:nvPr/>
          </p:nvSpPr>
          <p:spPr>
            <a:xfrm>
              <a:off x="7490207" y="3225951"/>
              <a:ext cx="920643" cy="225362"/>
            </a:xfrm>
            <a:prstGeom prst="downArrow">
              <a:avLst/>
            </a:prstGeom>
            <a:solidFill>
              <a:schemeClr val="accent3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Panic-panic safety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199080" y="557425"/>
            <a:ext cx="11168408" cy="132388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 defTabSz="1219200">
              <a:lnSpc>
                <a:spcPct val="150000"/>
              </a:lnSpc>
              <a:defRPr/>
            </a:pPr>
            <a:r>
              <a:rPr lang="zh-CN" altLang="en-US" sz="1400">
                <a:cs typeface="+mn-ea"/>
                <a:sym typeface="+mn-lt"/>
              </a:rPr>
              <a:t>如果函数发生了</a:t>
            </a:r>
            <a:r>
              <a:rPr lang="en-US" altLang="zh-CN" sz="1400">
                <a:cs typeface="+mn-ea"/>
                <a:sym typeface="+mn-lt"/>
              </a:rPr>
              <a:t>panic</a:t>
            </a:r>
            <a:r>
              <a:rPr lang="zh-CN" altLang="en-US" sz="1400">
                <a:cs typeface="+mn-ea"/>
                <a:sym typeface="+mn-lt"/>
              </a:rPr>
              <a:t>或者调用了传递</a:t>
            </a:r>
            <a:r>
              <a:rPr lang="en-US" altLang="zh-CN" sz="1400">
                <a:cs typeface="+mn-ea"/>
                <a:sym typeface="+mn-lt"/>
              </a:rPr>
              <a:t>panic</a:t>
            </a:r>
            <a:r>
              <a:rPr lang="zh-CN" altLang="en-US" sz="1400">
                <a:cs typeface="+mn-ea"/>
                <a:sym typeface="+mn-lt"/>
              </a:rPr>
              <a:t>的函数，意味着发生了</a:t>
            </a:r>
            <a:r>
              <a:rPr lang="en-US" altLang="zh-CN" sz="1400">
                <a:cs typeface="+mn-ea"/>
                <a:sym typeface="+mn-lt"/>
              </a:rPr>
              <a:t>"</a:t>
            </a:r>
            <a:r>
              <a:rPr lang="zh-CN" altLang="en-US" sz="1400">
                <a:cs typeface="+mn-ea"/>
                <a:sym typeface="+mn-lt"/>
              </a:rPr>
              <a:t>提前返回</a:t>
            </a:r>
            <a:r>
              <a:rPr lang="en-US" altLang="zh-CN" sz="1400">
                <a:cs typeface="+mn-ea"/>
                <a:sym typeface="+mn-lt"/>
              </a:rPr>
              <a:t>"</a:t>
            </a:r>
            <a:r>
              <a:rPr lang="zh-CN" altLang="en-US" sz="1400">
                <a:cs typeface="+mn-ea"/>
                <a:sym typeface="+mn-lt"/>
              </a:rPr>
              <a:t>。这种情况有可能是意外的，如果配合其他的情况甚至会导致微妙的错误。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unwind 安全性的一个关键方面是，在没有</a:t>
            </a:r>
            <a:r>
              <a:rPr lang="zh-CN" altLang="en-US" sz="1400" b="0" u="none">
                <a:solidFill>
                  <a:srgbClr val="000000"/>
                </a:solidFill>
                <a:cs typeface="+mn-ea"/>
                <a:sym typeface="+mn-lt"/>
              </a:rPr>
              <a:t>使用</a:t>
            </a:r>
            <a:r>
              <a:rPr lang="en-US" sz="1400" b="0" u="none">
                <a:solidFill>
                  <a:srgbClr val="000000"/>
                </a:solidFill>
                <a:cs typeface="+mn-ea"/>
                <a:sym typeface="+mn-lt"/>
              </a:rPr>
              <a:t> unsafe </a:t>
            </a:r>
            <a:r>
              <a:rPr lang="zh-CN" sz="1400" b="0" u="none">
                <a:solidFill>
                  <a:srgbClr val="000000"/>
                </a:solidFill>
                <a:cs typeface="+mn-ea"/>
                <a:sym typeface="+mn-lt"/>
              </a:rPr>
              <a:t>代码的情况下，panic 不会导致内存不安全。</a:t>
            </a:r>
            <a:endParaRPr lang="zh-CN" sz="1400" b="1" u="none">
              <a:solidFill>
                <a:srgbClr val="1F2328"/>
              </a:solidFill>
              <a:cs typeface="+mn-ea"/>
              <a:sym typeface="+mn-lt"/>
            </a:endParaRPr>
          </a:p>
          <a:p>
            <a:pPr lvl="0" defTabSz="1219200">
              <a:lnSpc>
                <a:spcPct val="150000"/>
              </a:lnSpc>
              <a:defRPr/>
            </a:pPr>
            <a:r>
              <a:rPr lang="zh-CN" altLang="en-US" sz="1200" i="1" dirty="0">
                <a:cs typeface="+mn-ea"/>
                <a:sym typeface="+mn-lt"/>
              </a:rPr>
              <a:t>注：目前为止接触的代码在</a:t>
            </a:r>
            <a:r>
              <a:rPr lang="en-US" altLang="zh-CN" sz="1200" i="1" dirty="0">
                <a:cs typeface="+mn-ea"/>
                <a:sym typeface="+mn-lt"/>
              </a:rPr>
              <a:t>Rust</a:t>
            </a:r>
            <a:r>
              <a:rPr lang="zh-CN" altLang="en-US" sz="1200" i="1" dirty="0">
                <a:cs typeface="+mn-ea"/>
                <a:sym typeface="+mn-lt"/>
              </a:rPr>
              <a:t>编译时会强制执行内存安全保证。</a:t>
            </a:r>
            <a:r>
              <a:rPr lang="en-US" altLang="zh-CN" sz="1200" i="1" dirty="0">
                <a:cs typeface="+mn-ea"/>
                <a:sym typeface="+mn-lt"/>
              </a:rPr>
              <a:t>Rust </a:t>
            </a:r>
            <a:r>
              <a:rPr lang="zh-CN" altLang="en-US" sz="1200" i="1" dirty="0">
                <a:cs typeface="+mn-ea"/>
                <a:sym typeface="+mn-lt"/>
              </a:rPr>
              <a:t>还有第二种模式，不会强制执行内存安全保证，称为</a:t>
            </a:r>
            <a:r>
              <a:rPr lang="en-US" altLang="zh-CN" sz="1200" i="1" dirty="0">
                <a:cs typeface="+mn-ea"/>
                <a:sym typeface="+mn-lt"/>
              </a:rPr>
              <a:t>unsafe Rust</a:t>
            </a:r>
            <a:r>
              <a:rPr lang="zh-CN" altLang="en-US" sz="1200" i="1" dirty="0">
                <a:cs typeface="+mn-ea"/>
                <a:sym typeface="+mn-lt"/>
              </a:rPr>
              <a:t>，后面课程会有详细介绍。参考链接：</a:t>
            </a:r>
            <a:r>
              <a:rPr lang="en-US" altLang="zh-CN" sz="1200" i="1" dirty="0">
                <a:cs typeface="+mn-ea"/>
                <a:sym typeface="+mn-lt"/>
              </a:rPr>
              <a:t>https://doc.rust</a:t>
            </a:r>
            <a:r>
              <a:rPr lang="zh-CN" altLang="en-US" sz="1200" i="1" dirty="0">
                <a:cs typeface="+mn-ea"/>
                <a:sym typeface="+mn-lt"/>
              </a:rPr>
              <a:t>-</a:t>
            </a:r>
            <a:r>
              <a:rPr lang="en-US" altLang="zh-CN" sz="1200" i="1" dirty="0">
                <a:cs typeface="+mn-ea"/>
                <a:sym typeface="+mn-lt"/>
              </a:rPr>
              <a:t>lang.org/std/panic/trait.UnwindSafe.html</a:t>
            </a:r>
            <a:r>
              <a:rPr lang="zh-CN" altLang="en-US" sz="1200" i="1" dirty="0">
                <a:cs typeface="+mn-ea"/>
                <a:sym typeface="+mn-lt"/>
              </a:rPr>
              <a:t>#</a:t>
            </a:r>
            <a:r>
              <a:rPr lang="en-US" altLang="zh-CN" sz="1200" i="1" dirty="0">
                <a:cs typeface="+mn-ea"/>
                <a:sym typeface="+mn-lt"/>
              </a:rPr>
              <a:t>what</a:t>
            </a:r>
            <a:r>
              <a:rPr lang="zh-CN" altLang="en-US" sz="1200" i="1" dirty="0">
                <a:cs typeface="+mn-ea"/>
                <a:sym typeface="+mn-lt"/>
              </a:rPr>
              <a:t>-</a:t>
            </a:r>
            <a:r>
              <a:rPr lang="en-US" altLang="zh-CN" sz="1200" i="1" dirty="0">
                <a:cs typeface="+mn-ea"/>
                <a:sym typeface="+mn-lt"/>
              </a:rPr>
              <a:t>is</a:t>
            </a:r>
            <a:r>
              <a:rPr lang="zh-CN" altLang="en-US" sz="1200" i="1" dirty="0">
                <a:cs typeface="+mn-ea"/>
                <a:sym typeface="+mn-lt"/>
              </a:rPr>
              <a:t>-</a:t>
            </a:r>
            <a:r>
              <a:rPr lang="en-US" altLang="zh-CN" sz="1200" i="1" dirty="0">
                <a:cs typeface="+mn-ea"/>
                <a:sym typeface="+mn-lt"/>
              </a:rPr>
              <a:t>unwind</a:t>
            </a:r>
            <a:r>
              <a:rPr lang="zh-CN" altLang="en-US" sz="1200" i="1" dirty="0">
                <a:cs typeface="+mn-ea"/>
                <a:sym typeface="+mn-lt"/>
              </a:rPr>
              <a:t>-</a:t>
            </a:r>
            <a:r>
              <a:rPr lang="en-US" altLang="zh-CN" sz="1200" i="1" dirty="0">
                <a:cs typeface="+mn-ea"/>
                <a:sym typeface="+mn-lt"/>
              </a:rPr>
              <a:t>safety</a:t>
            </a:r>
            <a:endParaRPr lang="zh-CN" altLang="en-US" sz="1200" i="1" dirty="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8850" y="2916527"/>
            <a:ext cx="6918043" cy="23093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::panic;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panic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catch_unwind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"hello!"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 });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is_ok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捕获闭包内的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panic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，程序不会立即退出，会继续运行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panic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catch_unwind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panic!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"oh no!"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 });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检查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catch_unwind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函数的返回值。由于在闭包中产生了一个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panic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，所以返回值为 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Err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is_err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"the end"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318" y="3598378"/>
            <a:ext cx="3633217" cy="856046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7316358" y="3707872"/>
            <a:ext cx="199080" cy="627103"/>
          </a:xfrm>
          <a:prstGeom prst="right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50" y="2090343"/>
            <a:ext cx="10710524" cy="73659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>
                <a:cs typeface="+mn-ea"/>
                <a:sym typeface="+mn-lt"/>
              </a:rPr>
              <a:t>catch_unwind</a:t>
            </a:r>
            <a:r>
              <a:rPr lang="zh-CN" altLang="en-US" sz="1400">
                <a:cs typeface="+mn-ea"/>
                <a:sym typeface="+mn-lt"/>
              </a:rPr>
              <a:t>：可以用来</a:t>
            </a:r>
            <a:r>
              <a:rPr lang="zh-CN" sz="1400" b="0" u="none">
                <a:solidFill>
                  <a:srgbClr val="1D1D1A"/>
                </a:solidFill>
                <a:cs typeface="+mn-ea"/>
                <a:sym typeface="+mn-lt"/>
              </a:rPr>
              <a:t>捕获 </a:t>
            </a:r>
            <a:r>
              <a:rPr lang="en-US" sz="1400" b="0" u="none">
                <a:solidFill>
                  <a:srgbClr val="1D1D1A"/>
                </a:solidFill>
                <a:cs typeface="+mn-ea"/>
                <a:sym typeface="+mn-lt"/>
              </a:rPr>
              <a:t>unwind </a:t>
            </a:r>
            <a:r>
              <a:rPr lang="zh-CN" sz="1400" b="0" u="none">
                <a:solidFill>
                  <a:srgbClr val="1D1D1A"/>
                </a:solidFill>
                <a:cs typeface="+mn-ea"/>
                <a:sym typeface="+mn-lt"/>
              </a:rPr>
              <a:t>方式</a:t>
            </a:r>
            <a:r>
              <a:rPr lang="zh-CN" altLang="en-US" sz="1400" b="0" u="none">
                <a:solidFill>
                  <a:srgbClr val="1D1D1A"/>
                </a:solidFill>
                <a:cs typeface="+mn-ea"/>
                <a:sym typeface="+mn-lt"/>
              </a:rPr>
              <a:t>下的</a:t>
            </a:r>
            <a:r>
              <a:rPr lang="zh-CN" altLang="en-US" sz="1400">
                <a:cs typeface="+mn-ea"/>
                <a:sym typeface="+mn-lt"/>
              </a:rPr>
              <a:t> </a:t>
            </a:r>
            <a:r>
              <a:rPr lang="en-US" altLang="zh-CN" sz="1400">
                <a:cs typeface="+mn-ea"/>
                <a:sym typeface="+mn-lt"/>
              </a:rPr>
              <a:t>panic</a:t>
            </a:r>
            <a:r>
              <a:rPr lang="zh-CN" altLang="en-US" sz="1400">
                <a:cs typeface="+mn-ea"/>
                <a:sym typeface="+mn-lt"/>
              </a:rPr>
              <a:t>。它接受一个闭包作为参数，并在该闭包中执行代码。如果闭包中的代码产生了 </a:t>
            </a:r>
            <a:r>
              <a:rPr lang="en-US" altLang="zh-CN" sz="1400">
                <a:cs typeface="+mn-ea"/>
                <a:sym typeface="+mn-lt"/>
              </a:rPr>
              <a:t>panic</a:t>
            </a:r>
            <a:r>
              <a:rPr lang="zh-CN" altLang="en-US" sz="1400">
                <a:cs typeface="+mn-ea"/>
                <a:sym typeface="+mn-lt"/>
              </a:rPr>
              <a:t>，该函数会捕获它，并返回一个 </a:t>
            </a:r>
            <a:r>
              <a:rPr lang="en-US" altLang="zh-CN" sz="1400">
                <a:cs typeface="+mn-ea"/>
                <a:sym typeface="+mn-lt"/>
              </a:rPr>
              <a:t>Err</a:t>
            </a:r>
            <a:r>
              <a:rPr lang="zh-CN" altLang="en-US" sz="1400">
                <a:cs typeface="+mn-ea"/>
                <a:sym typeface="+mn-lt"/>
              </a:rPr>
              <a:t> 值。否则，它会返回一个 </a:t>
            </a:r>
            <a:r>
              <a:rPr lang="en-US" altLang="zh-CN" sz="1400">
                <a:cs typeface="+mn-ea"/>
                <a:sym typeface="+mn-lt"/>
              </a:rPr>
              <a:t>Ok</a:t>
            </a:r>
            <a:r>
              <a:rPr lang="zh-CN" altLang="en-US" sz="1400">
                <a:cs typeface="+mn-ea"/>
                <a:sym typeface="+mn-lt"/>
              </a:rPr>
              <a:t> 值，其中包含闭包的返回值；</a:t>
            </a:r>
            <a:endParaRPr lang="en-US" altLang="zh-CN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7555" y="625457"/>
            <a:ext cx="11002694" cy="156845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cs typeface="+mn-ea"/>
                <a:sym typeface="+mn-lt"/>
              </a:rPr>
              <a:t>UnwindSafe</a:t>
            </a:r>
            <a:r>
              <a:rPr lang="zh-CN" altLang="en-US" sz="1600" dirty="0">
                <a:cs typeface="+mn-ea"/>
                <a:sym typeface="+mn-lt"/>
              </a:rPr>
              <a:t>：是一个 </a:t>
            </a:r>
            <a:r>
              <a:rPr lang="en-US" altLang="zh-CN" sz="1600" dirty="0">
                <a:cs typeface="+mn-ea"/>
                <a:sym typeface="+mn-lt"/>
              </a:rPr>
              <a:t>trait</a:t>
            </a:r>
            <a:r>
              <a:rPr lang="zh-CN" altLang="en-US" sz="1600" dirty="0">
                <a:cs typeface="+mn-ea"/>
                <a:sym typeface="+mn-lt"/>
              </a:rPr>
              <a:t>，用于标记在发生 </a:t>
            </a:r>
            <a:r>
              <a:rPr lang="en-US" altLang="zh-CN" sz="1600" dirty="0">
                <a:cs typeface="+mn-ea"/>
                <a:sym typeface="+mn-lt"/>
              </a:rPr>
              <a:t>panic </a:t>
            </a:r>
            <a:r>
              <a:rPr lang="zh-CN" altLang="en-US" sz="1600" dirty="0">
                <a:cs typeface="+mn-ea"/>
                <a:sym typeface="+mn-lt"/>
              </a:rPr>
              <a:t>时仍然安全的类型；当使用 </a:t>
            </a:r>
            <a:r>
              <a:rPr lang="en-US" altLang="zh-CN" sz="1600" dirty="0" err="1">
                <a:cs typeface="+mn-ea"/>
                <a:sym typeface="+mn-lt"/>
              </a:rPr>
              <a:t>catch_unwind</a:t>
            </a:r>
            <a:r>
              <a:rPr lang="en-US" altLang="zh-CN" sz="1600" dirty="0">
                <a:cs typeface="+mn-ea"/>
                <a:sym typeface="+mn-lt"/>
              </a:rPr>
              <a:t> </a:t>
            </a:r>
            <a:r>
              <a:rPr lang="zh-CN" altLang="en-US" sz="1600" dirty="0">
                <a:cs typeface="+mn-ea"/>
                <a:sym typeface="+mn-lt"/>
              </a:rPr>
              <a:t>函数来捕获 </a:t>
            </a:r>
            <a:r>
              <a:rPr lang="en-US" altLang="zh-CN" sz="1600" dirty="0">
                <a:cs typeface="+mn-ea"/>
                <a:sym typeface="+mn-lt"/>
              </a:rPr>
              <a:t>panic </a:t>
            </a:r>
            <a:r>
              <a:rPr lang="zh-CN" altLang="en-US" sz="1600" dirty="0">
                <a:cs typeface="+mn-ea"/>
                <a:sym typeface="+mn-lt"/>
              </a:rPr>
              <a:t>时，它要求传递给它的闭包必须是 </a:t>
            </a:r>
            <a:r>
              <a:rPr lang="en-US" altLang="zh-CN" sz="1600" dirty="0" err="1">
                <a:cs typeface="+mn-ea"/>
                <a:sym typeface="+mn-lt"/>
              </a:rPr>
              <a:t>UnwindSafe</a:t>
            </a:r>
            <a:r>
              <a:rPr lang="en-US" altLang="zh-CN" sz="1600" dirty="0">
                <a:cs typeface="+mn-ea"/>
                <a:sym typeface="+mn-lt"/>
              </a:rPr>
              <a:t> </a:t>
            </a:r>
            <a:r>
              <a:rPr lang="zh-CN" altLang="en-US" sz="1600" dirty="0">
                <a:cs typeface="+mn-ea"/>
                <a:sym typeface="+mn-lt"/>
              </a:rPr>
              <a:t>的；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cs typeface="+mn-ea"/>
                <a:sym typeface="+mn-lt"/>
              </a:rPr>
              <a:t>AssertUnwindSafe</a:t>
            </a:r>
            <a:r>
              <a:rPr lang="zh-CN" altLang="en-US" sz="1600" dirty="0">
                <a:cs typeface="+mn-ea"/>
                <a:sym typeface="+mn-lt"/>
              </a:rPr>
              <a:t>：是一个包装器类型，用于将不安全的类型强制转换为 </a:t>
            </a:r>
            <a:r>
              <a:rPr lang="en-US" altLang="zh-CN" sz="1600" dirty="0" err="1">
                <a:cs typeface="+mn-ea"/>
                <a:sym typeface="+mn-lt"/>
              </a:rPr>
              <a:t>UnwindSafe</a:t>
            </a:r>
            <a:r>
              <a:rPr lang="en-US" altLang="zh-CN" sz="1600" dirty="0">
                <a:cs typeface="+mn-ea"/>
                <a:sym typeface="+mn-lt"/>
              </a:rPr>
              <a:t> </a:t>
            </a:r>
            <a:r>
              <a:rPr lang="zh-CN" altLang="en-US" sz="1600" dirty="0">
                <a:cs typeface="+mn-ea"/>
                <a:sym typeface="+mn-lt"/>
              </a:rPr>
              <a:t>类型；如果确定某个类型是安全的，但它没有实现 </a:t>
            </a:r>
            <a:r>
              <a:rPr lang="en-US" altLang="zh-CN" sz="1600" dirty="0" err="1">
                <a:cs typeface="+mn-ea"/>
                <a:sym typeface="+mn-lt"/>
              </a:rPr>
              <a:t>UnwindSafe</a:t>
            </a:r>
            <a:r>
              <a:rPr lang="en-US" altLang="zh-CN" sz="1600" dirty="0">
                <a:cs typeface="+mn-ea"/>
                <a:sym typeface="+mn-lt"/>
              </a:rPr>
              <a:t> trait</a:t>
            </a:r>
            <a:r>
              <a:rPr lang="zh-CN" altLang="en-US" sz="1600" dirty="0">
                <a:cs typeface="+mn-ea"/>
                <a:sym typeface="+mn-lt"/>
              </a:rPr>
              <a:t>，可以使用 </a:t>
            </a:r>
            <a:r>
              <a:rPr lang="en-US" altLang="zh-CN" sz="1600" dirty="0" err="1">
                <a:cs typeface="+mn-ea"/>
                <a:sym typeface="+mn-lt"/>
              </a:rPr>
              <a:t>AssertUnwindSafe</a:t>
            </a:r>
            <a:r>
              <a:rPr lang="en-US" altLang="zh-CN" sz="1600" dirty="0">
                <a:cs typeface="+mn-ea"/>
                <a:sym typeface="+mn-lt"/>
              </a:rPr>
              <a:t> </a:t>
            </a:r>
            <a:r>
              <a:rPr lang="zh-CN" altLang="en-US" sz="1600" dirty="0">
                <a:cs typeface="+mn-ea"/>
                <a:sym typeface="+mn-lt"/>
              </a:rPr>
              <a:t>来强制转换它；</a:t>
            </a:r>
          </a:p>
        </p:txBody>
      </p:sp>
      <p:sp>
        <p:nvSpPr>
          <p:cNvPr id="10" name="副标题 1"/>
          <p:cNvSpPr txBox="1"/>
          <p:nvPr/>
        </p:nvSpPr>
        <p:spPr>
          <a:xfrm>
            <a:off x="187601" y="78209"/>
            <a:ext cx="10740640" cy="6150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72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808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81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3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26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62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345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070" indent="0" algn="ctr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Panic-panic safety</a:t>
            </a:r>
            <a:endParaRPr lang="zh-CN" altLang="en-US" sz="1800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87601" y="54438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003357" y="2283342"/>
            <a:ext cx="7964839" cy="341503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panic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self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AssertUnwindSafe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variable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此代码将不会编译，因为闭包捕获&amp;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mut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变量，默认情况下，&amp;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mut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变量被认为是不安全的。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panic::catch_unwind(|| {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    variable += 3;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});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这将由于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AssertUnwindSafe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封装而编译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result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panic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catch_unwind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AssertUnwindSafe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variable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}));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// ...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612103" y="5746965"/>
            <a:ext cx="10881828" cy="487415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 i="1" dirty="0">
                <a:cs typeface="+mn-ea"/>
                <a:sym typeface="+mn-lt"/>
              </a:rPr>
              <a:t>参考链接：</a:t>
            </a:r>
            <a:r>
              <a:rPr lang="en-US" altLang="zh-CN" sz="1400" i="1" dirty="0">
                <a:cs typeface="+mn-ea"/>
                <a:sym typeface="+mn-lt"/>
              </a:rPr>
              <a:t>https://doc.rust</a:t>
            </a:r>
            <a:r>
              <a:rPr lang="zh-CN" altLang="en-US" sz="1400" i="1" dirty="0">
                <a:cs typeface="+mn-ea"/>
                <a:sym typeface="+mn-lt"/>
              </a:rPr>
              <a:t>-</a:t>
            </a:r>
            <a:r>
              <a:rPr lang="en-US" altLang="zh-CN" sz="1400" i="1" dirty="0">
                <a:cs typeface="+mn-ea"/>
                <a:sym typeface="+mn-lt"/>
              </a:rPr>
              <a:t>lang.org/std/panic/trait.UnwindSafe.html</a:t>
            </a:r>
            <a:endParaRPr lang="zh-CN" altLang="en-US" sz="1400" i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423309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 Option</a:t>
            </a:r>
            <a:r>
              <a:rPr lang="zh-CN" altLang="en-US" sz="1800">
                <a:cs typeface="+mn-ea"/>
                <a:sym typeface="+mn-lt"/>
              </a:rPr>
              <a:t>、</a:t>
            </a:r>
            <a:r>
              <a:rPr lang="en-US" altLang="zh-CN" sz="1800">
                <a:cs typeface="+mn-ea"/>
                <a:sym typeface="+mn-lt"/>
              </a:rPr>
              <a:t>Result</a:t>
            </a:r>
            <a:r>
              <a:rPr lang="zh-CN" altLang="en-US" sz="1800">
                <a:cs typeface="+mn-ea"/>
                <a:sym typeface="+mn-lt"/>
              </a:rPr>
              <a:t>、</a:t>
            </a:r>
            <a:r>
              <a:rPr lang="en-US" altLang="zh-CN" sz="1800">
                <a:cs typeface="+mn-ea"/>
                <a:sym typeface="+mn-lt"/>
              </a:rPr>
              <a:t>panic </a:t>
            </a:r>
            <a:r>
              <a:rPr lang="zh-CN" altLang="en-US" sz="1800">
                <a:cs typeface="+mn-ea"/>
                <a:sym typeface="+mn-lt"/>
              </a:rPr>
              <a:t>的概念和基本使用；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掌握错误处理标准库常用函数；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掌握传播错误的概念和问号运算符的使用方法；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729175" y="972379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zpkd4vjq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zpkd4vjq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zpkd4vjq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zpkd4vjq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zpkd4vjq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2519</Words>
  <Application>Microsoft Office PowerPoint</Application>
  <PresentationFormat>自定义</PresentationFormat>
  <Paragraphs>229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错误处理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错误处理</dc:title>
  <dc:creator>fanyan (A)</dc:creator>
  <cp:lastModifiedBy>Zhangyandong (ben)</cp:lastModifiedBy>
  <cp:revision>10</cp:revision>
  <dcterms:created xsi:type="dcterms:W3CDTF">2023-10-18T07:22:05Z</dcterms:created>
  <dcterms:modified xsi:type="dcterms:W3CDTF">2024-11-20T02:32:59Z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(3)kf4O9DBIOz5a/mPKsOAJJFwqUJ216LRqvWfvjm/J1oncincTmCjHn0pV2w5bxUYq92DLGvVz
soK0eYchUHx001P44lOFRrCFM9YiM7XDftJSiw6MK8Yxe1DmC+G6lRdU8KMzaey+W0L2V9cI
rzh24nd3YpU1Z7gCthg1RtjL3qFSqPiwYIMXJCvA6NiMqZT3xlZFMe7NG7jKYEm2SD+sh5Qt
QOodyp1ikrpvsvM+5J</vt:lpwstr>
  </property>
  <property fmtid="{D5CDD505-2E9C-101B-9397-08002B2CF9AE}" pid="3" name="_2015_ms_pID_7253431">
    <vt:lpwstr>QCEb3E7r+uAMyeVSomoo+JXnzz7AKZyYqa73PUlbYCKHH43U0XwlZ7
sC1XG0eQ2cQ1XNjRhf691PQSx82mwkfyHjokySYM218/SjhJoUEzYENlC7Wh5ccghwPpnWo2
UmLpT5BO2qFiDqc+ViPsRCLqilMi8lMS74Xnv5MhRQNAWzhiUlMEgrwGkcVXvV30XPUvbLm9
D32HEqCzMR6BvhzACmM3owmcVkVt+XyqHlR4</vt:lpwstr>
  </property>
  <property fmtid="{D5CDD505-2E9C-101B-9397-08002B2CF9AE}" pid="4" name="_2015_ms_pID_7253432">
    <vt:lpwstr>dA==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1702379258</vt:lpwstr>
  </property>
</Properties>
</file>