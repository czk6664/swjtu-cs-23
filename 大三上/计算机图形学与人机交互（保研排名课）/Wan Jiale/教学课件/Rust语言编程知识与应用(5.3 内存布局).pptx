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slideLayouts/slideLayout10.xml" ContentType="application/vnd.openxmlformats-officedocument.presentationml.slideLayout+xml"/>
  <Override PartName="/ppt/theme/theme4.xml" ContentType="application/vnd.openxmlformats-officedocument.theme+xml"/>
  <Override PartName="/ppt/slideLayouts/slideLayout11.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5" r:id="rId2"/>
    <p:sldMasterId id="2147483659" r:id="rId3"/>
    <p:sldMasterId id="2147483660" r:id="rId4"/>
    <p:sldMasterId id="2147483662" r:id="rId5"/>
  </p:sldMasterIdLst>
  <p:notesMasterIdLst>
    <p:notesMasterId r:id="rId22"/>
  </p:notesMasterIdLst>
  <p:handoutMasterIdLst>
    <p:handoutMasterId r:id="rId23"/>
  </p:handoutMasterIdLst>
  <p:sldIdLst>
    <p:sldId id="424" r:id="rId6"/>
    <p:sldId id="423" r:id="rId7"/>
    <p:sldId id="421" r:id="rId8"/>
    <p:sldId id="458" r:id="rId9"/>
    <p:sldId id="474" r:id="rId10"/>
    <p:sldId id="444" r:id="rId11"/>
    <p:sldId id="453" r:id="rId12"/>
    <p:sldId id="454" r:id="rId13"/>
    <p:sldId id="476" r:id="rId14"/>
    <p:sldId id="443" r:id="rId15"/>
    <p:sldId id="445" r:id="rId16"/>
    <p:sldId id="473" r:id="rId17"/>
    <p:sldId id="461" r:id="rId18"/>
    <p:sldId id="459" r:id="rId19"/>
    <p:sldId id="292" r:id="rId20"/>
    <p:sldId id="280" r:id="rId21"/>
  </p:sldIdLst>
  <p:sldSz cx="12196763"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封面页_图片版" id="{E8D0D622-F6C6-F44A-B365-B4A5FF6195C2}">
          <p14:sldIdLst>
            <p14:sldId id="424"/>
          </p14:sldIdLst>
        </p14:section>
        <p14:section name="目录页" id="{9D221634-295C-7843-AF5C-A0CB4F229241}">
          <p14:sldIdLst>
            <p14:sldId id="423"/>
          </p14:sldIdLst>
        </p14:section>
        <p14:section name="章节页" id="{FD05EE94-C931-8C4B-83A2-004B32AA1207}">
          <p14:sldIdLst>
            <p14:sldId id="421"/>
            <p14:sldId id="458"/>
            <p14:sldId id="474"/>
            <p14:sldId id="444"/>
            <p14:sldId id="453"/>
            <p14:sldId id="454"/>
            <p14:sldId id="476"/>
            <p14:sldId id="443"/>
            <p14:sldId id="445"/>
            <p14:sldId id="473"/>
            <p14:sldId id="461"/>
            <p14:sldId id="459"/>
            <p14:sldId id="292"/>
          </p14:sldIdLst>
        </p14:section>
        <p14:section name="结束页" id="{3F9D54A7-3BE2-2540-BB4C-DFE5509085F3}">
          <p14:sldIdLst>
            <p14:sldId id="280"/>
          </p14:sldIdLst>
        </p14:section>
      </p14:sectionLst>
    </p:ext>
    <p:ext uri="{EFAFB233-063F-42B5-8137-9DF3F51BA10A}">
      <p15:sldGuideLst xmlns:p15="http://schemas.microsoft.com/office/powerpoint/2012/main">
        <p15:guide id="1" pos="3701">
          <p15:clr>
            <a:srgbClr val="A4A3A4"/>
          </p15:clr>
        </p15:guide>
        <p15:guide id="2" orient="horz" pos="2159">
          <p15:clr>
            <a:srgbClr val="A4A3A4"/>
          </p15:clr>
        </p15:guide>
        <p15:guide id="3" pos="3539">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002" name="wuxiaojun 00342820_QRBvBJbY" initials="authorId_AK20210901:AK20210901JXNSXO124321" lastIdx="1688376990" clrIdx="0"/>
  <p:cmAuthor id="2003" name="liziqiang 00556901_ERbuA7r6" initials="authorId_AK20210901:AK20210901JXNSXO4497046" lastIdx="1688418052" clrIdx="0"/>
  <p:cmAuthor id="2000" name="fanchangchun 00567414_2yeyVvEJ" initials="authorId_AK20210901:AK20210901JXNSXO4723448" lastIdx="0" clrIdx="0"/>
  <p:cmAuthor id="2001" name="zhanghandong WX930509_Jj22FnMn" initials="authorId_AK20210901:AK20210901JXNSXO4676065" lastIdx="0" clrIdx="0"/>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0000"/>
    <a:srgbClr val="E57B84"/>
    <a:srgbClr val="E6A8AD"/>
    <a:srgbClr val="E57984"/>
    <a:srgbClr val="FFFFFF"/>
    <a:srgbClr val="151515"/>
    <a:srgbClr val="C7000B"/>
    <a:srgbClr val="575756"/>
    <a:srgbClr val="DD4654"/>
    <a:srgbClr val="F3D2D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717" autoAdjust="0"/>
    <p:restoredTop sz="85759" autoAdjust="0"/>
  </p:normalViewPr>
  <p:slideViewPr>
    <p:cSldViewPr snapToGrid="0" snapToObjects="1">
      <p:cViewPr varScale="1">
        <p:scale>
          <a:sx n="66" d="100"/>
          <a:sy n="66" d="100"/>
        </p:scale>
        <p:origin x="32" y="112"/>
      </p:cViewPr>
      <p:guideLst>
        <p:guide pos="3701"/>
        <p:guide orient="horz" pos="2159"/>
        <p:guide pos="3539"/>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96" d="100"/>
          <a:sy n="96" d="100"/>
        </p:scale>
        <p:origin x="3104" y="16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viewProps" Target="viewProps.xml"/><Relationship Id="rId3" Type="http://schemas.openxmlformats.org/officeDocument/2006/relationships/slideMaster" Target="slideMasters/slideMaster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commentAuthors" Target="commentAuthors.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handoutMaster" Target="handoutMasters/handoutMaster1.xml"/><Relationship Id="rId28"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notesMaster" Target="notesMasters/notesMaster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8CF71B8-DF2A-2E41-BE66-2E18A767DA8A}" type="datetimeFigureOut">
              <a:rPr lang="en-US" smtClean="0"/>
              <a:t>11/20/2024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35F0CC5-85BE-A64A-BD47-54C66F7E93E3}"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DD60A27-BF12-6744-9E93-932A0E34D8BB}" type="datetimeFigureOut">
              <a:rPr lang="en-US" smtClean="0"/>
              <a:t>11/20/2024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7326F3-4732-B74B-9C70-D0992466E499}"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1219200" rtl="0" eaLnBrk="1" latinLnBrk="0" hangingPunct="1">
      <a:defRPr sz="1600" kern="1200">
        <a:solidFill>
          <a:schemeClr val="tx1"/>
        </a:solidFill>
        <a:latin typeface="+mn-lt"/>
        <a:ea typeface="+mn-ea"/>
        <a:cs typeface="+mn-cs"/>
      </a:defRPr>
    </a:lvl1pPr>
    <a:lvl2pPr marL="609600" algn="l" defTabSz="1219200" rtl="0" eaLnBrk="1" latinLnBrk="0" hangingPunct="1">
      <a:defRPr sz="1600" kern="1200">
        <a:solidFill>
          <a:schemeClr val="tx1"/>
        </a:solidFill>
        <a:latin typeface="+mn-lt"/>
        <a:ea typeface="+mn-ea"/>
        <a:cs typeface="+mn-cs"/>
      </a:defRPr>
    </a:lvl2pPr>
    <a:lvl3pPr marL="1219200" algn="l" defTabSz="1219200" rtl="0" eaLnBrk="1" latinLnBrk="0" hangingPunct="1">
      <a:defRPr sz="1600" kern="1200">
        <a:solidFill>
          <a:schemeClr val="tx1"/>
        </a:solidFill>
        <a:latin typeface="+mn-lt"/>
        <a:ea typeface="+mn-ea"/>
        <a:cs typeface="+mn-cs"/>
      </a:defRPr>
    </a:lvl3pPr>
    <a:lvl4pPr marL="1828800" algn="l" defTabSz="1219200" rtl="0" eaLnBrk="1" latinLnBrk="0" hangingPunct="1">
      <a:defRPr sz="1600" kern="1200">
        <a:solidFill>
          <a:schemeClr val="tx1"/>
        </a:solidFill>
        <a:latin typeface="+mn-lt"/>
        <a:ea typeface="+mn-ea"/>
        <a:cs typeface="+mn-cs"/>
      </a:defRPr>
    </a:lvl4pPr>
    <a:lvl5pPr marL="2438400" algn="l" defTabSz="1219200" rtl="0" eaLnBrk="1" latinLnBrk="0" hangingPunct="1">
      <a:defRPr sz="1600" kern="1200">
        <a:solidFill>
          <a:schemeClr val="tx1"/>
        </a:solidFill>
        <a:latin typeface="+mn-lt"/>
        <a:ea typeface="+mn-ea"/>
        <a:cs typeface="+mn-cs"/>
      </a:defRPr>
    </a:lvl5pPr>
    <a:lvl6pPr marL="3048000" algn="l" defTabSz="1219200" rtl="0" eaLnBrk="1" latinLnBrk="0" hangingPunct="1">
      <a:defRPr sz="1600" kern="1200">
        <a:solidFill>
          <a:schemeClr val="tx1"/>
        </a:solidFill>
        <a:latin typeface="+mn-lt"/>
        <a:ea typeface="+mn-ea"/>
        <a:cs typeface="+mn-cs"/>
      </a:defRPr>
    </a:lvl6pPr>
    <a:lvl7pPr marL="3657600" algn="l" defTabSz="1219200" rtl="0" eaLnBrk="1" latinLnBrk="0" hangingPunct="1">
      <a:defRPr sz="1600" kern="1200">
        <a:solidFill>
          <a:schemeClr val="tx1"/>
        </a:solidFill>
        <a:latin typeface="+mn-lt"/>
        <a:ea typeface="+mn-ea"/>
        <a:cs typeface="+mn-cs"/>
      </a:defRPr>
    </a:lvl7pPr>
    <a:lvl8pPr marL="4267835" algn="l" defTabSz="1219200" rtl="0" eaLnBrk="1" latinLnBrk="0" hangingPunct="1">
      <a:defRPr sz="1600" kern="1200">
        <a:solidFill>
          <a:schemeClr val="tx1"/>
        </a:solidFill>
        <a:latin typeface="+mn-lt"/>
        <a:ea typeface="+mn-ea"/>
        <a:cs typeface="+mn-cs"/>
      </a:defRPr>
    </a:lvl8pPr>
    <a:lvl9pPr marL="4877435" algn="l" defTabSz="121920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7326F3-4732-B74B-9C70-D0992466E499}" type="slidenum">
              <a:rPr lang="en-US" smtClean="0"/>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7326F3-4732-B74B-9C70-D0992466E499}" type="slidenum">
              <a:rPr lang="en-US" smtClean="0"/>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7326F3-4732-B74B-9C70-D0992466E499}" type="slidenum">
              <a:rPr lang="en-US" smtClean="0"/>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1600" b="0" i="0" kern="120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F07326F3-4732-B74B-9C70-D0992466E499}" type="slidenum">
              <a:rPr lang="en-US" smtClean="0"/>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编译器对如</a:t>
            </a:r>
            <a:r>
              <a:rPr lang="en-US" altLang="zh-CN" dirty="0" err="1"/>
              <a:t>Opional</a:t>
            </a:r>
            <a:r>
              <a:rPr lang="en-US" altLang="zh-CN" dirty="0"/>
              <a:t>&lt;Box&lt;T&gt;&gt;</a:t>
            </a:r>
            <a:r>
              <a:rPr lang="zh-CN" altLang="en-US" dirty="0"/>
              <a:t>枚举场景进行优化，已知</a:t>
            </a:r>
            <a:r>
              <a:rPr lang="en-US" altLang="zh-CN" dirty="0"/>
              <a:t>Box</a:t>
            </a:r>
            <a:r>
              <a:rPr lang="zh-CN" altLang="en-US" dirty="0"/>
              <a:t>不可能为空，用指针的零值代表取</a:t>
            </a:r>
            <a:r>
              <a:rPr lang="en-US" altLang="zh-CN" dirty="0"/>
              <a:t>None</a:t>
            </a:r>
            <a:r>
              <a:rPr lang="zh-CN" altLang="en-US" dirty="0"/>
              <a:t>的情况</a:t>
            </a:r>
          </a:p>
        </p:txBody>
      </p:sp>
      <p:sp>
        <p:nvSpPr>
          <p:cNvPr id="4" name="灯片编号占位符 3"/>
          <p:cNvSpPr>
            <a:spLocks noGrp="1"/>
          </p:cNvSpPr>
          <p:nvPr>
            <p:ph type="sldNum" sz="quarter" idx="10"/>
          </p:nvPr>
        </p:nvSpPr>
        <p:spPr/>
        <p:txBody>
          <a:bodyPr/>
          <a:lstStyle/>
          <a:p>
            <a:fld id="{F07326F3-4732-B74B-9C70-D0992466E499}" type="slidenum">
              <a:rPr lang="en-US" smtClean="0"/>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F07326F3-4732-B74B-9C70-D0992466E499}" type="slidenum">
              <a:rPr lang="en-US" smtClean="0"/>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600" b="0" i="0" kern="120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F07326F3-4732-B74B-9C70-D0992466E499}" type="slidenum">
              <a:rPr lang="en-US" smtClean="0"/>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600" b="0" i="0" kern="120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F07326F3-4732-B74B-9C70-D0992466E499}" type="slidenum">
              <a:rPr lang="en-US" smtClean="0"/>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600" b="0" i="0" kern="120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F07326F3-4732-B74B-9C70-D0992466E499}" type="slidenum">
              <a:rPr lang="en-US" smtClean="0"/>
              <a:t>9</a:t>
            </a:fld>
            <a:endParaRPr lang="en-US"/>
          </a:p>
        </p:txBody>
      </p:sp>
    </p:spTree>
    <p:extLst>
      <p:ext uri="{BB962C8B-B14F-4D97-AF65-F5344CB8AC3E}">
        <p14:creationId xmlns:p14="http://schemas.microsoft.com/office/powerpoint/2010/main" val="33727435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600" b="0" i="0" kern="120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F07326F3-4732-B74B-9C70-D0992466E499}" type="slidenum">
              <a:rPr lang="en-US" smtClean="0"/>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600" b="0" i="0" kern="120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F07326F3-4732-B74B-9C70-D0992466E499}" type="slidenum">
              <a:rPr lang="en-US" smtClean="0"/>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07326F3-4732-B74B-9C70-D0992466E499}" type="slidenum">
              <a:rPr lang="en-US" smtClean="0"/>
              <a:t>12</a:t>
            </a:fld>
            <a:endParaRPr lang="en-US"/>
          </a:p>
        </p:txBody>
      </p:sp>
    </p:spTree>
    <p:extLst>
      <p:ext uri="{BB962C8B-B14F-4D97-AF65-F5344CB8AC3E}">
        <p14:creationId xmlns:p14="http://schemas.microsoft.com/office/powerpoint/2010/main" val="21841720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07326F3-4732-B74B-9C70-D0992466E499}" type="slidenum">
              <a:rPr lang="en-US" smtClean="0"/>
              <a:t>13</a:t>
            </a:fld>
            <a:endParaRPr lang="en-US"/>
          </a:p>
        </p:txBody>
      </p:sp>
    </p:spTree>
    <p:extLst>
      <p:ext uri="{BB962C8B-B14F-4D97-AF65-F5344CB8AC3E}">
        <p14:creationId xmlns:p14="http://schemas.microsoft.com/office/powerpoint/2010/main" val="42419649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600" b="0" i="0" kern="120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F07326F3-4732-B74B-9C70-D0992466E499}" type="slidenum">
              <a:rPr lang="en-US" smtClean="0"/>
              <a:t>14</a:t>
            </a:fld>
            <a:endParaRPr lang="en-US"/>
          </a:p>
        </p:txBody>
      </p:sp>
    </p:spTree>
    <p:extLst>
      <p:ext uri="{BB962C8B-B14F-4D97-AF65-F5344CB8AC3E}">
        <p14:creationId xmlns:p14="http://schemas.microsoft.com/office/powerpoint/2010/main" val="20950402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07326F3-4732-B74B-9C70-D0992466E499}" type="slidenum">
              <a:rPr lang="en-US" smtClean="0"/>
              <a:t>16</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探索">
    <p:spTree>
      <p:nvGrpSpPr>
        <p:cNvPr id="1" name=""/>
        <p:cNvGrpSpPr/>
        <p:nvPr/>
      </p:nvGrpSpPr>
      <p:grpSpPr>
        <a:xfrm>
          <a:off x="0" y="0"/>
          <a:ext cx="0" cy="0"/>
          <a:chOff x="0" y="0"/>
          <a:chExt cx="0" cy="0"/>
        </a:xfrm>
      </p:grpSpPr>
      <p:pic>
        <p:nvPicPr>
          <p:cNvPr id="4" name="图片 3"/>
          <p:cNvPicPr>
            <a:picLocks noChangeAspect="1"/>
          </p:cNvPicPr>
          <p:nvPr userDrawn="1"/>
        </p:nvPicPr>
        <p:blipFill rotWithShape="1">
          <a:blip r:embed="rId2" cstate="screen"/>
          <a:srcRect/>
          <a:stretch>
            <a:fillRect/>
          </a:stretch>
        </p:blipFill>
        <p:spPr>
          <a:xfrm>
            <a:off x="1" y="0"/>
            <a:ext cx="12196763" cy="5602265"/>
          </a:xfrm>
          <a:prstGeom prst="rect">
            <a:avLst/>
          </a:prstGeom>
        </p:spPr>
      </p:pic>
      <p:sp>
        <p:nvSpPr>
          <p:cNvPr id="7" name="L 形 6"/>
          <p:cNvSpPr/>
          <p:nvPr userDrawn="1"/>
        </p:nvSpPr>
        <p:spPr>
          <a:xfrm rot="5400000">
            <a:off x="7853942" y="2130562"/>
            <a:ext cx="701032" cy="717936"/>
          </a:xfrm>
          <a:prstGeom prst="corner">
            <a:avLst>
              <a:gd name="adj1" fmla="val 3243"/>
              <a:gd name="adj2" fmla="val 3048"/>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a:p>
        </p:txBody>
      </p:sp>
      <p:sp>
        <p:nvSpPr>
          <p:cNvPr id="10" name="Title 1"/>
          <p:cNvSpPr>
            <a:spLocks noGrp="1"/>
          </p:cNvSpPr>
          <p:nvPr>
            <p:ph type="ctrTitle" hasCustomPrompt="1"/>
          </p:nvPr>
        </p:nvSpPr>
        <p:spPr>
          <a:xfrm>
            <a:off x="898996" y="907092"/>
            <a:ext cx="6559809" cy="690255"/>
          </a:xfrm>
          <a:prstGeom prst="rect">
            <a:avLst/>
          </a:prstGeom>
          <a:ln>
            <a:noFill/>
            <a:prstDash val="dash"/>
          </a:ln>
        </p:spPr>
        <p:txBody>
          <a:bodyPr lIns="0" tIns="0" rIns="0" bIns="0" anchor="t">
            <a:normAutofit/>
          </a:bodyPr>
          <a:lstStyle>
            <a:lvl1pPr algn="l">
              <a:defRPr sz="3200" b="0" i="0">
                <a:solidFill>
                  <a:schemeClr val="tx1"/>
                </a:solidFill>
                <a:latin typeface="Microsoft YaHei" panose="020B0503020204020204" pitchFamily="34" charset="-122"/>
                <a:ea typeface="Microsoft YaHei" panose="020B0503020204020204" pitchFamily="34" charset="-122"/>
              </a:defRPr>
            </a:lvl1pPr>
          </a:lstStyle>
          <a:p>
            <a:r>
              <a:rPr lang="zh-CN" altLang="en-US" dirty="0"/>
              <a:t>单击此处添加标题</a:t>
            </a:r>
            <a:endParaRPr lang="en-US" dirty="0"/>
          </a:p>
        </p:txBody>
      </p:sp>
      <p:sp>
        <p:nvSpPr>
          <p:cNvPr id="6" name="Text Placeholder 5"/>
          <p:cNvSpPr>
            <a:spLocks noGrp="1"/>
          </p:cNvSpPr>
          <p:nvPr>
            <p:ph type="body" sz="quarter" idx="10" hasCustomPrompt="1"/>
          </p:nvPr>
        </p:nvSpPr>
        <p:spPr>
          <a:xfrm>
            <a:off x="929260" y="1949372"/>
            <a:ext cx="6535842" cy="643926"/>
          </a:xfrm>
        </p:spPr>
        <p:txBody>
          <a:bodyPr/>
          <a:lstStyle>
            <a:lvl1pPr>
              <a:defRPr sz="1400">
                <a:solidFill>
                  <a:schemeClr val="tx1"/>
                </a:solidFill>
              </a:defRPr>
            </a:lvl1pPr>
          </a:lstStyle>
          <a:p>
            <a:pPr lvl="0"/>
            <a:r>
              <a:rPr lang="zh-CN" altLang="en-US" dirty="0"/>
              <a:t>单击此处添加文本</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攀登">
    <p:spTree>
      <p:nvGrpSpPr>
        <p:cNvPr id="1" name=""/>
        <p:cNvGrpSpPr/>
        <p:nvPr/>
      </p:nvGrpSpPr>
      <p:grpSpPr>
        <a:xfrm>
          <a:off x="0" y="0"/>
          <a:ext cx="0" cy="0"/>
          <a:chOff x="0" y="0"/>
          <a:chExt cx="0" cy="0"/>
        </a:xfrm>
      </p:grpSpPr>
      <p:pic>
        <p:nvPicPr>
          <p:cNvPr id="4" name="图片 3"/>
          <p:cNvPicPr>
            <a:picLocks noChangeAspect="1"/>
          </p:cNvPicPr>
          <p:nvPr userDrawn="1"/>
        </p:nvPicPr>
        <p:blipFill rotWithShape="1">
          <a:blip r:embed="rId2">
            <a:extLst>
              <a:ext uri="{28A0092B-C50C-407E-A947-70E740481C1C}">
                <a14:useLocalDpi xmlns:a14="http://schemas.microsoft.com/office/drawing/2010/main" val="0"/>
              </a:ext>
            </a:extLst>
          </a:blip>
          <a:srcRect t="13825" r="2034" b="5607"/>
          <a:stretch>
            <a:fillRect/>
          </a:stretch>
        </p:blipFill>
        <p:spPr>
          <a:xfrm>
            <a:off x="1" y="-36206"/>
            <a:ext cx="12196763" cy="5638471"/>
          </a:xfrm>
          <a:prstGeom prst="rect">
            <a:avLst/>
          </a:prstGeom>
        </p:spPr>
      </p:pic>
      <p:sp>
        <p:nvSpPr>
          <p:cNvPr id="2" name="Title 1"/>
          <p:cNvSpPr>
            <a:spLocks noGrp="1"/>
          </p:cNvSpPr>
          <p:nvPr>
            <p:ph type="ctrTitle" hasCustomPrompt="1"/>
          </p:nvPr>
        </p:nvSpPr>
        <p:spPr>
          <a:xfrm>
            <a:off x="898996" y="907092"/>
            <a:ext cx="6559809" cy="690255"/>
          </a:xfrm>
          <a:prstGeom prst="rect">
            <a:avLst/>
          </a:prstGeom>
        </p:spPr>
        <p:txBody>
          <a:bodyPr lIns="0" tIns="0" rIns="0" bIns="0" anchor="t">
            <a:normAutofit/>
          </a:bodyPr>
          <a:lstStyle>
            <a:lvl1pPr algn="l">
              <a:defRPr sz="3200" b="0" i="0">
                <a:solidFill>
                  <a:schemeClr val="tx1"/>
                </a:solidFill>
                <a:latin typeface="Microsoft YaHei" panose="020B0503020204020204" pitchFamily="34" charset="-122"/>
                <a:ea typeface="Microsoft YaHei" panose="020B0503020204020204" pitchFamily="34" charset="-122"/>
              </a:defRPr>
            </a:lvl1pPr>
          </a:lstStyle>
          <a:p>
            <a:r>
              <a:rPr lang="zh-CN" altLang="en-US" dirty="0"/>
              <a:t>单击此处添加标题</a:t>
            </a:r>
            <a:endParaRPr lang="en-US" dirty="0"/>
          </a:p>
        </p:txBody>
      </p:sp>
      <p:sp>
        <p:nvSpPr>
          <p:cNvPr id="8" name="L 形 7"/>
          <p:cNvSpPr/>
          <p:nvPr userDrawn="1"/>
        </p:nvSpPr>
        <p:spPr>
          <a:xfrm rot="5400000">
            <a:off x="7929967" y="1657555"/>
            <a:ext cx="701032" cy="717936"/>
          </a:xfrm>
          <a:prstGeom prst="corner">
            <a:avLst>
              <a:gd name="adj1" fmla="val 3243"/>
              <a:gd name="adj2" fmla="val 3048"/>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a:p>
        </p:txBody>
      </p:sp>
      <p:sp>
        <p:nvSpPr>
          <p:cNvPr id="5" name="Text Placeholder 5"/>
          <p:cNvSpPr>
            <a:spLocks noGrp="1"/>
          </p:cNvSpPr>
          <p:nvPr>
            <p:ph type="body" sz="quarter" idx="10" hasCustomPrompt="1"/>
          </p:nvPr>
        </p:nvSpPr>
        <p:spPr>
          <a:xfrm>
            <a:off x="929260" y="1949372"/>
            <a:ext cx="6535842" cy="643926"/>
          </a:xfrm>
        </p:spPr>
        <p:txBody>
          <a:bodyPr/>
          <a:lstStyle>
            <a:lvl1pPr>
              <a:defRPr sz="1400">
                <a:solidFill>
                  <a:schemeClr val="tx1"/>
                </a:solidFill>
              </a:defRPr>
            </a:lvl1pPr>
          </a:lstStyle>
          <a:p>
            <a:pPr lvl="0"/>
            <a:r>
              <a:rPr lang="zh-CN" altLang="en-US" dirty="0"/>
              <a:t>单击此处添加文本</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探索">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5154" y="-57144"/>
            <a:ext cx="12243078" cy="5625189"/>
          </a:xfrm>
          <a:prstGeom prst="rect">
            <a:avLst/>
          </a:prstGeom>
        </p:spPr>
      </p:pic>
      <p:sp>
        <p:nvSpPr>
          <p:cNvPr id="10" name="Title 1"/>
          <p:cNvSpPr>
            <a:spLocks noGrp="1"/>
          </p:cNvSpPr>
          <p:nvPr>
            <p:ph type="ctrTitle" hasCustomPrompt="1"/>
          </p:nvPr>
        </p:nvSpPr>
        <p:spPr>
          <a:xfrm>
            <a:off x="898996" y="907092"/>
            <a:ext cx="6559809" cy="690255"/>
          </a:xfrm>
          <a:prstGeom prst="rect">
            <a:avLst/>
          </a:prstGeom>
          <a:ln>
            <a:noFill/>
            <a:prstDash val="dash"/>
          </a:ln>
        </p:spPr>
        <p:txBody>
          <a:bodyPr lIns="0" tIns="0" rIns="0" bIns="0" anchor="t">
            <a:normAutofit/>
          </a:bodyPr>
          <a:lstStyle>
            <a:lvl1pPr algn="l">
              <a:defRPr sz="3200" b="0" i="0">
                <a:solidFill>
                  <a:schemeClr val="tx1"/>
                </a:solidFill>
                <a:latin typeface="Microsoft YaHei" panose="020B0503020204020204" pitchFamily="34" charset="-122"/>
                <a:ea typeface="Microsoft YaHei" panose="020B0503020204020204" pitchFamily="34" charset="-122"/>
              </a:defRPr>
            </a:lvl1pPr>
          </a:lstStyle>
          <a:p>
            <a:r>
              <a:rPr lang="zh-CN" altLang="en-US" dirty="0"/>
              <a:t>单击此处添加标题</a:t>
            </a:r>
            <a:endParaRPr lang="en-US" dirty="0"/>
          </a:p>
        </p:txBody>
      </p:sp>
      <p:sp>
        <p:nvSpPr>
          <p:cNvPr id="6" name="Text Placeholder 5"/>
          <p:cNvSpPr>
            <a:spLocks noGrp="1"/>
          </p:cNvSpPr>
          <p:nvPr>
            <p:ph type="body" sz="quarter" idx="10" hasCustomPrompt="1"/>
          </p:nvPr>
        </p:nvSpPr>
        <p:spPr>
          <a:xfrm>
            <a:off x="929260" y="1949372"/>
            <a:ext cx="6535842" cy="643926"/>
          </a:xfrm>
        </p:spPr>
        <p:txBody>
          <a:bodyPr/>
          <a:lstStyle>
            <a:lvl1pPr>
              <a:defRPr sz="1400">
                <a:solidFill>
                  <a:schemeClr val="tx1"/>
                </a:solidFill>
              </a:defRPr>
            </a:lvl1pPr>
          </a:lstStyle>
          <a:p>
            <a:pPr lvl="0"/>
            <a:r>
              <a:rPr lang="zh-CN" altLang="en-US" dirty="0"/>
              <a:t>单击此处添加文本</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智能">
    <p:spTree>
      <p:nvGrpSpPr>
        <p:cNvPr id="1" name=""/>
        <p:cNvGrpSpPr/>
        <p:nvPr/>
      </p:nvGrpSpPr>
      <p:grpSpPr>
        <a:xfrm>
          <a:off x="0" y="0"/>
          <a:ext cx="0" cy="0"/>
          <a:chOff x="0" y="0"/>
          <a:chExt cx="0" cy="0"/>
        </a:xfrm>
      </p:grpSpPr>
      <p:pic>
        <p:nvPicPr>
          <p:cNvPr id="14" name="图片 13"/>
          <p:cNvPicPr>
            <a:picLocks noChangeAspect="1"/>
          </p:cNvPicPr>
          <p:nvPr userDrawn="1"/>
        </p:nvPicPr>
        <p:blipFill rotWithShape="1">
          <a:blip r:embed="rId2" cstate="screen"/>
          <a:srcRect/>
          <a:stretch>
            <a:fillRect/>
          </a:stretch>
        </p:blipFill>
        <p:spPr>
          <a:xfrm>
            <a:off x="1" y="0"/>
            <a:ext cx="12196763" cy="5602265"/>
          </a:xfrm>
          <a:prstGeom prst="rect">
            <a:avLst/>
          </a:prstGeom>
        </p:spPr>
      </p:pic>
      <p:sp>
        <p:nvSpPr>
          <p:cNvPr id="18" name="L 形 17"/>
          <p:cNvSpPr/>
          <p:nvPr userDrawn="1"/>
        </p:nvSpPr>
        <p:spPr>
          <a:xfrm rot="5400000">
            <a:off x="5824025" y="2568635"/>
            <a:ext cx="701032" cy="717936"/>
          </a:xfrm>
          <a:prstGeom prst="corner">
            <a:avLst>
              <a:gd name="adj1" fmla="val 3243"/>
              <a:gd name="adj2" fmla="val 3048"/>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a:p>
        </p:txBody>
      </p:sp>
      <p:sp>
        <p:nvSpPr>
          <p:cNvPr id="8" name="Title 1"/>
          <p:cNvSpPr>
            <a:spLocks noGrp="1"/>
          </p:cNvSpPr>
          <p:nvPr>
            <p:ph type="ctrTitle" hasCustomPrompt="1"/>
          </p:nvPr>
        </p:nvSpPr>
        <p:spPr>
          <a:xfrm>
            <a:off x="898996" y="907092"/>
            <a:ext cx="6559809" cy="690255"/>
          </a:xfrm>
          <a:prstGeom prst="rect">
            <a:avLst/>
          </a:prstGeom>
        </p:spPr>
        <p:txBody>
          <a:bodyPr lIns="0" tIns="0" rIns="0" bIns="0" anchor="t">
            <a:normAutofit/>
          </a:bodyPr>
          <a:lstStyle>
            <a:lvl1pPr algn="l">
              <a:defRPr sz="3200" b="0" i="0">
                <a:solidFill>
                  <a:schemeClr val="tx1"/>
                </a:solidFill>
                <a:latin typeface="Microsoft YaHei" panose="020B0503020204020204" pitchFamily="34" charset="-122"/>
                <a:ea typeface="Microsoft YaHei" panose="020B0503020204020204" pitchFamily="34" charset="-122"/>
              </a:defRPr>
            </a:lvl1pPr>
          </a:lstStyle>
          <a:p>
            <a:r>
              <a:rPr lang="zh-CN" altLang="en-US" dirty="0"/>
              <a:t>单击此处添加标题</a:t>
            </a:r>
            <a:endParaRPr lang="en-US" dirty="0"/>
          </a:p>
        </p:txBody>
      </p:sp>
      <p:sp>
        <p:nvSpPr>
          <p:cNvPr id="5" name="Text Placeholder 5"/>
          <p:cNvSpPr>
            <a:spLocks noGrp="1"/>
          </p:cNvSpPr>
          <p:nvPr>
            <p:ph type="body" sz="quarter" idx="10" hasCustomPrompt="1"/>
          </p:nvPr>
        </p:nvSpPr>
        <p:spPr>
          <a:xfrm>
            <a:off x="929260" y="1949372"/>
            <a:ext cx="6535842" cy="643926"/>
          </a:xfrm>
        </p:spPr>
        <p:txBody>
          <a:bodyPr/>
          <a:lstStyle>
            <a:lvl1pPr>
              <a:defRPr sz="1400">
                <a:solidFill>
                  <a:schemeClr val="tx1"/>
                </a:solidFill>
              </a:defRPr>
            </a:lvl1pPr>
          </a:lstStyle>
          <a:p>
            <a:pPr lvl="0"/>
            <a:r>
              <a:rPr lang="zh-CN" altLang="en-US" dirty="0"/>
              <a:t>单击此处添加文本</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创新">
    <p:spTree>
      <p:nvGrpSpPr>
        <p:cNvPr id="1" name=""/>
        <p:cNvGrpSpPr/>
        <p:nvPr/>
      </p:nvGrpSpPr>
      <p:grpSpPr>
        <a:xfrm>
          <a:off x="0" y="0"/>
          <a:ext cx="0" cy="0"/>
          <a:chOff x="0" y="0"/>
          <a:chExt cx="0" cy="0"/>
        </a:xfrm>
      </p:grpSpPr>
      <p:pic>
        <p:nvPicPr>
          <p:cNvPr id="4" name="图片 3"/>
          <p:cNvPicPr>
            <a:picLocks noChangeAspect="1"/>
          </p:cNvPicPr>
          <p:nvPr userDrawn="1"/>
        </p:nvPicPr>
        <p:blipFill rotWithShape="1">
          <a:blip r:embed="rId2" cstate="screen"/>
          <a:srcRect/>
          <a:stretch>
            <a:fillRect/>
          </a:stretch>
        </p:blipFill>
        <p:spPr>
          <a:xfrm>
            <a:off x="1" y="0"/>
            <a:ext cx="12196763" cy="5602265"/>
          </a:xfrm>
          <a:prstGeom prst="rect">
            <a:avLst/>
          </a:prstGeom>
        </p:spPr>
      </p:pic>
      <p:sp>
        <p:nvSpPr>
          <p:cNvPr id="9" name="L 形 8"/>
          <p:cNvSpPr/>
          <p:nvPr userDrawn="1"/>
        </p:nvSpPr>
        <p:spPr>
          <a:xfrm rot="5400000">
            <a:off x="5945516" y="2323519"/>
            <a:ext cx="701032" cy="717936"/>
          </a:xfrm>
          <a:prstGeom prst="corner">
            <a:avLst>
              <a:gd name="adj1" fmla="val 3243"/>
              <a:gd name="adj2" fmla="val 3048"/>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a:p>
        </p:txBody>
      </p:sp>
      <p:sp>
        <p:nvSpPr>
          <p:cNvPr id="8" name="Title 1"/>
          <p:cNvSpPr>
            <a:spLocks noGrp="1"/>
          </p:cNvSpPr>
          <p:nvPr>
            <p:ph type="ctrTitle" hasCustomPrompt="1"/>
          </p:nvPr>
        </p:nvSpPr>
        <p:spPr>
          <a:xfrm>
            <a:off x="898996" y="907092"/>
            <a:ext cx="6559809" cy="690255"/>
          </a:xfrm>
          <a:prstGeom prst="rect">
            <a:avLst/>
          </a:prstGeom>
        </p:spPr>
        <p:txBody>
          <a:bodyPr lIns="0" tIns="0" rIns="0" bIns="0" anchor="t">
            <a:normAutofit/>
          </a:bodyPr>
          <a:lstStyle>
            <a:lvl1pPr algn="l">
              <a:defRPr sz="3200" b="0" i="0">
                <a:solidFill>
                  <a:schemeClr val="tx1"/>
                </a:solidFill>
                <a:latin typeface="Microsoft YaHei" panose="020B0503020204020204" pitchFamily="34" charset="-122"/>
                <a:ea typeface="Microsoft YaHei" panose="020B0503020204020204" pitchFamily="34" charset="-122"/>
              </a:defRPr>
            </a:lvl1pPr>
          </a:lstStyle>
          <a:p>
            <a:r>
              <a:rPr lang="zh-CN" altLang="en-US" dirty="0"/>
              <a:t>单击此处添加标题</a:t>
            </a:r>
            <a:endParaRPr lang="en-US" dirty="0"/>
          </a:p>
        </p:txBody>
      </p:sp>
      <p:sp>
        <p:nvSpPr>
          <p:cNvPr id="5" name="Text Placeholder 5"/>
          <p:cNvSpPr>
            <a:spLocks noGrp="1"/>
          </p:cNvSpPr>
          <p:nvPr>
            <p:ph type="body" sz="quarter" idx="10" hasCustomPrompt="1"/>
          </p:nvPr>
        </p:nvSpPr>
        <p:spPr>
          <a:xfrm>
            <a:off x="929260" y="1949372"/>
            <a:ext cx="6535842" cy="643926"/>
          </a:xfrm>
        </p:spPr>
        <p:txBody>
          <a:bodyPr/>
          <a:lstStyle>
            <a:lvl1pPr>
              <a:defRPr sz="1400">
                <a:solidFill>
                  <a:schemeClr val="tx1"/>
                </a:solidFill>
              </a:defRPr>
            </a:lvl1pPr>
          </a:lstStyle>
          <a:p>
            <a:pPr lvl="0"/>
            <a:r>
              <a:rPr lang="zh-CN" altLang="en-US" dirty="0"/>
              <a:t>单击此处添加文本</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20363" cy="1325563"/>
          </a:xfrm>
          <a:prstGeom prst="rect">
            <a:avLst/>
          </a:prstGeom>
        </p:spPr>
        <p:txBody>
          <a:bodyPr/>
          <a:lstStyle/>
          <a:p>
            <a:r>
              <a:rPr lang="zh-CN" altLang="en-US"/>
              <a:t>单击此处编辑母版标题样式</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智能">
    <p:spTree>
      <p:nvGrpSpPr>
        <p:cNvPr id="1" name=""/>
        <p:cNvGrpSpPr/>
        <p:nvPr/>
      </p:nvGrpSpPr>
      <p:grpSpPr>
        <a:xfrm>
          <a:off x="0" y="0"/>
          <a:ext cx="0" cy="0"/>
          <a:chOff x="0" y="0"/>
          <a:chExt cx="0" cy="0"/>
        </a:xfrm>
      </p:grpSpPr>
      <p:pic>
        <p:nvPicPr>
          <p:cNvPr id="14" name="图片 13"/>
          <p:cNvPicPr>
            <a:picLocks noChangeAspect="1"/>
          </p:cNvPicPr>
          <p:nvPr userDrawn="1"/>
        </p:nvPicPr>
        <p:blipFill rotWithShape="1">
          <a:blip r:embed="rId2" cstate="screen"/>
          <a:srcRect/>
          <a:stretch>
            <a:fillRect/>
          </a:stretch>
        </p:blipFill>
        <p:spPr>
          <a:xfrm>
            <a:off x="1" y="0"/>
            <a:ext cx="12196763" cy="5602265"/>
          </a:xfrm>
          <a:prstGeom prst="rect">
            <a:avLst/>
          </a:prstGeom>
        </p:spPr>
      </p:pic>
      <p:sp>
        <p:nvSpPr>
          <p:cNvPr id="18" name="L 形 17"/>
          <p:cNvSpPr/>
          <p:nvPr userDrawn="1"/>
        </p:nvSpPr>
        <p:spPr>
          <a:xfrm rot="5400000">
            <a:off x="5824025" y="2568635"/>
            <a:ext cx="701032" cy="717936"/>
          </a:xfrm>
          <a:prstGeom prst="corner">
            <a:avLst>
              <a:gd name="adj1" fmla="val 3243"/>
              <a:gd name="adj2" fmla="val 3048"/>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a:p>
        </p:txBody>
      </p:sp>
      <p:sp>
        <p:nvSpPr>
          <p:cNvPr id="8" name="Title 1"/>
          <p:cNvSpPr>
            <a:spLocks noGrp="1"/>
          </p:cNvSpPr>
          <p:nvPr>
            <p:ph type="ctrTitle" hasCustomPrompt="1"/>
          </p:nvPr>
        </p:nvSpPr>
        <p:spPr>
          <a:xfrm>
            <a:off x="898996" y="907092"/>
            <a:ext cx="6559809" cy="690255"/>
          </a:xfrm>
          <a:prstGeom prst="rect">
            <a:avLst/>
          </a:prstGeom>
        </p:spPr>
        <p:txBody>
          <a:bodyPr lIns="0" tIns="0" rIns="0" bIns="0" anchor="t">
            <a:normAutofit/>
          </a:bodyPr>
          <a:lstStyle>
            <a:lvl1pPr algn="l">
              <a:defRPr sz="3200" b="0" i="0">
                <a:solidFill>
                  <a:schemeClr val="tx1"/>
                </a:solidFill>
                <a:latin typeface="Microsoft YaHei" panose="020B0503020204020204" pitchFamily="34" charset="-122"/>
                <a:ea typeface="Microsoft YaHei" panose="020B0503020204020204" pitchFamily="34" charset="-122"/>
              </a:defRPr>
            </a:lvl1pPr>
          </a:lstStyle>
          <a:p>
            <a:r>
              <a:rPr lang="zh-CN" altLang="en-US" dirty="0"/>
              <a:t>单击此处添加标题</a:t>
            </a:r>
            <a:endParaRPr lang="en-US" dirty="0"/>
          </a:p>
        </p:txBody>
      </p:sp>
      <p:sp>
        <p:nvSpPr>
          <p:cNvPr id="5" name="Text Placeholder 5"/>
          <p:cNvSpPr>
            <a:spLocks noGrp="1"/>
          </p:cNvSpPr>
          <p:nvPr>
            <p:ph type="body" sz="quarter" idx="10" hasCustomPrompt="1"/>
          </p:nvPr>
        </p:nvSpPr>
        <p:spPr>
          <a:xfrm>
            <a:off x="929260" y="1949372"/>
            <a:ext cx="6535842" cy="643926"/>
          </a:xfrm>
        </p:spPr>
        <p:txBody>
          <a:bodyPr/>
          <a:lstStyle>
            <a:lvl1pPr>
              <a:defRPr sz="1400">
                <a:solidFill>
                  <a:schemeClr val="tx1"/>
                </a:solidFill>
              </a:defRPr>
            </a:lvl1pPr>
          </a:lstStyle>
          <a:p>
            <a:pPr lvl="0"/>
            <a:r>
              <a:rPr lang="zh-CN" altLang="en-US" dirty="0"/>
              <a:t>单击此处添加文本</a:t>
            </a:r>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创新">
    <p:spTree>
      <p:nvGrpSpPr>
        <p:cNvPr id="1" name=""/>
        <p:cNvGrpSpPr/>
        <p:nvPr/>
      </p:nvGrpSpPr>
      <p:grpSpPr>
        <a:xfrm>
          <a:off x="0" y="0"/>
          <a:ext cx="0" cy="0"/>
          <a:chOff x="0" y="0"/>
          <a:chExt cx="0" cy="0"/>
        </a:xfrm>
      </p:grpSpPr>
      <p:pic>
        <p:nvPicPr>
          <p:cNvPr id="4" name="图片 3"/>
          <p:cNvPicPr>
            <a:picLocks noChangeAspect="1"/>
          </p:cNvPicPr>
          <p:nvPr userDrawn="1"/>
        </p:nvPicPr>
        <p:blipFill rotWithShape="1">
          <a:blip r:embed="rId2" cstate="screen"/>
          <a:srcRect/>
          <a:stretch>
            <a:fillRect/>
          </a:stretch>
        </p:blipFill>
        <p:spPr>
          <a:xfrm>
            <a:off x="1" y="0"/>
            <a:ext cx="12196763" cy="5602265"/>
          </a:xfrm>
          <a:prstGeom prst="rect">
            <a:avLst/>
          </a:prstGeom>
        </p:spPr>
      </p:pic>
      <p:sp>
        <p:nvSpPr>
          <p:cNvPr id="9" name="L 形 8"/>
          <p:cNvSpPr/>
          <p:nvPr userDrawn="1"/>
        </p:nvSpPr>
        <p:spPr>
          <a:xfrm rot="5400000">
            <a:off x="5945516" y="2323519"/>
            <a:ext cx="701032" cy="717936"/>
          </a:xfrm>
          <a:prstGeom prst="corner">
            <a:avLst>
              <a:gd name="adj1" fmla="val 3243"/>
              <a:gd name="adj2" fmla="val 3048"/>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a:p>
        </p:txBody>
      </p:sp>
      <p:sp>
        <p:nvSpPr>
          <p:cNvPr id="8" name="Title 1"/>
          <p:cNvSpPr>
            <a:spLocks noGrp="1"/>
          </p:cNvSpPr>
          <p:nvPr>
            <p:ph type="ctrTitle" hasCustomPrompt="1"/>
          </p:nvPr>
        </p:nvSpPr>
        <p:spPr>
          <a:xfrm>
            <a:off x="898996" y="907092"/>
            <a:ext cx="6559809" cy="690255"/>
          </a:xfrm>
          <a:prstGeom prst="rect">
            <a:avLst/>
          </a:prstGeom>
        </p:spPr>
        <p:txBody>
          <a:bodyPr lIns="0" tIns="0" rIns="0" bIns="0" anchor="t">
            <a:normAutofit/>
          </a:bodyPr>
          <a:lstStyle>
            <a:lvl1pPr algn="l">
              <a:defRPr sz="3200" b="0" i="0">
                <a:solidFill>
                  <a:schemeClr val="tx1"/>
                </a:solidFill>
                <a:latin typeface="Microsoft YaHei" panose="020B0503020204020204" pitchFamily="34" charset="-122"/>
                <a:ea typeface="Microsoft YaHei" panose="020B0503020204020204" pitchFamily="34" charset="-122"/>
              </a:defRPr>
            </a:lvl1pPr>
          </a:lstStyle>
          <a:p>
            <a:r>
              <a:rPr lang="zh-CN" altLang="en-US" dirty="0"/>
              <a:t>单击此处添加标题</a:t>
            </a:r>
            <a:endParaRPr lang="en-US" dirty="0"/>
          </a:p>
        </p:txBody>
      </p:sp>
      <p:sp>
        <p:nvSpPr>
          <p:cNvPr id="5" name="Text Placeholder 5"/>
          <p:cNvSpPr>
            <a:spLocks noGrp="1"/>
          </p:cNvSpPr>
          <p:nvPr>
            <p:ph type="body" sz="quarter" idx="10" hasCustomPrompt="1"/>
          </p:nvPr>
        </p:nvSpPr>
        <p:spPr>
          <a:xfrm>
            <a:off x="929260" y="1949372"/>
            <a:ext cx="6535842" cy="643926"/>
          </a:xfrm>
        </p:spPr>
        <p:txBody>
          <a:bodyPr/>
          <a:lstStyle>
            <a:lvl1pPr>
              <a:defRPr sz="1400">
                <a:solidFill>
                  <a:schemeClr val="tx1"/>
                </a:solidFill>
              </a:defRPr>
            </a:lvl1pPr>
          </a:lstStyle>
          <a:p>
            <a:pPr lvl="0"/>
            <a:r>
              <a:rPr lang="zh-CN" altLang="en-US" dirty="0"/>
              <a:t>单击此处添加文本</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攀登">
    <p:spTree>
      <p:nvGrpSpPr>
        <p:cNvPr id="1" name=""/>
        <p:cNvGrpSpPr/>
        <p:nvPr/>
      </p:nvGrpSpPr>
      <p:grpSpPr>
        <a:xfrm>
          <a:off x="0" y="0"/>
          <a:ext cx="0" cy="0"/>
          <a:chOff x="0" y="0"/>
          <a:chExt cx="0" cy="0"/>
        </a:xfrm>
      </p:grpSpPr>
      <p:pic>
        <p:nvPicPr>
          <p:cNvPr id="4" name="图片 3"/>
          <p:cNvPicPr>
            <a:picLocks noChangeAspect="1"/>
          </p:cNvPicPr>
          <p:nvPr userDrawn="1"/>
        </p:nvPicPr>
        <p:blipFill rotWithShape="1">
          <a:blip r:embed="rId2">
            <a:extLst>
              <a:ext uri="{28A0092B-C50C-407E-A947-70E740481C1C}">
                <a14:useLocalDpi xmlns:a14="http://schemas.microsoft.com/office/drawing/2010/main" val="0"/>
              </a:ext>
            </a:extLst>
          </a:blip>
          <a:srcRect t="13825" r="2034" b="5607"/>
          <a:stretch>
            <a:fillRect/>
          </a:stretch>
        </p:blipFill>
        <p:spPr>
          <a:xfrm>
            <a:off x="1" y="-36206"/>
            <a:ext cx="12196763" cy="5638471"/>
          </a:xfrm>
          <a:prstGeom prst="rect">
            <a:avLst/>
          </a:prstGeom>
        </p:spPr>
      </p:pic>
      <p:sp>
        <p:nvSpPr>
          <p:cNvPr id="2" name="Title 1"/>
          <p:cNvSpPr>
            <a:spLocks noGrp="1"/>
          </p:cNvSpPr>
          <p:nvPr>
            <p:ph type="ctrTitle" hasCustomPrompt="1"/>
          </p:nvPr>
        </p:nvSpPr>
        <p:spPr>
          <a:xfrm>
            <a:off x="898996" y="907092"/>
            <a:ext cx="6559809" cy="690255"/>
          </a:xfrm>
          <a:prstGeom prst="rect">
            <a:avLst/>
          </a:prstGeom>
        </p:spPr>
        <p:txBody>
          <a:bodyPr lIns="0" tIns="0" rIns="0" bIns="0" anchor="t">
            <a:normAutofit/>
          </a:bodyPr>
          <a:lstStyle>
            <a:lvl1pPr algn="l">
              <a:defRPr sz="3200" b="0" i="0">
                <a:solidFill>
                  <a:schemeClr val="tx1"/>
                </a:solidFill>
                <a:latin typeface="Microsoft YaHei" panose="020B0503020204020204" pitchFamily="34" charset="-122"/>
                <a:ea typeface="Microsoft YaHei" panose="020B0503020204020204" pitchFamily="34" charset="-122"/>
              </a:defRPr>
            </a:lvl1pPr>
          </a:lstStyle>
          <a:p>
            <a:r>
              <a:rPr lang="zh-CN" altLang="en-US" dirty="0"/>
              <a:t>单击此处添加标题</a:t>
            </a:r>
            <a:endParaRPr lang="en-US" dirty="0"/>
          </a:p>
        </p:txBody>
      </p:sp>
      <p:sp>
        <p:nvSpPr>
          <p:cNvPr id="8" name="L 形 7"/>
          <p:cNvSpPr/>
          <p:nvPr userDrawn="1"/>
        </p:nvSpPr>
        <p:spPr>
          <a:xfrm rot="5400000">
            <a:off x="7929967" y="1657555"/>
            <a:ext cx="701032" cy="717936"/>
          </a:xfrm>
          <a:prstGeom prst="corner">
            <a:avLst>
              <a:gd name="adj1" fmla="val 3243"/>
              <a:gd name="adj2" fmla="val 3048"/>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a:p>
        </p:txBody>
      </p:sp>
      <p:sp>
        <p:nvSpPr>
          <p:cNvPr id="5" name="Text Placeholder 5"/>
          <p:cNvSpPr>
            <a:spLocks noGrp="1"/>
          </p:cNvSpPr>
          <p:nvPr>
            <p:ph type="body" sz="quarter" idx="10" hasCustomPrompt="1"/>
          </p:nvPr>
        </p:nvSpPr>
        <p:spPr>
          <a:xfrm>
            <a:off x="929260" y="1949372"/>
            <a:ext cx="6535842" cy="643926"/>
          </a:xfrm>
        </p:spPr>
        <p:txBody>
          <a:bodyPr/>
          <a:lstStyle>
            <a:lvl1pPr>
              <a:defRPr sz="1400">
                <a:solidFill>
                  <a:schemeClr val="tx1"/>
                </a:solidFill>
              </a:defRPr>
            </a:lvl1pPr>
          </a:lstStyle>
          <a:p>
            <a:pPr lvl="0"/>
            <a:r>
              <a:rPr lang="zh-CN" altLang="en-US" dirty="0"/>
              <a:t>单击此处添加文本</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_Chinese text page">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729175" y="456134"/>
            <a:ext cx="10740640" cy="993400"/>
          </a:xfrm>
          <a:prstGeom prst="rect">
            <a:avLst/>
          </a:prstGeom>
        </p:spPr>
        <p:txBody>
          <a:bodyPr lIns="0" tIns="0" rIns="0" bIns="0" anchor="t">
            <a:normAutofit/>
          </a:bodyPr>
          <a:lstStyle>
            <a:lvl1pPr marL="0" indent="0" algn="l">
              <a:lnSpc>
                <a:spcPts val="3430"/>
              </a:lnSpc>
              <a:spcBef>
                <a:spcPts val="0"/>
              </a:spcBef>
              <a:buNone/>
              <a:defRPr sz="3200" baseline="0">
                <a:solidFill>
                  <a:schemeClr val="tx1"/>
                </a:solidFill>
                <a:latin typeface="Microsoft YaHei" panose="020B0503020204020204" pitchFamily="34" charset="-122"/>
                <a:ea typeface="Microsoft YaHei" panose="020B0503020204020204" pitchFamily="34" charset="-122"/>
              </a:defRPr>
            </a:lvl1pPr>
            <a:lvl2pPr marL="593725" indent="0" algn="ctr">
              <a:buNone/>
              <a:defRPr sz="2600"/>
            </a:lvl2pPr>
            <a:lvl3pPr marL="1188085" indent="0" algn="ctr">
              <a:buNone/>
              <a:defRPr sz="2340"/>
            </a:lvl3pPr>
            <a:lvl4pPr marL="1781810" indent="0" algn="ctr">
              <a:buNone/>
              <a:defRPr sz="2080"/>
            </a:lvl4pPr>
            <a:lvl5pPr marL="2375535" indent="0" algn="ctr">
              <a:buNone/>
              <a:defRPr sz="2080"/>
            </a:lvl5pPr>
            <a:lvl6pPr marL="2969260" indent="0" algn="ctr">
              <a:buNone/>
              <a:defRPr sz="2080"/>
            </a:lvl6pPr>
            <a:lvl7pPr marL="3563620" indent="0" algn="ctr">
              <a:buNone/>
              <a:defRPr sz="2080"/>
            </a:lvl7pPr>
            <a:lvl8pPr marL="4157345" indent="0" algn="ctr">
              <a:buNone/>
              <a:defRPr sz="2080"/>
            </a:lvl8pPr>
            <a:lvl9pPr marL="4751070" indent="0" algn="ctr">
              <a:buNone/>
              <a:defRPr sz="2080"/>
            </a:lvl9pPr>
          </a:lstStyle>
          <a:p>
            <a:r>
              <a:rPr lang="zh-CN" altLang="en-US" dirty="0"/>
              <a:t>单击此处添加标题</a:t>
            </a:r>
            <a:endParaRPr lang="en-US" dirty="0"/>
          </a:p>
        </p:txBody>
      </p:sp>
      <p:sp>
        <p:nvSpPr>
          <p:cNvPr id="7" name="Content Placeholder 2"/>
          <p:cNvSpPr>
            <a:spLocks noGrp="1"/>
          </p:cNvSpPr>
          <p:nvPr>
            <p:ph idx="10" hasCustomPrompt="1"/>
          </p:nvPr>
        </p:nvSpPr>
        <p:spPr>
          <a:xfrm>
            <a:off x="736908" y="1501989"/>
            <a:ext cx="10733557" cy="4690459"/>
          </a:xfrm>
          <a:prstGeom prst="rect">
            <a:avLst/>
          </a:prstGeom>
        </p:spPr>
        <p:txBody>
          <a:bodyPr lIns="0" tIns="0" rIns="0" bIns="0"/>
          <a:lstStyle>
            <a:lvl1pPr marL="12065" indent="0">
              <a:lnSpc>
                <a:spcPct val="100000"/>
              </a:lnSpc>
              <a:spcBef>
                <a:spcPts val="0"/>
              </a:spcBef>
              <a:buFontTx/>
              <a:buNone/>
              <a:tabLst>
                <a:tab pos="1208405" algn="ctr"/>
              </a:tabLst>
              <a:defRPr sz="1800" baseline="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1pPr>
            <a:lvl2pPr marL="525780" indent="-171450">
              <a:buFont typeface="Arial" panose="020B0604020202020204" pitchFamily="34" charset="0"/>
              <a:buChar char="•"/>
              <a:tabLst>
                <a:tab pos="1208405" algn="ctr"/>
              </a:tabLst>
              <a:defRPr sz="1300" baseline="0"/>
            </a:lvl2pPr>
            <a:lvl3pPr marL="525780" indent="-171450">
              <a:buFont typeface="Arial" panose="020B0604020202020204" pitchFamily="34" charset="0"/>
              <a:buChar char="•"/>
              <a:tabLst>
                <a:tab pos="1208405" algn="ctr"/>
              </a:tabLst>
              <a:defRPr sz="1300" baseline="0"/>
            </a:lvl3pPr>
            <a:lvl4pPr marL="525780" indent="-171450">
              <a:buFont typeface="Arial" panose="020B0604020202020204" pitchFamily="34" charset="0"/>
              <a:buChar char="•"/>
              <a:tabLst>
                <a:tab pos="1208405" algn="ctr"/>
              </a:tabLst>
              <a:defRPr sz="1300" baseline="0"/>
            </a:lvl4pPr>
            <a:lvl5pPr marL="525780" indent="-171450">
              <a:buFont typeface="Arial" panose="020B0604020202020204" pitchFamily="34" charset="0"/>
              <a:buChar char="•"/>
              <a:tabLst>
                <a:tab pos="1208405" algn="ctr"/>
              </a:tabLst>
              <a:defRPr sz="1300" baseline="0"/>
            </a:lvl5pPr>
          </a:lstStyle>
          <a:p>
            <a:pPr lvl="0"/>
            <a:r>
              <a:rPr lang="zh-CN" altLang="en-US" dirty="0"/>
              <a:t>单击此处添加文本</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End page">
    <p:bg>
      <p:bgPr>
        <a:solidFill>
          <a:srgbClr val="FFFFFF"/>
        </a:solidFill>
        <a:effectLst/>
      </p:bgPr>
    </p:bg>
    <p:spTree>
      <p:nvGrpSpPr>
        <p:cNvPr id="1" name=""/>
        <p:cNvGrpSpPr/>
        <p:nvPr/>
      </p:nvGrpSpPr>
      <p:grpSpPr>
        <a:xfrm>
          <a:off x="0" y="0"/>
          <a:ext cx="0" cy="0"/>
          <a:chOff x="0" y="0"/>
          <a:chExt cx="0" cy="0"/>
        </a:xfrm>
      </p:grpSpPr>
      <p:sp>
        <p:nvSpPr>
          <p:cNvPr id="4" name="TextBox 3"/>
          <p:cNvSpPr txBox="1"/>
          <p:nvPr userDrawn="1"/>
        </p:nvSpPr>
        <p:spPr>
          <a:xfrm>
            <a:off x="607486" y="1402064"/>
            <a:ext cx="3921034" cy="854717"/>
          </a:xfrm>
          <a:prstGeom prst="rect">
            <a:avLst/>
          </a:prstGeom>
          <a:noFill/>
        </p:spPr>
        <p:txBody>
          <a:bodyPr wrap="square" rtlCol="0">
            <a:spAutoFit/>
          </a:bodyPr>
          <a:lstStyle/>
          <a:p>
            <a:pPr algn="l"/>
            <a:r>
              <a:rPr lang="en-US" sz="4800" dirty="0">
                <a:solidFill>
                  <a:schemeClr val="tx1"/>
                </a:solidFill>
              </a:rPr>
              <a:t>Thank you.</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9.xml"/><Relationship Id="rId2" Type="http://schemas.openxmlformats.org/officeDocument/2006/relationships/slideLayout" Target="../slideLayouts/slideLayout8.xml"/><Relationship Id="rId1" Type="http://schemas.openxmlformats.org/officeDocument/2006/relationships/slideLayout" Target="../slideLayouts/slideLayout7.xml"/><Relationship Id="rId5" Type="http://schemas.openxmlformats.org/officeDocument/2006/relationships/image" Target="../media/image1.jpeg"/><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theme" Target="../theme/theme4.xml"/><Relationship Id="rId1" Type="http://schemas.openxmlformats.org/officeDocument/2006/relationships/slideLayout" Target="../slideLayouts/slideLayout10.xml"/></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theme" Target="../theme/theme5.xml"/><Relationship Id="rId1"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15" name="Text Placeholder 14"/>
          <p:cNvSpPr>
            <a:spLocks noGrp="1"/>
          </p:cNvSpPr>
          <p:nvPr>
            <p:ph type="body" idx="1"/>
          </p:nvPr>
        </p:nvSpPr>
        <p:spPr>
          <a:xfrm>
            <a:off x="909309" y="6270651"/>
            <a:ext cx="1982316" cy="153611"/>
          </a:xfrm>
          <a:prstGeom prst="rect">
            <a:avLst/>
          </a:prstGeom>
        </p:spPr>
        <p:txBody>
          <a:bodyPr vert="horz" lIns="0" tIns="0" rIns="0" bIns="0" rtlCol="0">
            <a:noAutofit/>
          </a:bodyPr>
          <a:lstStyle/>
          <a:p>
            <a:pPr lvl="0"/>
            <a:r>
              <a:rPr lang="en-US" dirty="0"/>
              <a:t>Edit Master text styles</a:t>
            </a:r>
          </a:p>
        </p:txBody>
      </p:sp>
      <p:pic>
        <p:nvPicPr>
          <p:cNvPr id="4" name="图片 3"/>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9206684" y="5970030"/>
            <a:ext cx="2256665" cy="493531"/>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hdr="0" ftr="0" dt="0"/>
  <p:txStyles>
    <p:titleStyle>
      <a:lvl1pPr algn="l" defTabSz="914400" rtl="0" eaLnBrk="1" latinLnBrk="0" hangingPunct="1">
        <a:lnSpc>
          <a:spcPts val="3440"/>
        </a:lnSpc>
        <a:spcBef>
          <a:spcPct val="0"/>
        </a:spcBef>
        <a:buNone/>
        <a:defRPr sz="3200" kern="1200">
          <a:solidFill>
            <a:schemeClr val="tx1"/>
          </a:solidFill>
          <a:latin typeface="Microsoft YaHei" panose="020B0503020204020204" pitchFamily="34" charset="-122"/>
          <a:ea typeface="Microsoft YaHei" panose="020B0503020204020204" pitchFamily="34" charset="-122"/>
          <a:cs typeface="+mj-cs"/>
        </a:defRPr>
      </a:lvl1pPr>
    </p:titleStyle>
    <p:bodyStyle>
      <a:lvl1pPr marL="0" indent="0" algn="l" defTabSz="914400" rtl="0" eaLnBrk="1" latinLnBrk="0" hangingPunct="1">
        <a:lnSpc>
          <a:spcPct val="100000"/>
        </a:lnSpc>
        <a:spcBef>
          <a:spcPts val="0"/>
        </a:spcBef>
        <a:buFontTx/>
        <a:buNone/>
        <a:defRPr sz="1000" kern="1200">
          <a:solidFill>
            <a:srgbClr val="1D1D1B"/>
          </a:solidFill>
          <a:latin typeface="Arial" panose="020B0604020202020204" pitchFamily="34" charset="0"/>
          <a:ea typeface="Microsoft YaHei" panose="020B0503020204020204" pitchFamily="34" charset="-122"/>
          <a:cs typeface="Arial" panose="020B0604020202020204" pitchFamily="34" charset="0"/>
        </a:defRPr>
      </a:lvl1pPr>
      <a:lvl2pPr marL="457200" indent="0" algn="l" defTabSz="914400" rtl="0" eaLnBrk="1" latinLnBrk="0" hangingPunct="1">
        <a:lnSpc>
          <a:spcPct val="90000"/>
        </a:lnSpc>
        <a:spcBef>
          <a:spcPts val="500"/>
        </a:spcBef>
        <a:buFontTx/>
        <a:buNone/>
        <a:defRPr sz="750" kern="1200">
          <a:solidFill>
            <a:schemeClr val="tx1"/>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Tx/>
        <a:buNone/>
        <a:defRPr sz="750" kern="1200">
          <a:solidFill>
            <a:schemeClr val="tx1"/>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Tx/>
        <a:buNone/>
        <a:defRPr sz="750" kern="1200">
          <a:solidFill>
            <a:schemeClr val="tx1"/>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Tx/>
        <a:buNone/>
        <a:defRPr sz="75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15" name="Text Placeholder 14"/>
          <p:cNvSpPr>
            <a:spLocks noGrp="1"/>
          </p:cNvSpPr>
          <p:nvPr>
            <p:ph type="body" idx="1"/>
          </p:nvPr>
        </p:nvSpPr>
        <p:spPr>
          <a:xfrm>
            <a:off x="909309" y="6270651"/>
            <a:ext cx="1982316" cy="153611"/>
          </a:xfrm>
          <a:prstGeom prst="rect">
            <a:avLst/>
          </a:prstGeom>
        </p:spPr>
        <p:txBody>
          <a:bodyPr vert="horz" lIns="0" tIns="0" rIns="0" bIns="0" rtlCol="0">
            <a:noAutofit/>
          </a:bodyPr>
          <a:lstStyle/>
          <a:p>
            <a:pPr lvl="0"/>
            <a:r>
              <a:rPr lang="en-US" dirty="0"/>
              <a:t>Edit Master text styles</a:t>
            </a:r>
          </a:p>
        </p:txBody>
      </p:sp>
      <p:pic>
        <p:nvPicPr>
          <p:cNvPr id="4" name="图片 3"/>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9206684" y="5970030"/>
            <a:ext cx="2256665" cy="493531"/>
          </a:xfrm>
          <a:prstGeom prst="rect">
            <a:avLst/>
          </a:prstGeom>
        </p:spPr>
      </p:pic>
    </p:spTree>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Lst>
  <p:hf hdr="0" ftr="0" dt="0"/>
  <p:txStyles>
    <p:titleStyle>
      <a:lvl1pPr algn="l" defTabSz="914400" rtl="0" eaLnBrk="1" latinLnBrk="0" hangingPunct="1">
        <a:lnSpc>
          <a:spcPts val="3440"/>
        </a:lnSpc>
        <a:spcBef>
          <a:spcPct val="0"/>
        </a:spcBef>
        <a:buNone/>
        <a:defRPr sz="3200" kern="1200">
          <a:solidFill>
            <a:schemeClr val="tx1"/>
          </a:solidFill>
          <a:latin typeface="Microsoft YaHei" panose="020B0503020204020204" pitchFamily="34" charset="-122"/>
          <a:ea typeface="Microsoft YaHei" panose="020B0503020204020204" pitchFamily="34" charset="-122"/>
          <a:cs typeface="+mj-cs"/>
        </a:defRPr>
      </a:lvl1pPr>
    </p:titleStyle>
    <p:bodyStyle>
      <a:lvl1pPr marL="0" indent="0" algn="l" defTabSz="914400" rtl="0" eaLnBrk="1" latinLnBrk="0" hangingPunct="1">
        <a:lnSpc>
          <a:spcPct val="100000"/>
        </a:lnSpc>
        <a:spcBef>
          <a:spcPts val="0"/>
        </a:spcBef>
        <a:buFontTx/>
        <a:buNone/>
        <a:defRPr sz="1000" kern="1200">
          <a:solidFill>
            <a:srgbClr val="1D1D1B"/>
          </a:solidFill>
          <a:latin typeface="Arial" panose="020B0604020202020204" pitchFamily="34" charset="0"/>
          <a:ea typeface="Microsoft YaHei" panose="020B0503020204020204" pitchFamily="34" charset="-122"/>
          <a:cs typeface="Arial" panose="020B0604020202020204" pitchFamily="34" charset="0"/>
        </a:defRPr>
      </a:lvl1pPr>
      <a:lvl2pPr marL="457200" indent="0" algn="l" defTabSz="914400" rtl="0" eaLnBrk="1" latinLnBrk="0" hangingPunct="1">
        <a:lnSpc>
          <a:spcPct val="90000"/>
        </a:lnSpc>
        <a:spcBef>
          <a:spcPts val="500"/>
        </a:spcBef>
        <a:buFontTx/>
        <a:buNone/>
        <a:defRPr sz="750" kern="1200">
          <a:solidFill>
            <a:schemeClr val="tx1"/>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Tx/>
        <a:buNone/>
        <a:defRPr sz="750" kern="1200">
          <a:solidFill>
            <a:schemeClr val="tx1"/>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Tx/>
        <a:buNone/>
        <a:defRPr sz="750" kern="1200">
          <a:solidFill>
            <a:schemeClr val="tx1"/>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Tx/>
        <a:buNone/>
        <a:defRPr sz="75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hf hdr="0" ftr="0" dt="0"/>
  <p:txStyles>
    <p:titleStyle>
      <a:lvl1pPr algn="l" defTabSz="1188085" rtl="0" eaLnBrk="1" latinLnBrk="0" hangingPunct="1">
        <a:lnSpc>
          <a:spcPct val="90000"/>
        </a:lnSpc>
        <a:spcBef>
          <a:spcPct val="0"/>
        </a:spcBef>
        <a:buNone/>
        <a:defRPr sz="5715" kern="1200">
          <a:solidFill>
            <a:schemeClr val="tx1"/>
          </a:solidFill>
          <a:latin typeface="+mj-lt"/>
          <a:ea typeface="+mj-ea"/>
          <a:cs typeface="+mj-cs"/>
        </a:defRPr>
      </a:lvl1pPr>
    </p:titleStyle>
    <p:bodyStyle>
      <a:lvl1pPr marL="297180" indent="-297180" algn="l" defTabSz="1188085" rtl="0" eaLnBrk="1" latinLnBrk="0" hangingPunct="1">
        <a:lnSpc>
          <a:spcPct val="90000"/>
        </a:lnSpc>
        <a:spcBef>
          <a:spcPts val="1300"/>
        </a:spcBef>
        <a:buFont typeface="Arial" panose="020B0604020202020204" pitchFamily="34" charset="0"/>
        <a:buChar char="•"/>
        <a:defRPr sz="3635" kern="1200">
          <a:solidFill>
            <a:schemeClr val="tx1"/>
          </a:solidFill>
          <a:latin typeface="+mn-lt"/>
          <a:ea typeface="+mn-ea"/>
          <a:cs typeface="+mn-cs"/>
        </a:defRPr>
      </a:lvl1pPr>
      <a:lvl2pPr marL="890905" indent="-297180" algn="l" defTabSz="1188085" rtl="0" eaLnBrk="1" latinLnBrk="0" hangingPunct="1">
        <a:lnSpc>
          <a:spcPct val="90000"/>
        </a:lnSpc>
        <a:spcBef>
          <a:spcPts val="650"/>
        </a:spcBef>
        <a:buFont typeface="Arial" panose="020B0604020202020204" pitchFamily="34" charset="0"/>
        <a:buChar char="•"/>
        <a:defRPr sz="3120" kern="1200">
          <a:solidFill>
            <a:schemeClr val="tx1"/>
          </a:solidFill>
          <a:latin typeface="+mn-lt"/>
          <a:ea typeface="+mn-ea"/>
          <a:cs typeface="+mn-cs"/>
        </a:defRPr>
      </a:lvl2pPr>
      <a:lvl3pPr marL="1484630" indent="-297180" algn="l" defTabSz="1188085" rtl="0" eaLnBrk="1" latinLnBrk="0" hangingPunct="1">
        <a:lnSpc>
          <a:spcPct val="90000"/>
        </a:lnSpc>
        <a:spcBef>
          <a:spcPts val="650"/>
        </a:spcBef>
        <a:buFont typeface="Arial" panose="020B0604020202020204" pitchFamily="34" charset="0"/>
        <a:buChar char="•"/>
        <a:defRPr sz="2600" kern="1200">
          <a:solidFill>
            <a:schemeClr val="tx1"/>
          </a:solidFill>
          <a:latin typeface="+mn-lt"/>
          <a:ea typeface="+mn-ea"/>
          <a:cs typeface="+mn-cs"/>
        </a:defRPr>
      </a:lvl3pPr>
      <a:lvl4pPr marL="2078355" indent="-297180" algn="l" defTabSz="1188085"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4pPr>
      <a:lvl5pPr marL="2672715" indent="-297180" algn="l" defTabSz="1188085"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5pPr>
      <a:lvl6pPr marL="3266440" indent="-297180" algn="l" defTabSz="1188085"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6pPr>
      <a:lvl7pPr marL="3860165" indent="-297180" algn="l" defTabSz="1188085"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7pPr>
      <a:lvl8pPr marL="4454525" indent="-297180" algn="l" defTabSz="1188085"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8pPr>
      <a:lvl9pPr marL="5048250" indent="-297180" algn="l" defTabSz="1188085"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9pPr>
    </p:bodyStyle>
    <p:otherStyle>
      <a:defPPr>
        <a:defRPr lang="en-US"/>
      </a:defPPr>
      <a:lvl1pPr marL="0" algn="l" defTabSz="1188085" rtl="0" eaLnBrk="1" latinLnBrk="0" hangingPunct="1">
        <a:defRPr sz="2340" kern="1200">
          <a:solidFill>
            <a:schemeClr val="tx1"/>
          </a:solidFill>
          <a:latin typeface="+mn-lt"/>
          <a:ea typeface="+mn-ea"/>
          <a:cs typeface="+mn-cs"/>
        </a:defRPr>
      </a:lvl1pPr>
      <a:lvl2pPr marL="593725" algn="l" defTabSz="1188085" rtl="0" eaLnBrk="1" latinLnBrk="0" hangingPunct="1">
        <a:defRPr sz="2340" kern="1200">
          <a:solidFill>
            <a:schemeClr val="tx1"/>
          </a:solidFill>
          <a:latin typeface="+mn-lt"/>
          <a:ea typeface="+mn-ea"/>
          <a:cs typeface="+mn-cs"/>
        </a:defRPr>
      </a:lvl2pPr>
      <a:lvl3pPr marL="1188085" algn="l" defTabSz="1188085" rtl="0" eaLnBrk="1" latinLnBrk="0" hangingPunct="1">
        <a:defRPr sz="2340" kern="1200">
          <a:solidFill>
            <a:schemeClr val="tx1"/>
          </a:solidFill>
          <a:latin typeface="+mn-lt"/>
          <a:ea typeface="+mn-ea"/>
          <a:cs typeface="+mn-cs"/>
        </a:defRPr>
      </a:lvl3pPr>
      <a:lvl4pPr marL="1781810" algn="l" defTabSz="1188085" rtl="0" eaLnBrk="1" latinLnBrk="0" hangingPunct="1">
        <a:defRPr sz="2340" kern="1200">
          <a:solidFill>
            <a:schemeClr val="tx1"/>
          </a:solidFill>
          <a:latin typeface="+mn-lt"/>
          <a:ea typeface="+mn-ea"/>
          <a:cs typeface="+mn-cs"/>
        </a:defRPr>
      </a:lvl4pPr>
      <a:lvl5pPr marL="2375535" algn="l" defTabSz="1188085" rtl="0" eaLnBrk="1" latinLnBrk="0" hangingPunct="1">
        <a:defRPr sz="2340" kern="1200">
          <a:solidFill>
            <a:schemeClr val="tx1"/>
          </a:solidFill>
          <a:latin typeface="+mn-lt"/>
          <a:ea typeface="+mn-ea"/>
          <a:cs typeface="+mn-cs"/>
        </a:defRPr>
      </a:lvl5pPr>
      <a:lvl6pPr marL="2969260" algn="l" defTabSz="1188085" rtl="0" eaLnBrk="1" latinLnBrk="0" hangingPunct="1">
        <a:defRPr sz="2340" kern="1200">
          <a:solidFill>
            <a:schemeClr val="tx1"/>
          </a:solidFill>
          <a:latin typeface="+mn-lt"/>
          <a:ea typeface="+mn-ea"/>
          <a:cs typeface="+mn-cs"/>
        </a:defRPr>
      </a:lvl6pPr>
      <a:lvl7pPr marL="3563620" algn="l" defTabSz="1188085" rtl="0" eaLnBrk="1" latinLnBrk="0" hangingPunct="1">
        <a:defRPr sz="2340" kern="1200">
          <a:solidFill>
            <a:schemeClr val="tx1"/>
          </a:solidFill>
          <a:latin typeface="+mn-lt"/>
          <a:ea typeface="+mn-ea"/>
          <a:cs typeface="+mn-cs"/>
        </a:defRPr>
      </a:lvl7pPr>
      <a:lvl8pPr marL="4157345" algn="l" defTabSz="1188085" rtl="0" eaLnBrk="1" latinLnBrk="0" hangingPunct="1">
        <a:defRPr sz="2340" kern="1200">
          <a:solidFill>
            <a:schemeClr val="tx1"/>
          </a:solidFill>
          <a:latin typeface="+mn-lt"/>
          <a:ea typeface="+mn-ea"/>
          <a:cs typeface="+mn-cs"/>
        </a:defRPr>
      </a:lvl8pPr>
      <a:lvl9pPr marL="4751070" algn="l" defTabSz="1188085" rtl="0" eaLnBrk="1" latinLnBrk="0" hangingPunct="1">
        <a:defRPr sz="234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userDrawn="1"/>
        </p:nvSpPr>
        <p:spPr>
          <a:xfrm>
            <a:off x="1095467" y="6356939"/>
            <a:ext cx="1463467" cy="246221"/>
          </a:xfrm>
          <a:prstGeom prst="rect">
            <a:avLst/>
          </a:prstGeom>
          <a:noFill/>
        </p:spPr>
        <p:txBody>
          <a:bodyPr wrap="square" rtlCol="0">
            <a:spAutoFit/>
          </a:bodyPr>
          <a:lstStyle/>
          <a:p>
            <a:r>
              <a:rPr lang="en-US" sz="1000" b="0" baseline="0">
                <a:solidFill>
                  <a:srgbClr val="1D1D1B"/>
                </a:solidFill>
                <a:latin typeface="Arial" panose="020B0604020202020204" pitchFamily="34" charset="0"/>
                <a:cs typeface="Arial" panose="020B0604020202020204" pitchFamily="34" charset="0"/>
              </a:rPr>
              <a:t>Huawei Confidential</a:t>
            </a:r>
          </a:p>
        </p:txBody>
      </p:sp>
      <p:sp>
        <p:nvSpPr>
          <p:cNvPr id="4" name="TextBox 3"/>
          <p:cNvSpPr txBox="1"/>
          <p:nvPr userDrawn="1"/>
        </p:nvSpPr>
        <p:spPr>
          <a:xfrm>
            <a:off x="734131" y="6402806"/>
            <a:ext cx="499729" cy="150296"/>
          </a:xfrm>
          <a:prstGeom prst="rect">
            <a:avLst/>
          </a:prstGeom>
          <a:noFill/>
        </p:spPr>
        <p:txBody>
          <a:bodyPr wrap="square" lIns="0" tIns="0" rIns="0" bIns="0" rtlCol="0">
            <a:spAutoFit/>
          </a:bodyPr>
          <a:lstStyle/>
          <a:p>
            <a:pPr marL="0" marR="0" lvl="0" indent="0" algn="l" defTabSz="890905" rtl="0" eaLnBrk="1" fontAlgn="auto" latinLnBrk="0" hangingPunct="1">
              <a:lnSpc>
                <a:spcPct val="100000"/>
              </a:lnSpc>
              <a:spcBef>
                <a:spcPts val="0"/>
              </a:spcBef>
              <a:spcAft>
                <a:spcPts val="0"/>
              </a:spcAft>
              <a:buClrTx/>
              <a:buSzTx/>
              <a:buFontTx/>
              <a:buNone/>
              <a:defRPr/>
            </a:pPr>
            <a:fld id="{C3837181-38C6-AD4F-B8BA-B444770388BB}" type="slidenum">
              <a:rPr lang="en-US" sz="975" smtClean="0">
                <a:solidFill>
                  <a:srgbClr val="1D1D1B"/>
                </a:solidFill>
                <a:latin typeface="Arial" panose="020B0604020202020204" pitchFamily="34" charset="0"/>
                <a:cs typeface="Arial" panose="020B0604020202020204" pitchFamily="34" charset="0"/>
              </a:rPr>
              <a:t>‹#›</a:t>
            </a:fld>
            <a:endParaRPr lang="en-US" sz="975">
              <a:solidFill>
                <a:srgbClr val="1D1D1B"/>
              </a:solidFill>
              <a:latin typeface="Arial" panose="020B0604020202020204" pitchFamily="34" charset="0"/>
              <a:cs typeface="Arial" panose="020B0604020202020204" pitchFamily="34" charset="0"/>
            </a:endParaRPr>
          </a:p>
        </p:txBody>
      </p:sp>
      <p:grpSp>
        <p:nvGrpSpPr>
          <p:cNvPr id="25" name="组合 24"/>
          <p:cNvGrpSpPr/>
          <p:nvPr userDrawn="1"/>
        </p:nvGrpSpPr>
        <p:grpSpPr>
          <a:xfrm>
            <a:off x="12216278" y="2931937"/>
            <a:ext cx="1982916" cy="3934682"/>
            <a:chOff x="12216278" y="2262477"/>
            <a:chExt cx="1982916" cy="4604143"/>
          </a:xfrm>
        </p:grpSpPr>
        <p:grpSp>
          <p:nvGrpSpPr>
            <p:cNvPr id="26" name="组合 25"/>
            <p:cNvGrpSpPr/>
            <p:nvPr userDrawn="1"/>
          </p:nvGrpSpPr>
          <p:grpSpPr>
            <a:xfrm>
              <a:off x="12315635" y="2262477"/>
              <a:ext cx="1883559" cy="692624"/>
              <a:chOff x="12315635" y="2207613"/>
              <a:chExt cx="1883559" cy="692624"/>
            </a:xfrm>
          </p:grpSpPr>
          <p:sp>
            <p:nvSpPr>
              <p:cNvPr id="44" name="矩形 5"/>
              <p:cNvSpPr/>
              <p:nvPr userDrawn="1"/>
            </p:nvSpPr>
            <p:spPr>
              <a:xfrm>
                <a:off x="12315635" y="2401808"/>
                <a:ext cx="911019" cy="498429"/>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a:solidFill>
                      <a:schemeClr val="tx2"/>
                    </a:solidFill>
                    <a:latin typeface="Arial" panose="020B0604020202020204" pitchFamily="34" charset="0"/>
                    <a:ea typeface="Arial" panose="020B0604020202020204" pitchFamily="34" charset="0"/>
                    <a:cs typeface="Arial" panose="020B0604020202020204" pitchFamily="34" charset="0"/>
                  </a:rPr>
                  <a:t>P</a:t>
                </a:r>
                <a:r>
                  <a:rPr kumimoji="1" lang="en-US" altLang="en-US" sz="700" b="1">
                    <a:solidFill>
                      <a:schemeClr val="tx2"/>
                    </a:solidFill>
                    <a:latin typeface="Arial" panose="020B0604020202020204" pitchFamily="34" charset="0"/>
                    <a:ea typeface="Arial" panose="020B0604020202020204" pitchFamily="34" charset="0"/>
                    <a:cs typeface="Arial" panose="020B0604020202020204" pitchFamily="34" charset="0"/>
                  </a:rPr>
                  <a:t>ANTONE</a:t>
                </a:r>
                <a:r>
                  <a:rPr kumimoji="1" lang="en-US" altLang="zh-CN" sz="700" b="1">
                    <a:solidFill>
                      <a:schemeClr val="tx2"/>
                    </a:solidFill>
                    <a:latin typeface="Arial" panose="020B0604020202020204" pitchFamily="34" charset="0"/>
                    <a:ea typeface="Arial" panose="020B0604020202020204" pitchFamily="34" charset="0"/>
                    <a:cs typeface="Arial" panose="020B0604020202020204" pitchFamily="34" charset="0"/>
                  </a:rPr>
                  <a:t> 186C</a:t>
                </a:r>
              </a:p>
              <a:p>
                <a:pPr algn="ctr">
                  <a:lnSpc>
                    <a:spcPct val="100000"/>
                  </a:lnSpc>
                </a:pPr>
                <a:r>
                  <a:rPr kumimoji="1" lang="en-US" altLang="zh-CN" sz="700" b="1">
                    <a:solidFill>
                      <a:schemeClr val="tx2"/>
                    </a:solidFill>
                    <a:latin typeface="Arial" panose="020B0604020202020204" pitchFamily="34" charset="0"/>
                    <a:ea typeface="Arial" panose="020B0604020202020204" pitchFamily="34" charset="0"/>
                    <a:cs typeface="Arial" panose="020B0604020202020204" pitchFamily="34" charset="0"/>
                  </a:rPr>
                  <a:t>RGB 200/16/46</a:t>
                </a:r>
              </a:p>
            </p:txBody>
          </p:sp>
          <p:sp>
            <p:nvSpPr>
              <p:cNvPr id="45" name="矩形 9"/>
              <p:cNvSpPr/>
              <p:nvPr userDrawn="1"/>
            </p:nvSpPr>
            <p:spPr>
              <a:xfrm>
                <a:off x="13288175" y="2401808"/>
                <a:ext cx="911019" cy="498429"/>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a:solidFill>
                      <a:schemeClr val="tx2"/>
                    </a:solidFill>
                    <a:latin typeface="Arial" panose="020B0604020202020204" pitchFamily="34" charset="0"/>
                    <a:ea typeface="Arial" panose="020B0604020202020204" pitchFamily="34" charset="0"/>
                    <a:cs typeface="Arial" panose="020B0604020202020204" pitchFamily="34" charset="0"/>
                  </a:rPr>
                  <a:t>P</a:t>
                </a:r>
                <a:r>
                  <a:rPr kumimoji="1" lang="en-US" altLang="en-US" sz="700" b="1">
                    <a:solidFill>
                      <a:schemeClr val="tx2"/>
                    </a:solidFill>
                    <a:latin typeface="Arial" panose="020B0604020202020204" pitchFamily="34" charset="0"/>
                    <a:ea typeface="Arial" panose="020B0604020202020204" pitchFamily="34" charset="0"/>
                    <a:cs typeface="Arial" panose="020B0604020202020204" pitchFamily="34" charset="0"/>
                  </a:rPr>
                  <a:t>ANTONE</a:t>
                </a:r>
                <a:r>
                  <a:rPr kumimoji="1" lang="en-US" altLang="zh-CN" sz="700" b="1">
                    <a:solidFill>
                      <a:schemeClr val="tx2"/>
                    </a:solidFill>
                    <a:latin typeface="Arial" panose="020B0604020202020204" pitchFamily="34" charset="0"/>
                    <a:ea typeface="Arial" panose="020B0604020202020204" pitchFamily="34" charset="0"/>
                    <a:cs typeface="Arial" panose="020B0604020202020204" pitchFamily="34" charset="0"/>
                  </a:rPr>
                  <a:t> 185C</a:t>
                </a:r>
              </a:p>
              <a:p>
                <a:pPr algn="ctr">
                  <a:lnSpc>
                    <a:spcPct val="100000"/>
                  </a:lnSpc>
                </a:pPr>
                <a:r>
                  <a:rPr kumimoji="1" lang="en-US" altLang="zh-CN" sz="700" b="1">
                    <a:solidFill>
                      <a:schemeClr val="tx2"/>
                    </a:solidFill>
                    <a:latin typeface="Arial" panose="020B0604020202020204" pitchFamily="34" charset="0"/>
                    <a:ea typeface="Arial" panose="020B0604020202020204" pitchFamily="34" charset="0"/>
                    <a:cs typeface="Arial" panose="020B0604020202020204" pitchFamily="34" charset="0"/>
                  </a:rPr>
                  <a:t>RGB 199/0/11</a:t>
                </a:r>
              </a:p>
            </p:txBody>
          </p:sp>
          <p:sp>
            <p:nvSpPr>
              <p:cNvPr id="46" name="文本框 31"/>
              <p:cNvSpPr txBox="1"/>
              <p:nvPr userDrawn="1"/>
            </p:nvSpPr>
            <p:spPr>
              <a:xfrm>
                <a:off x="12326898" y="2207613"/>
                <a:ext cx="384721" cy="153888"/>
              </a:xfrm>
              <a:prstGeom prst="rect">
                <a:avLst/>
              </a:prstGeom>
              <a:noFill/>
            </p:spPr>
            <p:txBody>
              <a:bodyPr wrap="none" lIns="0" tIns="0" rIns="0" bIns="0" rtlCol="0">
                <a:spAutoFit/>
              </a:bodyPr>
              <a:lstStyle/>
              <a:p>
                <a:pPr algn="ctr">
                  <a:lnSpc>
                    <a:spcPct val="100000"/>
                  </a:lnSpc>
                </a:pPr>
                <a:r>
                  <a:rPr kumimoji="1" lang="zh-CN" altLang="en-US" sz="1000">
                    <a:solidFill>
                      <a:schemeClr val="tx1"/>
                    </a:solidFill>
                    <a:latin typeface="Microsoft YaHei" panose="020B0503020204020204" pitchFamily="34" charset="-122"/>
                    <a:ea typeface="Microsoft YaHei" panose="020B0503020204020204" pitchFamily="34" charset="-122"/>
                  </a:rPr>
                  <a:t>品牌色</a:t>
                </a:r>
              </a:p>
            </p:txBody>
          </p:sp>
        </p:grpSp>
        <p:grpSp>
          <p:nvGrpSpPr>
            <p:cNvPr id="27" name="组合 26"/>
            <p:cNvGrpSpPr/>
            <p:nvPr userDrawn="1"/>
          </p:nvGrpSpPr>
          <p:grpSpPr>
            <a:xfrm>
              <a:off x="12216278" y="3080825"/>
              <a:ext cx="1982912" cy="3785795"/>
              <a:chOff x="12216278" y="3080825"/>
              <a:chExt cx="1982912" cy="3785795"/>
            </a:xfrm>
          </p:grpSpPr>
          <p:sp>
            <p:nvSpPr>
              <p:cNvPr id="28" name="矩形 12"/>
              <p:cNvSpPr/>
              <p:nvPr userDrawn="1"/>
            </p:nvSpPr>
            <p:spPr>
              <a:xfrm>
                <a:off x="12315640" y="3785971"/>
                <a:ext cx="885201" cy="462672"/>
              </a:xfrm>
              <a:prstGeom prst="rect">
                <a:avLst/>
              </a:prstGeom>
              <a:solidFill>
                <a:srgbClr val="EA5A4F"/>
              </a:solidFill>
              <a:ln>
                <a:solidFill>
                  <a:srgbClr val="EA5A4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a:solidFill>
                      <a:schemeClr val="tx2"/>
                    </a:solidFill>
                    <a:latin typeface="Arial" panose="020B0604020202020204" pitchFamily="34" charset="0"/>
                    <a:ea typeface="Arial" panose="020B0604020202020204" pitchFamily="34" charset="0"/>
                    <a:cs typeface="Arial" panose="020B0604020202020204" pitchFamily="34" charset="0"/>
                  </a:rPr>
                  <a:t>RGB 234/90/79</a:t>
                </a:r>
              </a:p>
            </p:txBody>
          </p:sp>
          <p:sp>
            <p:nvSpPr>
              <p:cNvPr id="29" name="矩形 13"/>
              <p:cNvSpPr/>
              <p:nvPr userDrawn="1"/>
            </p:nvSpPr>
            <p:spPr>
              <a:xfrm>
                <a:off x="12315640" y="3259312"/>
                <a:ext cx="885201" cy="462672"/>
              </a:xfrm>
              <a:prstGeom prst="rect">
                <a:avLst/>
              </a:prstGeom>
              <a:solidFill>
                <a:srgbClr val="78000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a:solidFill>
                      <a:schemeClr val="tx2"/>
                    </a:solidFill>
                    <a:latin typeface="Arial" panose="020B0604020202020204" pitchFamily="34" charset="0"/>
                    <a:ea typeface="Arial" panose="020B0604020202020204" pitchFamily="34" charset="0"/>
                    <a:cs typeface="Arial" panose="020B0604020202020204" pitchFamily="34" charset="0"/>
                  </a:rPr>
                  <a:t>RGB 120/0/15</a:t>
                </a:r>
              </a:p>
            </p:txBody>
          </p:sp>
          <p:sp>
            <p:nvSpPr>
              <p:cNvPr id="30" name="文本框 15"/>
              <p:cNvSpPr txBox="1"/>
              <p:nvPr userDrawn="1"/>
            </p:nvSpPr>
            <p:spPr>
              <a:xfrm>
                <a:off x="12216278" y="3080825"/>
                <a:ext cx="569387" cy="153888"/>
              </a:xfrm>
              <a:prstGeom prst="rect">
                <a:avLst/>
              </a:prstGeom>
              <a:noFill/>
            </p:spPr>
            <p:txBody>
              <a:bodyPr wrap="square" lIns="0" tIns="0" rIns="0" bIns="0" rtlCol="0" anchor="b" anchorCtr="0">
                <a:spAutoFit/>
              </a:bodyPr>
              <a:lstStyle/>
              <a:p>
                <a:pPr algn="ctr">
                  <a:lnSpc>
                    <a:spcPct val="100000"/>
                  </a:lnSpc>
                </a:pPr>
                <a:r>
                  <a:rPr kumimoji="1" lang="zh-CN" altLang="en-US" sz="1000">
                    <a:solidFill>
                      <a:schemeClr val="tx1"/>
                    </a:solidFill>
                    <a:latin typeface="Microsoft YaHei" panose="020B0503020204020204" pitchFamily="34" charset="-122"/>
                    <a:ea typeface="Microsoft YaHei" panose="020B0503020204020204" pitchFamily="34" charset="-122"/>
                  </a:rPr>
                  <a:t>辅助色</a:t>
                </a:r>
              </a:p>
            </p:txBody>
          </p:sp>
          <p:sp>
            <p:nvSpPr>
              <p:cNvPr id="31" name="矩形 16"/>
              <p:cNvSpPr/>
              <p:nvPr userDrawn="1"/>
            </p:nvSpPr>
            <p:spPr>
              <a:xfrm>
                <a:off x="12315640" y="4836793"/>
                <a:ext cx="885201" cy="462672"/>
              </a:xfrm>
              <a:prstGeom prst="rect">
                <a:avLst/>
              </a:prstGeom>
              <a:solidFill>
                <a:srgbClr val="F8B53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a:solidFill>
                      <a:schemeClr val="tx2"/>
                    </a:solidFill>
                    <a:latin typeface="Arial" panose="020B0604020202020204" pitchFamily="34" charset="0"/>
                    <a:ea typeface="Arial" panose="020B0604020202020204" pitchFamily="34" charset="0"/>
                    <a:cs typeface="Arial" panose="020B0604020202020204" pitchFamily="34" charset="0"/>
                  </a:rPr>
                  <a:t>RGB 248/181/60</a:t>
                </a:r>
              </a:p>
            </p:txBody>
          </p:sp>
          <p:sp>
            <p:nvSpPr>
              <p:cNvPr id="32" name="矩形 17"/>
              <p:cNvSpPr/>
              <p:nvPr userDrawn="1"/>
            </p:nvSpPr>
            <p:spPr>
              <a:xfrm>
                <a:off x="12315640" y="4319278"/>
                <a:ext cx="885201" cy="462672"/>
              </a:xfrm>
              <a:prstGeom prst="rect">
                <a:avLst/>
              </a:prstGeom>
              <a:solidFill>
                <a:srgbClr val="EB5C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a:solidFill>
                      <a:schemeClr val="tx2"/>
                    </a:solidFill>
                    <a:latin typeface="Arial" panose="020B0604020202020204" pitchFamily="34" charset="0"/>
                    <a:ea typeface="Arial" panose="020B0604020202020204" pitchFamily="34" charset="0"/>
                    <a:cs typeface="Arial" panose="020B0604020202020204" pitchFamily="34" charset="0"/>
                  </a:rPr>
                  <a:t>RGB 235/92/1</a:t>
                </a:r>
              </a:p>
            </p:txBody>
          </p:sp>
          <p:sp>
            <p:nvSpPr>
              <p:cNvPr id="33" name="矩形 18"/>
              <p:cNvSpPr/>
              <p:nvPr userDrawn="1"/>
            </p:nvSpPr>
            <p:spPr>
              <a:xfrm>
                <a:off x="12315636" y="5880294"/>
                <a:ext cx="911019" cy="462672"/>
              </a:xfrm>
              <a:prstGeom prst="rect">
                <a:avLst/>
              </a:prstGeom>
              <a:solidFill>
                <a:srgbClr val="8989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a:solidFill>
                      <a:schemeClr val="tx2"/>
                    </a:solidFill>
                    <a:latin typeface="Arial" panose="020B0604020202020204" pitchFamily="34" charset="0"/>
                    <a:ea typeface="Arial" panose="020B0604020202020204" pitchFamily="34" charset="0"/>
                    <a:cs typeface="Arial" panose="020B0604020202020204" pitchFamily="34" charset="0"/>
                  </a:rPr>
                  <a:t>RGB 137/137/137</a:t>
                </a:r>
              </a:p>
            </p:txBody>
          </p:sp>
          <p:sp>
            <p:nvSpPr>
              <p:cNvPr id="34" name="矩形 19"/>
              <p:cNvSpPr/>
              <p:nvPr userDrawn="1"/>
            </p:nvSpPr>
            <p:spPr>
              <a:xfrm>
                <a:off x="12315636" y="5362779"/>
                <a:ext cx="911019" cy="462672"/>
              </a:xfrm>
              <a:prstGeom prst="rect">
                <a:avLst/>
              </a:prstGeom>
              <a:solidFill>
                <a:srgbClr val="23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a:solidFill>
                      <a:schemeClr val="tx2"/>
                    </a:solidFill>
                    <a:latin typeface="Arial" panose="020B0604020202020204" pitchFamily="34" charset="0"/>
                    <a:ea typeface="Arial" panose="020B0604020202020204" pitchFamily="34" charset="0"/>
                    <a:cs typeface="Arial" panose="020B0604020202020204" pitchFamily="34" charset="0"/>
                  </a:rPr>
                  <a:t>RGB 35/24/21</a:t>
                </a:r>
              </a:p>
            </p:txBody>
          </p:sp>
          <p:sp>
            <p:nvSpPr>
              <p:cNvPr id="35" name="矩形 22"/>
              <p:cNvSpPr/>
              <p:nvPr userDrawn="1"/>
            </p:nvSpPr>
            <p:spPr>
              <a:xfrm>
                <a:off x="12315636" y="6403948"/>
                <a:ext cx="911019" cy="462672"/>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a:solidFill>
                      <a:schemeClr val="bg1"/>
                    </a:solidFill>
                    <a:latin typeface="Arial" panose="020B0604020202020204" pitchFamily="34" charset="0"/>
                    <a:ea typeface="Arial" panose="020B0604020202020204" pitchFamily="34" charset="0"/>
                    <a:cs typeface="Arial" panose="020B0604020202020204" pitchFamily="34" charset="0"/>
                  </a:rPr>
                  <a:t>RGB 221/221/221</a:t>
                </a:r>
              </a:p>
            </p:txBody>
          </p:sp>
          <p:sp>
            <p:nvSpPr>
              <p:cNvPr id="36" name="矩形 12"/>
              <p:cNvSpPr/>
              <p:nvPr userDrawn="1"/>
            </p:nvSpPr>
            <p:spPr>
              <a:xfrm>
                <a:off x="13288175" y="3785971"/>
                <a:ext cx="885201" cy="462672"/>
              </a:xfrm>
              <a:prstGeom prst="rect">
                <a:avLst/>
              </a:prstGeom>
              <a:solidFill>
                <a:srgbClr val="E98C8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a:solidFill>
                      <a:schemeClr val="tx2"/>
                    </a:solidFill>
                    <a:latin typeface="Arial" panose="020B0604020202020204" pitchFamily="34" charset="0"/>
                    <a:ea typeface="Arial" panose="020B0604020202020204" pitchFamily="34" charset="0"/>
                    <a:cs typeface="Arial" panose="020B0604020202020204" pitchFamily="34" charset="0"/>
                  </a:rPr>
                  <a:t>RGB 233/140/128</a:t>
                </a:r>
              </a:p>
            </p:txBody>
          </p:sp>
          <p:sp>
            <p:nvSpPr>
              <p:cNvPr id="37" name="矩形 13"/>
              <p:cNvSpPr/>
              <p:nvPr userDrawn="1"/>
            </p:nvSpPr>
            <p:spPr>
              <a:xfrm>
                <a:off x="13288175" y="3259312"/>
                <a:ext cx="885201" cy="462672"/>
              </a:xfrm>
              <a:prstGeom prst="rect">
                <a:avLst/>
              </a:prstGeom>
              <a:solidFill>
                <a:srgbClr val="A72126"/>
              </a:solidFill>
              <a:ln>
                <a:solidFill>
                  <a:srgbClr val="9F000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a:solidFill>
                      <a:schemeClr val="tx2"/>
                    </a:solidFill>
                    <a:latin typeface="Arial" panose="020B0604020202020204" pitchFamily="34" charset="0"/>
                    <a:ea typeface="Arial" panose="020B0604020202020204" pitchFamily="34" charset="0"/>
                    <a:cs typeface="Arial" panose="020B0604020202020204" pitchFamily="34" charset="0"/>
                  </a:rPr>
                  <a:t>RGB 159/0/1</a:t>
                </a:r>
              </a:p>
            </p:txBody>
          </p:sp>
          <p:sp>
            <p:nvSpPr>
              <p:cNvPr id="38" name="矩形 16"/>
              <p:cNvSpPr/>
              <p:nvPr userDrawn="1"/>
            </p:nvSpPr>
            <p:spPr>
              <a:xfrm>
                <a:off x="13288175" y="4836793"/>
                <a:ext cx="885201" cy="462672"/>
              </a:xfrm>
              <a:prstGeom prst="rect">
                <a:avLst/>
              </a:prstGeom>
              <a:solidFill>
                <a:srgbClr val="F5DC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a:solidFill>
                      <a:schemeClr val="bg1"/>
                    </a:solidFill>
                    <a:latin typeface="Arial" panose="020B0604020202020204" pitchFamily="34" charset="0"/>
                    <a:ea typeface="Arial" panose="020B0604020202020204" pitchFamily="34" charset="0"/>
                    <a:cs typeface="Arial" panose="020B0604020202020204" pitchFamily="34" charset="0"/>
                  </a:rPr>
                  <a:t>RGB 245/220/87</a:t>
                </a:r>
              </a:p>
            </p:txBody>
          </p:sp>
          <p:sp>
            <p:nvSpPr>
              <p:cNvPr id="39" name="矩形 17"/>
              <p:cNvSpPr/>
              <p:nvPr userDrawn="1"/>
            </p:nvSpPr>
            <p:spPr>
              <a:xfrm>
                <a:off x="13288175" y="4319278"/>
                <a:ext cx="885201" cy="462672"/>
              </a:xfrm>
              <a:prstGeom prst="rect">
                <a:avLst/>
              </a:prstGeom>
              <a:solidFill>
                <a:srgbClr val="F085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a:solidFill>
                      <a:schemeClr val="tx2"/>
                    </a:solidFill>
                    <a:latin typeface="Arial" panose="020B0604020202020204" pitchFamily="34" charset="0"/>
                    <a:ea typeface="Arial" panose="020B0604020202020204" pitchFamily="34" charset="0"/>
                    <a:cs typeface="Arial" panose="020B0604020202020204" pitchFamily="34" charset="0"/>
                  </a:rPr>
                  <a:t>RGB 240/133/0</a:t>
                </a:r>
              </a:p>
            </p:txBody>
          </p:sp>
          <p:sp>
            <p:nvSpPr>
              <p:cNvPr id="40" name="矩形 18"/>
              <p:cNvSpPr/>
              <p:nvPr userDrawn="1"/>
            </p:nvSpPr>
            <p:spPr>
              <a:xfrm>
                <a:off x="13288171" y="5880294"/>
                <a:ext cx="911019" cy="462672"/>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a:solidFill>
                      <a:schemeClr val="tx2"/>
                    </a:solidFill>
                    <a:latin typeface="Arial" panose="020B0604020202020204" pitchFamily="34" charset="0"/>
                    <a:ea typeface="Arial" panose="020B0604020202020204" pitchFamily="34" charset="0"/>
                    <a:cs typeface="Arial" panose="020B0604020202020204" pitchFamily="34" charset="0"/>
                  </a:rPr>
                  <a:t>RGB 181/181/181</a:t>
                </a:r>
              </a:p>
            </p:txBody>
          </p:sp>
          <p:sp>
            <p:nvSpPr>
              <p:cNvPr id="42" name="矩形 19"/>
              <p:cNvSpPr/>
              <p:nvPr userDrawn="1"/>
            </p:nvSpPr>
            <p:spPr>
              <a:xfrm>
                <a:off x="13288171" y="5362779"/>
                <a:ext cx="911019" cy="462672"/>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a:solidFill>
                      <a:schemeClr val="tx2"/>
                    </a:solidFill>
                    <a:latin typeface="Arial" panose="020B0604020202020204" pitchFamily="34" charset="0"/>
                    <a:ea typeface="Arial" panose="020B0604020202020204" pitchFamily="34" charset="0"/>
                    <a:cs typeface="Arial" panose="020B0604020202020204" pitchFamily="34" charset="0"/>
                  </a:rPr>
                  <a:t>RGB 89/87/87</a:t>
                </a:r>
              </a:p>
            </p:txBody>
          </p:sp>
          <p:sp>
            <p:nvSpPr>
              <p:cNvPr id="43" name="矩形 22"/>
              <p:cNvSpPr/>
              <p:nvPr userDrawn="1"/>
            </p:nvSpPr>
            <p:spPr>
              <a:xfrm>
                <a:off x="13288171" y="6403948"/>
                <a:ext cx="911019" cy="462672"/>
              </a:xfrm>
              <a:prstGeom prst="rect">
                <a:avLst/>
              </a:prstGeom>
              <a:solidFill>
                <a:srgbClr val="FFFFFF"/>
              </a:solidFill>
              <a:ln w="6350">
                <a:solidFill>
                  <a:schemeClr val="bg1">
                    <a:lumMod val="10000"/>
                    <a:lumOff val="9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a:solidFill>
                      <a:schemeClr val="bg1"/>
                    </a:solidFill>
                    <a:latin typeface="Arial" panose="020B0604020202020204" pitchFamily="34" charset="0"/>
                    <a:ea typeface="Arial" panose="020B0604020202020204" pitchFamily="34" charset="0"/>
                    <a:cs typeface="Arial" panose="020B0604020202020204" pitchFamily="34" charset="0"/>
                  </a:rPr>
                  <a:t>RGB 255/255/255</a:t>
                </a:r>
              </a:p>
            </p:txBody>
          </p:sp>
        </p:grpSp>
      </p:grpSp>
      <p:pic>
        <p:nvPicPr>
          <p:cNvPr id="2" name="图片 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195998" y="6321130"/>
            <a:ext cx="1269075" cy="277546"/>
          </a:xfrm>
          <a:prstGeom prst="rect">
            <a:avLst/>
          </a:prstGeom>
        </p:spPr>
      </p:pic>
    </p:spTree>
  </p:cSld>
  <p:clrMap bg1="lt1" tx1="dk1" bg2="lt2" tx2="dk2" accent1="accent1" accent2="accent2" accent3="accent3" accent4="accent4" accent5="accent5" accent6="accent6" hlink="hlink" folHlink="folHlink"/>
  <p:sldLayoutIdLst>
    <p:sldLayoutId id="2147483661" r:id="rId1"/>
  </p:sldLayoutIdLst>
  <p:hf hdr="0" ftr="0" dt="0"/>
  <p:txStyles>
    <p:titleStyle>
      <a:lvl1pPr algn="l" defTabSz="1188085" rtl="0" eaLnBrk="1" latinLnBrk="0" hangingPunct="1">
        <a:lnSpc>
          <a:spcPct val="90000"/>
        </a:lnSpc>
        <a:spcBef>
          <a:spcPct val="0"/>
        </a:spcBef>
        <a:buNone/>
        <a:defRPr sz="5715" kern="1200">
          <a:solidFill>
            <a:schemeClr val="tx1"/>
          </a:solidFill>
          <a:latin typeface="+mj-lt"/>
          <a:ea typeface="+mj-ea"/>
          <a:cs typeface="+mj-cs"/>
        </a:defRPr>
      </a:lvl1pPr>
    </p:titleStyle>
    <p:bodyStyle>
      <a:lvl1pPr marL="297180" indent="-297180" algn="l" defTabSz="1188085" rtl="0" eaLnBrk="1" latinLnBrk="0" hangingPunct="1">
        <a:lnSpc>
          <a:spcPct val="90000"/>
        </a:lnSpc>
        <a:spcBef>
          <a:spcPts val="1300"/>
        </a:spcBef>
        <a:buFont typeface="Arial" panose="020B0604020202020204" pitchFamily="34" charset="0"/>
        <a:buChar char="•"/>
        <a:defRPr sz="3635" kern="1200">
          <a:solidFill>
            <a:schemeClr val="tx1"/>
          </a:solidFill>
          <a:latin typeface="+mn-lt"/>
          <a:ea typeface="+mn-ea"/>
          <a:cs typeface="+mn-cs"/>
        </a:defRPr>
      </a:lvl1pPr>
      <a:lvl2pPr marL="890905" indent="-297180" algn="l" defTabSz="1188085" rtl="0" eaLnBrk="1" latinLnBrk="0" hangingPunct="1">
        <a:lnSpc>
          <a:spcPct val="90000"/>
        </a:lnSpc>
        <a:spcBef>
          <a:spcPts val="650"/>
        </a:spcBef>
        <a:buFont typeface="Arial" panose="020B0604020202020204" pitchFamily="34" charset="0"/>
        <a:buChar char="•"/>
        <a:defRPr sz="3120" kern="1200">
          <a:solidFill>
            <a:schemeClr val="tx1"/>
          </a:solidFill>
          <a:latin typeface="+mn-lt"/>
          <a:ea typeface="+mn-ea"/>
          <a:cs typeface="+mn-cs"/>
        </a:defRPr>
      </a:lvl2pPr>
      <a:lvl3pPr marL="1484630" indent="-297180" algn="l" defTabSz="1188085" rtl="0" eaLnBrk="1" latinLnBrk="0" hangingPunct="1">
        <a:lnSpc>
          <a:spcPct val="90000"/>
        </a:lnSpc>
        <a:spcBef>
          <a:spcPts val="650"/>
        </a:spcBef>
        <a:buFont typeface="Arial" panose="020B0604020202020204" pitchFamily="34" charset="0"/>
        <a:buChar char="•"/>
        <a:defRPr sz="2600" kern="1200">
          <a:solidFill>
            <a:schemeClr val="tx1"/>
          </a:solidFill>
          <a:latin typeface="+mn-lt"/>
          <a:ea typeface="+mn-ea"/>
          <a:cs typeface="+mn-cs"/>
        </a:defRPr>
      </a:lvl3pPr>
      <a:lvl4pPr marL="2078355" indent="-297180" algn="l" defTabSz="1188085"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4pPr>
      <a:lvl5pPr marL="2672715" indent="-297180" algn="l" defTabSz="1188085"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5pPr>
      <a:lvl6pPr marL="3266440" indent="-297180" algn="l" defTabSz="1188085"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6pPr>
      <a:lvl7pPr marL="3860165" indent="-297180" algn="l" defTabSz="1188085"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7pPr>
      <a:lvl8pPr marL="4454525" indent="-297180" algn="l" defTabSz="1188085"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8pPr>
      <a:lvl9pPr marL="5048250" indent="-297180" algn="l" defTabSz="1188085"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9pPr>
    </p:bodyStyle>
    <p:otherStyle>
      <a:defPPr>
        <a:defRPr lang="en-US"/>
      </a:defPPr>
      <a:lvl1pPr marL="0" algn="l" defTabSz="1188085" rtl="0" eaLnBrk="1" latinLnBrk="0" hangingPunct="1">
        <a:defRPr sz="2340" kern="1200">
          <a:solidFill>
            <a:schemeClr val="tx1"/>
          </a:solidFill>
          <a:latin typeface="+mn-lt"/>
          <a:ea typeface="+mn-ea"/>
          <a:cs typeface="+mn-cs"/>
        </a:defRPr>
      </a:lvl1pPr>
      <a:lvl2pPr marL="593725" algn="l" defTabSz="1188085" rtl="0" eaLnBrk="1" latinLnBrk="0" hangingPunct="1">
        <a:defRPr sz="2340" kern="1200">
          <a:solidFill>
            <a:schemeClr val="tx1"/>
          </a:solidFill>
          <a:latin typeface="+mn-lt"/>
          <a:ea typeface="+mn-ea"/>
          <a:cs typeface="+mn-cs"/>
        </a:defRPr>
      </a:lvl2pPr>
      <a:lvl3pPr marL="1188085" algn="l" defTabSz="1188085" rtl="0" eaLnBrk="1" latinLnBrk="0" hangingPunct="1">
        <a:defRPr sz="2340" kern="1200">
          <a:solidFill>
            <a:schemeClr val="tx1"/>
          </a:solidFill>
          <a:latin typeface="+mn-lt"/>
          <a:ea typeface="+mn-ea"/>
          <a:cs typeface="+mn-cs"/>
        </a:defRPr>
      </a:lvl3pPr>
      <a:lvl4pPr marL="1781810" algn="l" defTabSz="1188085" rtl="0" eaLnBrk="1" latinLnBrk="0" hangingPunct="1">
        <a:defRPr sz="2340" kern="1200">
          <a:solidFill>
            <a:schemeClr val="tx1"/>
          </a:solidFill>
          <a:latin typeface="+mn-lt"/>
          <a:ea typeface="+mn-ea"/>
          <a:cs typeface="+mn-cs"/>
        </a:defRPr>
      </a:lvl4pPr>
      <a:lvl5pPr marL="2375535" algn="l" defTabSz="1188085" rtl="0" eaLnBrk="1" latinLnBrk="0" hangingPunct="1">
        <a:defRPr sz="2340" kern="1200">
          <a:solidFill>
            <a:schemeClr val="tx1"/>
          </a:solidFill>
          <a:latin typeface="+mn-lt"/>
          <a:ea typeface="+mn-ea"/>
          <a:cs typeface="+mn-cs"/>
        </a:defRPr>
      </a:lvl5pPr>
      <a:lvl6pPr marL="2969260" algn="l" defTabSz="1188085" rtl="0" eaLnBrk="1" latinLnBrk="0" hangingPunct="1">
        <a:defRPr sz="2340" kern="1200">
          <a:solidFill>
            <a:schemeClr val="tx1"/>
          </a:solidFill>
          <a:latin typeface="+mn-lt"/>
          <a:ea typeface="+mn-ea"/>
          <a:cs typeface="+mn-cs"/>
        </a:defRPr>
      </a:lvl6pPr>
      <a:lvl7pPr marL="3563620" algn="l" defTabSz="1188085" rtl="0" eaLnBrk="1" latinLnBrk="0" hangingPunct="1">
        <a:defRPr sz="2340" kern="1200">
          <a:solidFill>
            <a:schemeClr val="tx1"/>
          </a:solidFill>
          <a:latin typeface="+mn-lt"/>
          <a:ea typeface="+mn-ea"/>
          <a:cs typeface="+mn-cs"/>
        </a:defRPr>
      </a:lvl7pPr>
      <a:lvl8pPr marL="4157345" algn="l" defTabSz="1188085" rtl="0" eaLnBrk="1" latinLnBrk="0" hangingPunct="1">
        <a:defRPr sz="2340" kern="1200">
          <a:solidFill>
            <a:schemeClr val="tx1"/>
          </a:solidFill>
          <a:latin typeface="+mn-lt"/>
          <a:ea typeface="+mn-ea"/>
          <a:cs typeface="+mn-cs"/>
        </a:defRPr>
      </a:lvl8pPr>
      <a:lvl9pPr marL="4751070" algn="l" defTabSz="1188085" rtl="0" eaLnBrk="1" latinLnBrk="0" hangingPunct="1">
        <a:defRPr sz="234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16573" y="1474269"/>
            <a:ext cx="3984232" cy="2816080"/>
          </a:xfrm>
          <a:prstGeom prst="rect">
            <a:avLst/>
          </a:prstGeom>
        </p:spPr>
        <p:txBody>
          <a:bodyPr vert="horz" lIns="91440" tIns="45720" rIns="91440" bIns="45720" rtlCol="0" anchor="t">
            <a:normAutofit/>
          </a:bodyPr>
          <a:lstStyle/>
          <a:p>
            <a:r>
              <a:rPr lang="en-US" dirty="0"/>
              <a:t>Click to edit Master title style</a:t>
            </a:r>
          </a:p>
        </p:txBody>
      </p:sp>
      <p:sp>
        <p:nvSpPr>
          <p:cNvPr id="5" name="Text Placeholder 1"/>
          <p:cNvSpPr txBox="1"/>
          <p:nvPr userDrawn="1"/>
        </p:nvSpPr>
        <p:spPr>
          <a:xfrm>
            <a:off x="7979357" y="2794960"/>
            <a:ext cx="3225168" cy="2029962"/>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FFFFFF"/>
                </a:solidFill>
                <a:latin typeface="Microsoft YaHei" panose="020B0503020204020204" pitchFamily="34" charset="-122"/>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065"/>
              </a:lnSpc>
            </a:pPr>
            <a:r>
              <a:rPr kumimoji="1" lang="en-US" altLang="zh-CN" sz="850" b="1" baseline="0">
                <a:solidFill>
                  <a:srgbClr val="1D1D1B"/>
                </a:solidFill>
                <a:latin typeface="+mj-lt"/>
              </a:rPr>
              <a:t>Copyright©2018 Huawei Technologies Co., Ltd.</a:t>
            </a:r>
            <a:br>
              <a:rPr kumimoji="1" lang="en-US" altLang="zh-CN" sz="850" b="1" baseline="0">
                <a:solidFill>
                  <a:srgbClr val="1D1D1B"/>
                </a:solidFill>
                <a:latin typeface="+mj-lt"/>
              </a:rPr>
            </a:br>
            <a:r>
              <a:rPr kumimoji="1" lang="en-US" altLang="zh-CN" sz="850" b="1" baseline="0">
                <a:solidFill>
                  <a:srgbClr val="1D1D1B"/>
                </a:solidFill>
                <a:latin typeface="+mj-lt"/>
              </a:rPr>
              <a:t>All Rights Reserved.</a:t>
            </a:r>
            <a:br>
              <a:rPr kumimoji="1" lang="en-US" altLang="zh-CN" sz="780">
                <a:solidFill>
                  <a:srgbClr val="1D1D1B"/>
                </a:solidFill>
                <a:latin typeface="+mn-lt"/>
              </a:rPr>
            </a:br>
            <a:br>
              <a:rPr kumimoji="1" lang="en-US" altLang="zh-CN" sz="780">
                <a:solidFill>
                  <a:srgbClr val="1D1D1B"/>
                </a:solidFill>
                <a:latin typeface="+mn-lt"/>
              </a:rPr>
            </a:br>
            <a:r>
              <a:rPr kumimoji="1" lang="en-US" altLang="zh-CN" sz="850" baseline="0">
                <a:solidFill>
                  <a:srgbClr val="1D1D1B"/>
                </a:solidFill>
                <a:latin typeface="+mn-lt"/>
                <a:cs typeface="Arial" panose="020B0604020202020204" pitchFamily="34" charset="0"/>
              </a:rPr>
              <a:t>The information in this document may contain predictive </a:t>
            </a:r>
            <a:br>
              <a:rPr kumimoji="1" lang="en-US" altLang="zh-CN" sz="850" baseline="0">
                <a:solidFill>
                  <a:srgbClr val="1D1D1B"/>
                </a:solidFill>
                <a:latin typeface="+mn-lt"/>
                <a:cs typeface="Arial" panose="020B0604020202020204" pitchFamily="34" charset="0"/>
              </a:rPr>
            </a:br>
            <a:r>
              <a:rPr kumimoji="1" lang="en-US" altLang="zh-CN" sz="850" baseline="0">
                <a:solidFill>
                  <a:srgbClr val="1D1D1B"/>
                </a:solidFill>
                <a:latin typeface="+mn-lt"/>
                <a:cs typeface="Arial" panose="020B0604020202020204" pitchFamily="34" charset="0"/>
              </a:rPr>
              <a:t>statements including, without limitation, statements regarding </a:t>
            </a:r>
            <a:br>
              <a:rPr kumimoji="1" lang="en-US" altLang="zh-CN" sz="850" baseline="0">
                <a:solidFill>
                  <a:srgbClr val="1D1D1B"/>
                </a:solidFill>
                <a:latin typeface="+mn-lt"/>
                <a:cs typeface="Arial" panose="020B0604020202020204" pitchFamily="34" charset="0"/>
              </a:rPr>
            </a:br>
            <a:r>
              <a:rPr kumimoji="1" lang="en-US" altLang="zh-CN" sz="850" baseline="0">
                <a:solidFill>
                  <a:srgbClr val="1D1D1B"/>
                </a:solidFill>
                <a:latin typeface="+mn-lt"/>
                <a:cs typeface="Arial" panose="020B0604020202020204" pitchFamily="34" charset="0"/>
              </a:rPr>
              <a:t>the future financial and operating results, future product </a:t>
            </a:r>
            <a:br>
              <a:rPr kumimoji="1" lang="en-US" altLang="zh-CN" sz="850" baseline="0">
                <a:solidFill>
                  <a:srgbClr val="1D1D1B"/>
                </a:solidFill>
                <a:latin typeface="+mn-lt"/>
                <a:cs typeface="Arial" panose="020B0604020202020204" pitchFamily="34" charset="0"/>
              </a:rPr>
            </a:br>
            <a:r>
              <a:rPr kumimoji="1" lang="en-US" altLang="zh-CN" sz="850" baseline="0">
                <a:solidFill>
                  <a:srgbClr val="1D1D1B"/>
                </a:solidFill>
                <a:latin typeface="+mn-lt"/>
                <a:cs typeface="Arial" panose="020B0604020202020204" pitchFamily="34" charset="0"/>
              </a:rPr>
              <a:t>portfolio, new technology, etc. There are a number of factors that </a:t>
            </a:r>
            <a:br>
              <a:rPr kumimoji="1" lang="en-US" altLang="zh-CN" sz="850" baseline="0">
                <a:solidFill>
                  <a:srgbClr val="1D1D1B"/>
                </a:solidFill>
                <a:latin typeface="+mn-lt"/>
                <a:cs typeface="Arial" panose="020B0604020202020204" pitchFamily="34" charset="0"/>
              </a:rPr>
            </a:br>
            <a:r>
              <a:rPr kumimoji="1" lang="en-US" altLang="zh-CN" sz="850" baseline="0">
                <a:solidFill>
                  <a:srgbClr val="1D1D1B"/>
                </a:solidFill>
                <a:latin typeface="+mn-lt"/>
                <a:cs typeface="Arial" panose="020B0604020202020204" pitchFamily="34" charset="0"/>
              </a:rPr>
              <a:t>could cause actual results and developments to differ materially </a:t>
            </a:r>
            <a:br>
              <a:rPr kumimoji="1" lang="en-US" altLang="zh-CN" sz="850" baseline="0">
                <a:solidFill>
                  <a:srgbClr val="1D1D1B"/>
                </a:solidFill>
                <a:latin typeface="+mn-lt"/>
                <a:cs typeface="Arial" panose="020B0604020202020204" pitchFamily="34" charset="0"/>
              </a:rPr>
            </a:br>
            <a:r>
              <a:rPr kumimoji="1" lang="en-US" altLang="zh-CN" sz="850" baseline="0">
                <a:solidFill>
                  <a:srgbClr val="1D1D1B"/>
                </a:solidFill>
                <a:latin typeface="+mn-lt"/>
                <a:cs typeface="Arial" panose="020B0604020202020204" pitchFamily="34" charset="0"/>
              </a:rPr>
              <a:t>from those expressed or implied in the predictive statements. </a:t>
            </a:r>
            <a:br>
              <a:rPr kumimoji="1" lang="en-US" altLang="zh-CN" sz="850" baseline="0">
                <a:solidFill>
                  <a:srgbClr val="1D1D1B"/>
                </a:solidFill>
                <a:latin typeface="+mn-lt"/>
                <a:cs typeface="Arial" panose="020B0604020202020204" pitchFamily="34" charset="0"/>
              </a:rPr>
            </a:br>
            <a:r>
              <a:rPr kumimoji="1" lang="en-US" altLang="zh-CN" sz="850" baseline="0">
                <a:solidFill>
                  <a:srgbClr val="1D1D1B"/>
                </a:solidFill>
                <a:latin typeface="+mn-lt"/>
                <a:cs typeface="Arial" panose="020B0604020202020204" pitchFamily="34" charset="0"/>
              </a:rPr>
              <a:t>Therefore, such information is provided for reference purpose </a:t>
            </a:r>
            <a:br>
              <a:rPr kumimoji="1" lang="en-US" altLang="zh-CN" sz="850" baseline="0">
                <a:solidFill>
                  <a:srgbClr val="1D1D1B"/>
                </a:solidFill>
                <a:latin typeface="+mn-lt"/>
                <a:cs typeface="Arial" panose="020B0604020202020204" pitchFamily="34" charset="0"/>
              </a:rPr>
            </a:br>
            <a:r>
              <a:rPr kumimoji="1" lang="en-US" altLang="zh-CN" sz="850" baseline="0">
                <a:solidFill>
                  <a:srgbClr val="1D1D1B"/>
                </a:solidFill>
                <a:latin typeface="+mn-lt"/>
                <a:cs typeface="Arial" panose="020B0604020202020204" pitchFamily="34" charset="0"/>
              </a:rPr>
              <a:t>only and constitutes neither an offer nor an acceptance. Huawei </a:t>
            </a:r>
            <a:br>
              <a:rPr kumimoji="1" lang="en-US" altLang="zh-CN" sz="850" baseline="0">
                <a:solidFill>
                  <a:srgbClr val="1D1D1B"/>
                </a:solidFill>
                <a:latin typeface="+mn-lt"/>
                <a:cs typeface="Arial" panose="020B0604020202020204" pitchFamily="34" charset="0"/>
              </a:rPr>
            </a:br>
            <a:r>
              <a:rPr kumimoji="1" lang="en-US" altLang="zh-CN" sz="850" baseline="0">
                <a:solidFill>
                  <a:srgbClr val="1D1D1B"/>
                </a:solidFill>
                <a:latin typeface="+mn-lt"/>
                <a:cs typeface="Arial" panose="020B0604020202020204" pitchFamily="34" charset="0"/>
              </a:rPr>
              <a:t>may change the information at any time without notice. </a:t>
            </a:r>
          </a:p>
          <a:p>
            <a:pPr>
              <a:lnSpc>
                <a:spcPts val="1065"/>
              </a:lnSpc>
            </a:pPr>
            <a:endParaRPr kumimoji="1" lang="zh-CN" altLang="en-US" sz="780">
              <a:solidFill>
                <a:srgbClr val="1D1D1B"/>
              </a:solidFill>
              <a:latin typeface="+mn-lt"/>
            </a:endParaRPr>
          </a:p>
        </p:txBody>
      </p:sp>
      <p:sp>
        <p:nvSpPr>
          <p:cNvPr id="6" name="Subtitle 6"/>
          <p:cNvSpPr txBox="1"/>
          <p:nvPr userDrawn="1"/>
        </p:nvSpPr>
        <p:spPr>
          <a:xfrm>
            <a:off x="7987276" y="1631849"/>
            <a:ext cx="3477701" cy="491114"/>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FFFFFF"/>
                </a:solidFill>
                <a:latin typeface="Microsoft YaHei" panose="020B0503020204020204" pitchFamily="34" charset="-122"/>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680"/>
              </a:lnSpc>
              <a:spcBef>
                <a:spcPts val="0"/>
              </a:spcBef>
            </a:pPr>
            <a:r>
              <a:rPr kumimoji="1" lang="zh-CN" altLang="en-US" sz="1300">
                <a:solidFill>
                  <a:srgbClr val="1D1D1B"/>
                </a:solidFill>
                <a:latin typeface="Microsoft YaHei" panose="020B0503020204020204" pitchFamily="34" charset="-122"/>
                <a:ea typeface="Microsoft YaHei" panose="020B0503020204020204" pitchFamily="34" charset="-122"/>
                <a:cs typeface="Microsoft YaHei" panose="020B0503020204020204" pitchFamily="34" charset="-122"/>
              </a:rPr>
              <a:t>把数字世界带入每个人、每个家庭、</a:t>
            </a:r>
            <a:br>
              <a:rPr kumimoji="1" lang="en-US" altLang="zh-CN" sz="1300">
                <a:solidFill>
                  <a:srgbClr val="1D1D1B"/>
                </a:solidFill>
                <a:latin typeface="Microsoft YaHei" panose="020B0503020204020204" pitchFamily="34" charset="-122"/>
                <a:ea typeface="Microsoft YaHei" panose="020B0503020204020204" pitchFamily="34" charset="-122"/>
                <a:cs typeface="Microsoft YaHei" panose="020B0503020204020204" pitchFamily="34" charset="-122"/>
              </a:rPr>
            </a:br>
            <a:r>
              <a:rPr kumimoji="1" lang="zh-CN" altLang="en-US" sz="1300">
                <a:solidFill>
                  <a:srgbClr val="1D1D1B"/>
                </a:solidFill>
                <a:latin typeface="Microsoft YaHei" panose="020B0503020204020204" pitchFamily="34" charset="-122"/>
                <a:ea typeface="Microsoft YaHei" panose="020B0503020204020204" pitchFamily="34" charset="-122"/>
                <a:cs typeface="Microsoft YaHei" panose="020B0503020204020204" pitchFamily="34" charset="-122"/>
              </a:rPr>
              <a:t>每个组织，构建万物互联的智能世界。</a:t>
            </a:r>
          </a:p>
        </p:txBody>
      </p:sp>
      <p:sp>
        <p:nvSpPr>
          <p:cNvPr id="7" name="Subtitle 6"/>
          <p:cNvSpPr txBox="1"/>
          <p:nvPr userDrawn="1"/>
        </p:nvSpPr>
        <p:spPr>
          <a:xfrm>
            <a:off x="7977672" y="2106124"/>
            <a:ext cx="3481833" cy="582808"/>
          </a:xfrm>
          <a:prstGeom prst="rect">
            <a:avLst/>
          </a:prstGeom>
        </p:spPr>
        <p:txBody>
          <a:bodyPr vert="horz" lIns="0" tIns="0" rIns="0" bIns="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chemeClr val="tx1"/>
                </a:solidFill>
                <a:latin typeface="Microsoft YaHei" panose="020B0503020204020204" pitchFamily="34" charset="-122"/>
                <a:ea typeface="Microsoft YaHei"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ts val="1295"/>
              </a:lnSpc>
            </a:pPr>
            <a:r>
              <a:rPr kumimoji="1" lang="en-US" altLang="zh-CN" sz="1200">
                <a:solidFill>
                  <a:srgbClr val="1D1D1B"/>
                </a:solidFill>
                <a:latin typeface="+mn-lt"/>
                <a:cs typeface="Arial" panose="020B0604020202020204" pitchFamily="34" charset="0"/>
              </a:rPr>
              <a:t>Bring digital to every person, home and </a:t>
            </a:r>
            <a:br>
              <a:rPr kumimoji="1" lang="en-US" altLang="zh-CN" sz="1200">
                <a:solidFill>
                  <a:srgbClr val="1D1D1B"/>
                </a:solidFill>
                <a:latin typeface="+mn-lt"/>
                <a:cs typeface="Arial" panose="020B0604020202020204" pitchFamily="34" charset="0"/>
              </a:rPr>
            </a:br>
            <a:r>
              <a:rPr kumimoji="1" lang="en-US" altLang="zh-CN" sz="1200">
                <a:solidFill>
                  <a:srgbClr val="1D1D1B"/>
                </a:solidFill>
                <a:latin typeface="+mn-lt"/>
                <a:cs typeface="Arial" panose="020B0604020202020204" pitchFamily="34" charset="0"/>
              </a:rPr>
              <a:t>organization for a fully connected, </a:t>
            </a:r>
            <a:br>
              <a:rPr kumimoji="1" lang="en-US" altLang="zh-CN" sz="1200">
                <a:solidFill>
                  <a:srgbClr val="1D1D1B"/>
                </a:solidFill>
                <a:latin typeface="+mn-lt"/>
                <a:cs typeface="Arial" panose="020B0604020202020204" pitchFamily="34" charset="0"/>
              </a:rPr>
            </a:br>
            <a:r>
              <a:rPr kumimoji="1" lang="en-US" altLang="zh-CN" sz="1200">
                <a:solidFill>
                  <a:srgbClr val="1D1D1B"/>
                </a:solidFill>
                <a:latin typeface="+mn-lt"/>
                <a:cs typeface="Arial" panose="020B0604020202020204" pitchFamily="34" charset="0"/>
              </a:rPr>
              <a:t>intelligent world.</a:t>
            </a:r>
            <a:endParaRPr kumimoji="1" lang="zh-CN" altLang="en-US" sz="1200">
              <a:solidFill>
                <a:srgbClr val="1D1D1B"/>
              </a:solidFill>
              <a:latin typeface="+mn-lt"/>
              <a:ea typeface="Microsoft YaHei" panose="020B0503020204020204" pitchFamily="34" charset="-122"/>
              <a:cs typeface="Microsoft YaHei" panose="020B0503020204020204" pitchFamily="34" charset="-122"/>
            </a:endParaRPr>
          </a:p>
        </p:txBody>
      </p:sp>
      <p:pic>
        <p:nvPicPr>
          <p:cNvPr id="3" name="图片 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975498" y="5237637"/>
            <a:ext cx="1869596" cy="408880"/>
          </a:xfrm>
          <a:prstGeom prst="rect">
            <a:avLst/>
          </a:prstGeom>
        </p:spPr>
      </p:pic>
    </p:spTree>
  </p:cSld>
  <p:clrMap bg1="lt1" tx1="dk1" bg2="lt2" tx2="dk2" accent1="accent1" accent2="accent2" accent3="accent3" accent4="accent4" accent5="accent5" accent6="accent6" hlink="hlink" folHlink="folHlink"/>
  <p:sldLayoutIdLst>
    <p:sldLayoutId id="2147483663" r:id="rId1"/>
  </p:sldLayoutIdLst>
  <p:hf hdr="0" ftr="0" dt="0"/>
  <p:txStyles>
    <p:titleStyle>
      <a:lvl1pPr algn="l" defTabSz="1188085" rtl="0" eaLnBrk="1" latinLnBrk="0" hangingPunct="1">
        <a:lnSpc>
          <a:spcPct val="90000"/>
        </a:lnSpc>
        <a:spcBef>
          <a:spcPct val="0"/>
        </a:spcBef>
        <a:buNone/>
        <a:defRPr sz="5000" b="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1pPr>
    </p:titleStyle>
    <p:bodyStyle>
      <a:lvl1pPr marL="0" indent="0" algn="l" defTabSz="1188085" rtl="0" eaLnBrk="1" latinLnBrk="0" hangingPunct="1">
        <a:lnSpc>
          <a:spcPct val="90000"/>
        </a:lnSpc>
        <a:spcBef>
          <a:spcPts val="1300"/>
        </a:spcBef>
        <a:buFont typeface="Arial" panose="020B0604020202020204" pitchFamily="34" charset="0"/>
        <a:buNone/>
        <a:defRPr sz="1820" kern="1200">
          <a:solidFill>
            <a:srgbClr val="FFFFFF"/>
          </a:solidFill>
          <a:latin typeface="Microsoft YaHei" panose="020B0503020204020204" pitchFamily="34" charset="-122"/>
          <a:ea typeface="Microsoft YaHei" panose="020B0503020204020204" pitchFamily="34" charset="-122"/>
          <a:cs typeface="+mn-cs"/>
        </a:defRPr>
      </a:lvl1pPr>
      <a:lvl2pPr marL="593725" indent="0" algn="l" defTabSz="1188085" rtl="0" eaLnBrk="1" latinLnBrk="0" hangingPunct="1">
        <a:lnSpc>
          <a:spcPct val="90000"/>
        </a:lnSpc>
        <a:spcBef>
          <a:spcPts val="650"/>
        </a:spcBef>
        <a:buFont typeface="Arial" panose="020B0604020202020204" pitchFamily="34" charset="0"/>
        <a:buNone/>
        <a:defRPr sz="3120" kern="1200">
          <a:solidFill>
            <a:schemeClr val="tx1"/>
          </a:solidFill>
          <a:latin typeface="+mn-lt"/>
          <a:ea typeface="+mn-ea"/>
          <a:cs typeface="+mn-cs"/>
        </a:defRPr>
      </a:lvl2pPr>
      <a:lvl3pPr marL="1188085" indent="0" algn="l" defTabSz="1188085" rtl="0" eaLnBrk="1" latinLnBrk="0" hangingPunct="1">
        <a:lnSpc>
          <a:spcPct val="90000"/>
        </a:lnSpc>
        <a:spcBef>
          <a:spcPts val="650"/>
        </a:spcBef>
        <a:buFont typeface="Arial" panose="020B0604020202020204" pitchFamily="34" charset="0"/>
        <a:buNone/>
        <a:defRPr sz="2600" kern="1200">
          <a:solidFill>
            <a:schemeClr val="tx1"/>
          </a:solidFill>
          <a:latin typeface="+mn-lt"/>
          <a:ea typeface="+mn-ea"/>
          <a:cs typeface="+mn-cs"/>
        </a:defRPr>
      </a:lvl3pPr>
      <a:lvl4pPr marL="1781810" indent="0" algn="l" defTabSz="1188085" rtl="0" eaLnBrk="1" latinLnBrk="0" hangingPunct="1">
        <a:lnSpc>
          <a:spcPct val="90000"/>
        </a:lnSpc>
        <a:spcBef>
          <a:spcPts val="650"/>
        </a:spcBef>
        <a:buFont typeface="Arial" panose="020B0604020202020204" pitchFamily="34" charset="0"/>
        <a:buNone/>
        <a:defRPr sz="2340" kern="1200">
          <a:solidFill>
            <a:schemeClr val="tx1"/>
          </a:solidFill>
          <a:latin typeface="+mn-lt"/>
          <a:ea typeface="+mn-ea"/>
          <a:cs typeface="+mn-cs"/>
        </a:defRPr>
      </a:lvl4pPr>
      <a:lvl5pPr marL="2375535" indent="0" algn="l" defTabSz="1188085" rtl="0" eaLnBrk="1" latinLnBrk="0" hangingPunct="1">
        <a:lnSpc>
          <a:spcPct val="90000"/>
        </a:lnSpc>
        <a:spcBef>
          <a:spcPts val="650"/>
        </a:spcBef>
        <a:buFont typeface="Arial" panose="020B0604020202020204" pitchFamily="34" charset="0"/>
        <a:buNone/>
        <a:defRPr sz="2340" kern="1200">
          <a:solidFill>
            <a:schemeClr val="tx1"/>
          </a:solidFill>
          <a:latin typeface="+mn-lt"/>
          <a:ea typeface="+mn-ea"/>
          <a:cs typeface="+mn-cs"/>
        </a:defRPr>
      </a:lvl5pPr>
      <a:lvl6pPr marL="3266440" indent="-297180" algn="l" defTabSz="1188085"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6pPr>
      <a:lvl7pPr marL="3860165" indent="-297180" algn="l" defTabSz="1188085"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7pPr>
      <a:lvl8pPr marL="4454525" indent="-297180" algn="l" defTabSz="1188085"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8pPr>
      <a:lvl9pPr marL="5048250" indent="-297180" algn="l" defTabSz="1188085"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9pPr>
    </p:bodyStyle>
    <p:otherStyle>
      <a:defPPr>
        <a:defRPr lang="en-US"/>
      </a:defPPr>
      <a:lvl1pPr marL="0" algn="l" defTabSz="1188085" rtl="0" eaLnBrk="1" latinLnBrk="0" hangingPunct="1">
        <a:defRPr sz="2340" kern="1200">
          <a:solidFill>
            <a:schemeClr val="tx1"/>
          </a:solidFill>
          <a:latin typeface="+mn-lt"/>
          <a:ea typeface="+mn-ea"/>
          <a:cs typeface="+mn-cs"/>
        </a:defRPr>
      </a:lvl1pPr>
      <a:lvl2pPr marL="593725" algn="l" defTabSz="1188085" rtl="0" eaLnBrk="1" latinLnBrk="0" hangingPunct="1">
        <a:defRPr sz="2340" kern="1200">
          <a:solidFill>
            <a:schemeClr val="tx1"/>
          </a:solidFill>
          <a:latin typeface="+mn-lt"/>
          <a:ea typeface="+mn-ea"/>
          <a:cs typeface="+mn-cs"/>
        </a:defRPr>
      </a:lvl2pPr>
      <a:lvl3pPr marL="1188085" algn="l" defTabSz="1188085" rtl="0" eaLnBrk="1" latinLnBrk="0" hangingPunct="1">
        <a:defRPr sz="2340" kern="1200">
          <a:solidFill>
            <a:schemeClr val="tx1"/>
          </a:solidFill>
          <a:latin typeface="+mn-lt"/>
          <a:ea typeface="+mn-ea"/>
          <a:cs typeface="+mn-cs"/>
        </a:defRPr>
      </a:lvl3pPr>
      <a:lvl4pPr marL="1781810" algn="l" defTabSz="1188085" rtl="0" eaLnBrk="1" latinLnBrk="0" hangingPunct="1">
        <a:defRPr sz="2340" kern="1200">
          <a:solidFill>
            <a:schemeClr val="tx1"/>
          </a:solidFill>
          <a:latin typeface="+mn-lt"/>
          <a:ea typeface="+mn-ea"/>
          <a:cs typeface="+mn-cs"/>
        </a:defRPr>
      </a:lvl4pPr>
      <a:lvl5pPr marL="2375535" algn="l" defTabSz="1188085" rtl="0" eaLnBrk="1" latinLnBrk="0" hangingPunct="1">
        <a:defRPr sz="2340" kern="1200">
          <a:solidFill>
            <a:schemeClr val="tx1"/>
          </a:solidFill>
          <a:latin typeface="+mn-lt"/>
          <a:ea typeface="+mn-ea"/>
          <a:cs typeface="+mn-cs"/>
        </a:defRPr>
      </a:lvl5pPr>
      <a:lvl6pPr marL="2969260" algn="l" defTabSz="1188085" rtl="0" eaLnBrk="1" latinLnBrk="0" hangingPunct="1">
        <a:defRPr sz="2340" kern="1200">
          <a:solidFill>
            <a:schemeClr val="tx1"/>
          </a:solidFill>
          <a:latin typeface="+mn-lt"/>
          <a:ea typeface="+mn-ea"/>
          <a:cs typeface="+mn-cs"/>
        </a:defRPr>
      </a:lvl6pPr>
      <a:lvl7pPr marL="3563620" algn="l" defTabSz="1188085" rtl="0" eaLnBrk="1" latinLnBrk="0" hangingPunct="1">
        <a:defRPr sz="2340" kern="1200">
          <a:solidFill>
            <a:schemeClr val="tx1"/>
          </a:solidFill>
          <a:latin typeface="+mn-lt"/>
          <a:ea typeface="+mn-ea"/>
          <a:cs typeface="+mn-cs"/>
        </a:defRPr>
      </a:lvl7pPr>
      <a:lvl8pPr marL="4157345" algn="l" defTabSz="1188085" rtl="0" eaLnBrk="1" latinLnBrk="0" hangingPunct="1">
        <a:defRPr sz="2340" kern="1200">
          <a:solidFill>
            <a:schemeClr val="tx1"/>
          </a:solidFill>
          <a:latin typeface="+mn-lt"/>
          <a:ea typeface="+mn-ea"/>
          <a:cs typeface="+mn-cs"/>
        </a:defRPr>
      </a:lvl8pPr>
      <a:lvl9pPr marL="4751070" algn="l" defTabSz="1188085" rtl="0" eaLnBrk="1" latinLnBrk="0" hangingPunct="1">
        <a:defRPr sz="234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0.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ctrTitle"/>
          </p:nvPr>
        </p:nvSpPr>
        <p:spPr>
          <a:xfrm>
            <a:off x="948808" y="1066890"/>
            <a:ext cx="6559809" cy="690255"/>
          </a:xfrm>
        </p:spPr>
        <p:txBody>
          <a:bodyPr>
            <a:noAutofit/>
          </a:bodyPr>
          <a:lstStyle/>
          <a:p>
            <a:r>
              <a:rPr lang="zh-CN" altLang="en-US" b="1">
                <a:solidFill>
                  <a:srgbClr val="C00000"/>
                </a:solidFill>
                <a:latin typeface="+mn-lt"/>
                <a:ea typeface="+mn-ea"/>
                <a:cs typeface="+mn-ea"/>
                <a:sym typeface="+mn-lt"/>
              </a:rPr>
              <a:t>内存布局</a:t>
            </a:r>
            <a:endParaRPr lang="zh-CN" altLang="en-US" b="1" dirty="0">
              <a:solidFill>
                <a:srgbClr val="C00000"/>
              </a:solidFill>
              <a:latin typeface="+mn-lt"/>
              <a:ea typeface="+mn-ea"/>
              <a:cs typeface="+mn-ea"/>
              <a:sym typeface="+mn-lt"/>
            </a:endParaRPr>
          </a:p>
        </p:txBody>
      </p:sp>
      <p:sp>
        <p:nvSpPr>
          <p:cNvPr id="4" name="Text Placeholder 3"/>
          <p:cNvSpPr txBox="1"/>
          <p:nvPr/>
        </p:nvSpPr>
        <p:spPr>
          <a:xfrm>
            <a:off x="948808" y="6264112"/>
            <a:ext cx="2606870" cy="136693"/>
          </a:xfrm>
          <a:prstGeom prst="rect">
            <a:avLst/>
          </a:prstGeom>
        </p:spPr>
        <p:txBody>
          <a:bodyPr vert="horz"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r>
              <a:rPr kumimoji="1" lang="en-US" altLang="zh-CN" sz="1000">
                <a:cs typeface="+mn-ea"/>
                <a:sym typeface="+mn-lt"/>
              </a:rPr>
              <a:t>Security Level:</a:t>
            </a:r>
            <a:endParaRPr lang="en-US" sz="1000">
              <a:cs typeface="+mn-ea"/>
              <a:sym typeface="+mn-lt"/>
            </a:endParaRPr>
          </a:p>
        </p:txBody>
      </p:sp>
      <p:sp>
        <p:nvSpPr>
          <p:cNvPr id="6" name="矩形 5"/>
          <p:cNvSpPr/>
          <p:nvPr/>
        </p:nvSpPr>
        <p:spPr>
          <a:xfrm>
            <a:off x="9001663" y="5858894"/>
            <a:ext cx="2794958" cy="888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
          </p:nvPr>
        </p:nvSpPr>
        <p:spPr/>
        <p:txBody>
          <a:bodyPr/>
          <a:lstStyle/>
          <a:p>
            <a:r>
              <a:rPr lang="zh-CN" altLang="en-US" b="1" dirty="0">
                <a:solidFill>
                  <a:srgbClr val="C00000"/>
                </a:solidFill>
                <a:latin typeface="+mn-lt"/>
                <a:ea typeface="+mn-ea"/>
                <a:cs typeface="+mn-ea"/>
                <a:sym typeface="+mn-lt"/>
              </a:rPr>
              <a:t>关于本章</a:t>
            </a:r>
            <a:endParaRPr lang="en-US" b="1" dirty="0">
              <a:solidFill>
                <a:srgbClr val="C00000"/>
              </a:solidFill>
              <a:latin typeface="+mn-lt"/>
              <a:ea typeface="+mn-ea"/>
              <a:cs typeface="+mn-ea"/>
              <a:sym typeface="+mn-lt"/>
            </a:endParaRPr>
          </a:p>
        </p:txBody>
      </p:sp>
      <p:sp>
        <p:nvSpPr>
          <p:cNvPr id="3" name="内容占位符 2"/>
          <p:cNvSpPr>
            <a:spLocks noGrp="1"/>
          </p:cNvSpPr>
          <p:nvPr>
            <p:ph idx="10"/>
          </p:nvPr>
        </p:nvSpPr>
        <p:spPr>
          <a:xfrm>
            <a:off x="729175" y="1377391"/>
            <a:ext cx="10733557" cy="1418064"/>
          </a:xfrm>
        </p:spPr>
        <p:txBody>
          <a:bodyPr/>
          <a:lstStyle/>
          <a:p>
            <a:pPr>
              <a:lnSpc>
                <a:spcPct val="150000"/>
              </a:lnSpc>
            </a:pPr>
            <a:r>
              <a:rPr lang="zh-CN" altLang="en-US" b="1" dirty="0">
                <a:solidFill>
                  <a:srgbClr val="C00000"/>
                </a:solidFill>
                <a:latin typeface="+mn-lt"/>
                <a:ea typeface="+mn-ea"/>
                <a:cs typeface="+mn-ea"/>
                <a:sym typeface="+mn-lt"/>
              </a:rPr>
              <a:t>章节目标</a:t>
            </a:r>
            <a:endParaRPr lang="en-US" altLang="zh-CN" b="1" dirty="0">
              <a:solidFill>
                <a:srgbClr val="C00000"/>
              </a:solidFill>
              <a:latin typeface="+mn-lt"/>
              <a:ea typeface="+mn-ea"/>
              <a:cs typeface="+mn-ea"/>
              <a:sym typeface="+mn-lt"/>
            </a:endParaRPr>
          </a:p>
          <a:p>
            <a:pPr>
              <a:lnSpc>
                <a:spcPct val="150000"/>
              </a:lnSpc>
            </a:pPr>
            <a:r>
              <a:rPr lang="zh-CN" altLang="en-US" dirty="0">
                <a:latin typeface="+mn-lt"/>
                <a:ea typeface="+mn-ea"/>
                <a:cs typeface="+mn-ea"/>
                <a:sym typeface="+mn-lt"/>
              </a:rPr>
              <a:t>通过本章节的学习，了解</a:t>
            </a:r>
            <a:r>
              <a:rPr lang="en-US" altLang="zh-CN" dirty="0">
                <a:latin typeface="+mn-lt"/>
                <a:ea typeface="+mn-ea"/>
                <a:cs typeface="+mn-ea"/>
                <a:sym typeface="+mn-lt"/>
              </a:rPr>
              <a:t>Rust</a:t>
            </a:r>
            <a:r>
              <a:rPr lang="zh-CN" altLang="en-US" dirty="0">
                <a:latin typeface="+mn-lt"/>
                <a:ea typeface="+mn-ea"/>
                <a:cs typeface="+mn-ea"/>
                <a:sym typeface="+mn-lt"/>
              </a:rPr>
              <a:t>中内存布局、</a:t>
            </a:r>
            <a:r>
              <a:rPr lang="en-US" altLang="zh-CN" dirty="0">
                <a:latin typeface="+mn-lt"/>
                <a:ea typeface="+mn-ea"/>
                <a:cs typeface="+mn-ea"/>
                <a:sym typeface="+mn-lt"/>
              </a:rPr>
              <a:t>#[</a:t>
            </a:r>
            <a:r>
              <a:rPr lang="en-US" altLang="zh-CN" dirty="0" err="1">
                <a:latin typeface="+mn-lt"/>
                <a:ea typeface="+mn-ea"/>
                <a:cs typeface="+mn-ea"/>
                <a:sym typeface="+mn-lt"/>
              </a:rPr>
              <a:t>repr</a:t>
            </a:r>
            <a:r>
              <a:rPr lang="en-US" altLang="zh-CN" dirty="0">
                <a:latin typeface="+mn-lt"/>
                <a:ea typeface="+mn-ea"/>
                <a:cs typeface="+mn-ea"/>
                <a:sym typeface="+mn-lt"/>
              </a:rPr>
              <a:t>]</a:t>
            </a:r>
            <a:r>
              <a:rPr lang="zh-CN" altLang="en-US" dirty="0">
                <a:latin typeface="+mn-lt"/>
                <a:ea typeface="+mn-ea"/>
                <a:cs typeface="+mn-ea"/>
                <a:sym typeface="+mn-lt"/>
              </a:rPr>
              <a:t>属性以及union相关知识。</a:t>
            </a:r>
            <a:endParaRPr lang="en-US" altLang="zh-CN" dirty="0">
              <a:latin typeface="+mn-lt"/>
              <a:ea typeface="+mn-ea"/>
              <a:cs typeface="+mn-ea"/>
              <a:sym typeface="+mn-lt"/>
            </a:endParaRPr>
          </a:p>
        </p:txBody>
      </p:sp>
      <p:cxnSp>
        <p:nvCxnSpPr>
          <p:cNvPr id="6" name="直接连接符 5"/>
          <p:cNvCxnSpPr/>
          <p:nvPr/>
        </p:nvCxnSpPr>
        <p:spPr>
          <a:xfrm>
            <a:off x="729175" y="1811383"/>
            <a:ext cx="906585"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729175" y="3243628"/>
            <a:ext cx="2073660"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5" name="矩形 4"/>
          <p:cNvSpPr/>
          <p:nvPr/>
        </p:nvSpPr>
        <p:spPr>
          <a:xfrm>
            <a:off x="419122" y="3213170"/>
            <a:ext cx="11043610" cy="1705403"/>
          </a:xfrm>
          <a:prstGeom prst="rect">
            <a:avLst/>
          </a:prstGeom>
        </p:spPr>
        <p:txBody>
          <a:bodyPr wrap="square">
            <a:spAutoFit/>
          </a:bodyPr>
          <a:lstStyle/>
          <a:p>
            <a:pPr marL="811530" lvl="1" indent="-285750">
              <a:lnSpc>
                <a:spcPct val="150000"/>
              </a:lnSpc>
              <a:buFont typeface="Wingdings" panose="05000000000000000000" pitchFamily="2" charset="2"/>
              <a:buChar char="ü"/>
            </a:pPr>
            <a:r>
              <a:rPr lang="zh-CN" altLang="en-US" dirty="0">
                <a:cs typeface="+mn-ea"/>
                <a:sym typeface="+mn-lt"/>
              </a:rPr>
              <a:t>内存布局规则；</a:t>
            </a:r>
          </a:p>
          <a:p>
            <a:pPr marL="811530" lvl="1" indent="-285750">
              <a:lnSpc>
                <a:spcPct val="150000"/>
              </a:lnSpc>
              <a:buFont typeface="Wingdings" panose="05000000000000000000" pitchFamily="2" charset="2"/>
              <a:buChar char="ü"/>
            </a:pPr>
            <a:r>
              <a:rPr lang="zh-CN" altLang="en-US" dirty="0">
                <a:cs typeface="+mn-ea"/>
                <a:sym typeface="+mn-lt"/>
              </a:rPr>
              <a:t>结构体和枚举的内存布局；</a:t>
            </a:r>
            <a:endParaRPr lang="en-US" altLang="zh-CN" dirty="0">
              <a:cs typeface="+mn-ea"/>
              <a:sym typeface="+mn-lt"/>
            </a:endParaRPr>
          </a:p>
          <a:p>
            <a:pPr marL="811530" lvl="1" indent="-285750">
              <a:lnSpc>
                <a:spcPct val="150000"/>
              </a:lnSpc>
              <a:buFont typeface="Wingdings" panose="05000000000000000000" pitchFamily="2" charset="2"/>
              <a:buChar char="ü"/>
            </a:pPr>
            <a:r>
              <a:rPr lang="en-US" altLang="zh-CN" dirty="0">
                <a:cs typeface="+mn-ea"/>
                <a:sym typeface="+mn-lt"/>
              </a:rPr>
              <a:t>#[</a:t>
            </a:r>
            <a:r>
              <a:rPr lang="en-US" altLang="zh-CN" dirty="0" err="1">
                <a:cs typeface="+mn-ea"/>
                <a:sym typeface="+mn-lt"/>
              </a:rPr>
              <a:t>repr</a:t>
            </a:r>
            <a:r>
              <a:rPr lang="en-US" altLang="zh-CN" dirty="0">
                <a:cs typeface="+mn-ea"/>
                <a:sym typeface="+mn-lt"/>
              </a:rPr>
              <a:t>]</a:t>
            </a:r>
            <a:r>
              <a:rPr lang="zh-CN" altLang="en-US" dirty="0">
                <a:cs typeface="+mn-ea"/>
                <a:sym typeface="+mn-lt"/>
              </a:rPr>
              <a:t>属性；</a:t>
            </a:r>
            <a:endParaRPr lang="en-US" altLang="zh-CN" dirty="0">
              <a:cs typeface="+mn-ea"/>
              <a:sym typeface="+mn-lt"/>
            </a:endParaRPr>
          </a:p>
          <a:p>
            <a:pPr marL="811530" lvl="1" indent="-285750">
              <a:lnSpc>
                <a:spcPct val="150000"/>
              </a:lnSpc>
              <a:buFont typeface="Wingdings" panose="05000000000000000000" pitchFamily="2" charset="2"/>
              <a:buChar char="ü"/>
            </a:pPr>
            <a:r>
              <a:rPr lang="zh-CN" altLang="en-US" dirty="0">
                <a:cs typeface="+mn-ea"/>
                <a:sym typeface="+mn-lt"/>
              </a:rPr>
              <a:t>union的概念和用法；</a:t>
            </a:r>
            <a:endParaRPr lang="en-US" altLang="zh-CN" dirty="0">
              <a:cs typeface="+mn-ea"/>
              <a:sym typeface="+mn-lt"/>
            </a:endParaRPr>
          </a:p>
        </p:txBody>
      </p:sp>
      <p:sp>
        <p:nvSpPr>
          <p:cNvPr id="4" name="矩形 3"/>
          <p:cNvSpPr/>
          <p:nvPr/>
        </p:nvSpPr>
        <p:spPr>
          <a:xfrm>
            <a:off x="634926" y="2795455"/>
            <a:ext cx="2276585" cy="466666"/>
          </a:xfrm>
          <a:prstGeom prst="rect">
            <a:avLst/>
          </a:prstGeom>
        </p:spPr>
        <p:txBody>
          <a:bodyPr wrap="none">
            <a:spAutoFit/>
          </a:bodyPr>
          <a:lstStyle/>
          <a:p>
            <a:pPr>
              <a:lnSpc>
                <a:spcPct val="150000"/>
              </a:lnSpc>
            </a:pPr>
            <a:r>
              <a:rPr lang="zh-CN" altLang="en-US" b="1" dirty="0">
                <a:solidFill>
                  <a:srgbClr val="C00000"/>
                </a:solidFill>
                <a:cs typeface="+mn-ea"/>
                <a:sym typeface="+mn-lt"/>
              </a:rPr>
              <a:t>本章预期掌握知识点</a:t>
            </a:r>
            <a:endParaRPr lang="en-US" altLang="zh-CN" b="1" dirty="0">
              <a:solidFill>
                <a:srgbClr val="C00000"/>
              </a:solidFill>
              <a:cs typeface="+mn-ea"/>
              <a:sym typeface="+mn-lt"/>
            </a:endParaRPr>
          </a:p>
        </p:txBody>
      </p:sp>
      <p:cxnSp>
        <p:nvCxnSpPr>
          <p:cNvPr id="9" name="直接连接符 8"/>
          <p:cNvCxnSpPr>
            <a:stCxn id="2" idx="1"/>
            <a:endCxn id="2" idx="3"/>
          </p:cNvCxnSpPr>
          <p:nvPr/>
        </p:nvCxnSpPr>
        <p:spPr>
          <a:xfrm>
            <a:off x="729175" y="952834"/>
            <a:ext cx="10740640" cy="0"/>
          </a:xfrm>
          <a:prstGeom prst="line">
            <a:avLst/>
          </a:prstGeom>
          <a:ln w="57150"/>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24"/>
          <p:cNvSpPr/>
          <p:nvPr/>
        </p:nvSpPr>
        <p:spPr>
          <a:xfrm>
            <a:off x="624474" y="0"/>
            <a:ext cx="36000" cy="6840000"/>
          </a:xfrm>
          <a:prstGeom prst="rect">
            <a:avLst/>
          </a:prstGeom>
          <a:gradFill>
            <a:gsLst>
              <a:gs pos="4000">
                <a:schemeClr val="tx2">
                  <a:lumMod val="85000"/>
                </a:schemeClr>
              </a:gs>
              <a:gs pos="54000">
                <a:schemeClr val="tx2">
                  <a:lumMod val="85000"/>
                </a:schemeClr>
              </a:gs>
              <a:gs pos="100000">
                <a:schemeClr val="tx2">
                  <a:lumMod val="85000"/>
                  <a:alpha val="7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 name="副标题 1"/>
          <p:cNvSpPr>
            <a:spLocks noGrp="1"/>
          </p:cNvSpPr>
          <p:nvPr>
            <p:ph type="subTitle" idx="1"/>
          </p:nvPr>
        </p:nvSpPr>
        <p:spPr/>
        <p:txBody>
          <a:bodyPr/>
          <a:lstStyle/>
          <a:p>
            <a:r>
              <a:rPr lang="zh-CN" altLang="en-US" b="1" dirty="0">
                <a:solidFill>
                  <a:srgbClr val="C00000"/>
                </a:solidFill>
                <a:latin typeface="+mn-lt"/>
                <a:ea typeface="+mn-ea"/>
                <a:cs typeface="+mn-ea"/>
                <a:sym typeface="+mn-lt"/>
              </a:rPr>
              <a:t>目录</a:t>
            </a:r>
            <a:endParaRPr lang="en-US" b="1" dirty="0">
              <a:solidFill>
                <a:srgbClr val="C00000"/>
              </a:solidFill>
              <a:latin typeface="+mn-lt"/>
              <a:ea typeface="+mn-ea"/>
              <a:cs typeface="+mn-ea"/>
              <a:sym typeface="+mn-lt"/>
            </a:endParaRPr>
          </a:p>
        </p:txBody>
      </p:sp>
      <p:sp>
        <p:nvSpPr>
          <p:cNvPr id="3" name="内容占位符 2"/>
          <p:cNvSpPr>
            <a:spLocks noGrp="1"/>
          </p:cNvSpPr>
          <p:nvPr>
            <p:ph idx="10"/>
          </p:nvPr>
        </p:nvSpPr>
        <p:spPr>
          <a:xfrm>
            <a:off x="729175" y="1481893"/>
            <a:ext cx="10733557" cy="4690459"/>
          </a:xfrm>
        </p:spPr>
        <p:txBody>
          <a:bodyPr/>
          <a:lstStyle/>
          <a:p>
            <a:pPr marL="354965" indent="-342900">
              <a:lnSpc>
                <a:spcPct val="150000"/>
              </a:lnSpc>
              <a:buFontTx/>
              <a:buAutoNum type="arabicPlain"/>
            </a:pPr>
            <a:endParaRPr lang="zh-CN" altLang="en-US" dirty="0">
              <a:latin typeface="+mn-lt"/>
              <a:ea typeface="+mn-ea"/>
              <a:cs typeface="+mn-ea"/>
              <a:sym typeface="+mn-lt"/>
            </a:endParaRPr>
          </a:p>
          <a:p>
            <a:pPr marL="354965" indent="-342900">
              <a:lnSpc>
                <a:spcPct val="150000"/>
              </a:lnSpc>
              <a:buAutoNum type="arabicPlain"/>
            </a:pPr>
            <a:r>
              <a:rPr lang="zh-CN" altLang="en-US" dirty="0">
                <a:latin typeface="+mn-lt"/>
                <a:ea typeface="+mn-ea"/>
                <a:cs typeface="+mn-ea"/>
                <a:sym typeface="+mn-lt"/>
              </a:rPr>
              <a:t>内存对齐规则</a:t>
            </a:r>
          </a:p>
          <a:p>
            <a:pPr marL="354965" indent="-342900">
              <a:lnSpc>
                <a:spcPct val="150000"/>
              </a:lnSpc>
              <a:buAutoNum type="arabicPlain"/>
            </a:pPr>
            <a:r>
              <a:rPr lang="zh-CN" altLang="en-US" dirty="0">
                <a:latin typeface="+mn-lt"/>
                <a:ea typeface="+mn-ea"/>
                <a:cs typeface="+mn-ea"/>
                <a:sym typeface="+mn-lt"/>
              </a:rPr>
              <a:t>结构体和枚举的内存对齐</a:t>
            </a:r>
            <a:endParaRPr lang="en-US" altLang="zh-CN" dirty="0">
              <a:latin typeface="+mn-lt"/>
              <a:ea typeface="+mn-ea"/>
              <a:cs typeface="+mn-ea"/>
              <a:sym typeface="+mn-lt"/>
            </a:endParaRPr>
          </a:p>
          <a:p>
            <a:pPr marL="354965" indent="-342900">
              <a:lnSpc>
                <a:spcPct val="150000"/>
              </a:lnSpc>
              <a:buAutoNum type="arabicPlain"/>
            </a:pPr>
            <a:r>
              <a:rPr lang="en-US" altLang="zh-CN" dirty="0">
                <a:latin typeface="+mn-lt"/>
                <a:ea typeface="+mn-ea"/>
                <a:cs typeface="+mn-ea"/>
                <a:sym typeface="+mn-lt"/>
              </a:rPr>
              <a:t>#[</a:t>
            </a:r>
            <a:r>
              <a:rPr lang="en-US" altLang="zh-CN" dirty="0" err="1">
                <a:latin typeface="+mn-lt"/>
                <a:ea typeface="+mn-ea"/>
                <a:cs typeface="+mn-ea"/>
                <a:sym typeface="+mn-lt"/>
              </a:rPr>
              <a:t>repr</a:t>
            </a:r>
            <a:r>
              <a:rPr lang="en-US" altLang="zh-CN" dirty="0">
                <a:latin typeface="+mn-lt"/>
                <a:ea typeface="+mn-ea"/>
                <a:cs typeface="+mn-ea"/>
                <a:sym typeface="+mn-lt"/>
              </a:rPr>
              <a:t>]</a:t>
            </a:r>
            <a:r>
              <a:rPr lang="zh-CN" altLang="en-US" dirty="0">
                <a:latin typeface="+mn-lt"/>
                <a:ea typeface="+mn-ea"/>
                <a:cs typeface="+mn-ea"/>
                <a:sym typeface="+mn-lt"/>
              </a:rPr>
              <a:t>属性</a:t>
            </a:r>
            <a:endParaRPr lang="en-US" altLang="zh-CN" dirty="0">
              <a:latin typeface="+mn-lt"/>
              <a:ea typeface="+mn-ea"/>
              <a:cs typeface="+mn-ea"/>
              <a:sym typeface="+mn-lt"/>
            </a:endParaRPr>
          </a:p>
          <a:p>
            <a:pPr marL="354965" indent="-342900">
              <a:lnSpc>
                <a:spcPct val="150000"/>
              </a:lnSpc>
              <a:buFontTx/>
              <a:buAutoNum type="arabicPlain"/>
            </a:pPr>
            <a:r>
              <a:rPr lang="zh-CN" altLang="en-US" dirty="0">
                <a:latin typeface="+mn-lt"/>
                <a:ea typeface="+mn-ea"/>
                <a:cs typeface="+mn-ea"/>
                <a:sym typeface="+mn-lt"/>
              </a:rPr>
              <a:t>union</a:t>
            </a:r>
            <a:endParaRPr lang="en-US" altLang="zh-CN" dirty="0">
              <a:latin typeface="+mn-lt"/>
              <a:ea typeface="+mn-ea"/>
              <a:cs typeface="+mn-ea"/>
              <a:sym typeface="+mn-lt"/>
            </a:endParaRPr>
          </a:p>
        </p:txBody>
      </p:sp>
      <p:cxnSp>
        <p:nvCxnSpPr>
          <p:cNvPr id="5" name="直接连接符 4"/>
          <p:cNvCxnSpPr/>
          <p:nvPr/>
        </p:nvCxnSpPr>
        <p:spPr>
          <a:xfrm>
            <a:off x="722092" y="972607"/>
            <a:ext cx="10740640" cy="0"/>
          </a:xfrm>
          <a:prstGeom prst="line">
            <a:avLst/>
          </a:prstGeom>
          <a:ln w="57150"/>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直接连接符 6"/>
          <p:cNvCxnSpPr/>
          <p:nvPr/>
        </p:nvCxnSpPr>
        <p:spPr>
          <a:xfrm>
            <a:off x="239006" y="641249"/>
            <a:ext cx="11340282"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139959" y="112899"/>
            <a:ext cx="5271796" cy="528350"/>
          </a:xfrm>
          <a:prstGeom prst="rect">
            <a:avLst/>
          </a:prstGeom>
          <a:noFill/>
        </p:spPr>
        <p:txBody>
          <a:bodyPr vert="horz" wrap="square" rtlCol="0">
            <a:spAutoFit/>
          </a:bodyPr>
          <a:lstStyle/>
          <a:p>
            <a:pPr>
              <a:lnSpc>
                <a:spcPts val="3440"/>
              </a:lnSpc>
            </a:pPr>
            <a:r>
              <a:rPr lang="zh-CN" altLang="en-US" sz="3200" b="1">
                <a:solidFill>
                  <a:srgbClr val="C00000"/>
                </a:solidFill>
                <a:cs typeface="+mn-ea"/>
                <a:sym typeface="+mn-lt"/>
              </a:rPr>
              <a:t>内存对齐规则</a:t>
            </a:r>
            <a:endParaRPr lang="en-US" altLang="zh-CN" sz="3200" b="1">
              <a:solidFill>
                <a:srgbClr val="C00000"/>
              </a:solidFill>
              <a:cs typeface="+mn-ea"/>
              <a:sym typeface="+mn-lt"/>
            </a:endParaRPr>
          </a:p>
        </p:txBody>
      </p:sp>
      <p:sp>
        <p:nvSpPr>
          <p:cNvPr id="10" name="矩形 9"/>
          <p:cNvSpPr/>
          <p:nvPr/>
        </p:nvSpPr>
        <p:spPr>
          <a:xfrm>
            <a:off x="255265" y="4813403"/>
            <a:ext cx="5146595" cy="1200329"/>
          </a:xfrm>
          <a:prstGeom prst="rect">
            <a:avLst/>
          </a:prstGeom>
        </p:spPr>
        <p:txBody>
          <a:bodyPr wrap="square">
            <a:spAutoFit/>
          </a:bodyPr>
          <a:lstStyle/>
          <a:p>
            <a:pPr>
              <a:lnSpc>
                <a:spcPct val="150000"/>
              </a:lnSpc>
            </a:pPr>
            <a:r>
              <a:rPr lang="zh-CN" altLang="en-US" sz="1600" dirty="0">
                <a:cs typeface="+mn-ea"/>
                <a:sym typeface="+mn-lt"/>
              </a:rPr>
              <a:t>对于组合类型，值的大小是同类型的值组成的数组中连续两个元素之间的字节偏移量，此偏移量包括了为保持程序项类型内部对齐而对此类型做的对齐填充。</a:t>
            </a:r>
          </a:p>
        </p:txBody>
      </p:sp>
      <p:sp>
        <p:nvSpPr>
          <p:cNvPr id="13" name="矩形 12"/>
          <p:cNvSpPr/>
          <p:nvPr/>
        </p:nvSpPr>
        <p:spPr>
          <a:xfrm>
            <a:off x="255265" y="2038910"/>
            <a:ext cx="4760080" cy="1566595"/>
          </a:xfrm>
          <a:prstGeom prst="rect">
            <a:avLst/>
          </a:prstGeom>
        </p:spPr>
        <p:txBody>
          <a:bodyPr wrap="square">
            <a:noAutofit/>
          </a:bodyPr>
          <a:lstStyle/>
          <a:p>
            <a:pPr>
              <a:lnSpc>
                <a:spcPct val="150000"/>
              </a:lnSpc>
            </a:pPr>
            <a:r>
              <a:rPr lang="zh-CN" altLang="en-US" sz="1600" dirty="0">
                <a:cs typeface="+mn-ea"/>
                <a:sym typeface="+mn-lt"/>
              </a:rPr>
              <a:t>如果一个值实现了</a:t>
            </a:r>
            <a:r>
              <a:rPr lang="en-US" altLang="zh-CN" sz="1600" dirty="0">
                <a:cs typeface="+mn-ea"/>
                <a:sym typeface="+mn-lt"/>
              </a:rPr>
              <a:t>Sized trait</a:t>
            </a:r>
            <a:r>
              <a:rPr lang="zh-CN" altLang="en-US" sz="1600" dirty="0">
                <a:cs typeface="+mn-ea"/>
                <a:sym typeface="+mn-lt"/>
              </a:rPr>
              <a:t>，即在编译时有了确定的大小和对齐量，那么可以使用 </a:t>
            </a:r>
            <a:r>
              <a:rPr lang="en-US" altLang="zh-CN" sz="1600" dirty="0">
                <a:cs typeface="+mn-ea"/>
                <a:sym typeface="+mn-lt"/>
              </a:rPr>
              <a:t>std::mem </a:t>
            </a:r>
            <a:r>
              <a:rPr lang="zh-CN" altLang="en-US" sz="1600" dirty="0">
                <a:cs typeface="+mn-ea"/>
                <a:sym typeface="+mn-lt"/>
              </a:rPr>
              <a:t>模块中的 </a:t>
            </a:r>
            <a:r>
              <a:rPr lang="en-US" altLang="zh-CN" sz="1600" dirty="0" err="1">
                <a:cs typeface="+mn-ea"/>
                <a:sym typeface="+mn-lt"/>
              </a:rPr>
              <a:t>size_of</a:t>
            </a:r>
            <a:r>
              <a:rPr lang="en-US" altLang="zh-CN" sz="1600" dirty="0">
                <a:cs typeface="+mn-ea"/>
                <a:sym typeface="+mn-lt"/>
              </a:rPr>
              <a:t>() </a:t>
            </a:r>
            <a:r>
              <a:rPr lang="zh-CN" altLang="en-US" sz="1600" dirty="0">
                <a:cs typeface="+mn-ea"/>
                <a:sym typeface="+mn-lt"/>
              </a:rPr>
              <a:t>和 </a:t>
            </a:r>
            <a:r>
              <a:rPr lang="en-US" altLang="zh-CN" sz="1600" dirty="0" err="1">
                <a:cs typeface="+mn-ea"/>
                <a:sym typeface="+mn-lt"/>
              </a:rPr>
              <a:t>align_of</a:t>
            </a:r>
            <a:r>
              <a:rPr lang="en-US" altLang="zh-CN" sz="1600" dirty="0">
                <a:cs typeface="+mn-ea"/>
                <a:sym typeface="+mn-lt"/>
              </a:rPr>
              <a:t>() </a:t>
            </a:r>
            <a:r>
              <a:rPr lang="zh-CN" altLang="en-US" sz="1600" dirty="0">
                <a:cs typeface="+mn-ea"/>
                <a:sym typeface="+mn-lt"/>
              </a:rPr>
              <a:t>函数计算对应类型的大小和对齐量。</a:t>
            </a:r>
            <a:endParaRPr lang="en-US" altLang="zh-CN" sz="1600" dirty="0">
              <a:cs typeface="+mn-ea"/>
              <a:sym typeface="+mn-lt"/>
            </a:endParaRPr>
          </a:p>
        </p:txBody>
      </p:sp>
      <p:sp>
        <p:nvSpPr>
          <p:cNvPr id="2" name="矩形 1"/>
          <p:cNvSpPr/>
          <p:nvPr/>
        </p:nvSpPr>
        <p:spPr>
          <a:xfrm>
            <a:off x="239006" y="648817"/>
            <a:ext cx="11340282" cy="1200329"/>
          </a:xfrm>
          <a:prstGeom prst="rect">
            <a:avLst/>
          </a:prstGeom>
        </p:spPr>
        <p:txBody>
          <a:bodyPr wrap="square">
            <a:spAutoFit/>
          </a:bodyPr>
          <a:lstStyle/>
          <a:p>
            <a:pPr>
              <a:lnSpc>
                <a:spcPct val="150000"/>
              </a:lnSpc>
            </a:pPr>
            <a:r>
              <a:rPr lang="zh-CN" altLang="en-US" sz="1600" dirty="0">
                <a:cs typeface="+mn-ea"/>
                <a:sym typeface="+mn-lt"/>
              </a:rPr>
              <a:t>内存布局</a:t>
            </a:r>
            <a:r>
              <a:rPr lang="en-US" altLang="zh-CN" sz="1600" dirty="0">
                <a:cs typeface="+mn-ea"/>
                <a:sym typeface="+mn-lt"/>
              </a:rPr>
              <a:t>(layout)</a:t>
            </a:r>
            <a:r>
              <a:rPr lang="zh-CN" altLang="en-US" sz="1600" dirty="0">
                <a:cs typeface="+mn-ea"/>
                <a:sym typeface="+mn-lt"/>
              </a:rPr>
              <a:t>包含 大小</a:t>
            </a:r>
            <a:r>
              <a:rPr lang="en-US" altLang="zh-CN" sz="1600" dirty="0">
                <a:cs typeface="+mn-ea"/>
                <a:sym typeface="+mn-lt"/>
              </a:rPr>
              <a:t>(size)</a:t>
            </a:r>
            <a:r>
              <a:rPr lang="zh-CN" altLang="en-US" sz="1600" dirty="0">
                <a:cs typeface="+mn-ea"/>
                <a:sym typeface="+mn-lt"/>
              </a:rPr>
              <a:t> 和对齐量</a:t>
            </a:r>
            <a:r>
              <a:rPr lang="en-US" altLang="zh-CN" sz="1600" dirty="0">
                <a:cs typeface="+mn-ea"/>
                <a:sym typeface="+mn-lt"/>
              </a:rPr>
              <a:t>(alignment)</a:t>
            </a:r>
            <a:r>
              <a:rPr lang="zh-CN" altLang="en-US" sz="1600" dirty="0">
                <a:cs typeface="+mn-ea"/>
                <a:sym typeface="+mn-lt"/>
              </a:rPr>
              <a:t>。值的对齐量指定了哪些地址可以有效地存储该值。</a:t>
            </a:r>
            <a:endParaRPr lang="en-US" altLang="zh-CN" sz="1600" dirty="0">
              <a:cs typeface="+mn-ea"/>
              <a:sym typeface="+mn-lt"/>
            </a:endParaRPr>
          </a:p>
          <a:p>
            <a:pPr>
              <a:lnSpc>
                <a:spcPct val="150000"/>
              </a:lnSpc>
            </a:pPr>
            <a:r>
              <a:rPr lang="zh-CN" altLang="en-US" sz="1600" dirty="0">
                <a:cs typeface="+mn-ea"/>
                <a:sym typeface="+mn-lt"/>
              </a:rPr>
              <a:t>对齐量为</a:t>
            </a:r>
            <a:r>
              <a:rPr lang="en-US" altLang="zh-CN" sz="1600" dirty="0">
                <a:cs typeface="+mn-ea"/>
                <a:sym typeface="+mn-lt"/>
              </a:rPr>
              <a:t>n</a:t>
            </a:r>
            <a:r>
              <a:rPr lang="zh-CN" altLang="en-US" sz="1600" dirty="0">
                <a:cs typeface="+mn-ea"/>
                <a:sym typeface="+mn-lt"/>
              </a:rPr>
              <a:t>，那么该值只能存储在 </a:t>
            </a:r>
            <a:r>
              <a:rPr lang="en-US" altLang="zh-CN" sz="1600" dirty="0">
                <a:cs typeface="+mn-ea"/>
                <a:sym typeface="+mn-lt"/>
              </a:rPr>
              <a:t>n </a:t>
            </a:r>
            <a:r>
              <a:rPr lang="zh-CN" altLang="en-US" sz="1600" dirty="0">
                <a:cs typeface="+mn-ea"/>
                <a:sym typeface="+mn-lt"/>
              </a:rPr>
              <a:t>倍数的地址处。例如，对齐量为</a:t>
            </a:r>
            <a:r>
              <a:rPr lang="en-US" altLang="zh-CN" sz="1600" dirty="0">
                <a:cs typeface="+mn-ea"/>
                <a:sym typeface="+mn-lt"/>
              </a:rPr>
              <a:t>2</a:t>
            </a:r>
            <a:r>
              <a:rPr lang="zh-CN" altLang="en-US" sz="1600" dirty="0">
                <a:cs typeface="+mn-ea"/>
                <a:sym typeface="+mn-lt"/>
              </a:rPr>
              <a:t>的值必须存储在偶数地址，而对齐量为</a:t>
            </a:r>
            <a:r>
              <a:rPr lang="en-US" altLang="zh-CN" sz="1600" dirty="0">
                <a:cs typeface="+mn-ea"/>
                <a:sym typeface="+mn-lt"/>
              </a:rPr>
              <a:t>1</a:t>
            </a:r>
            <a:r>
              <a:rPr lang="zh-CN" altLang="en-US" sz="1600" dirty="0">
                <a:cs typeface="+mn-ea"/>
                <a:sym typeface="+mn-lt"/>
              </a:rPr>
              <a:t>的值可以存储在任意地址。对齐量以字节为单位，至少为 </a:t>
            </a:r>
            <a:r>
              <a:rPr lang="en-US" altLang="zh-CN" sz="1600" dirty="0">
                <a:cs typeface="+mn-ea"/>
                <a:sym typeface="+mn-lt"/>
              </a:rPr>
              <a:t>1</a:t>
            </a:r>
            <a:r>
              <a:rPr lang="zh-CN" altLang="en-US" sz="1600" dirty="0">
                <a:cs typeface="+mn-ea"/>
                <a:sym typeface="+mn-lt"/>
              </a:rPr>
              <a:t>，且始终为 </a:t>
            </a:r>
            <a:r>
              <a:rPr lang="en-US" altLang="zh-CN" sz="1600" dirty="0">
                <a:cs typeface="+mn-ea"/>
                <a:sym typeface="+mn-lt"/>
              </a:rPr>
              <a:t>2 </a:t>
            </a:r>
            <a:r>
              <a:rPr lang="zh-CN" altLang="en-US" sz="1600" dirty="0">
                <a:cs typeface="+mn-ea"/>
                <a:sym typeface="+mn-lt"/>
              </a:rPr>
              <a:t>的幂。</a:t>
            </a:r>
          </a:p>
        </p:txBody>
      </p:sp>
      <p:sp>
        <p:nvSpPr>
          <p:cNvPr id="14" name="右箭头 13"/>
          <p:cNvSpPr/>
          <p:nvPr/>
        </p:nvSpPr>
        <p:spPr>
          <a:xfrm>
            <a:off x="4883883" y="4023440"/>
            <a:ext cx="353085" cy="489432"/>
          </a:xfrm>
          <a:prstGeom prst="rightArrow">
            <a:avLst/>
          </a:prstGeom>
          <a:solidFill>
            <a:schemeClr val="accent3"/>
          </a:solidFill>
          <a:ln>
            <a:solidFill>
              <a:srgbClr val="15151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9" name="矩形 8">
            <a:extLst>
              <a:ext uri="{FF2B5EF4-FFF2-40B4-BE49-F238E27FC236}">
                <a16:creationId xmlns:a16="http://schemas.microsoft.com/office/drawing/2014/main" id="{DB11CF46-0FD7-477D-8992-A4E67E7F9890}"/>
              </a:ext>
            </a:extLst>
          </p:cNvPr>
          <p:cNvSpPr/>
          <p:nvPr/>
        </p:nvSpPr>
        <p:spPr>
          <a:xfrm>
            <a:off x="225410" y="3755774"/>
            <a:ext cx="4628618" cy="907364"/>
          </a:xfrm>
          <a:prstGeom prst="rect">
            <a:avLst/>
          </a:prstGeom>
        </p:spPr>
        <p:txBody>
          <a:bodyPr wrap="square">
            <a:noAutofit/>
          </a:bodyPr>
          <a:lstStyle/>
          <a:p>
            <a:pPr>
              <a:lnSpc>
                <a:spcPct val="150000"/>
              </a:lnSpc>
            </a:pPr>
            <a:r>
              <a:rPr lang="zh-CN" altLang="en-US" sz="1600" dirty="0">
                <a:cs typeface="+mn-ea"/>
                <a:sym typeface="+mn-lt"/>
              </a:rPr>
              <a:t>基础类型（如 </a:t>
            </a:r>
            <a:r>
              <a:rPr lang="en-US" altLang="zh-CN" sz="1600" dirty="0">
                <a:cs typeface="+mn-ea"/>
                <a:sym typeface="+mn-lt"/>
              </a:rPr>
              <a:t>bool, i32 </a:t>
            </a:r>
            <a:r>
              <a:rPr lang="zh-CN" altLang="en-US" sz="1600" dirty="0">
                <a:cs typeface="+mn-ea"/>
                <a:sym typeface="+mn-lt"/>
              </a:rPr>
              <a:t>等）的对齐量一般等于它的大小，但不绝对，因为这是平台相关的。</a:t>
            </a:r>
            <a:endParaRPr lang="en-US" altLang="zh-CN" sz="1600" dirty="0">
              <a:cs typeface="+mn-ea"/>
              <a:sym typeface="+mn-lt"/>
            </a:endParaRPr>
          </a:p>
        </p:txBody>
      </p:sp>
      <p:sp>
        <p:nvSpPr>
          <p:cNvPr id="3" name="矩形 2">
            <a:extLst>
              <a:ext uri="{FF2B5EF4-FFF2-40B4-BE49-F238E27FC236}">
                <a16:creationId xmlns:a16="http://schemas.microsoft.com/office/drawing/2014/main" id="{A151DC6A-91C2-4F24-A316-17818D90BA33}"/>
              </a:ext>
            </a:extLst>
          </p:cNvPr>
          <p:cNvSpPr/>
          <p:nvPr/>
        </p:nvSpPr>
        <p:spPr>
          <a:xfrm>
            <a:off x="5483288" y="2067553"/>
            <a:ext cx="6096000" cy="4401205"/>
          </a:xfrm>
          <a:prstGeom prst="rect">
            <a:avLst/>
          </a:prstGeom>
          <a:solidFill>
            <a:schemeClr val="tx1"/>
          </a:solidFill>
        </p:spPr>
        <p:txBody>
          <a:bodyPr>
            <a:spAutoFit/>
          </a:bodyPr>
          <a:lstStyle/>
          <a:p>
            <a:r>
              <a:rPr lang="en-US" altLang="zh-CN" sz="1400" dirty="0">
                <a:solidFill>
                  <a:srgbClr val="6A9955"/>
                </a:solidFill>
                <a:cs typeface="+mn-ea"/>
                <a:sym typeface="+mn-lt"/>
              </a:rPr>
              <a:t>// </a:t>
            </a:r>
            <a:r>
              <a:rPr lang="zh-CN" altLang="en-US" sz="1400" dirty="0">
                <a:solidFill>
                  <a:srgbClr val="6A9955"/>
                </a:solidFill>
                <a:cs typeface="+mn-ea"/>
                <a:sym typeface="+mn-lt"/>
              </a:rPr>
              <a:t>代码示例</a:t>
            </a:r>
            <a:endParaRPr lang="zh-CN" altLang="en-US" sz="1400" dirty="0">
              <a:solidFill>
                <a:srgbClr val="D4D4D4"/>
              </a:solidFill>
              <a:cs typeface="+mn-ea"/>
              <a:sym typeface="+mn-lt"/>
            </a:endParaRPr>
          </a:p>
          <a:p>
            <a:r>
              <a:rPr lang="en-US" altLang="zh-CN" sz="1400" dirty="0">
                <a:solidFill>
                  <a:srgbClr val="569CD6"/>
                </a:solidFill>
                <a:cs typeface="+mn-ea"/>
                <a:sym typeface="+mn-lt"/>
              </a:rPr>
              <a:t>use</a:t>
            </a:r>
            <a:r>
              <a:rPr lang="en-US" altLang="zh-CN" sz="1400" dirty="0">
                <a:solidFill>
                  <a:srgbClr val="D4D4D4"/>
                </a:solidFill>
                <a:cs typeface="+mn-ea"/>
                <a:sym typeface="+mn-lt"/>
              </a:rPr>
              <a:t> </a:t>
            </a:r>
            <a:r>
              <a:rPr lang="en-US" altLang="zh-CN" sz="1400" dirty="0">
                <a:solidFill>
                  <a:srgbClr val="C8C8C8"/>
                </a:solidFill>
                <a:cs typeface="+mn-ea"/>
                <a:sym typeface="+mn-lt"/>
              </a:rPr>
              <a:t>std</a:t>
            </a:r>
            <a:r>
              <a:rPr lang="en-US" altLang="zh-CN" sz="1400" dirty="0">
                <a:solidFill>
                  <a:srgbClr val="D4D4D4"/>
                </a:solidFill>
                <a:cs typeface="+mn-ea"/>
                <a:sym typeface="+mn-lt"/>
              </a:rPr>
              <a:t>::</a:t>
            </a:r>
            <a:r>
              <a:rPr lang="en-US" altLang="zh-CN" sz="1400" dirty="0">
                <a:solidFill>
                  <a:srgbClr val="C8C8C8"/>
                </a:solidFill>
                <a:cs typeface="+mn-ea"/>
                <a:sym typeface="+mn-lt"/>
              </a:rPr>
              <a:t>mem</a:t>
            </a:r>
            <a:r>
              <a:rPr lang="en-US" altLang="zh-CN" sz="1400" dirty="0">
                <a:solidFill>
                  <a:srgbClr val="D4D4D4"/>
                </a:solidFill>
                <a:cs typeface="+mn-ea"/>
                <a:sym typeface="+mn-lt"/>
              </a:rPr>
              <a:t>;</a:t>
            </a:r>
          </a:p>
          <a:p>
            <a:r>
              <a:rPr lang="en-US" altLang="zh-CN" sz="1400" dirty="0" err="1">
                <a:solidFill>
                  <a:srgbClr val="569CD6"/>
                </a:solidFill>
                <a:cs typeface="+mn-ea"/>
                <a:sym typeface="+mn-lt"/>
              </a:rPr>
              <a:t>fn</a:t>
            </a:r>
            <a:r>
              <a:rPr lang="en-US" altLang="zh-CN" sz="1400" dirty="0">
                <a:solidFill>
                  <a:srgbClr val="D4D4D4"/>
                </a:solidFill>
                <a:cs typeface="+mn-ea"/>
                <a:sym typeface="+mn-lt"/>
              </a:rPr>
              <a:t> </a:t>
            </a:r>
            <a:r>
              <a:rPr lang="en-US" altLang="zh-CN" sz="1400" dirty="0">
                <a:solidFill>
                  <a:srgbClr val="C8C8C8"/>
                </a:solidFill>
                <a:cs typeface="+mn-ea"/>
                <a:sym typeface="+mn-lt"/>
              </a:rPr>
              <a:t>main</a:t>
            </a:r>
            <a:r>
              <a:rPr lang="en-US" altLang="zh-CN" sz="1400" dirty="0">
                <a:solidFill>
                  <a:srgbClr val="D4D4D4"/>
                </a:solidFill>
                <a:cs typeface="+mn-ea"/>
                <a:sym typeface="+mn-lt"/>
              </a:rPr>
              <a:t>() {</a:t>
            </a:r>
          </a:p>
          <a:p>
            <a:r>
              <a:rPr lang="en-US" altLang="zh-CN" sz="1400" dirty="0">
                <a:solidFill>
                  <a:srgbClr val="6A9955"/>
                </a:solidFill>
                <a:cs typeface="+mn-ea"/>
                <a:sym typeface="+mn-lt"/>
              </a:rPr>
              <a:t>    // </a:t>
            </a:r>
            <a:r>
              <a:rPr lang="zh-CN" altLang="en-US" sz="1400" dirty="0">
                <a:solidFill>
                  <a:srgbClr val="6A9955"/>
                </a:solidFill>
                <a:cs typeface="+mn-ea"/>
                <a:sym typeface="+mn-lt"/>
              </a:rPr>
              <a:t>结构体类型举例</a:t>
            </a:r>
            <a:endParaRPr lang="zh-CN" altLang="en-US" sz="1400" dirty="0">
              <a:solidFill>
                <a:srgbClr val="D4D4D4"/>
              </a:solidFill>
              <a:cs typeface="+mn-ea"/>
              <a:sym typeface="+mn-lt"/>
            </a:endParaRPr>
          </a:p>
          <a:p>
            <a:r>
              <a:rPr lang="zh-CN" altLang="en-US" sz="1400" dirty="0">
                <a:solidFill>
                  <a:srgbClr val="D4D4D4"/>
                </a:solidFill>
                <a:cs typeface="+mn-ea"/>
                <a:sym typeface="+mn-lt"/>
              </a:rPr>
              <a:t>    </a:t>
            </a:r>
            <a:r>
              <a:rPr lang="en-US" altLang="zh-CN" sz="1400" dirty="0">
                <a:solidFill>
                  <a:srgbClr val="569CD6"/>
                </a:solidFill>
                <a:cs typeface="+mn-ea"/>
                <a:sym typeface="+mn-lt"/>
              </a:rPr>
              <a:t>struct</a:t>
            </a:r>
            <a:r>
              <a:rPr lang="en-US" altLang="zh-CN" sz="1400" dirty="0">
                <a:solidFill>
                  <a:srgbClr val="D4D4D4"/>
                </a:solidFill>
                <a:cs typeface="+mn-ea"/>
                <a:sym typeface="+mn-lt"/>
              </a:rPr>
              <a:t> </a:t>
            </a:r>
            <a:r>
              <a:rPr lang="en-US" altLang="zh-CN" sz="1400" dirty="0">
                <a:solidFill>
                  <a:srgbClr val="4EC9B0"/>
                </a:solidFill>
                <a:cs typeface="+mn-ea"/>
                <a:sym typeface="+mn-lt"/>
              </a:rPr>
              <a:t>Foo</a:t>
            </a:r>
            <a:r>
              <a:rPr lang="en-US" altLang="zh-CN" sz="1400" dirty="0">
                <a:solidFill>
                  <a:srgbClr val="D4D4D4"/>
                </a:solidFill>
                <a:cs typeface="+mn-ea"/>
                <a:sym typeface="+mn-lt"/>
              </a:rPr>
              <a:t> {</a:t>
            </a:r>
          </a:p>
          <a:p>
            <a:r>
              <a:rPr lang="en-US" altLang="zh-CN" sz="1400" dirty="0">
                <a:solidFill>
                  <a:srgbClr val="D4D4D4"/>
                </a:solidFill>
                <a:cs typeface="+mn-ea"/>
                <a:sym typeface="+mn-lt"/>
              </a:rPr>
              <a:t>        </a:t>
            </a:r>
            <a:r>
              <a:rPr lang="en-US" altLang="zh-CN" sz="1400" dirty="0">
                <a:solidFill>
                  <a:srgbClr val="DADADA"/>
                </a:solidFill>
                <a:cs typeface="+mn-ea"/>
                <a:sym typeface="+mn-lt"/>
              </a:rPr>
              <a:t>a</a:t>
            </a:r>
            <a:r>
              <a:rPr lang="en-US" altLang="zh-CN" sz="1400" dirty="0">
                <a:solidFill>
                  <a:srgbClr val="D4D4D4"/>
                </a:solidFill>
                <a:cs typeface="+mn-ea"/>
                <a:sym typeface="+mn-lt"/>
              </a:rPr>
              <a:t>: </a:t>
            </a:r>
            <a:r>
              <a:rPr lang="en-US" altLang="zh-CN" sz="1400" dirty="0">
                <a:solidFill>
                  <a:srgbClr val="4EC9B0"/>
                </a:solidFill>
                <a:cs typeface="+mn-ea"/>
                <a:sym typeface="+mn-lt"/>
              </a:rPr>
              <a:t>u8</a:t>
            </a:r>
            <a:r>
              <a:rPr lang="en-US" altLang="zh-CN" sz="1400" dirty="0">
                <a:solidFill>
                  <a:srgbClr val="D4D4D4"/>
                </a:solidFill>
                <a:cs typeface="+mn-ea"/>
                <a:sym typeface="+mn-lt"/>
              </a:rPr>
              <a:t>,</a:t>
            </a:r>
          </a:p>
          <a:p>
            <a:r>
              <a:rPr lang="en-US" altLang="zh-CN" sz="1400" dirty="0">
                <a:solidFill>
                  <a:srgbClr val="D4D4D4"/>
                </a:solidFill>
                <a:cs typeface="+mn-ea"/>
                <a:sym typeface="+mn-lt"/>
              </a:rPr>
              <a:t>        </a:t>
            </a:r>
            <a:r>
              <a:rPr lang="en-US" altLang="zh-CN" sz="1400" dirty="0">
                <a:solidFill>
                  <a:srgbClr val="DADADA"/>
                </a:solidFill>
                <a:cs typeface="+mn-ea"/>
                <a:sym typeface="+mn-lt"/>
              </a:rPr>
              <a:t>b</a:t>
            </a:r>
            <a:r>
              <a:rPr lang="en-US" altLang="zh-CN" sz="1400" dirty="0">
                <a:solidFill>
                  <a:srgbClr val="D4D4D4"/>
                </a:solidFill>
                <a:cs typeface="+mn-ea"/>
                <a:sym typeface="+mn-lt"/>
              </a:rPr>
              <a:t>: </a:t>
            </a:r>
            <a:r>
              <a:rPr lang="en-US" altLang="zh-CN" sz="1400" dirty="0">
                <a:solidFill>
                  <a:srgbClr val="4EC9B0"/>
                </a:solidFill>
                <a:cs typeface="+mn-ea"/>
                <a:sym typeface="+mn-lt"/>
              </a:rPr>
              <a:t>u32</a:t>
            </a:r>
            <a:r>
              <a:rPr lang="en-US" altLang="zh-CN" sz="1400" dirty="0">
                <a:solidFill>
                  <a:srgbClr val="D4D4D4"/>
                </a:solidFill>
                <a:cs typeface="+mn-ea"/>
                <a:sym typeface="+mn-lt"/>
              </a:rPr>
              <a:t>,</a:t>
            </a:r>
          </a:p>
          <a:p>
            <a:r>
              <a:rPr lang="en-US" altLang="zh-CN" sz="1400" dirty="0">
                <a:solidFill>
                  <a:srgbClr val="D4D4D4"/>
                </a:solidFill>
                <a:cs typeface="+mn-ea"/>
                <a:sym typeface="+mn-lt"/>
              </a:rPr>
              <a:t>        </a:t>
            </a:r>
            <a:r>
              <a:rPr lang="en-US" altLang="zh-CN" sz="1400" dirty="0">
                <a:solidFill>
                  <a:srgbClr val="DADADA"/>
                </a:solidFill>
                <a:cs typeface="+mn-ea"/>
                <a:sym typeface="+mn-lt"/>
              </a:rPr>
              <a:t>c</a:t>
            </a:r>
            <a:r>
              <a:rPr lang="en-US" altLang="zh-CN" sz="1400" dirty="0">
                <a:solidFill>
                  <a:srgbClr val="D4D4D4"/>
                </a:solidFill>
                <a:cs typeface="+mn-ea"/>
                <a:sym typeface="+mn-lt"/>
              </a:rPr>
              <a:t>: </a:t>
            </a:r>
            <a:r>
              <a:rPr lang="en-US" altLang="zh-CN" sz="1400" dirty="0">
                <a:solidFill>
                  <a:srgbClr val="4EC9B0"/>
                </a:solidFill>
                <a:cs typeface="+mn-ea"/>
                <a:sym typeface="+mn-lt"/>
              </a:rPr>
              <a:t>String</a:t>
            </a:r>
            <a:r>
              <a:rPr lang="en-US" altLang="zh-CN" sz="1400" dirty="0">
                <a:solidFill>
                  <a:srgbClr val="D4D4D4"/>
                </a:solidFill>
                <a:cs typeface="+mn-ea"/>
                <a:sym typeface="+mn-lt"/>
              </a:rPr>
              <a:t>,</a:t>
            </a:r>
          </a:p>
          <a:p>
            <a:r>
              <a:rPr lang="en-US" altLang="zh-CN" sz="1400" dirty="0">
                <a:solidFill>
                  <a:srgbClr val="D4D4D4"/>
                </a:solidFill>
                <a:cs typeface="+mn-ea"/>
                <a:sym typeface="+mn-lt"/>
              </a:rPr>
              <a:t>    }</a:t>
            </a:r>
          </a:p>
          <a:p>
            <a:r>
              <a:rPr lang="en-US" altLang="zh-CN" sz="1400" dirty="0">
                <a:solidFill>
                  <a:srgbClr val="6A9955"/>
                </a:solidFill>
                <a:cs typeface="+mn-ea"/>
                <a:sym typeface="+mn-lt"/>
              </a:rPr>
              <a:t>    // </a:t>
            </a:r>
            <a:r>
              <a:rPr lang="zh-CN" altLang="en-US" sz="1400" dirty="0">
                <a:solidFill>
                  <a:srgbClr val="6A9955"/>
                </a:solidFill>
                <a:cs typeface="+mn-ea"/>
                <a:sym typeface="+mn-lt"/>
              </a:rPr>
              <a:t>使用 </a:t>
            </a:r>
            <a:r>
              <a:rPr lang="en-US" altLang="zh-CN" sz="1400" dirty="0" err="1">
                <a:solidFill>
                  <a:srgbClr val="6A9955"/>
                </a:solidFill>
                <a:cs typeface="+mn-ea"/>
                <a:sym typeface="+mn-lt"/>
              </a:rPr>
              <a:t>align_of_val</a:t>
            </a:r>
            <a:r>
              <a:rPr lang="en-US" altLang="zh-CN" sz="1400" dirty="0">
                <a:solidFill>
                  <a:srgbClr val="6A9955"/>
                </a:solidFill>
                <a:cs typeface="+mn-ea"/>
                <a:sym typeface="+mn-lt"/>
              </a:rPr>
              <a:t>() </a:t>
            </a:r>
            <a:r>
              <a:rPr lang="zh-CN" altLang="en-US" sz="1400" dirty="0">
                <a:solidFill>
                  <a:srgbClr val="6A9955"/>
                </a:solidFill>
                <a:cs typeface="+mn-ea"/>
                <a:sym typeface="+mn-lt"/>
              </a:rPr>
              <a:t>函数检查值的对齐量</a:t>
            </a:r>
            <a:endParaRPr lang="zh-CN" altLang="en-US" sz="1400" dirty="0">
              <a:solidFill>
                <a:srgbClr val="D4D4D4"/>
              </a:solidFill>
              <a:cs typeface="+mn-ea"/>
              <a:sym typeface="+mn-lt"/>
            </a:endParaRPr>
          </a:p>
          <a:p>
            <a:r>
              <a:rPr lang="zh-CN" altLang="en-US" sz="1400" dirty="0">
                <a:solidFill>
                  <a:srgbClr val="D4D4D4"/>
                </a:solidFill>
                <a:cs typeface="+mn-ea"/>
                <a:sym typeface="+mn-lt"/>
              </a:rPr>
              <a:t>    </a:t>
            </a:r>
            <a:r>
              <a:rPr lang="en-US" altLang="zh-CN" sz="1400" dirty="0" err="1">
                <a:solidFill>
                  <a:srgbClr val="BD63C5"/>
                </a:solidFill>
                <a:cs typeface="+mn-ea"/>
                <a:sym typeface="+mn-lt"/>
              </a:rPr>
              <a:t>assert_eq</a:t>
            </a:r>
            <a:r>
              <a:rPr lang="en-US" altLang="zh-CN" sz="1400" dirty="0">
                <a:solidFill>
                  <a:srgbClr val="BD63C5"/>
                </a:solidFill>
                <a:cs typeface="+mn-ea"/>
                <a:sym typeface="+mn-lt"/>
              </a:rPr>
              <a:t>!</a:t>
            </a:r>
            <a:r>
              <a:rPr lang="en-US" altLang="zh-CN" sz="1400" dirty="0">
                <a:solidFill>
                  <a:srgbClr val="D4D4D4"/>
                </a:solidFill>
                <a:cs typeface="+mn-ea"/>
                <a:sym typeface="+mn-lt"/>
              </a:rPr>
              <a:t>(</a:t>
            </a:r>
            <a:r>
              <a:rPr lang="en-US" altLang="zh-CN" sz="1400" dirty="0">
                <a:solidFill>
                  <a:srgbClr val="B5CEA8"/>
                </a:solidFill>
                <a:cs typeface="+mn-ea"/>
                <a:sym typeface="+mn-lt"/>
              </a:rPr>
              <a:t>1</a:t>
            </a:r>
            <a:r>
              <a:rPr lang="en-US" altLang="zh-CN" sz="1400" dirty="0">
                <a:solidFill>
                  <a:srgbClr val="D4D4D4"/>
                </a:solidFill>
                <a:cs typeface="+mn-ea"/>
                <a:sym typeface="+mn-lt"/>
              </a:rPr>
              <a:t>, </a:t>
            </a:r>
            <a:r>
              <a:rPr lang="en-US" altLang="zh-CN" sz="1400" dirty="0">
                <a:solidFill>
                  <a:srgbClr val="C8C8C8"/>
                </a:solidFill>
                <a:cs typeface="+mn-ea"/>
                <a:sym typeface="+mn-lt"/>
              </a:rPr>
              <a:t>mem</a:t>
            </a:r>
            <a:r>
              <a:rPr lang="en-US" altLang="zh-CN" sz="1400" dirty="0">
                <a:solidFill>
                  <a:srgbClr val="D4D4D4"/>
                </a:solidFill>
                <a:cs typeface="+mn-ea"/>
                <a:sym typeface="+mn-lt"/>
              </a:rPr>
              <a:t>::</a:t>
            </a:r>
            <a:r>
              <a:rPr lang="en-US" altLang="zh-CN" sz="1400" dirty="0" err="1">
                <a:solidFill>
                  <a:srgbClr val="C8C8C8"/>
                </a:solidFill>
                <a:cs typeface="+mn-ea"/>
                <a:sym typeface="+mn-lt"/>
              </a:rPr>
              <a:t>align_of_val</a:t>
            </a:r>
            <a:r>
              <a:rPr lang="en-US" altLang="zh-CN" sz="1400" dirty="0">
                <a:solidFill>
                  <a:srgbClr val="D4D4D4"/>
                </a:solidFill>
                <a:cs typeface="+mn-ea"/>
                <a:sym typeface="+mn-lt"/>
              </a:rPr>
              <a:t>(&amp;</a:t>
            </a:r>
            <a:r>
              <a:rPr lang="en-US" altLang="zh-CN" sz="1400" dirty="0">
                <a:solidFill>
                  <a:srgbClr val="B5CEA8"/>
                </a:solidFill>
                <a:cs typeface="+mn-ea"/>
                <a:sym typeface="+mn-lt"/>
              </a:rPr>
              <a:t>5u8</a:t>
            </a:r>
            <a:r>
              <a:rPr lang="en-US" altLang="zh-CN" sz="1400" dirty="0">
                <a:solidFill>
                  <a:srgbClr val="D4D4D4"/>
                </a:solidFill>
                <a:cs typeface="+mn-ea"/>
                <a:sym typeface="+mn-lt"/>
              </a:rPr>
              <a:t>));</a:t>
            </a:r>
          </a:p>
          <a:p>
            <a:r>
              <a:rPr lang="en-US" altLang="zh-CN" sz="1400" dirty="0">
                <a:solidFill>
                  <a:srgbClr val="D4D4D4"/>
                </a:solidFill>
                <a:cs typeface="+mn-ea"/>
                <a:sym typeface="+mn-lt"/>
              </a:rPr>
              <a:t>    </a:t>
            </a:r>
            <a:r>
              <a:rPr lang="en-US" altLang="zh-CN" sz="1400" dirty="0" err="1">
                <a:solidFill>
                  <a:srgbClr val="BD63C5"/>
                </a:solidFill>
                <a:cs typeface="+mn-ea"/>
                <a:sym typeface="+mn-lt"/>
              </a:rPr>
              <a:t>assert_eq</a:t>
            </a:r>
            <a:r>
              <a:rPr lang="en-US" altLang="zh-CN" sz="1400" dirty="0">
                <a:solidFill>
                  <a:srgbClr val="BD63C5"/>
                </a:solidFill>
                <a:cs typeface="+mn-ea"/>
                <a:sym typeface="+mn-lt"/>
              </a:rPr>
              <a:t>!</a:t>
            </a:r>
            <a:r>
              <a:rPr lang="en-US" altLang="zh-CN" sz="1400" dirty="0">
                <a:solidFill>
                  <a:srgbClr val="D4D4D4"/>
                </a:solidFill>
                <a:cs typeface="+mn-ea"/>
                <a:sym typeface="+mn-lt"/>
              </a:rPr>
              <a:t>(</a:t>
            </a:r>
            <a:r>
              <a:rPr lang="en-US" altLang="zh-CN" sz="1400" dirty="0">
                <a:solidFill>
                  <a:srgbClr val="B5CEA8"/>
                </a:solidFill>
                <a:cs typeface="+mn-ea"/>
                <a:sym typeface="+mn-lt"/>
              </a:rPr>
              <a:t>4</a:t>
            </a:r>
            <a:r>
              <a:rPr lang="en-US" altLang="zh-CN" sz="1400" dirty="0">
                <a:solidFill>
                  <a:srgbClr val="D4D4D4"/>
                </a:solidFill>
                <a:cs typeface="+mn-ea"/>
                <a:sym typeface="+mn-lt"/>
              </a:rPr>
              <a:t>, </a:t>
            </a:r>
            <a:r>
              <a:rPr lang="en-US" altLang="zh-CN" sz="1400" dirty="0">
                <a:solidFill>
                  <a:srgbClr val="C8C8C8"/>
                </a:solidFill>
                <a:cs typeface="+mn-ea"/>
                <a:sym typeface="+mn-lt"/>
              </a:rPr>
              <a:t>mem</a:t>
            </a:r>
            <a:r>
              <a:rPr lang="en-US" altLang="zh-CN" sz="1400" dirty="0">
                <a:solidFill>
                  <a:srgbClr val="D4D4D4"/>
                </a:solidFill>
                <a:cs typeface="+mn-ea"/>
                <a:sym typeface="+mn-lt"/>
              </a:rPr>
              <a:t>::</a:t>
            </a:r>
            <a:r>
              <a:rPr lang="en-US" altLang="zh-CN" sz="1400" dirty="0" err="1">
                <a:solidFill>
                  <a:srgbClr val="C8C8C8"/>
                </a:solidFill>
                <a:cs typeface="+mn-ea"/>
                <a:sym typeface="+mn-lt"/>
              </a:rPr>
              <a:t>align_of_val</a:t>
            </a:r>
            <a:r>
              <a:rPr lang="en-US" altLang="zh-CN" sz="1400" dirty="0">
                <a:solidFill>
                  <a:srgbClr val="D4D4D4"/>
                </a:solidFill>
                <a:cs typeface="+mn-ea"/>
                <a:sym typeface="+mn-lt"/>
              </a:rPr>
              <a:t>(&amp;</a:t>
            </a:r>
            <a:r>
              <a:rPr lang="en-US" altLang="zh-CN" sz="1400" dirty="0">
                <a:solidFill>
                  <a:srgbClr val="B5CEA8"/>
                </a:solidFill>
                <a:cs typeface="+mn-ea"/>
                <a:sym typeface="+mn-lt"/>
              </a:rPr>
              <a:t>5u32</a:t>
            </a:r>
            <a:r>
              <a:rPr lang="en-US" altLang="zh-CN" sz="1400" dirty="0">
                <a:solidFill>
                  <a:srgbClr val="D4D4D4"/>
                </a:solidFill>
                <a:cs typeface="+mn-ea"/>
                <a:sym typeface="+mn-lt"/>
              </a:rPr>
              <a:t>));</a:t>
            </a:r>
          </a:p>
          <a:p>
            <a:r>
              <a:rPr lang="en-US" altLang="zh-CN" sz="1400" dirty="0">
                <a:solidFill>
                  <a:srgbClr val="D4D4D4"/>
                </a:solidFill>
                <a:cs typeface="+mn-ea"/>
                <a:sym typeface="+mn-lt"/>
              </a:rPr>
              <a:t>    </a:t>
            </a:r>
            <a:r>
              <a:rPr lang="en-US" altLang="zh-CN" sz="1400" dirty="0" err="1">
                <a:solidFill>
                  <a:srgbClr val="BD63C5"/>
                </a:solidFill>
                <a:cs typeface="+mn-ea"/>
                <a:sym typeface="+mn-lt"/>
              </a:rPr>
              <a:t>assert_eq</a:t>
            </a:r>
            <a:r>
              <a:rPr lang="en-US" altLang="zh-CN" sz="1400" dirty="0">
                <a:solidFill>
                  <a:srgbClr val="BD63C5"/>
                </a:solidFill>
                <a:cs typeface="+mn-ea"/>
                <a:sym typeface="+mn-lt"/>
              </a:rPr>
              <a:t>!</a:t>
            </a:r>
            <a:r>
              <a:rPr lang="en-US" altLang="zh-CN" sz="1400" dirty="0">
                <a:solidFill>
                  <a:srgbClr val="D4D4D4"/>
                </a:solidFill>
                <a:cs typeface="+mn-ea"/>
                <a:sym typeface="+mn-lt"/>
              </a:rPr>
              <a:t>(</a:t>
            </a:r>
            <a:r>
              <a:rPr lang="en-US" altLang="zh-CN" sz="1400" dirty="0">
                <a:solidFill>
                  <a:srgbClr val="B5CEA8"/>
                </a:solidFill>
                <a:cs typeface="+mn-ea"/>
                <a:sym typeface="+mn-lt"/>
              </a:rPr>
              <a:t>8</a:t>
            </a:r>
            <a:r>
              <a:rPr lang="en-US" altLang="zh-CN" sz="1400" dirty="0">
                <a:solidFill>
                  <a:srgbClr val="D4D4D4"/>
                </a:solidFill>
                <a:cs typeface="+mn-ea"/>
                <a:sym typeface="+mn-lt"/>
              </a:rPr>
              <a:t>, </a:t>
            </a:r>
            <a:r>
              <a:rPr lang="en-US" altLang="zh-CN" sz="1400" dirty="0">
                <a:solidFill>
                  <a:srgbClr val="C8C8C8"/>
                </a:solidFill>
                <a:cs typeface="+mn-ea"/>
                <a:sym typeface="+mn-lt"/>
              </a:rPr>
              <a:t>mem</a:t>
            </a:r>
            <a:r>
              <a:rPr lang="en-US" altLang="zh-CN" sz="1400" dirty="0">
                <a:solidFill>
                  <a:srgbClr val="D4D4D4"/>
                </a:solidFill>
                <a:cs typeface="+mn-ea"/>
                <a:sym typeface="+mn-lt"/>
              </a:rPr>
              <a:t>::</a:t>
            </a:r>
            <a:r>
              <a:rPr lang="en-US" altLang="zh-CN" sz="1400" dirty="0" err="1">
                <a:solidFill>
                  <a:srgbClr val="C8C8C8"/>
                </a:solidFill>
                <a:cs typeface="+mn-ea"/>
                <a:sym typeface="+mn-lt"/>
              </a:rPr>
              <a:t>align_of_val</a:t>
            </a:r>
            <a:r>
              <a:rPr lang="en-US" altLang="zh-CN" sz="1400" dirty="0">
                <a:solidFill>
                  <a:srgbClr val="D4D4D4"/>
                </a:solidFill>
                <a:cs typeface="+mn-ea"/>
                <a:sym typeface="+mn-lt"/>
              </a:rPr>
              <a:t>(&amp;</a:t>
            </a:r>
            <a:r>
              <a:rPr lang="en-US" altLang="zh-CN" sz="1400" dirty="0">
                <a:solidFill>
                  <a:srgbClr val="CE9178"/>
                </a:solidFill>
                <a:cs typeface="+mn-ea"/>
                <a:sym typeface="+mn-lt"/>
              </a:rPr>
              <a:t>"Rust"</a:t>
            </a:r>
            <a:r>
              <a:rPr lang="en-US" altLang="zh-CN" sz="1400" dirty="0">
                <a:solidFill>
                  <a:srgbClr val="D4D4D4"/>
                </a:solidFill>
                <a:cs typeface="+mn-ea"/>
                <a:sym typeface="+mn-lt"/>
              </a:rPr>
              <a:t>.</a:t>
            </a:r>
            <a:r>
              <a:rPr lang="en-US" altLang="zh-CN" sz="1400" dirty="0" err="1">
                <a:solidFill>
                  <a:srgbClr val="C8C8C8"/>
                </a:solidFill>
                <a:cs typeface="+mn-ea"/>
                <a:sym typeface="+mn-lt"/>
              </a:rPr>
              <a:t>to_string</a:t>
            </a:r>
            <a:r>
              <a:rPr lang="en-US" altLang="zh-CN" sz="1400" dirty="0">
                <a:solidFill>
                  <a:srgbClr val="D4D4D4"/>
                </a:solidFill>
                <a:cs typeface="+mn-ea"/>
                <a:sym typeface="+mn-lt"/>
              </a:rPr>
              <a:t>()));</a:t>
            </a:r>
          </a:p>
          <a:p>
            <a:r>
              <a:rPr lang="en-US" altLang="zh-CN" sz="1400" dirty="0">
                <a:solidFill>
                  <a:srgbClr val="6A9955"/>
                </a:solidFill>
                <a:cs typeface="+mn-ea"/>
                <a:sym typeface="+mn-lt"/>
              </a:rPr>
              <a:t>    //</a:t>
            </a:r>
            <a:r>
              <a:rPr lang="zh-CN" altLang="en-US" sz="1400" dirty="0">
                <a:solidFill>
                  <a:srgbClr val="6A9955"/>
                </a:solidFill>
                <a:cs typeface="+mn-ea"/>
                <a:sym typeface="+mn-lt"/>
              </a:rPr>
              <a:t>使用 </a:t>
            </a:r>
            <a:r>
              <a:rPr lang="en-US" altLang="zh-CN" sz="1400" dirty="0" err="1">
                <a:solidFill>
                  <a:srgbClr val="6A9955"/>
                </a:solidFill>
                <a:cs typeface="+mn-ea"/>
                <a:sym typeface="+mn-lt"/>
              </a:rPr>
              <a:t>size_of_val</a:t>
            </a:r>
            <a:r>
              <a:rPr lang="en-US" altLang="zh-CN" sz="1400" dirty="0">
                <a:solidFill>
                  <a:srgbClr val="6A9955"/>
                </a:solidFill>
                <a:cs typeface="+mn-ea"/>
                <a:sym typeface="+mn-lt"/>
              </a:rPr>
              <a:t>() </a:t>
            </a:r>
            <a:r>
              <a:rPr lang="zh-CN" altLang="en-US" sz="1400" dirty="0">
                <a:solidFill>
                  <a:srgbClr val="6A9955"/>
                </a:solidFill>
                <a:cs typeface="+mn-ea"/>
                <a:sym typeface="+mn-lt"/>
              </a:rPr>
              <a:t>函数检查值的大小</a:t>
            </a:r>
            <a:endParaRPr lang="zh-CN" altLang="en-US" sz="1400" dirty="0">
              <a:solidFill>
                <a:srgbClr val="D4D4D4"/>
              </a:solidFill>
              <a:cs typeface="+mn-ea"/>
              <a:sym typeface="+mn-lt"/>
            </a:endParaRPr>
          </a:p>
          <a:p>
            <a:r>
              <a:rPr lang="zh-CN" altLang="en-US" sz="1400" dirty="0">
                <a:solidFill>
                  <a:srgbClr val="D4D4D4"/>
                </a:solidFill>
                <a:cs typeface="+mn-ea"/>
                <a:sym typeface="+mn-lt"/>
              </a:rPr>
              <a:t>    </a:t>
            </a:r>
            <a:r>
              <a:rPr lang="en-US" altLang="zh-CN" sz="1400" dirty="0" err="1">
                <a:solidFill>
                  <a:srgbClr val="BD63C5"/>
                </a:solidFill>
                <a:cs typeface="+mn-ea"/>
                <a:sym typeface="+mn-lt"/>
              </a:rPr>
              <a:t>assert_eq</a:t>
            </a:r>
            <a:r>
              <a:rPr lang="en-US" altLang="zh-CN" sz="1400" dirty="0">
                <a:solidFill>
                  <a:srgbClr val="BD63C5"/>
                </a:solidFill>
                <a:cs typeface="+mn-ea"/>
                <a:sym typeface="+mn-lt"/>
              </a:rPr>
              <a:t>!</a:t>
            </a:r>
            <a:r>
              <a:rPr lang="en-US" altLang="zh-CN" sz="1400" dirty="0">
                <a:solidFill>
                  <a:srgbClr val="D4D4D4"/>
                </a:solidFill>
                <a:cs typeface="+mn-ea"/>
                <a:sym typeface="+mn-lt"/>
              </a:rPr>
              <a:t>(</a:t>
            </a:r>
            <a:r>
              <a:rPr lang="en-US" altLang="zh-CN" sz="1400" dirty="0">
                <a:solidFill>
                  <a:srgbClr val="B5CEA8"/>
                </a:solidFill>
                <a:cs typeface="+mn-ea"/>
                <a:sym typeface="+mn-lt"/>
              </a:rPr>
              <a:t>1</a:t>
            </a:r>
            <a:r>
              <a:rPr lang="en-US" altLang="zh-CN" sz="1400" dirty="0">
                <a:solidFill>
                  <a:srgbClr val="D4D4D4"/>
                </a:solidFill>
                <a:cs typeface="+mn-ea"/>
                <a:sym typeface="+mn-lt"/>
              </a:rPr>
              <a:t>, </a:t>
            </a:r>
            <a:r>
              <a:rPr lang="en-US" altLang="zh-CN" sz="1400" dirty="0">
                <a:solidFill>
                  <a:srgbClr val="C8C8C8"/>
                </a:solidFill>
                <a:cs typeface="+mn-ea"/>
                <a:sym typeface="+mn-lt"/>
              </a:rPr>
              <a:t>mem</a:t>
            </a:r>
            <a:r>
              <a:rPr lang="en-US" altLang="zh-CN" sz="1400" dirty="0">
                <a:solidFill>
                  <a:srgbClr val="D4D4D4"/>
                </a:solidFill>
                <a:cs typeface="+mn-ea"/>
                <a:sym typeface="+mn-lt"/>
              </a:rPr>
              <a:t>::</a:t>
            </a:r>
            <a:r>
              <a:rPr lang="en-US" altLang="zh-CN" sz="1400" dirty="0" err="1">
                <a:solidFill>
                  <a:srgbClr val="C8C8C8"/>
                </a:solidFill>
                <a:cs typeface="+mn-ea"/>
                <a:sym typeface="+mn-lt"/>
              </a:rPr>
              <a:t>size_of_val</a:t>
            </a:r>
            <a:r>
              <a:rPr lang="en-US" altLang="zh-CN" sz="1400" dirty="0">
                <a:solidFill>
                  <a:srgbClr val="D4D4D4"/>
                </a:solidFill>
                <a:cs typeface="+mn-ea"/>
                <a:sym typeface="+mn-lt"/>
              </a:rPr>
              <a:t>(&amp;</a:t>
            </a:r>
            <a:r>
              <a:rPr lang="en-US" altLang="zh-CN" sz="1400" dirty="0">
                <a:solidFill>
                  <a:srgbClr val="B5CEA8"/>
                </a:solidFill>
                <a:cs typeface="+mn-ea"/>
                <a:sym typeface="+mn-lt"/>
              </a:rPr>
              <a:t>5u8</a:t>
            </a:r>
            <a:r>
              <a:rPr lang="en-US" altLang="zh-CN" sz="1400" dirty="0">
                <a:solidFill>
                  <a:srgbClr val="D4D4D4"/>
                </a:solidFill>
                <a:cs typeface="+mn-ea"/>
                <a:sym typeface="+mn-lt"/>
              </a:rPr>
              <a:t>));</a:t>
            </a:r>
          </a:p>
          <a:p>
            <a:r>
              <a:rPr lang="en-US" altLang="zh-CN" sz="1400" dirty="0">
                <a:solidFill>
                  <a:srgbClr val="6A9955"/>
                </a:solidFill>
                <a:cs typeface="+mn-ea"/>
                <a:sym typeface="+mn-lt"/>
              </a:rPr>
              <a:t>    // </a:t>
            </a:r>
            <a:r>
              <a:rPr lang="zh-CN" altLang="en-US" sz="1400" dirty="0">
                <a:solidFill>
                  <a:srgbClr val="6A9955"/>
                </a:solidFill>
                <a:cs typeface="+mn-ea"/>
                <a:sym typeface="+mn-lt"/>
              </a:rPr>
              <a:t>值的对齐量等于它所有成员的对齐量中最大的那个</a:t>
            </a:r>
            <a:endParaRPr lang="zh-CN" altLang="en-US" sz="1400" dirty="0">
              <a:solidFill>
                <a:srgbClr val="D4D4D4"/>
              </a:solidFill>
              <a:cs typeface="+mn-ea"/>
              <a:sym typeface="+mn-lt"/>
            </a:endParaRPr>
          </a:p>
          <a:p>
            <a:r>
              <a:rPr lang="zh-CN" altLang="en-US" sz="1400" dirty="0">
                <a:solidFill>
                  <a:srgbClr val="D4D4D4"/>
                </a:solidFill>
                <a:cs typeface="+mn-ea"/>
                <a:sym typeface="+mn-lt"/>
              </a:rPr>
              <a:t>    </a:t>
            </a:r>
            <a:r>
              <a:rPr lang="en-US" altLang="zh-CN" sz="1400" dirty="0" err="1">
                <a:solidFill>
                  <a:srgbClr val="BD63C5"/>
                </a:solidFill>
                <a:cs typeface="+mn-ea"/>
                <a:sym typeface="+mn-lt"/>
              </a:rPr>
              <a:t>assert_eq</a:t>
            </a:r>
            <a:r>
              <a:rPr lang="en-US" altLang="zh-CN" sz="1400" dirty="0">
                <a:solidFill>
                  <a:srgbClr val="BD63C5"/>
                </a:solidFill>
                <a:cs typeface="+mn-ea"/>
                <a:sym typeface="+mn-lt"/>
              </a:rPr>
              <a:t>!</a:t>
            </a:r>
            <a:r>
              <a:rPr lang="en-US" altLang="zh-CN" sz="1400" dirty="0">
                <a:solidFill>
                  <a:srgbClr val="D4D4D4"/>
                </a:solidFill>
                <a:cs typeface="+mn-ea"/>
                <a:sym typeface="+mn-lt"/>
              </a:rPr>
              <a:t>(</a:t>
            </a:r>
            <a:r>
              <a:rPr lang="en-US" altLang="zh-CN" sz="1400" dirty="0">
                <a:solidFill>
                  <a:srgbClr val="B5CEA8"/>
                </a:solidFill>
                <a:cs typeface="+mn-ea"/>
                <a:sym typeface="+mn-lt"/>
              </a:rPr>
              <a:t>8</a:t>
            </a:r>
            <a:r>
              <a:rPr lang="en-US" altLang="zh-CN" sz="1400" dirty="0">
                <a:solidFill>
                  <a:srgbClr val="D4D4D4"/>
                </a:solidFill>
                <a:cs typeface="+mn-ea"/>
                <a:sym typeface="+mn-lt"/>
              </a:rPr>
              <a:t>, </a:t>
            </a:r>
            <a:r>
              <a:rPr lang="en-US" altLang="zh-CN" sz="1400" dirty="0">
                <a:solidFill>
                  <a:srgbClr val="C8C8C8"/>
                </a:solidFill>
                <a:cs typeface="+mn-ea"/>
                <a:sym typeface="+mn-lt"/>
              </a:rPr>
              <a:t>mem</a:t>
            </a:r>
            <a:r>
              <a:rPr lang="en-US" altLang="zh-CN" sz="1400" dirty="0">
                <a:solidFill>
                  <a:srgbClr val="D4D4D4"/>
                </a:solidFill>
                <a:cs typeface="+mn-ea"/>
                <a:sym typeface="+mn-lt"/>
              </a:rPr>
              <a:t>::</a:t>
            </a:r>
            <a:r>
              <a:rPr lang="en-US" altLang="zh-CN" sz="1400" dirty="0" err="1">
                <a:solidFill>
                  <a:srgbClr val="C8C8C8"/>
                </a:solidFill>
                <a:cs typeface="+mn-ea"/>
                <a:sym typeface="+mn-lt"/>
              </a:rPr>
              <a:t>align_of</a:t>
            </a:r>
            <a:r>
              <a:rPr lang="en-US" altLang="zh-CN" sz="1400" dirty="0">
                <a:solidFill>
                  <a:srgbClr val="D4D4D4"/>
                </a:solidFill>
                <a:cs typeface="+mn-ea"/>
                <a:sym typeface="+mn-lt"/>
              </a:rPr>
              <a:t>::&lt;</a:t>
            </a:r>
            <a:r>
              <a:rPr lang="en-US" altLang="zh-CN" sz="1400" dirty="0">
                <a:solidFill>
                  <a:srgbClr val="4EC9B0"/>
                </a:solidFill>
                <a:cs typeface="+mn-ea"/>
                <a:sym typeface="+mn-lt"/>
              </a:rPr>
              <a:t>Foo</a:t>
            </a:r>
            <a:r>
              <a:rPr lang="en-US" altLang="zh-CN" sz="1400" dirty="0">
                <a:solidFill>
                  <a:srgbClr val="D4D4D4"/>
                </a:solidFill>
                <a:cs typeface="+mn-ea"/>
                <a:sym typeface="+mn-lt"/>
              </a:rPr>
              <a:t>&gt;());</a:t>
            </a:r>
          </a:p>
          <a:p>
            <a:r>
              <a:rPr lang="en-US" altLang="zh-CN" sz="1400" dirty="0">
                <a:solidFill>
                  <a:srgbClr val="6A9955"/>
                </a:solidFill>
                <a:cs typeface="+mn-ea"/>
                <a:sym typeface="+mn-lt"/>
              </a:rPr>
              <a:t>    // </a:t>
            </a:r>
            <a:r>
              <a:rPr lang="zh-CN" altLang="en-US" sz="1400" dirty="0">
                <a:solidFill>
                  <a:srgbClr val="6A9955"/>
                </a:solidFill>
                <a:cs typeface="+mn-ea"/>
                <a:sym typeface="+mn-lt"/>
              </a:rPr>
              <a:t>值的大小是对齐量的非负整数倍</a:t>
            </a:r>
            <a:endParaRPr lang="zh-CN" altLang="en-US" sz="1400" dirty="0">
              <a:solidFill>
                <a:srgbClr val="D4D4D4"/>
              </a:solidFill>
              <a:cs typeface="+mn-ea"/>
              <a:sym typeface="+mn-lt"/>
            </a:endParaRPr>
          </a:p>
          <a:p>
            <a:r>
              <a:rPr lang="zh-CN" altLang="en-US" sz="1400" dirty="0">
                <a:solidFill>
                  <a:srgbClr val="D4D4D4"/>
                </a:solidFill>
                <a:cs typeface="+mn-ea"/>
                <a:sym typeface="+mn-lt"/>
              </a:rPr>
              <a:t>    </a:t>
            </a:r>
            <a:r>
              <a:rPr lang="en-US" altLang="zh-CN" sz="1400" dirty="0" err="1">
                <a:solidFill>
                  <a:srgbClr val="BD63C5"/>
                </a:solidFill>
                <a:cs typeface="+mn-ea"/>
                <a:sym typeface="+mn-lt"/>
              </a:rPr>
              <a:t>assert_eq</a:t>
            </a:r>
            <a:r>
              <a:rPr lang="en-US" altLang="zh-CN" sz="1400" dirty="0">
                <a:solidFill>
                  <a:srgbClr val="BD63C5"/>
                </a:solidFill>
                <a:cs typeface="+mn-ea"/>
                <a:sym typeface="+mn-lt"/>
              </a:rPr>
              <a:t>!</a:t>
            </a:r>
            <a:r>
              <a:rPr lang="en-US" altLang="zh-CN" sz="1400" dirty="0">
                <a:solidFill>
                  <a:srgbClr val="D4D4D4"/>
                </a:solidFill>
                <a:cs typeface="+mn-ea"/>
                <a:sym typeface="+mn-lt"/>
              </a:rPr>
              <a:t>(</a:t>
            </a:r>
            <a:r>
              <a:rPr lang="en-US" altLang="zh-CN" sz="1400" dirty="0">
                <a:solidFill>
                  <a:srgbClr val="B5CEA8"/>
                </a:solidFill>
                <a:cs typeface="+mn-ea"/>
                <a:sym typeface="+mn-lt"/>
              </a:rPr>
              <a:t>32</a:t>
            </a:r>
            <a:r>
              <a:rPr lang="en-US" altLang="zh-CN" sz="1400" dirty="0">
                <a:solidFill>
                  <a:srgbClr val="D4D4D4"/>
                </a:solidFill>
                <a:cs typeface="+mn-ea"/>
                <a:sym typeface="+mn-lt"/>
              </a:rPr>
              <a:t>, </a:t>
            </a:r>
            <a:r>
              <a:rPr lang="en-US" altLang="zh-CN" sz="1400" dirty="0">
                <a:solidFill>
                  <a:srgbClr val="C8C8C8"/>
                </a:solidFill>
                <a:cs typeface="+mn-ea"/>
                <a:sym typeface="+mn-lt"/>
              </a:rPr>
              <a:t>mem</a:t>
            </a:r>
            <a:r>
              <a:rPr lang="en-US" altLang="zh-CN" sz="1400" dirty="0">
                <a:solidFill>
                  <a:srgbClr val="D4D4D4"/>
                </a:solidFill>
                <a:cs typeface="+mn-ea"/>
                <a:sym typeface="+mn-lt"/>
              </a:rPr>
              <a:t>::</a:t>
            </a:r>
            <a:r>
              <a:rPr lang="en-US" altLang="zh-CN" sz="1400" dirty="0" err="1">
                <a:solidFill>
                  <a:srgbClr val="C8C8C8"/>
                </a:solidFill>
                <a:cs typeface="+mn-ea"/>
                <a:sym typeface="+mn-lt"/>
              </a:rPr>
              <a:t>size_of</a:t>
            </a:r>
            <a:r>
              <a:rPr lang="en-US" altLang="zh-CN" sz="1400" dirty="0">
                <a:solidFill>
                  <a:srgbClr val="D4D4D4"/>
                </a:solidFill>
                <a:cs typeface="+mn-ea"/>
                <a:sym typeface="+mn-lt"/>
              </a:rPr>
              <a:t>::&lt;</a:t>
            </a:r>
            <a:r>
              <a:rPr lang="en-US" altLang="zh-CN" sz="1400" dirty="0">
                <a:solidFill>
                  <a:srgbClr val="4EC9B0"/>
                </a:solidFill>
                <a:cs typeface="+mn-ea"/>
                <a:sym typeface="+mn-lt"/>
              </a:rPr>
              <a:t>Foo</a:t>
            </a:r>
            <a:r>
              <a:rPr lang="en-US" altLang="zh-CN" sz="1400" dirty="0">
                <a:solidFill>
                  <a:srgbClr val="D4D4D4"/>
                </a:solidFill>
                <a:cs typeface="+mn-ea"/>
                <a:sym typeface="+mn-lt"/>
              </a:rPr>
              <a:t>&gt;());</a:t>
            </a:r>
          </a:p>
          <a:p>
            <a:r>
              <a:rPr lang="en-US" altLang="zh-CN" sz="1400" dirty="0">
                <a:solidFill>
                  <a:srgbClr val="D4D4D4"/>
                </a:solidFill>
                <a:cs typeface="+mn-ea"/>
                <a:sym typeface="+mn-lt"/>
              </a:rPr>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直接连接符 6"/>
          <p:cNvCxnSpPr/>
          <p:nvPr/>
        </p:nvCxnSpPr>
        <p:spPr>
          <a:xfrm>
            <a:off x="239006" y="641249"/>
            <a:ext cx="11340282"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139959" y="112899"/>
            <a:ext cx="10108564" cy="532130"/>
          </a:xfrm>
          <a:prstGeom prst="rect">
            <a:avLst/>
          </a:prstGeom>
          <a:noFill/>
        </p:spPr>
        <p:txBody>
          <a:bodyPr vert="horz" wrap="square" rtlCol="0">
            <a:spAutoFit/>
          </a:bodyPr>
          <a:lstStyle/>
          <a:p>
            <a:pPr>
              <a:lnSpc>
                <a:spcPts val="3440"/>
              </a:lnSpc>
            </a:pPr>
            <a:r>
              <a:rPr lang="zh-CN" altLang="en-US" sz="3200" b="1" u="none" dirty="0">
                <a:solidFill>
                  <a:srgbClr val="C00000"/>
                </a:solidFill>
                <a:cs typeface="+mn-ea"/>
                <a:sym typeface="+mn-lt"/>
              </a:rPr>
              <a:t>默认</a:t>
            </a:r>
            <a:r>
              <a:rPr lang="zh-CN" sz="3200" b="1" u="none" dirty="0">
                <a:solidFill>
                  <a:srgbClr val="C00000"/>
                </a:solidFill>
                <a:cs typeface="+mn-ea"/>
                <a:sym typeface="+mn-lt"/>
              </a:rPr>
              <a:t>内存</a:t>
            </a:r>
            <a:r>
              <a:rPr lang="zh-CN" altLang="en-US" sz="3200" b="1" u="none" dirty="0">
                <a:solidFill>
                  <a:srgbClr val="C00000"/>
                </a:solidFill>
                <a:cs typeface="+mn-ea"/>
                <a:sym typeface="+mn-lt"/>
              </a:rPr>
              <a:t>对齐规则</a:t>
            </a:r>
            <a:endParaRPr lang="en-US" altLang="zh-CN" sz="3200" b="1" dirty="0">
              <a:solidFill>
                <a:srgbClr val="C00000"/>
              </a:solidFill>
              <a:cs typeface="+mn-ea"/>
              <a:sym typeface="+mn-lt"/>
            </a:endParaRPr>
          </a:p>
        </p:txBody>
      </p:sp>
      <p:sp>
        <p:nvSpPr>
          <p:cNvPr id="4" name="文本框 3"/>
          <p:cNvSpPr txBox="1"/>
          <p:nvPr/>
        </p:nvSpPr>
        <p:spPr>
          <a:xfrm>
            <a:off x="243873" y="642034"/>
            <a:ext cx="11108684" cy="1383609"/>
          </a:xfrm>
          <a:prstGeom prst="rect">
            <a:avLst/>
          </a:prstGeom>
          <a:noFill/>
        </p:spPr>
        <p:txBody>
          <a:bodyPr vert="horz" wrap="square" rtlCol="0" anchor="t">
            <a:noAutofit/>
          </a:bodyPr>
          <a:lstStyle/>
          <a:p>
            <a:pPr algn="l">
              <a:lnSpc>
                <a:spcPct val="150000"/>
              </a:lnSpc>
            </a:pPr>
            <a:r>
              <a:rPr lang="zh-CN" sz="1400" b="1" u="none" dirty="0">
                <a:solidFill>
                  <a:srgbClr val="000000"/>
                </a:solidFill>
                <a:cs typeface="+mn-ea"/>
                <a:sym typeface="+mn-lt"/>
              </a:rPr>
              <a:t>结构体</a:t>
            </a:r>
            <a:r>
              <a:rPr lang="zh-CN" altLang="en-US" sz="1400" b="1" u="none" dirty="0">
                <a:solidFill>
                  <a:srgbClr val="000000"/>
                </a:solidFill>
                <a:cs typeface="+mn-ea"/>
                <a:sym typeface="+mn-lt"/>
              </a:rPr>
              <a:t>和元组：</a:t>
            </a:r>
            <a:endParaRPr lang="en-US" sz="1400" b="0" u="none" dirty="0">
              <a:cs typeface="+mn-ea"/>
              <a:sym typeface="+mn-lt"/>
            </a:endParaRPr>
          </a:p>
          <a:p>
            <a:pPr marL="285750" indent="-285750" algn="l">
              <a:lnSpc>
                <a:spcPct val="150000"/>
              </a:lnSpc>
              <a:buChar char="•"/>
            </a:pPr>
            <a:r>
              <a:rPr lang="zh-CN" sz="1400" b="0" u="none" dirty="0">
                <a:solidFill>
                  <a:srgbClr val="000000"/>
                </a:solidFill>
                <a:cs typeface="+mn-ea"/>
                <a:sym typeface="+mn-lt"/>
              </a:rPr>
              <a:t>结构体的对齐属性等于它所有成员的对齐属性中最大的那个；</a:t>
            </a:r>
            <a:endParaRPr lang="en-US" sz="1400" b="0" u="none" dirty="0">
              <a:cs typeface="+mn-ea"/>
              <a:sym typeface="+mn-lt"/>
            </a:endParaRPr>
          </a:p>
          <a:p>
            <a:pPr marL="285750" indent="-285750" algn="l">
              <a:lnSpc>
                <a:spcPct val="150000"/>
              </a:lnSpc>
              <a:buChar char="•"/>
            </a:pPr>
            <a:r>
              <a:rPr lang="en-US" sz="1400" b="0" u="none" dirty="0">
                <a:solidFill>
                  <a:srgbClr val="000000"/>
                </a:solidFill>
                <a:cs typeface="+mn-ea"/>
                <a:sym typeface="+mn-lt"/>
              </a:rPr>
              <a:t>Rust </a:t>
            </a:r>
            <a:r>
              <a:rPr lang="zh-CN" sz="1400" b="0" u="none" dirty="0">
                <a:solidFill>
                  <a:srgbClr val="000000"/>
                </a:solidFill>
                <a:cs typeface="+mn-ea"/>
                <a:sym typeface="+mn-lt"/>
              </a:rPr>
              <a:t>会在必要的位置</a:t>
            </a:r>
            <a:r>
              <a:rPr lang="zh-CN" altLang="en-US" sz="1400" b="0" u="none" dirty="0">
                <a:solidFill>
                  <a:srgbClr val="000000"/>
                </a:solidFill>
                <a:cs typeface="+mn-ea"/>
                <a:sym typeface="+mn-lt"/>
              </a:rPr>
              <a:t>留下间隙</a:t>
            </a:r>
            <a:r>
              <a:rPr lang="zh-CN" sz="1400" b="0" u="none" dirty="0">
                <a:solidFill>
                  <a:srgbClr val="000000"/>
                </a:solidFill>
                <a:cs typeface="+mn-ea"/>
                <a:sym typeface="+mn-lt"/>
              </a:rPr>
              <a:t>，以保证每一个成员都正确地对齐，同时整个类型的尺寸是对齐属性的整数倍；</a:t>
            </a:r>
            <a:endParaRPr lang="en-US" sz="1400" b="0" u="none" dirty="0">
              <a:cs typeface="+mn-ea"/>
              <a:sym typeface="+mn-lt"/>
            </a:endParaRPr>
          </a:p>
          <a:p>
            <a:pPr marL="285750" indent="-285750" algn="l">
              <a:lnSpc>
                <a:spcPct val="150000"/>
              </a:lnSpc>
              <a:buChar char="•"/>
            </a:pPr>
            <a:r>
              <a:rPr lang="zh-CN" altLang="en-US" sz="1400" dirty="0">
                <a:solidFill>
                  <a:srgbClr val="000000"/>
                </a:solidFill>
                <a:cs typeface="+mn-ea"/>
                <a:sym typeface="+mn-lt"/>
              </a:rPr>
              <a:t>默认布局下的结构体，不保证成员的排列顺序，因此 </a:t>
            </a:r>
            <a:r>
              <a:rPr lang="en-US" altLang="zh-CN" sz="1400" dirty="0">
                <a:solidFill>
                  <a:srgbClr val="000000"/>
                </a:solidFill>
                <a:cs typeface="+mn-ea"/>
                <a:sym typeface="+mn-lt"/>
              </a:rPr>
              <a:t>size </a:t>
            </a:r>
            <a:r>
              <a:rPr lang="zh-CN" altLang="en-US" sz="1400" dirty="0">
                <a:solidFill>
                  <a:srgbClr val="000000"/>
                </a:solidFill>
                <a:cs typeface="+mn-ea"/>
                <a:sym typeface="+mn-lt"/>
              </a:rPr>
              <a:t>是跟编译器实现相关的。</a:t>
            </a:r>
            <a:endParaRPr lang="zh-CN" altLang="en-US" sz="1400" dirty="0">
              <a:cs typeface="+mn-ea"/>
              <a:sym typeface="+mn-lt"/>
            </a:endParaRPr>
          </a:p>
        </p:txBody>
      </p:sp>
      <p:pic>
        <p:nvPicPr>
          <p:cNvPr id="5" name="图片 4" descr="upload_899479174"/>
          <p:cNvPicPr>
            <a:picLocks noChangeAspect="1"/>
          </p:cNvPicPr>
          <p:nvPr/>
        </p:nvPicPr>
        <p:blipFill>
          <a:blip r:embed="rId3"/>
          <a:stretch>
            <a:fillRect/>
          </a:stretch>
        </p:blipFill>
        <p:spPr>
          <a:xfrm>
            <a:off x="2599385" y="2025794"/>
            <a:ext cx="5424940" cy="1741953"/>
          </a:xfrm>
          <a:prstGeom prst="rect">
            <a:avLst/>
          </a:prstGeom>
        </p:spPr>
      </p:pic>
      <p:sp>
        <p:nvSpPr>
          <p:cNvPr id="6" name="文本框 5"/>
          <p:cNvSpPr txBox="1"/>
          <p:nvPr/>
        </p:nvSpPr>
        <p:spPr>
          <a:xfrm>
            <a:off x="363321" y="3901975"/>
            <a:ext cx="5136273" cy="1712091"/>
          </a:xfrm>
          <a:prstGeom prst="rect">
            <a:avLst/>
          </a:prstGeom>
          <a:noFill/>
        </p:spPr>
        <p:txBody>
          <a:bodyPr vert="horz" wrap="square" rtlCol="0" anchor="t">
            <a:noAutofit/>
          </a:bodyPr>
          <a:lstStyle/>
          <a:p>
            <a:pPr algn="l">
              <a:lnSpc>
                <a:spcPct val="150000"/>
              </a:lnSpc>
            </a:pPr>
            <a:r>
              <a:rPr lang="zh-CN" sz="1400" b="1" u="none">
                <a:solidFill>
                  <a:srgbClr val="000000"/>
                </a:solidFill>
                <a:cs typeface="+mn-ea"/>
                <a:sym typeface="+mn-lt"/>
              </a:rPr>
              <a:t>枚举（</a:t>
            </a:r>
            <a:r>
              <a:rPr lang="zh-CN" altLang="en-US" sz="1400" b="1" u="none">
                <a:solidFill>
                  <a:srgbClr val="000000"/>
                </a:solidFill>
                <a:cs typeface="+mn-ea"/>
                <a:sym typeface="+mn-lt"/>
              </a:rPr>
              <a:t>没有优化的情况下</a:t>
            </a:r>
            <a:r>
              <a:rPr lang="zh-CN" sz="1400" b="1" u="none">
                <a:solidFill>
                  <a:srgbClr val="000000"/>
                </a:solidFill>
                <a:cs typeface="+mn-ea"/>
                <a:sym typeface="+mn-lt"/>
              </a:rPr>
              <a:t>）</a:t>
            </a:r>
            <a:r>
              <a:rPr lang="zh-CN" altLang="en-US" sz="1400" b="1" u="none">
                <a:solidFill>
                  <a:srgbClr val="000000"/>
                </a:solidFill>
                <a:cs typeface="+mn-ea"/>
                <a:sym typeface="+mn-lt"/>
              </a:rPr>
              <a:t>：</a:t>
            </a:r>
          </a:p>
          <a:p>
            <a:pPr marL="285750" indent="-285750" algn="l">
              <a:lnSpc>
                <a:spcPct val="150000"/>
              </a:lnSpc>
              <a:buChar char="•"/>
            </a:pPr>
            <a:r>
              <a:rPr lang="en-US" sz="1400" b="0" u="none">
                <a:solidFill>
                  <a:srgbClr val="000000"/>
                </a:solidFill>
                <a:cs typeface="+mn-ea"/>
                <a:sym typeface="+mn-lt"/>
              </a:rPr>
              <a:t>Tag</a:t>
            </a:r>
            <a:r>
              <a:rPr lang="zh-CN" sz="1400" b="0" u="none">
                <a:solidFill>
                  <a:srgbClr val="000000"/>
                </a:solidFill>
                <a:cs typeface="+mn-ea"/>
                <a:sym typeface="+mn-lt"/>
              </a:rPr>
              <a:t>字段占据一个字节；</a:t>
            </a:r>
            <a:endParaRPr lang="en-US" sz="1400" b="0" u="none">
              <a:cs typeface="+mn-ea"/>
              <a:sym typeface="+mn-lt"/>
            </a:endParaRPr>
          </a:p>
          <a:p>
            <a:pPr marL="285750" indent="-285750" algn="l">
              <a:lnSpc>
                <a:spcPct val="150000"/>
              </a:lnSpc>
              <a:buChar char="•"/>
            </a:pPr>
            <a:r>
              <a:rPr lang="zh-CN" sz="1400" b="0" u="none">
                <a:solidFill>
                  <a:srgbClr val="000000"/>
                </a:solidFill>
                <a:cs typeface="+mn-ea"/>
                <a:sym typeface="+mn-lt"/>
              </a:rPr>
              <a:t>空字段变体不存储任何数据；</a:t>
            </a:r>
            <a:endParaRPr lang="en-US" sz="1400" b="0" u="none">
              <a:cs typeface="+mn-ea"/>
              <a:sym typeface="+mn-lt"/>
            </a:endParaRPr>
          </a:p>
          <a:p>
            <a:pPr marL="285750" indent="-285750" algn="l">
              <a:lnSpc>
                <a:spcPct val="150000"/>
              </a:lnSpc>
              <a:buChar char="•"/>
            </a:pPr>
            <a:r>
              <a:rPr lang="zh-CN" sz="1400" b="0" u="none">
                <a:solidFill>
                  <a:srgbClr val="000000"/>
                </a:solidFill>
                <a:cs typeface="+mn-ea"/>
                <a:sym typeface="+mn-lt"/>
              </a:rPr>
              <a:t>枚举占用的空间取决于最大的变体占用的空间和变体数量；</a:t>
            </a:r>
            <a:endParaRPr lang="en-US" sz="1400" b="0" u="none">
              <a:cs typeface="+mn-ea"/>
              <a:sym typeface="+mn-lt"/>
            </a:endParaRPr>
          </a:p>
          <a:p>
            <a:pPr marL="285750" indent="-285750" algn="l">
              <a:lnSpc>
                <a:spcPct val="150000"/>
              </a:lnSpc>
              <a:buChar char="•"/>
            </a:pPr>
            <a:r>
              <a:rPr lang="zh-CN" sz="1400" b="0" u="none">
                <a:solidFill>
                  <a:srgbClr val="000000"/>
                </a:solidFill>
                <a:cs typeface="+mn-ea"/>
                <a:sym typeface="+mn-lt"/>
              </a:rPr>
              <a:t>编译器为了数据对齐会填充空白内存区域；</a:t>
            </a:r>
            <a:endParaRPr lang="zh-CN" altLang="en-US" sz="1400" dirty="0">
              <a:cs typeface="+mn-ea"/>
              <a:sym typeface="+mn-lt"/>
            </a:endParaRPr>
          </a:p>
        </p:txBody>
      </p:sp>
      <p:sp>
        <p:nvSpPr>
          <p:cNvPr id="2" name="文本框 1"/>
          <p:cNvSpPr txBox="1"/>
          <p:nvPr userDrawn="1"/>
        </p:nvSpPr>
        <p:spPr>
          <a:xfrm>
            <a:off x="368299" y="5833055"/>
            <a:ext cx="10242685" cy="975494"/>
          </a:xfrm>
          <a:prstGeom prst="rect">
            <a:avLst/>
          </a:prstGeom>
          <a:noFill/>
        </p:spPr>
        <p:txBody>
          <a:bodyPr vert="horz" wrap="square" rtlCol="0" anchor="t">
            <a:noAutofit/>
          </a:bodyPr>
          <a:lstStyle/>
          <a:p>
            <a:pPr algn="l">
              <a:lnSpc>
                <a:spcPts val="3440"/>
              </a:lnSpc>
            </a:pPr>
            <a:r>
              <a:rPr lang="en-US" altLang="zh-CN" sz="1200" i="1" dirty="0">
                <a:cs typeface="+mn-ea"/>
                <a:sym typeface="+mn-lt"/>
              </a:rPr>
              <a:t>Option</a:t>
            </a:r>
            <a:r>
              <a:rPr lang="zh-CN" altLang="en-US" sz="1200" i="1" dirty="0">
                <a:cs typeface="+mn-ea"/>
                <a:sym typeface="+mn-lt"/>
              </a:rPr>
              <a:t>类型会有特殊优化，参考链接：</a:t>
            </a:r>
            <a:r>
              <a:rPr lang="en-US" altLang="zh-CN" sz="1200" i="1" dirty="0">
                <a:cs typeface="+mn-ea"/>
                <a:sym typeface="+mn-lt"/>
              </a:rPr>
              <a:t>https://doc.rust</a:t>
            </a:r>
            <a:r>
              <a:rPr lang="zh-CN" altLang="en-US" sz="1200" i="1" dirty="0">
                <a:cs typeface="+mn-ea"/>
                <a:sym typeface="+mn-lt"/>
              </a:rPr>
              <a:t>-</a:t>
            </a:r>
            <a:r>
              <a:rPr lang="en-US" altLang="zh-CN" sz="1200" i="1" dirty="0">
                <a:cs typeface="+mn-ea"/>
                <a:sym typeface="+mn-lt"/>
              </a:rPr>
              <a:t>lang.org/stable/std/option/index.html</a:t>
            </a:r>
            <a:r>
              <a:rPr lang="zh-CN" altLang="en-US" sz="1200" i="1" dirty="0">
                <a:cs typeface="+mn-ea"/>
                <a:sym typeface="+mn-lt"/>
              </a:rPr>
              <a:t>#</a:t>
            </a:r>
            <a:r>
              <a:rPr lang="en-US" altLang="zh-CN" sz="1200" i="1" dirty="0">
                <a:cs typeface="+mn-ea"/>
                <a:sym typeface="+mn-lt"/>
              </a:rPr>
              <a:t>representation</a:t>
            </a:r>
            <a:endParaRPr lang="zh-CN" altLang="en-US" sz="1200" i="1" dirty="0">
              <a:cs typeface="+mn-ea"/>
              <a:sym typeface="+mn-lt"/>
            </a:endParaRPr>
          </a:p>
        </p:txBody>
      </p:sp>
      <p:pic>
        <p:nvPicPr>
          <p:cNvPr id="3" name="图片 2" descr="upload_226837621"/>
          <p:cNvPicPr>
            <a:picLocks noChangeAspect="1"/>
          </p:cNvPicPr>
          <p:nvPr/>
        </p:nvPicPr>
        <p:blipFill>
          <a:blip r:embed="rId4"/>
          <a:stretch>
            <a:fillRect/>
          </a:stretch>
        </p:blipFill>
        <p:spPr>
          <a:xfrm>
            <a:off x="5852963" y="4021423"/>
            <a:ext cx="3026022" cy="187135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直接连接符 6"/>
          <p:cNvCxnSpPr/>
          <p:nvPr/>
        </p:nvCxnSpPr>
        <p:spPr>
          <a:xfrm>
            <a:off x="239006" y="641249"/>
            <a:ext cx="11340282"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139958" y="112899"/>
            <a:ext cx="8920065" cy="528350"/>
          </a:xfrm>
          <a:prstGeom prst="rect">
            <a:avLst/>
          </a:prstGeom>
          <a:noFill/>
        </p:spPr>
        <p:txBody>
          <a:bodyPr vert="horz" wrap="square" rtlCol="0">
            <a:spAutoFit/>
          </a:bodyPr>
          <a:lstStyle/>
          <a:p>
            <a:pPr>
              <a:lnSpc>
                <a:spcPts val="3440"/>
              </a:lnSpc>
            </a:pPr>
            <a:r>
              <a:rPr lang="en-US" altLang="zh-CN" sz="3200" b="1">
                <a:solidFill>
                  <a:srgbClr val="C00000"/>
                </a:solidFill>
                <a:cs typeface="+mn-ea"/>
                <a:sym typeface="+mn-lt"/>
              </a:rPr>
              <a:t>#[repr]</a:t>
            </a:r>
            <a:r>
              <a:rPr lang="zh-CN" altLang="en-US" sz="3200" b="1">
                <a:solidFill>
                  <a:srgbClr val="C00000"/>
                </a:solidFill>
                <a:cs typeface="+mn-ea"/>
                <a:sym typeface="+mn-lt"/>
              </a:rPr>
              <a:t>属性</a:t>
            </a:r>
            <a:endParaRPr lang="en-US" altLang="zh-CN" sz="3200" b="1">
              <a:solidFill>
                <a:srgbClr val="C00000"/>
              </a:solidFill>
              <a:cs typeface="+mn-ea"/>
              <a:sym typeface="+mn-lt"/>
            </a:endParaRPr>
          </a:p>
        </p:txBody>
      </p:sp>
      <p:sp>
        <p:nvSpPr>
          <p:cNvPr id="9" name="矩形 8"/>
          <p:cNvSpPr/>
          <p:nvPr/>
        </p:nvSpPr>
        <p:spPr>
          <a:xfrm>
            <a:off x="370981" y="1126496"/>
            <a:ext cx="11076331" cy="3415030"/>
          </a:xfrm>
          <a:prstGeom prst="rect">
            <a:avLst/>
          </a:prstGeom>
        </p:spPr>
        <p:txBody>
          <a:bodyPr wrap="square">
            <a:spAutoFit/>
          </a:bodyPr>
          <a:lstStyle/>
          <a:p>
            <a:pPr marL="12065" indent="0">
              <a:lnSpc>
                <a:spcPct val="150000"/>
              </a:lnSpc>
              <a:buNone/>
            </a:pPr>
            <a:r>
              <a:rPr lang="en-US" altLang="zh-CN" sz="1600" dirty="0">
                <a:cs typeface="+mn-ea"/>
                <a:sym typeface="+mn-lt"/>
              </a:rPr>
              <a:t>#[</a:t>
            </a:r>
            <a:r>
              <a:rPr lang="en-US" altLang="zh-CN" sz="1600" dirty="0" err="1">
                <a:cs typeface="+mn-ea"/>
                <a:sym typeface="+mn-lt"/>
              </a:rPr>
              <a:t>repr</a:t>
            </a:r>
            <a:r>
              <a:rPr lang="en-US" altLang="zh-CN" sz="1600" dirty="0">
                <a:cs typeface="+mn-ea"/>
                <a:sym typeface="+mn-lt"/>
              </a:rPr>
              <a:t>]</a:t>
            </a:r>
            <a:r>
              <a:rPr lang="zh-CN" altLang="en-US" sz="1600" dirty="0">
                <a:cs typeface="+mn-ea"/>
                <a:sym typeface="+mn-lt"/>
              </a:rPr>
              <a:t>属性是</a:t>
            </a:r>
            <a:r>
              <a:rPr lang="en-US" altLang="zh-CN" sz="1600" dirty="0">
                <a:cs typeface="+mn-ea"/>
                <a:sym typeface="+mn-lt"/>
              </a:rPr>
              <a:t>Rust</a:t>
            </a:r>
            <a:r>
              <a:rPr lang="zh-CN" altLang="en-US" sz="1600" dirty="0">
                <a:cs typeface="+mn-ea"/>
                <a:sym typeface="+mn-lt"/>
              </a:rPr>
              <a:t>中用来控制自定义数据类型内存对齐的属性，它可能有的表示形式：</a:t>
            </a:r>
          </a:p>
          <a:p>
            <a:pPr marL="285750" indent="-285750">
              <a:lnSpc>
                <a:spcPct val="150000"/>
              </a:lnSpc>
              <a:buFont typeface="Arial" panose="020B0604020202020204" pitchFamily="34" charset="0"/>
              <a:buChar char="•"/>
            </a:pPr>
            <a:r>
              <a:rPr lang="en-US" altLang="zh-CN" sz="1600" b="1" dirty="0">
                <a:cs typeface="+mn-ea"/>
                <a:sym typeface="+mn-lt"/>
              </a:rPr>
              <a:t>Default</a:t>
            </a:r>
            <a:r>
              <a:rPr lang="zh-CN" altLang="en-US" sz="1600" dirty="0">
                <a:cs typeface="+mn-ea"/>
                <a:sym typeface="+mn-lt"/>
              </a:rPr>
              <a:t>：使用默认的内存布局，这种表示形式不保证每次编译都有统一的数据布局。</a:t>
            </a:r>
            <a:endParaRPr lang="en-US" altLang="zh-CN" sz="1600" dirty="0">
              <a:cs typeface="+mn-ea"/>
              <a:sym typeface="+mn-lt"/>
            </a:endParaRPr>
          </a:p>
          <a:p>
            <a:pPr marL="285750" indent="-285750">
              <a:lnSpc>
                <a:spcPct val="150000"/>
              </a:lnSpc>
              <a:buFont typeface="Arial" panose="020B0604020202020204" pitchFamily="34" charset="0"/>
              <a:buChar char="•"/>
            </a:pPr>
            <a:r>
              <a:rPr lang="en-US" altLang="zh-CN" sz="1600" b="1" dirty="0">
                <a:cs typeface="+mn-ea"/>
                <a:sym typeface="+mn-lt"/>
              </a:rPr>
              <a:t>C</a:t>
            </a:r>
            <a:r>
              <a:rPr lang="zh-CN" altLang="en-US" sz="1600" dirty="0">
                <a:cs typeface="+mn-ea"/>
                <a:sym typeface="+mn-lt"/>
              </a:rPr>
              <a:t>：这种形式指定了数据类型应按照</a:t>
            </a:r>
            <a:r>
              <a:rPr lang="en-US" altLang="zh-CN" sz="1600" dirty="0">
                <a:cs typeface="+mn-ea"/>
                <a:sym typeface="+mn-lt"/>
              </a:rPr>
              <a:t>C</a:t>
            </a:r>
            <a:r>
              <a:rPr lang="zh-CN" altLang="en-US" sz="1600" dirty="0">
                <a:cs typeface="+mn-ea"/>
                <a:sym typeface="+mn-lt"/>
              </a:rPr>
              <a:t>语言的内存布局规则进行布局；它可以保证</a:t>
            </a:r>
            <a:r>
              <a:rPr lang="en-US" altLang="zh-CN" sz="1600" dirty="0">
                <a:cs typeface="+mn-ea"/>
                <a:sym typeface="+mn-lt"/>
              </a:rPr>
              <a:t>Rust</a:t>
            </a:r>
            <a:r>
              <a:rPr lang="zh-CN" altLang="en-US" sz="1600" dirty="0">
                <a:cs typeface="+mn-ea"/>
                <a:sym typeface="+mn-lt"/>
              </a:rPr>
              <a:t>中的数据类型与</a:t>
            </a:r>
            <a:r>
              <a:rPr lang="en-US" altLang="zh-CN" sz="1600" dirty="0">
                <a:cs typeface="+mn-ea"/>
                <a:sym typeface="+mn-lt"/>
              </a:rPr>
              <a:t>C</a:t>
            </a:r>
            <a:r>
              <a:rPr lang="zh-CN" altLang="en-US" sz="1600" dirty="0">
                <a:cs typeface="+mn-ea"/>
                <a:sym typeface="+mn-lt"/>
              </a:rPr>
              <a:t>语言中的数据类型具有相同的内存布局。</a:t>
            </a:r>
            <a:endParaRPr lang="en-US" altLang="zh-CN" sz="1600" dirty="0">
              <a:cs typeface="+mn-ea"/>
              <a:sym typeface="+mn-lt"/>
            </a:endParaRPr>
          </a:p>
          <a:p>
            <a:pPr marL="285750" indent="-285750">
              <a:lnSpc>
                <a:spcPct val="150000"/>
              </a:lnSpc>
              <a:buFont typeface="Arial" panose="020B0604020202020204" pitchFamily="34" charset="0"/>
              <a:buChar char="•"/>
            </a:pPr>
            <a:r>
              <a:rPr lang="en-US" altLang="zh-CN" sz="1600" b="1" dirty="0">
                <a:cs typeface="+mn-ea"/>
                <a:sym typeface="+mn-lt"/>
              </a:rPr>
              <a:t>The primitive representations</a:t>
            </a:r>
            <a:r>
              <a:rPr lang="zh-CN" altLang="en-US" sz="1600" dirty="0">
                <a:cs typeface="+mn-ea"/>
                <a:sym typeface="+mn-lt"/>
              </a:rPr>
              <a:t>：原语表示形式，只能应用于枚举；枚举有没有字段会给原语表示形式带来不同的表现；给零变体枚举应用它是错误的，将两个原语表示形式组合在一起也是错误的。</a:t>
            </a:r>
            <a:endParaRPr lang="en-US" altLang="zh-CN" sz="1600" dirty="0">
              <a:cs typeface="+mn-ea"/>
              <a:sym typeface="+mn-lt"/>
            </a:endParaRPr>
          </a:p>
          <a:p>
            <a:pPr marL="285750" indent="-285750">
              <a:lnSpc>
                <a:spcPct val="150000"/>
              </a:lnSpc>
              <a:buFont typeface="Arial" panose="020B0604020202020204" pitchFamily="34" charset="0"/>
              <a:buChar char="•"/>
            </a:pPr>
            <a:r>
              <a:rPr lang="en-US" altLang="zh-CN" sz="1600" b="1" dirty="0">
                <a:cs typeface="+mn-ea"/>
                <a:sym typeface="+mn-lt"/>
              </a:rPr>
              <a:t>Transparent</a:t>
            </a:r>
            <a:r>
              <a:rPr lang="zh-CN" altLang="en-US" sz="1600" dirty="0">
                <a:cs typeface="+mn-ea"/>
                <a:sym typeface="+mn-lt"/>
              </a:rPr>
              <a:t>：这种形式指定了数据类型应该具有与其唯一非零大小字段相同的内存布局。这对于创建新类型来包装现有类型非常有用，因为它可以保证新类型与被包装类型在内存中具有相同的表示形式；因为此表示形式将类型布局委托给另一种类型，所以它不能与任何其他表示形式一起使用。</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直接连接符 6"/>
          <p:cNvCxnSpPr/>
          <p:nvPr/>
        </p:nvCxnSpPr>
        <p:spPr>
          <a:xfrm>
            <a:off x="239006" y="641249"/>
            <a:ext cx="11340282"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139958" y="112899"/>
            <a:ext cx="8920065" cy="964367"/>
          </a:xfrm>
          <a:prstGeom prst="rect">
            <a:avLst/>
          </a:prstGeom>
          <a:noFill/>
        </p:spPr>
        <p:txBody>
          <a:bodyPr vert="horz" wrap="square" rtlCol="0">
            <a:spAutoFit/>
          </a:bodyPr>
          <a:lstStyle/>
          <a:p>
            <a:pPr>
              <a:lnSpc>
                <a:spcPts val="3440"/>
              </a:lnSpc>
            </a:pPr>
            <a:r>
              <a:rPr lang="en-US" altLang="zh-CN" sz="3200" b="1">
                <a:solidFill>
                  <a:srgbClr val="C00000"/>
                </a:solidFill>
                <a:cs typeface="+mn-ea"/>
                <a:sym typeface="+mn-lt"/>
              </a:rPr>
              <a:t>#[repr]</a:t>
            </a:r>
            <a:r>
              <a:rPr lang="zh-CN" altLang="en-US" sz="3200" b="1">
                <a:solidFill>
                  <a:srgbClr val="C00000"/>
                </a:solidFill>
                <a:cs typeface="+mn-ea"/>
                <a:sym typeface="+mn-lt"/>
              </a:rPr>
              <a:t>属性</a:t>
            </a:r>
            <a:r>
              <a:rPr lang="en-US" altLang="zh-CN" sz="3200" b="1">
                <a:solidFill>
                  <a:srgbClr val="C00000"/>
                </a:solidFill>
                <a:cs typeface="+mn-ea"/>
                <a:sym typeface="+mn-lt"/>
              </a:rPr>
              <a:t>-C</a:t>
            </a:r>
          </a:p>
          <a:p>
            <a:pPr>
              <a:lnSpc>
                <a:spcPts val="3440"/>
              </a:lnSpc>
            </a:pPr>
            <a:endParaRPr lang="en-US" altLang="zh-CN" sz="3200" b="1">
              <a:solidFill>
                <a:srgbClr val="C00000"/>
              </a:solidFill>
              <a:cs typeface="+mn-ea"/>
              <a:sym typeface="+mn-lt"/>
            </a:endParaRPr>
          </a:p>
        </p:txBody>
      </p:sp>
      <p:sp>
        <p:nvSpPr>
          <p:cNvPr id="3" name="矩形 2"/>
          <p:cNvSpPr/>
          <p:nvPr/>
        </p:nvSpPr>
        <p:spPr>
          <a:xfrm>
            <a:off x="139958" y="641249"/>
            <a:ext cx="11340282" cy="787523"/>
          </a:xfrm>
          <a:prstGeom prst="rect">
            <a:avLst/>
          </a:prstGeom>
        </p:spPr>
        <p:txBody>
          <a:bodyPr wrap="square">
            <a:spAutoFit/>
          </a:bodyPr>
          <a:lstStyle/>
          <a:p>
            <a:pPr marL="285750" indent="-285750">
              <a:lnSpc>
                <a:spcPct val="150000"/>
              </a:lnSpc>
              <a:buFont typeface="Arial" panose="020B0604020202020204" pitchFamily="34" charset="0"/>
              <a:buChar char="•"/>
            </a:pPr>
            <a:r>
              <a:rPr lang="zh-CN" altLang="en-US" sz="1600">
                <a:cs typeface="+mn-ea"/>
                <a:sym typeface="+mn-lt"/>
              </a:rPr>
              <a:t>这种表示形式可以应用于结构体、union和枚举；</a:t>
            </a:r>
            <a:endParaRPr lang="en-US" altLang="zh-CN" sz="1600">
              <a:cs typeface="+mn-ea"/>
              <a:sym typeface="+mn-lt"/>
            </a:endParaRPr>
          </a:p>
          <a:p>
            <a:pPr marL="285750" indent="-285750">
              <a:lnSpc>
                <a:spcPct val="150000"/>
              </a:lnSpc>
              <a:buFont typeface="Arial" panose="020B0604020202020204" pitchFamily="34" charset="0"/>
              <a:buChar char="•"/>
            </a:pPr>
            <a:r>
              <a:rPr lang="zh-CN" altLang="en-US" sz="1600">
                <a:cs typeface="+mn-ea"/>
                <a:sym typeface="+mn-lt"/>
              </a:rPr>
              <a:t>不可用于零变体枚举，它的 </a:t>
            </a:r>
            <a:r>
              <a:rPr lang="en-US" altLang="zh-CN" sz="1600">
                <a:cs typeface="+mn-ea"/>
                <a:sym typeface="+mn-lt"/>
              </a:rPr>
              <a:t>C</a:t>
            </a:r>
            <a:r>
              <a:rPr lang="zh-CN" altLang="en-US" sz="1600">
                <a:cs typeface="+mn-ea"/>
                <a:sym typeface="+mn-lt"/>
              </a:rPr>
              <a:t>表示形式是错误的；</a:t>
            </a:r>
            <a:endParaRPr lang="en-US" altLang="zh-CN" sz="1600">
              <a:cs typeface="+mn-ea"/>
              <a:sym typeface="+mn-lt"/>
            </a:endParaRPr>
          </a:p>
        </p:txBody>
      </p:sp>
      <p:sp>
        <p:nvSpPr>
          <p:cNvPr id="4" name="矩形 3"/>
          <p:cNvSpPr/>
          <p:nvPr/>
        </p:nvSpPr>
        <p:spPr>
          <a:xfrm>
            <a:off x="148472" y="1749848"/>
            <a:ext cx="5174966" cy="4154984"/>
          </a:xfrm>
          <a:prstGeom prst="rect">
            <a:avLst/>
          </a:prstGeom>
        </p:spPr>
        <p:txBody>
          <a:bodyPr wrap="square">
            <a:spAutoFit/>
          </a:bodyPr>
          <a:lstStyle/>
          <a:p>
            <a:pPr>
              <a:lnSpc>
                <a:spcPct val="150000"/>
              </a:lnSpc>
            </a:pPr>
            <a:r>
              <a:rPr lang="en-US" altLang="zh-CN" sz="1600" b="1" dirty="0">
                <a:cs typeface="+mn-ea"/>
                <a:sym typeface="+mn-lt"/>
              </a:rPr>
              <a:t>#[</a:t>
            </a:r>
            <a:r>
              <a:rPr lang="en-US" altLang="zh-CN" sz="1600" b="1" dirty="0" err="1">
                <a:cs typeface="+mn-ea"/>
                <a:sym typeface="+mn-lt"/>
              </a:rPr>
              <a:t>repr</a:t>
            </a:r>
            <a:r>
              <a:rPr lang="en-US" altLang="zh-CN" sz="1600" b="1" dirty="0">
                <a:cs typeface="+mn-ea"/>
                <a:sym typeface="+mn-lt"/>
              </a:rPr>
              <a:t>(C)]</a:t>
            </a:r>
            <a:r>
              <a:rPr lang="zh-CN" altLang="en-US" sz="1600" b="1" dirty="0">
                <a:cs typeface="+mn-ea"/>
                <a:sym typeface="+mn-lt"/>
              </a:rPr>
              <a:t>结构体</a:t>
            </a:r>
            <a:endParaRPr lang="zh-CN" altLang="en-US" sz="1600" dirty="0">
              <a:cs typeface="+mn-ea"/>
              <a:sym typeface="+mn-lt"/>
            </a:endParaRPr>
          </a:p>
          <a:p>
            <a:pPr>
              <a:lnSpc>
                <a:spcPct val="150000"/>
              </a:lnSpc>
            </a:pPr>
            <a:r>
              <a:rPr lang="zh-CN" altLang="en-US" sz="1600" dirty="0">
                <a:cs typeface="+mn-ea"/>
                <a:sym typeface="+mn-lt"/>
              </a:rPr>
              <a:t>结构体字段的尺寸和偏移量则由以下算法确定：</a:t>
            </a:r>
          </a:p>
          <a:p>
            <a:pPr marL="342900" indent="-342900">
              <a:lnSpc>
                <a:spcPct val="150000"/>
              </a:lnSpc>
              <a:buFont typeface="+mj-lt"/>
              <a:buAutoNum type="arabicPeriod"/>
            </a:pPr>
            <a:r>
              <a:rPr lang="zh-CN" altLang="en-US" sz="1600" dirty="0">
                <a:cs typeface="+mn-ea"/>
                <a:sym typeface="+mn-lt"/>
              </a:rPr>
              <a:t>把当前偏移量设为从 </a:t>
            </a:r>
            <a:r>
              <a:rPr lang="en-US" altLang="zh-CN" sz="1600" dirty="0">
                <a:cs typeface="+mn-ea"/>
                <a:sym typeface="+mn-lt"/>
              </a:rPr>
              <a:t>0 </a:t>
            </a:r>
            <a:r>
              <a:rPr lang="zh-CN" altLang="en-US" sz="1600" dirty="0">
                <a:cs typeface="+mn-ea"/>
                <a:sym typeface="+mn-lt"/>
              </a:rPr>
              <a:t>字节开始；</a:t>
            </a:r>
          </a:p>
          <a:p>
            <a:pPr marL="342900" indent="-342900">
              <a:lnSpc>
                <a:spcPct val="150000"/>
              </a:lnSpc>
              <a:buFont typeface="+mj-lt"/>
              <a:buAutoNum type="arabicPeriod"/>
            </a:pPr>
            <a:r>
              <a:rPr lang="zh-CN" altLang="en-US" sz="1600" dirty="0">
                <a:cs typeface="+mn-ea"/>
                <a:sym typeface="+mn-lt"/>
              </a:rPr>
              <a:t>对于结构体中的每个字段，按其声明的先后顺序，首先确定其尺寸和对齐量；如果当前偏移量不是对其齐量的整倍数，则向当前偏移量添加填充字节，直至其对齐量的倍数；至此，当前字段的偏移量就是当前偏移量；下一步再根据当前字段的尺寸增加当前偏移量；</a:t>
            </a:r>
          </a:p>
          <a:p>
            <a:pPr marL="342900" indent="-342900">
              <a:lnSpc>
                <a:spcPct val="150000"/>
              </a:lnSpc>
              <a:buFont typeface="+mj-lt"/>
              <a:buAutoNum type="arabicPeriod"/>
            </a:pPr>
            <a:r>
              <a:rPr lang="zh-CN" altLang="en-US" sz="1600" dirty="0">
                <a:cs typeface="+mn-ea"/>
                <a:sym typeface="+mn-lt"/>
              </a:rPr>
              <a:t>最后，整个结构体的尺寸就是当前偏移量向上取整到结构体对齐量的最小整数倍数；</a:t>
            </a:r>
          </a:p>
        </p:txBody>
      </p:sp>
      <p:sp>
        <p:nvSpPr>
          <p:cNvPr id="9" name="文本框 8"/>
          <p:cNvSpPr txBox="1"/>
          <p:nvPr/>
        </p:nvSpPr>
        <p:spPr>
          <a:xfrm>
            <a:off x="5323438" y="1358337"/>
            <a:ext cx="6473227" cy="4401205"/>
          </a:xfrm>
          <a:prstGeom prst="rect">
            <a:avLst/>
          </a:prstGeom>
          <a:solidFill>
            <a:schemeClr val="tx1"/>
          </a:solidFill>
        </p:spPr>
        <p:style>
          <a:lnRef idx="2">
            <a:schemeClr val="dk1"/>
          </a:lnRef>
          <a:fillRef idx="1">
            <a:schemeClr val="lt1"/>
          </a:fillRef>
          <a:effectRef idx="0">
            <a:schemeClr val="dk1"/>
          </a:effectRef>
          <a:fontRef idx="minor">
            <a:schemeClr val="dk1"/>
          </a:fontRef>
        </p:style>
        <p:txBody>
          <a:bodyPr vert="horz" wrap="square" rtlCol="0">
            <a:spAutoFit/>
          </a:bodyPr>
          <a:lstStyle/>
          <a:p>
            <a:r>
              <a:rPr lang="en-US" altLang="zh-CN" sz="1400">
                <a:solidFill>
                  <a:srgbClr val="FFFFFF"/>
                </a:solidFill>
                <a:cs typeface="+mn-ea"/>
                <a:sym typeface="+mn-lt"/>
              </a:rPr>
              <a:t>// </a:t>
            </a:r>
            <a:r>
              <a:rPr lang="en-US" altLang="zh-CN" sz="1400" b="1">
                <a:solidFill>
                  <a:srgbClr val="00B050"/>
                </a:solidFill>
                <a:cs typeface="+mn-ea"/>
                <a:sym typeface="+mn-lt"/>
              </a:rPr>
              <a:t>#[repr(C)]</a:t>
            </a:r>
            <a:r>
              <a:rPr lang="zh-CN" altLang="en-US" sz="1400" b="1">
                <a:solidFill>
                  <a:srgbClr val="00B050"/>
                </a:solidFill>
                <a:cs typeface="+mn-ea"/>
                <a:sym typeface="+mn-lt"/>
              </a:rPr>
              <a:t>结构体代码示例</a:t>
            </a:r>
          </a:p>
          <a:p>
            <a:r>
              <a:rPr lang="en-US" altLang="zh-CN" sz="1400">
                <a:solidFill>
                  <a:srgbClr val="C678DD"/>
                </a:solidFill>
                <a:cs typeface="+mn-ea"/>
                <a:sym typeface="+mn-lt"/>
              </a:rPr>
              <a:t>use</a:t>
            </a:r>
            <a:r>
              <a:rPr lang="en-US" altLang="zh-CN" sz="1400">
                <a:solidFill>
                  <a:srgbClr val="ABB2BF"/>
                </a:solidFill>
                <a:cs typeface="+mn-ea"/>
                <a:sym typeface="+mn-lt"/>
              </a:rPr>
              <a:t> </a:t>
            </a:r>
            <a:r>
              <a:rPr lang="en-US" altLang="zh-CN" sz="1400">
                <a:solidFill>
                  <a:srgbClr val="E5C07B"/>
                </a:solidFill>
                <a:cs typeface="+mn-ea"/>
                <a:sym typeface="+mn-lt"/>
              </a:rPr>
              <a:t>std</a:t>
            </a:r>
            <a:r>
              <a:rPr lang="en-US" altLang="zh-CN" sz="1400">
                <a:solidFill>
                  <a:srgbClr val="ABB2BF"/>
                </a:solidFill>
                <a:cs typeface="+mn-ea"/>
                <a:sym typeface="+mn-lt"/>
              </a:rPr>
              <a:t>::</a:t>
            </a:r>
            <a:r>
              <a:rPr lang="en-US" altLang="zh-CN" sz="1400">
                <a:solidFill>
                  <a:srgbClr val="E5C07B"/>
                </a:solidFill>
                <a:cs typeface="+mn-ea"/>
                <a:sym typeface="+mn-lt"/>
              </a:rPr>
              <a:t>os</a:t>
            </a:r>
            <a:r>
              <a:rPr lang="en-US" altLang="zh-CN" sz="1400">
                <a:solidFill>
                  <a:srgbClr val="ABB2BF"/>
                </a:solidFill>
                <a:cs typeface="+mn-ea"/>
                <a:sym typeface="+mn-lt"/>
              </a:rPr>
              <a:t>::</a:t>
            </a:r>
            <a:r>
              <a:rPr lang="en-US" altLang="zh-CN" sz="1400">
                <a:solidFill>
                  <a:srgbClr val="E5C07B"/>
                </a:solidFill>
                <a:cs typeface="+mn-ea"/>
                <a:sym typeface="+mn-lt"/>
              </a:rPr>
              <a:t>raw</a:t>
            </a:r>
            <a:r>
              <a:rPr lang="en-US" altLang="zh-CN" sz="1400">
                <a:solidFill>
                  <a:srgbClr val="ABB2BF"/>
                </a:solidFill>
                <a:cs typeface="+mn-ea"/>
                <a:sym typeface="+mn-lt"/>
              </a:rPr>
              <a:t>::c_char;</a:t>
            </a:r>
          </a:p>
          <a:p>
            <a:endParaRPr lang="en-US" altLang="zh-CN" sz="1400">
              <a:solidFill>
                <a:srgbClr val="ABB2BF"/>
              </a:solidFill>
              <a:cs typeface="+mn-ea"/>
              <a:sym typeface="+mn-lt"/>
            </a:endParaRPr>
          </a:p>
          <a:p>
            <a:r>
              <a:rPr lang="en-US" altLang="zh-CN" sz="1400">
                <a:solidFill>
                  <a:srgbClr val="ABB2BF"/>
                </a:solidFill>
                <a:cs typeface="+mn-ea"/>
                <a:sym typeface="+mn-lt"/>
              </a:rPr>
              <a:t>#[repr(</a:t>
            </a:r>
            <a:r>
              <a:rPr lang="en-US" altLang="zh-CN" sz="1400">
                <a:solidFill>
                  <a:srgbClr val="E5C07B"/>
                </a:solidFill>
                <a:cs typeface="+mn-ea"/>
                <a:sym typeface="+mn-lt"/>
              </a:rPr>
              <a:t>C</a:t>
            </a:r>
            <a:r>
              <a:rPr lang="en-US" altLang="zh-CN" sz="1400">
                <a:solidFill>
                  <a:srgbClr val="ABB2BF"/>
                </a:solidFill>
                <a:cs typeface="+mn-ea"/>
                <a:sym typeface="+mn-lt"/>
              </a:rPr>
              <a:t>)]</a:t>
            </a:r>
          </a:p>
          <a:p>
            <a:r>
              <a:rPr lang="en-US" altLang="zh-CN" sz="1400">
                <a:solidFill>
                  <a:srgbClr val="C678DD"/>
                </a:solidFill>
                <a:cs typeface="+mn-ea"/>
                <a:sym typeface="+mn-lt"/>
              </a:rPr>
              <a:t>struct</a:t>
            </a:r>
            <a:r>
              <a:rPr lang="en-US" altLang="zh-CN" sz="1400">
                <a:solidFill>
                  <a:srgbClr val="ABB2BF"/>
                </a:solidFill>
                <a:cs typeface="+mn-ea"/>
                <a:sym typeface="+mn-lt"/>
              </a:rPr>
              <a:t> </a:t>
            </a:r>
            <a:r>
              <a:rPr lang="en-US" altLang="zh-CN" sz="1400">
                <a:solidFill>
                  <a:srgbClr val="E5C07B"/>
                </a:solidFill>
                <a:cs typeface="+mn-ea"/>
                <a:sym typeface="+mn-lt"/>
              </a:rPr>
              <a:t>Foo</a:t>
            </a:r>
            <a:r>
              <a:rPr lang="en-US" altLang="zh-CN" sz="1400">
                <a:solidFill>
                  <a:srgbClr val="ABB2BF"/>
                </a:solidFill>
                <a:cs typeface="+mn-ea"/>
                <a:sym typeface="+mn-lt"/>
              </a:rPr>
              <a:t> {</a:t>
            </a:r>
          </a:p>
          <a:p>
            <a:r>
              <a:rPr lang="en-US" altLang="zh-CN" sz="1400">
                <a:solidFill>
                  <a:srgbClr val="ABB2BF"/>
                </a:solidFill>
                <a:cs typeface="+mn-ea"/>
                <a:sym typeface="+mn-lt"/>
              </a:rPr>
              <a:t>    </a:t>
            </a:r>
            <a:r>
              <a:rPr lang="en-US" altLang="zh-CN" sz="1400">
                <a:solidFill>
                  <a:srgbClr val="E06C75"/>
                </a:solidFill>
                <a:cs typeface="+mn-ea"/>
                <a:sym typeface="+mn-lt"/>
              </a:rPr>
              <a:t>x</a:t>
            </a:r>
            <a:r>
              <a:rPr lang="en-US" altLang="zh-CN" sz="1400">
                <a:solidFill>
                  <a:srgbClr val="ABB2BF"/>
                </a:solidFill>
                <a:cs typeface="+mn-ea"/>
                <a:sym typeface="+mn-lt"/>
              </a:rPr>
              <a:t>: </a:t>
            </a:r>
            <a:r>
              <a:rPr lang="en-US" altLang="zh-CN" sz="1400">
                <a:solidFill>
                  <a:srgbClr val="E5C07B"/>
                </a:solidFill>
                <a:cs typeface="+mn-ea"/>
                <a:sym typeface="+mn-lt"/>
              </a:rPr>
              <a:t>i32</a:t>
            </a:r>
            <a:r>
              <a:rPr lang="en-US" altLang="zh-CN" sz="1400">
                <a:solidFill>
                  <a:srgbClr val="ABB2BF"/>
                </a:solidFill>
                <a:cs typeface="+mn-ea"/>
                <a:sym typeface="+mn-lt"/>
              </a:rPr>
              <a:t>,</a:t>
            </a:r>
          </a:p>
          <a:p>
            <a:r>
              <a:rPr lang="en-US" altLang="zh-CN" sz="1400">
                <a:solidFill>
                  <a:srgbClr val="ABB2BF"/>
                </a:solidFill>
                <a:cs typeface="+mn-ea"/>
                <a:sym typeface="+mn-lt"/>
              </a:rPr>
              <a:t>    </a:t>
            </a:r>
            <a:r>
              <a:rPr lang="en-US" altLang="zh-CN" sz="1400">
                <a:solidFill>
                  <a:srgbClr val="E06C75"/>
                </a:solidFill>
                <a:cs typeface="+mn-ea"/>
                <a:sym typeface="+mn-lt"/>
              </a:rPr>
              <a:t>y</a:t>
            </a:r>
            <a:r>
              <a:rPr lang="en-US" altLang="zh-CN" sz="1400">
                <a:solidFill>
                  <a:srgbClr val="ABB2BF"/>
                </a:solidFill>
                <a:cs typeface="+mn-ea"/>
                <a:sym typeface="+mn-lt"/>
              </a:rPr>
              <a:t>: </a:t>
            </a:r>
            <a:r>
              <a:rPr lang="en-US" altLang="zh-CN" sz="1400">
                <a:solidFill>
                  <a:srgbClr val="E5C07B"/>
                </a:solidFill>
                <a:cs typeface="+mn-ea"/>
                <a:sym typeface="+mn-lt"/>
              </a:rPr>
              <a:t>String</a:t>
            </a:r>
            <a:r>
              <a:rPr lang="en-US" altLang="zh-CN" sz="1400">
                <a:solidFill>
                  <a:srgbClr val="ABB2BF"/>
                </a:solidFill>
                <a:cs typeface="+mn-ea"/>
                <a:sym typeface="+mn-lt"/>
              </a:rPr>
              <a:t>,</a:t>
            </a:r>
          </a:p>
          <a:p>
            <a:r>
              <a:rPr lang="en-US" altLang="zh-CN" sz="1400">
                <a:solidFill>
                  <a:srgbClr val="ABB2BF"/>
                </a:solidFill>
                <a:cs typeface="+mn-ea"/>
                <a:sym typeface="+mn-lt"/>
              </a:rPr>
              <a:t>    </a:t>
            </a:r>
            <a:r>
              <a:rPr lang="en-US" altLang="zh-CN" sz="1400">
                <a:solidFill>
                  <a:srgbClr val="E06C75"/>
                </a:solidFill>
                <a:cs typeface="+mn-ea"/>
                <a:sym typeface="+mn-lt"/>
              </a:rPr>
              <a:t>z</a:t>
            </a:r>
            <a:r>
              <a:rPr lang="en-US" altLang="zh-CN" sz="1400">
                <a:solidFill>
                  <a:srgbClr val="ABB2BF"/>
                </a:solidFill>
                <a:cs typeface="+mn-ea"/>
                <a:sym typeface="+mn-lt"/>
              </a:rPr>
              <a:t>: *</a:t>
            </a:r>
            <a:r>
              <a:rPr lang="en-US" altLang="zh-CN" sz="1400">
                <a:solidFill>
                  <a:srgbClr val="C678DD"/>
                </a:solidFill>
                <a:cs typeface="+mn-ea"/>
                <a:sym typeface="+mn-lt"/>
              </a:rPr>
              <a:t>const</a:t>
            </a:r>
            <a:r>
              <a:rPr lang="en-US" altLang="zh-CN" sz="1400">
                <a:solidFill>
                  <a:srgbClr val="ABB2BF"/>
                </a:solidFill>
                <a:cs typeface="+mn-ea"/>
                <a:sym typeface="+mn-lt"/>
              </a:rPr>
              <a:t> </a:t>
            </a:r>
            <a:r>
              <a:rPr lang="en-US" altLang="zh-CN" sz="1400">
                <a:solidFill>
                  <a:srgbClr val="E06C75"/>
                </a:solidFill>
                <a:cs typeface="+mn-ea"/>
                <a:sym typeface="+mn-lt"/>
              </a:rPr>
              <a:t>c_char</a:t>
            </a:r>
            <a:r>
              <a:rPr lang="en-US" altLang="zh-CN" sz="1400">
                <a:solidFill>
                  <a:srgbClr val="ABB2BF"/>
                </a:solidFill>
                <a:cs typeface="+mn-ea"/>
                <a:sym typeface="+mn-lt"/>
              </a:rPr>
              <a:t>,</a:t>
            </a:r>
          </a:p>
          <a:p>
            <a:r>
              <a:rPr lang="en-US" altLang="zh-CN" sz="1400">
                <a:solidFill>
                  <a:srgbClr val="ABB2BF"/>
                </a:solidFill>
                <a:cs typeface="+mn-ea"/>
                <a:sym typeface="+mn-lt"/>
              </a:rPr>
              <a:t>}</a:t>
            </a:r>
          </a:p>
          <a:p>
            <a:endParaRPr lang="en-US" altLang="zh-CN" sz="1400">
              <a:solidFill>
                <a:srgbClr val="ABB2BF"/>
              </a:solidFill>
              <a:cs typeface="+mn-ea"/>
              <a:sym typeface="+mn-lt"/>
            </a:endParaRPr>
          </a:p>
          <a:p>
            <a:r>
              <a:rPr lang="en-US" altLang="zh-CN" sz="1400">
                <a:solidFill>
                  <a:srgbClr val="C678DD"/>
                </a:solidFill>
                <a:cs typeface="+mn-ea"/>
                <a:sym typeface="+mn-lt"/>
              </a:rPr>
              <a:t>fn</a:t>
            </a:r>
            <a:r>
              <a:rPr lang="en-US" altLang="zh-CN" sz="1400">
                <a:solidFill>
                  <a:srgbClr val="ABB2BF"/>
                </a:solidFill>
                <a:cs typeface="+mn-ea"/>
                <a:sym typeface="+mn-lt"/>
              </a:rPr>
              <a:t> </a:t>
            </a:r>
            <a:r>
              <a:rPr lang="en-US" altLang="zh-CN" sz="1400">
                <a:solidFill>
                  <a:srgbClr val="61AFEF"/>
                </a:solidFill>
                <a:cs typeface="+mn-ea"/>
                <a:sym typeface="+mn-lt"/>
              </a:rPr>
              <a:t>main</a:t>
            </a:r>
            <a:r>
              <a:rPr lang="en-US" altLang="zh-CN" sz="1400">
                <a:solidFill>
                  <a:srgbClr val="ABB2BF"/>
                </a:solidFill>
                <a:cs typeface="+mn-ea"/>
                <a:sym typeface="+mn-lt"/>
              </a:rPr>
              <a:t>() {</a:t>
            </a:r>
          </a:p>
          <a:p>
            <a:r>
              <a:rPr lang="en-US" altLang="zh-CN" sz="1400">
                <a:solidFill>
                  <a:srgbClr val="ABB2BF"/>
                </a:solidFill>
                <a:cs typeface="+mn-ea"/>
                <a:sym typeface="+mn-lt"/>
              </a:rPr>
              <a:t>    </a:t>
            </a:r>
            <a:r>
              <a:rPr lang="en-US" altLang="zh-CN" sz="1400">
                <a:solidFill>
                  <a:srgbClr val="61AFEF"/>
                </a:solidFill>
                <a:cs typeface="+mn-ea"/>
                <a:sym typeface="+mn-lt"/>
              </a:rPr>
              <a:t>assert_eq!</a:t>
            </a:r>
            <a:r>
              <a:rPr lang="en-US" altLang="zh-CN" sz="1400">
                <a:solidFill>
                  <a:srgbClr val="ABB2BF"/>
                </a:solidFill>
                <a:cs typeface="+mn-ea"/>
                <a:sym typeface="+mn-lt"/>
              </a:rPr>
              <a:t>(</a:t>
            </a:r>
            <a:r>
              <a:rPr lang="en-US" altLang="zh-CN" sz="1400">
                <a:solidFill>
                  <a:srgbClr val="D19A66"/>
                </a:solidFill>
                <a:cs typeface="+mn-ea"/>
                <a:sym typeface="+mn-lt"/>
              </a:rPr>
              <a:t>40</a:t>
            </a:r>
            <a:r>
              <a:rPr lang="en-US" altLang="zh-CN" sz="1400">
                <a:solidFill>
                  <a:srgbClr val="ABB2BF"/>
                </a:solidFill>
                <a:cs typeface="+mn-ea"/>
                <a:sym typeface="+mn-lt"/>
              </a:rPr>
              <a:t>, </a:t>
            </a:r>
            <a:r>
              <a:rPr lang="en-US" altLang="zh-CN" sz="1400">
                <a:solidFill>
                  <a:srgbClr val="E5C07B"/>
                </a:solidFill>
                <a:cs typeface="+mn-ea"/>
                <a:sym typeface="+mn-lt"/>
              </a:rPr>
              <a:t>std</a:t>
            </a:r>
            <a:r>
              <a:rPr lang="en-US" altLang="zh-CN" sz="1400">
                <a:solidFill>
                  <a:srgbClr val="ABB2BF"/>
                </a:solidFill>
                <a:cs typeface="+mn-ea"/>
                <a:sym typeface="+mn-lt"/>
              </a:rPr>
              <a:t>::</a:t>
            </a:r>
            <a:r>
              <a:rPr lang="en-US" altLang="zh-CN" sz="1400">
                <a:solidFill>
                  <a:srgbClr val="E5C07B"/>
                </a:solidFill>
                <a:cs typeface="+mn-ea"/>
                <a:sym typeface="+mn-lt"/>
              </a:rPr>
              <a:t>mem</a:t>
            </a:r>
            <a:r>
              <a:rPr lang="en-US" altLang="zh-CN" sz="1400">
                <a:solidFill>
                  <a:srgbClr val="ABB2BF"/>
                </a:solidFill>
                <a:cs typeface="+mn-ea"/>
                <a:sym typeface="+mn-lt"/>
              </a:rPr>
              <a:t>::</a:t>
            </a:r>
            <a:r>
              <a:rPr lang="en-US" altLang="zh-CN" sz="1400">
                <a:solidFill>
                  <a:srgbClr val="61AFEF"/>
                </a:solidFill>
                <a:cs typeface="+mn-ea"/>
                <a:sym typeface="+mn-lt"/>
              </a:rPr>
              <a:t>size_of</a:t>
            </a:r>
            <a:r>
              <a:rPr lang="en-US" altLang="zh-CN" sz="1400">
                <a:solidFill>
                  <a:srgbClr val="ABB2BF"/>
                </a:solidFill>
                <a:cs typeface="+mn-ea"/>
                <a:sym typeface="+mn-lt"/>
              </a:rPr>
              <a:t>::&lt;</a:t>
            </a:r>
            <a:r>
              <a:rPr lang="en-US" altLang="zh-CN" sz="1400">
                <a:solidFill>
                  <a:srgbClr val="E5C07B"/>
                </a:solidFill>
                <a:cs typeface="+mn-ea"/>
                <a:sym typeface="+mn-lt"/>
              </a:rPr>
              <a:t>Foo</a:t>
            </a:r>
            <a:r>
              <a:rPr lang="en-US" altLang="zh-CN" sz="1400">
                <a:solidFill>
                  <a:srgbClr val="ABB2BF"/>
                </a:solidFill>
                <a:cs typeface="+mn-ea"/>
                <a:sym typeface="+mn-lt"/>
              </a:rPr>
              <a:t>&gt;());</a:t>
            </a:r>
            <a:r>
              <a:rPr lang="en-US" altLang="zh-CN" sz="1400" i="1">
                <a:solidFill>
                  <a:srgbClr val="7F848E"/>
                </a:solidFill>
                <a:cs typeface="+mn-ea"/>
                <a:sym typeface="+mn-lt"/>
              </a:rPr>
              <a:t> </a:t>
            </a:r>
            <a:endParaRPr lang="en-US" altLang="zh-CN" sz="1400">
              <a:solidFill>
                <a:srgbClr val="ABB2BF"/>
              </a:solidFill>
              <a:cs typeface="+mn-ea"/>
              <a:sym typeface="+mn-lt"/>
            </a:endParaRPr>
          </a:p>
          <a:p>
            <a:r>
              <a:rPr lang="en-US" altLang="zh-CN" sz="1400">
                <a:solidFill>
                  <a:srgbClr val="ABB2BF"/>
                </a:solidFill>
                <a:cs typeface="+mn-ea"/>
                <a:sym typeface="+mn-lt"/>
              </a:rPr>
              <a:t>    </a:t>
            </a:r>
            <a:r>
              <a:rPr lang="en-US" altLang="zh-CN" sz="1400">
                <a:solidFill>
                  <a:srgbClr val="61AFEF"/>
                </a:solidFill>
                <a:cs typeface="+mn-ea"/>
                <a:sym typeface="+mn-lt"/>
              </a:rPr>
              <a:t>assert_eq!</a:t>
            </a:r>
            <a:r>
              <a:rPr lang="en-US" altLang="zh-CN" sz="1400">
                <a:solidFill>
                  <a:srgbClr val="ABB2BF"/>
                </a:solidFill>
                <a:cs typeface="+mn-ea"/>
                <a:sym typeface="+mn-lt"/>
              </a:rPr>
              <a:t>(</a:t>
            </a:r>
            <a:r>
              <a:rPr lang="en-US" altLang="zh-CN" sz="1400">
                <a:solidFill>
                  <a:srgbClr val="D19A66"/>
                </a:solidFill>
                <a:cs typeface="+mn-ea"/>
                <a:sym typeface="+mn-lt"/>
              </a:rPr>
              <a:t>4</a:t>
            </a:r>
            <a:r>
              <a:rPr lang="en-US" altLang="zh-CN" sz="1400">
                <a:solidFill>
                  <a:srgbClr val="ABB2BF"/>
                </a:solidFill>
                <a:cs typeface="+mn-ea"/>
                <a:sym typeface="+mn-lt"/>
              </a:rPr>
              <a:t>, </a:t>
            </a:r>
            <a:r>
              <a:rPr lang="en-US" altLang="zh-CN" sz="1400">
                <a:solidFill>
                  <a:srgbClr val="E5C07B"/>
                </a:solidFill>
                <a:cs typeface="+mn-ea"/>
                <a:sym typeface="+mn-lt"/>
              </a:rPr>
              <a:t>std</a:t>
            </a:r>
            <a:r>
              <a:rPr lang="en-US" altLang="zh-CN" sz="1400">
                <a:solidFill>
                  <a:srgbClr val="ABB2BF"/>
                </a:solidFill>
                <a:cs typeface="+mn-ea"/>
                <a:sym typeface="+mn-lt"/>
              </a:rPr>
              <a:t>::</a:t>
            </a:r>
            <a:r>
              <a:rPr lang="en-US" altLang="zh-CN" sz="1400">
                <a:solidFill>
                  <a:srgbClr val="E5C07B"/>
                </a:solidFill>
                <a:cs typeface="+mn-ea"/>
                <a:sym typeface="+mn-lt"/>
              </a:rPr>
              <a:t>mem</a:t>
            </a:r>
            <a:r>
              <a:rPr lang="en-US" altLang="zh-CN" sz="1400">
                <a:solidFill>
                  <a:srgbClr val="ABB2BF"/>
                </a:solidFill>
                <a:cs typeface="+mn-ea"/>
                <a:sym typeface="+mn-lt"/>
              </a:rPr>
              <a:t>::</a:t>
            </a:r>
            <a:r>
              <a:rPr lang="en-US" altLang="zh-CN" sz="1400">
                <a:solidFill>
                  <a:srgbClr val="61AFEF"/>
                </a:solidFill>
                <a:cs typeface="+mn-ea"/>
                <a:sym typeface="+mn-lt"/>
              </a:rPr>
              <a:t>size_of</a:t>
            </a:r>
            <a:r>
              <a:rPr lang="en-US" altLang="zh-CN" sz="1400">
                <a:solidFill>
                  <a:srgbClr val="ABB2BF"/>
                </a:solidFill>
                <a:cs typeface="+mn-ea"/>
                <a:sym typeface="+mn-lt"/>
              </a:rPr>
              <a:t>::&lt;</a:t>
            </a:r>
            <a:r>
              <a:rPr lang="en-US" altLang="zh-CN" sz="1400">
                <a:solidFill>
                  <a:srgbClr val="E5C07B"/>
                </a:solidFill>
                <a:cs typeface="+mn-ea"/>
                <a:sym typeface="+mn-lt"/>
              </a:rPr>
              <a:t>i32</a:t>
            </a:r>
            <a:r>
              <a:rPr lang="en-US" altLang="zh-CN" sz="1400">
                <a:solidFill>
                  <a:srgbClr val="ABB2BF"/>
                </a:solidFill>
                <a:cs typeface="+mn-ea"/>
                <a:sym typeface="+mn-lt"/>
              </a:rPr>
              <a:t>&gt;());</a:t>
            </a:r>
            <a:r>
              <a:rPr lang="en-US" altLang="zh-CN" sz="1400" i="1">
                <a:solidFill>
                  <a:srgbClr val="7F848E"/>
                </a:solidFill>
                <a:cs typeface="+mn-ea"/>
                <a:sym typeface="+mn-lt"/>
              </a:rPr>
              <a:t> </a:t>
            </a:r>
            <a:endParaRPr lang="en-US" altLang="zh-CN" sz="1400">
              <a:solidFill>
                <a:srgbClr val="ABB2BF"/>
              </a:solidFill>
              <a:cs typeface="+mn-ea"/>
              <a:sym typeface="+mn-lt"/>
            </a:endParaRPr>
          </a:p>
          <a:p>
            <a:r>
              <a:rPr lang="en-US" altLang="zh-CN" sz="1400">
                <a:solidFill>
                  <a:srgbClr val="ABB2BF"/>
                </a:solidFill>
                <a:cs typeface="+mn-ea"/>
                <a:sym typeface="+mn-lt"/>
              </a:rPr>
              <a:t>    </a:t>
            </a:r>
            <a:r>
              <a:rPr lang="en-US" altLang="zh-CN" sz="1400">
                <a:solidFill>
                  <a:srgbClr val="61AFEF"/>
                </a:solidFill>
                <a:cs typeface="+mn-ea"/>
                <a:sym typeface="+mn-lt"/>
              </a:rPr>
              <a:t>assert_eq!</a:t>
            </a:r>
            <a:r>
              <a:rPr lang="en-US" altLang="zh-CN" sz="1400">
                <a:solidFill>
                  <a:srgbClr val="ABB2BF"/>
                </a:solidFill>
                <a:cs typeface="+mn-ea"/>
                <a:sym typeface="+mn-lt"/>
              </a:rPr>
              <a:t>(</a:t>
            </a:r>
            <a:r>
              <a:rPr lang="en-US" altLang="zh-CN" sz="1400">
                <a:solidFill>
                  <a:srgbClr val="D19A66"/>
                </a:solidFill>
                <a:cs typeface="+mn-ea"/>
                <a:sym typeface="+mn-lt"/>
              </a:rPr>
              <a:t>24</a:t>
            </a:r>
            <a:r>
              <a:rPr lang="en-US" altLang="zh-CN" sz="1400">
                <a:solidFill>
                  <a:srgbClr val="ABB2BF"/>
                </a:solidFill>
                <a:cs typeface="+mn-ea"/>
                <a:sym typeface="+mn-lt"/>
              </a:rPr>
              <a:t>, </a:t>
            </a:r>
            <a:r>
              <a:rPr lang="en-US" altLang="zh-CN" sz="1400">
                <a:solidFill>
                  <a:srgbClr val="E5C07B"/>
                </a:solidFill>
                <a:cs typeface="+mn-ea"/>
                <a:sym typeface="+mn-lt"/>
              </a:rPr>
              <a:t>std</a:t>
            </a:r>
            <a:r>
              <a:rPr lang="en-US" altLang="zh-CN" sz="1400">
                <a:solidFill>
                  <a:srgbClr val="ABB2BF"/>
                </a:solidFill>
                <a:cs typeface="+mn-ea"/>
                <a:sym typeface="+mn-lt"/>
              </a:rPr>
              <a:t>::</a:t>
            </a:r>
            <a:r>
              <a:rPr lang="en-US" altLang="zh-CN" sz="1400">
                <a:solidFill>
                  <a:srgbClr val="E5C07B"/>
                </a:solidFill>
                <a:cs typeface="+mn-ea"/>
                <a:sym typeface="+mn-lt"/>
              </a:rPr>
              <a:t>mem</a:t>
            </a:r>
            <a:r>
              <a:rPr lang="en-US" altLang="zh-CN" sz="1400">
                <a:solidFill>
                  <a:srgbClr val="ABB2BF"/>
                </a:solidFill>
                <a:cs typeface="+mn-ea"/>
                <a:sym typeface="+mn-lt"/>
              </a:rPr>
              <a:t>::</a:t>
            </a:r>
            <a:r>
              <a:rPr lang="en-US" altLang="zh-CN" sz="1400">
                <a:solidFill>
                  <a:srgbClr val="61AFEF"/>
                </a:solidFill>
                <a:cs typeface="+mn-ea"/>
                <a:sym typeface="+mn-lt"/>
              </a:rPr>
              <a:t>size_of</a:t>
            </a:r>
            <a:r>
              <a:rPr lang="en-US" altLang="zh-CN" sz="1400">
                <a:solidFill>
                  <a:srgbClr val="ABB2BF"/>
                </a:solidFill>
                <a:cs typeface="+mn-ea"/>
                <a:sym typeface="+mn-lt"/>
              </a:rPr>
              <a:t>::&lt;</a:t>
            </a:r>
            <a:r>
              <a:rPr lang="en-US" altLang="zh-CN" sz="1400">
                <a:solidFill>
                  <a:srgbClr val="E5C07B"/>
                </a:solidFill>
                <a:cs typeface="+mn-ea"/>
                <a:sym typeface="+mn-lt"/>
              </a:rPr>
              <a:t>String</a:t>
            </a:r>
            <a:r>
              <a:rPr lang="en-US" altLang="zh-CN" sz="1400">
                <a:solidFill>
                  <a:srgbClr val="ABB2BF"/>
                </a:solidFill>
                <a:cs typeface="+mn-ea"/>
                <a:sym typeface="+mn-lt"/>
              </a:rPr>
              <a:t>&gt;());</a:t>
            </a:r>
          </a:p>
          <a:p>
            <a:r>
              <a:rPr lang="en-US" altLang="zh-CN" sz="1400">
                <a:solidFill>
                  <a:srgbClr val="ABB2BF"/>
                </a:solidFill>
                <a:cs typeface="+mn-ea"/>
                <a:sym typeface="+mn-lt"/>
              </a:rPr>
              <a:t>    </a:t>
            </a:r>
            <a:r>
              <a:rPr lang="en-US" altLang="zh-CN" sz="1400">
                <a:solidFill>
                  <a:srgbClr val="61AFEF"/>
                </a:solidFill>
                <a:cs typeface="+mn-ea"/>
                <a:sym typeface="+mn-lt"/>
              </a:rPr>
              <a:t>assert_eq!</a:t>
            </a:r>
            <a:r>
              <a:rPr lang="en-US" altLang="zh-CN" sz="1400">
                <a:solidFill>
                  <a:srgbClr val="ABB2BF"/>
                </a:solidFill>
                <a:cs typeface="+mn-ea"/>
                <a:sym typeface="+mn-lt"/>
              </a:rPr>
              <a:t>(</a:t>
            </a:r>
            <a:r>
              <a:rPr lang="en-US" altLang="zh-CN" sz="1400">
                <a:solidFill>
                  <a:srgbClr val="D19A66"/>
                </a:solidFill>
                <a:cs typeface="+mn-ea"/>
                <a:sym typeface="+mn-lt"/>
              </a:rPr>
              <a:t>8</a:t>
            </a:r>
            <a:r>
              <a:rPr lang="en-US" altLang="zh-CN" sz="1400">
                <a:solidFill>
                  <a:srgbClr val="ABB2BF"/>
                </a:solidFill>
                <a:cs typeface="+mn-ea"/>
                <a:sym typeface="+mn-lt"/>
              </a:rPr>
              <a:t>, </a:t>
            </a:r>
            <a:r>
              <a:rPr lang="en-US" altLang="zh-CN" sz="1400">
                <a:solidFill>
                  <a:srgbClr val="E5C07B"/>
                </a:solidFill>
                <a:cs typeface="+mn-ea"/>
                <a:sym typeface="+mn-lt"/>
              </a:rPr>
              <a:t>std</a:t>
            </a:r>
            <a:r>
              <a:rPr lang="en-US" altLang="zh-CN" sz="1400">
                <a:solidFill>
                  <a:srgbClr val="ABB2BF"/>
                </a:solidFill>
                <a:cs typeface="+mn-ea"/>
                <a:sym typeface="+mn-lt"/>
              </a:rPr>
              <a:t>::</a:t>
            </a:r>
            <a:r>
              <a:rPr lang="en-US" altLang="zh-CN" sz="1400">
                <a:solidFill>
                  <a:srgbClr val="E5C07B"/>
                </a:solidFill>
                <a:cs typeface="+mn-ea"/>
                <a:sym typeface="+mn-lt"/>
              </a:rPr>
              <a:t>mem</a:t>
            </a:r>
            <a:r>
              <a:rPr lang="en-US" altLang="zh-CN" sz="1400">
                <a:solidFill>
                  <a:srgbClr val="ABB2BF"/>
                </a:solidFill>
                <a:cs typeface="+mn-ea"/>
                <a:sym typeface="+mn-lt"/>
              </a:rPr>
              <a:t>::</a:t>
            </a:r>
            <a:r>
              <a:rPr lang="en-US" altLang="zh-CN" sz="1400">
                <a:solidFill>
                  <a:srgbClr val="61AFEF"/>
                </a:solidFill>
                <a:cs typeface="+mn-ea"/>
                <a:sym typeface="+mn-lt"/>
              </a:rPr>
              <a:t>size_of</a:t>
            </a:r>
            <a:r>
              <a:rPr lang="en-US" altLang="zh-CN" sz="1400">
                <a:solidFill>
                  <a:srgbClr val="ABB2BF"/>
                </a:solidFill>
                <a:cs typeface="+mn-ea"/>
                <a:sym typeface="+mn-lt"/>
              </a:rPr>
              <a:t>::&lt;*</a:t>
            </a:r>
            <a:r>
              <a:rPr lang="en-US" altLang="zh-CN" sz="1400">
                <a:solidFill>
                  <a:srgbClr val="C678DD"/>
                </a:solidFill>
                <a:cs typeface="+mn-ea"/>
                <a:sym typeface="+mn-lt"/>
              </a:rPr>
              <a:t>const</a:t>
            </a:r>
            <a:r>
              <a:rPr lang="en-US" altLang="zh-CN" sz="1400">
                <a:solidFill>
                  <a:srgbClr val="ABB2BF"/>
                </a:solidFill>
                <a:cs typeface="+mn-ea"/>
                <a:sym typeface="+mn-lt"/>
              </a:rPr>
              <a:t> </a:t>
            </a:r>
            <a:r>
              <a:rPr lang="en-US" altLang="zh-CN" sz="1400">
                <a:solidFill>
                  <a:srgbClr val="E06C75"/>
                </a:solidFill>
                <a:cs typeface="+mn-ea"/>
                <a:sym typeface="+mn-lt"/>
              </a:rPr>
              <a:t>c_char</a:t>
            </a:r>
            <a:r>
              <a:rPr lang="en-US" altLang="zh-CN" sz="1400">
                <a:solidFill>
                  <a:srgbClr val="ABB2BF"/>
                </a:solidFill>
                <a:cs typeface="+mn-ea"/>
                <a:sym typeface="+mn-lt"/>
              </a:rPr>
              <a:t>&gt;());</a:t>
            </a:r>
          </a:p>
          <a:p>
            <a:r>
              <a:rPr lang="en-US" altLang="zh-CN" sz="1400">
                <a:solidFill>
                  <a:srgbClr val="ABB2BF"/>
                </a:solidFill>
                <a:cs typeface="+mn-ea"/>
                <a:sym typeface="+mn-lt"/>
              </a:rPr>
              <a:t>    </a:t>
            </a:r>
            <a:r>
              <a:rPr lang="en-US" altLang="zh-CN" sz="1400">
                <a:solidFill>
                  <a:srgbClr val="61AFEF"/>
                </a:solidFill>
                <a:cs typeface="+mn-ea"/>
                <a:sym typeface="+mn-lt"/>
              </a:rPr>
              <a:t>assert_eq!</a:t>
            </a:r>
            <a:r>
              <a:rPr lang="en-US" altLang="zh-CN" sz="1400">
                <a:solidFill>
                  <a:srgbClr val="ABB2BF"/>
                </a:solidFill>
                <a:cs typeface="+mn-ea"/>
                <a:sym typeface="+mn-lt"/>
              </a:rPr>
              <a:t>(</a:t>
            </a:r>
            <a:r>
              <a:rPr lang="en-US" altLang="zh-CN" sz="1400">
                <a:solidFill>
                  <a:srgbClr val="D19A66"/>
                </a:solidFill>
                <a:cs typeface="+mn-ea"/>
                <a:sym typeface="+mn-lt"/>
              </a:rPr>
              <a:t>8</a:t>
            </a:r>
            <a:r>
              <a:rPr lang="en-US" altLang="zh-CN" sz="1400">
                <a:solidFill>
                  <a:srgbClr val="ABB2BF"/>
                </a:solidFill>
                <a:cs typeface="+mn-ea"/>
                <a:sym typeface="+mn-lt"/>
              </a:rPr>
              <a:t>, </a:t>
            </a:r>
            <a:r>
              <a:rPr lang="en-US" altLang="zh-CN" sz="1400">
                <a:solidFill>
                  <a:srgbClr val="E5C07B"/>
                </a:solidFill>
                <a:cs typeface="+mn-ea"/>
                <a:sym typeface="+mn-lt"/>
              </a:rPr>
              <a:t>std</a:t>
            </a:r>
            <a:r>
              <a:rPr lang="en-US" altLang="zh-CN" sz="1400">
                <a:solidFill>
                  <a:srgbClr val="ABB2BF"/>
                </a:solidFill>
                <a:cs typeface="+mn-ea"/>
                <a:sym typeface="+mn-lt"/>
              </a:rPr>
              <a:t>::</a:t>
            </a:r>
            <a:r>
              <a:rPr lang="en-US" altLang="zh-CN" sz="1400">
                <a:solidFill>
                  <a:srgbClr val="E5C07B"/>
                </a:solidFill>
                <a:cs typeface="+mn-ea"/>
                <a:sym typeface="+mn-lt"/>
              </a:rPr>
              <a:t>mem</a:t>
            </a:r>
            <a:r>
              <a:rPr lang="en-US" altLang="zh-CN" sz="1400">
                <a:solidFill>
                  <a:srgbClr val="ABB2BF"/>
                </a:solidFill>
                <a:cs typeface="+mn-ea"/>
                <a:sym typeface="+mn-lt"/>
              </a:rPr>
              <a:t>::</a:t>
            </a:r>
            <a:r>
              <a:rPr lang="en-US" altLang="zh-CN" sz="1400">
                <a:solidFill>
                  <a:srgbClr val="61AFEF"/>
                </a:solidFill>
                <a:cs typeface="+mn-ea"/>
                <a:sym typeface="+mn-lt"/>
              </a:rPr>
              <a:t>align_of</a:t>
            </a:r>
            <a:r>
              <a:rPr lang="en-US" altLang="zh-CN" sz="1400">
                <a:solidFill>
                  <a:srgbClr val="ABB2BF"/>
                </a:solidFill>
                <a:cs typeface="+mn-ea"/>
                <a:sym typeface="+mn-lt"/>
              </a:rPr>
              <a:t>::&lt;</a:t>
            </a:r>
            <a:r>
              <a:rPr lang="en-US" altLang="zh-CN" sz="1400">
                <a:solidFill>
                  <a:srgbClr val="E5C07B"/>
                </a:solidFill>
                <a:cs typeface="+mn-ea"/>
                <a:sym typeface="+mn-lt"/>
              </a:rPr>
              <a:t>Foo</a:t>
            </a:r>
            <a:r>
              <a:rPr lang="en-US" altLang="zh-CN" sz="1400">
                <a:solidFill>
                  <a:srgbClr val="ABB2BF"/>
                </a:solidFill>
                <a:cs typeface="+mn-ea"/>
                <a:sym typeface="+mn-lt"/>
              </a:rPr>
              <a:t>&gt;());</a:t>
            </a:r>
          </a:p>
          <a:p>
            <a:r>
              <a:rPr lang="en-US" altLang="zh-CN" sz="1400">
                <a:solidFill>
                  <a:srgbClr val="ABB2BF"/>
                </a:solidFill>
                <a:cs typeface="+mn-ea"/>
                <a:sym typeface="+mn-lt"/>
              </a:rPr>
              <a:t>    </a:t>
            </a:r>
            <a:r>
              <a:rPr lang="en-US" altLang="zh-CN" sz="1400">
                <a:solidFill>
                  <a:srgbClr val="61AFEF"/>
                </a:solidFill>
                <a:cs typeface="+mn-ea"/>
                <a:sym typeface="+mn-lt"/>
              </a:rPr>
              <a:t>assert_eq!</a:t>
            </a:r>
            <a:r>
              <a:rPr lang="en-US" altLang="zh-CN" sz="1400">
                <a:solidFill>
                  <a:srgbClr val="ABB2BF"/>
                </a:solidFill>
                <a:cs typeface="+mn-ea"/>
                <a:sym typeface="+mn-lt"/>
              </a:rPr>
              <a:t>(</a:t>
            </a:r>
            <a:r>
              <a:rPr lang="en-US" altLang="zh-CN" sz="1400">
                <a:solidFill>
                  <a:srgbClr val="D19A66"/>
                </a:solidFill>
                <a:cs typeface="+mn-ea"/>
                <a:sym typeface="+mn-lt"/>
              </a:rPr>
              <a:t>4</a:t>
            </a:r>
            <a:r>
              <a:rPr lang="en-US" altLang="zh-CN" sz="1400">
                <a:solidFill>
                  <a:srgbClr val="ABB2BF"/>
                </a:solidFill>
                <a:cs typeface="+mn-ea"/>
                <a:sym typeface="+mn-lt"/>
              </a:rPr>
              <a:t>, </a:t>
            </a:r>
            <a:r>
              <a:rPr lang="en-US" altLang="zh-CN" sz="1400">
                <a:solidFill>
                  <a:srgbClr val="E5C07B"/>
                </a:solidFill>
                <a:cs typeface="+mn-ea"/>
                <a:sym typeface="+mn-lt"/>
              </a:rPr>
              <a:t>std</a:t>
            </a:r>
            <a:r>
              <a:rPr lang="en-US" altLang="zh-CN" sz="1400">
                <a:solidFill>
                  <a:srgbClr val="ABB2BF"/>
                </a:solidFill>
                <a:cs typeface="+mn-ea"/>
                <a:sym typeface="+mn-lt"/>
              </a:rPr>
              <a:t>::</a:t>
            </a:r>
            <a:r>
              <a:rPr lang="en-US" altLang="zh-CN" sz="1400">
                <a:solidFill>
                  <a:srgbClr val="E5C07B"/>
                </a:solidFill>
                <a:cs typeface="+mn-ea"/>
                <a:sym typeface="+mn-lt"/>
              </a:rPr>
              <a:t>mem</a:t>
            </a:r>
            <a:r>
              <a:rPr lang="en-US" altLang="zh-CN" sz="1400">
                <a:solidFill>
                  <a:srgbClr val="ABB2BF"/>
                </a:solidFill>
                <a:cs typeface="+mn-ea"/>
                <a:sym typeface="+mn-lt"/>
              </a:rPr>
              <a:t>::</a:t>
            </a:r>
            <a:r>
              <a:rPr lang="en-US" altLang="zh-CN" sz="1400">
                <a:solidFill>
                  <a:srgbClr val="61AFEF"/>
                </a:solidFill>
                <a:cs typeface="+mn-ea"/>
                <a:sym typeface="+mn-lt"/>
              </a:rPr>
              <a:t>align_of</a:t>
            </a:r>
            <a:r>
              <a:rPr lang="en-US" altLang="zh-CN" sz="1400">
                <a:solidFill>
                  <a:srgbClr val="ABB2BF"/>
                </a:solidFill>
                <a:cs typeface="+mn-ea"/>
                <a:sym typeface="+mn-lt"/>
              </a:rPr>
              <a:t>::&lt;</a:t>
            </a:r>
            <a:r>
              <a:rPr lang="en-US" altLang="zh-CN" sz="1400">
                <a:solidFill>
                  <a:srgbClr val="E5C07B"/>
                </a:solidFill>
                <a:cs typeface="+mn-ea"/>
                <a:sym typeface="+mn-lt"/>
              </a:rPr>
              <a:t>i32</a:t>
            </a:r>
            <a:r>
              <a:rPr lang="en-US" altLang="zh-CN" sz="1400">
                <a:solidFill>
                  <a:srgbClr val="ABB2BF"/>
                </a:solidFill>
                <a:cs typeface="+mn-ea"/>
                <a:sym typeface="+mn-lt"/>
              </a:rPr>
              <a:t>&gt;());</a:t>
            </a:r>
          </a:p>
          <a:p>
            <a:r>
              <a:rPr lang="en-US" altLang="zh-CN" sz="1400">
                <a:solidFill>
                  <a:srgbClr val="ABB2BF"/>
                </a:solidFill>
                <a:cs typeface="+mn-ea"/>
                <a:sym typeface="+mn-lt"/>
              </a:rPr>
              <a:t>    </a:t>
            </a:r>
            <a:r>
              <a:rPr lang="en-US" altLang="zh-CN" sz="1400">
                <a:solidFill>
                  <a:srgbClr val="61AFEF"/>
                </a:solidFill>
                <a:cs typeface="+mn-ea"/>
                <a:sym typeface="+mn-lt"/>
              </a:rPr>
              <a:t>assert_eq!</a:t>
            </a:r>
            <a:r>
              <a:rPr lang="en-US" altLang="zh-CN" sz="1400">
                <a:solidFill>
                  <a:srgbClr val="ABB2BF"/>
                </a:solidFill>
                <a:cs typeface="+mn-ea"/>
                <a:sym typeface="+mn-lt"/>
              </a:rPr>
              <a:t>(</a:t>
            </a:r>
            <a:r>
              <a:rPr lang="en-US" altLang="zh-CN" sz="1400">
                <a:solidFill>
                  <a:srgbClr val="D19A66"/>
                </a:solidFill>
                <a:cs typeface="+mn-ea"/>
                <a:sym typeface="+mn-lt"/>
              </a:rPr>
              <a:t>8</a:t>
            </a:r>
            <a:r>
              <a:rPr lang="en-US" altLang="zh-CN" sz="1400">
                <a:solidFill>
                  <a:srgbClr val="ABB2BF"/>
                </a:solidFill>
                <a:cs typeface="+mn-ea"/>
                <a:sym typeface="+mn-lt"/>
              </a:rPr>
              <a:t>, </a:t>
            </a:r>
            <a:r>
              <a:rPr lang="en-US" altLang="zh-CN" sz="1400">
                <a:solidFill>
                  <a:srgbClr val="E5C07B"/>
                </a:solidFill>
                <a:cs typeface="+mn-ea"/>
                <a:sym typeface="+mn-lt"/>
              </a:rPr>
              <a:t>std</a:t>
            </a:r>
            <a:r>
              <a:rPr lang="en-US" altLang="zh-CN" sz="1400">
                <a:solidFill>
                  <a:srgbClr val="ABB2BF"/>
                </a:solidFill>
                <a:cs typeface="+mn-ea"/>
                <a:sym typeface="+mn-lt"/>
              </a:rPr>
              <a:t>::</a:t>
            </a:r>
            <a:r>
              <a:rPr lang="en-US" altLang="zh-CN" sz="1400">
                <a:solidFill>
                  <a:srgbClr val="E5C07B"/>
                </a:solidFill>
                <a:cs typeface="+mn-ea"/>
                <a:sym typeface="+mn-lt"/>
              </a:rPr>
              <a:t>mem</a:t>
            </a:r>
            <a:r>
              <a:rPr lang="en-US" altLang="zh-CN" sz="1400">
                <a:solidFill>
                  <a:srgbClr val="ABB2BF"/>
                </a:solidFill>
                <a:cs typeface="+mn-ea"/>
                <a:sym typeface="+mn-lt"/>
              </a:rPr>
              <a:t>::</a:t>
            </a:r>
            <a:r>
              <a:rPr lang="en-US" altLang="zh-CN" sz="1400">
                <a:solidFill>
                  <a:srgbClr val="61AFEF"/>
                </a:solidFill>
                <a:cs typeface="+mn-ea"/>
                <a:sym typeface="+mn-lt"/>
              </a:rPr>
              <a:t>align_of</a:t>
            </a:r>
            <a:r>
              <a:rPr lang="en-US" altLang="zh-CN" sz="1400">
                <a:solidFill>
                  <a:srgbClr val="ABB2BF"/>
                </a:solidFill>
                <a:cs typeface="+mn-ea"/>
                <a:sym typeface="+mn-lt"/>
              </a:rPr>
              <a:t>::&lt;</a:t>
            </a:r>
            <a:r>
              <a:rPr lang="en-US" altLang="zh-CN" sz="1400">
                <a:solidFill>
                  <a:srgbClr val="E5C07B"/>
                </a:solidFill>
                <a:cs typeface="+mn-ea"/>
                <a:sym typeface="+mn-lt"/>
              </a:rPr>
              <a:t>String</a:t>
            </a:r>
            <a:r>
              <a:rPr lang="en-US" altLang="zh-CN" sz="1400">
                <a:solidFill>
                  <a:srgbClr val="ABB2BF"/>
                </a:solidFill>
                <a:cs typeface="+mn-ea"/>
                <a:sym typeface="+mn-lt"/>
              </a:rPr>
              <a:t>&gt;());</a:t>
            </a:r>
          </a:p>
          <a:p>
            <a:r>
              <a:rPr lang="en-US" altLang="zh-CN" sz="1400">
                <a:solidFill>
                  <a:srgbClr val="ABB2BF"/>
                </a:solidFill>
                <a:cs typeface="+mn-ea"/>
                <a:sym typeface="+mn-lt"/>
              </a:rPr>
              <a:t>    </a:t>
            </a:r>
            <a:r>
              <a:rPr lang="en-US" altLang="zh-CN" sz="1400">
                <a:solidFill>
                  <a:srgbClr val="61AFEF"/>
                </a:solidFill>
                <a:cs typeface="+mn-ea"/>
                <a:sym typeface="+mn-lt"/>
              </a:rPr>
              <a:t>assert_eq!</a:t>
            </a:r>
            <a:r>
              <a:rPr lang="en-US" altLang="zh-CN" sz="1400">
                <a:solidFill>
                  <a:srgbClr val="ABB2BF"/>
                </a:solidFill>
                <a:cs typeface="+mn-ea"/>
                <a:sym typeface="+mn-lt"/>
              </a:rPr>
              <a:t>(</a:t>
            </a:r>
            <a:r>
              <a:rPr lang="en-US" altLang="zh-CN" sz="1400">
                <a:solidFill>
                  <a:srgbClr val="D19A66"/>
                </a:solidFill>
                <a:cs typeface="+mn-ea"/>
                <a:sym typeface="+mn-lt"/>
              </a:rPr>
              <a:t>8</a:t>
            </a:r>
            <a:r>
              <a:rPr lang="en-US" altLang="zh-CN" sz="1400">
                <a:solidFill>
                  <a:srgbClr val="ABB2BF"/>
                </a:solidFill>
                <a:cs typeface="+mn-ea"/>
                <a:sym typeface="+mn-lt"/>
              </a:rPr>
              <a:t>, </a:t>
            </a:r>
            <a:r>
              <a:rPr lang="en-US" altLang="zh-CN" sz="1400">
                <a:solidFill>
                  <a:srgbClr val="E5C07B"/>
                </a:solidFill>
                <a:cs typeface="+mn-ea"/>
                <a:sym typeface="+mn-lt"/>
              </a:rPr>
              <a:t>std</a:t>
            </a:r>
            <a:r>
              <a:rPr lang="en-US" altLang="zh-CN" sz="1400">
                <a:solidFill>
                  <a:srgbClr val="ABB2BF"/>
                </a:solidFill>
                <a:cs typeface="+mn-ea"/>
                <a:sym typeface="+mn-lt"/>
              </a:rPr>
              <a:t>::</a:t>
            </a:r>
            <a:r>
              <a:rPr lang="en-US" altLang="zh-CN" sz="1400">
                <a:solidFill>
                  <a:srgbClr val="E5C07B"/>
                </a:solidFill>
                <a:cs typeface="+mn-ea"/>
                <a:sym typeface="+mn-lt"/>
              </a:rPr>
              <a:t>mem</a:t>
            </a:r>
            <a:r>
              <a:rPr lang="en-US" altLang="zh-CN" sz="1400">
                <a:solidFill>
                  <a:srgbClr val="ABB2BF"/>
                </a:solidFill>
                <a:cs typeface="+mn-ea"/>
                <a:sym typeface="+mn-lt"/>
              </a:rPr>
              <a:t>::</a:t>
            </a:r>
            <a:r>
              <a:rPr lang="en-US" altLang="zh-CN" sz="1400">
                <a:solidFill>
                  <a:srgbClr val="61AFEF"/>
                </a:solidFill>
                <a:cs typeface="+mn-ea"/>
                <a:sym typeface="+mn-lt"/>
              </a:rPr>
              <a:t>align_of</a:t>
            </a:r>
            <a:r>
              <a:rPr lang="en-US" altLang="zh-CN" sz="1400">
                <a:solidFill>
                  <a:srgbClr val="ABB2BF"/>
                </a:solidFill>
                <a:cs typeface="+mn-ea"/>
                <a:sym typeface="+mn-lt"/>
              </a:rPr>
              <a:t>::&lt;*</a:t>
            </a:r>
            <a:r>
              <a:rPr lang="en-US" altLang="zh-CN" sz="1400">
                <a:solidFill>
                  <a:srgbClr val="C678DD"/>
                </a:solidFill>
                <a:cs typeface="+mn-ea"/>
                <a:sym typeface="+mn-lt"/>
              </a:rPr>
              <a:t>const</a:t>
            </a:r>
            <a:r>
              <a:rPr lang="en-US" altLang="zh-CN" sz="1400">
                <a:solidFill>
                  <a:srgbClr val="ABB2BF"/>
                </a:solidFill>
                <a:cs typeface="+mn-ea"/>
                <a:sym typeface="+mn-lt"/>
              </a:rPr>
              <a:t> </a:t>
            </a:r>
            <a:r>
              <a:rPr lang="en-US" altLang="zh-CN" sz="1400">
                <a:solidFill>
                  <a:srgbClr val="E06C75"/>
                </a:solidFill>
                <a:cs typeface="+mn-ea"/>
                <a:sym typeface="+mn-lt"/>
              </a:rPr>
              <a:t>c_char</a:t>
            </a:r>
            <a:r>
              <a:rPr lang="en-US" altLang="zh-CN" sz="1400">
                <a:solidFill>
                  <a:srgbClr val="ABB2BF"/>
                </a:solidFill>
                <a:cs typeface="+mn-ea"/>
                <a:sym typeface="+mn-lt"/>
              </a:rPr>
              <a:t>&gt;());</a:t>
            </a:r>
          </a:p>
          <a:p>
            <a:r>
              <a:rPr lang="en-US" altLang="zh-CN" sz="1400">
                <a:solidFill>
                  <a:srgbClr val="ABB2BF"/>
                </a:solidFill>
                <a:cs typeface="+mn-ea"/>
                <a:sym typeface="+mn-lt"/>
              </a:rPr>
              <a:t>}</a:t>
            </a:r>
            <a:endParaRPr lang="en-US" altLang="zh-CN" sz="1400" b="0">
              <a:solidFill>
                <a:srgbClr val="ABB2BF"/>
              </a:solidFill>
              <a:effectLst/>
              <a:cs typeface="+mn-ea"/>
              <a:sym typeface="+mn-l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直接连接符 6"/>
          <p:cNvCxnSpPr/>
          <p:nvPr/>
        </p:nvCxnSpPr>
        <p:spPr>
          <a:xfrm>
            <a:off x="239006" y="641249"/>
            <a:ext cx="11340282"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139958" y="112899"/>
            <a:ext cx="8920065" cy="964367"/>
          </a:xfrm>
          <a:prstGeom prst="rect">
            <a:avLst/>
          </a:prstGeom>
          <a:noFill/>
        </p:spPr>
        <p:txBody>
          <a:bodyPr vert="horz" wrap="square" rtlCol="0">
            <a:spAutoFit/>
          </a:bodyPr>
          <a:lstStyle/>
          <a:p>
            <a:pPr>
              <a:lnSpc>
                <a:spcPts val="3440"/>
              </a:lnSpc>
            </a:pPr>
            <a:r>
              <a:rPr lang="en-US" altLang="zh-CN" sz="3200" b="1">
                <a:solidFill>
                  <a:srgbClr val="C00000"/>
                </a:solidFill>
                <a:cs typeface="+mn-ea"/>
                <a:sym typeface="+mn-lt"/>
              </a:rPr>
              <a:t>#[repr]</a:t>
            </a:r>
            <a:r>
              <a:rPr lang="zh-CN" altLang="en-US" sz="3200" b="1">
                <a:solidFill>
                  <a:srgbClr val="C00000"/>
                </a:solidFill>
                <a:cs typeface="+mn-ea"/>
                <a:sym typeface="+mn-lt"/>
              </a:rPr>
              <a:t>属性</a:t>
            </a:r>
            <a:r>
              <a:rPr lang="en-US" altLang="zh-CN" sz="3200" b="1">
                <a:solidFill>
                  <a:srgbClr val="C00000"/>
                </a:solidFill>
                <a:cs typeface="+mn-ea"/>
                <a:sym typeface="+mn-lt"/>
              </a:rPr>
              <a:t>-C</a:t>
            </a:r>
          </a:p>
          <a:p>
            <a:pPr>
              <a:lnSpc>
                <a:spcPts val="3440"/>
              </a:lnSpc>
            </a:pPr>
            <a:endParaRPr lang="en-US" altLang="zh-CN" sz="3200" b="1">
              <a:solidFill>
                <a:srgbClr val="C00000"/>
              </a:solidFill>
              <a:cs typeface="+mn-ea"/>
              <a:sym typeface="+mn-lt"/>
            </a:endParaRPr>
          </a:p>
        </p:txBody>
      </p:sp>
      <p:sp>
        <p:nvSpPr>
          <p:cNvPr id="4" name="矩形 3"/>
          <p:cNvSpPr/>
          <p:nvPr/>
        </p:nvSpPr>
        <p:spPr>
          <a:xfrm>
            <a:off x="248850" y="846092"/>
            <a:ext cx="3822343" cy="4150826"/>
          </a:xfrm>
          <a:prstGeom prst="rect">
            <a:avLst/>
          </a:prstGeom>
        </p:spPr>
        <p:txBody>
          <a:bodyPr wrap="square">
            <a:noAutofit/>
          </a:bodyPr>
          <a:lstStyle/>
          <a:p>
            <a:pPr>
              <a:lnSpc>
                <a:spcPct val="150000"/>
              </a:lnSpc>
            </a:pPr>
            <a:r>
              <a:rPr lang="en-US" altLang="zh-CN" sz="1600" b="1" dirty="0">
                <a:cs typeface="+mn-ea"/>
                <a:sym typeface="+mn-lt"/>
              </a:rPr>
              <a:t>#[</a:t>
            </a:r>
            <a:r>
              <a:rPr lang="en-US" altLang="zh-CN" sz="1600" b="1" dirty="0" err="1">
                <a:cs typeface="+mn-ea"/>
                <a:sym typeface="+mn-lt"/>
              </a:rPr>
              <a:t>repr</a:t>
            </a:r>
            <a:r>
              <a:rPr lang="en-US" altLang="zh-CN" sz="1600" b="1" dirty="0">
                <a:cs typeface="+mn-ea"/>
                <a:sym typeface="+mn-lt"/>
              </a:rPr>
              <a:t>(C)]</a:t>
            </a:r>
            <a:r>
              <a:rPr lang="zh-CN" altLang="en-US" sz="1600" b="1" dirty="0">
                <a:cs typeface="+mn-ea"/>
                <a:sym typeface="+mn-lt"/>
              </a:rPr>
              <a:t>枚举</a:t>
            </a:r>
            <a:r>
              <a:rPr lang="en-US" altLang="zh-CN" sz="1600" b="1" dirty="0">
                <a:cs typeface="+mn-ea"/>
                <a:sym typeface="+mn-lt"/>
              </a:rPr>
              <a:t>(</a:t>
            </a:r>
            <a:r>
              <a:rPr lang="zh-CN" altLang="en-US" sz="1600" b="1" dirty="0">
                <a:cs typeface="+mn-ea"/>
                <a:sym typeface="+mn-lt"/>
              </a:rPr>
              <a:t>没有优化</a:t>
            </a:r>
            <a:r>
              <a:rPr lang="en-US" altLang="zh-CN" sz="1600" b="1" dirty="0">
                <a:cs typeface="+mn-ea"/>
                <a:sym typeface="+mn-lt"/>
              </a:rPr>
              <a:t>)</a:t>
            </a:r>
            <a:endParaRPr lang="zh-CN" altLang="en-US" sz="1600" dirty="0">
              <a:cs typeface="+mn-ea"/>
              <a:sym typeface="+mn-lt"/>
            </a:endParaRPr>
          </a:p>
          <a:p>
            <a:pPr marL="342900" indent="-342900">
              <a:lnSpc>
                <a:spcPct val="150000"/>
              </a:lnSpc>
              <a:buFont typeface="+mj-lt"/>
              <a:buAutoNum type="arabicPeriod"/>
            </a:pPr>
            <a:r>
              <a:rPr lang="zh-CN" altLang="en-US" sz="1600" dirty="0">
                <a:cs typeface="+mn-ea"/>
                <a:sym typeface="+mn-lt"/>
              </a:rPr>
              <a:t>对于无字段枚举，</a:t>
            </a:r>
            <a:r>
              <a:rPr lang="en-US" altLang="zh-CN" sz="1600" dirty="0">
                <a:cs typeface="+mn-ea"/>
                <a:sym typeface="+mn-lt"/>
              </a:rPr>
              <a:t>C</a:t>
            </a:r>
            <a:r>
              <a:rPr lang="zh-CN" altLang="en-US" sz="1600" dirty="0">
                <a:cs typeface="+mn-ea"/>
                <a:sym typeface="+mn-lt"/>
              </a:rPr>
              <a:t>表示形式的大小和对齐量与目标平台的 </a:t>
            </a:r>
            <a:r>
              <a:rPr lang="en-US" altLang="zh-CN" sz="1600" dirty="0">
                <a:cs typeface="+mn-ea"/>
                <a:sym typeface="+mn-lt"/>
              </a:rPr>
              <a:t>C ABI </a:t>
            </a:r>
            <a:r>
              <a:rPr lang="zh-CN" altLang="en-US" sz="1600" dirty="0">
                <a:cs typeface="+mn-ea"/>
                <a:sym typeface="+mn-lt"/>
              </a:rPr>
              <a:t>的默认枚举尺寸和对齐量相同；</a:t>
            </a:r>
            <a:endParaRPr lang="en-US" altLang="zh-CN" sz="1600" dirty="0">
              <a:cs typeface="+mn-ea"/>
              <a:sym typeface="+mn-lt"/>
            </a:endParaRPr>
          </a:p>
          <a:p>
            <a:pPr marL="342900" indent="-342900">
              <a:lnSpc>
                <a:spcPct val="150000"/>
              </a:lnSpc>
              <a:buFont typeface="+mj-lt"/>
              <a:buAutoNum type="arabicPeriod"/>
            </a:pPr>
            <a:r>
              <a:rPr lang="zh-CN" altLang="en-US" sz="1600" dirty="0">
                <a:cs typeface="+mn-ea"/>
                <a:sym typeface="+mn-lt"/>
              </a:rPr>
              <a:t>带字段的 </a:t>
            </a:r>
            <a:r>
              <a:rPr lang="en-US" altLang="zh-CN" sz="1600" dirty="0" err="1">
                <a:cs typeface="+mn-ea"/>
                <a:sym typeface="+mn-lt"/>
              </a:rPr>
              <a:t>repr</a:t>
            </a:r>
            <a:r>
              <a:rPr lang="en-US" altLang="zh-CN" sz="1600" dirty="0">
                <a:cs typeface="+mn-ea"/>
                <a:sym typeface="+mn-lt"/>
              </a:rPr>
              <a:t>(C) </a:t>
            </a:r>
            <a:r>
              <a:rPr lang="zh-CN" altLang="en-US" sz="1600" dirty="0">
                <a:cs typeface="+mn-ea"/>
                <a:sym typeface="+mn-lt"/>
              </a:rPr>
              <a:t>枚举的表示形式其实等效于一个带两个字段的 </a:t>
            </a:r>
            <a:r>
              <a:rPr lang="en-US" altLang="zh-CN" sz="1600" dirty="0" err="1">
                <a:cs typeface="+mn-ea"/>
                <a:sym typeface="+mn-lt"/>
              </a:rPr>
              <a:t>repr</a:t>
            </a:r>
            <a:r>
              <a:rPr lang="en-US" altLang="zh-CN" sz="1600" dirty="0">
                <a:cs typeface="+mn-ea"/>
                <a:sym typeface="+mn-lt"/>
              </a:rPr>
              <a:t>(C) </a:t>
            </a:r>
            <a:r>
              <a:rPr lang="zh-CN" altLang="en-US" sz="1600" dirty="0">
                <a:cs typeface="+mn-ea"/>
                <a:sym typeface="+mn-lt"/>
              </a:rPr>
              <a:t>结构体。这两个字段：</a:t>
            </a:r>
          </a:p>
          <a:p>
            <a:pPr marL="742950" lvl="1" indent="-285750">
              <a:lnSpc>
                <a:spcPct val="150000"/>
              </a:lnSpc>
              <a:buFont typeface="Arial" panose="020B0604020202020204" pitchFamily="34" charset="0"/>
              <a:buChar char="•"/>
            </a:pPr>
            <a:r>
              <a:rPr lang="zh-CN" altLang="en-US" sz="1600" dirty="0">
                <a:cs typeface="+mn-ea"/>
                <a:sym typeface="+mn-lt"/>
              </a:rPr>
              <a:t>一个为 </a:t>
            </a:r>
            <a:r>
              <a:rPr lang="en-US" altLang="zh-CN" sz="1600" dirty="0" err="1">
                <a:cs typeface="+mn-ea"/>
                <a:sym typeface="+mn-lt"/>
              </a:rPr>
              <a:t>repr</a:t>
            </a:r>
            <a:r>
              <a:rPr lang="en-US" altLang="zh-CN" sz="1600" dirty="0">
                <a:cs typeface="+mn-ea"/>
                <a:sym typeface="+mn-lt"/>
              </a:rPr>
              <a:t>(C)</a:t>
            </a:r>
            <a:r>
              <a:rPr lang="zh-CN" altLang="en-US" sz="1600" dirty="0">
                <a:cs typeface="+mn-ea"/>
                <a:sym typeface="+mn-lt"/>
              </a:rPr>
              <a:t>表示形式的枚举，它就是原枚举所有的判别值组合成的新枚举；</a:t>
            </a:r>
          </a:p>
          <a:p>
            <a:pPr marL="742950" lvl="1" indent="-285750">
              <a:lnSpc>
                <a:spcPct val="150000"/>
              </a:lnSpc>
              <a:buFont typeface="Arial" panose="020B0604020202020204" pitchFamily="34" charset="0"/>
              <a:buChar char="•"/>
            </a:pPr>
            <a:r>
              <a:rPr lang="zh-CN" altLang="en-US" sz="1600" dirty="0">
                <a:cs typeface="+mn-ea"/>
                <a:sym typeface="+mn-lt"/>
              </a:rPr>
              <a:t>一个为 </a:t>
            </a:r>
            <a:r>
              <a:rPr lang="en-US" altLang="zh-CN" sz="1600" dirty="0" err="1">
                <a:cs typeface="+mn-ea"/>
                <a:sym typeface="+mn-lt"/>
              </a:rPr>
              <a:t>repr</a:t>
            </a:r>
            <a:r>
              <a:rPr lang="en-US" altLang="zh-CN" sz="1600" dirty="0">
                <a:cs typeface="+mn-ea"/>
                <a:sym typeface="+mn-lt"/>
              </a:rPr>
              <a:t>(C)</a:t>
            </a:r>
            <a:r>
              <a:rPr lang="zh-CN" altLang="en-US" sz="1600" dirty="0">
                <a:cs typeface="+mn-ea"/>
                <a:sym typeface="+mn-lt"/>
              </a:rPr>
              <a:t>表示形式的union，它的各个字段就是原枚举的各个变体把自己下面的字段重新组合成的 </a:t>
            </a:r>
            <a:r>
              <a:rPr lang="en-US" altLang="zh-CN" sz="1600" dirty="0" err="1">
                <a:cs typeface="+mn-ea"/>
                <a:sym typeface="+mn-lt"/>
              </a:rPr>
              <a:t>repr</a:t>
            </a:r>
            <a:r>
              <a:rPr lang="en-US" altLang="zh-CN" sz="1600" dirty="0">
                <a:cs typeface="+mn-ea"/>
                <a:sym typeface="+mn-lt"/>
              </a:rPr>
              <a:t>(C)</a:t>
            </a:r>
            <a:r>
              <a:rPr lang="zh-CN" altLang="en-US" sz="1600" dirty="0">
                <a:cs typeface="+mn-ea"/>
                <a:sym typeface="+mn-lt"/>
              </a:rPr>
              <a:t>表示形式的结构体；</a:t>
            </a:r>
          </a:p>
        </p:txBody>
      </p:sp>
      <p:sp>
        <p:nvSpPr>
          <p:cNvPr id="9" name="文本框 8"/>
          <p:cNvSpPr txBox="1"/>
          <p:nvPr/>
        </p:nvSpPr>
        <p:spPr>
          <a:xfrm>
            <a:off x="4354883" y="851069"/>
            <a:ext cx="2239654" cy="1572735"/>
          </a:xfrm>
          <a:prstGeom prst="rect">
            <a:avLst/>
          </a:prstGeom>
          <a:solidFill>
            <a:schemeClr val="tx1"/>
          </a:solidFill>
        </p:spPr>
        <p:style>
          <a:lnRef idx="2">
            <a:schemeClr val="dk1"/>
          </a:lnRef>
          <a:fillRef idx="1">
            <a:schemeClr val="lt1"/>
          </a:fillRef>
          <a:effectRef idx="0">
            <a:schemeClr val="dk1"/>
          </a:effectRef>
          <a:fontRef idx="minor">
            <a:schemeClr val="dk1"/>
          </a:fontRef>
        </p:style>
        <p:txBody>
          <a:bodyPr vert="horz" wrap="square" rtlCol="0">
            <a:noAutofit/>
          </a:bodyPr>
          <a:lstStyle/>
          <a:p>
            <a:r>
              <a:rPr lang="en-US" altLang="zh-CN" sz="1200" dirty="0">
                <a:solidFill>
                  <a:srgbClr val="FFFFFF"/>
                </a:solidFill>
                <a:cs typeface="+mn-ea"/>
                <a:sym typeface="+mn-lt"/>
              </a:rPr>
              <a:t>// </a:t>
            </a:r>
            <a:r>
              <a:rPr lang="zh-CN" altLang="en-US" sz="1200" b="1" dirty="0">
                <a:solidFill>
                  <a:srgbClr val="00B050"/>
                </a:solidFill>
                <a:cs typeface="+mn-ea"/>
                <a:sym typeface="+mn-lt"/>
              </a:rPr>
              <a:t>代码示例</a:t>
            </a:r>
            <a:endParaRPr lang="en-US" altLang="zh-CN" sz="1200" b="1" dirty="0">
              <a:solidFill>
                <a:srgbClr val="00B050"/>
              </a:solidFill>
              <a:cs typeface="+mn-ea"/>
              <a:sym typeface="+mn-lt"/>
            </a:endParaRPr>
          </a:p>
          <a:p>
            <a:r>
              <a:rPr lang="en-US" altLang="zh-CN" sz="1200" dirty="0">
                <a:solidFill>
                  <a:srgbClr val="ABB2BF"/>
                </a:solidFill>
                <a:cs typeface="+mn-ea"/>
                <a:sym typeface="+mn-lt"/>
              </a:rPr>
              <a:t>#[</a:t>
            </a:r>
            <a:r>
              <a:rPr lang="en-US" altLang="zh-CN" sz="1200" dirty="0" err="1">
                <a:solidFill>
                  <a:srgbClr val="ABB2BF"/>
                </a:solidFill>
                <a:cs typeface="+mn-ea"/>
                <a:sym typeface="+mn-lt"/>
              </a:rPr>
              <a:t>repr</a:t>
            </a:r>
            <a:r>
              <a:rPr lang="en-US" altLang="zh-CN" sz="1200" dirty="0">
                <a:solidFill>
                  <a:srgbClr val="ABB2BF"/>
                </a:solidFill>
                <a:cs typeface="+mn-ea"/>
                <a:sym typeface="+mn-lt"/>
              </a:rPr>
              <a:t>(</a:t>
            </a:r>
            <a:r>
              <a:rPr lang="en-US" altLang="zh-CN" sz="1200" dirty="0">
                <a:solidFill>
                  <a:srgbClr val="E5C07B"/>
                </a:solidFill>
                <a:cs typeface="+mn-ea"/>
                <a:sym typeface="+mn-lt"/>
              </a:rPr>
              <a:t>C</a:t>
            </a:r>
            <a:r>
              <a:rPr lang="en-US" altLang="zh-CN" sz="1200" dirty="0">
                <a:solidFill>
                  <a:srgbClr val="ABB2BF"/>
                </a:solidFill>
                <a:cs typeface="+mn-ea"/>
                <a:sym typeface="+mn-lt"/>
              </a:rPr>
              <a:t>)]</a:t>
            </a:r>
          </a:p>
          <a:p>
            <a:r>
              <a:rPr lang="en-US" altLang="zh-CN" sz="1200" dirty="0" err="1">
                <a:solidFill>
                  <a:srgbClr val="C678DD"/>
                </a:solidFill>
                <a:cs typeface="+mn-ea"/>
                <a:sym typeface="+mn-lt"/>
              </a:rPr>
              <a:t>enum</a:t>
            </a:r>
            <a:r>
              <a:rPr lang="en-US" altLang="zh-CN" sz="1200" dirty="0">
                <a:solidFill>
                  <a:srgbClr val="ABB2BF"/>
                </a:solidFill>
                <a:cs typeface="+mn-ea"/>
                <a:sym typeface="+mn-lt"/>
              </a:rPr>
              <a:t> </a:t>
            </a:r>
            <a:r>
              <a:rPr lang="en-US" altLang="zh-CN" sz="1200" dirty="0" err="1">
                <a:solidFill>
                  <a:srgbClr val="E5C07B"/>
                </a:solidFill>
                <a:cs typeface="+mn-ea"/>
                <a:sym typeface="+mn-lt"/>
              </a:rPr>
              <a:t>MyEnum</a:t>
            </a:r>
            <a:r>
              <a:rPr lang="en-US" altLang="zh-CN" sz="1200" dirty="0">
                <a:solidFill>
                  <a:srgbClr val="ABB2BF"/>
                </a:solidFill>
                <a:cs typeface="+mn-ea"/>
                <a:sym typeface="+mn-lt"/>
              </a:rPr>
              <a:t> {</a:t>
            </a:r>
          </a:p>
          <a:p>
            <a:r>
              <a:rPr lang="en-US" altLang="zh-CN" sz="1200" dirty="0">
                <a:solidFill>
                  <a:srgbClr val="ABB2BF"/>
                </a:solidFill>
                <a:cs typeface="+mn-ea"/>
                <a:sym typeface="+mn-lt"/>
              </a:rPr>
              <a:t>    </a:t>
            </a:r>
            <a:r>
              <a:rPr lang="en-US" altLang="zh-CN" sz="1200" dirty="0">
                <a:solidFill>
                  <a:srgbClr val="61AFEF"/>
                </a:solidFill>
                <a:cs typeface="+mn-ea"/>
                <a:sym typeface="+mn-lt"/>
              </a:rPr>
              <a:t>A</a:t>
            </a:r>
            <a:r>
              <a:rPr lang="en-US" altLang="zh-CN" sz="1200" dirty="0">
                <a:solidFill>
                  <a:srgbClr val="ABB2BF"/>
                </a:solidFill>
                <a:cs typeface="+mn-ea"/>
                <a:sym typeface="+mn-lt"/>
              </a:rPr>
              <a:t>(</a:t>
            </a:r>
            <a:r>
              <a:rPr lang="en-US" altLang="zh-CN" sz="1200" dirty="0">
                <a:solidFill>
                  <a:srgbClr val="E5C07B"/>
                </a:solidFill>
                <a:cs typeface="+mn-ea"/>
                <a:sym typeface="+mn-lt"/>
              </a:rPr>
              <a:t>u32</a:t>
            </a:r>
            <a:r>
              <a:rPr lang="en-US" altLang="zh-CN" sz="1200" dirty="0">
                <a:solidFill>
                  <a:srgbClr val="ABB2BF"/>
                </a:solidFill>
                <a:cs typeface="+mn-ea"/>
                <a:sym typeface="+mn-lt"/>
              </a:rPr>
              <a:t>),</a:t>
            </a:r>
          </a:p>
          <a:p>
            <a:r>
              <a:rPr lang="en-US" altLang="zh-CN" sz="1200" dirty="0">
                <a:solidFill>
                  <a:srgbClr val="ABB2BF"/>
                </a:solidFill>
                <a:cs typeface="+mn-ea"/>
                <a:sym typeface="+mn-lt"/>
              </a:rPr>
              <a:t>    </a:t>
            </a:r>
            <a:r>
              <a:rPr lang="en-US" altLang="zh-CN" sz="1200" dirty="0">
                <a:solidFill>
                  <a:srgbClr val="61AFEF"/>
                </a:solidFill>
                <a:cs typeface="+mn-ea"/>
                <a:sym typeface="+mn-lt"/>
              </a:rPr>
              <a:t>B</a:t>
            </a:r>
            <a:r>
              <a:rPr lang="en-US" altLang="zh-CN" sz="1200" dirty="0">
                <a:solidFill>
                  <a:srgbClr val="ABB2BF"/>
                </a:solidFill>
                <a:cs typeface="+mn-ea"/>
                <a:sym typeface="+mn-lt"/>
              </a:rPr>
              <a:t>(</a:t>
            </a:r>
            <a:r>
              <a:rPr lang="en-US" altLang="zh-CN" sz="1200" dirty="0">
                <a:solidFill>
                  <a:srgbClr val="E5C07B"/>
                </a:solidFill>
                <a:cs typeface="+mn-ea"/>
                <a:sym typeface="+mn-lt"/>
              </a:rPr>
              <a:t>f32</a:t>
            </a:r>
            <a:r>
              <a:rPr lang="en-US" altLang="zh-CN" sz="1200" dirty="0">
                <a:solidFill>
                  <a:srgbClr val="ABB2BF"/>
                </a:solidFill>
                <a:cs typeface="+mn-ea"/>
                <a:sym typeface="+mn-lt"/>
              </a:rPr>
              <a:t>, </a:t>
            </a:r>
            <a:r>
              <a:rPr lang="en-US" altLang="zh-CN" sz="1200" dirty="0">
                <a:solidFill>
                  <a:srgbClr val="E5C07B"/>
                </a:solidFill>
                <a:cs typeface="+mn-ea"/>
                <a:sym typeface="+mn-lt"/>
              </a:rPr>
              <a:t>u64</a:t>
            </a:r>
            <a:r>
              <a:rPr lang="en-US" altLang="zh-CN" sz="1200" dirty="0">
                <a:solidFill>
                  <a:srgbClr val="ABB2BF"/>
                </a:solidFill>
                <a:cs typeface="+mn-ea"/>
                <a:sym typeface="+mn-lt"/>
              </a:rPr>
              <a:t>),</a:t>
            </a:r>
          </a:p>
          <a:p>
            <a:r>
              <a:rPr lang="en-US" altLang="zh-CN" sz="1200" dirty="0">
                <a:solidFill>
                  <a:srgbClr val="ABB2BF"/>
                </a:solidFill>
                <a:cs typeface="+mn-ea"/>
                <a:sym typeface="+mn-lt"/>
              </a:rPr>
              <a:t>    </a:t>
            </a:r>
            <a:r>
              <a:rPr lang="en-US" altLang="zh-CN" sz="1200" dirty="0">
                <a:solidFill>
                  <a:srgbClr val="E5C07B"/>
                </a:solidFill>
                <a:cs typeface="+mn-ea"/>
                <a:sym typeface="+mn-lt"/>
              </a:rPr>
              <a:t>C</a:t>
            </a:r>
            <a:r>
              <a:rPr lang="en-US" altLang="zh-CN" sz="1200" dirty="0">
                <a:solidFill>
                  <a:srgbClr val="ABB2BF"/>
                </a:solidFill>
                <a:cs typeface="+mn-ea"/>
                <a:sym typeface="+mn-lt"/>
              </a:rPr>
              <a:t> { </a:t>
            </a:r>
            <a:r>
              <a:rPr lang="en-US" altLang="zh-CN" sz="1200" dirty="0">
                <a:solidFill>
                  <a:srgbClr val="E06C75"/>
                </a:solidFill>
                <a:cs typeface="+mn-ea"/>
                <a:sym typeface="+mn-lt"/>
              </a:rPr>
              <a:t>x</a:t>
            </a:r>
            <a:r>
              <a:rPr lang="en-US" altLang="zh-CN" sz="1200" dirty="0">
                <a:solidFill>
                  <a:srgbClr val="ABB2BF"/>
                </a:solidFill>
                <a:cs typeface="+mn-ea"/>
                <a:sym typeface="+mn-lt"/>
              </a:rPr>
              <a:t>: </a:t>
            </a:r>
            <a:r>
              <a:rPr lang="en-US" altLang="zh-CN" sz="1200" dirty="0">
                <a:solidFill>
                  <a:srgbClr val="E5C07B"/>
                </a:solidFill>
                <a:cs typeface="+mn-ea"/>
                <a:sym typeface="+mn-lt"/>
              </a:rPr>
              <a:t>u32</a:t>
            </a:r>
            <a:r>
              <a:rPr lang="en-US" altLang="zh-CN" sz="1200" dirty="0">
                <a:solidFill>
                  <a:srgbClr val="ABB2BF"/>
                </a:solidFill>
                <a:cs typeface="+mn-ea"/>
                <a:sym typeface="+mn-lt"/>
              </a:rPr>
              <a:t>, </a:t>
            </a:r>
            <a:r>
              <a:rPr lang="en-US" altLang="zh-CN" sz="1200" dirty="0">
                <a:solidFill>
                  <a:srgbClr val="E06C75"/>
                </a:solidFill>
                <a:cs typeface="+mn-ea"/>
                <a:sym typeface="+mn-lt"/>
              </a:rPr>
              <a:t>y</a:t>
            </a:r>
            <a:r>
              <a:rPr lang="en-US" altLang="zh-CN" sz="1200" dirty="0">
                <a:solidFill>
                  <a:srgbClr val="ABB2BF"/>
                </a:solidFill>
                <a:cs typeface="+mn-ea"/>
                <a:sym typeface="+mn-lt"/>
              </a:rPr>
              <a:t>: </a:t>
            </a:r>
            <a:r>
              <a:rPr lang="en-US" altLang="zh-CN" sz="1200" dirty="0">
                <a:solidFill>
                  <a:srgbClr val="E5C07B"/>
                </a:solidFill>
                <a:cs typeface="+mn-ea"/>
                <a:sym typeface="+mn-lt"/>
              </a:rPr>
              <a:t>u8</a:t>
            </a:r>
            <a:r>
              <a:rPr lang="en-US" altLang="zh-CN" sz="1200" dirty="0">
                <a:solidFill>
                  <a:srgbClr val="ABB2BF"/>
                </a:solidFill>
                <a:cs typeface="+mn-ea"/>
                <a:sym typeface="+mn-lt"/>
              </a:rPr>
              <a:t> },</a:t>
            </a:r>
          </a:p>
          <a:p>
            <a:r>
              <a:rPr lang="en-US" altLang="zh-CN" sz="1200" dirty="0">
                <a:solidFill>
                  <a:srgbClr val="ABB2BF"/>
                </a:solidFill>
                <a:cs typeface="+mn-ea"/>
                <a:sym typeface="+mn-lt"/>
              </a:rPr>
              <a:t>    </a:t>
            </a:r>
            <a:r>
              <a:rPr lang="en-US" altLang="zh-CN" sz="1200" dirty="0">
                <a:solidFill>
                  <a:srgbClr val="E5C07B"/>
                </a:solidFill>
                <a:cs typeface="+mn-ea"/>
                <a:sym typeface="+mn-lt"/>
              </a:rPr>
              <a:t>D</a:t>
            </a:r>
            <a:r>
              <a:rPr lang="en-US" altLang="zh-CN" sz="1200" dirty="0">
                <a:solidFill>
                  <a:srgbClr val="ABB2BF"/>
                </a:solidFill>
                <a:cs typeface="+mn-ea"/>
                <a:sym typeface="+mn-lt"/>
              </a:rPr>
              <a:t>,</a:t>
            </a:r>
          </a:p>
          <a:p>
            <a:r>
              <a:rPr lang="en-US" altLang="zh-CN" sz="1200" dirty="0">
                <a:solidFill>
                  <a:srgbClr val="ABB2BF"/>
                </a:solidFill>
                <a:cs typeface="+mn-ea"/>
                <a:sym typeface="+mn-lt"/>
              </a:rPr>
              <a:t>}</a:t>
            </a:r>
            <a:endParaRPr lang="en-US" altLang="zh-CN" sz="1200" b="0" dirty="0">
              <a:solidFill>
                <a:srgbClr val="ABB2BF"/>
              </a:solidFill>
              <a:effectLst/>
              <a:cs typeface="+mn-ea"/>
              <a:sym typeface="+mn-lt"/>
            </a:endParaRPr>
          </a:p>
        </p:txBody>
      </p:sp>
      <p:sp>
        <p:nvSpPr>
          <p:cNvPr id="8" name="文本框 7"/>
          <p:cNvSpPr txBox="1"/>
          <p:nvPr/>
        </p:nvSpPr>
        <p:spPr>
          <a:xfrm>
            <a:off x="7803114" y="1044894"/>
            <a:ext cx="3323305" cy="1200329"/>
          </a:xfrm>
          <a:prstGeom prst="rect">
            <a:avLst/>
          </a:prstGeom>
          <a:solidFill>
            <a:schemeClr val="tx1"/>
          </a:solidFill>
        </p:spPr>
        <p:style>
          <a:lnRef idx="2">
            <a:schemeClr val="dk1"/>
          </a:lnRef>
          <a:fillRef idx="1">
            <a:schemeClr val="lt1"/>
          </a:fillRef>
          <a:effectRef idx="0">
            <a:schemeClr val="dk1"/>
          </a:effectRef>
          <a:fontRef idx="minor">
            <a:schemeClr val="dk1"/>
          </a:fontRef>
        </p:style>
        <p:txBody>
          <a:bodyPr vert="horz" wrap="square" rtlCol="0">
            <a:spAutoFit/>
          </a:bodyPr>
          <a:lstStyle/>
          <a:p>
            <a:r>
              <a:rPr lang="zh-CN" sz="1200" b="0" i="1" u="none" dirty="0">
                <a:solidFill>
                  <a:srgbClr val="7F848E"/>
                </a:solidFill>
                <a:cs typeface="+mn-ea"/>
                <a:sym typeface="+mn-lt"/>
              </a:rPr>
              <a:t>// </a:t>
            </a:r>
            <a:r>
              <a:rPr lang="zh-CN" altLang="en-US" sz="1200" b="0" i="1" u="none" dirty="0">
                <a:solidFill>
                  <a:srgbClr val="7F848E"/>
                </a:solidFill>
                <a:cs typeface="+mn-ea"/>
                <a:sym typeface="+mn-lt"/>
              </a:rPr>
              <a:t>左</a:t>
            </a:r>
            <a:r>
              <a:rPr lang="zh-CN" sz="1200" b="0" i="1" u="none" dirty="0">
                <a:solidFill>
                  <a:srgbClr val="7F848E"/>
                </a:solidFill>
                <a:cs typeface="+mn-ea"/>
                <a:sym typeface="+mn-lt"/>
              </a:rPr>
              <a:t>面枚举的</a:t>
            </a:r>
            <a:r>
              <a:rPr lang="zh-CN" sz="1200" i="1" dirty="0">
                <a:solidFill>
                  <a:srgbClr val="7F848E"/>
                </a:solidFill>
                <a:cs typeface="+mn-ea"/>
                <a:sym typeface="+mn-lt"/>
              </a:rPr>
              <a:t>表示形式</a:t>
            </a:r>
            <a:r>
              <a:rPr lang="zh-CN" sz="1200" b="0" i="1" u="none" dirty="0">
                <a:solidFill>
                  <a:srgbClr val="7F848E"/>
                </a:solidFill>
                <a:cs typeface="+mn-ea"/>
                <a:sym typeface="+mn-lt"/>
              </a:rPr>
              <a:t>等效于这个结构体</a:t>
            </a:r>
            <a:endParaRPr lang="en-US" sz="1200" b="0" u="none" dirty="0">
              <a:solidFill>
                <a:srgbClr val="ABB2BF"/>
              </a:solidFill>
              <a:cs typeface="+mn-ea"/>
              <a:sym typeface="+mn-lt"/>
            </a:endParaRPr>
          </a:p>
          <a:p>
            <a:r>
              <a:rPr lang="en-US" sz="1200" b="0" u="none" dirty="0">
                <a:solidFill>
                  <a:srgbClr val="ABB2BF"/>
                </a:solidFill>
                <a:cs typeface="+mn-ea"/>
                <a:sym typeface="+mn-lt"/>
              </a:rPr>
              <a:t>#[</a:t>
            </a:r>
            <a:r>
              <a:rPr lang="en-US" sz="1200" b="0" u="none" dirty="0" err="1">
                <a:solidFill>
                  <a:srgbClr val="ABB2BF"/>
                </a:solidFill>
                <a:cs typeface="+mn-ea"/>
                <a:sym typeface="+mn-lt"/>
              </a:rPr>
              <a:t>repr</a:t>
            </a:r>
            <a:r>
              <a:rPr lang="en-US" sz="1200" b="0" u="none" dirty="0">
                <a:solidFill>
                  <a:srgbClr val="ABB2BF"/>
                </a:solidFill>
                <a:cs typeface="+mn-ea"/>
                <a:sym typeface="+mn-lt"/>
              </a:rPr>
              <a:t>(</a:t>
            </a:r>
            <a:r>
              <a:rPr lang="en-US" sz="1200" b="0" u="none" dirty="0">
                <a:solidFill>
                  <a:srgbClr val="E5C07B"/>
                </a:solidFill>
                <a:cs typeface="+mn-ea"/>
                <a:sym typeface="+mn-lt"/>
              </a:rPr>
              <a:t>C</a:t>
            </a:r>
            <a:r>
              <a:rPr lang="en-US" sz="1200" b="0" u="none" dirty="0">
                <a:solidFill>
                  <a:srgbClr val="ABB2BF"/>
                </a:solidFill>
                <a:cs typeface="+mn-ea"/>
                <a:sym typeface="+mn-lt"/>
              </a:rPr>
              <a:t>)]</a:t>
            </a:r>
            <a:endParaRPr lang="en-US" sz="1200" b="0" u="none" dirty="0">
              <a:solidFill>
                <a:srgbClr val="C678DD"/>
              </a:solidFill>
              <a:cs typeface="+mn-ea"/>
              <a:sym typeface="+mn-lt"/>
            </a:endParaRPr>
          </a:p>
          <a:p>
            <a:r>
              <a:rPr lang="en-US" sz="1200" b="0" u="none" dirty="0">
                <a:solidFill>
                  <a:srgbClr val="C678DD"/>
                </a:solidFill>
                <a:cs typeface="+mn-ea"/>
                <a:sym typeface="+mn-lt"/>
              </a:rPr>
              <a:t>struct</a:t>
            </a:r>
            <a:r>
              <a:rPr lang="en-US" sz="1200" b="0" u="none" dirty="0">
                <a:solidFill>
                  <a:srgbClr val="ABB2BF"/>
                </a:solidFill>
                <a:cs typeface="+mn-ea"/>
                <a:sym typeface="+mn-lt"/>
              </a:rPr>
              <a:t> </a:t>
            </a:r>
            <a:r>
              <a:rPr lang="en-US" sz="1200" b="0" u="none" dirty="0" err="1">
                <a:solidFill>
                  <a:srgbClr val="E5C07B"/>
                </a:solidFill>
                <a:cs typeface="+mn-ea"/>
                <a:sym typeface="+mn-lt"/>
              </a:rPr>
              <a:t>MyEnumRepr</a:t>
            </a:r>
            <a:r>
              <a:rPr lang="en-US" sz="1200" b="0" u="none" dirty="0">
                <a:solidFill>
                  <a:srgbClr val="ABB2BF"/>
                </a:solidFill>
                <a:cs typeface="+mn-ea"/>
                <a:sym typeface="+mn-lt"/>
              </a:rPr>
              <a:t> {</a:t>
            </a:r>
          </a:p>
          <a:p>
            <a:r>
              <a:rPr lang="en-US" sz="1200" b="0" u="none" dirty="0">
                <a:solidFill>
                  <a:srgbClr val="ABB2BF"/>
                </a:solidFill>
                <a:cs typeface="+mn-ea"/>
                <a:sym typeface="+mn-lt"/>
              </a:rPr>
              <a:t>    </a:t>
            </a:r>
            <a:r>
              <a:rPr lang="en-US" sz="1200" b="0" u="none" dirty="0">
                <a:solidFill>
                  <a:srgbClr val="E06C75"/>
                </a:solidFill>
                <a:cs typeface="+mn-ea"/>
                <a:sym typeface="+mn-lt"/>
              </a:rPr>
              <a:t>tag</a:t>
            </a:r>
            <a:r>
              <a:rPr lang="en-US" sz="1200" b="0" u="none" dirty="0">
                <a:solidFill>
                  <a:srgbClr val="ABB2BF"/>
                </a:solidFill>
                <a:cs typeface="+mn-ea"/>
                <a:sym typeface="+mn-lt"/>
              </a:rPr>
              <a:t>: </a:t>
            </a:r>
            <a:r>
              <a:rPr lang="en-US" sz="1200" b="0" u="none" dirty="0" err="1">
                <a:solidFill>
                  <a:srgbClr val="E5C07B"/>
                </a:solidFill>
                <a:cs typeface="+mn-ea"/>
                <a:sym typeface="+mn-lt"/>
              </a:rPr>
              <a:t>MyEnumDiscriminant</a:t>
            </a:r>
            <a:r>
              <a:rPr lang="en-US" sz="1200" b="0" u="none" dirty="0">
                <a:solidFill>
                  <a:srgbClr val="ABB2BF"/>
                </a:solidFill>
                <a:cs typeface="+mn-ea"/>
                <a:sym typeface="+mn-lt"/>
              </a:rPr>
              <a:t>,</a:t>
            </a:r>
          </a:p>
          <a:p>
            <a:r>
              <a:rPr lang="en-US" sz="1200" b="0" u="none" dirty="0">
                <a:solidFill>
                  <a:srgbClr val="ABB2BF"/>
                </a:solidFill>
                <a:cs typeface="+mn-ea"/>
                <a:sym typeface="+mn-lt"/>
              </a:rPr>
              <a:t>    </a:t>
            </a:r>
            <a:r>
              <a:rPr lang="en-US" sz="1200" b="0" u="none" dirty="0">
                <a:solidFill>
                  <a:srgbClr val="E06C75"/>
                </a:solidFill>
                <a:cs typeface="+mn-ea"/>
                <a:sym typeface="+mn-lt"/>
              </a:rPr>
              <a:t>payload</a:t>
            </a:r>
            <a:r>
              <a:rPr lang="en-US" sz="1200" b="0" u="none" dirty="0">
                <a:solidFill>
                  <a:srgbClr val="ABB2BF"/>
                </a:solidFill>
                <a:cs typeface="+mn-ea"/>
                <a:sym typeface="+mn-lt"/>
              </a:rPr>
              <a:t>: </a:t>
            </a:r>
            <a:r>
              <a:rPr lang="en-US" sz="1200" b="0" u="none" dirty="0" err="1">
                <a:solidFill>
                  <a:srgbClr val="E5C07B"/>
                </a:solidFill>
                <a:cs typeface="+mn-ea"/>
                <a:sym typeface="+mn-lt"/>
              </a:rPr>
              <a:t>MyEnumFields</a:t>
            </a:r>
            <a:r>
              <a:rPr lang="en-US" sz="1200" b="0" u="none" dirty="0">
                <a:solidFill>
                  <a:srgbClr val="ABB2BF"/>
                </a:solidFill>
                <a:cs typeface="+mn-ea"/>
                <a:sym typeface="+mn-lt"/>
              </a:rPr>
              <a:t>,</a:t>
            </a:r>
          </a:p>
          <a:p>
            <a:r>
              <a:rPr lang="en-US" sz="1200" b="0" u="none" dirty="0">
                <a:solidFill>
                  <a:srgbClr val="ABB2BF"/>
                </a:solidFill>
                <a:cs typeface="+mn-ea"/>
                <a:sym typeface="+mn-lt"/>
              </a:rPr>
              <a:t>} </a:t>
            </a:r>
            <a:endParaRPr lang="en-US" altLang="zh-CN" sz="1200" b="0" u="none" dirty="0">
              <a:solidFill>
                <a:srgbClr val="ABB2BF"/>
              </a:solidFill>
              <a:effectLst/>
              <a:cs typeface="+mn-ea"/>
              <a:sym typeface="+mn-lt"/>
            </a:endParaRPr>
          </a:p>
        </p:txBody>
      </p:sp>
      <p:sp>
        <p:nvSpPr>
          <p:cNvPr id="25" name="右箭头 24"/>
          <p:cNvSpPr/>
          <p:nvPr/>
        </p:nvSpPr>
        <p:spPr>
          <a:xfrm>
            <a:off x="6846950" y="1395440"/>
            <a:ext cx="353085" cy="489432"/>
          </a:xfrm>
          <a:prstGeom prst="rightArrow">
            <a:avLst/>
          </a:prstGeom>
          <a:solidFill>
            <a:schemeClr val="accent3"/>
          </a:solidFill>
          <a:ln>
            <a:solidFill>
              <a:srgbClr val="15151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 name="文本框 1"/>
          <p:cNvSpPr txBox="1"/>
          <p:nvPr/>
        </p:nvSpPr>
        <p:spPr>
          <a:xfrm>
            <a:off x="4295186" y="2973571"/>
            <a:ext cx="2894105" cy="1568450"/>
          </a:xfrm>
          <a:prstGeom prst="rect">
            <a:avLst/>
          </a:prstGeom>
          <a:solidFill>
            <a:schemeClr val="tx1"/>
          </a:solidFill>
        </p:spPr>
        <p:style>
          <a:lnRef idx="2">
            <a:schemeClr val="dk1"/>
          </a:lnRef>
          <a:fillRef idx="1">
            <a:schemeClr val="lt1"/>
          </a:fillRef>
          <a:effectRef idx="0">
            <a:schemeClr val="dk1"/>
          </a:effectRef>
          <a:fontRef idx="minor">
            <a:schemeClr val="dk1"/>
          </a:fontRef>
        </p:style>
        <p:txBody>
          <a:bodyPr vert="horz" wrap="square" rtlCol="0">
            <a:spAutoFit/>
          </a:bodyPr>
          <a:lstStyle/>
          <a:p>
            <a:r>
              <a:rPr lang="zh-CN" sz="1200" b="0" i="1" u="none">
                <a:solidFill>
                  <a:srgbClr val="7F848E"/>
                </a:solidFill>
                <a:cs typeface="+mn-ea"/>
                <a:sym typeface="+mn-lt"/>
              </a:rPr>
              <a:t>// 这是原判别式组成的新枚举类型.</a:t>
            </a:r>
            <a:endParaRPr lang="en-US" sz="1200" b="0" u="none">
              <a:solidFill>
                <a:srgbClr val="ABB2BF"/>
              </a:solidFill>
              <a:cs typeface="+mn-ea"/>
              <a:sym typeface="+mn-lt"/>
            </a:endParaRPr>
          </a:p>
          <a:p>
            <a:r>
              <a:rPr lang="en-US" sz="1200" b="0" u="none">
                <a:solidFill>
                  <a:srgbClr val="ABB2BF"/>
                </a:solidFill>
                <a:cs typeface="+mn-ea"/>
                <a:sym typeface="+mn-lt"/>
              </a:rPr>
              <a:t>#[repr(</a:t>
            </a:r>
            <a:r>
              <a:rPr lang="en-US" sz="1200" b="0" u="none">
                <a:solidFill>
                  <a:srgbClr val="E5C07B"/>
                </a:solidFill>
                <a:cs typeface="+mn-ea"/>
                <a:sym typeface="+mn-lt"/>
              </a:rPr>
              <a:t>C</a:t>
            </a:r>
            <a:r>
              <a:rPr lang="en-US" sz="1200" b="0" u="none">
                <a:solidFill>
                  <a:srgbClr val="ABB2BF"/>
                </a:solidFill>
                <a:cs typeface="+mn-ea"/>
                <a:sym typeface="+mn-lt"/>
              </a:rPr>
              <a:t>)]</a:t>
            </a:r>
            <a:endParaRPr lang="en-US" sz="1200" b="0" u="none">
              <a:solidFill>
                <a:srgbClr val="C678DD"/>
              </a:solidFill>
              <a:cs typeface="+mn-ea"/>
              <a:sym typeface="+mn-lt"/>
            </a:endParaRPr>
          </a:p>
          <a:p>
            <a:r>
              <a:rPr lang="en-US" sz="1200" b="0" u="none">
                <a:solidFill>
                  <a:srgbClr val="C678DD"/>
                </a:solidFill>
                <a:cs typeface="+mn-ea"/>
                <a:sym typeface="+mn-lt"/>
              </a:rPr>
              <a:t>enum</a:t>
            </a:r>
            <a:r>
              <a:rPr lang="en-US" sz="1200" b="0" u="none">
                <a:solidFill>
                  <a:srgbClr val="ABB2BF"/>
                </a:solidFill>
                <a:cs typeface="+mn-ea"/>
                <a:sym typeface="+mn-lt"/>
              </a:rPr>
              <a:t> </a:t>
            </a:r>
            <a:r>
              <a:rPr lang="en-US" sz="1200" b="0" u="none">
                <a:solidFill>
                  <a:srgbClr val="E5C07B"/>
                </a:solidFill>
                <a:cs typeface="+mn-ea"/>
                <a:sym typeface="+mn-lt"/>
              </a:rPr>
              <a:t>MyEnumDiscriminant</a:t>
            </a:r>
            <a:r>
              <a:rPr lang="en-US" sz="1200" b="0" u="none">
                <a:solidFill>
                  <a:srgbClr val="ABB2BF"/>
                </a:solidFill>
                <a:cs typeface="+mn-ea"/>
                <a:sym typeface="+mn-lt"/>
              </a:rPr>
              <a:t> {</a:t>
            </a:r>
          </a:p>
          <a:p>
            <a:r>
              <a:rPr lang="en-US" sz="1200" b="0" u="none">
                <a:solidFill>
                  <a:srgbClr val="ABB2BF"/>
                </a:solidFill>
                <a:cs typeface="+mn-ea"/>
                <a:sym typeface="+mn-lt"/>
              </a:rPr>
              <a:t>    </a:t>
            </a:r>
            <a:r>
              <a:rPr lang="en-US" sz="1200" b="0" u="none">
                <a:solidFill>
                  <a:srgbClr val="56B6C2"/>
                </a:solidFill>
                <a:cs typeface="+mn-ea"/>
                <a:sym typeface="+mn-lt"/>
              </a:rPr>
              <a:t>A</a:t>
            </a:r>
            <a:r>
              <a:rPr lang="en-US" sz="1200" b="0" u="none">
                <a:solidFill>
                  <a:srgbClr val="ABB2BF"/>
                </a:solidFill>
                <a:cs typeface="+mn-ea"/>
                <a:sym typeface="+mn-lt"/>
              </a:rPr>
              <a:t>,</a:t>
            </a:r>
          </a:p>
          <a:p>
            <a:r>
              <a:rPr lang="en-US" sz="1200" b="0" u="none">
                <a:solidFill>
                  <a:srgbClr val="ABB2BF"/>
                </a:solidFill>
                <a:cs typeface="+mn-ea"/>
                <a:sym typeface="+mn-lt"/>
              </a:rPr>
              <a:t>    </a:t>
            </a:r>
            <a:r>
              <a:rPr lang="en-US" sz="1200" b="0" u="none">
                <a:solidFill>
                  <a:srgbClr val="56B6C2"/>
                </a:solidFill>
                <a:cs typeface="+mn-ea"/>
                <a:sym typeface="+mn-lt"/>
              </a:rPr>
              <a:t>B</a:t>
            </a:r>
            <a:r>
              <a:rPr lang="en-US" sz="1200" b="0" u="none">
                <a:solidFill>
                  <a:srgbClr val="ABB2BF"/>
                </a:solidFill>
                <a:cs typeface="+mn-ea"/>
                <a:sym typeface="+mn-lt"/>
              </a:rPr>
              <a:t>,</a:t>
            </a:r>
          </a:p>
          <a:p>
            <a:r>
              <a:rPr lang="en-US" sz="1200" b="0" u="none">
                <a:solidFill>
                  <a:srgbClr val="ABB2BF"/>
                </a:solidFill>
                <a:cs typeface="+mn-ea"/>
                <a:sym typeface="+mn-lt"/>
              </a:rPr>
              <a:t>    </a:t>
            </a:r>
            <a:r>
              <a:rPr lang="en-US" sz="1200" b="0" u="none">
                <a:solidFill>
                  <a:srgbClr val="56B6C2"/>
                </a:solidFill>
                <a:cs typeface="+mn-ea"/>
                <a:sym typeface="+mn-lt"/>
              </a:rPr>
              <a:t>C</a:t>
            </a:r>
            <a:r>
              <a:rPr lang="en-US" sz="1200" b="0" u="none">
                <a:solidFill>
                  <a:srgbClr val="ABB2BF"/>
                </a:solidFill>
                <a:cs typeface="+mn-ea"/>
                <a:sym typeface="+mn-lt"/>
              </a:rPr>
              <a:t>,</a:t>
            </a:r>
          </a:p>
          <a:p>
            <a:r>
              <a:rPr lang="en-US" sz="1200" b="0" u="none">
                <a:solidFill>
                  <a:srgbClr val="ABB2BF"/>
                </a:solidFill>
                <a:cs typeface="+mn-ea"/>
                <a:sym typeface="+mn-lt"/>
              </a:rPr>
              <a:t>    </a:t>
            </a:r>
            <a:r>
              <a:rPr lang="en-US" sz="1200" b="0" u="none">
                <a:solidFill>
                  <a:srgbClr val="56B6C2"/>
                </a:solidFill>
                <a:cs typeface="+mn-ea"/>
                <a:sym typeface="+mn-lt"/>
              </a:rPr>
              <a:t>D</a:t>
            </a:r>
            <a:r>
              <a:rPr lang="en-US" sz="1200" b="0" u="none">
                <a:solidFill>
                  <a:srgbClr val="ABB2BF"/>
                </a:solidFill>
                <a:cs typeface="+mn-ea"/>
                <a:sym typeface="+mn-lt"/>
              </a:rPr>
              <a:t>,</a:t>
            </a:r>
          </a:p>
          <a:p>
            <a:r>
              <a:rPr lang="en-US" sz="1200" b="0" u="none">
                <a:solidFill>
                  <a:srgbClr val="ABB2BF"/>
                </a:solidFill>
                <a:cs typeface="+mn-ea"/>
                <a:sym typeface="+mn-lt"/>
              </a:rPr>
              <a:t>} </a:t>
            </a:r>
            <a:endParaRPr lang="en-US" altLang="zh-CN" sz="1200" b="0" u="none">
              <a:solidFill>
                <a:srgbClr val="ABB2BF"/>
              </a:solidFill>
              <a:effectLst/>
              <a:cs typeface="+mn-ea"/>
              <a:sym typeface="+mn-lt"/>
            </a:endParaRPr>
          </a:p>
        </p:txBody>
      </p:sp>
      <p:sp>
        <p:nvSpPr>
          <p:cNvPr id="3" name="文本框 2"/>
          <p:cNvSpPr txBox="1"/>
          <p:nvPr/>
        </p:nvSpPr>
        <p:spPr>
          <a:xfrm>
            <a:off x="4302738" y="4952174"/>
            <a:ext cx="2894105" cy="1568450"/>
          </a:xfrm>
          <a:prstGeom prst="rect">
            <a:avLst/>
          </a:prstGeom>
          <a:solidFill>
            <a:schemeClr val="tx1"/>
          </a:solidFill>
        </p:spPr>
        <p:style>
          <a:lnRef idx="2">
            <a:schemeClr val="dk1"/>
          </a:lnRef>
          <a:fillRef idx="1">
            <a:schemeClr val="lt1"/>
          </a:fillRef>
          <a:effectRef idx="0">
            <a:schemeClr val="dk1"/>
          </a:effectRef>
          <a:fontRef idx="minor">
            <a:schemeClr val="dk1"/>
          </a:fontRef>
        </p:style>
        <p:txBody>
          <a:bodyPr vert="horz" wrap="square" rtlCol="0">
            <a:spAutoFit/>
          </a:bodyPr>
          <a:lstStyle/>
          <a:p>
            <a:r>
              <a:rPr lang="zh-CN" sz="1200" b="0" i="1" u="none">
                <a:solidFill>
                  <a:srgbClr val="7F848E"/>
                </a:solidFill>
                <a:cs typeface="+mn-ea"/>
                <a:sym typeface="+mn-lt"/>
              </a:rPr>
              <a:t>// 这是原变体的字段组成的</a:t>
            </a:r>
            <a:r>
              <a:rPr lang="zh-CN" sz="1200" i="1">
                <a:solidFill>
                  <a:srgbClr val="7F848E"/>
                </a:solidFill>
                <a:cs typeface="+mn-ea"/>
                <a:sym typeface="+mn-lt"/>
              </a:rPr>
              <a:t>union</a:t>
            </a:r>
            <a:r>
              <a:rPr lang="zh-CN" sz="1200" b="0" i="1" u="none">
                <a:solidFill>
                  <a:srgbClr val="7F848E"/>
                </a:solidFill>
                <a:cs typeface="+mn-ea"/>
                <a:sym typeface="+mn-lt"/>
              </a:rPr>
              <a:t>.</a:t>
            </a:r>
            <a:endParaRPr lang="en-US" sz="1200" b="0" u="none">
              <a:solidFill>
                <a:srgbClr val="ABB2BF"/>
              </a:solidFill>
              <a:cs typeface="+mn-ea"/>
              <a:sym typeface="+mn-lt"/>
            </a:endParaRPr>
          </a:p>
          <a:p>
            <a:r>
              <a:rPr lang="en-US" sz="1200" b="0" u="none">
                <a:solidFill>
                  <a:srgbClr val="ABB2BF"/>
                </a:solidFill>
                <a:cs typeface="+mn-ea"/>
                <a:sym typeface="+mn-lt"/>
              </a:rPr>
              <a:t>#[repr(</a:t>
            </a:r>
            <a:r>
              <a:rPr lang="en-US" sz="1200" b="0" u="none">
                <a:solidFill>
                  <a:srgbClr val="E5C07B"/>
                </a:solidFill>
                <a:cs typeface="+mn-ea"/>
                <a:sym typeface="+mn-lt"/>
              </a:rPr>
              <a:t>C</a:t>
            </a:r>
            <a:r>
              <a:rPr lang="en-US" sz="1200" b="0" u="none">
                <a:solidFill>
                  <a:srgbClr val="ABB2BF"/>
                </a:solidFill>
                <a:cs typeface="+mn-ea"/>
                <a:sym typeface="+mn-lt"/>
              </a:rPr>
              <a:t>)]</a:t>
            </a:r>
            <a:endParaRPr lang="en-US" sz="1200" b="0" u="none">
              <a:solidFill>
                <a:srgbClr val="C678DD"/>
              </a:solidFill>
              <a:cs typeface="+mn-ea"/>
              <a:sym typeface="+mn-lt"/>
            </a:endParaRPr>
          </a:p>
          <a:p>
            <a:r>
              <a:rPr lang="en-US" sz="1200" b="0" u="none">
                <a:solidFill>
                  <a:srgbClr val="C678DD"/>
                </a:solidFill>
                <a:cs typeface="+mn-ea"/>
                <a:sym typeface="+mn-lt"/>
              </a:rPr>
              <a:t>union</a:t>
            </a:r>
            <a:r>
              <a:rPr lang="en-US" sz="1200" b="0" u="none">
                <a:solidFill>
                  <a:srgbClr val="ABB2BF"/>
                </a:solidFill>
                <a:cs typeface="+mn-ea"/>
                <a:sym typeface="+mn-lt"/>
              </a:rPr>
              <a:t> </a:t>
            </a:r>
            <a:r>
              <a:rPr lang="en-US" sz="1200" b="0" u="none">
                <a:solidFill>
                  <a:srgbClr val="E5C07B"/>
                </a:solidFill>
                <a:cs typeface="+mn-ea"/>
                <a:sym typeface="+mn-lt"/>
              </a:rPr>
              <a:t>MyEnumFields</a:t>
            </a:r>
            <a:r>
              <a:rPr lang="en-US" sz="1200" b="0" u="none">
                <a:solidFill>
                  <a:srgbClr val="ABB2BF"/>
                </a:solidFill>
                <a:cs typeface="+mn-ea"/>
                <a:sym typeface="+mn-lt"/>
              </a:rPr>
              <a:t> {</a:t>
            </a:r>
          </a:p>
          <a:p>
            <a:r>
              <a:rPr lang="en-US" sz="1200" b="0" u="none">
                <a:solidFill>
                  <a:srgbClr val="ABB2BF"/>
                </a:solidFill>
                <a:cs typeface="+mn-ea"/>
                <a:sym typeface="+mn-lt"/>
              </a:rPr>
              <a:t>    </a:t>
            </a:r>
            <a:r>
              <a:rPr lang="en-US" sz="1200" b="0" u="none">
                <a:solidFill>
                  <a:srgbClr val="E06C75"/>
                </a:solidFill>
                <a:cs typeface="+mn-ea"/>
                <a:sym typeface="+mn-lt"/>
              </a:rPr>
              <a:t>A</a:t>
            </a:r>
            <a:r>
              <a:rPr lang="en-US" sz="1200" b="0" u="none">
                <a:solidFill>
                  <a:srgbClr val="ABB2BF"/>
                </a:solidFill>
                <a:cs typeface="+mn-ea"/>
                <a:sym typeface="+mn-lt"/>
              </a:rPr>
              <a:t>: </a:t>
            </a:r>
            <a:r>
              <a:rPr lang="en-US" sz="1200" b="0" u="none">
                <a:solidFill>
                  <a:srgbClr val="E5C07B"/>
                </a:solidFill>
                <a:cs typeface="+mn-ea"/>
                <a:sym typeface="+mn-lt"/>
              </a:rPr>
              <a:t>MyAFields</a:t>
            </a:r>
            <a:r>
              <a:rPr lang="en-US" sz="1200" b="0" u="none">
                <a:solidFill>
                  <a:srgbClr val="ABB2BF"/>
                </a:solidFill>
                <a:cs typeface="+mn-ea"/>
                <a:sym typeface="+mn-lt"/>
              </a:rPr>
              <a:t>,</a:t>
            </a:r>
          </a:p>
          <a:p>
            <a:r>
              <a:rPr lang="en-US" sz="1200" b="0" u="none">
                <a:solidFill>
                  <a:srgbClr val="ABB2BF"/>
                </a:solidFill>
                <a:cs typeface="+mn-ea"/>
                <a:sym typeface="+mn-lt"/>
              </a:rPr>
              <a:t>    </a:t>
            </a:r>
            <a:r>
              <a:rPr lang="en-US" sz="1200" b="0" u="none">
                <a:solidFill>
                  <a:srgbClr val="E06C75"/>
                </a:solidFill>
                <a:cs typeface="+mn-ea"/>
                <a:sym typeface="+mn-lt"/>
              </a:rPr>
              <a:t>B</a:t>
            </a:r>
            <a:r>
              <a:rPr lang="en-US" sz="1200" b="0" u="none">
                <a:solidFill>
                  <a:srgbClr val="ABB2BF"/>
                </a:solidFill>
                <a:cs typeface="+mn-ea"/>
                <a:sym typeface="+mn-lt"/>
              </a:rPr>
              <a:t>: </a:t>
            </a:r>
            <a:r>
              <a:rPr lang="en-US" sz="1200" b="0" u="none">
                <a:solidFill>
                  <a:srgbClr val="E5C07B"/>
                </a:solidFill>
                <a:cs typeface="+mn-ea"/>
                <a:sym typeface="+mn-lt"/>
              </a:rPr>
              <a:t>MyBFields</a:t>
            </a:r>
            <a:r>
              <a:rPr lang="en-US" sz="1200" b="0" u="none">
                <a:solidFill>
                  <a:srgbClr val="ABB2BF"/>
                </a:solidFill>
                <a:cs typeface="+mn-ea"/>
                <a:sym typeface="+mn-lt"/>
              </a:rPr>
              <a:t>,</a:t>
            </a:r>
          </a:p>
          <a:p>
            <a:r>
              <a:rPr lang="en-US" sz="1200" b="0" u="none">
                <a:solidFill>
                  <a:srgbClr val="ABB2BF"/>
                </a:solidFill>
                <a:cs typeface="+mn-ea"/>
                <a:sym typeface="+mn-lt"/>
              </a:rPr>
              <a:t>    </a:t>
            </a:r>
            <a:r>
              <a:rPr lang="en-US" sz="1200" b="0" u="none">
                <a:solidFill>
                  <a:srgbClr val="E06C75"/>
                </a:solidFill>
                <a:cs typeface="+mn-ea"/>
                <a:sym typeface="+mn-lt"/>
              </a:rPr>
              <a:t>C</a:t>
            </a:r>
            <a:r>
              <a:rPr lang="en-US" sz="1200" b="0" u="none">
                <a:solidFill>
                  <a:srgbClr val="ABB2BF"/>
                </a:solidFill>
                <a:cs typeface="+mn-ea"/>
                <a:sym typeface="+mn-lt"/>
              </a:rPr>
              <a:t>: </a:t>
            </a:r>
            <a:r>
              <a:rPr lang="en-US" sz="1200" b="0" u="none">
                <a:solidFill>
                  <a:srgbClr val="E5C07B"/>
                </a:solidFill>
                <a:cs typeface="+mn-ea"/>
                <a:sym typeface="+mn-lt"/>
              </a:rPr>
              <a:t>MyCFields</a:t>
            </a:r>
            <a:r>
              <a:rPr lang="en-US" sz="1200" b="0" u="none">
                <a:solidFill>
                  <a:srgbClr val="ABB2BF"/>
                </a:solidFill>
                <a:cs typeface="+mn-ea"/>
                <a:sym typeface="+mn-lt"/>
              </a:rPr>
              <a:t>,</a:t>
            </a:r>
          </a:p>
          <a:p>
            <a:r>
              <a:rPr lang="en-US" sz="1200" b="0" u="none">
                <a:solidFill>
                  <a:srgbClr val="ABB2BF"/>
                </a:solidFill>
                <a:cs typeface="+mn-ea"/>
                <a:sym typeface="+mn-lt"/>
              </a:rPr>
              <a:t>    </a:t>
            </a:r>
            <a:r>
              <a:rPr lang="en-US" sz="1200" b="0" u="none">
                <a:solidFill>
                  <a:srgbClr val="E06C75"/>
                </a:solidFill>
                <a:cs typeface="+mn-ea"/>
                <a:sym typeface="+mn-lt"/>
              </a:rPr>
              <a:t>D</a:t>
            </a:r>
            <a:r>
              <a:rPr lang="en-US" sz="1200" b="0" u="none">
                <a:solidFill>
                  <a:srgbClr val="ABB2BF"/>
                </a:solidFill>
                <a:cs typeface="+mn-ea"/>
                <a:sym typeface="+mn-lt"/>
              </a:rPr>
              <a:t>: </a:t>
            </a:r>
            <a:r>
              <a:rPr lang="en-US" sz="1200" b="0" u="none">
                <a:solidFill>
                  <a:srgbClr val="E5C07B"/>
                </a:solidFill>
                <a:cs typeface="+mn-ea"/>
                <a:sym typeface="+mn-lt"/>
              </a:rPr>
              <a:t>MyDFields</a:t>
            </a:r>
            <a:r>
              <a:rPr lang="en-US" sz="1200" b="0" u="none">
                <a:solidFill>
                  <a:srgbClr val="ABB2BF"/>
                </a:solidFill>
                <a:cs typeface="+mn-ea"/>
                <a:sym typeface="+mn-lt"/>
              </a:rPr>
              <a:t>,</a:t>
            </a:r>
          </a:p>
          <a:p>
            <a:r>
              <a:rPr lang="en-US" sz="1200" b="0" u="none">
                <a:solidFill>
                  <a:srgbClr val="ABB2BF"/>
                </a:solidFill>
                <a:cs typeface="+mn-ea"/>
                <a:sym typeface="+mn-lt"/>
              </a:rPr>
              <a:t>}</a:t>
            </a:r>
            <a:endParaRPr lang="en-US" altLang="zh-CN" sz="1200" b="0" u="none">
              <a:solidFill>
                <a:srgbClr val="ABB2BF"/>
              </a:solidFill>
              <a:effectLst/>
              <a:cs typeface="+mn-ea"/>
              <a:sym typeface="+mn-lt"/>
            </a:endParaRPr>
          </a:p>
        </p:txBody>
      </p:sp>
      <p:cxnSp>
        <p:nvCxnSpPr>
          <p:cNvPr id="5" name="直接箭头连接符 4"/>
          <p:cNvCxnSpPr/>
          <p:nvPr userDrawn="1"/>
        </p:nvCxnSpPr>
        <p:spPr>
          <a:xfrm flipH="1">
            <a:off x="6979011" y="2229389"/>
            <a:ext cx="2209792" cy="806275"/>
          </a:xfrm>
          <a:prstGeom prst="straightConnector1">
            <a:avLst/>
          </a:prstGeom>
          <a:ln w="41275" cap="flat" cmpd="sng" algn="ctr">
            <a:solidFill>
              <a:srgbClr val="FF0000">
                <a:alpha val="100000"/>
              </a:srgbClr>
            </a:solidFill>
            <a:prstDash val="solid"/>
            <a:miter lim="800000"/>
            <a:tailEnd type="arrow"/>
          </a:ln>
        </p:spPr>
        <p:style>
          <a:lnRef idx="1">
            <a:schemeClr val="accent1"/>
          </a:lnRef>
          <a:fillRef idx="0">
            <a:schemeClr val="accent1"/>
          </a:fillRef>
          <a:effectRef idx="0">
            <a:schemeClr val="accent1"/>
          </a:effectRef>
          <a:fontRef idx="minor">
            <a:schemeClr val="tx1"/>
          </a:fontRef>
        </p:style>
      </p:cxnSp>
      <p:cxnSp>
        <p:nvCxnSpPr>
          <p:cNvPr id="6" name="直接箭头连接符 5"/>
          <p:cNvCxnSpPr/>
          <p:nvPr userDrawn="1"/>
        </p:nvCxnSpPr>
        <p:spPr>
          <a:xfrm flipH="1">
            <a:off x="6986563" y="2256849"/>
            <a:ext cx="2179930" cy="2737355"/>
          </a:xfrm>
          <a:prstGeom prst="straightConnector1">
            <a:avLst/>
          </a:prstGeom>
          <a:ln w="41275" cap="flat" cmpd="sng" algn="ctr">
            <a:solidFill>
              <a:srgbClr val="FF0000">
                <a:alpha val="100000"/>
              </a:srgbClr>
            </a:solidFill>
            <a:prstDash val="solid"/>
            <a:miter lim="800000"/>
            <a:tailEnd type="arrow"/>
          </a:ln>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a:off x="8520839" y="3456668"/>
            <a:ext cx="2894105" cy="2861310"/>
          </a:xfrm>
          <a:prstGeom prst="rect">
            <a:avLst/>
          </a:prstGeom>
          <a:solidFill>
            <a:schemeClr val="tx1"/>
          </a:solidFill>
        </p:spPr>
        <p:style>
          <a:lnRef idx="2">
            <a:schemeClr val="dk1"/>
          </a:lnRef>
          <a:fillRef idx="1">
            <a:schemeClr val="lt1"/>
          </a:fillRef>
          <a:effectRef idx="0">
            <a:schemeClr val="dk1"/>
          </a:effectRef>
          <a:fontRef idx="minor">
            <a:schemeClr val="dk1"/>
          </a:fontRef>
        </p:style>
        <p:txBody>
          <a:bodyPr vert="horz" wrap="square" rtlCol="0">
            <a:spAutoFit/>
          </a:bodyPr>
          <a:lstStyle/>
          <a:p>
            <a:r>
              <a:rPr lang="en-US" sz="1200" b="0" u="none">
                <a:solidFill>
                  <a:srgbClr val="ABB2BF"/>
                </a:solidFill>
                <a:cs typeface="+mn-ea"/>
                <a:sym typeface="+mn-lt"/>
              </a:rPr>
              <a:t>#[repr(</a:t>
            </a:r>
            <a:r>
              <a:rPr lang="en-US" sz="1200" b="0" u="none">
                <a:solidFill>
                  <a:srgbClr val="E5C07B"/>
                </a:solidFill>
                <a:cs typeface="+mn-ea"/>
                <a:sym typeface="+mn-lt"/>
              </a:rPr>
              <a:t>C</a:t>
            </a:r>
            <a:r>
              <a:rPr lang="en-US" sz="1200" b="0" u="none">
                <a:solidFill>
                  <a:srgbClr val="ABB2BF"/>
                </a:solidFill>
                <a:cs typeface="+mn-ea"/>
                <a:sym typeface="+mn-lt"/>
              </a:rPr>
              <a:t>)]</a:t>
            </a:r>
          </a:p>
          <a:p>
            <a:r>
              <a:rPr lang="en-US" sz="1200" b="0" u="none">
                <a:solidFill>
                  <a:srgbClr val="ABB2BF"/>
                </a:solidFill>
                <a:cs typeface="+mn-ea"/>
                <a:sym typeface="+mn-lt"/>
              </a:rPr>
              <a:t>#[</a:t>
            </a:r>
            <a:r>
              <a:rPr lang="en-US" sz="1200" b="0" u="none">
                <a:solidFill>
                  <a:srgbClr val="61AFEF"/>
                </a:solidFill>
                <a:cs typeface="+mn-ea"/>
                <a:sym typeface="+mn-lt"/>
              </a:rPr>
              <a:t>derive</a:t>
            </a:r>
            <a:r>
              <a:rPr lang="en-US" sz="1200" b="0" u="none">
                <a:solidFill>
                  <a:srgbClr val="ABB2BF"/>
                </a:solidFill>
                <a:cs typeface="+mn-ea"/>
                <a:sym typeface="+mn-lt"/>
              </a:rPr>
              <a:t>(</a:t>
            </a:r>
            <a:r>
              <a:rPr lang="en-US" sz="1200" b="0" u="none">
                <a:solidFill>
                  <a:srgbClr val="E5C07B"/>
                </a:solidFill>
                <a:cs typeface="+mn-ea"/>
                <a:sym typeface="+mn-lt"/>
              </a:rPr>
              <a:t>Copy</a:t>
            </a:r>
            <a:r>
              <a:rPr lang="en-US" sz="1200" b="0" u="none">
                <a:solidFill>
                  <a:srgbClr val="ABB2BF"/>
                </a:solidFill>
                <a:cs typeface="+mn-ea"/>
                <a:sym typeface="+mn-lt"/>
              </a:rPr>
              <a:t>, </a:t>
            </a:r>
            <a:r>
              <a:rPr lang="en-US" sz="1200" b="0" u="none">
                <a:solidFill>
                  <a:srgbClr val="E5C07B"/>
                </a:solidFill>
                <a:cs typeface="+mn-ea"/>
                <a:sym typeface="+mn-lt"/>
              </a:rPr>
              <a:t>Clone</a:t>
            </a:r>
            <a:r>
              <a:rPr lang="en-US" sz="1200" b="0" u="none">
                <a:solidFill>
                  <a:srgbClr val="ABB2BF"/>
                </a:solidFill>
                <a:cs typeface="+mn-ea"/>
                <a:sym typeface="+mn-lt"/>
              </a:rPr>
              <a:t>)]</a:t>
            </a:r>
            <a:endParaRPr lang="en-US" sz="1200" b="0" u="none">
              <a:solidFill>
                <a:srgbClr val="C678DD"/>
              </a:solidFill>
              <a:cs typeface="+mn-ea"/>
              <a:sym typeface="+mn-lt"/>
            </a:endParaRPr>
          </a:p>
          <a:p>
            <a:r>
              <a:rPr lang="en-US" sz="1200" b="0" u="none">
                <a:solidFill>
                  <a:srgbClr val="C678DD"/>
                </a:solidFill>
                <a:cs typeface="+mn-ea"/>
                <a:sym typeface="+mn-lt"/>
              </a:rPr>
              <a:t>struct</a:t>
            </a:r>
            <a:r>
              <a:rPr lang="en-US" sz="1200" b="0" u="none">
                <a:solidFill>
                  <a:srgbClr val="ABB2BF"/>
                </a:solidFill>
                <a:cs typeface="+mn-ea"/>
                <a:sym typeface="+mn-lt"/>
              </a:rPr>
              <a:t> </a:t>
            </a:r>
            <a:r>
              <a:rPr lang="en-US" sz="1200" b="0" u="none">
                <a:solidFill>
                  <a:srgbClr val="E5C07B"/>
                </a:solidFill>
                <a:cs typeface="+mn-ea"/>
                <a:sym typeface="+mn-lt"/>
              </a:rPr>
              <a:t>MyAFields</a:t>
            </a:r>
            <a:r>
              <a:rPr lang="en-US" sz="1200" b="0" u="none">
                <a:solidFill>
                  <a:srgbClr val="ABB2BF"/>
                </a:solidFill>
                <a:cs typeface="+mn-ea"/>
                <a:sym typeface="+mn-lt"/>
              </a:rPr>
              <a:t>(</a:t>
            </a:r>
            <a:r>
              <a:rPr lang="en-US" sz="1200" b="0" u="none">
                <a:solidFill>
                  <a:srgbClr val="E5C07B"/>
                </a:solidFill>
                <a:cs typeface="+mn-ea"/>
                <a:sym typeface="+mn-lt"/>
              </a:rPr>
              <a:t>u32</a:t>
            </a:r>
            <a:r>
              <a:rPr lang="en-US" sz="1200" b="0" u="none">
                <a:solidFill>
                  <a:srgbClr val="ABB2BF"/>
                </a:solidFill>
                <a:cs typeface="+mn-ea"/>
                <a:sym typeface="+mn-lt"/>
              </a:rPr>
              <a:t>);</a:t>
            </a:r>
          </a:p>
          <a:p>
            <a:r>
              <a:rPr lang="en-US" sz="1200" b="0" u="none">
                <a:solidFill>
                  <a:srgbClr val="ABB2BF"/>
                </a:solidFill>
                <a:cs typeface="+mn-ea"/>
                <a:sym typeface="+mn-lt"/>
              </a:rPr>
              <a:t>#[repr(</a:t>
            </a:r>
            <a:r>
              <a:rPr lang="en-US" sz="1200" b="0" u="none">
                <a:solidFill>
                  <a:srgbClr val="E5C07B"/>
                </a:solidFill>
                <a:cs typeface="+mn-ea"/>
                <a:sym typeface="+mn-lt"/>
              </a:rPr>
              <a:t>C</a:t>
            </a:r>
            <a:r>
              <a:rPr lang="en-US" sz="1200" b="0" u="none">
                <a:solidFill>
                  <a:srgbClr val="ABB2BF"/>
                </a:solidFill>
                <a:cs typeface="+mn-ea"/>
                <a:sym typeface="+mn-lt"/>
              </a:rPr>
              <a:t>)]</a:t>
            </a:r>
          </a:p>
          <a:p>
            <a:r>
              <a:rPr lang="en-US" sz="1200" b="0" u="none">
                <a:solidFill>
                  <a:srgbClr val="ABB2BF"/>
                </a:solidFill>
                <a:cs typeface="+mn-ea"/>
                <a:sym typeface="+mn-lt"/>
              </a:rPr>
              <a:t>#[</a:t>
            </a:r>
            <a:r>
              <a:rPr lang="en-US" sz="1200" b="0" u="none">
                <a:solidFill>
                  <a:srgbClr val="61AFEF"/>
                </a:solidFill>
                <a:cs typeface="+mn-ea"/>
                <a:sym typeface="+mn-lt"/>
              </a:rPr>
              <a:t>derive</a:t>
            </a:r>
            <a:r>
              <a:rPr lang="en-US" sz="1200" b="0" u="none">
                <a:solidFill>
                  <a:srgbClr val="ABB2BF"/>
                </a:solidFill>
                <a:cs typeface="+mn-ea"/>
                <a:sym typeface="+mn-lt"/>
              </a:rPr>
              <a:t>(</a:t>
            </a:r>
            <a:r>
              <a:rPr lang="en-US" sz="1200" b="0" u="none">
                <a:solidFill>
                  <a:srgbClr val="E5C07B"/>
                </a:solidFill>
                <a:cs typeface="+mn-ea"/>
                <a:sym typeface="+mn-lt"/>
              </a:rPr>
              <a:t>Copy</a:t>
            </a:r>
            <a:r>
              <a:rPr lang="en-US" sz="1200" b="0" u="none">
                <a:solidFill>
                  <a:srgbClr val="ABB2BF"/>
                </a:solidFill>
                <a:cs typeface="+mn-ea"/>
                <a:sym typeface="+mn-lt"/>
              </a:rPr>
              <a:t>, </a:t>
            </a:r>
            <a:r>
              <a:rPr lang="en-US" sz="1200" b="0" u="none">
                <a:solidFill>
                  <a:srgbClr val="E5C07B"/>
                </a:solidFill>
                <a:cs typeface="+mn-ea"/>
                <a:sym typeface="+mn-lt"/>
              </a:rPr>
              <a:t>Clone</a:t>
            </a:r>
            <a:r>
              <a:rPr lang="en-US" sz="1200" b="0" u="none">
                <a:solidFill>
                  <a:srgbClr val="ABB2BF"/>
                </a:solidFill>
                <a:cs typeface="+mn-ea"/>
                <a:sym typeface="+mn-lt"/>
              </a:rPr>
              <a:t>)]</a:t>
            </a:r>
            <a:endParaRPr lang="en-US" sz="1200" b="0" u="none">
              <a:solidFill>
                <a:srgbClr val="C678DD"/>
              </a:solidFill>
              <a:cs typeface="+mn-ea"/>
              <a:sym typeface="+mn-lt"/>
            </a:endParaRPr>
          </a:p>
          <a:p>
            <a:r>
              <a:rPr lang="en-US" sz="1200" b="0" u="none">
                <a:solidFill>
                  <a:srgbClr val="C678DD"/>
                </a:solidFill>
                <a:cs typeface="+mn-ea"/>
                <a:sym typeface="+mn-lt"/>
              </a:rPr>
              <a:t>struct</a:t>
            </a:r>
            <a:r>
              <a:rPr lang="en-US" sz="1200" b="0" u="none">
                <a:solidFill>
                  <a:srgbClr val="ABB2BF"/>
                </a:solidFill>
                <a:cs typeface="+mn-ea"/>
                <a:sym typeface="+mn-lt"/>
              </a:rPr>
              <a:t> </a:t>
            </a:r>
            <a:r>
              <a:rPr lang="en-US" sz="1200" b="0" u="none">
                <a:solidFill>
                  <a:srgbClr val="E5C07B"/>
                </a:solidFill>
                <a:cs typeface="+mn-ea"/>
                <a:sym typeface="+mn-lt"/>
              </a:rPr>
              <a:t>MyBFields</a:t>
            </a:r>
            <a:r>
              <a:rPr lang="en-US" sz="1200" b="0" u="none">
                <a:solidFill>
                  <a:srgbClr val="ABB2BF"/>
                </a:solidFill>
                <a:cs typeface="+mn-ea"/>
                <a:sym typeface="+mn-lt"/>
              </a:rPr>
              <a:t>(</a:t>
            </a:r>
            <a:r>
              <a:rPr lang="en-US" sz="1200" b="0" u="none">
                <a:solidFill>
                  <a:srgbClr val="E5C07B"/>
                </a:solidFill>
                <a:cs typeface="+mn-ea"/>
                <a:sym typeface="+mn-lt"/>
              </a:rPr>
              <a:t>f32</a:t>
            </a:r>
            <a:r>
              <a:rPr lang="en-US" sz="1200" b="0" u="none">
                <a:solidFill>
                  <a:srgbClr val="ABB2BF"/>
                </a:solidFill>
                <a:cs typeface="+mn-ea"/>
                <a:sym typeface="+mn-lt"/>
              </a:rPr>
              <a:t>, </a:t>
            </a:r>
            <a:r>
              <a:rPr lang="en-US" sz="1200" b="0" u="none">
                <a:solidFill>
                  <a:srgbClr val="E5C07B"/>
                </a:solidFill>
                <a:cs typeface="+mn-ea"/>
                <a:sym typeface="+mn-lt"/>
              </a:rPr>
              <a:t>u64</a:t>
            </a:r>
            <a:r>
              <a:rPr lang="en-US" sz="1200" b="0" u="none">
                <a:solidFill>
                  <a:srgbClr val="ABB2BF"/>
                </a:solidFill>
                <a:cs typeface="+mn-ea"/>
                <a:sym typeface="+mn-lt"/>
              </a:rPr>
              <a:t>);</a:t>
            </a:r>
          </a:p>
          <a:p>
            <a:r>
              <a:rPr lang="en-US" sz="1200" b="0" u="none">
                <a:solidFill>
                  <a:srgbClr val="ABB2BF"/>
                </a:solidFill>
                <a:cs typeface="+mn-ea"/>
                <a:sym typeface="+mn-lt"/>
              </a:rPr>
              <a:t>#[repr(</a:t>
            </a:r>
            <a:r>
              <a:rPr lang="en-US" sz="1200" b="0" u="none">
                <a:solidFill>
                  <a:srgbClr val="E5C07B"/>
                </a:solidFill>
                <a:cs typeface="+mn-ea"/>
                <a:sym typeface="+mn-lt"/>
              </a:rPr>
              <a:t>C</a:t>
            </a:r>
            <a:r>
              <a:rPr lang="en-US" sz="1200" b="0" u="none">
                <a:solidFill>
                  <a:srgbClr val="ABB2BF"/>
                </a:solidFill>
                <a:cs typeface="+mn-ea"/>
                <a:sym typeface="+mn-lt"/>
              </a:rPr>
              <a:t>)]</a:t>
            </a:r>
          </a:p>
          <a:p>
            <a:r>
              <a:rPr lang="en-US" sz="1200" b="0" u="none">
                <a:solidFill>
                  <a:srgbClr val="ABB2BF"/>
                </a:solidFill>
                <a:cs typeface="+mn-ea"/>
                <a:sym typeface="+mn-lt"/>
              </a:rPr>
              <a:t>#[</a:t>
            </a:r>
            <a:r>
              <a:rPr lang="en-US" sz="1200" b="0" u="none">
                <a:solidFill>
                  <a:srgbClr val="61AFEF"/>
                </a:solidFill>
                <a:cs typeface="+mn-ea"/>
                <a:sym typeface="+mn-lt"/>
              </a:rPr>
              <a:t>derive</a:t>
            </a:r>
            <a:r>
              <a:rPr lang="en-US" sz="1200" b="0" u="none">
                <a:solidFill>
                  <a:srgbClr val="ABB2BF"/>
                </a:solidFill>
                <a:cs typeface="+mn-ea"/>
                <a:sym typeface="+mn-lt"/>
              </a:rPr>
              <a:t>(</a:t>
            </a:r>
            <a:r>
              <a:rPr lang="en-US" sz="1200" b="0" u="none">
                <a:solidFill>
                  <a:srgbClr val="E5C07B"/>
                </a:solidFill>
                <a:cs typeface="+mn-ea"/>
                <a:sym typeface="+mn-lt"/>
              </a:rPr>
              <a:t>Copy</a:t>
            </a:r>
            <a:r>
              <a:rPr lang="en-US" sz="1200" b="0" u="none">
                <a:solidFill>
                  <a:srgbClr val="ABB2BF"/>
                </a:solidFill>
                <a:cs typeface="+mn-ea"/>
                <a:sym typeface="+mn-lt"/>
              </a:rPr>
              <a:t>, </a:t>
            </a:r>
            <a:r>
              <a:rPr lang="en-US" sz="1200" b="0" u="none">
                <a:solidFill>
                  <a:srgbClr val="E5C07B"/>
                </a:solidFill>
                <a:cs typeface="+mn-ea"/>
                <a:sym typeface="+mn-lt"/>
              </a:rPr>
              <a:t>Clone</a:t>
            </a:r>
            <a:r>
              <a:rPr lang="en-US" sz="1200" b="0" u="none">
                <a:solidFill>
                  <a:srgbClr val="ABB2BF"/>
                </a:solidFill>
                <a:cs typeface="+mn-ea"/>
                <a:sym typeface="+mn-lt"/>
              </a:rPr>
              <a:t>)]</a:t>
            </a:r>
            <a:endParaRPr lang="en-US" sz="1200" b="0" u="none">
              <a:solidFill>
                <a:srgbClr val="C678DD"/>
              </a:solidFill>
              <a:cs typeface="+mn-ea"/>
              <a:sym typeface="+mn-lt"/>
            </a:endParaRPr>
          </a:p>
          <a:p>
            <a:r>
              <a:rPr lang="en-US" sz="1200" b="0" u="none">
                <a:solidFill>
                  <a:srgbClr val="C678DD"/>
                </a:solidFill>
                <a:cs typeface="+mn-ea"/>
                <a:sym typeface="+mn-lt"/>
              </a:rPr>
              <a:t>struct</a:t>
            </a:r>
            <a:r>
              <a:rPr lang="en-US" sz="1200" b="0" u="none">
                <a:solidFill>
                  <a:srgbClr val="ABB2BF"/>
                </a:solidFill>
                <a:cs typeface="+mn-ea"/>
                <a:sym typeface="+mn-lt"/>
              </a:rPr>
              <a:t> </a:t>
            </a:r>
            <a:r>
              <a:rPr lang="en-US" sz="1200" b="0" u="none">
                <a:solidFill>
                  <a:srgbClr val="E5C07B"/>
                </a:solidFill>
                <a:cs typeface="+mn-ea"/>
                <a:sym typeface="+mn-lt"/>
              </a:rPr>
              <a:t>MyCFields</a:t>
            </a:r>
            <a:r>
              <a:rPr lang="en-US" sz="1200" b="0" u="none">
                <a:solidFill>
                  <a:srgbClr val="ABB2BF"/>
                </a:solidFill>
                <a:cs typeface="+mn-ea"/>
                <a:sym typeface="+mn-lt"/>
              </a:rPr>
              <a:t> {</a:t>
            </a:r>
          </a:p>
          <a:p>
            <a:r>
              <a:rPr lang="en-US" sz="1200" b="0" u="none">
                <a:solidFill>
                  <a:srgbClr val="ABB2BF"/>
                </a:solidFill>
                <a:cs typeface="+mn-ea"/>
                <a:sym typeface="+mn-lt"/>
              </a:rPr>
              <a:t>    </a:t>
            </a:r>
            <a:r>
              <a:rPr lang="en-US" sz="1200" b="0" u="none">
                <a:solidFill>
                  <a:srgbClr val="E06C75"/>
                </a:solidFill>
                <a:cs typeface="+mn-ea"/>
                <a:sym typeface="+mn-lt"/>
              </a:rPr>
              <a:t>x</a:t>
            </a:r>
            <a:r>
              <a:rPr lang="en-US" sz="1200" b="0" u="none">
                <a:solidFill>
                  <a:srgbClr val="ABB2BF"/>
                </a:solidFill>
                <a:cs typeface="+mn-ea"/>
                <a:sym typeface="+mn-lt"/>
              </a:rPr>
              <a:t>: </a:t>
            </a:r>
            <a:r>
              <a:rPr lang="en-US" sz="1200" b="0" u="none">
                <a:solidFill>
                  <a:srgbClr val="E5C07B"/>
                </a:solidFill>
                <a:cs typeface="+mn-ea"/>
                <a:sym typeface="+mn-lt"/>
              </a:rPr>
              <a:t>u32</a:t>
            </a:r>
            <a:r>
              <a:rPr lang="en-US" sz="1200" b="0" u="none">
                <a:solidFill>
                  <a:srgbClr val="ABB2BF"/>
                </a:solidFill>
                <a:cs typeface="+mn-ea"/>
                <a:sym typeface="+mn-lt"/>
              </a:rPr>
              <a:t>,</a:t>
            </a:r>
          </a:p>
          <a:p>
            <a:r>
              <a:rPr lang="en-US" sz="1200" b="0" u="none">
                <a:solidFill>
                  <a:srgbClr val="ABB2BF"/>
                </a:solidFill>
                <a:cs typeface="+mn-ea"/>
                <a:sym typeface="+mn-lt"/>
              </a:rPr>
              <a:t>    </a:t>
            </a:r>
            <a:r>
              <a:rPr lang="en-US" sz="1200" b="0" u="none">
                <a:solidFill>
                  <a:srgbClr val="E06C75"/>
                </a:solidFill>
                <a:cs typeface="+mn-ea"/>
                <a:sym typeface="+mn-lt"/>
              </a:rPr>
              <a:t>y</a:t>
            </a:r>
            <a:r>
              <a:rPr lang="en-US" sz="1200" b="0" u="none">
                <a:solidFill>
                  <a:srgbClr val="ABB2BF"/>
                </a:solidFill>
                <a:cs typeface="+mn-ea"/>
                <a:sym typeface="+mn-lt"/>
              </a:rPr>
              <a:t>: </a:t>
            </a:r>
            <a:r>
              <a:rPr lang="en-US" sz="1200" b="0" u="none">
                <a:solidFill>
                  <a:srgbClr val="E5C07B"/>
                </a:solidFill>
                <a:cs typeface="+mn-ea"/>
                <a:sym typeface="+mn-lt"/>
              </a:rPr>
              <a:t>u8</a:t>
            </a:r>
            <a:r>
              <a:rPr lang="en-US" sz="1200" b="0" u="none">
                <a:solidFill>
                  <a:srgbClr val="ABB2BF"/>
                </a:solidFill>
                <a:cs typeface="+mn-ea"/>
                <a:sym typeface="+mn-lt"/>
              </a:rPr>
              <a:t>,</a:t>
            </a:r>
          </a:p>
          <a:p>
            <a:r>
              <a:rPr lang="en-US" sz="1200" b="0" u="none">
                <a:solidFill>
                  <a:srgbClr val="ABB2BF"/>
                </a:solidFill>
                <a:cs typeface="+mn-ea"/>
                <a:sym typeface="+mn-lt"/>
              </a:rPr>
              <a:t>}</a:t>
            </a:r>
          </a:p>
          <a:p>
            <a:r>
              <a:rPr lang="en-US" sz="1200" b="0" u="none">
                <a:solidFill>
                  <a:srgbClr val="ABB2BF"/>
                </a:solidFill>
                <a:cs typeface="+mn-ea"/>
                <a:sym typeface="+mn-lt"/>
              </a:rPr>
              <a:t>#[repr(</a:t>
            </a:r>
            <a:r>
              <a:rPr lang="en-US" sz="1200" b="0" u="none">
                <a:solidFill>
                  <a:srgbClr val="E5C07B"/>
                </a:solidFill>
                <a:cs typeface="+mn-ea"/>
                <a:sym typeface="+mn-lt"/>
              </a:rPr>
              <a:t>C</a:t>
            </a:r>
            <a:r>
              <a:rPr lang="en-US" sz="1200" b="0" u="none">
                <a:solidFill>
                  <a:srgbClr val="ABB2BF"/>
                </a:solidFill>
                <a:cs typeface="+mn-ea"/>
                <a:sym typeface="+mn-lt"/>
              </a:rPr>
              <a:t>)]</a:t>
            </a:r>
          </a:p>
          <a:p>
            <a:r>
              <a:rPr lang="en-US" sz="1200" b="0" u="none">
                <a:solidFill>
                  <a:srgbClr val="ABB2BF"/>
                </a:solidFill>
                <a:cs typeface="+mn-ea"/>
                <a:sym typeface="+mn-lt"/>
              </a:rPr>
              <a:t>#[</a:t>
            </a:r>
            <a:r>
              <a:rPr lang="en-US" sz="1200" b="0" u="none">
                <a:solidFill>
                  <a:srgbClr val="61AFEF"/>
                </a:solidFill>
                <a:cs typeface="+mn-ea"/>
                <a:sym typeface="+mn-lt"/>
              </a:rPr>
              <a:t>derive</a:t>
            </a:r>
            <a:r>
              <a:rPr lang="en-US" sz="1200" b="0" u="none">
                <a:solidFill>
                  <a:srgbClr val="ABB2BF"/>
                </a:solidFill>
                <a:cs typeface="+mn-ea"/>
                <a:sym typeface="+mn-lt"/>
              </a:rPr>
              <a:t>(</a:t>
            </a:r>
            <a:r>
              <a:rPr lang="en-US" sz="1200" b="0" u="none">
                <a:solidFill>
                  <a:srgbClr val="E5C07B"/>
                </a:solidFill>
                <a:cs typeface="+mn-ea"/>
                <a:sym typeface="+mn-lt"/>
              </a:rPr>
              <a:t>Copy</a:t>
            </a:r>
            <a:r>
              <a:rPr lang="en-US" sz="1200" b="0" u="none">
                <a:solidFill>
                  <a:srgbClr val="ABB2BF"/>
                </a:solidFill>
                <a:cs typeface="+mn-ea"/>
                <a:sym typeface="+mn-lt"/>
              </a:rPr>
              <a:t>, </a:t>
            </a:r>
            <a:r>
              <a:rPr lang="en-US" sz="1200" b="0" u="none">
                <a:solidFill>
                  <a:srgbClr val="E5C07B"/>
                </a:solidFill>
                <a:cs typeface="+mn-ea"/>
                <a:sym typeface="+mn-lt"/>
              </a:rPr>
              <a:t>Clone</a:t>
            </a:r>
            <a:r>
              <a:rPr lang="en-US" sz="1200" b="0" u="none">
                <a:solidFill>
                  <a:srgbClr val="ABB2BF"/>
                </a:solidFill>
                <a:cs typeface="+mn-ea"/>
                <a:sym typeface="+mn-lt"/>
              </a:rPr>
              <a:t>)]</a:t>
            </a:r>
            <a:endParaRPr lang="en-US" sz="1200" b="0" u="none">
              <a:solidFill>
                <a:srgbClr val="C678DD"/>
              </a:solidFill>
              <a:cs typeface="+mn-ea"/>
              <a:sym typeface="+mn-lt"/>
            </a:endParaRPr>
          </a:p>
          <a:p>
            <a:r>
              <a:rPr lang="en-US" sz="1200" b="0" u="none">
                <a:solidFill>
                  <a:srgbClr val="C678DD"/>
                </a:solidFill>
                <a:cs typeface="+mn-ea"/>
                <a:sym typeface="+mn-lt"/>
              </a:rPr>
              <a:t>struct</a:t>
            </a:r>
            <a:r>
              <a:rPr lang="en-US" sz="1200" b="0" u="none">
                <a:solidFill>
                  <a:srgbClr val="ABB2BF"/>
                </a:solidFill>
                <a:cs typeface="+mn-ea"/>
                <a:sym typeface="+mn-lt"/>
              </a:rPr>
              <a:t> </a:t>
            </a:r>
            <a:r>
              <a:rPr lang="en-US" sz="1200" b="0" u="none">
                <a:solidFill>
                  <a:srgbClr val="E5C07B"/>
                </a:solidFill>
                <a:cs typeface="+mn-ea"/>
                <a:sym typeface="+mn-lt"/>
              </a:rPr>
              <a:t>MyDFields</a:t>
            </a:r>
            <a:r>
              <a:rPr lang="en-US" sz="1200" b="0" u="none">
                <a:solidFill>
                  <a:srgbClr val="ABB2BF"/>
                </a:solidFill>
                <a:cs typeface="+mn-ea"/>
                <a:sym typeface="+mn-lt"/>
              </a:rPr>
              <a:t>;</a:t>
            </a:r>
            <a:endParaRPr lang="en-US" altLang="zh-CN" sz="1200" b="0" u="none">
              <a:solidFill>
                <a:srgbClr val="ABB2BF"/>
              </a:solidFill>
              <a:effectLst/>
              <a:cs typeface="+mn-ea"/>
              <a:sym typeface="+mn-lt"/>
            </a:endParaRPr>
          </a:p>
        </p:txBody>
      </p:sp>
      <p:cxnSp>
        <p:nvCxnSpPr>
          <p:cNvPr id="11" name="直接箭头连接符 10"/>
          <p:cNvCxnSpPr/>
          <p:nvPr userDrawn="1"/>
        </p:nvCxnSpPr>
        <p:spPr>
          <a:xfrm flipV="1">
            <a:off x="7185643" y="5213192"/>
            <a:ext cx="1323884" cy="497701"/>
          </a:xfrm>
          <a:prstGeom prst="straightConnector1">
            <a:avLst/>
          </a:prstGeom>
          <a:ln w="41275" cap="flat" cmpd="sng" algn="ctr">
            <a:solidFill>
              <a:srgbClr val="FF0000">
                <a:alpha val="100000"/>
              </a:srgbClr>
            </a:solidFill>
            <a:prstDash val="solid"/>
            <a:miter lim="800000"/>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直接连接符 6"/>
          <p:cNvCxnSpPr/>
          <p:nvPr/>
        </p:nvCxnSpPr>
        <p:spPr>
          <a:xfrm>
            <a:off x="239006" y="641249"/>
            <a:ext cx="11340282"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139958" y="112899"/>
            <a:ext cx="8920065" cy="964367"/>
          </a:xfrm>
          <a:prstGeom prst="rect">
            <a:avLst/>
          </a:prstGeom>
          <a:noFill/>
        </p:spPr>
        <p:txBody>
          <a:bodyPr vert="horz" wrap="square" rtlCol="0">
            <a:spAutoFit/>
          </a:bodyPr>
          <a:lstStyle/>
          <a:p>
            <a:pPr>
              <a:lnSpc>
                <a:spcPts val="3440"/>
              </a:lnSpc>
            </a:pPr>
            <a:r>
              <a:rPr lang="en-US" altLang="zh-CN" sz="3200" b="1" dirty="0">
                <a:solidFill>
                  <a:srgbClr val="C00000"/>
                </a:solidFill>
                <a:cs typeface="+mn-ea"/>
                <a:sym typeface="+mn-lt"/>
              </a:rPr>
              <a:t>#[</a:t>
            </a:r>
            <a:r>
              <a:rPr lang="en-US" altLang="zh-CN" sz="3200" b="1" dirty="0" err="1">
                <a:solidFill>
                  <a:srgbClr val="C00000"/>
                </a:solidFill>
                <a:cs typeface="+mn-ea"/>
                <a:sym typeface="+mn-lt"/>
              </a:rPr>
              <a:t>repr</a:t>
            </a:r>
            <a:r>
              <a:rPr lang="en-US" altLang="zh-CN" sz="3200" b="1" dirty="0">
                <a:solidFill>
                  <a:srgbClr val="C00000"/>
                </a:solidFill>
                <a:cs typeface="+mn-ea"/>
                <a:sym typeface="+mn-lt"/>
              </a:rPr>
              <a:t>]</a:t>
            </a:r>
            <a:r>
              <a:rPr lang="zh-CN" altLang="en-US" sz="3200" b="1" dirty="0">
                <a:solidFill>
                  <a:srgbClr val="C00000"/>
                </a:solidFill>
                <a:cs typeface="+mn-ea"/>
                <a:sym typeface="+mn-lt"/>
              </a:rPr>
              <a:t>属性</a:t>
            </a:r>
            <a:r>
              <a:rPr lang="en-US" altLang="zh-CN" sz="3200" b="1" dirty="0">
                <a:solidFill>
                  <a:srgbClr val="C00000"/>
                </a:solidFill>
                <a:cs typeface="+mn-ea"/>
                <a:sym typeface="+mn-lt"/>
              </a:rPr>
              <a:t>- packed, align</a:t>
            </a:r>
          </a:p>
          <a:p>
            <a:pPr>
              <a:lnSpc>
                <a:spcPts val="3440"/>
              </a:lnSpc>
            </a:pPr>
            <a:endParaRPr lang="en-US" altLang="zh-CN" sz="3200" b="1" dirty="0">
              <a:solidFill>
                <a:srgbClr val="C00000"/>
              </a:solidFill>
              <a:cs typeface="+mn-ea"/>
              <a:sym typeface="+mn-lt"/>
            </a:endParaRPr>
          </a:p>
        </p:txBody>
      </p:sp>
      <p:sp>
        <p:nvSpPr>
          <p:cNvPr id="3" name="矩形 2"/>
          <p:cNvSpPr/>
          <p:nvPr/>
        </p:nvSpPr>
        <p:spPr>
          <a:xfrm>
            <a:off x="139958" y="641249"/>
            <a:ext cx="11340282" cy="425053"/>
          </a:xfrm>
          <a:prstGeom prst="rect">
            <a:avLst/>
          </a:prstGeom>
        </p:spPr>
        <p:txBody>
          <a:bodyPr wrap="square">
            <a:spAutoFit/>
          </a:bodyPr>
          <a:lstStyle/>
          <a:p>
            <a:pPr marL="285750" indent="-285750">
              <a:lnSpc>
                <a:spcPct val="150000"/>
              </a:lnSpc>
              <a:buFont typeface="Arial" panose="020B0604020202020204" pitchFamily="34" charset="0"/>
              <a:buChar char="•"/>
            </a:pPr>
            <a:r>
              <a:rPr lang="zh-CN" altLang="en-US" sz="1600" dirty="0">
                <a:cs typeface="+mn-ea"/>
                <a:sym typeface="+mn-lt"/>
              </a:rPr>
              <a:t>对齐量可以用 </a:t>
            </a:r>
            <a:r>
              <a:rPr lang="en-US" altLang="zh-CN" sz="1600" dirty="0">
                <a:cs typeface="+mn-ea"/>
                <a:sym typeface="+mn-lt"/>
              </a:rPr>
              <a:t>packed </a:t>
            </a:r>
            <a:r>
              <a:rPr lang="zh-CN" altLang="en-US" sz="1600" dirty="0">
                <a:cs typeface="+mn-ea"/>
                <a:sym typeface="+mn-lt"/>
              </a:rPr>
              <a:t>和 </a:t>
            </a:r>
            <a:r>
              <a:rPr lang="en-US" altLang="zh-CN" sz="1600" dirty="0">
                <a:cs typeface="+mn-ea"/>
                <a:sym typeface="+mn-lt"/>
              </a:rPr>
              <a:t>align </a:t>
            </a:r>
            <a:r>
              <a:rPr lang="zh-CN" altLang="en-US" sz="1600" dirty="0">
                <a:cs typeface="+mn-ea"/>
                <a:sym typeface="+mn-lt"/>
              </a:rPr>
              <a:t>修饰符缩小或者增大；</a:t>
            </a:r>
            <a:endParaRPr lang="en-US" altLang="zh-CN" sz="1600" dirty="0">
              <a:cs typeface="+mn-ea"/>
              <a:sym typeface="+mn-lt"/>
            </a:endParaRPr>
          </a:p>
        </p:txBody>
      </p:sp>
      <p:sp>
        <p:nvSpPr>
          <p:cNvPr id="4" name="矩形 3"/>
          <p:cNvSpPr/>
          <p:nvPr/>
        </p:nvSpPr>
        <p:spPr>
          <a:xfrm>
            <a:off x="239006" y="1388567"/>
            <a:ext cx="5174966" cy="1526187"/>
          </a:xfrm>
          <a:prstGeom prst="rect">
            <a:avLst/>
          </a:prstGeom>
        </p:spPr>
        <p:txBody>
          <a:bodyPr wrap="square">
            <a:spAutoFit/>
          </a:bodyPr>
          <a:lstStyle/>
          <a:p>
            <a:pPr>
              <a:lnSpc>
                <a:spcPct val="150000"/>
              </a:lnSpc>
            </a:pPr>
            <a:r>
              <a:rPr lang="en-US" altLang="zh-CN" sz="1600" b="1" dirty="0">
                <a:cs typeface="+mn-ea"/>
                <a:sym typeface="+mn-lt"/>
              </a:rPr>
              <a:t>#[</a:t>
            </a:r>
            <a:r>
              <a:rPr lang="en-US" altLang="zh-CN" sz="1600" b="1" dirty="0" err="1">
                <a:cs typeface="+mn-ea"/>
                <a:sym typeface="+mn-lt"/>
              </a:rPr>
              <a:t>repr</a:t>
            </a:r>
            <a:r>
              <a:rPr lang="en-US" altLang="zh-CN" sz="1600" b="1" dirty="0">
                <a:cs typeface="+mn-ea"/>
                <a:sym typeface="+mn-lt"/>
              </a:rPr>
              <a:t>(packed(n))]</a:t>
            </a:r>
            <a:endParaRPr lang="zh-CN" altLang="en-US" sz="1600" dirty="0">
              <a:cs typeface="+mn-ea"/>
              <a:sym typeface="+mn-lt"/>
            </a:endParaRPr>
          </a:p>
          <a:p>
            <a:pPr>
              <a:lnSpc>
                <a:spcPct val="150000"/>
              </a:lnSpc>
            </a:pPr>
            <a:r>
              <a:rPr lang="zh-CN" altLang="en-US" sz="1600" dirty="0">
                <a:cs typeface="+mn-ea"/>
                <a:sym typeface="+mn-lt"/>
              </a:rPr>
              <a:t>在基本对齐规则之上：</a:t>
            </a:r>
          </a:p>
          <a:p>
            <a:pPr marL="342900" indent="-342900">
              <a:lnSpc>
                <a:spcPct val="150000"/>
              </a:lnSpc>
              <a:buFont typeface="+mj-lt"/>
              <a:buAutoNum type="arabicPeriod"/>
            </a:pPr>
            <a:r>
              <a:rPr lang="zh-CN" altLang="en-US" sz="1600" dirty="0">
                <a:cs typeface="+mn-ea"/>
                <a:sym typeface="+mn-lt"/>
              </a:rPr>
              <a:t>将被修饰的结构体对齐量减少到 </a:t>
            </a:r>
            <a:r>
              <a:rPr lang="en-US" altLang="zh-CN" sz="1600" dirty="0">
                <a:cs typeface="+mn-ea"/>
                <a:sym typeface="+mn-lt"/>
              </a:rPr>
              <a:t>n</a:t>
            </a:r>
            <a:r>
              <a:rPr lang="zh-CN" altLang="en-US" sz="1600" dirty="0">
                <a:cs typeface="+mn-ea"/>
                <a:sym typeface="+mn-lt"/>
              </a:rPr>
              <a:t>；</a:t>
            </a:r>
            <a:endParaRPr lang="en-US" altLang="zh-CN" sz="1600" dirty="0">
              <a:cs typeface="+mn-ea"/>
              <a:sym typeface="+mn-lt"/>
            </a:endParaRPr>
          </a:p>
          <a:p>
            <a:pPr marL="342900" indent="-342900">
              <a:lnSpc>
                <a:spcPct val="150000"/>
              </a:lnSpc>
              <a:buFont typeface="+mj-lt"/>
              <a:buAutoNum type="arabicPeriod"/>
            </a:pPr>
            <a:r>
              <a:rPr lang="zh-CN" altLang="en-US" sz="1600" dirty="0">
                <a:cs typeface="+mn-ea"/>
                <a:sym typeface="+mn-lt"/>
              </a:rPr>
              <a:t>成员之间的间隙会按新对齐量进行填充；</a:t>
            </a:r>
          </a:p>
        </p:txBody>
      </p:sp>
      <p:sp>
        <p:nvSpPr>
          <p:cNvPr id="9" name="文本框 8"/>
          <p:cNvSpPr txBox="1"/>
          <p:nvPr/>
        </p:nvSpPr>
        <p:spPr>
          <a:xfrm>
            <a:off x="5323438" y="1096314"/>
            <a:ext cx="6473227" cy="5693866"/>
          </a:xfrm>
          <a:prstGeom prst="rect">
            <a:avLst/>
          </a:prstGeom>
          <a:solidFill>
            <a:schemeClr val="tx1"/>
          </a:solidFill>
        </p:spPr>
        <p:style>
          <a:lnRef idx="2">
            <a:schemeClr val="dk1"/>
          </a:lnRef>
          <a:fillRef idx="1">
            <a:schemeClr val="lt1"/>
          </a:fillRef>
          <a:effectRef idx="0">
            <a:schemeClr val="dk1"/>
          </a:effectRef>
          <a:fontRef idx="minor">
            <a:schemeClr val="dk1"/>
          </a:fontRef>
        </p:style>
        <p:txBody>
          <a:bodyPr vert="horz" wrap="square" rtlCol="0">
            <a:spAutoFit/>
          </a:bodyPr>
          <a:lstStyle/>
          <a:p>
            <a:r>
              <a:rPr lang="en-US" altLang="zh-CN" sz="1400" dirty="0">
                <a:solidFill>
                  <a:srgbClr val="FFFFFF"/>
                </a:solidFill>
                <a:cs typeface="+mn-ea"/>
                <a:sym typeface="+mn-lt"/>
              </a:rPr>
              <a:t>// </a:t>
            </a:r>
            <a:r>
              <a:rPr lang="en-US" altLang="zh-CN" sz="1400" b="1" dirty="0">
                <a:solidFill>
                  <a:srgbClr val="00B050"/>
                </a:solidFill>
                <a:cs typeface="+mn-ea"/>
                <a:sym typeface="+mn-lt"/>
              </a:rPr>
              <a:t>#[</a:t>
            </a:r>
            <a:r>
              <a:rPr lang="en-US" altLang="zh-CN" sz="1400" b="1" dirty="0" err="1">
                <a:solidFill>
                  <a:srgbClr val="00B050"/>
                </a:solidFill>
                <a:cs typeface="+mn-ea"/>
                <a:sym typeface="+mn-lt"/>
              </a:rPr>
              <a:t>repr</a:t>
            </a:r>
            <a:r>
              <a:rPr lang="en-US" altLang="zh-CN" sz="1400" b="1" dirty="0">
                <a:solidFill>
                  <a:srgbClr val="00B050"/>
                </a:solidFill>
                <a:cs typeface="+mn-ea"/>
                <a:sym typeface="+mn-lt"/>
              </a:rPr>
              <a:t>(C)]</a:t>
            </a:r>
            <a:r>
              <a:rPr lang="zh-CN" altLang="en-US" sz="1400" b="1" dirty="0">
                <a:solidFill>
                  <a:srgbClr val="00B050"/>
                </a:solidFill>
                <a:cs typeface="+mn-ea"/>
                <a:sym typeface="+mn-lt"/>
              </a:rPr>
              <a:t>结构体代码示例</a:t>
            </a:r>
          </a:p>
          <a:p>
            <a:r>
              <a:rPr lang="en-US" altLang="zh-CN" sz="1400" dirty="0">
                <a:solidFill>
                  <a:srgbClr val="ABB2BF"/>
                </a:solidFill>
                <a:cs typeface="+mn-ea"/>
                <a:sym typeface="+mn-lt"/>
              </a:rPr>
              <a:t>#[</a:t>
            </a:r>
            <a:r>
              <a:rPr lang="en-US" altLang="zh-CN" sz="1400" dirty="0" err="1">
                <a:solidFill>
                  <a:srgbClr val="ABB2BF"/>
                </a:solidFill>
                <a:cs typeface="+mn-ea"/>
                <a:sym typeface="+mn-lt"/>
              </a:rPr>
              <a:t>repr</a:t>
            </a:r>
            <a:r>
              <a:rPr lang="en-US" altLang="zh-CN" sz="1400" dirty="0">
                <a:solidFill>
                  <a:srgbClr val="ABB2BF"/>
                </a:solidFill>
                <a:cs typeface="+mn-ea"/>
                <a:sym typeface="+mn-lt"/>
              </a:rPr>
              <a:t>(C)]</a:t>
            </a:r>
          </a:p>
          <a:p>
            <a:r>
              <a:rPr lang="en-US" altLang="zh-CN" sz="1400" dirty="0">
                <a:solidFill>
                  <a:srgbClr val="C678DD"/>
                </a:solidFill>
                <a:cs typeface="+mn-ea"/>
                <a:sym typeface="+mn-lt"/>
              </a:rPr>
              <a:t>struct</a:t>
            </a:r>
            <a:r>
              <a:rPr lang="en-US" altLang="zh-CN" sz="1400" dirty="0">
                <a:solidFill>
                  <a:srgbClr val="ABB2BF"/>
                </a:solidFill>
                <a:cs typeface="+mn-ea"/>
                <a:sym typeface="+mn-lt"/>
              </a:rPr>
              <a:t> </a:t>
            </a:r>
            <a:r>
              <a:rPr lang="en-US" altLang="zh-CN" sz="1400" dirty="0">
                <a:solidFill>
                  <a:srgbClr val="E5C07B"/>
                </a:solidFill>
                <a:cs typeface="+mn-ea"/>
                <a:sym typeface="+mn-lt"/>
              </a:rPr>
              <a:t>D</a:t>
            </a:r>
            <a:r>
              <a:rPr lang="en-US" altLang="zh-CN" sz="1400" dirty="0">
                <a:solidFill>
                  <a:srgbClr val="ABB2BF"/>
                </a:solidFill>
                <a:cs typeface="+mn-ea"/>
                <a:sym typeface="+mn-lt"/>
              </a:rPr>
              <a:t> {</a:t>
            </a:r>
          </a:p>
          <a:p>
            <a:r>
              <a:rPr lang="en-US" altLang="zh-CN" sz="1400" dirty="0">
                <a:solidFill>
                  <a:srgbClr val="ABB2BF"/>
                </a:solidFill>
                <a:cs typeface="+mn-ea"/>
                <a:sym typeface="+mn-lt"/>
              </a:rPr>
              <a:t>    </a:t>
            </a:r>
            <a:r>
              <a:rPr lang="en-US" altLang="zh-CN" sz="1400" dirty="0">
                <a:solidFill>
                  <a:srgbClr val="E06C75"/>
                </a:solidFill>
                <a:cs typeface="+mn-ea"/>
                <a:sym typeface="+mn-lt"/>
              </a:rPr>
              <a:t>x</a:t>
            </a:r>
            <a:r>
              <a:rPr lang="en-US" altLang="zh-CN" sz="1400" dirty="0">
                <a:solidFill>
                  <a:srgbClr val="ABB2BF"/>
                </a:solidFill>
                <a:cs typeface="+mn-ea"/>
                <a:sym typeface="+mn-lt"/>
              </a:rPr>
              <a:t>: </a:t>
            </a:r>
            <a:r>
              <a:rPr lang="en-US" altLang="zh-CN" sz="1400" dirty="0">
                <a:solidFill>
                  <a:srgbClr val="E5C07B"/>
                </a:solidFill>
                <a:cs typeface="+mn-ea"/>
                <a:sym typeface="+mn-lt"/>
              </a:rPr>
              <a:t>i8</a:t>
            </a:r>
            <a:r>
              <a:rPr lang="en-US" altLang="zh-CN" sz="1400" dirty="0">
                <a:solidFill>
                  <a:srgbClr val="ABB2BF"/>
                </a:solidFill>
                <a:cs typeface="+mn-ea"/>
                <a:sym typeface="+mn-lt"/>
              </a:rPr>
              <a:t>, </a:t>
            </a:r>
            <a:r>
              <a:rPr lang="en-US" altLang="zh-CN" sz="1400" dirty="0">
                <a:solidFill>
                  <a:srgbClr val="E06C75"/>
                </a:solidFill>
                <a:cs typeface="+mn-ea"/>
                <a:sym typeface="+mn-lt"/>
              </a:rPr>
              <a:t>y</a:t>
            </a:r>
            <a:r>
              <a:rPr lang="en-US" altLang="zh-CN" sz="1400" dirty="0">
                <a:solidFill>
                  <a:srgbClr val="ABB2BF"/>
                </a:solidFill>
                <a:cs typeface="+mn-ea"/>
                <a:sym typeface="+mn-lt"/>
              </a:rPr>
              <a:t>: </a:t>
            </a:r>
            <a:r>
              <a:rPr lang="en-US" altLang="zh-CN" sz="1400" dirty="0">
                <a:solidFill>
                  <a:srgbClr val="E5C07B"/>
                </a:solidFill>
                <a:cs typeface="+mn-ea"/>
                <a:sym typeface="+mn-lt"/>
              </a:rPr>
              <a:t>i16</a:t>
            </a:r>
            <a:r>
              <a:rPr lang="en-US" altLang="zh-CN" sz="1400" dirty="0">
                <a:solidFill>
                  <a:srgbClr val="ABB2BF"/>
                </a:solidFill>
                <a:cs typeface="+mn-ea"/>
                <a:sym typeface="+mn-lt"/>
              </a:rPr>
              <a:t>,</a:t>
            </a:r>
          </a:p>
          <a:p>
            <a:r>
              <a:rPr lang="en-US" altLang="zh-CN" sz="1400" dirty="0">
                <a:solidFill>
                  <a:srgbClr val="ABB2BF"/>
                </a:solidFill>
                <a:cs typeface="+mn-ea"/>
                <a:sym typeface="+mn-lt"/>
              </a:rPr>
              <a:t>}</a:t>
            </a:r>
          </a:p>
          <a:p>
            <a:pPr lvl="0"/>
            <a:r>
              <a:rPr lang="en-US" altLang="zh-CN" sz="1400" dirty="0">
                <a:solidFill>
                  <a:srgbClr val="FFFFFF"/>
                </a:solidFill>
                <a:cs typeface="+mn-ea"/>
                <a:sym typeface="+mn-lt"/>
              </a:rPr>
              <a:t>// </a:t>
            </a:r>
            <a:r>
              <a:rPr lang="en-US" altLang="zh-CN" sz="1400" b="1" dirty="0">
                <a:solidFill>
                  <a:srgbClr val="00B050"/>
                </a:solidFill>
                <a:cs typeface="+mn-ea"/>
                <a:sym typeface="+mn-lt"/>
              </a:rPr>
              <a:t>#[</a:t>
            </a:r>
            <a:r>
              <a:rPr lang="en-US" altLang="zh-CN" sz="1400" b="1" dirty="0" err="1">
                <a:solidFill>
                  <a:srgbClr val="00B050"/>
                </a:solidFill>
                <a:cs typeface="+mn-ea"/>
                <a:sym typeface="+mn-lt"/>
              </a:rPr>
              <a:t>repr</a:t>
            </a:r>
            <a:r>
              <a:rPr lang="en-US" altLang="zh-CN" sz="1400" b="1" dirty="0">
                <a:solidFill>
                  <a:srgbClr val="00B050"/>
                </a:solidFill>
                <a:cs typeface="+mn-ea"/>
                <a:sym typeface="+mn-lt"/>
              </a:rPr>
              <a:t>(packed)]</a:t>
            </a:r>
            <a:r>
              <a:rPr lang="zh-CN" altLang="en-US" sz="1400" b="1" dirty="0">
                <a:solidFill>
                  <a:srgbClr val="00B050"/>
                </a:solidFill>
                <a:cs typeface="+mn-ea"/>
                <a:sym typeface="+mn-lt"/>
              </a:rPr>
              <a:t>结构体代码示例</a:t>
            </a:r>
          </a:p>
          <a:p>
            <a:pPr lvl="0"/>
            <a:r>
              <a:rPr lang="en-US" altLang="zh-CN" sz="1400" dirty="0">
                <a:solidFill>
                  <a:srgbClr val="ABB2BF"/>
                </a:solidFill>
                <a:cs typeface="+mn-ea"/>
                <a:sym typeface="+mn-lt"/>
              </a:rPr>
              <a:t>#[</a:t>
            </a:r>
            <a:r>
              <a:rPr lang="en-US" altLang="zh-CN" sz="1400" dirty="0" err="1">
                <a:solidFill>
                  <a:srgbClr val="ABB2BF"/>
                </a:solidFill>
                <a:cs typeface="+mn-ea"/>
                <a:sym typeface="+mn-lt"/>
              </a:rPr>
              <a:t>repr</a:t>
            </a:r>
            <a:r>
              <a:rPr lang="en-US" altLang="zh-CN" sz="1400" dirty="0">
                <a:solidFill>
                  <a:srgbClr val="ABB2BF"/>
                </a:solidFill>
                <a:cs typeface="+mn-ea"/>
                <a:sym typeface="+mn-lt"/>
              </a:rPr>
              <a:t>(C, </a:t>
            </a:r>
            <a:r>
              <a:rPr lang="en-US" altLang="zh-CN" sz="1400" dirty="0">
                <a:solidFill>
                  <a:srgbClr val="E5C07B"/>
                </a:solidFill>
                <a:cs typeface="+mn-ea"/>
                <a:sym typeface="+mn-lt"/>
              </a:rPr>
              <a:t>packed(1)</a:t>
            </a:r>
            <a:r>
              <a:rPr lang="en-US" altLang="zh-CN" sz="1400" dirty="0">
                <a:solidFill>
                  <a:srgbClr val="ABB2BF"/>
                </a:solidFill>
                <a:cs typeface="+mn-ea"/>
                <a:sym typeface="+mn-lt"/>
              </a:rPr>
              <a:t>)]</a:t>
            </a:r>
          </a:p>
          <a:p>
            <a:pPr lvl="0"/>
            <a:r>
              <a:rPr lang="en-US" altLang="zh-CN" sz="1400" dirty="0">
                <a:solidFill>
                  <a:srgbClr val="C678DD"/>
                </a:solidFill>
                <a:cs typeface="+mn-ea"/>
                <a:sym typeface="+mn-lt"/>
              </a:rPr>
              <a:t>struct</a:t>
            </a:r>
            <a:r>
              <a:rPr lang="en-US" altLang="zh-CN" sz="1400" dirty="0">
                <a:solidFill>
                  <a:srgbClr val="ABB2BF"/>
                </a:solidFill>
                <a:cs typeface="+mn-ea"/>
                <a:sym typeface="+mn-lt"/>
              </a:rPr>
              <a:t> </a:t>
            </a:r>
            <a:r>
              <a:rPr lang="en-US" altLang="zh-CN" sz="1400" dirty="0">
                <a:solidFill>
                  <a:srgbClr val="E5C07B"/>
                </a:solidFill>
                <a:cs typeface="+mn-ea"/>
                <a:sym typeface="+mn-lt"/>
              </a:rPr>
              <a:t>Foo</a:t>
            </a:r>
            <a:r>
              <a:rPr lang="en-US" altLang="zh-CN" sz="1400" dirty="0">
                <a:solidFill>
                  <a:srgbClr val="ABB2BF"/>
                </a:solidFill>
                <a:cs typeface="+mn-ea"/>
                <a:sym typeface="+mn-lt"/>
              </a:rPr>
              <a:t> {</a:t>
            </a:r>
          </a:p>
          <a:p>
            <a:pPr lvl="0"/>
            <a:r>
              <a:rPr lang="en-US" altLang="zh-CN" sz="1400" dirty="0">
                <a:solidFill>
                  <a:srgbClr val="ABB2BF"/>
                </a:solidFill>
                <a:cs typeface="+mn-ea"/>
                <a:sym typeface="+mn-lt"/>
              </a:rPr>
              <a:t>    </a:t>
            </a:r>
            <a:r>
              <a:rPr lang="en-US" altLang="zh-CN" sz="1400" dirty="0">
                <a:solidFill>
                  <a:srgbClr val="E06C75"/>
                </a:solidFill>
                <a:cs typeface="+mn-ea"/>
                <a:sym typeface="+mn-lt"/>
              </a:rPr>
              <a:t>x</a:t>
            </a:r>
            <a:r>
              <a:rPr lang="en-US" altLang="zh-CN" sz="1400" dirty="0">
                <a:solidFill>
                  <a:srgbClr val="ABB2BF"/>
                </a:solidFill>
                <a:cs typeface="+mn-ea"/>
                <a:sym typeface="+mn-lt"/>
              </a:rPr>
              <a:t>: </a:t>
            </a:r>
            <a:r>
              <a:rPr lang="en-US" altLang="zh-CN" sz="1400" dirty="0">
                <a:solidFill>
                  <a:srgbClr val="E5C07B"/>
                </a:solidFill>
                <a:cs typeface="+mn-ea"/>
                <a:sym typeface="+mn-lt"/>
              </a:rPr>
              <a:t>i8</a:t>
            </a:r>
            <a:r>
              <a:rPr lang="en-US" altLang="zh-CN" sz="1400" dirty="0">
                <a:solidFill>
                  <a:srgbClr val="ABB2BF"/>
                </a:solidFill>
                <a:cs typeface="+mn-ea"/>
                <a:sym typeface="+mn-lt"/>
              </a:rPr>
              <a:t>, </a:t>
            </a:r>
            <a:r>
              <a:rPr lang="en-US" altLang="zh-CN" sz="1400" dirty="0">
                <a:solidFill>
                  <a:srgbClr val="E06C75"/>
                </a:solidFill>
                <a:cs typeface="+mn-ea"/>
                <a:sym typeface="+mn-lt"/>
              </a:rPr>
              <a:t>y</a:t>
            </a:r>
            <a:r>
              <a:rPr lang="en-US" altLang="zh-CN" sz="1400" dirty="0">
                <a:solidFill>
                  <a:srgbClr val="ABB2BF"/>
                </a:solidFill>
                <a:cs typeface="+mn-ea"/>
                <a:sym typeface="+mn-lt"/>
              </a:rPr>
              <a:t>: </a:t>
            </a:r>
            <a:r>
              <a:rPr lang="en-US" altLang="zh-CN" sz="1400" dirty="0">
                <a:solidFill>
                  <a:srgbClr val="E5C07B"/>
                </a:solidFill>
                <a:cs typeface="+mn-ea"/>
                <a:sym typeface="+mn-lt"/>
              </a:rPr>
              <a:t>i16</a:t>
            </a:r>
            <a:r>
              <a:rPr lang="en-US" altLang="zh-CN" sz="1400" dirty="0">
                <a:solidFill>
                  <a:srgbClr val="ABB2BF"/>
                </a:solidFill>
                <a:cs typeface="+mn-ea"/>
                <a:sym typeface="+mn-lt"/>
              </a:rPr>
              <a:t>,</a:t>
            </a:r>
          </a:p>
          <a:p>
            <a:pPr lvl="0"/>
            <a:r>
              <a:rPr lang="en-US" altLang="zh-CN" sz="1400" dirty="0">
                <a:solidFill>
                  <a:srgbClr val="ABB2BF"/>
                </a:solidFill>
                <a:cs typeface="+mn-ea"/>
                <a:sym typeface="+mn-lt"/>
              </a:rPr>
              <a:t>}</a:t>
            </a:r>
          </a:p>
          <a:p>
            <a:pPr lvl="0"/>
            <a:r>
              <a:rPr lang="en-US" altLang="zh-CN" sz="1400" dirty="0">
                <a:solidFill>
                  <a:srgbClr val="FFFFFF"/>
                </a:solidFill>
                <a:cs typeface="+mn-ea"/>
                <a:sym typeface="+mn-lt"/>
              </a:rPr>
              <a:t>// </a:t>
            </a:r>
            <a:r>
              <a:rPr lang="en-US" altLang="zh-CN" sz="1400" b="1" dirty="0">
                <a:solidFill>
                  <a:srgbClr val="00B050"/>
                </a:solidFill>
                <a:cs typeface="+mn-ea"/>
                <a:sym typeface="+mn-lt"/>
              </a:rPr>
              <a:t>#[</a:t>
            </a:r>
            <a:r>
              <a:rPr lang="en-US" altLang="zh-CN" sz="1400" b="1" dirty="0" err="1">
                <a:solidFill>
                  <a:srgbClr val="00B050"/>
                </a:solidFill>
                <a:cs typeface="+mn-ea"/>
                <a:sym typeface="+mn-lt"/>
              </a:rPr>
              <a:t>repr</a:t>
            </a:r>
            <a:r>
              <a:rPr lang="en-US" altLang="zh-CN" sz="1400" b="1" dirty="0">
                <a:solidFill>
                  <a:srgbClr val="00B050"/>
                </a:solidFill>
                <a:cs typeface="+mn-ea"/>
                <a:sym typeface="+mn-lt"/>
              </a:rPr>
              <a:t>(align)]</a:t>
            </a:r>
            <a:r>
              <a:rPr lang="zh-CN" altLang="en-US" sz="1400" b="1" dirty="0">
                <a:solidFill>
                  <a:srgbClr val="00B050"/>
                </a:solidFill>
                <a:cs typeface="+mn-ea"/>
                <a:sym typeface="+mn-lt"/>
              </a:rPr>
              <a:t>结构体代码示例</a:t>
            </a:r>
          </a:p>
          <a:p>
            <a:pPr lvl="0"/>
            <a:r>
              <a:rPr lang="en-US" altLang="zh-CN" sz="1400" dirty="0">
                <a:solidFill>
                  <a:srgbClr val="ABB2BF"/>
                </a:solidFill>
                <a:cs typeface="+mn-ea"/>
                <a:sym typeface="+mn-lt"/>
              </a:rPr>
              <a:t>#[</a:t>
            </a:r>
            <a:r>
              <a:rPr lang="en-US" altLang="zh-CN" sz="1400" dirty="0" err="1">
                <a:solidFill>
                  <a:srgbClr val="ABB2BF"/>
                </a:solidFill>
                <a:cs typeface="+mn-ea"/>
                <a:sym typeface="+mn-lt"/>
              </a:rPr>
              <a:t>repr</a:t>
            </a:r>
            <a:r>
              <a:rPr lang="en-US" altLang="zh-CN" sz="1400" dirty="0">
                <a:solidFill>
                  <a:srgbClr val="ABB2BF"/>
                </a:solidFill>
                <a:cs typeface="+mn-ea"/>
                <a:sym typeface="+mn-lt"/>
              </a:rPr>
              <a:t>(C, </a:t>
            </a:r>
            <a:r>
              <a:rPr lang="en-US" altLang="zh-CN" sz="1400" dirty="0">
                <a:solidFill>
                  <a:srgbClr val="E5C07B"/>
                </a:solidFill>
                <a:cs typeface="+mn-ea"/>
                <a:sym typeface="+mn-lt"/>
              </a:rPr>
              <a:t>align(4)</a:t>
            </a:r>
            <a:r>
              <a:rPr lang="en-US" altLang="zh-CN" sz="1400" dirty="0">
                <a:solidFill>
                  <a:srgbClr val="ABB2BF"/>
                </a:solidFill>
                <a:cs typeface="+mn-ea"/>
                <a:sym typeface="+mn-lt"/>
              </a:rPr>
              <a:t>)]</a:t>
            </a:r>
          </a:p>
          <a:p>
            <a:pPr lvl="0"/>
            <a:r>
              <a:rPr lang="en-US" altLang="zh-CN" sz="1400" dirty="0">
                <a:solidFill>
                  <a:srgbClr val="C678DD"/>
                </a:solidFill>
                <a:cs typeface="+mn-ea"/>
                <a:sym typeface="+mn-lt"/>
              </a:rPr>
              <a:t>struct</a:t>
            </a:r>
            <a:r>
              <a:rPr lang="en-US" altLang="zh-CN" sz="1400" dirty="0">
                <a:solidFill>
                  <a:srgbClr val="ABB2BF"/>
                </a:solidFill>
                <a:cs typeface="+mn-ea"/>
                <a:sym typeface="+mn-lt"/>
              </a:rPr>
              <a:t> </a:t>
            </a:r>
            <a:r>
              <a:rPr lang="en-US" altLang="zh-CN" sz="1400" dirty="0">
                <a:solidFill>
                  <a:srgbClr val="E5C07B"/>
                </a:solidFill>
                <a:cs typeface="+mn-ea"/>
                <a:sym typeface="+mn-lt"/>
              </a:rPr>
              <a:t>Bar</a:t>
            </a:r>
            <a:r>
              <a:rPr lang="en-US" altLang="zh-CN" sz="1400" dirty="0">
                <a:solidFill>
                  <a:srgbClr val="ABB2BF"/>
                </a:solidFill>
                <a:cs typeface="+mn-ea"/>
                <a:sym typeface="+mn-lt"/>
              </a:rPr>
              <a:t> {</a:t>
            </a:r>
          </a:p>
          <a:p>
            <a:pPr lvl="0"/>
            <a:r>
              <a:rPr lang="en-US" altLang="zh-CN" sz="1400" dirty="0">
                <a:solidFill>
                  <a:srgbClr val="ABB2BF"/>
                </a:solidFill>
                <a:cs typeface="+mn-ea"/>
                <a:sym typeface="+mn-lt"/>
              </a:rPr>
              <a:t>    </a:t>
            </a:r>
            <a:r>
              <a:rPr lang="en-US" altLang="zh-CN" sz="1400" dirty="0">
                <a:solidFill>
                  <a:srgbClr val="E06C75"/>
                </a:solidFill>
                <a:cs typeface="+mn-ea"/>
                <a:sym typeface="+mn-lt"/>
              </a:rPr>
              <a:t>x</a:t>
            </a:r>
            <a:r>
              <a:rPr lang="en-US" altLang="zh-CN" sz="1400" dirty="0">
                <a:solidFill>
                  <a:srgbClr val="ABB2BF"/>
                </a:solidFill>
                <a:cs typeface="+mn-ea"/>
                <a:sym typeface="+mn-lt"/>
              </a:rPr>
              <a:t>: </a:t>
            </a:r>
            <a:r>
              <a:rPr lang="en-US" altLang="zh-CN" sz="1400" dirty="0">
                <a:solidFill>
                  <a:srgbClr val="E5C07B"/>
                </a:solidFill>
                <a:cs typeface="+mn-ea"/>
                <a:sym typeface="+mn-lt"/>
              </a:rPr>
              <a:t>i8</a:t>
            </a:r>
            <a:r>
              <a:rPr lang="en-US" altLang="zh-CN" sz="1400" dirty="0">
                <a:solidFill>
                  <a:srgbClr val="ABB2BF"/>
                </a:solidFill>
                <a:cs typeface="+mn-ea"/>
                <a:sym typeface="+mn-lt"/>
              </a:rPr>
              <a:t>, </a:t>
            </a:r>
            <a:r>
              <a:rPr lang="en-US" altLang="zh-CN" sz="1400" dirty="0">
                <a:solidFill>
                  <a:srgbClr val="E06C75"/>
                </a:solidFill>
                <a:cs typeface="+mn-ea"/>
                <a:sym typeface="+mn-lt"/>
              </a:rPr>
              <a:t>y</a:t>
            </a:r>
            <a:r>
              <a:rPr lang="en-US" altLang="zh-CN" sz="1400" dirty="0">
                <a:solidFill>
                  <a:srgbClr val="ABB2BF"/>
                </a:solidFill>
                <a:cs typeface="+mn-ea"/>
                <a:sym typeface="+mn-lt"/>
              </a:rPr>
              <a:t>: </a:t>
            </a:r>
            <a:r>
              <a:rPr lang="en-US" altLang="zh-CN" sz="1400" dirty="0">
                <a:solidFill>
                  <a:srgbClr val="E5C07B"/>
                </a:solidFill>
                <a:cs typeface="+mn-ea"/>
                <a:sym typeface="+mn-lt"/>
              </a:rPr>
              <a:t>i16</a:t>
            </a:r>
            <a:r>
              <a:rPr lang="en-US" altLang="zh-CN" sz="1400" dirty="0">
                <a:solidFill>
                  <a:srgbClr val="ABB2BF"/>
                </a:solidFill>
                <a:cs typeface="+mn-ea"/>
                <a:sym typeface="+mn-lt"/>
              </a:rPr>
              <a:t>,</a:t>
            </a:r>
          </a:p>
          <a:p>
            <a:pPr lvl="0"/>
            <a:r>
              <a:rPr lang="en-US" altLang="zh-CN" sz="1400" dirty="0">
                <a:solidFill>
                  <a:srgbClr val="ABB2BF"/>
                </a:solidFill>
                <a:cs typeface="+mn-ea"/>
                <a:sym typeface="+mn-lt"/>
              </a:rPr>
              <a:t>}</a:t>
            </a:r>
          </a:p>
          <a:p>
            <a:endParaRPr lang="en-US" altLang="zh-CN" sz="1400" dirty="0">
              <a:solidFill>
                <a:srgbClr val="ABB2BF"/>
              </a:solidFill>
              <a:cs typeface="+mn-ea"/>
              <a:sym typeface="+mn-lt"/>
            </a:endParaRPr>
          </a:p>
          <a:p>
            <a:r>
              <a:rPr lang="en-US" altLang="zh-CN" sz="1400" dirty="0" err="1">
                <a:solidFill>
                  <a:srgbClr val="C678DD"/>
                </a:solidFill>
                <a:cs typeface="+mn-ea"/>
                <a:sym typeface="+mn-lt"/>
              </a:rPr>
              <a:t>fn</a:t>
            </a:r>
            <a:r>
              <a:rPr lang="en-US" altLang="zh-CN" sz="1400" dirty="0">
                <a:solidFill>
                  <a:srgbClr val="ABB2BF"/>
                </a:solidFill>
                <a:cs typeface="+mn-ea"/>
                <a:sym typeface="+mn-lt"/>
              </a:rPr>
              <a:t> </a:t>
            </a:r>
            <a:r>
              <a:rPr lang="en-US" altLang="zh-CN" sz="1400" dirty="0">
                <a:solidFill>
                  <a:srgbClr val="61AFEF"/>
                </a:solidFill>
                <a:cs typeface="+mn-ea"/>
                <a:sym typeface="+mn-lt"/>
              </a:rPr>
              <a:t>main</a:t>
            </a:r>
            <a:r>
              <a:rPr lang="en-US" altLang="zh-CN" sz="1400" dirty="0">
                <a:solidFill>
                  <a:srgbClr val="ABB2BF"/>
                </a:solidFill>
                <a:cs typeface="+mn-ea"/>
                <a:sym typeface="+mn-lt"/>
              </a:rPr>
              <a:t>() {</a:t>
            </a:r>
          </a:p>
          <a:p>
            <a:r>
              <a:rPr lang="en-US" altLang="zh-CN" sz="1400" dirty="0">
                <a:solidFill>
                  <a:srgbClr val="ABB2BF"/>
                </a:solidFill>
                <a:cs typeface="+mn-ea"/>
                <a:sym typeface="+mn-lt"/>
              </a:rPr>
              <a:t>    </a:t>
            </a:r>
            <a:r>
              <a:rPr lang="en-US" altLang="zh-CN" sz="1400" dirty="0" err="1">
                <a:solidFill>
                  <a:srgbClr val="61AFEF"/>
                </a:solidFill>
                <a:cs typeface="+mn-ea"/>
                <a:sym typeface="+mn-lt"/>
              </a:rPr>
              <a:t>assert_eq</a:t>
            </a:r>
            <a:r>
              <a:rPr lang="en-US" altLang="zh-CN" sz="1400" dirty="0">
                <a:solidFill>
                  <a:srgbClr val="61AFEF"/>
                </a:solidFill>
                <a:cs typeface="+mn-ea"/>
                <a:sym typeface="+mn-lt"/>
              </a:rPr>
              <a:t>!</a:t>
            </a:r>
            <a:r>
              <a:rPr lang="en-US" altLang="zh-CN" sz="1400" dirty="0">
                <a:solidFill>
                  <a:srgbClr val="ABB2BF"/>
                </a:solidFill>
                <a:cs typeface="+mn-ea"/>
                <a:sym typeface="+mn-lt"/>
              </a:rPr>
              <a:t>(</a:t>
            </a:r>
            <a:r>
              <a:rPr lang="en-US" altLang="zh-CN" sz="1400" dirty="0">
                <a:solidFill>
                  <a:srgbClr val="D19A66"/>
                </a:solidFill>
                <a:cs typeface="+mn-ea"/>
                <a:sym typeface="+mn-lt"/>
              </a:rPr>
              <a:t>4</a:t>
            </a:r>
            <a:r>
              <a:rPr lang="en-US" altLang="zh-CN" sz="1400" dirty="0">
                <a:solidFill>
                  <a:srgbClr val="ABB2BF"/>
                </a:solidFill>
                <a:cs typeface="+mn-ea"/>
                <a:sym typeface="+mn-lt"/>
              </a:rPr>
              <a:t>, </a:t>
            </a:r>
            <a:r>
              <a:rPr lang="en-US" altLang="zh-CN" sz="1400" dirty="0">
                <a:solidFill>
                  <a:srgbClr val="E5C07B"/>
                </a:solidFill>
                <a:cs typeface="+mn-ea"/>
                <a:sym typeface="+mn-lt"/>
              </a:rPr>
              <a:t>std</a:t>
            </a:r>
            <a:r>
              <a:rPr lang="en-US" altLang="zh-CN" sz="1400" dirty="0">
                <a:solidFill>
                  <a:srgbClr val="ABB2BF"/>
                </a:solidFill>
                <a:cs typeface="+mn-ea"/>
                <a:sym typeface="+mn-lt"/>
              </a:rPr>
              <a:t>::</a:t>
            </a:r>
            <a:r>
              <a:rPr lang="en-US" altLang="zh-CN" sz="1400" dirty="0">
                <a:solidFill>
                  <a:srgbClr val="E5C07B"/>
                </a:solidFill>
                <a:cs typeface="+mn-ea"/>
                <a:sym typeface="+mn-lt"/>
              </a:rPr>
              <a:t>mem</a:t>
            </a:r>
            <a:r>
              <a:rPr lang="en-US" altLang="zh-CN" sz="1400" dirty="0">
                <a:solidFill>
                  <a:srgbClr val="ABB2BF"/>
                </a:solidFill>
                <a:cs typeface="+mn-ea"/>
                <a:sym typeface="+mn-lt"/>
              </a:rPr>
              <a:t>::</a:t>
            </a:r>
            <a:r>
              <a:rPr lang="en-US" altLang="zh-CN" sz="1400" dirty="0" err="1">
                <a:solidFill>
                  <a:srgbClr val="61AFEF"/>
                </a:solidFill>
                <a:cs typeface="+mn-ea"/>
                <a:sym typeface="+mn-lt"/>
              </a:rPr>
              <a:t>size_of</a:t>
            </a:r>
            <a:r>
              <a:rPr lang="en-US" altLang="zh-CN" sz="1400" dirty="0">
                <a:solidFill>
                  <a:srgbClr val="ABB2BF"/>
                </a:solidFill>
                <a:cs typeface="+mn-ea"/>
                <a:sym typeface="+mn-lt"/>
              </a:rPr>
              <a:t>::&lt;</a:t>
            </a:r>
            <a:r>
              <a:rPr lang="en-US" altLang="zh-CN" sz="1400" dirty="0">
                <a:solidFill>
                  <a:srgbClr val="E5C07B"/>
                </a:solidFill>
                <a:cs typeface="+mn-ea"/>
                <a:sym typeface="+mn-lt"/>
              </a:rPr>
              <a:t>D</a:t>
            </a:r>
            <a:r>
              <a:rPr lang="en-US" altLang="zh-CN" sz="1400" dirty="0">
                <a:solidFill>
                  <a:srgbClr val="ABB2BF"/>
                </a:solidFill>
                <a:cs typeface="+mn-ea"/>
                <a:sym typeface="+mn-lt"/>
              </a:rPr>
              <a:t>&gt;());</a:t>
            </a:r>
          </a:p>
          <a:p>
            <a:r>
              <a:rPr lang="en-US" altLang="zh-CN" sz="1400" dirty="0">
                <a:solidFill>
                  <a:srgbClr val="ABB2BF"/>
                </a:solidFill>
                <a:cs typeface="+mn-ea"/>
                <a:sym typeface="+mn-lt"/>
              </a:rPr>
              <a:t>    </a:t>
            </a:r>
            <a:r>
              <a:rPr lang="en-US" altLang="zh-CN" sz="1400" dirty="0" err="1">
                <a:solidFill>
                  <a:srgbClr val="61AFEF"/>
                </a:solidFill>
                <a:cs typeface="+mn-ea"/>
                <a:sym typeface="+mn-lt"/>
              </a:rPr>
              <a:t>assert_eq</a:t>
            </a:r>
            <a:r>
              <a:rPr lang="en-US" altLang="zh-CN" sz="1400" dirty="0">
                <a:solidFill>
                  <a:srgbClr val="61AFEF"/>
                </a:solidFill>
                <a:cs typeface="+mn-ea"/>
                <a:sym typeface="+mn-lt"/>
              </a:rPr>
              <a:t>!</a:t>
            </a:r>
            <a:r>
              <a:rPr lang="en-US" altLang="zh-CN" sz="1400" dirty="0">
                <a:solidFill>
                  <a:srgbClr val="ABB2BF"/>
                </a:solidFill>
                <a:cs typeface="+mn-ea"/>
                <a:sym typeface="+mn-lt"/>
              </a:rPr>
              <a:t>(</a:t>
            </a:r>
            <a:r>
              <a:rPr lang="en-US" altLang="zh-CN" sz="1400" dirty="0">
                <a:solidFill>
                  <a:srgbClr val="D19A66"/>
                </a:solidFill>
                <a:cs typeface="+mn-ea"/>
                <a:sym typeface="+mn-lt"/>
              </a:rPr>
              <a:t>2</a:t>
            </a:r>
            <a:r>
              <a:rPr lang="en-US" altLang="zh-CN" sz="1400" dirty="0">
                <a:solidFill>
                  <a:srgbClr val="ABB2BF"/>
                </a:solidFill>
                <a:cs typeface="+mn-ea"/>
                <a:sym typeface="+mn-lt"/>
              </a:rPr>
              <a:t>, </a:t>
            </a:r>
            <a:r>
              <a:rPr lang="en-US" altLang="zh-CN" sz="1400" dirty="0">
                <a:solidFill>
                  <a:srgbClr val="E5C07B"/>
                </a:solidFill>
                <a:cs typeface="+mn-ea"/>
                <a:sym typeface="+mn-lt"/>
              </a:rPr>
              <a:t>std</a:t>
            </a:r>
            <a:r>
              <a:rPr lang="en-US" altLang="zh-CN" sz="1400" dirty="0">
                <a:solidFill>
                  <a:srgbClr val="ABB2BF"/>
                </a:solidFill>
                <a:cs typeface="+mn-ea"/>
                <a:sym typeface="+mn-lt"/>
              </a:rPr>
              <a:t>::</a:t>
            </a:r>
            <a:r>
              <a:rPr lang="en-US" altLang="zh-CN" sz="1400" dirty="0">
                <a:solidFill>
                  <a:srgbClr val="E5C07B"/>
                </a:solidFill>
                <a:cs typeface="+mn-ea"/>
                <a:sym typeface="+mn-lt"/>
              </a:rPr>
              <a:t>mem</a:t>
            </a:r>
            <a:r>
              <a:rPr lang="en-US" altLang="zh-CN" sz="1400" dirty="0">
                <a:solidFill>
                  <a:srgbClr val="ABB2BF"/>
                </a:solidFill>
                <a:cs typeface="+mn-ea"/>
                <a:sym typeface="+mn-lt"/>
              </a:rPr>
              <a:t>::</a:t>
            </a:r>
            <a:r>
              <a:rPr lang="en-US" altLang="zh-CN" sz="1400" dirty="0" err="1">
                <a:solidFill>
                  <a:srgbClr val="61AFEF"/>
                </a:solidFill>
                <a:cs typeface="+mn-ea"/>
                <a:sym typeface="+mn-lt"/>
              </a:rPr>
              <a:t>align_of</a:t>
            </a:r>
            <a:r>
              <a:rPr lang="en-US" altLang="zh-CN" sz="1400" dirty="0">
                <a:solidFill>
                  <a:srgbClr val="ABB2BF"/>
                </a:solidFill>
                <a:cs typeface="+mn-ea"/>
                <a:sym typeface="+mn-lt"/>
              </a:rPr>
              <a:t>::&lt;</a:t>
            </a:r>
            <a:r>
              <a:rPr lang="en-US" altLang="zh-CN" sz="1400" dirty="0">
                <a:solidFill>
                  <a:srgbClr val="E5C07B"/>
                </a:solidFill>
                <a:cs typeface="+mn-ea"/>
                <a:sym typeface="+mn-lt"/>
              </a:rPr>
              <a:t>D</a:t>
            </a:r>
            <a:r>
              <a:rPr lang="en-US" altLang="zh-CN" sz="1400" dirty="0">
                <a:solidFill>
                  <a:srgbClr val="ABB2BF"/>
                </a:solidFill>
                <a:cs typeface="+mn-ea"/>
                <a:sym typeface="+mn-lt"/>
              </a:rPr>
              <a:t>&gt;());</a:t>
            </a:r>
          </a:p>
          <a:p>
            <a:endParaRPr lang="en-US" altLang="zh-CN" sz="1400" dirty="0">
              <a:solidFill>
                <a:srgbClr val="ABB2BF"/>
              </a:solidFill>
              <a:cs typeface="+mn-ea"/>
              <a:sym typeface="+mn-lt"/>
            </a:endParaRPr>
          </a:p>
          <a:p>
            <a:pPr lvl="0"/>
            <a:r>
              <a:rPr lang="en-US" altLang="zh-CN" sz="1400" i="1" dirty="0">
                <a:solidFill>
                  <a:srgbClr val="7F848E"/>
                </a:solidFill>
                <a:cs typeface="+mn-ea"/>
                <a:sym typeface="+mn-lt"/>
              </a:rPr>
              <a:t>    </a:t>
            </a:r>
            <a:r>
              <a:rPr lang="en-US" altLang="zh-CN" sz="1400" dirty="0" err="1">
                <a:solidFill>
                  <a:srgbClr val="61AFEF"/>
                </a:solidFill>
                <a:cs typeface="+mn-ea"/>
                <a:sym typeface="+mn-lt"/>
              </a:rPr>
              <a:t>assert_eq</a:t>
            </a:r>
            <a:r>
              <a:rPr lang="en-US" altLang="zh-CN" sz="1400" dirty="0">
                <a:solidFill>
                  <a:srgbClr val="61AFEF"/>
                </a:solidFill>
                <a:cs typeface="+mn-ea"/>
                <a:sym typeface="+mn-lt"/>
              </a:rPr>
              <a:t>!</a:t>
            </a:r>
            <a:r>
              <a:rPr lang="en-US" altLang="zh-CN" sz="1400" dirty="0">
                <a:solidFill>
                  <a:srgbClr val="ABB2BF"/>
                </a:solidFill>
                <a:cs typeface="+mn-ea"/>
                <a:sym typeface="+mn-lt"/>
              </a:rPr>
              <a:t>(</a:t>
            </a:r>
            <a:r>
              <a:rPr lang="en-US" altLang="zh-CN" sz="1400" dirty="0">
                <a:solidFill>
                  <a:srgbClr val="D19A66"/>
                </a:solidFill>
                <a:cs typeface="+mn-ea"/>
                <a:sym typeface="+mn-lt"/>
              </a:rPr>
              <a:t>3</a:t>
            </a:r>
            <a:r>
              <a:rPr lang="en-US" altLang="zh-CN" sz="1400" dirty="0">
                <a:solidFill>
                  <a:srgbClr val="ABB2BF"/>
                </a:solidFill>
                <a:cs typeface="+mn-ea"/>
                <a:sym typeface="+mn-lt"/>
              </a:rPr>
              <a:t>, </a:t>
            </a:r>
            <a:r>
              <a:rPr lang="en-US" altLang="zh-CN" sz="1400" dirty="0">
                <a:solidFill>
                  <a:srgbClr val="E5C07B"/>
                </a:solidFill>
                <a:cs typeface="+mn-ea"/>
                <a:sym typeface="+mn-lt"/>
              </a:rPr>
              <a:t>std</a:t>
            </a:r>
            <a:r>
              <a:rPr lang="en-US" altLang="zh-CN" sz="1400" dirty="0">
                <a:solidFill>
                  <a:srgbClr val="ABB2BF"/>
                </a:solidFill>
                <a:cs typeface="+mn-ea"/>
                <a:sym typeface="+mn-lt"/>
              </a:rPr>
              <a:t>::</a:t>
            </a:r>
            <a:r>
              <a:rPr lang="en-US" altLang="zh-CN" sz="1400" dirty="0">
                <a:solidFill>
                  <a:srgbClr val="E5C07B"/>
                </a:solidFill>
                <a:cs typeface="+mn-ea"/>
                <a:sym typeface="+mn-lt"/>
              </a:rPr>
              <a:t>mem</a:t>
            </a:r>
            <a:r>
              <a:rPr lang="en-US" altLang="zh-CN" sz="1400" dirty="0">
                <a:solidFill>
                  <a:srgbClr val="ABB2BF"/>
                </a:solidFill>
                <a:cs typeface="+mn-ea"/>
                <a:sym typeface="+mn-lt"/>
              </a:rPr>
              <a:t>::</a:t>
            </a:r>
            <a:r>
              <a:rPr lang="en-US" altLang="zh-CN" sz="1400" dirty="0" err="1">
                <a:solidFill>
                  <a:srgbClr val="61AFEF"/>
                </a:solidFill>
                <a:cs typeface="+mn-ea"/>
                <a:sym typeface="+mn-lt"/>
              </a:rPr>
              <a:t>size_of</a:t>
            </a:r>
            <a:r>
              <a:rPr lang="en-US" altLang="zh-CN" sz="1400" dirty="0">
                <a:solidFill>
                  <a:srgbClr val="ABB2BF"/>
                </a:solidFill>
                <a:cs typeface="+mn-ea"/>
                <a:sym typeface="+mn-lt"/>
              </a:rPr>
              <a:t>::&lt;</a:t>
            </a:r>
            <a:r>
              <a:rPr lang="en-US" altLang="zh-CN" sz="1400" dirty="0">
                <a:solidFill>
                  <a:srgbClr val="E5C07B"/>
                </a:solidFill>
                <a:cs typeface="+mn-ea"/>
                <a:sym typeface="+mn-lt"/>
              </a:rPr>
              <a:t>Foo</a:t>
            </a:r>
            <a:r>
              <a:rPr lang="en-US" altLang="zh-CN" sz="1400" dirty="0">
                <a:solidFill>
                  <a:srgbClr val="ABB2BF"/>
                </a:solidFill>
                <a:cs typeface="+mn-ea"/>
                <a:sym typeface="+mn-lt"/>
              </a:rPr>
              <a:t>&gt;());</a:t>
            </a:r>
          </a:p>
          <a:p>
            <a:pPr lvl="0"/>
            <a:r>
              <a:rPr lang="en-US" altLang="zh-CN" sz="1400" dirty="0">
                <a:solidFill>
                  <a:srgbClr val="ABB2BF"/>
                </a:solidFill>
                <a:cs typeface="+mn-ea"/>
                <a:sym typeface="+mn-lt"/>
              </a:rPr>
              <a:t>    </a:t>
            </a:r>
            <a:r>
              <a:rPr lang="en-US" altLang="zh-CN" sz="1400" dirty="0" err="1">
                <a:solidFill>
                  <a:srgbClr val="61AFEF"/>
                </a:solidFill>
                <a:cs typeface="+mn-ea"/>
                <a:sym typeface="+mn-lt"/>
              </a:rPr>
              <a:t>assert_eq</a:t>
            </a:r>
            <a:r>
              <a:rPr lang="en-US" altLang="zh-CN" sz="1400" dirty="0">
                <a:solidFill>
                  <a:srgbClr val="61AFEF"/>
                </a:solidFill>
                <a:cs typeface="+mn-ea"/>
                <a:sym typeface="+mn-lt"/>
              </a:rPr>
              <a:t>!</a:t>
            </a:r>
            <a:r>
              <a:rPr lang="en-US" altLang="zh-CN" sz="1400" dirty="0">
                <a:solidFill>
                  <a:srgbClr val="ABB2BF"/>
                </a:solidFill>
                <a:cs typeface="+mn-ea"/>
                <a:sym typeface="+mn-lt"/>
              </a:rPr>
              <a:t>(</a:t>
            </a:r>
            <a:r>
              <a:rPr lang="en-US" altLang="zh-CN" sz="1400" dirty="0">
                <a:solidFill>
                  <a:srgbClr val="D19A66"/>
                </a:solidFill>
                <a:cs typeface="+mn-ea"/>
                <a:sym typeface="+mn-lt"/>
              </a:rPr>
              <a:t>1</a:t>
            </a:r>
            <a:r>
              <a:rPr lang="en-US" altLang="zh-CN" sz="1400" dirty="0">
                <a:solidFill>
                  <a:srgbClr val="ABB2BF"/>
                </a:solidFill>
                <a:cs typeface="+mn-ea"/>
                <a:sym typeface="+mn-lt"/>
              </a:rPr>
              <a:t>, </a:t>
            </a:r>
            <a:r>
              <a:rPr lang="en-US" altLang="zh-CN" sz="1400" dirty="0">
                <a:solidFill>
                  <a:srgbClr val="E5C07B"/>
                </a:solidFill>
                <a:cs typeface="+mn-ea"/>
                <a:sym typeface="+mn-lt"/>
              </a:rPr>
              <a:t>std</a:t>
            </a:r>
            <a:r>
              <a:rPr lang="en-US" altLang="zh-CN" sz="1400" dirty="0">
                <a:solidFill>
                  <a:srgbClr val="ABB2BF"/>
                </a:solidFill>
                <a:cs typeface="+mn-ea"/>
                <a:sym typeface="+mn-lt"/>
              </a:rPr>
              <a:t>::</a:t>
            </a:r>
            <a:r>
              <a:rPr lang="en-US" altLang="zh-CN" sz="1400" dirty="0">
                <a:solidFill>
                  <a:srgbClr val="E5C07B"/>
                </a:solidFill>
                <a:cs typeface="+mn-ea"/>
                <a:sym typeface="+mn-lt"/>
              </a:rPr>
              <a:t>mem</a:t>
            </a:r>
            <a:r>
              <a:rPr lang="en-US" altLang="zh-CN" sz="1400" dirty="0">
                <a:solidFill>
                  <a:srgbClr val="ABB2BF"/>
                </a:solidFill>
                <a:cs typeface="+mn-ea"/>
                <a:sym typeface="+mn-lt"/>
              </a:rPr>
              <a:t>::</a:t>
            </a:r>
            <a:r>
              <a:rPr lang="en-US" altLang="zh-CN" sz="1400" dirty="0" err="1">
                <a:solidFill>
                  <a:srgbClr val="61AFEF"/>
                </a:solidFill>
                <a:cs typeface="+mn-ea"/>
                <a:sym typeface="+mn-lt"/>
              </a:rPr>
              <a:t>align_of</a:t>
            </a:r>
            <a:r>
              <a:rPr lang="en-US" altLang="zh-CN" sz="1400" dirty="0">
                <a:solidFill>
                  <a:srgbClr val="ABB2BF"/>
                </a:solidFill>
                <a:cs typeface="+mn-ea"/>
                <a:sym typeface="+mn-lt"/>
              </a:rPr>
              <a:t>::&lt;</a:t>
            </a:r>
            <a:r>
              <a:rPr lang="en-US" altLang="zh-CN" sz="1400" dirty="0">
                <a:solidFill>
                  <a:srgbClr val="E5C07B"/>
                </a:solidFill>
                <a:cs typeface="+mn-ea"/>
                <a:sym typeface="+mn-lt"/>
              </a:rPr>
              <a:t>Foo</a:t>
            </a:r>
            <a:r>
              <a:rPr lang="en-US" altLang="zh-CN" sz="1400" dirty="0">
                <a:solidFill>
                  <a:srgbClr val="ABB2BF"/>
                </a:solidFill>
                <a:cs typeface="+mn-ea"/>
                <a:sym typeface="+mn-lt"/>
              </a:rPr>
              <a:t>&gt;());</a:t>
            </a:r>
          </a:p>
          <a:p>
            <a:endParaRPr lang="en-US" altLang="zh-CN" sz="1400" dirty="0">
              <a:solidFill>
                <a:srgbClr val="ABB2BF"/>
              </a:solidFill>
              <a:cs typeface="+mn-ea"/>
              <a:sym typeface="+mn-lt"/>
            </a:endParaRPr>
          </a:p>
          <a:p>
            <a:r>
              <a:rPr lang="en-US" altLang="zh-CN" sz="1400" dirty="0">
                <a:solidFill>
                  <a:srgbClr val="ABB2BF"/>
                </a:solidFill>
                <a:cs typeface="+mn-ea"/>
                <a:sym typeface="+mn-lt"/>
              </a:rPr>
              <a:t>    </a:t>
            </a:r>
            <a:r>
              <a:rPr lang="en-US" altLang="zh-CN" sz="1400" dirty="0" err="1">
                <a:solidFill>
                  <a:srgbClr val="61AFEF"/>
                </a:solidFill>
                <a:cs typeface="+mn-ea"/>
                <a:sym typeface="+mn-lt"/>
              </a:rPr>
              <a:t>assert_eq</a:t>
            </a:r>
            <a:r>
              <a:rPr lang="en-US" altLang="zh-CN" sz="1400" dirty="0">
                <a:solidFill>
                  <a:srgbClr val="61AFEF"/>
                </a:solidFill>
                <a:cs typeface="+mn-ea"/>
                <a:sym typeface="+mn-lt"/>
              </a:rPr>
              <a:t>!</a:t>
            </a:r>
            <a:r>
              <a:rPr lang="en-US" altLang="zh-CN" sz="1400" dirty="0">
                <a:solidFill>
                  <a:srgbClr val="ABB2BF"/>
                </a:solidFill>
                <a:cs typeface="+mn-ea"/>
                <a:sym typeface="+mn-lt"/>
              </a:rPr>
              <a:t>(</a:t>
            </a:r>
            <a:r>
              <a:rPr lang="en-US" altLang="zh-CN" sz="1400" dirty="0">
                <a:solidFill>
                  <a:srgbClr val="D19A66"/>
                </a:solidFill>
                <a:cs typeface="+mn-ea"/>
                <a:sym typeface="+mn-lt"/>
              </a:rPr>
              <a:t>4</a:t>
            </a:r>
            <a:r>
              <a:rPr lang="en-US" altLang="zh-CN" sz="1400" dirty="0">
                <a:solidFill>
                  <a:srgbClr val="ABB2BF"/>
                </a:solidFill>
                <a:cs typeface="+mn-ea"/>
                <a:sym typeface="+mn-lt"/>
              </a:rPr>
              <a:t>, </a:t>
            </a:r>
            <a:r>
              <a:rPr lang="en-US" altLang="zh-CN" sz="1400" dirty="0">
                <a:solidFill>
                  <a:srgbClr val="E5C07B"/>
                </a:solidFill>
                <a:cs typeface="+mn-ea"/>
                <a:sym typeface="+mn-lt"/>
              </a:rPr>
              <a:t>std</a:t>
            </a:r>
            <a:r>
              <a:rPr lang="en-US" altLang="zh-CN" sz="1400" dirty="0">
                <a:solidFill>
                  <a:srgbClr val="ABB2BF"/>
                </a:solidFill>
                <a:cs typeface="+mn-ea"/>
                <a:sym typeface="+mn-lt"/>
              </a:rPr>
              <a:t>::</a:t>
            </a:r>
            <a:r>
              <a:rPr lang="en-US" altLang="zh-CN" sz="1400" dirty="0">
                <a:solidFill>
                  <a:srgbClr val="E5C07B"/>
                </a:solidFill>
                <a:cs typeface="+mn-ea"/>
                <a:sym typeface="+mn-lt"/>
              </a:rPr>
              <a:t>mem</a:t>
            </a:r>
            <a:r>
              <a:rPr lang="en-US" altLang="zh-CN" sz="1400" dirty="0">
                <a:solidFill>
                  <a:srgbClr val="ABB2BF"/>
                </a:solidFill>
                <a:cs typeface="+mn-ea"/>
                <a:sym typeface="+mn-lt"/>
              </a:rPr>
              <a:t>::</a:t>
            </a:r>
            <a:r>
              <a:rPr lang="en-US" altLang="zh-CN" sz="1400" dirty="0" err="1">
                <a:solidFill>
                  <a:srgbClr val="61AFEF"/>
                </a:solidFill>
                <a:cs typeface="+mn-ea"/>
                <a:sym typeface="+mn-lt"/>
              </a:rPr>
              <a:t>size_of</a:t>
            </a:r>
            <a:r>
              <a:rPr lang="en-US" altLang="zh-CN" sz="1400" dirty="0">
                <a:solidFill>
                  <a:srgbClr val="ABB2BF"/>
                </a:solidFill>
                <a:cs typeface="+mn-ea"/>
                <a:sym typeface="+mn-lt"/>
              </a:rPr>
              <a:t>::&lt;</a:t>
            </a:r>
            <a:r>
              <a:rPr lang="en-US" altLang="zh-CN" sz="1400" dirty="0">
                <a:solidFill>
                  <a:srgbClr val="E5C07B"/>
                </a:solidFill>
                <a:cs typeface="+mn-ea"/>
                <a:sym typeface="+mn-lt"/>
              </a:rPr>
              <a:t>Bar</a:t>
            </a:r>
            <a:r>
              <a:rPr lang="en-US" altLang="zh-CN" sz="1400" dirty="0">
                <a:solidFill>
                  <a:srgbClr val="ABB2BF"/>
                </a:solidFill>
                <a:cs typeface="+mn-ea"/>
                <a:sym typeface="+mn-lt"/>
              </a:rPr>
              <a:t>&gt;());</a:t>
            </a:r>
          </a:p>
          <a:p>
            <a:r>
              <a:rPr lang="en-US" altLang="zh-CN" sz="1400" i="1" dirty="0">
                <a:solidFill>
                  <a:srgbClr val="7F848E"/>
                </a:solidFill>
                <a:cs typeface="+mn-ea"/>
                <a:sym typeface="+mn-lt"/>
              </a:rPr>
              <a:t> </a:t>
            </a:r>
            <a:r>
              <a:rPr lang="en-US" altLang="zh-CN" sz="1400" dirty="0">
                <a:solidFill>
                  <a:srgbClr val="ABB2BF"/>
                </a:solidFill>
                <a:cs typeface="+mn-ea"/>
                <a:sym typeface="+mn-lt"/>
              </a:rPr>
              <a:t>   </a:t>
            </a:r>
            <a:r>
              <a:rPr lang="en-US" altLang="zh-CN" sz="1400" dirty="0" err="1">
                <a:solidFill>
                  <a:srgbClr val="61AFEF"/>
                </a:solidFill>
                <a:cs typeface="+mn-ea"/>
                <a:sym typeface="+mn-lt"/>
              </a:rPr>
              <a:t>assert_eq</a:t>
            </a:r>
            <a:r>
              <a:rPr lang="en-US" altLang="zh-CN" sz="1400" dirty="0">
                <a:solidFill>
                  <a:srgbClr val="61AFEF"/>
                </a:solidFill>
                <a:cs typeface="+mn-ea"/>
                <a:sym typeface="+mn-lt"/>
              </a:rPr>
              <a:t>!</a:t>
            </a:r>
            <a:r>
              <a:rPr lang="en-US" altLang="zh-CN" sz="1400" dirty="0">
                <a:solidFill>
                  <a:srgbClr val="ABB2BF"/>
                </a:solidFill>
                <a:cs typeface="+mn-ea"/>
                <a:sym typeface="+mn-lt"/>
              </a:rPr>
              <a:t>(</a:t>
            </a:r>
            <a:r>
              <a:rPr lang="en-US" altLang="zh-CN" sz="1400" dirty="0">
                <a:solidFill>
                  <a:srgbClr val="D19A66"/>
                </a:solidFill>
                <a:cs typeface="+mn-ea"/>
                <a:sym typeface="+mn-lt"/>
              </a:rPr>
              <a:t>4</a:t>
            </a:r>
            <a:r>
              <a:rPr lang="en-US" altLang="zh-CN" sz="1400" dirty="0">
                <a:solidFill>
                  <a:srgbClr val="ABB2BF"/>
                </a:solidFill>
                <a:cs typeface="+mn-ea"/>
                <a:sym typeface="+mn-lt"/>
              </a:rPr>
              <a:t>, </a:t>
            </a:r>
            <a:r>
              <a:rPr lang="en-US" altLang="zh-CN" sz="1400" dirty="0">
                <a:solidFill>
                  <a:srgbClr val="E5C07B"/>
                </a:solidFill>
                <a:cs typeface="+mn-ea"/>
                <a:sym typeface="+mn-lt"/>
              </a:rPr>
              <a:t>std</a:t>
            </a:r>
            <a:r>
              <a:rPr lang="en-US" altLang="zh-CN" sz="1400" dirty="0">
                <a:solidFill>
                  <a:srgbClr val="ABB2BF"/>
                </a:solidFill>
                <a:cs typeface="+mn-ea"/>
                <a:sym typeface="+mn-lt"/>
              </a:rPr>
              <a:t>::</a:t>
            </a:r>
            <a:r>
              <a:rPr lang="en-US" altLang="zh-CN" sz="1400" dirty="0">
                <a:solidFill>
                  <a:srgbClr val="E5C07B"/>
                </a:solidFill>
                <a:cs typeface="+mn-ea"/>
                <a:sym typeface="+mn-lt"/>
              </a:rPr>
              <a:t>mem</a:t>
            </a:r>
            <a:r>
              <a:rPr lang="en-US" altLang="zh-CN" sz="1400" dirty="0">
                <a:solidFill>
                  <a:srgbClr val="ABB2BF"/>
                </a:solidFill>
                <a:cs typeface="+mn-ea"/>
                <a:sym typeface="+mn-lt"/>
              </a:rPr>
              <a:t>::</a:t>
            </a:r>
            <a:r>
              <a:rPr lang="en-US" altLang="zh-CN" sz="1400" dirty="0" err="1">
                <a:solidFill>
                  <a:srgbClr val="61AFEF"/>
                </a:solidFill>
                <a:cs typeface="+mn-ea"/>
                <a:sym typeface="+mn-lt"/>
              </a:rPr>
              <a:t>align_of</a:t>
            </a:r>
            <a:r>
              <a:rPr lang="en-US" altLang="zh-CN" sz="1400" dirty="0">
                <a:solidFill>
                  <a:srgbClr val="ABB2BF"/>
                </a:solidFill>
                <a:cs typeface="+mn-ea"/>
                <a:sym typeface="+mn-lt"/>
              </a:rPr>
              <a:t>::&lt;</a:t>
            </a:r>
            <a:r>
              <a:rPr lang="en-US" altLang="zh-CN" sz="1400" dirty="0">
                <a:solidFill>
                  <a:srgbClr val="E5C07B"/>
                </a:solidFill>
                <a:cs typeface="+mn-ea"/>
                <a:sym typeface="+mn-lt"/>
              </a:rPr>
              <a:t>Bar</a:t>
            </a:r>
            <a:r>
              <a:rPr lang="en-US" altLang="zh-CN" sz="1400" dirty="0">
                <a:solidFill>
                  <a:srgbClr val="ABB2BF"/>
                </a:solidFill>
                <a:cs typeface="+mn-ea"/>
                <a:sym typeface="+mn-lt"/>
              </a:rPr>
              <a:t>&gt;());</a:t>
            </a:r>
            <a:r>
              <a:rPr lang="en-US" altLang="zh-CN" sz="1400" i="1" dirty="0">
                <a:solidFill>
                  <a:srgbClr val="7F848E"/>
                </a:solidFill>
                <a:cs typeface="+mn-ea"/>
                <a:sym typeface="+mn-lt"/>
              </a:rPr>
              <a:t> </a:t>
            </a:r>
            <a:endParaRPr lang="en-US" altLang="zh-CN" sz="1400" dirty="0">
              <a:solidFill>
                <a:srgbClr val="ABB2BF"/>
              </a:solidFill>
              <a:cs typeface="+mn-ea"/>
              <a:sym typeface="+mn-lt"/>
            </a:endParaRPr>
          </a:p>
          <a:p>
            <a:r>
              <a:rPr lang="en-US" altLang="zh-CN" sz="1400" dirty="0">
                <a:solidFill>
                  <a:srgbClr val="ABB2BF"/>
                </a:solidFill>
                <a:cs typeface="+mn-ea"/>
                <a:sym typeface="+mn-lt"/>
              </a:rPr>
              <a:t>}</a:t>
            </a:r>
            <a:endParaRPr lang="en-US" altLang="zh-CN" sz="1400" b="0" dirty="0">
              <a:solidFill>
                <a:srgbClr val="ABB2BF"/>
              </a:solidFill>
              <a:effectLst/>
              <a:cs typeface="+mn-ea"/>
              <a:sym typeface="+mn-lt"/>
            </a:endParaRPr>
          </a:p>
        </p:txBody>
      </p:sp>
      <p:sp>
        <p:nvSpPr>
          <p:cNvPr id="8" name="矩形 7">
            <a:extLst>
              <a:ext uri="{FF2B5EF4-FFF2-40B4-BE49-F238E27FC236}">
                <a16:creationId xmlns:a16="http://schemas.microsoft.com/office/drawing/2014/main" id="{9E5A6DF8-D7ED-449E-8024-0A0F0BCC6FC0}"/>
              </a:ext>
            </a:extLst>
          </p:cNvPr>
          <p:cNvSpPr/>
          <p:nvPr/>
        </p:nvSpPr>
        <p:spPr>
          <a:xfrm>
            <a:off x="239006" y="3666661"/>
            <a:ext cx="5174966" cy="1526187"/>
          </a:xfrm>
          <a:prstGeom prst="rect">
            <a:avLst/>
          </a:prstGeom>
        </p:spPr>
        <p:txBody>
          <a:bodyPr wrap="square">
            <a:spAutoFit/>
          </a:bodyPr>
          <a:lstStyle/>
          <a:p>
            <a:pPr>
              <a:lnSpc>
                <a:spcPct val="150000"/>
              </a:lnSpc>
            </a:pPr>
            <a:r>
              <a:rPr lang="en-US" altLang="zh-CN" sz="1600" b="1" dirty="0">
                <a:cs typeface="+mn-ea"/>
                <a:sym typeface="+mn-lt"/>
              </a:rPr>
              <a:t>#[</a:t>
            </a:r>
            <a:r>
              <a:rPr lang="en-US" altLang="zh-CN" sz="1600" b="1" dirty="0" err="1">
                <a:cs typeface="+mn-ea"/>
                <a:sym typeface="+mn-lt"/>
              </a:rPr>
              <a:t>repr</a:t>
            </a:r>
            <a:r>
              <a:rPr lang="en-US" altLang="zh-CN" sz="1600" b="1" dirty="0">
                <a:cs typeface="+mn-ea"/>
                <a:sym typeface="+mn-lt"/>
              </a:rPr>
              <a:t>(align(n))]</a:t>
            </a:r>
            <a:endParaRPr lang="zh-CN" altLang="en-US" sz="1600" dirty="0">
              <a:cs typeface="+mn-ea"/>
              <a:sym typeface="+mn-lt"/>
            </a:endParaRPr>
          </a:p>
          <a:p>
            <a:pPr>
              <a:lnSpc>
                <a:spcPct val="150000"/>
              </a:lnSpc>
            </a:pPr>
            <a:r>
              <a:rPr lang="zh-CN" altLang="en-US" sz="1600" dirty="0">
                <a:cs typeface="+mn-ea"/>
                <a:sym typeface="+mn-lt"/>
              </a:rPr>
              <a:t>在基本对齐规则之上：</a:t>
            </a:r>
          </a:p>
          <a:p>
            <a:pPr marL="342900" indent="-342900">
              <a:lnSpc>
                <a:spcPct val="150000"/>
              </a:lnSpc>
              <a:buFont typeface="+mj-lt"/>
              <a:buAutoNum type="arabicPeriod"/>
            </a:pPr>
            <a:r>
              <a:rPr lang="en-US" altLang="zh-CN" sz="1600" dirty="0">
                <a:cs typeface="+mn-ea"/>
                <a:sym typeface="+mn-lt"/>
              </a:rPr>
              <a:t>n </a:t>
            </a:r>
            <a:r>
              <a:rPr lang="zh-CN" altLang="en-US" sz="1600" dirty="0">
                <a:cs typeface="+mn-ea"/>
                <a:sym typeface="+mn-lt"/>
              </a:rPr>
              <a:t>是</a:t>
            </a:r>
            <a:r>
              <a:rPr lang="en-US" altLang="zh-CN" sz="1600" dirty="0">
                <a:cs typeface="+mn-ea"/>
                <a:sym typeface="+mn-lt"/>
              </a:rPr>
              <a:t>2</a:t>
            </a:r>
            <a:r>
              <a:rPr lang="zh-CN" altLang="en-US" sz="1600" dirty="0">
                <a:cs typeface="+mn-ea"/>
                <a:sym typeface="+mn-lt"/>
              </a:rPr>
              <a:t>的幂；</a:t>
            </a:r>
            <a:endParaRPr lang="en-US" altLang="zh-CN" sz="1600" dirty="0">
              <a:cs typeface="+mn-ea"/>
              <a:sym typeface="+mn-lt"/>
            </a:endParaRPr>
          </a:p>
          <a:p>
            <a:pPr marL="342900" indent="-342900">
              <a:lnSpc>
                <a:spcPct val="150000"/>
              </a:lnSpc>
              <a:buFont typeface="+mj-lt"/>
              <a:buAutoNum type="arabicPeriod"/>
            </a:pPr>
            <a:r>
              <a:rPr lang="zh-CN" altLang="en-US" sz="1600" dirty="0">
                <a:cs typeface="+mn-ea"/>
                <a:sym typeface="+mn-lt"/>
              </a:rPr>
              <a:t>保证被修饰的类型对齐量至少是 </a:t>
            </a:r>
            <a:r>
              <a:rPr lang="en-US" altLang="zh-CN" sz="1600" dirty="0">
                <a:cs typeface="+mn-ea"/>
                <a:sym typeface="+mn-lt"/>
              </a:rPr>
              <a:t>n</a:t>
            </a:r>
            <a:r>
              <a:rPr lang="zh-CN" altLang="en-US" sz="1600" dirty="0">
                <a:cs typeface="+mn-ea"/>
                <a:sym typeface="+mn-lt"/>
              </a:rPr>
              <a:t>；</a:t>
            </a:r>
          </a:p>
        </p:txBody>
      </p:sp>
    </p:spTree>
    <p:extLst>
      <p:ext uri="{BB962C8B-B14F-4D97-AF65-F5344CB8AC3E}">
        <p14:creationId xmlns:p14="http://schemas.microsoft.com/office/powerpoint/2010/main" val="29546741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直接连接符 6"/>
          <p:cNvCxnSpPr/>
          <p:nvPr/>
        </p:nvCxnSpPr>
        <p:spPr>
          <a:xfrm>
            <a:off x="239006" y="641249"/>
            <a:ext cx="11340282"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139958" y="112899"/>
            <a:ext cx="8920065" cy="528350"/>
          </a:xfrm>
          <a:prstGeom prst="rect">
            <a:avLst/>
          </a:prstGeom>
          <a:noFill/>
        </p:spPr>
        <p:txBody>
          <a:bodyPr vert="horz" wrap="square" rtlCol="0">
            <a:spAutoFit/>
          </a:bodyPr>
          <a:lstStyle/>
          <a:p>
            <a:pPr>
              <a:lnSpc>
                <a:spcPts val="3440"/>
              </a:lnSpc>
            </a:pPr>
            <a:r>
              <a:rPr lang="en-US" altLang="zh-CN" sz="3200" b="1">
                <a:solidFill>
                  <a:srgbClr val="C00000"/>
                </a:solidFill>
                <a:cs typeface="+mn-ea"/>
                <a:sym typeface="+mn-lt"/>
              </a:rPr>
              <a:t>#[repr]</a:t>
            </a:r>
            <a:r>
              <a:rPr lang="zh-CN" altLang="en-US" sz="3200" b="1">
                <a:solidFill>
                  <a:srgbClr val="C00000"/>
                </a:solidFill>
                <a:cs typeface="+mn-ea"/>
                <a:sym typeface="+mn-lt"/>
              </a:rPr>
              <a:t>属性</a:t>
            </a:r>
            <a:r>
              <a:rPr lang="en-US" altLang="zh-CN" sz="3200" b="1">
                <a:solidFill>
                  <a:srgbClr val="C00000"/>
                </a:solidFill>
                <a:cs typeface="+mn-ea"/>
                <a:sym typeface="+mn-lt"/>
              </a:rPr>
              <a:t>-The primitive representations</a:t>
            </a:r>
          </a:p>
        </p:txBody>
      </p:sp>
      <p:sp>
        <p:nvSpPr>
          <p:cNvPr id="10" name="文本框 9"/>
          <p:cNvSpPr txBox="1"/>
          <p:nvPr/>
        </p:nvSpPr>
        <p:spPr>
          <a:xfrm>
            <a:off x="4221018" y="1404512"/>
            <a:ext cx="3253589" cy="5107940"/>
          </a:xfrm>
          <a:prstGeom prst="rect">
            <a:avLst/>
          </a:prstGeom>
          <a:solidFill>
            <a:schemeClr val="tx1"/>
          </a:solidFill>
        </p:spPr>
        <p:style>
          <a:lnRef idx="2">
            <a:schemeClr val="dk1"/>
          </a:lnRef>
          <a:fillRef idx="1">
            <a:schemeClr val="lt1"/>
          </a:fillRef>
          <a:effectRef idx="0">
            <a:schemeClr val="dk1"/>
          </a:effectRef>
          <a:fontRef idx="minor">
            <a:schemeClr val="dk1"/>
          </a:fontRef>
        </p:style>
        <p:txBody>
          <a:bodyPr vert="horz" wrap="square" rtlCol="0">
            <a:spAutoFit/>
          </a:bodyPr>
          <a:lstStyle/>
          <a:p>
            <a:r>
              <a:rPr lang="en-US" altLang="zh-CN" sz="1400">
                <a:solidFill>
                  <a:srgbClr val="FFFFFF"/>
                </a:solidFill>
                <a:cs typeface="+mn-ea"/>
                <a:sym typeface="+mn-lt"/>
              </a:rPr>
              <a:t>// </a:t>
            </a:r>
            <a:r>
              <a:rPr lang="zh-CN" altLang="en-US" sz="1400" b="1">
                <a:solidFill>
                  <a:srgbClr val="00B050"/>
                </a:solidFill>
                <a:cs typeface="+mn-ea"/>
                <a:sym typeface="+mn-lt"/>
              </a:rPr>
              <a:t>代码示例</a:t>
            </a:r>
            <a:br>
              <a:rPr lang="en-US" altLang="zh-CN" sz="1400">
                <a:solidFill>
                  <a:srgbClr val="ABB2BF"/>
                </a:solidFill>
                <a:cs typeface="+mn-ea"/>
                <a:sym typeface="+mn-lt"/>
              </a:rPr>
            </a:br>
            <a:r>
              <a:rPr lang="en-US" altLang="zh-CN" sz="1200">
                <a:solidFill>
                  <a:srgbClr val="ABB2BF"/>
                </a:solidFill>
                <a:cs typeface="+mn-ea"/>
                <a:sym typeface="+mn-lt"/>
              </a:rPr>
              <a:t>#[repr(</a:t>
            </a:r>
            <a:r>
              <a:rPr lang="en-US" altLang="zh-CN" sz="1200">
                <a:solidFill>
                  <a:srgbClr val="E5C07B"/>
                </a:solidFill>
                <a:cs typeface="+mn-ea"/>
                <a:sym typeface="+mn-lt"/>
              </a:rPr>
              <a:t>u8</a:t>
            </a:r>
            <a:r>
              <a:rPr lang="en-US" altLang="zh-CN" sz="1200">
                <a:solidFill>
                  <a:srgbClr val="ABB2BF"/>
                </a:solidFill>
                <a:cs typeface="+mn-ea"/>
                <a:sym typeface="+mn-lt"/>
              </a:rPr>
              <a:t>)]</a:t>
            </a:r>
          </a:p>
          <a:p>
            <a:r>
              <a:rPr lang="en-US" altLang="zh-CN" sz="1200">
                <a:solidFill>
                  <a:srgbClr val="C678DD"/>
                </a:solidFill>
                <a:cs typeface="+mn-ea"/>
                <a:sym typeface="+mn-lt"/>
              </a:rPr>
              <a:t>enum</a:t>
            </a:r>
            <a:r>
              <a:rPr lang="en-US" altLang="zh-CN" sz="1200">
                <a:solidFill>
                  <a:srgbClr val="ABB2BF"/>
                </a:solidFill>
                <a:cs typeface="+mn-ea"/>
                <a:sym typeface="+mn-lt"/>
              </a:rPr>
              <a:t> </a:t>
            </a:r>
            <a:r>
              <a:rPr lang="en-US" altLang="zh-CN" sz="1200">
                <a:solidFill>
                  <a:srgbClr val="E5C07B"/>
                </a:solidFill>
                <a:cs typeface="+mn-ea"/>
                <a:sym typeface="+mn-lt"/>
              </a:rPr>
              <a:t>MyEnum</a:t>
            </a:r>
            <a:r>
              <a:rPr lang="en-US" altLang="zh-CN" sz="1200">
                <a:solidFill>
                  <a:srgbClr val="ABB2BF"/>
                </a:solidFill>
                <a:cs typeface="+mn-ea"/>
                <a:sym typeface="+mn-lt"/>
              </a:rPr>
              <a:t> {</a:t>
            </a:r>
          </a:p>
          <a:p>
            <a:r>
              <a:rPr lang="en-US" altLang="zh-CN" sz="1200">
                <a:solidFill>
                  <a:srgbClr val="ABB2BF"/>
                </a:solidFill>
                <a:cs typeface="+mn-ea"/>
                <a:sym typeface="+mn-lt"/>
              </a:rPr>
              <a:t>    </a:t>
            </a:r>
            <a:r>
              <a:rPr lang="en-US" altLang="zh-CN" sz="1200">
                <a:solidFill>
                  <a:srgbClr val="61AFEF"/>
                </a:solidFill>
                <a:cs typeface="+mn-ea"/>
                <a:sym typeface="+mn-lt"/>
              </a:rPr>
              <a:t>A</a:t>
            </a:r>
            <a:r>
              <a:rPr lang="en-US" altLang="zh-CN" sz="1200">
                <a:solidFill>
                  <a:srgbClr val="ABB2BF"/>
                </a:solidFill>
                <a:cs typeface="+mn-ea"/>
                <a:sym typeface="+mn-lt"/>
              </a:rPr>
              <a:t>(</a:t>
            </a:r>
            <a:r>
              <a:rPr lang="en-US" altLang="zh-CN" sz="1200">
                <a:solidFill>
                  <a:srgbClr val="E5C07B"/>
                </a:solidFill>
                <a:cs typeface="+mn-ea"/>
                <a:sym typeface="+mn-lt"/>
              </a:rPr>
              <a:t>u32</a:t>
            </a:r>
            <a:r>
              <a:rPr lang="en-US" altLang="zh-CN" sz="1200">
                <a:solidFill>
                  <a:srgbClr val="ABB2BF"/>
                </a:solidFill>
                <a:cs typeface="+mn-ea"/>
                <a:sym typeface="+mn-lt"/>
              </a:rPr>
              <a:t>),</a:t>
            </a:r>
          </a:p>
          <a:p>
            <a:r>
              <a:rPr lang="en-US" altLang="zh-CN" sz="1200">
                <a:solidFill>
                  <a:srgbClr val="ABB2BF"/>
                </a:solidFill>
                <a:cs typeface="+mn-ea"/>
                <a:sym typeface="+mn-lt"/>
              </a:rPr>
              <a:t>    </a:t>
            </a:r>
            <a:r>
              <a:rPr lang="en-US" altLang="zh-CN" sz="1200">
                <a:solidFill>
                  <a:srgbClr val="61AFEF"/>
                </a:solidFill>
                <a:cs typeface="+mn-ea"/>
                <a:sym typeface="+mn-lt"/>
              </a:rPr>
              <a:t>B</a:t>
            </a:r>
            <a:r>
              <a:rPr lang="en-US" altLang="zh-CN" sz="1200">
                <a:solidFill>
                  <a:srgbClr val="ABB2BF"/>
                </a:solidFill>
                <a:cs typeface="+mn-ea"/>
                <a:sym typeface="+mn-lt"/>
              </a:rPr>
              <a:t>(</a:t>
            </a:r>
            <a:r>
              <a:rPr lang="en-US" altLang="zh-CN" sz="1200">
                <a:solidFill>
                  <a:srgbClr val="E5C07B"/>
                </a:solidFill>
                <a:cs typeface="+mn-ea"/>
                <a:sym typeface="+mn-lt"/>
              </a:rPr>
              <a:t>f32</a:t>
            </a:r>
            <a:r>
              <a:rPr lang="en-US" altLang="zh-CN" sz="1200">
                <a:solidFill>
                  <a:srgbClr val="ABB2BF"/>
                </a:solidFill>
                <a:cs typeface="+mn-ea"/>
                <a:sym typeface="+mn-lt"/>
              </a:rPr>
              <a:t>, </a:t>
            </a:r>
            <a:r>
              <a:rPr lang="en-US" altLang="zh-CN" sz="1200">
                <a:solidFill>
                  <a:srgbClr val="E5C07B"/>
                </a:solidFill>
                <a:cs typeface="+mn-ea"/>
                <a:sym typeface="+mn-lt"/>
              </a:rPr>
              <a:t>u64</a:t>
            </a:r>
            <a:r>
              <a:rPr lang="en-US" altLang="zh-CN" sz="1200">
                <a:solidFill>
                  <a:srgbClr val="ABB2BF"/>
                </a:solidFill>
                <a:cs typeface="+mn-ea"/>
                <a:sym typeface="+mn-lt"/>
              </a:rPr>
              <a:t>),</a:t>
            </a:r>
          </a:p>
          <a:p>
            <a:r>
              <a:rPr lang="en-US" altLang="zh-CN" sz="1200">
                <a:solidFill>
                  <a:srgbClr val="ABB2BF"/>
                </a:solidFill>
                <a:cs typeface="+mn-ea"/>
                <a:sym typeface="+mn-lt"/>
              </a:rPr>
              <a:t>    </a:t>
            </a:r>
            <a:r>
              <a:rPr lang="en-US" altLang="zh-CN" sz="1200">
                <a:solidFill>
                  <a:srgbClr val="E5C07B"/>
                </a:solidFill>
                <a:cs typeface="+mn-ea"/>
                <a:sym typeface="+mn-lt"/>
              </a:rPr>
              <a:t>C</a:t>
            </a:r>
            <a:r>
              <a:rPr lang="en-US" altLang="zh-CN" sz="1200">
                <a:solidFill>
                  <a:srgbClr val="ABB2BF"/>
                </a:solidFill>
                <a:cs typeface="+mn-ea"/>
                <a:sym typeface="+mn-lt"/>
              </a:rPr>
              <a:t> { </a:t>
            </a:r>
            <a:r>
              <a:rPr lang="en-US" altLang="zh-CN" sz="1200">
                <a:solidFill>
                  <a:srgbClr val="E06C75"/>
                </a:solidFill>
                <a:cs typeface="+mn-ea"/>
                <a:sym typeface="+mn-lt"/>
              </a:rPr>
              <a:t>x</a:t>
            </a:r>
            <a:r>
              <a:rPr lang="en-US" altLang="zh-CN" sz="1200">
                <a:solidFill>
                  <a:srgbClr val="ABB2BF"/>
                </a:solidFill>
                <a:cs typeface="+mn-ea"/>
                <a:sym typeface="+mn-lt"/>
              </a:rPr>
              <a:t>: </a:t>
            </a:r>
            <a:r>
              <a:rPr lang="en-US" altLang="zh-CN" sz="1200">
                <a:solidFill>
                  <a:srgbClr val="E5C07B"/>
                </a:solidFill>
                <a:cs typeface="+mn-ea"/>
                <a:sym typeface="+mn-lt"/>
              </a:rPr>
              <a:t>u32</a:t>
            </a:r>
            <a:r>
              <a:rPr lang="en-US" altLang="zh-CN" sz="1200">
                <a:solidFill>
                  <a:srgbClr val="ABB2BF"/>
                </a:solidFill>
                <a:cs typeface="+mn-ea"/>
                <a:sym typeface="+mn-lt"/>
              </a:rPr>
              <a:t>, </a:t>
            </a:r>
            <a:r>
              <a:rPr lang="en-US" altLang="zh-CN" sz="1200">
                <a:solidFill>
                  <a:srgbClr val="E06C75"/>
                </a:solidFill>
                <a:cs typeface="+mn-ea"/>
                <a:sym typeface="+mn-lt"/>
              </a:rPr>
              <a:t>y</a:t>
            </a:r>
            <a:r>
              <a:rPr lang="en-US" altLang="zh-CN" sz="1200">
                <a:solidFill>
                  <a:srgbClr val="ABB2BF"/>
                </a:solidFill>
                <a:cs typeface="+mn-ea"/>
                <a:sym typeface="+mn-lt"/>
              </a:rPr>
              <a:t>: </a:t>
            </a:r>
            <a:r>
              <a:rPr lang="en-US" altLang="zh-CN" sz="1200">
                <a:solidFill>
                  <a:srgbClr val="E5C07B"/>
                </a:solidFill>
                <a:cs typeface="+mn-ea"/>
                <a:sym typeface="+mn-lt"/>
              </a:rPr>
              <a:t>u8</a:t>
            </a:r>
            <a:r>
              <a:rPr lang="en-US" altLang="zh-CN" sz="1200">
                <a:solidFill>
                  <a:srgbClr val="ABB2BF"/>
                </a:solidFill>
                <a:cs typeface="+mn-ea"/>
                <a:sym typeface="+mn-lt"/>
              </a:rPr>
              <a:t> },</a:t>
            </a:r>
          </a:p>
          <a:p>
            <a:r>
              <a:rPr lang="en-US" altLang="zh-CN" sz="1200">
                <a:solidFill>
                  <a:srgbClr val="ABB2BF"/>
                </a:solidFill>
                <a:cs typeface="+mn-ea"/>
                <a:sym typeface="+mn-lt"/>
              </a:rPr>
              <a:t>    </a:t>
            </a:r>
            <a:r>
              <a:rPr lang="en-US" altLang="zh-CN" sz="1200">
                <a:solidFill>
                  <a:srgbClr val="E5C07B"/>
                </a:solidFill>
                <a:cs typeface="+mn-ea"/>
                <a:sym typeface="+mn-lt"/>
              </a:rPr>
              <a:t>D</a:t>
            </a:r>
            <a:r>
              <a:rPr lang="en-US" altLang="zh-CN" sz="1200">
                <a:solidFill>
                  <a:srgbClr val="ABB2BF"/>
                </a:solidFill>
                <a:cs typeface="+mn-ea"/>
                <a:sym typeface="+mn-lt"/>
              </a:rPr>
              <a:t>,</a:t>
            </a:r>
          </a:p>
          <a:p>
            <a:r>
              <a:rPr lang="en-US" altLang="zh-CN" sz="1200">
                <a:solidFill>
                  <a:srgbClr val="ABB2BF"/>
                </a:solidFill>
                <a:cs typeface="+mn-ea"/>
                <a:sym typeface="+mn-lt"/>
              </a:rPr>
              <a:t>}</a:t>
            </a:r>
          </a:p>
          <a:p>
            <a:br>
              <a:rPr lang="en-US" altLang="zh-CN" sz="1200">
                <a:solidFill>
                  <a:srgbClr val="ABB2BF"/>
                </a:solidFill>
                <a:cs typeface="+mn-ea"/>
                <a:sym typeface="+mn-lt"/>
              </a:rPr>
            </a:br>
            <a:r>
              <a:rPr lang="en-US" altLang="zh-CN" sz="1200" i="1">
                <a:solidFill>
                  <a:srgbClr val="7F848E"/>
                </a:solidFill>
                <a:cs typeface="+mn-ea"/>
                <a:sym typeface="+mn-lt"/>
              </a:rPr>
              <a:t>// </a:t>
            </a:r>
            <a:r>
              <a:rPr lang="zh-CN" altLang="en-US" sz="1200" i="1">
                <a:solidFill>
                  <a:srgbClr val="7F848E"/>
                </a:solidFill>
                <a:cs typeface="+mn-ea"/>
                <a:sym typeface="+mn-lt"/>
              </a:rPr>
              <a:t>这个枚举的表示形式效同于这个union</a:t>
            </a:r>
            <a:r>
              <a:rPr lang="en-US" altLang="zh-CN" sz="1200" i="1">
                <a:solidFill>
                  <a:srgbClr val="7F848E"/>
                </a:solidFill>
                <a:cs typeface="+mn-ea"/>
                <a:sym typeface="+mn-lt"/>
              </a:rPr>
              <a:t>.</a:t>
            </a:r>
            <a:endParaRPr lang="zh-CN" altLang="en-US" sz="1200">
              <a:solidFill>
                <a:srgbClr val="ABB2BF"/>
              </a:solidFill>
              <a:cs typeface="+mn-ea"/>
              <a:sym typeface="+mn-lt"/>
            </a:endParaRPr>
          </a:p>
          <a:p>
            <a:r>
              <a:rPr lang="en-US" altLang="zh-CN" sz="1200">
                <a:solidFill>
                  <a:srgbClr val="ABB2BF"/>
                </a:solidFill>
                <a:cs typeface="+mn-ea"/>
                <a:sym typeface="+mn-lt"/>
              </a:rPr>
              <a:t>#[repr(</a:t>
            </a:r>
            <a:r>
              <a:rPr lang="en-US" altLang="zh-CN" sz="1200">
                <a:solidFill>
                  <a:srgbClr val="E5C07B"/>
                </a:solidFill>
                <a:cs typeface="+mn-ea"/>
                <a:sym typeface="+mn-lt"/>
              </a:rPr>
              <a:t>C</a:t>
            </a:r>
            <a:r>
              <a:rPr lang="en-US" altLang="zh-CN" sz="1200">
                <a:solidFill>
                  <a:srgbClr val="ABB2BF"/>
                </a:solidFill>
                <a:cs typeface="+mn-ea"/>
                <a:sym typeface="+mn-lt"/>
              </a:rPr>
              <a:t>)]</a:t>
            </a:r>
          </a:p>
          <a:p>
            <a:r>
              <a:rPr lang="en-US" altLang="zh-CN" sz="1200">
                <a:solidFill>
                  <a:srgbClr val="C678DD"/>
                </a:solidFill>
                <a:cs typeface="+mn-ea"/>
                <a:sym typeface="+mn-lt"/>
              </a:rPr>
              <a:t>union</a:t>
            </a:r>
            <a:r>
              <a:rPr lang="en-US" altLang="zh-CN" sz="1200">
                <a:solidFill>
                  <a:srgbClr val="ABB2BF"/>
                </a:solidFill>
                <a:cs typeface="+mn-ea"/>
                <a:sym typeface="+mn-lt"/>
              </a:rPr>
              <a:t> </a:t>
            </a:r>
            <a:r>
              <a:rPr lang="en-US" altLang="zh-CN" sz="1200">
                <a:solidFill>
                  <a:srgbClr val="E5C07B"/>
                </a:solidFill>
                <a:cs typeface="+mn-ea"/>
                <a:sym typeface="+mn-lt"/>
              </a:rPr>
              <a:t>MyEnumRepr</a:t>
            </a:r>
            <a:r>
              <a:rPr lang="en-US" altLang="zh-CN" sz="1200">
                <a:solidFill>
                  <a:srgbClr val="ABB2BF"/>
                </a:solidFill>
                <a:cs typeface="+mn-ea"/>
                <a:sym typeface="+mn-lt"/>
              </a:rPr>
              <a:t> {</a:t>
            </a:r>
          </a:p>
          <a:p>
            <a:r>
              <a:rPr lang="en-US" altLang="zh-CN" sz="1200">
                <a:solidFill>
                  <a:srgbClr val="ABB2BF"/>
                </a:solidFill>
                <a:cs typeface="+mn-ea"/>
                <a:sym typeface="+mn-lt"/>
              </a:rPr>
              <a:t>    </a:t>
            </a:r>
            <a:r>
              <a:rPr lang="en-US" altLang="zh-CN" sz="1200">
                <a:solidFill>
                  <a:srgbClr val="E5C07B"/>
                </a:solidFill>
                <a:cs typeface="+mn-ea"/>
                <a:sym typeface="+mn-lt"/>
              </a:rPr>
              <a:t>A</a:t>
            </a:r>
            <a:r>
              <a:rPr lang="en-US" altLang="zh-CN" sz="1200">
                <a:solidFill>
                  <a:srgbClr val="ABB2BF"/>
                </a:solidFill>
                <a:cs typeface="+mn-ea"/>
                <a:sym typeface="+mn-lt"/>
              </a:rPr>
              <a:t>: </a:t>
            </a:r>
            <a:r>
              <a:rPr lang="en-US" altLang="zh-CN" sz="1200">
                <a:solidFill>
                  <a:srgbClr val="E5C07B"/>
                </a:solidFill>
                <a:cs typeface="+mn-ea"/>
                <a:sym typeface="+mn-lt"/>
              </a:rPr>
              <a:t>MyVariantA</a:t>
            </a:r>
            <a:r>
              <a:rPr lang="en-US" altLang="zh-CN" sz="1200">
                <a:solidFill>
                  <a:srgbClr val="ABB2BF"/>
                </a:solidFill>
                <a:cs typeface="+mn-ea"/>
                <a:sym typeface="+mn-lt"/>
              </a:rPr>
              <a:t>, </a:t>
            </a:r>
          </a:p>
          <a:p>
            <a:r>
              <a:rPr lang="en-US" altLang="zh-CN" sz="1200">
                <a:solidFill>
                  <a:srgbClr val="ABB2BF"/>
                </a:solidFill>
                <a:cs typeface="+mn-ea"/>
                <a:sym typeface="+mn-lt"/>
              </a:rPr>
              <a:t>    </a:t>
            </a:r>
            <a:r>
              <a:rPr lang="en-US" altLang="zh-CN" sz="1200">
                <a:solidFill>
                  <a:srgbClr val="E5C07B"/>
                </a:solidFill>
                <a:cs typeface="+mn-ea"/>
                <a:sym typeface="+mn-lt"/>
              </a:rPr>
              <a:t>B</a:t>
            </a:r>
            <a:r>
              <a:rPr lang="en-US" altLang="zh-CN" sz="1200">
                <a:solidFill>
                  <a:srgbClr val="ABB2BF"/>
                </a:solidFill>
                <a:cs typeface="+mn-ea"/>
                <a:sym typeface="+mn-lt"/>
              </a:rPr>
              <a:t>: </a:t>
            </a:r>
            <a:r>
              <a:rPr lang="en-US" altLang="zh-CN" sz="1200">
                <a:solidFill>
                  <a:srgbClr val="E5C07B"/>
                </a:solidFill>
                <a:cs typeface="+mn-ea"/>
                <a:sym typeface="+mn-lt"/>
              </a:rPr>
              <a:t>MyVariantB</a:t>
            </a:r>
            <a:r>
              <a:rPr lang="en-US" altLang="zh-CN" sz="1200">
                <a:solidFill>
                  <a:srgbClr val="ABB2BF"/>
                </a:solidFill>
                <a:cs typeface="+mn-ea"/>
                <a:sym typeface="+mn-lt"/>
              </a:rPr>
              <a:t>, </a:t>
            </a:r>
          </a:p>
          <a:p>
            <a:r>
              <a:rPr lang="en-US" altLang="zh-CN" sz="1200">
                <a:solidFill>
                  <a:srgbClr val="ABB2BF"/>
                </a:solidFill>
                <a:cs typeface="+mn-ea"/>
                <a:sym typeface="+mn-lt"/>
              </a:rPr>
              <a:t>    </a:t>
            </a:r>
            <a:r>
              <a:rPr lang="en-US" altLang="zh-CN" sz="1200">
                <a:solidFill>
                  <a:srgbClr val="E5C07B"/>
                </a:solidFill>
                <a:cs typeface="+mn-ea"/>
                <a:sym typeface="+mn-lt"/>
              </a:rPr>
              <a:t>C</a:t>
            </a:r>
            <a:r>
              <a:rPr lang="en-US" altLang="zh-CN" sz="1200">
                <a:solidFill>
                  <a:srgbClr val="ABB2BF"/>
                </a:solidFill>
                <a:cs typeface="+mn-ea"/>
                <a:sym typeface="+mn-lt"/>
              </a:rPr>
              <a:t>: </a:t>
            </a:r>
            <a:r>
              <a:rPr lang="en-US" altLang="zh-CN" sz="1200">
                <a:solidFill>
                  <a:srgbClr val="E5C07B"/>
                </a:solidFill>
                <a:cs typeface="+mn-ea"/>
                <a:sym typeface="+mn-lt"/>
              </a:rPr>
              <a:t>MyVariantC</a:t>
            </a:r>
            <a:r>
              <a:rPr lang="en-US" altLang="zh-CN" sz="1200">
                <a:solidFill>
                  <a:srgbClr val="ABB2BF"/>
                </a:solidFill>
                <a:cs typeface="+mn-ea"/>
                <a:sym typeface="+mn-lt"/>
              </a:rPr>
              <a:t>,</a:t>
            </a:r>
          </a:p>
          <a:p>
            <a:r>
              <a:rPr lang="en-US" altLang="zh-CN" sz="1200">
                <a:solidFill>
                  <a:srgbClr val="ABB2BF"/>
                </a:solidFill>
                <a:cs typeface="+mn-ea"/>
                <a:sym typeface="+mn-lt"/>
              </a:rPr>
              <a:t>    </a:t>
            </a:r>
            <a:r>
              <a:rPr lang="en-US" altLang="zh-CN" sz="1200">
                <a:solidFill>
                  <a:srgbClr val="E5C07B"/>
                </a:solidFill>
                <a:cs typeface="+mn-ea"/>
                <a:sym typeface="+mn-lt"/>
              </a:rPr>
              <a:t>D</a:t>
            </a:r>
            <a:r>
              <a:rPr lang="en-US" altLang="zh-CN" sz="1200">
                <a:solidFill>
                  <a:srgbClr val="ABB2BF"/>
                </a:solidFill>
                <a:cs typeface="+mn-ea"/>
                <a:sym typeface="+mn-lt"/>
              </a:rPr>
              <a:t>: </a:t>
            </a:r>
            <a:r>
              <a:rPr lang="en-US" altLang="zh-CN" sz="1200">
                <a:solidFill>
                  <a:srgbClr val="E5C07B"/>
                </a:solidFill>
                <a:cs typeface="+mn-ea"/>
                <a:sym typeface="+mn-lt"/>
              </a:rPr>
              <a:t>MyVariantD</a:t>
            </a:r>
            <a:r>
              <a:rPr lang="en-US" altLang="zh-CN" sz="1200">
                <a:solidFill>
                  <a:srgbClr val="ABB2BF"/>
                </a:solidFill>
                <a:cs typeface="+mn-ea"/>
                <a:sym typeface="+mn-lt"/>
              </a:rPr>
              <a:t>,</a:t>
            </a:r>
          </a:p>
          <a:p>
            <a:r>
              <a:rPr lang="en-US" altLang="zh-CN" sz="1200">
                <a:solidFill>
                  <a:srgbClr val="ABB2BF"/>
                </a:solidFill>
                <a:cs typeface="+mn-ea"/>
                <a:sym typeface="+mn-lt"/>
              </a:rPr>
              <a:t>}</a:t>
            </a:r>
          </a:p>
          <a:p>
            <a:br>
              <a:rPr lang="en-US" altLang="zh-CN" sz="1200">
                <a:solidFill>
                  <a:srgbClr val="ABB2BF"/>
                </a:solidFill>
                <a:cs typeface="+mn-ea"/>
                <a:sym typeface="+mn-lt"/>
              </a:rPr>
            </a:br>
            <a:r>
              <a:rPr lang="en-US" altLang="zh-CN" sz="1200" i="1">
                <a:solidFill>
                  <a:srgbClr val="7F848E"/>
                </a:solidFill>
                <a:cs typeface="+mn-ea"/>
                <a:sym typeface="+mn-lt"/>
              </a:rPr>
              <a:t>// </a:t>
            </a:r>
            <a:r>
              <a:rPr lang="zh-CN" altLang="en-US" sz="1200" i="1">
                <a:solidFill>
                  <a:srgbClr val="7F848E"/>
                </a:solidFill>
                <a:cs typeface="+mn-ea"/>
                <a:sym typeface="+mn-lt"/>
              </a:rPr>
              <a:t>这是原判别值组合成的新枚举。</a:t>
            </a:r>
            <a:endParaRPr lang="zh-CN" altLang="en-US" sz="1200">
              <a:solidFill>
                <a:srgbClr val="ABB2BF"/>
              </a:solidFill>
              <a:cs typeface="+mn-ea"/>
              <a:sym typeface="+mn-lt"/>
            </a:endParaRPr>
          </a:p>
          <a:p>
            <a:r>
              <a:rPr lang="en-US" altLang="zh-CN" sz="1200">
                <a:solidFill>
                  <a:srgbClr val="ABB2BF"/>
                </a:solidFill>
                <a:cs typeface="+mn-ea"/>
                <a:sym typeface="+mn-lt"/>
              </a:rPr>
              <a:t>#[repr(</a:t>
            </a:r>
            <a:r>
              <a:rPr lang="en-US" altLang="zh-CN" sz="1200">
                <a:solidFill>
                  <a:srgbClr val="E5C07B"/>
                </a:solidFill>
                <a:cs typeface="+mn-ea"/>
                <a:sym typeface="+mn-lt"/>
              </a:rPr>
              <a:t>u8</a:t>
            </a:r>
            <a:r>
              <a:rPr lang="en-US" altLang="zh-CN" sz="1200">
                <a:solidFill>
                  <a:srgbClr val="ABB2BF"/>
                </a:solidFill>
                <a:cs typeface="+mn-ea"/>
                <a:sym typeface="+mn-lt"/>
              </a:rPr>
              <a:t>)]</a:t>
            </a:r>
          </a:p>
          <a:p>
            <a:r>
              <a:rPr lang="en-US" altLang="zh-CN" sz="1200">
                <a:solidFill>
                  <a:srgbClr val="ABB2BF"/>
                </a:solidFill>
                <a:cs typeface="+mn-ea"/>
                <a:sym typeface="+mn-lt"/>
              </a:rPr>
              <a:t>#[derive(</a:t>
            </a:r>
            <a:r>
              <a:rPr lang="en-US" altLang="zh-CN" sz="1200">
                <a:solidFill>
                  <a:srgbClr val="E5C07B"/>
                </a:solidFill>
                <a:cs typeface="+mn-ea"/>
                <a:sym typeface="+mn-lt"/>
              </a:rPr>
              <a:t>Copy</a:t>
            </a:r>
            <a:r>
              <a:rPr lang="en-US" altLang="zh-CN" sz="1200">
                <a:solidFill>
                  <a:srgbClr val="ABB2BF"/>
                </a:solidFill>
                <a:cs typeface="+mn-ea"/>
                <a:sym typeface="+mn-lt"/>
              </a:rPr>
              <a:t>, </a:t>
            </a:r>
            <a:r>
              <a:rPr lang="en-US" altLang="zh-CN" sz="1200">
                <a:solidFill>
                  <a:srgbClr val="E5C07B"/>
                </a:solidFill>
                <a:cs typeface="+mn-ea"/>
                <a:sym typeface="+mn-lt"/>
              </a:rPr>
              <a:t>Clone</a:t>
            </a:r>
            <a:r>
              <a:rPr lang="en-US" altLang="zh-CN" sz="1200">
                <a:solidFill>
                  <a:srgbClr val="ABB2BF"/>
                </a:solidFill>
                <a:cs typeface="+mn-ea"/>
                <a:sym typeface="+mn-lt"/>
              </a:rPr>
              <a:t>)]</a:t>
            </a:r>
          </a:p>
          <a:p>
            <a:r>
              <a:rPr lang="en-US" altLang="zh-CN" sz="1200">
                <a:solidFill>
                  <a:srgbClr val="C678DD"/>
                </a:solidFill>
                <a:cs typeface="+mn-ea"/>
                <a:sym typeface="+mn-lt"/>
              </a:rPr>
              <a:t>enum</a:t>
            </a:r>
            <a:r>
              <a:rPr lang="en-US" altLang="zh-CN" sz="1200">
                <a:solidFill>
                  <a:srgbClr val="ABB2BF"/>
                </a:solidFill>
                <a:cs typeface="+mn-ea"/>
                <a:sym typeface="+mn-lt"/>
              </a:rPr>
              <a:t> </a:t>
            </a:r>
            <a:r>
              <a:rPr lang="en-US" altLang="zh-CN" sz="1200">
                <a:solidFill>
                  <a:srgbClr val="E5C07B"/>
                </a:solidFill>
                <a:cs typeface="+mn-ea"/>
                <a:sym typeface="+mn-lt"/>
              </a:rPr>
              <a:t>MyEnumDiscriminant</a:t>
            </a:r>
            <a:r>
              <a:rPr lang="en-US" altLang="zh-CN" sz="1200">
                <a:solidFill>
                  <a:srgbClr val="ABB2BF"/>
                </a:solidFill>
                <a:cs typeface="+mn-ea"/>
                <a:sym typeface="+mn-lt"/>
              </a:rPr>
              <a:t> {</a:t>
            </a:r>
          </a:p>
          <a:p>
            <a:r>
              <a:rPr lang="en-US" altLang="zh-CN" sz="1200">
                <a:solidFill>
                  <a:srgbClr val="ABB2BF"/>
                </a:solidFill>
                <a:cs typeface="+mn-ea"/>
                <a:sym typeface="+mn-lt"/>
              </a:rPr>
              <a:t>    </a:t>
            </a:r>
            <a:r>
              <a:rPr lang="en-US" altLang="zh-CN" sz="1200">
                <a:solidFill>
                  <a:srgbClr val="E5C07B"/>
                </a:solidFill>
                <a:cs typeface="+mn-ea"/>
                <a:sym typeface="+mn-lt"/>
              </a:rPr>
              <a:t>A</a:t>
            </a:r>
            <a:r>
              <a:rPr lang="en-US" altLang="zh-CN" sz="1200">
                <a:solidFill>
                  <a:srgbClr val="ABB2BF"/>
                </a:solidFill>
                <a:cs typeface="+mn-ea"/>
                <a:sym typeface="+mn-lt"/>
              </a:rPr>
              <a:t>,</a:t>
            </a:r>
          </a:p>
          <a:p>
            <a:r>
              <a:rPr lang="en-US" altLang="zh-CN" sz="1200">
                <a:solidFill>
                  <a:srgbClr val="ABB2BF"/>
                </a:solidFill>
                <a:cs typeface="+mn-ea"/>
                <a:sym typeface="+mn-lt"/>
              </a:rPr>
              <a:t>    </a:t>
            </a:r>
            <a:r>
              <a:rPr lang="en-US" altLang="zh-CN" sz="1200">
                <a:solidFill>
                  <a:srgbClr val="E5C07B"/>
                </a:solidFill>
                <a:cs typeface="+mn-ea"/>
                <a:sym typeface="+mn-lt"/>
              </a:rPr>
              <a:t>B</a:t>
            </a:r>
            <a:r>
              <a:rPr lang="en-US" altLang="zh-CN" sz="1200">
                <a:solidFill>
                  <a:srgbClr val="ABB2BF"/>
                </a:solidFill>
                <a:cs typeface="+mn-ea"/>
                <a:sym typeface="+mn-lt"/>
              </a:rPr>
              <a:t>,</a:t>
            </a:r>
          </a:p>
          <a:p>
            <a:r>
              <a:rPr lang="en-US" altLang="zh-CN" sz="1200">
                <a:solidFill>
                  <a:srgbClr val="ABB2BF"/>
                </a:solidFill>
                <a:cs typeface="+mn-ea"/>
                <a:sym typeface="+mn-lt"/>
              </a:rPr>
              <a:t>    </a:t>
            </a:r>
            <a:r>
              <a:rPr lang="en-US" altLang="zh-CN" sz="1200">
                <a:solidFill>
                  <a:srgbClr val="E5C07B"/>
                </a:solidFill>
                <a:cs typeface="+mn-ea"/>
                <a:sym typeface="+mn-lt"/>
              </a:rPr>
              <a:t>C</a:t>
            </a:r>
            <a:r>
              <a:rPr lang="en-US" altLang="zh-CN" sz="1200">
                <a:solidFill>
                  <a:srgbClr val="ABB2BF"/>
                </a:solidFill>
                <a:cs typeface="+mn-ea"/>
                <a:sym typeface="+mn-lt"/>
              </a:rPr>
              <a:t>,</a:t>
            </a:r>
          </a:p>
          <a:p>
            <a:r>
              <a:rPr lang="en-US" altLang="zh-CN" sz="1200">
                <a:solidFill>
                  <a:srgbClr val="ABB2BF"/>
                </a:solidFill>
                <a:cs typeface="+mn-ea"/>
                <a:sym typeface="+mn-lt"/>
              </a:rPr>
              <a:t>    </a:t>
            </a:r>
            <a:r>
              <a:rPr lang="en-US" altLang="zh-CN" sz="1200">
                <a:solidFill>
                  <a:srgbClr val="E5C07B"/>
                </a:solidFill>
                <a:cs typeface="+mn-ea"/>
                <a:sym typeface="+mn-lt"/>
              </a:rPr>
              <a:t>D</a:t>
            </a:r>
            <a:r>
              <a:rPr lang="en-US" altLang="zh-CN" sz="1200">
                <a:solidFill>
                  <a:srgbClr val="ABB2BF"/>
                </a:solidFill>
                <a:cs typeface="+mn-ea"/>
                <a:sym typeface="+mn-lt"/>
              </a:rPr>
              <a:t>,</a:t>
            </a:r>
          </a:p>
          <a:p>
            <a:r>
              <a:rPr lang="en-US" altLang="zh-CN" sz="1200">
                <a:solidFill>
                  <a:srgbClr val="ABB2BF"/>
                </a:solidFill>
                <a:cs typeface="+mn-ea"/>
                <a:sym typeface="+mn-lt"/>
              </a:rPr>
              <a:t>}</a:t>
            </a:r>
            <a:endParaRPr lang="en-US" altLang="zh-CN" sz="1200" b="0">
              <a:solidFill>
                <a:srgbClr val="ABB2BF"/>
              </a:solidFill>
              <a:effectLst/>
              <a:cs typeface="+mn-ea"/>
              <a:sym typeface="+mn-lt"/>
            </a:endParaRPr>
          </a:p>
        </p:txBody>
      </p:sp>
      <p:sp>
        <p:nvSpPr>
          <p:cNvPr id="2" name="矩形 1"/>
          <p:cNvSpPr/>
          <p:nvPr/>
        </p:nvSpPr>
        <p:spPr>
          <a:xfrm>
            <a:off x="239006" y="647772"/>
            <a:ext cx="11337298" cy="787523"/>
          </a:xfrm>
          <a:prstGeom prst="rect">
            <a:avLst/>
          </a:prstGeom>
        </p:spPr>
        <p:txBody>
          <a:bodyPr wrap="square">
            <a:spAutoFit/>
          </a:bodyPr>
          <a:lstStyle/>
          <a:p>
            <a:pPr>
              <a:lnSpc>
                <a:spcPct val="150000"/>
              </a:lnSpc>
            </a:pPr>
            <a:r>
              <a:rPr lang="en-US" altLang="zh-CN" sz="1600">
                <a:cs typeface="+mn-ea"/>
                <a:sym typeface="+mn-lt"/>
              </a:rPr>
              <a:t>The primitive representations</a:t>
            </a:r>
            <a:r>
              <a:rPr lang="zh-CN" altLang="en-US" sz="1600">
                <a:cs typeface="+mn-ea"/>
                <a:sym typeface="+mn-lt"/>
              </a:rPr>
              <a:t>是与原生整型具有相同名称的表示形式，也就是：</a:t>
            </a:r>
            <a:r>
              <a:rPr lang="en-US" altLang="zh-CN" sz="1600">
                <a:cs typeface="+mn-ea"/>
                <a:sym typeface="+mn-lt"/>
              </a:rPr>
              <a:t>u8</a:t>
            </a:r>
            <a:r>
              <a:rPr lang="zh-CN" altLang="en-US" sz="1600">
                <a:cs typeface="+mn-ea"/>
                <a:sym typeface="+mn-lt"/>
              </a:rPr>
              <a:t>，</a:t>
            </a:r>
            <a:r>
              <a:rPr lang="en-US" altLang="zh-CN" sz="1600">
                <a:cs typeface="+mn-ea"/>
                <a:sym typeface="+mn-lt"/>
              </a:rPr>
              <a:t>u16</a:t>
            </a:r>
            <a:r>
              <a:rPr lang="zh-CN" altLang="en-US" sz="1600">
                <a:cs typeface="+mn-ea"/>
                <a:sym typeface="+mn-lt"/>
              </a:rPr>
              <a:t>，</a:t>
            </a:r>
            <a:r>
              <a:rPr lang="en-US" altLang="zh-CN" sz="1600">
                <a:cs typeface="+mn-ea"/>
                <a:sym typeface="+mn-lt"/>
              </a:rPr>
              <a:t>u32</a:t>
            </a:r>
            <a:r>
              <a:rPr lang="zh-CN" altLang="en-US" sz="1600">
                <a:cs typeface="+mn-ea"/>
                <a:sym typeface="+mn-lt"/>
              </a:rPr>
              <a:t>，</a:t>
            </a:r>
            <a:r>
              <a:rPr lang="en-US" altLang="zh-CN" sz="1600">
                <a:cs typeface="+mn-ea"/>
                <a:sym typeface="+mn-lt"/>
              </a:rPr>
              <a:t>u64</a:t>
            </a:r>
            <a:r>
              <a:rPr lang="zh-CN" altLang="en-US" sz="1600">
                <a:cs typeface="+mn-ea"/>
                <a:sym typeface="+mn-lt"/>
              </a:rPr>
              <a:t>，</a:t>
            </a:r>
            <a:r>
              <a:rPr lang="en-US" altLang="zh-CN" sz="1600">
                <a:cs typeface="+mn-ea"/>
                <a:sym typeface="+mn-lt"/>
              </a:rPr>
              <a:t>u128</a:t>
            </a:r>
            <a:r>
              <a:rPr lang="zh-CN" altLang="en-US" sz="1600">
                <a:cs typeface="+mn-ea"/>
                <a:sym typeface="+mn-lt"/>
              </a:rPr>
              <a:t>，</a:t>
            </a:r>
            <a:r>
              <a:rPr lang="en-US" altLang="zh-CN" sz="1600">
                <a:cs typeface="+mn-ea"/>
                <a:sym typeface="+mn-lt"/>
              </a:rPr>
              <a:t>usize</a:t>
            </a:r>
            <a:r>
              <a:rPr lang="zh-CN" altLang="en-US" sz="1600">
                <a:cs typeface="+mn-ea"/>
                <a:sym typeface="+mn-lt"/>
              </a:rPr>
              <a:t>，</a:t>
            </a:r>
            <a:r>
              <a:rPr lang="en-US" altLang="zh-CN" sz="1600">
                <a:cs typeface="+mn-ea"/>
                <a:sym typeface="+mn-lt"/>
              </a:rPr>
              <a:t>i8</a:t>
            </a:r>
            <a:r>
              <a:rPr lang="zh-CN" altLang="en-US" sz="1600">
                <a:cs typeface="+mn-ea"/>
                <a:sym typeface="+mn-lt"/>
              </a:rPr>
              <a:t>，</a:t>
            </a:r>
            <a:r>
              <a:rPr lang="en-US" altLang="zh-CN" sz="1600">
                <a:cs typeface="+mn-ea"/>
                <a:sym typeface="+mn-lt"/>
              </a:rPr>
              <a:t>i16</a:t>
            </a:r>
            <a:r>
              <a:rPr lang="zh-CN" altLang="en-US" sz="1600">
                <a:cs typeface="+mn-ea"/>
                <a:sym typeface="+mn-lt"/>
              </a:rPr>
              <a:t>，</a:t>
            </a:r>
            <a:r>
              <a:rPr lang="en-US" altLang="zh-CN" sz="1600">
                <a:cs typeface="+mn-ea"/>
                <a:sym typeface="+mn-lt"/>
              </a:rPr>
              <a:t>i32</a:t>
            </a:r>
            <a:r>
              <a:rPr lang="zh-CN" altLang="en-US" sz="1600">
                <a:cs typeface="+mn-ea"/>
                <a:sym typeface="+mn-lt"/>
              </a:rPr>
              <a:t>，</a:t>
            </a:r>
            <a:r>
              <a:rPr lang="en-US" altLang="zh-CN" sz="1600">
                <a:cs typeface="+mn-ea"/>
                <a:sym typeface="+mn-lt"/>
              </a:rPr>
              <a:t>i64</a:t>
            </a:r>
            <a:r>
              <a:rPr lang="zh-CN" altLang="en-US" sz="1600">
                <a:cs typeface="+mn-ea"/>
                <a:sym typeface="+mn-lt"/>
              </a:rPr>
              <a:t>，</a:t>
            </a:r>
            <a:r>
              <a:rPr lang="en-US" altLang="zh-CN" sz="1600">
                <a:cs typeface="+mn-ea"/>
                <a:sym typeface="+mn-lt"/>
              </a:rPr>
              <a:t>i128 </a:t>
            </a:r>
            <a:r>
              <a:rPr lang="zh-CN" altLang="en-US" sz="1600">
                <a:cs typeface="+mn-ea"/>
                <a:sym typeface="+mn-lt"/>
              </a:rPr>
              <a:t>和 </a:t>
            </a:r>
            <a:r>
              <a:rPr lang="en-US" altLang="zh-CN" sz="1600">
                <a:cs typeface="+mn-ea"/>
                <a:sym typeface="+mn-lt"/>
              </a:rPr>
              <a:t>isize</a:t>
            </a:r>
            <a:r>
              <a:rPr lang="zh-CN" altLang="en-US" sz="1600">
                <a:cs typeface="+mn-ea"/>
                <a:sym typeface="+mn-lt"/>
              </a:rPr>
              <a:t>。</a:t>
            </a:r>
          </a:p>
        </p:txBody>
      </p:sp>
      <p:sp>
        <p:nvSpPr>
          <p:cNvPr id="3" name="矩形 2"/>
          <p:cNvSpPr/>
          <p:nvPr/>
        </p:nvSpPr>
        <p:spPr>
          <a:xfrm>
            <a:off x="239006" y="1579541"/>
            <a:ext cx="3982012" cy="3738245"/>
          </a:xfrm>
          <a:prstGeom prst="rect">
            <a:avLst/>
          </a:prstGeom>
        </p:spPr>
        <p:txBody>
          <a:bodyPr wrap="square">
            <a:spAutoFit/>
          </a:bodyPr>
          <a:lstStyle/>
          <a:p>
            <a:pPr marL="285750" indent="-285750">
              <a:lnSpc>
                <a:spcPct val="150000"/>
              </a:lnSpc>
              <a:buFont typeface="Arial" panose="020B0604020202020204" pitchFamily="34" charset="0"/>
              <a:buChar char="•"/>
            </a:pPr>
            <a:r>
              <a:rPr lang="zh-CN" altLang="en-US" sz="1600" b="1">
                <a:cs typeface="+mn-ea"/>
                <a:sym typeface="+mn-lt"/>
              </a:rPr>
              <a:t>无字段枚举的原语表示形式</a:t>
            </a:r>
          </a:p>
          <a:p>
            <a:pPr>
              <a:lnSpc>
                <a:spcPct val="150000"/>
              </a:lnSpc>
            </a:pPr>
            <a:r>
              <a:rPr lang="zh-CN" altLang="en-US" sz="1400">
                <a:cs typeface="+mn-ea"/>
                <a:sym typeface="+mn-lt"/>
              </a:rPr>
              <a:t>对于无字段枚举，该表示形式将其大小和对齐量设置成与给定表示形式同名的原生类型的表示形式的值。</a:t>
            </a:r>
          </a:p>
          <a:p>
            <a:pPr marL="285750" indent="-285750">
              <a:lnSpc>
                <a:spcPct val="150000"/>
              </a:lnSpc>
              <a:buFont typeface="Arial" panose="020B0604020202020204" pitchFamily="34" charset="0"/>
              <a:buChar char="•"/>
            </a:pPr>
            <a:r>
              <a:rPr lang="zh-CN" altLang="en-US" sz="1600" b="1">
                <a:cs typeface="+mn-ea"/>
                <a:sym typeface="+mn-lt"/>
              </a:rPr>
              <a:t>带字段枚举的原语表示形式</a:t>
            </a:r>
          </a:p>
          <a:p>
            <a:pPr>
              <a:lnSpc>
                <a:spcPct val="150000"/>
              </a:lnSpc>
            </a:pPr>
            <a:r>
              <a:rPr lang="zh-CN" altLang="en-US" sz="1400">
                <a:cs typeface="+mn-ea"/>
                <a:sym typeface="+mn-lt"/>
              </a:rPr>
              <a:t>带字段枚举的该表示形式是一个 </a:t>
            </a:r>
            <a:r>
              <a:rPr lang="en-US" altLang="zh-CN" sz="1400">
                <a:cs typeface="+mn-ea"/>
                <a:sym typeface="+mn-lt"/>
              </a:rPr>
              <a:t>repr(C)</a:t>
            </a:r>
            <a:r>
              <a:rPr lang="zh-CN" altLang="en-US" sz="1400">
                <a:cs typeface="+mn-ea"/>
                <a:sym typeface="+mn-lt"/>
              </a:rPr>
              <a:t>表示形式的union，此union的每个字段对应一个和原枚举变体对应的 </a:t>
            </a:r>
            <a:r>
              <a:rPr lang="en-US" altLang="zh-CN" sz="1400">
                <a:cs typeface="+mn-ea"/>
                <a:sym typeface="+mn-lt"/>
              </a:rPr>
              <a:t>repr(C)</a:t>
            </a:r>
            <a:r>
              <a:rPr lang="zh-CN" altLang="en-US" sz="1400">
                <a:cs typeface="+mn-ea"/>
                <a:sym typeface="+mn-lt"/>
              </a:rPr>
              <a:t>表示形式的结构体。这些结构体的第一个字段是原枚举的变体移除了它们所有的字段组成的该表示形式版的无字段枚举，那这些结构体的其余字段是原变体移走的字段。</a:t>
            </a:r>
          </a:p>
        </p:txBody>
      </p:sp>
      <p:sp>
        <p:nvSpPr>
          <p:cNvPr id="11" name="文本框 10"/>
          <p:cNvSpPr txBox="1"/>
          <p:nvPr/>
        </p:nvSpPr>
        <p:spPr>
          <a:xfrm>
            <a:off x="7559964" y="1404512"/>
            <a:ext cx="4188691" cy="3816429"/>
          </a:xfrm>
          <a:prstGeom prst="rect">
            <a:avLst/>
          </a:prstGeom>
          <a:solidFill>
            <a:schemeClr val="tx1"/>
          </a:solidFill>
        </p:spPr>
        <p:style>
          <a:lnRef idx="2">
            <a:schemeClr val="dk1"/>
          </a:lnRef>
          <a:fillRef idx="1">
            <a:schemeClr val="lt1"/>
          </a:fillRef>
          <a:effectRef idx="0">
            <a:schemeClr val="dk1"/>
          </a:effectRef>
          <a:fontRef idx="minor">
            <a:schemeClr val="dk1"/>
          </a:fontRef>
        </p:style>
        <p:txBody>
          <a:bodyPr vert="horz" wrap="square" rtlCol="0">
            <a:spAutoFit/>
          </a:bodyPr>
          <a:lstStyle/>
          <a:p>
            <a:r>
              <a:rPr lang="en-US" altLang="zh-CN" sz="1400">
                <a:solidFill>
                  <a:srgbClr val="FFFFFF"/>
                </a:solidFill>
                <a:cs typeface="+mn-ea"/>
                <a:sym typeface="+mn-lt"/>
              </a:rPr>
              <a:t>// </a:t>
            </a:r>
            <a:r>
              <a:rPr lang="zh-CN" altLang="en-US" sz="1400" b="1">
                <a:solidFill>
                  <a:srgbClr val="00B050"/>
                </a:solidFill>
                <a:cs typeface="+mn-ea"/>
                <a:sym typeface="+mn-lt"/>
              </a:rPr>
              <a:t>代码示例</a:t>
            </a:r>
            <a:br>
              <a:rPr lang="en-US" altLang="zh-CN" sz="1400">
                <a:solidFill>
                  <a:srgbClr val="ABB2BF"/>
                </a:solidFill>
                <a:cs typeface="+mn-ea"/>
                <a:sym typeface="+mn-lt"/>
              </a:rPr>
            </a:br>
            <a:r>
              <a:rPr lang="en-US" altLang="zh-CN" sz="1200">
                <a:solidFill>
                  <a:srgbClr val="ABB2BF"/>
                </a:solidFill>
                <a:cs typeface="+mn-ea"/>
                <a:sym typeface="+mn-lt"/>
              </a:rPr>
              <a:t>#[repr(</a:t>
            </a:r>
            <a:r>
              <a:rPr lang="en-US" altLang="zh-CN" sz="1200">
                <a:solidFill>
                  <a:srgbClr val="E5C07B"/>
                </a:solidFill>
                <a:cs typeface="+mn-ea"/>
                <a:sym typeface="+mn-lt"/>
              </a:rPr>
              <a:t>C</a:t>
            </a:r>
            <a:r>
              <a:rPr lang="en-US" altLang="zh-CN" sz="1200">
                <a:solidFill>
                  <a:srgbClr val="ABB2BF"/>
                </a:solidFill>
                <a:cs typeface="+mn-ea"/>
                <a:sym typeface="+mn-lt"/>
              </a:rPr>
              <a:t>)]</a:t>
            </a:r>
          </a:p>
          <a:p>
            <a:r>
              <a:rPr lang="en-US" altLang="zh-CN" sz="1200">
                <a:solidFill>
                  <a:srgbClr val="ABB2BF"/>
                </a:solidFill>
                <a:cs typeface="+mn-ea"/>
                <a:sym typeface="+mn-lt"/>
              </a:rPr>
              <a:t>#[derive(</a:t>
            </a:r>
            <a:r>
              <a:rPr lang="en-US" altLang="zh-CN" sz="1200">
                <a:solidFill>
                  <a:srgbClr val="E5C07B"/>
                </a:solidFill>
                <a:cs typeface="+mn-ea"/>
                <a:sym typeface="+mn-lt"/>
              </a:rPr>
              <a:t>Clone</a:t>
            </a:r>
            <a:r>
              <a:rPr lang="en-US" altLang="zh-CN" sz="1200">
                <a:solidFill>
                  <a:srgbClr val="ABB2BF"/>
                </a:solidFill>
                <a:cs typeface="+mn-ea"/>
                <a:sym typeface="+mn-lt"/>
              </a:rPr>
              <a:t>, </a:t>
            </a:r>
            <a:r>
              <a:rPr lang="en-US" altLang="zh-CN" sz="1200">
                <a:solidFill>
                  <a:srgbClr val="E5C07B"/>
                </a:solidFill>
                <a:cs typeface="+mn-ea"/>
                <a:sym typeface="+mn-lt"/>
              </a:rPr>
              <a:t>Copy</a:t>
            </a:r>
            <a:r>
              <a:rPr lang="en-US" altLang="zh-CN" sz="1200">
                <a:solidFill>
                  <a:srgbClr val="ABB2BF"/>
                </a:solidFill>
                <a:cs typeface="+mn-ea"/>
                <a:sym typeface="+mn-lt"/>
              </a:rPr>
              <a:t>)]</a:t>
            </a:r>
          </a:p>
          <a:p>
            <a:r>
              <a:rPr lang="en-US" altLang="zh-CN" sz="1200">
                <a:solidFill>
                  <a:srgbClr val="C678DD"/>
                </a:solidFill>
                <a:cs typeface="+mn-ea"/>
                <a:sym typeface="+mn-lt"/>
              </a:rPr>
              <a:t>struct</a:t>
            </a:r>
            <a:r>
              <a:rPr lang="en-US" altLang="zh-CN" sz="1200">
                <a:solidFill>
                  <a:srgbClr val="ABB2BF"/>
                </a:solidFill>
                <a:cs typeface="+mn-ea"/>
                <a:sym typeface="+mn-lt"/>
              </a:rPr>
              <a:t> </a:t>
            </a:r>
            <a:r>
              <a:rPr lang="en-US" altLang="zh-CN" sz="1200">
                <a:solidFill>
                  <a:srgbClr val="E5C07B"/>
                </a:solidFill>
                <a:cs typeface="+mn-ea"/>
                <a:sym typeface="+mn-lt"/>
              </a:rPr>
              <a:t>MyVariantA</a:t>
            </a:r>
            <a:r>
              <a:rPr lang="en-US" altLang="zh-CN" sz="1200">
                <a:solidFill>
                  <a:srgbClr val="ABB2BF"/>
                </a:solidFill>
                <a:cs typeface="+mn-ea"/>
                <a:sym typeface="+mn-lt"/>
              </a:rPr>
              <a:t>(</a:t>
            </a:r>
            <a:r>
              <a:rPr lang="en-US" altLang="zh-CN" sz="1200">
                <a:solidFill>
                  <a:srgbClr val="E5C07B"/>
                </a:solidFill>
                <a:cs typeface="+mn-ea"/>
                <a:sym typeface="+mn-lt"/>
              </a:rPr>
              <a:t>MyEnumDiscriminant</a:t>
            </a:r>
            <a:r>
              <a:rPr lang="en-US" altLang="zh-CN" sz="1200">
                <a:solidFill>
                  <a:srgbClr val="ABB2BF"/>
                </a:solidFill>
                <a:cs typeface="+mn-ea"/>
                <a:sym typeface="+mn-lt"/>
              </a:rPr>
              <a:t>, </a:t>
            </a:r>
            <a:r>
              <a:rPr lang="en-US" altLang="zh-CN" sz="1200">
                <a:solidFill>
                  <a:srgbClr val="E5C07B"/>
                </a:solidFill>
                <a:cs typeface="+mn-ea"/>
                <a:sym typeface="+mn-lt"/>
              </a:rPr>
              <a:t>u32</a:t>
            </a:r>
            <a:r>
              <a:rPr lang="en-US" altLang="zh-CN" sz="1200">
                <a:solidFill>
                  <a:srgbClr val="ABB2BF"/>
                </a:solidFill>
                <a:cs typeface="+mn-ea"/>
                <a:sym typeface="+mn-lt"/>
              </a:rPr>
              <a:t>);</a:t>
            </a:r>
          </a:p>
          <a:p>
            <a:br>
              <a:rPr lang="en-US" altLang="zh-CN" sz="1200">
                <a:solidFill>
                  <a:srgbClr val="ABB2BF"/>
                </a:solidFill>
                <a:cs typeface="+mn-ea"/>
                <a:sym typeface="+mn-lt"/>
              </a:rPr>
            </a:br>
            <a:r>
              <a:rPr lang="en-US" altLang="zh-CN" sz="1200">
                <a:solidFill>
                  <a:srgbClr val="ABB2BF"/>
                </a:solidFill>
                <a:cs typeface="+mn-ea"/>
                <a:sym typeface="+mn-lt"/>
              </a:rPr>
              <a:t>#[repr(</a:t>
            </a:r>
            <a:r>
              <a:rPr lang="en-US" altLang="zh-CN" sz="1200">
                <a:solidFill>
                  <a:srgbClr val="E5C07B"/>
                </a:solidFill>
                <a:cs typeface="+mn-ea"/>
                <a:sym typeface="+mn-lt"/>
              </a:rPr>
              <a:t>C</a:t>
            </a:r>
            <a:r>
              <a:rPr lang="en-US" altLang="zh-CN" sz="1200">
                <a:solidFill>
                  <a:srgbClr val="ABB2BF"/>
                </a:solidFill>
                <a:cs typeface="+mn-ea"/>
                <a:sym typeface="+mn-lt"/>
              </a:rPr>
              <a:t>)]</a:t>
            </a:r>
          </a:p>
          <a:p>
            <a:r>
              <a:rPr lang="en-US" altLang="zh-CN" sz="1200">
                <a:solidFill>
                  <a:srgbClr val="ABB2BF"/>
                </a:solidFill>
                <a:cs typeface="+mn-ea"/>
                <a:sym typeface="+mn-lt"/>
              </a:rPr>
              <a:t>#[derive(</a:t>
            </a:r>
            <a:r>
              <a:rPr lang="en-US" altLang="zh-CN" sz="1200">
                <a:solidFill>
                  <a:srgbClr val="E5C07B"/>
                </a:solidFill>
                <a:cs typeface="+mn-ea"/>
                <a:sym typeface="+mn-lt"/>
              </a:rPr>
              <a:t>Clone</a:t>
            </a:r>
            <a:r>
              <a:rPr lang="en-US" altLang="zh-CN" sz="1200">
                <a:solidFill>
                  <a:srgbClr val="ABB2BF"/>
                </a:solidFill>
                <a:cs typeface="+mn-ea"/>
                <a:sym typeface="+mn-lt"/>
              </a:rPr>
              <a:t>, </a:t>
            </a:r>
            <a:r>
              <a:rPr lang="en-US" altLang="zh-CN" sz="1200">
                <a:solidFill>
                  <a:srgbClr val="E5C07B"/>
                </a:solidFill>
                <a:cs typeface="+mn-ea"/>
                <a:sym typeface="+mn-lt"/>
              </a:rPr>
              <a:t>Copy</a:t>
            </a:r>
            <a:r>
              <a:rPr lang="en-US" altLang="zh-CN" sz="1200">
                <a:solidFill>
                  <a:srgbClr val="ABB2BF"/>
                </a:solidFill>
                <a:cs typeface="+mn-ea"/>
                <a:sym typeface="+mn-lt"/>
              </a:rPr>
              <a:t>)]</a:t>
            </a:r>
          </a:p>
          <a:p>
            <a:r>
              <a:rPr lang="en-US" altLang="zh-CN" sz="1200">
                <a:solidFill>
                  <a:srgbClr val="C678DD"/>
                </a:solidFill>
                <a:cs typeface="+mn-ea"/>
                <a:sym typeface="+mn-lt"/>
              </a:rPr>
              <a:t>struct</a:t>
            </a:r>
            <a:r>
              <a:rPr lang="en-US" altLang="zh-CN" sz="1200">
                <a:solidFill>
                  <a:srgbClr val="ABB2BF"/>
                </a:solidFill>
                <a:cs typeface="+mn-ea"/>
                <a:sym typeface="+mn-lt"/>
              </a:rPr>
              <a:t> </a:t>
            </a:r>
            <a:r>
              <a:rPr lang="en-US" altLang="zh-CN" sz="1200">
                <a:solidFill>
                  <a:srgbClr val="E5C07B"/>
                </a:solidFill>
                <a:cs typeface="+mn-ea"/>
                <a:sym typeface="+mn-lt"/>
              </a:rPr>
              <a:t>MyVariantB</a:t>
            </a:r>
            <a:r>
              <a:rPr lang="en-US" altLang="zh-CN" sz="1200">
                <a:solidFill>
                  <a:srgbClr val="ABB2BF"/>
                </a:solidFill>
                <a:cs typeface="+mn-ea"/>
                <a:sym typeface="+mn-lt"/>
              </a:rPr>
              <a:t>(</a:t>
            </a:r>
            <a:r>
              <a:rPr lang="en-US" altLang="zh-CN" sz="1200">
                <a:solidFill>
                  <a:srgbClr val="E5C07B"/>
                </a:solidFill>
                <a:cs typeface="+mn-ea"/>
                <a:sym typeface="+mn-lt"/>
              </a:rPr>
              <a:t>MyEnumDiscriminant</a:t>
            </a:r>
            <a:r>
              <a:rPr lang="en-US" altLang="zh-CN" sz="1200">
                <a:solidFill>
                  <a:srgbClr val="ABB2BF"/>
                </a:solidFill>
                <a:cs typeface="+mn-ea"/>
                <a:sym typeface="+mn-lt"/>
              </a:rPr>
              <a:t>, </a:t>
            </a:r>
            <a:r>
              <a:rPr lang="en-US" altLang="zh-CN" sz="1200">
                <a:solidFill>
                  <a:srgbClr val="E5C07B"/>
                </a:solidFill>
                <a:cs typeface="+mn-ea"/>
                <a:sym typeface="+mn-lt"/>
              </a:rPr>
              <a:t>f32</a:t>
            </a:r>
            <a:r>
              <a:rPr lang="en-US" altLang="zh-CN" sz="1200">
                <a:solidFill>
                  <a:srgbClr val="ABB2BF"/>
                </a:solidFill>
                <a:cs typeface="+mn-ea"/>
                <a:sym typeface="+mn-lt"/>
              </a:rPr>
              <a:t>, </a:t>
            </a:r>
            <a:r>
              <a:rPr lang="en-US" altLang="zh-CN" sz="1200">
                <a:solidFill>
                  <a:srgbClr val="E5C07B"/>
                </a:solidFill>
                <a:cs typeface="+mn-ea"/>
                <a:sym typeface="+mn-lt"/>
              </a:rPr>
              <a:t>u64</a:t>
            </a:r>
            <a:r>
              <a:rPr lang="en-US" altLang="zh-CN" sz="1200">
                <a:solidFill>
                  <a:srgbClr val="ABB2BF"/>
                </a:solidFill>
                <a:cs typeface="+mn-ea"/>
                <a:sym typeface="+mn-lt"/>
              </a:rPr>
              <a:t>);</a:t>
            </a:r>
          </a:p>
          <a:p>
            <a:br>
              <a:rPr lang="en-US" altLang="zh-CN" sz="1200">
                <a:solidFill>
                  <a:srgbClr val="ABB2BF"/>
                </a:solidFill>
                <a:cs typeface="+mn-ea"/>
                <a:sym typeface="+mn-lt"/>
              </a:rPr>
            </a:br>
            <a:r>
              <a:rPr lang="en-US" altLang="zh-CN" sz="1200">
                <a:solidFill>
                  <a:srgbClr val="ABB2BF"/>
                </a:solidFill>
                <a:cs typeface="+mn-ea"/>
                <a:sym typeface="+mn-lt"/>
              </a:rPr>
              <a:t>#[repr(</a:t>
            </a:r>
            <a:r>
              <a:rPr lang="en-US" altLang="zh-CN" sz="1200">
                <a:solidFill>
                  <a:srgbClr val="E5C07B"/>
                </a:solidFill>
                <a:cs typeface="+mn-ea"/>
                <a:sym typeface="+mn-lt"/>
              </a:rPr>
              <a:t>C</a:t>
            </a:r>
            <a:r>
              <a:rPr lang="en-US" altLang="zh-CN" sz="1200">
                <a:solidFill>
                  <a:srgbClr val="ABB2BF"/>
                </a:solidFill>
                <a:cs typeface="+mn-ea"/>
                <a:sym typeface="+mn-lt"/>
              </a:rPr>
              <a:t>)]</a:t>
            </a:r>
          </a:p>
          <a:p>
            <a:r>
              <a:rPr lang="en-US" altLang="zh-CN" sz="1200">
                <a:solidFill>
                  <a:srgbClr val="ABB2BF"/>
                </a:solidFill>
                <a:cs typeface="+mn-ea"/>
                <a:sym typeface="+mn-lt"/>
              </a:rPr>
              <a:t>#[derive(</a:t>
            </a:r>
            <a:r>
              <a:rPr lang="en-US" altLang="zh-CN" sz="1200">
                <a:solidFill>
                  <a:srgbClr val="E5C07B"/>
                </a:solidFill>
                <a:cs typeface="+mn-ea"/>
                <a:sym typeface="+mn-lt"/>
              </a:rPr>
              <a:t>Clone</a:t>
            </a:r>
            <a:r>
              <a:rPr lang="en-US" altLang="zh-CN" sz="1200">
                <a:solidFill>
                  <a:srgbClr val="ABB2BF"/>
                </a:solidFill>
                <a:cs typeface="+mn-ea"/>
                <a:sym typeface="+mn-lt"/>
              </a:rPr>
              <a:t>, </a:t>
            </a:r>
            <a:r>
              <a:rPr lang="en-US" altLang="zh-CN" sz="1200">
                <a:solidFill>
                  <a:srgbClr val="E5C07B"/>
                </a:solidFill>
                <a:cs typeface="+mn-ea"/>
                <a:sym typeface="+mn-lt"/>
              </a:rPr>
              <a:t>Copy</a:t>
            </a:r>
            <a:r>
              <a:rPr lang="en-US" altLang="zh-CN" sz="1200">
                <a:solidFill>
                  <a:srgbClr val="ABB2BF"/>
                </a:solidFill>
                <a:cs typeface="+mn-ea"/>
                <a:sym typeface="+mn-lt"/>
              </a:rPr>
              <a:t>)]</a:t>
            </a:r>
          </a:p>
          <a:p>
            <a:r>
              <a:rPr lang="en-US" altLang="zh-CN" sz="1200">
                <a:solidFill>
                  <a:srgbClr val="C678DD"/>
                </a:solidFill>
                <a:cs typeface="+mn-ea"/>
                <a:sym typeface="+mn-lt"/>
              </a:rPr>
              <a:t>struct</a:t>
            </a:r>
            <a:r>
              <a:rPr lang="en-US" altLang="zh-CN" sz="1200">
                <a:solidFill>
                  <a:srgbClr val="ABB2BF"/>
                </a:solidFill>
                <a:cs typeface="+mn-ea"/>
                <a:sym typeface="+mn-lt"/>
              </a:rPr>
              <a:t> </a:t>
            </a:r>
            <a:r>
              <a:rPr lang="en-US" altLang="zh-CN" sz="1200">
                <a:solidFill>
                  <a:srgbClr val="E5C07B"/>
                </a:solidFill>
                <a:cs typeface="+mn-ea"/>
                <a:sym typeface="+mn-lt"/>
              </a:rPr>
              <a:t>MyVariantC</a:t>
            </a:r>
            <a:r>
              <a:rPr lang="en-US" altLang="zh-CN" sz="1200">
                <a:solidFill>
                  <a:srgbClr val="ABB2BF"/>
                </a:solidFill>
                <a:cs typeface="+mn-ea"/>
                <a:sym typeface="+mn-lt"/>
              </a:rPr>
              <a:t> {</a:t>
            </a:r>
          </a:p>
          <a:p>
            <a:r>
              <a:rPr lang="en-US" altLang="zh-CN" sz="1200">
                <a:solidFill>
                  <a:srgbClr val="ABB2BF"/>
                </a:solidFill>
                <a:cs typeface="+mn-ea"/>
                <a:sym typeface="+mn-lt"/>
              </a:rPr>
              <a:t>    </a:t>
            </a:r>
            <a:r>
              <a:rPr lang="en-US" altLang="zh-CN" sz="1200">
                <a:solidFill>
                  <a:srgbClr val="E06C75"/>
                </a:solidFill>
                <a:cs typeface="+mn-ea"/>
                <a:sym typeface="+mn-lt"/>
              </a:rPr>
              <a:t>tag</a:t>
            </a:r>
            <a:r>
              <a:rPr lang="en-US" altLang="zh-CN" sz="1200">
                <a:solidFill>
                  <a:srgbClr val="ABB2BF"/>
                </a:solidFill>
                <a:cs typeface="+mn-ea"/>
                <a:sym typeface="+mn-lt"/>
              </a:rPr>
              <a:t>: </a:t>
            </a:r>
            <a:r>
              <a:rPr lang="en-US" altLang="zh-CN" sz="1200">
                <a:solidFill>
                  <a:srgbClr val="E5C07B"/>
                </a:solidFill>
                <a:cs typeface="+mn-ea"/>
                <a:sym typeface="+mn-lt"/>
              </a:rPr>
              <a:t>MyEnumDiscriminant</a:t>
            </a:r>
            <a:r>
              <a:rPr lang="en-US" altLang="zh-CN" sz="1200">
                <a:solidFill>
                  <a:srgbClr val="ABB2BF"/>
                </a:solidFill>
                <a:cs typeface="+mn-ea"/>
                <a:sym typeface="+mn-lt"/>
              </a:rPr>
              <a:t>,</a:t>
            </a:r>
          </a:p>
          <a:p>
            <a:r>
              <a:rPr lang="en-US" altLang="zh-CN" sz="1200">
                <a:solidFill>
                  <a:srgbClr val="ABB2BF"/>
                </a:solidFill>
                <a:cs typeface="+mn-ea"/>
                <a:sym typeface="+mn-lt"/>
              </a:rPr>
              <a:t>    </a:t>
            </a:r>
            <a:r>
              <a:rPr lang="en-US" altLang="zh-CN" sz="1200">
                <a:solidFill>
                  <a:srgbClr val="E06C75"/>
                </a:solidFill>
                <a:cs typeface="+mn-ea"/>
                <a:sym typeface="+mn-lt"/>
              </a:rPr>
              <a:t>x</a:t>
            </a:r>
            <a:r>
              <a:rPr lang="en-US" altLang="zh-CN" sz="1200">
                <a:solidFill>
                  <a:srgbClr val="ABB2BF"/>
                </a:solidFill>
                <a:cs typeface="+mn-ea"/>
                <a:sym typeface="+mn-lt"/>
              </a:rPr>
              <a:t>: </a:t>
            </a:r>
            <a:r>
              <a:rPr lang="en-US" altLang="zh-CN" sz="1200">
                <a:solidFill>
                  <a:srgbClr val="E5C07B"/>
                </a:solidFill>
                <a:cs typeface="+mn-ea"/>
                <a:sym typeface="+mn-lt"/>
              </a:rPr>
              <a:t>u32</a:t>
            </a:r>
            <a:r>
              <a:rPr lang="en-US" altLang="zh-CN" sz="1200">
                <a:solidFill>
                  <a:srgbClr val="ABB2BF"/>
                </a:solidFill>
                <a:cs typeface="+mn-ea"/>
                <a:sym typeface="+mn-lt"/>
              </a:rPr>
              <a:t>,</a:t>
            </a:r>
          </a:p>
          <a:p>
            <a:r>
              <a:rPr lang="en-US" altLang="zh-CN" sz="1200">
                <a:solidFill>
                  <a:srgbClr val="ABB2BF"/>
                </a:solidFill>
                <a:cs typeface="+mn-ea"/>
                <a:sym typeface="+mn-lt"/>
              </a:rPr>
              <a:t>    </a:t>
            </a:r>
            <a:r>
              <a:rPr lang="en-US" altLang="zh-CN" sz="1200">
                <a:solidFill>
                  <a:srgbClr val="E06C75"/>
                </a:solidFill>
                <a:cs typeface="+mn-ea"/>
                <a:sym typeface="+mn-lt"/>
              </a:rPr>
              <a:t>y</a:t>
            </a:r>
            <a:r>
              <a:rPr lang="en-US" altLang="zh-CN" sz="1200">
                <a:solidFill>
                  <a:srgbClr val="ABB2BF"/>
                </a:solidFill>
                <a:cs typeface="+mn-ea"/>
                <a:sym typeface="+mn-lt"/>
              </a:rPr>
              <a:t>: </a:t>
            </a:r>
            <a:r>
              <a:rPr lang="en-US" altLang="zh-CN" sz="1200">
                <a:solidFill>
                  <a:srgbClr val="E5C07B"/>
                </a:solidFill>
                <a:cs typeface="+mn-ea"/>
                <a:sym typeface="+mn-lt"/>
              </a:rPr>
              <a:t>u8</a:t>
            </a:r>
            <a:r>
              <a:rPr lang="en-US" altLang="zh-CN" sz="1200">
                <a:solidFill>
                  <a:srgbClr val="ABB2BF"/>
                </a:solidFill>
                <a:cs typeface="+mn-ea"/>
                <a:sym typeface="+mn-lt"/>
              </a:rPr>
              <a:t>,</a:t>
            </a:r>
          </a:p>
          <a:p>
            <a:r>
              <a:rPr lang="en-US" altLang="zh-CN" sz="1200">
                <a:solidFill>
                  <a:srgbClr val="ABB2BF"/>
                </a:solidFill>
                <a:cs typeface="+mn-ea"/>
                <a:sym typeface="+mn-lt"/>
              </a:rPr>
              <a:t>}</a:t>
            </a:r>
          </a:p>
          <a:p>
            <a:br>
              <a:rPr lang="en-US" altLang="zh-CN" sz="1200">
                <a:solidFill>
                  <a:srgbClr val="ABB2BF"/>
                </a:solidFill>
                <a:cs typeface="+mn-ea"/>
                <a:sym typeface="+mn-lt"/>
              </a:rPr>
            </a:br>
            <a:r>
              <a:rPr lang="en-US" altLang="zh-CN" sz="1200">
                <a:solidFill>
                  <a:srgbClr val="ABB2BF"/>
                </a:solidFill>
                <a:cs typeface="+mn-ea"/>
                <a:sym typeface="+mn-lt"/>
              </a:rPr>
              <a:t>#[repr(</a:t>
            </a:r>
            <a:r>
              <a:rPr lang="en-US" altLang="zh-CN" sz="1200">
                <a:solidFill>
                  <a:srgbClr val="E5C07B"/>
                </a:solidFill>
                <a:cs typeface="+mn-ea"/>
                <a:sym typeface="+mn-lt"/>
              </a:rPr>
              <a:t>C</a:t>
            </a:r>
            <a:r>
              <a:rPr lang="en-US" altLang="zh-CN" sz="1200">
                <a:solidFill>
                  <a:srgbClr val="ABB2BF"/>
                </a:solidFill>
                <a:cs typeface="+mn-ea"/>
                <a:sym typeface="+mn-lt"/>
              </a:rPr>
              <a:t>)]</a:t>
            </a:r>
          </a:p>
          <a:p>
            <a:r>
              <a:rPr lang="en-US" altLang="zh-CN" sz="1200">
                <a:solidFill>
                  <a:srgbClr val="ABB2BF"/>
                </a:solidFill>
                <a:cs typeface="+mn-ea"/>
                <a:sym typeface="+mn-lt"/>
              </a:rPr>
              <a:t>#[derive(</a:t>
            </a:r>
            <a:r>
              <a:rPr lang="en-US" altLang="zh-CN" sz="1200">
                <a:solidFill>
                  <a:srgbClr val="E5C07B"/>
                </a:solidFill>
                <a:cs typeface="+mn-ea"/>
                <a:sym typeface="+mn-lt"/>
              </a:rPr>
              <a:t>Clone</a:t>
            </a:r>
            <a:r>
              <a:rPr lang="en-US" altLang="zh-CN" sz="1200">
                <a:solidFill>
                  <a:srgbClr val="ABB2BF"/>
                </a:solidFill>
                <a:cs typeface="+mn-ea"/>
                <a:sym typeface="+mn-lt"/>
              </a:rPr>
              <a:t>, </a:t>
            </a:r>
            <a:r>
              <a:rPr lang="en-US" altLang="zh-CN" sz="1200">
                <a:solidFill>
                  <a:srgbClr val="E5C07B"/>
                </a:solidFill>
                <a:cs typeface="+mn-ea"/>
                <a:sym typeface="+mn-lt"/>
              </a:rPr>
              <a:t>Copy</a:t>
            </a:r>
            <a:r>
              <a:rPr lang="en-US" altLang="zh-CN" sz="1200">
                <a:solidFill>
                  <a:srgbClr val="ABB2BF"/>
                </a:solidFill>
                <a:cs typeface="+mn-ea"/>
                <a:sym typeface="+mn-lt"/>
              </a:rPr>
              <a:t>)]</a:t>
            </a:r>
          </a:p>
          <a:p>
            <a:r>
              <a:rPr lang="en-US" altLang="zh-CN" sz="1200">
                <a:solidFill>
                  <a:srgbClr val="C678DD"/>
                </a:solidFill>
                <a:cs typeface="+mn-ea"/>
                <a:sym typeface="+mn-lt"/>
              </a:rPr>
              <a:t>struct</a:t>
            </a:r>
            <a:r>
              <a:rPr lang="en-US" altLang="zh-CN" sz="1200">
                <a:solidFill>
                  <a:srgbClr val="ABB2BF"/>
                </a:solidFill>
                <a:cs typeface="+mn-ea"/>
                <a:sym typeface="+mn-lt"/>
              </a:rPr>
              <a:t> </a:t>
            </a:r>
            <a:r>
              <a:rPr lang="en-US" altLang="zh-CN" sz="1200">
                <a:solidFill>
                  <a:srgbClr val="E5C07B"/>
                </a:solidFill>
                <a:cs typeface="+mn-ea"/>
                <a:sym typeface="+mn-lt"/>
              </a:rPr>
              <a:t>MyVariantD</a:t>
            </a:r>
            <a:r>
              <a:rPr lang="en-US" altLang="zh-CN" sz="1200">
                <a:solidFill>
                  <a:srgbClr val="ABB2BF"/>
                </a:solidFill>
                <a:cs typeface="+mn-ea"/>
                <a:sym typeface="+mn-lt"/>
              </a:rPr>
              <a:t>(</a:t>
            </a:r>
            <a:r>
              <a:rPr lang="en-US" altLang="zh-CN" sz="1200">
                <a:solidFill>
                  <a:srgbClr val="E5C07B"/>
                </a:solidFill>
                <a:cs typeface="+mn-ea"/>
                <a:sym typeface="+mn-lt"/>
              </a:rPr>
              <a:t>MyEnumDiscriminant</a:t>
            </a:r>
            <a:r>
              <a:rPr lang="en-US" altLang="zh-CN" sz="1200">
                <a:solidFill>
                  <a:srgbClr val="ABB2BF"/>
                </a:solidFill>
                <a:cs typeface="+mn-ea"/>
                <a:sym typeface="+mn-lt"/>
              </a:rPr>
              <a:t>);</a:t>
            </a:r>
            <a:endParaRPr lang="en-US" altLang="zh-CN" sz="1200" b="0">
              <a:solidFill>
                <a:srgbClr val="ABB2BF"/>
              </a:solidFill>
              <a:effectLst/>
              <a:cs typeface="+mn-ea"/>
              <a:sym typeface="+mn-l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直接连接符 6"/>
          <p:cNvCxnSpPr/>
          <p:nvPr/>
        </p:nvCxnSpPr>
        <p:spPr>
          <a:xfrm>
            <a:off x="239006" y="641249"/>
            <a:ext cx="11340282"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139959" y="112899"/>
            <a:ext cx="10108564" cy="528350"/>
          </a:xfrm>
          <a:prstGeom prst="rect">
            <a:avLst/>
          </a:prstGeom>
          <a:noFill/>
        </p:spPr>
        <p:txBody>
          <a:bodyPr vert="horz" wrap="square" rtlCol="0">
            <a:spAutoFit/>
          </a:bodyPr>
          <a:lstStyle/>
          <a:p>
            <a:pPr>
              <a:lnSpc>
                <a:spcPts val="3440"/>
              </a:lnSpc>
            </a:pPr>
            <a:r>
              <a:rPr lang="en-US" altLang="zh-CN" sz="3200" b="1">
                <a:solidFill>
                  <a:srgbClr val="C00000"/>
                </a:solidFill>
                <a:cs typeface="+mn-ea"/>
                <a:sym typeface="+mn-lt"/>
              </a:rPr>
              <a:t>#[repr]</a:t>
            </a:r>
            <a:r>
              <a:rPr lang="zh-CN" altLang="en-US" sz="3200" b="1">
                <a:solidFill>
                  <a:srgbClr val="C00000"/>
                </a:solidFill>
                <a:cs typeface="+mn-ea"/>
                <a:sym typeface="+mn-lt"/>
              </a:rPr>
              <a:t>属性</a:t>
            </a:r>
            <a:r>
              <a:rPr lang="en-US" altLang="zh-CN" sz="3200" b="1">
                <a:solidFill>
                  <a:srgbClr val="C00000"/>
                </a:solidFill>
                <a:cs typeface="+mn-ea"/>
                <a:sym typeface="+mn-lt"/>
              </a:rPr>
              <a:t>-Transparent</a:t>
            </a:r>
          </a:p>
        </p:txBody>
      </p:sp>
      <p:sp>
        <p:nvSpPr>
          <p:cNvPr id="3" name="矩形 2"/>
          <p:cNvSpPr/>
          <p:nvPr/>
        </p:nvSpPr>
        <p:spPr>
          <a:xfrm>
            <a:off x="239006" y="641249"/>
            <a:ext cx="11340282" cy="1200329"/>
          </a:xfrm>
          <a:prstGeom prst="rect">
            <a:avLst/>
          </a:prstGeom>
        </p:spPr>
        <p:txBody>
          <a:bodyPr wrap="square">
            <a:spAutoFit/>
          </a:bodyPr>
          <a:lstStyle/>
          <a:p>
            <a:pPr>
              <a:lnSpc>
                <a:spcPct val="150000"/>
              </a:lnSpc>
            </a:pPr>
            <a:r>
              <a:rPr lang="en-US" altLang="zh-CN" sz="1600">
                <a:cs typeface="+mn-ea"/>
                <a:sym typeface="+mn-lt"/>
              </a:rPr>
              <a:t>Transparent</a:t>
            </a:r>
            <a:r>
              <a:rPr lang="zh-CN" altLang="en-US" sz="1600">
                <a:cs typeface="+mn-ea"/>
                <a:sym typeface="+mn-lt"/>
              </a:rPr>
              <a:t>表示形式只能在只有一个字段的结构体上或只有一个变体的枚举上使用，这里只有一个字段</a:t>
            </a:r>
            <a:r>
              <a:rPr lang="en-US" altLang="zh-CN" sz="1600">
                <a:cs typeface="+mn-ea"/>
                <a:sym typeface="+mn-lt"/>
              </a:rPr>
              <a:t>/</a:t>
            </a:r>
            <a:r>
              <a:rPr lang="zh-CN" altLang="en-US" sz="1600">
                <a:cs typeface="+mn-ea"/>
                <a:sym typeface="+mn-lt"/>
              </a:rPr>
              <a:t>变体的意思是：</a:t>
            </a:r>
          </a:p>
          <a:p>
            <a:pPr marL="285750" indent="-285750">
              <a:lnSpc>
                <a:spcPct val="150000"/>
              </a:lnSpc>
              <a:buFont typeface="Arial" panose="020B0604020202020204" pitchFamily="34" charset="0"/>
              <a:buChar char="•"/>
            </a:pPr>
            <a:r>
              <a:rPr lang="zh-CN" altLang="en-US" sz="1600">
                <a:cs typeface="+mn-ea"/>
                <a:sym typeface="+mn-lt"/>
              </a:rPr>
              <a:t>只能有一个非零尺寸的字段</a:t>
            </a:r>
            <a:r>
              <a:rPr lang="en-US" altLang="zh-CN" sz="1600">
                <a:cs typeface="+mn-ea"/>
                <a:sym typeface="+mn-lt"/>
              </a:rPr>
              <a:t>/</a:t>
            </a:r>
            <a:r>
              <a:rPr lang="zh-CN" altLang="en-US" sz="1600">
                <a:cs typeface="+mn-ea"/>
                <a:sym typeface="+mn-lt"/>
              </a:rPr>
              <a:t>变体；</a:t>
            </a:r>
          </a:p>
          <a:p>
            <a:pPr marL="285750" indent="-285750">
              <a:lnSpc>
                <a:spcPct val="150000"/>
              </a:lnSpc>
              <a:buFont typeface="Arial" panose="020B0604020202020204" pitchFamily="34" charset="0"/>
              <a:buChar char="•"/>
            </a:pPr>
            <a:r>
              <a:rPr lang="zh-CN" altLang="en-US" sz="1600">
                <a:cs typeface="+mn-ea"/>
                <a:sym typeface="+mn-lt"/>
              </a:rPr>
              <a:t>任意数量的大小为零对齐量为</a:t>
            </a:r>
            <a:r>
              <a:rPr lang="en-US" altLang="zh-CN" sz="1600">
                <a:cs typeface="+mn-ea"/>
                <a:sym typeface="+mn-lt"/>
              </a:rPr>
              <a:t>1</a:t>
            </a:r>
            <a:r>
              <a:rPr lang="zh-CN" altLang="en-US" sz="1600">
                <a:cs typeface="+mn-ea"/>
                <a:sym typeface="+mn-lt"/>
              </a:rPr>
              <a:t>的字段；</a:t>
            </a:r>
            <a:endParaRPr lang="en-US" altLang="zh-CN" sz="1600">
              <a:cs typeface="+mn-ea"/>
              <a:sym typeface="+mn-lt"/>
            </a:endParaRPr>
          </a:p>
        </p:txBody>
      </p:sp>
      <p:sp>
        <p:nvSpPr>
          <p:cNvPr id="11" name="文本框 10"/>
          <p:cNvSpPr txBox="1"/>
          <p:nvPr/>
        </p:nvSpPr>
        <p:spPr>
          <a:xfrm>
            <a:off x="597528" y="1941102"/>
            <a:ext cx="10194202" cy="4185761"/>
          </a:xfrm>
          <a:prstGeom prst="rect">
            <a:avLst/>
          </a:prstGeom>
          <a:solidFill>
            <a:schemeClr val="tx1"/>
          </a:solidFill>
        </p:spPr>
        <p:style>
          <a:lnRef idx="2">
            <a:schemeClr val="dk1"/>
          </a:lnRef>
          <a:fillRef idx="1">
            <a:schemeClr val="lt1"/>
          </a:fillRef>
          <a:effectRef idx="0">
            <a:schemeClr val="dk1"/>
          </a:effectRef>
          <a:fontRef idx="minor">
            <a:schemeClr val="dk1"/>
          </a:fontRef>
        </p:style>
        <p:txBody>
          <a:bodyPr vert="horz" wrap="square" rtlCol="0">
            <a:spAutoFit/>
          </a:bodyPr>
          <a:lstStyle/>
          <a:p>
            <a:r>
              <a:rPr lang="en-US" altLang="zh-CN" sz="1400" dirty="0">
                <a:solidFill>
                  <a:srgbClr val="FFFFFF"/>
                </a:solidFill>
                <a:cs typeface="+mn-ea"/>
                <a:sym typeface="+mn-lt"/>
              </a:rPr>
              <a:t>// </a:t>
            </a:r>
            <a:r>
              <a:rPr lang="zh-CN" altLang="en-US" sz="1400" b="1" dirty="0">
                <a:solidFill>
                  <a:srgbClr val="00B050"/>
                </a:solidFill>
                <a:cs typeface="+mn-ea"/>
                <a:sym typeface="+mn-lt"/>
              </a:rPr>
              <a:t>代码示例</a:t>
            </a:r>
            <a:endParaRPr lang="en-US" altLang="zh-CN" sz="1400" b="1" dirty="0">
              <a:solidFill>
                <a:srgbClr val="00B050"/>
              </a:solidFill>
              <a:cs typeface="+mn-ea"/>
              <a:sym typeface="+mn-lt"/>
            </a:endParaRPr>
          </a:p>
          <a:p>
            <a:r>
              <a:rPr lang="en-US" altLang="zh-CN" sz="1400" dirty="0">
                <a:solidFill>
                  <a:srgbClr val="C678DD"/>
                </a:solidFill>
                <a:cs typeface="+mn-ea"/>
                <a:sym typeface="+mn-lt"/>
              </a:rPr>
              <a:t>use</a:t>
            </a:r>
            <a:r>
              <a:rPr lang="en-US" altLang="zh-CN" sz="1400" dirty="0">
                <a:solidFill>
                  <a:srgbClr val="ABB2BF"/>
                </a:solidFill>
                <a:cs typeface="+mn-ea"/>
                <a:sym typeface="+mn-lt"/>
              </a:rPr>
              <a:t> </a:t>
            </a:r>
            <a:r>
              <a:rPr lang="en-US" altLang="zh-CN" sz="1400" dirty="0">
                <a:solidFill>
                  <a:srgbClr val="E5C07B"/>
                </a:solidFill>
                <a:cs typeface="+mn-ea"/>
                <a:sym typeface="+mn-lt"/>
              </a:rPr>
              <a:t>std</a:t>
            </a:r>
            <a:r>
              <a:rPr lang="en-US" altLang="zh-CN" sz="1400" dirty="0">
                <a:solidFill>
                  <a:srgbClr val="ABB2BF"/>
                </a:solidFill>
                <a:cs typeface="+mn-ea"/>
                <a:sym typeface="+mn-lt"/>
              </a:rPr>
              <a:t>::</a:t>
            </a:r>
            <a:r>
              <a:rPr lang="en-US" altLang="zh-CN" sz="1400" dirty="0">
                <a:solidFill>
                  <a:srgbClr val="E5C07B"/>
                </a:solidFill>
                <a:cs typeface="+mn-ea"/>
                <a:sym typeface="+mn-lt"/>
              </a:rPr>
              <a:t>ops</a:t>
            </a:r>
            <a:r>
              <a:rPr lang="en-US" altLang="zh-CN" sz="1400" dirty="0">
                <a:solidFill>
                  <a:srgbClr val="ABB2BF"/>
                </a:solidFill>
                <a:cs typeface="+mn-ea"/>
                <a:sym typeface="+mn-lt"/>
              </a:rPr>
              <a:t>::</a:t>
            </a:r>
            <a:r>
              <a:rPr lang="en-US" altLang="zh-CN" sz="1400" dirty="0" err="1">
                <a:solidFill>
                  <a:srgbClr val="E5C07B"/>
                </a:solidFill>
                <a:cs typeface="+mn-ea"/>
                <a:sym typeface="+mn-lt"/>
              </a:rPr>
              <a:t>Deref</a:t>
            </a:r>
            <a:r>
              <a:rPr lang="en-US" altLang="zh-CN" sz="1400" dirty="0">
                <a:solidFill>
                  <a:srgbClr val="ABB2BF"/>
                </a:solidFill>
                <a:cs typeface="+mn-ea"/>
                <a:sym typeface="+mn-lt"/>
              </a:rPr>
              <a:t>;</a:t>
            </a:r>
          </a:p>
          <a:p>
            <a:br>
              <a:rPr lang="en-US" altLang="zh-CN" sz="1400" dirty="0">
                <a:solidFill>
                  <a:srgbClr val="ABB2BF"/>
                </a:solidFill>
                <a:cs typeface="+mn-ea"/>
                <a:sym typeface="+mn-lt"/>
              </a:rPr>
            </a:br>
            <a:r>
              <a:rPr lang="en-US" altLang="zh-CN" sz="1400" i="1" dirty="0">
                <a:solidFill>
                  <a:srgbClr val="7F848E"/>
                </a:solidFill>
                <a:cs typeface="+mn-ea"/>
                <a:sym typeface="+mn-lt"/>
              </a:rPr>
              <a:t>// </a:t>
            </a:r>
            <a:r>
              <a:rPr lang="zh-CN" altLang="en-US" sz="1400" i="1" dirty="0">
                <a:solidFill>
                  <a:srgbClr val="7F848E"/>
                </a:solidFill>
                <a:cs typeface="+mn-ea"/>
                <a:sym typeface="+mn-lt"/>
              </a:rPr>
              <a:t>使用</a:t>
            </a:r>
            <a:r>
              <a:rPr lang="en-US" altLang="zh-CN" sz="1400" i="1" dirty="0">
                <a:solidFill>
                  <a:srgbClr val="7F848E"/>
                </a:solidFill>
                <a:cs typeface="+mn-ea"/>
                <a:sym typeface="+mn-lt"/>
              </a:rPr>
              <a:t>#[</a:t>
            </a:r>
            <a:r>
              <a:rPr lang="en-US" altLang="zh-CN" sz="1400" i="1" dirty="0" err="1">
                <a:solidFill>
                  <a:srgbClr val="7F848E"/>
                </a:solidFill>
                <a:cs typeface="+mn-ea"/>
                <a:sym typeface="+mn-lt"/>
              </a:rPr>
              <a:t>repr</a:t>
            </a:r>
            <a:r>
              <a:rPr lang="en-US" altLang="zh-CN" sz="1400" i="1" dirty="0">
                <a:solidFill>
                  <a:srgbClr val="7F848E"/>
                </a:solidFill>
                <a:cs typeface="+mn-ea"/>
                <a:sym typeface="+mn-lt"/>
              </a:rPr>
              <a:t>(transparent)]</a:t>
            </a:r>
            <a:r>
              <a:rPr lang="zh-CN" altLang="en-US" sz="1400" i="1" dirty="0">
                <a:solidFill>
                  <a:srgbClr val="7F848E"/>
                </a:solidFill>
                <a:cs typeface="+mn-ea"/>
                <a:sym typeface="+mn-lt"/>
              </a:rPr>
              <a:t>属性来指定结构体 </a:t>
            </a:r>
            <a:r>
              <a:rPr lang="en-US" altLang="zh-CN" sz="1400" i="1" dirty="0">
                <a:solidFill>
                  <a:srgbClr val="7F848E"/>
                </a:solidFill>
                <a:cs typeface="+mn-ea"/>
                <a:sym typeface="+mn-lt"/>
              </a:rPr>
              <a:t>Meter</a:t>
            </a:r>
            <a:r>
              <a:rPr lang="zh-CN" altLang="en-US" sz="1400" i="1" dirty="0">
                <a:solidFill>
                  <a:srgbClr val="7F848E"/>
                </a:solidFill>
                <a:cs typeface="+mn-ea"/>
                <a:sym typeface="+mn-lt"/>
              </a:rPr>
              <a:t>应该具有与其唯一非零大小字段（即</a:t>
            </a:r>
            <a:r>
              <a:rPr lang="en-US" altLang="zh-CN" sz="1400" i="1" dirty="0">
                <a:solidFill>
                  <a:srgbClr val="7F848E"/>
                </a:solidFill>
                <a:cs typeface="+mn-ea"/>
                <a:sym typeface="+mn-lt"/>
              </a:rPr>
              <a:t>i32</a:t>
            </a:r>
            <a:r>
              <a:rPr lang="zh-CN" altLang="en-US" sz="1400" i="1" dirty="0">
                <a:solidFill>
                  <a:srgbClr val="7F848E"/>
                </a:solidFill>
                <a:cs typeface="+mn-ea"/>
                <a:sym typeface="+mn-lt"/>
              </a:rPr>
              <a:t>类型）相同的内存布局</a:t>
            </a:r>
            <a:endParaRPr lang="zh-CN" altLang="en-US" sz="1400" dirty="0">
              <a:solidFill>
                <a:srgbClr val="ABB2BF"/>
              </a:solidFill>
              <a:cs typeface="+mn-ea"/>
              <a:sym typeface="+mn-lt"/>
            </a:endParaRPr>
          </a:p>
          <a:p>
            <a:r>
              <a:rPr lang="en-US" altLang="zh-CN" sz="1400" dirty="0">
                <a:solidFill>
                  <a:srgbClr val="ABB2BF"/>
                </a:solidFill>
                <a:cs typeface="+mn-ea"/>
                <a:sym typeface="+mn-lt"/>
              </a:rPr>
              <a:t>#[</a:t>
            </a:r>
            <a:r>
              <a:rPr lang="en-US" altLang="zh-CN" sz="1400" dirty="0" err="1">
                <a:solidFill>
                  <a:srgbClr val="ABB2BF"/>
                </a:solidFill>
                <a:cs typeface="+mn-ea"/>
                <a:sym typeface="+mn-lt"/>
              </a:rPr>
              <a:t>repr</a:t>
            </a:r>
            <a:r>
              <a:rPr lang="en-US" altLang="zh-CN" sz="1400" dirty="0">
                <a:solidFill>
                  <a:srgbClr val="ABB2BF"/>
                </a:solidFill>
                <a:cs typeface="+mn-ea"/>
                <a:sym typeface="+mn-lt"/>
              </a:rPr>
              <a:t>(transparent)]</a:t>
            </a:r>
          </a:p>
          <a:p>
            <a:r>
              <a:rPr lang="en-US" altLang="zh-CN" sz="1400" dirty="0">
                <a:solidFill>
                  <a:srgbClr val="C678DD"/>
                </a:solidFill>
                <a:cs typeface="+mn-ea"/>
                <a:sym typeface="+mn-lt"/>
              </a:rPr>
              <a:t>struct</a:t>
            </a:r>
            <a:r>
              <a:rPr lang="en-US" altLang="zh-CN" sz="1400" dirty="0">
                <a:solidFill>
                  <a:srgbClr val="ABB2BF"/>
                </a:solidFill>
                <a:cs typeface="+mn-ea"/>
                <a:sym typeface="+mn-lt"/>
              </a:rPr>
              <a:t> </a:t>
            </a:r>
            <a:r>
              <a:rPr lang="en-US" altLang="zh-CN" sz="1400" dirty="0">
                <a:solidFill>
                  <a:srgbClr val="E5C07B"/>
                </a:solidFill>
                <a:cs typeface="+mn-ea"/>
                <a:sym typeface="+mn-lt"/>
              </a:rPr>
              <a:t>Meter</a:t>
            </a:r>
            <a:r>
              <a:rPr lang="en-US" altLang="zh-CN" sz="1400" dirty="0">
                <a:solidFill>
                  <a:srgbClr val="ABB2BF"/>
                </a:solidFill>
                <a:cs typeface="+mn-ea"/>
                <a:sym typeface="+mn-lt"/>
              </a:rPr>
              <a:t>(</a:t>
            </a:r>
            <a:r>
              <a:rPr lang="en-US" altLang="zh-CN" sz="1400" dirty="0">
                <a:solidFill>
                  <a:srgbClr val="E5C07B"/>
                </a:solidFill>
                <a:cs typeface="+mn-ea"/>
                <a:sym typeface="+mn-lt"/>
              </a:rPr>
              <a:t>i32</a:t>
            </a:r>
            <a:r>
              <a:rPr lang="en-US" altLang="zh-CN" sz="1400" dirty="0">
                <a:solidFill>
                  <a:srgbClr val="ABB2BF"/>
                </a:solidFill>
                <a:cs typeface="+mn-ea"/>
                <a:sym typeface="+mn-lt"/>
              </a:rPr>
              <a:t>);</a:t>
            </a:r>
          </a:p>
          <a:p>
            <a:br>
              <a:rPr lang="en-US" altLang="zh-CN" sz="1400" dirty="0">
                <a:solidFill>
                  <a:srgbClr val="ABB2BF"/>
                </a:solidFill>
                <a:cs typeface="+mn-ea"/>
                <a:sym typeface="+mn-lt"/>
              </a:rPr>
            </a:br>
            <a:r>
              <a:rPr lang="en-US" altLang="zh-CN" sz="1400" i="1" dirty="0">
                <a:solidFill>
                  <a:srgbClr val="7F848E"/>
                </a:solidFill>
                <a:cs typeface="+mn-ea"/>
                <a:sym typeface="+mn-lt"/>
              </a:rPr>
              <a:t>// </a:t>
            </a:r>
            <a:r>
              <a:rPr lang="zh-CN" altLang="en-US" sz="1400" i="1" dirty="0">
                <a:solidFill>
                  <a:srgbClr val="7F848E"/>
                </a:solidFill>
                <a:cs typeface="+mn-ea"/>
                <a:sym typeface="+mn-lt"/>
              </a:rPr>
              <a:t>为新类型</a:t>
            </a:r>
            <a:r>
              <a:rPr lang="en-US" altLang="zh-CN" sz="1400" i="1" dirty="0">
                <a:solidFill>
                  <a:srgbClr val="7F848E"/>
                </a:solidFill>
                <a:cs typeface="+mn-ea"/>
                <a:sym typeface="+mn-lt"/>
              </a:rPr>
              <a:t>Meter</a:t>
            </a:r>
            <a:r>
              <a:rPr lang="zh-CN" altLang="en-US" sz="1400" i="1" dirty="0">
                <a:solidFill>
                  <a:srgbClr val="7F848E"/>
                </a:solidFill>
                <a:cs typeface="+mn-ea"/>
                <a:sym typeface="+mn-lt"/>
              </a:rPr>
              <a:t>实现了</a:t>
            </a:r>
            <a:r>
              <a:rPr lang="en-US" altLang="zh-CN" sz="1400" i="1" dirty="0" err="1">
                <a:solidFill>
                  <a:srgbClr val="7F848E"/>
                </a:solidFill>
                <a:cs typeface="+mn-ea"/>
                <a:sym typeface="+mn-lt"/>
              </a:rPr>
              <a:t>Deref</a:t>
            </a:r>
            <a:r>
              <a:rPr lang="en-US" altLang="zh-CN" sz="1400" i="1" dirty="0">
                <a:solidFill>
                  <a:srgbClr val="7F848E"/>
                </a:solidFill>
                <a:cs typeface="+mn-ea"/>
                <a:sym typeface="+mn-lt"/>
              </a:rPr>
              <a:t> trait</a:t>
            </a:r>
            <a:r>
              <a:rPr lang="zh-CN" altLang="en-US" sz="1400" i="1" dirty="0">
                <a:solidFill>
                  <a:srgbClr val="7F848E"/>
                </a:solidFill>
                <a:cs typeface="+mn-ea"/>
                <a:sym typeface="+mn-lt"/>
              </a:rPr>
              <a:t>，使得它可以像普通的整数一样使用</a:t>
            </a:r>
            <a:endParaRPr lang="zh-CN" altLang="en-US" sz="1400" dirty="0">
              <a:solidFill>
                <a:srgbClr val="ABB2BF"/>
              </a:solidFill>
              <a:cs typeface="+mn-ea"/>
              <a:sym typeface="+mn-lt"/>
            </a:endParaRPr>
          </a:p>
          <a:p>
            <a:r>
              <a:rPr lang="en-US" altLang="zh-CN" sz="1400" dirty="0" err="1">
                <a:solidFill>
                  <a:srgbClr val="C678DD"/>
                </a:solidFill>
                <a:cs typeface="+mn-ea"/>
                <a:sym typeface="+mn-lt"/>
              </a:rPr>
              <a:t>impl</a:t>
            </a:r>
            <a:r>
              <a:rPr lang="en-US" altLang="zh-CN" sz="1400" dirty="0">
                <a:solidFill>
                  <a:srgbClr val="ABB2BF"/>
                </a:solidFill>
                <a:cs typeface="+mn-ea"/>
                <a:sym typeface="+mn-lt"/>
              </a:rPr>
              <a:t> </a:t>
            </a:r>
            <a:r>
              <a:rPr lang="en-US" altLang="zh-CN" sz="1400" dirty="0" err="1">
                <a:solidFill>
                  <a:srgbClr val="E5C07B"/>
                </a:solidFill>
                <a:cs typeface="+mn-ea"/>
                <a:sym typeface="+mn-lt"/>
              </a:rPr>
              <a:t>Deref</a:t>
            </a:r>
            <a:r>
              <a:rPr lang="en-US" altLang="zh-CN" sz="1400" dirty="0">
                <a:solidFill>
                  <a:srgbClr val="ABB2BF"/>
                </a:solidFill>
                <a:cs typeface="+mn-ea"/>
                <a:sym typeface="+mn-lt"/>
              </a:rPr>
              <a:t> </a:t>
            </a:r>
            <a:r>
              <a:rPr lang="en-US" altLang="zh-CN" sz="1400" dirty="0">
                <a:solidFill>
                  <a:srgbClr val="C678DD"/>
                </a:solidFill>
                <a:cs typeface="+mn-ea"/>
                <a:sym typeface="+mn-lt"/>
              </a:rPr>
              <a:t>for</a:t>
            </a:r>
            <a:r>
              <a:rPr lang="en-US" altLang="zh-CN" sz="1400" dirty="0">
                <a:solidFill>
                  <a:srgbClr val="ABB2BF"/>
                </a:solidFill>
                <a:cs typeface="+mn-ea"/>
                <a:sym typeface="+mn-lt"/>
              </a:rPr>
              <a:t> </a:t>
            </a:r>
            <a:r>
              <a:rPr lang="en-US" altLang="zh-CN" sz="1400" dirty="0">
                <a:solidFill>
                  <a:srgbClr val="E5C07B"/>
                </a:solidFill>
                <a:cs typeface="+mn-ea"/>
                <a:sym typeface="+mn-lt"/>
              </a:rPr>
              <a:t>Meter</a:t>
            </a:r>
            <a:r>
              <a:rPr lang="en-US" altLang="zh-CN" sz="1400" dirty="0">
                <a:solidFill>
                  <a:srgbClr val="ABB2BF"/>
                </a:solidFill>
                <a:cs typeface="+mn-ea"/>
                <a:sym typeface="+mn-lt"/>
              </a:rPr>
              <a:t> {</a:t>
            </a:r>
          </a:p>
          <a:p>
            <a:r>
              <a:rPr lang="en-US" altLang="zh-CN" sz="1400" dirty="0">
                <a:solidFill>
                  <a:srgbClr val="ABB2BF"/>
                </a:solidFill>
                <a:cs typeface="+mn-ea"/>
                <a:sym typeface="+mn-lt"/>
              </a:rPr>
              <a:t>    </a:t>
            </a:r>
            <a:r>
              <a:rPr lang="en-US" altLang="zh-CN" sz="1400" dirty="0">
                <a:solidFill>
                  <a:srgbClr val="C678DD"/>
                </a:solidFill>
                <a:cs typeface="+mn-ea"/>
                <a:sym typeface="+mn-lt"/>
              </a:rPr>
              <a:t>type</a:t>
            </a:r>
            <a:r>
              <a:rPr lang="en-US" altLang="zh-CN" sz="1400" dirty="0">
                <a:solidFill>
                  <a:srgbClr val="ABB2BF"/>
                </a:solidFill>
                <a:cs typeface="+mn-ea"/>
                <a:sym typeface="+mn-lt"/>
              </a:rPr>
              <a:t> </a:t>
            </a:r>
            <a:r>
              <a:rPr lang="en-US" altLang="zh-CN" sz="1400" dirty="0">
                <a:solidFill>
                  <a:srgbClr val="E5C07B"/>
                </a:solidFill>
                <a:cs typeface="+mn-ea"/>
                <a:sym typeface="+mn-lt"/>
              </a:rPr>
              <a:t>Target</a:t>
            </a:r>
            <a:r>
              <a:rPr lang="en-US" altLang="zh-CN" sz="1400" dirty="0">
                <a:solidFill>
                  <a:srgbClr val="ABB2BF"/>
                </a:solidFill>
                <a:cs typeface="+mn-ea"/>
                <a:sym typeface="+mn-lt"/>
              </a:rPr>
              <a:t> </a:t>
            </a:r>
            <a:r>
              <a:rPr lang="en-US" altLang="zh-CN" sz="1400" dirty="0">
                <a:solidFill>
                  <a:srgbClr val="56B6C2"/>
                </a:solidFill>
                <a:cs typeface="+mn-ea"/>
                <a:sym typeface="+mn-lt"/>
              </a:rPr>
              <a:t>=</a:t>
            </a:r>
            <a:r>
              <a:rPr lang="en-US" altLang="zh-CN" sz="1400" dirty="0">
                <a:solidFill>
                  <a:srgbClr val="ABB2BF"/>
                </a:solidFill>
                <a:cs typeface="+mn-ea"/>
                <a:sym typeface="+mn-lt"/>
              </a:rPr>
              <a:t> </a:t>
            </a:r>
            <a:r>
              <a:rPr lang="en-US" altLang="zh-CN" sz="1400" dirty="0">
                <a:solidFill>
                  <a:srgbClr val="E5C07B"/>
                </a:solidFill>
                <a:cs typeface="+mn-ea"/>
                <a:sym typeface="+mn-lt"/>
              </a:rPr>
              <a:t>i32</a:t>
            </a:r>
            <a:r>
              <a:rPr lang="en-US" altLang="zh-CN" sz="1400" dirty="0">
                <a:solidFill>
                  <a:srgbClr val="ABB2BF"/>
                </a:solidFill>
                <a:cs typeface="+mn-ea"/>
                <a:sym typeface="+mn-lt"/>
              </a:rPr>
              <a:t>;</a:t>
            </a:r>
          </a:p>
          <a:p>
            <a:r>
              <a:rPr lang="en-US" altLang="zh-CN" sz="1400" dirty="0">
                <a:solidFill>
                  <a:srgbClr val="ABB2BF"/>
                </a:solidFill>
                <a:cs typeface="+mn-ea"/>
                <a:sym typeface="+mn-lt"/>
              </a:rPr>
              <a:t>    </a:t>
            </a:r>
            <a:r>
              <a:rPr lang="en-US" altLang="zh-CN" sz="1400" dirty="0" err="1">
                <a:solidFill>
                  <a:srgbClr val="C678DD"/>
                </a:solidFill>
                <a:cs typeface="+mn-ea"/>
                <a:sym typeface="+mn-lt"/>
              </a:rPr>
              <a:t>fn</a:t>
            </a:r>
            <a:r>
              <a:rPr lang="en-US" altLang="zh-CN" sz="1400" dirty="0">
                <a:solidFill>
                  <a:srgbClr val="ABB2BF"/>
                </a:solidFill>
                <a:cs typeface="+mn-ea"/>
                <a:sym typeface="+mn-lt"/>
              </a:rPr>
              <a:t> </a:t>
            </a:r>
            <a:r>
              <a:rPr lang="en-US" altLang="zh-CN" sz="1400" dirty="0" err="1">
                <a:solidFill>
                  <a:srgbClr val="61AFEF"/>
                </a:solidFill>
                <a:cs typeface="+mn-ea"/>
                <a:sym typeface="+mn-lt"/>
              </a:rPr>
              <a:t>deref</a:t>
            </a:r>
            <a:r>
              <a:rPr lang="en-US" altLang="zh-CN" sz="1400" dirty="0">
                <a:solidFill>
                  <a:srgbClr val="ABB2BF"/>
                </a:solidFill>
                <a:cs typeface="+mn-ea"/>
                <a:sym typeface="+mn-lt"/>
              </a:rPr>
              <a:t>(&amp;</a:t>
            </a:r>
            <a:r>
              <a:rPr lang="en-US" altLang="zh-CN" sz="1400" dirty="0">
                <a:solidFill>
                  <a:srgbClr val="E5C07B"/>
                </a:solidFill>
                <a:cs typeface="+mn-ea"/>
                <a:sym typeface="+mn-lt"/>
              </a:rPr>
              <a:t>self</a:t>
            </a:r>
            <a:r>
              <a:rPr lang="en-US" altLang="zh-CN" sz="1400" dirty="0">
                <a:solidFill>
                  <a:srgbClr val="ABB2BF"/>
                </a:solidFill>
                <a:cs typeface="+mn-ea"/>
                <a:sym typeface="+mn-lt"/>
              </a:rPr>
              <a:t>) -&gt; &amp;</a:t>
            </a:r>
            <a:r>
              <a:rPr lang="en-US" altLang="zh-CN" sz="1400" dirty="0">
                <a:solidFill>
                  <a:srgbClr val="E5C07B"/>
                </a:solidFill>
                <a:cs typeface="+mn-ea"/>
                <a:sym typeface="+mn-lt"/>
              </a:rPr>
              <a:t>Self</a:t>
            </a:r>
            <a:r>
              <a:rPr lang="en-US" altLang="zh-CN" sz="1400" dirty="0">
                <a:solidFill>
                  <a:srgbClr val="ABB2BF"/>
                </a:solidFill>
                <a:cs typeface="+mn-ea"/>
                <a:sym typeface="+mn-lt"/>
              </a:rPr>
              <a:t>::</a:t>
            </a:r>
            <a:r>
              <a:rPr lang="en-US" altLang="zh-CN" sz="1400" dirty="0">
                <a:solidFill>
                  <a:srgbClr val="E5C07B"/>
                </a:solidFill>
                <a:cs typeface="+mn-ea"/>
                <a:sym typeface="+mn-lt"/>
              </a:rPr>
              <a:t>Target</a:t>
            </a:r>
            <a:r>
              <a:rPr lang="en-US" altLang="zh-CN" sz="1400" dirty="0">
                <a:solidFill>
                  <a:srgbClr val="ABB2BF"/>
                </a:solidFill>
                <a:cs typeface="+mn-ea"/>
                <a:sym typeface="+mn-lt"/>
              </a:rPr>
              <a:t> {</a:t>
            </a:r>
          </a:p>
          <a:p>
            <a:r>
              <a:rPr lang="en-US" altLang="zh-CN" sz="1400" dirty="0">
                <a:solidFill>
                  <a:srgbClr val="ABB2BF"/>
                </a:solidFill>
                <a:cs typeface="+mn-ea"/>
                <a:sym typeface="+mn-lt"/>
              </a:rPr>
              <a:t>        &amp;</a:t>
            </a:r>
            <a:r>
              <a:rPr lang="en-US" altLang="zh-CN" sz="1400" dirty="0">
                <a:solidFill>
                  <a:srgbClr val="E5C07B"/>
                </a:solidFill>
                <a:cs typeface="+mn-ea"/>
                <a:sym typeface="+mn-lt"/>
              </a:rPr>
              <a:t>self</a:t>
            </a:r>
            <a:r>
              <a:rPr lang="en-US" altLang="zh-CN" sz="1400" dirty="0">
                <a:solidFill>
                  <a:srgbClr val="ABB2BF"/>
                </a:solidFill>
                <a:cs typeface="+mn-ea"/>
                <a:sym typeface="+mn-lt"/>
              </a:rPr>
              <a:t>.</a:t>
            </a:r>
            <a:r>
              <a:rPr lang="en-US" altLang="zh-CN" sz="1400" dirty="0">
                <a:solidFill>
                  <a:srgbClr val="D19A66"/>
                </a:solidFill>
                <a:cs typeface="+mn-ea"/>
                <a:sym typeface="+mn-lt"/>
              </a:rPr>
              <a:t>0</a:t>
            </a:r>
            <a:endParaRPr lang="en-US" altLang="zh-CN" sz="1400" dirty="0">
              <a:solidFill>
                <a:srgbClr val="ABB2BF"/>
              </a:solidFill>
              <a:cs typeface="+mn-ea"/>
              <a:sym typeface="+mn-lt"/>
            </a:endParaRPr>
          </a:p>
          <a:p>
            <a:r>
              <a:rPr lang="en-US" altLang="zh-CN" sz="1400" dirty="0">
                <a:solidFill>
                  <a:srgbClr val="ABB2BF"/>
                </a:solidFill>
                <a:cs typeface="+mn-ea"/>
                <a:sym typeface="+mn-lt"/>
              </a:rPr>
              <a:t>    }</a:t>
            </a:r>
          </a:p>
          <a:p>
            <a:r>
              <a:rPr lang="en-US" altLang="zh-CN" sz="1400" dirty="0">
                <a:solidFill>
                  <a:srgbClr val="ABB2BF"/>
                </a:solidFill>
                <a:cs typeface="+mn-ea"/>
                <a:sym typeface="+mn-lt"/>
              </a:rPr>
              <a:t>}</a:t>
            </a:r>
          </a:p>
          <a:p>
            <a:r>
              <a:rPr lang="en-US" altLang="zh-CN" sz="1400" dirty="0" err="1">
                <a:solidFill>
                  <a:srgbClr val="C678DD"/>
                </a:solidFill>
                <a:cs typeface="+mn-ea"/>
                <a:sym typeface="+mn-lt"/>
              </a:rPr>
              <a:t>fn</a:t>
            </a:r>
            <a:r>
              <a:rPr lang="en-US" altLang="zh-CN" sz="1400" dirty="0">
                <a:solidFill>
                  <a:srgbClr val="ABB2BF"/>
                </a:solidFill>
                <a:cs typeface="+mn-ea"/>
                <a:sym typeface="+mn-lt"/>
              </a:rPr>
              <a:t> </a:t>
            </a:r>
            <a:r>
              <a:rPr lang="en-US" altLang="zh-CN" sz="1400" dirty="0">
                <a:solidFill>
                  <a:srgbClr val="61AFEF"/>
                </a:solidFill>
                <a:cs typeface="+mn-ea"/>
                <a:sym typeface="+mn-lt"/>
              </a:rPr>
              <a:t>main</a:t>
            </a:r>
            <a:r>
              <a:rPr lang="en-US" altLang="zh-CN" sz="1400" dirty="0">
                <a:solidFill>
                  <a:srgbClr val="ABB2BF"/>
                </a:solidFill>
                <a:cs typeface="+mn-ea"/>
                <a:sym typeface="+mn-lt"/>
              </a:rPr>
              <a:t>() {</a:t>
            </a:r>
          </a:p>
          <a:p>
            <a:r>
              <a:rPr lang="en-US" altLang="zh-CN" sz="1400" i="1" dirty="0">
                <a:solidFill>
                  <a:srgbClr val="7F848E"/>
                </a:solidFill>
                <a:cs typeface="+mn-ea"/>
                <a:sym typeface="+mn-lt"/>
              </a:rPr>
              <a:t>    // </a:t>
            </a:r>
            <a:r>
              <a:rPr lang="zh-CN" altLang="en-US" sz="1400" i="1" dirty="0">
                <a:solidFill>
                  <a:srgbClr val="7F848E"/>
                </a:solidFill>
                <a:cs typeface="+mn-ea"/>
                <a:sym typeface="+mn-lt"/>
              </a:rPr>
              <a:t>新类型与被包装类型在内存中具有相同的表示形式</a:t>
            </a:r>
            <a:endParaRPr lang="zh-CN" altLang="en-US" sz="1400" dirty="0">
              <a:solidFill>
                <a:srgbClr val="ABB2BF"/>
              </a:solidFill>
              <a:cs typeface="+mn-ea"/>
              <a:sym typeface="+mn-lt"/>
            </a:endParaRPr>
          </a:p>
          <a:p>
            <a:r>
              <a:rPr lang="zh-CN" altLang="en-US" sz="1400" dirty="0">
                <a:solidFill>
                  <a:srgbClr val="ABB2BF"/>
                </a:solidFill>
                <a:cs typeface="+mn-ea"/>
                <a:sym typeface="+mn-lt"/>
              </a:rPr>
              <a:t>    </a:t>
            </a:r>
            <a:r>
              <a:rPr lang="en-US" altLang="zh-CN" sz="1400" dirty="0">
                <a:solidFill>
                  <a:srgbClr val="C678DD"/>
                </a:solidFill>
                <a:cs typeface="+mn-ea"/>
                <a:sym typeface="+mn-lt"/>
              </a:rPr>
              <a:t>let</a:t>
            </a:r>
            <a:r>
              <a:rPr lang="en-US" altLang="zh-CN" sz="1400" dirty="0">
                <a:solidFill>
                  <a:srgbClr val="ABB2BF"/>
                </a:solidFill>
                <a:cs typeface="+mn-ea"/>
                <a:sym typeface="+mn-lt"/>
              </a:rPr>
              <a:t> </a:t>
            </a:r>
            <a:r>
              <a:rPr lang="en-US" altLang="zh-CN" sz="1400" dirty="0">
                <a:solidFill>
                  <a:srgbClr val="E06C75"/>
                </a:solidFill>
                <a:cs typeface="+mn-ea"/>
                <a:sym typeface="+mn-lt"/>
              </a:rPr>
              <a:t>m</a:t>
            </a:r>
            <a:r>
              <a:rPr lang="en-US" altLang="zh-CN" sz="1400" dirty="0">
                <a:solidFill>
                  <a:srgbClr val="ABB2BF"/>
                </a:solidFill>
                <a:cs typeface="+mn-ea"/>
                <a:sym typeface="+mn-lt"/>
              </a:rPr>
              <a:t> </a:t>
            </a:r>
            <a:r>
              <a:rPr lang="en-US" altLang="zh-CN" sz="1400" dirty="0">
                <a:solidFill>
                  <a:srgbClr val="56B6C2"/>
                </a:solidFill>
                <a:cs typeface="+mn-ea"/>
                <a:sym typeface="+mn-lt"/>
              </a:rPr>
              <a:t>=</a:t>
            </a:r>
            <a:r>
              <a:rPr lang="en-US" altLang="zh-CN" sz="1400" dirty="0">
                <a:solidFill>
                  <a:srgbClr val="ABB2BF"/>
                </a:solidFill>
                <a:cs typeface="+mn-ea"/>
                <a:sym typeface="+mn-lt"/>
              </a:rPr>
              <a:t> </a:t>
            </a:r>
            <a:r>
              <a:rPr lang="en-US" altLang="zh-CN" sz="1400" dirty="0">
                <a:solidFill>
                  <a:srgbClr val="61AFEF"/>
                </a:solidFill>
                <a:cs typeface="+mn-ea"/>
                <a:sym typeface="+mn-lt"/>
              </a:rPr>
              <a:t>Meter</a:t>
            </a:r>
            <a:r>
              <a:rPr lang="en-US" altLang="zh-CN" sz="1400" dirty="0">
                <a:solidFill>
                  <a:srgbClr val="ABB2BF"/>
                </a:solidFill>
                <a:cs typeface="+mn-ea"/>
                <a:sym typeface="+mn-lt"/>
              </a:rPr>
              <a:t>(</a:t>
            </a:r>
            <a:r>
              <a:rPr lang="en-US" altLang="zh-CN" sz="1400" dirty="0">
                <a:solidFill>
                  <a:srgbClr val="D19A66"/>
                </a:solidFill>
                <a:cs typeface="+mn-ea"/>
                <a:sym typeface="+mn-lt"/>
              </a:rPr>
              <a:t>42</a:t>
            </a:r>
            <a:r>
              <a:rPr lang="en-US" altLang="zh-CN" sz="1400" dirty="0">
                <a:solidFill>
                  <a:srgbClr val="ABB2BF"/>
                </a:solidFill>
                <a:cs typeface="+mn-ea"/>
                <a:sym typeface="+mn-lt"/>
              </a:rPr>
              <a:t>);</a:t>
            </a:r>
          </a:p>
          <a:p>
            <a:r>
              <a:rPr lang="en-US" altLang="zh-CN" sz="1400" dirty="0">
                <a:solidFill>
                  <a:srgbClr val="ABB2BF"/>
                </a:solidFill>
                <a:cs typeface="+mn-ea"/>
                <a:sym typeface="+mn-lt"/>
              </a:rPr>
              <a:t>    </a:t>
            </a:r>
            <a:r>
              <a:rPr lang="en-US" altLang="zh-CN" sz="1400" dirty="0" err="1">
                <a:solidFill>
                  <a:srgbClr val="61AFEF"/>
                </a:solidFill>
                <a:cs typeface="+mn-ea"/>
                <a:sym typeface="+mn-lt"/>
              </a:rPr>
              <a:t>assert_eq</a:t>
            </a:r>
            <a:r>
              <a:rPr lang="en-US" altLang="zh-CN" sz="1400" dirty="0">
                <a:solidFill>
                  <a:srgbClr val="61AFEF"/>
                </a:solidFill>
                <a:cs typeface="+mn-ea"/>
                <a:sym typeface="+mn-lt"/>
              </a:rPr>
              <a:t>!</a:t>
            </a:r>
            <a:r>
              <a:rPr lang="en-US" altLang="zh-CN" sz="1400" dirty="0">
                <a:solidFill>
                  <a:srgbClr val="ABB2BF"/>
                </a:solidFill>
                <a:cs typeface="+mn-ea"/>
                <a:sym typeface="+mn-lt"/>
              </a:rPr>
              <a:t>(</a:t>
            </a:r>
            <a:r>
              <a:rPr lang="en-US" altLang="zh-CN" sz="1400" dirty="0">
                <a:solidFill>
                  <a:srgbClr val="D19A66"/>
                </a:solidFill>
                <a:cs typeface="+mn-ea"/>
                <a:sym typeface="+mn-lt"/>
              </a:rPr>
              <a:t>42</a:t>
            </a:r>
            <a:r>
              <a:rPr lang="en-US" altLang="zh-CN" sz="1400" dirty="0">
                <a:solidFill>
                  <a:srgbClr val="ABB2BF"/>
                </a:solidFill>
                <a:cs typeface="+mn-ea"/>
                <a:sym typeface="+mn-lt"/>
              </a:rPr>
              <a:t>, *</a:t>
            </a:r>
            <a:r>
              <a:rPr lang="en-US" altLang="zh-CN" sz="1400" dirty="0">
                <a:solidFill>
                  <a:srgbClr val="E06C75"/>
                </a:solidFill>
                <a:cs typeface="+mn-ea"/>
                <a:sym typeface="+mn-lt"/>
              </a:rPr>
              <a:t>m</a:t>
            </a:r>
            <a:r>
              <a:rPr lang="en-US" altLang="zh-CN" sz="1400" dirty="0">
                <a:solidFill>
                  <a:srgbClr val="ABB2BF"/>
                </a:solidFill>
                <a:cs typeface="+mn-ea"/>
                <a:sym typeface="+mn-lt"/>
              </a:rPr>
              <a:t>);</a:t>
            </a:r>
          </a:p>
          <a:p>
            <a:r>
              <a:rPr lang="en-US" altLang="zh-CN" sz="1400" dirty="0">
                <a:solidFill>
                  <a:srgbClr val="ABB2BF"/>
                </a:solidFill>
                <a:cs typeface="+mn-ea"/>
                <a:sym typeface="+mn-lt"/>
              </a:rPr>
              <a:t>}</a:t>
            </a:r>
            <a:endParaRPr lang="en-US" altLang="zh-CN" sz="1400" b="0" dirty="0">
              <a:solidFill>
                <a:srgbClr val="ABB2BF"/>
              </a:solidFill>
              <a:effectLst/>
              <a:cs typeface="+mn-ea"/>
              <a:sym typeface="+mn-l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0"/>
          </p:nvPr>
        </p:nvSpPr>
        <p:spPr>
          <a:xfrm>
            <a:off x="239006" y="874363"/>
            <a:ext cx="11340282" cy="4904642"/>
          </a:xfrm>
        </p:spPr>
        <p:txBody>
          <a:bodyPr/>
          <a:lstStyle/>
          <a:p>
            <a:pPr>
              <a:lnSpc>
                <a:spcPct val="150000"/>
              </a:lnSpc>
            </a:pPr>
            <a:r>
              <a:rPr lang="zh-CN" altLang="en-US" sz="1600" dirty="0">
                <a:latin typeface="+mn-lt"/>
                <a:ea typeface="+mn-ea"/>
                <a:cs typeface="+mn-ea"/>
                <a:sym typeface="+mn-lt"/>
              </a:rPr>
              <a:t>在与</a:t>
            </a:r>
            <a:r>
              <a:rPr lang="en-US" altLang="zh-CN" sz="1600" dirty="0">
                <a:latin typeface="+mn-lt"/>
                <a:ea typeface="+mn-ea"/>
                <a:cs typeface="+mn-ea"/>
                <a:sym typeface="+mn-lt"/>
              </a:rPr>
              <a:t>C</a:t>
            </a:r>
            <a:r>
              <a:rPr lang="zh-CN" altLang="en-US" sz="1600" dirty="0">
                <a:latin typeface="+mn-lt"/>
                <a:ea typeface="+mn-ea"/>
                <a:cs typeface="+mn-ea"/>
                <a:sym typeface="+mn-lt"/>
              </a:rPr>
              <a:t>互操作或者需要节省空间等场景下可能会用到</a:t>
            </a:r>
            <a:r>
              <a:rPr lang="en-US" altLang="zh-CN" sz="1600" dirty="0">
                <a:latin typeface="+mn-lt"/>
                <a:ea typeface="+mn-ea"/>
                <a:cs typeface="+mn-ea"/>
                <a:sym typeface="+mn-lt"/>
              </a:rPr>
              <a:t>union</a:t>
            </a:r>
            <a:r>
              <a:rPr lang="zh-CN" altLang="en-US" sz="1600" dirty="0">
                <a:latin typeface="+mn-lt"/>
                <a:ea typeface="+mn-ea"/>
                <a:cs typeface="+mn-ea"/>
                <a:sym typeface="+mn-lt"/>
              </a:rPr>
              <a:t>类型。</a:t>
            </a:r>
            <a:endParaRPr lang="en-US" altLang="zh-CN" sz="1600" dirty="0">
              <a:latin typeface="+mn-lt"/>
              <a:ea typeface="+mn-ea"/>
              <a:cs typeface="+mn-ea"/>
              <a:sym typeface="+mn-lt"/>
            </a:endParaRPr>
          </a:p>
          <a:p>
            <a:pPr>
              <a:lnSpc>
                <a:spcPct val="150000"/>
              </a:lnSpc>
            </a:pPr>
            <a:r>
              <a:rPr lang="en-US" altLang="zh-CN" sz="1600" dirty="0">
                <a:latin typeface="+mn-lt"/>
                <a:ea typeface="+mn-ea"/>
                <a:cs typeface="+mn-ea"/>
                <a:sym typeface="+mn-lt"/>
              </a:rPr>
              <a:t>union </a:t>
            </a:r>
            <a:r>
              <a:rPr lang="zh-CN" altLang="en-US" sz="1600" dirty="0">
                <a:latin typeface="+mn-lt"/>
                <a:ea typeface="+mn-ea"/>
                <a:cs typeface="+mn-ea"/>
                <a:sym typeface="+mn-lt"/>
              </a:rPr>
              <a:t>类型内部的所有成员变量，是共享内存空间的。</a:t>
            </a:r>
            <a:endParaRPr lang="en-US" altLang="zh-CN" sz="1600" dirty="0">
              <a:latin typeface="+mn-lt"/>
              <a:ea typeface="+mn-ea"/>
              <a:cs typeface="+mn-ea"/>
              <a:sym typeface="+mn-lt"/>
            </a:endParaRPr>
          </a:p>
          <a:p>
            <a:pPr marL="297815" indent="-285750">
              <a:lnSpc>
                <a:spcPct val="150000"/>
              </a:lnSpc>
              <a:buFont typeface="Arial" panose="020B0604020202020204" pitchFamily="34" charset="0"/>
              <a:buChar char="•"/>
            </a:pPr>
            <a:r>
              <a:rPr lang="en-US" altLang="zh-CN" sz="1600" dirty="0">
                <a:latin typeface="+mn-lt"/>
                <a:ea typeface="+mn-ea"/>
                <a:cs typeface="+mn-ea"/>
                <a:sym typeface="+mn-lt"/>
              </a:rPr>
              <a:t>u</a:t>
            </a:r>
            <a:r>
              <a:rPr lang="zh-CN" altLang="en-US" sz="1600" dirty="0">
                <a:latin typeface="+mn-lt"/>
                <a:ea typeface="+mn-ea"/>
                <a:cs typeface="+mn-ea"/>
                <a:sym typeface="+mn-lt"/>
              </a:rPr>
              <a:t>nion的关键特性是union的所有字段共享同一段存储。因此，对union的一个字段的写操作会覆盖其他字段，而union的大小由其最大的字段的大小所决定；</a:t>
            </a:r>
            <a:endParaRPr lang="en-US" altLang="zh-CN" sz="1600" dirty="0">
              <a:latin typeface="+mn-lt"/>
              <a:ea typeface="+mn-ea"/>
              <a:cs typeface="+mn-ea"/>
              <a:sym typeface="+mn-lt"/>
            </a:endParaRPr>
          </a:p>
          <a:p>
            <a:pPr marL="297815" indent="-285750">
              <a:lnSpc>
                <a:spcPct val="150000"/>
              </a:lnSpc>
              <a:buFont typeface="Arial" panose="020B0604020202020204" pitchFamily="34" charset="0"/>
              <a:buChar char="•"/>
            </a:pPr>
            <a:r>
              <a:rPr lang="zh-CN" altLang="en-US" sz="1600" dirty="0">
                <a:latin typeface="+mn-lt"/>
                <a:ea typeface="+mn-ea"/>
                <a:cs typeface="+mn-ea"/>
                <a:sym typeface="+mn-lt"/>
              </a:rPr>
              <a:t>对 </a:t>
            </a:r>
            <a:r>
              <a:rPr lang="en-US" altLang="zh-CN" sz="1600" dirty="0">
                <a:latin typeface="+mn-lt"/>
                <a:ea typeface="+mn-ea"/>
                <a:cs typeface="+mn-ea"/>
                <a:sym typeface="+mn-lt"/>
              </a:rPr>
              <a:t>union </a:t>
            </a:r>
            <a:r>
              <a:rPr lang="zh-CN" altLang="en-US" sz="1600" dirty="0">
                <a:latin typeface="+mn-lt"/>
                <a:ea typeface="+mn-ea"/>
                <a:cs typeface="+mn-ea"/>
                <a:sym typeface="+mn-lt"/>
              </a:rPr>
              <a:t>类型的成员变量无论读写，都只能在 </a:t>
            </a:r>
            <a:r>
              <a:rPr lang="en-US" altLang="zh-CN" sz="1600" dirty="0">
                <a:latin typeface="+mn-lt"/>
                <a:ea typeface="+mn-ea"/>
                <a:cs typeface="+mn-ea"/>
                <a:sym typeface="+mn-lt"/>
              </a:rPr>
              <a:t>unsafe </a:t>
            </a:r>
            <a:r>
              <a:rPr lang="zh-CN" altLang="en-US" sz="1600" dirty="0">
                <a:latin typeface="+mn-lt"/>
                <a:ea typeface="+mn-ea"/>
                <a:cs typeface="+mn-ea"/>
                <a:sym typeface="+mn-lt"/>
              </a:rPr>
              <a:t>上下文中进行；</a:t>
            </a:r>
            <a:endParaRPr lang="en-US" altLang="zh-CN" sz="1600" dirty="0">
              <a:latin typeface="+mn-lt"/>
              <a:ea typeface="+mn-ea"/>
              <a:cs typeface="+mn-ea"/>
              <a:sym typeface="+mn-lt"/>
            </a:endParaRPr>
          </a:p>
          <a:p>
            <a:pPr marL="297815" indent="-285750">
              <a:lnSpc>
                <a:spcPct val="150000"/>
              </a:lnSpc>
              <a:buFont typeface="Arial" panose="020B0604020202020204" pitchFamily="34" charset="0"/>
              <a:buChar char="•"/>
            </a:pPr>
            <a:r>
              <a:rPr lang="en-US" altLang="zh-CN" sz="1600" dirty="0">
                <a:latin typeface="+mn-lt"/>
                <a:ea typeface="+mn-ea"/>
                <a:cs typeface="+mn-ea"/>
                <a:sym typeface="+mn-lt"/>
              </a:rPr>
              <a:t>union </a:t>
            </a:r>
            <a:r>
              <a:rPr lang="zh-CN" altLang="en-US" sz="1600" dirty="0">
                <a:latin typeface="+mn-lt"/>
                <a:ea typeface="+mn-ea"/>
                <a:cs typeface="+mn-ea"/>
                <a:sym typeface="+mn-lt"/>
              </a:rPr>
              <a:t>类型的成员的类型只能是以下几种（下述约束保证了成员是不需要析构的，也因此这些</a:t>
            </a:r>
            <a:r>
              <a:rPr lang="zh-CN" altLang="en-US" sz="1600" dirty="0">
                <a:solidFill>
                  <a:srgbClr val="FF0000"/>
                </a:solidFill>
                <a:latin typeface="+mn-lt"/>
                <a:ea typeface="+mn-ea"/>
                <a:cs typeface="+mn-ea"/>
                <a:sym typeface="+mn-lt"/>
              </a:rPr>
              <a:t>写操作</a:t>
            </a:r>
            <a:r>
              <a:rPr lang="zh-CN" altLang="en-US" sz="1600" dirty="0">
                <a:latin typeface="+mn-lt"/>
                <a:ea typeface="+mn-ea"/>
                <a:cs typeface="+mn-ea"/>
                <a:sym typeface="+mn-lt"/>
              </a:rPr>
              <a:t>不必放在 </a:t>
            </a:r>
            <a:r>
              <a:rPr lang="en-US" altLang="zh-CN" sz="1600" dirty="0">
                <a:latin typeface="+mn-lt"/>
                <a:ea typeface="+mn-ea"/>
                <a:cs typeface="+mn-ea"/>
                <a:sym typeface="+mn-lt"/>
              </a:rPr>
              <a:t>unsafe </a:t>
            </a:r>
            <a:r>
              <a:rPr lang="zh-CN" altLang="en-US" sz="1600" dirty="0">
                <a:latin typeface="+mn-lt"/>
                <a:ea typeface="+mn-ea"/>
                <a:cs typeface="+mn-ea"/>
                <a:sym typeface="+mn-lt"/>
              </a:rPr>
              <a:t>块中）：</a:t>
            </a:r>
            <a:endParaRPr lang="en-US" altLang="zh-CN" sz="1600" dirty="0">
              <a:latin typeface="+mn-lt"/>
              <a:ea typeface="+mn-ea"/>
              <a:cs typeface="+mn-ea"/>
              <a:sym typeface="+mn-lt"/>
            </a:endParaRPr>
          </a:p>
          <a:p>
            <a:pPr marL="811530" lvl="1" indent="-285750">
              <a:lnSpc>
                <a:spcPct val="150000"/>
              </a:lnSpc>
            </a:pPr>
            <a:r>
              <a:rPr lang="zh-CN" altLang="en-US" sz="1600" dirty="0">
                <a:cs typeface="+mn-ea"/>
                <a:sym typeface="+mn-lt"/>
              </a:rPr>
              <a:t>满足 </a:t>
            </a:r>
            <a:r>
              <a:rPr lang="en-US" altLang="zh-CN" sz="1600" dirty="0">
                <a:cs typeface="+mn-ea"/>
                <a:sym typeface="+mn-lt"/>
              </a:rPr>
              <a:t>Copy trait </a:t>
            </a:r>
            <a:r>
              <a:rPr lang="zh-CN" altLang="en-US" sz="1600" dirty="0">
                <a:cs typeface="+mn-ea"/>
                <a:sym typeface="+mn-lt"/>
              </a:rPr>
              <a:t>的类型；</a:t>
            </a:r>
            <a:endParaRPr lang="en-US" altLang="zh-CN" sz="1600" dirty="0">
              <a:cs typeface="+mn-ea"/>
              <a:sym typeface="+mn-lt"/>
            </a:endParaRPr>
          </a:p>
          <a:p>
            <a:pPr marL="811530" lvl="1" indent="-285750">
              <a:lnSpc>
                <a:spcPct val="150000"/>
              </a:lnSpc>
            </a:pPr>
            <a:r>
              <a:rPr lang="en-US" altLang="zh-CN" sz="1600" dirty="0">
                <a:cs typeface="+mn-ea"/>
                <a:sym typeface="+mn-lt"/>
              </a:rPr>
              <a:t>&amp;T </a:t>
            </a:r>
            <a:r>
              <a:rPr lang="zh-CN" altLang="en-US" sz="1600" dirty="0">
                <a:cs typeface="+mn-ea"/>
                <a:sym typeface="+mn-lt"/>
              </a:rPr>
              <a:t>或者 </a:t>
            </a:r>
            <a:r>
              <a:rPr lang="en-US" altLang="zh-CN" sz="1600" dirty="0">
                <a:cs typeface="+mn-ea"/>
                <a:sym typeface="+mn-lt"/>
              </a:rPr>
              <a:t>&amp;</a:t>
            </a:r>
            <a:r>
              <a:rPr lang="en-US" altLang="zh-CN" sz="1600" dirty="0" err="1">
                <a:cs typeface="+mn-ea"/>
                <a:sym typeface="+mn-lt"/>
              </a:rPr>
              <a:t>mut</a:t>
            </a:r>
            <a:r>
              <a:rPr lang="en-US" altLang="zh-CN" sz="1600" dirty="0">
                <a:cs typeface="+mn-ea"/>
                <a:sym typeface="+mn-lt"/>
              </a:rPr>
              <a:t> T </a:t>
            </a:r>
            <a:r>
              <a:rPr lang="zh-CN" altLang="en-US" sz="1600" dirty="0">
                <a:cs typeface="+mn-ea"/>
                <a:sym typeface="+mn-lt"/>
              </a:rPr>
              <a:t>类型；</a:t>
            </a:r>
            <a:endParaRPr lang="en-US" altLang="zh-CN" sz="1600" dirty="0">
              <a:cs typeface="+mn-ea"/>
              <a:sym typeface="+mn-lt"/>
            </a:endParaRPr>
          </a:p>
          <a:p>
            <a:pPr marL="811530" lvl="1" indent="-285750">
              <a:lnSpc>
                <a:spcPct val="150000"/>
              </a:lnSpc>
            </a:pPr>
            <a:r>
              <a:rPr lang="en-US" altLang="zh-CN" sz="1600" dirty="0" err="1">
                <a:cs typeface="+mn-ea"/>
                <a:sym typeface="+mn-lt"/>
              </a:rPr>
              <a:t>ManuallyDrop</a:t>
            </a:r>
            <a:r>
              <a:rPr lang="en-US" altLang="zh-CN" sz="1600" dirty="0">
                <a:cs typeface="+mn-ea"/>
                <a:sym typeface="+mn-lt"/>
              </a:rPr>
              <a:t>&lt;T&gt; </a:t>
            </a:r>
            <a:r>
              <a:rPr lang="zh-CN" altLang="en-US" sz="1600" dirty="0">
                <a:cs typeface="+mn-ea"/>
                <a:sym typeface="+mn-lt"/>
              </a:rPr>
              <a:t>类型；</a:t>
            </a:r>
            <a:endParaRPr lang="en-US" altLang="zh-CN" sz="1600" dirty="0">
              <a:cs typeface="+mn-ea"/>
              <a:sym typeface="+mn-lt"/>
            </a:endParaRPr>
          </a:p>
          <a:p>
            <a:pPr marL="811530" lvl="1" indent="-285750">
              <a:lnSpc>
                <a:spcPct val="150000"/>
              </a:lnSpc>
            </a:pPr>
            <a:r>
              <a:rPr lang="zh-CN" altLang="en-US" sz="1600" dirty="0">
                <a:cs typeface="+mn-ea"/>
                <a:sym typeface="+mn-lt"/>
              </a:rPr>
              <a:t>由以上类型组成的元组或者数组类型；</a:t>
            </a:r>
            <a:endParaRPr lang="en-US" altLang="zh-CN" sz="1600" dirty="0">
              <a:cs typeface="+mn-ea"/>
              <a:sym typeface="+mn-lt"/>
            </a:endParaRPr>
          </a:p>
          <a:p>
            <a:pPr marL="297815" indent="-285750">
              <a:lnSpc>
                <a:spcPct val="150000"/>
              </a:lnSpc>
              <a:buFont typeface="Arial" panose="020B0604020202020204" pitchFamily="34" charset="0"/>
              <a:buChar char="•"/>
            </a:pPr>
            <a:r>
              <a:rPr lang="en-US" altLang="zh-CN" sz="1600" dirty="0">
                <a:latin typeface="+mn-lt"/>
                <a:ea typeface="+mn-ea"/>
                <a:cs typeface="+mn-ea"/>
                <a:sym typeface="+mn-lt"/>
              </a:rPr>
              <a:t>union </a:t>
            </a:r>
            <a:r>
              <a:rPr lang="zh-CN" altLang="en-US" sz="1600" dirty="0">
                <a:latin typeface="+mn-lt"/>
                <a:ea typeface="+mn-ea"/>
                <a:cs typeface="+mn-ea"/>
                <a:sym typeface="+mn-lt"/>
              </a:rPr>
              <a:t>类型不能实现 </a:t>
            </a:r>
            <a:r>
              <a:rPr lang="en-US" altLang="zh-CN" sz="1600" dirty="0">
                <a:latin typeface="+mn-lt"/>
                <a:ea typeface="+mn-ea"/>
                <a:cs typeface="+mn-ea"/>
                <a:sym typeface="+mn-lt"/>
              </a:rPr>
              <a:t>Drop trait</a:t>
            </a:r>
            <a:r>
              <a:rPr lang="zh-CN" altLang="en-US" sz="1600" dirty="0">
                <a:latin typeface="+mn-lt"/>
                <a:ea typeface="+mn-ea"/>
                <a:cs typeface="+mn-ea"/>
                <a:sym typeface="+mn-lt"/>
              </a:rPr>
              <a:t>；</a:t>
            </a:r>
            <a:endParaRPr lang="en-US" altLang="zh-CN" sz="1600" dirty="0">
              <a:latin typeface="+mn-lt"/>
              <a:ea typeface="+mn-ea"/>
              <a:cs typeface="+mn-ea"/>
              <a:sym typeface="+mn-lt"/>
            </a:endParaRPr>
          </a:p>
        </p:txBody>
      </p:sp>
      <p:cxnSp>
        <p:nvCxnSpPr>
          <p:cNvPr id="7" name="直接连接符 6"/>
          <p:cNvCxnSpPr/>
          <p:nvPr/>
        </p:nvCxnSpPr>
        <p:spPr>
          <a:xfrm>
            <a:off x="239006" y="641249"/>
            <a:ext cx="11340282"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139959" y="112899"/>
            <a:ext cx="10108564" cy="528350"/>
          </a:xfrm>
          <a:prstGeom prst="rect">
            <a:avLst/>
          </a:prstGeom>
          <a:noFill/>
        </p:spPr>
        <p:txBody>
          <a:bodyPr vert="horz" wrap="square" rtlCol="0">
            <a:spAutoFit/>
          </a:bodyPr>
          <a:lstStyle/>
          <a:p>
            <a:pPr>
              <a:lnSpc>
                <a:spcPts val="3440"/>
              </a:lnSpc>
            </a:pPr>
            <a:r>
              <a:rPr lang="en-US" altLang="zh-CN" sz="3200" b="1">
                <a:solidFill>
                  <a:srgbClr val="C00000"/>
                </a:solidFill>
                <a:cs typeface="+mn-ea"/>
                <a:sym typeface="+mn-lt"/>
              </a:rPr>
              <a:t>Union-</a:t>
            </a:r>
            <a:r>
              <a:rPr lang="zh-CN" altLang="en-US" sz="3200" b="1">
                <a:solidFill>
                  <a:srgbClr val="C00000"/>
                </a:solidFill>
                <a:cs typeface="+mn-ea"/>
                <a:sym typeface="+mn-lt"/>
              </a:rPr>
              <a:t>概念</a:t>
            </a:r>
            <a:endParaRPr lang="en-US" altLang="zh-CN" sz="3200" b="1">
              <a:solidFill>
                <a:srgbClr val="C00000"/>
              </a:solidFill>
              <a:cs typeface="+mn-ea"/>
              <a:sym typeface="+mn-lt"/>
            </a:endParaRPr>
          </a:p>
        </p:txBody>
      </p:sp>
      <p:sp>
        <p:nvSpPr>
          <p:cNvPr id="11" name="Rectangle 3"/>
          <p:cNvSpPr/>
          <p:nvPr/>
        </p:nvSpPr>
        <p:spPr>
          <a:xfrm>
            <a:off x="6388997" y="3122846"/>
            <a:ext cx="4916031" cy="3630930"/>
          </a:xfrm>
          <a:prstGeom prst="rect">
            <a:avLst/>
          </a:prstGeom>
          <a:solidFill>
            <a:schemeClr val="tx1"/>
          </a:solidFill>
        </p:spPr>
        <p:txBody>
          <a:bodyPr wrap="square">
            <a:spAutoFit/>
          </a:bodyPr>
          <a:lstStyle/>
          <a:p>
            <a:r>
              <a:rPr lang="en-US" altLang="zh-CN" sz="1400" dirty="0">
                <a:solidFill>
                  <a:schemeClr val="bg2"/>
                </a:solidFill>
                <a:cs typeface="+mn-ea"/>
                <a:sym typeface="+mn-lt"/>
              </a:rPr>
              <a:t>// </a:t>
            </a:r>
            <a:r>
              <a:rPr lang="zh-CN" altLang="en-US" sz="1400" b="1" dirty="0">
                <a:solidFill>
                  <a:srgbClr val="00B050"/>
                </a:solidFill>
                <a:cs typeface="+mn-ea"/>
                <a:sym typeface="+mn-lt"/>
              </a:rPr>
              <a:t>代码示例</a:t>
            </a:r>
            <a:endParaRPr lang="en-US" altLang="zh-CN" sz="1400" b="1" dirty="0">
              <a:solidFill>
                <a:srgbClr val="00B050"/>
              </a:solidFill>
              <a:cs typeface="+mn-ea"/>
              <a:sym typeface="+mn-lt"/>
            </a:endParaRPr>
          </a:p>
          <a:p>
            <a:r>
              <a:rPr lang="en-US" altLang="zh-CN" sz="1200" dirty="0" err="1">
                <a:solidFill>
                  <a:srgbClr val="C678DD"/>
                </a:solidFill>
                <a:cs typeface="+mn-ea"/>
                <a:sym typeface="+mn-lt"/>
              </a:rPr>
              <a:t>fn</a:t>
            </a:r>
            <a:r>
              <a:rPr lang="en-US" altLang="zh-CN" sz="1200" dirty="0">
                <a:solidFill>
                  <a:srgbClr val="ABB2BF"/>
                </a:solidFill>
                <a:cs typeface="+mn-ea"/>
                <a:sym typeface="+mn-lt"/>
              </a:rPr>
              <a:t> </a:t>
            </a:r>
            <a:r>
              <a:rPr lang="en-US" altLang="zh-CN" sz="1200" dirty="0">
                <a:solidFill>
                  <a:srgbClr val="61AFEF"/>
                </a:solidFill>
                <a:cs typeface="+mn-ea"/>
                <a:sym typeface="+mn-lt"/>
              </a:rPr>
              <a:t>main</a:t>
            </a:r>
            <a:r>
              <a:rPr lang="en-US" altLang="zh-CN" sz="1200" dirty="0">
                <a:solidFill>
                  <a:srgbClr val="ABB2BF"/>
                </a:solidFill>
                <a:cs typeface="+mn-ea"/>
                <a:sym typeface="+mn-lt"/>
              </a:rPr>
              <a:t>() {</a:t>
            </a:r>
          </a:p>
          <a:p>
            <a:r>
              <a:rPr lang="en-US" altLang="zh-CN" sz="1200" dirty="0">
                <a:solidFill>
                  <a:srgbClr val="ABB2BF"/>
                </a:solidFill>
                <a:cs typeface="+mn-ea"/>
                <a:sym typeface="+mn-lt"/>
              </a:rPr>
              <a:t>    </a:t>
            </a:r>
            <a:r>
              <a:rPr lang="en-US" altLang="zh-CN" sz="1200" dirty="0">
                <a:solidFill>
                  <a:srgbClr val="C678DD"/>
                </a:solidFill>
                <a:cs typeface="+mn-ea"/>
                <a:sym typeface="+mn-lt"/>
              </a:rPr>
              <a:t>union</a:t>
            </a:r>
            <a:r>
              <a:rPr lang="en-US" altLang="zh-CN" sz="1200" dirty="0">
                <a:solidFill>
                  <a:srgbClr val="ABB2BF"/>
                </a:solidFill>
                <a:cs typeface="+mn-ea"/>
                <a:sym typeface="+mn-lt"/>
              </a:rPr>
              <a:t> </a:t>
            </a:r>
            <a:r>
              <a:rPr lang="en-US" altLang="zh-CN" sz="1200" dirty="0">
                <a:solidFill>
                  <a:srgbClr val="E5C07B"/>
                </a:solidFill>
                <a:cs typeface="+mn-ea"/>
                <a:sym typeface="+mn-lt"/>
              </a:rPr>
              <a:t>MyUnion1</a:t>
            </a:r>
            <a:r>
              <a:rPr lang="en-US" altLang="zh-CN" sz="1200" dirty="0">
                <a:solidFill>
                  <a:srgbClr val="ABB2BF"/>
                </a:solidFill>
                <a:cs typeface="+mn-ea"/>
                <a:sym typeface="+mn-lt"/>
              </a:rPr>
              <a:t> { </a:t>
            </a:r>
            <a:r>
              <a:rPr lang="en-US" altLang="zh-CN" sz="1200" dirty="0">
                <a:solidFill>
                  <a:srgbClr val="E06C75"/>
                </a:solidFill>
                <a:cs typeface="+mn-ea"/>
                <a:sym typeface="+mn-lt"/>
              </a:rPr>
              <a:t>f1</a:t>
            </a:r>
            <a:r>
              <a:rPr lang="en-US" altLang="zh-CN" sz="1200" dirty="0">
                <a:solidFill>
                  <a:srgbClr val="ABB2BF"/>
                </a:solidFill>
                <a:cs typeface="+mn-ea"/>
                <a:sym typeface="+mn-lt"/>
              </a:rPr>
              <a:t>: </a:t>
            </a:r>
            <a:r>
              <a:rPr lang="en-US" altLang="zh-CN" sz="1200" dirty="0">
                <a:solidFill>
                  <a:srgbClr val="E5C07B"/>
                </a:solidFill>
                <a:cs typeface="+mn-ea"/>
                <a:sym typeface="+mn-lt"/>
              </a:rPr>
              <a:t>u32</a:t>
            </a:r>
            <a:r>
              <a:rPr lang="en-US" altLang="zh-CN" sz="1200" dirty="0">
                <a:solidFill>
                  <a:srgbClr val="ABB2BF"/>
                </a:solidFill>
                <a:cs typeface="+mn-ea"/>
                <a:sym typeface="+mn-lt"/>
              </a:rPr>
              <a:t>, </a:t>
            </a:r>
            <a:r>
              <a:rPr lang="en-US" altLang="zh-CN" sz="1200" dirty="0">
                <a:solidFill>
                  <a:srgbClr val="E06C75"/>
                </a:solidFill>
                <a:cs typeface="+mn-ea"/>
                <a:sym typeface="+mn-lt"/>
              </a:rPr>
              <a:t>f2</a:t>
            </a:r>
            <a:r>
              <a:rPr lang="en-US" altLang="zh-CN" sz="1200" dirty="0">
                <a:solidFill>
                  <a:srgbClr val="ABB2BF"/>
                </a:solidFill>
                <a:cs typeface="+mn-ea"/>
                <a:sym typeface="+mn-lt"/>
              </a:rPr>
              <a:t>: </a:t>
            </a:r>
            <a:r>
              <a:rPr lang="en-US" altLang="zh-CN" sz="1200" dirty="0">
                <a:solidFill>
                  <a:srgbClr val="E5C07B"/>
                </a:solidFill>
                <a:cs typeface="+mn-ea"/>
                <a:sym typeface="+mn-lt"/>
              </a:rPr>
              <a:t>f32</a:t>
            </a:r>
            <a:r>
              <a:rPr lang="en-US" altLang="zh-CN" sz="1200" dirty="0">
                <a:solidFill>
                  <a:srgbClr val="ABB2BF"/>
                </a:solidFill>
                <a:cs typeface="+mn-ea"/>
                <a:sym typeface="+mn-lt"/>
              </a:rPr>
              <a:t> }</a:t>
            </a:r>
          </a:p>
          <a:p>
            <a:r>
              <a:rPr lang="en-US" altLang="zh-CN" sz="1200" i="1" dirty="0">
                <a:solidFill>
                  <a:srgbClr val="7F848E"/>
                </a:solidFill>
                <a:cs typeface="+mn-ea"/>
                <a:sym typeface="+mn-lt"/>
              </a:rPr>
              <a:t>    // </a:t>
            </a:r>
            <a:r>
              <a:rPr lang="zh-CN" altLang="en-US" sz="1200" i="1" dirty="0">
                <a:solidFill>
                  <a:srgbClr val="7F848E"/>
                </a:solidFill>
                <a:cs typeface="+mn-ea"/>
                <a:sym typeface="+mn-lt"/>
              </a:rPr>
              <a:t>union的初始化，只能指定一个字段</a:t>
            </a:r>
            <a:endParaRPr lang="zh-CN" altLang="en-US" sz="1200" dirty="0">
              <a:solidFill>
                <a:srgbClr val="ABB2BF"/>
              </a:solidFill>
              <a:cs typeface="+mn-ea"/>
              <a:sym typeface="+mn-lt"/>
            </a:endParaRPr>
          </a:p>
          <a:p>
            <a:r>
              <a:rPr lang="zh-CN" altLang="en-US" sz="1200" dirty="0">
                <a:solidFill>
                  <a:srgbClr val="ABB2BF"/>
                </a:solidFill>
                <a:cs typeface="+mn-ea"/>
                <a:sym typeface="+mn-lt"/>
              </a:rPr>
              <a:t>    </a:t>
            </a:r>
            <a:r>
              <a:rPr lang="en-US" altLang="zh-CN" sz="1200" dirty="0">
                <a:solidFill>
                  <a:srgbClr val="C678DD"/>
                </a:solidFill>
                <a:cs typeface="+mn-ea"/>
                <a:sym typeface="+mn-lt"/>
              </a:rPr>
              <a:t>let</a:t>
            </a:r>
            <a:r>
              <a:rPr lang="en-US" altLang="zh-CN" sz="1200" dirty="0">
                <a:solidFill>
                  <a:srgbClr val="ABB2BF"/>
                </a:solidFill>
                <a:cs typeface="+mn-ea"/>
                <a:sym typeface="+mn-lt"/>
              </a:rPr>
              <a:t> </a:t>
            </a:r>
            <a:r>
              <a:rPr lang="en-US" altLang="zh-CN" sz="1200" dirty="0">
                <a:solidFill>
                  <a:srgbClr val="E06C75"/>
                </a:solidFill>
                <a:cs typeface="+mn-ea"/>
                <a:sym typeface="+mn-lt"/>
              </a:rPr>
              <a:t>u</a:t>
            </a:r>
            <a:r>
              <a:rPr lang="en-US" altLang="zh-CN" sz="1200" dirty="0">
                <a:solidFill>
                  <a:srgbClr val="ABB2BF"/>
                </a:solidFill>
                <a:cs typeface="+mn-ea"/>
                <a:sym typeface="+mn-lt"/>
              </a:rPr>
              <a:t> </a:t>
            </a:r>
            <a:r>
              <a:rPr lang="en-US" altLang="zh-CN" sz="1200" dirty="0">
                <a:solidFill>
                  <a:srgbClr val="56B6C2"/>
                </a:solidFill>
                <a:cs typeface="+mn-ea"/>
                <a:sym typeface="+mn-lt"/>
              </a:rPr>
              <a:t>=</a:t>
            </a:r>
            <a:r>
              <a:rPr lang="en-US" altLang="zh-CN" sz="1200" dirty="0">
                <a:solidFill>
                  <a:srgbClr val="ABB2BF"/>
                </a:solidFill>
                <a:cs typeface="+mn-ea"/>
                <a:sym typeface="+mn-lt"/>
              </a:rPr>
              <a:t> </a:t>
            </a:r>
            <a:r>
              <a:rPr lang="en-US" altLang="zh-CN" sz="1200" dirty="0">
                <a:solidFill>
                  <a:srgbClr val="E5C07B"/>
                </a:solidFill>
                <a:cs typeface="+mn-ea"/>
                <a:sym typeface="+mn-lt"/>
              </a:rPr>
              <a:t>MyUnion1</a:t>
            </a:r>
            <a:r>
              <a:rPr lang="en-US" altLang="zh-CN" sz="1200" dirty="0">
                <a:solidFill>
                  <a:srgbClr val="ABB2BF"/>
                </a:solidFill>
                <a:cs typeface="+mn-ea"/>
                <a:sym typeface="+mn-lt"/>
              </a:rPr>
              <a:t> { </a:t>
            </a:r>
            <a:r>
              <a:rPr lang="en-US" altLang="zh-CN" sz="1200" dirty="0">
                <a:solidFill>
                  <a:srgbClr val="E06C75"/>
                </a:solidFill>
                <a:cs typeface="+mn-ea"/>
                <a:sym typeface="+mn-lt"/>
              </a:rPr>
              <a:t>f1</a:t>
            </a:r>
            <a:r>
              <a:rPr lang="en-US" altLang="zh-CN" sz="1200" dirty="0">
                <a:solidFill>
                  <a:srgbClr val="ABB2BF"/>
                </a:solidFill>
                <a:cs typeface="+mn-ea"/>
                <a:sym typeface="+mn-lt"/>
              </a:rPr>
              <a:t>: </a:t>
            </a:r>
            <a:r>
              <a:rPr lang="en-US" altLang="zh-CN" sz="1200" dirty="0">
                <a:solidFill>
                  <a:srgbClr val="D19A66"/>
                </a:solidFill>
                <a:cs typeface="+mn-ea"/>
                <a:sym typeface="+mn-lt"/>
              </a:rPr>
              <a:t>1</a:t>
            </a:r>
            <a:r>
              <a:rPr lang="en-US" altLang="zh-CN" sz="1200" dirty="0">
                <a:solidFill>
                  <a:srgbClr val="ABB2BF"/>
                </a:solidFill>
                <a:cs typeface="+mn-ea"/>
                <a:sym typeface="+mn-lt"/>
              </a:rPr>
              <a:t> };</a:t>
            </a:r>
            <a:br>
              <a:rPr lang="en-US" altLang="zh-CN" sz="1200" dirty="0">
                <a:solidFill>
                  <a:srgbClr val="ABB2BF"/>
                </a:solidFill>
                <a:cs typeface="+mn-ea"/>
                <a:sym typeface="+mn-lt"/>
              </a:rPr>
            </a:br>
            <a:r>
              <a:rPr lang="en-US" altLang="zh-CN" sz="1200" i="1" dirty="0">
                <a:solidFill>
                  <a:srgbClr val="7F848E"/>
                </a:solidFill>
                <a:cs typeface="+mn-ea"/>
                <a:sym typeface="+mn-lt"/>
              </a:rPr>
              <a:t>    // </a:t>
            </a:r>
            <a:r>
              <a:rPr lang="zh-CN" altLang="en-US" sz="1200" i="1" dirty="0">
                <a:solidFill>
                  <a:srgbClr val="7F848E"/>
                </a:solidFill>
                <a:cs typeface="+mn-ea"/>
                <a:sym typeface="+mn-lt"/>
              </a:rPr>
              <a:t>访问union</a:t>
            </a:r>
            <a:endParaRPr lang="zh-CN" altLang="en-US" sz="1200" dirty="0">
              <a:solidFill>
                <a:srgbClr val="ABB2BF"/>
              </a:solidFill>
              <a:cs typeface="+mn-ea"/>
              <a:sym typeface="+mn-lt"/>
            </a:endParaRPr>
          </a:p>
          <a:p>
            <a:r>
              <a:rPr lang="zh-CN" altLang="en-US" sz="1200" dirty="0">
                <a:solidFill>
                  <a:srgbClr val="ABB2BF"/>
                </a:solidFill>
                <a:cs typeface="+mn-ea"/>
                <a:sym typeface="+mn-lt"/>
              </a:rPr>
              <a:t>    </a:t>
            </a:r>
            <a:r>
              <a:rPr lang="en-US" altLang="zh-CN" sz="1200" dirty="0">
                <a:solidFill>
                  <a:srgbClr val="C678DD"/>
                </a:solidFill>
                <a:cs typeface="+mn-ea"/>
                <a:sym typeface="+mn-lt"/>
              </a:rPr>
              <a:t>let</a:t>
            </a:r>
            <a:r>
              <a:rPr lang="en-US" altLang="zh-CN" sz="1200" dirty="0">
                <a:solidFill>
                  <a:srgbClr val="ABB2BF"/>
                </a:solidFill>
                <a:cs typeface="+mn-ea"/>
                <a:sym typeface="+mn-lt"/>
              </a:rPr>
              <a:t> </a:t>
            </a:r>
            <a:r>
              <a:rPr lang="en-US" altLang="zh-CN" sz="1200" dirty="0">
                <a:solidFill>
                  <a:srgbClr val="E06C75"/>
                </a:solidFill>
                <a:cs typeface="+mn-ea"/>
                <a:sym typeface="+mn-lt"/>
              </a:rPr>
              <a:t>f</a:t>
            </a:r>
            <a:r>
              <a:rPr lang="en-US" altLang="zh-CN" sz="1200" dirty="0">
                <a:solidFill>
                  <a:srgbClr val="ABB2BF"/>
                </a:solidFill>
                <a:cs typeface="+mn-ea"/>
                <a:sym typeface="+mn-lt"/>
              </a:rPr>
              <a:t> </a:t>
            </a:r>
            <a:r>
              <a:rPr lang="en-US" altLang="zh-CN" sz="1200" dirty="0">
                <a:solidFill>
                  <a:srgbClr val="56B6C2"/>
                </a:solidFill>
                <a:cs typeface="+mn-ea"/>
                <a:sym typeface="+mn-lt"/>
              </a:rPr>
              <a:t>=</a:t>
            </a:r>
            <a:r>
              <a:rPr lang="en-US" altLang="zh-CN" sz="1200" dirty="0">
                <a:solidFill>
                  <a:srgbClr val="ABB2BF"/>
                </a:solidFill>
                <a:cs typeface="+mn-ea"/>
                <a:sym typeface="+mn-lt"/>
              </a:rPr>
              <a:t> </a:t>
            </a:r>
            <a:r>
              <a:rPr lang="en-US" altLang="zh-CN" sz="1200" dirty="0">
                <a:solidFill>
                  <a:srgbClr val="C678DD"/>
                </a:solidFill>
                <a:cs typeface="+mn-ea"/>
                <a:sym typeface="+mn-lt"/>
              </a:rPr>
              <a:t>unsafe</a:t>
            </a:r>
            <a:r>
              <a:rPr lang="en-US" altLang="zh-CN" sz="1200" dirty="0">
                <a:solidFill>
                  <a:srgbClr val="ABB2BF"/>
                </a:solidFill>
                <a:cs typeface="+mn-ea"/>
                <a:sym typeface="+mn-lt"/>
              </a:rPr>
              <a:t> { </a:t>
            </a:r>
            <a:r>
              <a:rPr lang="en-US" altLang="zh-CN" sz="1200" dirty="0">
                <a:solidFill>
                  <a:srgbClr val="E06C75"/>
                </a:solidFill>
                <a:cs typeface="+mn-ea"/>
                <a:sym typeface="+mn-lt"/>
              </a:rPr>
              <a:t>u</a:t>
            </a:r>
            <a:r>
              <a:rPr lang="en-US" altLang="zh-CN" sz="1200" dirty="0">
                <a:solidFill>
                  <a:srgbClr val="ABB2BF"/>
                </a:solidFill>
                <a:cs typeface="+mn-ea"/>
                <a:sym typeface="+mn-lt"/>
              </a:rPr>
              <a:t>.f1 };</a:t>
            </a:r>
          </a:p>
          <a:p>
            <a:br>
              <a:rPr lang="en-US" altLang="zh-CN" sz="1200" dirty="0">
                <a:solidFill>
                  <a:srgbClr val="ABB2BF"/>
                </a:solidFill>
                <a:cs typeface="+mn-ea"/>
                <a:sym typeface="+mn-lt"/>
              </a:rPr>
            </a:br>
            <a:r>
              <a:rPr lang="en-US" altLang="zh-CN" sz="1200" dirty="0">
                <a:solidFill>
                  <a:srgbClr val="ABB2BF"/>
                </a:solidFill>
                <a:cs typeface="+mn-ea"/>
                <a:sym typeface="+mn-lt"/>
              </a:rPr>
              <a:t>    </a:t>
            </a:r>
            <a:r>
              <a:rPr lang="en-US" altLang="zh-CN" sz="1200" dirty="0">
                <a:solidFill>
                  <a:srgbClr val="C678DD"/>
                </a:solidFill>
                <a:cs typeface="+mn-ea"/>
                <a:sym typeface="+mn-lt"/>
              </a:rPr>
              <a:t>use</a:t>
            </a:r>
            <a:r>
              <a:rPr lang="en-US" altLang="zh-CN" sz="1200" dirty="0">
                <a:solidFill>
                  <a:srgbClr val="ABB2BF"/>
                </a:solidFill>
                <a:cs typeface="+mn-ea"/>
                <a:sym typeface="+mn-lt"/>
              </a:rPr>
              <a:t> </a:t>
            </a:r>
            <a:r>
              <a:rPr lang="en-US" altLang="zh-CN" sz="1200" dirty="0">
                <a:solidFill>
                  <a:srgbClr val="E5C07B"/>
                </a:solidFill>
                <a:cs typeface="+mn-ea"/>
                <a:sym typeface="+mn-lt"/>
              </a:rPr>
              <a:t>std</a:t>
            </a:r>
            <a:r>
              <a:rPr lang="en-US" altLang="zh-CN" sz="1200" dirty="0">
                <a:solidFill>
                  <a:srgbClr val="ABB2BF"/>
                </a:solidFill>
                <a:cs typeface="+mn-ea"/>
                <a:sym typeface="+mn-lt"/>
              </a:rPr>
              <a:t>::</a:t>
            </a:r>
            <a:r>
              <a:rPr lang="en-US" altLang="zh-CN" sz="1200" dirty="0">
                <a:solidFill>
                  <a:srgbClr val="E5C07B"/>
                </a:solidFill>
                <a:cs typeface="+mn-ea"/>
                <a:sym typeface="+mn-lt"/>
              </a:rPr>
              <a:t>mem</a:t>
            </a:r>
            <a:r>
              <a:rPr lang="en-US" altLang="zh-CN" sz="1200" dirty="0">
                <a:solidFill>
                  <a:srgbClr val="ABB2BF"/>
                </a:solidFill>
                <a:cs typeface="+mn-ea"/>
                <a:sym typeface="+mn-lt"/>
              </a:rPr>
              <a:t>::</a:t>
            </a:r>
            <a:r>
              <a:rPr lang="en-US" altLang="zh-CN" sz="1200" dirty="0" err="1">
                <a:solidFill>
                  <a:srgbClr val="E5C07B"/>
                </a:solidFill>
                <a:cs typeface="+mn-ea"/>
                <a:sym typeface="+mn-lt"/>
              </a:rPr>
              <a:t>ManuallyDrop</a:t>
            </a:r>
            <a:r>
              <a:rPr lang="en-US" altLang="zh-CN" sz="1200" dirty="0">
                <a:solidFill>
                  <a:srgbClr val="ABB2BF"/>
                </a:solidFill>
                <a:cs typeface="+mn-ea"/>
                <a:sym typeface="+mn-lt"/>
              </a:rPr>
              <a:t>;</a:t>
            </a:r>
          </a:p>
          <a:p>
            <a:r>
              <a:rPr lang="en-US" altLang="zh-CN" sz="1200" dirty="0">
                <a:solidFill>
                  <a:srgbClr val="ABB2BF"/>
                </a:solidFill>
                <a:cs typeface="+mn-ea"/>
                <a:sym typeface="+mn-lt"/>
              </a:rPr>
              <a:t>    </a:t>
            </a:r>
            <a:r>
              <a:rPr lang="en-US" altLang="zh-CN" sz="1200" dirty="0">
                <a:solidFill>
                  <a:srgbClr val="C678DD"/>
                </a:solidFill>
                <a:cs typeface="+mn-ea"/>
                <a:sym typeface="+mn-lt"/>
              </a:rPr>
              <a:t>union</a:t>
            </a:r>
            <a:r>
              <a:rPr lang="en-US" altLang="zh-CN" sz="1200" dirty="0">
                <a:solidFill>
                  <a:srgbClr val="ABB2BF"/>
                </a:solidFill>
                <a:cs typeface="+mn-ea"/>
                <a:sym typeface="+mn-lt"/>
              </a:rPr>
              <a:t> </a:t>
            </a:r>
            <a:r>
              <a:rPr lang="en-US" altLang="zh-CN" sz="1200" dirty="0">
                <a:solidFill>
                  <a:srgbClr val="E5C07B"/>
                </a:solidFill>
                <a:cs typeface="+mn-ea"/>
                <a:sym typeface="+mn-lt"/>
              </a:rPr>
              <a:t>MyUnion2</a:t>
            </a:r>
            <a:r>
              <a:rPr lang="en-US" altLang="zh-CN" sz="1200" dirty="0">
                <a:solidFill>
                  <a:srgbClr val="ABB2BF"/>
                </a:solidFill>
                <a:cs typeface="+mn-ea"/>
                <a:sym typeface="+mn-lt"/>
              </a:rPr>
              <a:t> {</a:t>
            </a:r>
          </a:p>
          <a:p>
            <a:r>
              <a:rPr lang="en-US" altLang="zh-CN" sz="1200" dirty="0">
                <a:solidFill>
                  <a:srgbClr val="ABB2BF"/>
                </a:solidFill>
                <a:cs typeface="+mn-ea"/>
                <a:sym typeface="+mn-lt"/>
              </a:rPr>
              <a:t>        </a:t>
            </a:r>
            <a:r>
              <a:rPr lang="en-US" altLang="zh-CN" sz="1200" dirty="0">
                <a:solidFill>
                  <a:srgbClr val="E06C75"/>
                </a:solidFill>
                <a:cs typeface="+mn-ea"/>
                <a:sym typeface="+mn-lt"/>
              </a:rPr>
              <a:t>f1</a:t>
            </a:r>
            <a:r>
              <a:rPr lang="en-US" altLang="zh-CN" sz="1200" dirty="0">
                <a:solidFill>
                  <a:srgbClr val="ABB2BF"/>
                </a:solidFill>
                <a:cs typeface="+mn-ea"/>
                <a:sym typeface="+mn-lt"/>
              </a:rPr>
              <a:t>: </a:t>
            </a:r>
            <a:r>
              <a:rPr lang="en-US" altLang="zh-CN" sz="1200" dirty="0">
                <a:solidFill>
                  <a:srgbClr val="E5C07B"/>
                </a:solidFill>
                <a:cs typeface="+mn-ea"/>
                <a:sym typeface="+mn-lt"/>
              </a:rPr>
              <a:t>u32</a:t>
            </a:r>
            <a:r>
              <a:rPr lang="en-US" altLang="zh-CN" sz="1200" dirty="0">
                <a:solidFill>
                  <a:srgbClr val="ABB2BF"/>
                </a:solidFill>
                <a:cs typeface="+mn-ea"/>
                <a:sym typeface="+mn-lt"/>
              </a:rPr>
              <a:t>,</a:t>
            </a:r>
          </a:p>
          <a:p>
            <a:r>
              <a:rPr lang="en-US" altLang="zh-CN" sz="1200" dirty="0">
                <a:solidFill>
                  <a:srgbClr val="ABB2BF"/>
                </a:solidFill>
                <a:cs typeface="+mn-ea"/>
                <a:sym typeface="+mn-lt"/>
              </a:rPr>
              <a:t>        </a:t>
            </a:r>
            <a:r>
              <a:rPr lang="en-US" altLang="zh-CN" sz="1200" dirty="0">
                <a:solidFill>
                  <a:srgbClr val="E06C75"/>
                </a:solidFill>
                <a:cs typeface="+mn-ea"/>
                <a:sym typeface="+mn-lt"/>
              </a:rPr>
              <a:t>f2</a:t>
            </a:r>
            <a:r>
              <a:rPr lang="en-US" altLang="zh-CN" sz="1200" dirty="0">
                <a:solidFill>
                  <a:srgbClr val="ABB2BF"/>
                </a:solidFill>
                <a:cs typeface="+mn-ea"/>
                <a:sym typeface="+mn-lt"/>
              </a:rPr>
              <a:t>: </a:t>
            </a:r>
            <a:r>
              <a:rPr lang="en-US" altLang="zh-CN" sz="1200" dirty="0" err="1">
                <a:solidFill>
                  <a:srgbClr val="E5C07B"/>
                </a:solidFill>
                <a:cs typeface="+mn-ea"/>
                <a:sym typeface="+mn-lt"/>
              </a:rPr>
              <a:t>ManuallyDrop</a:t>
            </a:r>
            <a:r>
              <a:rPr lang="en-US" altLang="zh-CN" sz="1200" dirty="0">
                <a:solidFill>
                  <a:srgbClr val="ABB2BF"/>
                </a:solidFill>
                <a:cs typeface="+mn-ea"/>
                <a:sym typeface="+mn-lt"/>
              </a:rPr>
              <a:t>&lt;</a:t>
            </a:r>
            <a:r>
              <a:rPr lang="en-US" altLang="zh-CN" sz="1200" dirty="0">
                <a:solidFill>
                  <a:srgbClr val="E5C07B"/>
                </a:solidFill>
                <a:cs typeface="+mn-ea"/>
                <a:sym typeface="+mn-lt"/>
              </a:rPr>
              <a:t>String</a:t>
            </a:r>
            <a:r>
              <a:rPr lang="en-US" altLang="zh-CN" sz="1200" dirty="0">
                <a:solidFill>
                  <a:srgbClr val="ABB2BF"/>
                </a:solidFill>
                <a:cs typeface="+mn-ea"/>
                <a:sym typeface="+mn-lt"/>
              </a:rPr>
              <a:t>&gt;,</a:t>
            </a:r>
          </a:p>
          <a:p>
            <a:r>
              <a:rPr lang="en-US" altLang="zh-CN" sz="1200" dirty="0">
                <a:solidFill>
                  <a:srgbClr val="ABB2BF"/>
                </a:solidFill>
                <a:cs typeface="+mn-ea"/>
                <a:sym typeface="+mn-lt"/>
              </a:rPr>
              <a:t>    }</a:t>
            </a:r>
          </a:p>
          <a:p>
            <a:r>
              <a:rPr lang="en-US" altLang="zh-CN" sz="1200" dirty="0">
                <a:solidFill>
                  <a:srgbClr val="ABB2BF"/>
                </a:solidFill>
                <a:cs typeface="+mn-ea"/>
                <a:sym typeface="+mn-lt"/>
              </a:rPr>
              <a:t>    </a:t>
            </a:r>
            <a:r>
              <a:rPr lang="en-US" altLang="zh-CN" sz="1200" dirty="0">
                <a:solidFill>
                  <a:srgbClr val="C678DD"/>
                </a:solidFill>
                <a:cs typeface="+mn-ea"/>
                <a:sym typeface="+mn-lt"/>
              </a:rPr>
              <a:t>let</a:t>
            </a:r>
            <a:r>
              <a:rPr lang="en-US" altLang="zh-CN" sz="1200" dirty="0">
                <a:solidFill>
                  <a:srgbClr val="ABB2BF"/>
                </a:solidFill>
                <a:cs typeface="+mn-ea"/>
                <a:sym typeface="+mn-lt"/>
              </a:rPr>
              <a:t> </a:t>
            </a:r>
            <a:r>
              <a:rPr lang="en-US" altLang="zh-CN" sz="1200" dirty="0" err="1">
                <a:solidFill>
                  <a:srgbClr val="C678DD"/>
                </a:solidFill>
                <a:cs typeface="+mn-ea"/>
                <a:sym typeface="+mn-lt"/>
              </a:rPr>
              <a:t>mut</a:t>
            </a:r>
            <a:r>
              <a:rPr lang="en-US" altLang="zh-CN" sz="1200" dirty="0">
                <a:solidFill>
                  <a:srgbClr val="ABB2BF"/>
                </a:solidFill>
                <a:cs typeface="+mn-ea"/>
                <a:sym typeface="+mn-lt"/>
              </a:rPr>
              <a:t> </a:t>
            </a:r>
            <a:r>
              <a:rPr lang="en-US" altLang="zh-CN" sz="1200" dirty="0">
                <a:solidFill>
                  <a:srgbClr val="E06C75"/>
                </a:solidFill>
                <a:cs typeface="+mn-ea"/>
                <a:sym typeface="+mn-lt"/>
              </a:rPr>
              <a:t>u</a:t>
            </a:r>
            <a:r>
              <a:rPr lang="en-US" altLang="zh-CN" sz="1200" dirty="0">
                <a:solidFill>
                  <a:srgbClr val="ABB2BF"/>
                </a:solidFill>
                <a:cs typeface="+mn-ea"/>
                <a:sym typeface="+mn-lt"/>
              </a:rPr>
              <a:t> </a:t>
            </a:r>
            <a:r>
              <a:rPr lang="en-US" altLang="zh-CN" sz="1200" dirty="0">
                <a:solidFill>
                  <a:srgbClr val="56B6C2"/>
                </a:solidFill>
                <a:cs typeface="+mn-ea"/>
                <a:sym typeface="+mn-lt"/>
              </a:rPr>
              <a:t>=</a:t>
            </a:r>
            <a:r>
              <a:rPr lang="en-US" altLang="zh-CN" sz="1200" dirty="0">
                <a:solidFill>
                  <a:srgbClr val="ABB2BF"/>
                </a:solidFill>
                <a:cs typeface="+mn-ea"/>
                <a:sym typeface="+mn-lt"/>
              </a:rPr>
              <a:t> </a:t>
            </a:r>
            <a:r>
              <a:rPr lang="en-US" altLang="zh-CN" sz="1200" dirty="0">
                <a:solidFill>
                  <a:srgbClr val="E5C07B"/>
                </a:solidFill>
                <a:cs typeface="+mn-ea"/>
                <a:sym typeface="+mn-lt"/>
              </a:rPr>
              <a:t>MyUnion2</a:t>
            </a:r>
            <a:r>
              <a:rPr lang="en-US" altLang="zh-CN" sz="1200" dirty="0">
                <a:solidFill>
                  <a:srgbClr val="ABB2BF"/>
                </a:solidFill>
                <a:cs typeface="+mn-ea"/>
                <a:sym typeface="+mn-lt"/>
              </a:rPr>
              <a:t> { </a:t>
            </a:r>
            <a:r>
              <a:rPr lang="en-US" altLang="zh-CN" sz="1200" dirty="0">
                <a:solidFill>
                  <a:srgbClr val="E06C75"/>
                </a:solidFill>
                <a:cs typeface="+mn-ea"/>
                <a:sym typeface="+mn-lt"/>
              </a:rPr>
              <a:t>f1</a:t>
            </a:r>
            <a:r>
              <a:rPr lang="en-US" altLang="zh-CN" sz="1200" dirty="0">
                <a:solidFill>
                  <a:srgbClr val="ABB2BF"/>
                </a:solidFill>
                <a:cs typeface="+mn-ea"/>
                <a:sym typeface="+mn-lt"/>
              </a:rPr>
              <a:t>: </a:t>
            </a:r>
            <a:r>
              <a:rPr lang="en-US" altLang="zh-CN" sz="1200" dirty="0">
                <a:solidFill>
                  <a:srgbClr val="D19A66"/>
                </a:solidFill>
                <a:cs typeface="+mn-ea"/>
                <a:sym typeface="+mn-lt"/>
              </a:rPr>
              <a:t>1</a:t>
            </a:r>
            <a:r>
              <a:rPr lang="en-US" altLang="zh-CN" sz="1200" dirty="0">
                <a:solidFill>
                  <a:srgbClr val="ABB2BF"/>
                </a:solidFill>
                <a:cs typeface="+mn-ea"/>
                <a:sym typeface="+mn-lt"/>
              </a:rPr>
              <a:t> };</a:t>
            </a:r>
          </a:p>
          <a:p>
            <a:br>
              <a:rPr lang="en-US" altLang="zh-CN" sz="1200" dirty="0">
                <a:solidFill>
                  <a:srgbClr val="ABB2BF"/>
                </a:solidFill>
                <a:cs typeface="+mn-ea"/>
                <a:sym typeface="+mn-lt"/>
              </a:rPr>
            </a:br>
            <a:r>
              <a:rPr lang="en-US" altLang="zh-CN" sz="1200" i="1" dirty="0">
                <a:solidFill>
                  <a:srgbClr val="7F848E"/>
                </a:solidFill>
                <a:cs typeface="+mn-ea"/>
                <a:sym typeface="+mn-lt"/>
              </a:rPr>
              <a:t>    // </a:t>
            </a:r>
            <a:r>
              <a:rPr lang="zh-CN" altLang="en-US" sz="1200" i="1" dirty="0">
                <a:solidFill>
                  <a:srgbClr val="7F848E"/>
                </a:solidFill>
                <a:cs typeface="+mn-ea"/>
                <a:sym typeface="+mn-lt"/>
              </a:rPr>
              <a:t>这些都不是必须要放在 </a:t>
            </a:r>
            <a:r>
              <a:rPr lang="en-US" altLang="zh-CN" sz="1200" i="1" dirty="0">
                <a:solidFill>
                  <a:srgbClr val="7F848E"/>
                </a:solidFill>
                <a:cs typeface="+mn-ea"/>
                <a:sym typeface="+mn-lt"/>
              </a:rPr>
              <a:t>unsafe </a:t>
            </a:r>
            <a:r>
              <a:rPr lang="zh-CN" altLang="en-US" sz="1200" i="1" dirty="0">
                <a:solidFill>
                  <a:srgbClr val="7F848E"/>
                </a:solidFill>
                <a:cs typeface="+mn-ea"/>
                <a:sym typeface="+mn-lt"/>
              </a:rPr>
              <a:t>里的</a:t>
            </a:r>
            <a:endParaRPr lang="zh-CN" altLang="en-US" sz="1200" dirty="0">
              <a:solidFill>
                <a:srgbClr val="ABB2BF"/>
              </a:solidFill>
              <a:cs typeface="+mn-ea"/>
              <a:sym typeface="+mn-lt"/>
            </a:endParaRPr>
          </a:p>
          <a:p>
            <a:r>
              <a:rPr lang="zh-CN" altLang="en-US" sz="1200" dirty="0">
                <a:solidFill>
                  <a:srgbClr val="ABB2BF"/>
                </a:solidFill>
                <a:cs typeface="+mn-ea"/>
                <a:sym typeface="+mn-lt"/>
              </a:rPr>
              <a:t>    </a:t>
            </a:r>
            <a:r>
              <a:rPr lang="en-US" altLang="zh-CN" sz="1200" dirty="0">
                <a:solidFill>
                  <a:srgbClr val="E06C75"/>
                </a:solidFill>
                <a:cs typeface="+mn-ea"/>
                <a:sym typeface="+mn-lt"/>
              </a:rPr>
              <a:t>u</a:t>
            </a:r>
            <a:r>
              <a:rPr lang="en-US" altLang="zh-CN" sz="1200" dirty="0">
                <a:solidFill>
                  <a:srgbClr val="ABB2BF"/>
                </a:solidFill>
                <a:cs typeface="+mn-ea"/>
                <a:sym typeface="+mn-lt"/>
              </a:rPr>
              <a:t>.f1 </a:t>
            </a:r>
            <a:r>
              <a:rPr lang="en-US" altLang="zh-CN" sz="1200" dirty="0">
                <a:solidFill>
                  <a:srgbClr val="56B6C2"/>
                </a:solidFill>
                <a:cs typeface="+mn-ea"/>
                <a:sym typeface="+mn-lt"/>
              </a:rPr>
              <a:t>=</a:t>
            </a:r>
            <a:r>
              <a:rPr lang="en-US" altLang="zh-CN" sz="1200" dirty="0">
                <a:solidFill>
                  <a:srgbClr val="ABB2BF"/>
                </a:solidFill>
                <a:cs typeface="+mn-ea"/>
                <a:sym typeface="+mn-lt"/>
              </a:rPr>
              <a:t> </a:t>
            </a:r>
            <a:r>
              <a:rPr lang="en-US" altLang="zh-CN" sz="1200" dirty="0">
                <a:solidFill>
                  <a:srgbClr val="D19A66"/>
                </a:solidFill>
                <a:cs typeface="+mn-ea"/>
                <a:sym typeface="+mn-lt"/>
              </a:rPr>
              <a:t>2</a:t>
            </a:r>
            <a:r>
              <a:rPr lang="en-US" altLang="zh-CN" sz="1200" dirty="0">
                <a:solidFill>
                  <a:srgbClr val="ABB2BF"/>
                </a:solidFill>
                <a:cs typeface="+mn-ea"/>
                <a:sym typeface="+mn-lt"/>
              </a:rPr>
              <a:t>;</a:t>
            </a:r>
          </a:p>
          <a:p>
            <a:r>
              <a:rPr lang="en-US" altLang="zh-CN" sz="1200" dirty="0">
                <a:solidFill>
                  <a:srgbClr val="ABB2BF"/>
                </a:solidFill>
                <a:cs typeface="+mn-ea"/>
                <a:sym typeface="+mn-lt"/>
              </a:rPr>
              <a:t>    </a:t>
            </a:r>
            <a:r>
              <a:rPr lang="en-US" altLang="zh-CN" sz="1200" dirty="0">
                <a:solidFill>
                  <a:srgbClr val="E06C75"/>
                </a:solidFill>
                <a:cs typeface="+mn-ea"/>
                <a:sym typeface="+mn-lt"/>
              </a:rPr>
              <a:t>u</a:t>
            </a:r>
            <a:r>
              <a:rPr lang="en-US" altLang="zh-CN" sz="1200" dirty="0">
                <a:solidFill>
                  <a:srgbClr val="ABB2BF"/>
                </a:solidFill>
                <a:cs typeface="+mn-ea"/>
                <a:sym typeface="+mn-lt"/>
              </a:rPr>
              <a:t>.f2 </a:t>
            </a:r>
            <a:r>
              <a:rPr lang="en-US" altLang="zh-CN" sz="1200" dirty="0">
                <a:solidFill>
                  <a:srgbClr val="56B6C2"/>
                </a:solidFill>
                <a:cs typeface="+mn-ea"/>
                <a:sym typeface="+mn-lt"/>
              </a:rPr>
              <a:t>=</a:t>
            </a:r>
            <a:r>
              <a:rPr lang="en-US" altLang="zh-CN" sz="1200" dirty="0">
                <a:solidFill>
                  <a:srgbClr val="ABB2BF"/>
                </a:solidFill>
                <a:cs typeface="+mn-ea"/>
                <a:sym typeface="+mn-lt"/>
              </a:rPr>
              <a:t> </a:t>
            </a:r>
            <a:r>
              <a:rPr lang="en-US" altLang="zh-CN" sz="1200" dirty="0" err="1">
                <a:solidFill>
                  <a:srgbClr val="E5C07B"/>
                </a:solidFill>
                <a:cs typeface="+mn-ea"/>
                <a:sym typeface="+mn-lt"/>
              </a:rPr>
              <a:t>ManuallyDrop</a:t>
            </a:r>
            <a:r>
              <a:rPr lang="en-US" altLang="zh-CN" sz="1200" dirty="0">
                <a:solidFill>
                  <a:srgbClr val="ABB2BF"/>
                </a:solidFill>
                <a:cs typeface="+mn-ea"/>
                <a:sym typeface="+mn-lt"/>
              </a:rPr>
              <a:t>::</a:t>
            </a:r>
            <a:r>
              <a:rPr lang="en-US" altLang="zh-CN" sz="1200" dirty="0">
                <a:solidFill>
                  <a:srgbClr val="61AFEF"/>
                </a:solidFill>
                <a:cs typeface="+mn-ea"/>
                <a:sym typeface="+mn-lt"/>
              </a:rPr>
              <a:t>new</a:t>
            </a:r>
            <a:r>
              <a:rPr lang="en-US" altLang="zh-CN" sz="1200" dirty="0">
                <a:solidFill>
                  <a:srgbClr val="ABB2BF"/>
                </a:solidFill>
                <a:cs typeface="+mn-ea"/>
                <a:sym typeface="+mn-lt"/>
              </a:rPr>
              <a:t>(</a:t>
            </a:r>
            <a:r>
              <a:rPr lang="en-US" altLang="zh-CN" sz="1200" dirty="0">
                <a:solidFill>
                  <a:srgbClr val="E5C07B"/>
                </a:solidFill>
                <a:cs typeface="+mn-ea"/>
                <a:sym typeface="+mn-lt"/>
              </a:rPr>
              <a:t>String</a:t>
            </a:r>
            <a:r>
              <a:rPr lang="en-US" altLang="zh-CN" sz="1200" dirty="0">
                <a:solidFill>
                  <a:srgbClr val="ABB2BF"/>
                </a:solidFill>
                <a:cs typeface="+mn-ea"/>
                <a:sym typeface="+mn-lt"/>
              </a:rPr>
              <a:t>::</a:t>
            </a:r>
            <a:r>
              <a:rPr lang="en-US" altLang="zh-CN" sz="1200" dirty="0">
                <a:solidFill>
                  <a:srgbClr val="61AFEF"/>
                </a:solidFill>
                <a:cs typeface="+mn-ea"/>
                <a:sym typeface="+mn-lt"/>
              </a:rPr>
              <a:t>from</a:t>
            </a:r>
            <a:r>
              <a:rPr lang="en-US" altLang="zh-CN" sz="1200" dirty="0">
                <a:solidFill>
                  <a:srgbClr val="ABB2BF"/>
                </a:solidFill>
                <a:cs typeface="+mn-ea"/>
                <a:sym typeface="+mn-lt"/>
              </a:rPr>
              <a:t>(</a:t>
            </a:r>
            <a:r>
              <a:rPr lang="en-US" altLang="zh-CN" sz="1200" dirty="0">
                <a:solidFill>
                  <a:srgbClr val="98C379"/>
                </a:solidFill>
                <a:cs typeface="+mn-ea"/>
                <a:sym typeface="+mn-lt"/>
              </a:rPr>
              <a:t>"example"</a:t>
            </a:r>
            <a:r>
              <a:rPr lang="en-US" altLang="zh-CN" sz="1200" dirty="0">
                <a:solidFill>
                  <a:srgbClr val="ABB2BF"/>
                </a:solidFill>
                <a:cs typeface="+mn-ea"/>
                <a:sym typeface="+mn-lt"/>
              </a:rPr>
              <a:t>));</a:t>
            </a:r>
          </a:p>
          <a:p>
            <a:r>
              <a:rPr lang="en-US" altLang="zh-CN" sz="1200" dirty="0">
                <a:solidFill>
                  <a:srgbClr val="ABB2BF"/>
                </a:solidFill>
                <a:cs typeface="+mn-ea"/>
                <a:sym typeface="+mn-lt"/>
              </a:rPr>
              <a:t>}</a:t>
            </a:r>
            <a:endParaRPr lang="en-US" altLang="zh-CN" sz="1200" b="0" dirty="0">
              <a:solidFill>
                <a:srgbClr val="ABB2BF"/>
              </a:solidFill>
              <a:effectLst/>
              <a:cs typeface="+mn-ea"/>
              <a:sym typeface="+mn-lt"/>
            </a:endParaRPr>
          </a:p>
        </p:txBody>
      </p:sp>
    </p:spTree>
    <p:extLst>
      <p:ext uri="{BB962C8B-B14F-4D97-AF65-F5344CB8AC3E}">
        <p14:creationId xmlns:p14="http://schemas.microsoft.com/office/powerpoint/2010/main" val="8853902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直接连接符 6"/>
          <p:cNvCxnSpPr/>
          <p:nvPr/>
        </p:nvCxnSpPr>
        <p:spPr>
          <a:xfrm>
            <a:off x="239006" y="641249"/>
            <a:ext cx="11340282"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139959" y="112899"/>
            <a:ext cx="10108564" cy="528350"/>
          </a:xfrm>
          <a:prstGeom prst="rect">
            <a:avLst/>
          </a:prstGeom>
          <a:noFill/>
        </p:spPr>
        <p:txBody>
          <a:bodyPr vert="horz" wrap="square" rtlCol="0">
            <a:spAutoFit/>
          </a:bodyPr>
          <a:lstStyle/>
          <a:p>
            <a:pPr>
              <a:lnSpc>
                <a:spcPts val="3440"/>
              </a:lnSpc>
            </a:pPr>
            <a:r>
              <a:rPr lang="en-US" altLang="zh-CN" sz="3200" b="1">
                <a:solidFill>
                  <a:srgbClr val="C00000"/>
                </a:solidFill>
                <a:cs typeface="+mn-ea"/>
                <a:sym typeface="+mn-lt"/>
              </a:rPr>
              <a:t>Union-</a:t>
            </a:r>
            <a:r>
              <a:rPr lang="zh-CN" altLang="en-US" sz="3200" b="1">
                <a:solidFill>
                  <a:srgbClr val="C00000"/>
                </a:solidFill>
                <a:cs typeface="+mn-ea"/>
                <a:sym typeface="+mn-lt"/>
              </a:rPr>
              <a:t>基本操作</a:t>
            </a:r>
            <a:endParaRPr lang="en-US" altLang="zh-CN" sz="3200" b="1">
              <a:solidFill>
                <a:srgbClr val="C00000"/>
              </a:solidFill>
              <a:cs typeface="+mn-ea"/>
              <a:sym typeface="+mn-lt"/>
            </a:endParaRPr>
          </a:p>
        </p:txBody>
      </p:sp>
      <p:sp>
        <p:nvSpPr>
          <p:cNvPr id="20" name="矩形 19"/>
          <p:cNvSpPr/>
          <p:nvPr/>
        </p:nvSpPr>
        <p:spPr>
          <a:xfrm>
            <a:off x="239006" y="804311"/>
            <a:ext cx="5278226" cy="1383665"/>
          </a:xfrm>
          <a:prstGeom prst="rect">
            <a:avLst/>
          </a:prstGeom>
        </p:spPr>
        <p:txBody>
          <a:bodyPr wrap="square">
            <a:spAutoFit/>
          </a:bodyPr>
          <a:lstStyle/>
          <a:p>
            <a:pPr marL="285750" indent="-285750">
              <a:lnSpc>
                <a:spcPct val="150000"/>
              </a:lnSpc>
              <a:buFont typeface="Arial" panose="020B0604020202020204" pitchFamily="34" charset="0"/>
              <a:buChar char="•"/>
            </a:pPr>
            <a:r>
              <a:rPr lang="zh-CN" altLang="en-US" sz="1400" dirty="0">
                <a:cs typeface="+mn-ea"/>
                <a:sym typeface="+mn-lt"/>
              </a:rPr>
              <a:t>union字段上的模式匹配与结构体上的模式匹配使用相同的句法，只是这种模式只能一次指定一个字段。union共享相同的存储空间，模式匹配就像使用特定字段来读取union，它需要被放在非安全</a:t>
            </a:r>
            <a:r>
              <a:rPr lang="en-US" altLang="zh-CN" sz="1400" dirty="0">
                <a:cs typeface="+mn-ea"/>
                <a:sym typeface="+mn-lt"/>
              </a:rPr>
              <a:t>(unsafe)</a:t>
            </a:r>
            <a:r>
              <a:rPr lang="zh-CN" altLang="en-US" sz="1400" dirty="0">
                <a:cs typeface="+mn-ea"/>
                <a:sym typeface="+mn-lt"/>
              </a:rPr>
              <a:t>块中。</a:t>
            </a:r>
          </a:p>
        </p:txBody>
      </p:sp>
      <p:sp>
        <p:nvSpPr>
          <p:cNvPr id="21" name="矩形 20"/>
          <p:cNvSpPr/>
          <p:nvPr/>
        </p:nvSpPr>
        <p:spPr>
          <a:xfrm>
            <a:off x="6064296" y="758145"/>
            <a:ext cx="5514990" cy="2861310"/>
          </a:xfrm>
          <a:prstGeom prst="rect">
            <a:avLst/>
          </a:prstGeom>
          <a:solidFill>
            <a:schemeClr val="tx1"/>
          </a:solidFill>
        </p:spPr>
        <p:txBody>
          <a:bodyPr wrap="square">
            <a:spAutoFit/>
          </a:bodyPr>
          <a:lstStyle/>
          <a:p>
            <a:r>
              <a:rPr lang="en-US" altLang="zh-CN" sz="1200" dirty="0">
                <a:solidFill>
                  <a:schemeClr val="bg2"/>
                </a:solidFill>
                <a:cs typeface="+mn-ea"/>
                <a:sym typeface="+mn-lt"/>
              </a:rPr>
              <a:t>// </a:t>
            </a:r>
            <a:r>
              <a:rPr lang="zh-CN" altLang="en-US" sz="1200" b="1" dirty="0">
                <a:solidFill>
                  <a:srgbClr val="00B050"/>
                </a:solidFill>
                <a:cs typeface="+mn-ea"/>
                <a:sym typeface="+mn-lt"/>
              </a:rPr>
              <a:t>代码示例</a:t>
            </a:r>
            <a:endParaRPr lang="en-US" altLang="zh-CN" sz="1200" b="1" dirty="0">
              <a:solidFill>
                <a:srgbClr val="00B050"/>
              </a:solidFill>
              <a:cs typeface="+mn-ea"/>
              <a:sym typeface="+mn-lt"/>
            </a:endParaRPr>
          </a:p>
          <a:p>
            <a:r>
              <a:rPr lang="en-US" sz="1200" b="0" u="none" dirty="0">
                <a:solidFill>
                  <a:srgbClr val="C678DD"/>
                </a:solidFill>
                <a:cs typeface="+mn-ea"/>
                <a:sym typeface="+mn-lt"/>
              </a:rPr>
              <a:t>union</a:t>
            </a:r>
            <a:r>
              <a:rPr lang="en-US" sz="1200" b="0" u="none" dirty="0">
                <a:solidFill>
                  <a:srgbClr val="ABB2BF"/>
                </a:solidFill>
                <a:cs typeface="+mn-ea"/>
                <a:sym typeface="+mn-lt"/>
              </a:rPr>
              <a:t> </a:t>
            </a:r>
            <a:r>
              <a:rPr lang="en-US" sz="1200" b="0" u="none" dirty="0" err="1">
                <a:solidFill>
                  <a:srgbClr val="E5C07B"/>
                </a:solidFill>
                <a:cs typeface="+mn-ea"/>
                <a:sym typeface="+mn-lt"/>
              </a:rPr>
              <a:t>MyUnion</a:t>
            </a:r>
            <a:r>
              <a:rPr lang="en-US" sz="1200" b="0" u="none" dirty="0">
                <a:solidFill>
                  <a:srgbClr val="ABB2BF"/>
                </a:solidFill>
                <a:cs typeface="+mn-ea"/>
                <a:sym typeface="+mn-lt"/>
              </a:rPr>
              <a:t> { </a:t>
            </a:r>
            <a:r>
              <a:rPr lang="en-US" sz="1200" b="0" u="none" dirty="0">
                <a:solidFill>
                  <a:srgbClr val="E06C75"/>
                </a:solidFill>
                <a:cs typeface="+mn-ea"/>
                <a:sym typeface="+mn-lt"/>
              </a:rPr>
              <a:t>f1</a:t>
            </a:r>
            <a:r>
              <a:rPr lang="en-US" sz="1200" b="0" u="none" dirty="0">
                <a:solidFill>
                  <a:srgbClr val="ABB2BF"/>
                </a:solidFill>
                <a:cs typeface="+mn-ea"/>
                <a:sym typeface="+mn-lt"/>
              </a:rPr>
              <a:t>: </a:t>
            </a:r>
            <a:r>
              <a:rPr lang="en-US" sz="1200" b="0" u="none" dirty="0">
                <a:solidFill>
                  <a:srgbClr val="E5C07B"/>
                </a:solidFill>
                <a:cs typeface="+mn-ea"/>
                <a:sym typeface="+mn-lt"/>
              </a:rPr>
              <a:t>u32</a:t>
            </a:r>
            <a:r>
              <a:rPr lang="en-US" sz="1200" b="0" u="none" dirty="0">
                <a:solidFill>
                  <a:srgbClr val="ABB2BF"/>
                </a:solidFill>
                <a:cs typeface="+mn-ea"/>
                <a:sym typeface="+mn-lt"/>
              </a:rPr>
              <a:t>, </a:t>
            </a:r>
            <a:r>
              <a:rPr lang="en-US" sz="1200" b="0" u="none" dirty="0">
                <a:solidFill>
                  <a:srgbClr val="E06C75"/>
                </a:solidFill>
                <a:cs typeface="+mn-ea"/>
                <a:sym typeface="+mn-lt"/>
              </a:rPr>
              <a:t>f2</a:t>
            </a:r>
            <a:r>
              <a:rPr lang="en-US" sz="1200" b="0" u="none" dirty="0">
                <a:solidFill>
                  <a:srgbClr val="ABB2BF"/>
                </a:solidFill>
                <a:cs typeface="+mn-ea"/>
                <a:sym typeface="+mn-lt"/>
              </a:rPr>
              <a:t>: </a:t>
            </a:r>
            <a:r>
              <a:rPr lang="en-US" sz="1200" b="0" u="none" dirty="0">
                <a:solidFill>
                  <a:srgbClr val="E5C07B"/>
                </a:solidFill>
                <a:cs typeface="+mn-ea"/>
                <a:sym typeface="+mn-lt"/>
              </a:rPr>
              <a:t>f32</a:t>
            </a:r>
            <a:r>
              <a:rPr lang="en-US" sz="1200" b="0" u="none" dirty="0">
                <a:solidFill>
                  <a:srgbClr val="ABB2BF"/>
                </a:solidFill>
                <a:cs typeface="+mn-ea"/>
                <a:sym typeface="+mn-lt"/>
              </a:rPr>
              <a:t> }</a:t>
            </a:r>
            <a:endParaRPr lang="en-US" sz="1200" b="0" u="none" dirty="0">
              <a:solidFill>
                <a:srgbClr val="C678DD"/>
              </a:solidFill>
              <a:cs typeface="+mn-ea"/>
              <a:sym typeface="+mn-lt"/>
            </a:endParaRPr>
          </a:p>
          <a:p>
            <a:r>
              <a:rPr lang="en-US" sz="1200" b="0" u="none" dirty="0" err="1">
                <a:solidFill>
                  <a:srgbClr val="C678DD"/>
                </a:solidFill>
                <a:cs typeface="+mn-ea"/>
                <a:sym typeface="+mn-lt"/>
              </a:rPr>
              <a:t>fn</a:t>
            </a:r>
            <a:r>
              <a:rPr lang="en-US" sz="1200" b="0" u="none" dirty="0">
                <a:solidFill>
                  <a:srgbClr val="ABB2BF"/>
                </a:solidFill>
                <a:cs typeface="+mn-ea"/>
                <a:sym typeface="+mn-lt"/>
              </a:rPr>
              <a:t> </a:t>
            </a:r>
            <a:r>
              <a:rPr lang="en-US" sz="1200" b="0" u="none" dirty="0">
                <a:solidFill>
                  <a:srgbClr val="61AFEF"/>
                </a:solidFill>
                <a:cs typeface="+mn-ea"/>
                <a:sym typeface="+mn-lt"/>
              </a:rPr>
              <a:t>f</a:t>
            </a:r>
            <a:r>
              <a:rPr lang="en-US" sz="1200" b="0" u="none" dirty="0">
                <a:solidFill>
                  <a:srgbClr val="ABB2BF"/>
                </a:solidFill>
                <a:cs typeface="+mn-ea"/>
                <a:sym typeface="+mn-lt"/>
              </a:rPr>
              <a:t>(</a:t>
            </a:r>
            <a:r>
              <a:rPr lang="en-US" sz="1200" b="0" u="none" dirty="0">
                <a:solidFill>
                  <a:srgbClr val="E06C75"/>
                </a:solidFill>
                <a:cs typeface="+mn-ea"/>
                <a:sym typeface="+mn-lt"/>
              </a:rPr>
              <a:t>u</a:t>
            </a:r>
            <a:r>
              <a:rPr lang="en-US" sz="1200" b="0" u="none" dirty="0">
                <a:solidFill>
                  <a:srgbClr val="ABB2BF"/>
                </a:solidFill>
                <a:cs typeface="+mn-ea"/>
                <a:sym typeface="+mn-lt"/>
              </a:rPr>
              <a:t>: </a:t>
            </a:r>
            <a:r>
              <a:rPr lang="en-US" sz="1200" b="0" u="none" dirty="0" err="1">
                <a:solidFill>
                  <a:srgbClr val="E5C07B"/>
                </a:solidFill>
                <a:cs typeface="+mn-ea"/>
                <a:sym typeface="+mn-lt"/>
              </a:rPr>
              <a:t>MyUnion</a:t>
            </a:r>
            <a:r>
              <a:rPr lang="en-US" sz="1200" b="0" u="none" dirty="0">
                <a:solidFill>
                  <a:srgbClr val="ABB2BF"/>
                </a:solidFill>
                <a:cs typeface="+mn-ea"/>
                <a:sym typeface="+mn-lt"/>
              </a:rPr>
              <a:t>) {</a:t>
            </a:r>
          </a:p>
          <a:p>
            <a:r>
              <a:rPr lang="en-US" sz="1200" b="0" u="none" dirty="0">
                <a:solidFill>
                  <a:srgbClr val="ABB2BF"/>
                </a:solidFill>
                <a:cs typeface="+mn-ea"/>
                <a:sym typeface="+mn-lt"/>
              </a:rPr>
              <a:t>    </a:t>
            </a:r>
            <a:r>
              <a:rPr lang="en-US" sz="1200" b="0" u="none" dirty="0">
                <a:solidFill>
                  <a:srgbClr val="C678DD"/>
                </a:solidFill>
                <a:cs typeface="+mn-ea"/>
                <a:sym typeface="+mn-lt"/>
              </a:rPr>
              <a:t>unsafe</a:t>
            </a:r>
            <a:r>
              <a:rPr lang="en-US" sz="1200" b="0" u="none" dirty="0">
                <a:solidFill>
                  <a:srgbClr val="ABB2BF"/>
                </a:solidFill>
                <a:cs typeface="+mn-ea"/>
                <a:sym typeface="+mn-lt"/>
              </a:rPr>
              <a:t> {</a:t>
            </a:r>
          </a:p>
          <a:p>
            <a:r>
              <a:rPr lang="en-US" sz="1200" b="0" u="none" dirty="0">
                <a:solidFill>
                  <a:srgbClr val="ABB2BF"/>
                </a:solidFill>
                <a:cs typeface="+mn-ea"/>
                <a:sym typeface="+mn-lt"/>
              </a:rPr>
              <a:t>        </a:t>
            </a:r>
            <a:r>
              <a:rPr lang="en-US" sz="1200" b="0" u="none" dirty="0">
                <a:solidFill>
                  <a:srgbClr val="C678DD"/>
                </a:solidFill>
                <a:cs typeface="+mn-ea"/>
                <a:sym typeface="+mn-lt"/>
              </a:rPr>
              <a:t>match</a:t>
            </a:r>
            <a:r>
              <a:rPr lang="en-US" sz="1200" b="0" u="none" dirty="0">
                <a:solidFill>
                  <a:srgbClr val="ABB2BF"/>
                </a:solidFill>
                <a:cs typeface="+mn-ea"/>
                <a:sym typeface="+mn-lt"/>
              </a:rPr>
              <a:t> </a:t>
            </a:r>
            <a:r>
              <a:rPr lang="en-US" sz="1200" b="0" u="none" dirty="0">
                <a:solidFill>
                  <a:srgbClr val="E06C75"/>
                </a:solidFill>
                <a:cs typeface="+mn-ea"/>
                <a:sym typeface="+mn-lt"/>
              </a:rPr>
              <a:t>u</a:t>
            </a:r>
            <a:r>
              <a:rPr lang="en-US" sz="1200" b="0" u="none" dirty="0">
                <a:solidFill>
                  <a:srgbClr val="ABB2BF"/>
                </a:solidFill>
                <a:cs typeface="+mn-ea"/>
                <a:sym typeface="+mn-lt"/>
              </a:rPr>
              <a:t> {</a:t>
            </a:r>
          </a:p>
          <a:p>
            <a:r>
              <a:rPr lang="en-US" sz="1200" b="0" u="none" dirty="0">
                <a:solidFill>
                  <a:srgbClr val="ABB2BF"/>
                </a:solidFill>
                <a:cs typeface="+mn-ea"/>
                <a:sym typeface="+mn-lt"/>
              </a:rPr>
              <a:t>            </a:t>
            </a:r>
            <a:r>
              <a:rPr lang="en-US" sz="1200" b="0" u="none" dirty="0" err="1">
                <a:solidFill>
                  <a:srgbClr val="E5C07B"/>
                </a:solidFill>
                <a:cs typeface="+mn-ea"/>
                <a:sym typeface="+mn-lt"/>
              </a:rPr>
              <a:t>MyUnion</a:t>
            </a:r>
            <a:r>
              <a:rPr lang="en-US" sz="1200" b="0" u="none" dirty="0">
                <a:solidFill>
                  <a:srgbClr val="ABB2BF"/>
                </a:solidFill>
                <a:cs typeface="+mn-ea"/>
                <a:sym typeface="+mn-lt"/>
              </a:rPr>
              <a:t> { </a:t>
            </a:r>
            <a:r>
              <a:rPr lang="en-US" sz="1200" b="0" u="none" dirty="0">
                <a:solidFill>
                  <a:srgbClr val="E06C75"/>
                </a:solidFill>
                <a:cs typeface="+mn-ea"/>
                <a:sym typeface="+mn-lt"/>
              </a:rPr>
              <a:t>f1</a:t>
            </a:r>
            <a:r>
              <a:rPr lang="en-US" sz="1200" b="0" u="none" dirty="0">
                <a:solidFill>
                  <a:srgbClr val="ABB2BF"/>
                </a:solidFill>
                <a:cs typeface="+mn-ea"/>
                <a:sym typeface="+mn-lt"/>
              </a:rPr>
              <a:t>: </a:t>
            </a:r>
            <a:r>
              <a:rPr lang="en-US" sz="1200" b="0" u="none" dirty="0">
                <a:solidFill>
                  <a:srgbClr val="D19A66"/>
                </a:solidFill>
                <a:cs typeface="+mn-ea"/>
                <a:sym typeface="+mn-lt"/>
              </a:rPr>
              <a:t>10</a:t>
            </a:r>
            <a:r>
              <a:rPr lang="en-US" sz="1200" b="0" u="none" dirty="0">
                <a:solidFill>
                  <a:srgbClr val="ABB2BF"/>
                </a:solidFill>
                <a:cs typeface="+mn-ea"/>
                <a:sym typeface="+mn-lt"/>
              </a:rPr>
              <a:t> } =&gt; { </a:t>
            </a:r>
            <a:r>
              <a:rPr lang="en-US" sz="1200" b="0" u="none" dirty="0" err="1">
                <a:solidFill>
                  <a:srgbClr val="61AFEF"/>
                </a:solidFill>
                <a:cs typeface="+mn-ea"/>
                <a:sym typeface="+mn-lt"/>
              </a:rPr>
              <a:t>assert_eq</a:t>
            </a:r>
            <a:r>
              <a:rPr lang="en-US" sz="1200" b="0" u="none" dirty="0">
                <a:solidFill>
                  <a:srgbClr val="61AFEF"/>
                </a:solidFill>
                <a:cs typeface="+mn-ea"/>
                <a:sym typeface="+mn-lt"/>
              </a:rPr>
              <a:t>!</a:t>
            </a:r>
            <a:r>
              <a:rPr lang="en-US" sz="1200" b="0" u="none" dirty="0">
                <a:solidFill>
                  <a:srgbClr val="ABB2BF"/>
                </a:solidFill>
                <a:cs typeface="+mn-ea"/>
                <a:sym typeface="+mn-lt"/>
              </a:rPr>
              <a:t>(</a:t>
            </a:r>
            <a:r>
              <a:rPr lang="en-US" sz="1200" b="0" u="none" dirty="0">
                <a:solidFill>
                  <a:srgbClr val="D19A66"/>
                </a:solidFill>
                <a:cs typeface="+mn-ea"/>
                <a:sym typeface="+mn-lt"/>
              </a:rPr>
              <a:t>10</a:t>
            </a:r>
            <a:r>
              <a:rPr lang="en-US" sz="1200" b="0" u="none" dirty="0">
                <a:solidFill>
                  <a:srgbClr val="ABB2BF"/>
                </a:solidFill>
                <a:cs typeface="+mn-ea"/>
                <a:sym typeface="+mn-lt"/>
              </a:rPr>
              <a:t>, </a:t>
            </a:r>
            <a:r>
              <a:rPr lang="en-US" sz="1200" b="0" u="none" dirty="0">
                <a:solidFill>
                  <a:srgbClr val="E06C75"/>
                </a:solidFill>
                <a:cs typeface="+mn-ea"/>
                <a:sym typeface="+mn-lt"/>
              </a:rPr>
              <a:t>u</a:t>
            </a:r>
            <a:r>
              <a:rPr lang="en-US" sz="1200" b="0" u="none" dirty="0">
                <a:solidFill>
                  <a:srgbClr val="ABB2BF"/>
                </a:solidFill>
                <a:cs typeface="+mn-ea"/>
                <a:sym typeface="+mn-lt"/>
              </a:rPr>
              <a:t>.f1); }</a:t>
            </a:r>
          </a:p>
          <a:p>
            <a:r>
              <a:rPr lang="en-US" sz="1200" b="0" u="none" dirty="0">
                <a:solidFill>
                  <a:srgbClr val="ABB2BF"/>
                </a:solidFill>
                <a:cs typeface="+mn-ea"/>
                <a:sym typeface="+mn-lt"/>
              </a:rPr>
              <a:t>            </a:t>
            </a:r>
            <a:r>
              <a:rPr lang="en-US" sz="1200" b="0" u="none" dirty="0" err="1">
                <a:solidFill>
                  <a:srgbClr val="E5C07B"/>
                </a:solidFill>
                <a:cs typeface="+mn-ea"/>
                <a:sym typeface="+mn-lt"/>
              </a:rPr>
              <a:t>MyUnion</a:t>
            </a:r>
            <a:r>
              <a:rPr lang="en-US" sz="1200" b="0" u="none" dirty="0">
                <a:solidFill>
                  <a:srgbClr val="ABB2BF"/>
                </a:solidFill>
                <a:cs typeface="+mn-ea"/>
                <a:sym typeface="+mn-lt"/>
              </a:rPr>
              <a:t> { </a:t>
            </a:r>
            <a:r>
              <a:rPr lang="en-US" sz="1200" b="0" u="none" dirty="0">
                <a:solidFill>
                  <a:srgbClr val="E06C75"/>
                </a:solidFill>
                <a:cs typeface="+mn-ea"/>
                <a:sym typeface="+mn-lt"/>
              </a:rPr>
              <a:t>f2</a:t>
            </a:r>
            <a:r>
              <a:rPr lang="en-US" sz="1200" b="0" u="none" dirty="0">
                <a:solidFill>
                  <a:srgbClr val="ABB2BF"/>
                </a:solidFill>
                <a:cs typeface="+mn-ea"/>
                <a:sym typeface="+mn-lt"/>
              </a:rPr>
              <a:t> } =&gt; { </a:t>
            </a:r>
            <a:r>
              <a:rPr lang="en-US" sz="1200" b="0" u="none" dirty="0" err="1">
                <a:solidFill>
                  <a:srgbClr val="61AFEF"/>
                </a:solidFill>
                <a:cs typeface="+mn-ea"/>
                <a:sym typeface="+mn-lt"/>
              </a:rPr>
              <a:t>println</a:t>
            </a:r>
            <a:r>
              <a:rPr lang="en-US" sz="1200" b="0" u="none" dirty="0">
                <a:solidFill>
                  <a:srgbClr val="61AFEF"/>
                </a:solidFill>
                <a:cs typeface="+mn-ea"/>
                <a:sym typeface="+mn-lt"/>
              </a:rPr>
              <a:t>!</a:t>
            </a:r>
            <a:r>
              <a:rPr lang="en-US" sz="1200" b="0" u="none" dirty="0">
                <a:solidFill>
                  <a:srgbClr val="ABB2BF"/>
                </a:solidFill>
                <a:cs typeface="+mn-ea"/>
                <a:sym typeface="+mn-lt"/>
              </a:rPr>
              <a:t>(</a:t>
            </a:r>
            <a:r>
              <a:rPr lang="en-US" sz="1200" b="0" u="none" dirty="0">
                <a:solidFill>
                  <a:srgbClr val="98C379"/>
                </a:solidFill>
                <a:cs typeface="+mn-ea"/>
                <a:sym typeface="+mn-lt"/>
              </a:rPr>
              <a:t>"{}"</a:t>
            </a:r>
            <a:r>
              <a:rPr lang="en-US" sz="1200" b="0" u="none" dirty="0">
                <a:solidFill>
                  <a:srgbClr val="ABB2BF"/>
                </a:solidFill>
                <a:cs typeface="+mn-ea"/>
                <a:sym typeface="+mn-lt"/>
              </a:rPr>
              <a:t>, </a:t>
            </a:r>
            <a:r>
              <a:rPr lang="en-US" sz="1200" b="0" u="none" dirty="0">
                <a:solidFill>
                  <a:srgbClr val="E06C75"/>
                </a:solidFill>
                <a:cs typeface="+mn-ea"/>
                <a:sym typeface="+mn-lt"/>
              </a:rPr>
              <a:t>f2</a:t>
            </a:r>
            <a:r>
              <a:rPr lang="en-US" sz="1200" b="0" u="none" dirty="0">
                <a:solidFill>
                  <a:srgbClr val="ABB2BF"/>
                </a:solidFill>
                <a:cs typeface="+mn-ea"/>
                <a:sym typeface="+mn-lt"/>
              </a:rPr>
              <a:t>); }</a:t>
            </a:r>
          </a:p>
          <a:p>
            <a:r>
              <a:rPr lang="en-US" sz="1200" b="0" u="none" dirty="0">
                <a:solidFill>
                  <a:srgbClr val="ABB2BF"/>
                </a:solidFill>
                <a:cs typeface="+mn-ea"/>
                <a:sym typeface="+mn-lt"/>
              </a:rPr>
              <a:t>        }</a:t>
            </a:r>
          </a:p>
          <a:p>
            <a:r>
              <a:rPr lang="en-US" sz="1200" b="0" u="none" dirty="0">
                <a:solidFill>
                  <a:srgbClr val="ABB2BF"/>
                </a:solidFill>
                <a:cs typeface="+mn-ea"/>
                <a:sym typeface="+mn-lt"/>
              </a:rPr>
              <a:t>    }</a:t>
            </a:r>
          </a:p>
          <a:p>
            <a:r>
              <a:rPr lang="en-US" sz="1200" b="0" u="none" dirty="0">
                <a:solidFill>
                  <a:srgbClr val="ABB2BF"/>
                </a:solidFill>
                <a:cs typeface="+mn-ea"/>
                <a:sym typeface="+mn-lt"/>
              </a:rPr>
              <a:t>}</a:t>
            </a:r>
          </a:p>
          <a:p>
            <a:endParaRPr lang="en-US" sz="1200" b="0" u="none" dirty="0">
              <a:solidFill>
                <a:srgbClr val="C678DD"/>
              </a:solidFill>
              <a:cs typeface="+mn-ea"/>
              <a:sym typeface="+mn-lt"/>
            </a:endParaRPr>
          </a:p>
          <a:p>
            <a:r>
              <a:rPr lang="en-US" sz="1200" b="0" u="none" dirty="0" err="1">
                <a:solidFill>
                  <a:srgbClr val="C678DD"/>
                </a:solidFill>
                <a:cs typeface="+mn-ea"/>
                <a:sym typeface="+mn-lt"/>
              </a:rPr>
              <a:t>fn</a:t>
            </a:r>
            <a:r>
              <a:rPr lang="en-US" sz="1200" b="0" u="none" dirty="0">
                <a:solidFill>
                  <a:srgbClr val="ABB2BF"/>
                </a:solidFill>
                <a:cs typeface="+mn-ea"/>
                <a:sym typeface="+mn-lt"/>
              </a:rPr>
              <a:t> </a:t>
            </a:r>
            <a:r>
              <a:rPr lang="en-US" sz="1200" b="0" u="none" dirty="0">
                <a:solidFill>
                  <a:srgbClr val="61AFEF"/>
                </a:solidFill>
                <a:cs typeface="+mn-ea"/>
                <a:sym typeface="+mn-lt"/>
              </a:rPr>
              <a:t>main</a:t>
            </a:r>
            <a:r>
              <a:rPr lang="en-US" sz="1200" b="0" u="none" dirty="0">
                <a:solidFill>
                  <a:srgbClr val="ABB2BF"/>
                </a:solidFill>
                <a:cs typeface="+mn-ea"/>
                <a:sym typeface="+mn-lt"/>
              </a:rPr>
              <a:t>() {</a:t>
            </a:r>
          </a:p>
          <a:p>
            <a:r>
              <a:rPr lang="en-US" sz="1200" b="0" u="none" dirty="0">
                <a:solidFill>
                  <a:srgbClr val="ABB2BF"/>
                </a:solidFill>
                <a:cs typeface="+mn-ea"/>
                <a:sym typeface="+mn-lt"/>
              </a:rPr>
              <a:t>    </a:t>
            </a:r>
            <a:r>
              <a:rPr lang="en-US" sz="1200" b="0" u="none" dirty="0">
                <a:solidFill>
                  <a:srgbClr val="C678DD"/>
                </a:solidFill>
                <a:cs typeface="+mn-ea"/>
                <a:sym typeface="+mn-lt"/>
              </a:rPr>
              <a:t>let</a:t>
            </a:r>
            <a:r>
              <a:rPr lang="en-US" sz="1200" b="0" u="none" dirty="0">
                <a:solidFill>
                  <a:srgbClr val="ABB2BF"/>
                </a:solidFill>
                <a:cs typeface="+mn-ea"/>
                <a:sym typeface="+mn-lt"/>
              </a:rPr>
              <a:t> </a:t>
            </a:r>
            <a:r>
              <a:rPr lang="en-US" sz="1200" b="0" u="none" dirty="0">
                <a:solidFill>
                  <a:srgbClr val="E06C75"/>
                </a:solidFill>
                <a:cs typeface="+mn-ea"/>
                <a:sym typeface="+mn-lt"/>
              </a:rPr>
              <a:t>u</a:t>
            </a:r>
            <a:r>
              <a:rPr lang="en-US" sz="1200" b="0" u="none" dirty="0">
                <a:solidFill>
                  <a:srgbClr val="ABB2BF"/>
                </a:solidFill>
                <a:cs typeface="+mn-ea"/>
                <a:sym typeface="+mn-lt"/>
              </a:rPr>
              <a:t> </a:t>
            </a:r>
            <a:r>
              <a:rPr lang="en-US" sz="1200" b="0" u="none" dirty="0">
                <a:solidFill>
                  <a:srgbClr val="56B6C2"/>
                </a:solidFill>
                <a:cs typeface="+mn-ea"/>
                <a:sym typeface="+mn-lt"/>
              </a:rPr>
              <a:t>=</a:t>
            </a:r>
            <a:r>
              <a:rPr lang="en-US" sz="1200" b="0" u="none" dirty="0">
                <a:solidFill>
                  <a:srgbClr val="ABB2BF"/>
                </a:solidFill>
                <a:cs typeface="+mn-ea"/>
                <a:sym typeface="+mn-lt"/>
              </a:rPr>
              <a:t> </a:t>
            </a:r>
            <a:r>
              <a:rPr lang="en-US" sz="1200" b="0" u="none" dirty="0" err="1">
                <a:solidFill>
                  <a:srgbClr val="E5C07B"/>
                </a:solidFill>
                <a:cs typeface="+mn-ea"/>
                <a:sym typeface="+mn-lt"/>
              </a:rPr>
              <a:t>MyUnion</a:t>
            </a:r>
            <a:r>
              <a:rPr lang="en-US" sz="1200" b="0" u="none" dirty="0">
                <a:solidFill>
                  <a:srgbClr val="ABB2BF"/>
                </a:solidFill>
                <a:cs typeface="+mn-ea"/>
                <a:sym typeface="+mn-lt"/>
              </a:rPr>
              <a:t> { </a:t>
            </a:r>
            <a:r>
              <a:rPr lang="en-US" sz="1200" b="0" u="none" dirty="0">
                <a:solidFill>
                  <a:srgbClr val="E06C75"/>
                </a:solidFill>
                <a:cs typeface="+mn-ea"/>
                <a:sym typeface="+mn-lt"/>
              </a:rPr>
              <a:t>f1</a:t>
            </a:r>
            <a:r>
              <a:rPr lang="en-US" sz="1200" b="0" u="none" dirty="0">
                <a:solidFill>
                  <a:srgbClr val="ABB2BF"/>
                </a:solidFill>
                <a:cs typeface="+mn-ea"/>
                <a:sym typeface="+mn-lt"/>
              </a:rPr>
              <a:t>: </a:t>
            </a:r>
            <a:r>
              <a:rPr lang="en-US" sz="1200" b="0" u="none" dirty="0">
                <a:solidFill>
                  <a:srgbClr val="D19A66"/>
                </a:solidFill>
                <a:cs typeface="+mn-ea"/>
                <a:sym typeface="+mn-lt"/>
              </a:rPr>
              <a:t>10</a:t>
            </a:r>
            <a:r>
              <a:rPr lang="en-US" sz="1200" b="0" u="none" dirty="0">
                <a:solidFill>
                  <a:srgbClr val="ABB2BF"/>
                </a:solidFill>
                <a:cs typeface="+mn-ea"/>
                <a:sym typeface="+mn-lt"/>
              </a:rPr>
              <a:t> };</a:t>
            </a:r>
          </a:p>
          <a:p>
            <a:r>
              <a:rPr lang="en-US" sz="1200" b="0" u="none" dirty="0">
                <a:solidFill>
                  <a:srgbClr val="ABB2BF"/>
                </a:solidFill>
                <a:cs typeface="+mn-ea"/>
                <a:sym typeface="+mn-lt"/>
              </a:rPr>
              <a:t>    </a:t>
            </a:r>
            <a:r>
              <a:rPr lang="en-US" sz="1200" b="0" u="none" dirty="0">
                <a:solidFill>
                  <a:srgbClr val="61AFEF"/>
                </a:solidFill>
                <a:cs typeface="+mn-ea"/>
                <a:sym typeface="+mn-lt"/>
              </a:rPr>
              <a:t>f</a:t>
            </a:r>
            <a:r>
              <a:rPr lang="en-US" sz="1200" b="0" u="none" dirty="0">
                <a:solidFill>
                  <a:srgbClr val="ABB2BF"/>
                </a:solidFill>
                <a:cs typeface="+mn-ea"/>
                <a:sym typeface="+mn-lt"/>
              </a:rPr>
              <a:t>(</a:t>
            </a:r>
            <a:r>
              <a:rPr lang="en-US" sz="1200" b="0" u="none" dirty="0">
                <a:solidFill>
                  <a:srgbClr val="E06C75"/>
                </a:solidFill>
                <a:cs typeface="+mn-ea"/>
                <a:sym typeface="+mn-lt"/>
              </a:rPr>
              <a:t>u</a:t>
            </a:r>
            <a:r>
              <a:rPr lang="en-US" sz="1200" b="0" u="none" dirty="0">
                <a:solidFill>
                  <a:srgbClr val="ABB2BF"/>
                </a:solidFill>
                <a:cs typeface="+mn-ea"/>
                <a:sym typeface="+mn-lt"/>
              </a:rPr>
              <a:t>);</a:t>
            </a:r>
          </a:p>
          <a:p>
            <a:r>
              <a:rPr lang="en-US" sz="1200" b="0" u="none" dirty="0">
                <a:solidFill>
                  <a:srgbClr val="ABB2BF"/>
                </a:solidFill>
                <a:cs typeface="+mn-ea"/>
                <a:sym typeface="+mn-lt"/>
              </a:rPr>
              <a:t>}</a:t>
            </a:r>
            <a:endParaRPr lang="en-US" altLang="zh-CN" sz="1200" b="0" u="none" dirty="0">
              <a:solidFill>
                <a:srgbClr val="ABB2BF"/>
              </a:solidFill>
              <a:effectLst/>
              <a:cs typeface="+mn-ea"/>
              <a:sym typeface="+mn-lt"/>
            </a:endParaRPr>
          </a:p>
        </p:txBody>
      </p:sp>
      <p:sp>
        <p:nvSpPr>
          <p:cNvPr id="22" name="矩形 21"/>
          <p:cNvSpPr/>
          <p:nvPr/>
        </p:nvSpPr>
        <p:spPr>
          <a:xfrm>
            <a:off x="239007" y="2189306"/>
            <a:ext cx="5278226" cy="1383665"/>
          </a:xfrm>
          <a:prstGeom prst="rect">
            <a:avLst/>
          </a:prstGeom>
          <a:solidFill>
            <a:schemeClr val="tx2"/>
          </a:solidFill>
        </p:spPr>
        <p:txBody>
          <a:bodyPr wrap="square">
            <a:spAutoFit/>
          </a:bodyPr>
          <a:lstStyle/>
          <a:p>
            <a:pPr marL="285750" indent="-285750">
              <a:lnSpc>
                <a:spcPct val="150000"/>
              </a:lnSpc>
              <a:buFont typeface="Arial" panose="020B0604020202020204" pitchFamily="34" charset="0"/>
              <a:buChar char="•"/>
            </a:pPr>
            <a:r>
              <a:rPr lang="zh-CN" altLang="en-US" sz="1400" dirty="0">
                <a:solidFill>
                  <a:srgbClr val="000000"/>
                </a:solidFill>
                <a:cs typeface="+mn-ea"/>
                <a:sym typeface="+mn-lt"/>
              </a:rPr>
              <a:t>由于union字段共享存储，因此拥有对union一个字段的写访问权就同时拥有了对其所有其他字段的写访问权。因此，如果union的一个字段是被出借，那么在相同的生存期内它的所有其他字段也都处于出借状态。</a:t>
            </a:r>
            <a:endParaRPr lang="zh-CN" altLang="en-US" sz="1400" dirty="0">
              <a:cs typeface="+mn-ea"/>
              <a:sym typeface="+mn-lt"/>
            </a:endParaRPr>
          </a:p>
        </p:txBody>
      </p:sp>
      <p:sp>
        <p:nvSpPr>
          <p:cNvPr id="23" name="矩形 22"/>
          <p:cNvSpPr/>
          <p:nvPr/>
        </p:nvSpPr>
        <p:spPr>
          <a:xfrm>
            <a:off x="239006" y="3877143"/>
            <a:ext cx="5520327" cy="2893100"/>
          </a:xfrm>
          <a:prstGeom prst="rect">
            <a:avLst/>
          </a:prstGeom>
          <a:solidFill>
            <a:schemeClr val="tx1"/>
          </a:solidFill>
        </p:spPr>
        <p:txBody>
          <a:bodyPr wrap="square">
            <a:spAutoFit/>
          </a:bodyPr>
          <a:lstStyle/>
          <a:p>
            <a:r>
              <a:rPr lang="en-US" altLang="zh-CN" sz="1400" dirty="0">
                <a:solidFill>
                  <a:schemeClr val="bg2"/>
                </a:solidFill>
                <a:cs typeface="+mn-ea"/>
                <a:sym typeface="+mn-lt"/>
              </a:rPr>
              <a:t>// </a:t>
            </a:r>
            <a:r>
              <a:rPr lang="zh-CN" altLang="en-US" sz="1400" b="1" dirty="0">
                <a:solidFill>
                  <a:srgbClr val="00B050"/>
                </a:solidFill>
                <a:cs typeface="+mn-ea"/>
                <a:sym typeface="+mn-lt"/>
              </a:rPr>
              <a:t>代码示例</a:t>
            </a:r>
            <a:endParaRPr lang="en-US" altLang="zh-CN" sz="1400" b="1" dirty="0">
              <a:solidFill>
                <a:srgbClr val="00B050"/>
              </a:solidFill>
              <a:cs typeface="+mn-ea"/>
              <a:sym typeface="+mn-lt"/>
            </a:endParaRPr>
          </a:p>
          <a:p>
            <a:r>
              <a:rPr lang="en-US" altLang="zh-CN" sz="1200" dirty="0">
                <a:solidFill>
                  <a:srgbClr val="C678DD"/>
                </a:solidFill>
                <a:cs typeface="+mn-ea"/>
                <a:sym typeface="+mn-lt"/>
              </a:rPr>
              <a:t>union</a:t>
            </a:r>
            <a:r>
              <a:rPr lang="en-US" altLang="zh-CN" sz="1200" dirty="0">
                <a:solidFill>
                  <a:srgbClr val="ABB2BF"/>
                </a:solidFill>
                <a:cs typeface="+mn-ea"/>
                <a:sym typeface="+mn-lt"/>
              </a:rPr>
              <a:t> </a:t>
            </a:r>
            <a:r>
              <a:rPr lang="en-US" altLang="zh-CN" sz="1200" dirty="0" err="1">
                <a:solidFill>
                  <a:srgbClr val="E5C07B"/>
                </a:solidFill>
                <a:cs typeface="+mn-ea"/>
                <a:sym typeface="+mn-lt"/>
              </a:rPr>
              <a:t>MyUnion</a:t>
            </a:r>
            <a:r>
              <a:rPr lang="en-US" altLang="zh-CN" sz="1200" dirty="0">
                <a:solidFill>
                  <a:srgbClr val="ABB2BF"/>
                </a:solidFill>
                <a:cs typeface="+mn-ea"/>
                <a:sym typeface="+mn-lt"/>
              </a:rPr>
              <a:t> { </a:t>
            </a:r>
            <a:r>
              <a:rPr lang="en-US" altLang="zh-CN" sz="1200" dirty="0">
                <a:solidFill>
                  <a:srgbClr val="E06C75"/>
                </a:solidFill>
                <a:cs typeface="+mn-ea"/>
                <a:sym typeface="+mn-lt"/>
              </a:rPr>
              <a:t>f1</a:t>
            </a:r>
            <a:r>
              <a:rPr lang="en-US" altLang="zh-CN" sz="1200" dirty="0">
                <a:solidFill>
                  <a:srgbClr val="ABB2BF"/>
                </a:solidFill>
                <a:cs typeface="+mn-ea"/>
                <a:sym typeface="+mn-lt"/>
              </a:rPr>
              <a:t>: </a:t>
            </a:r>
            <a:r>
              <a:rPr lang="en-US" altLang="zh-CN" sz="1200" dirty="0">
                <a:solidFill>
                  <a:srgbClr val="E5C07B"/>
                </a:solidFill>
                <a:cs typeface="+mn-ea"/>
                <a:sym typeface="+mn-lt"/>
              </a:rPr>
              <a:t>u32</a:t>
            </a:r>
            <a:r>
              <a:rPr lang="en-US" altLang="zh-CN" sz="1200" dirty="0">
                <a:solidFill>
                  <a:srgbClr val="ABB2BF"/>
                </a:solidFill>
                <a:cs typeface="+mn-ea"/>
                <a:sym typeface="+mn-lt"/>
              </a:rPr>
              <a:t>, </a:t>
            </a:r>
            <a:r>
              <a:rPr lang="en-US" altLang="zh-CN" sz="1200" dirty="0">
                <a:solidFill>
                  <a:srgbClr val="E06C75"/>
                </a:solidFill>
                <a:cs typeface="+mn-ea"/>
                <a:sym typeface="+mn-lt"/>
              </a:rPr>
              <a:t>f2</a:t>
            </a:r>
            <a:r>
              <a:rPr lang="en-US" altLang="zh-CN" sz="1200" dirty="0">
                <a:solidFill>
                  <a:srgbClr val="ABB2BF"/>
                </a:solidFill>
                <a:cs typeface="+mn-ea"/>
                <a:sym typeface="+mn-lt"/>
              </a:rPr>
              <a:t>: </a:t>
            </a:r>
            <a:r>
              <a:rPr lang="en-US" altLang="zh-CN" sz="1200" dirty="0">
                <a:solidFill>
                  <a:srgbClr val="E5C07B"/>
                </a:solidFill>
                <a:cs typeface="+mn-ea"/>
                <a:sym typeface="+mn-lt"/>
              </a:rPr>
              <a:t>f32</a:t>
            </a:r>
            <a:r>
              <a:rPr lang="en-US" altLang="zh-CN" sz="1200" dirty="0">
                <a:solidFill>
                  <a:srgbClr val="ABB2BF"/>
                </a:solidFill>
                <a:cs typeface="+mn-ea"/>
                <a:sym typeface="+mn-lt"/>
              </a:rPr>
              <a:t> }</a:t>
            </a:r>
            <a:br>
              <a:rPr lang="en-US" altLang="zh-CN" sz="1200" dirty="0">
                <a:solidFill>
                  <a:srgbClr val="ABB2BF"/>
                </a:solidFill>
                <a:cs typeface="+mn-ea"/>
                <a:sym typeface="+mn-lt"/>
              </a:rPr>
            </a:br>
            <a:r>
              <a:rPr lang="en-US" altLang="zh-CN" sz="1200" i="1" dirty="0">
                <a:solidFill>
                  <a:srgbClr val="7F848E"/>
                </a:solidFill>
                <a:cs typeface="+mn-ea"/>
                <a:sym typeface="+mn-lt"/>
              </a:rPr>
              <a:t>// </a:t>
            </a:r>
            <a:r>
              <a:rPr lang="zh-CN" altLang="en-US" sz="1200" i="1" dirty="0">
                <a:solidFill>
                  <a:srgbClr val="7F848E"/>
                </a:solidFill>
                <a:cs typeface="+mn-ea"/>
                <a:sym typeface="+mn-lt"/>
              </a:rPr>
              <a:t>错误</a:t>
            </a:r>
            <a:r>
              <a:rPr lang="en-US" altLang="zh-CN" sz="1200" i="1" dirty="0">
                <a:solidFill>
                  <a:srgbClr val="7F848E"/>
                </a:solidFill>
                <a:cs typeface="+mn-ea"/>
                <a:sym typeface="+mn-lt"/>
              </a:rPr>
              <a:t>: </a:t>
            </a:r>
            <a:r>
              <a:rPr lang="zh-CN" altLang="en-US" sz="1200" i="1" dirty="0">
                <a:solidFill>
                  <a:srgbClr val="7F848E"/>
                </a:solidFill>
                <a:cs typeface="+mn-ea"/>
                <a:sym typeface="+mn-lt"/>
              </a:rPr>
              <a:t>不能同时对 </a:t>
            </a:r>
            <a:r>
              <a:rPr lang="en-US" altLang="zh-CN" sz="1200" i="1" dirty="0">
                <a:solidFill>
                  <a:srgbClr val="7F848E"/>
                </a:solidFill>
                <a:cs typeface="+mn-ea"/>
                <a:sym typeface="+mn-lt"/>
              </a:rPr>
              <a:t>u (</a:t>
            </a:r>
            <a:r>
              <a:rPr lang="zh-CN" altLang="en-US" sz="1200" i="1" dirty="0">
                <a:solidFill>
                  <a:srgbClr val="7F848E"/>
                </a:solidFill>
                <a:cs typeface="+mn-ea"/>
                <a:sym typeface="+mn-lt"/>
              </a:rPr>
              <a:t>通过 </a:t>
            </a:r>
            <a:r>
              <a:rPr lang="en-US" altLang="zh-CN" sz="1200" i="1" dirty="0">
                <a:solidFill>
                  <a:srgbClr val="7F848E"/>
                </a:solidFill>
                <a:cs typeface="+mn-ea"/>
                <a:sym typeface="+mn-lt"/>
              </a:rPr>
              <a:t>u.f2)</a:t>
            </a:r>
            <a:r>
              <a:rPr lang="zh-CN" altLang="en-US" sz="1200" i="1" dirty="0">
                <a:solidFill>
                  <a:srgbClr val="7F848E"/>
                </a:solidFill>
                <a:cs typeface="+mn-ea"/>
                <a:sym typeface="+mn-lt"/>
              </a:rPr>
              <a:t>拥有多余一次的可变借用</a:t>
            </a:r>
            <a:endParaRPr lang="zh-CN" altLang="en-US" sz="1200" dirty="0">
              <a:solidFill>
                <a:srgbClr val="ABB2BF"/>
              </a:solidFill>
              <a:cs typeface="+mn-ea"/>
              <a:sym typeface="+mn-lt"/>
            </a:endParaRPr>
          </a:p>
          <a:p>
            <a:r>
              <a:rPr lang="en-US" altLang="zh-CN" sz="1200" dirty="0" err="1">
                <a:solidFill>
                  <a:srgbClr val="C678DD"/>
                </a:solidFill>
                <a:cs typeface="+mn-ea"/>
                <a:sym typeface="+mn-lt"/>
              </a:rPr>
              <a:t>fn</a:t>
            </a:r>
            <a:r>
              <a:rPr lang="en-US" altLang="zh-CN" sz="1200" dirty="0">
                <a:solidFill>
                  <a:srgbClr val="ABB2BF"/>
                </a:solidFill>
                <a:cs typeface="+mn-ea"/>
                <a:sym typeface="+mn-lt"/>
              </a:rPr>
              <a:t> </a:t>
            </a:r>
            <a:r>
              <a:rPr lang="en-US" altLang="zh-CN" sz="1200" dirty="0">
                <a:solidFill>
                  <a:srgbClr val="61AFEF"/>
                </a:solidFill>
                <a:cs typeface="+mn-ea"/>
                <a:sym typeface="+mn-lt"/>
              </a:rPr>
              <a:t>main</a:t>
            </a:r>
            <a:r>
              <a:rPr lang="en-US" altLang="zh-CN" sz="1200" dirty="0">
                <a:solidFill>
                  <a:srgbClr val="ABB2BF"/>
                </a:solidFill>
                <a:cs typeface="+mn-ea"/>
                <a:sym typeface="+mn-lt"/>
              </a:rPr>
              <a:t>() {</a:t>
            </a:r>
          </a:p>
          <a:p>
            <a:r>
              <a:rPr lang="en-US" altLang="zh-CN" sz="1200" dirty="0">
                <a:solidFill>
                  <a:srgbClr val="ABB2BF"/>
                </a:solidFill>
                <a:cs typeface="+mn-ea"/>
                <a:sym typeface="+mn-lt"/>
              </a:rPr>
              <a:t>    </a:t>
            </a:r>
            <a:r>
              <a:rPr lang="en-US" altLang="zh-CN" sz="1200" dirty="0">
                <a:solidFill>
                  <a:srgbClr val="C678DD"/>
                </a:solidFill>
                <a:cs typeface="+mn-ea"/>
                <a:sym typeface="+mn-lt"/>
              </a:rPr>
              <a:t>let</a:t>
            </a:r>
            <a:r>
              <a:rPr lang="en-US" altLang="zh-CN" sz="1200" dirty="0">
                <a:solidFill>
                  <a:srgbClr val="ABB2BF"/>
                </a:solidFill>
                <a:cs typeface="+mn-ea"/>
                <a:sym typeface="+mn-lt"/>
              </a:rPr>
              <a:t> </a:t>
            </a:r>
            <a:r>
              <a:rPr lang="en-US" altLang="zh-CN" sz="1200" dirty="0" err="1">
                <a:solidFill>
                  <a:srgbClr val="C678DD"/>
                </a:solidFill>
                <a:cs typeface="+mn-ea"/>
                <a:sym typeface="+mn-lt"/>
              </a:rPr>
              <a:t>mut</a:t>
            </a:r>
            <a:r>
              <a:rPr lang="en-US" altLang="zh-CN" sz="1200" dirty="0">
                <a:solidFill>
                  <a:srgbClr val="ABB2BF"/>
                </a:solidFill>
                <a:cs typeface="+mn-ea"/>
                <a:sym typeface="+mn-lt"/>
              </a:rPr>
              <a:t> </a:t>
            </a:r>
            <a:r>
              <a:rPr lang="en-US" altLang="zh-CN" sz="1200" dirty="0">
                <a:solidFill>
                  <a:srgbClr val="E06C75"/>
                </a:solidFill>
                <a:cs typeface="+mn-ea"/>
                <a:sym typeface="+mn-lt"/>
              </a:rPr>
              <a:t>u</a:t>
            </a:r>
            <a:r>
              <a:rPr lang="en-US" altLang="zh-CN" sz="1200" dirty="0">
                <a:solidFill>
                  <a:srgbClr val="ABB2BF"/>
                </a:solidFill>
                <a:cs typeface="+mn-ea"/>
                <a:sym typeface="+mn-lt"/>
              </a:rPr>
              <a:t> </a:t>
            </a:r>
            <a:r>
              <a:rPr lang="en-US" altLang="zh-CN" sz="1200" dirty="0">
                <a:solidFill>
                  <a:srgbClr val="56B6C2"/>
                </a:solidFill>
                <a:cs typeface="+mn-ea"/>
                <a:sym typeface="+mn-lt"/>
              </a:rPr>
              <a:t>=</a:t>
            </a:r>
            <a:r>
              <a:rPr lang="en-US" altLang="zh-CN" sz="1200" dirty="0">
                <a:solidFill>
                  <a:srgbClr val="ABB2BF"/>
                </a:solidFill>
                <a:cs typeface="+mn-ea"/>
                <a:sym typeface="+mn-lt"/>
              </a:rPr>
              <a:t> </a:t>
            </a:r>
            <a:r>
              <a:rPr lang="en-US" altLang="zh-CN" sz="1200" dirty="0" err="1">
                <a:solidFill>
                  <a:srgbClr val="E5C07B"/>
                </a:solidFill>
                <a:cs typeface="+mn-ea"/>
                <a:sym typeface="+mn-lt"/>
              </a:rPr>
              <a:t>MyUnion</a:t>
            </a:r>
            <a:r>
              <a:rPr lang="en-US" altLang="zh-CN" sz="1200" dirty="0">
                <a:solidFill>
                  <a:srgbClr val="ABB2BF"/>
                </a:solidFill>
                <a:cs typeface="+mn-ea"/>
                <a:sym typeface="+mn-lt"/>
              </a:rPr>
              <a:t> { </a:t>
            </a:r>
            <a:r>
              <a:rPr lang="en-US" altLang="zh-CN" sz="1200" dirty="0">
                <a:solidFill>
                  <a:srgbClr val="E06C75"/>
                </a:solidFill>
                <a:cs typeface="+mn-ea"/>
                <a:sym typeface="+mn-lt"/>
              </a:rPr>
              <a:t>f1</a:t>
            </a:r>
            <a:r>
              <a:rPr lang="en-US" altLang="zh-CN" sz="1200" dirty="0">
                <a:solidFill>
                  <a:srgbClr val="ABB2BF"/>
                </a:solidFill>
                <a:cs typeface="+mn-ea"/>
                <a:sym typeface="+mn-lt"/>
              </a:rPr>
              <a:t>: </a:t>
            </a:r>
            <a:r>
              <a:rPr lang="en-US" altLang="zh-CN" sz="1200" dirty="0">
                <a:solidFill>
                  <a:srgbClr val="D19A66"/>
                </a:solidFill>
                <a:cs typeface="+mn-ea"/>
                <a:sym typeface="+mn-lt"/>
              </a:rPr>
              <a:t>1</a:t>
            </a:r>
            <a:r>
              <a:rPr lang="en-US" altLang="zh-CN" sz="1200" dirty="0">
                <a:solidFill>
                  <a:srgbClr val="ABB2BF"/>
                </a:solidFill>
                <a:cs typeface="+mn-ea"/>
                <a:sym typeface="+mn-lt"/>
              </a:rPr>
              <a:t> };</a:t>
            </a:r>
          </a:p>
          <a:p>
            <a:r>
              <a:rPr lang="en-US" altLang="zh-CN" sz="1200" dirty="0">
                <a:solidFill>
                  <a:srgbClr val="ABB2BF"/>
                </a:solidFill>
                <a:cs typeface="+mn-ea"/>
                <a:sym typeface="+mn-lt"/>
              </a:rPr>
              <a:t>    </a:t>
            </a:r>
            <a:r>
              <a:rPr lang="en-US" altLang="zh-CN" sz="1200" dirty="0">
                <a:solidFill>
                  <a:srgbClr val="C678DD"/>
                </a:solidFill>
                <a:cs typeface="+mn-ea"/>
                <a:sym typeface="+mn-lt"/>
              </a:rPr>
              <a:t>unsafe</a:t>
            </a:r>
            <a:r>
              <a:rPr lang="en-US" altLang="zh-CN" sz="1200" dirty="0">
                <a:solidFill>
                  <a:srgbClr val="ABB2BF"/>
                </a:solidFill>
                <a:cs typeface="+mn-ea"/>
                <a:sym typeface="+mn-lt"/>
              </a:rPr>
              <a:t> {</a:t>
            </a:r>
          </a:p>
          <a:p>
            <a:r>
              <a:rPr lang="en-US" altLang="zh-CN" sz="1200" dirty="0">
                <a:solidFill>
                  <a:srgbClr val="ABB2BF"/>
                </a:solidFill>
                <a:cs typeface="+mn-ea"/>
                <a:sym typeface="+mn-lt"/>
              </a:rPr>
              <a:t>        </a:t>
            </a:r>
            <a:r>
              <a:rPr lang="en-US" altLang="zh-CN" sz="1200" dirty="0">
                <a:solidFill>
                  <a:srgbClr val="C678DD"/>
                </a:solidFill>
                <a:cs typeface="+mn-ea"/>
                <a:sym typeface="+mn-lt"/>
              </a:rPr>
              <a:t>let</a:t>
            </a:r>
            <a:r>
              <a:rPr lang="en-US" altLang="zh-CN" sz="1200" dirty="0">
                <a:solidFill>
                  <a:srgbClr val="ABB2BF"/>
                </a:solidFill>
                <a:cs typeface="+mn-ea"/>
                <a:sym typeface="+mn-lt"/>
              </a:rPr>
              <a:t> </a:t>
            </a:r>
            <a:r>
              <a:rPr lang="en-US" altLang="zh-CN" sz="1200" dirty="0">
                <a:solidFill>
                  <a:srgbClr val="E06C75"/>
                </a:solidFill>
                <a:cs typeface="+mn-ea"/>
                <a:sym typeface="+mn-lt"/>
              </a:rPr>
              <a:t>b1</a:t>
            </a:r>
            <a:r>
              <a:rPr lang="en-US" altLang="zh-CN" sz="1200" dirty="0">
                <a:solidFill>
                  <a:srgbClr val="ABB2BF"/>
                </a:solidFill>
                <a:cs typeface="+mn-ea"/>
                <a:sym typeface="+mn-lt"/>
              </a:rPr>
              <a:t> </a:t>
            </a:r>
            <a:r>
              <a:rPr lang="en-US" altLang="zh-CN" sz="1200" dirty="0">
                <a:solidFill>
                  <a:srgbClr val="56B6C2"/>
                </a:solidFill>
                <a:cs typeface="+mn-ea"/>
                <a:sym typeface="+mn-lt"/>
              </a:rPr>
              <a:t>=</a:t>
            </a:r>
            <a:r>
              <a:rPr lang="en-US" altLang="zh-CN" sz="1200" dirty="0">
                <a:solidFill>
                  <a:srgbClr val="ABB2BF"/>
                </a:solidFill>
                <a:cs typeface="+mn-ea"/>
                <a:sym typeface="+mn-lt"/>
              </a:rPr>
              <a:t> &amp;</a:t>
            </a:r>
            <a:r>
              <a:rPr lang="en-US" altLang="zh-CN" sz="1200" dirty="0" err="1">
                <a:solidFill>
                  <a:srgbClr val="C678DD"/>
                </a:solidFill>
                <a:cs typeface="+mn-ea"/>
                <a:sym typeface="+mn-lt"/>
              </a:rPr>
              <a:t>mut</a:t>
            </a:r>
            <a:r>
              <a:rPr lang="en-US" altLang="zh-CN" sz="1200" dirty="0">
                <a:solidFill>
                  <a:srgbClr val="ABB2BF"/>
                </a:solidFill>
                <a:cs typeface="+mn-ea"/>
                <a:sym typeface="+mn-lt"/>
              </a:rPr>
              <a:t> </a:t>
            </a:r>
            <a:r>
              <a:rPr lang="en-US" altLang="zh-CN" sz="1200" dirty="0">
                <a:solidFill>
                  <a:srgbClr val="E06C75"/>
                </a:solidFill>
                <a:cs typeface="+mn-ea"/>
                <a:sym typeface="+mn-lt"/>
              </a:rPr>
              <a:t>u</a:t>
            </a:r>
            <a:r>
              <a:rPr lang="en-US" altLang="zh-CN" sz="1200" dirty="0">
                <a:solidFill>
                  <a:srgbClr val="ABB2BF"/>
                </a:solidFill>
                <a:cs typeface="+mn-ea"/>
                <a:sym typeface="+mn-lt"/>
              </a:rPr>
              <a:t>.f1;</a:t>
            </a:r>
          </a:p>
          <a:p>
            <a:r>
              <a:rPr lang="en-US" altLang="zh-CN" sz="1200" i="1" dirty="0">
                <a:solidFill>
                  <a:srgbClr val="7F848E"/>
                </a:solidFill>
                <a:cs typeface="+mn-ea"/>
                <a:sym typeface="+mn-lt"/>
              </a:rPr>
              <a:t>        //       ^^^^ </a:t>
            </a:r>
            <a:r>
              <a:rPr lang="zh-CN" altLang="en-US" sz="1200" i="1" dirty="0">
                <a:solidFill>
                  <a:srgbClr val="7F848E"/>
                </a:solidFill>
                <a:cs typeface="+mn-ea"/>
                <a:sym typeface="+mn-lt"/>
              </a:rPr>
              <a:t>首次可变借用发生在这里 </a:t>
            </a:r>
            <a:r>
              <a:rPr lang="en-US" altLang="zh-CN" sz="1200" i="1" dirty="0">
                <a:solidFill>
                  <a:srgbClr val="7F848E"/>
                </a:solidFill>
                <a:cs typeface="+mn-ea"/>
                <a:sym typeface="+mn-lt"/>
              </a:rPr>
              <a:t>(</a:t>
            </a:r>
            <a:r>
              <a:rPr lang="zh-CN" altLang="en-US" sz="1200" i="1" dirty="0">
                <a:solidFill>
                  <a:srgbClr val="7F848E"/>
                </a:solidFill>
                <a:cs typeface="+mn-ea"/>
                <a:sym typeface="+mn-lt"/>
              </a:rPr>
              <a:t>通过 </a:t>
            </a:r>
            <a:r>
              <a:rPr lang="en-US" altLang="zh-CN" sz="1200" i="1" dirty="0">
                <a:solidFill>
                  <a:srgbClr val="7F848E"/>
                </a:solidFill>
                <a:cs typeface="+mn-ea"/>
                <a:sym typeface="+mn-lt"/>
              </a:rPr>
              <a:t>u.f1)</a:t>
            </a:r>
            <a:endParaRPr lang="en-US" altLang="zh-CN" sz="1200" dirty="0">
              <a:solidFill>
                <a:srgbClr val="ABB2BF"/>
              </a:solidFill>
              <a:cs typeface="+mn-ea"/>
              <a:sym typeface="+mn-lt"/>
            </a:endParaRPr>
          </a:p>
          <a:p>
            <a:r>
              <a:rPr lang="en-US" altLang="zh-CN" sz="1200" dirty="0">
                <a:solidFill>
                  <a:srgbClr val="ABB2BF"/>
                </a:solidFill>
                <a:cs typeface="+mn-ea"/>
                <a:sym typeface="+mn-lt"/>
              </a:rPr>
              <a:t>        </a:t>
            </a:r>
            <a:r>
              <a:rPr lang="en-US" altLang="zh-CN" sz="1200" dirty="0">
                <a:solidFill>
                  <a:srgbClr val="C678DD"/>
                </a:solidFill>
                <a:cs typeface="+mn-ea"/>
                <a:sym typeface="+mn-lt"/>
              </a:rPr>
              <a:t>let</a:t>
            </a:r>
            <a:r>
              <a:rPr lang="en-US" altLang="zh-CN" sz="1200" dirty="0">
                <a:solidFill>
                  <a:srgbClr val="ABB2BF"/>
                </a:solidFill>
                <a:cs typeface="+mn-ea"/>
                <a:sym typeface="+mn-lt"/>
              </a:rPr>
              <a:t> </a:t>
            </a:r>
            <a:r>
              <a:rPr lang="en-US" altLang="zh-CN" sz="1200" dirty="0">
                <a:solidFill>
                  <a:srgbClr val="E06C75"/>
                </a:solidFill>
                <a:cs typeface="+mn-ea"/>
                <a:sym typeface="+mn-lt"/>
              </a:rPr>
              <a:t>b2</a:t>
            </a:r>
            <a:r>
              <a:rPr lang="en-US" altLang="zh-CN" sz="1200" dirty="0">
                <a:solidFill>
                  <a:srgbClr val="ABB2BF"/>
                </a:solidFill>
                <a:cs typeface="+mn-ea"/>
                <a:sym typeface="+mn-lt"/>
              </a:rPr>
              <a:t> </a:t>
            </a:r>
            <a:r>
              <a:rPr lang="en-US" altLang="zh-CN" sz="1200" dirty="0">
                <a:solidFill>
                  <a:srgbClr val="56B6C2"/>
                </a:solidFill>
                <a:cs typeface="+mn-ea"/>
                <a:sym typeface="+mn-lt"/>
              </a:rPr>
              <a:t>=</a:t>
            </a:r>
            <a:r>
              <a:rPr lang="en-US" altLang="zh-CN" sz="1200" dirty="0">
                <a:solidFill>
                  <a:srgbClr val="ABB2BF"/>
                </a:solidFill>
                <a:cs typeface="+mn-ea"/>
                <a:sym typeface="+mn-lt"/>
              </a:rPr>
              <a:t> &amp;</a:t>
            </a:r>
            <a:r>
              <a:rPr lang="en-US" altLang="zh-CN" sz="1200" dirty="0" err="1">
                <a:solidFill>
                  <a:srgbClr val="C678DD"/>
                </a:solidFill>
                <a:cs typeface="+mn-ea"/>
                <a:sym typeface="+mn-lt"/>
              </a:rPr>
              <a:t>mut</a:t>
            </a:r>
            <a:r>
              <a:rPr lang="en-US" altLang="zh-CN" sz="1200" dirty="0">
                <a:solidFill>
                  <a:srgbClr val="ABB2BF"/>
                </a:solidFill>
                <a:cs typeface="+mn-ea"/>
                <a:sym typeface="+mn-lt"/>
              </a:rPr>
              <a:t> </a:t>
            </a:r>
            <a:r>
              <a:rPr lang="en-US" altLang="zh-CN" sz="1200" dirty="0">
                <a:solidFill>
                  <a:srgbClr val="E06C75"/>
                </a:solidFill>
                <a:cs typeface="+mn-ea"/>
                <a:sym typeface="+mn-lt"/>
              </a:rPr>
              <a:t>u</a:t>
            </a:r>
            <a:r>
              <a:rPr lang="en-US" altLang="zh-CN" sz="1200" dirty="0">
                <a:solidFill>
                  <a:srgbClr val="ABB2BF"/>
                </a:solidFill>
                <a:cs typeface="+mn-ea"/>
                <a:sym typeface="+mn-lt"/>
              </a:rPr>
              <a:t>.f2;</a:t>
            </a:r>
          </a:p>
          <a:p>
            <a:r>
              <a:rPr lang="en-US" altLang="zh-CN" sz="1200" i="1" dirty="0">
                <a:solidFill>
                  <a:srgbClr val="7F848E"/>
                </a:solidFill>
                <a:cs typeface="+mn-ea"/>
                <a:sym typeface="+mn-lt"/>
              </a:rPr>
              <a:t>        //       ^^^^ </a:t>
            </a:r>
            <a:r>
              <a:rPr lang="zh-CN" altLang="en-US" sz="1200" i="1" dirty="0">
                <a:solidFill>
                  <a:srgbClr val="7F848E"/>
                </a:solidFill>
                <a:cs typeface="+mn-ea"/>
                <a:sym typeface="+mn-lt"/>
              </a:rPr>
              <a:t>二次可变借用发生在这里 </a:t>
            </a:r>
            <a:r>
              <a:rPr lang="en-US" altLang="zh-CN" sz="1200" i="1" dirty="0">
                <a:solidFill>
                  <a:srgbClr val="7F848E"/>
                </a:solidFill>
                <a:cs typeface="+mn-ea"/>
                <a:sym typeface="+mn-lt"/>
              </a:rPr>
              <a:t>(</a:t>
            </a:r>
            <a:r>
              <a:rPr lang="zh-CN" altLang="en-US" sz="1200" i="1" dirty="0">
                <a:solidFill>
                  <a:srgbClr val="7F848E"/>
                </a:solidFill>
                <a:cs typeface="+mn-ea"/>
                <a:sym typeface="+mn-lt"/>
              </a:rPr>
              <a:t>通过 </a:t>
            </a:r>
            <a:r>
              <a:rPr lang="en-US" altLang="zh-CN" sz="1200" i="1" dirty="0">
                <a:solidFill>
                  <a:srgbClr val="7F848E"/>
                </a:solidFill>
                <a:cs typeface="+mn-ea"/>
                <a:sym typeface="+mn-lt"/>
              </a:rPr>
              <a:t>u.f2)</a:t>
            </a:r>
            <a:endParaRPr lang="en-US" altLang="zh-CN" sz="1200" dirty="0">
              <a:solidFill>
                <a:srgbClr val="ABB2BF"/>
              </a:solidFill>
              <a:cs typeface="+mn-ea"/>
              <a:sym typeface="+mn-lt"/>
            </a:endParaRPr>
          </a:p>
          <a:p>
            <a:r>
              <a:rPr lang="en-US" altLang="zh-CN" sz="1200" dirty="0">
                <a:solidFill>
                  <a:srgbClr val="ABB2BF"/>
                </a:solidFill>
                <a:cs typeface="+mn-ea"/>
                <a:sym typeface="+mn-lt"/>
              </a:rPr>
              <a:t>        *</a:t>
            </a:r>
            <a:r>
              <a:rPr lang="en-US" altLang="zh-CN" sz="1200" dirty="0">
                <a:solidFill>
                  <a:srgbClr val="E06C75"/>
                </a:solidFill>
                <a:cs typeface="+mn-ea"/>
                <a:sym typeface="+mn-lt"/>
              </a:rPr>
              <a:t>b1</a:t>
            </a:r>
            <a:r>
              <a:rPr lang="en-US" altLang="zh-CN" sz="1200" dirty="0">
                <a:solidFill>
                  <a:srgbClr val="ABB2BF"/>
                </a:solidFill>
                <a:cs typeface="+mn-ea"/>
                <a:sym typeface="+mn-lt"/>
              </a:rPr>
              <a:t> </a:t>
            </a:r>
            <a:r>
              <a:rPr lang="en-US" altLang="zh-CN" sz="1200" dirty="0">
                <a:solidFill>
                  <a:srgbClr val="56B6C2"/>
                </a:solidFill>
                <a:cs typeface="+mn-ea"/>
                <a:sym typeface="+mn-lt"/>
              </a:rPr>
              <a:t>=</a:t>
            </a:r>
            <a:r>
              <a:rPr lang="en-US" altLang="zh-CN" sz="1200" dirty="0">
                <a:solidFill>
                  <a:srgbClr val="ABB2BF"/>
                </a:solidFill>
                <a:cs typeface="+mn-ea"/>
                <a:sym typeface="+mn-lt"/>
              </a:rPr>
              <a:t> </a:t>
            </a:r>
            <a:r>
              <a:rPr lang="en-US" altLang="zh-CN" sz="1200" dirty="0">
                <a:solidFill>
                  <a:srgbClr val="D19A66"/>
                </a:solidFill>
                <a:cs typeface="+mn-ea"/>
                <a:sym typeface="+mn-lt"/>
              </a:rPr>
              <a:t>5</a:t>
            </a:r>
            <a:r>
              <a:rPr lang="en-US" altLang="zh-CN" sz="1200" dirty="0">
                <a:solidFill>
                  <a:srgbClr val="ABB2BF"/>
                </a:solidFill>
                <a:cs typeface="+mn-ea"/>
                <a:sym typeface="+mn-lt"/>
              </a:rPr>
              <a:t>;</a:t>
            </a:r>
          </a:p>
          <a:p>
            <a:r>
              <a:rPr lang="en-US" altLang="zh-CN" sz="1200" i="1" dirty="0">
                <a:solidFill>
                  <a:srgbClr val="7F848E"/>
                </a:solidFill>
                <a:cs typeface="+mn-ea"/>
                <a:sym typeface="+mn-lt"/>
              </a:rPr>
              <a:t>        // ^^^^</a:t>
            </a:r>
            <a:r>
              <a:rPr lang="zh-CN" altLang="en-US" sz="1200" i="1" dirty="0">
                <a:solidFill>
                  <a:srgbClr val="7F848E"/>
                </a:solidFill>
                <a:cs typeface="+mn-ea"/>
                <a:sym typeface="+mn-lt"/>
              </a:rPr>
              <a:t>首次借用在这里结束</a:t>
            </a:r>
            <a:endParaRPr lang="zh-CN" altLang="en-US" sz="1200" dirty="0">
              <a:solidFill>
                <a:srgbClr val="ABB2BF"/>
              </a:solidFill>
              <a:cs typeface="+mn-ea"/>
              <a:sym typeface="+mn-lt"/>
            </a:endParaRPr>
          </a:p>
          <a:p>
            <a:r>
              <a:rPr lang="zh-CN" altLang="en-US" sz="1200" dirty="0">
                <a:solidFill>
                  <a:srgbClr val="ABB2BF"/>
                </a:solidFill>
                <a:cs typeface="+mn-ea"/>
                <a:sym typeface="+mn-lt"/>
              </a:rPr>
              <a:t>    </a:t>
            </a:r>
            <a:r>
              <a:rPr lang="en-US" altLang="zh-CN" sz="1200" dirty="0">
                <a:solidFill>
                  <a:srgbClr val="ABB2BF"/>
                </a:solidFill>
                <a:cs typeface="+mn-ea"/>
                <a:sym typeface="+mn-lt"/>
              </a:rPr>
              <a:t>}</a:t>
            </a:r>
          </a:p>
          <a:p>
            <a:r>
              <a:rPr lang="en-US" altLang="zh-CN" sz="1200" dirty="0">
                <a:solidFill>
                  <a:srgbClr val="ABB2BF"/>
                </a:solidFill>
                <a:cs typeface="+mn-ea"/>
                <a:sym typeface="+mn-lt"/>
              </a:rPr>
              <a:t>    </a:t>
            </a:r>
            <a:r>
              <a:rPr lang="en-US" altLang="zh-CN" sz="1200" dirty="0" err="1">
                <a:solidFill>
                  <a:srgbClr val="61AFEF"/>
                </a:solidFill>
                <a:cs typeface="+mn-ea"/>
                <a:sym typeface="+mn-lt"/>
              </a:rPr>
              <a:t>assert_eq</a:t>
            </a:r>
            <a:r>
              <a:rPr lang="en-US" altLang="zh-CN" sz="1200" dirty="0">
                <a:solidFill>
                  <a:srgbClr val="61AFEF"/>
                </a:solidFill>
                <a:cs typeface="+mn-ea"/>
                <a:sym typeface="+mn-lt"/>
              </a:rPr>
              <a:t>!</a:t>
            </a:r>
            <a:r>
              <a:rPr lang="en-US" altLang="zh-CN" sz="1200" dirty="0">
                <a:solidFill>
                  <a:srgbClr val="ABB2BF"/>
                </a:solidFill>
                <a:cs typeface="+mn-ea"/>
                <a:sym typeface="+mn-lt"/>
              </a:rPr>
              <a:t>(</a:t>
            </a:r>
            <a:r>
              <a:rPr lang="en-US" altLang="zh-CN" sz="1200" dirty="0">
                <a:solidFill>
                  <a:srgbClr val="C678DD"/>
                </a:solidFill>
                <a:cs typeface="+mn-ea"/>
                <a:sym typeface="+mn-lt"/>
              </a:rPr>
              <a:t>unsafe</a:t>
            </a:r>
            <a:r>
              <a:rPr lang="en-US" altLang="zh-CN" sz="1200" dirty="0">
                <a:solidFill>
                  <a:srgbClr val="ABB2BF"/>
                </a:solidFill>
                <a:cs typeface="+mn-ea"/>
                <a:sym typeface="+mn-lt"/>
              </a:rPr>
              <a:t> { </a:t>
            </a:r>
            <a:r>
              <a:rPr lang="en-US" altLang="zh-CN" sz="1200" dirty="0">
                <a:solidFill>
                  <a:srgbClr val="E06C75"/>
                </a:solidFill>
                <a:cs typeface="+mn-ea"/>
                <a:sym typeface="+mn-lt"/>
              </a:rPr>
              <a:t>u</a:t>
            </a:r>
            <a:r>
              <a:rPr lang="en-US" altLang="zh-CN" sz="1200" dirty="0">
                <a:solidFill>
                  <a:srgbClr val="ABB2BF"/>
                </a:solidFill>
                <a:cs typeface="+mn-ea"/>
                <a:sym typeface="+mn-lt"/>
              </a:rPr>
              <a:t>.f1 }, </a:t>
            </a:r>
            <a:r>
              <a:rPr lang="en-US" altLang="zh-CN" sz="1200" dirty="0">
                <a:solidFill>
                  <a:srgbClr val="D19A66"/>
                </a:solidFill>
                <a:cs typeface="+mn-ea"/>
                <a:sym typeface="+mn-lt"/>
              </a:rPr>
              <a:t>5</a:t>
            </a:r>
            <a:r>
              <a:rPr lang="en-US" altLang="zh-CN" sz="1200" dirty="0">
                <a:solidFill>
                  <a:srgbClr val="ABB2BF"/>
                </a:solidFill>
                <a:cs typeface="+mn-ea"/>
                <a:sym typeface="+mn-lt"/>
              </a:rPr>
              <a:t>);</a:t>
            </a:r>
          </a:p>
          <a:p>
            <a:r>
              <a:rPr lang="en-US" altLang="zh-CN" sz="1200" dirty="0">
                <a:solidFill>
                  <a:srgbClr val="ABB2BF"/>
                </a:solidFill>
                <a:cs typeface="+mn-ea"/>
                <a:sym typeface="+mn-lt"/>
              </a:rPr>
              <a:t>}</a:t>
            </a:r>
            <a:endParaRPr lang="en-US" altLang="zh-CN" sz="1200" b="0" dirty="0">
              <a:solidFill>
                <a:srgbClr val="ABB2BF"/>
              </a:solidFill>
              <a:effectLst/>
              <a:cs typeface="+mn-ea"/>
              <a:sym typeface="+mn-lt"/>
            </a:endParaRPr>
          </a:p>
        </p:txBody>
      </p:sp>
      <p:sp>
        <p:nvSpPr>
          <p:cNvPr id="25" name="右箭头 24"/>
          <p:cNvSpPr/>
          <p:nvPr/>
        </p:nvSpPr>
        <p:spPr>
          <a:xfrm>
            <a:off x="5582790" y="1076911"/>
            <a:ext cx="353085" cy="489432"/>
          </a:xfrm>
          <a:prstGeom prst="rightArrow">
            <a:avLst/>
          </a:prstGeom>
          <a:solidFill>
            <a:schemeClr val="accent3"/>
          </a:solidFill>
          <a:ln>
            <a:solidFill>
              <a:srgbClr val="15151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右箭头 25"/>
          <p:cNvSpPr/>
          <p:nvPr/>
        </p:nvSpPr>
        <p:spPr>
          <a:xfrm rot="5400000">
            <a:off x="2489159" y="3445143"/>
            <a:ext cx="231116" cy="489432"/>
          </a:xfrm>
          <a:prstGeom prst="rightArrow">
            <a:avLst/>
          </a:prstGeom>
          <a:solidFill>
            <a:schemeClr val="accent3"/>
          </a:solidFill>
          <a:ln>
            <a:solidFill>
              <a:srgbClr val="15151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2" name="图片 1"/>
          <p:cNvPicPr>
            <a:picLocks noChangeAspect="1"/>
          </p:cNvPicPr>
          <p:nvPr/>
        </p:nvPicPr>
        <p:blipFill>
          <a:blip r:embed="rId3"/>
          <a:stretch>
            <a:fillRect/>
          </a:stretch>
        </p:blipFill>
        <p:spPr>
          <a:xfrm>
            <a:off x="6438687" y="4155541"/>
            <a:ext cx="5161461" cy="2466688"/>
          </a:xfrm>
          <a:prstGeom prst="rect">
            <a:avLst/>
          </a:prstGeom>
        </p:spPr>
      </p:pic>
      <p:sp>
        <p:nvSpPr>
          <p:cNvPr id="14" name="右箭头 13"/>
          <p:cNvSpPr/>
          <p:nvPr/>
        </p:nvSpPr>
        <p:spPr>
          <a:xfrm>
            <a:off x="5909147" y="5198014"/>
            <a:ext cx="353085" cy="489432"/>
          </a:xfrm>
          <a:prstGeom prst="rightArrow">
            <a:avLst/>
          </a:prstGeom>
          <a:solidFill>
            <a:schemeClr val="accent3"/>
          </a:solidFill>
          <a:ln>
            <a:solidFill>
              <a:srgbClr val="15151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extLst>
      <p:ext uri="{BB962C8B-B14F-4D97-AF65-F5344CB8AC3E}">
        <p14:creationId xmlns:p14="http://schemas.microsoft.com/office/powerpoint/2010/main" val="27371561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直接连接符 6"/>
          <p:cNvCxnSpPr/>
          <p:nvPr/>
        </p:nvCxnSpPr>
        <p:spPr>
          <a:xfrm>
            <a:off x="239006" y="641249"/>
            <a:ext cx="11340282"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139958" y="67632"/>
            <a:ext cx="8920065" cy="964367"/>
          </a:xfrm>
          <a:prstGeom prst="rect">
            <a:avLst/>
          </a:prstGeom>
          <a:noFill/>
        </p:spPr>
        <p:txBody>
          <a:bodyPr vert="horz" wrap="square" rtlCol="0">
            <a:spAutoFit/>
          </a:bodyPr>
          <a:lstStyle/>
          <a:p>
            <a:pPr>
              <a:lnSpc>
                <a:spcPts val="3440"/>
              </a:lnSpc>
            </a:pPr>
            <a:r>
              <a:rPr lang="en-US" altLang="zh-CN" sz="3200" b="1">
                <a:solidFill>
                  <a:srgbClr val="C00000"/>
                </a:solidFill>
                <a:cs typeface="+mn-ea"/>
                <a:sym typeface="+mn-lt"/>
              </a:rPr>
              <a:t>#[repr]</a:t>
            </a:r>
            <a:r>
              <a:rPr lang="zh-CN" altLang="en-US" sz="3200" b="1">
                <a:solidFill>
                  <a:srgbClr val="C00000"/>
                </a:solidFill>
                <a:cs typeface="+mn-ea"/>
                <a:sym typeface="+mn-lt"/>
              </a:rPr>
              <a:t>属性</a:t>
            </a:r>
            <a:r>
              <a:rPr lang="en-US" altLang="zh-CN" sz="3200" b="1">
                <a:solidFill>
                  <a:srgbClr val="C00000"/>
                </a:solidFill>
                <a:cs typeface="+mn-ea"/>
                <a:sym typeface="+mn-lt"/>
              </a:rPr>
              <a:t>-C</a:t>
            </a:r>
          </a:p>
          <a:p>
            <a:pPr>
              <a:lnSpc>
                <a:spcPts val="3440"/>
              </a:lnSpc>
            </a:pPr>
            <a:endParaRPr lang="en-US" altLang="zh-CN" sz="3200" b="1">
              <a:solidFill>
                <a:srgbClr val="C00000"/>
              </a:solidFill>
              <a:cs typeface="+mn-ea"/>
              <a:sym typeface="+mn-lt"/>
            </a:endParaRPr>
          </a:p>
        </p:txBody>
      </p:sp>
      <p:sp>
        <p:nvSpPr>
          <p:cNvPr id="4" name="矩形 3"/>
          <p:cNvSpPr/>
          <p:nvPr/>
        </p:nvSpPr>
        <p:spPr>
          <a:xfrm>
            <a:off x="718839" y="1605616"/>
            <a:ext cx="4215299" cy="1938020"/>
          </a:xfrm>
          <a:prstGeom prst="rect">
            <a:avLst/>
          </a:prstGeom>
        </p:spPr>
        <p:txBody>
          <a:bodyPr wrap="square">
            <a:spAutoFit/>
          </a:bodyPr>
          <a:lstStyle/>
          <a:p>
            <a:pPr>
              <a:lnSpc>
                <a:spcPct val="150000"/>
              </a:lnSpc>
            </a:pPr>
            <a:r>
              <a:rPr lang="en-US" altLang="zh-CN" sz="1600" b="1">
                <a:cs typeface="+mn-ea"/>
                <a:sym typeface="+mn-lt"/>
              </a:rPr>
              <a:t>#[repr(C)]</a:t>
            </a:r>
            <a:r>
              <a:rPr lang="zh-CN" altLang="en-US" sz="1600" b="1">
                <a:cs typeface="+mn-ea"/>
                <a:sym typeface="+mn-lt"/>
              </a:rPr>
              <a:t>union</a:t>
            </a:r>
            <a:endParaRPr lang="zh-CN" altLang="en-US" sz="1600">
              <a:cs typeface="+mn-ea"/>
              <a:sym typeface="+mn-lt"/>
            </a:endParaRPr>
          </a:p>
          <a:p>
            <a:pPr>
              <a:lnSpc>
                <a:spcPct val="150000"/>
              </a:lnSpc>
            </a:pPr>
            <a:r>
              <a:rPr lang="zh-CN" altLang="en-US" sz="1600">
                <a:cs typeface="+mn-ea"/>
                <a:sym typeface="+mn-lt"/>
              </a:rPr>
              <a:t>union的对齐量等同于其所有字段的最大对齐量，尺寸将为其所有字段的最大尺寸，再对其向上取整到对齐量的最小整数倍。这些最大值可能来自不同的字段。</a:t>
            </a:r>
          </a:p>
        </p:txBody>
      </p:sp>
      <p:sp>
        <p:nvSpPr>
          <p:cNvPr id="9" name="文本框 8"/>
          <p:cNvSpPr txBox="1"/>
          <p:nvPr/>
        </p:nvSpPr>
        <p:spPr>
          <a:xfrm>
            <a:off x="5323438" y="1358337"/>
            <a:ext cx="6473227" cy="4615815"/>
          </a:xfrm>
          <a:prstGeom prst="rect">
            <a:avLst/>
          </a:prstGeom>
          <a:solidFill>
            <a:schemeClr val="tx1"/>
          </a:solidFill>
        </p:spPr>
        <p:style>
          <a:lnRef idx="2">
            <a:schemeClr val="dk1"/>
          </a:lnRef>
          <a:fillRef idx="1">
            <a:schemeClr val="lt1"/>
          </a:fillRef>
          <a:effectRef idx="0">
            <a:schemeClr val="dk1"/>
          </a:effectRef>
          <a:fontRef idx="minor">
            <a:schemeClr val="dk1"/>
          </a:fontRef>
        </p:style>
        <p:txBody>
          <a:bodyPr vert="horz" wrap="square" rtlCol="0">
            <a:spAutoFit/>
          </a:bodyPr>
          <a:lstStyle/>
          <a:p>
            <a:r>
              <a:rPr lang="en-US" altLang="zh-CN" sz="1400" dirty="0">
                <a:solidFill>
                  <a:srgbClr val="FFFFFF"/>
                </a:solidFill>
                <a:cs typeface="+mn-ea"/>
                <a:sym typeface="+mn-lt"/>
              </a:rPr>
              <a:t>// </a:t>
            </a:r>
            <a:r>
              <a:rPr lang="en-US" altLang="zh-CN" sz="1400" b="1" dirty="0">
                <a:solidFill>
                  <a:srgbClr val="00B050"/>
                </a:solidFill>
                <a:cs typeface="+mn-ea"/>
                <a:sym typeface="+mn-lt"/>
              </a:rPr>
              <a:t>#[</a:t>
            </a:r>
            <a:r>
              <a:rPr lang="en-US" altLang="zh-CN" sz="1400" b="1" dirty="0" err="1">
                <a:solidFill>
                  <a:srgbClr val="00B050"/>
                </a:solidFill>
                <a:cs typeface="+mn-ea"/>
                <a:sym typeface="+mn-lt"/>
              </a:rPr>
              <a:t>repr</a:t>
            </a:r>
            <a:r>
              <a:rPr lang="en-US" altLang="zh-CN" sz="1400" b="1" dirty="0">
                <a:solidFill>
                  <a:srgbClr val="00B050"/>
                </a:solidFill>
                <a:cs typeface="+mn-ea"/>
                <a:sym typeface="+mn-lt"/>
              </a:rPr>
              <a:t>(C)]</a:t>
            </a:r>
            <a:r>
              <a:rPr lang="zh-CN" altLang="en-US" sz="1400" b="1" dirty="0">
                <a:solidFill>
                  <a:srgbClr val="00B050"/>
                </a:solidFill>
                <a:cs typeface="+mn-ea"/>
                <a:sym typeface="+mn-lt"/>
              </a:rPr>
              <a:t>union代码示例</a:t>
            </a:r>
          </a:p>
          <a:p>
            <a:r>
              <a:rPr lang="en-US" altLang="zh-CN" sz="1400" dirty="0" err="1">
                <a:solidFill>
                  <a:srgbClr val="C678DD"/>
                </a:solidFill>
                <a:cs typeface="+mn-ea"/>
                <a:sym typeface="+mn-lt"/>
              </a:rPr>
              <a:t>fn</a:t>
            </a:r>
            <a:r>
              <a:rPr lang="en-US" altLang="zh-CN" sz="1400" dirty="0">
                <a:solidFill>
                  <a:srgbClr val="ABB2BF"/>
                </a:solidFill>
                <a:cs typeface="+mn-ea"/>
                <a:sym typeface="+mn-lt"/>
              </a:rPr>
              <a:t> </a:t>
            </a:r>
            <a:r>
              <a:rPr lang="en-US" altLang="zh-CN" sz="1400" dirty="0">
                <a:solidFill>
                  <a:srgbClr val="61AFEF"/>
                </a:solidFill>
                <a:cs typeface="+mn-ea"/>
                <a:sym typeface="+mn-lt"/>
              </a:rPr>
              <a:t>main</a:t>
            </a:r>
            <a:r>
              <a:rPr lang="en-US" altLang="zh-CN" sz="1400" dirty="0">
                <a:solidFill>
                  <a:srgbClr val="ABB2BF"/>
                </a:solidFill>
                <a:cs typeface="+mn-ea"/>
                <a:sym typeface="+mn-lt"/>
              </a:rPr>
              <a:t>() {</a:t>
            </a:r>
          </a:p>
          <a:p>
            <a:r>
              <a:rPr lang="en-US" altLang="zh-CN" sz="1400" dirty="0">
                <a:solidFill>
                  <a:srgbClr val="ABB2BF"/>
                </a:solidFill>
                <a:cs typeface="+mn-ea"/>
                <a:sym typeface="+mn-lt"/>
              </a:rPr>
              <a:t>    #[</a:t>
            </a:r>
            <a:r>
              <a:rPr lang="en-US" altLang="zh-CN" sz="1400" dirty="0" err="1">
                <a:solidFill>
                  <a:srgbClr val="ABB2BF"/>
                </a:solidFill>
                <a:cs typeface="+mn-ea"/>
                <a:sym typeface="+mn-lt"/>
              </a:rPr>
              <a:t>repr</a:t>
            </a:r>
            <a:r>
              <a:rPr lang="en-US" altLang="zh-CN" sz="1400" dirty="0">
                <a:solidFill>
                  <a:srgbClr val="ABB2BF"/>
                </a:solidFill>
                <a:cs typeface="+mn-ea"/>
                <a:sym typeface="+mn-lt"/>
              </a:rPr>
              <a:t>(</a:t>
            </a:r>
            <a:r>
              <a:rPr lang="en-US" altLang="zh-CN" sz="1400" dirty="0">
                <a:solidFill>
                  <a:srgbClr val="E5C07B"/>
                </a:solidFill>
                <a:cs typeface="+mn-ea"/>
                <a:sym typeface="+mn-lt"/>
              </a:rPr>
              <a:t>C</a:t>
            </a:r>
            <a:r>
              <a:rPr lang="en-US" altLang="zh-CN" sz="1400" dirty="0">
                <a:solidFill>
                  <a:srgbClr val="ABB2BF"/>
                </a:solidFill>
                <a:cs typeface="+mn-ea"/>
                <a:sym typeface="+mn-lt"/>
              </a:rPr>
              <a:t>)]</a:t>
            </a:r>
          </a:p>
          <a:p>
            <a:r>
              <a:rPr lang="en-US" altLang="zh-CN" sz="1400" dirty="0">
                <a:solidFill>
                  <a:srgbClr val="ABB2BF"/>
                </a:solidFill>
                <a:cs typeface="+mn-ea"/>
                <a:sym typeface="+mn-lt"/>
              </a:rPr>
              <a:t>    </a:t>
            </a:r>
            <a:r>
              <a:rPr lang="en-US" altLang="zh-CN" sz="1400" dirty="0">
                <a:solidFill>
                  <a:srgbClr val="C678DD"/>
                </a:solidFill>
                <a:cs typeface="+mn-ea"/>
                <a:sym typeface="+mn-lt"/>
              </a:rPr>
              <a:t>union</a:t>
            </a:r>
            <a:r>
              <a:rPr lang="en-US" altLang="zh-CN" sz="1400" dirty="0">
                <a:solidFill>
                  <a:srgbClr val="ABB2BF"/>
                </a:solidFill>
                <a:cs typeface="+mn-ea"/>
                <a:sym typeface="+mn-lt"/>
              </a:rPr>
              <a:t> </a:t>
            </a:r>
            <a:r>
              <a:rPr lang="en-US" altLang="zh-CN" sz="1400" dirty="0" err="1">
                <a:solidFill>
                  <a:srgbClr val="E5C07B"/>
                </a:solidFill>
                <a:cs typeface="+mn-ea"/>
                <a:sym typeface="+mn-lt"/>
              </a:rPr>
              <a:t>Union</a:t>
            </a:r>
            <a:r>
              <a:rPr lang="en-US" altLang="zh-CN" sz="1400" dirty="0">
                <a:solidFill>
                  <a:srgbClr val="ABB2BF"/>
                </a:solidFill>
                <a:cs typeface="+mn-ea"/>
                <a:sym typeface="+mn-lt"/>
              </a:rPr>
              <a:t> {</a:t>
            </a:r>
          </a:p>
          <a:p>
            <a:r>
              <a:rPr lang="en-US" altLang="zh-CN" sz="1400" dirty="0">
                <a:solidFill>
                  <a:srgbClr val="ABB2BF"/>
                </a:solidFill>
                <a:cs typeface="+mn-ea"/>
                <a:sym typeface="+mn-lt"/>
              </a:rPr>
              <a:t>        </a:t>
            </a:r>
            <a:r>
              <a:rPr lang="en-US" altLang="zh-CN" sz="1400" dirty="0">
                <a:solidFill>
                  <a:srgbClr val="E06C75"/>
                </a:solidFill>
                <a:cs typeface="+mn-ea"/>
                <a:sym typeface="+mn-lt"/>
              </a:rPr>
              <a:t>f1</a:t>
            </a:r>
            <a:r>
              <a:rPr lang="en-US" altLang="zh-CN" sz="1400" dirty="0">
                <a:solidFill>
                  <a:srgbClr val="ABB2BF"/>
                </a:solidFill>
                <a:cs typeface="+mn-ea"/>
                <a:sym typeface="+mn-lt"/>
              </a:rPr>
              <a:t>: </a:t>
            </a:r>
            <a:r>
              <a:rPr lang="en-US" altLang="zh-CN" sz="1400" dirty="0">
                <a:solidFill>
                  <a:srgbClr val="E5C07B"/>
                </a:solidFill>
                <a:cs typeface="+mn-ea"/>
                <a:sym typeface="+mn-lt"/>
              </a:rPr>
              <a:t>u16</a:t>
            </a:r>
            <a:r>
              <a:rPr lang="en-US" altLang="zh-CN" sz="1400" dirty="0">
                <a:solidFill>
                  <a:srgbClr val="ABB2BF"/>
                </a:solidFill>
                <a:cs typeface="+mn-ea"/>
                <a:sym typeface="+mn-lt"/>
              </a:rPr>
              <a:t>,</a:t>
            </a:r>
          </a:p>
          <a:p>
            <a:r>
              <a:rPr lang="en-US" altLang="zh-CN" sz="1400" dirty="0">
                <a:solidFill>
                  <a:srgbClr val="ABB2BF"/>
                </a:solidFill>
                <a:cs typeface="+mn-ea"/>
                <a:sym typeface="+mn-lt"/>
              </a:rPr>
              <a:t>        </a:t>
            </a:r>
            <a:r>
              <a:rPr lang="en-US" altLang="zh-CN" sz="1400" dirty="0">
                <a:solidFill>
                  <a:srgbClr val="E06C75"/>
                </a:solidFill>
                <a:cs typeface="+mn-ea"/>
                <a:sym typeface="+mn-lt"/>
              </a:rPr>
              <a:t>f2</a:t>
            </a:r>
            <a:r>
              <a:rPr lang="en-US" altLang="zh-CN" sz="1400" dirty="0">
                <a:solidFill>
                  <a:srgbClr val="ABB2BF"/>
                </a:solidFill>
                <a:cs typeface="+mn-ea"/>
                <a:sym typeface="+mn-lt"/>
              </a:rPr>
              <a:t>: [</a:t>
            </a:r>
            <a:r>
              <a:rPr lang="en-US" altLang="zh-CN" sz="1400" dirty="0">
                <a:solidFill>
                  <a:srgbClr val="E5C07B"/>
                </a:solidFill>
                <a:cs typeface="+mn-ea"/>
                <a:sym typeface="+mn-lt"/>
              </a:rPr>
              <a:t>u8</a:t>
            </a:r>
            <a:r>
              <a:rPr lang="en-US" altLang="zh-CN" sz="1400" dirty="0">
                <a:solidFill>
                  <a:srgbClr val="ABB2BF"/>
                </a:solidFill>
                <a:cs typeface="+mn-ea"/>
                <a:sym typeface="+mn-lt"/>
              </a:rPr>
              <a:t>; </a:t>
            </a:r>
            <a:r>
              <a:rPr lang="en-US" altLang="zh-CN" sz="1400" dirty="0">
                <a:solidFill>
                  <a:srgbClr val="D19A66"/>
                </a:solidFill>
                <a:cs typeface="+mn-ea"/>
                <a:sym typeface="+mn-lt"/>
              </a:rPr>
              <a:t>4</a:t>
            </a:r>
            <a:r>
              <a:rPr lang="en-US" altLang="zh-CN" sz="1400" dirty="0">
                <a:solidFill>
                  <a:srgbClr val="ABB2BF"/>
                </a:solidFill>
                <a:cs typeface="+mn-ea"/>
                <a:sym typeface="+mn-lt"/>
              </a:rPr>
              <a:t>],</a:t>
            </a:r>
          </a:p>
          <a:p>
            <a:r>
              <a:rPr lang="en-US" altLang="zh-CN" sz="1400" dirty="0">
                <a:solidFill>
                  <a:srgbClr val="ABB2BF"/>
                </a:solidFill>
                <a:cs typeface="+mn-ea"/>
                <a:sym typeface="+mn-lt"/>
              </a:rPr>
              <a:t>    }</a:t>
            </a:r>
          </a:p>
          <a:p>
            <a:br>
              <a:rPr lang="en-US" altLang="zh-CN" sz="1400" dirty="0">
                <a:solidFill>
                  <a:srgbClr val="ABB2BF"/>
                </a:solidFill>
                <a:cs typeface="+mn-ea"/>
                <a:sym typeface="+mn-lt"/>
              </a:rPr>
            </a:br>
            <a:r>
              <a:rPr lang="en-US" altLang="zh-CN" sz="1400" dirty="0">
                <a:solidFill>
                  <a:srgbClr val="ABB2BF"/>
                </a:solidFill>
                <a:cs typeface="+mn-ea"/>
                <a:sym typeface="+mn-lt"/>
              </a:rPr>
              <a:t>    </a:t>
            </a:r>
            <a:r>
              <a:rPr lang="en-US" altLang="zh-CN" sz="1400" dirty="0" err="1">
                <a:solidFill>
                  <a:srgbClr val="61AFEF"/>
                </a:solidFill>
                <a:cs typeface="+mn-ea"/>
                <a:sym typeface="+mn-lt"/>
              </a:rPr>
              <a:t>assert_eq</a:t>
            </a:r>
            <a:r>
              <a:rPr lang="en-US" altLang="zh-CN" sz="1400" dirty="0">
                <a:solidFill>
                  <a:srgbClr val="61AFEF"/>
                </a:solidFill>
                <a:cs typeface="+mn-ea"/>
                <a:sym typeface="+mn-lt"/>
              </a:rPr>
              <a:t>!</a:t>
            </a:r>
            <a:r>
              <a:rPr lang="en-US" altLang="zh-CN" sz="1400" dirty="0">
                <a:solidFill>
                  <a:srgbClr val="ABB2BF"/>
                </a:solidFill>
                <a:cs typeface="+mn-ea"/>
                <a:sym typeface="+mn-lt"/>
              </a:rPr>
              <a:t>(</a:t>
            </a:r>
            <a:r>
              <a:rPr lang="en-US" altLang="zh-CN" sz="1400" dirty="0">
                <a:solidFill>
                  <a:srgbClr val="E5C07B"/>
                </a:solidFill>
                <a:cs typeface="+mn-ea"/>
                <a:sym typeface="+mn-lt"/>
              </a:rPr>
              <a:t>std</a:t>
            </a:r>
            <a:r>
              <a:rPr lang="en-US" altLang="zh-CN" sz="1400" dirty="0">
                <a:solidFill>
                  <a:srgbClr val="ABB2BF"/>
                </a:solidFill>
                <a:cs typeface="+mn-ea"/>
                <a:sym typeface="+mn-lt"/>
              </a:rPr>
              <a:t>::</a:t>
            </a:r>
            <a:r>
              <a:rPr lang="en-US" altLang="zh-CN" sz="1400" dirty="0">
                <a:solidFill>
                  <a:srgbClr val="E5C07B"/>
                </a:solidFill>
                <a:cs typeface="+mn-ea"/>
                <a:sym typeface="+mn-lt"/>
              </a:rPr>
              <a:t>mem</a:t>
            </a:r>
            <a:r>
              <a:rPr lang="en-US" altLang="zh-CN" sz="1400" dirty="0">
                <a:solidFill>
                  <a:srgbClr val="ABB2BF"/>
                </a:solidFill>
                <a:cs typeface="+mn-ea"/>
                <a:sym typeface="+mn-lt"/>
              </a:rPr>
              <a:t>::</a:t>
            </a:r>
            <a:r>
              <a:rPr lang="en-US" altLang="zh-CN" sz="1400" dirty="0" err="1">
                <a:solidFill>
                  <a:srgbClr val="61AFEF"/>
                </a:solidFill>
                <a:cs typeface="+mn-ea"/>
                <a:sym typeface="+mn-lt"/>
              </a:rPr>
              <a:t>size_of</a:t>
            </a:r>
            <a:r>
              <a:rPr lang="en-US" altLang="zh-CN" sz="1400" dirty="0">
                <a:solidFill>
                  <a:srgbClr val="ABB2BF"/>
                </a:solidFill>
                <a:cs typeface="+mn-ea"/>
                <a:sym typeface="+mn-lt"/>
              </a:rPr>
              <a:t>::&lt;</a:t>
            </a:r>
            <a:r>
              <a:rPr lang="en-US" altLang="zh-CN" sz="1400" dirty="0">
                <a:solidFill>
                  <a:srgbClr val="E5C07B"/>
                </a:solidFill>
                <a:cs typeface="+mn-ea"/>
                <a:sym typeface="+mn-lt"/>
              </a:rPr>
              <a:t>Union</a:t>
            </a:r>
            <a:r>
              <a:rPr lang="en-US" altLang="zh-CN" sz="1400" dirty="0">
                <a:solidFill>
                  <a:srgbClr val="ABB2BF"/>
                </a:solidFill>
                <a:cs typeface="+mn-ea"/>
                <a:sym typeface="+mn-lt"/>
              </a:rPr>
              <a:t>&gt;(), </a:t>
            </a:r>
            <a:r>
              <a:rPr lang="en-US" altLang="zh-CN" sz="1400" dirty="0">
                <a:solidFill>
                  <a:srgbClr val="D19A66"/>
                </a:solidFill>
                <a:cs typeface="+mn-ea"/>
                <a:sym typeface="+mn-lt"/>
              </a:rPr>
              <a:t>4</a:t>
            </a:r>
            <a:r>
              <a:rPr lang="en-US" altLang="zh-CN" sz="1400" dirty="0">
                <a:solidFill>
                  <a:srgbClr val="ABB2BF"/>
                </a:solidFill>
                <a:cs typeface="+mn-ea"/>
                <a:sym typeface="+mn-lt"/>
              </a:rPr>
              <a:t>);</a:t>
            </a:r>
            <a:r>
              <a:rPr lang="en-US" altLang="zh-CN" sz="1400" i="1" dirty="0">
                <a:solidFill>
                  <a:srgbClr val="7F848E"/>
                </a:solidFill>
                <a:cs typeface="+mn-ea"/>
                <a:sym typeface="+mn-lt"/>
              </a:rPr>
              <a:t> // </a:t>
            </a:r>
            <a:r>
              <a:rPr lang="zh-CN" altLang="en-US" sz="1400" i="1" dirty="0">
                <a:solidFill>
                  <a:srgbClr val="7F848E"/>
                </a:solidFill>
                <a:cs typeface="+mn-ea"/>
                <a:sym typeface="+mn-lt"/>
              </a:rPr>
              <a:t>来自于 </a:t>
            </a:r>
            <a:r>
              <a:rPr lang="en-US" altLang="zh-CN" sz="1400" i="1" dirty="0">
                <a:solidFill>
                  <a:srgbClr val="7F848E"/>
                </a:solidFill>
                <a:cs typeface="+mn-ea"/>
                <a:sym typeface="+mn-lt"/>
              </a:rPr>
              <a:t>f2</a:t>
            </a:r>
            <a:endParaRPr lang="en-US" altLang="zh-CN" sz="1400" dirty="0">
              <a:solidFill>
                <a:srgbClr val="ABB2BF"/>
              </a:solidFill>
              <a:cs typeface="+mn-ea"/>
              <a:sym typeface="+mn-lt"/>
            </a:endParaRPr>
          </a:p>
          <a:p>
            <a:r>
              <a:rPr lang="en-US" altLang="zh-CN" sz="1400" dirty="0">
                <a:solidFill>
                  <a:srgbClr val="ABB2BF"/>
                </a:solidFill>
                <a:cs typeface="+mn-ea"/>
                <a:sym typeface="+mn-lt"/>
              </a:rPr>
              <a:t>    </a:t>
            </a:r>
            <a:r>
              <a:rPr lang="en-US" altLang="zh-CN" sz="1400" dirty="0" err="1">
                <a:solidFill>
                  <a:srgbClr val="61AFEF"/>
                </a:solidFill>
                <a:cs typeface="+mn-ea"/>
                <a:sym typeface="+mn-lt"/>
              </a:rPr>
              <a:t>assert_eq</a:t>
            </a:r>
            <a:r>
              <a:rPr lang="en-US" altLang="zh-CN" sz="1400" dirty="0">
                <a:solidFill>
                  <a:srgbClr val="61AFEF"/>
                </a:solidFill>
                <a:cs typeface="+mn-ea"/>
                <a:sym typeface="+mn-lt"/>
              </a:rPr>
              <a:t>!</a:t>
            </a:r>
            <a:r>
              <a:rPr lang="en-US" altLang="zh-CN" sz="1400" dirty="0">
                <a:solidFill>
                  <a:srgbClr val="ABB2BF"/>
                </a:solidFill>
                <a:cs typeface="+mn-ea"/>
                <a:sym typeface="+mn-lt"/>
              </a:rPr>
              <a:t>(</a:t>
            </a:r>
            <a:r>
              <a:rPr lang="en-US" altLang="zh-CN" sz="1400" dirty="0">
                <a:solidFill>
                  <a:srgbClr val="E5C07B"/>
                </a:solidFill>
                <a:cs typeface="+mn-ea"/>
                <a:sym typeface="+mn-lt"/>
              </a:rPr>
              <a:t>std</a:t>
            </a:r>
            <a:r>
              <a:rPr lang="en-US" altLang="zh-CN" sz="1400" dirty="0">
                <a:solidFill>
                  <a:srgbClr val="ABB2BF"/>
                </a:solidFill>
                <a:cs typeface="+mn-ea"/>
                <a:sym typeface="+mn-lt"/>
              </a:rPr>
              <a:t>::</a:t>
            </a:r>
            <a:r>
              <a:rPr lang="en-US" altLang="zh-CN" sz="1400" dirty="0">
                <a:solidFill>
                  <a:srgbClr val="E5C07B"/>
                </a:solidFill>
                <a:cs typeface="+mn-ea"/>
                <a:sym typeface="+mn-lt"/>
              </a:rPr>
              <a:t>mem</a:t>
            </a:r>
            <a:r>
              <a:rPr lang="en-US" altLang="zh-CN" sz="1400" dirty="0">
                <a:solidFill>
                  <a:srgbClr val="ABB2BF"/>
                </a:solidFill>
                <a:cs typeface="+mn-ea"/>
                <a:sym typeface="+mn-lt"/>
              </a:rPr>
              <a:t>::</a:t>
            </a:r>
            <a:r>
              <a:rPr lang="en-US" altLang="zh-CN" sz="1400" dirty="0" err="1">
                <a:solidFill>
                  <a:srgbClr val="61AFEF"/>
                </a:solidFill>
                <a:cs typeface="+mn-ea"/>
                <a:sym typeface="+mn-lt"/>
              </a:rPr>
              <a:t>align_of</a:t>
            </a:r>
            <a:r>
              <a:rPr lang="en-US" altLang="zh-CN" sz="1400" dirty="0">
                <a:solidFill>
                  <a:srgbClr val="ABB2BF"/>
                </a:solidFill>
                <a:cs typeface="+mn-ea"/>
                <a:sym typeface="+mn-lt"/>
              </a:rPr>
              <a:t>::&lt;</a:t>
            </a:r>
            <a:r>
              <a:rPr lang="en-US" altLang="zh-CN" sz="1400" dirty="0">
                <a:solidFill>
                  <a:srgbClr val="E5C07B"/>
                </a:solidFill>
                <a:cs typeface="+mn-ea"/>
                <a:sym typeface="+mn-lt"/>
              </a:rPr>
              <a:t>Union</a:t>
            </a:r>
            <a:r>
              <a:rPr lang="en-US" altLang="zh-CN" sz="1400" dirty="0">
                <a:solidFill>
                  <a:srgbClr val="ABB2BF"/>
                </a:solidFill>
                <a:cs typeface="+mn-ea"/>
                <a:sym typeface="+mn-lt"/>
              </a:rPr>
              <a:t>&gt;(), </a:t>
            </a:r>
            <a:r>
              <a:rPr lang="en-US" altLang="zh-CN" sz="1400" dirty="0">
                <a:solidFill>
                  <a:srgbClr val="D19A66"/>
                </a:solidFill>
                <a:cs typeface="+mn-ea"/>
                <a:sym typeface="+mn-lt"/>
              </a:rPr>
              <a:t>2</a:t>
            </a:r>
            <a:r>
              <a:rPr lang="en-US" altLang="zh-CN" sz="1400" dirty="0">
                <a:solidFill>
                  <a:srgbClr val="ABB2BF"/>
                </a:solidFill>
                <a:cs typeface="+mn-ea"/>
                <a:sym typeface="+mn-lt"/>
              </a:rPr>
              <a:t>);</a:t>
            </a:r>
            <a:r>
              <a:rPr lang="en-US" altLang="zh-CN" sz="1400" i="1" dirty="0">
                <a:solidFill>
                  <a:srgbClr val="7F848E"/>
                </a:solidFill>
                <a:cs typeface="+mn-ea"/>
                <a:sym typeface="+mn-lt"/>
              </a:rPr>
              <a:t> // </a:t>
            </a:r>
            <a:r>
              <a:rPr lang="zh-CN" altLang="en-US" sz="1400" i="1" dirty="0">
                <a:solidFill>
                  <a:srgbClr val="7F848E"/>
                </a:solidFill>
                <a:cs typeface="+mn-ea"/>
                <a:sym typeface="+mn-lt"/>
              </a:rPr>
              <a:t>来自于 </a:t>
            </a:r>
            <a:r>
              <a:rPr lang="en-US" altLang="zh-CN" sz="1400" i="1" dirty="0">
                <a:solidFill>
                  <a:srgbClr val="7F848E"/>
                </a:solidFill>
                <a:cs typeface="+mn-ea"/>
                <a:sym typeface="+mn-lt"/>
              </a:rPr>
              <a:t>f1</a:t>
            </a:r>
            <a:endParaRPr lang="en-US" altLang="zh-CN" sz="1400" dirty="0">
              <a:solidFill>
                <a:srgbClr val="ABB2BF"/>
              </a:solidFill>
              <a:cs typeface="+mn-ea"/>
              <a:sym typeface="+mn-lt"/>
            </a:endParaRPr>
          </a:p>
          <a:p>
            <a:br>
              <a:rPr lang="en-US" altLang="zh-CN" sz="1400" dirty="0">
                <a:solidFill>
                  <a:srgbClr val="ABB2BF"/>
                </a:solidFill>
                <a:cs typeface="+mn-ea"/>
                <a:sym typeface="+mn-lt"/>
              </a:rPr>
            </a:br>
            <a:r>
              <a:rPr lang="en-US" altLang="zh-CN" sz="1400" dirty="0">
                <a:solidFill>
                  <a:srgbClr val="ABB2BF"/>
                </a:solidFill>
                <a:cs typeface="+mn-ea"/>
                <a:sym typeface="+mn-lt"/>
              </a:rPr>
              <a:t>    #[</a:t>
            </a:r>
            <a:r>
              <a:rPr lang="en-US" altLang="zh-CN" sz="1400" dirty="0" err="1">
                <a:solidFill>
                  <a:srgbClr val="ABB2BF"/>
                </a:solidFill>
                <a:cs typeface="+mn-ea"/>
                <a:sym typeface="+mn-lt"/>
              </a:rPr>
              <a:t>repr</a:t>
            </a:r>
            <a:r>
              <a:rPr lang="en-US" altLang="zh-CN" sz="1400" dirty="0">
                <a:solidFill>
                  <a:srgbClr val="ABB2BF"/>
                </a:solidFill>
                <a:cs typeface="+mn-ea"/>
                <a:sym typeface="+mn-lt"/>
              </a:rPr>
              <a:t>(</a:t>
            </a:r>
            <a:r>
              <a:rPr lang="en-US" altLang="zh-CN" sz="1400" dirty="0">
                <a:solidFill>
                  <a:srgbClr val="E5C07B"/>
                </a:solidFill>
                <a:cs typeface="+mn-ea"/>
                <a:sym typeface="+mn-lt"/>
              </a:rPr>
              <a:t>C</a:t>
            </a:r>
            <a:r>
              <a:rPr lang="en-US" altLang="zh-CN" sz="1400" dirty="0">
                <a:solidFill>
                  <a:srgbClr val="ABB2BF"/>
                </a:solidFill>
                <a:cs typeface="+mn-ea"/>
                <a:sym typeface="+mn-lt"/>
              </a:rPr>
              <a:t>)]</a:t>
            </a:r>
          </a:p>
          <a:p>
            <a:r>
              <a:rPr lang="en-US" altLang="zh-CN" sz="1400" dirty="0">
                <a:solidFill>
                  <a:srgbClr val="ABB2BF"/>
                </a:solidFill>
                <a:cs typeface="+mn-ea"/>
                <a:sym typeface="+mn-lt"/>
              </a:rPr>
              <a:t>    </a:t>
            </a:r>
            <a:r>
              <a:rPr lang="en-US" altLang="zh-CN" sz="1400" dirty="0">
                <a:solidFill>
                  <a:srgbClr val="C678DD"/>
                </a:solidFill>
                <a:cs typeface="+mn-ea"/>
                <a:sym typeface="+mn-lt"/>
              </a:rPr>
              <a:t>union</a:t>
            </a:r>
            <a:r>
              <a:rPr lang="en-US" altLang="zh-CN" sz="1400" dirty="0">
                <a:solidFill>
                  <a:srgbClr val="ABB2BF"/>
                </a:solidFill>
                <a:cs typeface="+mn-ea"/>
                <a:sym typeface="+mn-lt"/>
              </a:rPr>
              <a:t> </a:t>
            </a:r>
            <a:r>
              <a:rPr lang="en-US" altLang="zh-CN" sz="1400" dirty="0" err="1">
                <a:solidFill>
                  <a:srgbClr val="E5C07B"/>
                </a:solidFill>
                <a:cs typeface="+mn-ea"/>
                <a:sym typeface="+mn-lt"/>
              </a:rPr>
              <a:t>SizeRoundedUp</a:t>
            </a:r>
            <a:r>
              <a:rPr lang="en-US" altLang="zh-CN" sz="1400" dirty="0">
                <a:solidFill>
                  <a:srgbClr val="ABB2BF"/>
                </a:solidFill>
                <a:cs typeface="+mn-ea"/>
                <a:sym typeface="+mn-lt"/>
              </a:rPr>
              <a:t> {</a:t>
            </a:r>
          </a:p>
          <a:p>
            <a:r>
              <a:rPr lang="en-US" altLang="zh-CN" sz="1400" dirty="0">
                <a:solidFill>
                  <a:srgbClr val="ABB2BF"/>
                </a:solidFill>
                <a:cs typeface="+mn-ea"/>
                <a:sym typeface="+mn-lt"/>
              </a:rPr>
              <a:t>        </a:t>
            </a:r>
            <a:r>
              <a:rPr lang="en-US" altLang="zh-CN" sz="1400" dirty="0">
                <a:solidFill>
                  <a:srgbClr val="E06C75"/>
                </a:solidFill>
                <a:cs typeface="+mn-ea"/>
                <a:sym typeface="+mn-lt"/>
              </a:rPr>
              <a:t>a</a:t>
            </a:r>
            <a:r>
              <a:rPr lang="en-US" altLang="zh-CN" sz="1400" dirty="0">
                <a:solidFill>
                  <a:srgbClr val="ABB2BF"/>
                </a:solidFill>
                <a:cs typeface="+mn-ea"/>
                <a:sym typeface="+mn-lt"/>
              </a:rPr>
              <a:t>: </a:t>
            </a:r>
            <a:r>
              <a:rPr lang="en-US" altLang="zh-CN" sz="1400" dirty="0">
                <a:solidFill>
                  <a:srgbClr val="E5C07B"/>
                </a:solidFill>
                <a:cs typeface="+mn-ea"/>
                <a:sym typeface="+mn-lt"/>
              </a:rPr>
              <a:t>u32</a:t>
            </a:r>
            <a:r>
              <a:rPr lang="en-US" altLang="zh-CN" sz="1400" dirty="0">
                <a:solidFill>
                  <a:srgbClr val="ABB2BF"/>
                </a:solidFill>
                <a:cs typeface="+mn-ea"/>
                <a:sym typeface="+mn-lt"/>
              </a:rPr>
              <a:t>,</a:t>
            </a:r>
          </a:p>
          <a:p>
            <a:r>
              <a:rPr lang="en-US" altLang="zh-CN" sz="1400" dirty="0">
                <a:solidFill>
                  <a:srgbClr val="ABB2BF"/>
                </a:solidFill>
                <a:cs typeface="+mn-ea"/>
                <a:sym typeface="+mn-lt"/>
              </a:rPr>
              <a:t>        </a:t>
            </a:r>
            <a:r>
              <a:rPr lang="en-US" altLang="zh-CN" sz="1400" dirty="0">
                <a:solidFill>
                  <a:srgbClr val="E06C75"/>
                </a:solidFill>
                <a:cs typeface="+mn-ea"/>
                <a:sym typeface="+mn-lt"/>
              </a:rPr>
              <a:t>b</a:t>
            </a:r>
            <a:r>
              <a:rPr lang="en-US" altLang="zh-CN" sz="1400" dirty="0">
                <a:solidFill>
                  <a:srgbClr val="ABB2BF"/>
                </a:solidFill>
                <a:cs typeface="+mn-ea"/>
                <a:sym typeface="+mn-lt"/>
              </a:rPr>
              <a:t>: [</a:t>
            </a:r>
            <a:r>
              <a:rPr lang="en-US" altLang="zh-CN" sz="1400" dirty="0">
                <a:solidFill>
                  <a:srgbClr val="E5C07B"/>
                </a:solidFill>
                <a:cs typeface="+mn-ea"/>
                <a:sym typeface="+mn-lt"/>
              </a:rPr>
              <a:t>u16</a:t>
            </a:r>
            <a:r>
              <a:rPr lang="en-US" altLang="zh-CN" sz="1400" dirty="0">
                <a:solidFill>
                  <a:srgbClr val="ABB2BF"/>
                </a:solidFill>
                <a:cs typeface="+mn-ea"/>
                <a:sym typeface="+mn-lt"/>
              </a:rPr>
              <a:t>; </a:t>
            </a:r>
            <a:r>
              <a:rPr lang="en-US" altLang="zh-CN" sz="1400" dirty="0">
                <a:solidFill>
                  <a:srgbClr val="D19A66"/>
                </a:solidFill>
                <a:cs typeface="+mn-ea"/>
                <a:sym typeface="+mn-lt"/>
              </a:rPr>
              <a:t>5</a:t>
            </a:r>
            <a:r>
              <a:rPr lang="en-US" altLang="zh-CN" sz="1400" dirty="0">
                <a:solidFill>
                  <a:srgbClr val="ABB2BF"/>
                </a:solidFill>
                <a:cs typeface="+mn-ea"/>
                <a:sym typeface="+mn-lt"/>
              </a:rPr>
              <a:t>],</a:t>
            </a:r>
          </a:p>
          <a:p>
            <a:r>
              <a:rPr lang="en-US" altLang="zh-CN" sz="1400" dirty="0">
                <a:solidFill>
                  <a:srgbClr val="ABB2BF"/>
                </a:solidFill>
                <a:cs typeface="+mn-ea"/>
                <a:sym typeface="+mn-lt"/>
              </a:rPr>
              <a:t>    }</a:t>
            </a:r>
          </a:p>
          <a:p>
            <a:r>
              <a:rPr lang="en-US" altLang="zh-CN" sz="1400" i="1" dirty="0">
                <a:solidFill>
                  <a:srgbClr val="7F848E"/>
                </a:solidFill>
                <a:cs typeface="+mn-ea"/>
                <a:sym typeface="+mn-lt"/>
              </a:rPr>
              <a:t>    // </a:t>
            </a:r>
            <a:r>
              <a:rPr lang="zh-CN" altLang="en-US" sz="1400" i="1" dirty="0">
                <a:solidFill>
                  <a:srgbClr val="7F848E"/>
                </a:solidFill>
                <a:cs typeface="+mn-ea"/>
                <a:sym typeface="+mn-lt"/>
              </a:rPr>
              <a:t>来自于 </a:t>
            </a:r>
            <a:r>
              <a:rPr lang="en-US" altLang="zh-CN" sz="1400" i="1" dirty="0">
                <a:solidFill>
                  <a:srgbClr val="7F848E"/>
                </a:solidFill>
                <a:cs typeface="+mn-ea"/>
                <a:sym typeface="+mn-lt"/>
              </a:rPr>
              <a:t>a</a:t>
            </a:r>
            <a:endParaRPr lang="en-US" altLang="zh-CN" sz="1400" dirty="0">
              <a:solidFill>
                <a:srgbClr val="ABB2BF"/>
              </a:solidFill>
              <a:cs typeface="+mn-ea"/>
              <a:sym typeface="+mn-lt"/>
            </a:endParaRPr>
          </a:p>
          <a:p>
            <a:r>
              <a:rPr lang="en-US" altLang="zh-CN" sz="1400" dirty="0">
                <a:solidFill>
                  <a:srgbClr val="ABB2BF"/>
                </a:solidFill>
                <a:cs typeface="+mn-ea"/>
                <a:sym typeface="+mn-lt"/>
              </a:rPr>
              <a:t>    </a:t>
            </a:r>
            <a:r>
              <a:rPr lang="en-US" altLang="zh-CN" sz="1400" dirty="0" err="1">
                <a:solidFill>
                  <a:srgbClr val="61AFEF"/>
                </a:solidFill>
                <a:cs typeface="+mn-ea"/>
                <a:sym typeface="+mn-lt"/>
              </a:rPr>
              <a:t>assert_eq</a:t>
            </a:r>
            <a:r>
              <a:rPr lang="en-US" altLang="zh-CN" sz="1400" dirty="0">
                <a:solidFill>
                  <a:srgbClr val="61AFEF"/>
                </a:solidFill>
                <a:cs typeface="+mn-ea"/>
                <a:sym typeface="+mn-lt"/>
              </a:rPr>
              <a:t>!</a:t>
            </a:r>
            <a:r>
              <a:rPr lang="en-US" altLang="zh-CN" sz="1400" dirty="0">
                <a:solidFill>
                  <a:srgbClr val="ABB2BF"/>
                </a:solidFill>
                <a:cs typeface="+mn-ea"/>
                <a:sym typeface="+mn-lt"/>
              </a:rPr>
              <a:t>(</a:t>
            </a:r>
            <a:r>
              <a:rPr lang="en-US" altLang="zh-CN" sz="1400" dirty="0">
                <a:solidFill>
                  <a:srgbClr val="E5C07B"/>
                </a:solidFill>
                <a:cs typeface="+mn-ea"/>
                <a:sym typeface="+mn-lt"/>
              </a:rPr>
              <a:t>std</a:t>
            </a:r>
            <a:r>
              <a:rPr lang="en-US" altLang="zh-CN" sz="1400" dirty="0">
                <a:solidFill>
                  <a:srgbClr val="ABB2BF"/>
                </a:solidFill>
                <a:cs typeface="+mn-ea"/>
                <a:sym typeface="+mn-lt"/>
              </a:rPr>
              <a:t>::</a:t>
            </a:r>
            <a:r>
              <a:rPr lang="en-US" altLang="zh-CN" sz="1400" dirty="0">
                <a:solidFill>
                  <a:srgbClr val="E5C07B"/>
                </a:solidFill>
                <a:cs typeface="+mn-ea"/>
                <a:sym typeface="+mn-lt"/>
              </a:rPr>
              <a:t>mem</a:t>
            </a:r>
            <a:r>
              <a:rPr lang="en-US" altLang="zh-CN" sz="1400" dirty="0">
                <a:solidFill>
                  <a:srgbClr val="ABB2BF"/>
                </a:solidFill>
                <a:cs typeface="+mn-ea"/>
                <a:sym typeface="+mn-lt"/>
              </a:rPr>
              <a:t>::</a:t>
            </a:r>
            <a:r>
              <a:rPr lang="en-US" altLang="zh-CN" sz="1400" dirty="0" err="1">
                <a:solidFill>
                  <a:srgbClr val="61AFEF"/>
                </a:solidFill>
                <a:cs typeface="+mn-ea"/>
                <a:sym typeface="+mn-lt"/>
              </a:rPr>
              <a:t>align_of</a:t>
            </a:r>
            <a:r>
              <a:rPr lang="en-US" altLang="zh-CN" sz="1400" dirty="0">
                <a:solidFill>
                  <a:srgbClr val="ABB2BF"/>
                </a:solidFill>
                <a:cs typeface="+mn-ea"/>
                <a:sym typeface="+mn-lt"/>
              </a:rPr>
              <a:t>::&lt;</a:t>
            </a:r>
            <a:r>
              <a:rPr lang="en-US" altLang="zh-CN" sz="1400" dirty="0" err="1">
                <a:solidFill>
                  <a:srgbClr val="E5C07B"/>
                </a:solidFill>
                <a:cs typeface="+mn-ea"/>
                <a:sym typeface="+mn-lt"/>
              </a:rPr>
              <a:t>SizeRoundedUp</a:t>
            </a:r>
            <a:r>
              <a:rPr lang="en-US" altLang="zh-CN" sz="1400" dirty="0">
                <a:solidFill>
                  <a:srgbClr val="ABB2BF"/>
                </a:solidFill>
                <a:cs typeface="+mn-ea"/>
                <a:sym typeface="+mn-lt"/>
              </a:rPr>
              <a:t>&gt;(), </a:t>
            </a:r>
            <a:r>
              <a:rPr lang="en-US" altLang="zh-CN" sz="1400" dirty="0">
                <a:solidFill>
                  <a:srgbClr val="D19A66"/>
                </a:solidFill>
                <a:cs typeface="+mn-ea"/>
                <a:sym typeface="+mn-lt"/>
              </a:rPr>
              <a:t>4</a:t>
            </a:r>
            <a:r>
              <a:rPr lang="en-US" altLang="zh-CN" sz="1400" dirty="0">
                <a:solidFill>
                  <a:srgbClr val="ABB2BF"/>
                </a:solidFill>
                <a:cs typeface="+mn-ea"/>
                <a:sym typeface="+mn-lt"/>
              </a:rPr>
              <a:t>);</a:t>
            </a:r>
          </a:p>
          <a:p>
            <a:r>
              <a:rPr lang="en-US" altLang="zh-CN" sz="1400" i="1" dirty="0">
                <a:solidFill>
                  <a:srgbClr val="7F848E"/>
                </a:solidFill>
                <a:cs typeface="+mn-ea"/>
                <a:sym typeface="+mn-lt"/>
              </a:rPr>
              <a:t>    // </a:t>
            </a:r>
            <a:r>
              <a:rPr lang="zh-CN" altLang="en-US" sz="1400" i="1" dirty="0">
                <a:solidFill>
                  <a:srgbClr val="7F848E"/>
                </a:solidFill>
                <a:cs typeface="+mn-ea"/>
                <a:sym typeface="+mn-lt"/>
              </a:rPr>
              <a:t>首先来自于</a:t>
            </a:r>
            <a:r>
              <a:rPr lang="en-US" altLang="zh-CN" sz="1400" i="1" dirty="0">
                <a:solidFill>
                  <a:srgbClr val="7F848E"/>
                </a:solidFill>
                <a:cs typeface="+mn-ea"/>
                <a:sym typeface="+mn-lt"/>
              </a:rPr>
              <a:t>b</a:t>
            </a:r>
            <a:r>
              <a:rPr lang="zh-CN" altLang="en-US" sz="1400" i="1" dirty="0">
                <a:solidFill>
                  <a:srgbClr val="7F848E"/>
                </a:solidFill>
                <a:cs typeface="+mn-ea"/>
                <a:sym typeface="+mn-lt"/>
              </a:rPr>
              <a:t>的尺寸</a:t>
            </a:r>
            <a:r>
              <a:rPr lang="en-US" altLang="zh-CN" sz="1400" i="1" dirty="0">
                <a:solidFill>
                  <a:srgbClr val="7F848E"/>
                </a:solidFill>
                <a:cs typeface="+mn-ea"/>
                <a:sym typeface="+mn-lt"/>
              </a:rPr>
              <a:t>10</a:t>
            </a:r>
            <a:r>
              <a:rPr lang="zh-CN" altLang="en-US" sz="1400" i="1" dirty="0">
                <a:solidFill>
                  <a:srgbClr val="7F848E"/>
                </a:solidFill>
                <a:cs typeface="+mn-ea"/>
                <a:sym typeface="+mn-lt"/>
              </a:rPr>
              <a:t>，然后向上取整到最近的</a:t>
            </a:r>
            <a:r>
              <a:rPr lang="en-US" altLang="zh-CN" sz="1400" i="1" dirty="0">
                <a:solidFill>
                  <a:srgbClr val="7F848E"/>
                </a:solidFill>
                <a:cs typeface="+mn-ea"/>
                <a:sym typeface="+mn-lt"/>
              </a:rPr>
              <a:t>4</a:t>
            </a:r>
            <a:r>
              <a:rPr lang="zh-CN" altLang="en-US" sz="1400" i="1" dirty="0">
                <a:solidFill>
                  <a:srgbClr val="7F848E"/>
                </a:solidFill>
                <a:cs typeface="+mn-ea"/>
                <a:sym typeface="+mn-lt"/>
              </a:rPr>
              <a:t>的整数倍</a:t>
            </a:r>
            <a:r>
              <a:rPr lang="en-US" altLang="zh-CN" sz="1400" i="1" dirty="0">
                <a:solidFill>
                  <a:srgbClr val="7F848E"/>
                </a:solidFill>
                <a:cs typeface="+mn-ea"/>
                <a:sym typeface="+mn-lt"/>
              </a:rPr>
              <a:t>12</a:t>
            </a:r>
            <a:r>
              <a:rPr lang="zh-CN" altLang="en-US" sz="1400" i="1" dirty="0">
                <a:solidFill>
                  <a:srgbClr val="7F848E"/>
                </a:solidFill>
                <a:cs typeface="+mn-ea"/>
                <a:sym typeface="+mn-lt"/>
              </a:rPr>
              <a:t>。</a:t>
            </a:r>
            <a:endParaRPr lang="zh-CN" altLang="en-US" sz="1400" dirty="0">
              <a:solidFill>
                <a:srgbClr val="ABB2BF"/>
              </a:solidFill>
              <a:cs typeface="+mn-ea"/>
              <a:sym typeface="+mn-lt"/>
            </a:endParaRPr>
          </a:p>
          <a:p>
            <a:r>
              <a:rPr lang="zh-CN" altLang="en-US" sz="1400" dirty="0">
                <a:solidFill>
                  <a:srgbClr val="ABB2BF"/>
                </a:solidFill>
                <a:cs typeface="+mn-ea"/>
                <a:sym typeface="+mn-lt"/>
              </a:rPr>
              <a:t>    </a:t>
            </a:r>
            <a:r>
              <a:rPr lang="en-US" altLang="zh-CN" sz="1400" dirty="0" err="1">
                <a:solidFill>
                  <a:srgbClr val="61AFEF"/>
                </a:solidFill>
                <a:cs typeface="+mn-ea"/>
                <a:sym typeface="+mn-lt"/>
              </a:rPr>
              <a:t>assert_eq</a:t>
            </a:r>
            <a:r>
              <a:rPr lang="en-US" altLang="zh-CN" sz="1400" dirty="0">
                <a:solidFill>
                  <a:srgbClr val="61AFEF"/>
                </a:solidFill>
                <a:cs typeface="+mn-ea"/>
                <a:sym typeface="+mn-lt"/>
              </a:rPr>
              <a:t>!</a:t>
            </a:r>
            <a:r>
              <a:rPr lang="en-US" altLang="zh-CN" sz="1400" dirty="0">
                <a:solidFill>
                  <a:srgbClr val="ABB2BF"/>
                </a:solidFill>
                <a:cs typeface="+mn-ea"/>
                <a:sym typeface="+mn-lt"/>
              </a:rPr>
              <a:t>(</a:t>
            </a:r>
            <a:r>
              <a:rPr lang="en-US" altLang="zh-CN" sz="1400" dirty="0">
                <a:solidFill>
                  <a:srgbClr val="E5C07B"/>
                </a:solidFill>
                <a:cs typeface="+mn-ea"/>
                <a:sym typeface="+mn-lt"/>
              </a:rPr>
              <a:t>std</a:t>
            </a:r>
            <a:r>
              <a:rPr lang="en-US" altLang="zh-CN" sz="1400" dirty="0">
                <a:solidFill>
                  <a:srgbClr val="ABB2BF"/>
                </a:solidFill>
                <a:cs typeface="+mn-ea"/>
                <a:sym typeface="+mn-lt"/>
              </a:rPr>
              <a:t>::</a:t>
            </a:r>
            <a:r>
              <a:rPr lang="en-US" altLang="zh-CN" sz="1400" dirty="0">
                <a:solidFill>
                  <a:srgbClr val="E5C07B"/>
                </a:solidFill>
                <a:cs typeface="+mn-ea"/>
                <a:sym typeface="+mn-lt"/>
              </a:rPr>
              <a:t>mem</a:t>
            </a:r>
            <a:r>
              <a:rPr lang="en-US" altLang="zh-CN" sz="1400" dirty="0">
                <a:solidFill>
                  <a:srgbClr val="ABB2BF"/>
                </a:solidFill>
                <a:cs typeface="+mn-ea"/>
                <a:sym typeface="+mn-lt"/>
              </a:rPr>
              <a:t>::</a:t>
            </a:r>
            <a:r>
              <a:rPr lang="en-US" altLang="zh-CN" sz="1400" dirty="0" err="1">
                <a:solidFill>
                  <a:srgbClr val="61AFEF"/>
                </a:solidFill>
                <a:cs typeface="+mn-ea"/>
                <a:sym typeface="+mn-lt"/>
              </a:rPr>
              <a:t>size_of</a:t>
            </a:r>
            <a:r>
              <a:rPr lang="en-US" altLang="zh-CN" sz="1400" dirty="0">
                <a:solidFill>
                  <a:srgbClr val="ABB2BF"/>
                </a:solidFill>
                <a:cs typeface="+mn-ea"/>
                <a:sym typeface="+mn-lt"/>
              </a:rPr>
              <a:t>::&lt;</a:t>
            </a:r>
            <a:r>
              <a:rPr lang="en-US" altLang="zh-CN" sz="1400" dirty="0" err="1">
                <a:solidFill>
                  <a:srgbClr val="E5C07B"/>
                </a:solidFill>
                <a:cs typeface="+mn-ea"/>
                <a:sym typeface="+mn-lt"/>
              </a:rPr>
              <a:t>SizeRoundedUp</a:t>
            </a:r>
            <a:r>
              <a:rPr lang="en-US" altLang="zh-CN" sz="1400" dirty="0">
                <a:solidFill>
                  <a:srgbClr val="ABB2BF"/>
                </a:solidFill>
                <a:cs typeface="+mn-ea"/>
                <a:sym typeface="+mn-lt"/>
              </a:rPr>
              <a:t>&gt;(), </a:t>
            </a:r>
            <a:r>
              <a:rPr lang="en-US" altLang="zh-CN" sz="1400" dirty="0">
                <a:solidFill>
                  <a:srgbClr val="D19A66"/>
                </a:solidFill>
                <a:cs typeface="+mn-ea"/>
                <a:sym typeface="+mn-lt"/>
              </a:rPr>
              <a:t>12</a:t>
            </a:r>
            <a:r>
              <a:rPr lang="en-US" altLang="zh-CN" sz="1400" dirty="0">
                <a:solidFill>
                  <a:srgbClr val="ABB2BF"/>
                </a:solidFill>
                <a:cs typeface="+mn-ea"/>
                <a:sym typeface="+mn-lt"/>
              </a:rPr>
              <a:t>);</a:t>
            </a:r>
          </a:p>
          <a:p>
            <a:r>
              <a:rPr lang="en-US" altLang="zh-CN" sz="1400" dirty="0">
                <a:solidFill>
                  <a:srgbClr val="ABB2BF"/>
                </a:solidFill>
                <a:cs typeface="+mn-ea"/>
                <a:sym typeface="+mn-lt"/>
              </a:rPr>
              <a:t>}</a:t>
            </a:r>
            <a:endParaRPr lang="en-US" altLang="zh-CN" sz="1400" b="0" dirty="0">
              <a:solidFill>
                <a:srgbClr val="ABB2BF"/>
              </a:solidFill>
              <a:effectLst/>
              <a:cs typeface="+mn-ea"/>
              <a:sym typeface="+mn-lt"/>
            </a:endParaRPr>
          </a:p>
        </p:txBody>
      </p:sp>
    </p:spTree>
    <p:extLst>
      <p:ext uri="{BB962C8B-B14F-4D97-AF65-F5344CB8AC3E}">
        <p14:creationId xmlns:p14="http://schemas.microsoft.com/office/powerpoint/2010/main" val="9272032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
          </p:nvPr>
        </p:nvSpPr>
        <p:spPr/>
        <p:txBody>
          <a:bodyPr/>
          <a:lstStyle/>
          <a:p>
            <a:r>
              <a:rPr lang="zh-CN" altLang="en-US" b="1" dirty="0">
                <a:solidFill>
                  <a:srgbClr val="C00000"/>
                </a:solidFill>
                <a:latin typeface="+mn-lt"/>
                <a:ea typeface="+mn-ea"/>
                <a:cs typeface="+mn-ea"/>
                <a:sym typeface="+mn-lt"/>
              </a:rPr>
              <a:t>本章小结</a:t>
            </a:r>
            <a:endParaRPr lang="en-US" b="1" dirty="0">
              <a:solidFill>
                <a:srgbClr val="C00000"/>
              </a:solidFill>
              <a:latin typeface="+mn-lt"/>
              <a:ea typeface="+mn-ea"/>
              <a:cs typeface="+mn-ea"/>
              <a:sym typeface="+mn-lt"/>
            </a:endParaRPr>
          </a:p>
        </p:txBody>
      </p:sp>
      <p:sp>
        <p:nvSpPr>
          <p:cNvPr id="3" name="内容占位符 2"/>
          <p:cNvSpPr>
            <a:spLocks noGrp="1"/>
          </p:cNvSpPr>
          <p:nvPr>
            <p:ph idx="10"/>
          </p:nvPr>
        </p:nvSpPr>
        <p:spPr>
          <a:xfrm>
            <a:off x="729175" y="1090007"/>
            <a:ext cx="10733557" cy="4690459"/>
          </a:xfrm>
        </p:spPr>
        <p:txBody>
          <a:bodyPr/>
          <a:lstStyle/>
          <a:p>
            <a:pPr marL="297815" indent="-285750">
              <a:lnSpc>
                <a:spcPct val="150000"/>
              </a:lnSpc>
              <a:buFont typeface="Arial" panose="020B0604020202020204" pitchFamily="34" charset="0"/>
              <a:buChar char="•"/>
            </a:pPr>
            <a:r>
              <a:rPr lang="zh-CN" altLang="en-US" dirty="0">
                <a:latin typeface="+mn-lt"/>
                <a:ea typeface="+mn-ea"/>
                <a:cs typeface="+mn-ea"/>
                <a:sym typeface="+mn-lt"/>
              </a:rPr>
              <a:t>学完本章，希望可以：</a:t>
            </a:r>
            <a:endParaRPr lang="en-US" altLang="zh-CN" dirty="0">
              <a:latin typeface="+mn-lt"/>
              <a:ea typeface="+mn-ea"/>
              <a:cs typeface="+mn-ea"/>
              <a:sym typeface="+mn-lt"/>
            </a:endParaRPr>
          </a:p>
          <a:p>
            <a:pPr marL="811530" lvl="1" indent="-285750">
              <a:lnSpc>
                <a:spcPct val="150000"/>
              </a:lnSpc>
              <a:buFont typeface="Wingdings" panose="05000000000000000000" pitchFamily="2" charset="2"/>
              <a:buChar char="ü"/>
            </a:pPr>
            <a:r>
              <a:rPr lang="zh-CN" altLang="en-US" sz="1800" dirty="0">
                <a:cs typeface="+mn-ea"/>
                <a:sym typeface="+mn-lt"/>
              </a:rPr>
              <a:t>掌握内存对齐规则；</a:t>
            </a:r>
            <a:endParaRPr lang="en-US" altLang="zh-CN" sz="1800" dirty="0">
              <a:cs typeface="+mn-ea"/>
              <a:sym typeface="+mn-lt"/>
            </a:endParaRPr>
          </a:p>
          <a:p>
            <a:pPr marL="811530" lvl="1" indent="-285750">
              <a:lnSpc>
                <a:spcPct val="150000"/>
              </a:lnSpc>
              <a:buFont typeface="Wingdings" panose="05000000000000000000" pitchFamily="2" charset="2"/>
              <a:buChar char="ü"/>
            </a:pPr>
            <a:r>
              <a:rPr lang="zh-CN" altLang="en-US" sz="1800" dirty="0">
                <a:cs typeface="+mn-ea"/>
                <a:sym typeface="+mn-lt"/>
              </a:rPr>
              <a:t>掌握</a:t>
            </a:r>
            <a:r>
              <a:rPr lang="en-US" altLang="zh-CN" sz="1800" dirty="0">
                <a:cs typeface="+mn-ea"/>
                <a:sym typeface="+mn-lt"/>
              </a:rPr>
              <a:t>#[</a:t>
            </a:r>
            <a:r>
              <a:rPr lang="en-US" altLang="zh-CN" sz="1800" dirty="0" err="1">
                <a:cs typeface="+mn-ea"/>
                <a:sym typeface="+mn-lt"/>
              </a:rPr>
              <a:t>repr</a:t>
            </a:r>
            <a:r>
              <a:rPr lang="en-US" altLang="zh-CN" sz="1800" dirty="0">
                <a:cs typeface="+mn-ea"/>
                <a:sym typeface="+mn-lt"/>
              </a:rPr>
              <a:t>]</a:t>
            </a:r>
            <a:r>
              <a:rPr lang="zh-CN" altLang="en-US" sz="1800" dirty="0">
                <a:cs typeface="+mn-ea"/>
                <a:sym typeface="+mn-lt"/>
              </a:rPr>
              <a:t>属性的使用方法以及不同的表示形式；</a:t>
            </a:r>
            <a:endParaRPr lang="en-US" altLang="zh-CN" sz="1800" dirty="0">
              <a:cs typeface="+mn-ea"/>
              <a:sym typeface="+mn-lt"/>
            </a:endParaRPr>
          </a:p>
          <a:p>
            <a:pPr marL="811530" lvl="1" indent="-285750">
              <a:lnSpc>
                <a:spcPct val="150000"/>
              </a:lnSpc>
              <a:buFont typeface="Wingdings" panose="05000000000000000000" pitchFamily="2" charset="2"/>
              <a:buChar char="ü"/>
            </a:pPr>
            <a:r>
              <a:rPr lang="zh-CN" altLang="en-US" sz="1800" dirty="0">
                <a:cs typeface="+mn-ea"/>
                <a:sym typeface="+mn-lt"/>
              </a:rPr>
              <a:t>掌握</a:t>
            </a:r>
            <a:r>
              <a:rPr lang="en-US" altLang="zh-CN" sz="1800" dirty="0">
                <a:cs typeface="+mn-ea"/>
                <a:sym typeface="+mn-lt"/>
              </a:rPr>
              <a:t>Union</a:t>
            </a:r>
            <a:r>
              <a:rPr lang="zh-CN" altLang="en-US" sz="1800" dirty="0">
                <a:cs typeface="+mn-ea"/>
                <a:sym typeface="+mn-lt"/>
              </a:rPr>
              <a:t>数据类型的概念和基本操作；</a:t>
            </a:r>
            <a:endParaRPr lang="en-US" altLang="zh-CN" sz="1800" dirty="0">
              <a:cs typeface="+mn-ea"/>
              <a:sym typeface="+mn-lt"/>
            </a:endParaRPr>
          </a:p>
          <a:p>
            <a:pPr marL="811530" lvl="1" indent="-285750">
              <a:lnSpc>
                <a:spcPct val="150000"/>
              </a:lnSpc>
              <a:buFont typeface="Wingdings" panose="05000000000000000000" pitchFamily="2" charset="2"/>
              <a:buChar char="ü"/>
            </a:pPr>
            <a:endParaRPr lang="en-US" altLang="zh-CN" sz="1800" dirty="0">
              <a:cs typeface="+mn-ea"/>
              <a:sym typeface="+mn-lt"/>
            </a:endParaRPr>
          </a:p>
        </p:txBody>
      </p:sp>
      <p:cxnSp>
        <p:nvCxnSpPr>
          <p:cNvPr id="4" name="直接连接符 3"/>
          <p:cNvCxnSpPr/>
          <p:nvPr/>
        </p:nvCxnSpPr>
        <p:spPr>
          <a:xfrm>
            <a:off x="722092" y="962165"/>
            <a:ext cx="10740640" cy="0"/>
          </a:xfrm>
          <a:prstGeom prst="line">
            <a:avLst/>
          </a:prstGeom>
          <a:ln w="57150"/>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1_Title Slide">
  <a:themeElements>
    <a:clrScheme name="2210">
      <a:dk1>
        <a:srgbClr val="1D1D1A"/>
      </a:dk1>
      <a:lt1>
        <a:srgbClr val="1D1D1A"/>
      </a:lt1>
      <a:dk2>
        <a:srgbClr val="FFFFFF"/>
      </a:dk2>
      <a:lt2>
        <a:srgbClr val="FFFFFF"/>
      </a:lt2>
      <a:accent1>
        <a:srgbClr val="C7000A"/>
      </a:accent1>
      <a:accent2>
        <a:srgbClr val="E9002F"/>
      </a:accent2>
      <a:accent3>
        <a:srgbClr val="F4A100"/>
      </a:accent3>
      <a:accent4>
        <a:srgbClr val="FFFF00"/>
      </a:accent4>
      <a:accent5>
        <a:srgbClr val="232323"/>
      </a:accent5>
      <a:accent6>
        <a:srgbClr val="666666"/>
      </a:accent6>
      <a:hlink>
        <a:srgbClr val="919191"/>
      </a:hlink>
      <a:folHlink>
        <a:srgbClr val="C4C4C4"/>
      </a:folHlink>
    </a:clrScheme>
    <a:fontScheme name="30hhgaeu">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ot="0" spcFirstLastPara="0" vertOverflow="overflow" horzOverflow="overflow" vert="horz" wrap="square" lIns="91440" tIns="45720" rIns="91440" bIns="45720" numCol="1" spcCol="0" rtlCol="0" fromWordArt="0" anchor="ctr" anchorCtr="0" forceAA="0" compatLnSpc="1">
        <a:noAutofit/>
      </a:bodyPr>
      <a:lstStyle>
        <a:defPPr algn="ctr">
          <a:defRPr dirty="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kumimoji="1" sz="3200" dirty="0" smtClean="0">
            <a:solidFill>
              <a:srgbClr val="575756"/>
            </a:solidFill>
            <a:latin typeface="Microsoft YaHei" panose="020B0503020204020204" pitchFamily="34" charset="-122"/>
            <a:ea typeface="Microsoft YaHei"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Title Slide">
  <a:themeElements>
    <a:clrScheme name="2210">
      <a:dk1>
        <a:srgbClr val="1D1D1A"/>
      </a:dk1>
      <a:lt1>
        <a:srgbClr val="1D1D1A"/>
      </a:lt1>
      <a:dk2>
        <a:srgbClr val="FFFFFF"/>
      </a:dk2>
      <a:lt2>
        <a:srgbClr val="FFFFFF"/>
      </a:lt2>
      <a:accent1>
        <a:srgbClr val="C7000A"/>
      </a:accent1>
      <a:accent2>
        <a:srgbClr val="E9002F"/>
      </a:accent2>
      <a:accent3>
        <a:srgbClr val="F4A100"/>
      </a:accent3>
      <a:accent4>
        <a:srgbClr val="FFFF00"/>
      </a:accent4>
      <a:accent5>
        <a:srgbClr val="232323"/>
      </a:accent5>
      <a:accent6>
        <a:srgbClr val="666666"/>
      </a:accent6>
      <a:hlink>
        <a:srgbClr val="919191"/>
      </a:hlink>
      <a:folHlink>
        <a:srgbClr val="C4C4C4"/>
      </a:folHlink>
    </a:clrScheme>
    <a:fontScheme name="30hhgaeu">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ot="0" spcFirstLastPara="0" vertOverflow="overflow" horzOverflow="overflow" vert="horz" wrap="square" lIns="91440" tIns="45720" rIns="91440" bIns="45720" numCol="1" spcCol="0" rtlCol="0" fromWordArt="0" anchor="ctr" anchorCtr="0" forceAA="0" compatLnSpc="1">
        <a:noAutofit/>
      </a:bodyPr>
      <a:lstStyle>
        <a:defPPr algn="ctr">
          <a:defRPr dirty="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kumimoji="1" sz="3200" dirty="0" smtClean="0">
            <a:solidFill>
              <a:srgbClr val="575756"/>
            </a:solidFill>
            <a:latin typeface="Microsoft YaHei" panose="020B0503020204020204" pitchFamily="34" charset="-122"/>
            <a:ea typeface="Microsoft YaHei"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hart page">
  <a:themeElements>
    <a:clrScheme name="updated">
      <a:dk1>
        <a:srgbClr val="1D1D1A"/>
      </a:dk1>
      <a:lt1>
        <a:srgbClr val="1D1D1A"/>
      </a:lt1>
      <a:dk2>
        <a:srgbClr val="FFFFFF"/>
      </a:dk2>
      <a:lt2>
        <a:srgbClr val="FFFFFF"/>
      </a:lt2>
      <a:accent1>
        <a:srgbClr val="C7000A"/>
      </a:accent1>
      <a:accent2>
        <a:srgbClr val="C8102E"/>
      </a:accent2>
      <a:accent3>
        <a:srgbClr val="EA594F"/>
      </a:accent3>
      <a:accent4>
        <a:srgbClr val="F8B53C"/>
      </a:accent4>
      <a:accent5>
        <a:srgbClr val="231815"/>
      </a:accent5>
      <a:accent6>
        <a:srgbClr val="595757"/>
      </a:accent6>
      <a:hlink>
        <a:srgbClr val="898989"/>
      </a:hlink>
      <a:folHlink>
        <a:srgbClr val="B5B5B5"/>
      </a:folHlink>
    </a:clrScheme>
    <a:fontScheme name="30hhgaeu">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C7000B"/>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defRPr sz="1800" dirty="0" smtClean="0">
            <a:solidFill>
              <a:schemeClr val="accent2"/>
            </a:solidFill>
            <a:latin typeface="Microsoft YaHei" panose="020B0503020204020204" pitchFamily="34" charset="-122"/>
            <a:ea typeface="Microsoft YaHei"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4_Chart page">
  <a:themeElements>
    <a:clrScheme name="Custom 29">
      <a:dk1>
        <a:srgbClr val="1D1D1A"/>
      </a:dk1>
      <a:lt1>
        <a:srgbClr val="666666"/>
      </a:lt1>
      <a:dk2>
        <a:srgbClr val="FFFFFF"/>
      </a:dk2>
      <a:lt2>
        <a:srgbClr val="EBEBEB"/>
      </a:lt2>
      <a:accent1>
        <a:srgbClr val="C7000A"/>
      </a:accent1>
      <a:accent2>
        <a:srgbClr val="E9002F"/>
      </a:accent2>
      <a:accent3>
        <a:srgbClr val="F4A100"/>
      </a:accent3>
      <a:accent4>
        <a:srgbClr val="FFFF00"/>
      </a:accent4>
      <a:accent5>
        <a:srgbClr val="232323"/>
      </a:accent5>
      <a:accent6>
        <a:srgbClr val="666666"/>
      </a:accent6>
      <a:hlink>
        <a:srgbClr val="919191"/>
      </a:hlink>
      <a:folHlink>
        <a:srgbClr val="C4C4C4"/>
      </a:folHlink>
    </a:clrScheme>
    <a:fontScheme name="30hhgaeu">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solidFill>
            <a:srgbClr val="151515"/>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vert="horz" wrap="none" rtlCol="0">
        <a:spAutoFit/>
      </a:bodyPr>
      <a:lstStyle>
        <a:defPPr algn="l">
          <a:lnSpc>
            <a:spcPts val="3440"/>
          </a:lnSpc>
          <a:defRPr dirty="0" smtClean="0">
            <a:latin typeface="Microsoft YaHei" panose="020B0503020204020204" pitchFamily="34" charset="-122"/>
            <a:ea typeface="Microsoft YaHei"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End page">
  <a:themeElements>
    <a:clrScheme name="2210">
      <a:dk1>
        <a:srgbClr val="1D1D1A"/>
      </a:dk1>
      <a:lt1>
        <a:srgbClr val="1D1D1A"/>
      </a:lt1>
      <a:dk2>
        <a:srgbClr val="FFFFFF"/>
      </a:dk2>
      <a:lt2>
        <a:srgbClr val="FFFFFF"/>
      </a:lt2>
      <a:accent1>
        <a:srgbClr val="C7000A"/>
      </a:accent1>
      <a:accent2>
        <a:srgbClr val="E9002F"/>
      </a:accent2>
      <a:accent3>
        <a:srgbClr val="F4A100"/>
      </a:accent3>
      <a:accent4>
        <a:srgbClr val="FFFF00"/>
      </a:accent4>
      <a:accent5>
        <a:srgbClr val="232323"/>
      </a:accent5>
      <a:accent6>
        <a:srgbClr val="666666"/>
      </a:accent6>
      <a:hlink>
        <a:srgbClr val="919191"/>
      </a:hlink>
      <a:folHlink>
        <a:srgbClr val="C4C4C4"/>
      </a:folHlink>
    </a:clrScheme>
    <a:fontScheme name="30hhgaeu">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A002F"/>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289</TotalTime>
  <Words>3762</Words>
  <Application>Microsoft Office PowerPoint</Application>
  <PresentationFormat>自定义</PresentationFormat>
  <Paragraphs>343</Paragraphs>
  <Slides>16</Slides>
  <Notes>15</Notes>
  <HiddenSlides>0</HiddenSlides>
  <MMClips>0</MMClips>
  <ScaleCrop>false</ScaleCrop>
  <HeadingPairs>
    <vt:vector size="6" baseType="variant">
      <vt:variant>
        <vt:lpstr>已用的字体</vt:lpstr>
      </vt:variant>
      <vt:variant>
        <vt:i4>6</vt:i4>
      </vt:variant>
      <vt:variant>
        <vt:lpstr>主题</vt:lpstr>
      </vt:variant>
      <vt:variant>
        <vt:i4>5</vt:i4>
      </vt:variant>
      <vt:variant>
        <vt:lpstr>幻灯片标题</vt:lpstr>
      </vt:variant>
      <vt:variant>
        <vt:i4>16</vt:i4>
      </vt:variant>
    </vt:vector>
  </HeadingPairs>
  <TitlesOfParts>
    <vt:vector size="27" baseType="lpstr">
      <vt:lpstr>微软雅黑</vt:lpstr>
      <vt:lpstr>微软雅黑</vt:lpstr>
      <vt:lpstr>Arial</vt:lpstr>
      <vt:lpstr>Calibri</vt:lpstr>
      <vt:lpstr>Huawei Sans</vt:lpstr>
      <vt:lpstr>Wingdings</vt:lpstr>
      <vt:lpstr>1_Title Slide</vt:lpstr>
      <vt:lpstr>2_Title Slide</vt:lpstr>
      <vt:lpstr>Chart page</vt:lpstr>
      <vt:lpstr>4_Chart page</vt:lpstr>
      <vt:lpstr>End page</vt:lpstr>
      <vt:lpstr>内存布局</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Huawei Technologies Co.,Ltd.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内存布局</dc:title>
  <dc:creator>fanyan (A)</dc:creator>
  <cp:lastModifiedBy>Zhangyandong (ben)</cp:lastModifiedBy>
  <cp:revision>41</cp:revision>
  <dcterms:created xsi:type="dcterms:W3CDTF">2023-10-18T07:25:52Z</dcterms:created>
  <dcterms:modified xsi:type="dcterms:W3CDTF">2024-11-20T02:35:24Z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2015_ms_pID_725343">
    <vt:lpwstr>(3)R+ZaBigjsqXXzNIODOTq4GsWf1lxrns6ZDV0zysDDmMENiG1xC0lM4PjUGukmCzQlab6jX8b
C0GLi46dWQD3yjcjF52V0roatP3fyIYmGdDStfrxT+BTQfiEJ25SuiKjgpYWt7FxvIBCTL0h
qFrbMobV5SPDOwU4t03bW87uwKLeoZYOEMi45FAzaEZcsuY2eumgzktMMUPX/tPgY6d30oEg
qioOVEj7n/UfiYEBSP</vt:lpwstr>
  </property>
  <property fmtid="{D5CDD505-2E9C-101B-9397-08002B2CF9AE}" pid="3" name="_2015_ms_pID_7253431">
    <vt:lpwstr>ixV1p0Uxnc3E88yqK+MSbhnEVcWyzX87Pt8HcQRyPlwrYWv3lOotxD
GmTHevHvE7cIlgXEelbaglWVNUiU/Kl/PFYNSCRdA85aWnHlIB7DCsbl2p9JXpNQA8bT/Xg1
5mXwcudEj88Le0XGG+1fio540CoztdjvoWN/7EZd5WHghhY9Zxmwf6iovyr5zA+zSTRVeDKk
vsb1N9ZophB5YN4BaVBMQLE6ueCoGX/ExdpS</vt:lpwstr>
  </property>
  <property fmtid="{D5CDD505-2E9C-101B-9397-08002B2CF9AE}" pid="4" name="_2015_ms_pID_7253432">
    <vt:lpwstr>sQ==</vt:lpwstr>
  </property>
  <property fmtid="{D5CDD505-2E9C-101B-9397-08002B2CF9AE}" pid="5" name="KSOProductBuildVer">
    <vt:lpwstr>2052-0.0.0.0</vt:lpwstr>
  </property>
  <property fmtid="{D5CDD505-2E9C-101B-9397-08002B2CF9AE}" pid="6" name="_readonly">
    <vt:lpwstr/>
  </property>
  <property fmtid="{D5CDD505-2E9C-101B-9397-08002B2CF9AE}" pid="7" name="_change">
    <vt:lpwstr/>
  </property>
  <property fmtid="{D5CDD505-2E9C-101B-9397-08002B2CF9AE}" pid="8" name="_full-control">
    <vt:lpwstr/>
  </property>
  <property fmtid="{D5CDD505-2E9C-101B-9397-08002B2CF9AE}" pid="9" name="sflag">
    <vt:lpwstr>1697544692</vt:lpwstr>
  </property>
</Properties>
</file>