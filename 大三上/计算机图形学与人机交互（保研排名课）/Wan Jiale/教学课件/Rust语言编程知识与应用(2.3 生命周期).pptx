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2"/>
    <p:sldMasterId id="2147483659" r:id="rId3"/>
    <p:sldMasterId id="2147483660" r:id="rId4"/>
    <p:sldMasterId id="2147483662" r:id="rId5"/>
  </p:sldMasterIdLst>
  <p:notesMasterIdLst>
    <p:notesMasterId r:id="rId27"/>
  </p:notesMasterIdLst>
  <p:handoutMasterIdLst>
    <p:handoutMasterId r:id="rId28"/>
  </p:handoutMasterIdLst>
  <p:sldIdLst>
    <p:sldId id="283" r:id="rId6"/>
    <p:sldId id="288" r:id="rId7"/>
    <p:sldId id="422" r:id="rId8"/>
    <p:sldId id="439" r:id="rId9"/>
    <p:sldId id="440" r:id="rId10"/>
    <p:sldId id="442" r:id="rId11"/>
    <p:sldId id="423" r:id="rId12"/>
    <p:sldId id="457" r:id="rId13"/>
    <p:sldId id="458" r:id="rId14"/>
    <p:sldId id="438" r:id="rId15"/>
    <p:sldId id="426" r:id="rId16"/>
    <p:sldId id="437" r:id="rId17"/>
    <p:sldId id="427" r:id="rId18"/>
    <p:sldId id="428" r:id="rId19"/>
    <p:sldId id="436" r:id="rId20"/>
    <p:sldId id="431" r:id="rId21"/>
    <p:sldId id="432" r:id="rId22"/>
    <p:sldId id="434" r:id="rId23"/>
    <p:sldId id="435" r:id="rId24"/>
    <p:sldId id="292" r:id="rId25"/>
    <p:sldId id="280" r:id="rId26"/>
  </p:sldIdLst>
  <p:sldSz cx="12196763"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页_图片版" id="{E8D0D622-F6C6-F44A-B365-B4A5FF6195C2}">
          <p14:sldIdLst>
            <p14:sldId id="283"/>
          </p14:sldIdLst>
        </p14:section>
        <p14:section name="目录页" id="{9D221634-295C-7843-AF5C-A0CB4F229241}">
          <p14:sldIdLst>
            <p14:sldId id="288"/>
          </p14:sldIdLst>
        </p14:section>
        <p14:section name="章节页" id="{FD05EE94-C931-8C4B-83A2-004B32AA1207}">
          <p14:sldIdLst>
            <p14:sldId id="422"/>
            <p14:sldId id="439"/>
            <p14:sldId id="440"/>
            <p14:sldId id="442"/>
            <p14:sldId id="423"/>
            <p14:sldId id="457"/>
            <p14:sldId id="458"/>
            <p14:sldId id="438"/>
            <p14:sldId id="426"/>
            <p14:sldId id="437"/>
            <p14:sldId id="427"/>
            <p14:sldId id="428"/>
            <p14:sldId id="436"/>
            <p14:sldId id="431"/>
            <p14:sldId id="432"/>
            <p14:sldId id="434"/>
            <p14:sldId id="435"/>
            <p14:sldId id="292"/>
          </p14:sldIdLst>
        </p14:section>
        <p14:section name="结束页" id="{3F9D54A7-3BE2-2540-BB4C-DFE5509085F3}">
          <p14:sldIdLst>
            <p14:sldId id="280"/>
          </p14:sldIdLst>
        </p14:section>
      </p14:sectionLst>
    </p:ext>
    <p:ext uri="{EFAFB233-063F-42B5-8137-9DF3F51BA10A}">
      <p15:sldGuideLst xmlns:p15="http://schemas.microsoft.com/office/powerpoint/2012/main">
        <p15:guide id="1" pos="3701">
          <p15:clr>
            <a:srgbClr val="A4A3A4"/>
          </p15:clr>
        </p15:guide>
        <p15:guide id="2" orient="horz" pos="2159">
          <p15:clr>
            <a:srgbClr val="A4A3A4"/>
          </p15:clr>
        </p15:guide>
        <p15:guide id="3" pos="3539">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002" name="zhanghandong WX930509_Jj22FnMn" initials="authorId_AK20210901:AK20210901JXNSXO4676065" lastIdx="1690299889" clrIdx="0"/>
  <p:cmAuthor id="1" name="liziqiang (A)" initials="l(" lastIdx="36" clrIdx="0"/>
  <p:cmAuthor id="2000" name="liziqiang 00556901_ERbuA7r6" initials="authorId_AK20210901:AK20210901JXNSXO4497046" lastIdx="1152287841" clrIdx="0"/>
  <p:cmAuthor id="2001" name="gaoshang 00419539_MRJvMvEj" initials="authorId_AK20210901:AK20210901JXNSXO980865" lastIdx="1689281868"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0000"/>
    <a:srgbClr val="E57B84"/>
    <a:srgbClr val="E6A8AD"/>
    <a:srgbClr val="E57984"/>
    <a:srgbClr val="FFFFFF"/>
    <a:srgbClr val="151515"/>
    <a:srgbClr val="C7000B"/>
    <a:srgbClr val="575756"/>
    <a:srgbClr val="DD4654"/>
    <a:srgbClr val="F3D2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717" autoAdjust="0"/>
    <p:restoredTop sz="88367" autoAdjust="0"/>
  </p:normalViewPr>
  <p:slideViewPr>
    <p:cSldViewPr snapToGrid="0" snapToObjects="1">
      <p:cViewPr varScale="1">
        <p:scale>
          <a:sx n="66" d="100"/>
          <a:sy n="66" d="100"/>
        </p:scale>
        <p:origin x="40" y="212"/>
      </p:cViewPr>
      <p:guideLst>
        <p:guide pos="3701"/>
        <p:guide orient="horz" pos="2159"/>
        <p:guide pos="3539"/>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6" d="100"/>
          <a:sy n="96" d="100"/>
        </p:scale>
        <p:origin x="3104" y="1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CF71B8-DF2A-2E41-BE66-2E18A767DA8A}" type="datetimeFigureOut">
              <a:rPr lang="en-US" smtClean="0"/>
              <a:t>11/20/2024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5F0CC5-85BE-A64A-BD47-54C66F7E93E3}"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D60A27-BF12-6744-9E93-932A0E34D8BB}" type="datetimeFigureOut">
              <a:rPr lang="en-US" smtClean="0"/>
              <a:t>11/20/2024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7326F3-4732-B74B-9C70-D0992466E49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835" algn="l" defTabSz="1219200" rtl="0" eaLnBrk="1" latinLnBrk="0" hangingPunct="1">
      <a:defRPr sz="1600" kern="1200">
        <a:solidFill>
          <a:schemeClr val="tx1"/>
        </a:solidFill>
        <a:latin typeface="+mn-lt"/>
        <a:ea typeface="+mn-ea"/>
        <a:cs typeface="+mn-cs"/>
      </a:defRPr>
    </a:lvl8pPr>
    <a:lvl9pPr marL="4877435"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6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F07326F3-4732-B74B-9C70-D0992466E499}" type="slidenum">
              <a:rPr lang="en-US" smtClean="0"/>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07326F3-4732-B74B-9C70-D0992466E499}" type="slidenum">
              <a:rPr lang="en-US" smtClean="0"/>
              <a:t>21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探索">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screen"/>
          <a:srcRect/>
          <a:stretch>
            <a:fillRect/>
          </a:stretch>
        </p:blipFill>
        <p:spPr>
          <a:xfrm>
            <a:off x="1" y="0"/>
            <a:ext cx="12196763" cy="5602265"/>
          </a:xfrm>
          <a:prstGeom prst="rect">
            <a:avLst/>
          </a:prstGeom>
        </p:spPr>
      </p:pic>
      <p:sp>
        <p:nvSpPr>
          <p:cNvPr id="7" name="L 形 6"/>
          <p:cNvSpPr/>
          <p:nvPr userDrawn="1"/>
        </p:nvSpPr>
        <p:spPr>
          <a:xfrm rot="5400000">
            <a:off x="7853942" y="2130562"/>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10" name="Title 1"/>
          <p:cNvSpPr>
            <a:spLocks noGrp="1"/>
          </p:cNvSpPr>
          <p:nvPr>
            <p:ph type="ctrTitle" hasCustomPrompt="1"/>
          </p:nvPr>
        </p:nvSpPr>
        <p:spPr>
          <a:xfrm>
            <a:off x="898996" y="907092"/>
            <a:ext cx="6559809" cy="690255"/>
          </a:xfrm>
          <a:prstGeom prst="rect">
            <a:avLst/>
          </a:prstGeom>
          <a:ln>
            <a:noFill/>
            <a:prstDash val="dash"/>
          </a:ln>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6"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攀登">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a:extLst>
              <a:ext uri="{28A0092B-C50C-407E-A947-70E740481C1C}">
                <a14:useLocalDpi xmlns:a14="http://schemas.microsoft.com/office/drawing/2010/main" val="0"/>
              </a:ext>
            </a:extLst>
          </a:blip>
          <a:srcRect t="13825" r="2034" b="5607"/>
          <a:stretch>
            <a:fillRect/>
          </a:stretch>
        </p:blipFill>
        <p:spPr>
          <a:xfrm>
            <a:off x="1" y="-36206"/>
            <a:ext cx="12196763" cy="5638471"/>
          </a:xfrm>
          <a:prstGeom prst="rect">
            <a:avLst/>
          </a:prstGeom>
        </p:spPr>
      </p:pic>
      <p:sp>
        <p:nvSpPr>
          <p:cNvPr id="2"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8" name="L 形 7"/>
          <p:cNvSpPr/>
          <p:nvPr userDrawn="1"/>
        </p:nvSpPr>
        <p:spPr>
          <a:xfrm rot="5400000">
            <a:off x="7929967" y="165755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探索">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154" y="-57144"/>
            <a:ext cx="12243078" cy="5625189"/>
          </a:xfrm>
          <a:prstGeom prst="rect">
            <a:avLst/>
          </a:prstGeom>
        </p:spPr>
      </p:pic>
      <p:sp>
        <p:nvSpPr>
          <p:cNvPr id="10" name="Title 1"/>
          <p:cNvSpPr>
            <a:spLocks noGrp="1"/>
          </p:cNvSpPr>
          <p:nvPr>
            <p:ph type="ctrTitle" hasCustomPrompt="1"/>
          </p:nvPr>
        </p:nvSpPr>
        <p:spPr>
          <a:xfrm>
            <a:off x="898996" y="907092"/>
            <a:ext cx="6559809" cy="690255"/>
          </a:xfrm>
          <a:prstGeom prst="rect">
            <a:avLst/>
          </a:prstGeom>
          <a:ln>
            <a:noFill/>
            <a:prstDash val="dash"/>
          </a:ln>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6"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智能">
    <p:spTree>
      <p:nvGrpSpPr>
        <p:cNvPr id="1" name=""/>
        <p:cNvGrpSpPr/>
        <p:nvPr/>
      </p:nvGrpSpPr>
      <p:grpSpPr>
        <a:xfrm>
          <a:off x="0" y="0"/>
          <a:ext cx="0" cy="0"/>
          <a:chOff x="0" y="0"/>
          <a:chExt cx="0" cy="0"/>
        </a:xfrm>
      </p:grpSpPr>
      <p:pic>
        <p:nvPicPr>
          <p:cNvPr id="14" name="图片 13"/>
          <p:cNvPicPr>
            <a:picLocks noChangeAspect="1"/>
          </p:cNvPicPr>
          <p:nvPr userDrawn="1"/>
        </p:nvPicPr>
        <p:blipFill rotWithShape="1">
          <a:blip r:embed="rId2" cstate="screen"/>
          <a:srcRect/>
          <a:stretch>
            <a:fillRect/>
          </a:stretch>
        </p:blipFill>
        <p:spPr>
          <a:xfrm>
            <a:off x="1" y="0"/>
            <a:ext cx="12196763" cy="5602265"/>
          </a:xfrm>
          <a:prstGeom prst="rect">
            <a:avLst/>
          </a:prstGeom>
        </p:spPr>
      </p:pic>
      <p:sp>
        <p:nvSpPr>
          <p:cNvPr id="18" name="L 形 17"/>
          <p:cNvSpPr/>
          <p:nvPr userDrawn="1"/>
        </p:nvSpPr>
        <p:spPr>
          <a:xfrm rot="5400000">
            <a:off x="5824025" y="256863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8"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创新">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screen"/>
          <a:srcRect/>
          <a:stretch>
            <a:fillRect/>
          </a:stretch>
        </p:blipFill>
        <p:spPr>
          <a:xfrm>
            <a:off x="1" y="0"/>
            <a:ext cx="12196763" cy="5602265"/>
          </a:xfrm>
          <a:prstGeom prst="rect">
            <a:avLst/>
          </a:prstGeom>
        </p:spPr>
      </p:pic>
      <p:sp>
        <p:nvSpPr>
          <p:cNvPr id="9" name="L 形 8"/>
          <p:cNvSpPr/>
          <p:nvPr userDrawn="1"/>
        </p:nvSpPr>
        <p:spPr>
          <a:xfrm rot="5400000">
            <a:off x="5945516" y="2323519"/>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8"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0363" cy="1325563"/>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智能">
    <p:spTree>
      <p:nvGrpSpPr>
        <p:cNvPr id="1" name=""/>
        <p:cNvGrpSpPr/>
        <p:nvPr/>
      </p:nvGrpSpPr>
      <p:grpSpPr>
        <a:xfrm>
          <a:off x="0" y="0"/>
          <a:ext cx="0" cy="0"/>
          <a:chOff x="0" y="0"/>
          <a:chExt cx="0" cy="0"/>
        </a:xfrm>
      </p:grpSpPr>
      <p:pic>
        <p:nvPicPr>
          <p:cNvPr id="14" name="图片 13"/>
          <p:cNvPicPr>
            <a:picLocks noChangeAspect="1"/>
          </p:cNvPicPr>
          <p:nvPr userDrawn="1"/>
        </p:nvPicPr>
        <p:blipFill rotWithShape="1">
          <a:blip r:embed="rId2" cstate="screen"/>
          <a:srcRect/>
          <a:stretch>
            <a:fillRect/>
          </a:stretch>
        </p:blipFill>
        <p:spPr>
          <a:xfrm>
            <a:off x="1" y="0"/>
            <a:ext cx="12196763" cy="5602265"/>
          </a:xfrm>
          <a:prstGeom prst="rect">
            <a:avLst/>
          </a:prstGeom>
        </p:spPr>
      </p:pic>
      <p:sp>
        <p:nvSpPr>
          <p:cNvPr id="18" name="L 形 17"/>
          <p:cNvSpPr/>
          <p:nvPr userDrawn="1"/>
        </p:nvSpPr>
        <p:spPr>
          <a:xfrm rot="5400000">
            <a:off x="5824025" y="256863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8"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创新">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screen"/>
          <a:srcRect/>
          <a:stretch>
            <a:fillRect/>
          </a:stretch>
        </p:blipFill>
        <p:spPr>
          <a:xfrm>
            <a:off x="1" y="0"/>
            <a:ext cx="12196763" cy="5602265"/>
          </a:xfrm>
          <a:prstGeom prst="rect">
            <a:avLst/>
          </a:prstGeom>
        </p:spPr>
      </p:pic>
      <p:sp>
        <p:nvSpPr>
          <p:cNvPr id="9" name="L 形 8"/>
          <p:cNvSpPr/>
          <p:nvPr userDrawn="1"/>
        </p:nvSpPr>
        <p:spPr>
          <a:xfrm rot="5400000">
            <a:off x="5945516" y="2323519"/>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8"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攀登">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a:extLst>
              <a:ext uri="{28A0092B-C50C-407E-A947-70E740481C1C}">
                <a14:useLocalDpi xmlns:a14="http://schemas.microsoft.com/office/drawing/2010/main" val="0"/>
              </a:ext>
            </a:extLst>
          </a:blip>
          <a:srcRect t="13825" r="2034" b="5607"/>
          <a:stretch>
            <a:fillRect/>
          </a:stretch>
        </p:blipFill>
        <p:spPr>
          <a:xfrm>
            <a:off x="1" y="-36206"/>
            <a:ext cx="12196763" cy="5638471"/>
          </a:xfrm>
          <a:prstGeom prst="rect">
            <a:avLst/>
          </a:prstGeom>
        </p:spPr>
      </p:pic>
      <p:sp>
        <p:nvSpPr>
          <p:cNvPr id="2"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8" name="L 形 7"/>
          <p:cNvSpPr/>
          <p:nvPr userDrawn="1"/>
        </p:nvSpPr>
        <p:spPr>
          <a:xfrm rot="5400000">
            <a:off x="7929967" y="165755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5"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Microsoft YaHei" panose="020B0503020204020204" pitchFamily="34" charset="-122"/>
                <a:ea typeface="Microsoft YaHei" panose="020B0503020204020204" pitchFamily="34" charset="-122"/>
              </a:defRPr>
            </a:lvl1pPr>
            <a:lvl2pPr marL="593725" indent="0" algn="ctr">
              <a:buNone/>
              <a:defRPr sz="2600"/>
            </a:lvl2pPr>
            <a:lvl3pPr marL="1188085" indent="0" algn="ctr">
              <a:buNone/>
              <a:defRPr sz="2340"/>
            </a:lvl3pPr>
            <a:lvl4pPr marL="1781810" indent="0" algn="ctr">
              <a:buNone/>
              <a:defRPr sz="2080"/>
            </a:lvl4pPr>
            <a:lvl5pPr marL="2375535" indent="0" algn="ctr">
              <a:buNone/>
              <a:defRPr sz="2080"/>
            </a:lvl5pPr>
            <a:lvl6pPr marL="2969260" indent="0" algn="ctr">
              <a:buNone/>
              <a:defRPr sz="2080"/>
            </a:lvl6pPr>
            <a:lvl7pPr marL="3563620" indent="0" algn="ctr">
              <a:buNone/>
              <a:defRPr sz="2080"/>
            </a:lvl7pPr>
            <a:lvl8pPr marL="4157345" indent="0" algn="ctr">
              <a:buNone/>
              <a:defRPr sz="2080"/>
            </a:lvl8pPr>
            <a:lvl9pPr marL="4751070" indent="0" algn="ctr">
              <a:buNone/>
              <a:defRPr sz="2080"/>
            </a:lvl9pPr>
          </a:lstStyle>
          <a:p>
            <a:r>
              <a:rPr lang="zh-CN" altLang="en-US" dirty="0"/>
              <a:t>单击此处添加标题</a:t>
            </a:r>
            <a:endParaRPr lang="en-US" dirty="0"/>
          </a:p>
        </p:txBody>
      </p:sp>
      <p:sp>
        <p:nvSpPr>
          <p:cNvPr id="7" name="Content Placeholder 2"/>
          <p:cNvSpPr>
            <a:spLocks noGrp="1"/>
          </p:cNvSpPr>
          <p:nvPr>
            <p:ph idx="10" hasCustomPrompt="1"/>
          </p:nvPr>
        </p:nvSpPr>
        <p:spPr>
          <a:xfrm>
            <a:off x="736908" y="1501989"/>
            <a:ext cx="10733557" cy="4690459"/>
          </a:xfrm>
          <a:prstGeom prst="rect">
            <a:avLst/>
          </a:prstGeom>
        </p:spPr>
        <p:txBody>
          <a:bodyPr lIns="0" tIns="0" rIns="0" bIns="0"/>
          <a:lstStyle>
            <a:lvl1pPr marL="12065" indent="0">
              <a:lnSpc>
                <a:spcPct val="100000"/>
              </a:lnSpc>
              <a:spcBef>
                <a:spcPts val="0"/>
              </a:spcBef>
              <a:buFontTx/>
              <a:buNone/>
              <a:tabLst>
                <a:tab pos="1208405" algn="ctr"/>
              </a:tabLst>
              <a:defRPr sz="18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780" indent="-171450">
              <a:buFont typeface="Arial" panose="020B0604020202020204" pitchFamily="34" charset="0"/>
              <a:buChar char="•"/>
              <a:tabLst>
                <a:tab pos="1208405" algn="ctr"/>
              </a:tabLst>
              <a:defRPr sz="1300" baseline="0"/>
            </a:lvl2pPr>
            <a:lvl3pPr marL="525780" indent="-171450">
              <a:buFont typeface="Arial" panose="020B0604020202020204" pitchFamily="34" charset="0"/>
              <a:buChar char="•"/>
              <a:tabLst>
                <a:tab pos="1208405" algn="ctr"/>
              </a:tabLst>
              <a:defRPr sz="1300" baseline="0"/>
            </a:lvl3pPr>
            <a:lvl4pPr marL="525780" indent="-171450">
              <a:buFont typeface="Arial" panose="020B0604020202020204" pitchFamily="34" charset="0"/>
              <a:buChar char="•"/>
              <a:tabLst>
                <a:tab pos="1208405" algn="ctr"/>
              </a:tabLst>
              <a:defRPr sz="1300" baseline="0"/>
            </a:lvl4pPr>
            <a:lvl5pPr marL="525780" indent="-171450">
              <a:buFont typeface="Arial" panose="020B0604020202020204" pitchFamily="34" charset="0"/>
              <a:buChar char="•"/>
              <a:tabLst>
                <a:tab pos="1208405" algn="ctr"/>
              </a:tabLst>
              <a:defRPr sz="1300" baseline="0"/>
            </a:lvl5pPr>
          </a:lstStyle>
          <a:p>
            <a:pPr lvl="0"/>
            <a:r>
              <a:rPr lang="zh-CN" altLang="en-US" dirty="0"/>
              <a:t>单击此处添加文本</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nd page">
    <p:bg>
      <p:bgPr>
        <a:solidFill>
          <a:srgbClr val="FFFFFF"/>
        </a:solidFill>
        <a:effectLst/>
      </p:bgPr>
    </p:bg>
    <p:spTree>
      <p:nvGrpSpPr>
        <p:cNvPr id="1" name=""/>
        <p:cNvGrpSpPr/>
        <p:nvPr/>
      </p:nvGrpSpPr>
      <p:grpSpPr>
        <a:xfrm>
          <a:off x="0" y="0"/>
          <a:ext cx="0" cy="0"/>
          <a:chOff x="0" y="0"/>
          <a:chExt cx="0" cy="0"/>
        </a:xfrm>
      </p:grpSpPr>
      <p:sp>
        <p:nvSpPr>
          <p:cNvPr id="4" name="TextBox 3"/>
          <p:cNvSpPr txBox="1"/>
          <p:nvPr userDrawn="1"/>
        </p:nvSpPr>
        <p:spPr>
          <a:xfrm>
            <a:off x="607486" y="1402064"/>
            <a:ext cx="3921034" cy="854717"/>
          </a:xfrm>
          <a:prstGeom prst="rect">
            <a:avLst/>
          </a:prstGeom>
          <a:noFill/>
        </p:spPr>
        <p:txBody>
          <a:bodyPr wrap="square" rtlCol="0">
            <a:spAutoFit/>
          </a:bodyPr>
          <a:lstStyle/>
          <a:p>
            <a:pPr algn="l"/>
            <a:r>
              <a:rPr lang="en-US" sz="4800" dirty="0">
                <a:solidFill>
                  <a:schemeClr val="tx1"/>
                </a:solidFill>
              </a:rPr>
              <a:t>Thank you.</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theme" Target="../theme/theme4.xml"/><Relationship Id="rId1" Type="http://schemas.openxmlformats.org/officeDocument/2006/relationships/slideLayout" Target="../slideLayouts/slideLayout10.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theme" Target="../theme/theme5.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5" name="Text Placeholder 14"/>
          <p:cNvSpPr>
            <a:spLocks noGrp="1"/>
          </p:cNvSpPr>
          <p:nvPr>
            <p:ph type="body" idx="1"/>
          </p:nvPr>
        </p:nvSpPr>
        <p:spPr>
          <a:xfrm>
            <a:off x="909309" y="6270651"/>
            <a:ext cx="1982316" cy="153611"/>
          </a:xfrm>
          <a:prstGeom prst="rect">
            <a:avLst/>
          </a:prstGeom>
        </p:spPr>
        <p:txBody>
          <a:bodyPr vert="horz" lIns="0" tIns="0" rIns="0" bIns="0" rtlCol="0">
            <a:noAutofit/>
          </a:bodyPr>
          <a:lstStyle/>
          <a:p>
            <a:pPr lvl="0"/>
            <a:r>
              <a:rPr lang="en-US" dirty="0"/>
              <a:t>Edit Master text styles</a:t>
            </a:r>
          </a:p>
        </p:txBody>
      </p:sp>
      <p:pic>
        <p:nvPicPr>
          <p:cNvPr id="4" name="图片 3"/>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206684" y="5970030"/>
            <a:ext cx="2256665" cy="49353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ts val="3440"/>
        </a:lnSpc>
        <a:spcBef>
          <a:spcPct val="0"/>
        </a:spcBef>
        <a:buNone/>
        <a:defRPr sz="32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0" indent="0" algn="l" defTabSz="914400" rtl="0" eaLnBrk="1" latinLnBrk="0" hangingPunct="1">
        <a:lnSpc>
          <a:spcPct val="100000"/>
        </a:lnSpc>
        <a:spcBef>
          <a:spcPts val="0"/>
        </a:spcBef>
        <a:buFontTx/>
        <a:buNone/>
        <a:defRPr sz="1000" kern="1200">
          <a:solidFill>
            <a:srgbClr val="1D1D1B"/>
          </a:solidFill>
          <a:latin typeface="Arial" panose="020B0604020202020204" pitchFamily="34" charset="0"/>
          <a:ea typeface="Microsoft YaHei" panose="020B0503020204020204" pitchFamily="34"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5" name="Text Placeholder 14"/>
          <p:cNvSpPr>
            <a:spLocks noGrp="1"/>
          </p:cNvSpPr>
          <p:nvPr>
            <p:ph type="body" idx="1"/>
          </p:nvPr>
        </p:nvSpPr>
        <p:spPr>
          <a:xfrm>
            <a:off x="909309" y="6270651"/>
            <a:ext cx="1982316" cy="153611"/>
          </a:xfrm>
          <a:prstGeom prst="rect">
            <a:avLst/>
          </a:prstGeom>
        </p:spPr>
        <p:txBody>
          <a:bodyPr vert="horz" lIns="0" tIns="0" rIns="0" bIns="0" rtlCol="0">
            <a:noAutofit/>
          </a:bodyPr>
          <a:lstStyle/>
          <a:p>
            <a:pPr lvl="0"/>
            <a:r>
              <a:rPr lang="en-US" dirty="0"/>
              <a:t>Edit Master text styles</a:t>
            </a:r>
          </a:p>
        </p:txBody>
      </p:sp>
      <p:pic>
        <p:nvPicPr>
          <p:cNvPr id="4" name="图片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206684" y="5970030"/>
            <a:ext cx="2256665" cy="493531"/>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Lst>
  <p:hf hdr="0" ftr="0" dt="0"/>
  <p:txStyles>
    <p:titleStyle>
      <a:lvl1pPr algn="l" defTabSz="914400" rtl="0" eaLnBrk="1" latinLnBrk="0" hangingPunct="1">
        <a:lnSpc>
          <a:spcPts val="3440"/>
        </a:lnSpc>
        <a:spcBef>
          <a:spcPct val="0"/>
        </a:spcBef>
        <a:buNone/>
        <a:defRPr sz="32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0" indent="0" algn="l" defTabSz="914400" rtl="0" eaLnBrk="1" latinLnBrk="0" hangingPunct="1">
        <a:lnSpc>
          <a:spcPct val="100000"/>
        </a:lnSpc>
        <a:spcBef>
          <a:spcPts val="0"/>
        </a:spcBef>
        <a:buFontTx/>
        <a:buNone/>
        <a:defRPr sz="1000" kern="1200">
          <a:solidFill>
            <a:srgbClr val="1D1D1B"/>
          </a:solidFill>
          <a:latin typeface="Arial" panose="020B0604020202020204" pitchFamily="34" charset="0"/>
          <a:ea typeface="Microsoft YaHei" panose="020B0503020204020204" pitchFamily="34"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2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2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2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67" y="6356939"/>
            <a:ext cx="1463467" cy="246221"/>
          </a:xfrm>
          <a:prstGeom prst="rect">
            <a:avLst/>
          </a:prstGeom>
          <a:noFill/>
        </p:spPr>
        <p:txBody>
          <a:bodyPr wrap="square" rtlCol="0">
            <a:spAutoFit/>
          </a:bodyPr>
          <a:lstStyle/>
          <a:p>
            <a:r>
              <a:rPr lang="en-US" sz="1000" b="0" baseline="0">
                <a:solidFill>
                  <a:srgbClr val="1D1D1B"/>
                </a:solidFill>
                <a:latin typeface="Arial" panose="020B0604020202020204" pitchFamily="34" charset="0"/>
                <a:cs typeface="Arial" panose="020B0604020202020204" pitchFamily="34" charset="0"/>
              </a:rPr>
              <a:t>Huawei Confidential</a:t>
            </a:r>
          </a:p>
        </p:txBody>
      </p:sp>
      <p:sp>
        <p:nvSpPr>
          <p:cNvPr id="4" name="TextBox 3"/>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75" smtClean="0">
                <a:solidFill>
                  <a:srgbClr val="1D1D1B"/>
                </a:solidFill>
                <a:latin typeface="Arial" panose="020B0604020202020204" pitchFamily="34" charset="0"/>
                <a:cs typeface="Arial" panose="020B0604020202020204" pitchFamily="34" charset="0"/>
              </a:rPr>
              <a:t>‹#›</a:t>
            </a:fld>
            <a:endParaRPr lang="en-US" sz="975">
              <a:solidFill>
                <a:srgbClr val="1D1D1B"/>
              </a:solidFill>
              <a:latin typeface="Arial" panose="020B0604020202020204" pitchFamily="34" charset="0"/>
              <a:cs typeface="Arial" panose="020B0604020202020204" pitchFamily="34" charset="0"/>
            </a:endParaRPr>
          </a:p>
        </p:txBody>
      </p:sp>
      <p:grpSp>
        <p:nvGrpSpPr>
          <p:cNvPr id="25" name="组合 24"/>
          <p:cNvGrpSpPr/>
          <p:nvPr userDrawn="1"/>
        </p:nvGrpSpPr>
        <p:grpSpPr>
          <a:xfrm>
            <a:off x="12216278" y="2931937"/>
            <a:ext cx="1982916" cy="3934682"/>
            <a:chOff x="12216278" y="2262477"/>
            <a:chExt cx="1982916" cy="4604143"/>
          </a:xfrm>
        </p:grpSpPr>
        <p:grpSp>
          <p:nvGrpSpPr>
            <p:cNvPr id="26" name="组合 25"/>
            <p:cNvGrpSpPr/>
            <p:nvPr userDrawn="1"/>
          </p:nvGrpSpPr>
          <p:grpSpPr>
            <a:xfrm>
              <a:off x="12315635" y="2262477"/>
              <a:ext cx="1883559" cy="692624"/>
              <a:chOff x="12315635" y="2207613"/>
              <a:chExt cx="1883559" cy="692624"/>
            </a:xfrm>
          </p:grpSpPr>
          <p:sp>
            <p:nvSpPr>
              <p:cNvPr id="44" name="矩形 5"/>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P</a:t>
                </a:r>
                <a:r>
                  <a:rPr kumimoji="1" lang="en-US" altLang="en-US" sz="700" b="1">
                    <a:solidFill>
                      <a:schemeClr val="tx2"/>
                    </a:solidFill>
                    <a:latin typeface="Arial" panose="020B0604020202020204" pitchFamily="34" charset="0"/>
                    <a:ea typeface="Arial" panose="020B0604020202020204" pitchFamily="34" charset="0"/>
                    <a:cs typeface="Arial" panose="020B0604020202020204" pitchFamily="34" charset="0"/>
                  </a:rPr>
                  <a:t>ANTONE</a:t>
                </a: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 186C</a:t>
                </a:r>
              </a:p>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200/16/46</a:t>
                </a:r>
              </a:p>
            </p:txBody>
          </p:sp>
          <p:sp>
            <p:nvSpPr>
              <p:cNvPr id="45" name="矩形 9"/>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P</a:t>
                </a:r>
                <a:r>
                  <a:rPr kumimoji="1" lang="en-US" altLang="en-US" sz="700" b="1">
                    <a:solidFill>
                      <a:schemeClr val="tx2"/>
                    </a:solidFill>
                    <a:latin typeface="Arial" panose="020B0604020202020204" pitchFamily="34" charset="0"/>
                    <a:ea typeface="Arial" panose="020B0604020202020204" pitchFamily="34" charset="0"/>
                    <a:cs typeface="Arial" panose="020B0604020202020204" pitchFamily="34" charset="0"/>
                  </a:rPr>
                  <a:t>ANTONE</a:t>
                </a: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 185C</a:t>
                </a:r>
              </a:p>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199/0/11</a:t>
                </a:r>
              </a:p>
            </p:txBody>
          </p:sp>
          <p:sp>
            <p:nvSpPr>
              <p:cNvPr id="46" name="文本框 31"/>
              <p:cNvSpPr txBox="1"/>
              <p:nvPr userDrawn="1"/>
            </p:nvSpPr>
            <p:spPr>
              <a:xfrm>
                <a:off x="12326898" y="2207613"/>
                <a:ext cx="384721" cy="153888"/>
              </a:xfrm>
              <a:prstGeom prst="rect">
                <a:avLst/>
              </a:prstGeom>
              <a:noFill/>
            </p:spPr>
            <p:txBody>
              <a:bodyPr wrap="none" lIns="0" tIns="0" rIns="0" bIns="0" rtlCol="0">
                <a:spAutoFit/>
              </a:bodyPr>
              <a:lstStyle/>
              <a:p>
                <a:pPr algn="ctr">
                  <a:lnSpc>
                    <a:spcPct val="100000"/>
                  </a:lnSpc>
                </a:pPr>
                <a:r>
                  <a:rPr kumimoji="1" lang="zh-CN" altLang="en-US" sz="1000">
                    <a:solidFill>
                      <a:schemeClr val="tx1"/>
                    </a:solidFill>
                    <a:latin typeface="Microsoft YaHei" panose="020B0503020204020204" pitchFamily="34" charset="-122"/>
                    <a:ea typeface="Microsoft YaHei" panose="020B0503020204020204" pitchFamily="34" charset="-122"/>
                  </a:rPr>
                  <a:t>品牌色</a:t>
                </a:r>
              </a:p>
            </p:txBody>
          </p:sp>
        </p:grpSp>
        <p:grpSp>
          <p:nvGrpSpPr>
            <p:cNvPr id="27" name="组合 26"/>
            <p:cNvGrpSpPr/>
            <p:nvPr userDrawn="1"/>
          </p:nvGrpSpPr>
          <p:grpSpPr>
            <a:xfrm>
              <a:off x="12216278" y="3080825"/>
              <a:ext cx="1982912" cy="3785795"/>
              <a:chOff x="12216278" y="3080825"/>
              <a:chExt cx="1982912" cy="3785795"/>
            </a:xfrm>
          </p:grpSpPr>
          <p:sp>
            <p:nvSpPr>
              <p:cNvPr id="28" name="矩形 12"/>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234/90/79</a:t>
                </a:r>
              </a:p>
            </p:txBody>
          </p:sp>
          <p:sp>
            <p:nvSpPr>
              <p:cNvPr id="29" name="矩形 13"/>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120/0/15</a:t>
                </a:r>
              </a:p>
            </p:txBody>
          </p:sp>
          <p:sp>
            <p:nvSpPr>
              <p:cNvPr id="30" name="文本框 15"/>
              <p:cNvSpPr txBox="1"/>
              <p:nvPr userDrawn="1"/>
            </p:nvSpPr>
            <p:spPr>
              <a:xfrm>
                <a:off x="12216278" y="3080825"/>
                <a:ext cx="569387" cy="153888"/>
              </a:xfrm>
              <a:prstGeom prst="rect">
                <a:avLst/>
              </a:prstGeom>
              <a:noFill/>
            </p:spPr>
            <p:txBody>
              <a:bodyPr wrap="square" lIns="0" tIns="0" rIns="0" bIns="0" rtlCol="0" anchor="b" anchorCtr="0">
                <a:spAutoFit/>
              </a:bodyPr>
              <a:lstStyle/>
              <a:p>
                <a:pPr algn="ctr">
                  <a:lnSpc>
                    <a:spcPct val="100000"/>
                  </a:lnSpc>
                </a:pPr>
                <a:r>
                  <a:rPr kumimoji="1" lang="zh-CN" altLang="en-US" sz="1000">
                    <a:solidFill>
                      <a:schemeClr val="tx1"/>
                    </a:solidFill>
                    <a:latin typeface="Microsoft YaHei" panose="020B0503020204020204" pitchFamily="34" charset="-122"/>
                    <a:ea typeface="Microsoft YaHei" panose="020B0503020204020204" pitchFamily="34" charset="-122"/>
                  </a:rPr>
                  <a:t>辅助色</a:t>
                </a:r>
              </a:p>
            </p:txBody>
          </p:sp>
          <p:sp>
            <p:nvSpPr>
              <p:cNvPr id="31" name="矩形 16"/>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248/181/60</a:t>
                </a:r>
              </a:p>
            </p:txBody>
          </p:sp>
          <p:sp>
            <p:nvSpPr>
              <p:cNvPr id="32" name="矩形 17"/>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235/92/1</a:t>
                </a:r>
              </a:p>
            </p:txBody>
          </p:sp>
          <p:sp>
            <p:nvSpPr>
              <p:cNvPr id="33" name="矩形 18"/>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137/137/137</a:t>
                </a:r>
              </a:p>
            </p:txBody>
          </p:sp>
          <p:sp>
            <p:nvSpPr>
              <p:cNvPr id="34" name="矩形 19"/>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35/24/21</a:t>
                </a:r>
              </a:p>
            </p:txBody>
          </p:sp>
          <p:sp>
            <p:nvSpPr>
              <p:cNvPr id="35" name="矩形 22"/>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bg1"/>
                    </a:solidFill>
                    <a:latin typeface="Arial" panose="020B0604020202020204" pitchFamily="34" charset="0"/>
                    <a:ea typeface="Arial" panose="020B0604020202020204" pitchFamily="34" charset="0"/>
                    <a:cs typeface="Arial" panose="020B0604020202020204" pitchFamily="34" charset="0"/>
                  </a:rPr>
                  <a:t>RGB 221/221/221</a:t>
                </a:r>
              </a:p>
            </p:txBody>
          </p:sp>
          <p:sp>
            <p:nvSpPr>
              <p:cNvPr id="36" name="矩形 12"/>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233/140/128</a:t>
                </a:r>
              </a:p>
            </p:txBody>
          </p:sp>
          <p:sp>
            <p:nvSpPr>
              <p:cNvPr id="37" name="矩形 13"/>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159/0/1</a:t>
                </a:r>
              </a:p>
            </p:txBody>
          </p:sp>
          <p:sp>
            <p:nvSpPr>
              <p:cNvPr id="38" name="矩形 16"/>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bg1"/>
                    </a:solidFill>
                    <a:latin typeface="Arial" panose="020B0604020202020204" pitchFamily="34" charset="0"/>
                    <a:ea typeface="Arial" panose="020B0604020202020204" pitchFamily="34" charset="0"/>
                    <a:cs typeface="Arial" panose="020B0604020202020204" pitchFamily="34" charset="0"/>
                  </a:rPr>
                  <a:t>RGB 245/220/87</a:t>
                </a:r>
              </a:p>
            </p:txBody>
          </p:sp>
          <p:sp>
            <p:nvSpPr>
              <p:cNvPr id="39" name="矩形 17"/>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240/133/0</a:t>
                </a:r>
              </a:p>
            </p:txBody>
          </p:sp>
          <p:sp>
            <p:nvSpPr>
              <p:cNvPr id="40" name="矩形 18"/>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181/181/181</a:t>
                </a:r>
              </a:p>
            </p:txBody>
          </p:sp>
          <p:sp>
            <p:nvSpPr>
              <p:cNvPr id="42" name="矩形 19"/>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tx2"/>
                    </a:solidFill>
                    <a:latin typeface="Arial" panose="020B0604020202020204" pitchFamily="34" charset="0"/>
                    <a:ea typeface="Arial" panose="020B0604020202020204" pitchFamily="34" charset="0"/>
                    <a:cs typeface="Arial" panose="020B0604020202020204" pitchFamily="34" charset="0"/>
                  </a:rPr>
                  <a:t>RGB 89/87/87</a:t>
                </a:r>
              </a:p>
            </p:txBody>
          </p:sp>
          <p:sp>
            <p:nvSpPr>
              <p:cNvPr id="43" name="矩形 22"/>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a:solidFill>
                      <a:schemeClr val="bg1"/>
                    </a:solidFill>
                    <a:latin typeface="Arial" panose="020B0604020202020204" pitchFamily="34" charset="0"/>
                    <a:ea typeface="Arial" panose="020B0604020202020204" pitchFamily="34" charset="0"/>
                    <a:cs typeface="Arial" panose="020B0604020202020204" pitchFamily="34" charset="0"/>
                  </a:rPr>
                  <a:t>RGB 255/255/255</a:t>
                </a:r>
              </a:p>
            </p:txBody>
          </p:sp>
        </p:grpSp>
      </p:grpSp>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95998" y="6321130"/>
            <a:ext cx="1269075" cy="277546"/>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2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2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2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5" name="Text Placeholder 1"/>
          <p:cNvSpPr txBox="1"/>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a:solidFill>
                  <a:srgbClr val="1D1D1B"/>
                </a:solidFill>
                <a:latin typeface="+mj-lt"/>
              </a:rPr>
              <a:t>Copyright©2018 Huawei Technologies Co., Ltd.</a:t>
            </a:r>
            <a:br>
              <a:rPr kumimoji="1" lang="en-US" altLang="zh-CN" sz="850" b="1" baseline="0">
                <a:solidFill>
                  <a:srgbClr val="1D1D1B"/>
                </a:solidFill>
                <a:latin typeface="+mj-lt"/>
              </a:rPr>
            </a:br>
            <a:r>
              <a:rPr kumimoji="1" lang="en-US" altLang="zh-CN" sz="850" b="1" baseline="0">
                <a:solidFill>
                  <a:srgbClr val="1D1D1B"/>
                </a:solidFill>
                <a:latin typeface="+mj-lt"/>
              </a:rPr>
              <a:t>All Rights Reserved.</a:t>
            </a:r>
            <a:br>
              <a:rPr kumimoji="1" lang="en-US" altLang="zh-CN" sz="780">
                <a:solidFill>
                  <a:srgbClr val="1D1D1B"/>
                </a:solidFill>
                <a:latin typeface="+mn-lt"/>
              </a:rPr>
            </a:br>
            <a:br>
              <a:rPr kumimoji="1" lang="en-US" altLang="zh-CN" sz="780">
                <a:solidFill>
                  <a:srgbClr val="1D1D1B"/>
                </a:solidFill>
                <a:latin typeface="+mn-lt"/>
              </a:rPr>
            </a:br>
            <a:r>
              <a:rPr kumimoji="1" lang="en-US" altLang="zh-CN" sz="850" baseline="0">
                <a:solidFill>
                  <a:srgbClr val="1D1D1B"/>
                </a:solidFill>
                <a:latin typeface="+mn-lt"/>
                <a:cs typeface="Arial" panose="020B0604020202020204" pitchFamily="34" charset="0"/>
              </a:rPr>
              <a:t>The information in this document may contain predictive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statements including, without limitation, statements regarding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the future financial and operating results, future product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portfolio, new technology, etc. There are a number of factors that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could cause actual results and developments to differ materially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from those expressed or implied in the predictive statements.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Therefore, such information is provided for reference purpose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only and constitutes neither an offer nor an acceptance. Huawei </a:t>
            </a:r>
            <a:br>
              <a:rPr kumimoji="1" lang="en-US" altLang="zh-CN" sz="850" baseline="0">
                <a:solidFill>
                  <a:srgbClr val="1D1D1B"/>
                </a:solidFill>
                <a:latin typeface="+mn-lt"/>
                <a:cs typeface="Arial" panose="020B0604020202020204" pitchFamily="34" charset="0"/>
              </a:rPr>
            </a:br>
            <a:r>
              <a:rPr kumimoji="1" lang="en-US" altLang="zh-CN" sz="850" baseline="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80">
              <a:solidFill>
                <a:srgbClr val="1D1D1B"/>
              </a:solidFill>
              <a:latin typeface="+mn-lt"/>
            </a:endParaRPr>
          </a:p>
        </p:txBody>
      </p:sp>
      <p:sp>
        <p:nvSpPr>
          <p:cNvPr id="6" name="Subtitle 6"/>
          <p:cNvSpPr txBox="1"/>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0"/>
              </a:lnSpc>
              <a:spcBef>
                <a:spcPts val="0"/>
              </a:spcBef>
            </a:pPr>
            <a:r>
              <a:rPr kumimoji="1" lang="zh-CN" altLang="en-US" sz="1300">
                <a:solidFill>
                  <a:srgbClr val="1D1D1B"/>
                </a:solidFill>
                <a:latin typeface="Microsoft YaHei" panose="020B0503020204020204" pitchFamily="34" charset="-122"/>
                <a:ea typeface="Microsoft YaHei" panose="020B0503020204020204" pitchFamily="34" charset="-122"/>
                <a:cs typeface="Microsoft YaHei" panose="020B0503020204020204" pitchFamily="34" charset="-122"/>
              </a:rPr>
              <a:t>把数字世界带入每个人、每个家庭、</a:t>
            </a:r>
            <a:br>
              <a:rPr kumimoji="1" lang="en-US" altLang="zh-CN" sz="1300">
                <a:solidFill>
                  <a:srgbClr val="1D1D1B"/>
                </a:solidFill>
                <a:latin typeface="Microsoft YaHei" panose="020B0503020204020204" pitchFamily="34" charset="-122"/>
                <a:ea typeface="Microsoft YaHei" panose="020B0503020204020204" pitchFamily="34" charset="-122"/>
                <a:cs typeface="Microsoft YaHei" panose="020B0503020204020204" pitchFamily="34" charset="-122"/>
              </a:rPr>
            </a:br>
            <a:r>
              <a:rPr kumimoji="1" lang="zh-CN" altLang="en-US" sz="1300">
                <a:solidFill>
                  <a:srgbClr val="1D1D1B"/>
                </a:solidFill>
                <a:latin typeface="Microsoft YaHei" panose="020B0503020204020204" pitchFamily="34" charset="-122"/>
                <a:ea typeface="Microsoft YaHei" panose="020B0503020204020204" pitchFamily="34" charset="-122"/>
                <a:cs typeface="Microsoft YaHei" panose="020B0503020204020204" pitchFamily="34" charset="-122"/>
              </a:rPr>
              <a:t>每个组织，构建万物互联的智能世界。</a:t>
            </a:r>
          </a:p>
        </p:txBody>
      </p:sp>
      <p:sp>
        <p:nvSpPr>
          <p:cNvPr id="7" name="Subtitle 6"/>
          <p:cNvSpPr txBox="1"/>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5"/>
              </a:lnSpc>
            </a:pPr>
            <a:r>
              <a:rPr kumimoji="1" lang="en-US" altLang="zh-CN" sz="1200">
                <a:solidFill>
                  <a:srgbClr val="1D1D1B"/>
                </a:solidFill>
                <a:latin typeface="+mn-lt"/>
                <a:cs typeface="Arial" panose="020B0604020202020204" pitchFamily="34" charset="0"/>
              </a:rPr>
              <a:t>Bring digital to every person, home and </a:t>
            </a:r>
            <a:br>
              <a:rPr kumimoji="1" lang="en-US" altLang="zh-CN" sz="1200">
                <a:solidFill>
                  <a:srgbClr val="1D1D1B"/>
                </a:solidFill>
                <a:latin typeface="+mn-lt"/>
                <a:cs typeface="Arial" panose="020B0604020202020204" pitchFamily="34" charset="0"/>
              </a:rPr>
            </a:br>
            <a:r>
              <a:rPr kumimoji="1" lang="en-US" altLang="zh-CN" sz="1200">
                <a:solidFill>
                  <a:srgbClr val="1D1D1B"/>
                </a:solidFill>
                <a:latin typeface="+mn-lt"/>
                <a:cs typeface="Arial" panose="020B0604020202020204" pitchFamily="34" charset="0"/>
              </a:rPr>
              <a:t>organization for a fully connected, </a:t>
            </a:r>
            <a:br>
              <a:rPr kumimoji="1" lang="en-US" altLang="zh-CN" sz="1200">
                <a:solidFill>
                  <a:srgbClr val="1D1D1B"/>
                </a:solidFill>
                <a:latin typeface="+mn-lt"/>
                <a:cs typeface="Arial" panose="020B0604020202020204" pitchFamily="34" charset="0"/>
              </a:rPr>
            </a:br>
            <a:r>
              <a:rPr kumimoji="1" lang="en-US" altLang="zh-CN" sz="1200">
                <a:solidFill>
                  <a:srgbClr val="1D1D1B"/>
                </a:solidFill>
                <a:latin typeface="+mn-lt"/>
                <a:cs typeface="Arial" panose="020B0604020202020204" pitchFamily="34" charset="0"/>
              </a:rPr>
              <a:t>intelligent world.</a:t>
            </a:r>
            <a:endParaRPr kumimoji="1" lang="zh-CN" altLang="en-US" sz="1200">
              <a:solidFill>
                <a:srgbClr val="1D1D1B"/>
              </a:solidFill>
              <a:latin typeface="+mn-lt"/>
              <a:ea typeface="Microsoft YaHei" panose="020B0503020204020204" pitchFamily="34" charset="-122"/>
              <a:cs typeface="Microsoft YaHei" panose="020B0503020204020204" pitchFamily="34" charset="-122"/>
            </a:endParaRPr>
          </a:p>
        </p:txBody>
      </p:sp>
      <p:pic>
        <p:nvPicPr>
          <p:cNvPr id="3" name="图片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8" y="5237637"/>
            <a:ext cx="1869596" cy="408880"/>
          </a:xfrm>
          <a:prstGeom prst="rect">
            <a:avLst/>
          </a:prstGeom>
        </p:spPr>
      </p:pic>
    </p:spTree>
  </p:cSld>
  <p:clrMap bg1="lt1" tx1="dk1" bg2="lt2" tx2="dk2" accent1="accent1" accent2="accent2" accent3="accent3" accent4="accent4" accent5="accent5" accent6="accent6" hlink="hlink" folHlink="folHlink"/>
  <p:sldLayoutIdLst>
    <p:sldLayoutId id="2147483663" r:id="rId1"/>
  </p:sldLayoutIdLst>
  <p:hf hdr="0" ftr="0" dt="0"/>
  <p:txStyles>
    <p:titleStyle>
      <a:lvl1pPr algn="l" defTabSz="1188085" rtl="0" eaLnBrk="1" latinLnBrk="0" hangingPunct="1">
        <a:lnSpc>
          <a:spcPct val="90000"/>
        </a:lnSpc>
        <a:spcBef>
          <a:spcPct val="0"/>
        </a:spcBef>
        <a:buNone/>
        <a:defRPr sz="5000" b="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p:titleStyle>
    <p:bodyStyle>
      <a:lvl1pPr marL="0" indent="0" algn="l" defTabSz="1188085" rtl="0" eaLnBrk="1" latinLnBrk="0" hangingPunct="1">
        <a:lnSpc>
          <a:spcPct val="90000"/>
        </a:lnSpc>
        <a:spcBef>
          <a:spcPts val="1300"/>
        </a:spcBef>
        <a:buFont typeface="Arial" panose="020B0604020202020204" pitchFamily="34" charset="0"/>
        <a:buNone/>
        <a:defRPr sz="1820" kern="1200">
          <a:solidFill>
            <a:srgbClr val="FFFFFF"/>
          </a:solidFill>
          <a:latin typeface="Microsoft YaHei" panose="020B0503020204020204" pitchFamily="34" charset="-122"/>
          <a:ea typeface="Microsoft YaHei" panose="020B0503020204020204" pitchFamily="34" charset="-122"/>
          <a:cs typeface="+mn-cs"/>
        </a:defRPr>
      </a:lvl1pPr>
      <a:lvl2pPr marL="593725" indent="0" algn="l" defTabSz="1188085" rtl="0" eaLnBrk="1" latinLnBrk="0" hangingPunct="1">
        <a:lnSpc>
          <a:spcPct val="90000"/>
        </a:lnSpc>
        <a:spcBef>
          <a:spcPts val="650"/>
        </a:spcBef>
        <a:buFont typeface="Arial" panose="020B0604020202020204" pitchFamily="34" charset="0"/>
        <a:buNone/>
        <a:defRPr sz="3120" kern="1200">
          <a:solidFill>
            <a:schemeClr val="tx1"/>
          </a:solidFill>
          <a:latin typeface="+mn-lt"/>
          <a:ea typeface="+mn-ea"/>
          <a:cs typeface="+mn-cs"/>
        </a:defRPr>
      </a:lvl2pPr>
      <a:lvl3pPr marL="1188085" indent="0" algn="l" defTabSz="1188085" rtl="0" eaLnBrk="1" latinLnBrk="0" hangingPunct="1">
        <a:lnSpc>
          <a:spcPct val="90000"/>
        </a:lnSpc>
        <a:spcBef>
          <a:spcPts val="650"/>
        </a:spcBef>
        <a:buFont typeface="Arial" panose="020B0604020202020204" pitchFamily="34" charset="0"/>
        <a:buNone/>
        <a:defRPr sz="2600" kern="1200">
          <a:solidFill>
            <a:schemeClr val="tx1"/>
          </a:solidFill>
          <a:latin typeface="+mn-lt"/>
          <a:ea typeface="+mn-ea"/>
          <a:cs typeface="+mn-cs"/>
        </a:defRPr>
      </a:lvl3pPr>
      <a:lvl4pPr marL="1781810" indent="0" algn="l" defTabSz="1188085" rtl="0" eaLnBrk="1" latinLnBrk="0" hangingPunct="1">
        <a:lnSpc>
          <a:spcPct val="90000"/>
        </a:lnSpc>
        <a:spcBef>
          <a:spcPts val="650"/>
        </a:spcBef>
        <a:buFont typeface="Arial" panose="020B0604020202020204" pitchFamily="34" charset="0"/>
        <a:buNone/>
        <a:defRPr sz="2340" kern="1200">
          <a:solidFill>
            <a:schemeClr val="tx1"/>
          </a:solidFill>
          <a:latin typeface="+mn-lt"/>
          <a:ea typeface="+mn-ea"/>
          <a:cs typeface="+mn-cs"/>
        </a:defRPr>
      </a:lvl4pPr>
      <a:lvl5pPr marL="2375535" indent="0" algn="l" defTabSz="1188085" rtl="0" eaLnBrk="1" latinLnBrk="0" hangingPunct="1">
        <a:lnSpc>
          <a:spcPct val="90000"/>
        </a:lnSpc>
        <a:spcBef>
          <a:spcPts val="650"/>
        </a:spcBef>
        <a:buFont typeface="Arial" panose="020B0604020202020204" pitchFamily="34" charset="0"/>
        <a:buNone/>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ctrTitle"/>
          </p:nvPr>
        </p:nvSpPr>
        <p:spPr>
          <a:xfrm>
            <a:off x="948808" y="1066890"/>
            <a:ext cx="8240912" cy="690255"/>
          </a:xfrm>
        </p:spPr>
        <p:txBody>
          <a:bodyPr>
            <a:noAutofit/>
          </a:bodyPr>
          <a:lstStyle/>
          <a:p>
            <a:r>
              <a:rPr lang="zh-CN" altLang="en-US" b="1">
                <a:solidFill>
                  <a:srgbClr val="C00000"/>
                </a:solidFill>
                <a:latin typeface="+mn-lt"/>
                <a:ea typeface="+mn-ea"/>
                <a:cs typeface="+mn-ea"/>
                <a:sym typeface="+mn-lt"/>
              </a:rPr>
              <a:t>生命周期</a:t>
            </a:r>
            <a:endParaRPr lang="zh-CN" altLang="en-US" b="1" dirty="0">
              <a:solidFill>
                <a:srgbClr val="C00000"/>
              </a:solidFill>
              <a:latin typeface="+mn-lt"/>
              <a:ea typeface="+mn-ea"/>
              <a:cs typeface="+mn-ea"/>
              <a:sym typeface="+mn-lt"/>
            </a:endParaRPr>
          </a:p>
        </p:txBody>
      </p:sp>
      <p:sp>
        <p:nvSpPr>
          <p:cNvPr id="4" name="Text Placeholder 3"/>
          <p:cNvSpPr txBox="1"/>
          <p:nvPr/>
        </p:nvSpPr>
        <p:spPr>
          <a:xfrm>
            <a:off x="948808" y="6264112"/>
            <a:ext cx="2606870" cy="136693"/>
          </a:xfrm>
          <a:prstGeom prst="rect">
            <a:avLst/>
          </a:prstGeom>
        </p:spPr>
        <p:txBody>
          <a:bodyPr vert="horz"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kumimoji="1" lang="en-US" altLang="zh-CN" sz="1000">
                <a:cs typeface="+mn-ea"/>
                <a:sym typeface="+mn-lt"/>
              </a:rPr>
              <a:t>Security Level:</a:t>
            </a:r>
            <a:endParaRPr lang="en-US" sz="1000">
              <a:cs typeface="+mn-ea"/>
              <a:sym typeface="+mn-lt"/>
            </a:endParaRPr>
          </a:p>
        </p:txBody>
      </p:sp>
      <p:sp>
        <p:nvSpPr>
          <p:cNvPr id="6" name="矩形 5"/>
          <p:cNvSpPr/>
          <p:nvPr/>
        </p:nvSpPr>
        <p:spPr>
          <a:xfrm>
            <a:off x="9001663" y="5858894"/>
            <a:ext cx="2794958" cy="888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r>
              <a:rPr lang="zh-CN" altLang="en-US" b="1" dirty="0">
                <a:solidFill>
                  <a:srgbClr val="C00000"/>
                </a:solidFill>
                <a:latin typeface="+mn-lt"/>
                <a:ea typeface="+mn-ea"/>
                <a:cs typeface="+mn-ea"/>
                <a:sym typeface="+mn-lt"/>
              </a:rPr>
              <a:t>关于本章</a:t>
            </a:r>
            <a:endParaRPr lang="en-US" b="1" dirty="0">
              <a:solidFill>
                <a:srgbClr val="C00000"/>
              </a:solidFill>
              <a:latin typeface="+mn-lt"/>
              <a:ea typeface="+mn-ea"/>
              <a:cs typeface="+mn-ea"/>
              <a:sym typeface="+mn-lt"/>
            </a:endParaRPr>
          </a:p>
        </p:txBody>
      </p:sp>
      <p:sp>
        <p:nvSpPr>
          <p:cNvPr id="3" name="内容占位符 2"/>
          <p:cNvSpPr>
            <a:spLocks noGrp="1"/>
          </p:cNvSpPr>
          <p:nvPr>
            <p:ph idx="10"/>
          </p:nvPr>
        </p:nvSpPr>
        <p:spPr>
          <a:xfrm>
            <a:off x="729175" y="1377391"/>
            <a:ext cx="10733557" cy="878130"/>
          </a:xfrm>
        </p:spPr>
        <p:txBody>
          <a:bodyPr/>
          <a:lstStyle/>
          <a:p>
            <a:pPr>
              <a:lnSpc>
                <a:spcPct val="150000"/>
              </a:lnSpc>
            </a:pPr>
            <a:r>
              <a:rPr lang="zh-CN" altLang="en-US" b="1" dirty="0">
                <a:solidFill>
                  <a:srgbClr val="C00000"/>
                </a:solidFill>
                <a:latin typeface="+mn-lt"/>
                <a:ea typeface="+mn-ea"/>
                <a:cs typeface="+mn-ea"/>
                <a:sym typeface="+mn-lt"/>
              </a:rPr>
              <a:t>章节目标</a:t>
            </a:r>
            <a:endParaRPr lang="en-US" altLang="zh-CN" b="1" dirty="0">
              <a:solidFill>
                <a:srgbClr val="C00000"/>
              </a:solidFill>
              <a:latin typeface="+mn-lt"/>
              <a:ea typeface="+mn-ea"/>
              <a:cs typeface="+mn-ea"/>
              <a:sym typeface="+mn-lt"/>
            </a:endParaRPr>
          </a:p>
          <a:p>
            <a:pPr>
              <a:lnSpc>
                <a:spcPct val="150000"/>
              </a:lnSpc>
            </a:pPr>
            <a:r>
              <a:rPr lang="zh-CN" altLang="en-US" dirty="0">
                <a:latin typeface="+mn-lt"/>
                <a:ea typeface="+mn-ea"/>
                <a:cs typeface="+mn-ea"/>
                <a:sym typeface="+mn-lt"/>
              </a:rPr>
              <a:t>通过本章节的学习，掌握 </a:t>
            </a:r>
            <a:r>
              <a:rPr lang="en-US" altLang="zh-CN" dirty="0">
                <a:latin typeface="+mn-lt"/>
                <a:ea typeface="+mn-ea"/>
                <a:cs typeface="+mn-ea"/>
                <a:sym typeface="+mn-lt"/>
              </a:rPr>
              <a:t>Rust </a:t>
            </a:r>
            <a:r>
              <a:rPr lang="zh-CN" altLang="en-US" dirty="0">
                <a:latin typeface="+mn-lt"/>
                <a:ea typeface="+mn-ea"/>
                <a:cs typeface="+mn-ea"/>
                <a:sym typeface="+mn-lt"/>
              </a:rPr>
              <a:t>中借用检查与生命周期参数相关内容 。</a:t>
            </a:r>
            <a:endParaRPr lang="en-US" altLang="zh-CN" dirty="0">
              <a:latin typeface="+mn-lt"/>
              <a:ea typeface="+mn-ea"/>
              <a:cs typeface="+mn-ea"/>
              <a:sym typeface="+mn-lt"/>
            </a:endParaRPr>
          </a:p>
          <a:p>
            <a:pPr>
              <a:lnSpc>
                <a:spcPct val="150000"/>
              </a:lnSpc>
            </a:pPr>
            <a:endParaRPr lang="en-US" altLang="zh-CN" b="1" dirty="0">
              <a:solidFill>
                <a:srgbClr val="C00000"/>
              </a:solidFill>
              <a:latin typeface="+mn-lt"/>
              <a:ea typeface="+mn-ea"/>
              <a:cs typeface="+mn-ea"/>
              <a:sym typeface="+mn-lt"/>
            </a:endParaRPr>
          </a:p>
        </p:txBody>
      </p:sp>
      <p:cxnSp>
        <p:nvCxnSpPr>
          <p:cNvPr id="6" name="直接连接符 5"/>
          <p:cNvCxnSpPr/>
          <p:nvPr/>
        </p:nvCxnSpPr>
        <p:spPr>
          <a:xfrm>
            <a:off x="729175" y="1811383"/>
            <a:ext cx="90658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729175" y="2814421"/>
            <a:ext cx="207366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316485" y="2814421"/>
            <a:ext cx="7589761" cy="1754326"/>
          </a:xfrm>
          <a:prstGeom prst="rect">
            <a:avLst/>
          </a:prstGeom>
        </p:spPr>
        <p:txBody>
          <a:bodyPr wrap="square">
            <a:spAutoFit/>
          </a:bodyPr>
          <a:lstStyle/>
          <a:p>
            <a:pPr marL="811530" lvl="1" indent="-285750">
              <a:lnSpc>
                <a:spcPct val="150000"/>
              </a:lnSpc>
              <a:buFont typeface="Wingdings" panose="05000000000000000000" pitchFamily="2" charset="2"/>
              <a:buChar char="ü"/>
            </a:pPr>
            <a:r>
              <a:rPr lang="zh-CN" altLang="en-US">
                <a:cs typeface="+mn-ea"/>
                <a:sym typeface="+mn-lt"/>
              </a:rPr>
              <a:t>引用；</a:t>
            </a:r>
            <a:endParaRPr lang="en-US" altLang="zh-CN">
              <a:cs typeface="+mn-ea"/>
              <a:sym typeface="+mn-lt"/>
            </a:endParaRPr>
          </a:p>
          <a:p>
            <a:pPr marL="811530" lvl="1" indent="-285750">
              <a:lnSpc>
                <a:spcPct val="150000"/>
              </a:lnSpc>
              <a:buFont typeface="Wingdings" panose="05000000000000000000" pitchFamily="2" charset="2"/>
              <a:buChar char="ü"/>
            </a:pPr>
            <a:r>
              <a:rPr lang="zh-CN" altLang="en-US">
                <a:cs typeface="+mn-ea"/>
                <a:sym typeface="+mn-lt"/>
              </a:rPr>
              <a:t>借用检查；</a:t>
            </a:r>
            <a:endParaRPr lang="en-US" altLang="zh-CN" dirty="0">
              <a:cs typeface="+mn-ea"/>
              <a:sym typeface="+mn-lt"/>
            </a:endParaRPr>
          </a:p>
          <a:p>
            <a:pPr marL="811530" lvl="1" indent="-285750">
              <a:lnSpc>
                <a:spcPct val="150000"/>
              </a:lnSpc>
              <a:buFont typeface="Wingdings" panose="05000000000000000000" pitchFamily="2" charset="2"/>
              <a:buChar char="ü"/>
            </a:pPr>
            <a:r>
              <a:rPr lang="zh-CN" altLang="en-US" dirty="0">
                <a:cs typeface="+mn-ea"/>
                <a:sym typeface="+mn-lt"/>
              </a:rPr>
              <a:t>生命周期参数；</a:t>
            </a:r>
            <a:endParaRPr lang="en-US" altLang="zh-CN" dirty="0">
              <a:cs typeface="+mn-ea"/>
              <a:sym typeface="+mn-lt"/>
            </a:endParaRPr>
          </a:p>
          <a:p>
            <a:pPr marL="1268730" lvl="2" indent="-285750">
              <a:lnSpc>
                <a:spcPct val="150000"/>
              </a:lnSpc>
              <a:buFont typeface="Wingdings" panose="05000000000000000000" pitchFamily="2" charset="2"/>
              <a:buChar char="ü"/>
            </a:pPr>
            <a:endParaRPr lang="en-US" altLang="zh-CN" dirty="0">
              <a:cs typeface="+mn-ea"/>
              <a:sym typeface="+mn-lt"/>
            </a:endParaRPr>
          </a:p>
        </p:txBody>
      </p:sp>
      <p:sp>
        <p:nvSpPr>
          <p:cNvPr id="4" name="矩形 3"/>
          <p:cNvSpPr/>
          <p:nvPr/>
        </p:nvSpPr>
        <p:spPr>
          <a:xfrm>
            <a:off x="634926" y="2358537"/>
            <a:ext cx="2276585" cy="466666"/>
          </a:xfrm>
          <a:prstGeom prst="rect">
            <a:avLst/>
          </a:prstGeom>
        </p:spPr>
        <p:txBody>
          <a:bodyPr wrap="none">
            <a:spAutoFit/>
          </a:bodyPr>
          <a:lstStyle/>
          <a:p>
            <a:pPr>
              <a:lnSpc>
                <a:spcPct val="150000"/>
              </a:lnSpc>
            </a:pPr>
            <a:r>
              <a:rPr lang="zh-CN" altLang="en-US" b="1" dirty="0">
                <a:solidFill>
                  <a:srgbClr val="C00000"/>
                </a:solidFill>
                <a:cs typeface="+mn-ea"/>
                <a:sym typeface="+mn-lt"/>
              </a:rPr>
              <a:t>本章预期掌握知识点</a:t>
            </a:r>
            <a:endParaRPr lang="en-US" altLang="zh-CN" b="1" dirty="0">
              <a:solidFill>
                <a:srgbClr val="C00000"/>
              </a:solidFill>
              <a:cs typeface="+mn-ea"/>
              <a:sym typeface="+mn-lt"/>
            </a:endParaRPr>
          </a:p>
        </p:txBody>
      </p:sp>
      <p:cxnSp>
        <p:nvCxnSpPr>
          <p:cNvPr id="8" name="直接连接符 7"/>
          <p:cNvCxnSpPr/>
          <p:nvPr/>
        </p:nvCxnSpPr>
        <p:spPr>
          <a:xfrm>
            <a:off x="729175" y="952834"/>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624474" y="0"/>
            <a:ext cx="36000" cy="6840000"/>
          </a:xfrm>
          <a:prstGeom prst="rect">
            <a:avLst/>
          </a:prstGeom>
          <a:gradFill>
            <a:gsLst>
              <a:gs pos="4000">
                <a:schemeClr val="tx2">
                  <a:lumMod val="85000"/>
                </a:schemeClr>
              </a:gs>
              <a:gs pos="54000">
                <a:schemeClr val="tx2">
                  <a:lumMod val="85000"/>
                </a:schemeClr>
              </a:gs>
              <a:gs pos="100000">
                <a:schemeClr val="tx2">
                  <a:lumMod val="85000"/>
                  <a:alpha val="7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副标题 1"/>
          <p:cNvSpPr>
            <a:spLocks noGrp="1"/>
          </p:cNvSpPr>
          <p:nvPr>
            <p:ph type="subTitle" idx="1"/>
          </p:nvPr>
        </p:nvSpPr>
        <p:spPr>
          <a:xfrm>
            <a:off x="729175" y="382562"/>
            <a:ext cx="10740640" cy="993400"/>
          </a:xfrm>
        </p:spPr>
        <p:txBody>
          <a:bodyPr/>
          <a:lstStyle/>
          <a:p>
            <a:r>
              <a:rPr lang="zh-CN" altLang="en-US" b="1" dirty="0">
                <a:solidFill>
                  <a:srgbClr val="C00000"/>
                </a:solidFill>
                <a:latin typeface="+mn-lt"/>
                <a:ea typeface="+mn-ea"/>
                <a:cs typeface="+mn-ea"/>
                <a:sym typeface="+mn-lt"/>
              </a:rPr>
              <a:t>目录</a:t>
            </a:r>
            <a:endParaRPr lang="en-US" b="1" dirty="0">
              <a:solidFill>
                <a:srgbClr val="C00000"/>
              </a:solidFill>
              <a:latin typeface="+mn-lt"/>
              <a:ea typeface="+mn-ea"/>
              <a:cs typeface="+mn-ea"/>
              <a:sym typeface="+mn-lt"/>
            </a:endParaRPr>
          </a:p>
        </p:txBody>
      </p:sp>
      <p:sp>
        <p:nvSpPr>
          <p:cNvPr id="3" name="内容占位符 2"/>
          <p:cNvSpPr>
            <a:spLocks noGrp="1"/>
          </p:cNvSpPr>
          <p:nvPr>
            <p:ph idx="10"/>
          </p:nvPr>
        </p:nvSpPr>
        <p:spPr>
          <a:xfrm>
            <a:off x="729175" y="1090007"/>
            <a:ext cx="10733557" cy="4690459"/>
          </a:xfrm>
        </p:spPr>
        <p:txBody>
          <a:bodyPr/>
          <a:lstStyle/>
          <a:p>
            <a:pPr marL="354965" indent="-342900">
              <a:lnSpc>
                <a:spcPct val="150000"/>
              </a:lnSpc>
              <a:buAutoNum type="arabicPlain"/>
            </a:pPr>
            <a:r>
              <a:rPr lang="zh-CN" altLang="en-US">
                <a:latin typeface="+mn-lt"/>
                <a:ea typeface="+mn-ea"/>
                <a:cs typeface="+mn-ea"/>
                <a:sym typeface="+mn-lt"/>
              </a:rPr>
              <a:t>引用</a:t>
            </a:r>
            <a:endParaRPr lang="en-US" altLang="zh-CN">
              <a:latin typeface="+mn-lt"/>
              <a:ea typeface="+mn-ea"/>
              <a:cs typeface="+mn-ea"/>
              <a:sym typeface="+mn-lt"/>
            </a:endParaRPr>
          </a:p>
          <a:p>
            <a:pPr marL="354965" indent="-342900">
              <a:lnSpc>
                <a:spcPct val="150000"/>
              </a:lnSpc>
              <a:buAutoNum type="arabicPlain"/>
            </a:pPr>
            <a:r>
              <a:rPr lang="zh-CN" altLang="en-US">
                <a:latin typeface="+mn-lt"/>
                <a:ea typeface="+mn-ea"/>
                <a:cs typeface="+mn-ea"/>
                <a:sym typeface="+mn-lt"/>
              </a:rPr>
              <a:t>借用检查</a:t>
            </a:r>
            <a:endParaRPr lang="en-US" altLang="zh-CN" dirty="0">
              <a:latin typeface="+mn-lt"/>
              <a:ea typeface="+mn-ea"/>
              <a:cs typeface="+mn-ea"/>
              <a:sym typeface="+mn-lt"/>
            </a:endParaRPr>
          </a:p>
          <a:p>
            <a:pPr marL="354965" indent="-342900">
              <a:lnSpc>
                <a:spcPct val="150000"/>
              </a:lnSpc>
              <a:buFontTx/>
              <a:buAutoNum type="arabicPlain"/>
            </a:pPr>
            <a:r>
              <a:rPr lang="zh-CN" altLang="en-US" dirty="0">
                <a:latin typeface="+mn-lt"/>
                <a:ea typeface="+mn-ea"/>
                <a:cs typeface="+mn-ea"/>
                <a:sym typeface="+mn-lt"/>
              </a:rPr>
              <a:t>生命周期参数</a:t>
            </a:r>
            <a:endParaRPr lang="en-US" altLang="zh-CN" dirty="0">
              <a:latin typeface="+mn-lt"/>
              <a:ea typeface="+mn-ea"/>
              <a:cs typeface="+mn-ea"/>
              <a:sym typeface="+mn-lt"/>
            </a:endParaRPr>
          </a:p>
          <a:p>
            <a:pPr marL="354965" indent="-342900">
              <a:lnSpc>
                <a:spcPct val="150000"/>
              </a:lnSpc>
              <a:buFontTx/>
              <a:buAutoNum type="arabicPlain"/>
            </a:pPr>
            <a:endParaRPr lang="en-US" altLang="zh-CN" dirty="0">
              <a:latin typeface="+mn-lt"/>
              <a:ea typeface="+mn-ea"/>
              <a:cs typeface="+mn-ea"/>
              <a:sym typeface="+mn-lt"/>
            </a:endParaRPr>
          </a:p>
          <a:p>
            <a:pPr marL="354965" indent="-342900">
              <a:lnSpc>
                <a:spcPct val="150000"/>
              </a:lnSpc>
              <a:buFontTx/>
              <a:buAutoNum type="arabicPlain"/>
            </a:pPr>
            <a:endParaRPr lang="en-US" altLang="zh-CN" dirty="0">
              <a:latin typeface="+mn-lt"/>
              <a:ea typeface="+mn-ea"/>
              <a:cs typeface="+mn-ea"/>
              <a:sym typeface="+mn-lt"/>
            </a:endParaRPr>
          </a:p>
          <a:p>
            <a:pPr marL="354965" indent="-342900">
              <a:lnSpc>
                <a:spcPct val="150000"/>
              </a:lnSpc>
              <a:buAutoNum type="arabicPlain"/>
            </a:pPr>
            <a:endParaRPr lang="en-US" altLang="zh-CN" b="1" dirty="0">
              <a:solidFill>
                <a:srgbClr val="FF0000"/>
              </a:solidFill>
              <a:latin typeface="+mn-lt"/>
              <a:ea typeface="+mn-ea"/>
              <a:cs typeface="+mn-ea"/>
              <a:sym typeface="+mn-lt"/>
            </a:endParaRPr>
          </a:p>
        </p:txBody>
      </p:sp>
      <p:cxnSp>
        <p:nvCxnSpPr>
          <p:cNvPr id="5" name="直接连接符 4"/>
          <p:cNvCxnSpPr/>
          <p:nvPr/>
        </p:nvCxnSpPr>
        <p:spPr>
          <a:xfrm>
            <a:off x="729175" y="906179"/>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53313" y="72727"/>
            <a:ext cx="10740640" cy="615021"/>
          </a:xfrm>
        </p:spPr>
        <p:txBody>
          <a:bodyPr>
            <a:normAutofit/>
          </a:bodyPr>
          <a:lstStyle/>
          <a:p>
            <a:r>
              <a:rPr lang="zh-CN" altLang="en-US" b="1">
                <a:solidFill>
                  <a:srgbClr val="C00000"/>
                </a:solidFill>
                <a:latin typeface="+mn-lt"/>
                <a:ea typeface="+mn-ea"/>
                <a:cs typeface="+mn-ea"/>
                <a:sym typeface="+mn-lt"/>
              </a:rPr>
              <a:t>引用</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概念</a:t>
            </a:r>
            <a:endParaRPr lang="zh-CN" altLang="en-US" sz="1800" b="1" dirty="0">
              <a:solidFill>
                <a:srgbClr val="C00000"/>
              </a:solidFill>
              <a:latin typeface="+mn-lt"/>
              <a:ea typeface="+mn-ea"/>
              <a:cs typeface="+mn-ea"/>
              <a:sym typeface="+mn-lt"/>
            </a:endParaRPr>
          </a:p>
        </p:txBody>
      </p:sp>
      <p:sp>
        <p:nvSpPr>
          <p:cNvPr id="9" name="矩形 8"/>
          <p:cNvSpPr/>
          <p:nvPr/>
        </p:nvSpPr>
        <p:spPr>
          <a:xfrm>
            <a:off x="253313" y="687748"/>
            <a:ext cx="10740640" cy="1938020"/>
          </a:xfrm>
          <a:prstGeom prst="rect">
            <a:avLst/>
          </a:prstGeom>
        </p:spPr>
        <p:txBody>
          <a:bodyPr wrap="square">
            <a:spAutoFit/>
          </a:bodyPr>
          <a:lstStyle/>
          <a:p>
            <a:pPr lvl="0" defTabSz="914400" eaLnBrk="0" fontAlgn="base" hangingPunct="0">
              <a:lnSpc>
                <a:spcPct val="150000"/>
              </a:lnSpc>
              <a:spcBef>
                <a:spcPct val="0"/>
              </a:spcBef>
              <a:spcAft>
                <a:spcPct val="0"/>
              </a:spcAft>
            </a:pPr>
            <a:r>
              <a:rPr lang="zh-CN" altLang="zh-CN" sz="1600" dirty="0">
                <a:solidFill>
                  <a:srgbClr val="262625"/>
                </a:solidFill>
                <a:cs typeface="+mn-ea"/>
                <a:sym typeface="+mn-lt"/>
              </a:rPr>
              <a:t>Rust中，使用</a:t>
            </a:r>
            <a:r>
              <a:rPr lang="zh-CN" altLang="zh-CN" sz="1600" dirty="0">
                <a:cs typeface="+mn-ea"/>
                <a:sym typeface="+mn-lt"/>
              </a:rPr>
              <a:t>&amp;T</a:t>
            </a:r>
            <a:r>
              <a:rPr lang="zh-CN" altLang="zh-CN" sz="1600" dirty="0">
                <a:solidFill>
                  <a:srgbClr val="262625"/>
                </a:solidFill>
                <a:cs typeface="+mn-ea"/>
                <a:sym typeface="+mn-lt"/>
              </a:rPr>
              <a:t>表示类型T的引用类型。</a:t>
            </a:r>
            <a:r>
              <a:rPr lang="zh-CN" altLang="en-US" sz="1600" dirty="0">
                <a:solidFill>
                  <a:srgbClr val="262625"/>
                </a:solidFill>
                <a:cs typeface="+mn-ea"/>
                <a:sym typeface="+mn-lt"/>
              </a:rPr>
              <a:t>引用类型是一种数据类型，它表示其所保存的值是一个引用。</a:t>
            </a:r>
            <a:endParaRPr lang="en-US" altLang="zh-CN" sz="1600" dirty="0">
              <a:cs typeface="+mn-ea"/>
              <a:sym typeface="+mn-lt"/>
            </a:endParaRP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zh-CN" altLang="zh-CN" sz="1600" dirty="0">
                <a:cs typeface="+mn-ea"/>
                <a:sym typeface="+mn-lt"/>
              </a:rPr>
              <a:t>&amp;i32</a:t>
            </a:r>
            <a:r>
              <a:rPr lang="en-US" altLang="zh-CN" sz="1600" dirty="0">
                <a:cs typeface="+mn-ea"/>
                <a:sym typeface="+mn-lt"/>
              </a:rPr>
              <a:t> </a:t>
            </a:r>
            <a:r>
              <a:rPr lang="zh-CN" altLang="zh-CN" sz="1600" dirty="0">
                <a:solidFill>
                  <a:srgbClr val="262625"/>
                </a:solidFill>
                <a:cs typeface="+mn-ea"/>
                <a:sym typeface="+mn-lt"/>
              </a:rPr>
              <a:t>表示</a:t>
            </a:r>
            <a:r>
              <a:rPr lang="en-US" altLang="zh-CN" sz="1600" dirty="0">
                <a:solidFill>
                  <a:srgbClr val="262625"/>
                </a:solidFill>
                <a:cs typeface="+mn-ea"/>
                <a:sym typeface="+mn-lt"/>
              </a:rPr>
              <a:t> </a:t>
            </a:r>
            <a:r>
              <a:rPr lang="zh-CN" altLang="zh-CN" sz="1600" dirty="0">
                <a:solidFill>
                  <a:srgbClr val="262625"/>
                </a:solidFill>
                <a:cs typeface="+mn-ea"/>
                <a:sym typeface="+mn-lt"/>
              </a:rPr>
              <a:t>i32</a:t>
            </a:r>
            <a:r>
              <a:rPr lang="en-US" altLang="zh-CN" sz="1600" dirty="0">
                <a:solidFill>
                  <a:srgbClr val="262625"/>
                </a:solidFill>
                <a:cs typeface="+mn-ea"/>
                <a:sym typeface="+mn-lt"/>
              </a:rPr>
              <a:t> </a:t>
            </a:r>
            <a:r>
              <a:rPr lang="zh-CN" altLang="zh-CN" sz="1600" dirty="0">
                <a:solidFill>
                  <a:srgbClr val="262625"/>
                </a:solidFill>
                <a:cs typeface="+mn-ea"/>
                <a:sym typeface="+mn-lt"/>
              </a:rPr>
              <a:t>的引用类型</a:t>
            </a:r>
            <a:r>
              <a:rPr lang="zh-CN" altLang="en-US" sz="1600" dirty="0">
                <a:solidFill>
                  <a:srgbClr val="262625"/>
                </a:solidFill>
                <a:cs typeface="+mn-ea"/>
                <a:sym typeface="+mn-lt"/>
              </a:rPr>
              <a:t>；</a:t>
            </a:r>
            <a:endParaRPr lang="en-US" altLang="zh-CN" sz="1600" dirty="0">
              <a:solidFill>
                <a:srgbClr val="262625"/>
              </a:solidFill>
              <a:cs typeface="+mn-ea"/>
              <a:sym typeface="+mn-lt"/>
            </a:endParaRP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zh-CN" altLang="zh-CN" sz="1600" dirty="0">
                <a:cs typeface="+mn-ea"/>
                <a:sym typeface="+mn-lt"/>
              </a:rPr>
              <a:t>&amp;&amp;i32</a:t>
            </a:r>
            <a:r>
              <a:rPr lang="en-US" altLang="zh-CN" sz="1600" dirty="0">
                <a:cs typeface="+mn-ea"/>
                <a:sym typeface="+mn-lt"/>
              </a:rPr>
              <a:t> </a:t>
            </a:r>
            <a:r>
              <a:rPr lang="zh-CN" altLang="zh-CN" sz="1600" dirty="0">
                <a:solidFill>
                  <a:srgbClr val="262625"/>
                </a:solidFill>
                <a:cs typeface="+mn-ea"/>
                <a:sym typeface="+mn-lt"/>
              </a:rPr>
              <a:t>表示</a:t>
            </a:r>
            <a:r>
              <a:rPr lang="en-US" altLang="zh-CN" sz="1600" dirty="0">
                <a:solidFill>
                  <a:srgbClr val="262625"/>
                </a:solidFill>
                <a:cs typeface="+mn-ea"/>
                <a:sym typeface="+mn-lt"/>
              </a:rPr>
              <a:t> </a:t>
            </a:r>
            <a:r>
              <a:rPr lang="zh-CN" altLang="zh-CN" sz="1600" dirty="0">
                <a:solidFill>
                  <a:srgbClr val="262625"/>
                </a:solidFill>
                <a:cs typeface="+mn-ea"/>
                <a:sym typeface="+mn-lt"/>
              </a:rPr>
              <a:t>i32</a:t>
            </a:r>
            <a:r>
              <a:rPr lang="en-US" altLang="zh-CN" sz="1600" dirty="0">
                <a:solidFill>
                  <a:srgbClr val="262625"/>
                </a:solidFill>
                <a:cs typeface="+mn-ea"/>
                <a:sym typeface="+mn-lt"/>
              </a:rPr>
              <a:t> </a:t>
            </a:r>
            <a:r>
              <a:rPr lang="zh-CN" altLang="zh-CN" sz="1600" dirty="0">
                <a:solidFill>
                  <a:srgbClr val="262625"/>
                </a:solidFill>
                <a:cs typeface="+mn-ea"/>
                <a:sym typeface="+mn-lt"/>
              </a:rPr>
              <a:t>引用的引用类型</a:t>
            </a:r>
            <a:r>
              <a:rPr lang="zh-CN" altLang="en-US" sz="1600" dirty="0">
                <a:solidFill>
                  <a:srgbClr val="262625"/>
                </a:solidFill>
                <a:cs typeface="+mn-ea"/>
                <a:sym typeface="+mn-lt"/>
              </a:rPr>
              <a:t>；</a:t>
            </a:r>
            <a:endParaRPr lang="en-US" altLang="zh-CN" sz="1600" dirty="0">
              <a:solidFill>
                <a:srgbClr val="262625"/>
              </a:solidFill>
              <a:cs typeface="+mn-ea"/>
              <a:sym typeface="+mn-lt"/>
            </a:endParaRP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zh-CN" altLang="en-US" sz="1600" dirty="0">
                <a:solidFill>
                  <a:srgbClr val="262625"/>
                </a:solidFill>
                <a:cs typeface="+mn-ea"/>
                <a:sym typeface="+mn-lt"/>
              </a:rPr>
              <a:t>默认为不可变引用；</a:t>
            </a:r>
            <a:endParaRPr lang="en-US" altLang="zh-CN" sz="1600" dirty="0">
              <a:solidFill>
                <a:srgbClr val="262625"/>
              </a:solidFill>
              <a:cs typeface="+mn-ea"/>
              <a:sym typeface="+mn-lt"/>
            </a:endParaRP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zh-CN" altLang="en-US" sz="1600" dirty="0">
                <a:solidFill>
                  <a:srgbClr val="262625"/>
                </a:solidFill>
                <a:cs typeface="+mn-ea"/>
                <a:sym typeface="+mn-lt"/>
              </a:rPr>
              <a:t>使用符号 </a:t>
            </a:r>
            <a:r>
              <a:rPr lang="en-US" altLang="zh-CN" sz="1600" dirty="0">
                <a:solidFill>
                  <a:srgbClr val="262625"/>
                </a:solidFill>
                <a:cs typeface="+mn-ea"/>
                <a:sym typeface="+mn-lt"/>
              </a:rPr>
              <a:t>* </a:t>
            </a:r>
            <a:r>
              <a:rPr lang="zh-CN" altLang="en-US" sz="1600" dirty="0">
                <a:solidFill>
                  <a:srgbClr val="262625"/>
                </a:solidFill>
                <a:cs typeface="+mn-ea"/>
                <a:sym typeface="+mn-lt"/>
              </a:rPr>
              <a:t>对引用进行解引用；</a:t>
            </a:r>
            <a:endParaRPr lang="en-US" altLang="zh-CN" sz="1600" dirty="0">
              <a:solidFill>
                <a:srgbClr val="262625"/>
              </a:solidFill>
              <a:cs typeface="+mn-ea"/>
              <a:sym typeface="+mn-lt"/>
            </a:endParaRPr>
          </a:p>
        </p:txBody>
      </p:sp>
      <p:sp>
        <p:nvSpPr>
          <p:cNvPr id="10" name="文本框 9"/>
          <p:cNvSpPr txBox="1"/>
          <p:nvPr/>
        </p:nvSpPr>
        <p:spPr>
          <a:xfrm>
            <a:off x="607876" y="2783743"/>
            <a:ext cx="5556928" cy="2523768"/>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pPr defTabSz="914400" eaLnBrk="0" fontAlgn="base" hangingPunct="0">
              <a:spcBef>
                <a:spcPct val="0"/>
              </a:spcBef>
              <a:spcAft>
                <a:spcPct val="0"/>
              </a:spcAft>
            </a:pPr>
            <a:r>
              <a:rPr lang="en-US" altLang="zh-CN" sz="1400" dirty="0">
                <a:solidFill>
                  <a:srgbClr val="FFFFFF"/>
                </a:solidFill>
                <a:cs typeface="+mn-ea"/>
                <a:sym typeface="+mn-lt"/>
              </a:rPr>
              <a:t>// </a:t>
            </a:r>
            <a:r>
              <a:rPr lang="zh-CN" altLang="en-US" sz="1400" b="1" dirty="0">
                <a:solidFill>
                  <a:srgbClr val="00B050"/>
                </a:solidFill>
                <a:cs typeface="+mn-ea"/>
                <a:sym typeface="+mn-lt"/>
              </a:rPr>
              <a:t>代码示例</a:t>
            </a:r>
            <a:endParaRPr lang="en-US" altLang="zh-CN" sz="1400" b="1" dirty="0">
              <a:solidFill>
                <a:srgbClr val="00B050"/>
              </a:solidFill>
              <a:cs typeface="+mn-ea"/>
              <a:sym typeface="+mn-lt"/>
            </a:endParaRPr>
          </a:p>
          <a:p>
            <a:r>
              <a:rPr lang="en-US" altLang="zh-CN" sz="1400" dirty="0">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s1</a:t>
            </a:r>
            <a:r>
              <a:rPr lang="en-US" altLang="zh-CN" sz="1400" dirty="0">
                <a:solidFill>
                  <a:srgbClr val="ABB2BF"/>
                </a:solidFill>
                <a:cs typeface="+mn-ea"/>
                <a:sym typeface="+mn-lt"/>
              </a:rPr>
              <a:t> = </a:t>
            </a:r>
            <a:r>
              <a:rPr lang="en-US" altLang="zh-CN" sz="1400" dirty="0">
                <a:solidFill>
                  <a:srgbClr val="E5C07B"/>
                </a:solidFill>
                <a:cs typeface="+mn-ea"/>
                <a:sym typeface="+mn-lt"/>
              </a:rPr>
              <a:t>String</a:t>
            </a:r>
            <a:r>
              <a:rPr lang="en-US" altLang="zh-CN" sz="1400" dirty="0">
                <a:solidFill>
                  <a:srgbClr val="ABB2BF"/>
                </a:solidFill>
                <a:cs typeface="+mn-ea"/>
                <a:sym typeface="+mn-lt"/>
              </a:rPr>
              <a:t>::</a:t>
            </a:r>
            <a:r>
              <a:rPr lang="en-US" altLang="zh-CN" sz="1400" dirty="0">
                <a:solidFill>
                  <a:srgbClr val="61AFEF"/>
                </a:solidFill>
                <a:cs typeface="+mn-ea"/>
                <a:sym typeface="+mn-lt"/>
              </a:rPr>
              <a:t>from</a:t>
            </a:r>
            <a:r>
              <a:rPr lang="en-US" altLang="zh-CN" sz="1400" dirty="0">
                <a:solidFill>
                  <a:srgbClr val="ABB2BF"/>
                </a:solidFill>
                <a:cs typeface="+mn-ea"/>
                <a:sym typeface="+mn-lt"/>
              </a:rPr>
              <a:t>(</a:t>
            </a:r>
            <a:r>
              <a:rPr lang="en-US" altLang="zh-CN" sz="1400" dirty="0">
                <a:solidFill>
                  <a:srgbClr val="98C379"/>
                </a:solidFill>
                <a:cs typeface="+mn-ea"/>
                <a:sym typeface="+mn-lt"/>
              </a:rPr>
              <a:t>"hello"</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err="1">
                <a:solidFill>
                  <a:srgbClr val="E06C75"/>
                </a:solidFill>
                <a:cs typeface="+mn-ea"/>
                <a:sym typeface="+mn-lt"/>
              </a:rPr>
              <a:t>len</a:t>
            </a:r>
            <a:r>
              <a:rPr lang="en-US" altLang="zh-CN" sz="1400" dirty="0">
                <a:solidFill>
                  <a:srgbClr val="ABB2BF"/>
                </a:solidFill>
                <a:cs typeface="+mn-ea"/>
                <a:sym typeface="+mn-lt"/>
              </a:rPr>
              <a:t> = </a:t>
            </a:r>
            <a:r>
              <a:rPr lang="en-US" altLang="zh-CN" sz="1400" dirty="0" err="1">
                <a:solidFill>
                  <a:srgbClr val="61AFEF"/>
                </a:solidFill>
                <a:cs typeface="+mn-ea"/>
                <a:sym typeface="+mn-lt"/>
              </a:rPr>
              <a:t>calculate_length</a:t>
            </a:r>
            <a:r>
              <a:rPr lang="en-US" altLang="zh-CN" sz="1400" dirty="0">
                <a:solidFill>
                  <a:srgbClr val="ABB2BF"/>
                </a:solidFill>
                <a:cs typeface="+mn-ea"/>
                <a:sym typeface="+mn-lt"/>
              </a:rPr>
              <a:t>(&amp;</a:t>
            </a:r>
            <a:r>
              <a:rPr lang="en-US" altLang="zh-CN" sz="1400" dirty="0">
                <a:solidFill>
                  <a:srgbClr val="E06C75"/>
                </a:solidFill>
                <a:cs typeface="+mn-ea"/>
                <a:sym typeface="+mn-lt"/>
              </a:rPr>
              <a:t>s1</a:t>
            </a:r>
            <a:r>
              <a:rPr lang="en-US" altLang="zh-CN" sz="1400" dirty="0">
                <a:solidFill>
                  <a:srgbClr val="ABB2BF"/>
                </a:solidFill>
                <a:cs typeface="+mn-ea"/>
                <a:sym typeface="+mn-lt"/>
              </a:rPr>
              <a:t>);</a:t>
            </a:r>
            <a:r>
              <a:rPr lang="en-US" altLang="zh-CN" sz="1400" i="1" dirty="0">
                <a:solidFill>
                  <a:srgbClr val="7F848E"/>
                </a:solidFill>
                <a:cs typeface="+mn-ea"/>
                <a:sym typeface="+mn-lt"/>
              </a:rPr>
              <a:t> // &amp;s1</a:t>
            </a:r>
            <a:r>
              <a:rPr lang="zh-CN" altLang="en-US" sz="1400" i="1" dirty="0">
                <a:solidFill>
                  <a:srgbClr val="7F848E"/>
                </a:solidFill>
                <a:cs typeface="+mn-ea"/>
                <a:sym typeface="+mn-lt"/>
              </a:rPr>
              <a:t>是</a:t>
            </a:r>
            <a:r>
              <a:rPr lang="en-US" altLang="zh-CN" sz="1400" i="1" dirty="0">
                <a:solidFill>
                  <a:srgbClr val="7F848E"/>
                </a:solidFill>
                <a:cs typeface="+mn-ea"/>
                <a:sym typeface="+mn-lt"/>
              </a:rPr>
              <a:t>s1</a:t>
            </a:r>
            <a:r>
              <a:rPr lang="zh-CN" altLang="en-US" sz="1400" i="1" dirty="0">
                <a:solidFill>
                  <a:srgbClr val="7F848E"/>
                </a:solidFill>
                <a:cs typeface="+mn-ea"/>
                <a:sym typeface="+mn-lt"/>
              </a:rPr>
              <a:t>的引用</a:t>
            </a:r>
            <a:endParaRPr lang="zh-CN" altLang="en-US" sz="1400" dirty="0">
              <a:solidFill>
                <a:srgbClr val="ABB2BF"/>
              </a:solidFill>
              <a:cs typeface="+mn-ea"/>
              <a:sym typeface="+mn-lt"/>
            </a:endParaRPr>
          </a:p>
          <a:p>
            <a:r>
              <a:rPr lang="zh-CN" altLang="en-US" sz="1400" dirty="0">
                <a:solidFill>
                  <a:srgbClr val="ABB2BF"/>
                </a:solidFill>
                <a:cs typeface="+mn-ea"/>
                <a:sym typeface="+mn-lt"/>
              </a:rPr>
              <a:t>    </a:t>
            </a:r>
            <a:r>
              <a:rPr lang="en-US" altLang="zh-CN" sz="1400" dirty="0">
                <a:solidFill>
                  <a:srgbClr val="D19A66"/>
                </a:solidFill>
                <a:cs typeface="+mn-ea"/>
                <a:sym typeface="+mn-lt"/>
              </a:rPr>
              <a:t>println!</a:t>
            </a:r>
            <a:r>
              <a:rPr lang="en-US" altLang="zh-CN" sz="1400" dirty="0">
                <a:solidFill>
                  <a:srgbClr val="ABB2BF"/>
                </a:solidFill>
                <a:cs typeface="+mn-ea"/>
                <a:sym typeface="+mn-lt"/>
              </a:rPr>
              <a:t>(</a:t>
            </a:r>
            <a:r>
              <a:rPr lang="en-US" altLang="zh-CN" sz="1400" dirty="0">
                <a:solidFill>
                  <a:srgbClr val="98C379"/>
                </a:solidFill>
                <a:cs typeface="+mn-ea"/>
                <a:sym typeface="+mn-lt"/>
              </a:rPr>
              <a:t>"The length of '</a:t>
            </a:r>
            <a:r>
              <a:rPr lang="en-US" altLang="zh-CN" sz="1400" dirty="0">
                <a:solidFill>
                  <a:srgbClr val="C678DD"/>
                </a:solidFill>
                <a:cs typeface="+mn-ea"/>
                <a:sym typeface="+mn-lt"/>
              </a:rPr>
              <a:t>{}</a:t>
            </a:r>
            <a:r>
              <a:rPr lang="en-US" altLang="zh-CN" sz="1400" dirty="0">
                <a:solidFill>
                  <a:srgbClr val="98C379"/>
                </a:solidFill>
                <a:cs typeface="+mn-ea"/>
                <a:sym typeface="+mn-lt"/>
              </a:rPr>
              <a:t>' is </a:t>
            </a:r>
            <a:r>
              <a:rPr lang="en-US" altLang="zh-CN" sz="1400" dirty="0">
                <a:solidFill>
                  <a:srgbClr val="C678DD"/>
                </a:solidFill>
                <a:cs typeface="+mn-ea"/>
                <a:sym typeface="+mn-lt"/>
              </a:rPr>
              <a:t>{}</a:t>
            </a:r>
            <a:r>
              <a:rPr lang="en-US" altLang="zh-CN" sz="1400" dirty="0">
                <a:solidFill>
                  <a:srgbClr val="98C379"/>
                </a:solidFill>
                <a:cs typeface="+mn-ea"/>
                <a:sym typeface="+mn-lt"/>
              </a:rPr>
              <a:t>."</a:t>
            </a:r>
            <a:r>
              <a:rPr lang="en-US" altLang="zh-CN" sz="1400" dirty="0">
                <a:solidFill>
                  <a:srgbClr val="ABB2BF"/>
                </a:solidFill>
                <a:cs typeface="+mn-ea"/>
                <a:sym typeface="+mn-lt"/>
              </a:rPr>
              <a:t>, </a:t>
            </a:r>
            <a:r>
              <a:rPr lang="en-US" altLang="zh-CN" sz="1400" dirty="0">
                <a:solidFill>
                  <a:srgbClr val="E06C75"/>
                </a:solidFill>
                <a:cs typeface="+mn-ea"/>
                <a:sym typeface="+mn-lt"/>
              </a:rPr>
              <a:t>s1</a:t>
            </a:r>
            <a:r>
              <a:rPr lang="en-US" altLang="zh-CN" sz="1400" dirty="0">
                <a:solidFill>
                  <a:srgbClr val="ABB2BF"/>
                </a:solidFill>
                <a:cs typeface="+mn-ea"/>
                <a:sym typeface="+mn-lt"/>
              </a:rPr>
              <a:t>, </a:t>
            </a:r>
            <a:r>
              <a:rPr lang="en-US" altLang="zh-CN" sz="1400" dirty="0" err="1">
                <a:solidFill>
                  <a:srgbClr val="E06C75"/>
                </a:solidFill>
                <a:cs typeface="+mn-ea"/>
                <a:sym typeface="+mn-lt"/>
              </a:rPr>
              <a:t>len</a:t>
            </a:r>
            <a:r>
              <a:rPr lang="en-US" altLang="zh-CN" sz="1400" dirty="0">
                <a:solidFill>
                  <a:srgbClr val="ABB2BF"/>
                </a:solidFill>
                <a:cs typeface="+mn-ea"/>
                <a:sym typeface="+mn-lt"/>
              </a:rPr>
              <a:t>);</a:t>
            </a:r>
          </a:p>
          <a:p>
            <a:r>
              <a:rPr lang="en-US" altLang="zh-CN" sz="1400" dirty="0">
                <a:solidFill>
                  <a:srgbClr val="ABB2BF"/>
                </a:solidFill>
                <a:cs typeface="+mn-ea"/>
                <a:sym typeface="+mn-lt"/>
              </a:rPr>
              <a:t>}</a:t>
            </a:r>
          </a:p>
          <a:p>
            <a:br>
              <a:rPr lang="en-US" altLang="zh-CN" sz="1400" dirty="0">
                <a:solidFill>
                  <a:srgbClr val="ABB2BF"/>
                </a:solidFill>
                <a:cs typeface="+mn-ea"/>
                <a:sym typeface="+mn-lt"/>
              </a:rPr>
            </a:br>
            <a:r>
              <a:rPr lang="en-US" altLang="zh-CN" sz="1400" i="1" dirty="0">
                <a:solidFill>
                  <a:srgbClr val="7F848E"/>
                </a:solidFill>
                <a:cs typeface="+mn-ea"/>
                <a:sym typeface="+mn-lt"/>
              </a:rPr>
              <a:t>// </a:t>
            </a:r>
            <a:r>
              <a:rPr lang="zh-CN" altLang="en-US" sz="1400" i="1" dirty="0">
                <a:solidFill>
                  <a:srgbClr val="7F848E"/>
                </a:solidFill>
                <a:cs typeface="+mn-ea"/>
                <a:sym typeface="+mn-lt"/>
              </a:rPr>
              <a:t>参数为引用</a:t>
            </a:r>
            <a:endParaRPr lang="zh-CN" altLang="en-US" sz="1400" dirty="0">
              <a:solidFill>
                <a:srgbClr val="ABB2BF"/>
              </a:solidFill>
              <a:cs typeface="+mn-ea"/>
              <a:sym typeface="+mn-lt"/>
            </a:endParaRPr>
          </a:p>
          <a:p>
            <a:r>
              <a:rPr lang="en-US" altLang="zh-CN" sz="1400" dirty="0">
                <a:solidFill>
                  <a:srgbClr val="C678DD"/>
                </a:solidFill>
                <a:cs typeface="+mn-ea"/>
                <a:sym typeface="+mn-lt"/>
              </a:rPr>
              <a:t>fn</a:t>
            </a:r>
            <a:r>
              <a:rPr lang="en-US" altLang="zh-CN" sz="1400" dirty="0">
                <a:solidFill>
                  <a:srgbClr val="ABB2BF"/>
                </a:solidFill>
                <a:cs typeface="+mn-ea"/>
                <a:sym typeface="+mn-lt"/>
              </a:rPr>
              <a:t> </a:t>
            </a:r>
            <a:r>
              <a:rPr lang="en-US" altLang="zh-CN" sz="1400" dirty="0" err="1">
                <a:solidFill>
                  <a:srgbClr val="61AFEF"/>
                </a:solidFill>
                <a:cs typeface="+mn-ea"/>
                <a:sym typeface="+mn-lt"/>
              </a:rPr>
              <a:t>calculate_length</a:t>
            </a:r>
            <a:r>
              <a:rPr lang="en-US" altLang="zh-CN" sz="1400" dirty="0">
                <a:solidFill>
                  <a:srgbClr val="ABB2BF"/>
                </a:solidFill>
                <a:cs typeface="+mn-ea"/>
                <a:sym typeface="+mn-lt"/>
              </a:rPr>
              <a:t>(</a:t>
            </a:r>
            <a:r>
              <a:rPr lang="en-US" altLang="zh-CN" sz="1400" i="1" dirty="0">
                <a:solidFill>
                  <a:srgbClr val="E06C75"/>
                </a:solidFill>
                <a:cs typeface="+mn-ea"/>
                <a:sym typeface="+mn-lt"/>
              </a:rPr>
              <a:t>s</a:t>
            </a:r>
            <a:r>
              <a:rPr lang="en-US" altLang="zh-CN" sz="1400" dirty="0">
                <a:solidFill>
                  <a:srgbClr val="ABB2BF"/>
                </a:solidFill>
                <a:cs typeface="+mn-ea"/>
                <a:sym typeface="+mn-lt"/>
              </a:rPr>
              <a:t>: &amp;</a:t>
            </a:r>
            <a:r>
              <a:rPr lang="en-US" altLang="zh-CN" sz="1400" dirty="0">
                <a:solidFill>
                  <a:srgbClr val="E5C07B"/>
                </a:solidFill>
                <a:cs typeface="+mn-ea"/>
                <a:sym typeface="+mn-lt"/>
              </a:rPr>
              <a:t>String</a:t>
            </a:r>
            <a:r>
              <a:rPr lang="en-US" altLang="zh-CN" sz="1400" dirty="0">
                <a:solidFill>
                  <a:srgbClr val="ABB2BF"/>
                </a:solidFill>
                <a:cs typeface="+mn-ea"/>
                <a:sym typeface="+mn-lt"/>
              </a:rPr>
              <a:t>) -&gt; </a:t>
            </a:r>
            <a:r>
              <a:rPr lang="en-US" altLang="zh-CN" sz="1400" dirty="0" err="1">
                <a:solidFill>
                  <a:srgbClr val="E5C07B"/>
                </a:solidFill>
                <a:cs typeface="+mn-ea"/>
                <a:sym typeface="+mn-lt"/>
              </a:rPr>
              <a:t>usize</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i="1" dirty="0" err="1">
                <a:solidFill>
                  <a:srgbClr val="E06C75"/>
                </a:solidFill>
                <a:cs typeface="+mn-ea"/>
                <a:sym typeface="+mn-lt"/>
              </a:rPr>
              <a:t>s</a:t>
            </a:r>
            <a:r>
              <a:rPr lang="en-US" altLang="zh-CN" sz="1400" dirty="0" err="1">
                <a:solidFill>
                  <a:srgbClr val="ABB2BF"/>
                </a:solidFill>
                <a:cs typeface="+mn-ea"/>
                <a:sym typeface="+mn-lt"/>
              </a:rPr>
              <a:t>.</a:t>
            </a:r>
            <a:r>
              <a:rPr lang="en-US" altLang="zh-CN" sz="1400" dirty="0" err="1">
                <a:solidFill>
                  <a:srgbClr val="61AFEF"/>
                </a:solidFill>
                <a:cs typeface="+mn-ea"/>
                <a:sym typeface="+mn-lt"/>
              </a:rPr>
              <a:t>len</a:t>
            </a:r>
            <a:r>
              <a:rPr lang="en-US" altLang="zh-CN" sz="1400" dirty="0">
                <a:solidFill>
                  <a:srgbClr val="ABB2BF"/>
                </a:solidFill>
                <a:cs typeface="+mn-ea"/>
                <a:sym typeface="+mn-lt"/>
              </a:rPr>
              <a:t>()</a:t>
            </a: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pic>
        <p:nvPicPr>
          <p:cNvPr id="6" name="图片 5"/>
          <p:cNvPicPr>
            <a:picLocks noChangeAspect="1"/>
          </p:cNvPicPr>
          <p:nvPr/>
        </p:nvPicPr>
        <p:blipFill>
          <a:blip r:embed="rId3"/>
          <a:stretch>
            <a:fillRect/>
          </a:stretch>
        </p:blipFill>
        <p:spPr>
          <a:xfrm>
            <a:off x="6831398" y="3142872"/>
            <a:ext cx="4977425" cy="2242511"/>
          </a:xfrm>
          <a:prstGeom prst="rect">
            <a:avLst/>
          </a:prstGeom>
        </p:spPr>
      </p:pic>
      <p:sp>
        <p:nvSpPr>
          <p:cNvPr id="7" name="右箭头 6"/>
          <p:cNvSpPr/>
          <p:nvPr/>
        </p:nvSpPr>
        <p:spPr>
          <a:xfrm>
            <a:off x="6470804" y="3828845"/>
            <a:ext cx="299969" cy="870559"/>
          </a:xfrm>
          <a:prstGeom prst="right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12" name="直接连接符 11"/>
          <p:cNvCxnSpPr/>
          <p:nvPr/>
        </p:nvCxnSpPr>
        <p:spPr>
          <a:xfrm>
            <a:off x="253313" y="54228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6952416" y="2803699"/>
            <a:ext cx="1401850" cy="473598"/>
          </a:xfrm>
          <a:prstGeom prst="rect">
            <a:avLst/>
          </a:prstGeom>
          <a:noFill/>
        </p:spPr>
        <p:txBody>
          <a:bodyPr vert="horz" wrap="square" rtlCol="0" anchor="t">
            <a:noAutofit/>
          </a:bodyPr>
          <a:lstStyle/>
          <a:p>
            <a:pPr algn="l">
              <a:lnSpc>
                <a:spcPts val="3440"/>
              </a:lnSpc>
            </a:pPr>
            <a:r>
              <a:rPr lang="zh-CN" altLang="en-US" sz="1600" dirty="0">
                <a:solidFill>
                  <a:srgbClr val="262625"/>
                </a:solidFill>
                <a:cs typeface="+mn-ea"/>
                <a:sym typeface="+mn-lt"/>
              </a:rPr>
              <a:t>栈（</a:t>
            </a:r>
            <a:r>
              <a:rPr lang="en-US" altLang="zh-CN" sz="1600" dirty="0">
                <a:solidFill>
                  <a:srgbClr val="262625"/>
                </a:solidFill>
                <a:cs typeface="+mn-ea"/>
                <a:sym typeface="+mn-lt"/>
              </a:rPr>
              <a:t>Stack</a:t>
            </a:r>
            <a:r>
              <a:rPr lang="zh-CN" altLang="en-US" sz="1600" dirty="0">
                <a:solidFill>
                  <a:srgbClr val="262625"/>
                </a:solidFill>
                <a:cs typeface="+mn-ea"/>
                <a:sym typeface="+mn-lt"/>
              </a:rPr>
              <a:t>）</a:t>
            </a:r>
            <a:endParaRPr lang="zh-CN" altLang="en-US" sz="1600" dirty="0">
              <a:cs typeface="+mn-ea"/>
              <a:sym typeface="+mn-lt"/>
            </a:endParaRPr>
          </a:p>
        </p:txBody>
      </p:sp>
      <p:sp>
        <p:nvSpPr>
          <p:cNvPr id="4" name="TextBox 3"/>
          <p:cNvSpPr txBox="1"/>
          <p:nvPr/>
        </p:nvSpPr>
        <p:spPr>
          <a:xfrm>
            <a:off x="8619481" y="2803699"/>
            <a:ext cx="1439737" cy="492542"/>
          </a:xfrm>
          <a:prstGeom prst="rect">
            <a:avLst/>
          </a:prstGeom>
          <a:noFill/>
        </p:spPr>
        <p:txBody>
          <a:bodyPr vert="horz" wrap="square" rtlCol="0" anchor="t">
            <a:noAutofit/>
          </a:bodyPr>
          <a:lstStyle/>
          <a:p>
            <a:pPr algn="l">
              <a:lnSpc>
                <a:spcPts val="3440"/>
              </a:lnSpc>
            </a:pPr>
            <a:r>
              <a:rPr lang="zh-CN" altLang="en-US" sz="1600" dirty="0">
                <a:solidFill>
                  <a:srgbClr val="262625"/>
                </a:solidFill>
                <a:cs typeface="+mn-ea"/>
                <a:sym typeface="+mn-lt"/>
              </a:rPr>
              <a:t>栈（</a:t>
            </a:r>
            <a:r>
              <a:rPr lang="en-US" altLang="zh-CN" sz="1600" dirty="0">
                <a:solidFill>
                  <a:srgbClr val="262625"/>
                </a:solidFill>
                <a:cs typeface="+mn-ea"/>
                <a:sym typeface="+mn-lt"/>
              </a:rPr>
              <a:t>Stack</a:t>
            </a:r>
            <a:r>
              <a:rPr lang="zh-CN" altLang="en-US" sz="1600" dirty="0">
                <a:solidFill>
                  <a:srgbClr val="262625"/>
                </a:solidFill>
                <a:cs typeface="+mn-ea"/>
                <a:sym typeface="+mn-lt"/>
              </a:rPr>
              <a:t>）</a:t>
            </a:r>
            <a:endParaRPr lang="zh-CN" altLang="en-US" sz="1600" dirty="0">
              <a:cs typeface="+mn-ea"/>
              <a:sym typeface="+mn-lt"/>
            </a:endParaRPr>
          </a:p>
        </p:txBody>
      </p:sp>
      <p:sp>
        <p:nvSpPr>
          <p:cNvPr id="5" name="TextBox 4"/>
          <p:cNvSpPr txBox="1"/>
          <p:nvPr/>
        </p:nvSpPr>
        <p:spPr>
          <a:xfrm>
            <a:off x="10608592" y="2803699"/>
            <a:ext cx="1742840" cy="587261"/>
          </a:xfrm>
          <a:prstGeom prst="rect">
            <a:avLst/>
          </a:prstGeom>
          <a:noFill/>
        </p:spPr>
        <p:txBody>
          <a:bodyPr vert="horz" wrap="square" rtlCol="0" anchor="t">
            <a:noAutofit/>
          </a:bodyPr>
          <a:lstStyle/>
          <a:p>
            <a:pPr algn="l">
              <a:lnSpc>
                <a:spcPts val="3440"/>
              </a:lnSpc>
            </a:pPr>
            <a:r>
              <a:rPr lang="zh-CN" altLang="en-US" sz="1600" dirty="0">
                <a:solidFill>
                  <a:srgbClr val="262625"/>
                </a:solidFill>
                <a:cs typeface="+mn-ea"/>
                <a:sym typeface="+mn-lt"/>
              </a:rPr>
              <a:t>堆（</a:t>
            </a:r>
            <a:r>
              <a:rPr lang="en-US" altLang="zh-CN" sz="1600" dirty="0">
                <a:solidFill>
                  <a:srgbClr val="262625"/>
                </a:solidFill>
                <a:cs typeface="+mn-ea"/>
                <a:sym typeface="+mn-lt"/>
              </a:rPr>
              <a:t>heap</a:t>
            </a:r>
            <a:r>
              <a:rPr lang="zh-CN" altLang="en-US" sz="1600" dirty="0">
                <a:solidFill>
                  <a:srgbClr val="262625"/>
                </a:solidFill>
                <a:cs typeface="+mn-ea"/>
                <a:sym typeface="+mn-lt"/>
              </a:rPr>
              <a:t>）</a:t>
            </a:r>
            <a:endParaRPr lang="zh-CN" altLang="en-US" sz="1600" dirty="0">
              <a:cs typeface="+mn-ea"/>
              <a:sym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53313" y="59858"/>
            <a:ext cx="10740640" cy="615021"/>
          </a:xfrm>
        </p:spPr>
        <p:txBody>
          <a:bodyPr>
            <a:normAutofit/>
          </a:bodyPr>
          <a:lstStyle/>
          <a:p>
            <a:r>
              <a:rPr lang="zh-CN" altLang="en-US" b="1">
                <a:solidFill>
                  <a:srgbClr val="C00000"/>
                </a:solidFill>
                <a:latin typeface="+mn-lt"/>
                <a:ea typeface="+mn-ea"/>
                <a:cs typeface="+mn-ea"/>
                <a:sym typeface="+mn-lt"/>
              </a:rPr>
              <a:t>引用</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可变引用</a:t>
            </a:r>
            <a:endParaRPr lang="zh-CN" altLang="en-US" sz="1800" b="1" dirty="0">
              <a:solidFill>
                <a:srgbClr val="C00000"/>
              </a:solidFill>
              <a:latin typeface="+mn-lt"/>
              <a:ea typeface="+mn-ea"/>
              <a:cs typeface="+mn-ea"/>
              <a:sym typeface="+mn-lt"/>
            </a:endParaRPr>
          </a:p>
        </p:txBody>
      </p:sp>
      <p:sp>
        <p:nvSpPr>
          <p:cNvPr id="9" name="矩形 8"/>
          <p:cNvSpPr/>
          <p:nvPr/>
        </p:nvSpPr>
        <p:spPr>
          <a:xfrm>
            <a:off x="459205" y="728352"/>
            <a:ext cx="10534748" cy="1198880"/>
          </a:xfrm>
          <a:prstGeom prst="rect">
            <a:avLst/>
          </a:prstGeom>
        </p:spPr>
        <p:txBody>
          <a:bodyPr wrap="square">
            <a:spAutoFit/>
          </a:bodyPr>
          <a:lstStyle/>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zh-CN" altLang="en-US" sz="1600" dirty="0">
                <a:solidFill>
                  <a:srgbClr val="262625"/>
                </a:solidFill>
                <a:cs typeface="+mn-ea"/>
                <a:sym typeface="+mn-lt"/>
              </a:rPr>
              <a:t>默认为不可变引用，使用 </a:t>
            </a:r>
            <a:r>
              <a:rPr lang="en-US" altLang="zh-CN" sz="1600" dirty="0">
                <a:solidFill>
                  <a:srgbClr val="262625"/>
                </a:solidFill>
                <a:cs typeface="+mn-ea"/>
                <a:sym typeface="+mn-lt"/>
              </a:rPr>
              <a:t>mut </a:t>
            </a:r>
            <a:r>
              <a:rPr lang="zh-CN" altLang="en-US" sz="1600" dirty="0">
                <a:solidFill>
                  <a:srgbClr val="262625"/>
                </a:solidFill>
                <a:cs typeface="+mn-ea"/>
                <a:sym typeface="+mn-lt"/>
              </a:rPr>
              <a:t>可声明为可变引用；</a:t>
            </a:r>
            <a:endParaRPr lang="en-US" altLang="zh-CN" sz="1600" dirty="0">
              <a:solidFill>
                <a:srgbClr val="262625"/>
              </a:solidFill>
              <a:cs typeface="+mn-ea"/>
              <a:sym typeface="+mn-lt"/>
            </a:endParaRPr>
          </a:p>
          <a:p>
            <a:pPr marL="285750" lvl="0" indent="-285750" defTabSz="914400" eaLnBrk="0" fontAlgn="base" hangingPunct="0">
              <a:lnSpc>
                <a:spcPct val="150000"/>
              </a:lnSpc>
              <a:spcBef>
                <a:spcPct val="0"/>
              </a:spcBef>
              <a:spcAft>
                <a:spcPct val="0"/>
              </a:spcAft>
              <a:buFont typeface="Arial" panose="020B0604020202020204" pitchFamily="34" charset="0"/>
              <a:buChar char="•"/>
            </a:pPr>
            <a:endParaRPr lang="en-US" altLang="zh-CN" sz="1600" dirty="0">
              <a:solidFill>
                <a:srgbClr val="FFFFFF"/>
              </a:solidFill>
              <a:cs typeface="+mn-ea"/>
              <a:sym typeface="+mn-lt"/>
            </a:endParaRPr>
          </a:p>
          <a:p>
            <a:pPr marL="285750" lvl="0" indent="-285750" defTabSz="914400" eaLnBrk="0" fontAlgn="base" hangingPunct="0">
              <a:lnSpc>
                <a:spcPct val="150000"/>
              </a:lnSpc>
              <a:spcBef>
                <a:spcPct val="0"/>
              </a:spcBef>
              <a:spcAft>
                <a:spcPct val="0"/>
              </a:spcAft>
              <a:buFont typeface="Arial" panose="020B0604020202020204" pitchFamily="34" charset="0"/>
              <a:buChar char="•"/>
            </a:pPr>
            <a:endParaRPr lang="zh-CN" altLang="zh-CN" sz="1600" dirty="0">
              <a:solidFill>
                <a:srgbClr val="FFFFFF"/>
              </a:solidFill>
              <a:cs typeface="+mn-ea"/>
              <a:sym typeface="+mn-lt"/>
            </a:endParaRPr>
          </a:p>
        </p:txBody>
      </p:sp>
      <p:sp>
        <p:nvSpPr>
          <p:cNvPr id="10" name="文本框 9"/>
          <p:cNvSpPr txBox="1"/>
          <p:nvPr/>
        </p:nvSpPr>
        <p:spPr>
          <a:xfrm>
            <a:off x="707668" y="1635323"/>
            <a:ext cx="4043626" cy="1796143"/>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noAutofit/>
          </a:bodyPr>
          <a:lstStyle/>
          <a:p>
            <a:pPr lvl="0" defTabSz="914400" eaLnBrk="0" fontAlgn="base" hangingPunct="0">
              <a:spcBef>
                <a:spcPct val="0"/>
              </a:spcBef>
              <a:spcAft>
                <a:spcPct val="0"/>
              </a:spcAft>
            </a:pPr>
            <a:r>
              <a:rPr lang="en-US" altLang="zh-CN" sz="1400" dirty="0">
                <a:solidFill>
                  <a:schemeClr val="tx2"/>
                </a:solidFill>
                <a:cs typeface="+mn-ea"/>
                <a:sym typeface="+mn-lt"/>
              </a:rPr>
              <a:t>// </a:t>
            </a:r>
            <a:r>
              <a:rPr lang="zh-CN" altLang="en-US" sz="1400" b="1" dirty="0">
                <a:solidFill>
                  <a:srgbClr val="FF0000"/>
                </a:solidFill>
                <a:cs typeface="+mn-ea"/>
                <a:sym typeface="+mn-lt"/>
              </a:rPr>
              <a:t>错误示例</a:t>
            </a:r>
            <a:endParaRPr lang="en-US" altLang="zh-CN" sz="1400" b="1" dirty="0">
              <a:solidFill>
                <a:srgbClr val="FF0000"/>
              </a:solidFill>
              <a:cs typeface="+mn-ea"/>
              <a:sym typeface="+mn-lt"/>
            </a:endParaRPr>
          </a:p>
          <a:p>
            <a:r>
              <a:rPr lang="en-US" sz="1400" b="0" u="none" dirty="0">
                <a:solidFill>
                  <a:srgbClr val="C678DD"/>
                </a:solidFill>
                <a:cs typeface="+mn-ea"/>
                <a:sym typeface="+mn-lt"/>
              </a:rPr>
              <a:t>let</a:t>
            </a:r>
            <a:r>
              <a:rPr lang="en-US" sz="1400" b="0" u="none" dirty="0">
                <a:solidFill>
                  <a:srgbClr val="ABB2BF"/>
                </a:solidFill>
                <a:cs typeface="+mn-ea"/>
                <a:sym typeface="+mn-lt"/>
              </a:rPr>
              <a:t> </a:t>
            </a:r>
            <a:r>
              <a:rPr lang="en-US" sz="1400" b="0" u="none" dirty="0" err="1">
                <a:solidFill>
                  <a:srgbClr val="C678DD"/>
                </a:solidFill>
                <a:cs typeface="+mn-ea"/>
                <a:sym typeface="+mn-lt"/>
              </a:rPr>
              <a:t>mut</a:t>
            </a:r>
            <a:r>
              <a:rPr lang="en-US" sz="1400" b="0" u="none" dirty="0">
                <a:solidFill>
                  <a:srgbClr val="ABB2BF"/>
                </a:solidFill>
                <a:cs typeface="+mn-ea"/>
                <a:sym typeface="+mn-lt"/>
              </a:rPr>
              <a:t> </a:t>
            </a:r>
            <a:r>
              <a:rPr lang="en-US" sz="1400" b="0" u="none" dirty="0">
                <a:solidFill>
                  <a:srgbClr val="E06C75"/>
                </a:solidFill>
                <a:cs typeface="+mn-ea"/>
                <a:sym typeface="+mn-lt"/>
              </a:rPr>
              <a:t>s</a:t>
            </a:r>
            <a:r>
              <a:rPr lang="en-US" sz="1400" b="0" u="none" dirty="0">
                <a:solidFill>
                  <a:srgbClr val="ABB2BF"/>
                </a:solidFill>
                <a:cs typeface="+mn-ea"/>
                <a:sym typeface="+mn-lt"/>
              </a:rPr>
              <a:t> = </a:t>
            </a:r>
            <a:r>
              <a:rPr lang="en-US" sz="1400" b="0" u="none" dirty="0">
                <a:solidFill>
                  <a:srgbClr val="E5C07B"/>
                </a:solidFill>
                <a:cs typeface="+mn-ea"/>
                <a:sym typeface="+mn-lt"/>
              </a:rPr>
              <a:t>String</a:t>
            </a:r>
            <a:r>
              <a:rPr lang="en-US" sz="1400" b="0" u="none" dirty="0">
                <a:solidFill>
                  <a:srgbClr val="ABB2BF"/>
                </a:solidFill>
                <a:cs typeface="+mn-ea"/>
                <a:sym typeface="+mn-lt"/>
              </a:rPr>
              <a:t>::</a:t>
            </a:r>
            <a:r>
              <a:rPr lang="en-US" sz="1400" b="0" u="none" dirty="0">
                <a:solidFill>
                  <a:srgbClr val="61AFEF"/>
                </a:solidFill>
                <a:cs typeface="+mn-ea"/>
                <a:sym typeface="+mn-lt"/>
              </a:rPr>
              <a:t>from</a:t>
            </a:r>
            <a:r>
              <a:rPr lang="en-US" sz="1400" b="0" u="none" dirty="0">
                <a:solidFill>
                  <a:srgbClr val="ABB2BF"/>
                </a:solidFill>
                <a:cs typeface="+mn-ea"/>
                <a:sym typeface="+mn-lt"/>
              </a:rPr>
              <a:t>(</a:t>
            </a:r>
            <a:r>
              <a:rPr lang="en-US" sz="1400" b="0" u="none" dirty="0">
                <a:solidFill>
                  <a:srgbClr val="98C379"/>
                </a:solidFill>
                <a:cs typeface="+mn-ea"/>
                <a:sym typeface="+mn-lt"/>
              </a:rPr>
              <a:t>"hello"</a:t>
            </a:r>
            <a:r>
              <a:rPr lang="en-US" sz="1400" b="0" u="none" dirty="0">
                <a:solidFill>
                  <a:srgbClr val="ABB2BF"/>
                </a:solidFill>
                <a:cs typeface="+mn-ea"/>
                <a:sym typeface="+mn-lt"/>
              </a:rPr>
              <a:t>);</a:t>
            </a:r>
            <a:endParaRPr lang="zh-CN" sz="1400" b="0" i="1" u="none" dirty="0">
              <a:solidFill>
                <a:srgbClr val="7F848E"/>
              </a:solidFill>
              <a:cs typeface="+mn-ea"/>
              <a:sym typeface="+mn-lt"/>
            </a:endParaRPr>
          </a:p>
          <a:p>
            <a:r>
              <a:rPr lang="zh-CN" sz="1400" b="0" i="1" u="none" dirty="0">
                <a:solidFill>
                  <a:srgbClr val="7F848E"/>
                </a:solidFill>
                <a:cs typeface="+mn-ea"/>
                <a:sym typeface="+mn-lt"/>
              </a:rPr>
              <a:t>// 可变引用同时只能存在一个；</a:t>
            </a:r>
            <a:endParaRPr lang="en-US" sz="1400" b="0" u="none" dirty="0">
              <a:solidFill>
                <a:srgbClr val="C678DD"/>
              </a:solidFill>
              <a:cs typeface="+mn-ea"/>
              <a:sym typeface="+mn-lt"/>
            </a:endParaRPr>
          </a:p>
          <a:p>
            <a:r>
              <a:rPr lang="en-US" sz="1400" b="0" u="none" dirty="0">
                <a:solidFill>
                  <a:srgbClr val="C678DD"/>
                </a:solidFill>
                <a:cs typeface="+mn-ea"/>
                <a:sym typeface="+mn-lt"/>
              </a:rPr>
              <a:t>let</a:t>
            </a:r>
            <a:r>
              <a:rPr lang="en-US" sz="1400" b="0" u="none" dirty="0">
                <a:solidFill>
                  <a:srgbClr val="ABB2BF"/>
                </a:solidFill>
                <a:cs typeface="+mn-ea"/>
                <a:sym typeface="+mn-lt"/>
              </a:rPr>
              <a:t> </a:t>
            </a:r>
            <a:r>
              <a:rPr lang="en-US" sz="1400" b="0" u="none" dirty="0">
                <a:solidFill>
                  <a:srgbClr val="E06C75"/>
                </a:solidFill>
                <a:cs typeface="+mn-ea"/>
                <a:sym typeface="+mn-lt"/>
              </a:rPr>
              <a:t>r1</a:t>
            </a:r>
            <a:r>
              <a:rPr lang="en-US" sz="1400" b="0" u="none" dirty="0">
                <a:solidFill>
                  <a:srgbClr val="ABB2BF"/>
                </a:solidFill>
                <a:cs typeface="+mn-ea"/>
                <a:sym typeface="+mn-lt"/>
              </a:rPr>
              <a:t> = &amp;</a:t>
            </a:r>
            <a:r>
              <a:rPr lang="en-US" sz="1400" b="0" u="none" dirty="0" err="1">
                <a:solidFill>
                  <a:srgbClr val="C678DD"/>
                </a:solidFill>
                <a:cs typeface="+mn-ea"/>
                <a:sym typeface="+mn-lt"/>
              </a:rPr>
              <a:t>mut</a:t>
            </a:r>
            <a:r>
              <a:rPr lang="en-US" sz="1400" b="0" u="none" dirty="0">
                <a:solidFill>
                  <a:srgbClr val="ABB2BF"/>
                </a:solidFill>
                <a:cs typeface="+mn-ea"/>
                <a:sym typeface="+mn-lt"/>
              </a:rPr>
              <a:t> </a:t>
            </a:r>
            <a:r>
              <a:rPr lang="en-US" sz="1400" b="0" u="none" dirty="0">
                <a:solidFill>
                  <a:srgbClr val="E06C75"/>
                </a:solidFill>
                <a:cs typeface="+mn-ea"/>
                <a:sym typeface="+mn-lt"/>
              </a:rPr>
              <a:t>s</a:t>
            </a:r>
            <a:r>
              <a:rPr lang="en-US" sz="1400" b="0" u="none" dirty="0">
                <a:solidFill>
                  <a:srgbClr val="ABB2BF"/>
                </a:solidFill>
                <a:cs typeface="+mn-ea"/>
                <a:sym typeface="+mn-lt"/>
              </a:rPr>
              <a:t>;</a:t>
            </a:r>
            <a:endParaRPr lang="en-US" sz="1400" b="0" u="none" dirty="0">
              <a:solidFill>
                <a:srgbClr val="C678DD"/>
              </a:solidFill>
              <a:cs typeface="+mn-ea"/>
              <a:sym typeface="+mn-lt"/>
            </a:endParaRPr>
          </a:p>
          <a:p>
            <a:r>
              <a:rPr lang="en-US" sz="1400" b="0" u="none" dirty="0">
                <a:solidFill>
                  <a:srgbClr val="C678DD"/>
                </a:solidFill>
                <a:cs typeface="+mn-ea"/>
                <a:sym typeface="+mn-lt"/>
              </a:rPr>
              <a:t>let</a:t>
            </a:r>
            <a:r>
              <a:rPr lang="en-US" sz="1400" b="0" u="none" dirty="0">
                <a:solidFill>
                  <a:srgbClr val="ABB2BF"/>
                </a:solidFill>
                <a:cs typeface="+mn-ea"/>
                <a:sym typeface="+mn-lt"/>
              </a:rPr>
              <a:t> </a:t>
            </a:r>
            <a:r>
              <a:rPr lang="en-US" sz="1400" b="0" u="none" dirty="0">
                <a:solidFill>
                  <a:srgbClr val="E06C75"/>
                </a:solidFill>
                <a:cs typeface="+mn-ea"/>
                <a:sym typeface="+mn-lt"/>
              </a:rPr>
              <a:t>r2</a:t>
            </a:r>
            <a:r>
              <a:rPr lang="en-US" sz="1400" b="0" u="none" dirty="0">
                <a:solidFill>
                  <a:srgbClr val="ABB2BF"/>
                </a:solidFill>
                <a:cs typeface="+mn-ea"/>
                <a:sym typeface="+mn-lt"/>
              </a:rPr>
              <a:t> = &amp;</a:t>
            </a:r>
            <a:r>
              <a:rPr lang="en-US" sz="1400" b="0" u="none" dirty="0" err="1">
                <a:solidFill>
                  <a:srgbClr val="C678DD"/>
                </a:solidFill>
                <a:cs typeface="+mn-ea"/>
                <a:sym typeface="+mn-lt"/>
              </a:rPr>
              <a:t>mut</a:t>
            </a:r>
            <a:r>
              <a:rPr lang="en-US" sz="1400" b="0" u="none" dirty="0">
                <a:solidFill>
                  <a:srgbClr val="ABB2BF"/>
                </a:solidFill>
                <a:cs typeface="+mn-ea"/>
                <a:sym typeface="+mn-lt"/>
              </a:rPr>
              <a:t> </a:t>
            </a:r>
            <a:r>
              <a:rPr lang="en-US" sz="1400" b="0" u="none" dirty="0">
                <a:solidFill>
                  <a:srgbClr val="E06C75"/>
                </a:solidFill>
                <a:cs typeface="+mn-ea"/>
                <a:sym typeface="+mn-lt"/>
              </a:rPr>
              <a:t>s</a:t>
            </a:r>
            <a:r>
              <a:rPr lang="en-US" sz="1400" b="0" u="none" dirty="0">
                <a:solidFill>
                  <a:srgbClr val="ABB2BF"/>
                </a:solidFill>
                <a:cs typeface="+mn-ea"/>
                <a:sym typeface="+mn-lt"/>
              </a:rPr>
              <a:t>;</a:t>
            </a:r>
            <a:endParaRPr lang="en-US" sz="1400" b="0" u="none" dirty="0">
              <a:solidFill>
                <a:srgbClr val="D19A66"/>
              </a:solidFill>
              <a:cs typeface="+mn-ea"/>
              <a:sym typeface="+mn-lt"/>
            </a:endParaRPr>
          </a:p>
          <a:p>
            <a:r>
              <a:rPr lang="en-US" sz="1400" b="0" u="none" dirty="0">
                <a:solidFill>
                  <a:srgbClr val="D19A66"/>
                </a:solidFill>
                <a:cs typeface="+mn-ea"/>
                <a:sym typeface="+mn-lt"/>
              </a:rPr>
              <a:t>println!</a:t>
            </a:r>
            <a:r>
              <a:rPr lang="en-US" sz="1400" b="0" u="none" dirty="0">
                <a:solidFill>
                  <a:srgbClr val="ABB2BF"/>
                </a:solidFill>
                <a:cs typeface="+mn-ea"/>
                <a:sym typeface="+mn-lt"/>
              </a:rPr>
              <a:t>(</a:t>
            </a:r>
            <a:r>
              <a:rPr lang="en-US" sz="1400" b="0" u="none" dirty="0">
                <a:solidFill>
                  <a:srgbClr val="98C379"/>
                </a:solidFill>
                <a:cs typeface="+mn-ea"/>
                <a:sym typeface="+mn-lt"/>
              </a:rPr>
              <a:t>"</a:t>
            </a:r>
            <a:r>
              <a:rPr lang="en-US" sz="1400" b="0" u="none" dirty="0">
                <a:solidFill>
                  <a:srgbClr val="C678DD"/>
                </a:solidFill>
                <a:cs typeface="+mn-ea"/>
                <a:sym typeface="+mn-lt"/>
              </a:rPr>
              <a:t>{}</a:t>
            </a:r>
            <a:r>
              <a:rPr lang="en-US" sz="1400" b="0" u="none" dirty="0">
                <a:solidFill>
                  <a:srgbClr val="98C379"/>
                </a:solidFill>
                <a:cs typeface="+mn-ea"/>
                <a:sym typeface="+mn-lt"/>
              </a:rPr>
              <a:t>, </a:t>
            </a:r>
            <a:r>
              <a:rPr lang="en-US" sz="1400" b="0" u="none" dirty="0">
                <a:solidFill>
                  <a:srgbClr val="C678DD"/>
                </a:solidFill>
                <a:cs typeface="+mn-ea"/>
                <a:sym typeface="+mn-lt"/>
              </a:rPr>
              <a:t>{}</a:t>
            </a:r>
            <a:r>
              <a:rPr lang="en-US" sz="1400" b="0" u="none" dirty="0">
                <a:solidFill>
                  <a:srgbClr val="98C379"/>
                </a:solidFill>
                <a:cs typeface="+mn-ea"/>
                <a:sym typeface="+mn-lt"/>
              </a:rPr>
              <a:t>"</a:t>
            </a:r>
            <a:r>
              <a:rPr lang="en-US" sz="1400" b="0" u="none" dirty="0">
                <a:solidFill>
                  <a:srgbClr val="ABB2BF"/>
                </a:solidFill>
                <a:cs typeface="+mn-ea"/>
                <a:sym typeface="+mn-lt"/>
              </a:rPr>
              <a:t>, </a:t>
            </a:r>
            <a:r>
              <a:rPr lang="en-US" sz="1400" b="0" u="none" dirty="0">
                <a:solidFill>
                  <a:srgbClr val="E06C75"/>
                </a:solidFill>
                <a:cs typeface="+mn-ea"/>
                <a:sym typeface="+mn-lt"/>
              </a:rPr>
              <a:t>r1</a:t>
            </a:r>
            <a:r>
              <a:rPr lang="en-US" sz="1400" b="0" u="none" dirty="0">
                <a:solidFill>
                  <a:srgbClr val="ABB2BF"/>
                </a:solidFill>
                <a:cs typeface="+mn-ea"/>
                <a:sym typeface="+mn-lt"/>
              </a:rPr>
              <a:t>, </a:t>
            </a:r>
            <a:r>
              <a:rPr lang="en-US" sz="1400" b="0" u="none" dirty="0">
                <a:solidFill>
                  <a:srgbClr val="E06C75"/>
                </a:solidFill>
                <a:cs typeface="+mn-ea"/>
                <a:sym typeface="+mn-lt"/>
              </a:rPr>
              <a:t>r2</a:t>
            </a:r>
            <a:r>
              <a:rPr lang="en-US" sz="1400" b="0" u="none" dirty="0">
                <a:solidFill>
                  <a:srgbClr val="ABB2BF"/>
                </a:solidFill>
                <a:cs typeface="+mn-ea"/>
                <a:sym typeface="+mn-lt"/>
              </a:rPr>
              <a:t>);</a:t>
            </a:r>
            <a:endParaRPr lang="en-US" altLang="zh-CN" sz="1400" b="0" u="none" dirty="0">
              <a:solidFill>
                <a:srgbClr val="ABB2BF"/>
              </a:solidFill>
              <a:effectLst/>
              <a:cs typeface="+mn-ea"/>
              <a:sym typeface="+mn-lt"/>
            </a:endParaRPr>
          </a:p>
        </p:txBody>
      </p:sp>
      <p:sp>
        <p:nvSpPr>
          <p:cNvPr id="7" name="右箭头 6"/>
          <p:cNvSpPr/>
          <p:nvPr/>
        </p:nvSpPr>
        <p:spPr>
          <a:xfrm>
            <a:off x="5016749" y="2117818"/>
            <a:ext cx="299969" cy="870559"/>
          </a:xfrm>
          <a:prstGeom prst="right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p:cNvSpPr txBox="1"/>
          <p:nvPr/>
        </p:nvSpPr>
        <p:spPr>
          <a:xfrm>
            <a:off x="714120" y="3751964"/>
            <a:ext cx="4037174" cy="2187701"/>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noAutofit/>
          </a:bodyPr>
          <a:lstStyle/>
          <a:p>
            <a:pPr defTabSz="914400" eaLnBrk="0" fontAlgn="base" hangingPunct="0">
              <a:spcBef>
                <a:spcPct val="0"/>
              </a:spcBef>
              <a:spcAft>
                <a:spcPct val="0"/>
              </a:spcAft>
            </a:pPr>
            <a:r>
              <a:rPr lang="en-US" altLang="zh-CN" sz="1400" dirty="0">
                <a:solidFill>
                  <a:schemeClr val="tx2"/>
                </a:solidFill>
                <a:cs typeface="+mn-ea"/>
                <a:sym typeface="+mn-lt"/>
              </a:rPr>
              <a:t>// </a:t>
            </a:r>
            <a:r>
              <a:rPr lang="zh-CN" altLang="en-US" sz="1400" b="1" dirty="0">
                <a:solidFill>
                  <a:srgbClr val="FF0000"/>
                </a:solidFill>
                <a:cs typeface="+mn-ea"/>
                <a:sym typeface="+mn-lt"/>
              </a:rPr>
              <a:t>错误示例</a:t>
            </a:r>
            <a:endParaRPr lang="en-US" altLang="zh-CN" sz="1400" dirty="0">
              <a:solidFill>
                <a:schemeClr val="tx2"/>
              </a:solidFill>
              <a:cs typeface="+mn-ea"/>
              <a:sym typeface="+mn-lt"/>
            </a:endParaRPr>
          </a:p>
          <a:p>
            <a:r>
              <a:rPr lang="en-US" sz="1400" b="0" u="none" dirty="0">
                <a:solidFill>
                  <a:srgbClr val="C678DD"/>
                </a:solidFill>
                <a:cs typeface="+mn-ea"/>
                <a:sym typeface="+mn-lt"/>
              </a:rPr>
              <a:t>let</a:t>
            </a:r>
            <a:r>
              <a:rPr lang="en-US" sz="1400" b="0" u="none" dirty="0">
                <a:solidFill>
                  <a:srgbClr val="ABB2BF"/>
                </a:solidFill>
                <a:cs typeface="+mn-ea"/>
                <a:sym typeface="+mn-lt"/>
              </a:rPr>
              <a:t> </a:t>
            </a:r>
            <a:r>
              <a:rPr lang="en-US" sz="1400" b="0" u="none" dirty="0" err="1">
                <a:solidFill>
                  <a:srgbClr val="C678DD"/>
                </a:solidFill>
                <a:cs typeface="+mn-ea"/>
                <a:sym typeface="+mn-lt"/>
              </a:rPr>
              <a:t>mut</a:t>
            </a:r>
            <a:r>
              <a:rPr lang="en-US" sz="1400" b="0" u="none" dirty="0">
                <a:solidFill>
                  <a:srgbClr val="ABB2BF"/>
                </a:solidFill>
                <a:cs typeface="+mn-ea"/>
                <a:sym typeface="+mn-lt"/>
              </a:rPr>
              <a:t> </a:t>
            </a:r>
            <a:r>
              <a:rPr lang="en-US" sz="1400" b="0" u="none" dirty="0">
                <a:solidFill>
                  <a:srgbClr val="E06C75"/>
                </a:solidFill>
                <a:uFill>
                  <a:solidFill>
                    <a:srgbClr val="000000"/>
                  </a:solidFill>
                </a:uFill>
                <a:cs typeface="+mn-ea"/>
                <a:sym typeface="+mn-lt"/>
              </a:rPr>
              <a:t>s</a:t>
            </a:r>
            <a:r>
              <a:rPr lang="en-US" sz="1400" b="0" u="none" dirty="0">
                <a:solidFill>
                  <a:srgbClr val="ABB2BF"/>
                </a:solidFill>
                <a:cs typeface="+mn-ea"/>
                <a:sym typeface="+mn-lt"/>
              </a:rPr>
              <a:t> = </a:t>
            </a:r>
            <a:r>
              <a:rPr lang="en-US" sz="1400" b="0" u="none" dirty="0">
                <a:solidFill>
                  <a:srgbClr val="E5C07B"/>
                </a:solidFill>
                <a:cs typeface="+mn-ea"/>
                <a:sym typeface="+mn-lt"/>
              </a:rPr>
              <a:t>String</a:t>
            </a:r>
            <a:r>
              <a:rPr lang="en-US" sz="1400" b="0" u="none" dirty="0">
                <a:solidFill>
                  <a:srgbClr val="ABB2BF"/>
                </a:solidFill>
                <a:cs typeface="+mn-ea"/>
                <a:sym typeface="+mn-lt"/>
              </a:rPr>
              <a:t>::</a:t>
            </a:r>
            <a:r>
              <a:rPr lang="en-US" sz="1400" b="0" u="none" dirty="0">
                <a:solidFill>
                  <a:srgbClr val="61AFEF"/>
                </a:solidFill>
                <a:cs typeface="+mn-ea"/>
                <a:sym typeface="+mn-lt"/>
              </a:rPr>
              <a:t>from</a:t>
            </a:r>
            <a:r>
              <a:rPr lang="en-US" sz="1400" b="0" u="none" dirty="0">
                <a:solidFill>
                  <a:srgbClr val="ABB2BF"/>
                </a:solidFill>
                <a:cs typeface="+mn-ea"/>
                <a:sym typeface="+mn-lt"/>
              </a:rPr>
              <a:t>(</a:t>
            </a:r>
            <a:r>
              <a:rPr lang="en-US" sz="1400" b="0" u="none" dirty="0">
                <a:solidFill>
                  <a:srgbClr val="98C379"/>
                </a:solidFill>
                <a:cs typeface="+mn-ea"/>
                <a:sym typeface="+mn-lt"/>
              </a:rPr>
              <a:t>"hello"</a:t>
            </a:r>
            <a:r>
              <a:rPr lang="en-US" sz="1400" b="0" u="none" dirty="0">
                <a:solidFill>
                  <a:srgbClr val="ABB2BF"/>
                </a:solidFill>
                <a:cs typeface="+mn-ea"/>
                <a:sym typeface="+mn-lt"/>
              </a:rPr>
              <a:t>);</a:t>
            </a:r>
            <a:endParaRPr lang="zh-CN" sz="1400" b="0" i="1" u="none" dirty="0">
              <a:solidFill>
                <a:srgbClr val="7F848E"/>
              </a:solidFill>
              <a:cs typeface="+mn-ea"/>
              <a:sym typeface="+mn-lt"/>
            </a:endParaRPr>
          </a:p>
          <a:p>
            <a:r>
              <a:rPr lang="zh-CN" sz="1400" b="0" i="1" u="none" dirty="0">
                <a:solidFill>
                  <a:srgbClr val="7F848E"/>
                </a:solidFill>
                <a:cs typeface="+mn-ea"/>
                <a:sym typeface="+mn-lt"/>
              </a:rPr>
              <a:t>// 可变引用与不可变引用不能同时存在</a:t>
            </a:r>
            <a:endParaRPr lang="en-US" sz="1400" b="0" u="none" dirty="0">
              <a:solidFill>
                <a:srgbClr val="C678DD"/>
              </a:solidFill>
              <a:cs typeface="+mn-ea"/>
              <a:sym typeface="+mn-lt"/>
            </a:endParaRPr>
          </a:p>
          <a:p>
            <a:r>
              <a:rPr lang="en-US" sz="1400" b="0" u="none" dirty="0">
                <a:solidFill>
                  <a:srgbClr val="C678DD"/>
                </a:solidFill>
                <a:cs typeface="+mn-ea"/>
                <a:sym typeface="+mn-lt"/>
              </a:rPr>
              <a:t>let</a:t>
            </a:r>
            <a:r>
              <a:rPr lang="en-US" sz="1400" b="0" u="none" dirty="0">
                <a:solidFill>
                  <a:srgbClr val="ABB2BF"/>
                </a:solidFill>
                <a:cs typeface="+mn-ea"/>
                <a:sym typeface="+mn-lt"/>
              </a:rPr>
              <a:t> </a:t>
            </a:r>
            <a:r>
              <a:rPr lang="en-US" sz="1400" b="0" u="none" dirty="0">
                <a:solidFill>
                  <a:srgbClr val="E06C75"/>
                </a:solidFill>
                <a:cs typeface="+mn-ea"/>
                <a:sym typeface="+mn-lt"/>
              </a:rPr>
              <a:t>r1</a:t>
            </a:r>
            <a:r>
              <a:rPr lang="en-US" sz="1400" b="0" u="none" dirty="0">
                <a:solidFill>
                  <a:srgbClr val="ABB2BF"/>
                </a:solidFill>
                <a:cs typeface="+mn-ea"/>
                <a:sym typeface="+mn-lt"/>
              </a:rPr>
              <a:t> = &amp;</a:t>
            </a:r>
            <a:r>
              <a:rPr lang="en-US" sz="1400" b="0" u="none" dirty="0">
                <a:solidFill>
                  <a:srgbClr val="E06C75"/>
                </a:solidFill>
                <a:uFill>
                  <a:solidFill>
                    <a:srgbClr val="000000"/>
                  </a:solidFill>
                </a:uFill>
                <a:cs typeface="+mn-ea"/>
                <a:sym typeface="+mn-lt"/>
              </a:rPr>
              <a:t>s</a:t>
            </a:r>
            <a:r>
              <a:rPr lang="en-US" sz="1400" b="0" u="none" dirty="0">
                <a:solidFill>
                  <a:srgbClr val="ABB2BF"/>
                </a:solidFill>
                <a:cs typeface="+mn-ea"/>
                <a:sym typeface="+mn-lt"/>
              </a:rPr>
              <a:t>; </a:t>
            </a:r>
            <a:endParaRPr lang="en-US" sz="1400" b="0" u="none" dirty="0">
              <a:solidFill>
                <a:srgbClr val="C678DD"/>
              </a:solidFill>
              <a:cs typeface="+mn-ea"/>
              <a:sym typeface="+mn-lt"/>
            </a:endParaRPr>
          </a:p>
          <a:p>
            <a:r>
              <a:rPr lang="en-US" sz="1400" b="0" u="none" dirty="0">
                <a:solidFill>
                  <a:srgbClr val="C678DD"/>
                </a:solidFill>
                <a:cs typeface="+mn-ea"/>
                <a:sym typeface="+mn-lt"/>
              </a:rPr>
              <a:t>let</a:t>
            </a:r>
            <a:r>
              <a:rPr lang="en-US" sz="1400" b="0" u="none" dirty="0">
                <a:solidFill>
                  <a:srgbClr val="ABB2BF"/>
                </a:solidFill>
                <a:cs typeface="+mn-ea"/>
                <a:sym typeface="+mn-lt"/>
              </a:rPr>
              <a:t> </a:t>
            </a:r>
            <a:r>
              <a:rPr lang="en-US" sz="1400" b="0" u="none" dirty="0">
                <a:solidFill>
                  <a:srgbClr val="E06C75"/>
                </a:solidFill>
                <a:cs typeface="+mn-ea"/>
                <a:sym typeface="+mn-lt"/>
              </a:rPr>
              <a:t>r2</a:t>
            </a:r>
            <a:r>
              <a:rPr lang="en-US" sz="1400" b="0" u="none" dirty="0">
                <a:solidFill>
                  <a:srgbClr val="ABB2BF"/>
                </a:solidFill>
                <a:cs typeface="+mn-ea"/>
                <a:sym typeface="+mn-lt"/>
              </a:rPr>
              <a:t> = &amp;</a:t>
            </a:r>
            <a:r>
              <a:rPr lang="en-US" sz="1400" b="0" u="none" dirty="0">
                <a:solidFill>
                  <a:srgbClr val="E06C75"/>
                </a:solidFill>
                <a:uFill>
                  <a:solidFill>
                    <a:srgbClr val="000000"/>
                  </a:solidFill>
                </a:uFill>
                <a:cs typeface="+mn-ea"/>
                <a:sym typeface="+mn-lt"/>
              </a:rPr>
              <a:t>s</a:t>
            </a:r>
            <a:r>
              <a:rPr lang="en-US" sz="1400" b="0" u="none" dirty="0">
                <a:solidFill>
                  <a:srgbClr val="ABB2BF"/>
                </a:solidFill>
                <a:cs typeface="+mn-ea"/>
                <a:sym typeface="+mn-lt"/>
              </a:rPr>
              <a:t>; </a:t>
            </a:r>
            <a:endParaRPr lang="en-US" sz="1400" b="0" u="none" dirty="0">
              <a:solidFill>
                <a:srgbClr val="C678DD"/>
              </a:solidFill>
              <a:cs typeface="+mn-ea"/>
              <a:sym typeface="+mn-lt"/>
            </a:endParaRPr>
          </a:p>
          <a:p>
            <a:r>
              <a:rPr lang="en-US" sz="1400" b="0" u="none" dirty="0">
                <a:solidFill>
                  <a:srgbClr val="C678DD"/>
                </a:solidFill>
                <a:cs typeface="+mn-ea"/>
                <a:sym typeface="+mn-lt"/>
              </a:rPr>
              <a:t>let</a:t>
            </a:r>
            <a:r>
              <a:rPr lang="en-US" sz="1400" b="0" u="none" dirty="0">
                <a:solidFill>
                  <a:srgbClr val="ABB2BF"/>
                </a:solidFill>
                <a:cs typeface="+mn-ea"/>
                <a:sym typeface="+mn-lt"/>
              </a:rPr>
              <a:t> </a:t>
            </a:r>
            <a:r>
              <a:rPr lang="en-US" sz="1400" b="0" u="none" dirty="0">
                <a:solidFill>
                  <a:srgbClr val="E06C75"/>
                </a:solidFill>
                <a:uFill>
                  <a:solidFill>
                    <a:srgbClr val="000000"/>
                  </a:solidFill>
                </a:uFill>
                <a:cs typeface="+mn-ea"/>
                <a:sym typeface="+mn-lt"/>
              </a:rPr>
              <a:t>r3</a:t>
            </a:r>
            <a:r>
              <a:rPr lang="en-US" sz="1400" b="0" u="none" dirty="0">
                <a:solidFill>
                  <a:srgbClr val="ABB2BF"/>
                </a:solidFill>
                <a:cs typeface="+mn-ea"/>
                <a:sym typeface="+mn-lt"/>
              </a:rPr>
              <a:t> = &amp;</a:t>
            </a:r>
            <a:r>
              <a:rPr lang="en-US" sz="1400" b="0" u="none" dirty="0" err="1">
                <a:solidFill>
                  <a:srgbClr val="C678DD"/>
                </a:solidFill>
                <a:cs typeface="+mn-ea"/>
                <a:sym typeface="+mn-lt"/>
              </a:rPr>
              <a:t>mut</a:t>
            </a:r>
            <a:r>
              <a:rPr lang="en-US" sz="1400" b="0" u="none" dirty="0">
                <a:solidFill>
                  <a:srgbClr val="ABB2BF"/>
                </a:solidFill>
                <a:cs typeface="+mn-ea"/>
                <a:sym typeface="+mn-lt"/>
              </a:rPr>
              <a:t> </a:t>
            </a:r>
            <a:r>
              <a:rPr lang="en-US" sz="1400" b="0" u="none" dirty="0">
                <a:solidFill>
                  <a:srgbClr val="E06C75"/>
                </a:solidFill>
                <a:uFill>
                  <a:solidFill>
                    <a:srgbClr val="000000"/>
                  </a:solidFill>
                </a:uFill>
                <a:cs typeface="+mn-ea"/>
                <a:sym typeface="+mn-lt"/>
              </a:rPr>
              <a:t>s</a:t>
            </a:r>
            <a:r>
              <a:rPr lang="en-US" sz="1400" b="0" u="none" dirty="0">
                <a:solidFill>
                  <a:srgbClr val="ABB2BF"/>
                </a:solidFill>
                <a:cs typeface="+mn-ea"/>
                <a:sym typeface="+mn-lt"/>
              </a:rPr>
              <a:t>; </a:t>
            </a:r>
            <a:endParaRPr lang="en-US" sz="1400" b="0" u="none" dirty="0">
              <a:solidFill>
                <a:srgbClr val="D19A66"/>
              </a:solidFill>
              <a:cs typeface="+mn-ea"/>
              <a:sym typeface="+mn-lt"/>
            </a:endParaRPr>
          </a:p>
          <a:p>
            <a:r>
              <a:rPr lang="en-US" sz="1400" b="0" u="none" dirty="0">
                <a:solidFill>
                  <a:srgbClr val="D19A66"/>
                </a:solidFill>
                <a:cs typeface="+mn-ea"/>
                <a:sym typeface="+mn-lt"/>
              </a:rPr>
              <a:t>println!</a:t>
            </a:r>
            <a:r>
              <a:rPr lang="en-US" sz="1400" b="0" u="none" dirty="0">
                <a:solidFill>
                  <a:srgbClr val="ABB2BF"/>
                </a:solidFill>
                <a:cs typeface="+mn-ea"/>
                <a:sym typeface="+mn-lt"/>
              </a:rPr>
              <a:t>(</a:t>
            </a:r>
            <a:r>
              <a:rPr lang="en-US" sz="1400" b="0" u="none" dirty="0">
                <a:solidFill>
                  <a:srgbClr val="98C379"/>
                </a:solidFill>
                <a:cs typeface="+mn-ea"/>
                <a:sym typeface="+mn-lt"/>
              </a:rPr>
              <a:t>"</a:t>
            </a:r>
            <a:r>
              <a:rPr lang="en-US" sz="1400" b="0" u="none" dirty="0">
                <a:solidFill>
                  <a:srgbClr val="C678DD"/>
                </a:solidFill>
                <a:cs typeface="+mn-ea"/>
                <a:sym typeface="+mn-lt"/>
              </a:rPr>
              <a:t>{}</a:t>
            </a:r>
            <a:r>
              <a:rPr lang="en-US" sz="1400" b="0" u="none" dirty="0">
                <a:solidFill>
                  <a:srgbClr val="98C379"/>
                </a:solidFill>
                <a:cs typeface="+mn-ea"/>
                <a:sym typeface="+mn-lt"/>
              </a:rPr>
              <a:t>, </a:t>
            </a:r>
            <a:r>
              <a:rPr lang="en-US" sz="1400" b="0" u="none" dirty="0">
                <a:solidFill>
                  <a:srgbClr val="C678DD"/>
                </a:solidFill>
                <a:cs typeface="+mn-ea"/>
                <a:sym typeface="+mn-lt"/>
              </a:rPr>
              <a:t>{}</a:t>
            </a:r>
            <a:r>
              <a:rPr lang="en-US" sz="1400" b="0" u="none" dirty="0">
                <a:solidFill>
                  <a:srgbClr val="98C379"/>
                </a:solidFill>
                <a:cs typeface="+mn-ea"/>
                <a:sym typeface="+mn-lt"/>
              </a:rPr>
              <a:t>, and </a:t>
            </a:r>
            <a:r>
              <a:rPr lang="en-US" sz="1400" b="0" u="none" dirty="0">
                <a:solidFill>
                  <a:srgbClr val="C678DD"/>
                </a:solidFill>
                <a:cs typeface="+mn-ea"/>
                <a:sym typeface="+mn-lt"/>
              </a:rPr>
              <a:t>{}</a:t>
            </a:r>
            <a:r>
              <a:rPr lang="en-US" sz="1400" b="0" u="none" dirty="0">
                <a:solidFill>
                  <a:srgbClr val="98C379"/>
                </a:solidFill>
                <a:cs typeface="+mn-ea"/>
                <a:sym typeface="+mn-lt"/>
              </a:rPr>
              <a:t>"</a:t>
            </a:r>
            <a:r>
              <a:rPr lang="en-US" sz="1400" b="0" u="none" dirty="0">
                <a:solidFill>
                  <a:srgbClr val="ABB2BF"/>
                </a:solidFill>
                <a:cs typeface="+mn-ea"/>
                <a:sym typeface="+mn-lt"/>
              </a:rPr>
              <a:t>, </a:t>
            </a:r>
            <a:r>
              <a:rPr lang="en-US" sz="1400" b="0" u="none" dirty="0">
                <a:solidFill>
                  <a:srgbClr val="E06C75"/>
                </a:solidFill>
                <a:cs typeface="+mn-ea"/>
                <a:sym typeface="+mn-lt"/>
              </a:rPr>
              <a:t>r1</a:t>
            </a:r>
            <a:r>
              <a:rPr lang="en-US" sz="1400" b="0" u="none" dirty="0">
                <a:solidFill>
                  <a:srgbClr val="ABB2BF"/>
                </a:solidFill>
                <a:cs typeface="+mn-ea"/>
                <a:sym typeface="+mn-lt"/>
              </a:rPr>
              <a:t>, </a:t>
            </a:r>
            <a:r>
              <a:rPr lang="en-US" sz="1400" b="0" u="none" dirty="0">
                <a:solidFill>
                  <a:srgbClr val="E06C75"/>
                </a:solidFill>
                <a:cs typeface="+mn-ea"/>
                <a:sym typeface="+mn-lt"/>
              </a:rPr>
              <a:t>r2</a:t>
            </a:r>
            <a:r>
              <a:rPr lang="en-US" sz="1400" b="0" u="none" dirty="0">
                <a:solidFill>
                  <a:srgbClr val="ABB2BF"/>
                </a:solidFill>
                <a:cs typeface="+mn-ea"/>
                <a:sym typeface="+mn-lt"/>
              </a:rPr>
              <a:t>, </a:t>
            </a:r>
            <a:r>
              <a:rPr lang="en-US" sz="1400" b="0" u="none" dirty="0">
                <a:solidFill>
                  <a:srgbClr val="E06C75"/>
                </a:solidFill>
                <a:uFill>
                  <a:solidFill>
                    <a:srgbClr val="000000"/>
                  </a:solidFill>
                </a:uFill>
                <a:cs typeface="+mn-ea"/>
                <a:sym typeface="+mn-lt"/>
              </a:rPr>
              <a:t>r3</a:t>
            </a:r>
            <a:r>
              <a:rPr lang="en-US" sz="1400" b="0" u="none" dirty="0">
                <a:solidFill>
                  <a:srgbClr val="ABB2BF"/>
                </a:solidFill>
                <a:cs typeface="+mn-ea"/>
                <a:sym typeface="+mn-lt"/>
              </a:rPr>
              <a:t>);</a:t>
            </a:r>
            <a:endParaRPr lang="en-US" altLang="zh-CN" sz="1400" b="0" u="none" dirty="0">
              <a:solidFill>
                <a:srgbClr val="ABB2BF"/>
              </a:solidFill>
              <a:effectLst/>
              <a:cs typeface="+mn-ea"/>
              <a:sym typeface="+mn-lt"/>
            </a:endParaRPr>
          </a:p>
        </p:txBody>
      </p:sp>
      <p:sp>
        <p:nvSpPr>
          <p:cNvPr id="12" name="右箭头 11"/>
          <p:cNvSpPr/>
          <p:nvPr/>
        </p:nvSpPr>
        <p:spPr>
          <a:xfrm>
            <a:off x="5014004" y="4597421"/>
            <a:ext cx="299969" cy="870559"/>
          </a:xfrm>
          <a:prstGeom prst="right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16" name="直接连接符 15"/>
          <p:cNvCxnSpPr/>
          <p:nvPr/>
        </p:nvCxnSpPr>
        <p:spPr>
          <a:xfrm>
            <a:off x="253313" y="54228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3" name="图片 2" descr="upload_003527074"/>
          <p:cNvPicPr>
            <a:picLocks noChangeAspect="1"/>
          </p:cNvPicPr>
          <p:nvPr/>
        </p:nvPicPr>
        <p:blipFill>
          <a:blip r:embed="rId3"/>
          <a:stretch>
            <a:fillRect/>
          </a:stretch>
        </p:blipFill>
        <p:spPr>
          <a:xfrm>
            <a:off x="5617565" y="1562416"/>
            <a:ext cx="5452249" cy="1972331"/>
          </a:xfrm>
          <a:prstGeom prst="rect">
            <a:avLst/>
          </a:prstGeom>
        </p:spPr>
      </p:pic>
      <p:pic>
        <p:nvPicPr>
          <p:cNvPr id="4" name="图片 3" descr="upload_017939669"/>
          <p:cNvPicPr>
            <a:picLocks noChangeAspect="1"/>
          </p:cNvPicPr>
          <p:nvPr/>
        </p:nvPicPr>
        <p:blipFill>
          <a:blip r:embed="rId4"/>
          <a:stretch>
            <a:fillRect/>
          </a:stretch>
        </p:blipFill>
        <p:spPr>
          <a:xfrm>
            <a:off x="5628777" y="3965428"/>
            <a:ext cx="5860318" cy="181363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653333" y="2988336"/>
            <a:ext cx="5752014" cy="2462213"/>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vert="horz" wrap="square" rtlCol="0">
            <a:spAutoFit/>
          </a:bodyPr>
          <a:lstStyle/>
          <a:p>
            <a:pPr defTabSz="914400" eaLnBrk="0" fontAlgn="base" hangingPunct="0">
              <a:spcBef>
                <a:spcPct val="0"/>
              </a:spcBef>
              <a:spcAft>
                <a:spcPct val="0"/>
              </a:spcAft>
            </a:pPr>
            <a:r>
              <a:rPr lang="en-US" altLang="zh-CN" sz="1400" dirty="0">
                <a:solidFill>
                  <a:srgbClr val="FFFFFF"/>
                </a:solidFill>
                <a:cs typeface="+mn-ea"/>
                <a:sym typeface="+mn-lt"/>
              </a:rPr>
              <a:t>// </a:t>
            </a:r>
            <a:r>
              <a:rPr lang="zh-CN" altLang="en-US" sz="1400" b="1" dirty="0">
                <a:solidFill>
                  <a:srgbClr val="00B050"/>
                </a:solidFill>
                <a:cs typeface="+mn-ea"/>
                <a:sym typeface="+mn-lt"/>
              </a:rPr>
              <a:t>代码示例</a:t>
            </a:r>
            <a:endParaRPr lang="en-US" altLang="zh-CN" sz="1400" b="1" dirty="0">
              <a:solidFill>
                <a:srgbClr val="00B050"/>
              </a:solidFill>
              <a:cs typeface="+mn-ea"/>
              <a:sym typeface="+mn-lt"/>
            </a:endParaRPr>
          </a:p>
          <a:p>
            <a:r>
              <a:rPr lang="en-US" sz="1400" b="0" u="none" dirty="0">
                <a:solidFill>
                  <a:srgbClr val="C678DD"/>
                </a:solidFill>
                <a:cs typeface="+mn-ea"/>
                <a:sym typeface="+mn-lt"/>
              </a:rPr>
              <a:t>fn</a:t>
            </a:r>
            <a:r>
              <a:rPr lang="en-US" sz="1400" b="0" u="none" dirty="0">
                <a:solidFill>
                  <a:srgbClr val="ABB2BF"/>
                </a:solidFill>
                <a:cs typeface="+mn-ea"/>
                <a:sym typeface="+mn-lt"/>
              </a:rPr>
              <a:t> </a:t>
            </a:r>
            <a:r>
              <a:rPr lang="en-US" sz="1400" b="0" u="none" dirty="0" err="1">
                <a:solidFill>
                  <a:srgbClr val="61AFEF"/>
                </a:solidFill>
                <a:cs typeface="+mn-ea"/>
                <a:sym typeface="+mn-lt"/>
              </a:rPr>
              <a:t>print_num</a:t>
            </a:r>
            <a:r>
              <a:rPr lang="en-US" sz="1400" b="0" u="none" dirty="0">
                <a:solidFill>
                  <a:srgbClr val="ABB2BF"/>
                </a:solidFill>
                <a:cs typeface="+mn-ea"/>
                <a:sym typeface="+mn-lt"/>
              </a:rPr>
              <a:t>(</a:t>
            </a:r>
            <a:r>
              <a:rPr lang="en-US" sz="1400" b="0" i="1" u="none" dirty="0">
                <a:solidFill>
                  <a:srgbClr val="E06C75"/>
                </a:solidFill>
                <a:cs typeface="+mn-ea"/>
                <a:sym typeface="+mn-lt"/>
              </a:rPr>
              <a:t>y</a:t>
            </a:r>
            <a:r>
              <a:rPr lang="en-US" sz="1400" b="0" u="none" dirty="0">
                <a:solidFill>
                  <a:srgbClr val="ABB2BF"/>
                </a:solidFill>
                <a:cs typeface="+mn-ea"/>
                <a:sym typeface="+mn-lt"/>
              </a:rPr>
              <a:t>: &amp;</a:t>
            </a:r>
            <a:r>
              <a:rPr lang="en-US" sz="1400" b="0" u="none" dirty="0">
                <a:solidFill>
                  <a:srgbClr val="E5C07B"/>
                </a:solidFill>
                <a:cs typeface="+mn-ea"/>
                <a:sym typeface="+mn-lt"/>
              </a:rPr>
              <a:t>i64</a:t>
            </a:r>
            <a:r>
              <a:rPr lang="en-US" sz="1400" b="0" u="none" dirty="0">
                <a:solidFill>
                  <a:srgbClr val="ABB2BF"/>
                </a:solidFill>
                <a:cs typeface="+mn-ea"/>
                <a:sym typeface="+mn-lt"/>
              </a:rPr>
              <a:t>) {</a:t>
            </a:r>
          </a:p>
          <a:p>
            <a:r>
              <a:rPr lang="en-US" sz="1400" b="0" u="none" dirty="0">
                <a:solidFill>
                  <a:srgbClr val="ABB2BF"/>
                </a:solidFill>
                <a:cs typeface="+mn-ea"/>
                <a:sym typeface="+mn-lt"/>
              </a:rPr>
              <a:t>    </a:t>
            </a:r>
            <a:r>
              <a:rPr lang="en-US" sz="1400" b="0" u="none" dirty="0">
                <a:solidFill>
                  <a:srgbClr val="D19A66"/>
                </a:solidFill>
                <a:cs typeface="+mn-ea"/>
                <a:sym typeface="+mn-lt"/>
              </a:rPr>
              <a:t>println!</a:t>
            </a:r>
            <a:r>
              <a:rPr lang="en-US" sz="1400" b="0" u="none" dirty="0">
                <a:solidFill>
                  <a:srgbClr val="ABB2BF"/>
                </a:solidFill>
                <a:cs typeface="+mn-ea"/>
                <a:sym typeface="+mn-lt"/>
              </a:rPr>
              <a:t>(</a:t>
            </a:r>
            <a:r>
              <a:rPr lang="en-US" sz="1400" b="0" u="none" dirty="0">
                <a:solidFill>
                  <a:srgbClr val="98C379"/>
                </a:solidFill>
                <a:cs typeface="+mn-ea"/>
                <a:sym typeface="+mn-lt"/>
              </a:rPr>
              <a:t>"y: </a:t>
            </a:r>
            <a:r>
              <a:rPr lang="en-US" sz="1400" b="0" u="none" dirty="0">
                <a:solidFill>
                  <a:srgbClr val="C678DD"/>
                </a:solidFill>
                <a:cs typeface="+mn-ea"/>
                <a:sym typeface="+mn-lt"/>
              </a:rPr>
              <a:t>{}</a:t>
            </a:r>
            <a:r>
              <a:rPr lang="en-US" sz="1400" b="0" u="none" dirty="0">
                <a:solidFill>
                  <a:srgbClr val="98C379"/>
                </a:solidFill>
                <a:cs typeface="+mn-ea"/>
                <a:sym typeface="+mn-lt"/>
              </a:rPr>
              <a:t>"</a:t>
            </a:r>
            <a:r>
              <a:rPr lang="en-US" sz="1400" b="0" u="none" dirty="0">
                <a:solidFill>
                  <a:srgbClr val="ABB2BF"/>
                </a:solidFill>
                <a:cs typeface="+mn-ea"/>
                <a:sym typeface="+mn-lt"/>
              </a:rPr>
              <a:t>, </a:t>
            </a:r>
            <a:r>
              <a:rPr lang="en-US" sz="1400" b="0" i="1" u="none" dirty="0">
                <a:solidFill>
                  <a:srgbClr val="E06C75"/>
                </a:solidFill>
                <a:cs typeface="+mn-ea"/>
                <a:sym typeface="+mn-lt"/>
              </a:rPr>
              <a:t>y</a:t>
            </a:r>
            <a:r>
              <a:rPr lang="en-US" sz="1400" b="0" u="none" dirty="0">
                <a:solidFill>
                  <a:srgbClr val="ABB2BF"/>
                </a:solidFill>
                <a:cs typeface="+mn-ea"/>
                <a:sym typeface="+mn-lt"/>
              </a:rPr>
              <a:t>);</a:t>
            </a:r>
          </a:p>
          <a:p>
            <a:r>
              <a:rPr lang="en-US" sz="1400" b="0" u="none" dirty="0">
                <a:solidFill>
                  <a:srgbClr val="ABB2BF"/>
                </a:solidFill>
                <a:cs typeface="+mn-ea"/>
                <a:sym typeface="+mn-lt"/>
              </a:rPr>
              <a:t>}</a:t>
            </a:r>
            <a:endParaRPr lang="en-US" sz="1400" b="0" u="none" dirty="0">
              <a:solidFill>
                <a:srgbClr val="C678DD"/>
              </a:solidFill>
              <a:cs typeface="+mn-ea"/>
              <a:sym typeface="+mn-lt"/>
            </a:endParaRPr>
          </a:p>
          <a:p>
            <a:r>
              <a:rPr lang="en-US" sz="1400" b="0" u="none" dirty="0">
                <a:solidFill>
                  <a:srgbClr val="C678DD"/>
                </a:solidFill>
                <a:cs typeface="+mn-ea"/>
                <a:sym typeface="+mn-lt"/>
              </a:rPr>
              <a:t>fn</a:t>
            </a:r>
            <a:r>
              <a:rPr lang="en-US" sz="1400" b="0" u="none" dirty="0">
                <a:solidFill>
                  <a:srgbClr val="ABB2BF"/>
                </a:solidFill>
                <a:cs typeface="+mn-ea"/>
                <a:sym typeface="+mn-lt"/>
              </a:rPr>
              <a:t> </a:t>
            </a:r>
            <a:r>
              <a:rPr lang="en-US" sz="1400" b="0" u="none" dirty="0">
                <a:solidFill>
                  <a:srgbClr val="61AFEF"/>
                </a:solidFill>
                <a:cs typeface="+mn-ea"/>
                <a:sym typeface="+mn-lt"/>
              </a:rPr>
              <a:t>main</a:t>
            </a:r>
            <a:r>
              <a:rPr lang="en-US" sz="1400" b="0" u="none" dirty="0">
                <a:solidFill>
                  <a:srgbClr val="ABB2BF"/>
                </a:solidFill>
                <a:cs typeface="+mn-ea"/>
                <a:sym typeface="+mn-lt"/>
              </a:rPr>
              <a:t>() {</a:t>
            </a:r>
          </a:p>
          <a:p>
            <a:r>
              <a:rPr lang="en-US" sz="1400" b="0" u="none" dirty="0">
                <a:solidFill>
                  <a:srgbClr val="ABB2BF"/>
                </a:solidFill>
                <a:cs typeface="+mn-ea"/>
                <a:sym typeface="+mn-lt"/>
              </a:rPr>
              <a:t>    </a:t>
            </a:r>
            <a:r>
              <a:rPr lang="en-US" sz="1400" b="0" u="none" dirty="0">
                <a:solidFill>
                  <a:srgbClr val="C678DD"/>
                </a:solidFill>
                <a:cs typeface="+mn-ea"/>
                <a:sym typeface="+mn-lt"/>
              </a:rPr>
              <a:t>let</a:t>
            </a:r>
            <a:r>
              <a:rPr lang="en-US" sz="1400" b="0" u="none" dirty="0">
                <a:solidFill>
                  <a:srgbClr val="ABB2BF"/>
                </a:solidFill>
                <a:cs typeface="+mn-ea"/>
                <a:sym typeface="+mn-lt"/>
              </a:rPr>
              <a:t> </a:t>
            </a:r>
            <a:r>
              <a:rPr lang="en-US" sz="1400" b="0" u="none" dirty="0" err="1">
                <a:solidFill>
                  <a:srgbClr val="C678DD"/>
                </a:solidFill>
                <a:cs typeface="+mn-ea"/>
                <a:sym typeface="+mn-lt"/>
              </a:rPr>
              <a:t>mut</a:t>
            </a:r>
            <a:r>
              <a:rPr lang="en-US" sz="1400" b="0" u="none" dirty="0">
                <a:solidFill>
                  <a:srgbClr val="ABB2BF"/>
                </a:solidFill>
                <a:cs typeface="+mn-ea"/>
                <a:sym typeface="+mn-lt"/>
              </a:rPr>
              <a:t> </a:t>
            </a:r>
            <a:r>
              <a:rPr lang="en-US" sz="1400" b="0" u="none" dirty="0">
                <a:solidFill>
                  <a:srgbClr val="E06C75"/>
                </a:solidFill>
                <a:uFill>
                  <a:solidFill>
                    <a:srgbClr val="000000"/>
                  </a:solidFill>
                </a:uFill>
                <a:cs typeface="+mn-ea"/>
                <a:sym typeface="+mn-lt"/>
              </a:rPr>
              <a:t>x</a:t>
            </a:r>
            <a:r>
              <a:rPr lang="en-US" sz="1400" b="0" u="none" dirty="0">
                <a:solidFill>
                  <a:srgbClr val="ABB2BF"/>
                </a:solidFill>
                <a:cs typeface="+mn-ea"/>
                <a:sym typeface="+mn-lt"/>
              </a:rPr>
              <a:t>: </a:t>
            </a:r>
            <a:r>
              <a:rPr lang="en-US" sz="1400" b="0" u="none" dirty="0">
                <a:solidFill>
                  <a:srgbClr val="E5C07B"/>
                </a:solidFill>
                <a:cs typeface="+mn-ea"/>
                <a:sym typeface="+mn-lt"/>
              </a:rPr>
              <a:t>i64</a:t>
            </a:r>
            <a:r>
              <a:rPr lang="en-US" sz="1400" b="0" u="none" dirty="0">
                <a:solidFill>
                  <a:srgbClr val="ABB2BF"/>
                </a:solidFill>
                <a:cs typeface="+mn-ea"/>
                <a:sym typeface="+mn-lt"/>
              </a:rPr>
              <a:t> = </a:t>
            </a:r>
            <a:r>
              <a:rPr lang="en-US" sz="1400" b="0" u="none" dirty="0">
                <a:solidFill>
                  <a:srgbClr val="D19A66"/>
                </a:solidFill>
                <a:cs typeface="+mn-ea"/>
                <a:sym typeface="+mn-lt"/>
              </a:rPr>
              <a:t>10</a:t>
            </a:r>
            <a:r>
              <a:rPr lang="en-US" sz="1400" b="0" u="none" dirty="0">
                <a:solidFill>
                  <a:srgbClr val="ABB2BF"/>
                </a:solidFill>
                <a:cs typeface="+mn-ea"/>
                <a:sym typeface="+mn-lt"/>
              </a:rPr>
              <a:t>;</a:t>
            </a:r>
          </a:p>
          <a:p>
            <a:r>
              <a:rPr lang="en-US" sz="1400" b="0" u="none" dirty="0">
                <a:solidFill>
                  <a:srgbClr val="ABB2BF"/>
                </a:solidFill>
                <a:cs typeface="+mn-ea"/>
                <a:sym typeface="+mn-lt"/>
              </a:rPr>
              <a:t>    </a:t>
            </a:r>
            <a:r>
              <a:rPr lang="en-US" sz="1400" b="0" u="none" dirty="0">
                <a:solidFill>
                  <a:srgbClr val="C678DD"/>
                </a:solidFill>
                <a:cs typeface="+mn-ea"/>
                <a:sym typeface="+mn-lt"/>
              </a:rPr>
              <a:t>let</a:t>
            </a:r>
            <a:r>
              <a:rPr lang="en-US" sz="1400" b="0" u="none" dirty="0">
                <a:solidFill>
                  <a:srgbClr val="ABB2BF"/>
                </a:solidFill>
                <a:cs typeface="+mn-ea"/>
                <a:sym typeface="+mn-lt"/>
              </a:rPr>
              <a:t> </a:t>
            </a:r>
            <a:r>
              <a:rPr lang="en-US" sz="1400" b="0" u="none" dirty="0">
                <a:solidFill>
                  <a:srgbClr val="E06C75"/>
                </a:solidFill>
                <a:uFill>
                  <a:solidFill>
                    <a:srgbClr val="000000"/>
                  </a:solidFill>
                </a:uFill>
                <a:cs typeface="+mn-ea"/>
                <a:sym typeface="+mn-lt"/>
              </a:rPr>
              <a:t>y</a:t>
            </a:r>
            <a:r>
              <a:rPr lang="en-US" sz="1400" b="0" u="none" dirty="0">
                <a:solidFill>
                  <a:srgbClr val="ABB2BF"/>
                </a:solidFill>
                <a:cs typeface="+mn-ea"/>
                <a:sym typeface="+mn-lt"/>
              </a:rPr>
              <a:t> = &amp;</a:t>
            </a:r>
            <a:r>
              <a:rPr lang="en-US" sz="1400" b="0" u="none" dirty="0" err="1">
                <a:solidFill>
                  <a:srgbClr val="C678DD"/>
                </a:solidFill>
                <a:cs typeface="+mn-ea"/>
                <a:sym typeface="+mn-lt"/>
              </a:rPr>
              <a:t>mut</a:t>
            </a:r>
            <a:r>
              <a:rPr lang="en-US" sz="1400" b="0" u="none" dirty="0">
                <a:solidFill>
                  <a:srgbClr val="ABB2BF"/>
                </a:solidFill>
                <a:cs typeface="+mn-ea"/>
                <a:sym typeface="+mn-lt"/>
              </a:rPr>
              <a:t> </a:t>
            </a:r>
            <a:r>
              <a:rPr lang="en-US" sz="1400" b="0" u="none" dirty="0">
                <a:solidFill>
                  <a:srgbClr val="E06C75"/>
                </a:solidFill>
                <a:uFill>
                  <a:solidFill>
                    <a:srgbClr val="000000"/>
                  </a:solidFill>
                </a:uFill>
                <a:cs typeface="+mn-ea"/>
                <a:sym typeface="+mn-lt"/>
              </a:rPr>
              <a:t>x</a:t>
            </a:r>
            <a:r>
              <a:rPr lang="en-US" sz="1400" b="0" u="none" dirty="0">
                <a:solidFill>
                  <a:srgbClr val="ABB2BF"/>
                </a:solidFill>
                <a:cs typeface="+mn-ea"/>
                <a:sym typeface="+mn-lt"/>
              </a:rPr>
              <a:t>;</a:t>
            </a:r>
            <a:endParaRPr lang="en-US" sz="1400" b="0" i="1" u="none" dirty="0">
              <a:solidFill>
                <a:srgbClr val="7F848E"/>
              </a:solidFill>
              <a:cs typeface="+mn-ea"/>
              <a:sym typeface="+mn-lt"/>
            </a:endParaRPr>
          </a:p>
          <a:p>
            <a:r>
              <a:rPr lang="en-US" sz="1400" b="0" i="1" u="none" dirty="0">
                <a:solidFill>
                  <a:srgbClr val="7F848E"/>
                </a:solidFill>
                <a:cs typeface="+mn-ea"/>
                <a:sym typeface="+mn-lt"/>
              </a:rPr>
              <a:t>    </a:t>
            </a:r>
            <a:r>
              <a:rPr lang="zh-CN" sz="1400" b="0" i="1" u="none" dirty="0">
                <a:solidFill>
                  <a:srgbClr val="7F848E"/>
                </a:solidFill>
                <a:cs typeface="+mn-ea"/>
                <a:sym typeface="+mn-lt"/>
              </a:rPr>
              <a:t>// 参数为&amp;i64，传入实参类型为&amp;mut i64</a:t>
            </a:r>
            <a:endParaRPr lang="en-US" sz="1400" b="0" i="1" u="none" dirty="0">
              <a:solidFill>
                <a:srgbClr val="7F848E"/>
              </a:solidFill>
              <a:cs typeface="+mn-ea"/>
              <a:sym typeface="+mn-lt"/>
            </a:endParaRPr>
          </a:p>
          <a:p>
            <a:r>
              <a:rPr lang="en-US" sz="1400" b="0" i="1" u="none" dirty="0">
                <a:solidFill>
                  <a:srgbClr val="7F848E"/>
                </a:solidFill>
                <a:cs typeface="+mn-ea"/>
                <a:sym typeface="+mn-lt"/>
              </a:rPr>
              <a:t>    </a:t>
            </a:r>
            <a:r>
              <a:rPr lang="zh-CN" sz="1400" b="0" i="1" u="none" dirty="0">
                <a:solidFill>
                  <a:srgbClr val="7F848E"/>
                </a:solidFill>
                <a:cs typeface="+mn-ea"/>
                <a:sym typeface="+mn-lt"/>
              </a:rPr>
              <a:t>// 这里存在强转</a:t>
            </a:r>
            <a:endParaRPr lang="en-US" sz="1400" b="0" u="none" dirty="0">
              <a:solidFill>
                <a:srgbClr val="ABB2BF"/>
              </a:solidFill>
              <a:cs typeface="+mn-ea"/>
              <a:sym typeface="+mn-lt"/>
            </a:endParaRPr>
          </a:p>
          <a:p>
            <a:r>
              <a:rPr lang="en-US" sz="1400" b="0" u="none" dirty="0">
                <a:solidFill>
                  <a:srgbClr val="ABB2BF"/>
                </a:solidFill>
                <a:cs typeface="+mn-ea"/>
                <a:sym typeface="+mn-lt"/>
              </a:rPr>
              <a:t>    </a:t>
            </a:r>
            <a:r>
              <a:rPr lang="en-US" sz="1400" b="0" u="none" dirty="0" err="1">
                <a:solidFill>
                  <a:srgbClr val="61AFEF"/>
                </a:solidFill>
                <a:cs typeface="+mn-ea"/>
                <a:sym typeface="+mn-lt"/>
              </a:rPr>
              <a:t>print_num</a:t>
            </a:r>
            <a:r>
              <a:rPr lang="en-US" sz="1400" b="0" u="none" dirty="0">
                <a:solidFill>
                  <a:srgbClr val="ABB2BF"/>
                </a:solidFill>
                <a:cs typeface="+mn-ea"/>
                <a:sym typeface="+mn-lt"/>
              </a:rPr>
              <a:t>(</a:t>
            </a:r>
            <a:r>
              <a:rPr lang="en-US" sz="1400" b="0" u="none" dirty="0">
                <a:solidFill>
                  <a:srgbClr val="E06C75"/>
                </a:solidFill>
                <a:uFill>
                  <a:solidFill>
                    <a:srgbClr val="000000"/>
                  </a:solidFill>
                </a:uFill>
                <a:cs typeface="+mn-ea"/>
                <a:sym typeface="+mn-lt"/>
              </a:rPr>
              <a:t>y</a:t>
            </a:r>
            <a:r>
              <a:rPr lang="en-US" sz="1400" b="0" u="none" dirty="0">
                <a:solidFill>
                  <a:srgbClr val="ABB2BF"/>
                </a:solidFill>
                <a:cs typeface="+mn-ea"/>
                <a:sym typeface="+mn-lt"/>
              </a:rPr>
              <a:t>);</a:t>
            </a:r>
          </a:p>
          <a:p>
            <a:r>
              <a:rPr lang="en-US" sz="1400" b="0" u="none" dirty="0">
                <a:solidFill>
                  <a:srgbClr val="ABB2BF"/>
                </a:solidFill>
                <a:cs typeface="+mn-ea"/>
                <a:sym typeface="+mn-lt"/>
              </a:rPr>
              <a:t>}</a:t>
            </a:r>
            <a:endParaRPr lang="en-US" altLang="zh-CN" sz="1400" b="0" u="none" dirty="0">
              <a:solidFill>
                <a:srgbClr val="ABB2BF"/>
              </a:solidFill>
              <a:effectLst/>
              <a:cs typeface="+mn-ea"/>
              <a:sym typeface="+mn-lt"/>
            </a:endParaRPr>
          </a:p>
        </p:txBody>
      </p:sp>
      <p:cxnSp>
        <p:nvCxnSpPr>
          <p:cNvPr id="10" name="直接连接符 9"/>
          <p:cNvCxnSpPr/>
          <p:nvPr/>
        </p:nvCxnSpPr>
        <p:spPr>
          <a:xfrm>
            <a:off x="253313" y="54228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副标题 1"/>
          <p:cNvSpPr>
            <a:spLocks noGrp="1"/>
          </p:cNvSpPr>
          <p:nvPr>
            <p:ph type="subTitle" idx="1"/>
          </p:nvPr>
        </p:nvSpPr>
        <p:spPr>
          <a:xfrm>
            <a:off x="253313" y="59858"/>
            <a:ext cx="10740640" cy="615021"/>
          </a:xfrm>
        </p:spPr>
        <p:txBody>
          <a:bodyPr>
            <a:normAutofit/>
          </a:bodyPr>
          <a:lstStyle/>
          <a:p>
            <a:r>
              <a:rPr lang="zh-CN" altLang="en-US" b="1">
                <a:solidFill>
                  <a:srgbClr val="C00000"/>
                </a:solidFill>
                <a:latin typeface="+mn-lt"/>
                <a:ea typeface="+mn-ea"/>
                <a:cs typeface="+mn-ea"/>
                <a:sym typeface="+mn-lt"/>
              </a:rPr>
              <a:t>引用</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转换</a:t>
            </a:r>
            <a:endParaRPr lang="zh-CN" altLang="en-US" sz="1800" b="1" dirty="0">
              <a:solidFill>
                <a:srgbClr val="C00000"/>
              </a:solidFill>
              <a:latin typeface="+mn-lt"/>
              <a:ea typeface="+mn-ea"/>
              <a:cs typeface="+mn-ea"/>
              <a:sym typeface="+mn-lt"/>
            </a:endParaRPr>
          </a:p>
        </p:txBody>
      </p:sp>
      <p:sp>
        <p:nvSpPr>
          <p:cNvPr id="12" name="文本框 11"/>
          <p:cNvSpPr txBox="1"/>
          <p:nvPr/>
        </p:nvSpPr>
        <p:spPr>
          <a:xfrm>
            <a:off x="253313" y="1298241"/>
            <a:ext cx="7633387" cy="787523"/>
          </a:xfrm>
          <a:prstGeom prst="rect">
            <a:avLst/>
          </a:prstGeom>
          <a:noFill/>
        </p:spPr>
        <p:txBody>
          <a:bodyPr vert="horz" wrap="square" rtlCol="0">
            <a:spAutoFit/>
          </a:bodyPr>
          <a:lstStyle/>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zh-CN" altLang="zh-CN" sz="1600" dirty="0">
                <a:solidFill>
                  <a:srgbClr val="262625"/>
                </a:solidFill>
                <a:cs typeface="+mn-ea"/>
                <a:sym typeface="+mn-lt"/>
              </a:rPr>
              <a:t>可以将</a:t>
            </a:r>
            <a:r>
              <a:rPr lang="zh-CN" altLang="en-US" sz="1600" dirty="0">
                <a:solidFill>
                  <a:srgbClr val="262625"/>
                </a:solidFill>
                <a:cs typeface="+mn-ea"/>
                <a:sym typeface="+mn-lt"/>
              </a:rPr>
              <a:t>可变引用（</a:t>
            </a:r>
            <a:r>
              <a:rPr lang="zh-CN" altLang="zh-CN" sz="1600" dirty="0">
                <a:cs typeface="+mn-ea"/>
                <a:sym typeface="+mn-lt"/>
              </a:rPr>
              <a:t>&amp;mut T</a:t>
            </a:r>
            <a:r>
              <a:rPr lang="zh-CN" altLang="en-US" sz="1600" dirty="0">
                <a:cs typeface="+mn-ea"/>
                <a:sym typeface="+mn-lt"/>
              </a:rPr>
              <a:t>）自动强制转换（</a:t>
            </a:r>
            <a:r>
              <a:rPr lang="en-US" altLang="zh-CN" sz="1600" dirty="0">
                <a:cs typeface="+mn-ea"/>
                <a:sym typeface="+mn-lt"/>
              </a:rPr>
              <a:t>coercion</a:t>
            </a:r>
            <a:r>
              <a:rPr lang="zh-CN" altLang="en-US" sz="1600" dirty="0">
                <a:cs typeface="+mn-ea"/>
                <a:sym typeface="+mn-lt"/>
              </a:rPr>
              <a:t>）</a:t>
            </a:r>
            <a:r>
              <a:rPr lang="zh-CN" altLang="zh-CN" sz="1600" dirty="0">
                <a:solidFill>
                  <a:srgbClr val="262625"/>
                </a:solidFill>
                <a:cs typeface="+mn-ea"/>
                <a:sym typeface="+mn-lt"/>
              </a:rPr>
              <a:t>为</a:t>
            </a:r>
            <a:r>
              <a:rPr lang="zh-CN" altLang="en-US" sz="1600" dirty="0">
                <a:solidFill>
                  <a:srgbClr val="262625"/>
                </a:solidFill>
                <a:cs typeface="+mn-ea"/>
                <a:sym typeface="+mn-lt"/>
              </a:rPr>
              <a:t>不可变引用（</a:t>
            </a:r>
            <a:r>
              <a:rPr lang="zh-CN" altLang="zh-CN" sz="1600" dirty="0">
                <a:cs typeface="+mn-ea"/>
                <a:sym typeface="+mn-lt"/>
              </a:rPr>
              <a:t>&amp;T</a:t>
            </a:r>
            <a:r>
              <a:rPr lang="zh-CN" altLang="en-US" sz="1600" dirty="0">
                <a:cs typeface="+mn-ea"/>
                <a:sym typeface="+mn-lt"/>
              </a:rPr>
              <a:t>），</a:t>
            </a:r>
            <a:r>
              <a:rPr lang="zh-CN" altLang="zh-CN" sz="1600" dirty="0">
                <a:solidFill>
                  <a:srgbClr val="262625"/>
                </a:solidFill>
                <a:cs typeface="+mn-ea"/>
                <a:sym typeface="+mn-lt"/>
              </a:rPr>
              <a:t>这种</a:t>
            </a:r>
            <a:r>
              <a:rPr lang="zh-CN" altLang="en-US" sz="1600" dirty="0">
                <a:solidFill>
                  <a:srgbClr val="262625"/>
                </a:solidFill>
                <a:cs typeface="+mn-ea"/>
                <a:sym typeface="+mn-lt"/>
              </a:rPr>
              <a:t>强制转换</a:t>
            </a:r>
            <a:r>
              <a:rPr lang="zh-CN" altLang="zh-CN" sz="1600" dirty="0">
                <a:solidFill>
                  <a:srgbClr val="262625"/>
                </a:solidFill>
                <a:cs typeface="+mn-ea"/>
                <a:sym typeface="+mn-lt"/>
              </a:rPr>
              <a:t>是安全的，因为不可变引用</a:t>
            </a:r>
            <a:r>
              <a:rPr lang="zh-CN" altLang="en-US" sz="1600" dirty="0">
                <a:solidFill>
                  <a:srgbClr val="262625"/>
                </a:solidFill>
                <a:cs typeface="+mn-ea"/>
                <a:sym typeface="+mn-lt"/>
              </a:rPr>
              <a:t>有</a:t>
            </a:r>
            <a:r>
              <a:rPr lang="zh-CN" altLang="zh-CN" sz="1600" dirty="0">
                <a:solidFill>
                  <a:srgbClr val="262625"/>
                </a:solidFill>
                <a:cs typeface="+mn-ea"/>
                <a:sym typeface="+mn-lt"/>
              </a:rPr>
              <a:t>更多的限制</a:t>
            </a:r>
            <a:r>
              <a:rPr lang="zh-CN" altLang="en-US" sz="1600" dirty="0">
                <a:solidFill>
                  <a:srgbClr val="262625"/>
                </a:solidFill>
                <a:cs typeface="+mn-ea"/>
                <a:sym typeface="+mn-lt"/>
              </a:rPr>
              <a:t>；</a:t>
            </a:r>
            <a:r>
              <a:rPr lang="zh-CN" altLang="zh-CN" sz="1600" dirty="0">
                <a:cs typeface="+mn-ea"/>
                <a:sym typeface="+mn-lt"/>
              </a:rPr>
              <a:t> </a:t>
            </a:r>
            <a:endParaRPr lang="en-US" altLang="zh-CN" sz="1600" dirty="0">
              <a:cs typeface="+mn-ea"/>
              <a:sym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53313" y="59973"/>
            <a:ext cx="10740640" cy="993400"/>
          </a:xfrm>
        </p:spPr>
        <p:txBody>
          <a:bodyPr/>
          <a:lstStyle/>
          <a:p>
            <a:r>
              <a:rPr lang="zh-CN" altLang="en-US" b="1">
                <a:solidFill>
                  <a:srgbClr val="C00000"/>
                </a:solidFill>
                <a:latin typeface="+mn-lt"/>
                <a:ea typeface="+mn-ea"/>
                <a:cs typeface="+mn-ea"/>
                <a:sym typeface="+mn-lt"/>
              </a:rPr>
              <a:t>借用检查</a:t>
            </a:r>
            <a:endParaRPr lang="zh-CN" altLang="en-US" b="1" dirty="0">
              <a:solidFill>
                <a:srgbClr val="C00000"/>
              </a:solidFill>
              <a:latin typeface="+mn-lt"/>
              <a:ea typeface="+mn-ea"/>
              <a:cs typeface="+mn-ea"/>
              <a:sym typeface="+mn-lt"/>
            </a:endParaRPr>
          </a:p>
        </p:txBody>
      </p:sp>
      <p:sp>
        <p:nvSpPr>
          <p:cNvPr id="6" name="矩形 5"/>
          <p:cNvSpPr/>
          <p:nvPr/>
        </p:nvSpPr>
        <p:spPr>
          <a:xfrm>
            <a:off x="260710" y="1065512"/>
            <a:ext cx="4885487" cy="1212870"/>
          </a:xfrm>
          <a:prstGeom prst="rect">
            <a:avLst/>
          </a:prstGeom>
        </p:spPr>
        <p:txBody>
          <a:bodyPr wrap="square">
            <a:noAutofit/>
          </a:bodyPr>
          <a:lstStyle/>
          <a:p>
            <a:pPr>
              <a:lnSpc>
                <a:spcPct val="150000"/>
              </a:lnSpc>
            </a:pPr>
            <a:r>
              <a:rPr lang="zh-CN" altLang="en-US" sz="1600" b="1" dirty="0">
                <a:cs typeface="+mn-ea"/>
                <a:sym typeface="+mn-lt"/>
              </a:rPr>
              <a:t>借用检查基本规则：</a:t>
            </a:r>
            <a:endParaRPr lang="en-US" altLang="zh-CN" sz="1600" b="1" dirty="0">
              <a:cs typeface="+mn-ea"/>
              <a:sym typeface="+mn-lt"/>
            </a:endParaRPr>
          </a:p>
          <a:p>
            <a:pPr>
              <a:lnSpc>
                <a:spcPct val="150000"/>
              </a:lnSpc>
            </a:pPr>
            <a:r>
              <a:rPr lang="zh-CN" altLang="en-US" sz="1600" dirty="0">
                <a:cs typeface="+mn-ea"/>
                <a:sym typeface="+mn-lt"/>
              </a:rPr>
              <a:t>借用检查确保可变借用和不可变借用不能在同一个生命周期内同时出现</a:t>
            </a:r>
          </a:p>
          <a:p>
            <a:pPr>
              <a:lnSpc>
                <a:spcPct val="150000"/>
              </a:lnSpc>
            </a:pPr>
            <a:endParaRPr lang="en-US" altLang="zh-CN" sz="1600" dirty="0">
              <a:cs typeface="+mn-ea"/>
              <a:sym typeface="+mn-lt"/>
            </a:endParaRPr>
          </a:p>
        </p:txBody>
      </p:sp>
      <p:cxnSp>
        <p:nvCxnSpPr>
          <p:cNvPr id="7" name="直接连接符 6"/>
          <p:cNvCxnSpPr/>
          <p:nvPr/>
        </p:nvCxnSpPr>
        <p:spPr>
          <a:xfrm>
            <a:off x="253313" y="54228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528630" y="3080939"/>
            <a:ext cx="4369068" cy="2246769"/>
          </a:xfrm>
          <a:prstGeom prst="rect">
            <a:avLst/>
          </a:prstGeom>
          <a:solidFill>
            <a:schemeClr val="tx1"/>
          </a:solidFill>
        </p:spPr>
        <p:txBody>
          <a:bodyPr vert="horz" wrap="square" rtlCol="0">
            <a:spAutoFit/>
          </a:bodyPr>
          <a:lstStyle/>
          <a:p>
            <a:r>
              <a:rPr lang="en-US" altLang="zh-CN" sz="1400" dirty="0">
                <a:solidFill>
                  <a:schemeClr val="bg2"/>
                </a:solidFill>
                <a:cs typeface="+mn-ea"/>
                <a:sym typeface="+mn-lt"/>
              </a:rPr>
              <a:t>// </a:t>
            </a:r>
            <a:r>
              <a:rPr lang="zh-CN" altLang="en-US" sz="1400" b="1" dirty="0">
                <a:solidFill>
                  <a:srgbClr val="00B050"/>
                </a:solidFill>
                <a:cs typeface="+mn-ea"/>
                <a:sym typeface="+mn-lt"/>
              </a:rPr>
              <a:t>正确示例</a:t>
            </a:r>
            <a:endParaRPr lang="en-US" altLang="zh-CN" sz="1400" b="1" dirty="0">
              <a:solidFill>
                <a:srgbClr val="00B050"/>
              </a:solidFill>
              <a:cs typeface="+mn-ea"/>
              <a:sym typeface="+mn-lt"/>
            </a:endParaRPr>
          </a:p>
          <a:p>
            <a:r>
              <a:rPr lang="en-US" altLang="zh-CN" sz="1400" dirty="0">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err="1">
                <a:solidFill>
                  <a:srgbClr val="C678DD"/>
                </a:solidFill>
                <a:cs typeface="+mn-ea"/>
                <a:sym typeface="+mn-lt"/>
              </a:rPr>
              <a:t>mut</a:t>
            </a:r>
            <a:r>
              <a:rPr lang="en-US" altLang="zh-CN" sz="1400" dirty="0">
                <a:solidFill>
                  <a:srgbClr val="ABB2BF"/>
                </a:solidFill>
                <a:cs typeface="+mn-ea"/>
                <a:sym typeface="+mn-lt"/>
              </a:rPr>
              <a:t> </a:t>
            </a:r>
            <a:r>
              <a:rPr lang="en-US" altLang="zh-CN" sz="1400" u="sng" dirty="0">
                <a:solidFill>
                  <a:srgbClr val="E06C75"/>
                </a:solidFill>
                <a:cs typeface="+mn-ea"/>
                <a:sym typeface="+mn-lt"/>
              </a:rPr>
              <a:t>s</a:t>
            </a:r>
            <a:r>
              <a:rPr lang="en-US" altLang="zh-CN" sz="1400" dirty="0">
                <a:solidFill>
                  <a:srgbClr val="ABB2BF"/>
                </a:solidFill>
                <a:cs typeface="+mn-ea"/>
                <a:sym typeface="+mn-lt"/>
              </a:rPr>
              <a:t> = </a:t>
            </a:r>
            <a:r>
              <a:rPr lang="en-US" altLang="zh-CN" sz="1400" dirty="0">
                <a:solidFill>
                  <a:srgbClr val="E5C07B"/>
                </a:solidFill>
                <a:cs typeface="+mn-ea"/>
                <a:sym typeface="+mn-lt"/>
              </a:rPr>
              <a:t>String</a:t>
            </a:r>
            <a:r>
              <a:rPr lang="en-US" altLang="zh-CN" sz="1400" dirty="0">
                <a:solidFill>
                  <a:srgbClr val="ABB2BF"/>
                </a:solidFill>
                <a:cs typeface="+mn-ea"/>
                <a:sym typeface="+mn-lt"/>
              </a:rPr>
              <a:t>::</a:t>
            </a:r>
            <a:r>
              <a:rPr lang="en-US" altLang="zh-CN" sz="1400" dirty="0">
                <a:solidFill>
                  <a:srgbClr val="61AFEF"/>
                </a:solidFill>
                <a:cs typeface="+mn-ea"/>
                <a:sym typeface="+mn-lt"/>
              </a:rPr>
              <a:t>from</a:t>
            </a:r>
            <a:r>
              <a:rPr lang="en-US" altLang="zh-CN" sz="1400" dirty="0">
                <a:solidFill>
                  <a:srgbClr val="ABB2BF"/>
                </a:solidFill>
                <a:cs typeface="+mn-ea"/>
                <a:sym typeface="+mn-lt"/>
              </a:rPr>
              <a:t>(</a:t>
            </a:r>
            <a:r>
              <a:rPr lang="en-US" altLang="zh-CN" sz="1400" dirty="0">
                <a:solidFill>
                  <a:srgbClr val="98C379"/>
                </a:solidFill>
                <a:cs typeface="+mn-ea"/>
                <a:sym typeface="+mn-lt"/>
              </a:rPr>
              <a:t>"hello"</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r1</a:t>
            </a:r>
            <a:r>
              <a:rPr lang="en-US" altLang="zh-CN" sz="1400" dirty="0">
                <a:solidFill>
                  <a:srgbClr val="ABB2BF"/>
                </a:solidFill>
                <a:cs typeface="+mn-ea"/>
                <a:sym typeface="+mn-lt"/>
              </a:rPr>
              <a:t> = &amp;</a:t>
            </a:r>
            <a:r>
              <a:rPr lang="en-US" altLang="zh-CN" sz="1400" u="sng" dirty="0">
                <a:solidFill>
                  <a:srgbClr val="E06C75"/>
                </a:solidFill>
                <a:cs typeface="+mn-ea"/>
                <a:sym typeface="+mn-lt"/>
              </a:rPr>
              <a:t>s</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D19A66"/>
                </a:solidFill>
                <a:cs typeface="+mn-ea"/>
                <a:sym typeface="+mn-lt"/>
              </a:rPr>
              <a:t>println!</a:t>
            </a:r>
            <a:r>
              <a:rPr lang="en-US" altLang="zh-CN" sz="1400" dirty="0">
                <a:solidFill>
                  <a:srgbClr val="ABB2BF"/>
                </a:solidFill>
                <a:cs typeface="+mn-ea"/>
                <a:sym typeface="+mn-lt"/>
              </a:rPr>
              <a:t>(</a:t>
            </a:r>
            <a:r>
              <a:rPr lang="en-US" altLang="zh-CN" sz="1400" dirty="0">
                <a:solidFill>
                  <a:srgbClr val="98C379"/>
                </a:solidFill>
                <a:cs typeface="+mn-ea"/>
                <a:sym typeface="+mn-lt"/>
              </a:rPr>
              <a:t>"</a:t>
            </a:r>
            <a:r>
              <a:rPr lang="en-US" altLang="zh-CN" sz="1400" dirty="0">
                <a:solidFill>
                  <a:srgbClr val="C678DD"/>
                </a:solidFill>
                <a:cs typeface="+mn-ea"/>
                <a:sym typeface="+mn-lt"/>
              </a:rPr>
              <a:t>{}</a:t>
            </a:r>
            <a:r>
              <a:rPr lang="en-US" altLang="zh-CN" sz="1400" dirty="0">
                <a:solidFill>
                  <a:srgbClr val="98C379"/>
                </a:solidFill>
                <a:cs typeface="+mn-ea"/>
                <a:sym typeface="+mn-lt"/>
              </a:rPr>
              <a:t>"</a:t>
            </a:r>
            <a:r>
              <a:rPr lang="en-US" altLang="zh-CN" sz="1400" dirty="0">
                <a:solidFill>
                  <a:srgbClr val="ABB2BF"/>
                </a:solidFill>
                <a:cs typeface="+mn-ea"/>
                <a:sym typeface="+mn-lt"/>
              </a:rPr>
              <a:t>, </a:t>
            </a:r>
            <a:r>
              <a:rPr lang="en-US" altLang="zh-CN" sz="1400" dirty="0">
                <a:solidFill>
                  <a:srgbClr val="E06C75"/>
                </a:solidFill>
                <a:cs typeface="+mn-ea"/>
                <a:sym typeface="+mn-lt"/>
              </a:rPr>
              <a:t>r1</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u="sng" dirty="0">
                <a:solidFill>
                  <a:srgbClr val="E06C75"/>
                </a:solidFill>
                <a:cs typeface="+mn-ea"/>
                <a:sym typeface="+mn-lt"/>
              </a:rPr>
              <a:t>r2</a:t>
            </a:r>
            <a:r>
              <a:rPr lang="en-US" altLang="zh-CN" sz="1400" dirty="0">
                <a:solidFill>
                  <a:srgbClr val="ABB2BF"/>
                </a:solidFill>
                <a:cs typeface="+mn-ea"/>
                <a:sym typeface="+mn-lt"/>
              </a:rPr>
              <a:t> = &amp;</a:t>
            </a:r>
            <a:r>
              <a:rPr lang="en-US" altLang="zh-CN" sz="1400" dirty="0" err="1">
                <a:solidFill>
                  <a:srgbClr val="C678DD"/>
                </a:solidFill>
                <a:cs typeface="+mn-ea"/>
                <a:sym typeface="+mn-lt"/>
              </a:rPr>
              <a:t>mut</a:t>
            </a:r>
            <a:r>
              <a:rPr lang="en-US" altLang="zh-CN" sz="1400" dirty="0">
                <a:solidFill>
                  <a:srgbClr val="ABB2BF"/>
                </a:solidFill>
                <a:cs typeface="+mn-ea"/>
                <a:sym typeface="+mn-lt"/>
              </a:rPr>
              <a:t> </a:t>
            </a:r>
            <a:r>
              <a:rPr lang="en-US" altLang="zh-CN" sz="1400" u="sng" dirty="0">
                <a:solidFill>
                  <a:srgbClr val="E06C75"/>
                </a:solidFill>
                <a:cs typeface="+mn-ea"/>
                <a:sym typeface="+mn-lt"/>
              </a:rPr>
              <a:t>s</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D19A66"/>
                </a:solidFill>
                <a:cs typeface="+mn-ea"/>
                <a:sym typeface="+mn-lt"/>
              </a:rPr>
              <a:t>println!</a:t>
            </a:r>
            <a:r>
              <a:rPr lang="en-US" altLang="zh-CN" sz="1400" dirty="0">
                <a:solidFill>
                  <a:srgbClr val="ABB2BF"/>
                </a:solidFill>
                <a:cs typeface="+mn-ea"/>
                <a:sym typeface="+mn-lt"/>
              </a:rPr>
              <a:t>(</a:t>
            </a:r>
            <a:r>
              <a:rPr lang="en-US" altLang="zh-CN" sz="1400" dirty="0">
                <a:solidFill>
                  <a:srgbClr val="98C379"/>
                </a:solidFill>
                <a:cs typeface="+mn-ea"/>
                <a:sym typeface="+mn-lt"/>
              </a:rPr>
              <a:t>"</a:t>
            </a:r>
            <a:r>
              <a:rPr lang="en-US" altLang="zh-CN" sz="1400" dirty="0">
                <a:solidFill>
                  <a:srgbClr val="C678DD"/>
                </a:solidFill>
                <a:cs typeface="+mn-ea"/>
                <a:sym typeface="+mn-lt"/>
              </a:rPr>
              <a:t>{}</a:t>
            </a:r>
            <a:r>
              <a:rPr lang="en-US" altLang="zh-CN" sz="1400" dirty="0">
                <a:solidFill>
                  <a:srgbClr val="98C379"/>
                </a:solidFill>
                <a:cs typeface="+mn-ea"/>
                <a:sym typeface="+mn-lt"/>
              </a:rPr>
              <a:t>"</a:t>
            </a:r>
            <a:r>
              <a:rPr lang="en-US" altLang="zh-CN" sz="1400" dirty="0">
                <a:solidFill>
                  <a:srgbClr val="ABB2BF"/>
                </a:solidFill>
                <a:cs typeface="+mn-ea"/>
                <a:sym typeface="+mn-lt"/>
              </a:rPr>
              <a:t>, </a:t>
            </a:r>
            <a:r>
              <a:rPr lang="en-US" altLang="zh-CN" sz="1400" u="sng" dirty="0">
                <a:solidFill>
                  <a:srgbClr val="E06C75"/>
                </a:solidFill>
                <a:cs typeface="+mn-ea"/>
                <a:sym typeface="+mn-lt"/>
              </a:rPr>
              <a:t>r2</a:t>
            </a:r>
            <a:r>
              <a:rPr lang="en-US" altLang="zh-CN" sz="1400" dirty="0">
                <a:solidFill>
                  <a:srgbClr val="ABB2BF"/>
                </a:solidFill>
                <a:cs typeface="+mn-ea"/>
                <a:sym typeface="+mn-lt"/>
              </a:rPr>
              <a:t>);</a:t>
            </a: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grpSp>
        <p:nvGrpSpPr>
          <p:cNvPr id="10" name="组合 9"/>
          <p:cNvGrpSpPr/>
          <p:nvPr/>
        </p:nvGrpSpPr>
        <p:grpSpPr>
          <a:xfrm>
            <a:off x="5512679" y="1269242"/>
            <a:ext cx="5607398" cy="4197319"/>
            <a:chOff x="5188492" y="1994319"/>
            <a:chExt cx="5601093" cy="3884133"/>
          </a:xfrm>
        </p:grpSpPr>
        <p:sp>
          <p:nvSpPr>
            <p:cNvPr id="8" name="文本框 7"/>
            <p:cNvSpPr txBox="1"/>
            <p:nvPr/>
          </p:nvSpPr>
          <p:spPr>
            <a:xfrm>
              <a:off x="5188492" y="1994319"/>
              <a:ext cx="5601093" cy="1481020"/>
            </a:xfrm>
            <a:prstGeom prst="rect">
              <a:avLst/>
            </a:prstGeom>
            <a:solidFill>
              <a:schemeClr val="tx1"/>
            </a:solidFill>
          </p:spPr>
          <p:txBody>
            <a:bodyPr vert="horz" wrap="square" rtlCol="0">
              <a:spAutoFit/>
            </a:bodyPr>
            <a:lstStyle/>
            <a:p>
              <a:r>
                <a:rPr lang="en-US" altLang="zh-CN" sz="1400" dirty="0">
                  <a:solidFill>
                    <a:schemeClr val="bg2"/>
                  </a:solidFill>
                  <a:cs typeface="+mn-ea"/>
                  <a:sym typeface="+mn-lt"/>
                </a:rPr>
                <a:t>// </a:t>
              </a:r>
              <a:r>
                <a:rPr lang="zh-CN" altLang="en-US" sz="1400" b="1" dirty="0">
                  <a:solidFill>
                    <a:srgbClr val="FF0000"/>
                  </a:solidFill>
                  <a:cs typeface="+mn-ea"/>
                  <a:sym typeface="+mn-lt"/>
                </a:rPr>
                <a:t>错误示例</a:t>
              </a:r>
              <a:endParaRPr lang="en-US" altLang="zh-CN" sz="1400" b="1" dirty="0">
                <a:solidFill>
                  <a:srgbClr val="FF0000"/>
                </a:solidFill>
                <a:cs typeface="+mn-ea"/>
                <a:sym typeface="+mn-lt"/>
              </a:endParaRPr>
            </a:p>
            <a:p>
              <a:r>
                <a:rPr lang="en-US" altLang="zh-CN" sz="1400" dirty="0">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err="1">
                  <a:solidFill>
                    <a:srgbClr val="C678DD"/>
                  </a:solidFill>
                  <a:cs typeface="+mn-ea"/>
                  <a:sym typeface="+mn-lt"/>
                </a:rPr>
                <a:t>mut</a:t>
              </a:r>
              <a:r>
                <a:rPr lang="en-US" altLang="zh-CN" sz="1400" dirty="0">
                  <a:solidFill>
                    <a:srgbClr val="ABB2BF"/>
                  </a:solidFill>
                  <a:cs typeface="+mn-ea"/>
                  <a:sym typeface="+mn-lt"/>
                </a:rPr>
                <a:t> </a:t>
              </a:r>
              <a:r>
                <a:rPr lang="en-US" altLang="zh-CN" sz="1400" u="sng" dirty="0">
                  <a:solidFill>
                    <a:srgbClr val="E06C75"/>
                  </a:solidFill>
                  <a:cs typeface="+mn-ea"/>
                  <a:sym typeface="+mn-lt"/>
                </a:rPr>
                <a:t>s</a:t>
              </a:r>
              <a:r>
                <a:rPr lang="en-US" altLang="zh-CN" sz="1400" dirty="0">
                  <a:solidFill>
                    <a:srgbClr val="ABB2BF"/>
                  </a:solidFill>
                  <a:cs typeface="+mn-ea"/>
                  <a:sym typeface="+mn-lt"/>
                </a:rPr>
                <a:t> = </a:t>
              </a:r>
              <a:r>
                <a:rPr lang="en-US" altLang="zh-CN" sz="1400" dirty="0">
                  <a:solidFill>
                    <a:srgbClr val="E5C07B"/>
                  </a:solidFill>
                  <a:cs typeface="+mn-ea"/>
                  <a:sym typeface="+mn-lt"/>
                </a:rPr>
                <a:t>String</a:t>
              </a:r>
              <a:r>
                <a:rPr lang="en-US" altLang="zh-CN" sz="1400" dirty="0">
                  <a:solidFill>
                    <a:srgbClr val="ABB2BF"/>
                  </a:solidFill>
                  <a:cs typeface="+mn-ea"/>
                  <a:sym typeface="+mn-lt"/>
                </a:rPr>
                <a:t>::</a:t>
              </a:r>
              <a:r>
                <a:rPr lang="en-US" altLang="zh-CN" sz="1400" dirty="0">
                  <a:solidFill>
                    <a:srgbClr val="61AFEF"/>
                  </a:solidFill>
                  <a:cs typeface="+mn-ea"/>
                  <a:sym typeface="+mn-lt"/>
                </a:rPr>
                <a:t>from</a:t>
              </a:r>
              <a:r>
                <a:rPr lang="en-US" altLang="zh-CN" sz="1400" dirty="0">
                  <a:solidFill>
                    <a:srgbClr val="ABB2BF"/>
                  </a:solidFill>
                  <a:cs typeface="+mn-ea"/>
                  <a:sym typeface="+mn-lt"/>
                </a:rPr>
                <a:t>(</a:t>
              </a:r>
              <a:r>
                <a:rPr lang="en-US" altLang="zh-CN" sz="1400" dirty="0">
                  <a:solidFill>
                    <a:srgbClr val="98C379"/>
                  </a:solidFill>
                  <a:cs typeface="+mn-ea"/>
                  <a:sym typeface="+mn-lt"/>
                </a:rPr>
                <a:t>"hello"</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r1</a:t>
              </a:r>
              <a:r>
                <a:rPr lang="en-US" altLang="zh-CN" sz="1400" dirty="0">
                  <a:solidFill>
                    <a:srgbClr val="ABB2BF"/>
                  </a:solidFill>
                  <a:cs typeface="+mn-ea"/>
                  <a:sym typeface="+mn-lt"/>
                </a:rPr>
                <a:t> = &amp;</a:t>
              </a:r>
              <a:r>
                <a:rPr lang="en-US" altLang="zh-CN" sz="1400" u="sng" dirty="0">
                  <a:solidFill>
                    <a:srgbClr val="E06C75"/>
                  </a:solidFill>
                  <a:cs typeface="+mn-ea"/>
                  <a:sym typeface="+mn-lt"/>
                </a:rPr>
                <a:t>s</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u="sng" dirty="0">
                  <a:solidFill>
                    <a:srgbClr val="E06C75"/>
                  </a:solidFill>
                  <a:cs typeface="+mn-ea"/>
                  <a:sym typeface="+mn-lt"/>
                </a:rPr>
                <a:t>r2</a:t>
              </a:r>
              <a:r>
                <a:rPr lang="en-US" altLang="zh-CN" sz="1400" dirty="0">
                  <a:solidFill>
                    <a:srgbClr val="ABB2BF"/>
                  </a:solidFill>
                  <a:cs typeface="+mn-ea"/>
                  <a:sym typeface="+mn-lt"/>
                </a:rPr>
                <a:t> = &amp;</a:t>
              </a:r>
              <a:r>
                <a:rPr lang="en-US" altLang="zh-CN" sz="1400" dirty="0" err="1">
                  <a:solidFill>
                    <a:srgbClr val="C678DD"/>
                  </a:solidFill>
                  <a:cs typeface="+mn-ea"/>
                  <a:sym typeface="+mn-lt"/>
                </a:rPr>
                <a:t>mut</a:t>
              </a:r>
              <a:r>
                <a:rPr lang="en-US" altLang="zh-CN" sz="1400" dirty="0">
                  <a:solidFill>
                    <a:srgbClr val="ABB2BF"/>
                  </a:solidFill>
                  <a:cs typeface="+mn-ea"/>
                  <a:sym typeface="+mn-lt"/>
                </a:rPr>
                <a:t> </a:t>
              </a:r>
              <a:r>
                <a:rPr lang="en-US" altLang="zh-CN" sz="1400" u="sng" dirty="0">
                  <a:solidFill>
                    <a:srgbClr val="E06C75"/>
                  </a:solidFill>
                  <a:cs typeface="+mn-ea"/>
                  <a:sym typeface="+mn-lt"/>
                </a:rPr>
                <a:t>s</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D19A66"/>
                  </a:solidFill>
                  <a:cs typeface="+mn-ea"/>
                  <a:sym typeface="+mn-lt"/>
                </a:rPr>
                <a:t>println!</a:t>
              </a:r>
              <a:r>
                <a:rPr lang="en-US" altLang="zh-CN" sz="1400" dirty="0">
                  <a:solidFill>
                    <a:srgbClr val="ABB2BF"/>
                  </a:solidFill>
                  <a:cs typeface="+mn-ea"/>
                  <a:sym typeface="+mn-lt"/>
                </a:rPr>
                <a:t>(</a:t>
              </a:r>
              <a:r>
                <a:rPr lang="en-US" altLang="zh-CN" sz="1400" dirty="0">
                  <a:solidFill>
                    <a:srgbClr val="98C379"/>
                  </a:solidFill>
                  <a:cs typeface="+mn-ea"/>
                  <a:sym typeface="+mn-lt"/>
                </a:rPr>
                <a:t>"</a:t>
              </a:r>
              <a:r>
                <a:rPr lang="en-US" altLang="zh-CN" sz="1400" dirty="0">
                  <a:solidFill>
                    <a:srgbClr val="C678DD"/>
                  </a:solidFill>
                  <a:cs typeface="+mn-ea"/>
                  <a:sym typeface="+mn-lt"/>
                </a:rPr>
                <a:t>{}</a:t>
              </a:r>
              <a:r>
                <a:rPr lang="en-US" altLang="zh-CN" sz="1400" dirty="0">
                  <a:solidFill>
                    <a:srgbClr val="98C379"/>
                  </a:solidFill>
                  <a:cs typeface="+mn-ea"/>
                  <a:sym typeface="+mn-lt"/>
                </a:rPr>
                <a:t>"</a:t>
              </a:r>
              <a:r>
                <a:rPr lang="en-US" altLang="zh-CN" sz="1400" dirty="0">
                  <a:solidFill>
                    <a:srgbClr val="ABB2BF"/>
                  </a:solidFill>
                  <a:cs typeface="+mn-ea"/>
                  <a:sym typeface="+mn-lt"/>
                </a:rPr>
                <a:t>, </a:t>
              </a:r>
              <a:r>
                <a:rPr lang="en-US" altLang="zh-CN" sz="1400" dirty="0">
                  <a:solidFill>
                    <a:srgbClr val="E06C75"/>
                  </a:solidFill>
                  <a:cs typeface="+mn-ea"/>
                  <a:sym typeface="+mn-lt"/>
                </a:rPr>
                <a:t>r1</a:t>
              </a:r>
              <a:r>
                <a:rPr lang="en-US" altLang="zh-CN" sz="1400" dirty="0">
                  <a:solidFill>
                    <a:srgbClr val="ABB2BF"/>
                  </a:solidFill>
                  <a:cs typeface="+mn-ea"/>
                  <a:sym typeface="+mn-lt"/>
                </a:rPr>
                <a:t>);</a:t>
              </a: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sp>
          <p:nvSpPr>
            <p:cNvPr id="5" name="下箭头 4"/>
            <p:cNvSpPr/>
            <p:nvPr/>
          </p:nvSpPr>
          <p:spPr>
            <a:xfrm>
              <a:off x="7400787" y="3589973"/>
              <a:ext cx="665591" cy="282175"/>
            </a:xfrm>
            <a:prstGeom prst="down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9" name="图片 8"/>
            <p:cNvPicPr>
              <a:picLocks noChangeAspect="1"/>
            </p:cNvPicPr>
            <p:nvPr/>
          </p:nvPicPr>
          <p:blipFill>
            <a:blip r:embed="rId3"/>
            <a:stretch>
              <a:fillRect/>
            </a:stretch>
          </p:blipFill>
          <p:spPr>
            <a:xfrm>
              <a:off x="5188492" y="3955965"/>
              <a:ext cx="5601093" cy="1922487"/>
            </a:xfrm>
            <a:prstGeom prst="rect">
              <a:avLst/>
            </a:prstGeom>
          </p:spPr>
        </p:pic>
      </p:grpSp>
      <p:sp>
        <p:nvSpPr>
          <p:cNvPr id="11" name="矩形 6"/>
          <p:cNvSpPr/>
          <p:nvPr/>
        </p:nvSpPr>
        <p:spPr>
          <a:xfrm>
            <a:off x="253313" y="587328"/>
            <a:ext cx="10305489" cy="359934"/>
          </a:xfrm>
          <a:prstGeom prst="rect">
            <a:avLst/>
          </a:prstGeom>
        </p:spPr>
        <p:txBody>
          <a:bodyPr wrap="square">
            <a:noAutofit/>
          </a:bodyPr>
          <a:lstStyle/>
          <a:p>
            <a:pPr>
              <a:lnSpc>
                <a:spcPct val="150000"/>
              </a:lnSpc>
            </a:pPr>
            <a:r>
              <a:rPr lang="zh-CN" altLang="en-US" sz="1600" dirty="0">
                <a:cs typeface="+mn-ea"/>
                <a:sym typeface="+mn-lt"/>
              </a:rPr>
              <a:t>借用检查是 </a:t>
            </a:r>
            <a:r>
              <a:rPr lang="en-US" altLang="zh-CN" sz="1600" dirty="0">
                <a:cs typeface="+mn-ea"/>
                <a:sym typeface="+mn-lt"/>
              </a:rPr>
              <a:t>Rust </a:t>
            </a:r>
            <a:r>
              <a:rPr lang="zh-CN" altLang="en-US" sz="1600" dirty="0">
                <a:cs typeface="+mn-ea"/>
                <a:sym typeface="+mn-lt"/>
              </a:rPr>
              <a:t>编译器提供的静态检查器，它是对主要任务是确保内存安全。</a:t>
            </a:r>
            <a:endParaRPr lang="en-US" altLang="zh-CN" sz="1600" dirty="0">
              <a:cs typeface="+mn-ea"/>
              <a:sym typeface="+mn-lt"/>
            </a:endParaRPr>
          </a:p>
          <a:p>
            <a:pPr>
              <a:lnSpc>
                <a:spcPct val="150000"/>
              </a:lnSpc>
            </a:pPr>
            <a:endParaRPr lang="zh-CN" altLang="en-US" sz="1600" dirty="0">
              <a:cs typeface="+mn-ea"/>
              <a:sym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53313" y="59973"/>
            <a:ext cx="10740640" cy="993400"/>
          </a:xfrm>
        </p:spPr>
        <p:txBody>
          <a:bodyPr/>
          <a:lstStyle/>
          <a:p>
            <a:r>
              <a:rPr lang="zh-CN" altLang="en-US" b="1">
                <a:solidFill>
                  <a:srgbClr val="C00000"/>
                </a:solidFill>
                <a:latin typeface="+mn-lt"/>
                <a:ea typeface="+mn-ea"/>
                <a:cs typeface="+mn-ea"/>
                <a:sym typeface="+mn-lt"/>
              </a:rPr>
              <a:t>借用检查</a:t>
            </a:r>
            <a:endParaRPr lang="zh-CN" altLang="en-US" b="1" dirty="0">
              <a:solidFill>
                <a:srgbClr val="C00000"/>
              </a:solidFill>
              <a:latin typeface="+mn-lt"/>
              <a:ea typeface="+mn-ea"/>
              <a:cs typeface="+mn-ea"/>
              <a:sym typeface="+mn-lt"/>
            </a:endParaRPr>
          </a:p>
        </p:txBody>
      </p:sp>
      <p:cxnSp>
        <p:nvCxnSpPr>
          <p:cNvPr id="7" name="直接连接符 6"/>
          <p:cNvCxnSpPr/>
          <p:nvPr/>
        </p:nvCxnSpPr>
        <p:spPr>
          <a:xfrm>
            <a:off x="253313" y="54228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矩形 6"/>
          <p:cNvSpPr/>
          <p:nvPr/>
        </p:nvSpPr>
        <p:spPr>
          <a:xfrm>
            <a:off x="212908" y="551678"/>
            <a:ext cx="10919413" cy="418514"/>
          </a:xfrm>
          <a:prstGeom prst="rect">
            <a:avLst/>
          </a:prstGeom>
        </p:spPr>
        <p:txBody>
          <a:bodyPr wrap="square">
            <a:noAutofit/>
          </a:bodyPr>
          <a:lstStyle/>
          <a:p>
            <a:pPr>
              <a:lnSpc>
                <a:spcPct val="150000"/>
              </a:lnSpc>
            </a:pPr>
            <a:r>
              <a:rPr lang="en-US" altLang="zh-CN" sz="1600" dirty="0">
                <a:cs typeface="+mn-ea"/>
                <a:sym typeface="+mn-lt"/>
              </a:rPr>
              <a:t>Rust 的借用检查器目前不能精确地区分数组中的不同元素</a:t>
            </a:r>
            <a:r>
              <a:rPr lang="zh-CN" altLang="en-US" sz="1600" dirty="0">
                <a:cs typeface="+mn-ea"/>
                <a:sym typeface="+mn-lt"/>
              </a:rPr>
              <a:t>，整个数组都会被标记为已借用</a:t>
            </a:r>
            <a:endParaRPr lang="en-US" altLang="zh-CN" sz="1600" dirty="0">
              <a:cs typeface="+mn-ea"/>
              <a:sym typeface="+mn-lt"/>
            </a:endParaRPr>
          </a:p>
          <a:p>
            <a:pPr>
              <a:lnSpc>
                <a:spcPct val="150000"/>
              </a:lnSpc>
            </a:pPr>
            <a:endParaRPr lang="zh-CN" altLang="en-US" sz="1600" dirty="0">
              <a:cs typeface="+mn-ea"/>
              <a:sym typeface="+mn-lt"/>
            </a:endParaRPr>
          </a:p>
        </p:txBody>
      </p:sp>
      <p:sp>
        <p:nvSpPr>
          <p:cNvPr id="4" name="文本框 2"/>
          <p:cNvSpPr txBox="1"/>
          <p:nvPr/>
        </p:nvSpPr>
        <p:spPr>
          <a:xfrm>
            <a:off x="212908" y="1624853"/>
            <a:ext cx="6001872" cy="1678694"/>
          </a:xfrm>
          <a:prstGeom prst="rect">
            <a:avLst/>
          </a:prstGeom>
          <a:solidFill>
            <a:schemeClr val="tx1"/>
          </a:solidFill>
        </p:spPr>
        <p:txBody>
          <a:bodyPr vert="horz" wrap="square" rtlCol="0">
            <a:noAutofit/>
          </a:bodyPr>
          <a:lstStyle/>
          <a:p>
            <a:r>
              <a:rPr lang="en-US" altLang="zh-CN" sz="1400" dirty="0">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err="1">
                <a:solidFill>
                  <a:srgbClr val="C678DD"/>
                </a:solidFill>
                <a:cs typeface="+mn-ea"/>
                <a:sym typeface="+mn-lt"/>
              </a:rPr>
              <a:t>mut</a:t>
            </a:r>
            <a:r>
              <a:rPr lang="en-US" altLang="zh-CN" sz="1400" dirty="0">
                <a:solidFill>
                  <a:srgbClr val="ABB2BF"/>
                </a:solidFill>
                <a:cs typeface="+mn-ea"/>
                <a:sym typeface="+mn-lt"/>
              </a:rPr>
              <a:t> </a:t>
            </a:r>
            <a:r>
              <a:rPr lang="en-US" altLang="zh-CN" sz="1400" u="sng" dirty="0" err="1">
                <a:solidFill>
                  <a:srgbClr val="E06C75"/>
                </a:solidFill>
                <a:cs typeface="+mn-ea"/>
                <a:sym typeface="+mn-lt"/>
              </a:rPr>
              <a:t>arr</a:t>
            </a:r>
            <a:r>
              <a:rPr lang="en-US" altLang="zh-CN" sz="1400" dirty="0">
                <a:solidFill>
                  <a:srgbClr val="ABB2BF"/>
                </a:solidFill>
                <a:cs typeface="+mn-ea"/>
                <a:sym typeface="+mn-lt"/>
              </a:rPr>
              <a:t> = [</a:t>
            </a:r>
            <a:r>
              <a:rPr lang="en-US" altLang="zh-CN" sz="1400" dirty="0">
                <a:solidFill>
                  <a:srgbClr val="D19A66"/>
                </a:solidFill>
                <a:cs typeface="+mn-ea"/>
                <a:sym typeface="+mn-lt"/>
              </a:rPr>
              <a:t>1</a:t>
            </a:r>
            <a:r>
              <a:rPr lang="en-US" altLang="zh-CN" sz="1400" dirty="0">
                <a:solidFill>
                  <a:srgbClr val="ABB2BF"/>
                </a:solidFill>
                <a:cs typeface="+mn-ea"/>
                <a:sym typeface="+mn-lt"/>
              </a:rPr>
              <a:t>, </a:t>
            </a:r>
            <a:r>
              <a:rPr lang="en-US" altLang="zh-CN" sz="1400" dirty="0">
                <a:solidFill>
                  <a:srgbClr val="D19A66"/>
                </a:solidFill>
                <a:cs typeface="+mn-ea"/>
                <a:sym typeface="+mn-lt"/>
              </a:rPr>
              <a:t>2</a:t>
            </a:r>
            <a:r>
              <a:rPr lang="en-US" altLang="zh-CN" sz="1400" dirty="0">
                <a:solidFill>
                  <a:srgbClr val="ABB2BF"/>
                </a:solidFill>
                <a:cs typeface="+mn-ea"/>
                <a:sym typeface="+mn-lt"/>
              </a:rPr>
              <a:t>, </a:t>
            </a:r>
            <a:r>
              <a:rPr lang="en-US" altLang="zh-CN" sz="1400" dirty="0">
                <a:solidFill>
                  <a:srgbClr val="D19A66"/>
                </a:solidFill>
                <a:cs typeface="+mn-ea"/>
                <a:sym typeface="+mn-lt"/>
              </a:rPr>
              <a:t>3</a:t>
            </a:r>
            <a:r>
              <a:rPr lang="en-US" altLang="zh-CN" sz="1400" dirty="0">
                <a:solidFill>
                  <a:srgbClr val="ABB2BF"/>
                </a:solidFill>
                <a:cs typeface="+mn-ea"/>
                <a:sym typeface="+mn-lt"/>
              </a:rPr>
              <a:t>, </a:t>
            </a:r>
            <a:r>
              <a:rPr lang="en-US" altLang="zh-CN" sz="1400" dirty="0">
                <a:solidFill>
                  <a:srgbClr val="D19A66"/>
                </a:solidFill>
                <a:cs typeface="+mn-ea"/>
                <a:sym typeface="+mn-lt"/>
              </a:rPr>
              <a:t>4</a:t>
            </a:r>
            <a:r>
              <a:rPr lang="en-US" altLang="zh-CN" sz="1400" dirty="0">
                <a:solidFill>
                  <a:srgbClr val="ABB2BF"/>
                </a:solidFill>
                <a:cs typeface="+mn-ea"/>
                <a:sym typeface="+mn-lt"/>
              </a:rPr>
              <a:t>, </a:t>
            </a:r>
            <a:r>
              <a:rPr lang="en-US" altLang="zh-CN" sz="1400" dirty="0">
                <a:solidFill>
                  <a:srgbClr val="D19A66"/>
                </a:solidFill>
                <a:cs typeface="+mn-ea"/>
                <a:sym typeface="+mn-lt"/>
              </a:rPr>
              <a:t>5</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first</a:t>
            </a:r>
            <a:r>
              <a:rPr lang="en-US" altLang="zh-CN" sz="1400" dirty="0">
                <a:solidFill>
                  <a:srgbClr val="ABB2BF"/>
                </a:solidFill>
                <a:cs typeface="+mn-ea"/>
                <a:sym typeface="+mn-lt"/>
              </a:rPr>
              <a:t> = &amp;</a:t>
            </a:r>
            <a:r>
              <a:rPr lang="en-US" altLang="zh-CN" sz="1400" u="sng" dirty="0" err="1">
                <a:solidFill>
                  <a:srgbClr val="E06C75"/>
                </a:solidFill>
                <a:cs typeface="+mn-ea"/>
                <a:sym typeface="+mn-lt"/>
              </a:rPr>
              <a:t>arr</a:t>
            </a:r>
            <a:r>
              <a:rPr lang="en-US" altLang="zh-CN" sz="1400" dirty="0">
                <a:solidFill>
                  <a:srgbClr val="ABB2BF"/>
                </a:solidFill>
                <a:cs typeface="+mn-ea"/>
                <a:sym typeface="+mn-lt"/>
              </a:rPr>
              <a:t>[</a:t>
            </a:r>
            <a:r>
              <a:rPr lang="en-US" altLang="zh-CN" sz="1400" dirty="0">
                <a:solidFill>
                  <a:srgbClr val="D19A66"/>
                </a:solidFill>
                <a:cs typeface="+mn-ea"/>
                <a:sym typeface="+mn-lt"/>
              </a:rPr>
              <a:t>0</a:t>
            </a:r>
            <a:r>
              <a:rPr lang="en-US" altLang="zh-CN" sz="1400" dirty="0">
                <a:solidFill>
                  <a:srgbClr val="ABB2BF"/>
                </a:solidFill>
                <a:cs typeface="+mn-ea"/>
                <a:sym typeface="+mn-lt"/>
              </a:rPr>
              <a:t>];</a:t>
            </a:r>
            <a:r>
              <a:rPr lang="en-US" altLang="zh-CN" sz="1400" i="1" dirty="0">
                <a:solidFill>
                  <a:srgbClr val="7F848E"/>
                </a:solidFill>
                <a:cs typeface="+mn-ea"/>
                <a:sym typeface="+mn-lt"/>
              </a:rPr>
              <a:t>  // </a:t>
            </a:r>
            <a:r>
              <a:rPr lang="zh-CN" altLang="en-US" sz="1400" i="1" dirty="0">
                <a:solidFill>
                  <a:srgbClr val="7F848E"/>
                </a:solidFill>
                <a:cs typeface="+mn-ea"/>
                <a:sym typeface="+mn-lt"/>
              </a:rPr>
              <a:t>借用第一个元素</a:t>
            </a:r>
            <a:endParaRPr lang="zh-CN" altLang="en-US" sz="1400" dirty="0">
              <a:solidFill>
                <a:srgbClr val="ABB2BF"/>
              </a:solidFill>
              <a:cs typeface="+mn-ea"/>
              <a:sym typeface="+mn-lt"/>
            </a:endParaRPr>
          </a:p>
          <a:p>
            <a:r>
              <a:rPr lang="zh-CN" altLang="en-US"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u="sng" dirty="0">
                <a:solidFill>
                  <a:srgbClr val="E06C75"/>
                </a:solidFill>
                <a:cs typeface="+mn-ea"/>
                <a:sym typeface="+mn-lt"/>
              </a:rPr>
              <a:t>second</a:t>
            </a:r>
            <a:r>
              <a:rPr lang="en-US" altLang="zh-CN" sz="1400" dirty="0">
                <a:solidFill>
                  <a:srgbClr val="ABB2BF"/>
                </a:solidFill>
                <a:cs typeface="+mn-ea"/>
                <a:sym typeface="+mn-lt"/>
              </a:rPr>
              <a:t> = &amp;</a:t>
            </a:r>
            <a:r>
              <a:rPr lang="en-US" altLang="zh-CN" sz="1400" dirty="0" err="1">
                <a:solidFill>
                  <a:srgbClr val="C678DD"/>
                </a:solidFill>
                <a:cs typeface="+mn-ea"/>
                <a:sym typeface="+mn-lt"/>
              </a:rPr>
              <a:t>mut</a:t>
            </a:r>
            <a:r>
              <a:rPr lang="en-US" altLang="zh-CN" sz="1400" dirty="0">
                <a:solidFill>
                  <a:srgbClr val="ABB2BF"/>
                </a:solidFill>
                <a:cs typeface="+mn-ea"/>
                <a:sym typeface="+mn-lt"/>
              </a:rPr>
              <a:t> </a:t>
            </a:r>
            <a:r>
              <a:rPr lang="en-US" altLang="zh-CN" sz="1400" u="sng" dirty="0" err="1">
                <a:solidFill>
                  <a:srgbClr val="E06C75"/>
                </a:solidFill>
                <a:cs typeface="+mn-ea"/>
                <a:sym typeface="+mn-lt"/>
              </a:rPr>
              <a:t>arr</a:t>
            </a:r>
            <a:r>
              <a:rPr lang="en-US" altLang="zh-CN" sz="1400" dirty="0">
                <a:solidFill>
                  <a:srgbClr val="ABB2BF"/>
                </a:solidFill>
                <a:cs typeface="+mn-ea"/>
                <a:sym typeface="+mn-lt"/>
              </a:rPr>
              <a:t>[</a:t>
            </a:r>
            <a:r>
              <a:rPr lang="en-US" altLang="zh-CN" sz="1400" dirty="0">
                <a:solidFill>
                  <a:srgbClr val="D19A66"/>
                </a:solidFill>
                <a:cs typeface="+mn-ea"/>
                <a:sym typeface="+mn-lt"/>
              </a:rPr>
              <a:t>1</a:t>
            </a:r>
            <a:r>
              <a:rPr lang="en-US" altLang="zh-CN" sz="1400" dirty="0">
                <a:solidFill>
                  <a:srgbClr val="ABB2BF"/>
                </a:solidFill>
                <a:cs typeface="+mn-ea"/>
                <a:sym typeface="+mn-lt"/>
              </a:rPr>
              <a:t>];</a:t>
            </a:r>
            <a:r>
              <a:rPr lang="en-US" altLang="zh-CN" sz="1400" i="1" dirty="0">
                <a:solidFill>
                  <a:srgbClr val="7F848E"/>
                </a:solidFill>
                <a:cs typeface="+mn-ea"/>
                <a:sym typeface="+mn-lt"/>
              </a:rPr>
              <a:t> // </a:t>
            </a:r>
            <a:r>
              <a:rPr lang="zh-CN" altLang="en-US" sz="1400" i="1" dirty="0">
                <a:solidFill>
                  <a:srgbClr val="7F848E"/>
                </a:solidFill>
                <a:cs typeface="+mn-ea"/>
                <a:sym typeface="+mn-lt"/>
              </a:rPr>
              <a:t>可变借用第二个元素</a:t>
            </a:r>
            <a:endParaRPr lang="zh-CN" altLang="en-US" sz="1400" dirty="0">
              <a:solidFill>
                <a:srgbClr val="ABB2BF"/>
              </a:solidFill>
              <a:cs typeface="+mn-ea"/>
              <a:sym typeface="+mn-lt"/>
            </a:endParaRPr>
          </a:p>
          <a:p>
            <a:r>
              <a:rPr lang="zh-CN" altLang="en-US" sz="1400" dirty="0">
                <a:solidFill>
                  <a:srgbClr val="ABB2BF"/>
                </a:solidFill>
                <a:cs typeface="+mn-ea"/>
                <a:sym typeface="+mn-lt"/>
              </a:rPr>
              <a:t>    *</a:t>
            </a:r>
            <a:r>
              <a:rPr lang="en-US" altLang="zh-CN" sz="1400" u="sng" dirty="0">
                <a:solidFill>
                  <a:srgbClr val="E06C75"/>
                </a:solidFill>
                <a:cs typeface="+mn-ea"/>
                <a:sym typeface="+mn-lt"/>
              </a:rPr>
              <a:t>second</a:t>
            </a:r>
            <a:r>
              <a:rPr lang="en-US" altLang="zh-CN" sz="1400" dirty="0">
                <a:solidFill>
                  <a:srgbClr val="ABB2BF"/>
                </a:solidFill>
                <a:cs typeface="+mn-ea"/>
                <a:sym typeface="+mn-lt"/>
              </a:rPr>
              <a:t> </a:t>
            </a:r>
            <a:r>
              <a:rPr lang="en-US" altLang="zh-CN" sz="1400" u="sng" dirty="0">
                <a:solidFill>
                  <a:srgbClr val="ABB2BF"/>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10</a:t>
            </a:r>
            <a:r>
              <a:rPr lang="en-US" altLang="zh-CN" sz="1400" dirty="0">
                <a:solidFill>
                  <a:srgbClr val="ABB2BF"/>
                </a:solidFill>
                <a:cs typeface="+mn-ea"/>
                <a:sym typeface="+mn-lt"/>
              </a:rPr>
              <a:t>;</a:t>
            </a:r>
            <a:r>
              <a:rPr lang="en-US" altLang="zh-CN" sz="1400" i="1" dirty="0">
                <a:solidFill>
                  <a:srgbClr val="7F848E"/>
                </a:solidFill>
                <a:cs typeface="+mn-ea"/>
                <a:sym typeface="+mn-lt"/>
              </a:rPr>
              <a:t> // </a:t>
            </a:r>
            <a:r>
              <a:rPr lang="zh-CN" altLang="en-US" sz="1400" i="1" dirty="0">
                <a:solidFill>
                  <a:srgbClr val="7F848E"/>
                </a:solidFill>
                <a:cs typeface="+mn-ea"/>
                <a:sym typeface="+mn-lt"/>
              </a:rPr>
              <a:t>修改第二个元素</a:t>
            </a:r>
            <a:endParaRPr lang="zh-CN" altLang="en-US" sz="1400" dirty="0">
              <a:solidFill>
                <a:srgbClr val="ABB2BF"/>
              </a:solidFill>
              <a:cs typeface="+mn-ea"/>
              <a:sym typeface="+mn-lt"/>
            </a:endParaRPr>
          </a:p>
          <a:p>
            <a:r>
              <a:rPr lang="zh-CN" altLang="en-US" sz="1400" dirty="0">
                <a:solidFill>
                  <a:srgbClr val="ABB2BF"/>
                </a:solidFill>
                <a:cs typeface="+mn-ea"/>
                <a:sym typeface="+mn-lt"/>
              </a:rPr>
              <a:t>    </a:t>
            </a:r>
            <a:r>
              <a:rPr lang="en-US" altLang="zh-CN" sz="1400" dirty="0">
                <a:solidFill>
                  <a:srgbClr val="D19A66"/>
                </a:solidFill>
                <a:cs typeface="+mn-ea"/>
                <a:sym typeface="+mn-lt"/>
              </a:rPr>
              <a:t>println!</a:t>
            </a:r>
            <a:r>
              <a:rPr lang="en-US" altLang="zh-CN" sz="1400" dirty="0">
                <a:solidFill>
                  <a:srgbClr val="ABB2BF"/>
                </a:solidFill>
                <a:cs typeface="+mn-ea"/>
                <a:sym typeface="+mn-lt"/>
              </a:rPr>
              <a:t>(</a:t>
            </a:r>
            <a:r>
              <a:rPr lang="en-US" altLang="zh-CN" sz="1400" dirty="0">
                <a:solidFill>
                  <a:srgbClr val="98C379"/>
                </a:solidFill>
                <a:cs typeface="+mn-ea"/>
                <a:sym typeface="+mn-lt"/>
              </a:rPr>
              <a:t>"first: </a:t>
            </a:r>
            <a:r>
              <a:rPr lang="en-US" altLang="zh-CN" sz="1400" dirty="0">
                <a:solidFill>
                  <a:srgbClr val="C678DD"/>
                </a:solidFill>
                <a:cs typeface="+mn-ea"/>
                <a:sym typeface="+mn-lt"/>
              </a:rPr>
              <a:t>{}</a:t>
            </a:r>
            <a:r>
              <a:rPr lang="en-US" altLang="zh-CN" sz="1400" dirty="0">
                <a:solidFill>
                  <a:srgbClr val="98C379"/>
                </a:solidFill>
                <a:cs typeface="+mn-ea"/>
                <a:sym typeface="+mn-lt"/>
              </a:rPr>
              <a:t>, second: </a:t>
            </a:r>
            <a:r>
              <a:rPr lang="en-US" altLang="zh-CN" sz="1400" dirty="0">
                <a:solidFill>
                  <a:srgbClr val="C678DD"/>
                </a:solidFill>
                <a:cs typeface="+mn-ea"/>
                <a:sym typeface="+mn-lt"/>
              </a:rPr>
              <a:t>{}</a:t>
            </a:r>
            <a:r>
              <a:rPr lang="en-US" altLang="zh-CN" sz="1400" dirty="0">
                <a:solidFill>
                  <a:srgbClr val="98C379"/>
                </a:solidFill>
                <a:cs typeface="+mn-ea"/>
                <a:sym typeface="+mn-lt"/>
              </a:rPr>
              <a:t>"</a:t>
            </a:r>
            <a:r>
              <a:rPr lang="en-US" altLang="zh-CN" sz="1400" dirty="0">
                <a:solidFill>
                  <a:srgbClr val="ABB2BF"/>
                </a:solidFill>
                <a:cs typeface="+mn-ea"/>
                <a:sym typeface="+mn-lt"/>
              </a:rPr>
              <a:t>, </a:t>
            </a:r>
            <a:r>
              <a:rPr lang="en-US" altLang="zh-CN" sz="1400" dirty="0">
                <a:solidFill>
                  <a:srgbClr val="E06C75"/>
                </a:solidFill>
                <a:cs typeface="+mn-ea"/>
                <a:sym typeface="+mn-lt"/>
              </a:rPr>
              <a:t>first</a:t>
            </a:r>
            <a:r>
              <a:rPr lang="en-US" altLang="zh-CN" sz="1400" dirty="0">
                <a:solidFill>
                  <a:srgbClr val="ABB2BF"/>
                </a:solidFill>
                <a:cs typeface="+mn-ea"/>
                <a:sym typeface="+mn-lt"/>
              </a:rPr>
              <a:t>, </a:t>
            </a:r>
            <a:r>
              <a:rPr lang="en-US" altLang="zh-CN" sz="1400" u="sng" dirty="0">
                <a:solidFill>
                  <a:srgbClr val="E06C75"/>
                </a:solidFill>
                <a:cs typeface="+mn-ea"/>
                <a:sym typeface="+mn-lt"/>
              </a:rPr>
              <a:t>second</a:t>
            </a:r>
            <a:r>
              <a:rPr lang="en-US" altLang="zh-CN" sz="1400" dirty="0">
                <a:solidFill>
                  <a:srgbClr val="ABB2BF"/>
                </a:solidFill>
                <a:cs typeface="+mn-ea"/>
                <a:sym typeface="+mn-lt"/>
              </a:rPr>
              <a:t>); </a:t>
            </a:r>
          </a:p>
          <a:p>
            <a:r>
              <a:rPr lang="en-US" altLang="zh-CN" sz="1400" dirty="0">
                <a:solidFill>
                  <a:srgbClr val="ABB2BF"/>
                </a:solidFill>
                <a:cs typeface="+mn-ea"/>
                <a:sym typeface="+mn-lt"/>
              </a:rPr>
              <a:t>}</a:t>
            </a:r>
          </a:p>
          <a:p>
            <a:br>
              <a:rPr lang="en-US" altLang="zh-CN" sz="1400" dirty="0">
                <a:solidFill>
                  <a:srgbClr val="ABB2BF"/>
                </a:solidFill>
                <a:cs typeface="+mn-ea"/>
                <a:sym typeface="+mn-lt"/>
              </a:rPr>
            </a:br>
            <a:endParaRPr lang="en-US" altLang="zh-CN" sz="1400" b="0" dirty="0">
              <a:solidFill>
                <a:srgbClr val="ABB2BF"/>
              </a:solidFill>
              <a:effectLst/>
              <a:cs typeface="+mn-ea"/>
              <a:sym typeface="+mn-lt"/>
            </a:endParaRPr>
          </a:p>
        </p:txBody>
      </p:sp>
      <p:sp>
        <p:nvSpPr>
          <p:cNvPr id="15" name="TextBox 14"/>
          <p:cNvSpPr txBox="1"/>
          <p:nvPr/>
        </p:nvSpPr>
        <p:spPr>
          <a:xfrm>
            <a:off x="6620133" y="1829073"/>
            <a:ext cx="4195914" cy="3585905"/>
          </a:xfrm>
          <a:prstGeom prst="rect">
            <a:avLst/>
          </a:prstGeom>
          <a:noFill/>
        </p:spPr>
        <p:txBody>
          <a:bodyPr vert="horz" wrap="square" rtlCol="0" anchor="t">
            <a:noAutofit/>
          </a:bodyPr>
          <a:lstStyle/>
          <a:p>
            <a:pPr algn="l">
              <a:lnSpc>
                <a:spcPct val="150000"/>
              </a:lnSpc>
            </a:pPr>
            <a:r>
              <a:rPr lang="zh-CN" altLang="en-US" sz="1400" dirty="0">
                <a:cs typeface="+mn-ea"/>
                <a:sym typeface="+mn-lt"/>
              </a:rPr>
              <a:t>如果你需要对多个元素进行可变操作，通常有几种解决方案：</a:t>
            </a:r>
          </a:p>
          <a:p>
            <a:pPr algn="l">
              <a:lnSpc>
                <a:spcPct val="150000"/>
              </a:lnSpc>
            </a:pPr>
            <a:r>
              <a:rPr lang="zh-CN" altLang="en-US" sz="1400" dirty="0">
                <a:cs typeface="+mn-ea"/>
                <a:sym typeface="+mn-lt"/>
              </a:rPr>
              <a:t>1. 使用循环或其他迭代结构：这样你可以在不同的迭代步骤中借用不同的元素。</a:t>
            </a:r>
          </a:p>
          <a:p>
            <a:pPr algn="l">
              <a:lnSpc>
                <a:spcPct val="150000"/>
              </a:lnSpc>
            </a:pPr>
            <a:r>
              <a:rPr lang="zh-CN" altLang="en-US" sz="1400" dirty="0">
                <a:cs typeface="+mn-ea"/>
                <a:sym typeface="+mn-lt"/>
              </a:rPr>
              <a:t>2. 使用切片的 split_at_mut 方法：这样你可以得到指向数组不同部分的两个可变切片。</a:t>
            </a:r>
          </a:p>
          <a:p>
            <a:pPr algn="l">
              <a:lnSpc>
                <a:spcPct val="150000"/>
              </a:lnSpc>
            </a:pPr>
            <a:r>
              <a:rPr lang="zh-CN" altLang="en-US" sz="1400" dirty="0">
                <a:cs typeface="+mn-ea"/>
                <a:sym typeface="+mn-lt"/>
              </a:rPr>
              <a:t>3. 使用 Cell 或 RefCell：这些类型提供了内部可变性，但使用它们通常会有一些运行时开销。</a:t>
            </a:r>
          </a:p>
        </p:txBody>
      </p:sp>
      <p:pic>
        <p:nvPicPr>
          <p:cNvPr id="3" name="图片 2"/>
          <p:cNvPicPr>
            <a:picLocks noChangeAspect="1"/>
          </p:cNvPicPr>
          <p:nvPr/>
        </p:nvPicPr>
        <p:blipFill>
          <a:blip r:embed="rId3"/>
          <a:stretch>
            <a:fillRect/>
          </a:stretch>
        </p:blipFill>
        <p:spPr>
          <a:xfrm>
            <a:off x="871622" y="3875027"/>
            <a:ext cx="4684447" cy="1759417"/>
          </a:xfrm>
          <a:prstGeom prst="rect">
            <a:avLst/>
          </a:prstGeom>
        </p:spPr>
      </p:pic>
      <p:sp>
        <p:nvSpPr>
          <p:cNvPr id="5" name="下箭头 4"/>
          <p:cNvSpPr/>
          <p:nvPr/>
        </p:nvSpPr>
        <p:spPr>
          <a:xfrm>
            <a:off x="2767791" y="3499367"/>
            <a:ext cx="892107" cy="245319"/>
          </a:xfrm>
          <a:prstGeom prst="down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53313" y="59973"/>
            <a:ext cx="10740640" cy="993400"/>
          </a:xfrm>
        </p:spPr>
        <p:txBody>
          <a:bodyPr/>
          <a:lstStyle/>
          <a:p>
            <a:r>
              <a:rPr lang="zh-CN" altLang="en-US" b="1">
                <a:solidFill>
                  <a:srgbClr val="C00000"/>
                </a:solidFill>
                <a:latin typeface="+mn-lt"/>
                <a:ea typeface="+mn-ea"/>
                <a:cs typeface="+mn-ea"/>
                <a:sym typeface="+mn-lt"/>
              </a:rPr>
              <a:t>借用检查</a:t>
            </a:r>
            <a:endParaRPr lang="zh-CN" altLang="en-US" b="1" dirty="0">
              <a:solidFill>
                <a:srgbClr val="C00000"/>
              </a:solidFill>
              <a:latin typeface="+mn-lt"/>
              <a:ea typeface="+mn-ea"/>
              <a:cs typeface="+mn-ea"/>
              <a:sym typeface="+mn-lt"/>
            </a:endParaRPr>
          </a:p>
        </p:txBody>
      </p:sp>
      <p:cxnSp>
        <p:nvCxnSpPr>
          <p:cNvPr id="7" name="直接连接符 6"/>
          <p:cNvCxnSpPr/>
          <p:nvPr/>
        </p:nvCxnSpPr>
        <p:spPr>
          <a:xfrm>
            <a:off x="253313" y="54228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矩形 6"/>
          <p:cNvSpPr/>
          <p:nvPr/>
        </p:nvSpPr>
        <p:spPr>
          <a:xfrm>
            <a:off x="85605" y="551678"/>
            <a:ext cx="10919413" cy="418514"/>
          </a:xfrm>
          <a:prstGeom prst="rect">
            <a:avLst/>
          </a:prstGeom>
        </p:spPr>
        <p:txBody>
          <a:bodyPr wrap="square">
            <a:noAutofit/>
          </a:bodyPr>
          <a:lstStyle/>
          <a:p>
            <a:pPr>
              <a:lnSpc>
                <a:spcPct val="150000"/>
              </a:lnSpc>
            </a:pPr>
            <a:r>
              <a:rPr lang="en-US" altLang="zh-CN" sz="1600" dirty="0" err="1">
                <a:cs typeface="+mn-ea"/>
                <a:sym typeface="+mn-lt"/>
              </a:rPr>
              <a:t>对于结构体，你也可以单独借用每个字段</a:t>
            </a:r>
            <a:r>
              <a:rPr lang="zh-CN" altLang="en-US" sz="1600" dirty="0">
                <a:cs typeface="+mn-ea"/>
                <a:sym typeface="+mn-lt"/>
              </a:rPr>
              <a:t>；包括嵌套复合结构，借用检查器会递归检查每一层，确保所有借用合法</a:t>
            </a:r>
            <a:endParaRPr lang="en-US" altLang="zh-CN" sz="1600" dirty="0">
              <a:cs typeface="+mn-ea"/>
              <a:sym typeface="+mn-lt"/>
            </a:endParaRPr>
          </a:p>
          <a:p>
            <a:pPr>
              <a:lnSpc>
                <a:spcPct val="150000"/>
              </a:lnSpc>
            </a:pPr>
            <a:endParaRPr lang="zh-CN" altLang="en-US" sz="1600" dirty="0">
              <a:cs typeface="+mn-ea"/>
              <a:sym typeface="+mn-lt"/>
            </a:endParaRPr>
          </a:p>
        </p:txBody>
      </p:sp>
      <p:sp>
        <p:nvSpPr>
          <p:cNvPr id="4" name="文本框 2"/>
          <p:cNvSpPr txBox="1"/>
          <p:nvPr/>
        </p:nvSpPr>
        <p:spPr>
          <a:xfrm>
            <a:off x="253313" y="1284077"/>
            <a:ext cx="5243915" cy="2774117"/>
          </a:xfrm>
          <a:prstGeom prst="rect">
            <a:avLst/>
          </a:prstGeom>
          <a:solidFill>
            <a:schemeClr val="tx1"/>
          </a:solidFill>
        </p:spPr>
        <p:txBody>
          <a:bodyPr vert="horz" wrap="square" rtlCol="0">
            <a:noAutofit/>
          </a:bodyPr>
          <a:lstStyle/>
          <a:p>
            <a:r>
              <a:rPr lang="en-US" altLang="zh-CN" sz="1200" dirty="0">
                <a:solidFill>
                  <a:schemeClr val="bg2"/>
                </a:solidFill>
                <a:cs typeface="+mn-ea"/>
                <a:sym typeface="+mn-lt"/>
              </a:rPr>
              <a:t>// </a:t>
            </a:r>
            <a:r>
              <a:rPr lang="zh-CN" altLang="en-US" sz="1200" b="1" dirty="0">
                <a:solidFill>
                  <a:srgbClr val="00B050"/>
                </a:solidFill>
                <a:cs typeface="+mn-ea"/>
                <a:sym typeface="+mn-lt"/>
              </a:rPr>
              <a:t>代码示例</a:t>
            </a:r>
            <a:endParaRPr lang="en-US" altLang="zh-CN" sz="1200" b="1" dirty="0">
              <a:solidFill>
                <a:srgbClr val="00B050"/>
              </a:solidFill>
              <a:cs typeface="+mn-ea"/>
              <a:sym typeface="+mn-lt"/>
            </a:endParaRPr>
          </a:p>
          <a:p>
            <a:r>
              <a:rPr lang="en-US" altLang="zh-CN" sz="1200" dirty="0">
                <a:solidFill>
                  <a:srgbClr val="C678DD"/>
                </a:solidFill>
                <a:cs typeface="+mn-ea"/>
                <a:sym typeface="+mn-lt"/>
              </a:rPr>
              <a:t>struct</a:t>
            </a:r>
            <a:r>
              <a:rPr lang="en-US" altLang="zh-CN" sz="1200" dirty="0">
                <a:solidFill>
                  <a:srgbClr val="ABB2BF"/>
                </a:solidFill>
                <a:cs typeface="+mn-ea"/>
                <a:sym typeface="+mn-lt"/>
              </a:rPr>
              <a:t> </a:t>
            </a:r>
            <a:r>
              <a:rPr lang="en-US" altLang="zh-CN" sz="1200" dirty="0">
                <a:solidFill>
                  <a:srgbClr val="E5C07B"/>
                </a:solidFill>
                <a:cs typeface="+mn-ea"/>
                <a:sym typeface="+mn-lt"/>
              </a:rPr>
              <a:t>Point</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E06C75"/>
                </a:solidFill>
                <a:cs typeface="+mn-ea"/>
                <a:sym typeface="+mn-lt"/>
              </a:rPr>
              <a:t>x</a:t>
            </a:r>
            <a:r>
              <a:rPr lang="en-US" altLang="zh-CN" sz="1200" dirty="0">
                <a:solidFill>
                  <a:srgbClr val="ABB2BF"/>
                </a:solidFill>
                <a:cs typeface="+mn-ea"/>
                <a:sym typeface="+mn-lt"/>
              </a:rPr>
              <a:t>: </a:t>
            </a:r>
            <a:r>
              <a:rPr lang="en-US" altLang="zh-CN" sz="1200" dirty="0">
                <a:solidFill>
                  <a:srgbClr val="E5C07B"/>
                </a:solidFill>
                <a:cs typeface="+mn-ea"/>
                <a:sym typeface="+mn-lt"/>
              </a:rPr>
              <a:t>i32</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E06C75"/>
                </a:solidFill>
                <a:cs typeface="+mn-ea"/>
                <a:sym typeface="+mn-lt"/>
              </a:rPr>
              <a:t>y</a:t>
            </a:r>
            <a:r>
              <a:rPr lang="en-US" altLang="zh-CN" sz="1200" dirty="0">
                <a:solidFill>
                  <a:srgbClr val="ABB2BF"/>
                </a:solidFill>
                <a:cs typeface="+mn-ea"/>
                <a:sym typeface="+mn-lt"/>
              </a:rPr>
              <a:t>: </a:t>
            </a:r>
            <a:r>
              <a:rPr lang="en-US" altLang="zh-CN" sz="1200" dirty="0">
                <a:solidFill>
                  <a:srgbClr val="E5C07B"/>
                </a:solidFill>
                <a:cs typeface="+mn-ea"/>
                <a:sym typeface="+mn-lt"/>
              </a:rPr>
              <a:t>i32</a:t>
            </a:r>
            <a:r>
              <a:rPr lang="en-US" altLang="zh-CN" sz="1200" dirty="0">
                <a:solidFill>
                  <a:srgbClr val="ABB2BF"/>
                </a:solidFill>
                <a:cs typeface="+mn-ea"/>
                <a:sym typeface="+mn-lt"/>
              </a:rPr>
              <a:t>,</a:t>
            </a:r>
          </a:p>
          <a:p>
            <a:r>
              <a:rPr lang="en-US" altLang="zh-CN" sz="1200" dirty="0">
                <a:solidFill>
                  <a:srgbClr val="ABB2BF"/>
                </a:solidFill>
                <a:cs typeface="+mn-ea"/>
                <a:sym typeface="+mn-lt"/>
              </a:rPr>
              <a:t>}</a:t>
            </a:r>
          </a:p>
          <a:p>
            <a:br>
              <a:rPr lang="en-US" altLang="zh-CN" sz="1200" dirty="0">
                <a:solidFill>
                  <a:srgbClr val="ABB2BF"/>
                </a:solidFill>
                <a:cs typeface="+mn-ea"/>
                <a:sym typeface="+mn-lt"/>
              </a:rPr>
            </a:br>
            <a:r>
              <a:rPr lang="en-US" altLang="zh-CN" sz="1200" dirty="0">
                <a:solidFill>
                  <a:srgbClr val="C678DD"/>
                </a:solidFill>
                <a:cs typeface="+mn-ea"/>
                <a:sym typeface="+mn-lt"/>
              </a:rPr>
              <a:t>fn</a:t>
            </a:r>
            <a:r>
              <a:rPr lang="en-US" altLang="zh-CN" sz="1200" dirty="0">
                <a:solidFill>
                  <a:srgbClr val="ABB2BF"/>
                </a:solidFill>
                <a:cs typeface="+mn-ea"/>
                <a:sym typeface="+mn-lt"/>
              </a:rPr>
              <a:t> </a:t>
            </a:r>
            <a:r>
              <a:rPr lang="en-US" altLang="zh-CN" sz="1200" dirty="0">
                <a:solidFill>
                  <a:srgbClr val="61AFEF"/>
                </a:solidFill>
                <a:cs typeface="+mn-ea"/>
                <a:sym typeface="+mn-lt"/>
              </a:rPr>
              <a:t>main</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err="1">
                <a:solidFill>
                  <a:srgbClr val="C678DD"/>
                </a:solidFill>
                <a:cs typeface="+mn-ea"/>
                <a:sym typeface="+mn-lt"/>
              </a:rPr>
              <a:t>mut</a:t>
            </a:r>
            <a:r>
              <a:rPr lang="en-US" altLang="zh-CN" sz="1200" dirty="0">
                <a:solidFill>
                  <a:srgbClr val="ABB2BF"/>
                </a:solidFill>
                <a:cs typeface="+mn-ea"/>
                <a:sym typeface="+mn-lt"/>
              </a:rPr>
              <a:t> </a:t>
            </a:r>
            <a:r>
              <a:rPr lang="en-US" altLang="zh-CN" sz="1200" u="sng" dirty="0">
                <a:solidFill>
                  <a:srgbClr val="E06C75"/>
                </a:solidFill>
                <a:cs typeface="+mn-ea"/>
                <a:sym typeface="+mn-lt"/>
              </a:rPr>
              <a:t>point</a:t>
            </a:r>
            <a:r>
              <a:rPr lang="en-US" altLang="zh-CN" sz="1200" dirty="0">
                <a:solidFill>
                  <a:srgbClr val="ABB2BF"/>
                </a:solidFill>
                <a:cs typeface="+mn-ea"/>
                <a:sym typeface="+mn-lt"/>
              </a:rPr>
              <a:t> = </a:t>
            </a:r>
            <a:r>
              <a:rPr lang="en-US" altLang="zh-CN" sz="1200" dirty="0">
                <a:solidFill>
                  <a:srgbClr val="E5C07B"/>
                </a:solidFill>
                <a:cs typeface="+mn-ea"/>
                <a:sym typeface="+mn-lt"/>
              </a:rPr>
              <a:t>Point</a:t>
            </a:r>
            <a:r>
              <a:rPr lang="en-US" altLang="zh-CN" sz="1200" dirty="0">
                <a:solidFill>
                  <a:srgbClr val="ABB2BF"/>
                </a:solidFill>
                <a:cs typeface="+mn-ea"/>
                <a:sym typeface="+mn-lt"/>
              </a:rPr>
              <a:t> { </a:t>
            </a:r>
            <a:r>
              <a:rPr lang="en-US" altLang="zh-CN" sz="1200" dirty="0">
                <a:solidFill>
                  <a:srgbClr val="E06C75"/>
                </a:solidFill>
                <a:cs typeface="+mn-ea"/>
                <a:sym typeface="+mn-lt"/>
              </a:rPr>
              <a:t>x</a:t>
            </a:r>
            <a:r>
              <a:rPr lang="en-US" altLang="zh-CN" sz="1200" dirty="0">
                <a:solidFill>
                  <a:srgbClr val="ABB2BF"/>
                </a:solidFill>
                <a:cs typeface="+mn-ea"/>
                <a:sym typeface="+mn-lt"/>
              </a:rPr>
              <a:t>: </a:t>
            </a:r>
            <a:r>
              <a:rPr lang="en-US" altLang="zh-CN" sz="1200" dirty="0">
                <a:solidFill>
                  <a:srgbClr val="D19A66"/>
                </a:solidFill>
                <a:cs typeface="+mn-ea"/>
                <a:sym typeface="+mn-lt"/>
              </a:rPr>
              <a:t>0</a:t>
            </a:r>
            <a:r>
              <a:rPr lang="en-US" altLang="zh-CN" sz="1200" dirty="0">
                <a:solidFill>
                  <a:srgbClr val="ABB2BF"/>
                </a:solidFill>
                <a:cs typeface="+mn-ea"/>
                <a:sym typeface="+mn-lt"/>
              </a:rPr>
              <a:t>, </a:t>
            </a:r>
            <a:r>
              <a:rPr lang="en-US" altLang="zh-CN" sz="1200" dirty="0">
                <a:solidFill>
                  <a:srgbClr val="E06C75"/>
                </a:solidFill>
                <a:cs typeface="+mn-ea"/>
                <a:sym typeface="+mn-lt"/>
              </a:rPr>
              <a:t>y</a:t>
            </a:r>
            <a:r>
              <a:rPr lang="en-US" altLang="zh-CN" sz="1200" dirty="0">
                <a:solidFill>
                  <a:srgbClr val="ABB2BF"/>
                </a:solidFill>
                <a:cs typeface="+mn-ea"/>
                <a:sym typeface="+mn-lt"/>
              </a:rPr>
              <a:t>: </a:t>
            </a:r>
            <a:r>
              <a:rPr lang="en-US" altLang="zh-CN" sz="1200" dirty="0">
                <a:solidFill>
                  <a:srgbClr val="D19A66"/>
                </a:solidFill>
                <a:cs typeface="+mn-ea"/>
                <a:sym typeface="+mn-lt"/>
              </a:rPr>
              <a:t>0</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err="1">
                <a:solidFill>
                  <a:srgbClr val="E06C75"/>
                </a:solidFill>
                <a:cs typeface="+mn-ea"/>
                <a:sym typeface="+mn-lt"/>
              </a:rPr>
              <a:t>point_x</a:t>
            </a:r>
            <a:r>
              <a:rPr lang="en-US" altLang="zh-CN" sz="1200" dirty="0">
                <a:solidFill>
                  <a:srgbClr val="ABB2BF"/>
                </a:solidFill>
                <a:cs typeface="+mn-ea"/>
                <a:sym typeface="+mn-lt"/>
              </a:rPr>
              <a:t> = &amp;</a:t>
            </a:r>
            <a:r>
              <a:rPr lang="en-US" altLang="zh-CN" sz="1200" u="sng" dirty="0" err="1">
                <a:solidFill>
                  <a:srgbClr val="E06C75"/>
                </a:solidFill>
                <a:cs typeface="+mn-ea"/>
                <a:sym typeface="+mn-lt"/>
              </a:rPr>
              <a:t>point</a:t>
            </a:r>
            <a:r>
              <a:rPr lang="en-US" altLang="zh-CN" sz="1200" dirty="0" err="1">
                <a:solidFill>
                  <a:srgbClr val="ABB2BF"/>
                </a:solidFill>
                <a:cs typeface="+mn-ea"/>
                <a:sym typeface="+mn-lt"/>
              </a:rPr>
              <a:t>.</a:t>
            </a:r>
            <a:r>
              <a:rPr lang="en-US" altLang="zh-CN" sz="1200" dirty="0" err="1">
                <a:solidFill>
                  <a:srgbClr val="E06C75"/>
                </a:solidFill>
                <a:cs typeface="+mn-ea"/>
                <a:sym typeface="+mn-lt"/>
              </a:rPr>
              <a:t>x</a:t>
            </a:r>
            <a:r>
              <a:rPr lang="en-US" altLang="zh-CN" sz="1200" dirty="0">
                <a:solidFill>
                  <a:srgbClr val="ABB2BF"/>
                </a:solidFill>
                <a:cs typeface="+mn-ea"/>
                <a:sym typeface="+mn-lt"/>
              </a:rPr>
              <a:t>;</a:t>
            </a:r>
            <a:r>
              <a:rPr lang="en-US" altLang="zh-CN" sz="1200" i="1" dirty="0">
                <a:solidFill>
                  <a:srgbClr val="7F848E"/>
                </a:solidFill>
                <a:cs typeface="+mn-ea"/>
                <a:sym typeface="+mn-lt"/>
              </a:rPr>
              <a:t>  // </a:t>
            </a:r>
            <a:r>
              <a:rPr lang="zh-CN" altLang="en-US" sz="1200" i="1" dirty="0">
                <a:solidFill>
                  <a:srgbClr val="7F848E"/>
                </a:solidFill>
                <a:cs typeface="+mn-ea"/>
                <a:sym typeface="+mn-lt"/>
              </a:rPr>
              <a:t>借用 </a:t>
            </a:r>
            <a:r>
              <a:rPr lang="en-US" altLang="zh-CN" sz="1200" i="1" dirty="0">
                <a:solidFill>
                  <a:srgbClr val="7F848E"/>
                </a:solidFill>
                <a:cs typeface="+mn-ea"/>
                <a:sym typeface="+mn-lt"/>
              </a:rPr>
              <a:t>x </a:t>
            </a:r>
            <a:r>
              <a:rPr lang="zh-CN" altLang="en-US" sz="1200" i="1" dirty="0">
                <a:solidFill>
                  <a:srgbClr val="7F848E"/>
                </a:solidFill>
                <a:cs typeface="+mn-ea"/>
                <a:sym typeface="+mn-lt"/>
              </a:rPr>
              <a:t>字段</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u="sng" dirty="0" err="1">
                <a:solidFill>
                  <a:srgbClr val="E06C75"/>
                </a:solidFill>
                <a:cs typeface="+mn-ea"/>
                <a:sym typeface="+mn-lt"/>
              </a:rPr>
              <a:t>point_y</a:t>
            </a:r>
            <a:r>
              <a:rPr lang="en-US" altLang="zh-CN" sz="1200" dirty="0">
                <a:solidFill>
                  <a:srgbClr val="ABB2BF"/>
                </a:solidFill>
                <a:cs typeface="+mn-ea"/>
                <a:sym typeface="+mn-lt"/>
              </a:rPr>
              <a:t> = &amp;</a:t>
            </a:r>
            <a:r>
              <a:rPr lang="en-US" altLang="zh-CN" sz="1200" dirty="0" err="1">
                <a:solidFill>
                  <a:srgbClr val="C678DD"/>
                </a:solidFill>
                <a:cs typeface="+mn-ea"/>
                <a:sym typeface="+mn-lt"/>
              </a:rPr>
              <a:t>mut</a:t>
            </a:r>
            <a:r>
              <a:rPr lang="en-US" altLang="zh-CN" sz="1200" dirty="0">
                <a:solidFill>
                  <a:srgbClr val="ABB2BF"/>
                </a:solidFill>
                <a:cs typeface="+mn-ea"/>
                <a:sym typeface="+mn-lt"/>
              </a:rPr>
              <a:t> </a:t>
            </a:r>
            <a:r>
              <a:rPr lang="en-US" altLang="zh-CN" sz="1200" u="sng" dirty="0" err="1">
                <a:solidFill>
                  <a:srgbClr val="E06C75"/>
                </a:solidFill>
                <a:cs typeface="+mn-ea"/>
                <a:sym typeface="+mn-lt"/>
              </a:rPr>
              <a:t>point</a:t>
            </a:r>
            <a:r>
              <a:rPr lang="en-US" altLang="zh-CN" sz="1200" dirty="0" err="1">
                <a:solidFill>
                  <a:srgbClr val="ABB2BF"/>
                </a:solidFill>
                <a:cs typeface="+mn-ea"/>
                <a:sym typeface="+mn-lt"/>
              </a:rPr>
              <a:t>.</a:t>
            </a:r>
            <a:r>
              <a:rPr lang="en-US" altLang="zh-CN" sz="1200" dirty="0" err="1">
                <a:solidFill>
                  <a:srgbClr val="E06C75"/>
                </a:solidFill>
                <a:cs typeface="+mn-ea"/>
                <a:sym typeface="+mn-lt"/>
              </a:rPr>
              <a:t>y</a:t>
            </a:r>
            <a:r>
              <a:rPr lang="en-US" altLang="zh-CN" sz="1200" dirty="0">
                <a:solidFill>
                  <a:srgbClr val="ABB2BF"/>
                </a:solidFill>
                <a:cs typeface="+mn-ea"/>
                <a:sym typeface="+mn-lt"/>
              </a:rPr>
              <a:t>;</a:t>
            </a:r>
            <a:r>
              <a:rPr lang="en-US" altLang="zh-CN" sz="1200" i="1" dirty="0">
                <a:solidFill>
                  <a:srgbClr val="7F848E"/>
                </a:solidFill>
                <a:cs typeface="+mn-ea"/>
                <a:sym typeface="+mn-lt"/>
              </a:rPr>
              <a:t> // </a:t>
            </a:r>
            <a:r>
              <a:rPr lang="zh-CN" altLang="en-US" sz="1200" i="1" dirty="0">
                <a:solidFill>
                  <a:srgbClr val="7F848E"/>
                </a:solidFill>
                <a:cs typeface="+mn-ea"/>
                <a:sym typeface="+mn-lt"/>
              </a:rPr>
              <a:t>可变借用 </a:t>
            </a:r>
            <a:r>
              <a:rPr lang="en-US" altLang="zh-CN" sz="1200" i="1" dirty="0">
                <a:solidFill>
                  <a:srgbClr val="7F848E"/>
                </a:solidFill>
                <a:cs typeface="+mn-ea"/>
                <a:sym typeface="+mn-lt"/>
              </a:rPr>
              <a:t>y </a:t>
            </a:r>
            <a:r>
              <a:rPr lang="zh-CN" altLang="en-US" sz="1200" i="1" dirty="0">
                <a:solidFill>
                  <a:srgbClr val="7F848E"/>
                </a:solidFill>
                <a:cs typeface="+mn-ea"/>
                <a:sym typeface="+mn-lt"/>
              </a:rPr>
              <a:t>字段</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u="sng" dirty="0" err="1">
                <a:solidFill>
                  <a:srgbClr val="E06C75"/>
                </a:solidFill>
                <a:cs typeface="+mn-ea"/>
                <a:sym typeface="+mn-lt"/>
              </a:rPr>
              <a:t>point_y</a:t>
            </a:r>
            <a:r>
              <a:rPr lang="en-US" altLang="zh-CN" sz="1200" dirty="0">
                <a:solidFill>
                  <a:srgbClr val="ABB2BF"/>
                </a:solidFill>
                <a:cs typeface="+mn-ea"/>
                <a:sym typeface="+mn-lt"/>
              </a:rPr>
              <a:t> = </a:t>
            </a:r>
            <a:r>
              <a:rPr lang="en-US" altLang="zh-CN" sz="1200" dirty="0">
                <a:solidFill>
                  <a:srgbClr val="D19A66"/>
                </a:solidFill>
                <a:cs typeface="+mn-ea"/>
                <a:sym typeface="+mn-lt"/>
              </a:rPr>
              <a:t>1</a:t>
            </a:r>
            <a:r>
              <a:rPr lang="en-US" altLang="zh-CN" sz="1200" dirty="0">
                <a:solidFill>
                  <a:srgbClr val="ABB2BF"/>
                </a:solidFill>
                <a:cs typeface="+mn-ea"/>
                <a:sym typeface="+mn-lt"/>
              </a:rPr>
              <a:t>;</a:t>
            </a:r>
            <a:r>
              <a:rPr lang="en-US" altLang="zh-CN" sz="1200" i="1" dirty="0">
                <a:solidFill>
                  <a:srgbClr val="7F848E"/>
                </a:solidFill>
                <a:cs typeface="+mn-ea"/>
                <a:sym typeface="+mn-lt"/>
              </a:rPr>
              <a:t> // </a:t>
            </a:r>
            <a:r>
              <a:rPr lang="zh-CN" altLang="en-US" sz="1200" i="1" dirty="0">
                <a:solidFill>
                  <a:srgbClr val="7F848E"/>
                </a:solidFill>
                <a:cs typeface="+mn-ea"/>
                <a:sym typeface="+mn-lt"/>
              </a:rPr>
              <a:t>修改 </a:t>
            </a:r>
            <a:r>
              <a:rPr lang="en-US" altLang="zh-CN" sz="1200" i="1" dirty="0">
                <a:solidFill>
                  <a:srgbClr val="7F848E"/>
                </a:solidFill>
                <a:cs typeface="+mn-ea"/>
                <a:sym typeface="+mn-lt"/>
              </a:rPr>
              <a:t>y </a:t>
            </a:r>
            <a:r>
              <a:rPr lang="zh-CN" altLang="en-US" sz="1200" i="1" dirty="0">
                <a:solidFill>
                  <a:srgbClr val="7F848E"/>
                </a:solidFill>
                <a:cs typeface="+mn-ea"/>
                <a:sym typeface="+mn-lt"/>
              </a:rPr>
              <a:t>字段</a:t>
            </a:r>
            <a:endParaRPr lang="zh-CN" altLang="en-US" sz="1200" dirty="0">
              <a:solidFill>
                <a:srgbClr val="ABB2BF"/>
              </a:solidFill>
              <a:cs typeface="+mn-ea"/>
              <a:sym typeface="+mn-lt"/>
            </a:endParaRPr>
          </a:p>
          <a:p>
            <a:r>
              <a:rPr lang="zh-CN" altLang="en-US" sz="1200" i="1" dirty="0">
                <a:solidFill>
                  <a:srgbClr val="7F848E"/>
                </a:solidFill>
                <a:cs typeface="+mn-ea"/>
                <a:sym typeface="+mn-lt"/>
              </a:rPr>
              <a:t>     </a:t>
            </a:r>
            <a:r>
              <a:rPr lang="en-US" altLang="zh-CN" sz="1200" i="1" dirty="0">
                <a:solidFill>
                  <a:srgbClr val="7F848E"/>
                </a:solidFill>
                <a:cs typeface="+mn-ea"/>
                <a:sym typeface="+mn-lt"/>
              </a:rPr>
              <a:t>// </a:t>
            </a:r>
            <a:r>
              <a:rPr lang="zh-CN" altLang="en-US" sz="1200" i="1" dirty="0">
                <a:solidFill>
                  <a:srgbClr val="7F848E"/>
                </a:solidFill>
                <a:cs typeface="+mn-ea"/>
                <a:sym typeface="+mn-lt"/>
              </a:rPr>
              <a:t>输出：</a:t>
            </a:r>
            <a:r>
              <a:rPr lang="en-US" altLang="zh-CN" sz="1200" i="1" dirty="0" err="1">
                <a:solidFill>
                  <a:srgbClr val="7F848E"/>
                </a:solidFill>
                <a:cs typeface="+mn-ea"/>
                <a:sym typeface="+mn-lt"/>
              </a:rPr>
              <a:t>point_x</a:t>
            </a:r>
            <a:r>
              <a:rPr lang="en-US" altLang="zh-CN" sz="1200" i="1" dirty="0">
                <a:solidFill>
                  <a:srgbClr val="7F848E"/>
                </a:solidFill>
                <a:cs typeface="+mn-ea"/>
                <a:sym typeface="+mn-lt"/>
              </a:rPr>
              <a:t>: 0, </a:t>
            </a:r>
            <a:r>
              <a:rPr lang="en-US" altLang="zh-CN" sz="1200" i="1" dirty="0" err="1">
                <a:solidFill>
                  <a:srgbClr val="7F848E"/>
                </a:solidFill>
                <a:cs typeface="+mn-ea"/>
                <a:sym typeface="+mn-lt"/>
              </a:rPr>
              <a:t>point_y</a:t>
            </a:r>
            <a:r>
              <a:rPr lang="en-US" altLang="zh-CN" sz="1200" i="1" dirty="0">
                <a:solidFill>
                  <a:srgbClr val="7F848E"/>
                </a:solidFill>
                <a:cs typeface="+mn-ea"/>
                <a:sym typeface="+mn-lt"/>
              </a:rPr>
              <a:t>: 1</a:t>
            </a:r>
            <a:endParaRPr lang="en-US" altLang="zh-CN" sz="1200" dirty="0">
              <a:solidFill>
                <a:srgbClr val="ABB2BF"/>
              </a:solidFill>
              <a:cs typeface="+mn-ea"/>
              <a:sym typeface="+mn-lt"/>
            </a:endParaRPr>
          </a:p>
          <a:p>
            <a:r>
              <a:rPr lang="en-US" altLang="zh-CN" sz="1200" dirty="0">
                <a:solidFill>
                  <a:srgbClr val="ABB2BF"/>
                </a:solidFill>
                <a:cs typeface="+mn-ea"/>
                <a:sym typeface="+mn-lt"/>
              </a:rPr>
              <a:t>    </a:t>
            </a:r>
            <a:r>
              <a:rPr lang="en-US" altLang="zh-CN" sz="1200" dirty="0">
                <a:solidFill>
                  <a:srgbClr val="D19A66"/>
                </a:solidFill>
                <a:cs typeface="+mn-ea"/>
                <a:sym typeface="+mn-lt"/>
              </a:rPr>
              <a:t>println!</a:t>
            </a:r>
            <a:r>
              <a:rPr lang="en-US" altLang="zh-CN" sz="1200" dirty="0">
                <a:solidFill>
                  <a:srgbClr val="ABB2BF"/>
                </a:solidFill>
                <a:cs typeface="+mn-ea"/>
                <a:sym typeface="+mn-lt"/>
              </a:rPr>
              <a:t>(</a:t>
            </a:r>
            <a:r>
              <a:rPr lang="en-US" altLang="zh-CN" sz="1200" dirty="0">
                <a:solidFill>
                  <a:srgbClr val="98C379"/>
                </a:solidFill>
                <a:cs typeface="+mn-ea"/>
                <a:sym typeface="+mn-lt"/>
              </a:rPr>
              <a:t>"</a:t>
            </a:r>
            <a:r>
              <a:rPr lang="en-US" altLang="zh-CN" sz="1200" dirty="0" err="1">
                <a:solidFill>
                  <a:srgbClr val="98C379"/>
                </a:solidFill>
                <a:cs typeface="+mn-ea"/>
                <a:sym typeface="+mn-lt"/>
              </a:rPr>
              <a:t>point_x</a:t>
            </a:r>
            <a:r>
              <a:rPr lang="en-US" altLang="zh-CN" sz="1200" dirty="0">
                <a:solidFill>
                  <a:srgbClr val="98C379"/>
                </a:solidFill>
                <a:cs typeface="+mn-ea"/>
                <a:sym typeface="+mn-lt"/>
              </a:rPr>
              <a:t>: </a:t>
            </a:r>
            <a:r>
              <a:rPr lang="en-US" altLang="zh-CN" sz="1200" dirty="0">
                <a:solidFill>
                  <a:srgbClr val="C678DD"/>
                </a:solidFill>
                <a:cs typeface="+mn-ea"/>
                <a:sym typeface="+mn-lt"/>
              </a:rPr>
              <a:t>{}</a:t>
            </a:r>
            <a:r>
              <a:rPr lang="en-US" altLang="zh-CN" sz="1200" dirty="0">
                <a:solidFill>
                  <a:srgbClr val="98C379"/>
                </a:solidFill>
                <a:cs typeface="+mn-ea"/>
                <a:sym typeface="+mn-lt"/>
              </a:rPr>
              <a:t>, </a:t>
            </a:r>
            <a:r>
              <a:rPr lang="en-US" altLang="zh-CN" sz="1200" dirty="0" err="1">
                <a:solidFill>
                  <a:srgbClr val="98C379"/>
                </a:solidFill>
                <a:cs typeface="+mn-ea"/>
                <a:sym typeface="+mn-lt"/>
              </a:rPr>
              <a:t>point_y</a:t>
            </a:r>
            <a:r>
              <a:rPr lang="en-US" altLang="zh-CN" sz="1200" dirty="0">
                <a:solidFill>
                  <a:srgbClr val="98C379"/>
                </a:solidFill>
                <a:cs typeface="+mn-ea"/>
                <a:sym typeface="+mn-lt"/>
              </a:rPr>
              <a:t>: </a:t>
            </a:r>
            <a:r>
              <a:rPr lang="en-US" altLang="zh-CN" sz="1200" dirty="0">
                <a:solidFill>
                  <a:srgbClr val="C678DD"/>
                </a:solidFill>
                <a:cs typeface="+mn-ea"/>
                <a:sym typeface="+mn-lt"/>
              </a:rPr>
              <a:t>{}</a:t>
            </a:r>
            <a:r>
              <a:rPr lang="en-US" altLang="zh-CN" sz="1200" dirty="0">
                <a:solidFill>
                  <a:srgbClr val="98C379"/>
                </a:solidFill>
                <a:cs typeface="+mn-ea"/>
                <a:sym typeface="+mn-lt"/>
              </a:rPr>
              <a:t>"</a:t>
            </a:r>
            <a:r>
              <a:rPr lang="en-US" altLang="zh-CN" sz="1200" dirty="0">
                <a:solidFill>
                  <a:srgbClr val="ABB2BF"/>
                </a:solidFill>
                <a:cs typeface="+mn-ea"/>
                <a:sym typeface="+mn-lt"/>
              </a:rPr>
              <a:t>, </a:t>
            </a:r>
            <a:r>
              <a:rPr lang="en-US" altLang="zh-CN" sz="1200" dirty="0" err="1">
                <a:solidFill>
                  <a:srgbClr val="E06C75"/>
                </a:solidFill>
                <a:cs typeface="+mn-ea"/>
                <a:sym typeface="+mn-lt"/>
              </a:rPr>
              <a:t>point_x</a:t>
            </a:r>
            <a:r>
              <a:rPr lang="en-US" altLang="zh-CN" sz="1200" dirty="0">
                <a:solidFill>
                  <a:srgbClr val="ABB2BF"/>
                </a:solidFill>
                <a:cs typeface="+mn-ea"/>
                <a:sym typeface="+mn-lt"/>
              </a:rPr>
              <a:t>, </a:t>
            </a:r>
            <a:r>
              <a:rPr lang="en-US" altLang="zh-CN" sz="1200" u="sng" dirty="0" err="1">
                <a:solidFill>
                  <a:srgbClr val="E06C75"/>
                </a:solidFill>
                <a:cs typeface="+mn-ea"/>
                <a:sym typeface="+mn-lt"/>
              </a:rPr>
              <a:t>point_y</a:t>
            </a:r>
            <a:r>
              <a:rPr lang="en-US" altLang="zh-CN" sz="1200" dirty="0">
                <a:solidFill>
                  <a:srgbClr val="ABB2BF"/>
                </a:solidFill>
                <a:cs typeface="+mn-ea"/>
                <a:sym typeface="+mn-lt"/>
              </a:rPr>
              <a:t>);</a:t>
            </a:r>
          </a:p>
          <a:p>
            <a:r>
              <a:rPr lang="en-US" altLang="zh-CN" sz="1200" dirty="0">
                <a:solidFill>
                  <a:srgbClr val="ABB2BF"/>
                </a:solidFill>
                <a:cs typeface="+mn-ea"/>
                <a:sym typeface="+mn-lt"/>
              </a:rPr>
              <a:t>}</a:t>
            </a:r>
            <a:endParaRPr lang="en-US" altLang="zh-CN" sz="1200" b="0" dirty="0">
              <a:solidFill>
                <a:srgbClr val="ABB2BF"/>
              </a:solidFill>
              <a:effectLst/>
              <a:cs typeface="+mn-ea"/>
              <a:sym typeface="+mn-lt"/>
            </a:endParaRPr>
          </a:p>
        </p:txBody>
      </p:sp>
      <p:sp>
        <p:nvSpPr>
          <p:cNvPr id="3" name="文本框 2"/>
          <p:cNvSpPr txBox="1"/>
          <p:nvPr/>
        </p:nvSpPr>
        <p:spPr>
          <a:xfrm>
            <a:off x="5751055" y="1284077"/>
            <a:ext cx="5242897" cy="3679809"/>
          </a:xfrm>
          <a:prstGeom prst="rect">
            <a:avLst/>
          </a:prstGeom>
          <a:solidFill>
            <a:schemeClr val="tx1"/>
          </a:solidFill>
        </p:spPr>
        <p:txBody>
          <a:bodyPr vert="horz" wrap="square" rtlCol="0">
            <a:noAutofit/>
          </a:bodyPr>
          <a:lstStyle/>
          <a:p>
            <a:r>
              <a:rPr lang="en-US" altLang="zh-CN" sz="1200" dirty="0">
                <a:solidFill>
                  <a:schemeClr val="bg2"/>
                </a:solidFill>
                <a:cs typeface="+mn-ea"/>
                <a:sym typeface="+mn-lt"/>
              </a:rPr>
              <a:t>// </a:t>
            </a:r>
            <a:r>
              <a:rPr lang="zh-CN" altLang="en-US" sz="1200" b="1" dirty="0">
                <a:solidFill>
                  <a:srgbClr val="00B050"/>
                </a:solidFill>
                <a:cs typeface="+mn-ea"/>
                <a:sym typeface="+mn-lt"/>
              </a:rPr>
              <a:t>代码示例</a:t>
            </a:r>
            <a:endParaRPr lang="en-US" altLang="zh-CN" sz="1200" b="1" dirty="0">
              <a:solidFill>
                <a:srgbClr val="00B050"/>
              </a:solidFill>
              <a:cs typeface="+mn-ea"/>
              <a:sym typeface="+mn-lt"/>
            </a:endParaRPr>
          </a:p>
          <a:p>
            <a:r>
              <a:rPr lang="en-US" altLang="zh-CN" sz="1200" dirty="0">
                <a:solidFill>
                  <a:srgbClr val="C678DD"/>
                </a:solidFill>
                <a:cs typeface="+mn-ea"/>
                <a:sym typeface="+mn-lt"/>
              </a:rPr>
              <a:t>struct</a:t>
            </a:r>
            <a:r>
              <a:rPr lang="en-US" altLang="zh-CN" sz="1200" dirty="0">
                <a:solidFill>
                  <a:srgbClr val="ABB2BF"/>
                </a:solidFill>
                <a:cs typeface="+mn-ea"/>
                <a:sym typeface="+mn-lt"/>
              </a:rPr>
              <a:t> </a:t>
            </a:r>
            <a:r>
              <a:rPr lang="en-US" altLang="zh-CN" sz="1200" dirty="0">
                <a:solidFill>
                  <a:srgbClr val="E5C07B"/>
                </a:solidFill>
                <a:cs typeface="+mn-ea"/>
                <a:sym typeface="+mn-lt"/>
              </a:rPr>
              <a:t>Point</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E06C75"/>
                </a:solidFill>
                <a:cs typeface="+mn-ea"/>
                <a:sym typeface="+mn-lt"/>
              </a:rPr>
              <a:t>x</a:t>
            </a:r>
            <a:r>
              <a:rPr lang="en-US" altLang="zh-CN" sz="1200" dirty="0">
                <a:solidFill>
                  <a:srgbClr val="ABB2BF"/>
                </a:solidFill>
                <a:cs typeface="+mn-ea"/>
                <a:sym typeface="+mn-lt"/>
              </a:rPr>
              <a:t>: </a:t>
            </a:r>
            <a:r>
              <a:rPr lang="en-US" altLang="zh-CN" sz="1200" dirty="0">
                <a:solidFill>
                  <a:srgbClr val="E5C07B"/>
                </a:solidFill>
                <a:cs typeface="+mn-ea"/>
                <a:sym typeface="+mn-lt"/>
              </a:rPr>
              <a:t>i32</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E06C75"/>
                </a:solidFill>
                <a:cs typeface="+mn-ea"/>
                <a:sym typeface="+mn-lt"/>
              </a:rPr>
              <a:t>y</a:t>
            </a:r>
            <a:r>
              <a:rPr lang="en-US" altLang="zh-CN" sz="1200" dirty="0">
                <a:solidFill>
                  <a:srgbClr val="ABB2BF"/>
                </a:solidFill>
                <a:cs typeface="+mn-ea"/>
                <a:sym typeface="+mn-lt"/>
              </a:rPr>
              <a:t>: </a:t>
            </a:r>
            <a:r>
              <a:rPr lang="en-US" altLang="zh-CN" sz="1200" dirty="0">
                <a:solidFill>
                  <a:srgbClr val="E5C07B"/>
                </a:solidFill>
                <a:cs typeface="+mn-ea"/>
                <a:sym typeface="+mn-lt"/>
              </a:rPr>
              <a:t>i32</a:t>
            </a:r>
            <a:r>
              <a:rPr lang="en-US" altLang="zh-CN" sz="1200" dirty="0">
                <a:solidFill>
                  <a:srgbClr val="ABB2BF"/>
                </a:solidFill>
                <a:cs typeface="+mn-ea"/>
                <a:sym typeface="+mn-lt"/>
              </a:rPr>
              <a:t>,</a:t>
            </a:r>
          </a:p>
          <a:p>
            <a:r>
              <a:rPr lang="en-US" altLang="zh-CN" sz="1200" dirty="0">
                <a:solidFill>
                  <a:srgbClr val="ABB2BF"/>
                </a:solidFill>
                <a:cs typeface="+mn-ea"/>
                <a:sym typeface="+mn-lt"/>
              </a:rPr>
              <a:t>}</a:t>
            </a:r>
          </a:p>
          <a:p>
            <a:br>
              <a:rPr lang="en-US" altLang="zh-CN" sz="1200" dirty="0">
                <a:solidFill>
                  <a:srgbClr val="ABB2BF"/>
                </a:solidFill>
                <a:cs typeface="+mn-ea"/>
                <a:sym typeface="+mn-lt"/>
              </a:rPr>
            </a:br>
            <a:r>
              <a:rPr lang="en-US" altLang="zh-CN" sz="1200" dirty="0">
                <a:solidFill>
                  <a:srgbClr val="C678DD"/>
                </a:solidFill>
                <a:cs typeface="+mn-ea"/>
                <a:sym typeface="+mn-lt"/>
              </a:rPr>
              <a:t>struct</a:t>
            </a:r>
            <a:r>
              <a:rPr lang="en-US" altLang="zh-CN" sz="1200" dirty="0">
                <a:solidFill>
                  <a:srgbClr val="ABB2BF"/>
                </a:solidFill>
                <a:cs typeface="+mn-ea"/>
                <a:sym typeface="+mn-lt"/>
              </a:rPr>
              <a:t> </a:t>
            </a:r>
            <a:r>
              <a:rPr lang="en-US" altLang="zh-CN" sz="1200" dirty="0">
                <a:solidFill>
                  <a:srgbClr val="E5C07B"/>
                </a:solidFill>
                <a:cs typeface="+mn-ea"/>
                <a:sym typeface="+mn-lt"/>
              </a:rPr>
              <a:t>Line</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E06C75"/>
                </a:solidFill>
                <a:cs typeface="+mn-ea"/>
                <a:sym typeface="+mn-lt"/>
              </a:rPr>
              <a:t>start</a:t>
            </a:r>
            <a:r>
              <a:rPr lang="en-US" altLang="zh-CN" sz="1200" dirty="0">
                <a:solidFill>
                  <a:srgbClr val="ABB2BF"/>
                </a:solidFill>
                <a:cs typeface="+mn-ea"/>
                <a:sym typeface="+mn-lt"/>
              </a:rPr>
              <a:t>: </a:t>
            </a:r>
            <a:r>
              <a:rPr lang="en-US" altLang="zh-CN" sz="1200" dirty="0">
                <a:solidFill>
                  <a:srgbClr val="E5C07B"/>
                </a:solidFill>
                <a:cs typeface="+mn-ea"/>
                <a:sym typeface="+mn-lt"/>
              </a:rPr>
              <a:t>Point</a:t>
            </a:r>
            <a:r>
              <a:rPr lang="en-US" altLang="zh-CN" sz="1200" dirty="0">
                <a:solidFill>
                  <a:srgbClr val="ABB2BF"/>
                </a:solidFill>
                <a:cs typeface="+mn-ea"/>
                <a:sym typeface="+mn-lt"/>
              </a:rPr>
              <a:t>,</a:t>
            </a:r>
          </a:p>
          <a:p>
            <a:r>
              <a:rPr lang="en-US" altLang="zh-CN" sz="1200" dirty="0">
                <a:solidFill>
                  <a:srgbClr val="ABB2BF"/>
                </a:solidFill>
                <a:cs typeface="+mn-ea"/>
                <a:sym typeface="+mn-lt"/>
              </a:rPr>
              <a:t>    </a:t>
            </a:r>
            <a:r>
              <a:rPr lang="en-US" altLang="zh-CN" sz="1200" dirty="0">
                <a:solidFill>
                  <a:srgbClr val="E06C75"/>
                </a:solidFill>
                <a:cs typeface="+mn-ea"/>
                <a:sym typeface="+mn-lt"/>
              </a:rPr>
              <a:t>end</a:t>
            </a:r>
            <a:r>
              <a:rPr lang="en-US" altLang="zh-CN" sz="1200" dirty="0">
                <a:solidFill>
                  <a:srgbClr val="ABB2BF"/>
                </a:solidFill>
                <a:cs typeface="+mn-ea"/>
                <a:sym typeface="+mn-lt"/>
              </a:rPr>
              <a:t>: </a:t>
            </a:r>
            <a:r>
              <a:rPr lang="en-US" altLang="zh-CN" sz="1200" dirty="0">
                <a:solidFill>
                  <a:srgbClr val="E5C07B"/>
                </a:solidFill>
                <a:cs typeface="+mn-ea"/>
                <a:sym typeface="+mn-lt"/>
              </a:rPr>
              <a:t>Point</a:t>
            </a:r>
            <a:r>
              <a:rPr lang="en-US" altLang="zh-CN" sz="1200" dirty="0">
                <a:solidFill>
                  <a:srgbClr val="ABB2BF"/>
                </a:solidFill>
                <a:cs typeface="+mn-ea"/>
                <a:sym typeface="+mn-lt"/>
              </a:rPr>
              <a:t>,</a:t>
            </a:r>
          </a:p>
          <a:p>
            <a:r>
              <a:rPr lang="en-US" altLang="zh-CN" sz="1200" dirty="0">
                <a:solidFill>
                  <a:srgbClr val="ABB2BF"/>
                </a:solidFill>
                <a:cs typeface="+mn-ea"/>
                <a:sym typeface="+mn-lt"/>
              </a:rPr>
              <a:t>}</a:t>
            </a:r>
          </a:p>
          <a:p>
            <a:br>
              <a:rPr lang="en-US" altLang="zh-CN" sz="1200" dirty="0">
                <a:solidFill>
                  <a:srgbClr val="ABB2BF"/>
                </a:solidFill>
                <a:cs typeface="+mn-ea"/>
                <a:sym typeface="+mn-lt"/>
              </a:rPr>
            </a:br>
            <a:r>
              <a:rPr lang="en-US" altLang="zh-CN" sz="1200" dirty="0">
                <a:solidFill>
                  <a:srgbClr val="C678DD"/>
                </a:solidFill>
                <a:cs typeface="+mn-ea"/>
                <a:sym typeface="+mn-lt"/>
              </a:rPr>
              <a:t>fn</a:t>
            </a:r>
            <a:r>
              <a:rPr lang="en-US" altLang="zh-CN" sz="1200" dirty="0">
                <a:solidFill>
                  <a:srgbClr val="ABB2BF"/>
                </a:solidFill>
                <a:cs typeface="+mn-ea"/>
                <a:sym typeface="+mn-lt"/>
              </a:rPr>
              <a:t> </a:t>
            </a:r>
            <a:r>
              <a:rPr lang="en-US" altLang="zh-CN" sz="1200" dirty="0">
                <a:solidFill>
                  <a:srgbClr val="61AFEF"/>
                </a:solidFill>
                <a:cs typeface="+mn-ea"/>
                <a:sym typeface="+mn-lt"/>
              </a:rPr>
              <a:t>main</a:t>
            </a:r>
            <a:r>
              <a:rPr lang="en-US" altLang="zh-CN" sz="1200" dirty="0">
                <a:solidFill>
                  <a:srgbClr val="ABB2BF"/>
                </a:solidFill>
                <a:cs typeface="+mn-ea"/>
                <a:sym typeface="+mn-lt"/>
              </a:rPr>
              <a:t>() {</a:t>
            </a:r>
          </a:p>
          <a:p>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err="1">
                <a:solidFill>
                  <a:srgbClr val="C678DD"/>
                </a:solidFill>
                <a:cs typeface="+mn-ea"/>
                <a:sym typeface="+mn-lt"/>
              </a:rPr>
              <a:t>mut</a:t>
            </a:r>
            <a:r>
              <a:rPr lang="en-US" altLang="zh-CN" sz="1200" dirty="0">
                <a:solidFill>
                  <a:srgbClr val="ABB2BF"/>
                </a:solidFill>
                <a:cs typeface="+mn-ea"/>
                <a:sym typeface="+mn-lt"/>
              </a:rPr>
              <a:t> </a:t>
            </a:r>
            <a:r>
              <a:rPr lang="en-US" altLang="zh-CN" sz="1200" u="sng" dirty="0">
                <a:solidFill>
                  <a:srgbClr val="E06C75"/>
                </a:solidFill>
                <a:cs typeface="+mn-ea"/>
                <a:sym typeface="+mn-lt"/>
              </a:rPr>
              <a:t>line</a:t>
            </a:r>
            <a:r>
              <a:rPr lang="en-US" altLang="zh-CN" sz="1200" dirty="0">
                <a:solidFill>
                  <a:srgbClr val="ABB2BF"/>
                </a:solidFill>
                <a:cs typeface="+mn-ea"/>
                <a:sym typeface="+mn-lt"/>
              </a:rPr>
              <a:t> = </a:t>
            </a:r>
            <a:r>
              <a:rPr lang="en-US" altLang="zh-CN" sz="1200" dirty="0">
                <a:solidFill>
                  <a:srgbClr val="E5C07B"/>
                </a:solidFill>
                <a:cs typeface="+mn-ea"/>
                <a:sym typeface="+mn-lt"/>
              </a:rPr>
              <a:t>Line</a:t>
            </a:r>
            <a:r>
              <a:rPr lang="en-US" altLang="zh-CN" sz="1200" dirty="0">
                <a:solidFill>
                  <a:srgbClr val="ABB2BF"/>
                </a:solidFill>
                <a:cs typeface="+mn-ea"/>
                <a:sym typeface="+mn-lt"/>
              </a:rPr>
              <a:t> { </a:t>
            </a:r>
            <a:r>
              <a:rPr lang="en-US" altLang="zh-CN" sz="1200" dirty="0">
                <a:solidFill>
                  <a:srgbClr val="E06C75"/>
                </a:solidFill>
                <a:cs typeface="+mn-ea"/>
                <a:sym typeface="+mn-lt"/>
              </a:rPr>
              <a:t>start</a:t>
            </a:r>
            <a:r>
              <a:rPr lang="en-US" altLang="zh-CN" sz="1200" dirty="0">
                <a:solidFill>
                  <a:srgbClr val="ABB2BF"/>
                </a:solidFill>
                <a:cs typeface="+mn-ea"/>
                <a:sym typeface="+mn-lt"/>
              </a:rPr>
              <a:t>: </a:t>
            </a:r>
            <a:r>
              <a:rPr lang="en-US" altLang="zh-CN" sz="1200" dirty="0">
                <a:solidFill>
                  <a:srgbClr val="E5C07B"/>
                </a:solidFill>
                <a:cs typeface="+mn-ea"/>
                <a:sym typeface="+mn-lt"/>
              </a:rPr>
              <a:t>Point</a:t>
            </a:r>
            <a:r>
              <a:rPr lang="en-US" altLang="zh-CN" sz="1200" dirty="0">
                <a:solidFill>
                  <a:srgbClr val="ABB2BF"/>
                </a:solidFill>
                <a:cs typeface="+mn-ea"/>
                <a:sym typeface="+mn-lt"/>
              </a:rPr>
              <a:t> { </a:t>
            </a:r>
            <a:r>
              <a:rPr lang="en-US" altLang="zh-CN" sz="1200" dirty="0">
                <a:solidFill>
                  <a:srgbClr val="E06C75"/>
                </a:solidFill>
                <a:cs typeface="+mn-ea"/>
                <a:sym typeface="+mn-lt"/>
              </a:rPr>
              <a:t>x</a:t>
            </a:r>
            <a:r>
              <a:rPr lang="en-US" altLang="zh-CN" sz="1200" dirty="0">
                <a:solidFill>
                  <a:srgbClr val="ABB2BF"/>
                </a:solidFill>
                <a:cs typeface="+mn-ea"/>
                <a:sym typeface="+mn-lt"/>
              </a:rPr>
              <a:t>: </a:t>
            </a:r>
            <a:r>
              <a:rPr lang="en-US" altLang="zh-CN" sz="1200" dirty="0">
                <a:solidFill>
                  <a:srgbClr val="D19A66"/>
                </a:solidFill>
                <a:cs typeface="+mn-ea"/>
                <a:sym typeface="+mn-lt"/>
              </a:rPr>
              <a:t>0</a:t>
            </a:r>
            <a:r>
              <a:rPr lang="en-US" altLang="zh-CN" sz="1200" dirty="0">
                <a:solidFill>
                  <a:srgbClr val="ABB2BF"/>
                </a:solidFill>
                <a:cs typeface="+mn-ea"/>
                <a:sym typeface="+mn-lt"/>
              </a:rPr>
              <a:t>, </a:t>
            </a:r>
            <a:r>
              <a:rPr lang="en-US" altLang="zh-CN" sz="1200" dirty="0">
                <a:solidFill>
                  <a:srgbClr val="E06C75"/>
                </a:solidFill>
                <a:cs typeface="+mn-ea"/>
                <a:sym typeface="+mn-lt"/>
              </a:rPr>
              <a:t>y</a:t>
            </a:r>
            <a:r>
              <a:rPr lang="en-US" altLang="zh-CN" sz="1200" dirty="0">
                <a:solidFill>
                  <a:srgbClr val="ABB2BF"/>
                </a:solidFill>
                <a:cs typeface="+mn-ea"/>
                <a:sym typeface="+mn-lt"/>
              </a:rPr>
              <a:t>: </a:t>
            </a:r>
            <a:r>
              <a:rPr lang="en-US" altLang="zh-CN" sz="1200" dirty="0">
                <a:solidFill>
                  <a:srgbClr val="D19A66"/>
                </a:solidFill>
                <a:cs typeface="+mn-ea"/>
                <a:sym typeface="+mn-lt"/>
              </a:rPr>
              <a:t>0</a:t>
            </a:r>
            <a:r>
              <a:rPr lang="en-US" altLang="zh-CN" sz="1200" dirty="0">
                <a:solidFill>
                  <a:srgbClr val="ABB2BF"/>
                </a:solidFill>
                <a:cs typeface="+mn-ea"/>
                <a:sym typeface="+mn-lt"/>
              </a:rPr>
              <a:t> }, </a:t>
            </a:r>
            <a:r>
              <a:rPr lang="en-US" altLang="zh-CN" sz="1200" dirty="0">
                <a:solidFill>
                  <a:srgbClr val="E06C75"/>
                </a:solidFill>
                <a:cs typeface="+mn-ea"/>
                <a:sym typeface="+mn-lt"/>
              </a:rPr>
              <a:t>end</a:t>
            </a:r>
            <a:r>
              <a:rPr lang="en-US" altLang="zh-CN" sz="1200" dirty="0">
                <a:solidFill>
                  <a:srgbClr val="ABB2BF"/>
                </a:solidFill>
                <a:cs typeface="+mn-ea"/>
                <a:sym typeface="+mn-lt"/>
              </a:rPr>
              <a:t>: </a:t>
            </a:r>
            <a:r>
              <a:rPr lang="en-US" altLang="zh-CN" sz="1200" dirty="0">
                <a:solidFill>
                  <a:srgbClr val="E5C07B"/>
                </a:solidFill>
                <a:cs typeface="+mn-ea"/>
                <a:sym typeface="+mn-lt"/>
              </a:rPr>
              <a:t>Point</a:t>
            </a:r>
            <a:r>
              <a:rPr lang="en-US" altLang="zh-CN" sz="1200" dirty="0">
                <a:solidFill>
                  <a:srgbClr val="ABB2BF"/>
                </a:solidFill>
                <a:cs typeface="+mn-ea"/>
                <a:sym typeface="+mn-lt"/>
              </a:rPr>
              <a:t> { </a:t>
            </a:r>
            <a:r>
              <a:rPr lang="en-US" altLang="zh-CN" sz="1200" dirty="0">
                <a:solidFill>
                  <a:srgbClr val="E06C75"/>
                </a:solidFill>
                <a:cs typeface="+mn-ea"/>
                <a:sym typeface="+mn-lt"/>
              </a:rPr>
              <a:t>x</a:t>
            </a:r>
            <a:r>
              <a:rPr lang="en-US" altLang="zh-CN" sz="1200" dirty="0">
                <a:solidFill>
                  <a:srgbClr val="ABB2BF"/>
                </a:solidFill>
                <a:cs typeface="+mn-ea"/>
                <a:sym typeface="+mn-lt"/>
              </a:rPr>
              <a:t>: </a:t>
            </a:r>
            <a:r>
              <a:rPr lang="en-US" altLang="zh-CN" sz="1200" dirty="0">
                <a:solidFill>
                  <a:srgbClr val="D19A66"/>
                </a:solidFill>
                <a:cs typeface="+mn-ea"/>
                <a:sym typeface="+mn-lt"/>
              </a:rPr>
              <a:t>1</a:t>
            </a:r>
            <a:r>
              <a:rPr lang="en-US" altLang="zh-CN" sz="1200" dirty="0">
                <a:solidFill>
                  <a:srgbClr val="ABB2BF"/>
                </a:solidFill>
                <a:cs typeface="+mn-ea"/>
                <a:sym typeface="+mn-lt"/>
              </a:rPr>
              <a:t>, </a:t>
            </a:r>
            <a:r>
              <a:rPr lang="en-US" altLang="zh-CN" sz="1200" dirty="0">
                <a:solidFill>
                  <a:srgbClr val="E06C75"/>
                </a:solidFill>
                <a:cs typeface="+mn-ea"/>
                <a:sym typeface="+mn-lt"/>
              </a:rPr>
              <a:t>y</a:t>
            </a:r>
            <a:r>
              <a:rPr lang="en-US" altLang="zh-CN" sz="1200" dirty="0">
                <a:solidFill>
                  <a:srgbClr val="ABB2BF"/>
                </a:solidFill>
                <a:cs typeface="+mn-ea"/>
                <a:sym typeface="+mn-lt"/>
              </a:rPr>
              <a:t>: </a:t>
            </a:r>
            <a:r>
              <a:rPr lang="en-US" altLang="zh-CN" sz="1200" dirty="0">
                <a:solidFill>
                  <a:srgbClr val="D19A66"/>
                </a:solidFill>
                <a:cs typeface="+mn-ea"/>
                <a:sym typeface="+mn-lt"/>
              </a:rPr>
              <a:t>1</a:t>
            </a:r>
            <a:r>
              <a:rPr lang="en-US" altLang="zh-CN" sz="1200" dirty="0">
                <a:solidFill>
                  <a:srgbClr val="ABB2BF"/>
                </a:solidFill>
                <a:cs typeface="+mn-ea"/>
                <a:sym typeface="+mn-lt"/>
              </a:rPr>
              <a:t> } };</a:t>
            </a:r>
          </a:p>
          <a:p>
            <a:r>
              <a:rPr lang="en-US" altLang="zh-CN"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dirty="0" err="1">
                <a:solidFill>
                  <a:srgbClr val="E06C75"/>
                </a:solidFill>
                <a:cs typeface="+mn-ea"/>
                <a:sym typeface="+mn-lt"/>
              </a:rPr>
              <a:t>start_x</a:t>
            </a:r>
            <a:r>
              <a:rPr lang="en-US" altLang="zh-CN" sz="1200" dirty="0">
                <a:solidFill>
                  <a:srgbClr val="ABB2BF"/>
                </a:solidFill>
                <a:cs typeface="+mn-ea"/>
                <a:sym typeface="+mn-lt"/>
              </a:rPr>
              <a:t> = &amp;</a:t>
            </a:r>
            <a:r>
              <a:rPr lang="en-US" altLang="zh-CN" sz="1200" u="sng" dirty="0" err="1">
                <a:solidFill>
                  <a:srgbClr val="E06C75"/>
                </a:solidFill>
                <a:cs typeface="+mn-ea"/>
                <a:sym typeface="+mn-lt"/>
              </a:rPr>
              <a:t>line</a:t>
            </a:r>
            <a:r>
              <a:rPr lang="en-US" altLang="zh-CN" sz="1200" dirty="0" err="1">
                <a:solidFill>
                  <a:srgbClr val="ABB2BF"/>
                </a:solidFill>
                <a:cs typeface="+mn-ea"/>
                <a:sym typeface="+mn-lt"/>
              </a:rPr>
              <a:t>.</a:t>
            </a:r>
            <a:r>
              <a:rPr lang="en-US" altLang="zh-CN" sz="1200" dirty="0" err="1">
                <a:solidFill>
                  <a:srgbClr val="E06C75"/>
                </a:solidFill>
                <a:cs typeface="+mn-ea"/>
                <a:sym typeface="+mn-lt"/>
              </a:rPr>
              <a:t>start</a:t>
            </a:r>
            <a:r>
              <a:rPr lang="en-US" altLang="zh-CN" sz="1200" dirty="0" err="1">
                <a:solidFill>
                  <a:srgbClr val="ABB2BF"/>
                </a:solidFill>
                <a:cs typeface="+mn-ea"/>
                <a:sym typeface="+mn-lt"/>
              </a:rPr>
              <a:t>.</a:t>
            </a:r>
            <a:r>
              <a:rPr lang="en-US" altLang="zh-CN" sz="1200" dirty="0" err="1">
                <a:solidFill>
                  <a:srgbClr val="E06C75"/>
                </a:solidFill>
                <a:cs typeface="+mn-ea"/>
                <a:sym typeface="+mn-lt"/>
              </a:rPr>
              <a:t>x</a:t>
            </a:r>
            <a:r>
              <a:rPr lang="en-US" altLang="zh-CN" sz="1200" dirty="0">
                <a:solidFill>
                  <a:srgbClr val="ABB2BF"/>
                </a:solidFill>
                <a:cs typeface="+mn-ea"/>
                <a:sym typeface="+mn-lt"/>
              </a:rPr>
              <a:t>;</a:t>
            </a:r>
            <a:r>
              <a:rPr lang="en-US" altLang="zh-CN" sz="1200" i="1" dirty="0">
                <a:solidFill>
                  <a:srgbClr val="7F848E"/>
                </a:solidFill>
                <a:cs typeface="+mn-ea"/>
                <a:sym typeface="+mn-lt"/>
              </a:rPr>
              <a:t> // </a:t>
            </a:r>
            <a:r>
              <a:rPr lang="zh-CN" altLang="en-US" sz="1200" i="1" dirty="0">
                <a:solidFill>
                  <a:srgbClr val="7F848E"/>
                </a:solidFill>
                <a:cs typeface="+mn-ea"/>
                <a:sym typeface="+mn-lt"/>
              </a:rPr>
              <a:t>借用 </a:t>
            </a:r>
            <a:r>
              <a:rPr lang="en-US" altLang="zh-CN" sz="1200" i="1" dirty="0">
                <a:solidFill>
                  <a:srgbClr val="7F848E"/>
                </a:solidFill>
                <a:cs typeface="+mn-ea"/>
                <a:sym typeface="+mn-lt"/>
              </a:rPr>
              <a:t>start </a:t>
            </a:r>
            <a:r>
              <a:rPr lang="zh-CN" altLang="en-US" sz="1200" i="1" dirty="0">
                <a:solidFill>
                  <a:srgbClr val="7F848E"/>
                </a:solidFill>
                <a:cs typeface="+mn-ea"/>
                <a:sym typeface="+mn-lt"/>
              </a:rPr>
              <a:t>的 </a:t>
            </a:r>
            <a:r>
              <a:rPr lang="en-US" altLang="zh-CN" sz="1200" i="1" dirty="0">
                <a:solidFill>
                  <a:srgbClr val="7F848E"/>
                </a:solidFill>
                <a:cs typeface="+mn-ea"/>
                <a:sym typeface="+mn-lt"/>
              </a:rPr>
              <a:t>x </a:t>
            </a:r>
            <a:r>
              <a:rPr lang="zh-CN" altLang="en-US" sz="1200" i="1" dirty="0">
                <a:solidFill>
                  <a:srgbClr val="7F848E"/>
                </a:solidFill>
                <a:cs typeface="+mn-ea"/>
                <a:sym typeface="+mn-lt"/>
              </a:rPr>
              <a:t>字段</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C678DD"/>
                </a:solidFill>
                <a:cs typeface="+mn-ea"/>
                <a:sym typeface="+mn-lt"/>
              </a:rPr>
              <a:t>let</a:t>
            </a:r>
            <a:r>
              <a:rPr lang="en-US" altLang="zh-CN" sz="1200" dirty="0">
                <a:solidFill>
                  <a:srgbClr val="ABB2BF"/>
                </a:solidFill>
                <a:cs typeface="+mn-ea"/>
                <a:sym typeface="+mn-lt"/>
              </a:rPr>
              <a:t> </a:t>
            </a:r>
            <a:r>
              <a:rPr lang="en-US" altLang="zh-CN" sz="1200" u="sng" dirty="0" err="1">
                <a:solidFill>
                  <a:srgbClr val="E06C75"/>
                </a:solidFill>
                <a:cs typeface="+mn-ea"/>
                <a:sym typeface="+mn-lt"/>
              </a:rPr>
              <a:t>end_y</a:t>
            </a:r>
            <a:r>
              <a:rPr lang="en-US" altLang="zh-CN" sz="1200" dirty="0">
                <a:solidFill>
                  <a:srgbClr val="ABB2BF"/>
                </a:solidFill>
                <a:cs typeface="+mn-ea"/>
                <a:sym typeface="+mn-lt"/>
              </a:rPr>
              <a:t> = &amp;</a:t>
            </a:r>
            <a:r>
              <a:rPr lang="en-US" altLang="zh-CN" sz="1200" dirty="0" err="1">
                <a:solidFill>
                  <a:srgbClr val="C678DD"/>
                </a:solidFill>
                <a:cs typeface="+mn-ea"/>
                <a:sym typeface="+mn-lt"/>
              </a:rPr>
              <a:t>mut</a:t>
            </a:r>
            <a:r>
              <a:rPr lang="en-US" altLang="zh-CN" sz="1200" dirty="0">
                <a:solidFill>
                  <a:srgbClr val="ABB2BF"/>
                </a:solidFill>
                <a:cs typeface="+mn-ea"/>
                <a:sym typeface="+mn-lt"/>
              </a:rPr>
              <a:t> </a:t>
            </a:r>
            <a:r>
              <a:rPr lang="en-US" altLang="zh-CN" sz="1200" u="sng" dirty="0" err="1">
                <a:solidFill>
                  <a:srgbClr val="E06C75"/>
                </a:solidFill>
                <a:cs typeface="+mn-ea"/>
                <a:sym typeface="+mn-lt"/>
              </a:rPr>
              <a:t>line</a:t>
            </a:r>
            <a:r>
              <a:rPr lang="en-US" altLang="zh-CN" sz="1200" dirty="0" err="1">
                <a:solidFill>
                  <a:srgbClr val="ABB2BF"/>
                </a:solidFill>
                <a:cs typeface="+mn-ea"/>
                <a:sym typeface="+mn-lt"/>
              </a:rPr>
              <a:t>.</a:t>
            </a:r>
            <a:r>
              <a:rPr lang="en-US" altLang="zh-CN" sz="1200" dirty="0" err="1">
                <a:solidFill>
                  <a:srgbClr val="E06C75"/>
                </a:solidFill>
                <a:cs typeface="+mn-ea"/>
                <a:sym typeface="+mn-lt"/>
              </a:rPr>
              <a:t>end</a:t>
            </a:r>
            <a:r>
              <a:rPr lang="en-US" altLang="zh-CN" sz="1200" dirty="0" err="1">
                <a:solidFill>
                  <a:srgbClr val="ABB2BF"/>
                </a:solidFill>
                <a:cs typeface="+mn-ea"/>
                <a:sym typeface="+mn-lt"/>
              </a:rPr>
              <a:t>.</a:t>
            </a:r>
            <a:r>
              <a:rPr lang="en-US" altLang="zh-CN" sz="1200" dirty="0" err="1">
                <a:solidFill>
                  <a:srgbClr val="E06C75"/>
                </a:solidFill>
                <a:cs typeface="+mn-ea"/>
                <a:sym typeface="+mn-lt"/>
              </a:rPr>
              <a:t>y</a:t>
            </a:r>
            <a:r>
              <a:rPr lang="en-US" altLang="zh-CN" sz="1200" dirty="0">
                <a:solidFill>
                  <a:srgbClr val="ABB2BF"/>
                </a:solidFill>
                <a:cs typeface="+mn-ea"/>
                <a:sym typeface="+mn-lt"/>
              </a:rPr>
              <a:t>;</a:t>
            </a:r>
            <a:r>
              <a:rPr lang="en-US" altLang="zh-CN" sz="1200" i="1" dirty="0">
                <a:solidFill>
                  <a:srgbClr val="7F848E"/>
                </a:solidFill>
                <a:cs typeface="+mn-ea"/>
                <a:sym typeface="+mn-lt"/>
              </a:rPr>
              <a:t> // </a:t>
            </a:r>
            <a:r>
              <a:rPr lang="zh-CN" altLang="en-US" sz="1200" i="1" dirty="0">
                <a:solidFill>
                  <a:srgbClr val="7F848E"/>
                </a:solidFill>
                <a:cs typeface="+mn-ea"/>
                <a:sym typeface="+mn-lt"/>
              </a:rPr>
              <a:t>可变借用 </a:t>
            </a:r>
            <a:r>
              <a:rPr lang="en-US" altLang="zh-CN" sz="1200" i="1" dirty="0">
                <a:solidFill>
                  <a:srgbClr val="7F848E"/>
                </a:solidFill>
                <a:cs typeface="+mn-ea"/>
                <a:sym typeface="+mn-lt"/>
              </a:rPr>
              <a:t>end </a:t>
            </a:r>
            <a:r>
              <a:rPr lang="zh-CN" altLang="en-US" sz="1200" i="1" dirty="0">
                <a:solidFill>
                  <a:srgbClr val="7F848E"/>
                </a:solidFill>
                <a:cs typeface="+mn-ea"/>
                <a:sym typeface="+mn-lt"/>
              </a:rPr>
              <a:t>的 </a:t>
            </a:r>
            <a:r>
              <a:rPr lang="en-US" altLang="zh-CN" sz="1200" i="1" dirty="0">
                <a:solidFill>
                  <a:srgbClr val="7F848E"/>
                </a:solidFill>
                <a:cs typeface="+mn-ea"/>
                <a:sym typeface="+mn-lt"/>
              </a:rPr>
              <a:t>y </a:t>
            </a:r>
            <a:r>
              <a:rPr lang="zh-CN" altLang="en-US" sz="1200" i="1" dirty="0">
                <a:solidFill>
                  <a:srgbClr val="7F848E"/>
                </a:solidFill>
                <a:cs typeface="+mn-ea"/>
                <a:sym typeface="+mn-lt"/>
              </a:rPr>
              <a:t>字段</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u="sng" dirty="0" err="1">
                <a:solidFill>
                  <a:srgbClr val="E06C75"/>
                </a:solidFill>
                <a:cs typeface="+mn-ea"/>
                <a:sym typeface="+mn-lt"/>
              </a:rPr>
              <a:t>end_y</a:t>
            </a:r>
            <a:r>
              <a:rPr lang="en-US" altLang="zh-CN" sz="1200" dirty="0">
                <a:solidFill>
                  <a:srgbClr val="ABB2BF"/>
                </a:solidFill>
                <a:cs typeface="+mn-ea"/>
                <a:sym typeface="+mn-lt"/>
              </a:rPr>
              <a:t> = </a:t>
            </a:r>
            <a:r>
              <a:rPr lang="en-US" altLang="zh-CN" sz="1200" dirty="0">
                <a:solidFill>
                  <a:srgbClr val="D19A66"/>
                </a:solidFill>
                <a:cs typeface="+mn-ea"/>
                <a:sym typeface="+mn-lt"/>
              </a:rPr>
              <a:t>2</a:t>
            </a:r>
            <a:r>
              <a:rPr lang="en-US" altLang="zh-CN" sz="1200" dirty="0">
                <a:solidFill>
                  <a:srgbClr val="ABB2BF"/>
                </a:solidFill>
                <a:cs typeface="+mn-ea"/>
                <a:sym typeface="+mn-lt"/>
              </a:rPr>
              <a:t>;</a:t>
            </a:r>
            <a:r>
              <a:rPr lang="en-US" altLang="zh-CN" sz="1200" i="1" dirty="0">
                <a:solidFill>
                  <a:srgbClr val="7F848E"/>
                </a:solidFill>
                <a:cs typeface="+mn-ea"/>
                <a:sym typeface="+mn-lt"/>
              </a:rPr>
              <a:t> // </a:t>
            </a:r>
            <a:r>
              <a:rPr lang="zh-CN" altLang="en-US" sz="1200" i="1" dirty="0">
                <a:solidFill>
                  <a:srgbClr val="7F848E"/>
                </a:solidFill>
                <a:cs typeface="+mn-ea"/>
                <a:sym typeface="+mn-lt"/>
              </a:rPr>
              <a:t>修改 </a:t>
            </a:r>
            <a:r>
              <a:rPr lang="en-US" altLang="zh-CN" sz="1200" i="1" dirty="0">
                <a:solidFill>
                  <a:srgbClr val="7F848E"/>
                </a:solidFill>
                <a:cs typeface="+mn-ea"/>
                <a:sym typeface="+mn-lt"/>
              </a:rPr>
              <a:t>end </a:t>
            </a:r>
            <a:r>
              <a:rPr lang="zh-CN" altLang="en-US" sz="1200" i="1" dirty="0">
                <a:solidFill>
                  <a:srgbClr val="7F848E"/>
                </a:solidFill>
                <a:cs typeface="+mn-ea"/>
                <a:sym typeface="+mn-lt"/>
              </a:rPr>
              <a:t>的 </a:t>
            </a:r>
            <a:r>
              <a:rPr lang="en-US" altLang="zh-CN" sz="1200" i="1" dirty="0">
                <a:solidFill>
                  <a:srgbClr val="7F848E"/>
                </a:solidFill>
                <a:cs typeface="+mn-ea"/>
                <a:sym typeface="+mn-lt"/>
              </a:rPr>
              <a:t>y </a:t>
            </a:r>
            <a:r>
              <a:rPr lang="zh-CN" altLang="en-US" sz="1200" i="1" dirty="0">
                <a:solidFill>
                  <a:srgbClr val="7F848E"/>
                </a:solidFill>
                <a:cs typeface="+mn-ea"/>
                <a:sym typeface="+mn-lt"/>
              </a:rPr>
              <a:t>字段</a:t>
            </a:r>
            <a:endParaRPr lang="zh-CN" altLang="en-US" sz="1200" dirty="0">
              <a:solidFill>
                <a:srgbClr val="ABB2BF"/>
              </a:solidFill>
              <a:cs typeface="+mn-ea"/>
              <a:sym typeface="+mn-lt"/>
            </a:endParaRPr>
          </a:p>
          <a:p>
            <a:r>
              <a:rPr lang="zh-CN" altLang="en-US" sz="1200" dirty="0">
                <a:solidFill>
                  <a:srgbClr val="ABB2BF"/>
                </a:solidFill>
                <a:cs typeface="+mn-ea"/>
                <a:sym typeface="+mn-lt"/>
              </a:rPr>
              <a:t>    </a:t>
            </a:r>
            <a:r>
              <a:rPr lang="en-US" altLang="zh-CN" sz="1200" dirty="0">
                <a:solidFill>
                  <a:srgbClr val="D19A66"/>
                </a:solidFill>
                <a:cs typeface="+mn-ea"/>
                <a:sym typeface="+mn-lt"/>
              </a:rPr>
              <a:t>println!</a:t>
            </a:r>
            <a:r>
              <a:rPr lang="en-US" altLang="zh-CN" sz="1200" dirty="0">
                <a:solidFill>
                  <a:srgbClr val="ABB2BF"/>
                </a:solidFill>
                <a:cs typeface="+mn-ea"/>
                <a:sym typeface="+mn-lt"/>
              </a:rPr>
              <a:t>(</a:t>
            </a:r>
            <a:r>
              <a:rPr lang="en-US" altLang="zh-CN" sz="1200" dirty="0">
                <a:solidFill>
                  <a:srgbClr val="98C379"/>
                </a:solidFill>
                <a:cs typeface="+mn-ea"/>
                <a:sym typeface="+mn-lt"/>
              </a:rPr>
              <a:t>"</a:t>
            </a:r>
            <a:r>
              <a:rPr lang="en-US" altLang="zh-CN" sz="1200" dirty="0" err="1">
                <a:solidFill>
                  <a:srgbClr val="98C379"/>
                </a:solidFill>
                <a:cs typeface="+mn-ea"/>
                <a:sym typeface="+mn-lt"/>
              </a:rPr>
              <a:t>start_x</a:t>
            </a:r>
            <a:r>
              <a:rPr lang="en-US" altLang="zh-CN" sz="1200" dirty="0">
                <a:solidFill>
                  <a:srgbClr val="98C379"/>
                </a:solidFill>
                <a:cs typeface="+mn-ea"/>
                <a:sym typeface="+mn-lt"/>
              </a:rPr>
              <a:t>: </a:t>
            </a:r>
            <a:r>
              <a:rPr lang="en-US" altLang="zh-CN" sz="1200" dirty="0">
                <a:solidFill>
                  <a:srgbClr val="C678DD"/>
                </a:solidFill>
                <a:cs typeface="+mn-ea"/>
                <a:sym typeface="+mn-lt"/>
              </a:rPr>
              <a:t>{}</a:t>
            </a:r>
            <a:r>
              <a:rPr lang="en-US" altLang="zh-CN" sz="1200" dirty="0">
                <a:solidFill>
                  <a:srgbClr val="98C379"/>
                </a:solidFill>
                <a:cs typeface="+mn-ea"/>
                <a:sym typeface="+mn-lt"/>
              </a:rPr>
              <a:t>, </a:t>
            </a:r>
            <a:r>
              <a:rPr lang="en-US" altLang="zh-CN" sz="1200" dirty="0" err="1">
                <a:solidFill>
                  <a:srgbClr val="98C379"/>
                </a:solidFill>
                <a:cs typeface="+mn-ea"/>
                <a:sym typeface="+mn-lt"/>
              </a:rPr>
              <a:t>end_y</a:t>
            </a:r>
            <a:r>
              <a:rPr lang="en-US" altLang="zh-CN" sz="1200" dirty="0">
                <a:solidFill>
                  <a:srgbClr val="98C379"/>
                </a:solidFill>
                <a:cs typeface="+mn-ea"/>
                <a:sym typeface="+mn-lt"/>
              </a:rPr>
              <a:t>: </a:t>
            </a:r>
            <a:r>
              <a:rPr lang="en-US" altLang="zh-CN" sz="1200" dirty="0">
                <a:solidFill>
                  <a:srgbClr val="C678DD"/>
                </a:solidFill>
                <a:cs typeface="+mn-ea"/>
                <a:sym typeface="+mn-lt"/>
              </a:rPr>
              <a:t>{}</a:t>
            </a:r>
            <a:r>
              <a:rPr lang="en-US" altLang="zh-CN" sz="1200" dirty="0">
                <a:solidFill>
                  <a:srgbClr val="98C379"/>
                </a:solidFill>
                <a:cs typeface="+mn-ea"/>
                <a:sym typeface="+mn-lt"/>
              </a:rPr>
              <a:t>"</a:t>
            </a:r>
            <a:r>
              <a:rPr lang="en-US" altLang="zh-CN" sz="1200" dirty="0">
                <a:solidFill>
                  <a:srgbClr val="ABB2BF"/>
                </a:solidFill>
                <a:cs typeface="+mn-ea"/>
                <a:sym typeface="+mn-lt"/>
              </a:rPr>
              <a:t>, </a:t>
            </a:r>
            <a:r>
              <a:rPr lang="en-US" altLang="zh-CN" sz="1200" dirty="0" err="1">
                <a:solidFill>
                  <a:srgbClr val="E06C75"/>
                </a:solidFill>
                <a:cs typeface="+mn-ea"/>
                <a:sym typeface="+mn-lt"/>
              </a:rPr>
              <a:t>start_x</a:t>
            </a:r>
            <a:r>
              <a:rPr lang="en-US" altLang="zh-CN" sz="1200" dirty="0">
                <a:solidFill>
                  <a:srgbClr val="ABB2BF"/>
                </a:solidFill>
                <a:cs typeface="+mn-ea"/>
                <a:sym typeface="+mn-lt"/>
              </a:rPr>
              <a:t>, </a:t>
            </a:r>
            <a:r>
              <a:rPr lang="en-US" altLang="zh-CN" sz="1200" u="sng" dirty="0" err="1">
                <a:solidFill>
                  <a:srgbClr val="E06C75"/>
                </a:solidFill>
                <a:cs typeface="+mn-ea"/>
                <a:sym typeface="+mn-lt"/>
              </a:rPr>
              <a:t>end_y</a:t>
            </a:r>
            <a:r>
              <a:rPr lang="en-US" altLang="zh-CN" sz="1200" dirty="0">
                <a:solidFill>
                  <a:srgbClr val="ABB2BF"/>
                </a:solidFill>
                <a:cs typeface="+mn-ea"/>
                <a:sym typeface="+mn-lt"/>
              </a:rPr>
              <a:t>); </a:t>
            </a:r>
          </a:p>
          <a:p>
            <a:r>
              <a:rPr lang="en-US" altLang="zh-CN" sz="1200" dirty="0">
                <a:solidFill>
                  <a:srgbClr val="ABB2BF"/>
                </a:solidFill>
                <a:cs typeface="+mn-ea"/>
                <a:sym typeface="+mn-lt"/>
              </a:rPr>
              <a:t>}</a:t>
            </a:r>
          </a:p>
          <a:p>
            <a:br>
              <a:rPr lang="en-US" altLang="zh-CN" sz="1200" dirty="0">
                <a:solidFill>
                  <a:srgbClr val="ABB2BF"/>
                </a:solidFill>
                <a:cs typeface="+mn-ea"/>
                <a:sym typeface="+mn-lt"/>
              </a:rPr>
            </a:br>
            <a:endParaRPr lang="en-US" altLang="zh-CN" sz="1200" b="0" dirty="0">
              <a:solidFill>
                <a:srgbClr val="ABB2BF"/>
              </a:solidFill>
              <a:effectLst/>
              <a:cs typeface="+mn-ea"/>
              <a:sym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6354147" y="3526971"/>
            <a:ext cx="5589037" cy="3219062"/>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副标题 1"/>
          <p:cNvSpPr>
            <a:spLocks noGrp="1"/>
          </p:cNvSpPr>
          <p:nvPr>
            <p:ph type="subTitle" idx="1"/>
          </p:nvPr>
        </p:nvSpPr>
        <p:spPr>
          <a:xfrm>
            <a:off x="253313" y="69303"/>
            <a:ext cx="10740640" cy="993400"/>
          </a:xfrm>
        </p:spPr>
        <p:txBody>
          <a:bodyPr/>
          <a:lstStyle/>
          <a:p>
            <a:r>
              <a:rPr lang="zh-CN" altLang="en-US" b="1">
                <a:solidFill>
                  <a:srgbClr val="C00000"/>
                </a:solidFill>
                <a:latin typeface="+mn-lt"/>
                <a:ea typeface="+mn-ea"/>
                <a:cs typeface="+mn-ea"/>
                <a:sym typeface="+mn-lt"/>
              </a:rPr>
              <a:t>生命周期参数</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生命周期概念</a:t>
            </a:r>
            <a:endParaRPr lang="zh-CN" altLang="en-US" b="1" dirty="0">
              <a:solidFill>
                <a:srgbClr val="C00000"/>
              </a:solidFill>
              <a:latin typeface="+mn-lt"/>
              <a:ea typeface="+mn-ea"/>
              <a:cs typeface="+mn-ea"/>
              <a:sym typeface="+mn-lt"/>
            </a:endParaRPr>
          </a:p>
        </p:txBody>
      </p:sp>
      <p:cxnSp>
        <p:nvCxnSpPr>
          <p:cNvPr id="5" name="直接连接符 4"/>
          <p:cNvCxnSpPr/>
          <p:nvPr/>
        </p:nvCxnSpPr>
        <p:spPr>
          <a:xfrm>
            <a:off x="253313" y="54228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257556" y="712169"/>
            <a:ext cx="3135795" cy="338554"/>
          </a:xfrm>
          <a:prstGeom prst="rect">
            <a:avLst/>
          </a:prstGeom>
        </p:spPr>
        <p:txBody>
          <a:bodyPr wrap="none">
            <a:spAutoFit/>
          </a:bodyPr>
          <a:lstStyle/>
          <a:p>
            <a:r>
              <a:rPr lang="en-US" altLang="zh-CN" sz="1600" dirty="0">
                <a:cs typeface="+mn-ea"/>
                <a:sym typeface="+mn-lt"/>
              </a:rPr>
              <a:t>Rust</a:t>
            </a:r>
            <a:r>
              <a:rPr lang="zh-CN" altLang="en-US" sz="1600" dirty="0">
                <a:cs typeface="+mn-ea"/>
                <a:sym typeface="+mn-lt"/>
              </a:rPr>
              <a:t>代码会保证引用是有效的。</a:t>
            </a:r>
          </a:p>
        </p:txBody>
      </p:sp>
      <p:sp>
        <p:nvSpPr>
          <p:cNvPr id="4" name="文本框 3"/>
          <p:cNvSpPr txBox="1"/>
          <p:nvPr/>
        </p:nvSpPr>
        <p:spPr>
          <a:xfrm>
            <a:off x="390163" y="1076124"/>
            <a:ext cx="5102458" cy="1815882"/>
          </a:xfrm>
          <a:prstGeom prst="rect">
            <a:avLst/>
          </a:prstGeom>
          <a:solidFill>
            <a:schemeClr val="tx1"/>
          </a:solidFill>
        </p:spPr>
        <p:txBody>
          <a:bodyPr vert="horz" wrap="square" rtlCol="0">
            <a:spAutoFit/>
          </a:bodyPr>
          <a:lstStyle/>
          <a:p>
            <a:r>
              <a:rPr lang="en-US" altLang="zh-CN" sz="1400" dirty="0">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E06C75"/>
                </a:solidFill>
                <a:cs typeface="+mn-ea"/>
                <a:sym typeface="+mn-lt"/>
              </a:rPr>
              <a:t>let r</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E06C75"/>
                </a:solidFill>
                <a:cs typeface="+mn-ea"/>
                <a:sym typeface="+mn-lt"/>
              </a:rPr>
              <a:t>let x</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t>
            </a:r>
            <a:r>
              <a:rPr lang="en-US" altLang="zh-CN" sz="1400" dirty="0">
                <a:solidFill>
                  <a:srgbClr val="D19A66"/>
                </a:solidFill>
                <a:cs typeface="+mn-ea"/>
                <a:sym typeface="+mn-lt"/>
              </a:rPr>
              <a:t>1</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a:solidFill>
                  <a:srgbClr val="E06C75"/>
                </a:solidFill>
                <a:cs typeface="+mn-ea"/>
                <a:sym typeface="+mn-lt"/>
              </a:rPr>
              <a:t>r</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&amp;</a:t>
            </a:r>
            <a:r>
              <a:rPr lang="en-US" altLang="zh-CN" sz="1400" dirty="0">
                <a:solidFill>
                  <a:srgbClr val="E06C75"/>
                </a:solidFill>
                <a:cs typeface="+mn-ea"/>
                <a:sym typeface="+mn-lt"/>
              </a:rPr>
              <a:t>x</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err="1">
                <a:solidFill>
                  <a:srgbClr val="61AFEF"/>
                </a:solidFill>
                <a:cs typeface="+mn-ea"/>
                <a:sym typeface="+mn-lt"/>
              </a:rPr>
              <a:t>assert_eq</a:t>
            </a:r>
            <a:r>
              <a:rPr lang="en-US" altLang="zh-CN" sz="1400" dirty="0">
                <a:solidFill>
                  <a:srgbClr val="61AFEF"/>
                </a:solidFill>
                <a:cs typeface="+mn-ea"/>
                <a:sym typeface="+mn-lt"/>
              </a:rPr>
              <a:t>!</a:t>
            </a:r>
            <a:r>
              <a:rPr lang="en-US" altLang="zh-CN" sz="1400" dirty="0">
                <a:solidFill>
                  <a:srgbClr val="ABB2BF"/>
                </a:solidFill>
                <a:cs typeface="+mn-ea"/>
                <a:sym typeface="+mn-lt"/>
              </a:rPr>
              <a:t>(*</a:t>
            </a:r>
            <a:r>
              <a:rPr lang="en-US" altLang="zh-CN" sz="1400" dirty="0">
                <a:solidFill>
                  <a:srgbClr val="E06C75"/>
                </a:solidFill>
                <a:cs typeface="+mn-ea"/>
                <a:sym typeface="+mn-lt"/>
              </a:rPr>
              <a:t>r</a:t>
            </a:r>
            <a:r>
              <a:rPr lang="en-US" altLang="zh-CN" sz="1400" dirty="0">
                <a:solidFill>
                  <a:srgbClr val="ABB2BF"/>
                </a:solidFill>
                <a:cs typeface="+mn-ea"/>
                <a:sym typeface="+mn-lt"/>
              </a:rPr>
              <a:t>, </a:t>
            </a:r>
            <a:r>
              <a:rPr lang="en-US" altLang="zh-CN" sz="1400" dirty="0">
                <a:solidFill>
                  <a:srgbClr val="D19A66"/>
                </a:solidFill>
                <a:cs typeface="+mn-ea"/>
                <a:sym typeface="+mn-lt"/>
              </a:rPr>
              <a:t>1</a:t>
            </a:r>
            <a:r>
              <a:rPr lang="en-US" altLang="zh-CN" sz="1400" dirty="0">
                <a:solidFill>
                  <a:srgbClr val="ABB2BF"/>
                </a:solidFill>
                <a:cs typeface="+mn-ea"/>
                <a:sym typeface="+mn-lt"/>
              </a:rPr>
              <a:t>);</a:t>
            </a:r>
            <a:r>
              <a:rPr lang="en-US" altLang="zh-CN" sz="1400" i="1" dirty="0">
                <a:solidFill>
                  <a:srgbClr val="7F848E"/>
                </a:solidFill>
                <a:cs typeface="+mn-ea"/>
                <a:sym typeface="+mn-lt"/>
              </a:rPr>
              <a:t> //</a:t>
            </a:r>
            <a:r>
              <a:rPr lang="zh-CN" altLang="en-US" sz="1400" i="1" dirty="0">
                <a:solidFill>
                  <a:srgbClr val="7F848E"/>
                </a:solidFill>
                <a:cs typeface="+mn-ea"/>
                <a:sym typeface="+mn-lt"/>
              </a:rPr>
              <a:t>试图在</a:t>
            </a:r>
            <a:r>
              <a:rPr lang="en-US" altLang="zh-CN" sz="1400" i="1" dirty="0">
                <a:solidFill>
                  <a:srgbClr val="7F848E"/>
                </a:solidFill>
                <a:cs typeface="+mn-ea"/>
                <a:sym typeface="+mn-lt"/>
              </a:rPr>
              <a:t>x</a:t>
            </a:r>
            <a:r>
              <a:rPr lang="zh-CN" altLang="en-US" sz="1400" i="1" dirty="0">
                <a:solidFill>
                  <a:srgbClr val="7F848E"/>
                </a:solidFill>
                <a:cs typeface="+mn-ea"/>
                <a:sym typeface="+mn-lt"/>
              </a:rPr>
              <a:t>被释放后使用垂悬指针</a:t>
            </a:r>
            <a:endParaRPr lang="zh-CN" altLang="en-US" sz="1400" dirty="0">
              <a:solidFill>
                <a:srgbClr val="ABB2BF"/>
              </a:solidFill>
              <a:cs typeface="+mn-ea"/>
              <a:sym typeface="+mn-lt"/>
            </a:endParaRPr>
          </a:p>
          <a:p>
            <a:r>
              <a:rPr lang="en-US" altLang="zh-CN" sz="1400" dirty="0">
                <a:solidFill>
                  <a:srgbClr val="ABB2BF"/>
                </a:solidFill>
                <a:cs typeface="+mn-ea"/>
                <a:sym typeface="+mn-lt"/>
              </a:rPr>
              <a:t>}</a:t>
            </a:r>
          </a:p>
        </p:txBody>
      </p:sp>
      <p:sp>
        <p:nvSpPr>
          <p:cNvPr id="7" name="右箭头 6"/>
          <p:cNvSpPr/>
          <p:nvPr/>
        </p:nvSpPr>
        <p:spPr>
          <a:xfrm>
            <a:off x="5862552" y="1578183"/>
            <a:ext cx="270588" cy="811763"/>
          </a:xfrm>
          <a:prstGeom prst="right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p:cNvSpPr txBox="1"/>
          <p:nvPr/>
        </p:nvSpPr>
        <p:spPr>
          <a:xfrm>
            <a:off x="297423" y="3020123"/>
            <a:ext cx="5945662" cy="3415030"/>
          </a:xfrm>
          <a:prstGeom prst="rect">
            <a:avLst/>
          </a:prstGeom>
          <a:solidFill>
            <a:schemeClr val="tx2"/>
          </a:solidFill>
        </p:spPr>
        <p:txBody>
          <a:bodyPr wrap="square" rtlCol="0">
            <a:spAutoFit/>
          </a:bodyPr>
          <a:lstStyle/>
          <a:p>
            <a:pPr>
              <a:lnSpc>
                <a:spcPct val="150000"/>
              </a:lnSpc>
            </a:pPr>
            <a:r>
              <a:rPr lang="en-US" altLang="zh-CN" sz="1600" dirty="0">
                <a:cs typeface="+mn-ea"/>
                <a:sym typeface="+mn-lt"/>
              </a:rPr>
              <a:t>Rust</a:t>
            </a:r>
            <a:r>
              <a:rPr lang="zh-CN" altLang="en-US" sz="1600" dirty="0">
                <a:cs typeface="+mn-ea"/>
                <a:sym typeface="+mn-lt"/>
              </a:rPr>
              <a:t>能在编译期拦截垂悬指针（即内存被释放的指针）问题的原因是它对所有引用进行了借用检查。检查的规则是：</a:t>
            </a:r>
            <a:endParaRPr lang="en-US" altLang="zh-CN" sz="1600" dirty="0">
              <a:cs typeface="+mn-ea"/>
              <a:sym typeface="+mn-lt"/>
            </a:endParaRPr>
          </a:p>
          <a:p>
            <a:pPr marL="342900" indent="-342900">
              <a:lnSpc>
                <a:spcPct val="150000"/>
              </a:lnSpc>
              <a:buFont typeface="+mj-lt"/>
              <a:buAutoNum type="arabicPeriod"/>
            </a:pPr>
            <a:r>
              <a:rPr lang="zh-CN" altLang="en-US" sz="1600" dirty="0">
                <a:solidFill>
                  <a:srgbClr val="FF0000"/>
                </a:solidFill>
                <a:cs typeface="+mn-ea"/>
                <a:sym typeface="+mn-lt"/>
              </a:rPr>
              <a:t>对变量取引用时，该引用的生命周期必须小于等于对应变量的生命周期；</a:t>
            </a:r>
            <a:endParaRPr lang="en-US" altLang="zh-CN" sz="1600" dirty="0">
              <a:solidFill>
                <a:srgbClr val="FF0000"/>
              </a:solidFill>
              <a:cs typeface="+mn-ea"/>
              <a:sym typeface="+mn-lt"/>
            </a:endParaRPr>
          </a:p>
          <a:p>
            <a:pPr marL="342900" indent="-342900">
              <a:lnSpc>
                <a:spcPct val="150000"/>
              </a:lnSpc>
              <a:buFont typeface="+mj-lt"/>
              <a:buAutoNum type="arabicPeriod"/>
            </a:pPr>
            <a:r>
              <a:rPr lang="zh-CN" altLang="en-US" sz="1600" dirty="0">
                <a:solidFill>
                  <a:srgbClr val="FF0000"/>
                </a:solidFill>
                <a:cs typeface="+mn-ea"/>
                <a:sym typeface="+mn-lt"/>
              </a:rPr>
              <a:t>将引用保存到某个变量时，必须满足引用的生命周期大于等于该变量的生命周期，否则无法保证该变量始终保存的是有效的引用。</a:t>
            </a:r>
            <a:endParaRPr lang="en-US" altLang="zh-CN" sz="1600" dirty="0">
              <a:solidFill>
                <a:srgbClr val="FF0000"/>
              </a:solidFill>
              <a:cs typeface="+mn-ea"/>
              <a:sym typeface="+mn-lt"/>
            </a:endParaRPr>
          </a:p>
          <a:p>
            <a:pPr>
              <a:lnSpc>
                <a:spcPct val="150000"/>
              </a:lnSpc>
            </a:pPr>
            <a:r>
              <a:rPr lang="zh-CN" altLang="en-US" sz="1600" dirty="0">
                <a:cs typeface="+mn-ea"/>
                <a:sym typeface="+mn-lt"/>
              </a:rPr>
              <a:t>如果编译器能够找到一个引用生命周期同时满足</a:t>
            </a:r>
            <a:r>
              <a:rPr lang="en-US" altLang="zh-CN" sz="1600" dirty="0">
                <a:cs typeface="+mn-ea"/>
                <a:sym typeface="+mn-lt"/>
              </a:rPr>
              <a:t>1</a:t>
            </a:r>
            <a:r>
              <a:rPr lang="zh-CN" altLang="en-US" sz="1600" dirty="0">
                <a:cs typeface="+mn-ea"/>
                <a:sym typeface="+mn-lt"/>
              </a:rPr>
              <a:t>的上限要求和</a:t>
            </a:r>
            <a:r>
              <a:rPr lang="en-US" altLang="zh-CN" sz="1600" dirty="0">
                <a:cs typeface="+mn-ea"/>
                <a:sym typeface="+mn-lt"/>
              </a:rPr>
              <a:t>2</a:t>
            </a:r>
            <a:r>
              <a:rPr lang="zh-CN" altLang="en-US" sz="1600" dirty="0">
                <a:cs typeface="+mn-ea"/>
                <a:sym typeface="+mn-lt"/>
              </a:rPr>
              <a:t>的下限要求，则编译通过，否则编译失败。</a:t>
            </a:r>
          </a:p>
        </p:txBody>
      </p:sp>
      <p:sp>
        <p:nvSpPr>
          <p:cNvPr id="11" name="矩形 10"/>
          <p:cNvSpPr/>
          <p:nvPr/>
        </p:nvSpPr>
        <p:spPr>
          <a:xfrm>
            <a:off x="6550090" y="4568994"/>
            <a:ext cx="2448272" cy="1815882"/>
          </a:xfrm>
          <a:prstGeom prst="rect">
            <a:avLst/>
          </a:prstGeom>
          <a:solidFill>
            <a:schemeClr val="tx1"/>
          </a:solidFill>
        </p:spPr>
        <p:txBody>
          <a:bodyPr wrap="square">
            <a:spAutoFit/>
          </a:bodyPr>
          <a:lstStyle/>
          <a:p>
            <a:r>
              <a:rPr lang="en-US" altLang="zh-CN" sz="1400" dirty="0">
                <a:solidFill>
                  <a:srgbClr val="569CD6"/>
                </a:solidFill>
                <a:cs typeface="+mn-ea"/>
                <a:sym typeface="+mn-lt"/>
              </a:rPr>
              <a:t>let</a:t>
            </a:r>
            <a:r>
              <a:rPr lang="en-US" altLang="zh-CN" sz="1400" dirty="0">
                <a:solidFill>
                  <a:srgbClr val="D4D4D4"/>
                </a:solidFill>
                <a:cs typeface="+mn-ea"/>
                <a:sym typeface="+mn-lt"/>
              </a:rPr>
              <a:t> r;</a:t>
            </a:r>
          </a:p>
          <a:p>
            <a:r>
              <a:rPr lang="en-US" altLang="zh-CN" sz="1400" dirty="0">
                <a:solidFill>
                  <a:srgbClr val="D4D4D4"/>
                </a:solidFill>
                <a:cs typeface="+mn-ea"/>
                <a:sym typeface="+mn-lt"/>
              </a:rPr>
              <a:t>{</a:t>
            </a:r>
          </a:p>
          <a:p>
            <a:r>
              <a:rPr lang="en-US" altLang="zh-CN" sz="1400" dirty="0">
                <a:solidFill>
                  <a:srgbClr val="D4D4D4"/>
                </a:solidFill>
                <a:cs typeface="+mn-ea"/>
                <a:sym typeface="+mn-lt"/>
              </a:rPr>
              <a:t>    </a:t>
            </a:r>
            <a:r>
              <a:rPr lang="en-US" altLang="zh-CN" sz="1400" dirty="0">
                <a:solidFill>
                  <a:srgbClr val="569CD6"/>
                </a:solidFill>
                <a:cs typeface="+mn-ea"/>
                <a:sym typeface="+mn-lt"/>
              </a:rPr>
              <a:t>let</a:t>
            </a:r>
            <a:r>
              <a:rPr lang="en-US" altLang="zh-CN" sz="1400" dirty="0">
                <a:solidFill>
                  <a:srgbClr val="D4D4D4"/>
                </a:solidFill>
                <a:cs typeface="+mn-ea"/>
                <a:sym typeface="+mn-lt"/>
              </a:rPr>
              <a:t> x = </a:t>
            </a:r>
            <a:r>
              <a:rPr lang="en-US" altLang="zh-CN" sz="1400" dirty="0">
                <a:solidFill>
                  <a:srgbClr val="B5CEA8"/>
                </a:solidFill>
                <a:cs typeface="+mn-ea"/>
                <a:sym typeface="+mn-lt"/>
              </a:rPr>
              <a:t>1</a:t>
            </a:r>
            <a:r>
              <a:rPr lang="en-US" altLang="zh-CN" sz="1400" dirty="0">
                <a:solidFill>
                  <a:srgbClr val="D4D4D4"/>
                </a:solidFill>
                <a:cs typeface="+mn-ea"/>
                <a:sym typeface="+mn-lt"/>
              </a:rPr>
              <a:t>;</a:t>
            </a:r>
          </a:p>
          <a:p>
            <a:r>
              <a:rPr lang="en-US" altLang="zh-CN" sz="1400" dirty="0">
                <a:solidFill>
                  <a:srgbClr val="D4D4D4"/>
                </a:solidFill>
                <a:cs typeface="+mn-ea"/>
                <a:sym typeface="+mn-lt"/>
              </a:rPr>
              <a:t>    ...</a:t>
            </a:r>
          </a:p>
          <a:p>
            <a:r>
              <a:rPr lang="en-US" altLang="zh-CN" sz="1400" dirty="0">
                <a:solidFill>
                  <a:srgbClr val="D4D4D4"/>
                </a:solidFill>
                <a:cs typeface="+mn-ea"/>
                <a:sym typeface="+mn-lt"/>
              </a:rPr>
              <a:t>    r = &amp;x;</a:t>
            </a:r>
          </a:p>
          <a:p>
            <a:r>
              <a:rPr lang="en-US" altLang="zh-CN" sz="1400" dirty="0">
                <a:solidFill>
                  <a:srgbClr val="D4D4D4"/>
                </a:solidFill>
                <a:cs typeface="+mn-ea"/>
                <a:sym typeface="+mn-lt"/>
              </a:rPr>
              <a:t>    ...</a:t>
            </a:r>
          </a:p>
          <a:p>
            <a:r>
              <a:rPr lang="en-US" altLang="zh-CN" sz="1400" dirty="0">
                <a:solidFill>
                  <a:srgbClr val="D4D4D4"/>
                </a:solidFill>
                <a:cs typeface="+mn-ea"/>
                <a:sym typeface="+mn-lt"/>
              </a:rPr>
              <a:t>}</a:t>
            </a:r>
          </a:p>
          <a:p>
            <a:r>
              <a:rPr lang="en-US" altLang="zh-CN" sz="1400" dirty="0" err="1">
                <a:solidFill>
                  <a:srgbClr val="DCDCAA"/>
                </a:solidFill>
                <a:cs typeface="+mn-ea"/>
                <a:sym typeface="+mn-lt"/>
              </a:rPr>
              <a:t>assert_eq</a:t>
            </a:r>
            <a:r>
              <a:rPr lang="en-US" altLang="zh-CN" sz="1400" dirty="0">
                <a:solidFill>
                  <a:srgbClr val="DCDCAA"/>
                </a:solidFill>
                <a:cs typeface="+mn-ea"/>
                <a:sym typeface="+mn-lt"/>
              </a:rPr>
              <a:t>!</a:t>
            </a:r>
            <a:r>
              <a:rPr lang="en-US" altLang="zh-CN" sz="1400" dirty="0">
                <a:solidFill>
                  <a:srgbClr val="D4D4D4"/>
                </a:solidFill>
                <a:cs typeface="+mn-ea"/>
                <a:sym typeface="+mn-lt"/>
              </a:rPr>
              <a:t>(*r, </a:t>
            </a:r>
            <a:r>
              <a:rPr lang="en-US" altLang="zh-CN" sz="1400" dirty="0">
                <a:solidFill>
                  <a:srgbClr val="B5CEA8"/>
                </a:solidFill>
                <a:cs typeface="+mn-ea"/>
                <a:sym typeface="+mn-lt"/>
              </a:rPr>
              <a:t>1</a:t>
            </a:r>
            <a:r>
              <a:rPr lang="en-US" altLang="zh-CN" sz="1400" dirty="0">
                <a:solidFill>
                  <a:srgbClr val="D4D4D4"/>
                </a:solidFill>
                <a:cs typeface="+mn-ea"/>
                <a:sym typeface="+mn-lt"/>
              </a:rPr>
              <a:t>);</a:t>
            </a:r>
            <a:endParaRPr lang="zh-CN" altLang="en-US" sz="1400" b="0" dirty="0">
              <a:solidFill>
                <a:srgbClr val="D4D4D4"/>
              </a:solidFill>
              <a:effectLst/>
              <a:cs typeface="+mn-ea"/>
              <a:sym typeface="+mn-lt"/>
            </a:endParaRPr>
          </a:p>
        </p:txBody>
      </p:sp>
      <p:sp>
        <p:nvSpPr>
          <p:cNvPr id="12" name="矩形 11"/>
          <p:cNvSpPr/>
          <p:nvPr/>
        </p:nvSpPr>
        <p:spPr>
          <a:xfrm>
            <a:off x="9214386" y="4433633"/>
            <a:ext cx="432048" cy="20162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cs typeface="+mn-ea"/>
              <a:sym typeface="+mn-lt"/>
            </a:endParaRPr>
          </a:p>
        </p:txBody>
      </p:sp>
      <p:sp>
        <p:nvSpPr>
          <p:cNvPr id="13" name="文本框 12"/>
          <p:cNvSpPr txBox="1"/>
          <p:nvPr/>
        </p:nvSpPr>
        <p:spPr>
          <a:xfrm>
            <a:off x="9142378" y="3833469"/>
            <a:ext cx="648072" cy="600164"/>
          </a:xfrm>
          <a:prstGeom prst="rect">
            <a:avLst/>
          </a:prstGeom>
          <a:noFill/>
        </p:spPr>
        <p:txBody>
          <a:bodyPr wrap="square" rtlCol="0">
            <a:spAutoFit/>
          </a:bodyPr>
          <a:lstStyle/>
          <a:p>
            <a:r>
              <a:rPr lang="zh-CN" altLang="en-US" sz="1100" dirty="0">
                <a:cs typeface="+mn-ea"/>
                <a:sym typeface="+mn-lt"/>
              </a:rPr>
              <a:t>变量</a:t>
            </a:r>
            <a:r>
              <a:rPr lang="en-US" altLang="zh-CN" sz="1100" dirty="0">
                <a:cs typeface="+mn-ea"/>
                <a:sym typeface="+mn-lt"/>
              </a:rPr>
              <a:t>x</a:t>
            </a:r>
            <a:r>
              <a:rPr lang="zh-CN" altLang="en-US" sz="1100" dirty="0">
                <a:cs typeface="+mn-ea"/>
                <a:sym typeface="+mn-lt"/>
              </a:rPr>
              <a:t>的生命周期</a:t>
            </a:r>
            <a:r>
              <a:rPr lang="en-US" altLang="zh-CN" sz="1100" dirty="0">
                <a:cs typeface="+mn-ea"/>
                <a:sym typeface="+mn-lt"/>
              </a:rPr>
              <a:t>a</a:t>
            </a:r>
            <a:endParaRPr lang="zh-CN" altLang="en-US" sz="1100" dirty="0">
              <a:cs typeface="+mn-ea"/>
              <a:sym typeface="+mn-lt"/>
            </a:endParaRPr>
          </a:p>
        </p:txBody>
      </p:sp>
      <p:sp>
        <p:nvSpPr>
          <p:cNvPr id="14" name="矩形 13"/>
          <p:cNvSpPr/>
          <p:nvPr/>
        </p:nvSpPr>
        <p:spPr>
          <a:xfrm>
            <a:off x="9214386" y="5289074"/>
            <a:ext cx="432048" cy="576064"/>
          </a:xfrm>
          <a:prstGeom prst="rect">
            <a:avLst/>
          </a:prstGeom>
          <a:solidFill>
            <a:schemeClr val="accent5">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cs typeface="+mn-ea"/>
              <a:sym typeface="+mn-lt"/>
            </a:endParaRPr>
          </a:p>
        </p:txBody>
      </p:sp>
      <p:cxnSp>
        <p:nvCxnSpPr>
          <p:cNvPr id="15" name="直接连接符 14"/>
          <p:cNvCxnSpPr/>
          <p:nvPr/>
        </p:nvCxnSpPr>
        <p:spPr>
          <a:xfrm>
            <a:off x="7630210" y="5289074"/>
            <a:ext cx="2016224" cy="0"/>
          </a:xfrm>
          <a:prstGeom prst="line">
            <a:avLst/>
          </a:prstGeom>
          <a:ln>
            <a:solidFill>
              <a:srgbClr val="FFC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6" name="直接连接符 15"/>
          <p:cNvCxnSpPr/>
          <p:nvPr/>
        </p:nvCxnSpPr>
        <p:spPr>
          <a:xfrm>
            <a:off x="7558202" y="5872445"/>
            <a:ext cx="2088232" cy="0"/>
          </a:xfrm>
          <a:prstGeom prst="line">
            <a:avLst/>
          </a:prstGeom>
          <a:ln>
            <a:solidFill>
              <a:srgbClr val="FFC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7" name="矩形 16"/>
          <p:cNvSpPr/>
          <p:nvPr/>
        </p:nvSpPr>
        <p:spPr>
          <a:xfrm>
            <a:off x="9934466" y="4433633"/>
            <a:ext cx="432048" cy="20162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cs typeface="+mn-ea"/>
              <a:sym typeface="+mn-lt"/>
            </a:endParaRPr>
          </a:p>
        </p:txBody>
      </p:sp>
      <p:sp>
        <p:nvSpPr>
          <p:cNvPr id="18" name="文本框 17"/>
          <p:cNvSpPr txBox="1"/>
          <p:nvPr/>
        </p:nvSpPr>
        <p:spPr>
          <a:xfrm>
            <a:off x="9862458" y="3833469"/>
            <a:ext cx="648072" cy="600164"/>
          </a:xfrm>
          <a:prstGeom prst="rect">
            <a:avLst/>
          </a:prstGeom>
          <a:noFill/>
        </p:spPr>
        <p:txBody>
          <a:bodyPr wrap="square" rtlCol="0">
            <a:spAutoFit/>
          </a:bodyPr>
          <a:lstStyle/>
          <a:p>
            <a:r>
              <a:rPr lang="zh-CN" altLang="en-US" sz="1100" dirty="0">
                <a:cs typeface="+mn-ea"/>
                <a:sym typeface="+mn-lt"/>
              </a:rPr>
              <a:t>引用</a:t>
            </a:r>
            <a:r>
              <a:rPr lang="en-US" altLang="zh-CN" sz="1100" dirty="0">
                <a:cs typeface="+mn-ea"/>
                <a:sym typeface="+mn-lt"/>
              </a:rPr>
              <a:t>r</a:t>
            </a:r>
            <a:r>
              <a:rPr lang="zh-CN" altLang="en-US" sz="1100" dirty="0">
                <a:cs typeface="+mn-ea"/>
                <a:sym typeface="+mn-lt"/>
              </a:rPr>
              <a:t>的生命周期</a:t>
            </a:r>
            <a:r>
              <a:rPr lang="en-US" altLang="zh-CN" sz="1100" dirty="0">
                <a:cs typeface="+mn-ea"/>
                <a:sym typeface="+mn-lt"/>
              </a:rPr>
              <a:t>b</a:t>
            </a:r>
            <a:endParaRPr lang="zh-CN" altLang="en-US" sz="1100" dirty="0">
              <a:cs typeface="+mn-ea"/>
              <a:sym typeface="+mn-lt"/>
            </a:endParaRPr>
          </a:p>
        </p:txBody>
      </p:sp>
      <p:sp>
        <p:nvSpPr>
          <p:cNvPr id="19" name="矩形 18"/>
          <p:cNvSpPr/>
          <p:nvPr/>
        </p:nvSpPr>
        <p:spPr>
          <a:xfrm>
            <a:off x="9934466" y="5441745"/>
            <a:ext cx="432048" cy="828450"/>
          </a:xfrm>
          <a:prstGeom prst="rect">
            <a:avLst/>
          </a:prstGeom>
          <a:solidFill>
            <a:schemeClr val="accent3">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cs typeface="+mn-ea"/>
              <a:sym typeface="+mn-lt"/>
            </a:endParaRPr>
          </a:p>
        </p:txBody>
      </p:sp>
      <p:cxnSp>
        <p:nvCxnSpPr>
          <p:cNvPr id="20" name="直接连接符 19"/>
          <p:cNvCxnSpPr>
            <a:endCxn id="17" idx="3"/>
          </p:cNvCxnSpPr>
          <p:nvPr/>
        </p:nvCxnSpPr>
        <p:spPr>
          <a:xfrm flipV="1">
            <a:off x="7630210" y="5441745"/>
            <a:ext cx="2736304" cy="4650"/>
          </a:xfrm>
          <a:prstGeom prst="line">
            <a:avLst/>
          </a:prstGeom>
          <a:ln>
            <a:solidFill>
              <a:srgbClr val="FFC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 name="直接连接符 20"/>
          <p:cNvCxnSpPr/>
          <p:nvPr/>
        </p:nvCxnSpPr>
        <p:spPr>
          <a:xfrm flipV="1">
            <a:off x="7611384" y="6270195"/>
            <a:ext cx="2755130" cy="69863"/>
          </a:xfrm>
          <a:prstGeom prst="line">
            <a:avLst/>
          </a:prstGeom>
          <a:ln>
            <a:solidFill>
              <a:srgbClr val="FFC00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2" name="矩形 21"/>
          <p:cNvSpPr/>
          <p:nvPr/>
        </p:nvSpPr>
        <p:spPr>
          <a:xfrm>
            <a:off x="11014586" y="4433633"/>
            <a:ext cx="432048" cy="20162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cs typeface="+mn-ea"/>
                <a:sym typeface="+mn-lt"/>
              </a:rPr>
              <a:t>NA</a:t>
            </a:r>
            <a:endParaRPr lang="zh-CN" altLang="en-US" sz="1200" dirty="0">
              <a:solidFill>
                <a:schemeClr val="tx1"/>
              </a:solidFill>
              <a:cs typeface="+mn-ea"/>
              <a:sym typeface="+mn-lt"/>
            </a:endParaRPr>
          </a:p>
        </p:txBody>
      </p:sp>
      <p:sp>
        <p:nvSpPr>
          <p:cNvPr id="23" name="文本框 22"/>
          <p:cNvSpPr txBox="1"/>
          <p:nvPr/>
        </p:nvSpPr>
        <p:spPr>
          <a:xfrm>
            <a:off x="10654546" y="3833469"/>
            <a:ext cx="1152128" cy="600164"/>
          </a:xfrm>
          <a:prstGeom prst="rect">
            <a:avLst/>
          </a:prstGeom>
          <a:noFill/>
        </p:spPr>
        <p:txBody>
          <a:bodyPr wrap="square" rtlCol="0">
            <a:spAutoFit/>
          </a:bodyPr>
          <a:lstStyle/>
          <a:p>
            <a:r>
              <a:rPr lang="en-US" altLang="zh-CN" sz="1100" dirty="0">
                <a:cs typeface="+mn-ea"/>
                <a:sym typeface="+mn-lt"/>
              </a:rPr>
              <a:t>&amp;x</a:t>
            </a:r>
            <a:r>
              <a:rPr lang="zh-CN" altLang="en-US" sz="1100" dirty="0">
                <a:cs typeface="+mn-ea"/>
                <a:sym typeface="+mn-lt"/>
              </a:rPr>
              <a:t>的生命周期</a:t>
            </a:r>
            <a:r>
              <a:rPr lang="en-US" altLang="zh-CN" sz="1100" dirty="0">
                <a:cs typeface="+mn-ea"/>
                <a:sym typeface="+mn-lt"/>
              </a:rPr>
              <a:t>c</a:t>
            </a:r>
            <a:r>
              <a:rPr lang="zh-CN" altLang="en-US" sz="1100" dirty="0">
                <a:cs typeface="+mn-ea"/>
                <a:sym typeface="+mn-lt"/>
              </a:rPr>
              <a:t>（必须满足</a:t>
            </a:r>
            <a:r>
              <a:rPr lang="en-US" altLang="zh-CN" sz="1100" dirty="0">
                <a:cs typeface="+mn-ea"/>
                <a:sym typeface="+mn-lt"/>
              </a:rPr>
              <a:t>b&lt;=c&lt;=a</a:t>
            </a:r>
            <a:r>
              <a:rPr lang="zh-CN" altLang="en-US" sz="1100" dirty="0">
                <a:cs typeface="+mn-ea"/>
                <a:sym typeface="+mn-lt"/>
              </a:rPr>
              <a:t>）</a:t>
            </a:r>
          </a:p>
        </p:txBody>
      </p:sp>
      <p:pic>
        <p:nvPicPr>
          <p:cNvPr id="6" name="图片 5"/>
          <p:cNvPicPr>
            <a:picLocks noChangeAspect="1"/>
          </p:cNvPicPr>
          <p:nvPr/>
        </p:nvPicPr>
        <p:blipFill>
          <a:blip r:embed="rId3"/>
          <a:stretch>
            <a:fillRect/>
          </a:stretch>
        </p:blipFill>
        <p:spPr>
          <a:xfrm>
            <a:off x="6503072" y="1061143"/>
            <a:ext cx="4198492" cy="183457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53313" y="57978"/>
            <a:ext cx="10740640" cy="993400"/>
          </a:xfrm>
        </p:spPr>
        <p:txBody>
          <a:bodyPr/>
          <a:lstStyle/>
          <a:p>
            <a:r>
              <a:rPr lang="zh-CN" altLang="en-US" b="1">
                <a:solidFill>
                  <a:srgbClr val="C00000"/>
                </a:solidFill>
                <a:latin typeface="+mn-lt"/>
                <a:ea typeface="+mn-ea"/>
                <a:cs typeface="+mn-ea"/>
                <a:sym typeface="+mn-lt"/>
              </a:rPr>
              <a:t>生命周期参数</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概念</a:t>
            </a:r>
            <a:endParaRPr lang="zh-CN" altLang="en-US" b="1" dirty="0">
              <a:solidFill>
                <a:srgbClr val="C00000"/>
              </a:solidFill>
              <a:latin typeface="+mn-lt"/>
              <a:ea typeface="+mn-ea"/>
              <a:cs typeface="+mn-ea"/>
              <a:sym typeface="+mn-lt"/>
            </a:endParaRPr>
          </a:p>
        </p:txBody>
      </p:sp>
      <p:cxnSp>
        <p:nvCxnSpPr>
          <p:cNvPr id="7" name="直接连接符 6"/>
          <p:cNvCxnSpPr/>
          <p:nvPr/>
        </p:nvCxnSpPr>
        <p:spPr>
          <a:xfrm>
            <a:off x="253313" y="54228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258531" y="4554424"/>
            <a:ext cx="6096000" cy="1706880"/>
          </a:xfrm>
          <a:prstGeom prst="rect">
            <a:avLst/>
          </a:prstGeom>
        </p:spPr>
        <p:txBody>
          <a:bodyPr>
            <a:spAutoFit/>
          </a:bodyPr>
          <a:lstStyle/>
          <a:p>
            <a:pPr>
              <a:lnSpc>
                <a:spcPct val="150000"/>
              </a:lnSpc>
            </a:pPr>
            <a:r>
              <a:rPr lang="zh-CN" altLang="en-US" sz="1400" dirty="0">
                <a:cs typeface="+mn-ea"/>
                <a:sym typeface="+mn-lt"/>
              </a:rPr>
              <a:t>当我们也不知道传入的引用的具体生命周期，所以也就不能通过观察作用域来确定返回的引用是否总是有效。借用检查器自身同样也无法确定，因为它不知道 </a:t>
            </a:r>
            <a:r>
              <a:rPr lang="en-US" altLang="zh-CN" sz="1400" dirty="0">
                <a:cs typeface="+mn-ea"/>
                <a:sym typeface="+mn-lt"/>
              </a:rPr>
              <a:t>x</a:t>
            </a:r>
            <a:r>
              <a:rPr lang="zh-CN" altLang="en-US" sz="1400" dirty="0">
                <a:cs typeface="+mn-ea"/>
                <a:sym typeface="+mn-lt"/>
              </a:rPr>
              <a:t> 和 </a:t>
            </a:r>
            <a:r>
              <a:rPr lang="en-US" altLang="zh-CN" sz="1400" dirty="0">
                <a:cs typeface="+mn-ea"/>
                <a:sym typeface="+mn-lt"/>
              </a:rPr>
              <a:t>y</a:t>
            </a:r>
            <a:r>
              <a:rPr lang="zh-CN" altLang="en-US" sz="1400" dirty="0">
                <a:cs typeface="+mn-ea"/>
                <a:sym typeface="+mn-lt"/>
              </a:rPr>
              <a:t> 的生命周期是如何与返回值的生命周期相关联的。为了修复这个错误，我们将增加生命周期参数来定义引用间的关系以便借用检查器可以进行分析。</a:t>
            </a:r>
            <a:r>
              <a:rPr lang="zh-CN" altLang="en-US" sz="1400" b="1" dirty="0">
                <a:cs typeface="+mn-ea"/>
                <a:sym typeface="+mn-lt"/>
              </a:rPr>
              <a:t>生命周期参数本身是一种泛型</a:t>
            </a:r>
            <a:r>
              <a:rPr lang="zh-CN" altLang="en-US" sz="1400" dirty="0">
                <a:cs typeface="+mn-ea"/>
                <a:sym typeface="+mn-lt"/>
              </a:rPr>
              <a:t>。</a:t>
            </a:r>
          </a:p>
        </p:txBody>
      </p:sp>
      <p:sp>
        <p:nvSpPr>
          <p:cNvPr id="4" name="文本框 3"/>
          <p:cNvSpPr txBox="1"/>
          <p:nvPr/>
        </p:nvSpPr>
        <p:spPr>
          <a:xfrm>
            <a:off x="258531" y="778641"/>
            <a:ext cx="5365102" cy="3753485"/>
          </a:xfrm>
          <a:prstGeom prst="rect">
            <a:avLst/>
          </a:prstGeom>
          <a:solidFill>
            <a:schemeClr val="tx1"/>
          </a:solidFill>
        </p:spPr>
        <p:txBody>
          <a:bodyPr vert="horz" wrap="square" rtlCol="0">
            <a:spAutoFit/>
          </a:bodyPr>
          <a:lstStyle/>
          <a:p>
            <a:r>
              <a:rPr lang="en-US" altLang="zh-CN" sz="1400" dirty="0">
                <a:solidFill>
                  <a:schemeClr val="bg2"/>
                </a:solidFill>
                <a:cs typeface="+mn-ea"/>
                <a:sym typeface="+mn-lt"/>
              </a:rPr>
              <a:t>// </a:t>
            </a:r>
            <a:r>
              <a:rPr lang="zh-CN" altLang="en-US" sz="1400" b="1" dirty="0">
                <a:solidFill>
                  <a:srgbClr val="00B050"/>
                </a:solidFill>
                <a:cs typeface="+mn-ea"/>
                <a:sym typeface="+mn-lt"/>
              </a:rPr>
              <a:t>代码示例</a:t>
            </a:r>
            <a:endParaRPr lang="en-US" altLang="zh-CN" sz="1400" b="1" dirty="0">
              <a:solidFill>
                <a:srgbClr val="00B050"/>
              </a:solidFill>
              <a:cs typeface="+mn-ea"/>
              <a:sym typeface="+mn-lt"/>
            </a:endParaRPr>
          </a:p>
          <a:p>
            <a:r>
              <a:rPr lang="en-US" sz="1400" b="0" u="none" dirty="0">
                <a:solidFill>
                  <a:srgbClr val="C678DD"/>
                </a:solidFill>
                <a:cs typeface="+mn-ea"/>
                <a:sym typeface="+mn-lt"/>
              </a:rPr>
              <a:t>fn</a:t>
            </a:r>
            <a:r>
              <a:rPr lang="en-US" sz="1400" b="0" u="none" dirty="0">
                <a:solidFill>
                  <a:srgbClr val="ABB2BF"/>
                </a:solidFill>
                <a:cs typeface="+mn-ea"/>
                <a:sym typeface="+mn-lt"/>
              </a:rPr>
              <a:t> </a:t>
            </a:r>
            <a:r>
              <a:rPr lang="en-US" sz="1400" b="0" u="none" dirty="0">
                <a:solidFill>
                  <a:srgbClr val="61AFEF"/>
                </a:solidFill>
                <a:cs typeface="+mn-ea"/>
                <a:sym typeface="+mn-lt"/>
              </a:rPr>
              <a:t>main</a:t>
            </a:r>
            <a:r>
              <a:rPr lang="en-US" sz="1400" b="0" u="none" dirty="0">
                <a:solidFill>
                  <a:srgbClr val="ABB2BF"/>
                </a:solidFill>
                <a:cs typeface="+mn-ea"/>
                <a:sym typeface="+mn-lt"/>
              </a:rPr>
              <a:t>() {</a:t>
            </a:r>
          </a:p>
          <a:p>
            <a:r>
              <a:rPr lang="en-US" sz="1400" b="0" u="none" dirty="0">
                <a:solidFill>
                  <a:srgbClr val="ABB2BF"/>
                </a:solidFill>
                <a:cs typeface="+mn-ea"/>
                <a:sym typeface="+mn-lt"/>
              </a:rPr>
              <a:t>    </a:t>
            </a:r>
            <a:r>
              <a:rPr lang="en-US" sz="1400" b="0" u="none" dirty="0">
                <a:solidFill>
                  <a:srgbClr val="C678DD"/>
                </a:solidFill>
                <a:cs typeface="+mn-ea"/>
                <a:sym typeface="+mn-lt"/>
              </a:rPr>
              <a:t>let</a:t>
            </a:r>
            <a:r>
              <a:rPr lang="en-US" sz="1400" b="0" u="none" dirty="0">
                <a:solidFill>
                  <a:srgbClr val="ABB2BF"/>
                </a:solidFill>
                <a:cs typeface="+mn-ea"/>
                <a:sym typeface="+mn-lt"/>
              </a:rPr>
              <a:t> </a:t>
            </a:r>
            <a:r>
              <a:rPr lang="en-US" sz="1400" b="0" u="none" dirty="0" err="1">
                <a:solidFill>
                  <a:srgbClr val="C678DD"/>
                </a:solidFill>
                <a:cs typeface="+mn-ea"/>
                <a:sym typeface="+mn-lt"/>
              </a:rPr>
              <a:t>mut</a:t>
            </a:r>
            <a:r>
              <a:rPr lang="en-US" sz="1400" b="0" u="none" dirty="0">
                <a:solidFill>
                  <a:srgbClr val="ABB2BF"/>
                </a:solidFill>
                <a:cs typeface="+mn-ea"/>
                <a:sym typeface="+mn-lt"/>
              </a:rPr>
              <a:t> </a:t>
            </a:r>
            <a:r>
              <a:rPr lang="en-US" sz="1400" b="0" u="none" dirty="0">
                <a:solidFill>
                  <a:srgbClr val="E06C75"/>
                </a:solidFill>
                <a:uFill>
                  <a:solidFill>
                    <a:srgbClr val="000000"/>
                  </a:solidFill>
                </a:uFill>
                <a:cs typeface="+mn-ea"/>
                <a:sym typeface="+mn-lt"/>
              </a:rPr>
              <a:t>result</a:t>
            </a:r>
            <a:r>
              <a:rPr lang="en-US" sz="1400" b="0" u="none" dirty="0">
                <a:solidFill>
                  <a:srgbClr val="ABB2BF"/>
                </a:solidFill>
                <a:cs typeface="+mn-ea"/>
                <a:sym typeface="+mn-lt"/>
              </a:rPr>
              <a:t>;</a:t>
            </a:r>
          </a:p>
          <a:p>
            <a:r>
              <a:rPr lang="en-US" sz="1400" b="0" u="none" dirty="0">
                <a:solidFill>
                  <a:srgbClr val="ABB2BF"/>
                </a:solidFill>
                <a:cs typeface="+mn-ea"/>
                <a:sym typeface="+mn-lt"/>
              </a:rPr>
              <a:t>    {</a:t>
            </a:r>
          </a:p>
          <a:p>
            <a:r>
              <a:rPr lang="en-US" sz="1400" b="0" u="none" dirty="0">
                <a:solidFill>
                  <a:srgbClr val="ABB2BF"/>
                </a:solidFill>
                <a:cs typeface="+mn-ea"/>
                <a:sym typeface="+mn-lt"/>
              </a:rPr>
              <a:t>        </a:t>
            </a:r>
            <a:r>
              <a:rPr lang="en-US" sz="1400" b="0" u="none" dirty="0">
                <a:solidFill>
                  <a:srgbClr val="C678DD"/>
                </a:solidFill>
                <a:cs typeface="+mn-ea"/>
                <a:sym typeface="+mn-lt"/>
              </a:rPr>
              <a:t>let</a:t>
            </a:r>
            <a:r>
              <a:rPr lang="en-US" sz="1400" b="0" u="none" dirty="0">
                <a:solidFill>
                  <a:srgbClr val="ABB2BF"/>
                </a:solidFill>
                <a:cs typeface="+mn-ea"/>
                <a:sym typeface="+mn-lt"/>
              </a:rPr>
              <a:t> </a:t>
            </a:r>
            <a:r>
              <a:rPr lang="en-US" sz="1400" b="0" u="none" dirty="0">
                <a:solidFill>
                  <a:srgbClr val="E06C75"/>
                </a:solidFill>
                <a:cs typeface="+mn-ea"/>
                <a:sym typeface="+mn-lt"/>
              </a:rPr>
              <a:t>string1</a:t>
            </a:r>
            <a:r>
              <a:rPr lang="en-US" sz="1400" b="0" u="none" dirty="0">
                <a:solidFill>
                  <a:srgbClr val="ABB2BF"/>
                </a:solidFill>
                <a:cs typeface="+mn-ea"/>
                <a:sym typeface="+mn-lt"/>
              </a:rPr>
              <a:t> = </a:t>
            </a:r>
            <a:r>
              <a:rPr lang="en-US" sz="1400" b="0" u="none" dirty="0">
                <a:solidFill>
                  <a:srgbClr val="E5C07B"/>
                </a:solidFill>
                <a:cs typeface="+mn-ea"/>
                <a:sym typeface="+mn-lt"/>
              </a:rPr>
              <a:t>String</a:t>
            </a:r>
            <a:r>
              <a:rPr lang="en-US" sz="1400" b="0" u="none" dirty="0">
                <a:solidFill>
                  <a:srgbClr val="ABB2BF"/>
                </a:solidFill>
                <a:cs typeface="+mn-ea"/>
                <a:sym typeface="+mn-lt"/>
              </a:rPr>
              <a:t>::</a:t>
            </a:r>
            <a:r>
              <a:rPr lang="en-US" sz="1400" b="0" u="none" dirty="0">
                <a:solidFill>
                  <a:srgbClr val="61AFEF"/>
                </a:solidFill>
                <a:cs typeface="+mn-ea"/>
                <a:sym typeface="+mn-lt"/>
              </a:rPr>
              <a:t>from</a:t>
            </a:r>
            <a:r>
              <a:rPr lang="en-US" sz="1400" b="0" u="none" dirty="0">
                <a:solidFill>
                  <a:srgbClr val="ABB2BF"/>
                </a:solidFill>
                <a:cs typeface="+mn-ea"/>
                <a:sym typeface="+mn-lt"/>
              </a:rPr>
              <a:t>(</a:t>
            </a:r>
            <a:r>
              <a:rPr lang="en-US" sz="1400" b="0" u="none" dirty="0">
                <a:solidFill>
                  <a:srgbClr val="98C379"/>
                </a:solidFill>
                <a:cs typeface="+mn-ea"/>
                <a:sym typeface="+mn-lt"/>
              </a:rPr>
              <a:t>"</a:t>
            </a:r>
            <a:r>
              <a:rPr lang="en-US" sz="1400" b="0" u="none" dirty="0" err="1">
                <a:solidFill>
                  <a:srgbClr val="98C379"/>
                </a:solidFill>
                <a:cs typeface="+mn-ea"/>
                <a:sym typeface="+mn-lt"/>
              </a:rPr>
              <a:t>abcd</a:t>
            </a:r>
            <a:r>
              <a:rPr lang="en-US" sz="1400" b="0" u="none" dirty="0">
                <a:solidFill>
                  <a:srgbClr val="98C379"/>
                </a:solidFill>
                <a:cs typeface="+mn-ea"/>
                <a:sym typeface="+mn-lt"/>
              </a:rPr>
              <a:t>"</a:t>
            </a:r>
            <a:r>
              <a:rPr lang="en-US" sz="1400" b="0" u="none" dirty="0">
                <a:solidFill>
                  <a:srgbClr val="ABB2BF"/>
                </a:solidFill>
                <a:cs typeface="+mn-ea"/>
                <a:sym typeface="+mn-lt"/>
              </a:rPr>
              <a:t>);</a:t>
            </a:r>
          </a:p>
          <a:p>
            <a:r>
              <a:rPr lang="en-US" sz="1400" b="0" u="none" dirty="0">
                <a:solidFill>
                  <a:srgbClr val="ABB2BF"/>
                </a:solidFill>
                <a:cs typeface="+mn-ea"/>
                <a:sym typeface="+mn-lt"/>
              </a:rPr>
              <a:t>        </a:t>
            </a:r>
            <a:r>
              <a:rPr lang="en-US" sz="1400" b="0" u="none" dirty="0">
                <a:solidFill>
                  <a:srgbClr val="C678DD"/>
                </a:solidFill>
                <a:cs typeface="+mn-ea"/>
                <a:sym typeface="+mn-lt"/>
              </a:rPr>
              <a:t>let</a:t>
            </a:r>
            <a:r>
              <a:rPr lang="en-US" sz="1400" b="0" u="none" dirty="0">
                <a:solidFill>
                  <a:srgbClr val="ABB2BF"/>
                </a:solidFill>
                <a:cs typeface="+mn-ea"/>
                <a:sym typeface="+mn-lt"/>
              </a:rPr>
              <a:t> </a:t>
            </a:r>
            <a:r>
              <a:rPr lang="en-US" sz="1400" b="0" u="none" dirty="0">
                <a:solidFill>
                  <a:srgbClr val="E06C75"/>
                </a:solidFill>
                <a:cs typeface="+mn-ea"/>
                <a:sym typeface="+mn-lt"/>
              </a:rPr>
              <a:t>string2</a:t>
            </a:r>
            <a:r>
              <a:rPr lang="en-US" sz="1400" b="0" u="none" dirty="0">
                <a:solidFill>
                  <a:srgbClr val="ABB2BF"/>
                </a:solidFill>
                <a:cs typeface="+mn-ea"/>
                <a:sym typeface="+mn-lt"/>
              </a:rPr>
              <a:t> = </a:t>
            </a:r>
            <a:r>
              <a:rPr lang="en-US" sz="1400" b="0" u="none" dirty="0">
                <a:solidFill>
                  <a:srgbClr val="98C379"/>
                </a:solidFill>
                <a:cs typeface="+mn-ea"/>
                <a:sym typeface="+mn-lt"/>
              </a:rPr>
              <a:t>"</a:t>
            </a:r>
            <a:r>
              <a:rPr lang="en-US" sz="1400" b="0" u="none" dirty="0" err="1">
                <a:solidFill>
                  <a:srgbClr val="98C379"/>
                </a:solidFill>
                <a:cs typeface="+mn-ea"/>
                <a:sym typeface="+mn-lt"/>
              </a:rPr>
              <a:t>xyz</a:t>
            </a:r>
            <a:r>
              <a:rPr lang="en-US" sz="1400" b="0" u="none" dirty="0">
                <a:solidFill>
                  <a:srgbClr val="98C379"/>
                </a:solidFill>
                <a:cs typeface="+mn-ea"/>
                <a:sym typeface="+mn-lt"/>
              </a:rPr>
              <a:t>"</a:t>
            </a:r>
            <a:r>
              <a:rPr lang="en-US" sz="1400" b="0" u="none" dirty="0">
                <a:solidFill>
                  <a:srgbClr val="ABB2BF"/>
                </a:solidFill>
                <a:cs typeface="+mn-ea"/>
                <a:sym typeface="+mn-lt"/>
              </a:rPr>
              <a:t>;</a:t>
            </a:r>
          </a:p>
          <a:p>
            <a:r>
              <a:rPr lang="en-US" sz="1400" b="0" u="none" dirty="0">
                <a:solidFill>
                  <a:srgbClr val="ABB2BF"/>
                </a:solidFill>
                <a:cs typeface="+mn-ea"/>
                <a:sym typeface="+mn-lt"/>
              </a:rPr>
              <a:t>        </a:t>
            </a:r>
            <a:r>
              <a:rPr lang="en-US" sz="1400" b="0" u="none" dirty="0">
                <a:solidFill>
                  <a:srgbClr val="E06C75"/>
                </a:solidFill>
                <a:uFill>
                  <a:solidFill>
                    <a:srgbClr val="000000"/>
                  </a:solidFill>
                </a:uFill>
                <a:cs typeface="+mn-ea"/>
                <a:sym typeface="+mn-lt"/>
              </a:rPr>
              <a:t>result</a:t>
            </a:r>
            <a:r>
              <a:rPr lang="en-US" sz="1400" b="0" u="none" dirty="0">
                <a:solidFill>
                  <a:srgbClr val="ABB2BF"/>
                </a:solidFill>
                <a:cs typeface="+mn-ea"/>
                <a:sym typeface="+mn-lt"/>
              </a:rPr>
              <a:t> = </a:t>
            </a:r>
            <a:r>
              <a:rPr lang="en-US" sz="1400" b="0" u="none" dirty="0">
                <a:solidFill>
                  <a:srgbClr val="61AFEF"/>
                </a:solidFill>
                <a:cs typeface="+mn-ea"/>
                <a:sym typeface="+mn-lt"/>
              </a:rPr>
              <a:t>longest</a:t>
            </a:r>
            <a:r>
              <a:rPr lang="en-US" sz="1400" b="0" u="none" dirty="0">
                <a:solidFill>
                  <a:srgbClr val="ABB2BF"/>
                </a:solidFill>
                <a:cs typeface="+mn-ea"/>
                <a:sym typeface="+mn-lt"/>
              </a:rPr>
              <a:t>(</a:t>
            </a:r>
            <a:r>
              <a:rPr lang="en-US" sz="1400" b="0" u="none" dirty="0">
                <a:solidFill>
                  <a:srgbClr val="E06C75"/>
                </a:solidFill>
                <a:cs typeface="+mn-ea"/>
                <a:sym typeface="+mn-lt"/>
              </a:rPr>
              <a:t>string1</a:t>
            </a:r>
            <a:r>
              <a:rPr lang="en-US" sz="1400" b="0" u="none" dirty="0">
                <a:solidFill>
                  <a:srgbClr val="ABB2BF"/>
                </a:solidFill>
                <a:cs typeface="+mn-ea"/>
                <a:sym typeface="+mn-lt"/>
              </a:rPr>
              <a:t>.</a:t>
            </a:r>
            <a:r>
              <a:rPr lang="en-US" sz="1400" b="0" u="none" dirty="0">
                <a:solidFill>
                  <a:srgbClr val="61AFEF"/>
                </a:solidFill>
                <a:cs typeface="+mn-ea"/>
                <a:sym typeface="+mn-lt"/>
              </a:rPr>
              <a:t>as_str</a:t>
            </a:r>
            <a:r>
              <a:rPr lang="en-US" sz="1400" b="0" u="none" dirty="0">
                <a:solidFill>
                  <a:srgbClr val="ABB2BF"/>
                </a:solidFill>
                <a:cs typeface="+mn-ea"/>
                <a:sym typeface="+mn-lt"/>
              </a:rPr>
              <a:t>(), </a:t>
            </a:r>
            <a:r>
              <a:rPr lang="en-US" sz="1400" b="0" u="none" dirty="0">
                <a:solidFill>
                  <a:srgbClr val="E06C75"/>
                </a:solidFill>
                <a:cs typeface="+mn-ea"/>
                <a:sym typeface="+mn-lt"/>
              </a:rPr>
              <a:t>string2</a:t>
            </a:r>
            <a:r>
              <a:rPr lang="en-US" sz="1400" b="0" u="none" dirty="0">
                <a:solidFill>
                  <a:srgbClr val="ABB2BF"/>
                </a:solidFill>
                <a:cs typeface="+mn-ea"/>
                <a:sym typeface="+mn-lt"/>
              </a:rPr>
              <a:t>);</a:t>
            </a:r>
          </a:p>
          <a:p>
            <a:r>
              <a:rPr lang="en-US" sz="1400" b="0" u="none" dirty="0">
                <a:solidFill>
                  <a:srgbClr val="ABB2BF"/>
                </a:solidFill>
                <a:cs typeface="+mn-ea"/>
                <a:sym typeface="+mn-lt"/>
              </a:rPr>
              <a:t>    }</a:t>
            </a:r>
          </a:p>
          <a:p>
            <a:r>
              <a:rPr lang="en-US" sz="1400" b="0" u="none" dirty="0">
                <a:solidFill>
                  <a:srgbClr val="ABB2BF"/>
                </a:solidFill>
                <a:cs typeface="+mn-ea"/>
                <a:sym typeface="+mn-lt"/>
              </a:rPr>
              <a:t>    </a:t>
            </a:r>
            <a:r>
              <a:rPr lang="en-US" sz="1400" b="0" u="none" dirty="0">
                <a:solidFill>
                  <a:srgbClr val="D19A66"/>
                </a:solidFill>
                <a:cs typeface="+mn-ea"/>
                <a:sym typeface="+mn-lt"/>
              </a:rPr>
              <a:t>println!</a:t>
            </a:r>
            <a:r>
              <a:rPr lang="en-US" sz="1400" b="0" u="none" dirty="0">
                <a:solidFill>
                  <a:srgbClr val="ABB2BF"/>
                </a:solidFill>
                <a:cs typeface="+mn-ea"/>
                <a:sym typeface="+mn-lt"/>
              </a:rPr>
              <a:t>(</a:t>
            </a:r>
            <a:r>
              <a:rPr lang="en-US" sz="1400" b="0" u="none" dirty="0">
                <a:solidFill>
                  <a:srgbClr val="98C379"/>
                </a:solidFill>
                <a:cs typeface="+mn-ea"/>
                <a:sym typeface="+mn-lt"/>
              </a:rPr>
              <a:t>"The longest string is </a:t>
            </a:r>
            <a:r>
              <a:rPr lang="en-US" sz="1400" b="0" u="none" dirty="0">
                <a:solidFill>
                  <a:srgbClr val="C678DD"/>
                </a:solidFill>
                <a:cs typeface="+mn-ea"/>
                <a:sym typeface="+mn-lt"/>
              </a:rPr>
              <a:t>{}</a:t>
            </a:r>
            <a:r>
              <a:rPr lang="en-US" sz="1400" b="0" u="none" dirty="0">
                <a:solidFill>
                  <a:srgbClr val="98C379"/>
                </a:solidFill>
                <a:cs typeface="+mn-ea"/>
                <a:sym typeface="+mn-lt"/>
              </a:rPr>
              <a:t>"</a:t>
            </a:r>
            <a:r>
              <a:rPr lang="en-US" sz="1400" b="0" u="none" dirty="0">
                <a:solidFill>
                  <a:srgbClr val="ABB2BF"/>
                </a:solidFill>
                <a:cs typeface="+mn-ea"/>
                <a:sym typeface="+mn-lt"/>
              </a:rPr>
              <a:t>, </a:t>
            </a:r>
            <a:r>
              <a:rPr lang="en-US" sz="1400" b="0" u="none" dirty="0">
                <a:solidFill>
                  <a:srgbClr val="E06C75"/>
                </a:solidFill>
                <a:uFill>
                  <a:solidFill>
                    <a:srgbClr val="000000"/>
                  </a:solidFill>
                </a:uFill>
                <a:cs typeface="+mn-ea"/>
                <a:sym typeface="+mn-lt"/>
              </a:rPr>
              <a:t>result</a:t>
            </a:r>
            <a:r>
              <a:rPr lang="en-US" sz="1400" b="0" u="none" dirty="0">
                <a:solidFill>
                  <a:srgbClr val="ABB2BF"/>
                </a:solidFill>
                <a:cs typeface="+mn-ea"/>
                <a:sym typeface="+mn-lt"/>
              </a:rPr>
              <a:t>);</a:t>
            </a:r>
          </a:p>
          <a:p>
            <a:r>
              <a:rPr lang="en-US" sz="1400" b="0" u="none" dirty="0">
                <a:solidFill>
                  <a:srgbClr val="ABB2BF"/>
                </a:solidFill>
                <a:cs typeface="+mn-ea"/>
                <a:sym typeface="+mn-lt"/>
              </a:rPr>
              <a:t>}</a:t>
            </a:r>
            <a:endParaRPr lang="en-US" sz="1400" b="0" u="none" dirty="0">
              <a:solidFill>
                <a:srgbClr val="C678DD"/>
              </a:solidFill>
              <a:cs typeface="+mn-ea"/>
              <a:sym typeface="+mn-lt"/>
            </a:endParaRPr>
          </a:p>
          <a:p>
            <a:r>
              <a:rPr lang="en-US" sz="1400" b="0" u="none" dirty="0">
                <a:solidFill>
                  <a:srgbClr val="C678DD"/>
                </a:solidFill>
                <a:cs typeface="+mn-ea"/>
                <a:sym typeface="+mn-lt"/>
              </a:rPr>
              <a:t>fn</a:t>
            </a:r>
            <a:r>
              <a:rPr lang="en-US" sz="1400" b="0" u="none" dirty="0">
                <a:solidFill>
                  <a:srgbClr val="ABB2BF"/>
                </a:solidFill>
                <a:cs typeface="+mn-ea"/>
                <a:sym typeface="+mn-lt"/>
              </a:rPr>
              <a:t> </a:t>
            </a:r>
            <a:r>
              <a:rPr lang="en-US" sz="1400" b="0" u="none" dirty="0">
                <a:solidFill>
                  <a:srgbClr val="61AFEF"/>
                </a:solidFill>
                <a:cs typeface="+mn-ea"/>
                <a:sym typeface="+mn-lt"/>
              </a:rPr>
              <a:t>longest</a:t>
            </a:r>
            <a:r>
              <a:rPr lang="en-US" sz="1400" b="0" u="none" dirty="0">
                <a:solidFill>
                  <a:srgbClr val="ABB2BF"/>
                </a:solidFill>
                <a:cs typeface="+mn-ea"/>
                <a:sym typeface="+mn-lt"/>
              </a:rPr>
              <a:t>&lt;'a&gt;(</a:t>
            </a:r>
            <a:r>
              <a:rPr lang="en-US" sz="1400" b="0" i="1" u="none" dirty="0">
                <a:solidFill>
                  <a:srgbClr val="E06C75"/>
                </a:solidFill>
                <a:cs typeface="+mn-ea"/>
                <a:sym typeface="+mn-lt"/>
              </a:rPr>
              <a:t>x</a:t>
            </a:r>
            <a:r>
              <a:rPr lang="en-US" sz="1400" b="0" u="none" dirty="0">
                <a:solidFill>
                  <a:srgbClr val="ABB2BF"/>
                </a:solidFill>
                <a:cs typeface="+mn-ea"/>
                <a:sym typeface="+mn-lt"/>
              </a:rPr>
              <a:t>: &amp;'a </a:t>
            </a:r>
            <a:r>
              <a:rPr lang="en-US" sz="1400" b="0" u="none" dirty="0">
                <a:solidFill>
                  <a:srgbClr val="E5C07B"/>
                </a:solidFill>
                <a:cs typeface="+mn-ea"/>
                <a:sym typeface="+mn-lt"/>
              </a:rPr>
              <a:t>str</a:t>
            </a:r>
            <a:r>
              <a:rPr lang="en-US" sz="1400" b="0" u="none" dirty="0">
                <a:solidFill>
                  <a:srgbClr val="ABB2BF"/>
                </a:solidFill>
                <a:cs typeface="+mn-ea"/>
                <a:sym typeface="+mn-lt"/>
              </a:rPr>
              <a:t>, </a:t>
            </a:r>
            <a:r>
              <a:rPr lang="en-US" sz="1400" b="0" i="1" u="none" dirty="0">
                <a:solidFill>
                  <a:srgbClr val="E06C75"/>
                </a:solidFill>
                <a:cs typeface="+mn-ea"/>
                <a:sym typeface="+mn-lt"/>
              </a:rPr>
              <a:t>y</a:t>
            </a:r>
            <a:r>
              <a:rPr lang="en-US" sz="1400" b="0" u="none" dirty="0">
                <a:solidFill>
                  <a:srgbClr val="ABB2BF"/>
                </a:solidFill>
                <a:cs typeface="+mn-ea"/>
                <a:sym typeface="+mn-lt"/>
              </a:rPr>
              <a:t>: &amp;'a </a:t>
            </a:r>
            <a:r>
              <a:rPr lang="en-US" sz="1400" b="0" u="none" dirty="0">
                <a:solidFill>
                  <a:srgbClr val="E5C07B"/>
                </a:solidFill>
                <a:cs typeface="+mn-ea"/>
                <a:sym typeface="+mn-lt"/>
              </a:rPr>
              <a:t>str</a:t>
            </a:r>
            <a:r>
              <a:rPr lang="en-US" sz="1400" b="0" u="none" dirty="0">
                <a:solidFill>
                  <a:srgbClr val="ABB2BF"/>
                </a:solidFill>
                <a:cs typeface="+mn-ea"/>
                <a:sym typeface="+mn-lt"/>
              </a:rPr>
              <a:t>) -&gt; &amp;'a </a:t>
            </a:r>
            <a:r>
              <a:rPr lang="en-US" sz="1400" b="0" u="none" dirty="0">
                <a:solidFill>
                  <a:srgbClr val="E5C07B"/>
                </a:solidFill>
                <a:cs typeface="+mn-ea"/>
                <a:sym typeface="+mn-lt"/>
              </a:rPr>
              <a:t>str</a:t>
            </a:r>
            <a:r>
              <a:rPr lang="en-US" sz="1400" b="0" u="none" dirty="0">
                <a:solidFill>
                  <a:srgbClr val="ABB2BF"/>
                </a:solidFill>
                <a:cs typeface="+mn-ea"/>
                <a:sym typeface="+mn-lt"/>
              </a:rPr>
              <a:t> {</a:t>
            </a:r>
          </a:p>
          <a:p>
            <a:r>
              <a:rPr lang="en-US" sz="1400" b="0" u="none" dirty="0">
                <a:solidFill>
                  <a:srgbClr val="ABB2BF"/>
                </a:solidFill>
                <a:cs typeface="+mn-ea"/>
                <a:sym typeface="+mn-lt"/>
              </a:rPr>
              <a:t>    </a:t>
            </a:r>
            <a:r>
              <a:rPr lang="en-US" sz="1400" b="0" u="none" dirty="0">
                <a:solidFill>
                  <a:srgbClr val="C678DD"/>
                </a:solidFill>
                <a:cs typeface="+mn-ea"/>
                <a:sym typeface="+mn-lt"/>
              </a:rPr>
              <a:t>if</a:t>
            </a:r>
            <a:r>
              <a:rPr lang="en-US" sz="1400" b="0" u="none" dirty="0">
                <a:solidFill>
                  <a:srgbClr val="ABB2BF"/>
                </a:solidFill>
                <a:cs typeface="+mn-ea"/>
                <a:sym typeface="+mn-lt"/>
              </a:rPr>
              <a:t> </a:t>
            </a:r>
            <a:r>
              <a:rPr lang="en-US" sz="1400" b="0" i="1" u="none" dirty="0" err="1">
                <a:solidFill>
                  <a:srgbClr val="E06C75"/>
                </a:solidFill>
                <a:cs typeface="+mn-ea"/>
                <a:sym typeface="+mn-lt"/>
              </a:rPr>
              <a:t>x</a:t>
            </a:r>
            <a:r>
              <a:rPr lang="en-US" sz="1400" b="0" u="none" dirty="0" err="1">
                <a:solidFill>
                  <a:srgbClr val="ABB2BF"/>
                </a:solidFill>
                <a:cs typeface="+mn-ea"/>
                <a:sym typeface="+mn-lt"/>
              </a:rPr>
              <a:t>.</a:t>
            </a:r>
            <a:r>
              <a:rPr lang="en-US" sz="1400" b="0" u="none" dirty="0" err="1">
                <a:solidFill>
                  <a:srgbClr val="61AFEF"/>
                </a:solidFill>
                <a:cs typeface="+mn-ea"/>
                <a:sym typeface="+mn-lt"/>
              </a:rPr>
              <a:t>len</a:t>
            </a:r>
            <a:r>
              <a:rPr lang="en-US" sz="1400" b="0" u="none" dirty="0">
                <a:solidFill>
                  <a:srgbClr val="ABB2BF"/>
                </a:solidFill>
                <a:cs typeface="+mn-ea"/>
                <a:sym typeface="+mn-lt"/>
              </a:rPr>
              <a:t>() &gt; </a:t>
            </a:r>
            <a:r>
              <a:rPr lang="en-US" sz="1400" b="0" i="1" u="none" dirty="0" err="1">
                <a:solidFill>
                  <a:srgbClr val="E06C75"/>
                </a:solidFill>
                <a:cs typeface="+mn-ea"/>
                <a:sym typeface="+mn-lt"/>
              </a:rPr>
              <a:t>y</a:t>
            </a:r>
            <a:r>
              <a:rPr lang="en-US" sz="1400" b="0" u="none" dirty="0" err="1">
                <a:solidFill>
                  <a:srgbClr val="ABB2BF"/>
                </a:solidFill>
                <a:cs typeface="+mn-ea"/>
                <a:sym typeface="+mn-lt"/>
              </a:rPr>
              <a:t>.</a:t>
            </a:r>
            <a:r>
              <a:rPr lang="en-US" sz="1400" b="0" u="none" dirty="0" err="1">
                <a:solidFill>
                  <a:srgbClr val="61AFEF"/>
                </a:solidFill>
                <a:cs typeface="+mn-ea"/>
                <a:sym typeface="+mn-lt"/>
              </a:rPr>
              <a:t>len</a:t>
            </a:r>
            <a:r>
              <a:rPr lang="en-US" sz="1400" b="0" u="none" dirty="0">
                <a:solidFill>
                  <a:srgbClr val="ABB2BF"/>
                </a:solidFill>
                <a:cs typeface="+mn-ea"/>
                <a:sym typeface="+mn-lt"/>
              </a:rPr>
              <a:t>() {</a:t>
            </a:r>
          </a:p>
          <a:p>
            <a:r>
              <a:rPr lang="en-US" sz="1400" b="0" u="none" dirty="0">
                <a:solidFill>
                  <a:srgbClr val="ABB2BF"/>
                </a:solidFill>
                <a:cs typeface="+mn-ea"/>
                <a:sym typeface="+mn-lt"/>
              </a:rPr>
              <a:t>        </a:t>
            </a:r>
            <a:r>
              <a:rPr lang="en-US" sz="1400" b="0" i="1" u="none" dirty="0">
                <a:solidFill>
                  <a:srgbClr val="E06C75"/>
                </a:solidFill>
                <a:cs typeface="+mn-ea"/>
                <a:sym typeface="+mn-lt"/>
              </a:rPr>
              <a:t>x</a:t>
            </a:r>
            <a:endParaRPr lang="en-US" sz="1400" b="0" u="none" dirty="0">
              <a:solidFill>
                <a:srgbClr val="ABB2BF"/>
              </a:solidFill>
              <a:cs typeface="+mn-ea"/>
              <a:sym typeface="+mn-lt"/>
            </a:endParaRPr>
          </a:p>
          <a:p>
            <a:r>
              <a:rPr lang="en-US" sz="1400" b="0" u="none" dirty="0">
                <a:solidFill>
                  <a:srgbClr val="ABB2BF"/>
                </a:solidFill>
                <a:cs typeface="+mn-ea"/>
                <a:sym typeface="+mn-lt"/>
              </a:rPr>
              <a:t>    } </a:t>
            </a:r>
            <a:r>
              <a:rPr lang="en-US" sz="1400" b="0" u="none" dirty="0">
                <a:solidFill>
                  <a:srgbClr val="C678DD"/>
                </a:solidFill>
                <a:cs typeface="+mn-ea"/>
                <a:sym typeface="+mn-lt"/>
              </a:rPr>
              <a:t>else</a:t>
            </a:r>
            <a:r>
              <a:rPr lang="en-US" sz="1400" b="0" u="none" dirty="0">
                <a:solidFill>
                  <a:srgbClr val="ABB2BF"/>
                </a:solidFill>
                <a:cs typeface="+mn-ea"/>
                <a:sym typeface="+mn-lt"/>
              </a:rPr>
              <a:t> {</a:t>
            </a:r>
          </a:p>
          <a:p>
            <a:r>
              <a:rPr lang="en-US" sz="1400" b="0" u="none" dirty="0">
                <a:solidFill>
                  <a:srgbClr val="ABB2BF"/>
                </a:solidFill>
                <a:cs typeface="+mn-ea"/>
                <a:sym typeface="+mn-lt"/>
              </a:rPr>
              <a:t>        </a:t>
            </a:r>
            <a:r>
              <a:rPr lang="en-US" sz="1400" b="0" i="1" u="none" dirty="0">
                <a:solidFill>
                  <a:srgbClr val="E06C75"/>
                </a:solidFill>
                <a:cs typeface="+mn-ea"/>
                <a:sym typeface="+mn-lt"/>
              </a:rPr>
              <a:t>y</a:t>
            </a:r>
            <a:endParaRPr lang="en-US" sz="1400" b="0" u="none" dirty="0">
              <a:solidFill>
                <a:srgbClr val="ABB2BF"/>
              </a:solidFill>
              <a:cs typeface="+mn-ea"/>
              <a:sym typeface="+mn-lt"/>
            </a:endParaRPr>
          </a:p>
          <a:p>
            <a:r>
              <a:rPr lang="en-US" sz="1400" b="0" u="none" dirty="0">
                <a:solidFill>
                  <a:srgbClr val="ABB2BF"/>
                </a:solidFill>
                <a:cs typeface="+mn-ea"/>
                <a:sym typeface="+mn-lt"/>
              </a:rPr>
              <a:t>    }</a:t>
            </a:r>
          </a:p>
          <a:p>
            <a:r>
              <a:rPr lang="en-US" sz="1400" b="0" u="none" dirty="0">
                <a:solidFill>
                  <a:srgbClr val="ABB2BF"/>
                </a:solidFill>
                <a:cs typeface="+mn-ea"/>
                <a:sym typeface="+mn-lt"/>
              </a:rPr>
              <a:t>}</a:t>
            </a:r>
            <a:endParaRPr lang="en-US" altLang="zh-CN" sz="1400" b="0" u="none" dirty="0">
              <a:solidFill>
                <a:srgbClr val="ABB2BF"/>
              </a:solidFill>
              <a:cs typeface="+mn-ea"/>
              <a:sym typeface="+mn-lt"/>
            </a:endParaRPr>
          </a:p>
        </p:txBody>
      </p:sp>
      <p:sp>
        <p:nvSpPr>
          <p:cNvPr id="8" name="右箭头 7"/>
          <p:cNvSpPr/>
          <p:nvPr/>
        </p:nvSpPr>
        <p:spPr>
          <a:xfrm>
            <a:off x="5803641" y="2024743"/>
            <a:ext cx="279918" cy="1007706"/>
          </a:xfrm>
          <a:prstGeom prst="right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p:cNvSpPr txBox="1"/>
          <p:nvPr/>
        </p:nvSpPr>
        <p:spPr>
          <a:xfrm>
            <a:off x="6601443" y="3850914"/>
            <a:ext cx="4189061" cy="954107"/>
          </a:xfrm>
          <a:prstGeom prst="rect">
            <a:avLst/>
          </a:prstGeom>
          <a:solidFill>
            <a:schemeClr val="tx1"/>
          </a:solidFill>
        </p:spPr>
        <p:txBody>
          <a:bodyPr vert="horz" wrap="square" rtlCol="0">
            <a:spAutoFit/>
          </a:bodyPr>
          <a:lstStyle/>
          <a:p>
            <a:r>
              <a:rPr lang="en-US" altLang="zh-CN" sz="1400" dirty="0">
                <a:solidFill>
                  <a:schemeClr val="bg2"/>
                </a:solidFill>
                <a:cs typeface="+mn-ea"/>
                <a:sym typeface="+mn-lt"/>
              </a:rPr>
              <a:t>// </a:t>
            </a:r>
            <a:r>
              <a:rPr lang="zh-CN" altLang="en-US" sz="1400" b="1" dirty="0">
                <a:solidFill>
                  <a:srgbClr val="00B050"/>
                </a:solidFill>
                <a:cs typeface="+mn-ea"/>
                <a:sym typeface="+mn-lt"/>
              </a:rPr>
              <a:t>代码示例</a:t>
            </a:r>
            <a:endParaRPr lang="en-US" altLang="zh-CN" sz="1400" b="1" dirty="0">
              <a:solidFill>
                <a:srgbClr val="00B050"/>
              </a:solidFill>
              <a:cs typeface="+mn-ea"/>
              <a:sym typeface="+mn-lt"/>
            </a:endParaRPr>
          </a:p>
          <a:p>
            <a:r>
              <a:rPr lang="en-US" altLang="zh-CN" sz="1400" dirty="0">
                <a:solidFill>
                  <a:srgbClr val="ABB2BF"/>
                </a:solidFill>
                <a:cs typeface="+mn-ea"/>
                <a:sym typeface="+mn-lt"/>
              </a:rPr>
              <a:t>&amp;</a:t>
            </a:r>
            <a:r>
              <a:rPr lang="en-US" altLang="zh-CN" sz="1400" dirty="0">
                <a:solidFill>
                  <a:srgbClr val="E5C07B"/>
                </a:solidFill>
                <a:cs typeface="+mn-ea"/>
                <a:sym typeface="+mn-lt"/>
              </a:rPr>
              <a:t>i32</a:t>
            </a:r>
            <a:r>
              <a:rPr lang="en-US" altLang="zh-CN" sz="1400" i="1" dirty="0">
                <a:solidFill>
                  <a:srgbClr val="7F848E"/>
                </a:solidFill>
                <a:cs typeface="+mn-ea"/>
                <a:sym typeface="+mn-lt"/>
              </a:rPr>
              <a:t>        // </a:t>
            </a:r>
            <a:r>
              <a:rPr lang="zh-CN" altLang="en-US" sz="1400" i="1" dirty="0">
                <a:solidFill>
                  <a:srgbClr val="7F848E"/>
                </a:solidFill>
                <a:cs typeface="+mn-ea"/>
                <a:sym typeface="+mn-lt"/>
              </a:rPr>
              <a:t>引用</a:t>
            </a:r>
            <a:endParaRPr lang="zh-CN" altLang="en-US" sz="1400" dirty="0">
              <a:solidFill>
                <a:srgbClr val="ABB2BF"/>
              </a:solidFill>
              <a:cs typeface="+mn-ea"/>
              <a:sym typeface="+mn-lt"/>
            </a:endParaRPr>
          </a:p>
          <a:p>
            <a:r>
              <a:rPr lang="en-US" altLang="zh-CN" sz="1400" dirty="0">
                <a:solidFill>
                  <a:srgbClr val="ABB2BF"/>
                </a:solidFill>
                <a:cs typeface="+mn-ea"/>
                <a:sym typeface="+mn-lt"/>
              </a:rPr>
              <a:t>&amp;'</a:t>
            </a:r>
            <a:r>
              <a:rPr lang="en-US" altLang="zh-CN" sz="1400" dirty="0">
                <a:solidFill>
                  <a:srgbClr val="E5C07B"/>
                </a:solidFill>
                <a:cs typeface="+mn-ea"/>
                <a:sym typeface="+mn-lt"/>
              </a:rPr>
              <a:t>a</a:t>
            </a:r>
            <a:r>
              <a:rPr lang="en-US" altLang="zh-CN" sz="1400" dirty="0">
                <a:solidFill>
                  <a:srgbClr val="ABB2BF"/>
                </a:solidFill>
                <a:cs typeface="+mn-ea"/>
                <a:sym typeface="+mn-lt"/>
              </a:rPr>
              <a:t> </a:t>
            </a:r>
            <a:r>
              <a:rPr lang="en-US" altLang="zh-CN" sz="1400" dirty="0">
                <a:solidFill>
                  <a:srgbClr val="E5C07B"/>
                </a:solidFill>
                <a:cs typeface="+mn-ea"/>
                <a:sym typeface="+mn-lt"/>
              </a:rPr>
              <a:t>i32</a:t>
            </a:r>
            <a:r>
              <a:rPr lang="en-US" altLang="zh-CN" sz="1400" i="1" dirty="0">
                <a:solidFill>
                  <a:srgbClr val="7F848E"/>
                </a:solidFill>
                <a:cs typeface="+mn-ea"/>
                <a:sym typeface="+mn-lt"/>
              </a:rPr>
              <a:t>     // </a:t>
            </a:r>
            <a:r>
              <a:rPr lang="zh-CN" altLang="en-US" sz="1400" i="1" dirty="0">
                <a:solidFill>
                  <a:srgbClr val="7F848E"/>
                </a:solidFill>
                <a:cs typeface="+mn-ea"/>
                <a:sym typeface="+mn-lt"/>
              </a:rPr>
              <a:t>带有显式生命周期的引用</a:t>
            </a:r>
            <a:endParaRPr lang="zh-CN" altLang="en-US" sz="1400" dirty="0">
              <a:solidFill>
                <a:srgbClr val="ABB2BF"/>
              </a:solidFill>
              <a:cs typeface="+mn-ea"/>
              <a:sym typeface="+mn-lt"/>
            </a:endParaRPr>
          </a:p>
          <a:p>
            <a:r>
              <a:rPr lang="en-US" altLang="zh-CN" sz="1400" dirty="0">
                <a:solidFill>
                  <a:srgbClr val="ABB2BF"/>
                </a:solidFill>
                <a:cs typeface="+mn-ea"/>
                <a:sym typeface="+mn-lt"/>
              </a:rPr>
              <a:t>&amp;'</a:t>
            </a:r>
            <a:r>
              <a:rPr lang="en-US" altLang="zh-CN" sz="1400" dirty="0">
                <a:solidFill>
                  <a:srgbClr val="E5C07B"/>
                </a:solidFill>
                <a:cs typeface="+mn-ea"/>
                <a:sym typeface="+mn-lt"/>
              </a:rPr>
              <a:t>a</a:t>
            </a:r>
            <a:r>
              <a:rPr lang="en-US" altLang="zh-CN" sz="1400" dirty="0">
                <a:solidFill>
                  <a:srgbClr val="ABB2BF"/>
                </a:solidFill>
                <a:cs typeface="+mn-ea"/>
                <a:sym typeface="+mn-lt"/>
              </a:rPr>
              <a:t> </a:t>
            </a:r>
            <a:r>
              <a:rPr lang="en-US" altLang="zh-CN" sz="1400" dirty="0" err="1">
                <a:solidFill>
                  <a:srgbClr val="C678DD"/>
                </a:solidFill>
                <a:cs typeface="+mn-ea"/>
                <a:sym typeface="+mn-lt"/>
              </a:rPr>
              <a:t>mut</a:t>
            </a:r>
            <a:r>
              <a:rPr lang="en-US" altLang="zh-CN" sz="1400" dirty="0">
                <a:solidFill>
                  <a:srgbClr val="ABB2BF"/>
                </a:solidFill>
                <a:cs typeface="+mn-ea"/>
                <a:sym typeface="+mn-lt"/>
              </a:rPr>
              <a:t> </a:t>
            </a:r>
            <a:r>
              <a:rPr lang="en-US" altLang="zh-CN" sz="1400" dirty="0">
                <a:solidFill>
                  <a:srgbClr val="E5C07B"/>
                </a:solidFill>
                <a:cs typeface="+mn-ea"/>
                <a:sym typeface="+mn-lt"/>
              </a:rPr>
              <a:t>i32</a:t>
            </a:r>
            <a:r>
              <a:rPr lang="en-US" altLang="zh-CN" sz="1400" i="1" dirty="0">
                <a:solidFill>
                  <a:srgbClr val="7F848E"/>
                </a:solidFill>
                <a:cs typeface="+mn-ea"/>
                <a:sym typeface="+mn-lt"/>
              </a:rPr>
              <a:t> // </a:t>
            </a:r>
            <a:r>
              <a:rPr lang="zh-CN" altLang="en-US" sz="1400" i="1" dirty="0">
                <a:solidFill>
                  <a:srgbClr val="7F848E"/>
                </a:solidFill>
                <a:cs typeface="+mn-ea"/>
                <a:sym typeface="+mn-lt"/>
              </a:rPr>
              <a:t>带有显式生命周期的可变引用</a:t>
            </a:r>
            <a:endParaRPr lang="zh-CN" altLang="en-US" sz="1400" b="0" dirty="0">
              <a:solidFill>
                <a:srgbClr val="ABB2BF"/>
              </a:solidFill>
              <a:effectLst/>
              <a:cs typeface="+mn-ea"/>
              <a:sym typeface="+mn-lt"/>
            </a:endParaRPr>
          </a:p>
        </p:txBody>
      </p:sp>
      <p:sp>
        <p:nvSpPr>
          <p:cNvPr id="6" name="文本框 5"/>
          <p:cNvSpPr txBox="1"/>
          <p:nvPr/>
        </p:nvSpPr>
        <p:spPr>
          <a:xfrm>
            <a:off x="6506723" y="3319785"/>
            <a:ext cx="3965510" cy="475066"/>
          </a:xfrm>
          <a:prstGeom prst="rect">
            <a:avLst/>
          </a:prstGeom>
          <a:noFill/>
        </p:spPr>
        <p:txBody>
          <a:bodyPr vert="horz" wrap="square" rtlCol="0">
            <a:spAutoFit/>
          </a:bodyPr>
          <a:lstStyle/>
          <a:p>
            <a:pPr algn="l">
              <a:lnSpc>
                <a:spcPts val="3440"/>
              </a:lnSpc>
            </a:pPr>
            <a:r>
              <a:rPr lang="zh-CN" altLang="en-US" sz="1600">
                <a:cs typeface="+mn-ea"/>
                <a:sym typeface="+mn-lt"/>
              </a:rPr>
              <a:t>生命周期语法：</a:t>
            </a:r>
            <a:endParaRPr lang="zh-CN" altLang="en-US" sz="1600" dirty="0">
              <a:cs typeface="+mn-ea"/>
              <a:sym typeface="+mn-lt"/>
            </a:endParaRPr>
          </a:p>
        </p:txBody>
      </p:sp>
      <p:sp>
        <p:nvSpPr>
          <p:cNvPr id="9" name="TextBox 8"/>
          <p:cNvSpPr txBox="1"/>
          <p:nvPr/>
        </p:nvSpPr>
        <p:spPr>
          <a:xfrm>
            <a:off x="6516706" y="4906474"/>
            <a:ext cx="5076969" cy="1326074"/>
          </a:xfrm>
          <a:prstGeom prst="rect">
            <a:avLst/>
          </a:prstGeom>
          <a:noFill/>
        </p:spPr>
        <p:txBody>
          <a:bodyPr vert="horz" wrap="square" rtlCol="0" anchor="t">
            <a:noAutofit/>
          </a:bodyPr>
          <a:lstStyle/>
          <a:p>
            <a:pPr algn="l">
              <a:lnSpc>
                <a:spcPct val="150000"/>
              </a:lnSpc>
            </a:pPr>
            <a:r>
              <a:rPr lang="en-US" altLang="zh-CN" sz="1400" dirty="0">
                <a:solidFill>
                  <a:srgbClr val="000000"/>
                </a:solidFill>
                <a:cs typeface="+mn-ea"/>
                <a:sym typeface="+mn-lt"/>
              </a:rPr>
              <a:t>Rust </a:t>
            </a:r>
            <a:r>
              <a:rPr lang="zh-CN" altLang="en-US" sz="1400" dirty="0">
                <a:solidFill>
                  <a:srgbClr val="000000"/>
                </a:solidFill>
                <a:cs typeface="+mn-ea"/>
                <a:sym typeface="+mn-lt"/>
              </a:rPr>
              <a:t>有两种泛型：</a:t>
            </a:r>
            <a:r>
              <a:rPr lang="en-US" altLang="zh-CN" sz="1400" dirty="0">
                <a:solidFill>
                  <a:srgbClr val="000000"/>
                </a:solidFill>
                <a:cs typeface="+mn-ea"/>
                <a:sym typeface="+mn-lt"/>
              </a:rPr>
              <a:t>‘a </a:t>
            </a:r>
            <a:r>
              <a:rPr lang="zh-CN" altLang="en-US" sz="1400" dirty="0">
                <a:solidFill>
                  <a:srgbClr val="000000"/>
                </a:solidFill>
                <a:cs typeface="+mn-ea"/>
                <a:sym typeface="+mn-lt"/>
              </a:rPr>
              <a:t>和 </a:t>
            </a:r>
            <a:r>
              <a:rPr lang="en-US" altLang="zh-CN" sz="1400" dirty="0">
                <a:solidFill>
                  <a:srgbClr val="000000"/>
                </a:solidFill>
                <a:cs typeface="+mn-ea"/>
                <a:sym typeface="+mn-lt"/>
              </a:rPr>
              <a:t>T </a:t>
            </a:r>
            <a:r>
              <a:rPr lang="zh-CN" altLang="en-US" sz="1400" dirty="0">
                <a:solidFill>
                  <a:srgbClr val="000000"/>
                </a:solidFill>
                <a:cs typeface="+mn-ea"/>
                <a:sym typeface="+mn-lt"/>
              </a:rPr>
              <a:t>。前者专指生命周期参数，后者专指类型。泛型，即泛指的类型，非具体某种类型。同样，还有 </a:t>
            </a:r>
            <a:r>
              <a:rPr lang="en-US" altLang="zh-CN" sz="1400" dirty="0">
                <a:solidFill>
                  <a:srgbClr val="000000"/>
                </a:solidFill>
                <a:cs typeface="+mn-ea"/>
                <a:sym typeface="+mn-lt"/>
              </a:rPr>
              <a:t>&lt;T&gt; </a:t>
            </a:r>
            <a:r>
              <a:rPr lang="zh-CN" altLang="en-US" sz="1400" dirty="0">
                <a:solidFill>
                  <a:srgbClr val="000000"/>
                </a:solidFill>
                <a:cs typeface="+mn-ea"/>
                <a:sym typeface="+mn-lt"/>
              </a:rPr>
              <a:t>也代表泛型</a:t>
            </a:r>
          </a:p>
        </p:txBody>
      </p:sp>
      <p:pic>
        <p:nvPicPr>
          <p:cNvPr id="11" name="图片 10" descr="upload_405646138"/>
          <p:cNvPicPr>
            <a:picLocks noChangeAspect="1"/>
          </p:cNvPicPr>
          <p:nvPr/>
        </p:nvPicPr>
        <p:blipFill>
          <a:blip r:embed="rId3"/>
          <a:stretch>
            <a:fillRect/>
          </a:stretch>
        </p:blipFill>
        <p:spPr>
          <a:xfrm>
            <a:off x="6285453" y="1586933"/>
            <a:ext cx="4806141" cy="16549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53313" y="57978"/>
            <a:ext cx="10740640" cy="993400"/>
          </a:xfrm>
        </p:spPr>
        <p:txBody>
          <a:bodyPr/>
          <a:lstStyle/>
          <a:p>
            <a:r>
              <a:rPr lang="zh-CN" altLang="en-US" b="1">
                <a:solidFill>
                  <a:srgbClr val="C00000"/>
                </a:solidFill>
                <a:latin typeface="+mn-lt"/>
                <a:ea typeface="+mn-ea"/>
                <a:cs typeface="+mn-ea"/>
                <a:sym typeface="+mn-lt"/>
              </a:rPr>
              <a:t>生命周期参数</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判断规则</a:t>
            </a:r>
            <a:endParaRPr lang="zh-CN" altLang="en-US" b="1" dirty="0">
              <a:solidFill>
                <a:srgbClr val="C00000"/>
              </a:solidFill>
              <a:latin typeface="+mn-lt"/>
              <a:ea typeface="+mn-ea"/>
              <a:cs typeface="+mn-ea"/>
              <a:sym typeface="+mn-lt"/>
            </a:endParaRPr>
          </a:p>
        </p:txBody>
      </p:sp>
      <p:sp>
        <p:nvSpPr>
          <p:cNvPr id="6" name="矩形 5"/>
          <p:cNvSpPr/>
          <p:nvPr/>
        </p:nvSpPr>
        <p:spPr>
          <a:xfrm>
            <a:off x="488290" y="1378645"/>
            <a:ext cx="10243782" cy="1069908"/>
          </a:xfrm>
          <a:prstGeom prst="rect">
            <a:avLst/>
          </a:prstGeom>
        </p:spPr>
        <p:txBody>
          <a:bodyPr wrap="square">
            <a:spAutoFit/>
          </a:bodyPr>
          <a:lstStyle/>
          <a:p>
            <a:pPr>
              <a:lnSpc>
                <a:spcPct val="150000"/>
              </a:lnSpc>
            </a:pPr>
            <a:r>
              <a:rPr lang="zh-CN" altLang="en-US" sz="1600" b="1" dirty="0">
                <a:cs typeface="+mn-ea"/>
                <a:sym typeface="+mn-lt"/>
              </a:rPr>
              <a:t>为什么需要生命周期参数：</a:t>
            </a:r>
            <a:br>
              <a:rPr lang="en-US" altLang="zh-CN" sz="1600" dirty="0">
                <a:cs typeface="+mn-ea"/>
                <a:sym typeface="+mn-lt"/>
              </a:rPr>
            </a:br>
            <a:r>
              <a:rPr lang="en-US" altLang="zh-CN" sz="1400" dirty="0">
                <a:cs typeface="+mn-ea"/>
                <a:sym typeface="+mn-lt"/>
              </a:rPr>
              <a:t>Rust </a:t>
            </a:r>
            <a:r>
              <a:rPr lang="zh-CN" altLang="en-US" sz="1400" dirty="0">
                <a:cs typeface="+mn-ea"/>
                <a:sym typeface="+mn-lt"/>
              </a:rPr>
              <a:t>借用检查有限，它无法对程序中在函数之间传递和返回的各种引用的生命周期进行全局性安全检查，所以，需要开发者来对那些包含了输入和返回引用的函数进行生命周期参数标注，来配合借用检查器来检查引用内存数据的有效性。</a:t>
            </a:r>
            <a:endParaRPr lang="en-US" altLang="zh-CN" sz="1400" dirty="0">
              <a:cs typeface="+mn-ea"/>
              <a:sym typeface="+mn-lt"/>
            </a:endParaRPr>
          </a:p>
        </p:txBody>
      </p:sp>
      <p:sp>
        <p:nvSpPr>
          <p:cNvPr id="9" name="矩形 8"/>
          <p:cNvSpPr/>
          <p:nvPr/>
        </p:nvSpPr>
        <p:spPr>
          <a:xfrm>
            <a:off x="488444" y="2775820"/>
            <a:ext cx="9900549" cy="1106805"/>
          </a:xfrm>
          <a:prstGeom prst="rect">
            <a:avLst/>
          </a:prstGeom>
        </p:spPr>
        <p:txBody>
          <a:bodyPr wrap="square">
            <a:spAutoFit/>
          </a:bodyPr>
          <a:lstStyle/>
          <a:p>
            <a:pPr>
              <a:lnSpc>
                <a:spcPct val="150000"/>
              </a:lnSpc>
            </a:pPr>
            <a:r>
              <a:rPr lang="zh-CN" altLang="en-US" sz="1600" b="1" dirty="0">
                <a:cs typeface="+mn-ea"/>
                <a:sym typeface="+mn-lt"/>
              </a:rPr>
              <a:t>生命周期参数判断规则：</a:t>
            </a:r>
            <a:br>
              <a:rPr lang="en-US" altLang="zh-CN" sz="1600" dirty="0">
                <a:cs typeface="+mn-ea"/>
                <a:sym typeface="+mn-lt"/>
              </a:rPr>
            </a:br>
            <a:r>
              <a:rPr lang="zh-CN" altLang="en-US" sz="1400" dirty="0">
                <a:cs typeface="+mn-ea"/>
                <a:sym typeface="+mn-lt"/>
              </a:rPr>
              <a:t>输入引用的生命周期有效期不能短于输出（返回）引用的生命周期有效期。这意味着，引用所指向的内存数据在其生命周期内是有效的。</a:t>
            </a:r>
            <a:endParaRPr lang="en-US" altLang="zh-CN" sz="1400" dirty="0">
              <a:cs typeface="+mn-ea"/>
              <a:sym typeface="+mn-lt"/>
            </a:endParaRPr>
          </a:p>
        </p:txBody>
      </p:sp>
      <p:cxnSp>
        <p:nvCxnSpPr>
          <p:cNvPr id="7" name="直接连接符 6"/>
          <p:cNvCxnSpPr/>
          <p:nvPr/>
        </p:nvCxnSpPr>
        <p:spPr>
          <a:xfrm>
            <a:off x="253313" y="54228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53313" y="57978"/>
            <a:ext cx="10740640" cy="993400"/>
          </a:xfrm>
        </p:spPr>
        <p:txBody>
          <a:bodyPr/>
          <a:lstStyle/>
          <a:p>
            <a:r>
              <a:rPr lang="zh-CN" altLang="en-US" b="1">
                <a:solidFill>
                  <a:srgbClr val="C00000"/>
                </a:solidFill>
                <a:latin typeface="+mn-lt"/>
                <a:ea typeface="+mn-ea"/>
                <a:cs typeface="+mn-ea"/>
                <a:sym typeface="+mn-lt"/>
              </a:rPr>
              <a:t>生命周期参数</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函数</a:t>
            </a:r>
            <a:endParaRPr lang="zh-CN" altLang="en-US" b="1" dirty="0">
              <a:solidFill>
                <a:srgbClr val="C00000"/>
              </a:solidFill>
              <a:latin typeface="+mn-lt"/>
              <a:ea typeface="+mn-ea"/>
              <a:cs typeface="+mn-ea"/>
              <a:sym typeface="+mn-lt"/>
            </a:endParaRPr>
          </a:p>
        </p:txBody>
      </p:sp>
      <p:sp>
        <p:nvSpPr>
          <p:cNvPr id="7" name="矩形 6"/>
          <p:cNvSpPr/>
          <p:nvPr/>
        </p:nvSpPr>
        <p:spPr>
          <a:xfrm>
            <a:off x="253313" y="957259"/>
            <a:ext cx="5718862" cy="1156855"/>
          </a:xfrm>
          <a:prstGeom prst="rect">
            <a:avLst/>
          </a:prstGeom>
        </p:spPr>
        <p:txBody>
          <a:bodyPr wrap="square">
            <a:spAutoFit/>
          </a:bodyPr>
          <a:lstStyle/>
          <a:p>
            <a:pPr>
              <a:lnSpc>
                <a:spcPct val="150000"/>
              </a:lnSpc>
            </a:pPr>
            <a:r>
              <a:rPr lang="zh-CN" altLang="en-US" sz="1600" b="1" dirty="0">
                <a:cs typeface="+mn-ea"/>
                <a:sym typeface="+mn-lt"/>
              </a:rPr>
              <a:t>函数中的生命周期参数：</a:t>
            </a:r>
            <a:endParaRPr lang="en-US" altLang="zh-CN" sz="1600" b="1" dirty="0">
              <a:cs typeface="+mn-ea"/>
              <a:sym typeface="+mn-lt"/>
            </a:endParaRPr>
          </a:p>
          <a:p>
            <a:pPr marL="285750" indent="-285750">
              <a:lnSpc>
                <a:spcPct val="150000"/>
              </a:lnSpc>
              <a:buFont typeface="Arial" panose="020B0604020202020204" pitchFamily="34" charset="0"/>
              <a:buChar char="•"/>
            </a:pPr>
            <a:r>
              <a:rPr lang="zh-CN" altLang="en-US" sz="1600" dirty="0">
                <a:cs typeface="+mn-ea"/>
                <a:sym typeface="+mn-lt"/>
              </a:rPr>
              <a:t>生命周期参数标注用于指定函数参数和返回值的生命周期；</a:t>
            </a:r>
            <a:endParaRPr lang="en-US" altLang="zh-CN" sz="1600" dirty="0">
              <a:cs typeface="+mn-ea"/>
              <a:sym typeface="+mn-lt"/>
            </a:endParaRPr>
          </a:p>
          <a:p>
            <a:pPr marL="285750" indent="-285750">
              <a:lnSpc>
                <a:spcPct val="150000"/>
              </a:lnSpc>
              <a:buFont typeface="Arial" panose="020B0604020202020204" pitchFamily="34" charset="0"/>
              <a:buChar char="•"/>
            </a:pPr>
            <a:r>
              <a:rPr lang="zh-CN" altLang="en-US" sz="1600" dirty="0">
                <a:cs typeface="+mn-ea"/>
                <a:sym typeface="+mn-lt"/>
              </a:rPr>
              <a:t>通常用于解决悬垂引用问题；</a:t>
            </a:r>
            <a:endParaRPr lang="en-US" altLang="zh-CN" sz="1600" dirty="0">
              <a:cs typeface="+mn-ea"/>
              <a:sym typeface="+mn-lt"/>
            </a:endParaRPr>
          </a:p>
        </p:txBody>
      </p:sp>
      <p:cxnSp>
        <p:nvCxnSpPr>
          <p:cNvPr id="6" name="直接连接符 5"/>
          <p:cNvCxnSpPr/>
          <p:nvPr/>
        </p:nvCxnSpPr>
        <p:spPr>
          <a:xfrm>
            <a:off x="253313" y="54228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矩形 7"/>
          <p:cNvSpPr/>
          <p:nvPr/>
        </p:nvSpPr>
        <p:spPr>
          <a:xfrm>
            <a:off x="359934" y="2727924"/>
            <a:ext cx="8012541" cy="3353073"/>
          </a:xfrm>
          <a:prstGeom prst="rect">
            <a:avLst/>
          </a:prstGeom>
          <a:solidFill>
            <a:schemeClr val="tx1"/>
          </a:solidFill>
        </p:spPr>
        <p:txBody>
          <a:bodyPr wrap="square">
            <a:noAutofit/>
          </a:bodyPr>
          <a:lstStyle/>
          <a:p>
            <a:r>
              <a:rPr lang="en-US" altLang="zh-CN" sz="1200" dirty="0">
                <a:solidFill>
                  <a:schemeClr val="bg2"/>
                </a:solidFill>
                <a:cs typeface="+mn-ea"/>
                <a:sym typeface="+mn-lt"/>
              </a:rPr>
              <a:t>// </a:t>
            </a:r>
            <a:r>
              <a:rPr lang="zh-CN" altLang="en-US" sz="1200" b="1" dirty="0">
                <a:solidFill>
                  <a:srgbClr val="00B050"/>
                </a:solidFill>
                <a:cs typeface="+mn-ea"/>
                <a:sym typeface="+mn-lt"/>
              </a:rPr>
              <a:t>代码示例</a:t>
            </a:r>
            <a:endParaRPr lang="en-US" sz="1200" b="0" u="none" dirty="0">
              <a:solidFill>
                <a:srgbClr val="C678DD"/>
              </a:solidFill>
              <a:cs typeface="+mn-ea"/>
              <a:sym typeface="+mn-lt"/>
            </a:endParaRPr>
          </a:p>
          <a:p>
            <a:r>
              <a:rPr lang="en-US" sz="1200" b="0" u="none" dirty="0">
                <a:solidFill>
                  <a:srgbClr val="C678DD"/>
                </a:solidFill>
                <a:cs typeface="+mn-ea"/>
                <a:sym typeface="+mn-lt"/>
              </a:rPr>
              <a:t>fn</a:t>
            </a:r>
            <a:r>
              <a:rPr lang="en-US" sz="1200" b="0" u="none" dirty="0">
                <a:solidFill>
                  <a:srgbClr val="ABB2BF"/>
                </a:solidFill>
                <a:cs typeface="+mn-ea"/>
                <a:sym typeface="+mn-lt"/>
              </a:rPr>
              <a:t> </a:t>
            </a:r>
            <a:r>
              <a:rPr lang="en-US" sz="1200" b="0" u="none" dirty="0">
                <a:solidFill>
                  <a:srgbClr val="61AFEF"/>
                </a:solidFill>
                <a:cs typeface="+mn-ea"/>
                <a:sym typeface="+mn-lt"/>
              </a:rPr>
              <a:t>longest</a:t>
            </a:r>
            <a:r>
              <a:rPr lang="en-US" sz="1200" b="0" u="none" dirty="0">
                <a:solidFill>
                  <a:srgbClr val="ABB2BF"/>
                </a:solidFill>
                <a:cs typeface="+mn-ea"/>
                <a:sym typeface="+mn-lt"/>
              </a:rPr>
              <a:t>&lt;'a&gt;(</a:t>
            </a:r>
            <a:r>
              <a:rPr lang="en-US" sz="1200" b="0" i="1" u="none" dirty="0">
                <a:solidFill>
                  <a:srgbClr val="E06C75"/>
                </a:solidFill>
                <a:cs typeface="+mn-ea"/>
                <a:sym typeface="+mn-lt"/>
              </a:rPr>
              <a:t>x</a:t>
            </a:r>
            <a:r>
              <a:rPr lang="en-US" sz="1200" b="0" u="none" dirty="0">
                <a:solidFill>
                  <a:srgbClr val="ABB2BF"/>
                </a:solidFill>
                <a:cs typeface="+mn-ea"/>
                <a:sym typeface="+mn-lt"/>
              </a:rPr>
              <a:t>: &amp;'a </a:t>
            </a:r>
            <a:r>
              <a:rPr lang="en-US" sz="1200" b="0" u="none" dirty="0">
                <a:solidFill>
                  <a:srgbClr val="E5C07B"/>
                </a:solidFill>
                <a:cs typeface="+mn-ea"/>
                <a:sym typeface="+mn-lt"/>
              </a:rPr>
              <a:t>str</a:t>
            </a:r>
            <a:r>
              <a:rPr lang="en-US" sz="1200" b="0" u="none" dirty="0">
                <a:solidFill>
                  <a:srgbClr val="ABB2BF"/>
                </a:solidFill>
                <a:cs typeface="+mn-ea"/>
                <a:sym typeface="+mn-lt"/>
              </a:rPr>
              <a:t>, </a:t>
            </a:r>
            <a:r>
              <a:rPr lang="en-US" sz="1200" b="0" i="1" u="none" dirty="0">
                <a:solidFill>
                  <a:srgbClr val="E06C75"/>
                </a:solidFill>
                <a:cs typeface="+mn-ea"/>
                <a:sym typeface="+mn-lt"/>
              </a:rPr>
              <a:t>y</a:t>
            </a:r>
            <a:r>
              <a:rPr lang="en-US" sz="1200" b="0" u="none" dirty="0">
                <a:solidFill>
                  <a:srgbClr val="ABB2BF"/>
                </a:solidFill>
                <a:cs typeface="+mn-ea"/>
                <a:sym typeface="+mn-lt"/>
              </a:rPr>
              <a:t>: &amp;'a </a:t>
            </a:r>
            <a:r>
              <a:rPr lang="en-US" sz="1200" b="0" u="none" dirty="0">
                <a:solidFill>
                  <a:srgbClr val="E5C07B"/>
                </a:solidFill>
                <a:cs typeface="+mn-ea"/>
                <a:sym typeface="+mn-lt"/>
              </a:rPr>
              <a:t>str</a:t>
            </a:r>
            <a:r>
              <a:rPr lang="en-US" sz="1200" b="0" u="none" dirty="0">
                <a:solidFill>
                  <a:srgbClr val="ABB2BF"/>
                </a:solidFill>
                <a:cs typeface="+mn-ea"/>
                <a:sym typeface="+mn-lt"/>
              </a:rPr>
              <a:t>) -&gt; &amp;'a </a:t>
            </a:r>
            <a:r>
              <a:rPr lang="en-US" sz="1200" b="0" u="none" dirty="0">
                <a:solidFill>
                  <a:srgbClr val="E5C07B"/>
                </a:solidFill>
                <a:cs typeface="+mn-ea"/>
                <a:sym typeface="+mn-lt"/>
              </a:rPr>
              <a:t>str</a:t>
            </a:r>
            <a:r>
              <a:rPr lang="en-US" sz="1200" b="0" u="none" dirty="0">
                <a:solidFill>
                  <a:srgbClr val="ABB2BF"/>
                </a:solidFill>
                <a:cs typeface="+mn-ea"/>
                <a:sym typeface="+mn-lt"/>
              </a:rPr>
              <a:t> {</a:t>
            </a:r>
          </a:p>
          <a:p>
            <a:r>
              <a:rPr lang="en-US" sz="1200" b="0" u="none" dirty="0">
                <a:solidFill>
                  <a:srgbClr val="ABB2BF"/>
                </a:solidFill>
                <a:cs typeface="+mn-ea"/>
                <a:sym typeface="+mn-lt"/>
              </a:rPr>
              <a:t>    </a:t>
            </a:r>
            <a:r>
              <a:rPr lang="en-US" sz="1200" b="0" u="none" dirty="0">
                <a:solidFill>
                  <a:srgbClr val="C678DD"/>
                </a:solidFill>
                <a:cs typeface="+mn-ea"/>
                <a:sym typeface="+mn-lt"/>
              </a:rPr>
              <a:t>if</a:t>
            </a:r>
            <a:r>
              <a:rPr lang="en-US" sz="1200" b="0" u="none" dirty="0">
                <a:solidFill>
                  <a:srgbClr val="ABB2BF"/>
                </a:solidFill>
                <a:cs typeface="+mn-ea"/>
                <a:sym typeface="+mn-lt"/>
              </a:rPr>
              <a:t> </a:t>
            </a:r>
            <a:r>
              <a:rPr lang="en-US" sz="1200" b="0" i="1" u="none" dirty="0" err="1">
                <a:solidFill>
                  <a:srgbClr val="E06C75"/>
                </a:solidFill>
                <a:cs typeface="+mn-ea"/>
                <a:sym typeface="+mn-lt"/>
              </a:rPr>
              <a:t>x</a:t>
            </a:r>
            <a:r>
              <a:rPr lang="en-US" sz="1200" b="0" u="none" dirty="0" err="1">
                <a:solidFill>
                  <a:srgbClr val="ABB2BF"/>
                </a:solidFill>
                <a:cs typeface="+mn-ea"/>
                <a:sym typeface="+mn-lt"/>
              </a:rPr>
              <a:t>.</a:t>
            </a:r>
            <a:r>
              <a:rPr lang="en-US" sz="1200" b="0" u="none" dirty="0" err="1">
                <a:solidFill>
                  <a:srgbClr val="61AFEF"/>
                </a:solidFill>
                <a:cs typeface="+mn-ea"/>
                <a:sym typeface="+mn-lt"/>
              </a:rPr>
              <a:t>len</a:t>
            </a:r>
            <a:r>
              <a:rPr lang="en-US" sz="1200" b="0" u="none" dirty="0">
                <a:solidFill>
                  <a:srgbClr val="ABB2BF"/>
                </a:solidFill>
                <a:cs typeface="+mn-ea"/>
                <a:sym typeface="+mn-lt"/>
              </a:rPr>
              <a:t>() &gt; </a:t>
            </a:r>
            <a:r>
              <a:rPr lang="en-US" sz="1200" b="0" i="1" u="none" dirty="0" err="1">
                <a:solidFill>
                  <a:srgbClr val="E06C75"/>
                </a:solidFill>
                <a:cs typeface="+mn-ea"/>
                <a:sym typeface="+mn-lt"/>
              </a:rPr>
              <a:t>y</a:t>
            </a:r>
            <a:r>
              <a:rPr lang="en-US" sz="1200" b="0" u="none" dirty="0" err="1">
                <a:solidFill>
                  <a:srgbClr val="ABB2BF"/>
                </a:solidFill>
                <a:cs typeface="+mn-ea"/>
                <a:sym typeface="+mn-lt"/>
              </a:rPr>
              <a:t>.</a:t>
            </a:r>
            <a:r>
              <a:rPr lang="en-US" sz="1200" b="0" u="none" dirty="0" err="1">
                <a:solidFill>
                  <a:srgbClr val="61AFEF"/>
                </a:solidFill>
                <a:cs typeface="+mn-ea"/>
                <a:sym typeface="+mn-lt"/>
              </a:rPr>
              <a:t>len</a:t>
            </a:r>
            <a:r>
              <a:rPr lang="en-US" sz="1200" b="0" u="none" dirty="0">
                <a:solidFill>
                  <a:srgbClr val="ABB2BF"/>
                </a:solidFill>
                <a:cs typeface="+mn-ea"/>
                <a:sym typeface="+mn-lt"/>
              </a:rPr>
              <a:t>() {</a:t>
            </a:r>
          </a:p>
          <a:p>
            <a:r>
              <a:rPr lang="en-US" sz="1200" b="0" u="none" dirty="0">
                <a:solidFill>
                  <a:srgbClr val="ABB2BF"/>
                </a:solidFill>
                <a:cs typeface="+mn-ea"/>
                <a:sym typeface="+mn-lt"/>
              </a:rPr>
              <a:t>        </a:t>
            </a:r>
            <a:r>
              <a:rPr lang="en-US" sz="1200" b="0" i="1" u="none" dirty="0">
                <a:solidFill>
                  <a:srgbClr val="E06C75"/>
                </a:solidFill>
                <a:cs typeface="+mn-ea"/>
                <a:sym typeface="+mn-lt"/>
              </a:rPr>
              <a:t>x</a:t>
            </a:r>
            <a:endParaRPr lang="en-US" sz="1200" b="0" u="none" dirty="0">
              <a:solidFill>
                <a:srgbClr val="ABB2BF"/>
              </a:solidFill>
              <a:cs typeface="+mn-ea"/>
              <a:sym typeface="+mn-lt"/>
            </a:endParaRPr>
          </a:p>
          <a:p>
            <a:r>
              <a:rPr lang="en-US" sz="1200" b="0" u="none" dirty="0">
                <a:solidFill>
                  <a:srgbClr val="ABB2BF"/>
                </a:solidFill>
                <a:cs typeface="+mn-ea"/>
                <a:sym typeface="+mn-lt"/>
              </a:rPr>
              <a:t>    } </a:t>
            </a:r>
            <a:r>
              <a:rPr lang="en-US" sz="1200" b="0" u="none" dirty="0">
                <a:solidFill>
                  <a:srgbClr val="C678DD"/>
                </a:solidFill>
                <a:cs typeface="+mn-ea"/>
                <a:sym typeface="+mn-lt"/>
              </a:rPr>
              <a:t>else</a:t>
            </a:r>
            <a:r>
              <a:rPr lang="en-US" sz="1200" b="0" u="none" dirty="0">
                <a:solidFill>
                  <a:srgbClr val="ABB2BF"/>
                </a:solidFill>
                <a:cs typeface="+mn-ea"/>
                <a:sym typeface="+mn-lt"/>
              </a:rPr>
              <a:t> {</a:t>
            </a:r>
          </a:p>
          <a:p>
            <a:r>
              <a:rPr lang="en-US" sz="1200" b="0" u="none" dirty="0">
                <a:solidFill>
                  <a:srgbClr val="ABB2BF"/>
                </a:solidFill>
                <a:cs typeface="+mn-ea"/>
                <a:sym typeface="+mn-lt"/>
              </a:rPr>
              <a:t>        </a:t>
            </a:r>
            <a:r>
              <a:rPr lang="en-US" sz="1200" b="0" i="1" u="none" dirty="0">
                <a:solidFill>
                  <a:srgbClr val="E06C75"/>
                </a:solidFill>
                <a:cs typeface="+mn-ea"/>
                <a:sym typeface="+mn-lt"/>
              </a:rPr>
              <a:t>y</a:t>
            </a:r>
            <a:endParaRPr lang="en-US" sz="1200" b="0" u="none" dirty="0">
              <a:solidFill>
                <a:srgbClr val="ABB2BF"/>
              </a:solidFill>
              <a:cs typeface="+mn-ea"/>
              <a:sym typeface="+mn-lt"/>
            </a:endParaRPr>
          </a:p>
          <a:p>
            <a:r>
              <a:rPr lang="en-US" sz="1200" b="0" u="none" dirty="0">
                <a:solidFill>
                  <a:srgbClr val="ABB2BF"/>
                </a:solidFill>
                <a:cs typeface="+mn-ea"/>
                <a:sym typeface="+mn-lt"/>
              </a:rPr>
              <a:t>    }</a:t>
            </a:r>
          </a:p>
          <a:p>
            <a:r>
              <a:rPr lang="en-US" sz="1200" b="0" u="none" dirty="0">
                <a:solidFill>
                  <a:srgbClr val="ABB2BF"/>
                </a:solidFill>
                <a:cs typeface="+mn-ea"/>
                <a:sym typeface="+mn-lt"/>
              </a:rPr>
              <a:t>}</a:t>
            </a:r>
            <a:endParaRPr lang="zh-CN" sz="1200" b="0" i="1" u="none" dirty="0">
              <a:solidFill>
                <a:srgbClr val="7F848E"/>
              </a:solidFill>
              <a:cs typeface="+mn-ea"/>
              <a:sym typeface="+mn-lt"/>
            </a:endParaRPr>
          </a:p>
          <a:p>
            <a:r>
              <a:rPr lang="zh-CN" sz="1200" b="0" i="1" u="none" dirty="0">
                <a:solidFill>
                  <a:srgbClr val="7F848E"/>
                </a:solidFill>
                <a:cs typeface="+mn-ea"/>
                <a:sym typeface="+mn-lt"/>
              </a:rPr>
              <a:t>//  生命周期参数满足输入参数（string1和string2）的生命周期大于 输出的 result 生命周期参数</a:t>
            </a:r>
            <a:endParaRPr lang="en-US" sz="1200" b="0" u="none" dirty="0">
              <a:solidFill>
                <a:srgbClr val="C678DD"/>
              </a:solidFill>
              <a:cs typeface="+mn-ea"/>
              <a:sym typeface="+mn-lt"/>
            </a:endParaRPr>
          </a:p>
          <a:p>
            <a:r>
              <a:rPr lang="en-US" sz="1200" b="0" u="none" dirty="0">
                <a:solidFill>
                  <a:srgbClr val="C678DD"/>
                </a:solidFill>
                <a:cs typeface="+mn-ea"/>
                <a:sym typeface="+mn-lt"/>
              </a:rPr>
              <a:t>fn</a:t>
            </a:r>
            <a:r>
              <a:rPr lang="en-US" sz="1200" b="0" u="none" dirty="0">
                <a:solidFill>
                  <a:srgbClr val="ABB2BF"/>
                </a:solidFill>
                <a:cs typeface="+mn-ea"/>
                <a:sym typeface="+mn-lt"/>
              </a:rPr>
              <a:t> </a:t>
            </a:r>
            <a:r>
              <a:rPr lang="en-US" sz="1200" b="0" u="none" dirty="0">
                <a:solidFill>
                  <a:srgbClr val="61AFEF"/>
                </a:solidFill>
                <a:cs typeface="+mn-ea"/>
                <a:sym typeface="+mn-lt"/>
              </a:rPr>
              <a:t>main</a:t>
            </a:r>
            <a:r>
              <a:rPr lang="en-US" sz="1200" b="0" u="none" dirty="0">
                <a:solidFill>
                  <a:srgbClr val="ABB2BF"/>
                </a:solidFill>
                <a:cs typeface="+mn-ea"/>
                <a:sym typeface="+mn-lt"/>
              </a:rPr>
              <a:t>() {</a:t>
            </a:r>
          </a:p>
          <a:p>
            <a:r>
              <a:rPr lang="en-US" sz="1200" b="0" u="none" dirty="0">
                <a:solidFill>
                  <a:srgbClr val="ABB2BF"/>
                </a:solidFill>
                <a:cs typeface="+mn-ea"/>
                <a:sym typeface="+mn-lt"/>
              </a:rPr>
              <a:t>    </a:t>
            </a:r>
            <a:r>
              <a:rPr lang="en-US" sz="1200" b="0" u="none" dirty="0">
                <a:solidFill>
                  <a:srgbClr val="C678DD"/>
                </a:solidFill>
                <a:cs typeface="+mn-ea"/>
                <a:sym typeface="+mn-lt"/>
              </a:rPr>
              <a:t>let</a:t>
            </a:r>
            <a:r>
              <a:rPr lang="en-US" sz="1200" b="0" u="none" dirty="0">
                <a:solidFill>
                  <a:srgbClr val="ABB2BF"/>
                </a:solidFill>
                <a:cs typeface="+mn-ea"/>
                <a:sym typeface="+mn-lt"/>
              </a:rPr>
              <a:t> </a:t>
            </a:r>
            <a:r>
              <a:rPr lang="en-US" sz="1200" b="0" u="none" dirty="0">
                <a:solidFill>
                  <a:srgbClr val="E06C75"/>
                </a:solidFill>
                <a:cs typeface="+mn-ea"/>
                <a:sym typeface="+mn-lt"/>
              </a:rPr>
              <a:t>string1</a:t>
            </a:r>
            <a:r>
              <a:rPr lang="en-US" sz="1200" b="0" u="none" dirty="0">
                <a:solidFill>
                  <a:srgbClr val="ABB2BF"/>
                </a:solidFill>
                <a:cs typeface="+mn-ea"/>
                <a:sym typeface="+mn-lt"/>
              </a:rPr>
              <a:t> = </a:t>
            </a:r>
            <a:r>
              <a:rPr lang="en-US" sz="1200" b="0" u="none" dirty="0">
                <a:solidFill>
                  <a:srgbClr val="E5C07B"/>
                </a:solidFill>
                <a:cs typeface="+mn-ea"/>
                <a:sym typeface="+mn-lt"/>
              </a:rPr>
              <a:t>String</a:t>
            </a:r>
            <a:r>
              <a:rPr lang="en-US" sz="1200" b="0" u="none" dirty="0">
                <a:solidFill>
                  <a:srgbClr val="ABB2BF"/>
                </a:solidFill>
                <a:cs typeface="+mn-ea"/>
                <a:sym typeface="+mn-lt"/>
              </a:rPr>
              <a:t>::</a:t>
            </a:r>
            <a:r>
              <a:rPr lang="en-US" sz="1200" b="0" u="none" dirty="0">
                <a:solidFill>
                  <a:srgbClr val="61AFEF"/>
                </a:solidFill>
                <a:cs typeface="+mn-ea"/>
                <a:sym typeface="+mn-lt"/>
              </a:rPr>
              <a:t>from</a:t>
            </a:r>
            <a:r>
              <a:rPr lang="en-US" sz="1200" b="0" u="none" dirty="0">
                <a:solidFill>
                  <a:srgbClr val="ABB2BF"/>
                </a:solidFill>
                <a:cs typeface="+mn-ea"/>
                <a:sym typeface="+mn-lt"/>
              </a:rPr>
              <a:t>(</a:t>
            </a:r>
            <a:r>
              <a:rPr lang="en-US" sz="1200" b="0" u="none" dirty="0">
                <a:solidFill>
                  <a:srgbClr val="98C379"/>
                </a:solidFill>
                <a:cs typeface="+mn-ea"/>
                <a:sym typeface="+mn-lt"/>
              </a:rPr>
              <a:t>"</a:t>
            </a:r>
            <a:r>
              <a:rPr lang="en-US" sz="1200" b="0" u="none" dirty="0" err="1">
                <a:solidFill>
                  <a:srgbClr val="98C379"/>
                </a:solidFill>
                <a:cs typeface="+mn-ea"/>
                <a:sym typeface="+mn-lt"/>
              </a:rPr>
              <a:t>abcd</a:t>
            </a:r>
            <a:r>
              <a:rPr lang="en-US" sz="1200" b="0" u="none" dirty="0">
                <a:solidFill>
                  <a:srgbClr val="98C379"/>
                </a:solidFill>
                <a:cs typeface="+mn-ea"/>
                <a:sym typeface="+mn-lt"/>
              </a:rPr>
              <a:t>"</a:t>
            </a:r>
            <a:r>
              <a:rPr lang="en-US" sz="1200" b="0" u="none" dirty="0">
                <a:solidFill>
                  <a:srgbClr val="ABB2BF"/>
                </a:solidFill>
                <a:cs typeface="+mn-ea"/>
                <a:sym typeface="+mn-lt"/>
              </a:rPr>
              <a:t>); </a:t>
            </a:r>
            <a:r>
              <a:rPr lang="zh-CN" sz="1200" b="0" i="1" u="none" dirty="0">
                <a:solidFill>
                  <a:srgbClr val="7F848E"/>
                </a:solidFill>
                <a:cs typeface="+mn-ea"/>
                <a:sym typeface="+mn-lt"/>
              </a:rPr>
              <a:t>// string1 生命周期实例为 '1</a:t>
            </a:r>
            <a:endParaRPr lang="en-US" sz="1200" b="0" u="none" dirty="0">
              <a:solidFill>
                <a:srgbClr val="ABB2BF"/>
              </a:solidFill>
              <a:cs typeface="+mn-ea"/>
              <a:sym typeface="+mn-lt"/>
            </a:endParaRPr>
          </a:p>
          <a:p>
            <a:r>
              <a:rPr lang="en-US" sz="1200" b="0" u="none" dirty="0">
                <a:solidFill>
                  <a:srgbClr val="ABB2BF"/>
                </a:solidFill>
                <a:cs typeface="+mn-ea"/>
                <a:sym typeface="+mn-lt"/>
              </a:rPr>
              <a:t>    {</a:t>
            </a:r>
          </a:p>
          <a:p>
            <a:r>
              <a:rPr lang="en-US" sz="1200" b="0" u="none" dirty="0">
                <a:solidFill>
                  <a:srgbClr val="ABB2BF"/>
                </a:solidFill>
                <a:cs typeface="+mn-ea"/>
                <a:sym typeface="+mn-lt"/>
              </a:rPr>
              <a:t>        </a:t>
            </a:r>
            <a:r>
              <a:rPr lang="en-US" sz="1200" b="0" u="none" dirty="0">
                <a:solidFill>
                  <a:srgbClr val="C678DD"/>
                </a:solidFill>
                <a:cs typeface="+mn-ea"/>
                <a:sym typeface="+mn-lt"/>
              </a:rPr>
              <a:t>let</a:t>
            </a:r>
            <a:r>
              <a:rPr lang="en-US" sz="1200" b="0" u="none" dirty="0">
                <a:solidFill>
                  <a:srgbClr val="ABB2BF"/>
                </a:solidFill>
                <a:cs typeface="+mn-ea"/>
                <a:sym typeface="+mn-lt"/>
              </a:rPr>
              <a:t> </a:t>
            </a:r>
            <a:r>
              <a:rPr lang="en-US" sz="1200" b="0" u="none" dirty="0">
                <a:solidFill>
                  <a:srgbClr val="E06C75"/>
                </a:solidFill>
                <a:cs typeface="+mn-ea"/>
                <a:sym typeface="+mn-lt"/>
              </a:rPr>
              <a:t>string2</a:t>
            </a:r>
            <a:r>
              <a:rPr lang="en-US" sz="1200" b="0" u="none" dirty="0">
                <a:solidFill>
                  <a:srgbClr val="ABB2BF"/>
                </a:solidFill>
                <a:cs typeface="+mn-ea"/>
                <a:sym typeface="+mn-lt"/>
              </a:rPr>
              <a:t> = </a:t>
            </a:r>
            <a:r>
              <a:rPr lang="en-US" sz="1200" b="0" u="none" dirty="0">
                <a:solidFill>
                  <a:srgbClr val="E5C07B"/>
                </a:solidFill>
                <a:cs typeface="+mn-ea"/>
                <a:sym typeface="+mn-lt"/>
              </a:rPr>
              <a:t>String</a:t>
            </a:r>
            <a:r>
              <a:rPr lang="en-US" sz="1200" b="0" u="none" dirty="0">
                <a:solidFill>
                  <a:srgbClr val="ABB2BF"/>
                </a:solidFill>
                <a:cs typeface="+mn-ea"/>
                <a:sym typeface="+mn-lt"/>
              </a:rPr>
              <a:t>::</a:t>
            </a:r>
            <a:r>
              <a:rPr lang="en-US" sz="1200" b="0" u="none" dirty="0">
                <a:solidFill>
                  <a:srgbClr val="61AFEF"/>
                </a:solidFill>
                <a:cs typeface="+mn-ea"/>
                <a:sym typeface="+mn-lt"/>
              </a:rPr>
              <a:t>from</a:t>
            </a:r>
            <a:r>
              <a:rPr lang="en-US" sz="1200" b="0" u="none" dirty="0">
                <a:solidFill>
                  <a:srgbClr val="ABB2BF"/>
                </a:solidFill>
                <a:cs typeface="+mn-ea"/>
                <a:sym typeface="+mn-lt"/>
              </a:rPr>
              <a:t>(</a:t>
            </a:r>
            <a:r>
              <a:rPr lang="en-US" sz="1200" b="0" u="none" dirty="0">
                <a:solidFill>
                  <a:srgbClr val="98C379"/>
                </a:solidFill>
                <a:cs typeface="+mn-ea"/>
                <a:sym typeface="+mn-lt"/>
              </a:rPr>
              <a:t>"</a:t>
            </a:r>
            <a:r>
              <a:rPr lang="en-US" sz="1200" b="0" u="none" dirty="0" err="1">
                <a:solidFill>
                  <a:srgbClr val="98C379"/>
                </a:solidFill>
                <a:cs typeface="+mn-ea"/>
                <a:sym typeface="+mn-lt"/>
              </a:rPr>
              <a:t>xyz</a:t>
            </a:r>
            <a:r>
              <a:rPr lang="en-US" sz="1200" b="0" u="none" dirty="0">
                <a:solidFill>
                  <a:srgbClr val="98C379"/>
                </a:solidFill>
                <a:cs typeface="+mn-ea"/>
                <a:sym typeface="+mn-lt"/>
              </a:rPr>
              <a:t>"</a:t>
            </a:r>
            <a:r>
              <a:rPr lang="en-US" sz="1200" b="0" u="none" dirty="0">
                <a:solidFill>
                  <a:srgbClr val="ABB2BF"/>
                </a:solidFill>
                <a:cs typeface="+mn-ea"/>
                <a:sym typeface="+mn-lt"/>
              </a:rPr>
              <a:t>); </a:t>
            </a:r>
            <a:r>
              <a:rPr lang="zh-CN" sz="1200" b="0" i="1" u="none" dirty="0">
                <a:solidFill>
                  <a:srgbClr val="7F848E"/>
                </a:solidFill>
                <a:cs typeface="+mn-ea"/>
                <a:sym typeface="+mn-lt"/>
              </a:rPr>
              <a:t>// string2 生命周期实例为 '2</a:t>
            </a:r>
            <a:endParaRPr lang="en-US" sz="1200" b="0" u="none" dirty="0">
              <a:solidFill>
                <a:srgbClr val="ABB2BF"/>
              </a:solidFill>
              <a:cs typeface="+mn-ea"/>
              <a:sym typeface="+mn-lt"/>
            </a:endParaRPr>
          </a:p>
          <a:p>
            <a:r>
              <a:rPr lang="en-US" sz="1200" b="0" u="none" dirty="0">
                <a:solidFill>
                  <a:srgbClr val="ABB2BF"/>
                </a:solidFill>
                <a:cs typeface="+mn-ea"/>
                <a:sym typeface="+mn-lt"/>
              </a:rPr>
              <a:t>        </a:t>
            </a:r>
            <a:r>
              <a:rPr lang="en-US" sz="1200" b="0" u="none" dirty="0">
                <a:solidFill>
                  <a:srgbClr val="C678DD"/>
                </a:solidFill>
                <a:cs typeface="+mn-ea"/>
                <a:sym typeface="+mn-lt"/>
              </a:rPr>
              <a:t>let</a:t>
            </a:r>
            <a:r>
              <a:rPr lang="en-US" sz="1200" b="0" u="none" dirty="0">
                <a:solidFill>
                  <a:srgbClr val="ABB2BF"/>
                </a:solidFill>
                <a:cs typeface="+mn-ea"/>
                <a:sym typeface="+mn-lt"/>
              </a:rPr>
              <a:t> </a:t>
            </a:r>
            <a:r>
              <a:rPr lang="en-US" sz="1200" b="0" u="none" dirty="0">
                <a:solidFill>
                  <a:srgbClr val="E06C75"/>
                </a:solidFill>
                <a:cs typeface="+mn-ea"/>
                <a:sym typeface="+mn-lt"/>
              </a:rPr>
              <a:t>result</a:t>
            </a:r>
            <a:r>
              <a:rPr lang="en-US" sz="1200" b="0" u="none" dirty="0">
                <a:solidFill>
                  <a:srgbClr val="ABB2BF"/>
                </a:solidFill>
                <a:cs typeface="+mn-ea"/>
                <a:sym typeface="+mn-lt"/>
              </a:rPr>
              <a:t> = </a:t>
            </a:r>
            <a:r>
              <a:rPr lang="en-US" sz="1200" b="0" u="none" dirty="0">
                <a:solidFill>
                  <a:srgbClr val="61AFEF"/>
                </a:solidFill>
                <a:cs typeface="+mn-ea"/>
                <a:sym typeface="+mn-lt"/>
              </a:rPr>
              <a:t>longest</a:t>
            </a:r>
            <a:r>
              <a:rPr lang="en-US" sz="1200" b="0" u="none" dirty="0">
                <a:solidFill>
                  <a:srgbClr val="ABB2BF"/>
                </a:solidFill>
                <a:cs typeface="+mn-ea"/>
                <a:sym typeface="+mn-lt"/>
              </a:rPr>
              <a:t>(</a:t>
            </a:r>
            <a:r>
              <a:rPr lang="en-US" sz="1200" b="0" u="none" dirty="0">
                <a:solidFill>
                  <a:srgbClr val="E06C75"/>
                </a:solidFill>
                <a:cs typeface="+mn-ea"/>
                <a:sym typeface="+mn-lt"/>
              </a:rPr>
              <a:t>string1</a:t>
            </a:r>
            <a:r>
              <a:rPr lang="en-US" sz="1200" b="0" u="none" dirty="0">
                <a:solidFill>
                  <a:srgbClr val="ABB2BF"/>
                </a:solidFill>
                <a:cs typeface="+mn-ea"/>
                <a:sym typeface="+mn-lt"/>
              </a:rPr>
              <a:t>.</a:t>
            </a:r>
            <a:r>
              <a:rPr lang="en-US" sz="1200" b="0" u="none" dirty="0">
                <a:solidFill>
                  <a:srgbClr val="61AFEF"/>
                </a:solidFill>
                <a:cs typeface="+mn-ea"/>
                <a:sym typeface="+mn-lt"/>
              </a:rPr>
              <a:t>as_str</a:t>
            </a:r>
            <a:r>
              <a:rPr lang="en-US" sz="1200" b="0" u="none" dirty="0">
                <a:solidFill>
                  <a:srgbClr val="ABB2BF"/>
                </a:solidFill>
                <a:cs typeface="+mn-ea"/>
                <a:sym typeface="+mn-lt"/>
              </a:rPr>
              <a:t>(), </a:t>
            </a:r>
            <a:r>
              <a:rPr lang="en-US" sz="1200" b="0" u="none" dirty="0">
                <a:solidFill>
                  <a:srgbClr val="E06C75"/>
                </a:solidFill>
                <a:cs typeface="+mn-ea"/>
                <a:sym typeface="+mn-lt"/>
              </a:rPr>
              <a:t>string2</a:t>
            </a:r>
            <a:r>
              <a:rPr lang="en-US" sz="1200" b="0" u="none" dirty="0">
                <a:solidFill>
                  <a:srgbClr val="ABB2BF"/>
                </a:solidFill>
                <a:cs typeface="+mn-ea"/>
                <a:sym typeface="+mn-lt"/>
              </a:rPr>
              <a:t>.</a:t>
            </a:r>
            <a:r>
              <a:rPr lang="en-US" sz="1200" b="0" u="none" dirty="0">
                <a:solidFill>
                  <a:srgbClr val="61AFEF"/>
                </a:solidFill>
                <a:cs typeface="+mn-ea"/>
                <a:sym typeface="+mn-lt"/>
              </a:rPr>
              <a:t>as_str</a:t>
            </a:r>
            <a:r>
              <a:rPr lang="en-US" sz="1200" b="0" u="none" dirty="0">
                <a:solidFill>
                  <a:srgbClr val="ABB2BF"/>
                </a:solidFill>
                <a:cs typeface="+mn-ea"/>
                <a:sym typeface="+mn-lt"/>
              </a:rPr>
              <a:t>()); </a:t>
            </a:r>
            <a:r>
              <a:rPr lang="zh-CN" sz="1200" b="0" i="1" u="none" dirty="0">
                <a:solidFill>
                  <a:srgbClr val="7F848E"/>
                </a:solidFill>
                <a:cs typeface="+mn-ea"/>
                <a:sym typeface="+mn-lt"/>
              </a:rPr>
              <a:t>// result 生命周期实例为 '3</a:t>
            </a:r>
            <a:endParaRPr lang="en-US" sz="1200" b="0" u="none" dirty="0">
              <a:solidFill>
                <a:srgbClr val="ABB2BF"/>
              </a:solidFill>
              <a:cs typeface="+mn-ea"/>
              <a:sym typeface="+mn-lt"/>
            </a:endParaRPr>
          </a:p>
          <a:p>
            <a:r>
              <a:rPr lang="en-US" sz="1200" b="0" u="none" dirty="0">
                <a:solidFill>
                  <a:srgbClr val="ABB2BF"/>
                </a:solidFill>
                <a:cs typeface="+mn-ea"/>
                <a:sym typeface="+mn-lt"/>
              </a:rPr>
              <a:t>        </a:t>
            </a:r>
            <a:r>
              <a:rPr lang="en-US" sz="1200" b="0" u="none" dirty="0" err="1">
                <a:solidFill>
                  <a:srgbClr val="D19A66"/>
                </a:solidFill>
                <a:cs typeface="+mn-ea"/>
                <a:sym typeface="+mn-lt"/>
              </a:rPr>
              <a:t>assert_eq</a:t>
            </a:r>
            <a:r>
              <a:rPr lang="en-US" sz="1200" b="0" u="none" dirty="0">
                <a:solidFill>
                  <a:srgbClr val="D19A66"/>
                </a:solidFill>
                <a:cs typeface="+mn-ea"/>
                <a:sym typeface="+mn-lt"/>
              </a:rPr>
              <a:t>!</a:t>
            </a:r>
            <a:r>
              <a:rPr lang="en-US" sz="1200" b="0" u="none" dirty="0">
                <a:solidFill>
                  <a:srgbClr val="ABB2BF"/>
                </a:solidFill>
                <a:cs typeface="+mn-ea"/>
                <a:sym typeface="+mn-lt"/>
              </a:rPr>
              <a:t>(</a:t>
            </a:r>
            <a:r>
              <a:rPr lang="en-US" sz="1200" b="0" u="none" dirty="0">
                <a:solidFill>
                  <a:srgbClr val="98C379"/>
                </a:solidFill>
                <a:cs typeface="+mn-ea"/>
                <a:sym typeface="+mn-lt"/>
              </a:rPr>
              <a:t>"</a:t>
            </a:r>
            <a:r>
              <a:rPr lang="en-US" sz="1200" b="0" u="none" dirty="0" err="1">
                <a:solidFill>
                  <a:srgbClr val="98C379"/>
                </a:solidFill>
                <a:cs typeface="+mn-ea"/>
                <a:sym typeface="+mn-lt"/>
              </a:rPr>
              <a:t>abcd</a:t>
            </a:r>
            <a:r>
              <a:rPr lang="en-US" sz="1200" b="0" u="none" dirty="0">
                <a:solidFill>
                  <a:srgbClr val="98C379"/>
                </a:solidFill>
                <a:cs typeface="+mn-ea"/>
                <a:sym typeface="+mn-lt"/>
              </a:rPr>
              <a:t>"</a:t>
            </a:r>
            <a:r>
              <a:rPr lang="en-US" sz="1200" b="0" u="none" dirty="0">
                <a:solidFill>
                  <a:srgbClr val="ABB2BF"/>
                </a:solidFill>
                <a:cs typeface="+mn-ea"/>
                <a:sym typeface="+mn-lt"/>
              </a:rPr>
              <a:t>, </a:t>
            </a:r>
            <a:r>
              <a:rPr lang="en-US" sz="1200" b="0" u="none" dirty="0">
                <a:solidFill>
                  <a:srgbClr val="E06C75"/>
                </a:solidFill>
                <a:cs typeface="+mn-ea"/>
                <a:sym typeface="+mn-lt"/>
              </a:rPr>
              <a:t>result</a:t>
            </a:r>
            <a:r>
              <a:rPr lang="en-US" sz="1200" b="0" u="none" dirty="0">
                <a:solidFill>
                  <a:srgbClr val="ABB2BF"/>
                </a:solidFill>
                <a:cs typeface="+mn-ea"/>
                <a:sym typeface="+mn-lt"/>
              </a:rPr>
              <a:t>);</a:t>
            </a:r>
          </a:p>
          <a:p>
            <a:r>
              <a:rPr lang="en-US" sz="1200" b="0" u="none" dirty="0">
                <a:solidFill>
                  <a:srgbClr val="ABB2BF"/>
                </a:solidFill>
                <a:cs typeface="+mn-ea"/>
                <a:sym typeface="+mn-lt"/>
              </a:rPr>
              <a:t>    }</a:t>
            </a:r>
          </a:p>
          <a:p>
            <a:r>
              <a:rPr lang="en-US" sz="1200" b="0" u="none" dirty="0">
                <a:solidFill>
                  <a:srgbClr val="ABB2BF"/>
                </a:solidFill>
                <a:cs typeface="+mn-ea"/>
                <a:sym typeface="+mn-lt"/>
              </a:rPr>
              <a:t>} </a:t>
            </a:r>
            <a:r>
              <a:rPr lang="zh-CN" sz="1200" b="0" i="1" u="none" dirty="0">
                <a:solidFill>
                  <a:srgbClr val="7F848E"/>
                </a:solidFill>
                <a:cs typeface="+mn-ea"/>
                <a:sym typeface="+mn-lt"/>
              </a:rPr>
              <a:t>// ---------------------------- '1/'2/'3 生命周期实例到此结束</a:t>
            </a:r>
            <a:endParaRPr lang="en-US" altLang="zh-CN" sz="1200" b="0" i="1" u="none" dirty="0">
              <a:solidFill>
                <a:srgbClr val="7F848E"/>
              </a:solidFill>
              <a:effectLst/>
              <a:cs typeface="+mn-ea"/>
              <a:sym typeface="+mn-lt"/>
            </a:endParaRPr>
          </a:p>
        </p:txBody>
      </p:sp>
      <p:sp>
        <p:nvSpPr>
          <p:cNvPr id="10" name="矩形 9"/>
          <p:cNvSpPr/>
          <p:nvPr/>
        </p:nvSpPr>
        <p:spPr>
          <a:xfrm>
            <a:off x="9051924" y="3670919"/>
            <a:ext cx="280439" cy="203132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cs typeface="+mn-ea"/>
              <a:sym typeface="+mn-lt"/>
            </a:endParaRPr>
          </a:p>
        </p:txBody>
      </p:sp>
      <p:sp>
        <p:nvSpPr>
          <p:cNvPr id="11" name="文本框 10"/>
          <p:cNvSpPr txBox="1"/>
          <p:nvPr/>
        </p:nvSpPr>
        <p:spPr>
          <a:xfrm>
            <a:off x="8859563" y="3227783"/>
            <a:ext cx="628207" cy="253916"/>
          </a:xfrm>
          <a:prstGeom prst="rect">
            <a:avLst/>
          </a:prstGeom>
          <a:noFill/>
        </p:spPr>
        <p:txBody>
          <a:bodyPr wrap="square" rtlCol="0">
            <a:spAutoFit/>
          </a:bodyPr>
          <a:lstStyle/>
          <a:p>
            <a:r>
              <a:rPr lang="en-US" altLang="zh-CN" sz="1050" dirty="0">
                <a:cs typeface="+mn-ea"/>
                <a:sym typeface="+mn-lt"/>
              </a:rPr>
              <a:t>string1</a:t>
            </a:r>
            <a:endParaRPr lang="zh-CN" altLang="en-US" sz="1050" dirty="0">
              <a:cs typeface="+mn-ea"/>
              <a:sym typeface="+mn-lt"/>
            </a:endParaRPr>
          </a:p>
        </p:txBody>
      </p:sp>
      <p:sp>
        <p:nvSpPr>
          <p:cNvPr id="12" name="矩形 11"/>
          <p:cNvSpPr/>
          <p:nvPr/>
        </p:nvSpPr>
        <p:spPr>
          <a:xfrm>
            <a:off x="9051924" y="4532976"/>
            <a:ext cx="280439" cy="1066715"/>
          </a:xfrm>
          <a:prstGeom prst="rect">
            <a:avLst/>
          </a:prstGeom>
          <a:solidFill>
            <a:schemeClr val="accent5">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cs typeface="+mn-ea"/>
              <a:sym typeface="+mn-lt"/>
            </a:endParaRPr>
          </a:p>
        </p:txBody>
      </p:sp>
      <p:sp>
        <p:nvSpPr>
          <p:cNvPr id="13" name="矩形 12"/>
          <p:cNvSpPr/>
          <p:nvPr/>
        </p:nvSpPr>
        <p:spPr>
          <a:xfrm>
            <a:off x="9522400" y="3670919"/>
            <a:ext cx="280439" cy="203132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cs typeface="+mn-ea"/>
              <a:sym typeface="+mn-lt"/>
            </a:endParaRPr>
          </a:p>
        </p:txBody>
      </p:sp>
      <p:sp>
        <p:nvSpPr>
          <p:cNvPr id="14" name="矩形 13"/>
          <p:cNvSpPr/>
          <p:nvPr/>
        </p:nvSpPr>
        <p:spPr>
          <a:xfrm>
            <a:off x="9529576" y="4735594"/>
            <a:ext cx="280439" cy="792089"/>
          </a:xfrm>
          <a:prstGeom prst="rect">
            <a:avLst/>
          </a:prstGeom>
          <a:solidFill>
            <a:schemeClr val="accent3">
              <a:lumMod val="7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cs typeface="+mn-ea"/>
              <a:sym typeface="+mn-lt"/>
            </a:endParaRPr>
          </a:p>
        </p:txBody>
      </p:sp>
      <p:sp>
        <p:nvSpPr>
          <p:cNvPr id="15" name="矩形 14"/>
          <p:cNvSpPr/>
          <p:nvPr/>
        </p:nvSpPr>
        <p:spPr>
          <a:xfrm>
            <a:off x="10521153" y="3670381"/>
            <a:ext cx="280439" cy="203132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cs typeface="+mn-ea"/>
              <a:sym typeface="+mn-lt"/>
            </a:endParaRPr>
          </a:p>
        </p:txBody>
      </p:sp>
      <p:sp>
        <p:nvSpPr>
          <p:cNvPr id="17" name="矩形 16"/>
          <p:cNvSpPr/>
          <p:nvPr/>
        </p:nvSpPr>
        <p:spPr>
          <a:xfrm>
            <a:off x="10521153" y="4879611"/>
            <a:ext cx="280439" cy="648072"/>
          </a:xfrm>
          <a:prstGeom prst="rect">
            <a:avLst/>
          </a:prstGeom>
          <a:solidFill>
            <a:srgbClr val="00B050"/>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cs typeface="+mn-ea"/>
              <a:sym typeface="+mn-lt"/>
            </a:endParaRPr>
          </a:p>
        </p:txBody>
      </p:sp>
      <p:sp>
        <p:nvSpPr>
          <p:cNvPr id="18" name="文本框 17"/>
          <p:cNvSpPr txBox="1"/>
          <p:nvPr/>
        </p:nvSpPr>
        <p:spPr>
          <a:xfrm>
            <a:off x="9337215" y="3239523"/>
            <a:ext cx="665159" cy="261610"/>
          </a:xfrm>
          <a:prstGeom prst="rect">
            <a:avLst/>
          </a:prstGeom>
          <a:noFill/>
        </p:spPr>
        <p:txBody>
          <a:bodyPr wrap="square" rtlCol="0">
            <a:spAutoFit/>
          </a:bodyPr>
          <a:lstStyle/>
          <a:p>
            <a:r>
              <a:rPr lang="en-US" altLang="zh-CN" sz="1050" dirty="0">
                <a:cs typeface="+mn-ea"/>
                <a:sym typeface="+mn-lt"/>
              </a:rPr>
              <a:t>string2</a:t>
            </a:r>
            <a:endParaRPr lang="zh-CN" altLang="en-US" sz="1050" dirty="0">
              <a:cs typeface="+mn-ea"/>
              <a:sym typeface="+mn-lt"/>
            </a:endParaRPr>
          </a:p>
        </p:txBody>
      </p:sp>
      <p:sp>
        <p:nvSpPr>
          <p:cNvPr id="19" name="矩形 18"/>
          <p:cNvSpPr/>
          <p:nvPr/>
        </p:nvSpPr>
        <p:spPr>
          <a:xfrm>
            <a:off x="10027346" y="3670381"/>
            <a:ext cx="280439" cy="203132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cs typeface="+mn-ea"/>
              <a:sym typeface="+mn-lt"/>
            </a:endParaRPr>
          </a:p>
        </p:txBody>
      </p:sp>
      <p:sp>
        <p:nvSpPr>
          <p:cNvPr id="20" name="矩形 19"/>
          <p:cNvSpPr/>
          <p:nvPr/>
        </p:nvSpPr>
        <p:spPr>
          <a:xfrm>
            <a:off x="10027346" y="4879611"/>
            <a:ext cx="280439" cy="648072"/>
          </a:xfrm>
          <a:prstGeom prst="rect">
            <a:avLst/>
          </a:prstGeom>
          <a:solidFill>
            <a:srgbClr val="C00000"/>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cs typeface="+mn-ea"/>
              <a:sym typeface="+mn-lt"/>
            </a:endParaRPr>
          </a:p>
        </p:txBody>
      </p:sp>
      <p:sp>
        <p:nvSpPr>
          <p:cNvPr id="21" name="文本框 20"/>
          <p:cNvSpPr txBox="1"/>
          <p:nvPr/>
        </p:nvSpPr>
        <p:spPr>
          <a:xfrm>
            <a:off x="9861099" y="3239523"/>
            <a:ext cx="665159" cy="261610"/>
          </a:xfrm>
          <a:prstGeom prst="rect">
            <a:avLst/>
          </a:prstGeom>
          <a:noFill/>
        </p:spPr>
        <p:txBody>
          <a:bodyPr wrap="square" rtlCol="0">
            <a:spAutoFit/>
          </a:bodyPr>
          <a:lstStyle/>
          <a:p>
            <a:r>
              <a:rPr lang="en-US" altLang="zh-CN" sz="1050" dirty="0">
                <a:cs typeface="+mn-ea"/>
                <a:sym typeface="+mn-lt"/>
              </a:rPr>
              <a:t>result</a:t>
            </a:r>
            <a:endParaRPr lang="zh-CN" altLang="en-US" sz="1050" dirty="0">
              <a:cs typeface="+mn-ea"/>
              <a:sym typeface="+mn-lt"/>
            </a:endParaRPr>
          </a:p>
        </p:txBody>
      </p:sp>
      <p:sp>
        <p:nvSpPr>
          <p:cNvPr id="16" name="文本框 15"/>
          <p:cNvSpPr txBox="1"/>
          <p:nvPr/>
        </p:nvSpPr>
        <p:spPr>
          <a:xfrm>
            <a:off x="10299838" y="3007403"/>
            <a:ext cx="792089" cy="646331"/>
          </a:xfrm>
          <a:prstGeom prst="rect">
            <a:avLst/>
          </a:prstGeom>
          <a:noFill/>
        </p:spPr>
        <p:txBody>
          <a:bodyPr wrap="square" rtlCol="0">
            <a:spAutoFit/>
          </a:bodyPr>
          <a:lstStyle/>
          <a:p>
            <a:r>
              <a:rPr lang="en-US" altLang="zh-CN" sz="900" dirty="0">
                <a:cs typeface="+mn-ea"/>
                <a:sym typeface="+mn-lt"/>
              </a:rPr>
              <a:t>‘a</a:t>
            </a:r>
          </a:p>
          <a:p>
            <a:r>
              <a:rPr lang="en-US" altLang="zh-CN" sz="900" dirty="0">
                <a:cs typeface="+mn-ea"/>
                <a:sym typeface="+mn-lt"/>
              </a:rPr>
              <a:t>&gt;=result</a:t>
            </a:r>
          </a:p>
          <a:p>
            <a:r>
              <a:rPr lang="en-US" altLang="zh-CN" sz="900" dirty="0">
                <a:cs typeface="+mn-ea"/>
                <a:sym typeface="+mn-lt"/>
              </a:rPr>
              <a:t>&lt;=string1</a:t>
            </a:r>
          </a:p>
          <a:p>
            <a:r>
              <a:rPr lang="en-US" altLang="zh-CN" sz="900" dirty="0">
                <a:cs typeface="+mn-ea"/>
                <a:sym typeface="+mn-lt"/>
              </a:rPr>
              <a:t>&lt;=string2</a:t>
            </a:r>
            <a:endParaRPr lang="zh-CN" altLang="en-US" sz="900" dirty="0">
              <a:cs typeface="+mn-ea"/>
              <a:sym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53313" y="79173"/>
            <a:ext cx="10740640" cy="993400"/>
          </a:xfrm>
        </p:spPr>
        <p:txBody>
          <a:bodyPr/>
          <a:lstStyle/>
          <a:p>
            <a:r>
              <a:rPr lang="zh-CN" altLang="en-US" b="1">
                <a:solidFill>
                  <a:srgbClr val="C00000"/>
                </a:solidFill>
                <a:latin typeface="+mn-lt"/>
                <a:ea typeface="+mn-ea"/>
                <a:cs typeface="+mn-ea"/>
                <a:sym typeface="+mn-lt"/>
              </a:rPr>
              <a:t>生命周期参数</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结构体</a:t>
            </a:r>
            <a:endParaRPr lang="zh-CN" altLang="en-US" b="1" dirty="0">
              <a:solidFill>
                <a:srgbClr val="C00000"/>
              </a:solidFill>
              <a:latin typeface="+mn-lt"/>
              <a:ea typeface="+mn-ea"/>
              <a:cs typeface="+mn-ea"/>
              <a:sym typeface="+mn-lt"/>
            </a:endParaRPr>
          </a:p>
        </p:txBody>
      </p:sp>
      <p:sp>
        <p:nvSpPr>
          <p:cNvPr id="7" name="矩形 6"/>
          <p:cNvSpPr/>
          <p:nvPr/>
        </p:nvSpPr>
        <p:spPr>
          <a:xfrm>
            <a:off x="253313" y="750132"/>
            <a:ext cx="5242029" cy="1526187"/>
          </a:xfrm>
          <a:prstGeom prst="rect">
            <a:avLst/>
          </a:prstGeom>
        </p:spPr>
        <p:txBody>
          <a:bodyPr wrap="square">
            <a:spAutoFit/>
          </a:bodyPr>
          <a:lstStyle/>
          <a:p>
            <a:pPr>
              <a:lnSpc>
                <a:spcPct val="150000"/>
              </a:lnSpc>
            </a:pPr>
            <a:r>
              <a:rPr lang="zh-CN" altLang="en-US" sz="1600" b="1" dirty="0">
                <a:cs typeface="+mn-ea"/>
                <a:sym typeface="+mn-lt"/>
              </a:rPr>
              <a:t>结构体中的生命周期参数：</a:t>
            </a:r>
            <a:endParaRPr lang="en-US" altLang="zh-CN" sz="1600" b="1" dirty="0">
              <a:cs typeface="+mn-ea"/>
              <a:sym typeface="+mn-lt"/>
            </a:endParaRPr>
          </a:p>
          <a:p>
            <a:pPr marL="285750" indent="-285750">
              <a:lnSpc>
                <a:spcPct val="150000"/>
              </a:lnSpc>
              <a:buFont typeface="Arial" panose="020B0604020202020204" pitchFamily="34" charset="0"/>
              <a:buChar char="•"/>
            </a:pPr>
            <a:r>
              <a:rPr lang="zh-CN" altLang="en-US" sz="1600" dirty="0">
                <a:cs typeface="+mn-ea"/>
                <a:sym typeface="+mn-lt"/>
              </a:rPr>
              <a:t>结构体和枚举也可以定义生命周期参数；</a:t>
            </a:r>
            <a:endParaRPr lang="en-US" altLang="zh-CN" sz="1600" dirty="0">
              <a:cs typeface="+mn-ea"/>
              <a:sym typeface="+mn-lt"/>
            </a:endParaRPr>
          </a:p>
          <a:p>
            <a:pPr marL="285750" indent="-285750">
              <a:lnSpc>
                <a:spcPct val="150000"/>
              </a:lnSpc>
              <a:buFont typeface="Arial" panose="020B0604020202020204" pitchFamily="34" charset="0"/>
              <a:buChar char="•"/>
            </a:pPr>
            <a:r>
              <a:rPr lang="zh-CN" altLang="en-US" sz="1600" dirty="0">
                <a:cs typeface="+mn-ea"/>
                <a:sym typeface="+mn-lt"/>
              </a:rPr>
              <a:t>这通常用于指定结构体或枚举中引用成员的生命周期；</a:t>
            </a:r>
            <a:endParaRPr lang="en-US" altLang="zh-CN" sz="1600" dirty="0">
              <a:cs typeface="+mn-ea"/>
              <a:sym typeface="+mn-lt"/>
            </a:endParaRPr>
          </a:p>
          <a:p>
            <a:pPr marL="285750" indent="-285750">
              <a:lnSpc>
                <a:spcPct val="150000"/>
              </a:lnSpc>
              <a:buFont typeface="Arial" panose="020B0604020202020204" pitchFamily="34" charset="0"/>
              <a:buChar char="•"/>
            </a:pPr>
            <a:endParaRPr lang="en-US" altLang="zh-CN" sz="1600" b="1" dirty="0">
              <a:cs typeface="+mn-ea"/>
              <a:sym typeface="+mn-lt"/>
            </a:endParaRPr>
          </a:p>
        </p:txBody>
      </p:sp>
      <p:cxnSp>
        <p:nvCxnSpPr>
          <p:cNvPr id="6" name="直接连接符 5"/>
          <p:cNvCxnSpPr/>
          <p:nvPr/>
        </p:nvCxnSpPr>
        <p:spPr>
          <a:xfrm>
            <a:off x="253313" y="54228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5725025" y="979012"/>
            <a:ext cx="4919959" cy="2246769"/>
          </a:xfrm>
          <a:prstGeom prst="rect">
            <a:avLst/>
          </a:prstGeom>
          <a:solidFill>
            <a:schemeClr val="tx1"/>
          </a:solidFill>
        </p:spPr>
        <p:txBody>
          <a:bodyPr wrap="square">
            <a:spAutoFit/>
          </a:bodyPr>
          <a:lstStyle/>
          <a:p>
            <a:r>
              <a:rPr lang="en-US" altLang="zh-CN" sz="1400" dirty="0">
                <a:solidFill>
                  <a:schemeClr val="bg2"/>
                </a:solidFill>
                <a:cs typeface="+mn-ea"/>
                <a:sym typeface="+mn-lt"/>
              </a:rPr>
              <a:t>// </a:t>
            </a:r>
            <a:r>
              <a:rPr lang="zh-CN" altLang="en-US" sz="1400" b="1" dirty="0">
                <a:solidFill>
                  <a:srgbClr val="00B050"/>
                </a:solidFill>
                <a:cs typeface="+mn-ea"/>
                <a:sym typeface="+mn-lt"/>
              </a:rPr>
              <a:t>代码示例</a:t>
            </a:r>
          </a:p>
          <a:p>
            <a:r>
              <a:rPr lang="zh-CN" sz="1400" b="0" i="1" u="none" dirty="0">
                <a:solidFill>
                  <a:srgbClr val="7F848E"/>
                </a:solidFill>
                <a:cs typeface="+mn-ea"/>
                <a:sym typeface="+mn-lt"/>
              </a:rPr>
              <a:t>// 通常放在结构体或枚举名称后面的尖括号内；</a:t>
            </a:r>
            <a:endParaRPr lang="en-US" sz="1400" b="0" u="none" dirty="0">
              <a:solidFill>
                <a:srgbClr val="C678DD"/>
              </a:solidFill>
              <a:cs typeface="+mn-ea"/>
              <a:sym typeface="+mn-lt"/>
            </a:endParaRPr>
          </a:p>
          <a:p>
            <a:r>
              <a:rPr lang="en-US" sz="1400" b="0" u="none" dirty="0">
                <a:solidFill>
                  <a:srgbClr val="C678DD"/>
                </a:solidFill>
                <a:cs typeface="+mn-ea"/>
                <a:sym typeface="+mn-lt"/>
              </a:rPr>
              <a:t>struct</a:t>
            </a:r>
            <a:r>
              <a:rPr lang="en-US" sz="1400" b="0" u="none" dirty="0">
                <a:solidFill>
                  <a:srgbClr val="ABB2BF"/>
                </a:solidFill>
                <a:cs typeface="+mn-ea"/>
                <a:sym typeface="+mn-lt"/>
              </a:rPr>
              <a:t> </a:t>
            </a:r>
            <a:r>
              <a:rPr lang="en-US" sz="1400" b="0" u="none" dirty="0">
                <a:solidFill>
                  <a:srgbClr val="E5C07B"/>
                </a:solidFill>
                <a:cs typeface="+mn-ea"/>
                <a:sym typeface="+mn-lt"/>
              </a:rPr>
              <a:t>Foo</a:t>
            </a:r>
            <a:r>
              <a:rPr lang="en-US" sz="1400" b="0" u="none" dirty="0">
                <a:solidFill>
                  <a:srgbClr val="ABB2BF"/>
                </a:solidFill>
                <a:cs typeface="+mn-ea"/>
                <a:sym typeface="+mn-lt"/>
              </a:rPr>
              <a:t>&lt;'a&gt; {</a:t>
            </a:r>
          </a:p>
          <a:p>
            <a:r>
              <a:rPr lang="en-US" sz="1400" b="0" u="none" dirty="0">
                <a:solidFill>
                  <a:srgbClr val="ABB2BF"/>
                </a:solidFill>
                <a:cs typeface="+mn-ea"/>
                <a:sym typeface="+mn-lt"/>
              </a:rPr>
              <a:t>    </a:t>
            </a:r>
            <a:r>
              <a:rPr lang="en-US" sz="1400" b="0" u="none" dirty="0">
                <a:solidFill>
                  <a:srgbClr val="E06C75"/>
                </a:solidFill>
                <a:cs typeface="+mn-ea"/>
                <a:sym typeface="+mn-lt"/>
              </a:rPr>
              <a:t>data</a:t>
            </a:r>
            <a:r>
              <a:rPr lang="en-US" sz="1400" b="0" u="none" dirty="0">
                <a:solidFill>
                  <a:srgbClr val="ABB2BF"/>
                </a:solidFill>
                <a:cs typeface="+mn-ea"/>
                <a:sym typeface="+mn-lt"/>
              </a:rPr>
              <a:t>: &amp;'a </a:t>
            </a:r>
            <a:r>
              <a:rPr lang="en-US" sz="1400" b="0" u="none" dirty="0">
                <a:solidFill>
                  <a:srgbClr val="E5C07B"/>
                </a:solidFill>
                <a:cs typeface="+mn-ea"/>
                <a:sym typeface="+mn-lt"/>
              </a:rPr>
              <a:t>str</a:t>
            </a:r>
            <a:r>
              <a:rPr lang="en-US" sz="1400" b="0" u="none" dirty="0">
                <a:solidFill>
                  <a:srgbClr val="ABB2BF"/>
                </a:solidFill>
                <a:cs typeface="+mn-ea"/>
                <a:sym typeface="+mn-lt"/>
              </a:rPr>
              <a:t>,</a:t>
            </a:r>
          </a:p>
          <a:p>
            <a:r>
              <a:rPr lang="en-US" sz="1400" b="0" u="none" dirty="0">
                <a:solidFill>
                  <a:srgbClr val="ABB2BF"/>
                </a:solidFill>
                <a:cs typeface="+mn-ea"/>
                <a:sym typeface="+mn-lt"/>
              </a:rPr>
              <a:t>}</a:t>
            </a:r>
            <a:endParaRPr lang="en-US" sz="1400" b="0" u="none" dirty="0">
              <a:solidFill>
                <a:srgbClr val="C678DD"/>
              </a:solidFill>
              <a:cs typeface="+mn-ea"/>
              <a:sym typeface="+mn-lt"/>
            </a:endParaRPr>
          </a:p>
          <a:p>
            <a:r>
              <a:rPr lang="en-US" sz="1400" b="0" u="none" dirty="0">
                <a:solidFill>
                  <a:srgbClr val="C678DD"/>
                </a:solidFill>
                <a:cs typeface="+mn-ea"/>
                <a:sym typeface="+mn-lt"/>
              </a:rPr>
              <a:t>fn</a:t>
            </a:r>
            <a:r>
              <a:rPr lang="en-US" sz="1400" b="0" u="none" dirty="0">
                <a:solidFill>
                  <a:srgbClr val="ABB2BF"/>
                </a:solidFill>
                <a:cs typeface="+mn-ea"/>
                <a:sym typeface="+mn-lt"/>
              </a:rPr>
              <a:t> </a:t>
            </a:r>
            <a:r>
              <a:rPr lang="en-US" sz="1400" b="0" u="none" dirty="0">
                <a:solidFill>
                  <a:srgbClr val="61AFEF"/>
                </a:solidFill>
                <a:cs typeface="+mn-ea"/>
                <a:sym typeface="+mn-lt"/>
              </a:rPr>
              <a:t>main</a:t>
            </a:r>
            <a:r>
              <a:rPr lang="en-US" sz="1400" b="0" u="none" dirty="0">
                <a:solidFill>
                  <a:srgbClr val="ABB2BF"/>
                </a:solidFill>
                <a:cs typeface="+mn-ea"/>
                <a:sym typeface="+mn-lt"/>
              </a:rPr>
              <a:t>() {</a:t>
            </a:r>
          </a:p>
          <a:p>
            <a:r>
              <a:rPr lang="en-US" sz="1400" b="0" u="none" dirty="0">
                <a:solidFill>
                  <a:srgbClr val="ABB2BF"/>
                </a:solidFill>
                <a:cs typeface="+mn-ea"/>
                <a:sym typeface="+mn-lt"/>
              </a:rPr>
              <a:t>    </a:t>
            </a:r>
            <a:r>
              <a:rPr lang="en-US" sz="1400" b="0" u="none" dirty="0">
                <a:solidFill>
                  <a:srgbClr val="C678DD"/>
                </a:solidFill>
                <a:cs typeface="+mn-ea"/>
                <a:sym typeface="+mn-lt"/>
              </a:rPr>
              <a:t>let</a:t>
            </a:r>
            <a:r>
              <a:rPr lang="en-US" sz="1400" b="0" u="none" dirty="0">
                <a:solidFill>
                  <a:srgbClr val="ABB2BF"/>
                </a:solidFill>
                <a:cs typeface="+mn-ea"/>
                <a:sym typeface="+mn-lt"/>
              </a:rPr>
              <a:t> </a:t>
            </a:r>
            <a:r>
              <a:rPr lang="en-US" sz="1400" b="0" u="none" dirty="0">
                <a:solidFill>
                  <a:srgbClr val="E06C75"/>
                </a:solidFill>
                <a:cs typeface="+mn-ea"/>
                <a:sym typeface="+mn-lt"/>
              </a:rPr>
              <a:t>data</a:t>
            </a:r>
            <a:r>
              <a:rPr lang="en-US" sz="1400" b="0" u="none" dirty="0">
                <a:solidFill>
                  <a:srgbClr val="ABB2BF"/>
                </a:solidFill>
                <a:cs typeface="+mn-ea"/>
                <a:sym typeface="+mn-lt"/>
              </a:rPr>
              <a:t> = </a:t>
            </a:r>
            <a:r>
              <a:rPr lang="en-US" sz="1400" b="0" u="none" dirty="0">
                <a:solidFill>
                  <a:srgbClr val="E5C07B"/>
                </a:solidFill>
                <a:cs typeface="+mn-ea"/>
                <a:sym typeface="+mn-lt"/>
              </a:rPr>
              <a:t>String</a:t>
            </a:r>
            <a:r>
              <a:rPr lang="en-US" sz="1400" b="0" u="none" dirty="0">
                <a:solidFill>
                  <a:srgbClr val="ABB2BF"/>
                </a:solidFill>
                <a:cs typeface="+mn-ea"/>
                <a:sym typeface="+mn-lt"/>
              </a:rPr>
              <a:t>::</a:t>
            </a:r>
            <a:r>
              <a:rPr lang="en-US" sz="1400" b="0" u="none" dirty="0">
                <a:solidFill>
                  <a:srgbClr val="61AFEF"/>
                </a:solidFill>
                <a:cs typeface="+mn-ea"/>
                <a:sym typeface="+mn-lt"/>
              </a:rPr>
              <a:t>from</a:t>
            </a:r>
            <a:r>
              <a:rPr lang="en-US" sz="1400" b="0" u="none" dirty="0">
                <a:solidFill>
                  <a:srgbClr val="ABB2BF"/>
                </a:solidFill>
                <a:cs typeface="+mn-ea"/>
                <a:sym typeface="+mn-lt"/>
              </a:rPr>
              <a:t>(</a:t>
            </a:r>
            <a:r>
              <a:rPr lang="en-US" sz="1400" b="0" u="none" dirty="0">
                <a:solidFill>
                  <a:srgbClr val="98C379"/>
                </a:solidFill>
                <a:cs typeface="+mn-ea"/>
                <a:sym typeface="+mn-lt"/>
              </a:rPr>
              <a:t>"Hello, Rust!"</a:t>
            </a:r>
            <a:r>
              <a:rPr lang="en-US" sz="1400" b="0" u="none" dirty="0">
                <a:solidFill>
                  <a:srgbClr val="ABB2BF"/>
                </a:solidFill>
                <a:cs typeface="+mn-ea"/>
                <a:sym typeface="+mn-lt"/>
              </a:rPr>
              <a:t>);</a:t>
            </a:r>
          </a:p>
          <a:p>
            <a:r>
              <a:rPr lang="en-US" sz="1400" b="0" u="none" dirty="0">
                <a:solidFill>
                  <a:srgbClr val="ABB2BF"/>
                </a:solidFill>
                <a:cs typeface="+mn-ea"/>
                <a:sym typeface="+mn-lt"/>
              </a:rPr>
              <a:t>    </a:t>
            </a:r>
            <a:r>
              <a:rPr lang="en-US" sz="1400" b="0" u="none" dirty="0">
                <a:solidFill>
                  <a:srgbClr val="C678DD"/>
                </a:solidFill>
                <a:cs typeface="+mn-ea"/>
                <a:sym typeface="+mn-lt"/>
              </a:rPr>
              <a:t>let</a:t>
            </a:r>
            <a:r>
              <a:rPr lang="en-US" sz="1400" b="0" u="none" dirty="0">
                <a:solidFill>
                  <a:srgbClr val="ABB2BF"/>
                </a:solidFill>
                <a:cs typeface="+mn-ea"/>
                <a:sym typeface="+mn-lt"/>
              </a:rPr>
              <a:t> </a:t>
            </a:r>
            <a:r>
              <a:rPr lang="en-US" sz="1400" b="0" u="none" dirty="0">
                <a:solidFill>
                  <a:srgbClr val="E06C75"/>
                </a:solidFill>
                <a:cs typeface="+mn-ea"/>
                <a:sym typeface="+mn-lt"/>
              </a:rPr>
              <a:t>foo</a:t>
            </a:r>
            <a:r>
              <a:rPr lang="en-US" sz="1400" b="0" u="none" dirty="0">
                <a:solidFill>
                  <a:srgbClr val="ABB2BF"/>
                </a:solidFill>
                <a:cs typeface="+mn-ea"/>
                <a:sym typeface="+mn-lt"/>
              </a:rPr>
              <a:t> = </a:t>
            </a:r>
            <a:r>
              <a:rPr lang="en-US" sz="1400" b="0" u="none" dirty="0">
                <a:solidFill>
                  <a:srgbClr val="E5C07B"/>
                </a:solidFill>
                <a:cs typeface="+mn-ea"/>
                <a:sym typeface="+mn-lt"/>
              </a:rPr>
              <a:t>Foo</a:t>
            </a:r>
            <a:r>
              <a:rPr lang="en-US" sz="1400" b="0" u="none" dirty="0">
                <a:solidFill>
                  <a:srgbClr val="ABB2BF"/>
                </a:solidFill>
                <a:cs typeface="+mn-ea"/>
                <a:sym typeface="+mn-lt"/>
              </a:rPr>
              <a:t> { </a:t>
            </a:r>
            <a:r>
              <a:rPr lang="en-US" sz="1400" b="0" u="none" dirty="0">
                <a:solidFill>
                  <a:srgbClr val="E06C75"/>
                </a:solidFill>
                <a:cs typeface="+mn-ea"/>
                <a:sym typeface="+mn-lt"/>
              </a:rPr>
              <a:t>data</a:t>
            </a:r>
            <a:r>
              <a:rPr lang="en-US" sz="1400" b="0" u="none" dirty="0">
                <a:solidFill>
                  <a:srgbClr val="ABB2BF"/>
                </a:solidFill>
                <a:cs typeface="+mn-ea"/>
                <a:sym typeface="+mn-lt"/>
              </a:rPr>
              <a:t>: &amp;</a:t>
            </a:r>
            <a:r>
              <a:rPr lang="en-US" sz="1400" b="0" u="none" dirty="0">
                <a:solidFill>
                  <a:srgbClr val="E06C75"/>
                </a:solidFill>
                <a:cs typeface="+mn-ea"/>
                <a:sym typeface="+mn-lt"/>
              </a:rPr>
              <a:t>data</a:t>
            </a:r>
            <a:r>
              <a:rPr lang="en-US" sz="1400" b="0" u="none" dirty="0">
                <a:solidFill>
                  <a:srgbClr val="ABB2BF"/>
                </a:solidFill>
                <a:cs typeface="+mn-ea"/>
                <a:sym typeface="+mn-lt"/>
              </a:rPr>
              <a:t> };</a:t>
            </a:r>
          </a:p>
          <a:p>
            <a:r>
              <a:rPr lang="en-US" sz="1400" b="0" u="none" dirty="0">
                <a:solidFill>
                  <a:srgbClr val="ABB2BF"/>
                </a:solidFill>
                <a:cs typeface="+mn-ea"/>
                <a:sym typeface="+mn-lt"/>
              </a:rPr>
              <a:t>    </a:t>
            </a:r>
            <a:r>
              <a:rPr lang="en-US" sz="1400" b="0" u="none" dirty="0">
                <a:solidFill>
                  <a:srgbClr val="D19A66"/>
                </a:solidFill>
                <a:cs typeface="+mn-ea"/>
                <a:sym typeface="+mn-lt"/>
              </a:rPr>
              <a:t>println!</a:t>
            </a:r>
            <a:r>
              <a:rPr lang="en-US" sz="1400" b="0" u="none" dirty="0">
                <a:solidFill>
                  <a:srgbClr val="ABB2BF"/>
                </a:solidFill>
                <a:cs typeface="+mn-ea"/>
                <a:sym typeface="+mn-lt"/>
              </a:rPr>
              <a:t>(</a:t>
            </a:r>
            <a:r>
              <a:rPr lang="en-US" sz="1400" b="0" u="none" dirty="0">
                <a:solidFill>
                  <a:srgbClr val="98C379"/>
                </a:solidFill>
                <a:cs typeface="+mn-ea"/>
                <a:sym typeface="+mn-lt"/>
              </a:rPr>
              <a:t>"</a:t>
            </a:r>
            <a:r>
              <a:rPr lang="en-US" sz="1400" b="0" u="none" dirty="0">
                <a:solidFill>
                  <a:srgbClr val="C678DD"/>
                </a:solidFill>
                <a:cs typeface="+mn-ea"/>
                <a:sym typeface="+mn-lt"/>
              </a:rPr>
              <a:t>{}</a:t>
            </a:r>
            <a:r>
              <a:rPr lang="en-US" sz="1400" b="0" u="none" dirty="0">
                <a:solidFill>
                  <a:srgbClr val="98C379"/>
                </a:solidFill>
                <a:cs typeface="+mn-ea"/>
                <a:sym typeface="+mn-lt"/>
              </a:rPr>
              <a:t>"</a:t>
            </a:r>
            <a:r>
              <a:rPr lang="en-US" sz="1400" b="0" u="none" dirty="0">
                <a:solidFill>
                  <a:srgbClr val="ABB2BF"/>
                </a:solidFill>
                <a:cs typeface="+mn-ea"/>
                <a:sym typeface="+mn-lt"/>
              </a:rPr>
              <a:t>, </a:t>
            </a:r>
            <a:r>
              <a:rPr lang="en-US" sz="1400" b="0" u="none" dirty="0" err="1">
                <a:solidFill>
                  <a:srgbClr val="E06C75"/>
                </a:solidFill>
                <a:cs typeface="+mn-ea"/>
                <a:sym typeface="+mn-lt"/>
              </a:rPr>
              <a:t>foo</a:t>
            </a:r>
            <a:r>
              <a:rPr lang="en-US" sz="1400" b="0" u="none" dirty="0" err="1">
                <a:solidFill>
                  <a:srgbClr val="ABB2BF"/>
                </a:solidFill>
                <a:cs typeface="+mn-ea"/>
                <a:sym typeface="+mn-lt"/>
              </a:rPr>
              <a:t>.</a:t>
            </a:r>
            <a:r>
              <a:rPr lang="en-US" sz="1400" b="0" u="none" dirty="0" err="1">
                <a:solidFill>
                  <a:srgbClr val="E06C75"/>
                </a:solidFill>
                <a:cs typeface="+mn-ea"/>
                <a:sym typeface="+mn-lt"/>
              </a:rPr>
              <a:t>data</a:t>
            </a:r>
            <a:r>
              <a:rPr lang="en-US" sz="1400" b="0" u="none" dirty="0">
                <a:solidFill>
                  <a:srgbClr val="ABB2BF"/>
                </a:solidFill>
                <a:cs typeface="+mn-ea"/>
                <a:sym typeface="+mn-lt"/>
              </a:rPr>
              <a:t>);</a:t>
            </a:r>
          </a:p>
          <a:p>
            <a:r>
              <a:rPr lang="en-US" sz="1400" b="0" u="none" dirty="0">
                <a:solidFill>
                  <a:srgbClr val="ABB2BF"/>
                </a:solidFill>
                <a:cs typeface="+mn-ea"/>
                <a:sym typeface="+mn-lt"/>
              </a:rPr>
              <a:t>}</a:t>
            </a:r>
            <a:endParaRPr lang="en-US" altLang="zh-CN" sz="1400" b="0" u="none" dirty="0">
              <a:solidFill>
                <a:srgbClr val="ABB2BF"/>
              </a:solidFill>
              <a:effectLst/>
              <a:cs typeface="+mn-ea"/>
              <a:sym typeface="+mn-lt"/>
            </a:endParaRPr>
          </a:p>
        </p:txBody>
      </p:sp>
      <p:sp>
        <p:nvSpPr>
          <p:cNvPr id="10" name="矩形 9"/>
          <p:cNvSpPr/>
          <p:nvPr/>
        </p:nvSpPr>
        <p:spPr>
          <a:xfrm>
            <a:off x="458588" y="3567009"/>
            <a:ext cx="5242029" cy="2677656"/>
          </a:xfrm>
          <a:prstGeom prst="rect">
            <a:avLst/>
          </a:prstGeom>
          <a:solidFill>
            <a:schemeClr val="tx1"/>
          </a:solidFill>
        </p:spPr>
        <p:txBody>
          <a:bodyPr wrap="square">
            <a:spAutoFit/>
          </a:bodyPr>
          <a:lstStyle/>
          <a:p>
            <a:r>
              <a:rPr lang="en-US" altLang="zh-CN" sz="1400" dirty="0">
                <a:solidFill>
                  <a:schemeClr val="bg2"/>
                </a:solidFill>
                <a:cs typeface="+mn-ea"/>
                <a:sym typeface="+mn-lt"/>
              </a:rPr>
              <a:t>// </a:t>
            </a:r>
            <a:r>
              <a:rPr lang="zh-CN" altLang="en-US" sz="1400" b="1" dirty="0">
                <a:solidFill>
                  <a:schemeClr val="accent2"/>
                </a:solidFill>
                <a:cs typeface="+mn-ea"/>
                <a:sym typeface="+mn-lt"/>
              </a:rPr>
              <a:t>错误示例</a:t>
            </a:r>
            <a:endParaRPr lang="en-US" altLang="zh-CN" sz="1400" dirty="0">
              <a:solidFill>
                <a:schemeClr val="accent2"/>
              </a:solidFill>
              <a:cs typeface="+mn-ea"/>
              <a:sym typeface="+mn-lt"/>
            </a:endParaRPr>
          </a:p>
          <a:p>
            <a:r>
              <a:rPr lang="en-US" sz="1400" b="0" u="none" dirty="0">
                <a:solidFill>
                  <a:srgbClr val="C678DD"/>
                </a:solidFill>
                <a:cs typeface="+mn-ea"/>
                <a:sym typeface="+mn-lt"/>
              </a:rPr>
              <a:t>struct</a:t>
            </a:r>
            <a:r>
              <a:rPr lang="en-US" sz="1400" b="0" u="none" dirty="0">
                <a:solidFill>
                  <a:srgbClr val="ABB2BF"/>
                </a:solidFill>
                <a:cs typeface="+mn-ea"/>
                <a:sym typeface="+mn-lt"/>
              </a:rPr>
              <a:t> </a:t>
            </a:r>
            <a:r>
              <a:rPr lang="en-US" sz="1400" b="0" u="none" dirty="0">
                <a:solidFill>
                  <a:srgbClr val="E5C07B"/>
                </a:solidFill>
                <a:cs typeface="+mn-ea"/>
                <a:sym typeface="+mn-lt"/>
              </a:rPr>
              <a:t>Foo</a:t>
            </a:r>
            <a:r>
              <a:rPr lang="en-US" sz="1400" b="0" u="none" dirty="0">
                <a:solidFill>
                  <a:srgbClr val="ABB2BF"/>
                </a:solidFill>
                <a:cs typeface="+mn-ea"/>
                <a:sym typeface="+mn-lt"/>
              </a:rPr>
              <a:t>&lt;'a&gt; {</a:t>
            </a:r>
          </a:p>
          <a:p>
            <a:r>
              <a:rPr lang="en-US" sz="1400" b="0" u="none" dirty="0">
                <a:solidFill>
                  <a:srgbClr val="ABB2BF"/>
                </a:solidFill>
                <a:cs typeface="+mn-ea"/>
                <a:sym typeface="+mn-lt"/>
              </a:rPr>
              <a:t>    </a:t>
            </a:r>
            <a:r>
              <a:rPr lang="en-US" sz="1400" b="0" u="none" dirty="0">
                <a:solidFill>
                  <a:srgbClr val="E06C75"/>
                </a:solidFill>
                <a:cs typeface="+mn-ea"/>
                <a:sym typeface="+mn-lt"/>
              </a:rPr>
              <a:t>data</a:t>
            </a:r>
            <a:r>
              <a:rPr lang="en-US" sz="1400" b="0" u="none" dirty="0">
                <a:solidFill>
                  <a:srgbClr val="ABB2BF"/>
                </a:solidFill>
                <a:cs typeface="+mn-ea"/>
                <a:sym typeface="+mn-lt"/>
              </a:rPr>
              <a:t>: &amp;'a </a:t>
            </a:r>
            <a:r>
              <a:rPr lang="en-US" sz="1400" b="0" u="none" dirty="0">
                <a:solidFill>
                  <a:srgbClr val="E5C07B"/>
                </a:solidFill>
                <a:cs typeface="+mn-ea"/>
                <a:sym typeface="+mn-lt"/>
              </a:rPr>
              <a:t>str</a:t>
            </a:r>
            <a:r>
              <a:rPr lang="en-US" sz="1400" b="0" u="none" dirty="0">
                <a:solidFill>
                  <a:srgbClr val="ABB2BF"/>
                </a:solidFill>
                <a:cs typeface="+mn-ea"/>
                <a:sym typeface="+mn-lt"/>
              </a:rPr>
              <a:t>,</a:t>
            </a:r>
          </a:p>
          <a:p>
            <a:r>
              <a:rPr lang="en-US" sz="1400" b="0" u="none" dirty="0">
                <a:solidFill>
                  <a:srgbClr val="ABB2BF"/>
                </a:solidFill>
                <a:cs typeface="+mn-ea"/>
                <a:sym typeface="+mn-lt"/>
              </a:rPr>
              <a:t>}</a:t>
            </a:r>
            <a:endParaRPr lang="en-US" sz="1400" b="0" u="none" dirty="0">
              <a:solidFill>
                <a:srgbClr val="C678DD"/>
              </a:solidFill>
              <a:cs typeface="+mn-ea"/>
              <a:sym typeface="+mn-lt"/>
            </a:endParaRPr>
          </a:p>
          <a:p>
            <a:r>
              <a:rPr lang="en-US" sz="1400" b="0" u="none" dirty="0">
                <a:solidFill>
                  <a:srgbClr val="C678DD"/>
                </a:solidFill>
                <a:cs typeface="+mn-ea"/>
                <a:sym typeface="+mn-lt"/>
              </a:rPr>
              <a:t>fn</a:t>
            </a:r>
            <a:r>
              <a:rPr lang="en-US" sz="1400" b="0" u="none" dirty="0">
                <a:solidFill>
                  <a:srgbClr val="ABB2BF"/>
                </a:solidFill>
                <a:cs typeface="+mn-ea"/>
                <a:sym typeface="+mn-lt"/>
              </a:rPr>
              <a:t> </a:t>
            </a:r>
            <a:r>
              <a:rPr lang="en-US" sz="1400" b="0" u="none" dirty="0">
                <a:solidFill>
                  <a:srgbClr val="61AFEF"/>
                </a:solidFill>
                <a:cs typeface="+mn-ea"/>
                <a:sym typeface="+mn-lt"/>
              </a:rPr>
              <a:t>main</a:t>
            </a:r>
            <a:r>
              <a:rPr lang="en-US" sz="1400" b="0" u="none" dirty="0">
                <a:solidFill>
                  <a:srgbClr val="ABB2BF"/>
                </a:solidFill>
                <a:cs typeface="+mn-ea"/>
                <a:sym typeface="+mn-lt"/>
              </a:rPr>
              <a:t>() {</a:t>
            </a:r>
          </a:p>
          <a:p>
            <a:r>
              <a:rPr lang="en-US" sz="1400" b="0" u="none" dirty="0">
                <a:solidFill>
                  <a:srgbClr val="ABB2BF"/>
                </a:solidFill>
                <a:cs typeface="+mn-ea"/>
                <a:sym typeface="+mn-lt"/>
              </a:rPr>
              <a:t>    </a:t>
            </a:r>
            <a:r>
              <a:rPr lang="en-US" sz="1400" b="0" u="none" dirty="0">
                <a:solidFill>
                  <a:srgbClr val="C678DD"/>
                </a:solidFill>
                <a:cs typeface="+mn-ea"/>
                <a:sym typeface="+mn-lt"/>
              </a:rPr>
              <a:t>let</a:t>
            </a:r>
            <a:r>
              <a:rPr lang="en-US" sz="1400" b="0" u="none" dirty="0">
                <a:solidFill>
                  <a:srgbClr val="ABB2BF"/>
                </a:solidFill>
                <a:cs typeface="+mn-ea"/>
                <a:sym typeface="+mn-lt"/>
              </a:rPr>
              <a:t> </a:t>
            </a:r>
            <a:r>
              <a:rPr lang="en-US" sz="1400" b="0" u="none" dirty="0">
                <a:solidFill>
                  <a:srgbClr val="E06C75"/>
                </a:solidFill>
                <a:cs typeface="+mn-ea"/>
                <a:sym typeface="+mn-lt"/>
              </a:rPr>
              <a:t>foo</a:t>
            </a:r>
            <a:r>
              <a:rPr lang="en-US" sz="1400" b="0" u="none" dirty="0">
                <a:solidFill>
                  <a:srgbClr val="ABB2BF"/>
                </a:solidFill>
                <a:cs typeface="+mn-ea"/>
                <a:sym typeface="+mn-lt"/>
              </a:rPr>
              <a:t>;</a:t>
            </a:r>
          </a:p>
          <a:p>
            <a:r>
              <a:rPr lang="en-US" sz="1400" b="0" u="none" dirty="0">
                <a:solidFill>
                  <a:srgbClr val="ABB2BF"/>
                </a:solidFill>
                <a:cs typeface="+mn-ea"/>
                <a:sym typeface="+mn-lt"/>
              </a:rPr>
              <a:t>    {</a:t>
            </a:r>
          </a:p>
          <a:p>
            <a:r>
              <a:rPr lang="en-US" sz="1400" b="0" u="none" dirty="0">
                <a:solidFill>
                  <a:srgbClr val="ABB2BF"/>
                </a:solidFill>
                <a:cs typeface="+mn-ea"/>
                <a:sym typeface="+mn-lt"/>
              </a:rPr>
              <a:t>        </a:t>
            </a:r>
            <a:r>
              <a:rPr lang="en-US" sz="1400" b="0" u="none" dirty="0">
                <a:solidFill>
                  <a:srgbClr val="C678DD"/>
                </a:solidFill>
                <a:cs typeface="+mn-ea"/>
                <a:sym typeface="+mn-lt"/>
              </a:rPr>
              <a:t>let</a:t>
            </a:r>
            <a:r>
              <a:rPr lang="en-US" sz="1400" b="0" u="none" dirty="0">
                <a:solidFill>
                  <a:srgbClr val="ABB2BF"/>
                </a:solidFill>
                <a:cs typeface="+mn-ea"/>
                <a:sym typeface="+mn-lt"/>
              </a:rPr>
              <a:t> </a:t>
            </a:r>
            <a:r>
              <a:rPr lang="en-US" sz="1400" b="0" u="none" dirty="0">
                <a:solidFill>
                  <a:srgbClr val="E06C75"/>
                </a:solidFill>
                <a:cs typeface="+mn-ea"/>
                <a:sym typeface="+mn-lt"/>
              </a:rPr>
              <a:t>data</a:t>
            </a:r>
            <a:r>
              <a:rPr lang="en-US" sz="1400" b="0" u="none" dirty="0">
                <a:solidFill>
                  <a:srgbClr val="ABB2BF"/>
                </a:solidFill>
                <a:cs typeface="+mn-ea"/>
                <a:sym typeface="+mn-lt"/>
              </a:rPr>
              <a:t> = </a:t>
            </a:r>
            <a:r>
              <a:rPr lang="en-US" sz="1400" b="0" u="none" dirty="0">
                <a:solidFill>
                  <a:srgbClr val="E5C07B"/>
                </a:solidFill>
                <a:cs typeface="+mn-ea"/>
                <a:sym typeface="+mn-lt"/>
              </a:rPr>
              <a:t>String</a:t>
            </a:r>
            <a:r>
              <a:rPr lang="en-US" sz="1400" b="0" u="none" dirty="0">
                <a:solidFill>
                  <a:srgbClr val="ABB2BF"/>
                </a:solidFill>
                <a:cs typeface="+mn-ea"/>
                <a:sym typeface="+mn-lt"/>
              </a:rPr>
              <a:t>::</a:t>
            </a:r>
            <a:r>
              <a:rPr lang="en-US" sz="1400" b="0" u="none" dirty="0">
                <a:solidFill>
                  <a:srgbClr val="61AFEF"/>
                </a:solidFill>
                <a:cs typeface="+mn-ea"/>
                <a:sym typeface="+mn-lt"/>
              </a:rPr>
              <a:t>from</a:t>
            </a:r>
            <a:r>
              <a:rPr lang="en-US" sz="1400" b="0" u="none" dirty="0">
                <a:solidFill>
                  <a:srgbClr val="ABB2BF"/>
                </a:solidFill>
                <a:cs typeface="+mn-ea"/>
                <a:sym typeface="+mn-lt"/>
              </a:rPr>
              <a:t>(</a:t>
            </a:r>
            <a:r>
              <a:rPr lang="en-US" sz="1400" b="0" u="none" dirty="0">
                <a:solidFill>
                  <a:srgbClr val="98C379"/>
                </a:solidFill>
                <a:cs typeface="+mn-ea"/>
                <a:sym typeface="+mn-lt"/>
              </a:rPr>
              <a:t>"Hello, Rust!"</a:t>
            </a:r>
            <a:r>
              <a:rPr lang="en-US" sz="1400" b="0" u="none" dirty="0">
                <a:solidFill>
                  <a:srgbClr val="ABB2BF"/>
                </a:solidFill>
                <a:cs typeface="+mn-ea"/>
                <a:sym typeface="+mn-lt"/>
              </a:rPr>
              <a:t>);</a:t>
            </a:r>
          </a:p>
          <a:p>
            <a:r>
              <a:rPr lang="en-US" sz="1400" b="0" u="none" dirty="0">
                <a:solidFill>
                  <a:srgbClr val="ABB2BF"/>
                </a:solidFill>
                <a:cs typeface="+mn-ea"/>
                <a:sym typeface="+mn-lt"/>
              </a:rPr>
              <a:t>        </a:t>
            </a:r>
            <a:r>
              <a:rPr lang="en-US" sz="1400" b="0" u="none" dirty="0">
                <a:solidFill>
                  <a:srgbClr val="E06C75"/>
                </a:solidFill>
                <a:cs typeface="+mn-ea"/>
                <a:sym typeface="+mn-lt"/>
              </a:rPr>
              <a:t>foo</a:t>
            </a:r>
            <a:r>
              <a:rPr lang="en-US" sz="1400" b="0" u="none" dirty="0">
                <a:solidFill>
                  <a:srgbClr val="ABB2BF"/>
                </a:solidFill>
                <a:cs typeface="+mn-ea"/>
                <a:sym typeface="+mn-lt"/>
              </a:rPr>
              <a:t> = </a:t>
            </a:r>
            <a:r>
              <a:rPr lang="en-US" sz="1400" b="0" u="none" dirty="0">
                <a:solidFill>
                  <a:srgbClr val="E5C07B"/>
                </a:solidFill>
                <a:cs typeface="+mn-ea"/>
                <a:sym typeface="+mn-lt"/>
              </a:rPr>
              <a:t>Foo</a:t>
            </a:r>
            <a:r>
              <a:rPr lang="en-US" sz="1400" b="0" u="none" dirty="0">
                <a:solidFill>
                  <a:srgbClr val="ABB2BF"/>
                </a:solidFill>
                <a:cs typeface="+mn-ea"/>
                <a:sym typeface="+mn-lt"/>
              </a:rPr>
              <a:t> { </a:t>
            </a:r>
            <a:r>
              <a:rPr lang="en-US" sz="1400" b="0" u="none" dirty="0">
                <a:solidFill>
                  <a:srgbClr val="E06C75"/>
                </a:solidFill>
                <a:cs typeface="+mn-ea"/>
                <a:sym typeface="+mn-lt"/>
              </a:rPr>
              <a:t>data</a:t>
            </a:r>
            <a:r>
              <a:rPr lang="en-US" sz="1400" b="0" u="none" dirty="0">
                <a:solidFill>
                  <a:srgbClr val="ABB2BF"/>
                </a:solidFill>
                <a:cs typeface="+mn-ea"/>
                <a:sym typeface="+mn-lt"/>
              </a:rPr>
              <a:t>: &amp;</a:t>
            </a:r>
            <a:r>
              <a:rPr lang="en-US" sz="1400" b="0" u="none" dirty="0">
                <a:solidFill>
                  <a:srgbClr val="E06C75"/>
                </a:solidFill>
                <a:cs typeface="+mn-ea"/>
                <a:sym typeface="+mn-lt"/>
              </a:rPr>
              <a:t>data</a:t>
            </a:r>
            <a:r>
              <a:rPr lang="en-US" sz="1400" b="0" u="none" dirty="0">
                <a:solidFill>
                  <a:srgbClr val="ABB2BF"/>
                </a:solidFill>
                <a:cs typeface="+mn-ea"/>
                <a:sym typeface="+mn-lt"/>
              </a:rPr>
              <a:t> };</a:t>
            </a:r>
          </a:p>
          <a:p>
            <a:r>
              <a:rPr lang="en-US" sz="1400" b="0" u="none" dirty="0">
                <a:solidFill>
                  <a:srgbClr val="ABB2BF"/>
                </a:solidFill>
                <a:cs typeface="+mn-ea"/>
                <a:sym typeface="+mn-lt"/>
              </a:rPr>
              <a:t>    } </a:t>
            </a:r>
            <a:r>
              <a:rPr lang="zh-CN" sz="1400" b="0" i="1" u="none" dirty="0">
                <a:solidFill>
                  <a:srgbClr val="7F848E"/>
                </a:solidFill>
                <a:cs typeface="+mn-ea"/>
                <a:sym typeface="+mn-lt"/>
              </a:rPr>
              <a:t>// data 生命周期结束</a:t>
            </a:r>
            <a:endParaRPr lang="en-US" sz="1400" b="0" u="none" dirty="0">
              <a:solidFill>
                <a:srgbClr val="ABB2BF"/>
              </a:solidFill>
              <a:cs typeface="+mn-ea"/>
              <a:sym typeface="+mn-lt"/>
            </a:endParaRPr>
          </a:p>
          <a:p>
            <a:r>
              <a:rPr lang="en-US" sz="1400" b="0" u="none" dirty="0">
                <a:solidFill>
                  <a:srgbClr val="ABB2BF"/>
                </a:solidFill>
                <a:cs typeface="+mn-ea"/>
                <a:sym typeface="+mn-lt"/>
              </a:rPr>
              <a:t>    </a:t>
            </a:r>
            <a:r>
              <a:rPr lang="en-US" sz="1400" b="0" u="none" dirty="0">
                <a:solidFill>
                  <a:srgbClr val="D19A66"/>
                </a:solidFill>
                <a:cs typeface="+mn-ea"/>
                <a:sym typeface="+mn-lt"/>
              </a:rPr>
              <a:t>println!</a:t>
            </a:r>
            <a:r>
              <a:rPr lang="en-US" sz="1400" b="0" u="none" dirty="0">
                <a:solidFill>
                  <a:srgbClr val="ABB2BF"/>
                </a:solidFill>
                <a:cs typeface="+mn-ea"/>
                <a:sym typeface="+mn-lt"/>
              </a:rPr>
              <a:t>(</a:t>
            </a:r>
            <a:r>
              <a:rPr lang="en-US" sz="1400" b="0" u="none" dirty="0">
                <a:solidFill>
                  <a:srgbClr val="98C379"/>
                </a:solidFill>
                <a:cs typeface="+mn-ea"/>
                <a:sym typeface="+mn-lt"/>
              </a:rPr>
              <a:t>"</a:t>
            </a:r>
            <a:r>
              <a:rPr lang="en-US" sz="1400" b="0" u="none" dirty="0">
                <a:solidFill>
                  <a:srgbClr val="C678DD"/>
                </a:solidFill>
                <a:cs typeface="+mn-ea"/>
                <a:sym typeface="+mn-lt"/>
              </a:rPr>
              <a:t>{}</a:t>
            </a:r>
            <a:r>
              <a:rPr lang="en-US" sz="1400" b="0" u="none" dirty="0">
                <a:solidFill>
                  <a:srgbClr val="98C379"/>
                </a:solidFill>
                <a:cs typeface="+mn-ea"/>
                <a:sym typeface="+mn-lt"/>
              </a:rPr>
              <a:t>"</a:t>
            </a:r>
            <a:r>
              <a:rPr lang="en-US" sz="1400" b="0" u="none" dirty="0">
                <a:solidFill>
                  <a:srgbClr val="ABB2BF"/>
                </a:solidFill>
                <a:cs typeface="+mn-ea"/>
                <a:sym typeface="+mn-lt"/>
              </a:rPr>
              <a:t>, </a:t>
            </a:r>
            <a:r>
              <a:rPr lang="en-US" sz="1400" b="0" u="none" dirty="0" err="1">
                <a:solidFill>
                  <a:srgbClr val="E06C75"/>
                </a:solidFill>
                <a:cs typeface="+mn-ea"/>
                <a:sym typeface="+mn-lt"/>
              </a:rPr>
              <a:t>foo</a:t>
            </a:r>
            <a:r>
              <a:rPr lang="en-US" sz="1400" b="0" u="none" dirty="0" err="1">
                <a:solidFill>
                  <a:srgbClr val="ABB2BF"/>
                </a:solidFill>
                <a:cs typeface="+mn-ea"/>
                <a:sym typeface="+mn-lt"/>
              </a:rPr>
              <a:t>.</a:t>
            </a:r>
            <a:r>
              <a:rPr lang="en-US" sz="1400" b="0" u="none" dirty="0" err="1">
                <a:solidFill>
                  <a:srgbClr val="E06C75"/>
                </a:solidFill>
                <a:cs typeface="+mn-ea"/>
                <a:sym typeface="+mn-lt"/>
              </a:rPr>
              <a:t>data</a:t>
            </a:r>
            <a:r>
              <a:rPr lang="en-US" sz="1400" b="0" u="none" dirty="0">
                <a:solidFill>
                  <a:srgbClr val="ABB2BF"/>
                </a:solidFill>
                <a:cs typeface="+mn-ea"/>
                <a:sym typeface="+mn-lt"/>
              </a:rPr>
              <a:t>); </a:t>
            </a:r>
            <a:r>
              <a:rPr lang="zh-CN" sz="1400" b="0" i="1" u="none" dirty="0">
                <a:solidFill>
                  <a:srgbClr val="7F848E"/>
                </a:solidFill>
                <a:cs typeface="+mn-ea"/>
                <a:sym typeface="+mn-lt"/>
              </a:rPr>
              <a:t>// 错误：悬垂引用</a:t>
            </a:r>
            <a:endParaRPr lang="en-US" sz="1400" b="0" u="none" dirty="0">
              <a:solidFill>
                <a:srgbClr val="ABB2BF"/>
              </a:solidFill>
              <a:cs typeface="+mn-ea"/>
              <a:sym typeface="+mn-lt"/>
            </a:endParaRPr>
          </a:p>
          <a:p>
            <a:r>
              <a:rPr lang="en-US" sz="1400" b="0" u="none" dirty="0">
                <a:solidFill>
                  <a:srgbClr val="ABB2BF"/>
                </a:solidFill>
                <a:cs typeface="+mn-ea"/>
                <a:sym typeface="+mn-lt"/>
              </a:rPr>
              <a:t>}</a:t>
            </a:r>
            <a:endParaRPr lang="en-US" altLang="zh-CN" sz="1400" b="0" i="1" u="none" dirty="0">
              <a:solidFill>
                <a:srgbClr val="7F848E"/>
              </a:solidFill>
              <a:effectLst/>
              <a:cs typeface="+mn-ea"/>
              <a:sym typeface="+mn-lt"/>
            </a:endParaRPr>
          </a:p>
        </p:txBody>
      </p:sp>
      <p:pic>
        <p:nvPicPr>
          <p:cNvPr id="3" name="图片 2"/>
          <p:cNvPicPr>
            <a:picLocks noChangeAspect="1"/>
          </p:cNvPicPr>
          <p:nvPr/>
        </p:nvPicPr>
        <p:blipFill>
          <a:blip r:embed="rId3"/>
          <a:stretch>
            <a:fillRect/>
          </a:stretch>
        </p:blipFill>
        <p:spPr>
          <a:xfrm>
            <a:off x="6220938" y="4153987"/>
            <a:ext cx="4424046" cy="1610165"/>
          </a:xfrm>
          <a:prstGeom prst="rect">
            <a:avLst/>
          </a:prstGeom>
        </p:spPr>
      </p:pic>
      <p:sp>
        <p:nvSpPr>
          <p:cNvPr id="4" name="右箭头 3"/>
          <p:cNvSpPr/>
          <p:nvPr/>
        </p:nvSpPr>
        <p:spPr>
          <a:xfrm>
            <a:off x="5839480" y="4731760"/>
            <a:ext cx="242596" cy="625151"/>
          </a:xfrm>
          <a:prstGeom prst="right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53313" y="86270"/>
            <a:ext cx="10740640" cy="993400"/>
          </a:xfrm>
        </p:spPr>
        <p:txBody>
          <a:bodyPr/>
          <a:lstStyle/>
          <a:p>
            <a:r>
              <a:rPr lang="zh-CN" altLang="en-US" b="1">
                <a:solidFill>
                  <a:srgbClr val="C00000"/>
                </a:solidFill>
                <a:latin typeface="+mn-lt"/>
                <a:ea typeface="+mn-ea"/>
                <a:cs typeface="+mn-ea"/>
                <a:sym typeface="+mn-lt"/>
              </a:rPr>
              <a:t>生命周期参数</a:t>
            </a:r>
            <a:r>
              <a:rPr lang="en-US" altLang="zh-CN" b="1">
                <a:solidFill>
                  <a:srgbClr val="C00000"/>
                </a:solidFill>
                <a:latin typeface="+mn-lt"/>
                <a:ea typeface="+mn-ea"/>
                <a:cs typeface="+mn-ea"/>
                <a:sym typeface="+mn-lt"/>
              </a:rPr>
              <a:t>-where 'a: 'b</a:t>
            </a:r>
            <a:endParaRPr lang="zh-CN" altLang="en-US" b="1" dirty="0">
              <a:solidFill>
                <a:srgbClr val="C00000"/>
              </a:solidFill>
              <a:latin typeface="+mn-lt"/>
              <a:ea typeface="+mn-ea"/>
              <a:cs typeface="+mn-ea"/>
              <a:sym typeface="+mn-lt"/>
            </a:endParaRPr>
          </a:p>
        </p:txBody>
      </p:sp>
      <p:sp>
        <p:nvSpPr>
          <p:cNvPr id="7" name="矩形 6"/>
          <p:cNvSpPr/>
          <p:nvPr/>
        </p:nvSpPr>
        <p:spPr>
          <a:xfrm>
            <a:off x="253312" y="534168"/>
            <a:ext cx="9618475" cy="1200329"/>
          </a:xfrm>
          <a:prstGeom prst="rect">
            <a:avLst/>
          </a:prstGeom>
        </p:spPr>
        <p:txBody>
          <a:bodyPr wrap="square">
            <a:spAutoFit/>
          </a:bodyPr>
          <a:lstStyle/>
          <a:p>
            <a:pPr>
              <a:lnSpc>
                <a:spcPct val="150000"/>
              </a:lnSpc>
            </a:pPr>
            <a:r>
              <a:rPr lang="en-US" altLang="zh-CN" sz="1600" b="1" dirty="0">
                <a:cs typeface="+mn-ea"/>
                <a:sym typeface="+mn-lt"/>
              </a:rPr>
              <a:t>where 'a:  'b</a:t>
            </a:r>
            <a:r>
              <a:rPr lang="zh-CN" altLang="en-US" sz="1600" b="1" dirty="0">
                <a:cs typeface="+mn-ea"/>
                <a:sym typeface="+mn-lt"/>
              </a:rPr>
              <a:t>：</a:t>
            </a:r>
            <a:endParaRPr lang="en-US" altLang="zh-CN" sz="1600" b="1" dirty="0">
              <a:cs typeface="+mn-ea"/>
              <a:sym typeface="+mn-lt"/>
            </a:endParaRPr>
          </a:p>
          <a:p>
            <a:pPr marL="285750" indent="-285750">
              <a:lnSpc>
                <a:spcPct val="150000"/>
              </a:lnSpc>
              <a:buFont typeface="Arial" panose="020B0604020202020204" pitchFamily="34" charset="0"/>
              <a:buChar char="•"/>
            </a:pPr>
            <a:r>
              <a:rPr lang="zh-CN" altLang="en-US" sz="1600" dirty="0">
                <a:cs typeface="+mn-ea"/>
                <a:sym typeface="+mn-lt"/>
              </a:rPr>
              <a:t>用来指定多个生命周期之间的关系；</a:t>
            </a:r>
            <a:endParaRPr lang="en-US" altLang="zh-CN" sz="1600" dirty="0">
              <a:cs typeface="+mn-ea"/>
              <a:sym typeface="+mn-lt"/>
            </a:endParaRPr>
          </a:p>
          <a:p>
            <a:pPr marL="285750" indent="-285750">
              <a:lnSpc>
                <a:spcPct val="150000"/>
              </a:lnSpc>
              <a:buFont typeface="Arial" panose="020B0604020202020204" pitchFamily="34" charset="0"/>
              <a:buChar char="•"/>
            </a:pPr>
            <a:r>
              <a:rPr lang="zh-CN" altLang="en-US" sz="1600" dirty="0">
                <a:cs typeface="+mn-ea"/>
                <a:sym typeface="+mn-lt"/>
              </a:rPr>
              <a:t>指定一个生命周期必须比另一个生命周期长，</a:t>
            </a:r>
            <a:r>
              <a:rPr lang="en-US" altLang="zh-CN" sz="1600" dirty="0">
                <a:cs typeface="+mn-ea"/>
                <a:sym typeface="+mn-lt"/>
              </a:rPr>
              <a:t>where 'a: 'b </a:t>
            </a:r>
            <a:r>
              <a:rPr lang="zh-CN" altLang="en-US" sz="1600" dirty="0">
                <a:cs typeface="+mn-ea"/>
                <a:sym typeface="+mn-lt"/>
              </a:rPr>
              <a:t>表示生命周期</a:t>
            </a:r>
            <a:r>
              <a:rPr lang="en-US" altLang="zh-CN" sz="1600" dirty="0">
                <a:cs typeface="+mn-ea"/>
                <a:sym typeface="+mn-lt"/>
              </a:rPr>
              <a:t>'a</a:t>
            </a:r>
            <a:r>
              <a:rPr lang="zh-CN" altLang="en-US" sz="1600" dirty="0">
                <a:cs typeface="+mn-ea"/>
                <a:sym typeface="+mn-lt"/>
              </a:rPr>
              <a:t>必须比生命周期</a:t>
            </a:r>
            <a:r>
              <a:rPr lang="en-US" altLang="zh-CN" sz="1600" dirty="0">
                <a:cs typeface="+mn-ea"/>
                <a:sym typeface="+mn-lt"/>
              </a:rPr>
              <a:t>'b</a:t>
            </a:r>
            <a:r>
              <a:rPr lang="zh-CN" altLang="en-US" sz="1600" dirty="0">
                <a:cs typeface="+mn-ea"/>
                <a:sym typeface="+mn-lt"/>
              </a:rPr>
              <a:t>长；</a:t>
            </a:r>
            <a:endParaRPr lang="en-US" altLang="zh-CN" sz="1600" dirty="0">
              <a:cs typeface="+mn-ea"/>
              <a:sym typeface="+mn-lt"/>
            </a:endParaRPr>
          </a:p>
        </p:txBody>
      </p:sp>
      <p:cxnSp>
        <p:nvCxnSpPr>
          <p:cNvPr id="8" name="直接连接符 7"/>
          <p:cNvCxnSpPr/>
          <p:nvPr/>
        </p:nvCxnSpPr>
        <p:spPr>
          <a:xfrm>
            <a:off x="253313" y="54228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7304973" y="3690533"/>
            <a:ext cx="4575120" cy="580213"/>
          </a:xfrm>
          <a:prstGeom prst="rect">
            <a:avLst/>
          </a:prstGeom>
        </p:spPr>
        <p:txBody>
          <a:bodyPr wrap="square">
            <a:noAutofit/>
          </a:bodyPr>
          <a:lstStyle/>
          <a:p>
            <a:r>
              <a:rPr lang="zh-CN" altLang="en-US" sz="1600" dirty="0">
                <a:cs typeface="+mn-ea"/>
                <a:sym typeface="+mn-lt"/>
              </a:rPr>
              <a:t>通过修改指定</a:t>
            </a:r>
            <a:r>
              <a:rPr lang="en-US" altLang="zh-CN" sz="1600">
                <a:cs typeface="+mn-ea"/>
                <a:sym typeface="+mn-lt"/>
              </a:rPr>
              <a:t> 'a </a:t>
            </a:r>
            <a:r>
              <a:rPr lang="zh-CN" altLang="en-US" sz="1600">
                <a:cs typeface="+mn-ea"/>
                <a:sym typeface="+mn-lt"/>
              </a:rPr>
              <a:t>和</a:t>
            </a:r>
            <a:r>
              <a:rPr lang="en-US" altLang="zh-CN" sz="1600">
                <a:cs typeface="+mn-ea"/>
                <a:sym typeface="+mn-lt"/>
              </a:rPr>
              <a:t> 'b </a:t>
            </a:r>
            <a:r>
              <a:rPr lang="zh-CN" altLang="en-US" sz="1600">
                <a:cs typeface="+mn-ea"/>
                <a:sym typeface="+mn-lt"/>
              </a:rPr>
              <a:t>的关系来</a:t>
            </a:r>
            <a:r>
              <a:rPr lang="zh-CN" altLang="en-US" sz="1600" dirty="0">
                <a:cs typeface="+mn-ea"/>
                <a:sym typeface="+mn-lt"/>
              </a:rPr>
              <a:t>修正错误 </a:t>
            </a:r>
            <a:endParaRPr lang="en-US" altLang="zh-CN" sz="1600" dirty="0">
              <a:cs typeface="+mn-ea"/>
              <a:sym typeface="+mn-lt"/>
            </a:endParaRPr>
          </a:p>
        </p:txBody>
      </p:sp>
      <p:sp>
        <p:nvSpPr>
          <p:cNvPr id="10" name="矩形 9"/>
          <p:cNvSpPr/>
          <p:nvPr/>
        </p:nvSpPr>
        <p:spPr>
          <a:xfrm>
            <a:off x="253313" y="1732388"/>
            <a:ext cx="6660672" cy="2676525"/>
          </a:xfrm>
          <a:prstGeom prst="rect">
            <a:avLst/>
          </a:prstGeom>
          <a:solidFill>
            <a:schemeClr val="tx1"/>
          </a:solidFill>
        </p:spPr>
        <p:txBody>
          <a:bodyPr wrap="square">
            <a:spAutoFit/>
          </a:bodyPr>
          <a:lstStyle/>
          <a:p>
            <a:r>
              <a:rPr lang="en-US" altLang="zh-CN" sz="1400" dirty="0">
                <a:solidFill>
                  <a:schemeClr val="bg2"/>
                </a:solidFill>
                <a:cs typeface="+mn-ea"/>
                <a:sym typeface="+mn-lt"/>
              </a:rPr>
              <a:t>// </a:t>
            </a:r>
            <a:r>
              <a:rPr lang="zh-CN" altLang="en-US" sz="1400" b="1" dirty="0">
                <a:solidFill>
                  <a:schemeClr val="accent2"/>
                </a:solidFill>
                <a:cs typeface="+mn-ea"/>
                <a:sym typeface="+mn-lt"/>
              </a:rPr>
              <a:t>错误示例</a:t>
            </a:r>
            <a:endParaRPr lang="en-US" altLang="zh-CN" sz="1400" dirty="0">
              <a:solidFill>
                <a:schemeClr val="accent2"/>
              </a:solidFill>
              <a:cs typeface="+mn-ea"/>
              <a:sym typeface="+mn-lt"/>
            </a:endParaRPr>
          </a:p>
          <a:p>
            <a:r>
              <a:rPr lang="en-US" altLang="zh-CN" sz="1400" dirty="0">
                <a:solidFill>
                  <a:srgbClr val="C678DD"/>
                </a:solidFill>
                <a:cs typeface="+mn-ea"/>
                <a:sym typeface="+mn-lt"/>
              </a:rPr>
              <a:t>struct</a:t>
            </a:r>
            <a:r>
              <a:rPr lang="en-US" altLang="zh-CN" sz="1400" dirty="0">
                <a:solidFill>
                  <a:srgbClr val="ABB2BF"/>
                </a:solidFill>
                <a:cs typeface="+mn-ea"/>
                <a:sym typeface="+mn-lt"/>
              </a:rPr>
              <a:t> Name&lt;'</a:t>
            </a:r>
            <a:r>
              <a:rPr lang="en-US" altLang="zh-CN" sz="1400" dirty="0">
                <a:solidFill>
                  <a:srgbClr val="E5C07B"/>
                </a:solidFill>
                <a:cs typeface="+mn-ea"/>
                <a:sym typeface="+mn-lt"/>
              </a:rPr>
              <a:t>a</a:t>
            </a:r>
            <a:r>
              <a:rPr lang="en-US" altLang="zh-CN" sz="1400" dirty="0">
                <a:solidFill>
                  <a:srgbClr val="ABB2BF"/>
                </a:solidFill>
                <a:cs typeface="+mn-ea"/>
                <a:sym typeface="+mn-lt"/>
              </a:rPr>
              <a:t>&gt; {</a:t>
            </a:r>
          </a:p>
          <a:p>
            <a:r>
              <a:rPr lang="en-US" altLang="zh-CN" sz="1400" dirty="0">
                <a:solidFill>
                  <a:srgbClr val="ABB2BF"/>
                </a:solidFill>
                <a:cs typeface="+mn-ea"/>
                <a:sym typeface="+mn-lt"/>
              </a:rPr>
              <a:t>    </a:t>
            </a:r>
            <a:r>
              <a:rPr lang="en-US" altLang="zh-CN" sz="1400" dirty="0">
                <a:solidFill>
                  <a:srgbClr val="E06C75"/>
                </a:solidFill>
                <a:cs typeface="+mn-ea"/>
                <a:sym typeface="+mn-lt"/>
              </a:rPr>
              <a:t>part</a:t>
            </a:r>
            <a:r>
              <a:rPr lang="en-US" altLang="zh-CN" sz="1400" dirty="0">
                <a:solidFill>
                  <a:srgbClr val="ABB2BF"/>
                </a:solidFill>
                <a:cs typeface="+mn-ea"/>
                <a:sym typeface="+mn-lt"/>
              </a:rPr>
              <a:t>: &amp;'</a:t>
            </a:r>
            <a:r>
              <a:rPr lang="en-US" altLang="zh-CN" sz="1400" dirty="0">
                <a:solidFill>
                  <a:srgbClr val="E5C07B"/>
                </a:solidFill>
                <a:cs typeface="+mn-ea"/>
                <a:sym typeface="+mn-lt"/>
              </a:rPr>
              <a:t>a</a:t>
            </a:r>
            <a:r>
              <a:rPr lang="en-US" altLang="zh-CN" sz="1400" dirty="0">
                <a:solidFill>
                  <a:srgbClr val="ABB2BF"/>
                </a:solidFill>
                <a:cs typeface="+mn-ea"/>
                <a:sym typeface="+mn-lt"/>
              </a:rPr>
              <a:t> </a:t>
            </a:r>
            <a:r>
              <a:rPr lang="en-US" altLang="zh-CN" sz="1400" dirty="0">
                <a:solidFill>
                  <a:srgbClr val="E5C07B"/>
                </a:solidFill>
                <a:cs typeface="+mn-ea"/>
                <a:sym typeface="+mn-lt"/>
              </a:rPr>
              <a:t>str</a:t>
            </a:r>
            <a:r>
              <a:rPr lang="en-US" altLang="zh-CN" sz="1400" dirty="0">
                <a:solidFill>
                  <a:srgbClr val="ABB2BF"/>
                </a:solidFill>
                <a:cs typeface="+mn-ea"/>
                <a:sym typeface="+mn-lt"/>
              </a:rPr>
              <a:t>,</a:t>
            </a:r>
          </a:p>
          <a:p>
            <a:r>
              <a:rPr lang="en-US" altLang="zh-CN" sz="1400" dirty="0">
                <a:solidFill>
                  <a:srgbClr val="ABB2BF"/>
                </a:solidFill>
                <a:cs typeface="+mn-ea"/>
                <a:sym typeface="+mn-lt"/>
              </a:rPr>
              <a:t>}</a:t>
            </a:r>
          </a:p>
          <a:p>
            <a:endParaRPr lang="en-US" altLang="zh-CN" sz="1400" dirty="0">
              <a:solidFill>
                <a:srgbClr val="ABB2BF"/>
              </a:solidFill>
              <a:cs typeface="+mn-ea"/>
              <a:sym typeface="+mn-lt"/>
            </a:endParaRPr>
          </a:p>
          <a:p>
            <a:r>
              <a:rPr lang="zh-CN" sz="1400" b="0" i="1" u="none" dirty="0">
                <a:solidFill>
                  <a:srgbClr val="7F848E"/>
                </a:solidFill>
                <a:cs typeface="+mn-ea"/>
                <a:sym typeface="+mn-lt"/>
              </a:rPr>
              <a:t>// 'a 与 'b  的生命周期长短关系编译器无法判断</a:t>
            </a:r>
            <a:br>
              <a:rPr lang="en-US" altLang="zh-CN" sz="1400" dirty="0">
                <a:solidFill>
                  <a:srgbClr val="ABB2BF"/>
                </a:solidFill>
                <a:cs typeface="+mn-ea"/>
                <a:sym typeface="+mn-lt"/>
              </a:rPr>
            </a:br>
            <a:r>
              <a:rPr lang="en-US" altLang="zh-CN" sz="1400" dirty="0" err="1">
                <a:solidFill>
                  <a:srgbClr val="C678DD"/>
                </a:solidFill>
                <a:cs typeface="+mn-ea"/>
                <a:sym typeface="+mn-lt"/>
              </a:rPr>
              <a:t>impl</a:t>
            </a:r>
            <a:r>
              <a:rPr lang="en-US" altLang="zh-CN" sz="1400" dirty="0">
                <a:solidFill>
                  <a:srgbClr val="ABB2BF"/>
                </a:solidFill>
                <a:cs typeface="+mn-ea"/>
                <a:sym typeface="+mn-lt"/>
              </a:rPr>
              <a:t>&lt;'</a:t>
            </a:r>
            <a:r>
              <a:rPr lang="en-US" altLang="zh-CN" sz="1400" dirty="0">
                <a:solidFill>
                  <a:srgbClr val="E5C07B"/>
                </a:solidFill>
                <a:cs typeface="+mn-ea"/>
                <a:sym typeface="+mn-lt"/>
              </a:rPr>
              <a:t>a</a:t>
            </a:r>
            <a:r>
              <a:rPr lang="en-US" altLang="zh-CN" sz="1400" dirty="0">
                <a:solidFill>
                  <a:srgbClr val="ABB2BF"/>
                </a:solidFill>
                <a:cs typeface="+mn-ea"/>
                <a:sym typeface="+mn-lt"/>
              </a:rPr>
              <a:t>, '</a:t>
            </a:r>
            <a:r>
              <a:rPr lang="en-US" altLang="zh-CN" sz="1400" dirty="0">
                <a:solidFill>
                  <a:srgbClr val="E5C07B"/>
                </a:solidFill>
                <a:cs typeface="+mn-ea"/>
                <a:sym typeface="+mn-lt"/>
              </a:rPr>
              <a:t>b</a:t>
            </a:r>
            <a:r>
              <a:rPr lang="en-US" altLang="zh-CN" sz="1400" dirty="0">
                <a:solidFill>
                  <a:srgbClr val="ABB2BF"/>
                </a:solidFill>
                <a:cs typeface="+mn-ea"/>
                <a:sym typeface="+mn-lt"/>
              </a:rPr>
              <a:t>&gt; Name&lt;'</a:t>
            </a:r>
            <a:r>
              <a:rPr lang="en-US" altLang="zh-CN" sz="1400" dirty="0">
                <a:solidFill>
                  <a:srgbClr val="E5C07B"/>
                </a:solidFill>
                <a:cs typeface="+mn-ea"/>
                <a:sym typeface="+mn-lt"/>
              </a:rPr>
              <a:t>a</a:t>
            </a:r>
            <a:r>
              <a:rPr lang="en-US" altLang="zh-CN" sz="1400" dirty="0">
                <a:solidFill>
                  <a:srgbClr val="ABB2BF"/>
                </a:solidFill>
                <a:cs typeface="+mn-ea"/>
                <a:sym typeface="+mn-lt"/>
              </a:rPr>
              <a:t>&gt; {</a:t>
            </a:r>
          </a:p>
          <a:p>
            <a:r>
              <a:rPr lang="en-US" altLang="zh-CN" sz="1400" dirty="0">
                <a:solidFill>
                  <a:srgbClr val="ABB2BF"/>
                </a:solidFill>
                <a:cs typeface="+mn-ea"/>
                <a:sym typeface="+mn-lt"/>
              </a:rPr>
              <a:t>    </a:t>
            </a:r>
            <a:r>
              <a:rPr lang="en-US" altLang="zh-CN" sz="1400" dirty="0">
                <a:solidFill>
                  <a:srgbClr val="C678DD"/>
                </a:solidFill>
                <a:cs typeface="+mn-ea"/>
                <a:sym typeface="+mn-lt"/>
              </a:rPr>
              <a:t>fn</a:t>
            </a:r>
            <a:r>
              <a:rPr lang="en-US" altLang="zh-CN" sz="1400" dirty="0">
                <a:solidFill>
                  <a:srgbClr val="ABB2BF"/>
                </a:solidFill>
                <a:cs typeface="+mn-ea"/>
                <a:sym typeface="+mn-lt"/>
              </a:rPr>
              <a:t> </a:t>
            </a:r>
            <a:r>
              <a:rPr lang="en-US" altLang="zh-CN" sz="1400" dirty="0" err="1">
                <a:solidFill>
                  <a:srgbClr val="ABB2BF"/>
                </a:solidFill>
                <a:cs typeface="+mn-ea"/>
                <a:sym typeface="+mn-lt"/>
              </a:rPr>
              <a:t>all_name</a:t>
            </a:r>
            <a:r>
              <a:rPr lang="en-US" altLang="zh-CN" sz="1400" dirty="0">
                <a:solidFill>
                  <a:srgbClr val="ABB2BF"/>
                </a:solidFill>
                <a:cs typeface="+mn-ea"/>
                <a:sym typeface="+mn-lt"/>
              </a:rPr>
              <a:t>(&amp;'</a:t>
            </a:r>
            <a:r>
              <a:rPr lang="en-US" altLang="zh-CN" sz="1400" dirty="0">
                <a:solidFill>
                  <a:srgbClr val="E5C07B"/>
                </a:solidFill>
                <a:cs typeface="+mn-ea"/>
                <a:sym typeface="+mn-lt"/>
              </a:rPr>
              <a:t>a</a:t>
            </a:r>
            <a:r>
              <a:rPr lang="en-US" altLang="zh-CN" sz="1400" dirty="0">
                <a:solidFill>
                  <a:srgbClr val="ABB2BF"/>
                </a:solidFill>
                <a:cs typeface="+mn-ea"/>
                <a:sym typeface="+mn-lt"/>
              </a:rPr>
              <a:t> </a:t>
            </a:r>
            <a:r>
              <a:rPr lang="en-US" altLang="zh-CN" sz="1400" dirty="0">
                <a:solidFill>
                  <a:srgbClr val="E5C07B"/>
                </a:solidFill>
                <a:cs typeface="+mn-ea"/>
                <a:sym typeface="+mn-lt"/>
              </a:rPr>
              <a:t>self</a:t>
            </a:r>
            <a:r>
              <a:rPr lang="en-US" altLang="zh-CN" sz="1400" dirty="0">
                <a:solidFill>
                  <a:srgbClr val="ABB2BF"/>
                </a:solidFill>
                <a:cs typeface="+mn-ea"/>
                <a:sym typeface="+mn-lt"/>
              </a:rPr>
              <a:t>, </a:t>
            </a:r>
            <a:r>
              <a:rPr lang="en-US" altLang="zh-CN" sz="1400" dirty="0" err="1">
                <a:solidFill>
                  <a:srgbClr val="E06C75"/>
                </a:solidFill>
                <a:cs typeface="+mn-ea"/>
                <a:sym typeface="+mn-lt"/>
              </a:rPr>
              <a:t>last_name</a:t>
            </a:r>
            <a:r>
              <a:rPr lang="en-US" altLang="zh-CN" sz="1400" dirty="0">
                <a:solidFill>
                  <a:srgbClr val="ABB2BF"/>
                </a:solidFill>
                <a:cs typeface="+mn-ea"/>
                <a:sym typeface="+mn-lt"/>
              </a:rPr>
              <a:t>: &amp;'</a:t>
            </a:r>
            <a:r>
              <a:rPr lang="en-US" altLang="zh-CN" sz="1400" dirty="0">
                <a:solidFill>
                  <a:srgbClr val="E5C07B"/>
                </a:solidFill>
                <a:cs typeface="+mn-ea"/>
                <a:sym typeface="+mn-lt"/>
              </a:rPr>
              <a:t>b</a:t>
            </a:r>
            <a:r>
              <a:rPr lang="en-US" altLang="zh-CN" sz="1400" dirty="0">
                <a:solidFill>
                  <a:srgbClr val="ABB2BF"/>
                </a:solidFill>
                <a:cs typeface="+mn-ea"/>
                <a:sym typeface="+mn-lt"/>
              </a:rPr>
              <a:t> </a:t>
            </a:r>
            <a:r>
              <a:rPr lang="en-US" altLang="zh-CN" sz="1400" dirty="0">
                <a:solidFill>
                  <a:srgbClr val="E5C07B"/>
                </a:solidFill>
                <a:cs typeface="+mn-ea"/>
                <a:sym typeface="+mn-lt"/>
              </a:rPr>
              <a:t>str</a:t>
            </a:r>
            <a:r>
              <a:rPr lang="en-US" altLang="zh-CN" sz="1400" dirty="0">
                <a:solidFill>
                  <a:srgbClr val="ABB2BF"/>
                </a:solidFill>
                <a:cs typeface="+mn-ea"/>
                <a:sym typeface="+mn-lt"/>
              </a:rPr>
              <a:t>) -&gt; &amp;'</a:t>
            </a:r>
            <a:r>
              <a:rPr lang="en-US" altLang="zh-CN" sz="1400" dirty="0">
                <a:solidFill>
                  <a:srgbClr val="E5C07B"/>
                </a:solidFill>
                <a:cs typeface="+mn-ea"/>
                <a:sym typeface="+mn-lt"/>
              </a:rPr>
              <a:t>b</a:t>
            </a:r>
            <a:r>
              <a:rPr lang="en-US" altLang="zh-CN" sz="1400" dirty="0">
                <a:solidFill>
                  <a:srgbClr val="ABB2BF"/>
                </a:solidFill>
                <a:cs typeface="+mn-ea"/>
                <a:sym typeface="+mn-lt"/>
              </a:rPr>
              <a:t> </a:t>
            </a:r>
            <a:r>
              <a:rPr lang="en-US" altLang="zh-CN" sz="1400" dirty="0">
                <a:solidFill>
                  <a:srgbClr val="E5C07B"/>
                </a:solidFill>
                <a:cs typeface="+mn-ea"/>
                <a:sym typeface="+mn-lt"/>
              </a:rPr>
              <a:t>str</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61AFEF"/>
                </a:solidFill>
                <a:cs typeface="+mn-ea"/>
                <a:sym typeface="+mn-lt"/>
              </a:rPr>
              <a:t>println!</a:t>
            </a:r>
            <a:r>
              <a:rPr lang="en-US" altLang="zh-CN" sz="1400" dirty="0">
                <a:solidFill>
                  <a:srgbClr val="ABB2BF"/>
                </a:solidFill>
                <a:cs typeface="+mn-ea"/>
                <a:sym typeface="+mn-lt"/>
              </a:rPr>
              <a:t>(</a:t>
            </a:r>
            <a:r>
              <a:rPr lang="en-US" altLang="zh-CN" sz="1400" dirty="0">
                <a:solidFill>
                  <a:srgbClr val="98C379"/>
                </a:solidFill>
                <a:cs typeface="+mn-ea"/>
                <a:sym typeface="+mn-lt"/>
              </a:rPr>
              <a:t>"My name is : {} {}"</a:t>
            </a:r>
            <a:r>
              <a:rPr lang="en-US" altLang="zh-CN" sz="1400" dirty="0">
                <a:solidFill>
                  <a:srgbClr val="ABB2BF"/>
                </a:solidFill>
                <a:cs typeface="+mn-ea"/>
                <a:sym typeface="+mn-lt"/>
              </a:rPr>
              <a:t>,</a:t>
            </a:r>
            <a:r>
              <a:rPr lang="en-US" altLang="zh-CN" sz="1400" dirty="0" err="1">
                <a:solidFill>
                  <a:srgbClr val="ABB2BF"/>
                </a:solidFill>
                <a:cs typeface="+mn-ea"/>
                <a:sym typeface="+mn-lt"/>
              </a:rPr>
              <a:t>self.part</a:t>
            </a:r>
            <a:r>
              <a:rPr lang="en-US" altLang="zh-CN" sz="1400" dirty="0">
                <a:solidFill>
                  <a:srgbClr val="ABB2BF"/>
                </a:solidFill>
                <a:cs typeface="+mn-ea"/>
                <a:sym typeface="+mn-lt"/>
              </a:rPr>
              <a:t>, </a:t>
            </a:r>
            <a:r>
              <a:rPr lang="en-US" altLang="zh-CN" sz="1400" dirty="0" err="1">
                <a:solidFill>
                  <a:srgbClr val="E06C75"/>
                </a:solidFill>
                <a:cs typeface="+mn-ea"/>
                <a:sym typeface="+mn-lt"/>
              </a:rPr>
              <a:t>last_name</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err="1">
                <a:solidFill>
                  <a:srgbClr val="E5C07B"/>
                </a:solidFill>
                <a:cs typeface="+mn-ea"/>
                <a:sym typeface="+mn-lt"/>
              </a:rPr>
              <a:t>self</a:t>
            </a:r>
            <a:r>
              <a:rPr lang="en-US" altLang="zh-CN" sz="1400" dirty="0" err="1">
                <a:solidFill>
                  <a:srgbClr val="ABB2BF"/>
                </a:solidFill>
                <a:cs typeface="+mn-ea"/>
                <a:sym typeface="+mn-lt"/>
              </a:rPr>
              <a:t>.part</a:t>
            </a:r>
            <a:endParaRPr lang="en-US" altLang="zh-CN" sz="1400" dirty="0">
              <a:solidFill>
                <a:srgbClr val="ABB2BF"/>
              </a:solidFill>
              <a:cs typeface="+mn-ea"/>
              <a:sym typeface="+mn-lt"/>
            </a:endParaRPr>
          </a:p>
          <a:p>
            <a:r>
              <a:rPr lang="en-US" altLang="zh-CN" sz="1400" dirty="0">
                <a:solidFill>
                  <a:srgbClr val="ABB2BF"/>
                </a:solidFill>
                <a:cs typeface="+mn-ea"/>
                <a:sym typeface="+mn-lt"/>
              </a:rPr>
              <a:t>    }</a:t>
            </a: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pic>
        <p:nvPicPr>
          <p:cNvPr id="3" name="图片 2"/>
          <p:cNvPicPr>
            <a:picLocks noChangeAspect="1"/>
          </p:cNvPicPr>
          <p:nvPr/>
        </p:nvPicPr>
        <p:blipFill>
          <a:blip r:embed="rId3"/>
          <a:stretch>
            <a:fillRect/>
          </a:stretch>
        </p:blipFill>
        <p:spPr>
          <a:xfrm>
            <a:off x="7423962" y="1782904"/>
            <a:ext cx="4333875" cy="1666875"/>
          </a:xfrm>
          <a:prstGeom prst="rect">
            <a:avLst/>
          </a:prstGeom>
        </p:spPr>
      </p:pic>
      <p:sp>
        <p:nvSpPr>
          <p:cNvPr id="6" name="右箭头 5"/>
          <p:cNvSpPr/>
          <p:nvPr/>
        </p:nvSpPr>
        <p:spPr>
          <a:xfrm>
            <a:off x="7036910" y="2248318"/>
            <a:ext cx="205273" cy="525526"/>
          </a:xfrm>
          <a:prstGeom prst="right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a:off x="7244199" y="4105455"/>
            <a:ext cx="4943839" cy="2122805"/>
          </a:xfrm>
          <a:prstGeom prst="rect">
            <a:avLst/>
          </a:prstGeom>
          <a:solidFill>
            <a:schemeClr val="tx1"/>
          </a:solidFill>
        </p:spPr>
        <p:txBody>
          <a:bodyPr wrap="square">
            <a:spAutoFit/>
          </a:bodyPr>
          <a:lstStyle/>
          <a:p>
            <a:r>
              <a:rPr lang="en-US" altLang="zh-CN" sz="1200">
                <a:solidFill>
                  <a:schemeClr val="bg2"/>
                </a:solidFill>
                <a:cs typeface="+mn-ea"/>
                <a:sym typeface="+mn-lt"/>
              </a:rPr>
              <a:t>// </a:t>
            </a:r>
            <a:r>
              <a:rPr lang="zh-CN" altLang="en-US" sz="1200" b="1">
                <a:solidFill>
                  <a:srgbClr val="00B050"/>
                </a:solidFill>
                <a:cs typeface="+mn-ea"/>
                <a:sym typeface="+mn-lt"/>
              </a:rPr>
              <a:t>正确示例</a:t>
            </a:r>
            <a:endParaRPr lang="en-US" altLang="zh-CN" sz="1200" b="1">
              <a:solidFill>
                <a:srgbClr val="00B050"/>
              </a:solidFill>
              <a:cs typeface="+mn-ea"/>
              <a:sym typeface="+mn-lt"/>
            </a:endParaRPr>
          </a:p>
          <a:p>
            <a:r>
              <a:rPr lang="en-US" altLang="zh-CN" sz="1200">
                <a:solidFill>
                  <a:srgbClr val="C678DD"/>
                </a:solidFill>
                <a:cs typeface="+mn-ea"/>
                <a:sym typeface="+mn-lt"/>
              </a:rPr>
              <a:t>struct</a:t>
            </a:r>
            <a:r>
              <a:rPr lang="en-US" altLang="zh-CN" sz="1200">
                <a:solidFill>
                  <a:srgbClr val="ABB2BF"/>
                </a:solidFill>
                <a:cs typeface="+mn-ea"/>
                <a:sym typeface="+mn-lt"/>
              </a:rPr>
              <a:t> </a:t>
            </a:r>
            <a:r>
              <a:rPr lang="en-US" altLang="zh-CN" sz="1200">
                <a:solidFill>
                  <a:srgbClr val="E5C07B"/>
                </a:solidFill>
                <a:cs typeface="+mn-ea"/>
                <a:sym typeface="+mn-lt"/>
              </a:rPr>
              <a:t>Name</a:t>
            </a:r>
            <a:r>
              <a:rPr lang="en-US" altLang="zh-CN" sz="1200">
                <a:solidFill>
                  <a:srgbClr val="ABB2BF"/>
                </a:solidFill>
                <a:cs typeface="+mn-ea"/>
                <a:sym typeface="+mn-lt"/>
              </a:rPr>
              <a:t>&lt;'</a:t>
            </a:r>
            <a:r>
              <a:rPr lang="en-US" altLang="zh-CN" sz="1200">
                <a:solidFill>
                  <a:srgbClr val="E5C07B"/>
                </a:solidFill>
                <a:cs typeface="+mn-ea"/>
                <a:sym typeface="+mn-lt"/>
              </a:rPr>
              <a:t>a</a:t>
            </a:r>
            <a:r>
              <a:rPr lang="en-US" altLang="zh-CN" sz="1200">
                <a:solidFill>
                  <a:srgbClr val="ABB2BF"/>
                </a:solidFill>
                <a:cs typeface="+mn-ea"/>
                <a:sym typeface="+mn-lt"/>
              </a:rPr>
              <a:t>&gt; { </a:t>
            </a:r>
            <a:r>
              <a:rPr lang="en-US" altLang="zh-CN" sz="1200">
                <a:solidFill>
                  <a:srgbClr val="E06C75"/>
                </a:solidFill>
                <a:cs typeface="+mn-ea"/>
                <a:sym typeface="+mn-lt"/>
              </a:rPr>
              <a:t>part</a:t>
            </a:r>
            <a:r>
              <a:rPr lang="en-US" altLang="zh-CN" sz="1200">
                <a:solidFill>
                  <a:srgbClr val="ABB2BF"/>
                </a:solidFill>
                <a:cs typeface="+mn-ea"/>
                <a:sym typeface="+mn-lt"/>
              </a:rPr>
              <a:t>: &amp;'</a:t>
            </a:r>
            <a:r>
              <a:rPr lang="en-US" altLang="zh-CN" sz="1200">
                <a:solidFill>
                  <a:srgbClr val="E5C07B"/>
                </a:solidFill>
                <a:cs typeface="+mn-ea"/>
                <a:sym typeface="+mn-lt"/>
              </a:rPr>
              <a:t>a</a:t>
            </a:r>
            <a:r>
              <a:rPr lang="en-US" altLang="zh-CN" sz="1200">
                <a:solidFill>
                  <a:srgbClr val="ABB2BF"/>
                </a:solidFill>
                <a:cs typeface="+mn-ea"/>
                <a:sym typeface="+mn-lt"/>
              </a:rPr>
              <a:t> </a:t>
            </a:r>
            <a:r>
              <a:rPr lang="en-US" altLang="zh-CN" sz="1200">
                <a:solidFill>
                  <a:srgbClr val="E5C07B"/>
                </a:solidFill>
                <a:cs typeface="+mn-ea"/>
                <a:sym typeface="+mn-lt"/>
              </a:rPr>
              <a:t>str</a:t>
            </a:r>
            <a:r>
              <a:rPr lang="en-US" altLang="zh-CN" sz="1200">
                <a:solidFill>
                  <a:srgbClr val="ABB2BF"/>
                </a:solidFill>
                <a:cs typeface="+mn-ea"/>
                <a:sym typeface="+mn-lt"/>
              </a:rPr>
              <a:t> }</a:t>
            </a:r>
          </a:p>
          <a:p>
            <a:br>
              <a:rPr lang="en-US" altLang="zh-CN" sz="1200">
                <a:solidFill>
                  <a:srgbClr val="ABB2BF"/>
                </a:solidFill>
                <a:cs typeface="+mn-ea"/>
                <a:sym typeface="+mn-lt"/>
              </a:rPr>
            </a:br>
            <a:r>
              <a:rPr lang="en-US" altLang="zh-CN" sz="1200">
                <a:solidFill>
                  <a:srgbClr val="C678DD"/>
                </a:solidFill>
                <a:cs typeface="+mn-ea"/>
                <a:sym typeface="+mn-lt"/>
              </a:rPr>
              <a:t>impl</a:t>
            </a:r>
            <a:r>
              <a:rPr lang="en-US" altLang="zh-CN" sz="1200">
                <a:solidFill>
                  <a:srgbClr val="ABB2BF"/>
                </a:solidFill>
                <a:cs typeface="+mn-ea"/>
                <a:sym typeface="+mn-lt"/>
              </a:rPr>
              <a:t>&lt;'</a:t>
            </a:r>
            <a:r>
              <a:rPr lang="en-US" altLang="zh-CN" sz="1200">
                <a:solidFill>
                  <a:srgbClr val="E5C07B"/>
                </a:solidFill>
                <a:cs typeface="+mn-ea"/>
                <a:sym typeface="+mn-lt"/>
              </a:rPr>
              <a:t>a: 'b</a:t>
            </a:r>
            <a:r>
              <a:rPr lang="en-US" altLang="zh-CN" sz="1200">
                <a:solidFill>
                  <a:srgbClr val="ABB2BF"/>
                </a:solidFill>
                <a:cs typeface="+mn-ea"/>
                <a:sym typeface="+mn-lt"/>
              </a:rPr>
              <a:t>, '</a:t>
            </a:r>
            <a:r>
              <a:rPr lang="en-US" altLang="zh-CN" sz="1200">
                <a:solidFill>
                  <a:srgbClr val="E5C07B"/>
                </a:solidFill>
                <a:cs typeface="+mn-ea"/>
                <a:sym typeface="+mn-lt"/>
              </a:rPr>
              <a:t>b</a:t>
            </a:r>
            <a:r>
              <a:rPr lang="en-US" altLang="zh-CN" sz="1200">
                <a:solidFill>
                  <a:srgbClr val="ABB2BF"/>
                </a:solidFill>
                <a:cs typeface="+mn-ea"/>
                <a:sym typeface="+mn-lt"/>
              </a:rPr>
              <a:t>&gt; </a:t>
            </a:r>
            <a:r>
              <a:rPr lang="en-US" altLang="zh-CN" sz="1200">
                <a:solidFill>
                  <a:srgbClr val="E5C07B"/>
                </a:solidFill>
                <a:cs typeface="+mn-ea"/>
                <a:sym typeface="+mn-lt"/>
              </a:rPr>
              <a:t>Name</a:t>
            </a:r>
            <a:r>
              <a:rPr lang="en-US" altLang="zh-CN" sz="1200">
                <a:solidFill>
                  <a:srgbClr val="ABB2BF"/>
                </a:solidFill>
                <a:cs typeface="+mn-ea"/>
                <a:sym typeface="+mn-lt"/>
              </a:rPr>
              <a:t>&lt;'</a:t>
            </a:r>
            <a:r>
              <a:rPr lang="en-US" altLang="zh-CN" sz="1200">
                <a:solidFill>
                  <a:srgbClr val="E5C07B"/>
                </a:solidFill>
                <a:cs typeface="+mn-ea"/>
                <a:sym typeface="+mn-lt"/>
              </a:rPr>
              <a:t>a</a:t>
            </a:r>
            <a:r>
              <a:rPr lang="en-US" altLang="zh-CN" sz="1200">
                <a:solidFill>
                  <a:srgbClr val="ABB2BF"/>
                </a:solidFill>
                <a:cs typeface="+mn-ea"/>
                <a:sym typeface="+mn-lt"/>
              </a:rPr>
              <a:t>&gt;{</a:t>
            </a:r>
          </a:p>
          <a:p>
            <a:r>
              <a:rPr lang="en-US" altLang="zh-CN" sz="1200" i="1">
                <a:solidFill>
                  <a:srgbClr val="7F848E"/>
                </a:solidFill>
                <a:cs typeface="+mn-ea"/>
                <a:sym typeface="+mn-lt"/>
              </a:rPr>
              <a:t>    // </a:t>
            </a:r>
            <a:r>
              <a:rPr lang="zh-CN" altLang="en-US" sz="1200" i="1">
                <a:solidFill>
                  <a:srgbClr val="7F848E"/>
                </a:solidFill>
                <a:cs typeface="+mn-ea"/>
                <a:sym typeface="+mn-lt"/>
              </a:rPr>
              <a:t>上面示例中的函数代码</a:t>
            </a:r>
            <a:endParaRPr lang="zh-CN" altLang="en-US" sz="1200">
              <a:solidFill>
                <a:srgbClr val="ABB2BF"/>
              </a:solidFill>
              <a:cs typeface="+mn-ea"/>
              <a:sym typeface="+mn-lt"/>
            </a:endParaRPr>
          </a:p>
          <a:p>
            <a:r>
              <a:rPr lang="en-US" altLang="zh-CN" sz="1200">
                <a:solidFill>
                  <a:srgbClr val="ABB2BF"/>
                </a:solidFill>
                <a:cs typeface="+mn-ea"/>
                <a:sym typeface="+mn-lt"/>
              </a:rPr>
              <a:t>}</a:t>
            </a:r>
          </a:p>
          <a:p>
            <a:r>
              <a:rPr lang="en-US" altLang="zh-CN" sz="1200">
                <a:solidFill>
                  <a:srgbClr val="ABB2BF"/>
                </a:solidFill>
                <a:effectLst/>
                <a:cs typeface="+mn-ea"/>
                <a:sym typeface="+mn-lt"/>
              </a:rPr>
              <a:t>// </a:t>
            </a:r>
            <a:r>
              <a:rPr lang="zh-CN" altLang="en-US" sz="1200">
                <a:solidFill>
                  <a:srgbClr val="ABB2BF"/>
                </a:solidFill>
                <a:effectLst/>
                <a:cs typeface="+mn-ea"/>
                <a:sym typeface="+mn-lt"/>
              </a:rPr>
              <a:t>或者</a:t>
            </a:r>
          </a:p>
          <a:p>
            <a:r>
              <a:rPr lang="en-US" altLang="zh-CN" sz="1200">
                <a:solidFill>
                  <a:srgbClr val="C678DD"/>
                </a:solidFill>
                <a:cs typeface="+mn-ea"/>
                <a:sym typeface="+mn-lt"/>
              </a:rPr>
              <a:t>impl</a:t>
            </a:r>
            <a:r>
              <a:rPr lang="en-US" altLang="zh-CN" sz="1200">
                <a:solidFill>
                  <a:srgbClr val="ABB2BF"/>
                </a:solidFill>
                <a:cs typeface="+mn-ea"/>
                <a:sym typeface="+mn-lt"/>
              </a:rPr>
              <a:t>&lt;'</a:t>
            </a:r>
            <a:r>
              <a:rPr lang="en-US" altLang="zh-CN" sz="1200">
                <a:solidFill>
                  <a:srgbClr val="E5C07B"/>
                </a:solidFill>
                <a:cs typeface="+mn-ea"/>
                <a:sym typeface="+mn-lt"/>
              </a:rPr>
              <a:t>a</a:t>
            </a:r>
            <a:r>
              <a:rPr lang="en-US" altLang="zh-CN" sz="1200">
                <a:solidFill>
                  <a:srgbClr val="ABB2BF"/>
                </a:solidFill>
                <a:cs typeface="+mn-ea"/>
                <a:sym typeface="+mn-lt"/>
              </a:rPr>
              <a:t>, '</a:t>
            </a:r>
            <a:r>
              <a:rPr lang="en-US" altLang="zh-CN" sz="1200">
                <a:solidFill>
                  <a:srgbClr val="E5C07B"/>
                </a:solidFill>
                <a:cs typeface="+mn-ea"/>
                <a:sym typeface="+mn-lt"/>
              </a:rPr>
              <a:t>b</a:t>
            </a:r>
            <a:r>
              <a:rPr lang="en-US" altLang="zh-CN" sz="1200">
                <a:solidFill>
                  <a:srgbClr val="ABB2BF"/>
                </a:solidFill>
                <a:cs typeface="+mn-ea"/>
                <a:sym typeface="+mn-lt"/>
              </a:rPr>
              <a:t>&gt; </a:t>
            </a:r>
            <a:r>
              <a:rPr lang="en-US" altLang="zh-CN" sz="1200">
                <a:solidFill>
                  <a:srgbClr val="E5C07B"/>
                </a:solidFill>
                <a:cs typeface="+mn-ea"/>
                <a:sym typeface="+mn-lt"/>
              </a:rPr>
              <a:t>Name</a:t>
            </a:r>
            <a:r>
              <a:rPr lang="en-US" altLang="zh-CN" sz="1200">
                <a:solidFill>
                  <a:srgbClr val="ABB2BF"/>
                </a:solidFill>
                <a:cs typeface="+mn-ea"/>
                <a:sym typeface="+mn-lt"/>
              </a:rPr>
              <a:t>&lt;'</a:t>
            </a:r>
            <a:r>
              <a:rPr lang="en-US" altLang="zh-CN" sz="1200">
                <a:solidFill>
                  <a:srgbClr val="E5C07B"/>
                </a:solidFill>
                <a:cs typeface="+mn-ea"/>
                <a:sym typeface="+mn-lt"/>
              </a:rPr>
              <a:t>a</a:t>
            </a:r>
            <a:r>
              <a:rPr lang="en-US" altLang="zh-CN" sz="1200">
                <a:solidFill>
                  <a:srgbClr val="ABB2BF"/>
                </a:solidFill>
                <a:cs typeface="+mn-ea"/>
                <a:sym typeface="+mn-lt"/>
              </a:rPr>
              <a:t>&gt;</a:t>
            </a:r>
          </a:p>
          <a:p>
            <a:r>
              <a:rPr lang="en-US" altLang="zh-CN" sz="1200">
                <a:solidFill>
                  <a:srgbClr val="C678DD"/>
                </a:solidFill>
                <a:cs typeface="+mn-ea"/>
                <a:sym typeface="+mn-lt"/>
              </a:rPr>
              <a:t>where</a:t>
            </a:r>
            <a:r>
              <a:rPr lang="en-US" altLang="zh-CN" sz="1200">
                <a:solidFill>
                  <a:srgbClr val="ABB2BF"/>
                </a:solidFill>
                <a:cs typeface="+mn-ea"/>
                <a:sym typeface="+mn-lt"/>
              </a:rPr>
              <a:t> '</a:t>
            </a:r>
            <a:r>
              <a:rPr lang="en-US" altLang="zh-CN" sz="1200">
                <a:solidFill>
                  <a:srgbClr val="E5C07B"/>
                </a:solidFill>
                <a:cs typeface="+mn-ea"/>
                <a:sym typeface="+mn-lt"/>
              </a:rPr>
              <a:t>a</a:t>
            </a:r>
            <a:r>
              <a:rPr lang="en-US" altLang="zh-CN" sz="1200">
                <a:solidFill>
                  <a:srgbClr val="ABB2BF"/>
                </a:solidFill>
                <a:cs typeface="+mn-ea"/>
                <a:sym typeface="+mn-lt"/>
              </a:rPr>
              <a:t>: '</a:t>
            </a:r>
            <a:r>
              <a:rPr lang="en-US" altLang="zh-CN" sz="1200">
                <a:solidFill>
                  <a:srgbClr val="E5C07B"/>
                </a:solidFill>
                <a:cs typeface="+mn-ea"/>
                <a:sym typeface="+mn-lt"/>
              </a:rPr>
              <a:t>b</a:t>
            </a:r>
            <a:r>
              <a:rPr lang="en-US" altLang="zh-CN" sz="1200">
                <a:solidFill>
                  <a:srgbClr val="ABB2BF"/>
                </a:solidFill>
                <a:cs typeface="+mn-ea"/>
                <a:sym typeface="+mn-lt"/>
              </a:rPr>
              <a:t> {</a:t>
            </a:r>
          </a:p>
          <a:p>
            <a:r>
              <a:rPr lang="en-US" altLang="zh-CN" sz="1200" i="1">
                <a:solidFill>
                  <a:srgbClr val="7F848E"/>
                </a:solidFill>
                <a:cs typeface="+mn-ea"/>
                <a:sym typeface="+mn-lt"/>
              </a:rPr>
              <a:t>    // </a:t>
            </a:r>
            <a:r>
              <a:rPr lang="zh-CN" altLang="en-US" sz="1200" i="1">
                <a:solidFill>
                  <a:srgbClr val="7F848E"/>
                </a:solidFill>
                <a:cs typeface="+mn-ea"/>
                <a:sym typeface="+mn-lt"/>
              </a:rPr>
              <a:t>上面示例中的函数代码</a:t>
            </a:r>
            <a:endParaRPr lang="zh-CN" altLang="en-US" sz="1200">
              <a:solidFill>
                <a:srgbClr val="ABB2BF"/>
              </a:solidFill>
              <a:cs typeface="+mn-ea"/>
              <a:sym typeface="+mn-lt"/>
            </a:endParaRPr>
          </a:p>
          <a:p>
            <a:r>
              <a:rPr lang="en-US" altLang="zh-CN" sz="1200">
                <a:solidFill>
                  <a:srgbClr val="ABB2BF"/>
                </a:solidFill>
                <a:cs typeface="+mn-ea"/>
                <a:sym typeface="+mn-lt"/>
              </a:rPr>
              <a:t>}</a:t>
            </a:r>
            <a:endParaRPr lang="en-US" altLang="zh-CN" sz="1200" b="0">
              <a:solidFill>
                <a:srgbClr val="ABB2BF"/>
              </a:solidFill>
              <a:effectLst/>
              <a:cs typeface="+mn-ea"/>
              <a:sym typeface="+mn-lt"/>
            </a:endParaRPr>
          </a:p>
        </p:txBody>
      </p:sp>
      <p:sp>
        <p:nvSpPr>
          <p:cNvPr id="12" name="矩形 11"/>
          <p:cNvSpPr/>
          <p:nvPr/>
        </p:nvSpPr>
        <p:spPr>
          <a:xfrm>
            <a:off x="253312" y="4742990"/>
            <a:ext cx="6147487" cy="700576"/>
          </a:xfrm>
          <a:prstGeom prst="rect">
            <a:avLst/>
          </a:prstGeom>
          <a:solidFill>
            <a:schemeClr val="tx2"/>
          </a:solidFill>
        </p:spPr>
        <p:txBody>
          <a:bodyPr wrap="square">
            <a:spAutoFit/>
          </a:bodyPr>
          <a:lstStyle/>
          <a:p>
            <a:pPr>
              <a:lnSpc>
                <a:spcPct val="150000"/>
              </a:lnSpc>
            </a:pPr>
            <a:r>
              <a:rPr lang="zh-CN" altLang="en-US" sz="1400">
                <a:cs typeface="+mn-ea"/>
                <a:sym typeface="+mn-lt"/>
              </a:rPr>
              <a:t>上面的例子中必须添加约束 </a:t>
            </a:r>
            <a:r>
              <a:rPr lang="en-US" altLang="zh-CN" sz="1400">
                <a:cs typeface="+mn-ea"/>
                <a:sym typeface="+mn-lt"/>
              </a:rPr>
              <a:t>'a: 'b</a:t>
            </a:r>
            <a:r>
              <a:rPr lang="zh-CN" altLang="en-US" sz="1400">
                <a:cs typeface="+mn-ea"/>
                <a:sym typeface="+mn-lt"/>
              </a:rPr>
              <a:t> 后，才能成功编译。</a:t>
            </a:r>
          </a:p>
          <a:p>
            <a:pPr>
              <a:lnSpc>
                <a:spcPct val="150000"/>
              </a:lnSpc>
            </a:pPr>
            <a:r>
              <a:rPr lang="zh-CN" altLang="en-US" sz="1400" dirty="0">
                <a:cs typeface="+mn-ea"/>
                <a:sym typeface="+mn-lt"/>
              </a:rPr>
              <a:t>增加约束，编译器才能有此依据来判断代码中生命周期的合法性。</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53313" y="88264"/>
            <a:ext cx="10740640" cy="993400"/>
          </a:xfrm>
        </p:spPr>
        <p:txBody>
          <a:bodyPr/>
          <a:lstStyle/>
          <a:p>
            <a:r>
              <a:rPr lang="zh-CN" altLang="en-US" b="1">
                <a:solidFill>
                  <a:srgbClr val="C00000"/>
                </a:solidFill>
                <a:latin typeface="+mn-lt"/>
                <a:ea typeface="+mn-ea"/>
                <a:cs typeface="+mn-ea"/>
                <a:sym typeface="+mn-lt"/>
              </a:rPr>
              <a:t>生命周期参数</a:t>
            </a:r>
            <a:r>
              <a:rPr lang="en-US" altLang="zh-CN" b="1">
                <a:solidFill>
                  <a:srgbClr val="C00000"/>
                </a:solidFill>
                <a:latin typeface="+mn-lt"/>
                <a:ea typeface="+mn-ea"/>
                <a:cs typeface="+mn-ea"/>
                <a:sym typeface="+mn-lt"/>
              </a:rPr>
              <a:t>-'static </a:t>
            </a:r>
            <a:r>
              <a:rPr lang="zh-CN" altLang="en-US" b="1">
                <a:solidFill>
                  <a:srgbClr val="C00000"/>
                </a:solidFill>
                <a:latin typeface="+mn-lt"/>
                <a:ea typeface="+mn-ea"/>
                <a:cs typeface="+mn-ea"/>
                <a:sym typeface="+mn-lt"/>
              </a:rPr>
              <a:t>和 </a:t>
            </a:r>
            <a:r>
              <a:rPr lang="en-US" altLang="zh-CN" b="1">
                <a:solidFill>
                  <a:srgbClr val="C00000"/>
                </a:solidFill>
                <a:latin typeface="+mn-lt"/>
                <a:ea typeface="+mn-ea"/>
                <a:cs typeface="+mn-ea"/>
                <a:sym typeface="+mn-lt"/>
              </a:rPr>
              <a:t>'a</a:t>
            </a:r>
          </a:p>
          <a:p>
            <a:endParaRPr lang="zh-CN" altLang="en-US" b="1" dirty="0">
              <a:solidFill>
                <a:srgbClr val="C00000"/>
              </a:solidFill>
              <a:latin typeface="+mn-lt"/>
              <a:ea typeface="+mn-ea"/>
              <a:cs typeface="+mn-ea"/>
              <a:sym typeface="+mn-lt"/>
            </a:endParaRPr>
          </a:p>
        </p:txBody>
      </p:sp>
      <p:sp>
        <p:nvSpPr>
          <p:cNvPr id="3" name="矩形 2"/>
          <p:cNvSpPr/>
          <p:nvPr/>
        </p:nvSpPr>
        <p:spPr>
          <a:xfrm>
            <a:off x="606938" y="913665"/>
            <a:ext cx="10387016" cy="1938992"/>
          </a:xfrm>
          <a:prstGeom prst="rect">
            <a:avLst/>
          </a:prstGeom>
        </p:spPr>
        <p:txBody>
          <a:bodyPr wrap="square">
            <a:spAutoFit/>
          </a:bodyPr>
          <a:lstStyle/>
          <a:p>
            <a:pPr>
              <a:lnSpc>
                <a:spcPct val="150000"/>
              </a:lnSpc>
            </a:pPr>
            <a:r>
              <a:rPr lang="en-US" altLang="zh-CN" sz="1600" dirty="0">
                <a:cs typeface="+mn-ea"/>
                <a:sym typeface="+mn-lt"/>
              </a:rPr>
              <a:t>'static </a:t>
            </a:r>
            <a:r>
              <a:rPr lang="zh-CN" altLang="en-US" sz="1600" dirty="0">
                <a:cs typeface="+mn-ea"/>
                <a:sym typeface="+mn-lt"/>
              </a:rPr>
              <a:t>和 </a:t>
            </a:r>
            <a:r>
              <a:rPr lang="en-US" altLang="zh-CN" sz="1600" dirty="0">
                <a:cs typeface="+mn-ea"/>
                <a:sym typeface="+mn-lt"/>
              </a:rPr>
              <a:t>'a </a:t>
            </a:r>
            <a:r>
              <a:rPr lang="zh-CN" altLang="en-US" sz="1600" dirty="0">
                <a:cs typeface="+mn-ea"/>
                <a:sym typeface="+mn-lt"/>
              </a:rPr>
              <a:t>都是 </a:t>
            </a:r>
            <a:r>
              <a:rPr lang="en-US" altLang="zh-CN" sz="1600" dirty="0">
                <a:cs typeface="+mn-ea"/>
                <a:sym typeface="+mn-lt"/>
              </a:rPr>
              <a:t>Rust </a:t>
            </a:r>
            <a:r>
              <a:rPr lang="zh-CN" altLang="en-US" sz="1600" dirty="0">
                <a:cs typeface="+mn-ea"/>
                <a:sym typeface="+mn-lt"/>
              </a:rPr>
              <a:t>中用于表示生命周期的标识符</a:t>
            </a:r>
            <a:r>
              <a:rPr lang="en-US" altLang="zh-CN" sz="1600" dirty="0">
                <a:cs typeface="+mn-ea"/>
                <a:sym typeface="+mn-lt"/>
              </a:rPr>
              <a:t>:</a:t>
            </a:r>
          </a:p>
          <a:p>
            <a:pPr marL="285750" indent="-285750">
              <a:lnSpc>
                <a:spcPct val="150000"/>
              </a:lnSpc>
              <a:buFont typeface="Arial" panose="020B0604020202020204" pitchFamily="34" charset="0"/>
              <a:buChar char="•"/>
            </a:pPr>
            <a:r>
              <a:rPr lang="en-US" altLang="zh-CN" sz="1600" dirty="0">
                <a:cs typeface="+mn-ea"/>
                <a:sym typeface="+mn-lt"/>
              </a:rPr>
              <a:t>'static </a:t>
            </a:r>
            <a:r>
              <a:rPr lang="zh-CN" altLang="en-US" sz="1600" dirty="0">
                <a:cs typeface="+mn-ea"/>
                <a:sym typeface="+mn-lt"/>
              </a:rPr>
              <a:t>生命周期是最长的生命周期，表示整个程序的运行期间。它通常用于静态变量、字符串字面量等在程序整个生命周期内有效的数据。</a:t>
            </a:r>
            <a:endParaRPr lang="en-US" altLang="zh-CN" sz="1600" dirty="0">
              <a:cs typeface="+mn-ea"/>
              <a:sym typeface="+mn-lt"/>
            </a:endParaRPr>
          </a:p>
          <a:p>
            <a:pPr marL="285750" indent="-285750">
              <a:lnSpc>
                <a:spcPct val="150000"/>
              </a:lnSpc>
              <a:buFont typeface="Arial" panose="020B0604020202020204" pitchFamily="34" charset="0"/>
              <a:buChar char="•"/>
            </a:pPr>
            <a:r>
              <a:rPr lang="en-US" altLang="zh-CN" sz="1600" dirty="0">
                <a:cs typeface="+mn-ea"/>
                <a:sym typeface="+mn-lt"/>
              </a:rPr>
              <a:t>'a </a:t>
            </a:r>
            <a:r>
              <a:rPr lang="zh-CN" altLang="en-US" sz="1600" dirty="0">
                <a:cs typeface="+mn-ea"/>
                <a:sym typeface="+mn-lt"/>
              </a:rPr>
              <a:t>生命周期是一个泛型生命周期参数，表示某个具体的、由调用方传递进来的生命周期。它用于描述引用或值的有效范围与其他引用或值之间的关系。</a:t>
            </a:r>
          </a:p>
        </p:txBody>
      </p:sp>
      <p:sp>
        <p:nvSpPr>
          <p:cNvPr id="4" name="矩形 3"/>
          <p:cNvSpPr/>
          <p:nvPr/>
        </p:nvSpPr>
        <p:spPr>
          <a:xfrm>
            <a:off x="606938" y="2852657"/>
            <a:ext cx="10387016" cy="1938020"/>
          </a:xfrm>
          <a:prstGeom prst="rect">
            <a:avLst/>
          </a:prstGeom>
        </p:spPr>
        <p:txBody>
          <a:bodyPr wrap="square">
            <a:spAutoFit/>
          </a:bodyPr>
          <a:lstStyle/>
          <a:p>
            <a:pPr>
              <a:lnSpc>
                <a:spcPct val="150000"/>
              </a:lnSpc>
            </a:pPr>
            <a:r>
              <a:rPr lang="en-US" altLang="zh-CN" sz="1600" dirty="0">
                <a:cs typeface="+mn-ea"/>
                <a:sym typeface="+mn-lt"/>
              </a:rPr>
              <a:t>'static </a:t>
            </a:r>
            <a:r>
              <a:rPr lang="zh-CN" altLang="en-US" sz="1600" dirty="0">
                <a:cs typeface="+mn-ea"/>
                <a:sym typeface="+mn-lt"/>
              </a:rPr>
              <a:t>表示整个程序的运行期间，而 </a:t>
            </a:r>
            <a:r>
              <a:rPr lang="en-US" altLang="zh-CN" sz="1600" dirty="0">
                <a:cs typeface="+mn-ea"/>
                <a:sym typeface="+mn-lt"/>
              </a:rPr>
              <a:t>'a </a:t>
            </a:r>
            <a:r>
              <a:rPr lang="zh-CN" altLang="en-US" sz="1600" dirty="0">
                <a:cs typeface="+mn-ea"/>
                <a:sym typeface="+mn-lt"/>
              </a:rPr>
              <a:t>是一个泛型生命周期参数，用于描述引用或值的有效期限与其他引用或值之间的关系。使用合适的生命周期标识符可以帮助 </a:t>
            </a:r>
            <a:r>
              <a:rPr lang="en-US" altLang="zh-CN" sz="1600" dirty="0">
                <a:cs typeface="+mn-ea"/>
                <a:sym typeface="+mn-lt"/>
              </a:rPr>
              <a:t>Rust </a:t>
            </a:r>
            <a:r>
              <a:rPr lang="zh-CN" altLang="en-US" sz="1600" dirty="0">
                <a:cs typeface="+mn-ea"/>
                <a:sym typeface="+mn-lt"/>
              </a:rPr>
              <a:t>编译器在编译时进行生命周期检查，确保引用的有效性和安全性。</a:t>
            </a:r>
          </a:p>
          <a:p>
            <a:pPr>
              <a:lnSpc>
                <a:spcPct val="150000"/>
              </a:lnSpc>
            </a:pPr>
            <a:endParaRPr lang="zh-CN" altLang="en-US" sz="1600" dirty="0">
              <a:cs typeface="+mn-ea"/>
              <a:sym typeface="+mn-lt"/>
            </a:endParaRPr>
          </a:p>
          <a:p>
            <a:pPr>
              <a:lnSpc>
                <a:spcPct val="150000"/>
              </a:lnSpc>
            </a:pPr>
            <a:r>
              <a:rPr lang="zh-CN" altLang="en-US" sz="1600" dirty="0">
                <a:cs typeface="+mn-ea"/>
                <a:sym typeface="+mn-lt"/>
              </a:rPr>
              <a:t>注：</a:t>
            </a:r>
            <a:r>
              <a:rPr lang="en-US" altLang="zh-CN" sz="1600" dirty="0">
                <a:cs typeface="+mn-ea"/>
                <a:sym typeface="+mn-lt"/>
              </a:rPr>
              <a:t>'a </a:t>
            </a:r>
            <a:r>
              <a:rPr lang="zh-CN" altLang="en-US" sz="1600" dirty="0">
                <a:cs typeface="+mn-ea"/>
                <a:sym typeface="+mn-lt"/>
              </a:rPr>
              <a:t>只是常用写法，你可以用任意英文字母表示</a:t>
            </a:r>
          </a:p>
        </p:txBody>
      </p:sp>
      <p:cxnSp>
        <p:nvCxnSpPr>
          <p:cNvPr id="6" name="直接连接符 5"/>
          <p:cNvCxnSpPr/>
          <p:nvPr/>
        </p:nvCxnSpPr>
        <p:spPr>
          <a:xfrm>
            <a:off x="253313" y="54228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53313" y="73907"/>
            <a:ext cx="10740640" cy="993400"/>
          </a:xfrm>
        </p:spPr>
        <p:txBody>
          <a:bodyPr/>
          <a:lstStyle/>
          <a:p>
            <a:r>
              <a:rPr lang="zh-CN" altLang="en-US" b="1">
                <a:solidFill>
                  <a:srgbClr val="C00000"/>
                </a:solidFill>
                <a:latin typeface="+mn-lt"/>
                <a:ea typeface="+mn-ea"/>
                <a:cs typeface="+mn-ea"/>
                <a:sym typeface="+mn-lt"/>
              </a:rPr>
              <a:t>生命周期参数</a:t>
            </a:r>
            <a:r>
              <a:rPr lang="en-US" altLang="zh-CN" b="1">
                <a:solidFill>
                  <a:srgbClr val="C00000"/>
                </a:solidFill>
                <a:latin typeface="+mn-lt"/>
                <a:ea typeface="+mn-ea"/>
                <a:cs typeface="+mn-ea"/>
                <a:sym typeface="+mn-lt"/>
              </a:rPr>
              <a:t>-'static </a:t>
            </a:r>
            <a:r>
              <a:rPr lang="zh-CN" altLang="en-US" b="1">
                <a:solidFill>
                  <a:srgbClr val="C00000"/>
                </a:solidFill>
                <a:latin typeface="+mn-lt"/>
                <a:ea typeface="+mn-ea"/>
                <a:cs typeface="+mn-ea"/>
                <a:sym typeface="+mn-lt"/>
              </a:rPr>
              <a:t>和 </a:t>
            </a:r>
            <a:r>
              <a:rPr lang="en-US" altLang="zh-CN" b="1">
                <a:solidFill>
                  <a:srgbClr val="C00000"/>
                </a:solidFill>
                <a:latin typeface="+mn-lt"/>
                <a:ea typeface="+mn-ea"/>
                <a:cs typeface="+mn-ea"/>
                <a:sym typeface="+mn-lt"/>
              </a:rPr>
              <a:t>'a</a:t>
            </a:r>
          </a:p>
          <a:p>
            <a:endParaRPr lang="zh-CN" altLang="en-US" b="1" dirty="0">
              <a:solidFill>
                <a:srgbClr val="C00000"/>
              </a:solidFill>
              <a:latin typeface="+mn-lt"/>
              <a:ea typeface="+mn-ea"/>
              <a:cs typeface="+mn-ea"/>
              <a:sym typeface="+mn-lt"/>
            </a:endParaRPr>
          </a:p>
        </p:txBody>
      </p:sp>
      <p:sp>
        <p:nvSpPr>
          <p:cNvPr id="3" name="矩形 2"/>
          <p:cNvSpPr/>
          <p:nvPr/>
        </p:nvSpPr>
        <p:spPr>
          <a:xfrm>
            <a:off x="381989" y="688621"/>
            <a:ext cx="3219061" cy="5594545"/>
          </a:xfrm>
          <a:prstGeom prst="rect">
            <a:avLst/>
          </a:prstGeom>
        </p:spPr>
        <p:txBody>
          <a:bodyPr wrap="square">
            <a:spAutoFit/>
          </a:bodyPr>
          <a:lstStyle/>
          <a:p>
            <a:pPr>
              <a:lnSpc>
                <a:spcPct val="150000"/>
              </a:lnSpc>
            </a:pPr>
            <a:r>
              <a:rPr lang="en-US" altLang="zh-CN" sz="1600">
                <a:cs typeface="+mn-ea"/>
                <a:sym typeface="+mn-lt"/>
              </a:rPr>
              <a:t>'static </a:t>
            </a:r>
            <a:r>
              <a:rPr lang="zh-CN" altLang="en-US" sz="1600">
                <a:cs typeface="+mn-ea"/>
                <a:sym typeface="+mn-lt"/>
              </a:rPr>
              <a:t>和 </a:t>
            </a:r>
            <a:r>
              <a:rPr lang="en-US" altLang="zh-CN" sz="1600">
                <a:cs typeface="+mn-ea"/>
                <a:sym typeface="+mn-lt"/>
              </a:rPr>
              <a:t>'a </a:t>
            </a:r>
            <a:r>
              <a:rPr lang="zh-CN" altLang="en-US" sz="1600" dirty="0">
                <a:cs typeface="+mn-ea"/>
                <a:sym typeface="+mn-lt"/>
              </a:rPr>
              <a:t>在类型系统上存在父子关系，</a:t>
            </a:r>
            <a:r>
              <a:rPr lang="zh-CN" altLang="en-US" sz="1600">
                <a:cs typeface="+mn-ea"/>
                <a:sym typeface="+mn-lt"/>
              </a:rPr>
              <a:t>即 </a:t>
            </a:r>
            <a:r>
              <a:rPr lang="en-US" altLang="zh-CN" sz="1600">
                <a:cs typeface="+mn-ea"/>
                <a:sym typeface="+mn-lt"/>
              </a:rPr>
              <a:t>'static: 'a  </a:t>
            </a:r>
            <a:r>
              <a:rPr lang="zh-CN" altLang="en-US" sz="1600">
                <a:cs typeface="+mn-ea"/>
                <a:sym typeface="+mn-lt"/>
              </a:rPr>
              <a:t>表示</a:t>
            </a:r>
            <a:r>
              <a:rPr lang="en-US" altLang="zh-CN" sz="1600">
                <a:cs typeface="+mn-ea"/>
                <a:sym typeface="+mn-lt"/>
              </a:rPr>
              <a:t>'static </a:t>
            </a:r>
            <a:r>
              <a:rPr lang="zh-CN" altLang="en-US" sz="1600">
                <a:cs typeface="+mn-ea"/>
                <a:sym typeface="+mn-lt"/>
              </a:rPr>
              <a:t>是  </a:t>
            </a:r>
            <a:r>
              <a:rPr lang="en-US" altLang="zh-CN" sz="1600">
                <a:cs typeface="+mn-ea"/>
                <a:sym typeface="+mn-lt"/>
              </a:rPr>
              <a:t>'a </a:t>
            </a:r>
            <a:r>
              <a:rPr lang="zh-CN" altLang="en-US" sz="1600" dirty="0">
                <a:cs typeface="+mn-ea"/>
                <a:sym typeface="+mn-lt"/>
              </a:rPr>
              <a:t>的子类型。</a:t>
            </a:r>
            <a:endParaRPr lang="en-US" altLang="zh-CN" sz="1600" dirty="0">
              <a:cs typeface="+mn-ea"/>
              <a:sym typeface="+mn-lt"/>
            </a:endParaRPr>
          </a:p>
          <a:p>
            <a:pPr>
              <a:lnSpc>
                <a:spcPct val="150000"/>
              </a:lnSpc>
            </a:pPr>
            <a:br>
              <a:rPr lang="en-US" altLang="zh-CN" sz="1600" dirty="0">
                <a:cs typeface="+mn-ea"/>
                <a:sym typeface="+mn-lt"/>
              </a:rPr>
            </a:br>
            <a:r>
              <a:rPr lang="zh-CN" altLang="en-US" sz="1600" dirty="0">
                <a:cs typeface="+mn-ea"/>
                <a:sym typeface="+mn-lt"/>
              </a:rPr>
              <a:t>这种“父子关系”涉及协变的概念：</a:t>
            </a:r>
          </a:p>
          <a:p>
            <a:pPr marL="285750" indent="-285750">
              <a:lnSpc>
                <a:spcPct val="150000"/>
              </a:lnSpc>
              <a:buChar char="•"/>
            </a:pPr>
            <a:r>
              <a:rPr lang="zh-CN" altLang="en-US" sz="1600" dirty="0">
                <a:cs typeface="+mn-ea"/>
                <a:sym typeface="+mn-lt"/>
              </a:rPr>
              <a:t>在需要 </a:t>
            </a:r>
            <a:r>
              <a:rPr lang="en-US" altLang="zh-CN" sz="1600" dirty="0">
                <a:cs typeface="+mn-ea"/>
                <a:sym typeface="+mn-lt"/>
              </a:rPr>
              <a:t>'a </a:t>
            </a:r>
            <a:r>
              <a:rPr lang="zh-CN" altLang="en-US" sz="1600" dirty="0">
                <a:cs typeface="+mn-ea"/>
                <a:sym typeface="+mn-lt"/>
              </a:rPr>
              <a:t>的时，</a:t>
            </a:r>
            <a:r>
              <a:rPr lang="en-US" altLang="zh-CN" sz="1600" dirty="0">
                <a:cs typeface="+mn-ea"/>
                <a:sym typeface="+mn-lt"/>
              </a:rPr>
              <a:t>'static </a:t>
            </a:r>
            <a:r>
              <a:rPr lang="zh-CN" altLang="en-US" sz="1600" dirty="0">
                <a:cs typeface="+mn-ea"/>
                <a:sym typeface="+mn-lt"/>
              </a:rPr>
              <a:t>也可以传入，这叫协变。即，在需要子类型时，也可以传入父类型。</a:t>
            </a:r>
          </a:p>
          <a:p>
            <a:pPr marL="285750" indent="-285750">
              <a:lnSpc>
                <a:spcPct val="150000"/>
              </a:lnSpc>
              <a:buChar char="•"/>
            </a:pPr>
            <a:r>
              <a:rPr lang="zh-CN" altLang="en-US" sz="1600" dirty="0">
                <a:cs typeface="+mn-ea"/>
                <a:sym typeface="+mn-lt"/>
              </a:rPr>
              <a:t>在需要 </a:t>
            </a:r>
            <a:r>
              <a:rPr lang="en-US" altLang="zh-CN" sz="1600" dirty="0">
                <a:cs typeface="+mn-ea"/>
                <a:sym typeface="+mn-lt"/>
              </a:rPr>
              <a:t>'static</a:t>
            </a:r>
            <a:r>
              <a:rPr lang="zh-CN" altLang="en-US" sz="1600" dirty="0">
                <a:cs typeface="+mn-ea"/>
                <a:sym typeface="+mn-lt"/>
              </a:rPr>
              <a:t> 时，传入 </a:t>
            </a:r>
            <a:r>
              <a:rPr lang="en-US" altLang="zh-CN" sz="1600" dirty="0">
                <a:cs typeface="+mn-ea"/>
                <a:sym typeface="+mn-lt"/>
              </a:rPr>
              <a:t>'a  </a:t>
            </a:r>
            <a:r>
              <a:rPr lang="zh-CN" altLang="en-US" sz="1600" dirty="0">
                <a:cs typeface="+mn-ea"/>
                <a:sym typeface="+mn-lt"/>
              </a:rPr>
              <a:t>也可以，这叫逆变。即，在需要父类型的时候，也可以传入子类型。</a:t>
            </a:r>
          </a:p>
          <a:p>
            <a:pPr indent="0">
              <a:lnSpc>
                <a:spcPct val="150000"/>
              </a:lnSpc>
              <a:buNone/>
            </a:pPr>
            <a:r>
              <a:rPr lang="zh-CN" altLang="en-US" sz="1600" dirty="0">
                <a:cs typeface="+mn-ea"/>
                <a:sym typeface="+mn-lt"/>
              </a:rPr>
              <a:t>然而，</a:t>
            </a:r>
            <a:r>
              <a:rPr lang="en-US" altLang="zh-CN" sz="1600" dirty="0">
                <a:cs typeface="+mn-ea"/>
                <a:sym typeface="+mn-lt"/>
              </a:rPr>
              <a:t>Rust </a:t>
            </a:r>
            <a:r>
              <a:rPr lang="zh-CN" altLang="en-US" sz="1600" dirty="0">
                <a:cs typeface="+mn-ea"/>
                <a:sym typeface="+mn-lt"/>
              </a:rPr>
              <a:t>这里只支持协变，所以报错。</a:t>
            </a:r>
          </a:p>
        </p:txBody>
      </p:sp>
      <p:cxnSp>
        <p:nvCxnSpPr>
          <p:cNvPr id="8" name="直接连接符 7"/>
          <p:cNvCxnSpPr/>
          <p:nvPr/>
        </p:nvCxnSpPr>
        <p:spPr>
          <a:xfrm>
            <a:off x="253313" y="54228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3967252" y="681745"/>
            <a:ext cx="6698387" cy="3322955"/>
          </a:xfrm>
          <a:prstGeom prst="rect">
            <a:avLst/>
          </a:prstGeom>
          <a:solidFill>
            <a:schemeClr val="tx1"/>
          </a:solidFill>
        </p:spPr>
        <p:txBody>
          <a:bodyPr wrap="square">
            <a:spAutoFit/>
          </a:bodyPr>
          <a:lstStyle/>
          <a:p>
            <a:r>
              <a:rPr lang="en-US" altLang="zh-CN" sz="1400" dirty="0">
                <a:solidFill>
                  <a:schemeClr val="bg2"/>
                </a:solidFill>
                <a:cs typeface="+mn-ea"/>
                <a:sym typeface="+mn-lt"/>
              </a:rPr>
              <a:t>// </a:t>
            </a:r>
            <a:r>
              <a:rPr lang="zh-CN" altLang="en-US" sz="1400" b="1" dirty="0">
                <a:solidFill>
                  <a:srgbClr val="FF0000"/>
                </a:solidFill>
                <a:cs typeface="+mn-ea"/>
                <a:sym typeface="+mn-lt"/>
              </a:rPr>
              <a:t>错误示例</a:t>
            </a:r>
            <a:endParaRPr lang="en-US" altLang="zh-CN" sz="1400" dirty="0">
              <a:solidFill>
                <a:srgbClr val="FF0000"/>
              </a:solidFill>
              <a:cs typeface="+mn-ea"/>
              <a:sym typeface="+mn-lt"/>
            </a:endParaRPr>
          </a:p>
          <a:p>
            <a:r>
              <a:rPr lang="en-US" altLang="zh-CN" sz="1400" dirty="0">
                <a:solidFill>
                  <a:srgbClr val="C678DD"/>
                </a:solidFill>
                <a:cs typeface="+mn-ea"/>
                <a:sym typeface="+mn-lt"/>
              </a:rPr>
              <a:t>fn</a:t>
            </a:r>
            <a:r>
              <a:rPr lang="en-US" altLang="zh-CN" sz="1400" dirty="0">
                <a:solidFill>
                  <a:srgbClr val="ABB2BF"/>
                </a:solidFill>
                <a:cs typeface="+mn-ea"/>
                <a:sym typeface="+mn-lt"/>
              </a:rPr>
              <a:t> </a:t>
            </a:r>
            <a:r>
              <a:rPr lang="en-US" altLang="zh-CN" sz="1400" dirty="0" err="1">
                <a:solidFill>
                  <a:srgbClr val="61AFEF"/>
                </a:solidFill>
                <a:cs typeface="+mn-ea"/>
                <a:sym typeface="+mn-lt"/>
              </a:rPr>
              <a:t>print_static_ref</a:t>
            </a:r>
            <a:r>
              <a:rPr lang="en-US" altLang="zh-CN" sz="1400" dirty="0">
                <a:solidFill>
                  <a:srgbClr val="ABB2BF"/>
                </a:solidFill>
                <a:cs typeface="+mn-ea"/>
                <a:sym typeface="+mn-lt"/>
              </a:rPr>
              <a:t>(</a:t>
            </a:r>
            <a:r>
              <a:rPr lang="en-US" altLang="zh-CN" sz="1400" dirty="0">
                <a:solidFill>
                  <a:srgbClr val="E06C75"/>
                </a:solidFill>
                <a:cs typeface="+mn-ea"/>
                <a:sym typeface="+mn-lt"/>
              </a:rPr>
              <a:t>value</a:t>
            </a:r>
            <a:r>
              <a:rPr lang="en-US" altLang="zh-CN" sz="1400" dirty="0">
                <a:solidFill>
                  <a:srgbClr val="ABB2BF"/>
                </a:solidFill>
                <a:cs typeface="+mn-ea"/>
                <a:sym typeface="+mn-lt"/>
              </a:rPr>
              <a:t>: &amp;'</a:t>
            </a:r>
            <a:r>
              <a:rPr lang="en-US" altLang="zh-CN" sz="1400" dirty="0">
                <a:solidFill>
                  <a:srgbClr val="E5C07B"/>
                </a:solidFill>
                <a:cs typeface="+mn-ea"/>
                <a:sym typeface="+mn-lt"/>
              </a:rPr>
              <a:t>static</a:t>
            </a:r>
            <a:r>
              <a:rPr lang="en-US" altLang="zh-CN" sz="1400" dirty="0">
                <a:solidFill>
                  <a:srgbClr val="ABB2BF"/>
                </a:solidFill>
                <a:cs typeface="+mn-ea"/>
                <a:sym typeface="+mn-lt"/>
              </a:rPr>
              <a:t> </a:t>
            </a:r>
            <a:r>
              <a:rPr lang="en-US" altLang="zh-CN" sz="1400" dirty="0">
                <a:solidFill>
                  <a:srgbClr val="E5C07B"/>
                </a:solidFill>
                <a:cs typeface="+mn-ea"/>
                <a:sym typeface="+mn-lt"/>
              </a:rPr>
              <a:t>str</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61AFEF"/>
                </a:solidFill>
                <a:cs typeface="+mn-ea"/>
                <a:sym typeface="+mn-lt"/>
              </a:rPr>
              <a:t>println!</a:t>
            </a:r>
            <a:r>
              <a:rPr lang="en-US" altLang="zh-CN" sz="1400" dirty="0">
                <a:solidFill>
                  <a:srgbClr val="ABB2BF"/>
                </a:solidFill>
                <a:cs typeface="+mn-ea"/>
                <a:sym typeface="+mn-lt"/>
              </a:rPr>
              <a:t>(</a:t>
            </a:r>
            <a:r>
              <a:rPr lang="en-US" altLang="zh-CN" sz="1400" dirty="0">
                <a:solidFill>
                  <a:srgbClr val="98C379"/>
                </a:solidFill>
                <a:cs typeface="+mn-ea"/>
                <a:sym typeface="+mn-lt"/>
              </a:rPr>
              <a:t>"{}"</a:t>
            </a:r>
            <a:r>
              <a:rPr lang="en-US" altLang="zh-CN" sz="1400" dirty="0">
                <a:solidFill>
                  <a:srgbClr val="ABB2BF"/>
                </a:solidFill>
                <a:cs typeface="+mn-ea"/>
                <a:sym typeface="+mn-lt"/>
              </a:rPr>
              <a:t>, </a:t>
            </a:r>
            <a:r>
              <a:rPr lang="en-US" altLang="zh-CN" sz="1400" dirty="0">
                <a:solidFill>
                  <a:srgbClr val="E06C75"/>
                </a:solidFill>
                <a:cs typeface="+mn-ea"/>
                <a:sym typeface="+mn-lt"/>
              </a:rPr>
              <a:t>value</a:t>
            </a:r>
            <a:r>
              <a:rPr lang="en-US" altLang="zh-CN" sz="1400" dirty="0">
                <a:solidFill>
                  <a:srgbClr val="ABB2BF"/>
                </a:solidFill>
                <a:cs typeface="+mn-ea"/>
                <a:sym typeface="+mn-lt"/>
              </a:rPr>
              <a:t>);</a:t>
            </a:r>
          </a:p>
          <a:p>
            <a:r>
              <a:rPr lang="en-US" altLang="zh-CN" sz="1400" dirty="0">
                <a:solidFill>
                  <a:srgbClr val="ABB2BF"/>
                </a:solidFill>
                <a:cs typeface="+mn-ea"/>
                <a:sym typeface="+mn-lt"/>
              </a:rPr>
              <a:t>}</a:t>
            </a:r>
          </a:p>
          <a:p>
            <a:r>
              <a:rPr lang="en-US" altLang="zh-CN" sz="1400" dirty="0">
                <a:solidFill>
                  <a:srgbClr val="C678DD"/>
                </a:solidFill>
                <a:cs typeface="+mn-ea"/>
                <a:sym typeface="+mn-lt"/>
              </a:rPr>
              <a:t>fn</a:t>
            </a:r>
            <a:r>
              <a:rPr lang="en-US" altLang="zh-CN" sz="1400" dirty="0">
                <a:solidFill>
                  <a:srgbClr val="ABB2BF"/>
                </a:solidFill>
                <a:cs typeface="+mn-ea"/>
                <a:sym typeface="+mn-lt"/>
              </a:rPr>
              <a:t> </a:t>
            </a:r>
            <a:r>
              <a:rPr lang="en-US" altLang="zh-CN" sz="1400" dirty="0" err="1">
                <a:solidFill>
                  <a:srgbClr val="61AFEF"/>
                </a:solidFill>
                <a:cs typeface="+mn-ea"/>
                <a:sym typeface="+mn-lt"/>
              </a:rPr>
              <a:t>print_a_ref</a:t>
            </a:r>
            <a:r>
              <a:rPr lang="en-US" altLang="zh-CN" sz="1400" dirty="0">
                <a:solidFill>
                  <a:srgbClr val="ABB2BF"/>
                </a:solidFill>
                <a:cs typeface="+mn-ea"/>
                <a:sym typeface="+mn-lt"/>
              </a:rPr>
              <a:t>&lt;'</a:t>
            </a:r>
            <a:r>
              <a:rPr lang="en-US" altLang="zh-CN" sz="1400" dirty="0">
                <a:solidFill>
                  <a:srgbClr val="E5C07B"/>
                </a:solidFill>
                <a:cs typeface="+mn-ea"/>
                <a:sym typeface="+mn-lt"/>
              </a:rPr>
              <a:t>a</a:t>
            </a:r>
            <a:r>
              <a:rPr lang="en-US" altLang="zh-CN" sz="1400" dirty="0">
                <a:solidFill>
                  <a:srgbClr val="ABB2BF"/>
                </a:solidFill>
                <a:cs typeface="+mn-ea"/>
                <a:sym typeface="+mn-lt"/>
              </a:rPr>
              <a:t>&gt;(</a:t>
            </a:r>
            <a:r>
              <a:rPr lang="en-US" altLang="zh-CN" sz="1400" dirty="0">
                <a:solidFill>
                  <a:srgbClr val="E06C75"/>
                </a:solidFill>
                <a:cs typeface="+mn-ea"/>
                <a:sym typeface="+mn-lt"/>
              </a:rPr>
              <a:t>value</a:t>
            </a:r>
            <a:r>
              <a:rPr lang="en-US" altLang="zh-CN" sz="1400" dirty="0">
                <a:solidFill>
                  <a:srgbClr val="ABB2BF"/>
                </a:solidFill>
                <a:cs typeface="+mn-ea"/>
                <a:sym typeface="+mn-lt"/>
              </a:rPr>
              <a:t>: &amp;'</a:t>
            </a:r>
            <a:r>
              <a:rPr lang="en-US" altLang="zh-CN" sz="1400" dirty="0">
                <a:solidFill>
                  <a:srgbClr val="E5C07B"/>
                </a:solidFill>
                <a:cs typeface="+mn-ea"/>
                <a:sym typeface="+mn-lt"/>
              </a:rPr>
              <a:t>a</a:t>
            </a:r>
            <a:r>
              <a:rPr lang="en-US" altLang="zh-CN" sz="1400" dirty="0">
                <a:solidFill>
                  <a:srgbClr val="ABB2BF"/>
                </a:solidFill>
                <a:cs typeface="+mn-ea"/>
                <a:sym typeface="+mn-lt"/>
              </a:rPr>
              <a:t> </a:t>
            </a:r>
            <a:r>
              <a:rPr lang="en-US" altLang="zh-CN" sz="1400" dirty="0">
                <a:solidFill>
                  <a:srgbClr val="E5C07B"/>
                </a:solidFill>
                <a:cs typeface="+mn-ea"/>
                <a:sym typeface="+mn-lt"/>
              </a:rPr>
              <a:t>str</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61AFEF"/>
                </a:solidFill>
                <a:cs typeface="+mn-ea"/>
                <a:sym typeface="+mn-lt"/>
              </a:rPr>
              <a:t>println!</a:t>
            </a:r>
            <a:r>
              <a:rPr lang="en-US" altLang="zh-CN" sz="1400" dirty="0">
                <a:solidFill>
                  <a:srgbClr val="ABB2BF"/>
                </a:solidFill>
                <a:cs typeface="+mn-ea"/>
                <a:sym typeface="+mn-lt"/>
              </a:rPr>
              <a:t>(</a:t>
            </a:r>
            <a:r>
              <a:rPr lang="en-US" altLang="zh-CN" sz="1400" dirty="0">
                <a:solidFill>
                  <a:srgbClr val="98C379"/>
                </a:solidFill>
                <a:cs typeface="+mn-ea"/>
                <a:sym typeface="+mn-lt"/>
              </a:rPr>
              <a:t>"{}"</a:t>
            </a:r>
            <a:r>
              <a:rPr lang="en-US" altLang="zh-CN" sz="1400" dirty="0">
                <a:solidFill>
                  <a:srgbClr val="ABB2BF"/>
                </a:solidFill>
                <a:cs typeface="+mn-ea"/>
                <a:sym typeface="+mn-lt"/>
              </a:rPr>
              <a:t>, </a:t>
            </a:r>
            <a:r>
              <a:rPr lang="en-US" altLang="zh-CN" sz="1400" dirty="0">
                <a:solidFill>
                  <a:srgbClr val="E06C75"/>
                </a:solidFill>
                <a:cs typeface="+mn-ea"/>
                <a:sym typeface="+mn-lt"/>
              </a:rPr>
              <a:t>value</a:t>
            </a:r>
            <a:r>
              <a:rPr lang="en-US" altLang="zh-CN" sz="1400" dirty="0">
                <a:solidFill>
                  <a:srgbClr val="ABB2BF"/>
                </a:solidFill>
                <a:cs typeface="+mn-ea"/>
                <a:sym typeface="+mn-lt"/>
              </a:rPr>
              <a:t>);</a:t>
            </a:r>
          </a:p>
          <a:p>
            <a:r>
              <a:rPr lang="en-US" altLang="zh-CN" sz="1400" dirty="0">
                <a:solidFill>
                  <a:srgbClr val="ABB2BF"/>
                </a:solidFill>
                <a:cs typeface="+mn-ea"/>
                <a:sym typeface="+mn-lt"/>
              </a:rPr>
              <a:t>}</a:t>
            </a:r>
          </a:p>
          <a:p>
            <a:r>
              <a:rPr lang="en-US" altLang="zh-CN" sz="1400" dirty="0">
                <a:solidFill>
                  <a:srgbClr val="C678DD"/>
                </a:solidFill>
                <a:cs typeface="+mn-ea"/>
                <a:sym typeface="+mn-lt"/>
              </a:rPr>
              <a:t>fn</a:t>
            </a:r>
            <a:r>
              <a:rPr lang="en-US" altLang="zh-CN" sz="1400" dirty="0">
                <a:solidFill>
                  <a:srgbClr val="ABB2BF"/>
                </a:solidFill>
                <a:cs typeface="+mn-ea"/>
                <a:sym typeface="+mn-lt"/>
              </a:rPr>
              <a:t> </a:t>
            </a:r>
            <a:r>
              <a:rPr lang="en-US" altLang="zh-CN" sz="1400" dirty="0" err="1">
                <a:solidFill>
                  <a:srgbClr val="61AFEF"/>
                </a:solidFill>
                <a:cs typeface="+mn-ea"/>
                <a:sym typeface="+mn-lt"/>
              </a:rPr>
              <a:t>print_static_or_a_ref</a:t>
            </a:r>
            <a:r>
              <a:rPr lang="en-US" altLang="zh-CN" sz="1400" dirty="0">
                <a:solidFill>
                  <a:srgbClr val="ABB2BF"/>
                </a:solidFill>
                <a:cs typeface="+mn-ea"/>
                <a:sym typeface="+mn-lt"/>
              </a:rPr>
              <a:t>&lt;'</a:t>
            </a:r>
            <a:r>
              <a:rPr lang="en-US" altLang="zh-CN" sz="1400" dirty="0">
                <a:solidFill>
                  <a:srgbClr val="E5C07B"/>
                </a:solidFill>
                <a:cs typeface="+mn-ea"/>
                <a:sym typeface="+mn-lt"/>
              </a:rPr>
              <a:t>a</a:t>
            </a:r>
            <a:r>
              <a:rPr lang="en-US" altLang="zh-CN" sz="1400" dirty="0">
                <a:solidFill>
                  <a:srgbClr val="ABB2BF"/>
                </a:solidFill>
                <a:cs typeface="+mn-ea"/>
                <a:sym typeface="+mn-lt"/>
              </a:rPr>
              <a:t>&gt;(</a:t>
            </a:r>
            <a:r>
              <a:rPr lang="en-US" altLang="zh-CN" sz="1400" dirty="0">
                <a:solidFill>
                  <a:srgbClr val="E06C75"/>
                </a:solidFill>
                <a:cs typeface="+mn-ea"/>
                <a:sym typeface="+mn-lt"/>
              </a:rPr>
              <a:t>value</a:t>
            </a:r>
            <a:r>
              <a:rPr lang="en-US" altLang="zh-CN" sz="1400" dirty="0">
                <a:solidFill>
                  <a:srgbClr val="ABB2BF"/>
                </a:solidFill>
                <a:cs typeface="+mn-ea"/>
                <a:sym typeface="+mn-lt"/>
              </a:rPr>
              <a:t>: &amp;'</a:t>
            </a:r>
            <a:r>
              <a:rPr lang="en-US" altLang="zh-CN" sz="1400" dirty="0">
                <a:solidFill>
                  <a:srgbClr val="E5C07B"/>
                </a:solidFill>
                <a:cs typeface="+mn-ea"/>
                <a:sym typeface="+mn-lt"/>
              </a:rPr>
              <a:t>a</a:t>
            </a:r>
            <a:r>
              <a:rPr lang="en-US" altLang="zh-CN" sz="1400" dirty="0">
                <a:solidFill>
                  <a:srgbClr val="ABB2BF"/>
                </a:solidFill>
                <a:cs typeface="+mn-ea"/>
                <a:sym typeface="+mn-lt"/>
              </a:rPr>
              <a:t> </a:t>
            </a:r>
            <a:r>
              <a:rPr lang="en-US" altLang="zh-CN" sz="1400" dirty="0">
                <a:solidFill>
                  <a:srgbClr val="E5C07B"/>
                </a:solidFill>
                <a:cs typeface="+mn-ea"/>
                <a:sym typeface="+mn-lt"/>
              </a:rPr>
              <a:t>str</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if</a:t>
            </a:r>
            <a:r>
              <a:rPr lang="en-US" altLang="zh-CN" sz="1400" dirty="0">
                <a:solidFill>
                  <a:srgbClr val="ABB2BF"/>
                </a:solidFill>
                <a:cs typeface="+mn-ea"/>
                <a:sym typeface="+mn-lt"/>
              </a:rPr>
              <a:t> </a:t>
            </a:r>
            <a:r>
              <a:rPr lang="en-US" altLang="zh-CN" sz="1400" dirty="0" err="1">
                <a:solidFill>
                  <a:srgbClr val="E06C75"/>
                </a:solidFill>
                <a:cs typeface="+mn-ea"/>
                <a:sym typeface="+mn-lt"/>
              </a:rPr>
              <a:t>value</a:t>
            </a:r>
            <a:r>
              <a:rPr lang="en-US" altLang="zh-CN" sz="1400" dirty="0" err="1">
                <a:solidFill>
                  <a:srgbClr val="ABB2BF"/>
                </a:solidFill>
                <a:cs typeface="+mn-ea"/>
                <a:sym typeface="+mn-lt"/>
              </a:rPr>
              <a:t>.</a:t>
            </a:r>
            <a:r>
              <a:rPr lang="en-US" altLang="zh-CN" sz="1400" dirty="0" err="1">
                <a:solidFill>
                  <a:srgbClr val="61AFEF"/>
                </a:solidFill>
                <a:cs typeface="+mn-ea"/>
                <a:sym typeface="+mn-lt"/>
              </a:rPr>
              <a:t>len</a:t>
            </a:r>
            <a:r>
              <a:rPr lang="en-US" altLang="zh-CN" sz="1400" dirty="0">
                <a:solidFill>
                  <a:srgbClr val="ABB2BF"/>
                </a:solidFill>
                <a:cs typeface="+mn-ea"/>
                <a:sym typeface="+mn-lt"/>
              </a:rPr>
              <a:t>() &gt; </a:t>
            </a:r>
            <a:r>
              <a:rPr lang="en-US" altLang="zh-CN" sz="1400" dirty="0">
                <a:solidFill>
                  <a:srgbClr val="D19A66"/>
                </a:solidFill>
                <a:cs typeface="+mn-ea"/>
                <a:sym typeface="+mn-lt"/>
              </a:rPr>
              <a:t>10</a:t>
            </a:r>
            <a:r>
              <a:rPr lang="en-US" altLang="zh-CN" sz="1400" dirty="0">
                <a:solidFill>
                  <a:srgbClr val="ABB2BF"/>
                </a:solidFill>
                <a:cs typeface="+mn-ea"/>
                <a:sym typeface="+mn-lt"/>
              </a:rPr>
              <a:t> {</a:t>
            </a:r>
          </a:p>
          <a:p>
            <a:r>
              <a:rPr lang="en-US" altLang="zh-CN" sz="1400" i="1" dirty="0">
                <a:solidFill>
                  <a:srgbClr val="7F848E"/>
                </a:solidFill>
                <a:cs typeface="+mn-ea"/>
                <a:sym typeface="+mn-lt"/>
              </a:rPr>
              <a:t>        //</a:t>
            </a:r>
            <a:r>
              <a:rPr lang="en-US" altLang="zh-CN" sz="1400" i="1" dirty="0" err="1">
                <a:solidFill>
                  <a:srgbClr val="7F848E"/>
                </a:solidFill>
                <a:cs typeface="+mn-ea"/>
                <a:sym typeface="+mn-lt"/>
              </a:rPr>
              <a:t>error:borrowed</a:t>
            </a:r>
            <a:r>
              <a:rPr lang="en-US" altLang="zh-CN" sz="1400" i="1" dirty="0">
                <a:solidFill>
                  <a:srgbClr val="7F848E"/>
                </a:solidFill>
                <a:cs typeface="+mn-ea"/>
                <a:sym typeface="+mn-lt"/>
              </a:rPr>
              <a:t> data escapes outside of function</a:t>
            </a:r>
            <a:endParaRPr lang="en-US" altLang="zh-CN" sz="1400" dirty="0">
              <a:solidFill>
                <a:srgbClr val="ABB2BF"/>
              </a:solidFill>
              <a:cs typeface="+mn-ea"/>
              <a:sym typeface="+mn-lt"/>
            </a:endParaRPr>
          </a:p>
          <a:p>
            <a:r>
              <a:rPr lang="en-US" altLang="zh-CN" sz="1400" dirty="0">
                <a:solidFill>
                  <a:srgbClr val="ABB2BF"/>
                </a:solidFill>
                <a:cs typeface="+mn-ea"/>
                <a:sym typeface="+mn-lt"/>
              </a:rPr>
              <a:t>        </a:t>
            </a:r>
            <a:r>
              <a:rPr lang="en-US" altLang="zh-CN" sz="1400" dirty="0" err="1">
                <a:solidFill>
                  <a:srgbClr val="61AFEF"/>
                </a:solidFill>
                <a:cs typeface="+mn-ea"/>
                <a:sym typeface="+mn-lt"/>
              </a:rPr>
              <a:t>print_static_ref</a:t>
            </a:r>
            <a:r>
              <a:rPr lang="en-US" altLang="zh-CN" sz="1400" dirty="0">
                <a:solidFill>
                  <a:srgbClr val="ABB2BF"/>
                </a:solidFill>
                <a:cs typeface="+mn-ea"/>
                <a:sym typeface="+mn-lt"/>
              </a:rPr>
              <a:t>(</a:t>
            </a:r>
            <a:r>
              <a:rPr lang="en-US" altLang="zh-CN" sz="1400" dirty="0">
                <a:solidFill>
                  <a:srgbClr val="E06C75"/>
                </a:solidFill>
                <a:cs typeface="+mn-ea"/>
                <a:sym typeface="+mn-lt"/>
              </a:rPr>
              <a:t>value</a:t>
            </a:r>
            <a:r>
              <a:rPr lang="en-US" altLang="zh-CN" sz="1400" dirty="0">
                <a:solidFill>
                  <a:srgbClr val="ABB2BF"/>
                </a:solidFill>
                <a:cs typeface="+mn-ea"/>
                <a:sym typeface="+mn-lt"/>
              </a:rPr>
              <a:t>);</a:t>
            </a:r>
          </a:p>
          <a:p>
            <a:r>
              <a:rPr lang="en-US" altLang="zh-CN" sz="1400" dirty="0">
                <a:solidFill>
                  <a:srgbClr val="ABB2BF"/>
                </a:solidFill>
                <a:cs typeface="+mn-ea"/>
                <a:sym typeface="+mn-lt"/>
              </a:rPr>
              <a:t>    } </a:t>
            </a:r>
            <a:r>
              <a:rPr lang="en-US" altLang="zh-CN" sz="1400" dirty="0">
                <a:solidFill>
                  <a:srgbClr val="C678DD"/>
                </a:solidFill>
                <a:cs typeface="+mn-ea"/>
                <a:sym typeface="+mn-lt"/>
              </a:rPr>
              <a:t>else</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err="1">
                <a:solidFill>
                  <a:srgbClr val="61AFEF"/>
                </a:solidFill>
                <a:cs typeface="+mn-ea"/>
                <a:sym typeface="+mn-lt"/>
              </a:rPr>
              <a:t>print_a_ref</a:t>
            </a:r>
            <a:r>
              <a:rPr lang="en-US" altLang="zh-CN" sz="1400" dirty="0">
                <a:solidFill>
                  <a:srgbClr val="ABB2BF"/>
                </a:solidFill>
                <a:cs typeface="+mn-ea"/>
                <a:sym typeface="+mn-lt"/>
              </a:rPr>
              <a:t>(</a:t>
            </a:r>
            <a:r>
              <a:rPr lang="en-US" altLang="zh-CN" sz="1400" dirty="0">
                <a:solidFill>
                  <a:srgbClr val="E06C75"/>
                </a:solidFill>
                <a:cs typeface="+mn-ea"/>
                <a:sym typeface="+mn-lt"/>
              </a:rPr>
              <a:t>value</a:t>
            </a:r>
            <a:r>
              <a:rPr lang="en-US" altLang="zh-CN" sz="1400" dirty="0">
                <a:solidFill>
                  <a:srgbClr val="ABB2BF"/>
                </a:solidFill>
                <a:cs typeface="+mn-ea"/>
                <a:sym typeface="+mn-lt"/>
              </a:rPr>
              <a:t>);</a:t>
            </a:r>
          </a:p>
          <a:p>
            <a:r>
              <a:rPr lang="en-US" altLang="zh-CN" sz="1400" dirty="0">
                <a:solidFill>
                  <a:srgbClr val="ABB2BF"/>
                </a:solidFill>
                <a:cs typeface="+mn-ea"/>
                <a:sym typeface="+mn-lt"/>
              </a:rPr>
              <a:t>    }</a:t>
            </a:r>
          </a:p>
          <a:p>
            <a:r>
              <a:rPr lang="en-US" altLang="zh-CN" sz="1400" dirty="0">
                <a:solidFill>
                  <a:srgbClr val="ABB2BF"/>
                </a:solidFill>
                <a:cs typeface="+mn-ea"/>
                <a:sym typeface="+mn-lt"/>
              </a:rPr>
              <a:t>}</a:t>
            </a:r>
          </a:p>
        </p:txBody>
      </p:sp>
      <p:pic>
        <p:nvPicPr>
          <p:cNvPr id="4" name="图片 3"/>
          <p:cNvPicPr>
            <a:picLocks noChangeAspect="1"/>
          </p:cNvPicPr>
          <p:nvPr/>
        </p:nvPicPr>
        <p:blipFill>
          <a:blip r:embed="rId3"/>
          <a:stretch>
            <a:fillRect/>
          </a:stretch>
        </p:blipFill>
        <p:spPr>
          <a:xfrm>
            <a:off x="4392824" y="4479929"/>
            <a:ext cx="5684238" cy="2097393"/>
          </a:xfrm>
          <a:prstGeom prst="rect">
            <a:avLst/>
          </a:prstGeom>
        </p:spPr>
      </p:pic>
      <p:sp>
        <p:nvSpPr>
          <p:cNvPr id="5" name="下箭头 4"/>
          <p:cNvSpPr/>
          <p:nvPr/>
        </p:nvSpPr>
        <p:spPr>
          <a:xfrm>
            <a:off x="6820678" y="4087373"/>
            <a:ext cx="737118" cy="307911"/>
          </a:xfrm>
          <a:prstGeom prst="downArrow">
            <a:avLst/>
          </a:prstGeom>
          <a:solidFill>
            <a:schemeClr val="accent3"/>
          </a:solidFill>
          <a:ln>
            <a:solidFill>
              <a:srgbClr val="1515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53313" y="57978"/>
            <a:ext cx="10740640" cy="993400"/>
          </a:xfrm>
        </p:spPr>
        <p:txBody>
          <a:bodyPr/>
          <a:lstStyle/>
          <a:p>
            <a:r>
              <a:rPr lang="zh-CN" altLang="en-US" b="1">
                <a:solidFill>
                  <a:srgbClr val="C00000"/>
                </a:solidFill>
                <a:latin typeface="+mn-lt"/>
                <a:ea typeface="+mn-ea"/>
                <a:cs typeface="+mn-ea"/>
                <a:sym typeface="+mn-lt"/>
              </a:rPr>
              <a:t>生命周期参数</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省略规则</a:t>
            </a:r>
            <a:endParaRPr lang="zh-CN" altLang="en-US" b="1" dirty="0">
              <a:solidFill>
                <a:srgbClr val="C00000"/>
              </a:solidFill>
              <a:latin typeface="+mn-lt"/>
              <a:ea typeface="+mn-ea"/>
              <a:cs typeface="+mn-ea"/>
              <a:sym typeface="+mn-lt"/>
            </a:endParaRPr>
          </a:p>
        </p:txBody>
      </p:sp>
      <p:sp>
        <p:nvSpPr>
          <p:cNvPr id="9" name="矩形 8"/>
          <p:cNvSpPr/>
          <p:nvPr/>
        </p:nvSpPr>
        <p:spPr>
          <a:xfrm>
            <a:off x="253313" y="768249"/>
            <a:ext cx="9909702" cy="787523"/>
          </a:xfrm>
          <a:prstGeom prst="rect">
            <a:avLst/>
          </a:prstGeom>
        </p:spPr>
        <p:txBody>
          <a:bodyPr wrap="square">
            <a:spAutoFit/>
          </a:bodyPr>
          <a:lstStyle/>
          <a:p>
            <a:pPr>
              <a:lnSpc>
                <a:spcPct val="150000"/>
              </a:lnSpc>
            </a:pPr>
            <a:r>
              <a:rPr lang="zh-CN" altLang="en-US" sz="1600" b="1" dirty="0">
                <a:cs typeface="+mn-ea"/>
                <a:sym typeface="+mn-lt"/>
              </a:rPr>
              <a:t>生命周期参数省略规则</a:t>
            </a:r>
            <a:r>
              <a:rPr lang="zh-CN" altLang="en-US" sz="1600" dirty="0">
                <a:cs typeface="+mn-ea"/>
                <a:sym typeface="+mn-lt"/>
              </a:rPr>
              <a:t>：</a:t>
            </a:r>
            <a:endParaRPr lang="en-US" altLang="zh-CN" sz="1600" dirty="0">
              <a:cs typeface="+mn-ea"/>
              <a:sym typeface="+mn-lt"/>
            </a:endParaRPr>
          </a:p>
          <a:p>
            <a:pPr>
              <a:lnSpc>
                <a:spcPct val="150000"/>
              </a:lnSpc>
            </a:pPr>
            <a:r>
              <a:rPr lang="zh-CN" altLang="en-US" sz="1600" dirty="0">
                <a:cs typeface="+mn-ea"/>
                <a:sym typeface="+mn-lt"/>
              </a:rPr>
              <a:t>为了提升 </a:t>
            </a:r>
            <a:r>
              <a:rPr lang="en-US" altLang="zh-CN" sz="1600" dirty="0">
                <a:cs typeface="+mn-ea"/>
                <a:sym typeface="+mn-lt"/>
              </a:rPr>
              <a:t>Rust</a:t>
            </a:r>
            <a:r>
              <a:rPr lang="zh-CN" altLang="en-US" sz="1600" dirty="0">
                <a:cs typeface="+mn-ea"/>
                <a:sym typeface="+mn-lt"/>
              </a:rPr>
              <a:t>语言的人体工效性，在某些编译器可以推断的情况下，生命周期参数可以省略。</a:t>
            </a:r>
            <a:endParaRPr lang="en-US" altLang="zh-CN" sz="1600" dirty="0">
              <a:cs typeface="+mn-ea"/>
              <a:sym typeface="+mn-lt"/>
            </a:endParaRPr>
          </a:p>
        </p:txBody>
      </p:sp>
      <p:cxnSp>
        <p:nvCxnSpPr>
          <p:cNvPr id="7" name="直接连接符 6"/>
          <p:cNvCxnSpPr/>
          <p:nvPr/>
        </p:nvCxnSpPr>
        <p:spPr>
          <a:xfrm>
            <a:off x="253313" y="54228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115508" y="1647656"/>
            <a:ext cx="3681512" cy="3785652"/>
          </a:xfrm>
          <a:prstGeom prst="rect">
            <a:avLst/>
          </a:prstGeom>
        </p:spPr>
        <p:txBody>
          <a:bodyPr wrap="square">
            <a:spAutoFit/>
          </a:bodyPr>
          <a:lstStyle/>
          <a:p>
            <a:pPr marL="342900" indent="-342900">
              <a:lnSpc>
                <a:spcPct val="150000"/>
              </a:lnSpc>
              <a:buAutoNum type="arabicPeriod"/>
            </a:pPr>
            <a:r>
              <a:rPr lang="zh-CN" altLang="en-US" sz="1600" dirty="0">
                <a:cs typeface="+mn-ea"/>
                <a:sym typeface="+mn-lt"/>
              </a:rPr>
              <a:t>输入位置的每个省略生命周期的参数都是独立的，相互没有关系</a:t>
            </a:r>
            <a:endParaRPr lang="en-US" altLang="zh-CN" sz="1600" dirty="0">
              <a:cs typeface="+mn-ea"/>
              <a:sym typeface="+mn-lt"/>
            </a:endParaRPr>
          </a:p>
          <a:p>
            <a:pPr marL="342900" indent="-342900">
              <a:lnSpc>
                <a:spcPct val="150000"/>
              </a:lnSpc>
              <a:buAutoNum type="arabicPeriod"/>
            </a:pPr>
            <a:r>
              <a:rPr lang="zh-CN" altLang="en-US" sz="1600" dirty="0">
                <a:cs typeface="+mn-ea"/>
                <a:sym typeface="+mn-lt"/>
              </a:rPr>
              <a:t>如果只有一个输入生命周期参数，那么它被分配给所有输出生命周期参数</a:t>
            </a:r>
            <a:endParaRPr lang="en-US" altLang="zh-CN" sz="1600" dirty="0">
              <a:cs typeface="+mn-ea"/>
              <a:sym typeface="+mn-lt"/>
            </a:endParaRPr>
          </a:p>
          <a:p>
            <a:pPr marL="342900" indent="-342900">
              <a:lnSpc>
                <a:spcPct val="150000"/>
              </a:lnSpc>
              <a:buAutoNum type="arabicPeriod"/>
            </a:pPr>
            <a:r>
              <a:rPr lang="zh-CN" altLang="en-US" sz="1600" dirty="0">
                <a:cs typeface="+mn-ea"/>
                <a:sym typeface="+mn-lt"/>
              </a:rPr>
              <a:t>如果有多个输入生命周期参数，但其中之一因为 </a:t>
            </a:r>
            <a:r>
              <a:rPr lang="en-US" altLang="zh-CN" sz="1600" dirty="0">
                <a:cs typeface="+mn-ea"/>
                <a:sym typeface="+mn-lt"/>
              </a:rPr>
              <a:t>&amp;self </a:t>
            </a:r>
            <a:r>
              <a:rPr lang="zh-CN" altLang="en-US" sz="1600" dirty="0">
                <a:cs typeface="+mn-ea"/>
                <a:sym typeface="+mn-lt"/>
              </a:rPr>
              <a:t>或 </a:t>
            </a:r>
            <a:r>
              <a:rPr lang="en-US" altLang="zh-CN" sz="1600" dirty="0">
                <a:cs typeface="+mn-ea"/>
                <a:sym typeface="+mn-lt"/>
              </a:rPr>
              <a:t>&amp;</a:t>
            </a:r>
            <a:r>
              <a:rPr lang="en-US" altLang="zh-CN" sz="1600" dirty="0" err="1">
                <a:cs typeface="+mn-ea"/>
                <a:sym typeface="+mn-lt"/>
              </a:rPr>
              <a:t>mut</a:t>
            </a:r>
            <a:r>
              <a:rPr lang="en-US" altLang="zh-CN" sz="1600" dirty="0">
                <a:cs typeface="+mn-ea"/>
                <a:sym typeface="+mn-lt"/>
              </a:rPr>
              <a:t> self </a:t>
            </a:r>
            <a:r>
              <a:rPr lang="zh-CN" altLang="en-US" sz="1600" dirty="0">
                <a:cs typeface="+mn-ea"/>
                <a:sym typeface="+mn-lt"/>
              </a:rPr>
              <a:t>而被标记为 </a:t>
            </a:r>
            <a:r>
              <a:rPr lang="en-US" altLang="zh-CN" sz="1600" dirty="0">
                <a:cs typeface="+mn-ea"/>
                <a:sym typeface="+mn-lt"/>
              </a:rPr>
              <a:t>self</a:t>
            </a:r>
            <a:r>
              <a:rPr lang="zh-CN" altLang="en-US" sz="1600" dirty="0">
                <a:cs typeface="+mn-ea"/>
                <a:sym typeface="+mn-lt"/>
              </a:rPr>
              <a:t>，那么 </a:t>
            </a:r>
            <a:r>
              <a:rPr lang="en-US" altLang="zh-CN" sz="1600" dirty="0">
                <a:cs typeface="+mn-ea"/>
                <a:sym typeface="+mn-lt"/>
              </a:rPr>
              <a:t>self </a:t>
            </a:r>
            <a:r>
              <a:rPr lang="zh-CN" altLang="en-US" sz="1600" dirty="0">
                <a:cs typeface="+mn-ea"/>
                <a:sym typeface="+mn-lt"/>
              </a:rPr>
              <a:t>的生命周期被分配给所有输出生命周期参数</a:t>
            </a:r>
            <a:endParaRPr lang="en-US" altLang="zh-CN" sz="1600" dirty="0">
              <a:cs typeface="+mn-ea"/>
              <a:sym typeface="+mn-lt"/>
            </a:endParaRPr>
          </a:p>
        </p:txBody>
      </p:sp>
      <p:sp>
        <p:nvSpPr>
          <p:cNvPr id="8" name="矩形 7"/>
          <p:cNvSpPr/>
          <p:nvPr/>
        </p:nvSpPr>
        <p:spPr>
          <a:xfrm>
            <a:off x="253312" y="5497646"/>
            <a:ext cx="3543707" cy="788870"/>
          </a:xfrm>
          <a:prstGeom prst="rect">
            <a:avLst/>
          </a:prstGeom>
        </p:spPr>
        <p:txBody>
          <a:bodyPr wrap="square">
            <a:spAutoFit/>
          </a:bodyPr>
          <a:lstStyle/>
          <a:p>
            <a:pPr>
              <a:lnSpc>
                <a:spcPct val="150000"/>
              </a:lnSpc>
            </a:pPr>
            <a:r>
              <a:rPr lang="zh-CN" altLang="en-US" sz="1600" dirty="0">
                <a:solidFill>
                  <a:srgbClr val="000000"/>
                </a:solidFill>
                <a:cs typeface="+mn-ea"/>
                <a:sym typeface="+mn-lt"/>
              </a:rPr>
              <a:t>请注意，生命周期省略规则仅适用于</a:t>
            </a:r>
            <a:r>
              <a:rPr lang="zh-CN" altLang="en-US" sz="1600">
                <a:solidFill>
                  <a:srgbClr val="000000"/>
                </a:solidFill>
                <a:cs typeface="+mn-ea"/>
                <a:sym typeface="+mn-lt"/>
              </a:rPr>
              <a:t>函数签名。</a:t>
            </a:r>
            <a:endParaRPr lang="zh-CN" altLang="en-US" sz="1600" dirty="0">
              <a:cs typeface="+mn-ea"/>
              <a:sym typeface="+mn-lt"/>
            </a:endParaRPr>
          </a:p>
        </p:txBody>
      </p:sp>
      <p:sp>
        <p:nvSpPr>
          <p:cNvPr id="10" name="矩形 9"/>
          <p:cNvSpPr/>
          <p:nvPr/>
        </p:nvSpPr>
        <p:spPr>
          <a:xfrm>
            <a:off x="3956242" y="1801544"/>
            <a:ext cx="7037712" cy="2291715"/>
          </a:xfrm>
          <a:prstGeom prst="rect">
            <a:avLst/>
          </a:prstGeom>
          <a:solidFill>
            <a:schemeClr val="tx1"/>
          </a:solidFill>
        </p:spPr>
        <p:txBody>
          <a:bodyPr wrap="square">
            <a:spAutoFit/>
          </a:bodyPr>
          <a:lstStyle/>
          <a:p>
            <a:r>
              <a:rPr lang="en-US" altLang="zh-CN" sz="1100" dirty="0">
                <a:solidFill>
                  <a:srgbClr val="C678DD"/>
                </a:solidFill>
                <a:cs typeface="+mn-ea"/>
                <a:sym typeface="+mn-lt"/>
              </a:rPr>
              <a:t>fn</a:t>
            </a:r>
            <a:r>
              <a:rPr lang="en-US" altLang="zh-CN" sz="1100" dirty="0">
                <a:solidFill>
                  <a:srgbClr val="ABB2BF"/>
                </a:solidFill>
                <a:cs typeface="+mn-ea"/>
                <a:sym typeface="+mn-lt"/>
              </a:rPr>
              <a:t> </a:t>
            </a:r>
            <a:r>
              <a:rPr lang="en-US" altLang="zh-CN" sz="1100" dirty="0">
                <a:solidFill>
                  <a:srgbClr val="61AFEF"/>
                </a:solidFill>
                <a:cs typeface="+mn-ea"/>
                <a:sym typeface="+mn-lt"/>
              </a:rPr>
              <a:t>print1</a:t>
            </a:r>
            <a:r>
              <a:rPr lang="en-US" altLang="zh-CN" sz="1100" dirty="0">
                <a:solidFill>
                  <a:srgbClr val="ABB2BF"/>
                </a:solidFill>
                <a:cs typeface="+mn-ea"/>
                <a:sym typeface="+mn-lt"/>
              </a:rPr>
              <a:t>(</a:t>
            </a:r>
            <a:r>
              <a:rPr lang="en-US" altLang="zh-CN" sz="1100" dirty="0">
                <a:solidFill>
                  <a:srgbClr val="E06C75"/>
                </a:solidFill>
                <a:cs typeface="+mn-ea"/>
                <a:sym typeface="+mn-lt"/>
              </a:rPr>
              <a:t>s</a:t>
            </a:r>
            <a:r>
              <a:rPr lang="en-US" altLang="zh-CN" sz="1100" dirty="0">
                <a:solidFill>
                  <a:srgbClr val="ABB2BF"/>
                </a:solidFill>
                <a:cs typeface="+mn-ea"/>
                <a:sym typeface="+mn-lt"/>
              </a:rPr>
              <a:t>: &amp;</a:t>
            </a:r>
            <a:r>
              <a:rPr lang="en-US" altLang="zh-CN" sz="1100" dirty="0">
                <a:solidFill>
                  <a:srgbClr val="E5C07B"/>
                </a:solidFill>
                <a:cs typeface="+mn-ea"/>
                <a:sym typeface="+mn-lt"/>
              </a:rPr>
              <a:t>str</a:t>
            </a:r>
            <a:r>
              <a:rPr lang="en-US" altLang="zh-CN" sz="1100" dirty="0">
                <a:solidFill>
                  <a:srgbClr val="ABB2BF"/>
                </a:solidFill>
                <a:cs typeface="+mn-ea"/>
                <a:sym typeface="+mn-lt"/>
              </a:rPr>
              <a:t>);</a:t>
            </a:r>
            <a:r>
              <a:rPr lang="en-US" altLang="zh-CN" sz="1100" i="1" dirty="0">
                <a:solidFill>
                  <a:srgbClr val="7F848E"/>
                </a:solidFill>
                <a:cs typeface="+mn-ea"/>
                <a:sym typeface="+mn-lt"/>
              </a:rPr>
              <a:t>        </a:t>
            </a:r>
            <a:endParaRPr lang="en-US" altLang="zh-CN" sz="1100" dirty="0">
              <a:solidFill>
                <a:srgbClr val="ABB2BF"/>
              </a:solidFill>
              <a:cs typeface="+mn-ea"/>
              <a:sym typeface="+mn-lt"/>
            </a:endParaRPr>
          </a:p>
          <a:p>
            <a:r>
              <a:rPr lang="en-US" altLang="zh-CN" sz="1100" dirty="0">
                <a:solidFill>
                  <a:srgbClr val="C678DD"/>
                </a:solidFill>
                <a:cs typeface="+mn-ea"/>
                <a:sym typeface="+mn-lt"/>
              </a:rPr>
              <a:t>fn</a:t>
            </a:r>
            <a:r>
              <a:rPr lang="en-US" altLang="zh-CN" sz="1100" dirty="0">
                <a:solidFill>
                  <a:srgbClr val="ABB2BF"/>
                </a:solidFill>
                <a:cs typeface="+mn-ea"/>
                <a:sym typeface="+mn-lt"/>
              </a:rPr>
              <a:t> </a:t>
            </a:r>
            <a:r>
              <a:rPr lang="en-US" altLang="zh-CN" sz="1100" dirty="0">
                <a:solidFill>
                  <a:srgbClr val="61AFEF"/>
                </a:solidFill>
                <a:cs typeface="+mn-ea"/>
                <a:sym typeface="+mn-lt"/>
              </a:rPr>
              <a:t>print2</a:t>
            </a:r>
            <a:r>
              <a:rPr lang="en-US" altLang="zh-CN" sz="1100" dirty="0">
                <a:solidFill>
                  <a:srgbClr val="ABB2BF"/>
                </a:solidFill>
                <a:cs typeface="+mn-ea"/>
                <a:sym typeface="+mn-lt"/>
              </a:rPr>
              <a:t>(</a:t>
            </a:r>
            <a:r>
              <a:rPr lang="en-US" altLang="zh-CN" sz="1100" dirty="0">
                <a:solidFill>
                  <a:srgbClr val="E06C75"/>
                </a:solidFill>
                <a:cs typeface="+mn-ea"/>
                <a:sym typeface="+mn-lt"/>
              </a:rPr>
              <a:t>s</a:t>
            </a:r>
            <a:r>
              <a:rPr lang="en-US" altLang="zh-CN" sz="1100" dirty="0">
                <a:solidFill>
                  <a:srgbClr val="ABB2BF"/>
                </a:solidFill>
                <a:cs typeface="+mn-ea"/>
                <a:sym typeface="+mn-lt"/>
              </a:rPr>
              <a:t>: &amp;'</a:t>
            </a:r>
            <a:r>
              <a:rPr lang="en-US" altLang="zh-CN" sz="1100" dirty="0">
                <a:solidFill>
                  <a:srgbClr val="E5C07B"/>
                </a:solidFill>
                <a:cs typeface="+mn-ea"/>
                <a:sym typeface="+mn-lt"/>
              </a:rPr>
              <a:t>_</a:t>
            </a:r>
            <a:r>
              <a:rPr lang="en-US" altLang="zh-CN" sz="1100" dirty="0">
                <a:solidFill>
                  <a:srgbClr val="ABB2BF"/>
                </a:solidFill>
                <a:cs typeface="+mn-ea"/>
                <a:sym typeface="+mn-lt"/>
              </a:rPr>
              <a:t> </a:t>
            </a:r>
            <a:r>
              <a:rPr lang="en-US" altLang="zh-CN" sz="1100" dirty="0">
                <a:solidFill>
                  <a:srgbClr val="E5C07B"/>
                </a:solidFill>
                <a:cs typeface="+mn-ea"/>
                <a:sym typeface="+mn-lt"/>
              </a:rPr>
              <a:t>str</a:t>
            </a:r>
            <a:r>
              <a:rPr lang="en-US" altLang="zh-CN" sz="1100" dirty="0">
                <a:solidFill>
                  <a:srgbClr val="ABB2BF"/>
                </a:solidFill>
                <a:cs typeface="+mn-ea"/>
                <a:sym typeface="+mn-lt"/>
              </a:rPr>
              <a:t>);</a:t>
            </a:r>
            <a:r>
              <a:rPr lang="en-US" altLang="zh-CN" sz="1100" i="1" dirty="0">
                <a:solidFill>
                  <a:srgbClr val="7F848E"/>
                </a:solidFill>
                <a:cs typeface="+mn-ea"/>
                <a:sym typeface="+mn-lt"/>
              </a:rPr>
              <a:t>     </a:t>
            </a:r>
            <a:endParaRPr lang="en-US" altLang="zh-CN" sz="1100" dirty="0">
              <a:solidFill>
                <a:srgbClr val="ABB2BF"/>
              </a:solidFill>
              <a:cs typeface="+mn-ea"/>
              <a:sym typeface="+mn-lt"/>
            </a:endParaRPr>
          </a:p>
          <a:p>
            <a:r>
              <a:rPr lang="en-US" altLang="zh-CN" sz="1100" dirty="0">
                <a:solidFill>
                  <a:srgbClr val="C678DD"/>
                </a:solidFill>
                <a:cs typeface="+mn-ea"/>
                <a:sym typeface="+mn-lt"/>
              </a:rPr>
              <a:t>fn</a:t>
            </a:r>
            <a:r>
              <a:rPr lang="en-US" altLang="zh-CN" sz="1100" dirty="0">
                <a:solidFill>
                  <a:srgbClr val="ABB2BF"/>
                </a:solidFill>
                <a:cs typeface="+mn-ea"/>
                <a:sym typeface="+mn-lt"/>
              </a:rPr>
              <a:t> </a:t>
            </a:r>
            <a:r>
              <a:rPr lang="en-US" altLang="zh-CN" sz="1100" dirty="0">
                <a:solidFill>
                  <a:srgbClr val="61AFEF"/>
                </a:solidFill>
                <a:cs typeface="+mn-ea"/>
                <a:sym typeface="+mn-lt"/>
              </a:rPr>
              <a:t>print3</a:t>
            </a:r>
            <a:r>
              <a:rPr lang="en-US" altLang="zh-CN" sz="1100" dirty="0">
                <a:solidFill>
                  <a:srgbClr val="ABB2BF"/>
                </a:solidFill>
                <a:cs typeface="+mn-ea"/>
                <a:sym typeface="+mn-lt"/>
              </a:rPr>
              <a:t>&lt;'</a:t>
            </a:r>
            <a:r>
              <a:rPr lang="en-US" altLang="zh-CN" sz="1100" dirty="0">
                <a:solidFill>
                  <a:srgbClr val="E5C07B"/>
                </a:solidFill>
                <a:cs typeface="+mn-ea"/>
                <a:sym typeface="+mn-lt"/>
              </a:rPr>
              <a:t>a</a:t>
            </a:r>
            <a:r>
              <a:rPr lang="en-US" altLang="zh-CN" sz="1100" dirty="0">
                <a:solidFill>
                  <a:srgbClr val="ABB2BF"/>
                </a:solidFill>
                <a:cs typeface="+mn-ea"/>
                <a:sym typeface="+mn-lt"/>
              </a:rPr>
              <a:t>&gt;(</a:t>
            </a:r>
            <a:r>
              <a:rPr lang="en-US" altLang="zh-CN" sz="1100" dirty="0">
                <a:solidFill>
                  <a:srgbClr val="E06C75"/>
                </a:solidFill>
                <a:cs typeface="+mn-ea"/>
                <a:sym typeface="+mn-lt"/>
              </a:rPr>
              <a:t>s</a:t>
            </a:r>
            <a:r>
              <a:rPr lang="en-US" altLang="zh-CN" sz="1100" dirty="0">
                <a:solidFill>
                  <a:srgbClr val="ABB2BF"/>
                </a:solidFill>
                <a:cs typeface="+mn-ea"/>
                <a:sym typeface="+mn-lt"/>
              </a:rPr>
              <a:t>: &amp;'</a:t>
            </a:r>
            <a:r>
              <a:rPr lang="en-US" altLang="zh-CN" sz="1100" dirty="0">
                <a:solidFill>
                  <a:srgbClr val="E5C07B"/>
                </a:solidFill>
                <a:cs typeface="+mn-ea"/>
                <a:sym typeface="+mn-lt"/>
              </a:rPr>
              <a:t>a</a:t>
            </a:r>
            <a:r>
              <a:rPr lang="en-US" altLang="zh-CN" sz="1100" dirty="0">
                <a:solidFill>
                  <a:srgbClr val="ABB2BF"/>
                </a:solidFill>
                <a:cs typeface="+mn-ea"/>
                <a:sym typeface="+mn-lt"/>
              </a:rPr>
              <a:t> </a:t>
            </a:r>
            <a:r>
              <a:rPr lang="en-US" altLang="zh-CN" sz="1100" dirty="0">
                <a:solidFill>
                  <a:srgbClr val="E5C07B"/>
                </a:solidFill>
                <a:cs typeface="+mn-ea"/>
                <a:sym typeface="+mn-lt"/>
              </a:rPr>
              <a:t>str</a:t>
            </a:r>
            <a:r>
              <a:rPr lang="en-US" altLang="zh-CN" sz="1100" dirty="0">
                <a:solidFill>
                  <a:srgbClr val="ABB2BF"/>
                </a:solidFill>
                <a:cs typeface="+mn-ea"/>
                <a:sym typeface="+mn-lt"/>
              </a:rPr>
              <a:t>);</a:t>
            </a:r>
            <a:r>
              <a:rPr lang="en-US" altLang="zh-CN" sz="1100" i="1" dirty="0">
                <a:solidFill>
                  <a:srgbClr val="7F848E"/>
                </a:solidFill>
                <a:cs typeface="+mn-ea"/>
                <a:sym typeface="+mn-lt"/>
              </a:rPr>
              <a:t> </a:t>
            </a:r>
            <a:endParaRPr lang="en-US" altLang="zh-CN" sz="1100" dirty="0">
              <a:solidFill>
                <a:srgbClr val="ABB2BF"/>
              </a:solidFill>
              <a:cs typeface="+mn-ea"/>
              <a:sym typeface="+mn-lt"/>
            </a:endParaRPr>
          </a:p>
          <a:p>
            <a:br>
              <a:rPr lang="en-US" altLang="zh-CN" sz="1100" dirty="0">
                <a:solidFill>
                  <a:srgbClr val="ABB2BF"/>
                </a:solidFill>
                <a:cs typeface="+mn-ea"/>
                <a:sym typeface="+mn-lt"/>
              </a:rPr>
            </a:br>
            <a:r>
              <a:rPr lang="en-US" altLang="zh-CN" sz="1100" dirty="0">
                <a:solidFill>
                  <a:srgbClr val="C678DD"/>
                </a:solidFill>
                <a:cs typeface="+mn-ea"/>
                <a:sym typeface="+mn-lt"/>
              </a:rPr>
              <a:t>fn</a:t>
            </a:r>
            <a:r>
              <a:rPr lang="en-US" altLang="zh-CN" sz="1100" dirty="0">
                <a:solidFill>
                  <a:srgbClr val="ABB2BF"/>
                </a:solidFill>
                <a:cs typeface="+mn-ea"/>
                <a:sym typeface="+mn-lt"/>
              </a:rPr>
              <a:t> </a:t>
            </a:r>
            <a:r>
              <a:rPr lang="en-US" altLang="zh-CN" sz="1100" dirty="0">
                <a:solidFill>
                  <a:srgbClr val="61AFEF"/>
                </a:solidFill>
                <a:cs typeface="+mn-ea"/>
                <a:sym typeface="+mn-lt"/>
              </a:rPr>
              <a:t>debug1</a:t>
            </a:r>
            <a:r>
              <a:rPr lang="en-US" altLang="zh-CN" sz="1100" dirty="0">
                <a:solidFill>
                  <a:srgbClr val="ABB2BF"/>
                </a:solidFill>
                <a:cs typeface="+mn-ea"/>
                <a:sym typeface="+mn-lt"/>
              </a:rPr>
              <a:t>(</a:t>
            </a:r>
            <a:r>
              <a:rPr lang="en-US" altLang="zh-CN" sz="1100" dirty="0" err="1">
                <a:solidFill>
                  <a:srgbClr val="E06C75"/>
                </a:solidFill>
                <a:cs typeface="+mn-ea"/>
                <a:sym typeface="+mn-lt"/>
              </a:rPr>
              <a:t>lvl</a:t>
            </a:r>
            <a:r>
              <a:rPr lang="en-US" altLang="zh-CN" sz="1100" dirty="0">
                <a:solidFill>
                  <a:srgbClr val="ABB2BF"/>
                </a:solidFill>
                <a:cs typeface="+mn-ea"/>
                <a:sym typeface="+mn-lt"/>
              </a:rPr>
              <a:t>: </a:t>
            </a:r>
            <a:r>
              <a:rPr lang="en-US" altLang="zh-CN" sz="1100" dirty="0" err="1">
                <a:solidFill>
                  <a:srgbClr val="E5C07B"/>
                </a:solidFill>
                <a:cs typeface="+mn-ea"/>
                <a:sym typeface="+mn-lt"/>
              </a:rPr>
              <a:t>usize</a:t>
            </a:r>
            <a:r>
              <a:rPr lang="en-US" altLang="zh-CN" sz="1100" dirty="0">
                <a:solidFill>
                  <a:srgbClr val="ABB2BF"/>
                </a:solidFill>
                <a:cs typeface="+mn-ea"/>
                <a:sym typeface="+mn-lt"/>
              </a:rPr>
              <a:t>, </a:t>
            </a:r>
            <a:r>
              <a:rPr lang="en-US" altLang="zh-CN" sz="1100" dirty="0">
                <a:solidFill>
                  <a:srgbClr val="E06C75"/>
                </a:solidFill>
                <a:cs typeface="+mn-ea"/>
                <a:sym typeface="+mn-lt"/>
              </a:rPr>
              <a:t>s</a:t>
            </a:r>
            <a:r>
              <a:rPr lang="en-US" altLang="zh-CN" sz="1100" dirty="0">
                <a:solidFill>
                  <a:srgbClr val="ABB2BF"/>
                </a:solidFill>
                <a:cs typeface="+mn-ea"/>
                <a:sym typeface="+mn-lt"/>
              </a:rPr>
              <a:t>: &amp;</a:t>
            </a:r>
            <a:r>
              <a:rPr lang="en-US" altLang="zh-CN" sz="1100" dirty="0">
                <a:solidFill>
                  <a:srgbClr val="E5C07B"/>
                </a:solidFill>
                <a:cs typeface="+mn-ea"/>
                <a:sym typeface="+mn-lt"/>
              </a:rPr>
              <a:t>str</a:t>
            </a:r>
            <a:r>
              <a:rPr lang="en-US" altLang="zh-CN" sz="1100" dirty="0">
                <a:solidFill>
                  <a:srgbClr val="ABB2BF"/>
                </a:solidFill>
                <a:cs typeface="+mn-ea"/>
                <a:sym typeface="+mn-lt"/>
              </a:rPr>
              <a:t>);</a:t>
            </a:r>
            <a:r>
              <a:rPr lang="en-US" altLang="zh-CN" sz="1100" i="1" dirty="0">
                <a:solidFill>
                  <a:srgbClr val="7F848E"/>
                </a:solidFill>
                <a:cs typeface="+mn-ea"/>
                <a:sym typeface="+mn-lt"/>
              </a:rPr>
              <a:t>        // elided</a:t>
            </a:r>
            <a:endParaRPr lang="en-US" altLang="zh-CN" sz="1100" dirty="0">
              <a:solidFill>
                <a:srgbClr val="ABB2BF"/>
              </a:solidFill>
              <a:cs typeface="+mn-ea"/>
              <a:sym typeface="+mn-lt"/>
            </a:endParaRPr>
          </a:p>
          <a:p>
            <a:r>
              <a:rPr lang="en-US" altLang="zh-CN" sz="1100" dirty="0">
                <a:solidFill>
                  <a:srgbClr val="C678DD"/>
                </a:solidFill>
                <a:cs typeface="+mn-ea"/>
                <a:sym typeface="+mn-lt"/>
              </a:rPr>
              <a:t>fn</a:t>
            </a:r>
            <a:r>
              <a:rPr lang="en-US" altLang="zh-CN" sz="1100" dirty="0">
                <a:solidFill>
                  <a:srgbClr val="ABB2BF"/>
                </a:solidFill>
                <a:cs typeface="+mn-ea"/>
                <a:sym typeface="+mn-lt"/>
              </a:rPr>
              <a:t> </a:t>
            </a:r>
            <a:r>
              <a:rPr lang="en-US" altLang="zh-CN" sz="1100" dirty="0">
                <a:solidFill>
                  <a:srgbClr val="61AFEF"/>
                </a:solidFill>
                <a:cs typeface="+mn-ea"/>
                <a:sym typeface="+mn-lt"/>
              </a:rPr>
              <a:t>debug2</a:t>
            </a:r>
            <a:r>
              <a:rPr lang="en-US" altLang="zh-CN" sz="1100" dirty="0">
                <a:solidFill>
                  <a:srgbClr val="ABB2BF"/>
                </a:solidFill>
                <a:cs typeface="+mn-ea"/>
                <a:sym typeface="+mn-lt"/>
              </a:rPr>
              <a:t>&lt;'</a:t>
            </a:r>
            <a:r>
              <a:rPr lang="en-US" altLang="zh-CN" sz="1100" dirty="0">
                <a:solidFill>
                  <a:srgbClr val="E5C07B"/>
                </a:solidFill>
                <a:cs typeface="+mn-ea"/>
                <a:sym typeface="+mn-lt"/>
              </a:rPr>
              <a:t>a</a:t>
            </a:r>
            <a:r>
              <a:rPr lang="en-US" altLang="zh-CN" sz="1100" dirty="0">
                <a:solidFill>
                  <a:srgbClr val="ABB2BF"/>
                </a:solidFill>
                <a:cs typeface="+mn-ea"/>
                <a:sym typeface="+mn-lt"/>
              </a:rPr>
              <a:t>&gt;(</a:t>
            </a:r>
            <a:r>
              <a:rPr lang="en-US" altLang="zh-CN" sz="1100" dirty="0" err="1">
                <a:solidFill>
                  <a:srgbClr val="E06C75"/>
                </a:solidFill>
                <a:cs typeface="+mn-ea"/>
                <a:sym typeface="+mn-lt"/>
              </a:rPr>
              <a:t>lvl</a:t>
            </a:r>
            <a:r>
              <a:rPr lang="en-US" altLang="zh-CN" sz="1100" dirty="0">
                <a:solidFill>
                  <a:srgbClr val="ABB2BF"/>
                </a:solidFill>
                <a:cs typeface="+mn-ea"/>
                <a:sym typeface="+mn-lt"/>
              </a:rPr>
              <a:t>: </a:t>
            </a:r>
            <a:r>
              <a:rPr lang="en-US" altLang="zh-CN" sz="1100" dirty="0" err="1">
                <a:solidFill>
                  <a:srgbClr val="E5C07B"/>
                </a:solidFill>
                <a:cs typeface="+mn-ea"/>
                <a:sym typeface="+mn-lt"/>
              </a:rPr>
              <a:t>usize</a:t>
            </a:r>
            <a:r>
              <a:rPr lang="en-US" altLang="zh-CN" sz="1100" dirty="0">
                <a:solidFill>
                  <a:srgbClr val="ABB2BF"/>
                </a:solidFill>
                <a:cs typeface="+mn-ea"/>
                <a:sym typeface="+mn-lt"/>
              </a:rPr>
              <a:t>, </a:t>
            </a:r>
            <a:r>
              <a:rPr lang="en-US" altLang="zh-CN" sz="1100" dirty="0">
                <a:solidFill>
                  <a:srgbClr val="E06C75"/>
                </a:solidFill>
                <a:cs typeface="+mn-ea"/>
                <a:sym typeface="+mn-lt"/>
              </a:rPr>
              <a:t>s</a:t>
            </a:r>
            <a:r>
              <a:rPr lang="en-US" altLang="zh-CN" sz="1100" dirty="0">
                <a:solidFill>
                  <a:srgbClr val="ABB2BF"/>
                </a:solidFill>
                <a:cs typeface="+mn-ea"/>
                <a:sym typeface="+mn-lt"/>
              </a:rPr>
              <a:t>: &amp;'</a:t>
            </a:r>
            <a:r>
              <a:rPr lang="en-US" altLang="zh-CN" sz="1100" dirty="0">
                <a:solidFill>
                  <a:srgbClr val="E5C07B"/>
                </a:solidFill>
                <a:cs typeface="+mn-ea"/>
                <a:sym typeface="+mn-lt"/>
              </a:rPr>
              <a:t>a</a:t>
            </a:r>
            <a:r>
              <a:rPr lang="en-US" altLang="zh-CN" sz="1100" dirty="0">
                <a:solidFill>
                  <a:srgbClr val="ABB2BF"/>
                </a:solidFill>
                <a:cs typeface="+mn-ea"/>
                <a:sym typeface="+mn-lt"/>
              </a:rPr>
              <a:t> </a:t>
            </a:r>
            <a:r>
              <a:rPr lang="en-US" altLang="zh-CN" sz="1100" dirty="0">
                <a:solidFill>
                  <a:srgbClr val="E5C07B"/>
                </a:solidFill>
                <a:cs typeface="+mn-ea"/>
                <a:sym typeface="+mn-lt"/>
              </a:rPr>
              <a:t>str</a:t>
            </a:r>
            <a:r>
              <a:rPr lang="en-US" altLang="zh-CN" sz="1100" dirty="0">
                <a:solidFill>
                  <a:srgbClr val="ABB2BF"/>
                </a:solidFill>
                <a:cs typeface="+mn-ea"/>
                <a:sym typeface="+mn-lt"/>
              </a:rPr>
              <a:t>);</a:t>
            </a:r>
            <a:r>
              <a:rPr lang="en-US" altLang="zh-CN" sz="1100" i="1" dirty="0">
                <a:solidFill>
                  <a:srgbClr val="7F848E"/>
                </a:solidFill>
                <a:cs typeface="+mn-ea"/>
                <a:sym typeface="+mn-lt"/>
              </a:rPr>
              <a:t> // expanded</a:t>
            </a:r>
            <a:endParaRPr lang="en-US" altLang="zh-CN" sz="1100" dirty="0">
              <a:solidFill>
                <a:srgbClr val="ABB2BF"/>
              </a:solidFill>
              <a:cs typeface="+mn-ea"/>
              <a:sym typeface="+mn-lt"/>
            </a:endParaRPr>
          </a:p>
          <a:p>
            <a:br>
              <a:rPr lang="en-US" altLang="zh-CN" sz="1100" dirty="0">
                <a:solidFill>
                  <a:srgbClr val="ABB2BF"/>
                </a:solidFill>
                <a:cs typeface="+mn-ea"/>
                <a:sym typeface="+mn-lt"/>
              </a:rPr>
            </a:br>
            <a:r>
              <a:rPr lang="en-US" altLang="zh-CN" sz="1100" dirty="0">
                <a:solidFill>
                  <a:srgbClr val="C678DD"/>
                </a:solidFill>
                <a:cs typeface="+mn-ea"/>
                <a:sym typeface="+mn-lt"/>
              </a:rPr>
              <a:t>fn</a:t>
            </a:r>
            <a:r>
              <a:rPr lang="en-US" altLang="zh-CN" sz="1100" dirty="0">
                <a:solidFill>
                  <a:srgbClr val="ABB2BF"/>
                </a:solidFill>
                <a:cs typeface="+mn-ea"/>
                <a:sym typeface="+mn-lt"/>
              </a:rPr>
              <a:t> </a:t>
            </a:r>
            <a:r>
              <a:rPr lang="en-US" altLang="zh-CN" sz="1100" dirty="0">
                <a:solidFill>
                  <a:srgbClr val="61AFEF"/>
                </a:solidFill>
                <a:cs typeface="+mn-ea"/>
                <a:sym typeface="+mn-lt"/>
              </a:rPr>
              <a:t>substr1</a:t>
            </a:r>
            <a:r>
              <a:rPr lang="en-US" altLang="zh-CN" sz="1100" dirty="0">
                <a:solidFill>
                  <a:srgbClr val="ABB2BF"/>
                </a:solidFill>
                <a:cs typeface="+mn-ea"/>
                <a:sym typeface="+mn-lt"/>
              </a:rPr>
              <a:t>(</a:t>
            </a:r>
            <a:r>
              <a:rPr lang="en-US" altLang="zh-CN" sz="1100" dirty="0">
                <a:solidFill>
                  <a:srgbClr val="E06C75"/>
                </a:solidFill>
                <a:cs typeface="+mn-ea"/>
                <a:sym typeface="+mn-lt"/>
              </a:rPr>
              <a:t>s</a:t>
            </a:r>
            <a:r>
              <a:rPr lang="en-US" altLang="zh-CN" sz="1100" dirty="0">
                <a:solidFill>
                  <a:srgbClr val="ABB2BF"/>
                </a:solidFill>
                <a:cs typeface="+mn-ea"/>
                <a:sym typeface="+mn-lt"/>
              </a:rPr>
              <a:t>: &amp;</a:t>
            </a:r>
            <a:r>
              <a:rPr lang="en-US" altLang="zh-CN" sz="1100" dirty="0">
                <a:solidFill>
                  <a:srgbClr val="E5C07B"/>
                </a:solidFill>
                <a:cs typeface="+mn-ea"/>
                <a:sym typeface="+mn-lt"/>
              </a:rPr>
              <a:t>str</a:t>
            </a:r>
            <a:r>
              <a:rPr lang="en-US" altLang="zh-CN" sz="1100" dirty="0">
                <a:solidFill>
                  <a:srgbClr val="ABB2BF"/>
                </a:solidFill>
                <a:cs typeface="+mn-ea"/>
                <a:sym typeface="+mn-lt"/>
              </a:rPr>
              <a:t>, </a:t>
            </a:r>
            <a:r>
              <a:rPr lang="en-US" altLang="zh-CN" sz="1100" dirty="0">
                <a:solidFill>
                  <a:srgbClr val="E06C75"/>
                </a:solidFill>
                <a:cs typeface="+mn-ea"/>
                <a:sym typeface="+mn-lt"/>
              </a:rPr>
              <a:t>until</a:t>
            </a:r>
            <a:r>
              <a:rPr lang="en-US" altLang="zh-CN" sz="1100" dirty="0">
                <a:solidFill>
                  <a:srgbClr val="ABB2BF"/>
                </a:solidFill>
                <a:cs typeface="+mn-ea"/>
                <a:sym typeface="+mn-lt"/>
              </a:rPr>
              <a:t>: </a:t>
            </a:r>
            <a:r>
              <a:rPr lang="en-US" altLang="zh-CN" sz="1100" dirty="0" err="1">
                <a:solidFill>
                  <a:srgbClr val="E5C07B"/>
                </a:solidFill>
                <a:cs typeface="+mn-ea"/>
                <a:sym typeface="+mn-lt"/>
              </a:rPr>
              <a:t>usize</a:t>
            </a:r>
            <a:r>
              <a:rPr lang="en-US" altLang="zh-CN" sz="1100" dirty="0">
                <a:solidFill>
                  <a:srgbClr val="ABB2BF"/>
                </a:solidFill>
                <a:cs typeface="+mn-ea"/>
                <a:sym typeface="+mn-lt"/>
              </a:rPr>
              <a:t>) -&gt; &amp;</a:t>
            </a:r>
            <a:r>
              <a:rPr lang="en-US" altLang="zh-CN" sz="1100" dirty="0">
                <a:solidFill>
                  <a:srgbClr val="E5C07B"/>
                </a:solidFill>
                <a:cs typeface="+mn-ea"/>
                <a:sym typeface="+mn-lt"/>
              </a:rPr>
              <a:t>str</a:t>
            </a:r>
            <a:r>
              <a:rPr lang="en-US" altLang="zh-CN" sz="1100" dirty="0">
                <a:solidFill>
                  <a:srgbClr val="ABB2BF"/>
                </a:solidFill>
                <a:cs typeface="+mn-ea"/>
                <a:sym typeface="+mn-lt"/>
              </a:rPr>
              <a:t>;</a:t>
            </a:r>
            <a:r>
              <a:rPr lang="en-US" altLang="zh-CN" sz="1100" i="1" dirty="0">
                <a:solidFill>
                  <a:srgbClr val="7F848E"/>
                </a:solidFill>
                <a:cs typeface="+mn-ea"/>
                <a:sym typeface="+mn-lt"/>
              </a:rPr>
              <a:t>           // elided</a:t>
            </a:r>
            <a:endParaRPr lang="en-US" altLang="zh-CN" sz="1100" dirty="0">
              <a:solidFill>
                <a:srgbClr val="ABB2BF"/>
              </a:solidFill>
              <a:cs typeface="+mn-ea"/>
              <a:sym typeface="+mn-lt"/>
            </a:endParaRPr>
          </a:p>
          <a:p>
            <a:r>
              <a:rPr lang="en-US" altLang="zh-CN" sz="1100" dirty="0">
                <a:solidFill>
                  <a:srgbClr val="C678DD"/>
                </a:solidFill>
                <a:cs typeface="+mn-ea"/>
                <a:sym typeface="+mn-lt"/>
              </a:rPr>
              <a:t>fn</a:t>
            </a:r>
            <a:r>
              <a:rPr lang="en-US" altLang="zh-CN" sz="1100" dirty="0">
                <a:solidFill>
                  <a:srgbClr val="ABB2BF"/>
                </a:solidFill>
                <a:cs typeface="+mn-ea"/>
                <a:sym typeface="+mn-lt"/>
              </a:rPr>
              <a:t> </a:t>
            </a:r>
            <a:r>
              <a:rPr lang="en-US" altLang="zh-CN" sz="1100" dirty="0">
                <a:solidFill>
                  <a:srgbClr val="61AFEF"/>
                </a:solidFill>
                <a:cs typeface="+mn-ea"/>
                <a:sym typeface="+mn-lt"/>
              </a:rPr>
              <a:t>substr2</a:t>
            </a:r>
            <a:r>
              <a:rPr lang="en-US" altLang="zh-CN" sz="1100" dirty="0">
                <a:solidFill>
                  <a:srgbClr val="ABB2BF"/>
                </a:solidFill>
                <a:cs typeface="+mn-ea"/>
                <a:sym typeface="+mn-lt"/>
              </a:rPr>
              <a:t>&lt;'</a:t>
            </a:r>
            <a:r>
              <a:rPr lang="en-US" altLang="zh-CN" sz="1100" dirty="0">
                <a:solidFill>
                  <a:srgbClr val="E5C07B"/>
                </a:solidFill>
                <a:cs typeface="+mn-ea"/>
                <a:sym typeface="+mn-lt"/>
              </a:rPr>
              <a:t>a</a:t>
            </a:r>
            <a:r>
              <a:rPr lang="en-US" altLang="zh-CN" sz="1100" dirty="0">
                <a:solidFill>
                  <a:srgbClr val="ABB2BF"/>
                </a:solidFill>
                <a:cs typeface="+mn-ea"/>
                <a:sym typeface="+mn-lt"/>
              </a:rPr>
              <a:t>&gt;(</a:t>
            </a:r>
            <a:r>
              <a:rPr lang="en-US" altLang="zh-CN" sz="1100" dirty="0">
                <a:solidFill>
                  <a:srgbClr val="E06C75"/>
                </a:solidFill>
                <a:cs typeface="+mn-ea"/>
                <a:sym typeface="+mn-lt"/>
              </a:rPr>
              <a:t>s</a:t>
            </a:r>
            <a:r>
              <a:rPr lang="en-US" altLang="zh-CN" sz="1100" dirty="0">
                <a:solidFill>
                  <a:srgbClr val="ABB2BF"/>
                </a:solidFill>
                <a:cs typeface="+mn-ea"/>
                <a:sym typeface="+mn-lt"/>
              </a:rPr>
              <a:t>: &amp;'</a:t>
            </a:r>
            <a:r>
              <a:rPr lang="en-US" altLang="zh-CN" sz="1100" dirty="0">
                <a:solidFill>
                  <a:srgbClr val="E5C07B"/>
                </a:solidFill>
                <a:cs typeface="+mn-ea"/>
                <a:sym typeface="+mn-lt"/>
              </a:rPr>
              <a:t>a</a:t>
            </a:r>
            <a:r>
              <a:rPr lang="en-US" altLang="zh-CN" sz="1100" dirty="0">
                <a:solidFill>
                  <a:srgbClr val="ABB2BF"/>
                </a:solidFill>
                <a:cs typeface="+mn-ea"/>
                <a:sym typeface="+mn-lt"/>
              </a:rPr>
              <a:t> </a:t>
            </a:r>
            <a:r>
              <a:rPr lang="en-US" altLang="zh-CN" sz="1100" dirty="0">
                <a:solidFill>
                  <a:srgbClr val="E5C07B"/>
                </a:solidFill>
                <a:cs typeface="+mn-ea"/>
                <a:sym typeface="+mn-lt"/>
              </a:rPr>
              <a:t>str</a:t>
            </a:r>
            <a:r>
              <a:rPr lang="en-US" altLang="zh-CN" sz="1100" dirty="0">
                <a:solidFill>
                  <a:srgbClr val="ABB2BF"/>
                </a:solidFill>
                <a:cs typeface="+mn-ea"/>
                <a:sym typeface="+mn-lt"/>
              </a:rPr>
              <a:t>, </a:t>
            </a:r>
            <a:r>
              <a:rPr lang="en-US" altLang="zh-CN" sz="1100" dirty="0">
                <a:solidFill>
                  <a:srgbClr val="E06C75"/>
                </a:solidFill>
                <a:cs typeface="+mn-ea"/>
                <a:sym typeface="+mn-lt"/>
              </a:rPr>
              <a:t>until</a:t>
            </a:r>
            <a:r>
              <a:rPr lang="en-US" altLang="zh-CN" sz="1100" dirty="0">
                <a:solidFill>
                  <a:srgbClr val="ABB2BF"/>
                </a:solidFill>
                <a:cs typeface="+mn-ea"/>
                <a:sym typeface="+mn-lt"/>
              </a:rPr>
              <a:t>: </a:t>
            </a:r>
            <a:r>
              <a:rPr lang="en-US" altLang="zh-CN" sz="1100" dirty="0" err="1">
                <a:solidFill>
                  <a:srgbClr val="E5C07B"/>
                </a:solidFill>
                <a:cs typeface="+mn-ea"/>
                <a:sym typeface="+mn-lt"/>
              </a:rPr>
              <a:t>usize</a:t>
            </a:r>
            <a:r>
              <a:rPr lang="en-US" altLang="zh-CN" sz="1100" dirty="0">
                <a:solidFill>
                  <a:srgbClr val="ABB2BF"/>
                </a:solidFill>
                <a:cs typeface="+mn-ea"/>
                <a:sym typeface="+mn-lt"/>
              </a:rPr>
              <a:t>) -&gt; &amp;'</a:t>
            </a:r>
            <a:r>
              <a:rPr lang="en-US" altLang="zh-CN" sz="1100" dirty="0">
                <a:solidFill>
                  <a:srgbClr val="E5C07B"/>
                </a:solidFill>
                <a:cs typeface="+mn-ea"/>
                <a:sym typeface="+mn-lt"/>
              </a:rPr>
              <a:t>a</a:t>
            </a:r>
            <a:r>
              <a:rPr lang="en-US" altLang="zh-CN" sz="1100" dirty="0">
                <a:solidFill>
                  <a:srgbClr val="ABB2BF"/>
                </a:solidFill>
                <a:cs typeface="+mn-ea"/>
                <a:sym typeface="+mn-lt"/>
              </a:rPr>
              <a:t> </a:t>
            </a:r>
            <a:r>
              <a:rPr lang="en-US" altLang="zh-CN" sz="1100" dirty="0">
                <a:solidFill>
                  <a:srgbClr val="E5C07B"/>
                </a:solidFill>
                <a:cs typeface="+mn-ea"/>
                <a:sym typeface="+mn-lt"/>
              </a:rPr>
              <a:t>str</a:t>
            </a:r>
            <a:r>
              <a:rPr lang="en-US" altLang="zh-CN" sz="1100" dirty="0">
                <a:solidFill>
                  <a:srgbClr val="ABB2BF"/>
                </a:solidFill>
                <a:cs typeface="+mn-ea"/>
                <a:sym typeface="+mn-lt"/>
              </a:rPr>
              <a:t>;</a:t>
            </a:r>
            <a:r>
              <a:rPr lang="en-US" altLang="zh-CN" sz="1100" i="1" dirty="0">
                <a:solidFill>
                  <a:srgbClr val="7F848E"/>
                </a:solidFill>
                <a:cs typeface="+mn-ea"/>
                <a:sym typeface="+mn-lt"/>
              </a:rPr>
              <a:t> // expanded</a:t>
            </a:r>
            <a:endParaRPr lang="en-US" altLang="zh-CN" sz="1100" dirty="0">
              <a:solidFill>
                <a:srgbClr val="ABB2BF"/>
              </a:solidFill>
              <a:cs typeface="+mn-ea"/>
              <a:sym typeface="+mn-lt"/>
            </a:endParaRPr>
          </a:p>
          <a:p>
            <a:br>
              <a:rPr lang="en-US" altLang="zh-CN" sz="1100" dirty="0">
                <a:solidFill>
                  <a:srgbClr val="ABB2BF"/>
                </a:solidFill>
                <a:cs typeface="+mn-ea"/>
                <a:sym typeface="+mn-lt"/>
              </a:rPr>
            </a:br>
            <a:r>
              <a:rPr lang="en-US" altLang="zh-CN" sz="1100" dirty="0">
                <a:solidFill>
                  <a:srgbClr val="C678DD"/>
                </a:solidFill>
                <a:cs typeface="+mn-ea"/>
                <a:sym typeface="+mn-lt"/>
              </a:rPr>
              <a:t>fn</a:t>
            </a:r>
            <a:r>
              <a:rPr lang="en-US" altLang="zh-CN" sz="1100" dirty="0">
                <a:solidFill>
                  <a:srgbClr val="ABB2BF"/>
                </a:solidFill>
                <a:cs typeface="+mn-ea"/>
                <a:sym typeface="+mn-lt"/>
              </a:rPr>
              <a:t> </a:t>
            </a:r>
            <a:r>
              <a:rPr lang="en-US" altLang="zh-CN" sz="1100" dirty="0">
                <a:solidFill>
                  <a:srgbClr val="61AFEF"/>
                </a:solidFill>
                <a:cs typeface="+mn-ea"/>
                <a:sym typeface="+mn-lt"/>
              </a:rPr>
              <a:t>args1</a:t>
            </a:r>
            <a:r>
              <a:rPr lang="en-US" altLang="zh-CN" sz="1100" dirty="0">
                <a:solidFill>
                  <a:srgbClr val="ABB2BF"/>
                </a:solidFill>
                <a:cs typeface="+mn-ea"/>
                <a:sym typeface="+mn-lt"/>
              </a:rPr>
              <a:t>&lt;</a:t>
            </a:r>
            <a:r>
              <a:rPr lang="en-US" altLang="zh-CN" sz="1100" dirty="0">
                <a:solidFill>
                  <a:srgbClr val="E5C07B"/>
                </a:solidFill>
                <a:cs typeface="+mn-ea"/>
                <a:sym typeface="+mn-lt"/>
              </a:rPr>
              <a:t>T</a:t>
            </a:r>
            <a:r>
              <a:rPr lang="en-US" altLang="zh-CN" sz="1100" dirty="0">
                <a:solidFill>
                  <a:srgbClr val="ABB2BF"/>
                </a:solidFill>
                <a:cs typeface="+mn-ea"/>
                <a:sym typeface="+mn-lt"/>
              </a:rPr>
              <a:t>: </a:t>
            </a:r>
            <a:r>
              <a:rPr lang="en-US" altLang="zh-CN" sz="1100" dirty="0" err="1">
                <a:solidFill>
                  <a:srgbClr val="E5C07B"/>
                </a:solidFill>
                <a:cs typeface="+mn-ea"/>
                <a:sym typeface="+mn-lt"/>
              </a:rPr>
              <a:t>ToCStr</a:t>
            </a:r>
            <a:r>
              <a:rPr lang="en-US" altLang="zh-CN" sz="1100" dirty="0">
                <a:solidFill>
                  <a:srgbClr val="ABB2BF"/>
                </a:solidFill>
                <a:cs typeface="+mn-ea"/>
                <a:sym typeface="+mn-lt"/>
              </a:rPr>
              <a:t>&gt;(&amp;</a:t>
            </a:r>
            <a:r>
              <a:rPr lang="en-US" altLang="zh-CN" sz="1100" dirty="0" err="1">
                <a:solidFill>
                  <a:srgbClr val="C678DD"/>
                </a:solidFill>
                <a:cs typeface="+mn-ea"/>
                <a:sym typeface="+mn-lt"/>
              </a:rPr>
              <a:t>mut</a:t>
            </a:r>
            <a:r>
              <a:rPr lang="en-US" altLang="zh-CN" sz="1100" dirty="0">
                <a:solidFill>
                  <a:srgbClr val="ABB2BF"/>
                </a:solidFill>
                <a:cs typeface="+mn-ea"/>
                <a:sym typeface="+mn-lt"/>
              </a:rPr>
              <a:t> </a:t>
            </a:r>
            <a:r>
              <a:rPr lang="en-US" altLang="zh-CN" sz="1100" dirty="0">
                <a:solidFill>
                  <a:srgbClr val="E5C07B"/>
                </a:solidFill>
                <a:cs typeface="+mn-ea"/>
                <a:sym typeface="+mn-lt"/>
              </a:rPr>
              <a:t>self</a:t>
            </a:r>
            <a:r>
              <a:rPr lang="en-US" altLang="zh-CN" sz="1100" dirty="0">
                <a:solidFill>
                  <a:srgbClr val="ABB2BF"/>
                </a:solidFill>
                <a:cs typeface="+mn-ea"/>
                <a:sym typeface="+mn-lt"/>
              </a:rPr>
              <a:t>, </a:t>
            </a:r>
            <a:r>
              <a:rPr lang="en-US" altLang="zh-CN" sz="1100" dirty="0" err="1">
                <a:solidFill>
                  <a:srgbClr val="E06C75"/>
                </a:solidFill>
                <a:cs typeface="+mn-ea"/>
                <a:sym typeface="+mn-lt"/>
              </a:rPr>
              <a:t>args</a:t>
            </a:r>
            <a:r>
              <a:rPr lang="en-US" altLang="zh-CN" sz="1100" dirty="0">
                <a:solidFill>
                  <a:srgbClr val="ABB2BF"/>
                </a:solidFill>
                <a:cs typeface="+mn-ea"/>
                <a:sym typeface="+mn-lt"/>
              </a:rPr>
              <a:t>: &amp;[</a:t>
            </a:r>
            <a:r>
              <a:rPr lang="en-US" altLang="zh-CN" sz="1100" dirty="0">
                <a:solidFill>
                  <a:srgbClr val="E5C07B"/>
                </a:solidFill>
                <a:cs typeface="+mn-ea"/>
                <a:sym typeface="+mn-lt"/>
              </a:rPr>
              <a:t>T</a:t>
            </a:r>
            <a:r>
              <a:rPr lang="en-US" altLang="zh-CN" sz="1100" dirty="0">
                <a:solidFill>
                  <a:srgbClr val="ABB2BF"/>
                </a:solidFill>
                <a:cs typeface="+mn-ea"/>
                <a:sym typeface="+mn-lt"/>
              </a:rPr>
              <a:t>]) -&gt; &amp;</a:t>
            </a:r>
            <a:r>
              <a:rPr lang="en-US" altLang="zh-CN" sz="1100" dirty="0" err="1">
                <a:solidFill>
                  <a:srgbClr val="C678DD"/>
                </a:solidFill>
                <a:cs typeface="+mn-ea"/>
                <a:sym typeface="+mn-lt"/>
              </a:rPr>
              <a:t>mut</a:t>
            </a:r>
            <a:r>
              <a:rPr lang="en-US" altLang="zh-CN" sz="1100" dirty="0">
                <a:solidFill>
                  <a:srgbClr val="ABB2BF"/>
                </a:solidFill>
                <a:cs typeface="+mn-ea"/>
                <a:sym typeface="+mn-lt"/>
              </a:rPr>
              <a:t> </a:t>
            </a:r>
            <a:r>
              <a:rPr lang="en-US" altLang="zh-CN" sz="1100" dirty="0">
                <a:solidFill>
                  <a:srgbClr val="E5C07B"/>
                </a:solidFill>
                <a:cs typeface="+mn-ea"/>
                <a:sym typeface="+mn-lt"/>
              </a:rPr>
              <a:t>Command</a:t>
            </a:r>
            <a:r>
              <a:rPr lang="en-US" altLang="zh-CN" sz="1100" dirty="0">
                <a:solidFill>
                  <a:srgbClr val="ABB2BF"/>
                </a:solidFill>
                <a:cs typeface="+mn-ea"/>
                <a:sym typeface="+mn-lt"/>
              </a:rPr>
              <a:t>;</a:t>
            </a:r>
            <a:r>
              <a:rPr lang="en-US" altLang="zh-CN" sz="1100" i="1" dirty="0">
                <a:solidFill>
                  <a:srgbClr val="7F848E"/>
                </a:solidFill>
                <a:cs typeface="+mn-ea"/>
                <a:sym typeface="+mn-lt"/>
              </a:rPr>
              <a:t>                  // elided</a:t>
            </a:r>
            <a:endParaRPr lang="en-US" altLang="zh-CN" sz="1100" dirty="0">
              <a:solidFill>
                <a:srgbClr val="ABB2BF"/>
              </a:solidFill>
              <a:cs typeface="+mn-ea"/>
              <a:sym typeface="+mn-lt"/>
            </a:endParaRPr>
          </a:p>
          <a:p>
            <a:r>
              <a:rPr lang="en-US" altLang="zh-CN" sz="1100" dirty="0">
                <a:solidFill>
                  <a:srgbClr val="C678DD"/>
                </a:solidFill>
                <a:cs typeface="+mn-ea"/>
                <a:sym typeface="+mn-lt"/>
              </a:rPr>
              <a:t>fn</a:t>
            </a:r>
            <a:r>
              <a:rPr lang="en-US" altLang="zh-CN" sz="1100" dirty="0">
                <a:solidFill>
                  <a:srgbClr val="ABB2BF"/>
                </a:solidFill>
                <a:cs typeface="+mn-ea"/>
                <a:sym typeface="+mn-lt"/>
              </a:rPr>
              <a:t> </a:t>
            </a:r>
            <a:r>
              <a:rPr lang="en-US" altLang="zh-CN" sz="1100" dirty="0">
                <a:solidFill>
                  <a:srgbClr val="61AFEF"/>
                </a:solidFill>
                <a:cs typeface="+mn-ea"/>
                <a:sym typeface="+mn-lt"/>
              </a:rPr>
              <a:t>args2</a:t>
            </a:r>
            <a:r>
              <a:rPr lang="en-US" altLang="zh-CN" sz="1100" dirty="0">
                <a:solidFill>
                  <a:srgbClr val="ABB2BF"/>
                </a:solidFill>
                <a:cs typeface="+mn-ea"/>
                <a:sym typeface="+mn-lt"/>
              </a:rPr>
              <a:t>&lt;'</a:t>
            </a:r>
            <a:r>
              <a:rPr lang="en-US" altLang="zh-CN" sz="1100" dirty="0">
                <a:solidFill>
                  <a:srgbClr val="E5C07B"/>
                </a:solidFill>
                <a:cs typeface="+mn-ea"/>
                <a:sym typeface="+mn-lt"/>
              </a:rPr>
              <a:t>a</a:t>
            </a:r>
            <a:r>
              <a:rPr lang="en-US" altLang="zh-CN" sz="1100" dirty="0">
                <a:solidFill>
                  <a:srgbClr val="ABB2BF"/>
                </a:solidFill>
                <a:cs typeface="+mn-ea"/>
                <a:sym typeface="+mn-lt"/>
              </a:rPr>
              <a:t>, '</a:t>
            </a:r>
            <a:r>
              <a:rPr lang="en-US" altLang="zh-CN" sz="1100" dirty="0">
                <a:solidFill>
                  <a:srgbClr val="E5C07B"/>
                </a:solidFill>
                <a:cs typeface="+mn-ea"/>
                <a:sym typeface="+mn-lt"/>
              </a:rPr>
              <a:t>b</a:t>
            </a:r>
            <a:r>
              <a:rPr lang="en-US" altLang="zh-CN" sz="1100" dirty="0">
                <a:solidFill>
                  <a:srgbClr val="ABB2BF"/>
                </a:solidFill>
                <a:cs typeface="+mn-ea"/>
                <a:sym typeface="+mn-lt"/>
              </a:rPr>
              <a:t>, </a:t>
            </a:r>
            <a:r>
              <a:rPr lang="en-US" altLang="zh-CN" sz="1100" dirty="0">
                <a:solidFill>
                  <a:srgbClr val="E5C07B"/>
                </a:solidFill>
                <a:cs typeface="+mn-ea"/>
                <a:sym typeface="+mn-lt"/>
              </a:rPr>
              <a:t>T</a:t>
            </a:r>
            <a:r>
              <a:rPr lang="en-US" altLang="zh-CN" sz="1100" dirty="0">
                <a:solidFill>
                  <a:srgbClr val="ABB2BF"/>
                </a:solidFill>
                <a:cs typeface="+mn-ea"/>
                <a:sym typeface="+mn-lt"/>
              </a:rPr>
              <a:t>: </a:t>
            </a:r>
            <a:r>
              <a:rPr lang="en-US" altLang="zh-CN" sz="1100" dirty="0" err="1">
                <a:solidFill>
                  <a:srgbClr val="E5C07B"/>
                </a:solidFill>
                <a:cs typeface="+mn-ea"/>
                <a:sym typeface="+mn-lt"/>
              </a:rPr>
              <a:t>ToCStr</a:t>
            </a:r>
            <a:r>
              <a:rPr lang="en-US" altLang="zh-CN" sz="1100" dirty="0">
                <a:solidFill>
                  <a:srgbClr val="ABB2BF"/>
                </a:solidFill>
                <a:cs typeface="+mn-ea"/>
                <a:sym typeface="+mn-lt"/>
              </a:rPr>
              <a:t>&gt;(&amp;'</a:t>
            </a:r>
            <a:r>
              <a:rPr lang="en-US" altLang="zh-CN" sz="1100" dirty="0">
                <a:solidFill>
                  <a:srgbClr val="E5C07B"/>
                </a:solidFill>
                <a:cs typeface="+mn-ea"/>
                <a:sym typeface="+mn-lt"/>
              </a:rPr>
              <a:t>a</a:t>
            </a:r>
            <a:r>
              <a:rPr lang="en-US" altLang="zh-CN" sz="1100" dirty="0">
                <a:solidFill>
                  <a:srgbClr val="ABB2BF"/>
                </a:solidFill>
                <a:cs typeface="+mn-ea"/>
                <a:sym typeface="+mn-lt"/>
              </a:rPr>
              <a:t> </a:t>
            </a:r>
            <a:r>
              <a:rPr lang="en-US" altLang="zh-CN" sz="1100" dirty="0" err="1">
                <a:solidFill>
                  <a:srgbClr val="C678DD"/>
                </a:solidFill>
                <a:cs typeface="+mn-ea"/>
                <a:sym typeface="+mn-lt"/>
              </a:rPr>
              <a:t>mut</a:t>
            </a:r>
            <a:r>
              <a:rPr lang="en-US" altLang="zh-CN" sz="1100" dirty="0">
                <a:solidFill>
                  <a:srgbClr val="ABB2BF"/>
                </a:solidFill>
                <a:cs typeface="+mn-ea"/>
                <a:sym typeface="+mn-lt"/>
              </a:rPr>
              <a:t> </a:t>
            </a:r>
            <a:r>
              <a:rPr lang="en-US" altLang="zh-CN" sz="1100" dirty="0">
                <a:solidFill>
                  <a:srgbClr val="E5C07B"/>
                </a:solidFill>
                <a:cs typeface="+mn-ea"/>
                <a:sym typeface="+mn-lt"/>
              </a:rPr>
              <a:t>self</a:t>
            </a:r>
            <a:r>
              <a:rPr lang="en-US" altLang="zh-CN" sz="1100" dirty="0">
                <a:solidFill>
                  <a:srgbClr val="ABB2BF"/>
                </a:solidFill>
                <a:cs typeface="+mn-ea"/>
                <a:sym typeface="+mn-lt"/>
              </a:rPr>
              <a:t>, </a:t>
            </a:r>
            <a:r>
              <a:rPr lang="en-US" altLang="zh-CN" sz="1100" dirty="0" err="1">
                <a:solidFill>
                  <a:srgbClr val="E06C75"/>
                </a:solidFill>
                <a:cs typeface="+mn-ea"/>
                <a:sym typeface="+mn-lt"/>
              </a:rPr>
              <a:t>args</a:t>
            </a:r>
            <a:r>
              <a:rPr lang="en-US" altLang="zh-CN" sz="1100" dirty="0">
                <a:solidFill>
                  <a:srgbClr val="ABB2BF"/>
                </a:solidFill>
                <a:cs typeface="+mn-ea"/>
                <a:sym typeface="+mn-lt"/>
              </a:rPr>
              <a:t>: &amp;'</a:t>
            </a:r>
            <a:r>
              <a:rPr lang="en-US" altLang="zh-CN" sz="1100" dirty="0">
                <a:solidFill>
                  <a:srgbClr val="E5C07B"/>
                </a:solidFill>
                <a:cs typeface="+mn-ea"/>
                <a:sym typeface="+mn-lt"/>
              </a:rPr>
              <a:t>b</a:t>
            </a:r>
            <a:r>
              <a:rPr lang="en-US" altLang="zh-CN" sz="1100" dirty="0">
                <a:solidFill>
                  <a:srgbClr val="ABB2BF"/>
                </a:solidFill>
                <a:cs typeface="+mn-ea"/>
                <a:sym typeface="+mn-lt"/>
              </a:rPr>
              <a:t> [</a:t>
            </a:r>
            <a:r>
              <a:rPr lang="en-US" altLang="zh-CN" sz="1100" dirty="0">
                <a:solidFill>
                  <a:srgbClr val="E5C07B"/>
                </a:solidFill>
                <a:cs typeface="+mn-ea"/>
                <a:sym typeface="+mn-lt"/>
              </a:rPr>
              <a:t>T</a:t>
            </a:r>
            <a:r>
              <a:rPr lang="en-US" altLang="zh-CN" sz="1100" dirty="0">
                <a:solidFill>
                  <a:srgbClr val="ABB2BF"/>
                </a:solidFill>
                <a:cs typeface="+mn-ea"/>
                <a:sym typeface="+mn-lt"/>
              </a:rPr>
              <a:t>]) -&gt; &amp;'</a:t>
            </a:r>
            <a:r>
              <a:rPr lang="en-US" altLang="zh-CN" sz="1100" dirty="0">
                <a:solidFill>
                  <a:srgbClr val="E5C07B"/>
                </a:solidFill>
                <a:cs typeface="+mn-ea"/>
                <a:sym typeface="+mn-lt"/>
              </a:rPr>
              <a:t>a</a:t>
            </a:r>
            <a:r>
              <a:rPr lang="en-US" altLang="zh-CN" sz="1100" dirty="0">
                <a:solidFill>
                  <a:srgbClr val="ABB2BF"/>
                </a:solidFill>
                <a:cs typeface="+mn-ea"/>
                <a:sym typeface="+mn-lt"/>
              </a:rPr>
              <a:t> </a:t>
            </a:r>
            <a:r>
              <a:rPr lang="en-US" altLang="zh-CN" sz="1100" dirty="0" err="1">
                <a:solidFill>
                  <a:srgbClr val="C678DD"/>
                </a:solidFill>
                <a:cs typeface="+mn-ea"/>
                <a:sym typeface="+mn-lt"/>
              </a:rPr>
              <a:t>mut</a:t>
            </a:r>
            <a:r>
              <a:rPr lang="en-US" altLang="zh-CN" sz="1100" dirty="0">
                <a:solidFill>
                  <a:srgbClr val="ABB2BF"/>
                </a:solidFill>
                <a:cs typeface="+mn-ea"/>
                <a:sym typeface="+mn-lt"/>
              </a:rPr>
              <a:t> </a:t>
            </a:r>
            <a:r>
              <a:rPr lang="en-US" altLang="zh-CN" sz="1100" dirty="0">
                <a:solidFill>
                  <a:srgbClr val="E5C07B"/>
                </a:solidFill>
                <a:cs typeface="+mn-ea"/>
                <a:sym typeface="+mn-lt"/>
              </a:rPr>
              <a:t>Command</a:t>
            </a:r>
            <a:r>
              <a:rPr lang="en-US" altLang="zh-CN" sz="1100" dirty="0">
                <a:solidFill>
                  <a:srgbClr val="ABB2BF"/>
                </a:solidFill>
                <a:cs typeface="+mn-ea"/>
                <a:sym typeface="+mn-lt"/>
              </a:rPr>
              <a:t>;</a:t>
            </a:r>
            <a:r>
              <a:rPr lang="en-US" altLang="zh-CN" sz="1100" i="1" dirty="0">
                <a:solidFill>
                  <a:srgbClr val="7F848E"/>
                </a:solidFill>
                <a:cs typeface="+mn-ea"/>
                <a:sym typeface="+mn-lt"/>
              </a:rPr>
              <a:t> // expanded</a:t>
            </a:r>
            <a:endParaRPr lang="en-US" altLang="zh-CN" sz="1100" dirty="0">
              <a:solidFill>
                <a:srgbClr val="ABB2BF"/>
              </a:solidFill>
              <a:cs typeface="+mn-ea"/>
              <a:sym typeface="+mn-lt"/>
            </a:endParaRPr>
          </a:p>
          <a:p>
            <a:endParaRPr lang="en-US" altLang="zh-CN" sz="1100" dirty="0">
              <a:solidFill>
                <a:srgbClr val="ABB2BF"/>
              </a:solidFill>
              <a:cs typeface="+mn-ea"/>
              <a:sym typeface="+mn-lt"/>
            </a:endParaRPr>
          </a:p>
        </p:txBody>
      </p:sp>
      <p:sp>
        <p:nvSpPr>
          <p:cNvPr id="3" name="TextBox 2"/>
          <p:cNvSpPr txBox="1"/>
          <p:nvPr userDrawn="1"/>
        </p:nvSpPr>
        <p:spPr>
          <a:xfrm>
            <a:off x="3978222" y="4963305"/>
            <a:ext cx="7315200" cy="482055"/>
          </a:xfrm>
          <a:prstGeom prst="rect">
            <a:avLst/>
          </a:prstGeom>
          <a:noFill/>
        </p:spPr>
        <p:txBody>
          <a:bodyPr vert="horz" wrap="square" rtlCol="0" anchor="t">
            <a:spAutoFit/>
          </a:bodyPr>
          <a:lstStyle/>
          <a:p>
            <a:pPr algn="l">
              <a:lnSpc>
                <a:spcPts val="3440"/>
              </a:lnSpc>
            </a:pPr>
            <a:r>
              <a:rPr lang="en-US" altLang="zh-CN" dirty="0">
                <a:cs typeface="+mn-ea"/>
                <a:sym typeface="+mn-lt"/>
              </a:rPr>
              <a:t>https://doc.rust</a:t>
            </a:r>
            <a:r>
              <a:rPr lang="zh-CN" altLang="en-US" dirty="0">
                <a:cs typeface="+mn-ea"/>
                <a:sym typeface="+mn-lt"/>
              </a:rPr>
              <a:t>-</a:t>
            </a:r>
            <a:r>
              <a:rPr lang="en-US" altLang="zh-CN" dirty="0">
                <a:cs typeface="+mn-ea"/>
                <a:sym typeface="+mn-lt"/>
              </a:rPr>
              <a:t>lang.org/nomicon/lifetime</a:t>
            </a:r>
            <a:r>
              <a:rPr lang="zh-CN" altLang="en-US" dirty="0">
                <a:cs typeface="+mn-ea"/>
                <a:sym typeface="+mn-lt"/>
              </a:rPr>
              <a:t>-</a:t>
            </a:r>
            <a:r>
              <a:rPr lang="en-US" altLang="zh-CN" dirty="0">
                <a:cs typeface="+mn-ea"/>
                <a:sym typeface="+mn-lt"/>
              </a:rPr>
              <a:t>elision.html</a:t>
            </a:r>
            <a:endParaRPr lang="zh-CN" altLang="en-US" dirty="0">
              <a:cs typeface="+mn-ea"/>
              <a:sym typeface="+mn-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53313" y="59858"/>
            <a:ext cx="10740640" cy="993400"/>
          </a:xfrm>
        </p:spPr>
        <p:txBody>
          <a:bodyPr/>
          <a:lstStyle/>
          <a:p>
            <a:r>
              <a:rPr lang="zh-CN" altLang="en-US" b="1">
                <a:solidFill>
                  <a:srgbClr val="C00000"/>
                </a:solidFill>
                <a:latin typeface="+mn-lt"/>
                <a:ea typeface="+mn-ea"/>
                <a:cs typeface="+mn-ea"/>
                <a:sym typeface="+mn-lt"/>
              </a:rPr>
              <a:t>生命周期参数</a:t>
            </a:r>
            <a:r>
              <a:rPr lang="en-US" altLang="zh-CN" b="1">
                <a:solidFill>
                  <a:srgbClr val="C00000"/>
                </a:solidFill>
                <a:latin typeface="+mn-lt"/>
                <a:ea typeface="+mn-ea"/>
                <a:cs typeface="+mn-ea"/>
                <a:sym typeface="+mn-lt"/>
              </a:rPr>
              <a:t>-</a:t>
            </a:r>
            <a:r>
              <a:rPr lang="zh-CN" altLang="en-US" b="1">
                <a:solidFill>
                  <a:srgbClr val="C00000"/>
                </a:solidFill>
                <a:latin typeface="+mn-lt"/>
                <a:ea typeface="+mn-ea"/>
                <a:cs typeface="+mn-ea"/>
                <a:sym typeface="+mn-lt"/>
              </a:rPr>
              <a:t>临时变量生命周期扩展</a:t>
            </a:r>
            <a:endParaRPr lang="zh-CN" altLang="en-US" b="1" dirty="0">
              <a:solidFill>
                <a:srgbClr val="C00000"/>
              </a:solidFill>
              <a:latin typeface="+mn-lt"/>
              <a:ea typeface="+mn-ea"/>
              <a:cs typeface="+mn-ea"/>
              <a:sym typeface="+mn-lt"/>
            </a:endParaRPr>
          </a:p>
        </p:txBody>
      </p:sp>
      <p:cxnSp>
        <p:nvCxnSpPr>
          <p:cNvPr id="8" name="直接连接符 7"/>
          <p:cNvCxnSpPr/>
          <p:nvPr/>
        </p:nvCxnSpPr>
        <p:spPr>
          <a:xfrm>
            <a:off x="253313" y="542287"/>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209257" y="713376"/>
            <a:ext cx="10729179" cy="1160425"/>
          </a:xfrm>
          <a:prstGeom prst="rect">
            <a:avLst/>
          </a:prstGeom>
        </p:spPr>
        <p:txBody>
          <a:bodyPr wrap="square">
            <a:noAutofit/>
          </a:bodyPr>
          <a:lstStyle/>
          <a:p>
            <a:pPr>
              <a:lnSpc>
                <a:spcPct val="150000"/>
              </a:lnSpc>
            </a:pPr>
            <a:r>
              <a:rPr lang="zh-CN" altLang="en-US" sz="1600" dirty="0">
                <a:cs typeface="+mn-ea"/>
                <a:sym typeface="+mn-lt"/>
              </a:rPr>
              <a:t>临时变量生命周期扩展是 </a:t>
            </a:r>
            <a:r>
              <a:rPr lang="en-US" altLang="zh-CN" sz="1600" dirty="0">
                <a:cs typeface="+mn-ea"/>
                <a:sym typeface="+mn-lt"/>
              </a:rPr>
              <a:t>Rust </a:t>
            </a:r>
            <a:r>
              <a:rPr lang="zh-CN" altLang="en-US" sz="1600" dirty="0">
                <a:cs typeface="+mn-ea"/>
                <a:sym typeface="+mn-lt"/>
              </a:rPr>
              <a:t>编译器的一个特性，允许临时值的生命周期在某些情况下被扩展到超出其通常的范围。</a:t>
            </a:r>
          </a:p>
        </p:txBody>
      </p:sp>
      <p:sp>
        <p:nvSpPr>
          <p:cNvPr id="14" name="矩形 13"/>
          <p:cNvSpPr/>
          <p:nvPr/>
        </p:nvSpPr>
        <p:spPr>
          <a:xfrm>
            <a:off x="6209444" y="1503508"/>
            <a:ext cx="4622492" cy="2030095"/>
          </a:xfrm>
          <a:prstGeom prst="rect">
            <a:avLst/>
          </a:prstGeom>
          <a:solidFill>
            <a:schemeClr val="tx1"/>
          </a:solidFill>
        </p:spPr>
        <p:txBody>
          <a:bodyPr wrap="square">
            <a:spAutoFit/>
          </a:bodyPr>
          <a:lstStyle/>
          <a:p>
            <a:r>
              <a:rPr lang="en-US" altLang="zh-CN" sz="1400" dirty="0">
                <a:solidFill>
                  <a:schemeClr val="bg2"/>
                </a:solidFill>
                <a:cs typeface="+mn-ea"/>
                <a:sym typeface="+mn-lt"/>
              </a:rPr>
              <a:t>// </a:t>
            </a:r>
            <a:r>
              <a:rPr lang="zh-CN" altLang="en-US" sz="1400" b="1" dirty="0">
                <a:solidFill>
                  <a:srgbClr val="00B050"/>
                </a:solidFill>
                <a:cs typeface="+mn-ea"/>
                <a:sym typeface="+mn-lt"/>
              </a:rPr>
              <a:t>代码示例</a:t>
            </a:r>
            <a:endParaRPr lang="en-US" altLang="zh-CN" sz="1400" dirty="0">
              <a:solidFill>
                <a:srgbClr val="C678DD"/>
              </a:solidFill>
              <a:cs typeface="+mn-ea"/>
              <a:sym typeface="+mn-lt"/>
            </a:endParaRPr>
          </a:p>
          <a:p>
            <a:r>
              <a:rPr lang="en-US" altLang="zh-CN" sz="1400" dirty="0">
                <a:solidFill>
                  <a:srgbClr val="C678DD"/>
                </a:solidFill>
                <a:cs typeface="+mn-ea"/>
                <a:sym typeface="+mn-lt"/>
              </a:rPr>
              <a:t>fn</a:t>
            </a:r>
            <a:r>
              <a:rPr lang="en-US" altLang="zh-CN" sz="1400" dirty="0">
                <a:solidFill>
                  <a:srgbClr val="ABB2BF"/>
                </a:solidFill>
                <a:cs typeface="+mn-ea"/>
                <a:sym typeface="+mn-lt"/>
              </a:rPr>
              <a:t> </a:t>
            </a:r>
            <a:r>
              <a:rPr lang="en-US" altLang="zh-CN" sz="1400" dirty="0">
                <a:solidFill>
                  <a:srgbClr val="61AFEF"/>
                </a:solidFill>
                <a:cs typeface="+mn-ea"/>
                <a:sym typeface="+mn-lt"/>
              </a:rPr>
              <a:t>main</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C678DD"/>
                </a:solidFill>
                <a:cs typeface="+mn-ea"/>
                <a:sym typeface="+mn-lt"/>
              </a:rPr>
              <a:t>let</a:t>
            </a:r>
            <a:r>
              <a:rPr lang="en-US" altLang="zh-CN" sz="1400" dirty="0">
                <a:solidFill>
                  <a:srgbClr val="ABB2BF"/>
                </a:solidFill>
                <a:cs typeface="+mn-ea"/>
                <a:sym typeface="+mn-lt"/>
              </a:rPr>
              <a:t> </a:t>
            </a:r>
            <a:r>
              <a:rPr lang="en-US" altLang="zh-CN" sz="1400" dirty="0">
                <a:solidFill>
                  <a:srgbClr val="E06C75"/>
                </a:solidFill>
                <a:cs typeface="+mn-ea"/>
                <a:sym typeface="+mn-lt"/>
              </a:rPr>
              <a:t>s</a:t>
            </a:r>
            <a:r>
              <a:rPr lang="en-US" altLang="zh-CN" sz="1400" dirty="0">
                <a:solidFill>
                  <a:srgbClr val="ABB2BF"/>
                </a:solidFill>
                <a:cs typeface="+mn-ea"/>
                <a:sym typeface="+mn-lt"/>
              </a:rPr>
              <a:t> </a:t>
            </a:r>
            <a:r>
              <a:rPr lang="en-US" altLang="zh-CN" sz="1400" dirty="0">
                <a:solidFill>
                  <a:srgbClr val="56B6C2"/>
                </a:solidFill>
                <a:cs typeface="+mn-ea"/>
                <a:sym typeface="+mn-lt"/>
              </a:rPr>
              <a:t>=</a:t>
            </a:r>
            <a:r>
              <a:rPr lang="en-US" altLang="zh-CN" sz="1400" dirty="0">
                <a:solidFill>
                  <a:srgbClr val="ABB2BF"/>
                </a:solidFill>
                <a:cs typeface="+mn-ea"/>
                <a:sym typeface="+mn-lt"/>
              </a:rPr>
              <a:t> &amp;String::from(</a:t>
            </a:r>
            <a:r>
              <a:rPr lang="en-US" altLang="zh-CN" sz="1400" dirty="0">
                <a:solidFill>
                  <a:srgbClr val="98C379"/>
                </a:solidFill>
                <a:cs typeface="+mn-ea"/>
                <a:sym typeface="+mn-lt"/>
              </a:rPr>
              <a:t>"hello"</a:t>
            </a:r>
            <a:r>
              <a:rPr lang="en-US" altLang="zh-CN" sz="1400" dirty="0">
                <a:solidFill>
                  <a:srgbClr val="ABB2BF"/>
                </a:solidFill>
                <a:cs typeface="+mn-ea"/>
                <a:sym typeface="+mn-lt"/>
              </a:rPr>
              <a:t>);</a:t>
            </a:r>
          </a:p>
          <a:p>
            <a:r>
              <a:rPr lang="en-US" altLang="zh-CN" sz="1400" dirty="0">
                <a:solidFill>
                  <a:srgbClr val="ABB2BF"/>
                </a:solidFill>
                <a:cs typeface="+mn-ea"/>
                <a:sym typeface="+mn-lt"/>
              </a:rPr>
              <a:t>    </a:t>
            </a:r>
            <a:r>
              <a:rPr lang="en-US" altLang="zh-CN" sz="1400" dirty="0" err="1">
                <a:solidFill>
                  <a:srgbClr val="61AFEF"/>
                </a:solidFill>
                <a:cs typeface="+mn-ea"/>
                <a:sym typeface="+mn-lt"/>
              </a:rPr>
              <a:t>takes_str</a:t>
            </a:r>
            <a:r>
              <a:rPr lang="en-US" altLang="zh-CN" sz="1400" dirty="0">
                <a:solidFill>
                  <a:srgbClr val="ABB2BF"/>
                </a:solidFill>
                <a:cs typeface="+mn-ea"/>
                <a:sym typeface="+mn-lt"/>
              </a:rPr>
              <a:t>(</a:t>
            </a:r>
            <a:r>
              <a:rPr lang="en-US" altLang="zh-CN" sz="1400" dirty="0">
                <a:solidFill>
                  <a:srgbClr val="E06C75"/>
                </a:solidFill>
                <a:cs typeface="+mn-ea"/>
                <a:sym typeface="+mn-lt"/>
              </a:rPr>
              <a:t>s</a:t>
            </a:r>
            <a:r>
              <a:rPr lang="en-US" altLang="zh-CN" sz="1400" dirty="0">
                <a:solidFill>
                  <a:srgbClr val="ABB2BF"/>
                </a:solidFill>
                <a:cs typeface="+mn-ea"/>
                <a:sym typeface="+mn-lt"/>
              </a:rPr>
              <a:t>);</a:t>
            </a:r>
          </a:p>
          <a:p>
            <a:r>
              <a:rPr lang="en-US" altLang="zh-CN" sz="1400" dirty="0">
                <a:solidFill>
                  <a:srgbClr val="ABB2BF"/>
                </a:solidFill>
                <a:cs typeface="+mn-ea"/>
                <a:sym typeface="+mn-lt"/>
              </a:rPr>
              <a:t>}</a:t>
            </a:r>
          </a:p>
          <a:p>
            <a:br>
              <a:rPr lang="en-US" altLang="zh-CN" sz="1400" dirty="0">
                <a:solidFill>
                  <a:srgbClr val="ABB2BF"/>
                </a:solidFill>
                <a:cs typeface="+mn-ea"/>
                <a:sym typeface="+mn-lt"/>
              </a:rPr>
            </a:br>
            <a:r>
              <a:rPr lang="en-US" altLang="zh-CN" sz="1400" dirty="0">
                <a:solidFill>
                  <a:srgbClr val="C678DD"/>
                </a:solidFill>
                <a:cs typeface="+mn-ea"/>
                <a:sym typeface="+mn-lt"/>
              </a:rPr>
              <a:t>fn</a:t>
            </a:r>
            <a:r>
              <a:rPr lang="en-US" altLang="zh-CN" sz="1400" dirty="0">
                <a:solidFill>
                  <a:srgbClr val="ABB2BF"/>
                </a:solidFill>
                <a:cs typeface="+mn-ea"/>
                <a:sym typeface="+mn-lt"/>
              </a:rPr>
              <a:t> </a:t>
            </a:r>
            <a:r>
              <a:rPr lang="en-US" altLang="zh-CN" sz="1400" dirty="0" err="1">
                <a:solidFill>
                  <a:srgbClr val="61AFEF"/>
                </a:solidFill>
                <a:cs typeface="+mn-ea"/>
                <a:sym typeface="+mn-lt"/>
              </a:rPr>
              <a:t>takes_str</a:t>
            </a:r>
            <a:r>
              <a:rPr lang="en-US" altLang="zh-CN" sz="1400" dirty="0">
                <a:solidFill>
                  <a:srgbClr val="ABB2BF"/>
                </a:solidFill>
                <a:cs typeface="+mn-ea"/>
                <a:sym typeface="+mn-lt"/>
              </a:rPr>
              <a:t>(</a:t>
            </a:r>
            <a:r>
              <a:rPr lang="en-US" altLang="zh-CN" sz="1400" dirty="0">
                <a:solidFill>
                  <a:srgbClr val="E06C75"/>
                </a:solidFill>
                <a:cs typeface="+mn-ea"/>
                <a:sym typeface="+mn-lt"/>
              </a:rPr>
              <a:t>s</a:t>
            </a:r>
            <a:r>
              <a:rPr lang="en-US" altLang="zh-CN" sz="1400" dirty="0">
                <a:solidFill>
                  <a:srgbClr val="ABB2BF"/>
                </a:solidFill>
                <a:cs typeface="+mn-ea"/>
                <a:sym typeface="+mn-lt"/>
              </a:rPr>
              <a:t>: &amp;</a:t>
            </a:r>
            <a:r>
              <a:rPr lang="en-US" altLang="zh-CN" sz="1400" dirty="0">
                <a:solidFill>
                  <a:srgbClr val="E5C07B"/>
                </a:solidFill>
                <a:cs typeface="+mn-ea"/>
                <a:sym typeface="+mn-lt"/>
              </a:rPr>
              <a:t>str</a:t>
            </a:r>
            <a:r>
              <a:rPr lang="en-US" altLang="zh-CN" sz="1400" dirty="0">
                <a:solidFill>
                  <a:srgbClr val="ABB2BF"/>
                </a:solidFill>
                <a:cs typeface="+mn-ea"/>
                <a:sym typeface="+mn-lt"/>
              </a:rPr>
              <a:t>) {</a:t>
            </a:r>
          </a:p>
          <a:p>
            <a:r>
              <a:rPr lang="en-US" altLang="zh-CN" sz="1400" dirty="0">
                <a:solidFill>
                  <a:srgbClr val="ABB2BF"/>
                </a:solidFill>
                <a:cs typeface="+mn-ea"/>
                <a:sym typeface="+mn-lt"/>
              </a:rPr>
              <a:t>    </a:t>
            </a:r>
            <a:r>
              <a:rPr lang="en-US" altLang="zh-CN" sz="1400" dirty="0">
                <a:solidFill>
                  <a:srgbClr val="61AFEF"/>
                </a:solidFill>
                <a:cs typeface="+mn-ea"/>
                <a:sym typeface="+mn-lt"/>
              </a:rPr>
              <a:t>println!</a:t>
            </a:r>
            <a:r>
              <a:rPr lang="en-US" altLang="zh-CN" sz="1400" dirty="0">
                <a:solidFill>
                  <a:srgbClr val="ABB2BF"/>
                </a:solidFill>
                <a:cs typeface="+mn-ea"/>
                <a:sym typeface="+mn-lt"/>
              </a:rPr>
              <a:t>(</a:t>
            </a:r>
            <a:r>
              <a:rPr lang="en-US" altLang="zh-CN" sz="1400" dirty="0">
                <a:solidFill>
                  <a:srgbClr val="98C379"/>
                </a:solidFill>
                <a:cs typeface="+mn-ea"/>
                <a:sym typeface="+mn-lt"/>
              </a:rPr>
              <a:t>"{}"</a:t>
            </a:r>
            <a:r>
              <a:rPr lang="en-US" altLang="zh-CN" sz="1400" dirty="0">
                <a:solidFill>
                  <a:srgbClr val="ABB2BF"/>
                </a:solidFill>
                <a:cs typeface="+mn-ea"/>
                <a:sym typeface="+mn-lt"/>
              </a:rPr>
              <a:t>, </a:t>
            </a:r>
            <a:r>
              <a:rPr lang="en-US" altLang="zh-CN" sz="1400" dirty="0">
                <a:solidFill>
                  <a:srgbClr val="E06C75"/>
                </a:solidFill>
                <a:cs typeface="+mn-ea"/>
                <a:sym typeface="+mn-lt"/>
              </a:rPr>
              <a:t>s</a:t>
            </a:r>
            <a:r>
              <a:rPr lang="en-US" altLang="zh-CN" sz="1400" dirty="0">
                <a:solidFill>
                  <a:srgbClr val="ABB2BF"/>
                </a:solidFill>
                <a:cs typeface="+mn-ea"/>
                <a:sym typeface="+mn-lt"/>
              </a:rPr>
              <a:t>);</a:t>
            </a:r>
          </a:p>
          <a:p>
            <a:r>
              <a:rPr lang="en-US" altLang="zh-CN" sz="1400" dirty="0">
                <a:solidFill>
                  <a:srgbClr val="ABB2BF"/>
                </a:solidFill>
                <a:cs typeface="+mn-ea"/>
                <a:sym typeface="+mn-lt"/>
              </a:rPr>
              <a:t>}</a:t>
            </a:r>
            <a:endParaRPr lang="en-US" altLang="zh-CN" sz="1400" b="0" dirty="0">
              <a:solidFill>
                <a:srgbClr val="ABB2BF"/>
              </a:solidFill>
              <a:effectLst/>
              <a:cs typeface="+mn-ea"/>
              <a:sym typeface="+mn-lt"/>
            </a:endParaRPr>
          </a:p>
        </p:txBody>
      </p:sp>
      <p:sp>
        <p:nvSpPr>
          <p:cNvPr id="13" name="矩形 12"/>
          <p:cNvSpPr/>
          <p:nvPr/>
        </p:nvSpPr>
        <p:spPr>
          <a:xfrm>
            <a:off x="361444" y="1512358"/>
            <a:ext cx="5611893" cy="1916642"/>
          </a:xfrm>
          <a:prstGeom prst="rect">
            <a:avLst/>
          </a:prstGeom>
        </p:spPr>
        <p:txBody>
          <a:bodyPr wrap="square">
            <a:noAutofit/>
          </a:bodyPr>
          <a:lstStyle/>
          <a:p>
            <a:pPr>
              <a:lnSpc>
                <a:spcPct val="150000"/>
              </a:lnSpc>
            </a:pPr>
            <a:r>
              <a:rPr lang="zh-CN" altLang="en-US" sz="1600" dirty="0">
                <a:cs typeface="+mn-ea"/>
                <a:sym typeface="+mn-lt"/>
              </a:rPr>
              <a:t>在下面的示例中，</a:t>
            </a:r>
            <a:r>
              <a:rPr lang="en-US" altLang="zh-CN" sz="1600" dirty="0">
                <a:cs typeface="+mn-ea"/>
                <a:sym typeface="+mn-lt"/>
              </a:rPr>
              <a:t>String::from(“hello”) </a:t>
            </a:r>
            <a:r>
              <a:rPr lang="zh-CN" altLang="en-US" sz="1600" dirty="0">
                <a:cs typeface="+mn-ea"/>
                <a:sym typeface="+mn-lt"/>
              </a:rPr>
              <a:t>创建了一个临时变量，他的生命周期本来应该在本行结束，但是作为参数传入函数中。</a:t>
            </a:r>
          </a:p>
          <a:p>
            <a:pPr>
              <a:lnSpc>
                <a:spcPct val="150000"/>
              </a:lnSpc>
            </a:pPr>
            <a:endParaRPr lang="en-US" altLang="zh-CN" sz="1600" dirty="0">
              <a:cs typeface="+mn-ea"/>
              <a:sym typeface="+mn-lt"/>
            </a:endParaRPr>
          </a:p>
          <a:p>
            <a:pPr>
              <a:lnSpc>
                <a:spcPct val="150000"/>
              </a:lnSpc>
            </a:pPr>
            <a:r>
              <a:rPr lang="zh-CN" altLang="en-US" sz="1600" dirty="0">
                <a:cs typeface="+mn-ea"/>
                <a:sym typeface="+mn-lt"/>
              </a:rPr>
              <a:t>临时变量被引用绑定，所以生命周期扩展到函数调用结束。</a:t>
            </a:r>
          </a:p>
        </p:txBody>
      </p:sp>
      <p:sp>
        <p:nvSpPr>
          <p:cNvPr id="3" name="TextBox 2"/>
          <p:cNvSpPr txBox="1"/>
          <p:nvPr/>
        </p:nvSpPr>
        <p:spPr>
          <a:xfrm>
            <a:off x="462183" y="5062925"/>
            <a:ext cx="10672109" cy="1417241"/>
          </a:xfrm>
          <a:prstGeom prst="rect">
            <a:avLst/>
          </a:prstGeom>
          <a:noFill/>
        </p:spPr>
        <p:txBody>
          <a:bodyPr vert="horz" wrap="square" rtlCol="0" anchor="t">
            <a:noAutofit/>
          </a:bodyPr>
          <a:lstStyle/>
          <a:p>
            <a:pPr algn="l">
              <a:lnSpc>
                <a:spcPts val="3440"/>
              </a:lnSpc>
            </a:pPr>
            <a:r>
              <a:rPr lang="zh-CN" altLang="en-US" sz="1600" dirty="0">
                <a:cs typeface="+mn-ea"/>
                <a:sym typeface="+mn-lt"/>
              </a:rPr>
              <a:t>关于临时变量的准确定义可以参考：</a:t>
            </a:r>
          </a:p>
          <a:p>
            <a:pPr algn="l">
              <a:lnSpc>
                <a:spcPts val="3440"/>
              </a:lnSpc>
            </a:pPr>
            <a:r>
              <a:rPr lang="en-US" altLang="zh-CN" sz="1400" i="1" dirty="0">
                <a:cs typeface="+mn-ea"/>
                <a:sym typeface="+mn-lt"/>
              </a:rPr>
              <a:t>https://doc.rust</a:t>
            </a:r>
            <a:r>
              <a:rPr lang="zh-CN" altLang="en-US" sz="1400" i="1" dirty="0">
                <a:cs typeface="+mn-ea"/>
                <a:sym typeface="+mn-lt"/>
              </a:rPr>
              <a:t>-</a:t>
            </a:r>
            <a:r>
              <a:rPr lang="en-US" altLang="zh-CN" sz="1400" i="1" dirty="0">
                <a:cs typeface="+mn-ea"/>
                <a:sym typeface="+mn-lt"/>
              </a:rPr>
              <a:t>lang.org/stable/reference/expressions.html?highlight</a:t>
            </a:r>
            <a:r>
              <a:rPr lang="zh-CN" altLang="en-US" sz="1400" i="1" dirty="0">
                <a:cs typeface="+mn-ea"/>
                <a:sym typeface="+mn-lt"/>
              </a:rPr>
              <a:t>=</a:t>
            </a:r>
            <a:r>
              <a:rPr lang="en-US" altLang="zh-CN" sz="1400" i="1" dirty="0">
                <a:cs typeface="+mn-ea"/>
                <a:sym typeface="+mn-lt"/>
              </a:rPr>
              <a:t>temporary%20value</a:t>
            </a:r>
            <a:r>
              <a:rPr lang="zh-CN" altLang="en-US" sz="1400" i="1" dirty="0">
                <a:cs typeface="+mn-ea"/>
                <a:sym typeface="+mn-lt"/>
              </a:rPr>
              <a:t>#</a:t>
            </a:r>
            <a:r>
              <a:rPr lang="en-US" altLang="zh-CN" sz="1400" i="1" dirty="0">
                <a:cs typeface="+mn-ea"/>
                <a:sym typeface="+mn-lt"/>
              </a:rPr>
              <a:t>temporaries</a:t>
            </a:r>
            <a:endParaRPr lang="zh-CN" altLang="en-US" sz="1400" i="1" dirty="0">
              <a:cs typeface="+mn-ea"/>
              <a:sym typeface="+mn-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r>
              <a:rPr lang="zh-CN" altLang="en-US" b="1" dirty="0">
                <a:solidFill>
                  <a:srgbClr val="C00000"/>
                </a:solidFill>
                <a:latin typeface="+mn-lt"/>
                <a:ea typeface="+mn-ea"/>
                <a:cs typeface="+mn-ea"/>
                <a:sym typeface="+mn-lt"/>
              </a:rPr>
              <a:t>本章小结</a:t>
            </a:r>
            <a:endParaRPr lang="en-US" b="1" dirty="0">
              <a:solidFill>
                <a:srgbClr val="C00000"/>
              </a:solidFill>
              <a:latin typeface="+mn-lt"/>
              <a:ea typeface="+mn-ea"/>
              <a:cs typeface="+mn-ea"/>
              <a:sym typeface="+mn-lt"/>
            </a:endParaRPr>
          </a:p>
        </p:txBody>
      </p:sp>
      <p:sp>
        <p:nvSpPr>
          <p:cNvPr id="3" name="内容占位符 2"/>
          <p:cNvSpPr>
            <a:spLocks noGrp="1"/>
          </p:cNvSpPr>
          <p:nvPr>
            <p:ph idx="10"/>
          </p:nvPr>
        </p:nvSpPr>
        <p:spPr>
          <a:xfrm>
            <a:off x="729175" y="1090007"/>
            <a:ext cx="10733557" cy="4690459"/>
          </a:xfrm>
        </p:spPr>
        <p:txBody>
          <a:bodyPr/>
          <a:lstStyle/>
          <a:p>
            <a:pPr marL="297815" indent="-285750">
              <a:lnSpc>
                <a:spcPct val="150000"/>
              </a:lnSpc>
              <a:buFont typeface="Arial" panose="020B0604020202020204" pitchFamily="34" charset="0"/>
              <a:buChar char="•"/>
            </a:pPr>
            <a:r>
              <a:rPr lang="zh-CN" altLang="en-US" dirty="0">
                <a:latin typeface="+mn-lt"/>
                <a:ea typeface="+mn-ea"/>
                <a:cs typeface="+mn-ea"/>
                <a:sym typeface="+mn-lt"/>
              </a:rPr>
              <a:t>学完本章，希望</a:t>
            </a:r>
            <a:r>
              <a:rPr lang="zh-CN" altLang="en-US">
                <a:latin typeface="+mn-lt"/>
                <a:ea typeface="+mn-ea"/>
                <a:cs typeface="+mn-ea"/>
                <a:sym typeface="+mn-lt"/>
              </a:rPr>
              <a:t>可以：</a:t>
            </a:r>
            <a:endParaRPr lang="en-US" altLang="zh-CN" dirty="0">
              <a:latin typeface="+mn-lt"/>
              <a:ea typeface="+mn-ea"/>
              <a:cs typeface="+mn-ea"/>
              <a:sym typeface="+mn-lt"/>
            </a:endParaRPr>
          </a:p>
          <a:p>
            <a:pPr marL="811530" lvl="1" indent="-285750">
              <a:lnSpc>
                <a:spcPct val="150000"/>
              </a:lnSpc>
              <a:buFont typeface="Wingdings" panose="05000000000000000000" pitchFamily="2" charset="2"/>
              <a:buChar char="ü"/>
            </a:pPr>
            <a:r>
              <a:rPr lang="zh-CN" altLang="en-US" sz="1800">
                <a:cs typeface="+mn-ea"/>
                <a:sym typeface="+mn-lt"/>
              </a:rPr>
              <a:t>掌握引用的概念和基本用法；</a:t>
            </a:r>
            <a:endParaRPr lang="en-US" altLang="zh-CN" sz="1800">
              <a:cs typeface="+mn-ea"/>
              <a:sym typeface="+mn-lt"/>
            </a:endParaRPr>
          </a:p>
          <a:p>
            <a:pPr marL="811530" lvl="1" indent="-285750">
              <a:lnSpc>
                <a:spcPct val="150000"/>
              </a:lnSpc>
              <a:buFont typeface="Wingdings" panose="05000000000000000000" pitchFamily="2" charset="2"/>
              <a:buChar char="ü"/>
            </a:pPr>
            <a:r>
              <a:rPr lang="zh-CN" altLang="en-US" sz="1800">
                <a:cs typeface="+mn-ea"/>
                <a:sym typeface="+mn-lt"/>
              </a:rPr>
              <a:t>掌握 </a:t>
            </a:r>
            <a:r>
              <a:rPr lang="en-US" altLang="zh-CN" sz="1800">
                <a:cs typeface="+mn-ea"/>
                <a:sym typeface="+mn-lt"/>
              </a:rPr>
              <a:t>Rust </a:t>
            </a:r>
            <a:r>
              <a:rPr lang="zh-CN" altLang="en-US" sz="1800">
                <a:cs typeface="+mn-ea"/>
                <a:sym typeface="+mn-lt"/>
              </a:rPr>
              <a:t>中借用检查相关概念和规则；</a:t>
            </a:r>
            <a:endParaRPr lang="en-US" altLang="zh-CN" sz="1800" dirty="0">
              <a:cs typeface="+mn-ea"/>
              <a:sym typeface="+mn-lt"/>
            </a:endParaRPr>
          </a:p>
          <a:p>
            <a:pPr marL="811530" lvl="1" indent="-285750">
              <a:lnSpc>
                <a:spcPct val="150000"/>
              </a:lnSpc>
              <a:buFont typeface="Wingdings" panose="05000000000000000000" pitchFamily="2" charset="2"/>
              <a:buChar char="ü"/>
            </a:pPr>
            <a:r>
              <a:rPr lang="zh-CN" altLang="en-US" sz="1800" dirty="0">
                <a:cs typeface="+mn-ea"/>
                <a:sym typeface="+mn-lt"/>
              </a:rPr>
              <a:t>掌握 </a:t>
            </a:r>
            <a:r>
              <a:rPr lang="en-US" altLang="zh-CN" sz="1800" dirty="0">
                <a:cs typeface="+mn-ea"/>
                <a:sym typeface="+mn-lt"/>
              </a:rPr>
              <a:t>Rust </a:t>
            </a:r>
            <a:r>
              <a:rPr lang="zh-CN" altLang="en-US" sz="1800" dirty="0">
                <a:cs typeface="+mn-ea"/>
                <a:sym typeface="+mn-lt"/>
              </a:rPr>
              <a:t>的生命周期参数标记的各种应用场景；</a:t>
            </a:r>
            <a:endParaRPr lang="en-US" altLang="zh-CN" sz="1800" dirty="0">
              <a:cs typeface="+mn-ea"/>
              <a:sym typeface="+mn-lt"/>
            </a:endParaRPr>
          </a:p>
          <a:p>
            <a:pPr marL="811530" lvl="1" indent="-285750">
              <a:lnSpc>
                <a:spcPct val="150000"/>
              </a:lnSpc>
              <a:buFont typeface="Wingdings" panose="05000000000000000000" pitchFamily="2" charset="2"/>
              <a:buChar char="ü"/>
            </a:pPr>
            <a:endParaRPr lang="en-US" altLang="zh-CN" sz="1800" dirty="0">
              <a:cs typeface="+mn-ea"/>
              <a:sym typeface="+mn-lt"/>
            </a:endParaRPr>
          </a:p>
        </p:txBody>
      </p:sp>
      <p:cxnSp>
        <p:nvCxnSpPr>
          <p:cNvPr id="4" name="直接连接符 3"/>
          <p:cNvCxnSpPr/>
          <p:nvPr/>
        </p:nvCxnSpPr>
        <p:spPr>
          <a:xfrm>
            <a:off x="722092" y="962165"/>
            <a:ext cx="10740640" cy="0"/>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Title Slide">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i3yqy1je">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3200" dirty="0" smtClean="0">
            <a:solidFill>
              <a:srgbClr val="575756"/>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Title Slide">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i3yqy1je">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3200" dirty="0" smtClean="0">
            <a:solidFill>
              <a:srgbClr val="575756"/>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hart page">
  <a:themeElements>
    <a:clrScheme name="updated">
      <a:dk1>
        <a:srgbClr val="1D1D1A"/>
      </a:dk1>
      <a:lt1>
        <a:srgbClr val="1D1D1A"/>
      </a:lt1>
      <a:dk2>
        <a:srgbClr val="FFFFFF"/>
      </a:dk2>
      <a:lt2>
        <a:srgbClr val="FFFFFF"/>
      </a:lt2>
      <a:accent1>
        <a:srgbClr val="C7000A"/>
      </a:accent1>
      <a:accent2>
        <a:srgbClr val="C8102E"/>
      </a:accent2>
      <a:accent3>
        <a:srgbClr val="EA594F"/>
      </a:accent3>
      <a:accent4>
        <a:srgbClr val="F8B53C"/>
      </a:accent4>
      <a:accent5>
        <a:srgbClr val="231815"/>
      </a:accent5>
      <a:accent6>
        <a:srgbClr val="595757"/>
      </a:accent6>
      <a:hlink>
        <a:srgbClr val="898989"/>
      </a:hlink>
      <a:folHlink>
        <a:srgbClr val="B5B5B5"/>
      </a:folHlink>
    </a:clrScheme>
    <a:fontScheme name="i3yqy1je">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7000B"/>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sz="1800" dirty="0" smtClean="0">
            <a:solidFill>
              <a:schemeClr val="accent2"/>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i3yqy1je">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151515"/>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none" rtlCol="0">
        <a:spAutoFit/>
      </a:bodyPr>
      <a:lstStyle>
        <a:defPPr algn="l">
          <a:lnSpc>
            <a:spcPts val="3440"/>
          </a:lnSpc>
          <a:defRPr dirty="0" smtClean="0">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End page">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i3yqy1je">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1244</TotalTime>
  <Words>3346</Words>
  <Application>Microsoft Office PowerPoint</Application>
  <PresentationFormat>自定义</PresentationFormat>
  <Paragraphs>349</Paragraphs>
  <Slides>21</Slides>
  <Notes>20</Notes>
  <HiddenSlides>0</HiddenSlides>
  <MMClips>0</MMClips>
  <ScaleCrop>false</ScaleCrop>
  <HeadingPairs>
    <vt:vector size="6" baseType="variant">
      <vt:variant>
        <vt:lpstr>已用的字体</vt:lpstr>
      </vt:variant>
      <vt:variant>
        <vt:i4>6</vt:i4>
      </vt:variant>
      <vt:variant>
        <vt:lpstr>主题</vt:lpstr>
      </vt:variant>
      <vt:variant>
        <vt:i4>5</vt:i4>
      </vt:variant>
      <vt:variant>
        <vt:lpstr>幻灯片标题</vt:lpstr>
      </vt:variant>
      <vt:variant>
        <vt:i4>21</vt:i4>
      </vt:variant>
    </vt:vector>
  </HeadingPairs>
  <TitlesOfParts>
    <vt:vector size="32" baseType="lpstr">
      <vt:lpstr>微软雅黑</vt:lpstr>
      <vt:lpstr>微软雅黑</vt:lpstr>
      <vt:lpstr>Arial</vt:lpstr>
      <vt:lpstr>Calibri</vt:lpstr>
      <vt:lpstr>Huawei Sans</vt:lpstr>
      <vt:lpstr>Wingdings</vt:lpstr>
      <vt:lpstr>1_Title Slide</vt:lpstr>
      <vt:lpstr>2_Title Slide</vt:lpstr>
      <vt:lpstr>Chart page</vt:lpstr>
      <vt:lpstr>4_Chart page</vt:lpstr>
      <vt:lpstr>End page</vt:lpstr>
      <vt:lpstr>生命周期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生命周期</dc:title>
  <dc:creator>fanyan (A)</dc:creator>
  <cp:lastModifiedBy>Zhangyandong (ben)</cp:lastModifiedBy>
  <cp:revision>14</cp:revision>
  <dcterms:created xsi:type="dcterms:W3CDTF">2023-10-18T07:17:56Z</dcterms:created>
  <dcterms:modified xsi:type="dcterms:W3CDTF">2024-11-20T02:28:51Z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(3)HXPoddKejmJcZeXMLBX4CZyD+aJcbHw/49XAUuhv+0pTIZ43cHGeuZYH6qkRLokPi1P1C4Ju
sgXhefLZIxjd6hkg/OLgf9W2DXeCiCBrmtbQZ3hsGywgHlUlwy7bohmqdQZ05HLEeVf4PIrh
2iU+e0FaOtUrX+cW1XN1dNwmEUcnDQybcZeLWdbWLAxVIm6HQA1k0JvSJkmBwTEvLbToDaIh
L4uFObaqQrfiEzAJUW</vt:lpwstr>
  </property>
  <property fmtid="{D5CDD505-2E9C-101B-9397-08002B2CF9AE}" pid="3" name="_2015_ms_pID_7253431">
    <vt:lpwstr>RxQdB3p78p3uPeEIDMXac4kQuKjqa1XlN5y78wjGF1DCCwNgvNcQ+h
rmO87npbxrQkAyNhrVHdm2+sivfxB2mUFLlgS/JT+jDWOA2M8K2cFwybHA+nK83KJ4ULaz1Y
pdMl1ddv6ZTsE1B3ayZQdCewpUmKDr7qmCY6BenT0ongslZC8ADtRkdOC3Od6xeR1YUak9VU
NR6nkVQUNdgD4P87Te5B3vacvyBOjLC7GIsA</vt:lpwstr>
  </property>
  <property fmtid="{D5CDD505-2E9C-101B-9397-08002B2CF9AE}" pid="4" name="_2015_ms_pID_7253432">
    <vt:lpwstr>ow==</vt:lpwstr>
  </property>
  <property fmtid="{D5CDD505-2E9C-101B-9397-08002B2CF9AE}" pid="5" name="KSOProductBuildVer">
    <vt:lpwstr>2052-0.0.0.0</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1697544692</vt:lpwstr>
  </property>
</Properties>
</file>