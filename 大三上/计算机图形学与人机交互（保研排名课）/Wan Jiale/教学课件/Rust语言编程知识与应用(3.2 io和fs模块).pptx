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7"/>
  </p:notesMasterIdLst>
  <p:handoutMasterIdLst>
    <p:handoutMasterId r:id="rId18"/>
  </p:handoutMasterIdLst>
  <p:sldIdLst>
    <p:sldId id="283" r:id="rId6"/>
    <p:sldId id="288" r:id="rId7"/>
    <p:sldId id="349" r:id="rId8"/>
    <p:sldId id="395" r:id="rId9"/>
    <p:sldId id="453" r:id="rId10"/>
    <p:sldId id="460" r:id="rId11"/>
    <p:sldId id="441" r:id="rId12"/>
    <p:sldId id="456" r:id="rId13"/>
    <p:sldId id="457" r:id="rId14"/>
    <p:sldId id="292" r:id="rId15"/>
    <p:sldId id="280" r:id="rId16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349"/>
            <p14:sldId id="395"/>
            <p14:sldId id="453"/>
            <p14:sldId id="460"/>
            <p14:sldId id="441"/>
            <p14:sldId id="456"/>
            <p14:sldId id="457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liziqiang 00556901_ERbuA7r6" initials="authorId_AK20210901:AK20210901JXNSXO4497046" lastIdx="1151377763" clrIdx="0"/>
  <p:cmAuthor id="2003" name="wuxiaojun 00342820_QRBvBJbY" initials="authorId_AK20210901:AK20210901JXNSXO124321" lastIdx="1688235077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5040" autoAdjust="0"/>
  </p:normalViewPr>
  <p:slideViewPr>
    <p:cSldViewPr snapToGrid="0" snapToObjects="1">
      <p:cViewPr varScale="1">
        <p:scale>
          <a:sx n="66" d="100"/>
          <a:sy n="66" d="100"/>
        </p:scale>
        <p:origin x="40" y="33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992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5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36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91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155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47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5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8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780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16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5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7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fs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>
                <a:cs typeface="+mn-ea"/>
                <a:sym typeface="+mn-lt"/>
              </a:rPr>
              <a:t>Security Level: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0"/>
            <a:ext cx="10733557" cy="17534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语言标准库中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模块和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fs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模块的基本操作、常用功能和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trait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85300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803500"/>
            <a:ext cx="419642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io</a:t>
            </a:r>
            <a:r>
              <a:rPr lang="zh-CN" altLang="en-US">
                <a:cs typeface="+mn-ea"/>
                <a:sym typeface="+mn-lt"/>
              </a:rPr>
              <a:t>模块介绍以及常用方法；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fs</a:t>
            </a:r>
            <a:r>
              <a:rPr lang="zh-CN" altLang="en-US">
                <a:cs typeface="+mn-ea"/>
                <a:sym typeface="+mn-lt"/>
              </a:rPr>
              <a:t>模块介绍以及常用方法；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38578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626722"/>
            <a:ext cx="10733557" cy="1080968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   fs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51197" y="36721"/>
            <a:ext cx="10740640" cy="510517"/>
          </a:xfrm>
        </p:spPr>
        <p:txBody>
          <a:bodyPr>
            <a:normAutofit fontScale="85000" lnSpcReduction="20000"/>
          </a:bodyPr>
          <a:lstStyle/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基本操作和常用功能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52205" y="856046"/>
            <a:ext cx="6400434" cy="54348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Write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example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&lt;()&gt; {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std::io::copy:读取数据并复制内容到指定位置，直到返回EOF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reader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&amp;[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] = 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b"hello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&gt; = </a:t>
            </a:r>
            <a:r>
              <a:rPr lang="en-US" sz="1500" b="0" u="none" dirty="0" err="1">
                <a:solidFill>
                  <a:srgbClr val="D19A66"/>
                </a:solidFill>
                <a:cs typeface="+mn-ea"/>
                <a:sym typeface="+mn-lt"/>
              </a:rPr>
              <a:t>vec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[];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copy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reader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b"hello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[..], &amp;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[..]);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std::io::read_to_string:读取字节到新的String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stdin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read_to_string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stdin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())?;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std::io::stdin:标准输入流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buffer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stdin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read_line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buffer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std::io::stdout:标准输出流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stdout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write_all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b"hello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 world"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lock函数返回写防护，写防护实现了 Write trait，支持写入数据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返回的锁离开作用域时将释放该锁，保证线程安全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stdout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stdout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stdout</a:t>
            </a:r>
            <a:r>
              <a:rPr lang="en-US" sz="15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write_all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b"hello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 world"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  <a:endParaRPr lang="en-US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// std::io::stderr:标准错误输出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56B6C2"/>
                </a:solidFill>
                <a:cs typeface="+mn-ea"/>
                <a:sym typeface="+mn-lt"/>
              </a:rPr>
              <a:t>stderr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 dirty="0" err="1">
                <a:solidFill>
                  <a:srgbClr val="61AFEF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write_all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b"hello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 Rust"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Ok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(())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0692" y="804646"/>
            <a:ext cx="4696011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io</a:t>
            </a:r>
            <a:r>
              <a:rPr lang="zh-CN" altLang="en-US" sz="1400" dirty="0">
                <a:cs typeface="+mn-ea"/>
                <a:sym typeface="+mn-lt"/>
              </a:rPr>
              <a:t> 模块提供了对 </a:t>
            </a:r>
            <a:r>
              <a:rPr lang="en-US" altLang="zh-CN" sz="1400" dirty="0">
                <a:cs typeface="+mn-ea"/>
                <a:sym typeface="+mn-lt"/>
              </a:rPr>
              <a:t>I/O </a:t>
            </a:r>
            <a:r>
              <a:rPr lang="zh-CN" altLang="en-US" sz="1400" dirty="0">
                <a:cs typeface="+mn-ea"/>
                <a:sym typeface="+mn-lt"/>
              </a:rPr>
              <a:t>操作的支持：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标准输入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标准输出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文件读写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缓冲区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2678" y="895862"/>
            <a:ext cx="10043604" cy="26776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io</a:t>
            </a:r>
            <a:r>
              <a:rPr lang="zh-CN" altLang="en-US" sz="1600">
                <a:cs typeface="+mn-ea"/>
                <a:sym typeface="+mn-lt"/>
              </a:rPr>
              <a:t>模块中几个常用</a:t>
            </a:r>
            <a:r>
              <a:rPr lang="en-US" altLang="zh-CN" sz="1600">
                <a:cs typeface="+mn-ea"/>
                <a:sym typeface="+mn-lt"/>
              </a:rPr>
              <a:t>trait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en-US" altLang="zh-CN" sz="160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>
                <a:cs typeface="+mn-ea"/>
                <a:sym typeface="+mn-lt"/>
              </a:rPr>
              <a:t>Read</a:t>
            </a:r>
            <a:r>
              <a:rPr lang="zh-CN" altLang="en-US" sz="1600">
                <a:cs typeface="+mn-ea"/>
                <a:sym typeface="+mn-lt"/>
              </a:rPr>
              <a:t>：允许从源读取字节，提供</a:t>
            </a:r>
            <a:r>
              <a:rPr lang="en-US" altLang="zh-CN" sz="1600">
                <a:cs typeface="+mn-ea"/>
                <a:sym typeface="+mn-lt"/>
              </a:rPr>
              <a:t>read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read_to_end</a:t>
            </a:r>
            <a:r>
              <a:rPr lang="zh-CN" altLang="en-US" sz="1600">
                <a:cs typeface="+mn-ea"/>
                <a:sym typeface="+mn-lt"/>
              </a:rPr>
              <a:t>等方法；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标准库链接：</a:t>
            </a:r>
            <a:r>
              <a:rPr lang="en-US" altLang="zh-CN" sz="1600">
                <a:cs typeface="+mn-ea"/>
                <a:sym typeface="+mn-lt"/>
              </a:rPr>
              <a:t>https://doc.rust</a:t>
            </a:r>
            <a:r>
              <a:rPr lang="zh-CN" altLang="en-US" sz="1600">
                <a:cs typeface="+mn-ea"/>
                <a:sym typeface="+mn-lt"/>
              </a:rPr>
              <a:t>-</a:t>
            </a:r>
            <a:r>
              <a:rPr lang="en-US" altLang="zh-CN" sz="1600">
                <a:cs typeface="+mn-ea"/>
                <a:sym typeface="+mn-lt"/>
              </a:rPr>
              <a:t>lang.org/std/io/trait.Read.html</a:t>
            </a:r>
            <a:r>
              <a:rPr lang="zh-CN" altLang="en-US" sz="160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>
                <a:cs typeface="+mn-ea"/>
                <a:sym typeface="+mn-lt"/>
              </a:rPr>
              <a:t>Write</a:t>
            </a:r>
            <a:r>
              <a:rPr lang="zh-CN" altLang="en-US" sz="1600">
                <a:cs typeface="+mn-ea"/>
                <a:sym typeface="+mn-lt"/>
              </a:rPr>
              <a:t>：方法将尝试将一些数据写入对象，返回成功写入的字节数，提供了一些方法，如 </a:t>
            </a:r>
            <a:r>
              <a:rPr lang="en-US" altLang="zh-CN" sz="1600">
                <a:cs typeface="+mn-ea"/>
                <a:sym typeface="+mn-lt"/>
              </a:rPr>
              <a:t>write </a:t>
            </a:r>
            <a:r>
              <a:rPr lang="zh-CN" altLang="en-US" sz="1600">
                <a:cs typeface="+mn-ea"/>
                <a:sym typeface="+mn-lt"/>
              </a:rPr>
              <a:t>和 </a:t>
            </a:r>
            <a:r>
              <a:rPr lang="en-US" altLang="zh-CN" sz="1600">
                <a:cs typeface="+mn-ea"/>
                <a:sym typeface="+mn-lt"/>
              </a:rPr>
              <a:t>flush </a:t>
            </a:r>
            <a:r>
              <a:rPr lang="zh-CN" altLang="en-US" sz="1600">
                <a:cs typeface="+mn-ea"/>
                <a:sym typeface="+mn-lt"/>
              </a:rPr>
              <a:t>等；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标准库链接：</a:t>
            </a:r>
            <a:r>
              <a:rPr lang="en-US" altLang="zh-CN" sz="1600">
                <a:cs typeface="+mn-ea"/>
                <a:sym typeface="+mn-lt"/>
              </a:rPr>
              <a:t>https://doc.rust</a:t>
            </a:r>
            <a:r>
              <a:rPr lang="zh-CN" altLang="en-US" sz="1600">
                <a:cs typeface="+mn-ea"/>
                <a:sym typeface="+mn-lt"/>
              </a:rPr>
              <a:t>-</a:t>
            </a:r>
            <a:r>
              <a:rPr lang="en-US" altLang="zh-CN" sz="1600">
                <a:cs typeface="+mn-ea"/>
                <a:sym typeface="+mn-lt"/>
              </a:rPr>
              <a:t>lang.org/std/io/trait.Write.html</a:t>
            </a:r>
            <a:r>
              <a:rPr lang="zh-CN" altLang="en-US" sz="1600">
                <a:cs typeface="+mn-ea"/>
                <a:sym typeface="+mn-lt"/>
              </a:rPr>
              <a:t>；</a:t>
            </a:r>
            <a:endParaRPr lang="en-US" altLang="zh-CN" sz="160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>
                <a:cs typeface="+mn-ea"/>
                <a:sym typeface="+mn-lt"/>
              </a:rPr>
              <a:t>Seek</a:t>
            </a:r>
            <a:r>
              <a:rPr lang="zh-CN" altLang="en-US" sz="1600">
                <a:cs typeface="+mn-ea"/>
                <a:sym typeface="+mn-lt"/>
              </a:rPr>
              <a:t>：提供了一种在数据源中定位和移动读取位置的方法，提供了一些方法，如 </a:t>
            </a:r>
            <a:r>
              <a:rPr lang="en-US" altLang="zh-CN" sz="1600">
                <a:cs typeface="+mn-ea"/>
                <a:sym typeface="+mn-lt"/>
              </a:rPr>
              <a:t>seek </a:t>
            </a:r>
            <a:r>
              <a:rPr lang="zh-CN" altLang="en-US" sz="1600">
                <a:cs typeface="+mn-ea"/>
                <a:sym typeface="+mn-lt"/>
              </a:rPr>
              <a:t>等；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标准库链接：</a:t>
            </a:r>
            <a:r>
              <a:rPr lang="en-US" altLang="zh-CN" sz="1600">
                <a:cs typeface="+mn-ea"/>
                <a:sym typeface="+mn-lt"/>
              </a:rPr>
              <a:t>https://doc.rust</a:t>
            </a:r>
            <a:r>
              <a:rPr lang="zh-CN" altLang="en-US" sz="1600">
                <a:cs typeface="+mn-ea"/>
                <a:sym typeface="+mn-lt"/>
              </a:rPr>
              <a:t>-</a:t>
            </a:r>
            <a:r>
              <a:rPr lang="en-US" altLang="zh-CN" sz="1600">
                <a:cs typeface="+mn-ea"/>
                <a:sym typeface="+mn-lt"/>
              </a:rPr>
              <a:t>lang.org/std/io/trait.Seek.html</a:t>
            </a:r>
            <a:r>
              <a:rPr lang="zh-CN" altLang="en-US" sz="1600">
                <a:cs typeface="+mn-ea"/>
                <a:sym typeface="+mn-lt"/>
              </a:rPr>
              <a:t>；</a:t>
            </a:r>
          </a:p>
        </p:txBody>
      </p:sp>
      <p:sp>
        <p:nvSpPr>
          <p:cNvPr id="9" name="副标题 1"/>
          <p:cNvSpPr txBox="1"/>
          <p:nvPr/>
        </p:nvSpPr>
        <p:spPr>
          <a:xfrm>
            <a:off x="151197" y="36721"/>
            <a:ext cx="10740640" cy="510517"/>
          </a:xfrm>
          <a:prstGeom prst="rect">
            <a:avLst/>
          </a:prstGeom>
        </p:spPr>
        <p:txBody>
          <a:bodyPr lIns="0" tIns="0" rIns="0" bIns="0" anchor="t">
            <a:normAutofit fontScale="85000" lnSpcReduction="20000"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常用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7471" y="696781"/>
            <a:ext cx="9565811" cy="41806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上述</a:t>
            </a:r>
            <a:r>
              <a:rPr lang="en-US" altLang="zh-CN" sz="1400">
                <a:cs typeface="+mn-ea"/>
                <a:sym typeface="+mn-lt"/>
              </a:rPr>
              <a:t>trait</a:t>
            </a:r>
            <a:r>
              <a:rPr lang="zh-CN" altLang="en-US" sz="1400">
                <a:cs typeface="+mn-ea"/>
                <a:sym typeface="+mn-lt"/>
              </a:rPr>
              <a:t>提供了一些常用方法：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9" name="副标题 1"/>
          <p:cNvSpPr txBox="1"/>
          <p:nvPr/>
        </p:nvSpPr>
        <p:spPr>
          <a:xfrm>
            <a:off x="151197" y="36721"/>
            <a:ext cx="10740640" cy="510517"/>
          </a:xfrm>
          <a:prstGeom prst="rect">
            <a:avLst/>
          </a:prstGeom>
        </p:spPr>
        <p:txBody>
          <a:bodyPr lIns="0" tIns="0" rIns="0" bIns="0" anchor="t">
            <a:normAutofit fontScale="85000" lnSpcReduction="20000"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io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常用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trait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8"/>
          <p:cNvSpPr txBox="1"/>
          <p:nvPr/>
        </p:nvSpPr>
        <p:spPr>
          <a:xfrm>
            <a:off x="1224344" y="1174574"/>
            <a:ext cx="8928754" cy="49969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400" b="0" u="none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u="none" dirty="0">
                <a:solidFill>
                  <a:srgbClr val="00B050"/>
                </a:solidFill>
                <a:cs typeface="+mn-ea"/>
                <a:sym typeface="+mn-lt"/>
              </a:rPr>
              <a:t>代码</a:t>
            </a:r>
            <a:r>
              <a:rPr lang="zh-CN" sz="1400" b="1" u="none" dirty="0">
                <a:solidFill>
                  <a:srgbClr val="00B050"/>
                </a:solidFill>
                <a:cs typeface="+mn-ea"/>
                <a:sym typeface="+mn-lt"/>
              </a:rPr>
              <a:t>示例</a:t>
            </a:r>
            <a:endParaRPr lang="en-US" sz="1400" b="1" u="none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fs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ABB2BF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prelude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::*;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SeekFrom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5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&lt;()&gt; {</a:t>
            </a:r>
            <a:endParaRPr lang="zh-CN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      // read_to_end方法示例,读取此源中的所有字节直到 EOF，并将它们放入缓冲区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"foo.txt"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buffer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sz="15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read_to_end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buffer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endParaRPr lang="zh-CN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      // write_all方法示例：尝试将整个缓冲区写入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buffer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create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"foo.txt"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buffer</a:t>
            </a:r>
            <a:r>
              <a:rPr lang="en-US" sz="15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write_all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98C379"/>
                </a:solidFill>
                <a:cs typeface="+mn-ea"/>
                <a:sym typeface="+mn-lt"/>
              </a:rPr>
              <a:t>b"some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 bytes"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endParaRPr lang="zh-CN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       // seek方法示例：查找流中的偏移量（以字节为单位）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"foo.txt"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)?;</a:t>
            </a:r>
            <a:endParaRPr lang="zh-CN" sz="15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 dirty="0">
                <a:solidFill>
                  <a:srgbClr val="7F848E"/>
                </a:solidFill>
                <a:cs typeface="+mn-ea"/>
                <a:sym typeface="+mn-lt"/>
              </a:rPr>
              <a:t>          // 从文件的开头将游标移动 42 个字节</a:t>
            </a:r>
            <a:endParaRPr lang="en-US" sz="1500" b="0" u="none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 err="1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sz="15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seek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 err="1">
                <a:solidFill>
                  <a:srgbClr val="E5C07B"/>
                </a:solidFill>
                <a:cs typeface="+mn-ea"/>
                <a:sym typeface="+mn-lt"/>
              </a:rPr>
              <a:t>SeekFrom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Start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42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))?;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(())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457885" y="866000"/>
            <a:ext cx="3463998" cy="20306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std::fs </a:t>
            </a:r>
            <a:r>
              <a:rPr lang="zh-CN" altLang="en-US" sz="1400" dirty="0">
                <a:cs typeface="+mn-ea"/>
                <a:sym typeface="+mn-lt"/>
              </a:rPr>
              <a:t>模块提供了文件相关操作的支持：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创建、打开和</a:t>
            </a:r>
            <a:r>
              <a:rPr lang="zh-CN" altLang="en-US" sz="1400">
                <a:cs typeface="+mn-ea"/>
                <a:sym typeface="+mn-lt"/>
              </a:rPr>
              <a:t>关闭文件</a:t>
            </a:r>
            <a:endParaRPr lang="zh-CN" altLang="en-US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读取和</a:t>
            </a:r>
            <a:r>
              <a:rPr lang="zh-CN" altLang="en-US" sz="1400">
                <a:cs typeface="+mn-ea"/>
                <a:sym typeface="+mn-lt"/>
              </a:rPr>
              <a:t>写入文件</a:t>
            </a:r>
            <a:endParaRPr lang="zh-CN" altLang="en-US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重命名和</a:t>
            </a:r>
            <a:r>
              <a:rPr lang="zh-CN" altLang="en-US" sz="1400">
                <a:cs typeface="+mn-ea"/>
                <a:sym typeface="+mn-lt"/>
              </a:rPr>
              <a:t>删除文件</a:t>
            </a:r>
            <a:endParaRPr lang="zh-CN" altLang="en-US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查询文件和目录</a:t>
            </a:r>
            <a:r>
              <a:rPr lang="zh-CN" altLang="en-US" sz="1400">
                <a:cs typeface="+mn-ea"/>
                <a:sym typeface="+mn-lt"/>
              </a:rPr>
              <a:t>的属性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遍历文件</a:t>
            </a:r>
            <a:r>
              <a:rPr lang="zh-CN" altLang="en-US" sz="1400">
                <a:cs typeface="+mn-ea"/>
                <a:sym typeface="+mn-lt"/>
              </a:rPr>
              <a:t>和目录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副标题 1"/>
          <p:cNvSpPr txBox="1"/>
          <p:nvPr/>
        </p:nvSpPr>
        <p:spPr>
          <a:xfrm>
            <a:off x="151197" y="36721"/>
            <a:ext cx="10740640" cy="510517"/>
          </a:xfrm>
          <a:prstGeom prst="rect">
            <a:avLst/>
          </a:prstGeom>
        </p:spPr>
        <p:txBody>
          <a:bodyPr lIns="0" tIns="0" rIns="0" bIns="0" anchor="t">
            <a:normAutofit fontScale="85000" lnSpcReduction="20000"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fs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基本操作和常用功能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5E2B91B-3773-4B58-BB2D-EF3BBFB41C36}"/>
              </a:ext>
            </a:extLst>
          </p:cNvPr>
          <p:cNvSpPr/>
          <p:nvPr/>
        </p:nvSpPr>
        <p:spPr>
          <a:xfrm>
            <a:off x="4732084" y="715258"/>
            <a:ext cx="6096000" cy="563231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fs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::{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self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io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prelude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::*;</a:t>
            </a:r>
          </a:p>
          <a:p>
            <a:r>
              <a:rPr lang="en-US" altLang="zh-CN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main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 -&gt;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io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Result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&lt;()&gt; {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u="sng" dirty="0">
                <a:solidFill>
                  <a:srgbClr val="C8C8C8"/>
                </a:solidFill>
                <a:cs typeface="+mn-ea"/>
                <a:sym typeface="+mn-lt"/>
              </a:rPr>
              <a:t>f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create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"foo.txt"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u="sng" dirty="0" err="1">
                <a:solidFill>
                  <a:srgbClr val="C8C8C8"/>
                </a:solidFill>
                <a:cs typeface="+mn-ea"/>
                <a:sym typeface="+mn-lt"/>
              </a:rPr>
              <a:t>f</a:t>
            </a:r>
            <a:r>
              <a:rPr lang="en-US" altLang="zh-CN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u="sng" dirty="0" err="1">
                <a:solidFill>
                  <a:srgbClr val="C8C8C8"/>
                </a:solidFill>
                <a:cs typeface="+mn-ea"/>
                <a:sym typeface="+mn-lt"/>
              </a:rPr>
              <a:t>write_all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 err="1">
                <a:solidFill>
                  <a:srgbClr val="CE9178"/>
                </a:solidFill>
                <a:cs typeface="+mn-ea"/>
                <a:sym typeface="+mn-lt"/>
              </a:rPr>
              <a:t>b"hello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 world"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b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fs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rename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"foo.txt"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"bar.txt"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fs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remove_file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"bar.txt"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b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entries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fs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read_dir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"."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for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entry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in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entries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entry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entry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?;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path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entry</a:t>
            </a:r>
            <a:r>
              <a:rPr lang="en-US" altLang="zh-CN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path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if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path</a:t>
            </a:r>
            <a:r>
              <a:rPr lang="en-US" altLang="zh-CN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is_dir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dirty="0" err="1">
                <a:solidFill>
                  <a:srgbClr val="CE9178"/>
                </a:solidFill>
                <a:cs typeface="+mn-ea"/>
                <a:sym typeface="+mn-lt"/>
              </a:rPr>
              <a:t>dir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: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path</a:t>
            </a:r>
            <a:r>
              <a:rPr lang="en-US" altLang="zh-CN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display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B8D7A3"/>
                </a:solidFill>
                <a:cs typeface="+mn-ea"/>
                <a:sym typeface="+mn-lt"/>
              </a:rPr>
              <a:t>Ok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(())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1197" y="637024"/>
            <a:ext cx="10474586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标准库</a:t>
            </a:r>
            <a:r>
              <a:rPr lang="en-US" altLang="zh-CN" sz="1600">
                <a:cs typeface="+mn-ea"/>
                <a:sym typeface="+mn-lt"/>
              </a:rPr>
              <a:t>path</a:t>
            </a:r>
            <a:r>
              <a:rPr lang="zh-CN" altLang="en-US" sz="1600">
                <a:cs typeface="+mn-ea"/>
                <a:sym typeface="+mn-lt"/>
              </a:rPr>
              <a:t>模块提供了两种用于处理文件路径的类型：</a:t>
            </a:r>
            <a:r>
              <a:rPr lang="en-US" altLang="zh-CN" sz="1600">
                <a:cs typeface="+mn-ea"/>
                <a:sym typeface="+mn-lt"/>
              </a:rPr>
              <a:t>PathBuf</a:t>
            </a:r>
            <a:r>
              <a:rPr lang="zh-CN" altLang="en-US" sz="1600">
                <a:cs typeface="+mn-ea"/>
                <a:sym typeface="+mn-lt"/>
              </a:rPr>
              <a:t>和</a:t>
            </a:r>
            <a:r>
              <a:rPr lang="en-US" altLang="zh-CN" sz="1600">
                <a:cs typeface="+mn-ea"/>
                <a:sym typeface="+mn-lt"/>
              </a:rPr>
              <a:t>Path</a:t>
            </a:r>
            <a:r>
              <a:rPr lang="zh-CN" altLang="en-US" sz="1600"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96665" y="1098689"/>
            <a:ext cx="6738545" cy="52629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prelude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::*;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创建文件的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path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en-US" altLang="zh-CN" sz="1400" i="1" dirty="0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"hello.txt"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is_file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is_file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display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display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以只读模式打开路径，返回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io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::Result&lt;File&gt;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why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panic!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"couldn't open {}: 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display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why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读取文件内容为字符串，返回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io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::Result&lt;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usize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&gt;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read_to_string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why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panic!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"couldn't read {}: 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display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why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print!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"{} contains: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\n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{}"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display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1197" y="1264307"/>
            <a:ext cx="417222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cs typeface="+mn-ea"/>
                <a:sym typeface="+mn-lt"/>
              </a:rPr>
              <a:t>PathBuf</a:t>
            </a:r>
            <a:r>
              <a:rPr lang="zh-CN" altLang="en-US" sz="1400" dirty="0">
                <a:cs typeface="+mn-ea"/>
                <a:sym typeface="+mn-lt"/>
              </a:rPr>
              <a:t>：拥有数据所有权、可变的类型。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cs typeface="+mn-ea"/>
                <a:sym typeface="+mn-lt"/>
              </a:rPr>
              <a:t>Path</a:t>
            </a:r>
            <a:r>
              <a:rPr lang="zh-CN" altLang="en-US" sz="1400" dirty="0">
                <a:cs typeface="+mn-ea"/>
                <a:sym typeface="+mn-lt"/>
              </a:rPr>
              <a:t>： 仅持有对路径字符串数据的引用，不拥有此数据。无需打开文件可访问同名文件属性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51197" y="2639311"/>
            <a:ext cx="4793878" cy="20313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PathBuf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en-US" altLang="zh-CN" sz="1400" dirty="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PathBuf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 </a:t>
            </a:r>
          </a:p>
          <a:p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"C:"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"windows"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"system32"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set_extension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"dll"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或者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PathBuf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r"C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:\windows\system32.dll"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副标题 1"/>
          <p:cNvSpPr txBox="1"/>
          <p:nvPr/>
        </p:nvSpPr>
        <p:spPr>
          <a:xfrm>
            <a:off x="151197" y="36721"/>
            <a:ext cx="10740640" cy="510517"/>
          </a:xfrm>
          <a:prstGeom prst="rect">
            <a:avLst/>
          </a:prstGeom>
        </p:spPr>
        <p:txBody>
          <a:bodyPr lIns="0" tIns="0" rIns="0" bIns="0" anchor="t">
            <a:normAutofit fontScale="85000" lnSpcReduction="20000"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Path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模块下的文件路径类型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PathBuf/Path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1"/>
          <p:cNvSpPr>
            <a:spLocks noGrp="1"/>
          </p:cNvSpPr>
          <p:nvPr>
            <p:ph type="subTitle" idx="1"/>
          </p:nvPr>
        </p:nvSpPr>
        <p:spPr>
          <a:xfrm>
            <a:off x="151197" y="36721"/>
            <a:ext cx="10740640" cy="510517"/>
          </a:xfrm>
        </p:spPr>
        <p:txBody>
          <a:bodyPr>
            <a:normAutofit fontScale="85000" lnSpcReduction="20000"/>
          </a:bodyPr>
          <a:lstStyle/>
          <a:p>
            <a:pPr marL="12065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fs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-PathBuf/Path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转换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1197" y="56579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66102" y="947213"/>
            <a:ext cx="5885620" cy="423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Path </a:t>
            </a:r>
            <a:r>
              <a:rPr lang="zh-CN" altLang="en-US" sz="1600">
                <a:cs typeface="+mn-ea"/>
                <a:sym typeface="+mn-lt"/>
              </a:rPr>
              <a:t>和 </a:t>
            </a:r>
            <a:r>
              <a:rPr lang="en-US" altLang="zh-CN" sz="1600">
                <a:cs typeface="+mn-ea"/>
                <a:sym typeface="+mn-lt"/>
              </a:rPr>
              <a:t>PathBuf </a:t>
            </a:r>
            <a:r>
              <a:rPr lang="zh-CN" altLang="en-US" sz="1600">
                <a:cs typeface="+mn-ea"/>
                <a:sym typeface="+mn-lt"/>
              </a:rPr>
              <a:t>类型与字符串类型之间可以进行转换。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6101" y="1403043"/>
            <a:ext cx="5885621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使用 </a:t>
            </a:r>
            <a:r>
              <a:rPr lang="en-US" altLang="zh-CN" sz="1400">
                <a:cs typeface="+mn-ea"/>
                <a:sym typeface="+mn-lt"/>
              </a:rPr>
              <a:t>to_str </a:t>
            </a:r>
            <a:r>
              <a:rPr lang="zh-CN" altLang="en-US" sz="1400">
                <a:cs typeface="+mn-ea"/>
                <a:sym typeface="+mn-lt"/>
              </a:rPr>
              <a:t>方法将 </a:t>
            </a:r>
            <a:r>
              <a:rPr lang="en-US" altLang="zh-CN" sz="1400">
                <a:cs typeface="+mn-ea"/>
                <a:sym typeface="+mn-lt"/>
              </a:rPr>
              <a:t>Path</a:t>
            </a:r>
            <a:r>
              <a:rPr lang="zh-CN" altLang="en-US" sz="1400">
                <a:cs typeface="+mn-ea"/>
                <a:sym typeface="+mn-lt"/>
              </a:rPr>
              <a:t>类型转换为 </a:t>
            </a:r>
            <a:r>
              <a:rPr lang="en-US" altLang="zh-CN" sz="1400">
                <a:cs typeface="+mn-ea"/>
                <a:sym typeface="+mn-lt"/>
              </a:rPr>
              <a:t>&amp;str</a:t>
            </a:r>
            <a:r>
              <a:rPr lang="zh-CN" altLang="en-US" sz="1400">
                <a:cs typeface="+mn-ea"/>
                <a:sym typeface="+mn-lt"/>
              </a:rPr>
              <a:t>：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72456" y="1864708"/>
            <a:ext cx="6096000" cy="1661993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"/tmp/foo.txt"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path_str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"/tmp/foo.txt"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path_str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6103" y="3726756"/>
            <a:ext cx="5885620" cy="3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1219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>
                <a:cs typeface="+mn-ea"/>
                <a:sym typeface="+mn-lt"/>
              </a:rPr>
              <a:t>使用 </a:t>
            </a:r>
            <a:r>
              <a:rPr lang="en-US" altLang="zh-CN" sz="1400">
                <a:cs typeface="+mn-ea"/>
                <a:sym typeface="+mn-lt"/>
              </a:rPr>
              <a:t>as_path </a:t>
            </a:r>
            <a:r>
              <a:rPr lang="zh-CN" altLang="en-US" sz="1400">
                <a:cs typeface="+mn-ea"/>
                <a:sym typeface="+mn-lt"/>
              </a:rPr>
              <a:t>方法将 </a:t>
            </a:r>
            <a:r>
              <a:rPr lang="en-US" altLang="zh-CN" sz="1400">
                <a:cs typeface="+mn-ea"/>
                <a:sym typeface="+mn-lt"/>
              </a:rPr>
              <a:t>PathBuf </a:t>
            </a:r>
            <a:r>
              <a:rPr lang="zh-CN" altLang="en-US" sz="1400">
                <a:cs typeface="+mn-ea"/>
                <a:sym typeface="+mn-lt"/>
              </a:rPr>
              <a:t>类型转换为</a:t>
            </a:r>
            <a:r>
              <a:rPr lang="en-US" altLang="zh-CN" sz="1400">
                <a:cs typeface="+mn-ea"/>
                <a:sym typeface="+mn-lt"/>
              </a:rPr>
              <a:t>path</a:t>
            </a:r>
            <a:r>
              <a:rPr lang="zh-CN" altLang="en-US" sz="1400">
                <a:cs typeface="+mn-ea"/>
                <a:sym typeface="+mn-lt"/>
              </a:rPr>
              <a:t>类型：</a:t>
            </a:r>
          </a:p>
        </p:txBody>
      </p:sp>
      <p:sp>
        <p:nvSpPr>
          <p:cNvPr id="15" name="矩形 14"/>
          <p:cNvSpPr/>
          <p:nvPr/>
        </p:nvSpPr>
        <p:spPr>
          <a:xfrm>
            <a:off x="2672455" y="4142255"/>
            <a:ext cx="6096000" cy="160043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FFFFF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PathBuf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PathBuf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PathBuf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"/test"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"/test"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as_path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224478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掌握标准</a:t>
            </a:r>
            <a:r>
              <a:rPr lang="zh-CN" altLang="en-US" sz="1800" dirty="0">
                <a:cs typeface="+mn-ea"/>
                <a:sym typeface="+mn-lt"/>
              </a:rPr>
              <a:t>库中</a:t>
            </a:r>
            <a:r>
              <a:rPr lang="en-US" altLang="zh-CN" sz="1800" dirty="0">
                <a:cs typeface="+mn-ea"/>
                <a:sym typeface="+mn-lt"/>
              </a:rPr>
              <a:t>io</a:t>
            </a:r>
            <a:r>
              <a:rPr lang="zh-CN" altLang="en-US" sz="1800" dirty="0">
                <a:cs typeface="+mn-ea"/>
                <a:sym typeface="+mn-lt"/>
              </a:rPr>
              <a:t>、</a:t>
            </a:r>
            <a:r>
              <a:rPr lang="en-US" altLang="zh-CN" sz="1800" dirty="0">
                <a:cs typeface="+mn-ea"/>
                <a:sym typeface="+mn-lt"/>
              </a:rPr>
              <a:t>fs</a:t>
            </a:r>
            <a:r>
              <a:rPr lang="zh-CN" altLang="en-US" sz="1800" dirty="0">
                <a:cs typeface="+mn-ea"/>
                <a:sym typeface="+mn-lt"/>
              </a:rPr>
              <a:t>等模块的基础使用；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io</a:t>
            </a:r>
            <a:r>
              <a:rPr lang="zh-CN" altLang="en-US" sz="1800">
                <a:cs typeface="+mn-ea"/>
                <a:sym typeface="+mn-lt"/>
              </a:rPr>
              <a:t>模块的常用</a:t>
            </a:r>
            <a:r>
              <a:rPr lang="en-US" altLang="zh-CN" sz="1800">
                <a:cs typeface="+mn-ea"/>
                <a:sym typeface="+mn-lt"/>
              </a:rPr>
              <a:t>trait</a:t>
            </a:r>
            <a:r>
              <a:rPr lang="zh-CN" altLang="en-US" sz="1800">
                <a:cs typeface="+mn-ea"/>
                <a:sym typeface="+mn-lt"/>
              </a:rPr>
              <a:t>和</a:t>
            </a:r>
            <a:r>
              <a:rPr lang="en-US" altLang="zh-CN" sz="1800">
                <a:cs typeface="+mn-ea"/>
                <a:sym typeface="+mn-lt"/>
              </a:rPr>
              <a:t>fs</a:t>
            </a:r>
            <a:r>
              <a:rPr lang="zh-CN" altLang="en-US" sz="1800">
                <a:cs typeface="+mn-ea"/>
                <a:sym typeface="+mn-lt"/>
              </a:rPr>
              <a:t>模块</a:t>
            </a:r>
            <a:r>
              <a:rPr lang="en-US" altLang="zh-CN" sz="1800">
                <a:cs typeface="+mn-ea"/>
                <a:sym typeface="+mn-lt"/>
              </a:rPr>
              <a:t>PathBuf/Path</a:t>
            </a:r>
            <a:r>
              <a:rPr lang="zh-CN" altLang="en-US" sz="1800">
                <a:cs typeface="+mn-ea"/>
                <a:sym typeface="+mn-lt"/>
              </a:rPr>
              <a:t>概念、用法及转换；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2491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wjjsk3el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wjjsk3el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wjjsk3el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wjjsk3el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wjjsk3el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1579</Words>
  <Application>Microsoft Office PowerPoint</Application>
  <PresentationFormat>自定义</PresentationFormat>
  <Paragraphs>161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io与fs模块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io与fs模块</dc:title>
  <dc:creator>fanyan (A)</dc:creator>
  <cp:lastModifiedBy>Zhangyandong (ben)</cp:lastModifiedBy>
  <cp:revision>10</cp:revision>
  <dcterms:created xsi:type="dcterms:W3CDTF">2023-10-18T07:22:50Z</dcterms:created>
  <dcterms:modified xsi:type="dcterms:W3CDTF">2024-11-20T02:33:13Z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(3)0rkpFKy62o5T6nzIT73Q2izhYIkgmmOO6+X6rcLQkTKi+HXxtkG2ynF6/lSrTfT+kXqI53Db
qoj3JuMn3xaQhh7OmUoO2TvNt0M+vCgPM0O3w9fWmi5wR0W1OR40OodcKVbBaB97v29Vg8Fj
my/I779UP2Ryy4rQe2Bto4XGQEAaA2Aq7KdU1GH+mfTmhCxnzIEpHYgGhjGiWO1aYc1HKnam
M8KZdvPlggYo/1Q+P2</vt:lpwstr>
  </property>
  <property fmtid="{D5CDD505-2E9C-101B-9397-08002B2CF9AE}" pid="3" name="_2015_ms_pID_7253431">
    <vt:lpwstr>ieommzm/igJrZWqRzNm/+eYFeMSZ/jg2LkrBpAsEqng0VhchRj3tH+
l8PPsQGiR9JLIVmFJ3SNLx53iBWCzZIxor79OttOAS6nLTIEZTQp6mpPIZ1wjFGyKQ4+sF/t
2Ym0OubaHfK27ZotEUnfCS4X4pmFpaFurMqpaEYW+oYYk8DTd1yWZasaZHucNBDfDW701xDj
5uuC1ZTlVdqMQTp5HM4rBT8peH/mJWcjL920</vt:lpwstr>
  </property>
  <property fmtid="{D5CDD505-2E9C-101B-9397-08002B2CF9AE}" pid="4" name="_2015_ms_pID_7253432">
    <vt:lpwstr>PA==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1702379258</vt:lpwstr>
  </property>
</Properties>
</file>