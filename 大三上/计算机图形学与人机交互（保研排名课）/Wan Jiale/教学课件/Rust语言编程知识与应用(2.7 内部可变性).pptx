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  <p:sldMasterId id="2147483659" r:id="rId4"/>
  </p:sldMasterIdLst>
  <p:notesMasterIdLst>
    <p:notesMasterId r:id="rId18"/>
  </p:notesMasterIdLst>
  <p:handoutMasterIdLst>
    <p:handoutMasterId r:id="rId19"/>
  </p:handoutMasterIdLst>
  <p:sldIdLst>
    <p:sldId id="283" r:id="rId5"/>
    <p:sldId id="330" r:id="rId6"/>
    <p:sldId id="332" r:id="rId7"/>
    <p:sldId id="306" r:id="rId8"/>
    <p:sldId id="316" r:id="rId9"/>
    <p:sldId id="317" r:id="rId10"/>
    <p:sldId id="322" r:id="rId11"/>
    <p:sldId id="324" r:id="rId12"/>
    <p:sldId id="326" r:id="rId13"/>
    <p:sldId id="327" r:id="rId14"/>
    <p:sldId id="336" r:id="rId15"/>
    <p:sldId id="333" r:id="rId16"/>
    <p:sldId id="280" r:id="rId17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30"/>
          </p14:sldIdLst>
        </p14:section>
        <p14:section name="章节页" id="{FD05EE94-C931-8C4B-83A2-004B32AA1207}">
          <p14:sldIdLst>
            <p14:sldId id="332"/>
            <p14:sldId id="306"/>
            <p14:sldId id="316"/>
            <p14:sldId id="317"/>
            <p14:sldId id="322"/>
            <p14:sldId id="324"/>
            <p14:sldId id="326"/>
            <p14:sldId id="327"/>
            <p14:sldId id="336"/>
            <p14:sldId id="333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687890063" clrIdx="0"/>
  <p:cmAuthor id="2003" name="liyuan (BA)" initials="l(" lastIdx="6" clrIdx="1"/>
  <p:cmAuthor id="2004" name="gaoshang 00419539_MRJvMvEj" initials="authorId_AK20210901:AK20210901JXNSXO980865" lastIdx="1153155586" clrIdx="0"/>
  <p:cmAuthor id="2005" name="liyuan 00575100_AN3aEzey" initials="authorId_AK20210901:AK20210901JXNSXO4974597" lastIdx="1689175953" clrIdx="0"/>
  <p:cmAuthor id="2006" name="liziqiang 00556901_ERbuA7r6" initials="authorId_AK20210901:AK20210901JXNSXO4497046" lastIdx="1688487146" clrIdx="0"/>
  <p:cmAuthor id="2000" name="fanchangchun 00567414_2yeyVvEJ" initials="authorId_AK20210901:AK20210901JXNSXO4723448" lastIdx="1687778556" clrIdx="0"/>
  <p:cmAuthor id="2001" name="wuxiaojun 00342820_QRBvBJbY" initials="authorId_AK20210901:AK20210901JXNSXO124321" lastIdx="168788407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32" autoAdjust="0"/>
  </p:normalViewPr>
  <p:slideViewPr>
    <p:cSldViewPr snapToGrid="0" snapToObjects="1">
      <p:cViewPr varScale="1">
        <p:scale>
          <a:sx n="68" d="100"/>
          <a:sy n="68" d="100"/>
        </p:scale>
        <p:origin x="72" y="3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tif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内部可变性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  <a:ea typeface="+mn-ea"/>
                <a:cs typeface="+mn-ea"/>
                <a:sym typeface="+mn-lt"/>
              </a:rPr>
              <a:t>Security Level: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  <a:p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了解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内部可变性，掌握内部可变性容器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Cell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RefCell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的用法和内部机制，理解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程序设计中对数据竞争的处理。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715487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Rust</a:t>
            </a:r>
            <a:r>
              <a:rPr lang="zh-CN" altLang="en-US">
                <a:cs typeface="+mn-ea"/>
                <a:sym typeface="+mn-lt"/>
              </a:rPr>
              <a:t>内部可变性概念；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UnsafeCell/Cell/RefCell </a:t>
            </a:r>
            <a:r>
              <a:rPr lang="zh-CN" altLang="en-US">
                <a:cs typeface="+mn-ea"/>
                <a:sym typeface="+mn-lt"/>
              </a:rPr>
              <a:t>概念、用法及内部机制；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内部可变性简介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UnsafeCell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基本用法及内部机制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Cell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基本用法及内部机制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RefCell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基本用法及内部机制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7797" y="-11273"/>
            <a:ext cx="369652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Rust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内部可变性简介</a:t>
            </a:r>
            <a:endParaRPr kumimoji="1" lang="en-US" altLang="zh-CN" sz="3200" b="1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57798" y="643551"/>
            <a:ext cx="9646659" cy="2483681"/>
            <a:chOff x="-446424" y="742789"/>
            <a:chExt cx="9646659" cy="2483681"/>
          </a:xfrm>
        </p:grpSpPr>
        <p:sp>
          <p:nvSpPr>
            <p:cNvPr id="6" name="文本框 5"/>
            <p:cNvSpPr txBox="1"/>
            <p:nvPr/>
          </p:nvSpPr>
          <p:spPr>
            <a:xfrm>
              <a:off x="-446424" y="742789"/>
              <a:ext cx="7506647" cy="332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Rust </a:t>
              </a: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语法规则，只有声明为</a:t>
              </a: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mut</a:t>
              </a: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的数据结构或其引用才能够被修改：</a:t>
              </a:r>
              <a:endParaRPr kumimoji="1" lang="en-US" altLang="zh-CN" sz="160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47106" y="1222712"/>
              <a:ext cx="3216002" cy="129222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5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10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9923" y="1222712"/>
              <a:ext cx="4540312" cy="2003758"/>
            </a:xfrm>
            <a:prstGeom prst="rect">
              <a:avLst/>
            </a:prstGeom>
          </p:spPr>
        </p:pic>
        <p:sp>
          <p:nvSpPr>
            <p:cNvPr id="8" name="右箭头 7"/>
            <p:cNvSpPr/>
            <p:nvPr/>
          </p:nvSpPr>
          <p:spPr>
            <a:xfrm>
              <a:off x="3991708" y="1606601"/>
              <a:ext cx="439615" cy="524884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251328" y="3693129"/>
            <a:ext cx="3216002" cy="26765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z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z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assert_eq!(x.get(), 4);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4695930" y="4081955"/>
            <a:ext cx="439615" cy="524884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7798" y="3195601"/>
            <a:ext cx="10740640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内部可变性是 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中一种允许您在不可变值内部进行修改的模式。它可以通过使用特殊的类型，如 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Cell 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和 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RefCell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 来使用。</a:t>
            </a:r>
          </a:p>
        </p:txBody>
      </p:sp>
      <p:sp>
        <p:nvSpPr>
          <p:cNvPr id="21" name="矩形 20"/>
          <p:cNvSpPr/>
          <p:nvPr/>
        </p:nvSpPr>
        <p:spPr>
          <a:xfrm>
            <a:off x="5368960" y="4022455"/>
            <a:ext cx="4535497" cy="203009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在左边的例子中，我们创建了一个 </a:t>
            </a:r>
            <a:r>
              <a:rPr lang="en-US" altLang="zh-CN" sz="1400" dirty="0">
                <a:cs typeface="+mn-ea"/>
                <a:sym typeface="+mn-lt"/>
              </a:rPr>
              <a:t>Cell </a:t>
            </a:r>
            <a:r>
              <a:rPr lang="zh-CN" altLang="en-US" sz="1400" dirty="0">
                <a:cs typeface="+mn-ea"/>
                <a:sym typeface="+mn-lt"/>
              </a:rPr>
              <a:t>类型的值 </a:t>
            </a:r>
            <a:r>
              <a:rPr lang="en-US" altLang="zh-CN" sz="1400" dirty="0">
                <a:cs typeface="+mn-ea"/>
                <a:sym typeface="+mn-lt"/>
              </a:rPr>
              <a:t>x</a:t>
            </a:r>
            <a:r>
              <a:rPr lang="zh-CN" altLang="en-US" sz="1400" dirty="0">
                <a:cs typeface="+mn-ea"/>
                <a:sym typeface="+mn-lt"/>
              </a:rPr>
              <a:t>，并将其初始化为 </a:t>
            </a:r>
            <a:r>
              <a:rPr lang="en-US" altLang="zh-CN" sz="1400" dirty="0">
                <a:cs typeface="+mn-ea"/>
                <a:sym typeface="+mn-lt"/>
              </a:rPr>
              <a:t>1</a:t>
            </a:r>
            <a:r>
              <a:rPr lang="zh-CN" altLang="en-US" sz="1400" dirty="0">
                <a:cs typeface="+mn-ea"/>
                <a:sym typeface="+mn-lt"/>
              </a:rPr>
              <a:t>。然后，我们创建了两个指向 </a:t>
            </a:r>
            <a:r>
              <a:rPr lang="en-US" altLang="zh-CN" sz="1400" dirty="0">
                <a:cs typeface="+mn-ea"/>
                <a:sym typeface="+mn-lt"/>
              </a:rPr>
              <a:t>x </a:t>
            </a:r>
            <a:r>
              <a:rPr lang="zh-CN" altLang="en-US" sz="1400" dirty="0">
                <a:cs typeface="+mn-ea"/>
                <a:sym typeface="+mn-lt"/>
              </a:rPr>
              <a:t>的不可变引用 </a:t>
            </a:r>
            <a:r>
              <a:rPr lang="en-US" altLang="zh-CN" sz="1400" dirty="0">
                <a:cs typeface="+mn-ea"/>
                <a:sym typeface="+mn-lt"/>
              </a:rPr>
              <a:t>y </a:t>
            </a:r>
            <a:r>
              <a:rPr lang="zh-CN" altLang="en-US" sz="1400" dirty="0">
                <a:cs typeface="+mn-ea"/>
                <a:sym typeface="+mn-lt"/>
              </a:rPr>
              <a:t>和 </a:t>
            </a:r>
            <a:r>
              <a:rPr lang="en-US" altLang="zh-CN" sz="1400" dirty="0">
                <a:cs typeface="+mn-ea"/>
                <a:sym typeface="+mn-lt"/>
              </a:rPr>
              <a:t>z</a:t>
            </a:r>
            <a:r>
              <a:rPr lang="zh-CN" altLang="en-US" sz="1400" dirty="0"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尽管 </a:t>
            </a:r>
            <a:r>
              <a:rPr lang="en-US" altLang="zh-CN" sz="1400" dirty="0">
                <a:cs typeface="+mn-ea"/>
                <a:sym typeface="+mn-lt"/>
              </a:rPr>
              <a:t>y </a:t>
            </a:r>
            <a:r>
              <a:rPr lang="zh-CN" altLang="en-US" sz="1400" dirty="0">
                <a:cs typeface="+mn-ea"/>
                <a:sym typeface="+mn-lt"/>
              </a:rPr>
              <a:t>和 </a:t>
            </a:r>
            <a:r>
              <a:rPr lang="en-US" altLang="zh-CN" sz="1400" dirty="0">
                <a:cs typeface="+mn-ea"/>
                <a:sym typeface="+mn-lt"/>
              </a:rPr>
              <a:t>z </a:t>
            </a:r>
            <a:r>
              <a:rPr lang="zh-CN" altLang="en-US" sz="1400" dirty="0">
                <a:cs typeface="+mn-ea"/>
                <a:sym typeface="+mn-lt"/>
              </a:rPr>
              <a:t>都是不可变引用，但我们仍然可以使用 </a:t>
            </a:r>
            <a:r>
              <a:rPr lang="en-US" altLang="zh-CN" sz="1400" dirty="0">
                <a:cs typeface="+mn-ea"/>
                <a:sym typeface="+mn-lt"/>
              </a:rPr>
              <a:t>set </a:t>
            </a:r>
            <a:r>
              <a:rPr lang="zh-CN" altLang="en-US" sz="1400" dirty="0">
                <a:cs typeface="+mn-ea"/>
                <a:sym typeface="+mn-lt"/>
              </a:rPr>
              <a:t>方法来修改它们指向的值。这是因为 </a:t>
            </a:r>
            <a:r>
              <a:rPr lang="en-US" altLang="zh-CN" sz="1400" dirty="0">
                <a:cs typeface="+mn-ea"/>
                <a:sym typeface="+mn-lt"/>
              </a:rPr>
              <a:t>Cell </a:t>
            </a:r>
            <a:r>
              <a:rPr lang="zh-CN" altLang="en-US" sz="1400" dirty="0">
                <a:cs typeface="+mn-ea"/>
                <a:sym typeface="+mn-lt"/>
              </a:rPr>
              <a:t>类型提供了内部可变性，允许您在不可变值内部进行修改。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797" y="0"/>
            <a:ext cx="570027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UnsafeCell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5101" y="1856912"/>
            <a:ext cx="10001447" cy="2180338"/>
            <a:chOff x="575101" y="2258215"/>
            <a:chExt cx="10001447" cy="2180338"/>
          </a:xfrm>
        </p:grpSpPr>
        <p:sp>
          <p:nvSpPr>
            <p:cNvPr id="4" name="矩形 3"/>
            <p:cNvSpPr/>
            <p:nvPr/>
          </p:nvSpPr>
          <p:spPr>
            <a:xfrm>
              <a:off x="575101" y="2622671"/>
              <a:ext cx="6096000" cy="1815882"/>
            </a:xfrm>
            <a:prstGeom prst="rect">
              <a:avLst/>
            </a:prstGeom>
            <a:solidFill>
              <a:schemeClr val="tx1"/>
            </a:solidFill>
          </p:spPr>
          <p:txBody>
            <a:bodyPr>
              <a:spAutoFit/>
            </a:bodyPr>
            <a:lstStyle/>
            <a:p>
              <a:r>
                <a:rPr lang="en-US" altLang="zh-CN" sz="1400" dirty="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 dirty="0">
                  <a:solidFill>
                    <a:srgbClr val="00B050"/>
                  </a:solidFill>
                  <a:cs typeface="+mn-ea"/>
                  <a:sym typeface="+mn-lt"/>
                </a:rPr>
                <a:t>标准库定义</a:t>
              </a:r>
              <a:endParaRPr lang="en-US" altLang="zh-CN" sz="1400" b="1" dirty="0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i="1" dirty="0">
                  <a:solidFill>
                    <a:srgbClr val="7F848E"/>
                  </a:solidFill>
                  <a:cs typeface="+mn-ea"/>
                  <a:sym typeface="+mn-lt"/>
                </a:rPr>
                <a:t>对内部数据进行封装</a:t>
              </a:r>
              <a:endParaRPr lang="zh-CN" altLang="en-US" sz="1400" dirty="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i="1" dirty="0">
                  <a:solidFill>
                    <a:srgbClr val="7F848E"/>
                  </a:solidFill>
                  <a:cs typeface="+mn-ea"/>
                  <a:sym typeface="+mn-lt"/>
                </a:rPr>
                <a:t>？</a:t>
              </a:r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Sized</a:t>
              </a:r>
              <a:r>
                <a:rPr lang="zh-CN" altLang="en-US" sz="1400" i="1" dirty="0">
                  <a:solidFill>
                    <a:srgbClr val="7F848E"/>
                  </a:solidFill>
                  <a:cs typeface="+mn-ea"/>
                  <a:sym typeface="+mn-lt"/>
                </a:rPr>
                <a:t>表示</a:t>
              </a:r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T</a:t>
              </a:r>
              <a:r>
                <a:rPr lang="zh-CN" altLang="en-US" sz="1400" i="1" dirty="0">
                  <a:solidFill>
                    <a:srgbClr val="7F848E"/>
                  </a:solidFill>
                  <a:cs typeface="+mn-ea"/>
                  <a:sym typeface="+mn-lt"/>
                </a:rPr>
                <a:t>可以不满足</a:t>
              </a:r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Sized</a:t>
              </a:r>
              <a:r>
                <a:rPr lang="zh-CN" altLang="en-US" sz="1400" i="1" dirty="0">
                  <a:solidFill>
                    <a:srgbClr val="7F848E"/>
                  </a:solidFill>
                  <a:cs typeface="+mn-ea"/>
                  <a:sym typeface="+mn-lt"/>
                </a:rPr>
                <a:t>约束</a:t>
              </a:r>
              <a:endParaRPr lang="en-US" altLang="zh-CN" sz="1400" i="1" dirty="0">
                <a:solidFill>
                  <a:srgbClr val="7F848E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#[</a:t>
              </a:r>
              <a:r>
                <a:rPr lang="en-US" altLang="zh-CN" sz="1400" dirty="0" err="1">
                  <a:solidFill>
                    <a:srgbClr val="ABB2BF"/>
                  </a:solidFill>
                  <a:cs typeface="+mn-ea"/>
                  <a:sym typeface="+mn-lt"/>
                </a:rPr>
                <a:t>lang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= “unsafe-cell”]</a:t>
              </a:r>
              <a:endParaRPr lang="zh-CN" altLang="en-US" sz="1400" dirty="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#[</a:t>
              </a:r>
              <a:r>
                <a:rPr lang="en-US" altLang="zh-CN" sz="1400" dirty="0" err="1">
                  <a:solidFill>
                    <a:srgbClr val="ABB2BF"/>
                  </a:solidFill>
                  <a:cs typeface="+mn-ea"/>
                  <a:sym typeface="+mn-lt"/>
                </a:rPr>
                <a:t>repr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(transparent)]</a:t>
              </a:r>
            </a:p>
            <a:p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struct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rgbClr val="E5C07B"/>
                  </a:solidFill>
                  <a:cs typeface="+mn-ea"/>
                  <a:sym typeface="+mn-lt"/>
                </a:rPr>
                <a:t>UnsafeCell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&lt;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 ?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Sized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&gt; {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 dirty="0">
                  <a:solidFill>
                    <a:srgbClr val="E06C75"/>
                  </a:solidFill>
                  <a:cs typeface="+mn-ea"/>
                  <a:sym typeface="+mn-lt"/>
                </a:rPr>
                <a:t>value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 dirty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75102" y="2258215"/>
              <a:ext cx="8142216" cy="332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UnsafeCell</a:t>
              </a: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定义</a:t>
              </a:r>
              <a:endParaRPr kumimoji="1" lang="en-US" altLang="zh-CN" sz="160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981179" y="2848309"/>
              <a:ext cx="3595369" cy="9314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cs typeface="+mn-ea"/>
                  <a:sym typeface="+mn-lt"/>
                </a:rPr>
                <a:t>#[repr(transparent)]</a:t>
              </a:r>
              <a:r>
                <a:rPr lang="zh-CN" altLang="en-US" sz="1400">
                  <a:cs typeface="+mn-ea"/>
                  <a:sym typeface="+mn-lt"/>
                </a:rPr>
                <a:t>：</a:t>
              </a:r>
              <a:endParaRPr lang="en-US" altLang="zh-CN" sz="1400">
                <a:cs typeface="+mn-ea"/>
                <a:sym typeface="+mn-lt"/>
              </a:endParaRPr>
            </a:p>
            <a:p>
              <a:pPr algn="l">
                <a:lnSpc>
                  <a:spcPct val="150000"/>
                </a:lnSpc>
              </a:pPr>
              <a:r>
                <a:rPr kumimoji="1" lang="zh-CN" altLang="en-US" sz="1400">
                  <a:cs typeface="+mn-ea"/>
                  <a:sym typeface="+mn-lt"/>
                </a:rPr>
                <a:t>该条属性使得编译器忽略外层数据封装，即</a:t>
              </a:r>
              <a:r>
                <a:rPr kumimoji="1" lang="en-US" altLang="zh-CN" sz="1400">
                  <a:cs typeface="+mn-ea"/>
                  <a:sym typeface="+mn-lt"/>
                </a:rPr>
                <a:t>UnsafeCell&lt;T&gt;</a:t>
              </a:r>
              <a:r>
                <a:rPr kumimoji="1" lang="zh-CN" altLang="en-US" sz="1400">
                  <a:cs typeface="+mn-ea"/>
                  <a:sym typeface="+mn-lt"/>
                </a:rPr>
                <a:t>和</a:t>
              </a:r>
              <a:r>
                <a:rPr kumimoji="1" lang="en-US" altLang="zh-CN" sz="1400">
                  <a:cs typeface="+mn-ea"/>
                  <a:sym typeface="+mn-lt"/>
                </a:rPr>
                <a:t>&lt;T&gt;</a:t>
              </a:r>
              <a:r>
                <a:rPr kumimoji="1" lang="zh-CN" altLang="en-US" sz="1400">
                  <a:cs typeface="+mn-ea"/>
                  <a:sym typeface="+mn-lt"/>
                </a:rPr>
                <a:t>的内存布局相同。</a:t>
              </a:r>
              <a:endParaRPr kumimoji="1" lang="zh-CN" altLang="en-US" sz="1400" dirty="0">
                <a:cs typeface="+mn-ea"/>
                <a:sym typeface="+mn-lt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57797" y="531348"/>
            <a:ext cx="10740640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UnsafeCell&lt;T&gt; </a:t>
            </a:r>
            <a:r>
              <a:rPr lang="zh-CN" altLang="en-US" sz="1400">
                <a:cs typeface="+mn-ea"/>
                <a:sym typeface="+mn-lt"/>
              </a:rPr>
              <a:t>提供了一种在不可变值内部进行修改的方法。</a:t>
            </a:r>
            <a:r>
              <a:rPr lang="en-US" altLang="zh-CN" sz="1400">
                <a:cs typeface="+mn-ea"/>
                <a:sym typeface="+mn-lt"/>
              </a:rPr>
              <a:t>Cell</a:t>
            </a:r>
            <a:r>
              <a:rPr lang="zh-CN" altLang="en-US" sz="1400">
                <a:cs typeface="+mn-ea"/>
                <a:sym typeface="+mn-lt"/>
              </a:rPr>
              <a:t>和</a:t>
            </a:r>
            <a:r>
              <a:rPr lang="en-US" altLang="zh-CN" sz="1400">
                <a:cs typeface="+mn-ea"/>
                <a:sym typeface="+mn-lt"/>
              </a:rPr>
              <a:t>RefCell</a:t>
            </a:r>
            <a:r>
              <a:rPr lang="zh-CN" altLang="en-US" sz="1400">
                <a:cs typeface="+mn-ea"/>
                <a:sym typeface="+mn-lt"/>
              </a:rPr>
              <a:t>都是在</a:t>
            </a:r>
            <a:r>
              <a:rPr lang="en-US" altLang="zh-CN" sz="1400">
                <a:cs typeface="+mn-ea"/>
                <a:sym typeface="+mn-lt"/>
              </a:rPr>
              <a:t>UnsafeCell</a:t>
            </a:r>
            <a:r>
              <a:rPr lang="zh-CN" altLang="en-US" sz="1400">
                <a:cs typeface="+mn-ea"/>
                <a:sym typeface="+mn-lt"/>
              </a:rPr>
              <a:t>的基础上实现的。</a:t>
            </a:r>
          </a:p>
          <a:p>
            <a:pPr>
              <a:lnSpc>
                <a:spcPct val="150000"/>
              </a:lnSpc>
            </a:pPr>
            <a:endParaRPr lang="zh-CN" altLang="en-US" sz="14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不用</a:t>
            </a:r>
            <a:r>
              <a:rPr lang="en-US" altLang="zh-CN" sz="1400">
                <a:cs typeface="+mn-ea"/>
                <a:sym typeface="+mn-lt"/>
              </a:rPr>
              <a:t>UnsafeCell</a:t>
            </a:r>
            <a:r>
              <a:rPr lang="zh-CN" altLang="en-US" sz="1400">
                <a:cs typeface="+mn-ea"/>
                <a:sym typeface="+mn-lt"/>
              </a:rPr>
              <a:t>实现的内部可变性都是未定义行为。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797" y="-17994"/>
            <a:ext cx="457336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31" y="772101"/>
            <a:ext cx="4469450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Cell —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基于</a:t>
            </a:r>
            <a:r>
              <a:rPr kumimoji="1" lang="zh-CN" altLang="en-US" sz="1600">
                <a:solidFill>
                  <a:srgbClr val="FF0000"/>
                </a:solidFill>
                <a:cs typeface="+mn-ea"/>
                <a:sym typeface="+mn-lt"/>
              </a:rPr>
              <a:t>所有权转移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提供内部可变性接口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提供内部数据访问和修改接口；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Cell </a:t>
            </a:r>
            <a:r>
              <a:rPr lang="zh-CN" altLang="en-US" sz="1600">
                <a:cs typeface="+mn-ea"/>
                <a:sym typeface="+mn-lt"/>
              </a:rPr>
              <a:t>不会 </a:t>
            </a:r>
            <a:r>
              <a:rPr lang="en-US" altLang="zh-CN" sz="1600">
                <a:cs typeface="+mn-ea"/>
                <a:sym typeface="+mn-lt"/>
              </a:rPr>
              <a:t>panic</a:t>
            </a:r>
            <a:r>
              <a:rPr lang="zh-CN" altLang="en-US" sz="1600">
                <a:cs typeface="+mn-ea"/>
                <a:sym typeface="+mn-lt"/>
              </a:rPr>
              <a:t>；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998216" y="772101"/>
            <a:ext cx="4385256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标准库定义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#[repr(transparent)]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?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Sized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UnsafeCell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68155" y="2367084"/>
            <a:ext cx="10453613" cy="2457458"/>
            <a:chOff x="747788" y="3415030"/>
            <a:chExt cx="10453613" cy="2457458"/>
          </a:xfrm>
        </p:grpSpPr>
        <p:sp>
          <p:nvSpPr>
            <p:cNvPr id="8" name="文本框 7"/>
            <p:cNvSpPr txBox="1"/>
            <p:nvPr/>
          </p:nvSpPr>
          <p:spPr>
            <a:xfrm>
              <a:off x="747788" y="3458504"/>
              <a:ext cx="3888336" cy="332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342900" indent="-342900" algn="l">
                <a:lnSpc>
                  <a:spcPct val="150000"/>
                </a:lnSpc>
                <a:buAutoNum type="arabicPeriod"/>
              </a:pP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封装接口</a:t>
              </a: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new</a:t>
              </a: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与解包接口</a:t>
              </a: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into_inner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75324" y="3415030"/>
              <a:ext cx="4726077" cy="332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内部机制</a:t>
              </a:r>
              <a:r>
                <a:rPr kumimoji="1" lang="en-US" altLang="zh-CN" sz="1600">
                  <a:solidFill>
                    <a:srgbClr val="000000"/>
                  </a:solidFill>
                  <a:cs typeface="+mn-ea"/>
                  <a:sym typeface="+mn-lt"/>
                </a:rPr>
                <a:t>——</a:t>
              </a:r>
              <a:r>
                <a:rPr kumimoji="1" lang="zh-CN" altLang="en-US" sz="1600">
                  <a:solidFill>
                    <a:srgbClr val="000000"/>
                  </a:solidFill>
                  <a:cs typeface="+mn-ea"/>
                  <a:sym typeface="+mn-lt"/>
                </a:rPr>
                <a:t>仅为简单封装和解包，无任何特殊操作</a:t>
              </a:r>
              <a:endParaRPr kumimoji="1" lang="en-US" altLang="zh-CN" sz="160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47788" y="3801702"/>
              <a:ext cx="4756196" cy="160043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Cell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&lt;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&gt;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Cell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5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into_inner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a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475324" y="3801566"/>
              <a:ext cx="4726076" cy="95410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const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value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-&gt;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Cell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&lt;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&gt;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Cell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value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UnsafeCell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new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value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}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475324" y="4918381"/>
              <a:ext cx="4726077" cy="95410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const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into_inner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self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-&gt;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self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.value.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into_inner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5628116" y="4601921"/>
              <a:ext cx="689854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671949" y="5108398"/>
            <a:ext cx="3888336" cy="332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2.  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数据访问接口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1075" y="5465963"/>
            <a:ext cx="4563276" cy="6143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get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输入封装引用，返回内部数据拷贝。限制：需要内部数据实现</a:t>
            </a:r>
            <a:r>
              <a:rPr kumimoji="1" lang="en-US" altLang="zh-CN" sz="1400">
                <a:solidFill>
                  <a:srgbClr val="FF0000"/>
                </a:solidFill>
                <a:cs typeface="+mn-ea"/>
                <a:sym typeface="+mn-lt"/>
              </a:rPr>
              <a:t>Copy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 trait</a:t>
            </a:r>
          </a:p>
        </p:txBody>
      </p:sp>
      <p:sp>
        <p:nvSpPr>
          <p:cNvPr id="16" name="矩形 15"/>
          <p:cNvSpPr/>
          <p:nvPr/>
        </p:nvSpPr>
        <p:spPr>
          <a:xfrm>
            <a:off x="6395692" y="5465963"/>
            <a:ext cx="4324906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548483" y="5746190"/>
            <a:ext cx="68985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797" y="-297"/>
            <a:ext cx="457336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3814" y="893462"/>
            <a:ext cx="38883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3.  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内部可变性接口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12945" y="1256707"/>
            <a:ext cx="761453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） 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replace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使用新的数据替换封装引用中包含的原数据，返回原数据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83286" y="2853465"/>
            <a:ext cx="85553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） 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set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使用新的数据替换封装引用中包含的原数据，</a:t>
            </a:r>
            <a:r>
              <a:rPr kumimoji="1" lang="zh-CN" altLang="en-US" sz="1400">
                <a:solidFill>
                  <a:srgbClr val="FF0000"/>
                </a:solidFill>
                <a:cs typeface="+mn-ea"/>
                <a:sym typeface="+mn-lt"/>
              </a:rPr>
              <a:t>舍弃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原数据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83286" y="4071933"/>
            <a:ext cx="75441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） 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swap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交换两个</a:t>
            </a:r>
            <a:r>
              <a:rPr kumimoji="1" lang="zh-CN" altLang="en-US" sz="1400">
                <a:solidFill>
                  <a:srgbClr val="FF0000"/>
                </a:solidFill>
                <a:cs typeface="+mn-ea"/>
                <a:sym typeface="+mn-lt"/>
              </a:rPr>
              <a:t>相同类型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Cell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中的数据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1305" y="1670089"/>
            <a:ext cx="409761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replace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71305" y="3254950"/>
            <a:ext cx="4097610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71305" y="4552423"/>
            <a:ext cx="4097610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swap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797" y="2321"/>
            <a:ext cx="533800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RefCell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797" y="700287"/>
            <a:ext cx="5773726" cy="931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 —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基于</a:t>
            </a:r>
            <a:r>
              <a:rPr kumimoji="1" lang="zh-CN" altLang="en-US" sz="1400">
                <a:solidFill>
                  <a:srgbClr val="FF0000"/>
                </a:solidFill>
                <a:cs typeface="+mn-ea"/>
                <a:sym typeface="+mn-lt"/>
              </a:rPr>
              <a:t>引用计数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提供内部可变性接口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 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将借用检查从编译时推迟到运行时，并不能绕过检查；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使用 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 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时，违背借用规则会导致运行期的 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panic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5338" y="4115471"/>
            <a:ext cx="38883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封装接口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new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与解包接口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into_inner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911143" y="3404429"/>
            <a:ext cx="4912191" cy="6143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内部机制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——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封装时，借用计数器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被设置为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；解包时，由于需要获取封装所有权，因此借用计数器保证为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0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85338" y="4363546"/>
            <a:ext cx="4032849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1093" y="2091048"/>
            <a:ext cx="379557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UNUSED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21093" y="846376"/>
            <a:ext cx="3795570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标准库定义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?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Sized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UnsafeCell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11141" y="4100510"/>
            <a:ext cx="4912193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UnsafeCell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UNUSED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20" name="矩形 19"/>
          <p:cNvSpPr/>
          <p:nvPr/>
        </p:nvSpPr>
        <p:spPr>
          <a:xfrm>
            <a:off x="5911140" y="5565562"/>
            <a:ext cx="4912193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.value.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into_inner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976449" y="4781837"/>
            <a:ext cx="67755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3152" y="-2917"/>
            <a:ext cx="533800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RefCell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3152" y="819262"/>
            <a:ext cx="3888336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2.  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内部可变性接口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7241" y="1223085"/>
            <a:ext cx="10401196" cy="4280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） 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输入封装引用，返回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数据结构。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数据结构包含借用计数和指向内部数据的指针，会在生成时修改借用计数。用户可通过指针访问内部数据。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7241" y="5526541"/>
            <a:ext cx="24697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访问内部数据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7241" y="2677612"/>
            <a:ext cx="399346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数据结构定义：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508790" y="1769853"/>
            <a:ext cx="4136823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</p:txBody>
      </p:sp>
      <p:sp>
        <p:nvSpPr>
          <p:cNvPr id="7" name="矩形 6"/>
          <p:cNvSpPr/>
          <p:nvPr/>
        </p:nvSpPr>
        <p:spPr>
          <a:xfrm>
            <a:off x="601595" y="2910247"/>
            <a:ext cx="4136823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?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Sized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指向内部数据的指针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NonNull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0" name="矩形 9"/>
          <p:cNvSpPr/>
          <p:nvPr/>
        </p:nvSpPr>
        <p:spPr>
          <a:xfrm>
            <a:off x="597241" y="4415023"/>
            <a:ext cx="4136823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含有原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RefCell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数据结构中借用计数器的引用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1595" y="5776958"/>
            <a:ext cx="1774845" cy="307777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797" y="-297"/>
            <a:ext cx="533800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RefCell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5166" y="633215"/>
            <a:ext cx="38883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RefCell::try_borrow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方法详解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86600" y="782292"/>
            <a:ext cx="4343400" cy="54607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 调用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BorrowRef::new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方法访问原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数据结构中的引用计数器。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若引用计数器的值等于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，则说明原数据尚未被引用，此时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生成成功，引用计数器的值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+1</a:t>
            </a:r>
          </a:p>
          <a:p>
            <a:pPr algn="l">
              <a:lnSpc>
                <a:spcPct val="150000"/>
              </a:lnSpc>
            </a:pP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若引用计数器的值大于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，则说明原数据在其他地方被只读引用，此时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生成成功，引用计数器的值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+1</a:t>
            </a:r>
          </a:p>
          <a:p>
            <a:pPr algn="l">
              <a:lnSpc>
                <a:spcPct val="150000"/>
              </a:lnSpc>
            </a:pP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若引用计数器的值为小于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，则说明原数据正在被可写引用，此时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生成失败，引用计数器的值不变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：当引用计数数量溢出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isize::MAX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时同样会失败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2: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当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类型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drop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时，引用计数器会自动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-1)</a:t>
            </a:r>
          </a:p>
          <a:p>
            <a:pPr>
              <a:lnSpc>
                <a:spcPct val="150000"/>
              </a:lnSpc>
            </a:pP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若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生成成功，则使用该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与原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RefCell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中数据指针生成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数据结构并返回，否则返回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BorrowError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错误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65166" y="984589"/>
            <a:ext cx="6619211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try_borrow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&lt;'_,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BorrowError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.borrow)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NonNull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new_unchecked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.value.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())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Err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BorrowError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{}),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5166" y="3558280"/>
            <a:ext cx="6619211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&lt;'b&gt;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&lt;'b&gt;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#[inline]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&amp;'b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&lt;'b&gt;&gt;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wrapping_add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!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is_reading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else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BorrowRef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485" y="-20963"/>
            <a:ext cx="533800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RefCell 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基本用法及内部机制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797" y="685106"/>
            <a:ext cx="38883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3.   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内部可变性接口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0019" y="1157206"/>
            <a:ext cx="484053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） 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borrow_mut -&gt; 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输入封装引用，返回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RefMut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数据结构，</a:t>
            </a:r>
          </a:p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程序通过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RefMut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检查计数器并访问内部数据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36550" y="1677996"/>
            <a:ext cx="4840536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通过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RefMut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结构访问及修改内部数据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70019" y="2518993"/>
            <a:ext cx="38883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RefMut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数据结构定义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70019" y="1670864"/>
            <a:ext cx="4840535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borrow_mut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0018" y="2738954"/>
            <a:ext cx="4840535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&lt;'b,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?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Sized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'b&gt;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指向内部数据的指针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NonNull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&lt;'b&gt;,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包含对原数据的可写引用的标记，使编译器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从编译层面保证不会同时存在两个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BorrowRefMut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marker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&lt;&amp;'b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0015" y="4891027"/>
            <a:ext cx="4840534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含有原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RefCell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数据结构中借用计数器的引用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BorrowRefMut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BorrowFlag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36549" y="1923361"/>
            <a:ext cx="4840535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2"/>
          <p:cNvSpPr/>
          <p:nvPr/>
        </p:nvSpPr>
        <p:spPr>
          <a:xfrm>
            <a:off x="6549522" y="3271059"/>
            <a:ext cx="4840535" cy="7372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RefCell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borrow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borrow_mut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6" name="Picture 5" descr="upload_6736655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107" y="4250207"/>
            <a:ext cx="3882067" cy="1463241"/>
          </a:xfrm>
          <a:prstGeom prst="rect">
            <a:avLst/>
          </a:prstGeom>
        </p:spPr>
      </p:pic>
      <p:sp>
        <p:nvSpPr>
          <p:cNvPr id="7" name="文本框 15"/>
          <p:cNvSpPr txBox="1"/>
          <p:nvPr/>
        </p:nvSpPr>
        <p:spPr>
          <a:xfrm>
            <a:off x="6564010" y="2929800"/>
            <a:ext cx="4840536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调用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borrow_mut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失败会导致程序运行时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panic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中内部可变性的概念；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中</a:t>
            </a:r>
            <a:r>
              <a:rPr lang="en-US" altLang="zh-CN" sz="1800">
                <a:cs typeface="+mn-ea"/>
                <a:sym typeface="+mn-lt"/>
              </a:rPr>
              <a:t>UnsafeCell/Cell/RefCell</a:t>
            </a:r>
            <a:r>
              <a:rPr lang="zh-CN" altLang="en-US" sz="1800">
                <a:cs typeface="+mn-ea"/>
                <a:sym typeface="+mn-lt"/>
              </a:rPr>
              <a:t>的概念和用法；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45152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uszcf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uszcf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uszcf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uszcf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16747</TotalTime>
  <Words>2059</Words>
  <Application>Microsoft Office PowerPoint</Application>
  <PresentationFormat>自定义</PresentationFormat>
  <Paragraphs>211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.AppleSystemUIFont</vt:lpstr>
      <vt:lpstr>Microsoft YaHei</vt:lpstr>
      <vt:lpstr>Arial</vt:lpstr>
      <vt:lpstr>Calibri</vt:lpstr>
      <vt:lpstr>Huawei Sans</vt:lpstr>
      <vt:lpstr>Wingdings</vt:lpstr>
      <vt:lpstr>封面页_图片版 </vt:lpstr>
      <vt:lpstr>目录页</vt:lpstr>
      <vt:lpstr>章节页</vt:lpstr>
      <vt:lpstr>结束页</vt:lpstr>
      <vt:lpstr>内部可变性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内部可变性</dc:title>
  <dc:creator/>
  <cp:lastModifiedBy>Zhangyandong (ben)</cp:lastModifiedBy>
  <cp:revision>6</cp:revision>
  <dcterms:created xsi:type="dcterms:W3CDTF">2023-10-18T07:20:33Z</dcterms:created>
  <dcterms:modified xsi:type="dcterms:W3CDTF">2024-11-20T02:32:26Z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(3)Vv2FVCcMlYPm0OeoTMLnvhq0BP7iOBpZ35COaIdcijOh0eqA9XPBTEL2f1TvfDfX90dyztX0
OaiZgBppHoThv805+22eOtgFrHT3qPD0yCinBvDp81RovnCPxbkUfHinADbhd68dBUKNqldN
6VDkMRTt654kY9lL7FFt6kulxUGbehA/nQDHpPdPASgB76WEi6Z6xtlFih5Wy2mh26b1f7ro
b/jVL4sv3AGRI6WlyA</vt:lpwstr>
  </property>
  <property fmtid="{D5CDD505-2E9C-101B-9397-08002B2CF9AE}" pid="3" name="_2015_ms_pID_7253431">
    <vt:lpwstr>wQCJq3YB0g8JFto93LJlgAJNkaKGIozTqgkw7NtFyHs4+fxmzwKIYh
6Uwps23DIfkV12Uo7e6yVWsONudl0SXMsLlrkbUQmOHPLEHhuB8MrcyNkfeLJAfJ1GX1RsTv
v1ZEFrBPhkXa7RT4DWhrdFWohdX0s2ZIrlKYU6MAEjwFMYkfzW3iQbUboo47GWEAzAGmS/PV
kShjKt5brfiD/Vh2nCBBK19RzAsWCD9L2nVD</vt:lpwstr>
  </property>
  <property fmtid="{D5CDD505-2E9C-101B-9397-08002B2CF9AE}" pid="4" name="_2015_ms_pID_7253432">
    <vt:lpwstr>EDkjuDwy9VcTUk9wHJ+Hq9A=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