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659" r:id="rId3"/>
    <p:sldMasterId id="2147483660" r:id="rId4"/>
    <p:sldMasterId id="2147483662" r:id="rId5"/>
  </p:sldMasterIdLst>
  <p:notesMasterIdLst>
    <p:notesMasterId r:id="rId21"/>
  </p:notesMasterIdLst>
  <p:handoutMasterIdLst>
    <p:handoutMasterId r:id="rId22"/>
  </p:handoutMasterIdLst>
  <p:sldIdLst>
    <p:sldId id="283" r:id="rId6"/>
    <p:sldId id="288" r:id="rId7"/>
    <p:sldId id="428" r:id="rId8"/>
    <p:sldId id="459" r:id="rId9"/>
    <p:sldId id="460" r:id="rId10"/>
    <p:sldId id="472" r:id="rId11"/>
    <p:sldId id="492" r:id="rId12"/>
    <p:sldId id="471" r:id="rId13"/>
    <p:sldId id="477" r:id="rId14"/>
    <p:sldId id="474" r:id="rId15"/>
    <p:sldId id="487" r:id="rId16"/>
    <p:sldId id="470" r:id="rId17"/>
    <p:sldId id="467" r:id="rId18"/>
    <p:sldId id="475" r:id="rId19"/>
    <p:sldId id="280" r:id="rId20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288"/>
          </p14:sldIdLst>
        </p14:section>
        <p14:section name="章节页" id="{FD05EE94-C931-8C4B-83A2-004B32AA1207}">
          <p14:sldIdLst>
            <p14:sldId id="428"/>
            <p14:sldId id="459"/>
            <p14:sldId id="460"/>
            <p14:sldId id="472"/>
            <p14:sldId id="492"/>
            <p14:sldId id="471"/>
            <p14:sldId id="477"/>
            <p14:sldId id="474"/>
            <p14:sldId id="487"/>
            <p14:sldId id="470"/>
            <p14:sldId id="467"/>
            <p14:sldId id="475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pos="3701">
          <p15:clr>
            <a:srgbClr val="A4A3A4"/>
          </p15:clr>
        </p15:guide>
        <p15:guide id="2" orient="horz" pos="2159">
          <p15:clr>
            <a:srgbClr val="A4A3A4"/>
          </p15:clr>
        </p15:guide>
        <p15:guide id="3" pos="35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002" name="wuxiaojun 00342820_QRBvBJbY" initials="authorId_AK20210901:AK20210901JXNSXO124321" lastIdx="1151078250" clrIdx="0"/>
  <p:cmAuthor id="2003" name="liziqiang 00556901_ERbuA7r6" initials="authorId_AK20210901:AK20210901JXNSXO4497046" lastIdx="1688655091" clrIdx="0"/>
  <p:cmAuthor id="2004" name="gaoshang 00419539_MRJvMvEj" initials="authorId_AK20210901:AK20210901JXNSXO980865" lastIdx="616285882" clrIdx="0"/>
  <p:cmAuthor id="2000" name="fanchangchun 00567414_2yeyVvEJ" initials="authorId_AK20210901:AK20210901JXNSXO4723448" lastIdx="0" clrIdx="0"/>
  <p:cmAuthor id="2001" name="zhanghandong WX930509_Jj22FnMn" initials="authorId_AK20210901:AK20210901JXNSXO4676065" lastIdx="168789029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57B84"/>
    <a:srgbClr val="E6A8AD"/>
    <a:srgbClr val="E57984"/>
    <a:srgbClr val="FFFFFF"/>
    <a:srgbClr val="151515"/>
    <a:srgbClr val="C7000B"/>
    <a:srgbClr val="575756"/>
    <a:srgbClr val="DD4654"/>
    <a:srgbClr val="F3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81500" autoAdjust="0"/>
  </p:normalViewPr>
  <p:slideViewPr>
    <p:cSldViewPr snapToGrid="0" snapToObjects="1">
      <p:cViewPr varScale="1">
        <p:scale>
          <a:sx n="68" d="100"/>
          <a:sy n="68" d="100"/>
        </p:scale>
        <p:origin x="136" y="56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11/20/2024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7439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11/20/2024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507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298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012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468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闭包可省略的：参数类型、返回值类型及执行体的大括号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383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一个闭包实现了哪种 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Fn 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特征取决于该闭包如何使用被捕获的变量，而不是取决于闭包如何捕获它们，跟是否使用 </a:t>
            </a:r>
            <a:r>
              <a:rPr lang="en-US" altLang="zh-CN" dirty="0"/>
              <a:t>move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没有必然联系。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1463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复合类型（如结构体、元组和枚举）始终是</a:t>
            </a:r>
            <a:r>
              <a:rPr lang="zh-CN" altLang="en-US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全部捕获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的，而不是各个字段分开捕获的。如果真要捕获单个字段，那可能需要先借用该字段到本地局部变量中：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609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63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8093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2087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0334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8084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428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5517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94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54" y="-57144"/>
            <a:ext cx="12243078" cy="5625189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036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234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90/79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120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0/15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248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181/60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235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92/1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137/137/137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35/24/21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221</a:t>
                </a: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221/221</a:t>
                </a:r>
                <a:endParaRPr kumimoji="1" lang="en-US" altLang="zh-CN" sz="700" b="1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233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140/128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159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0/1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245</a:t>
                </a: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220/87</a:t>
                </a:r>
                <a:endParaRPr kumimoji="1" lang="en-US" altLang="zh-CN" sz="700" b="1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240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133/0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181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181/181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89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87/87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255</a:t>
                </a: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255/255</a:t>
                </a:r>
                <a:endParaRPr kumimoji="1" lang="en-US" altLang="zh-CN" sz="700" b="1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</a:b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>
              <a:solidFill>
                <a:srgbClr val="1D1D1B"/>
              </a:solidFill>
              <a:latin typeface="+mn-lt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8" y="5237637"/>
            <a:ext cx="1869596" cy="4088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948808" y="1066890"/>
            <a:ext cx="6559809" cy="690255"/>
          </a:xfrm>
        </p:spPr>
        <p:txBody>
          <a:bodyPr>
            <a:no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闭包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Text Placeholder 3"/>
          <p:cNvSpPr txBox="1"/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 dirty="0">
                <a:cs typeface="+mn-ea"/>
                <a:sym typeface="+mn-lt"/>
              </a:rPr>
              <a:t>Security Level:</a:t>
            </a:r>
            <a:endParaRPr lang="en-US" sz="1000" dirty="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01663" y="5858894"/>
            <a:ext cx="2794958" cy="888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关于本章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377391"/>
            <a:ext cx="10733557" cy="8781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章节目标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通过本章节的学习，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掌握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Rust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闭包的概念以及常用用法。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29175" y="1811383"/>
            <a:ext cx="9065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9175" y="3243628"/>
            <a:ext cx="20736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19122" y="3213170"/>
            <a:ext cx="4196421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闭包的概念和基本用法；</a:t>
            </a:r>
            <a:endParaRPr lang="en-US" altLang="zh-CN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move</a:t>
            </a:r>
            <a:r>
              <a:rPr lang="zh-CN" altLang="en-US">
                <a:cs typeface="+mn-ea"/>
                <a:sym typeface="+mn-lt"/>
              </a:rPr>
              <a:t>的用法；</a:t>
            </a:r>
            <a:endParaRPr lang="en-US" altLang="zh-CN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闭包的捕获规则；</a:t>
            </a:r>
            <a:endParaRPr lang="en-US" altLang="zh-CN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闭包的三种</a:t>
            </a:r>
            <a:r>
              <a:rPr lang="en-US" altLang="zh-CN">
                <a:cs typeface="+mn-ea"/>
                <a:sym typeface="+mn-lt"/>
              </a:rPr>
              <a:t>trait</a:t>
            </a:r>
            <a:r>
              <a:rPr lang="zh-CN" altLang="en-US">
                <a:cs typeface="+mn-ea"/>
                <a:sym typeface="+mn-lt"/>
              </a:rPr>
              <a:t>；</a:t>
            </a:r>
            <a:endParaRPr lang="en-US" altLang="zh-CN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闭包转换为函数指针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4926" y="2795455"/>
            <a:ext cx="2276585" cy="466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cs typeface="+mn-ea"/>
                <a:sym typeface="+mn-lt"/>
              </a:rPr>
              <a:t>本章预期掌握知识点</a:t>
            </a:r>
            <a:endParaRPr lang="en-US" altLang="zh-CN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22092" y="977133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624474" y="0"/>
            <a:ext cx="36000" cy="6840000"/>
          </a:xfrm>
          <a:prstGeom prst="rect">
            <a:avLst/>
          </a:prstGeom>
          <a:gradFill>
            <a:gsLst>
              <a:gs pos="4000">
                <a:schemeClr val="tx2">
                  <a:lumMod val="85000"/>
                </a:schemeClr>
              </a:gs>
              <a:gs pos="54000">
                <a:schemeClr val="tx2">
                  <a:lumMod val="85000"/>
                </a:schemeClr>
              </a:gs>
              <a:gs pos="100000">
                <a:schemeClr val="tx2">
                  <a:lumMod val="85000"/>
                  <a:alpha val="7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647054"/>
            <a:ext cx="10733557" cy="4690459"/>
          </a:xfrm>
        </p:spPr>
        <p:txBody>
          <a:bodyPr/>
          <a:lstStyle/>
          <a:p>
            <a:pPr marL="354965" indent="-342900">
              <a:lnSpc>
                <a:spcPct val="150000"/>
              </a:lnSpc>
              <a:buAutoNum type="arabicPlain"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概念和基本用法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2   move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关键字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AutoNum type="arabicPlain" startAt="3"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捕获规则</a:t>
            </a:r>
            <a:endParaRPr lang="en-US" altLang="zh-CN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AutoNum type="arabicPlain" startAt="3"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闭包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trait</a:t>
            </a:r>
          </a:p>
          <a:p>
            <a:pPr marL="354965" indent="-342900">
              <a:lnSpc>
                <a:spcPct val="150000"/>
              </a:lnSpc>
              <a:buAutoNum type="arabicPlain" startAt="3"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闭包转换为函数指针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29175" y="1031243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91591" y="36595"/>
            <a:ext cx="10740640" cy="615021"/>
          </a:xfrm>
        </p:spPr>
        <p:txBody>
          <a:bodyPr>
            <a:norm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闭包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概念与用法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58345" y="1343792"/>
            <a:ext cx="6738870" cy="50482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 {</a:t>
            </a:r>
            <a:endParaRPr lang="en-US" sz="1400" b="0" i="1" u="none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    // 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声明闭包时在 </a:t>
            </a:r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|| 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中输入变量和类型</a:t>
            </a:r>
            <a:endParaRPr lang="en-US" sz="1400" b="0" i="1" u="none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    // 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有显示指定返回类型的情况需要加上大括号</a:t>
            </a:r>
            <a:endParaRPr lang="en-US" sz="14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closure_annotated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= 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sz="1400" b="0" i="1" u="none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-&gt;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{ </a:t>
            </a:r>
            <a:r>
              <a:rPr lang="en-US" sz="1400" b="0" i="1" u="none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+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};</a:t>
            </a:r>
            <a:endParaRPr lang="en-US" sz="1400" b="0" i="1" u="none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    // 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闭包体内包含多个表达式或者语句需要加上大括号</a:t>
            </a:r>
            <a:endParaRPr lang="en-US" sz="14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closure_annotated1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= 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sz="1400" b="0" i="1" u="none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-&gt;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{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j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= </a:t>
            </a:r>
            <a:r>
              <a:rPr lang="en-US" sz="1400" b="0" i="1" u="none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+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j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+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closure_annotated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closure_annotated1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));</a:t>
            </a:r>
            <a:endParaRPr lang="en-US" sz="1400" b="0" i="1" u="none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    // 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参数和返回类型两者都可以自动推导</a:t>
            </a:r>
            <a:endParaRPr lang="en-US" sz="14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closure_inferred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= 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sz="1400" b="0" i="1" u="none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i="1" u="none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+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closure_inferred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one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= 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one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());</a:t>
            </a:r>
            <a:endParaRPr lang="en-US" sz="1400" b="0" i="1" u="none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    // 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错误：类型推导确定后，闭包的参数和返回值将会一直使用推导后的类型</a:t>
            </a:r>
            <a:endParaRPr lang="en-US" sz="14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closure_inferred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1_f32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));</a:t>
            </a:r>
            <a:endParaRPr lang="en-US" sz="1400" b="0" i="1" u="none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    // 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闭包捕获局部变量 </a:t>
            </a:r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number</a:t>
            </a:r>
            <a:endParaRPr lang="en-US" sz="14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number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=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my_closure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= 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sz="1400" b="0" i="1" u="none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number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+ </a:t>
            </a:r>
            <a:r>
              <a:rPr lang="en-US" sz="1400" b="0" i="1" u="none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my_closure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u="none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91591" y="47665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88667" y="567379"/>
            <a:ext cx="7107169" cy="4578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sz="1600" b="0" u="none">
                <a:solidFill>
                  <a:srgbClr val="1D1D1A"/>
                </a:solidFill>
                <a:cs typeface="+mn-ea"/>
                <a:sym typeface="+mn-lt"/>
              </a:rPr>
              <a:t>闭包是一种匿名函数，它可以赋值给变量也可以作为参数传递给其它函数，不同于函数，闭包允许捕获外部环境的变量。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5" name="下箭头 4"/>
          <p:cNvSpPr/>
          <p:nvPr/>
        </p:nvSpPr>
        <p:spPr>
          <a:xfrm rot="16200000">
            <a:off x="6930386" y="3650174"/>
            <a:ext cx="879230" cy="275620"/>
          </a:xfrm>
          <a:prstGeom prst="down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990605" y="1159643"/>
            <a:ext cx="2916527" cy="11646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闭包合法定义方式</a:t>
            </a:r>
            <a:endParaRPr lang="en-US" altLang="zh-CN" sz="1400">
              <a:solidFill>
                <a:srgbClr val="56B6C2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42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-&gt;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};</a:t>
            </a:r>
          </a:p>
        </p:txBody>
      </p:sp>
      <p:pic>
        <p:nvPicPr>
          <p:cNvPr id="3" name="Picture 2" descr="upload_2207415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847" y="2961320"/>
            <a:ext cx="3971653" cy="16523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91591" y="600481"/>
            <a:ext cx="10740640" cy="4250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使用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move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强制闭包取得捕获变量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的所有权；</a:t>
            </a:r>
          </a:p>
        </p:txBody>
      </p:sp>
      <p:sp>
        <p:nvSpPr>
          <p:cNvPr id="11" name="副标题 1"/>
          <p:cNvSpPr>
            <a:spLocks noGrp="1"/>
          </p:cNvSpPr>
          <p:nvPr>
            <p:ph type="subTitle" idx="1"/>
          </p:nvPr>
        </p:nvSpPr>
        <p:spPr>
          <a:xfrm>
            <a:off x="291591" y="36595"/>
            <a:ext cx="10740640" cy="615021"/>
          </a:xfrm>
        </p:spPr>
        <p:txBody>
          <a:bodyPr>
            <a:norm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闭包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-move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关键字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91591" y="47665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79104" y="1466800"/>
            <a:ext cx="6228715" cy="18161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chemeClr val="accent2"/>
                </a:solidFill>
                <a:cs typeface="+mn-ea"/>
                <a:sym typeface="+mn-lt"/>
              </a:rPr>
              <a:t>错误示例</a:t>
            </a:r>
            <a:endParaRPr lang="en-US" altLang="zh-CN" sz="1400" b="1" dirty="0">
              <a:solidFill>
                <a:schemeClr val="accent2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haystack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vec!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使用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move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创建一个闭包，使用闭包时会获取变量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haystack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的所有权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contains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needle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haystack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contains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needle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"{}"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contains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"There're {} elements in vec"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haystack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len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6" name="下箭头 5"/>
          <p:cNvSpPr/>
          <p:nvPr/>
        </p:nvSpPr>
        <p:spPr>
          <a:xfrm>
            <a:off x="3105464" y="3366085"/>
            <a:ext cx="975995" cy="301625"/>
          </a:xfrm>
          <a:prstGeom prst="down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Picture 2" descr="upload_1014076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71" y="3752665"/>
            <a:ext cx="5892779" cy="1642413"/>
          </a:xfrm>
          <a:prstGeom prst="rect">
            <a:avLst/>
          </a:prstGeom>
        </p:spPr>
      </p:pic>
      <p:sp>
        <p:nvSpPr>
          <p:cNvPr id="5" name="文本框 6"/>
          <p:cNvSpPr txBox="1"/>
          <p:nvPr/>
        </p:nvSpPr>
        <p:spPr>
          <a:xfrm>
            <a:off x="6947905" y="1493103"/>
            <a:ext cx="4270274" cy="178176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h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实现了 </a:t>
            </a:r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Copy trait</a:t>
            </a:r>
            <a:endParaRPr lang="en-US" sz="14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add_one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needle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needle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+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add_one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h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u="none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08575" y="1781769"/>
            <a:ext cx="3892021" cy="14333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2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编译器通过不可变借用捕获变量</a:t>
            </a:r>
            <a:endParaRPr lang="en-US" altLang="zh-CN" sz="12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7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print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>
                <a:solidFill>
                  <a:srgbClr val="98C379"/>
                </a:solidFill>
                <a:cs typeface="+mn-ea"/>
                <a:sym typeface="+mn-lt"/>
              </a:rPr>
              <a:t>"{}"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print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7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zh-CN" sz="1200" b="0" i="1" u="none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 u="none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1" name="副标题 1"/>
          <p:cNvSpPr>
            <a:spLocks noGrp="1"/>
          </p:cNvSpPr>
          <p:nvPr>
            <p:ph type="subTitle" idx="1"/>
          </p:nvPr>
        </p:nvSpPr>
        <p:spPr>
          <a:xfrm>
            <a:off x="291591" y="36595"/>
            <a:ext cx="10740640" cy="615021"/>
          </a:xfrm>
        </p:spPr>
        <p:txBody>
          <a:bodyPr>
            <a:norm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闭包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捕获规则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91591" y="47665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88667" y="487747"/>
            <a:ext cx="10740386" cy="119448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u="none" dirty="0">
                <a:solidFill>
                  <a:srgbClr val="000000"/>
                </a:solidFill>
                <a:cs typeface="+mn-ea"/>
                <a:sym typeface="+mn-lt"/>
              </a:rPr>
              <a:t>如果不使用 </a:t>
            </a:r>
            <a:r>
              <a:rPr lang="en-US" altLang="zh-CN" sz="1600" b="0" u="none" dirty="0">
                <a:solidFill>
                  <a:srgbClr val="000000"/>
                </a:solidFill>
                <a:cs typeface="+mn-ea"/>
                <a:sym typeface="+mn-lt"/>
              </a:rPr>
              <a:t>move </a:t>
            </a:r>
            <a:r>
              <a:rPr lang="zh-CN" altLang="en-US" sz="1600" b="0" u="none" dirty="0">
                <a:solidFill>
                  <a:srgbClr val="000000"/>
                </a:solidFill>
                <a:cs typeface="+mn-ea"/>
                <a:sym typeface="+mn-lt"/>
              </a:rPr>
              <a:t>关键字，</a:t>
            </a:r>
            <a:r>
              <a:rPr lang="zh-CN" sz="1600" b="0" u="none" dirty="0">
                <a:solidFill>
                  <a:srgbClr val="000000"/>
                </a:solidFill>
                <a:cs typeface="+mn-ea"/>
                <a:sym typeface="+mn-lt"/>
              </a:rPr>
              <a:t>编译器倾向于优先通过不可变借用来捕获</a:t>
            </a:r>
            <a:r>
              <a:rPr lang="zh-CN" altLang="en-US" sz="1600" b="0" u="none" dirty="0">
                <a:solidFill>
                  <a:srgbClr val="000000"/>
                </a:solidFill>
                <a:cs typeface="+mn-ea"/>
                <a:sym typeface="+mn-lt"/>
              </a:rPr>
              <a:t>外部变量</a:t>
            </a:r>
            <a:r>
              <a:rPr lang="zh-CN" sz="1600" b="0" u="none" dirty="0">
                <a:solidFill>
                  <a:srgbClr val="000000"/>
                </a:solidFill>
                <a:cs typeface="+mn-ea"/>
                <a:sym typeface="+mn-lt"/>
              </a:rPr>
              <a:t>，其次是通过唯一不可变借用，再其次可变借用，最后使用 </a:t>
            </a:r>
            <a:r>
              <a:rPr lang="en-US" sz="1600" b="0" u="none" dirty="0">
                <a:solidFill>
                  <a:srgbClr val="000000"/>
                </a:solidFill>
                <a:cs typeface="+mn-ea"/>
                <a:sym typeface="+mn-lt"/>
              </a:rPr>
              <a:t>move </a:t>
            </a:r>
            <a:r>
              <a:rPr lang="zh-CN" sz="1600" b="0" u="none" dirty="0">
                <a:solidFill>
                  <a:srgbClr val="000000"/>
                </a:solidFill>
                <a:cs typeface="+mn-ea"/>
                <a:sym typeface="+mn-lt"/>
              </a:rPr>
              <a:t>来捕获；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如果使用了关键字 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move 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，那么所有捕获都是通过移动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(move)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语义进行的（对于 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Copy 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类型，则是通过拷贝语义进行的），而不管借用是否可用；</a:t>
            </a:r>
            <a:endParaRPr lang="en-US" altLang="en-US" sz="1600" b="0" u="none" dirty="0">
              <a:solidFill>
                <a:srgbClr val="1D1D1A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3644" y="3787504"/>
            <a:ext cx="3872113" cy="230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2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编译器通过</a:t>
            </a:r>
            <a:r>
              <a:rPr lang="zh-CN" sz="1200" b="1" u="none">
                <a:solidFill>
                  <a:srgbClr val="00B050"/>
                </a:solidFill>
                <a:cs typeface="+mn-ea"/>
                <a:sym typeface="+mn-lt"/>
              </a:rPr>
              <a:t>唯一不可变借用修改可变引用的引用对象</a:t>
            </a:r>
            <a:endParaRPr lang="en-US" altLang="zh-CN" sz="12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7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&amp;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{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   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c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        *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56B6C2"/>
                </a:solidFill>
                <a:cs typeface="+mn-ea"/>
                <a:sym typeface="+mn-lt"/>
              </a:rPr>
              <a:t>+=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    };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    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c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}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8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 u="none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69354" y="3802435"/>
            <a:ext cx="3513768" cy="174195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2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可变借用</a:t>
            </a:r>
            <a:endParaRPr lang="en-US" altLang="zh-CN" sz="12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x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7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add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200" b="0" u="none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x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ABB2BF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+=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add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8</a:t>
            </a:r>
            <a:r>
              <a:rPr lang="en-US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en-US" sz="12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 u="none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46444" y="1786746"/>
            <a:ext cx="2866757" cy="253827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2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通过</a:t>
            </a:r>
            <a:r>
              <a:rPr lang="en-US" altLang="zh-CN" sz="1200" b="1">
                <a:solidFill>
                  <a:srgbClr val="00B050"/>
                </a:solidFill>
                <a:cs typeface="+mn-ea"/>
                <a:sym typeface="+mn-lt"/>
              </a:rPr>
              <a:t>move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捕获</a:t>
            </a:r>
            <a:endParaRPr lang="en-US" altLang="zh-CN" sz="12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vec!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len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len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length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len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length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endParaRPr lang="en-US" sz="12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7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print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print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7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>
                <a:solidFill>
                  <a:srgbClr val="D19A66"/>
                </a:solidFill>
                <a:cs typeface="+mn-ea"/>
                <a:sym typeface="+mn-lt"/>
              </a:rPr>
              <a:t>8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 u="none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59400" y="1781769"/>
            <a:ext cx="3513768" cy="186140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2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没有使用</a:t>
            </a:r>
            <a:r>
              <a:rPr lang="en-US" altLang="zh-CN" sz="1200" b="1">
                <a:solidFill>
                  <a:srgbClr val="00B050"/>
                </a:solidFill>
                <a:cs typeface="+mn-ea"/>
                <a:sym typeface="+mn-lt"/>
              </a:rPr>
              <a:t>move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但是实际执行时会使用</a:t>
            </a:r>
            <a:r>
              <a:rPr lang="en-US" altLang="zh-CN" sz="1200" b="1">
                <a:solidFill>
                  <a:srgbClr val="00B050"/>
                </a:solidFill>
                <a:cs typeface="+mn-ea"/>
                <a:sym typeface="+mn-lt"/>
              </a:rPr>
              <a:t>move</a:t>
            </a:r>
          </a:p>
          <a:p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zh-CN" sz="1200" b="0" i="1" u="none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zh-CN" sz="1200" b="0" i="1" u="none">
                <a:solidFill>
                  <a:srgbClr val="7F848E"/>
                </a:solidFill>
                <a:cs typeface="+mn-ea"/>
                <a:sym typeface="+mn-lt"/>
              </a:rPr>
              <a:t>    // 实际发生了 move</a:t>
            </a:r>
            <a:endParaRPr lang="en-US" sz="12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into_bytes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into_bytes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();  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into_bytes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();</a:t>
            </a:r>
            <a:endParaRPr lang="zh-CN" sz="1200" b="0" i="1" u="none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zh-CN" sz="1200" b="0" i="1" u="none">
                <a:solidFill>
                  <a:srgbClr val="7F848E"/>
                </a:solidFill>
                <a:cs typeface="+mn-ea"/>
                <a:sym typeface="+mn-lt"/>
              </a:rPr>
              <a:t>    // 错误：s 已经被 move </a:t>
            </a:r>
            <a:endParaRPr lang="en-US" sz="12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>
                <a:solidFill>
                  <a:srgbClr val="98C379"/>
                </a:solidFill>
                <a:cs typeface="+mn-ea"/>
                <a:sym typeface="+mn-lt"/>
              </a:rPr>
              <a:t>"{:#?}"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 b="0" u="none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); </a:t>
            </a:r>
          </a:p>
          <a:p>
            <a:r>
              <a:rPr lang="en-US" sz="12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 u="none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6131675" y="2962609"/>
            <a:ext cx="5037175" cy="27174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结构体类型捕获代码示例</a:t>
            </a:r>
            <a:r>
              <a:rPr lang="en-US" altLang="zh-CN" sz="1400" b="1" dirty="0">
                <a:solidFill>
                  <a:srgbClr val="00B050"/>
                </a:solidFill>
                <a:cs typeface="+mn-ea"/>
                <a:sym typeface="+mn-lt"/>
              </a:rPr>
              <a:t>2</a:t>
            </a:r>
            <a:endParaRPr lang="en-US" altLang="zh-CN" sz="1400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400" b="0" u="none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 err="1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   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   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}</a:t>
            </a:r>
          </a:p>
          <a:p>
            <a:endParaRPr lang="en-US" sz="14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foo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dirty="0">
                <a:solidFill>
                  <a:srgbClr val="D19A66"/>
                </a:solidFill>
                <a:cs typeface="+mn-ea"/>
                <a:sym typeface="+mn-lt"/>
              </a:rPr>
              <a:t>String::new()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};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_a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&amp;</a:t>
            </a:r>
            <a:r>
              <a:rPr lang="en-US" sz="1400" b="0" u="none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 err="1">
                <a:solidFill>
                  <a:srgbClr val="E06C75"/>
                </a:solidFill>
                <a:cs typeface="+mn-ea"/>
                <a:sym typeface="+mn-lt"/>
              </a:rPr>
              <a:t>foo</a:t>
            </a:r>
            <a:r>
              <a:rPr lang="en-US" sz="1400" b="0" u="none" dirty="0" err="1">
                <a:solidFill>
                  <a:srgbClr val="ABB2BF"/>
                </a:solidFill>
                <a:cs typeface="+mn-ea"/>
                <a:sym typeface="+mn-lt"/>
              </a:rPr>
              <a:t>.a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c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 err="1">
                <a:solidFill>
                  <a:srgbClr val="E06C75"/>
                </a:solidFill>
                <a:cs typeface="+mn-ea"/>
                <a:sym typeface="+mn-lt"/>
              </a:rPr>
              <a:t>foo</a:t>
            </a:r>
            <a:r>
              <a:rPr lang="en-US" sz="1400" b="0" u="none" dirty="0" err="1">
                <a:solidFill>
                  <a:srgbClr val="ABB2BF"/>
                </a:solidFill>
                <a:cs typeface="+mn-ea"/>
                <a:sym typeface="+mn-lt"/>
              </a:rPr>
              <a:t>.b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61AFEF"/>
                </a:solidFill>
                <a:cs typeface="+mn-ea"/>
                <a:sym typeface="+mn-lt"/>
              </a:rPr>
              <a:t>c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u="none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1" name="副标题 1"/>
          <p:cNvSpPr>
            <a:spLocks noGrp="1"/>
          </p:cNvSpPr>
          <p:nvPr>
            <p:ph type="subTitle" idx="1"/>
          </p:nvPr>
        </p:nvSpPr>
        <p:spPr>
          <a:xfrm>
            <a:off x="291591" y="36595"/>
            <a:ext cx="10740640" cy="615021"/>
          </a:xfrm>
        </p:spPr>
        <p:txBody>
          <a:bodyPr>
            <a:norm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闭包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捕获规则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91591" y="47665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91591" y="607826"/>
            <a:ext cx="1087725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1D1D1A"/>
                </a:solidFill>
                <a:cs typeface="+mn-ea"/>
                <a:sym typeface="+mn-lt"/>
              </a:rPr>
              <a:t>数组、结构体、元组、枚举遵循语言定义的所有权转移规则</a:t>
            </a:r>
            <a:endParaRPr lang="en-US" altLang="zh-CN" sz="1600" b="0" u="none" dirty="0">
              <a:solidFill>
                <a:srgbClr val="1D1D1A"/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zh-CN" altLang="en-US" sz="1600" dirty="0">
                <a:solidFill>
                  <a:srgbClr val="1D1D1A"/>
                </a:solidFill>
                <a:cs typeface="+mn-ea"/>
                <a:sym typeface="+mn-lt"/>
              </a:rPr>
              <a:t>闭包引用数组元素，如果数组元素不支持</a:t>
            </a:r>
            <a:r>
              <a:rPr lang="en-US" altLang="zh-CN" sz="1600" dirty="0">
                <a:solidFill>
                  <a:srgbClr val="1D1D1A"/>
                </a:solidFill>
                <a:cs typeface="+mn-ea"/>
                <a:sym typeface="+mn-lt"/>
              </a:rPr>
              <a:t>Copy Trait</a:t>
            </a:r>
            <a:r>
              <a:rPr lang="zh-CN" altLang="en-US" sz="1600" dirty="0">
                <a:solidFill>
                  <a:srgbClr val="1D1D1A"/>
                </a:solidFill>
                <a:cs typeface="+mn-ea"/>
                <a:sym typeface="+mn-lt"/>
              </a:rPr>
              <a:t>，使用了</a:t>
            </a:r>
            <a:r>
              <a:rPr lang="en-US" altLang="zh-CN" sz="1600" dirty="0">
                <a:solidFill>
                  <a:srgbClr val="1D1D1A"/>
                </a:solidFill>
                <a:cs typeface="+mn-ea"/>
                <a:sym typeface="+mn-lt"/>
              </a:rPr>
              <a:t>move</a:t>
            </a:r>
            <a:r>
              <a:rPr lang="zh-CN" altLang="en-US" sz="1600" dirty="0">
                <a:solidFill>
                  <a:srgbClr val="1D1D1A"/>
                </a:solidFill>
                <a:cs typeface="+mn-ea"/>
                <a:sym typeface="+mn-lt"/>
              </a:rPr>
              <a:t>，捕获的是整个数组的所有权</a:t>
            </a:r>
            <a:r>
              <a:rPr lang="zh-CN" sz="1600" b="0" u="none" dirty="0">
                <a:solidFill>
                  <a:srgbClr val="1D1D1A"/>
                </a:solidFill>
                <a:cs typeface="+mn-ea"/>
                <a:sym typeface="+mn-lt"/>
              </a:rPr>
              <a:t>；</a:t>
            </a:r>
            <a:endParaRPr lang="en-US" sz="1600" b="0" u="none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u="none" dirty="0">
                <a:solidFill>
                  <a:srgbClr val="1D1D1A"/>
                </a:solidFill>
                <a:cs typeface="+mn-ea"/>
                <a:sym typeface="+mn-lt"/>
              </a:rPr>
              <a:t>闭包引用结构体、元组、枚举字段，如果字段不支持</a:t>
            </a:r>
            <a:r>
              <a:rPr lang="en-US" altLang="zh-CN" sz="1600" b="0" u="none" dirty="0">
                <a:solidFill>
                  <a:srgbClr val="1D1D1A"/>
                </a:solidFill>
                <a:cs typeface="+mn-ea"/>
                <a:sym typeface="+mn-lt"/>
              </a:rPr>
              <a:t>Copy Trait</a:t>
            </a:r>
            <a:r>
              <a:rPr lang="zh-CN" altLang="en-US" sz="1600" b="0" u="none" dirty="0">
                <a:solidFill>
                  <a:srgbClr val="1D1D1A"/>
                </a:solidFill>
                <a:cs typeface="+mn-ea"/>
                <a:sym typeface="+mn-lt"/>
              </a:rPr>
              <a:t>，使用了</a:t>
            </a:r>
            <a:r>
              <a:rPr lang="en-US" altLang="zh-CN" sz="1600" b="0" u="none" dirty="0">
                <a:solidFill>
                  <a:srgbClr val="1D1D1A"/>
                </a:solidFill>
                <a:cs typeface="+mn-ea"/>
                <a:sym typeface="+mn-lt"/>
              </a:rPr>
              <a:t>move</a:t>
            </a:r>
            <a:r>
              <a:rPr lang="zh-CN" altLang="en-US" sz="1600" b="0" u="none" dirty="0">
                <a:solidFill>
                  <a:srgbClr val="1D1D1A"/>
                </a:solidFill>
                <a:cs typeface="+mn-ea"/>
                <a:sym typeface="+mn-lt"/>
              </a:rPr>
              <a:t>，则分两种情况：</a:t>
            </a:r>
            <a:endParaRPr lang="en-US" altLang="zh-CN" sz="1600" b="0" u="none" dirty="0">
              <a:solidFill>
                <a:srgbClr val="1D1D1A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solidFill>
                  <a:srgbClr val="1D1D1A"/>
                </a:solidFill>
                <a:cs typeface="+mn-ea"/>
                <a:sym typeface="+mn-lt"/>
              </a:rPr>
              <a:t>如果结构体，元组，枚举未实现</a:t>
            </a:r>
            <a:r>
              <a:rPr lang="en-US" altLang="zh-CN" sz="1600" dirty="0">
                <a:solidFill>
                  <a:srgbClr val="1D1D1A"/>
                </a:solidFill>
                <a:cs typeface="+mn-ea"/>
                <a:sym typeface="+mn-lt"/>
              </a:rPr>
              <a:t>Drop Trait</a:t>
            </a:r>
            <a:r>
              <a:rPr lang="zh-CN" altLang="en-US" sz="1600" dirty="0">
                <a:solidFill>
                  <a:srgbClr val="1D1D1A"/>
                </a:solidFill>
                <a:cs typeface="+mn-ea"/>
                <a:sym typeface="+mn-lt"/>
              </a:rPr>
              <a:t>，则捕获的是单个字段的所有权</a:t>
            </a:r>
            <a:endParaRPr lang="en-US" altLang="zh-CN" sz="1600" dirty="0">
              <a:solidFill>
                <a:srgbClr val="1D1D1A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0" u="none" dirty="0">
                <a:solidFill>
                  <a:srgbClr val="1D1D1A"/>
                </a:solidFill>
                <a:cs typeface="+mn-ea"/>
                <a:sym typeface="+mn-lt"/>
              </a:rPr>
              <a:t>如果结构体，元组，枚举实现了</a:t>
            </a:r>
            <a:r>
              <a:rPr lang="en-US" altLang="zh-CN" sz="1600" b="0" u="none" dirty="0">
                <a:solidFill>
                  <a:srgbClr val="1D1D1A"/>
                </a:solidFill>
                <a:cs typeface="+mn-ea"/>
                <a:sym typeface="+mn-lt"/>
              </a:rPr>
              <a:t>Drop Trait</a:t>
            </a:r>
            <a:r>
              <a:rPr lang="zh-CN" altLang="en-US" sz="1600" b="0" u="none" dirty="0">
                <a:solidFill>
                  <a:srgbClr val="1D1D1A"/>
                </a:solidFill>
                <a:cs typeface="+mn-ea"/>
                <a:sym typeface="+mn-lt"/>
              </a:rPr>
              <a:t>，则捕获的是整个结构体，元组，枚举的所有权。</a:t>
            </a:r>
            <a:endParaRPr lang="en-US" altLang="en-US" sz="1600" b="0" u="none" dirty="0">
              <a:solidFill>
                <a:srgbClr val="1D1D1A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0165" y="2590403"/>
            <a:ext cx="5220935" cy="20300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FF0000"/>
                </a:solidFill>
                <a:cs typeface="+mn-ea"/>
                <a:sym typeface="+mn-lt"/>
              </a:rPr>
              <a:t>捕获数组代码示例</a:t>
            </a:r>
            <a:r>
              <a:rPr lang="en-US" altLang="zh-CN" sz="1400" b="1" dirty="0">
                <a:solidFill>
                  <a:srgbClr val="FF0000"/>
                </a:solidFill>
                <a:cs typeface="+mn-ea"/>
                <a:sym typeface="+mn-lt"/>
              </a:rPr>
              <a:t>1</a:t>
            </a:r>
            <a:endParaRPr lang="en-US" altLang="zh-CN" sz="1400" dirty="0">
              <a:solidFill>
                <a:srgbClr val="FF0000"/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[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"aa"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"bb"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()];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println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"{:?}"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]);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  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错误：因为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v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失去所有权不可使用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println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"{:#?}"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0166" y="5020004"/>
            <a:ext cx="5220935" cy="1168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修改示例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...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其他操作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...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"{:?}"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]);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...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其他操作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...</a:t>
            </a:r>
            <a:endParaRPr lang="zh-CN" altLang="en-US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3" name="下箭头 2"/>
          <p:cNvSpPr/>
          <p:nvPr/>
        </p:nvSpPr>
        <p:spPr>
          <a:xfrm>
            <a:off x="2712140" y="4725667"/>
            <a:ext cx="653143" cy="200297"/>
          </a:xfrm>
          <a:prstGeom prst="down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600768" y="3332560"/>
            <a:ext cx="5452249" cy="202321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 </a:t>
            </a:r>
            <a:r>
              <a:rPr lang="zh-CN" altLang="en-US" sz="1400" b="1">
                <a:solidFill>
                  <a:srgbClr val="FF0000"/>
                </a:solidFill>
                <a:cs typeface="+mn-ea"/>
                <a:sym typeface="+mn-lt"/>
              </a:rPr>
              <a:t>错误示例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f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根据函数体的内容，会被自动推导为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impl FnOnce()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类型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而且它调用的时候会直接消费掉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f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，不能调用第二次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into_bytes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 // error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91591" y="510338"/>
            <a:ext cx="10740640" cy="7005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000000"/>
                </a:solidFill>
                <a:cs typeface="+mn-ea"/>
                <a:sym typeface="+mn-lt"/>
              </a:rPr>
              <a:t>取决于闭包如何捕获变量，闭包有三种trait：FnOnce、FnMut、Fn。如果一个闭包实现了 Fn trait，那么它也会实现 FnMut 和 FnOnce trait；如果一个闭包实现了 FnMut trait，那么它也会实现 FnOnce trait；所有的闭包都会实现 FnOnce trait。</a:t>
            </a:r>
          </a:p>
        </p:txBody>
      </p:sp>
      <p:sp>
        <p:nvSpPr>
          <p:cNvPr id="11" name="副标题 1"/>
          <p:cNvSpPr>
            <a:spLocks noGrp="1"/>
          </p:cNvSpPr>
          <p:nvPr>
            <p:ph type="subTitle" idx="1"/>
          </p:nvPr>
        </p:nvSpPr>
        <p:spPr>
          <a:xfrm>
            <a:off x="291591" y="36595"/>
            <a:ext cx="10740640" cy="615021"/>
          </a:xfrm>
        </p:spPr>
        <p:txBody>
          <a:bodyPr>
            <a:norm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闭包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三种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trait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91591" y="47665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94716" y="1360228"/>
            <a:ext cx="5429579" cy="137156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b="1" u="none">
                <a:solidFill>
                  <a:srgbClr val="1D1D1A"/>
                </a:solidFill>
                <a:cs typeface="+mn-ea"/>
                <a:sym typeface="+mn-lt"/>
              </a:rPr>
              <a:t>FnOnce trait</a:t>
            </a:r>
            <a:r>
              <a:rPr lang="zh-CN" sz="1400" b="0" u="none">
                <a:solidFill>
                  <a:srgbClr val="1D1D1A"/>
                </a:solidFill>
                <a:cs typeface="+mn-ea"/>
                <a:sym typeface="+mn-lt"/>
              </a:rPr>
              <a:t>：适用于能被调用一次的闭包，所有闭包都至少实现了这个 </a:t>
            </a:r>
            <a:r>
              <a:rPr lang="en-US" sz="1400" b="0" u="none">
                <a:solidFill>
                  <a:srgbClr val="1D1D1A"/>
                </a:solidFill>
                <a:cs typeface="+mn-ea"/>
                <a:sym typeface="+mn-lt"/>
              </a:rPr>
              <a:t>trait</a:t>
            </a:r>
            <a:r>
              <a:rPr lang="zh-CN" sz="1400" b="0" u="none">
                <a:solidFill>
                  <a:srgbClr val="1D1D1A"/>
                </a:solidFill>
                <a:cs typeface="+mn-ea"/>
                <a:sym typeface="+mn-lt"/>
              </a:rPr>
              <a:t>，因为所有闭包都能被调用。</a:t>
            </a:r>
            <a:r>
              <a:rPr 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一个</a:t>
            </a:r>
            <a:r>
              <a:rPr lang="zh-CN" altLang="en-US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只</a:t>
            </a:r>
            <a:r>
              <a:rPr 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实现了</a:t>
            </a:r>
            <a:r>
              <a:rPr lang="en-US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FnOnce </a:t>
            </a:r>
            <a:r>
              <a:rPr 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trait的闭包只能被调用一次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lang="zh-CN" altLang="en-US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5" name="右箭头 14"/>
          <p:cNvSpPr/>
          <p:nvPr/>
        </p:nvSpPr>
        <p:spPr>
          <a:xfrm>
            <a:off x="6376138" y="4190817"/>
            <a:ext cx="238896" cy="388207"/>
          </a:xfrm>
          <a:prstGeom prst="right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" name="Picture 1" descr="upload_2097400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273" y="1353746"/>
            <a:ext cx="4877469" cy="1503057"/>
          </a:xfrm>
          <a:prstGeom prst="rect">
            <a:avLst/>
          </a:prstGeom>
        </p:spPr>
      </p:pic>
      <p:pic>
        <p:nvPicPr>
          <p:cNvPr id="3" name="图片 2" descr="upload_3069935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104" y="3688293"/>
            <a:ext cx="3523513" cy="14977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1"/>
          <p:cNvSpPr>
            <a:spLocks noGrp="1"/>
          </p:cNvSpPr>
          <p:nvPr>
            <p:ph type="subTitle" idx="1"/>
          </p:nvPr>
        </p:nvSpPr>
        <p:spPr>
          <a:xfrm>
            <a:off x="291591" y="36595"/>
            <a:ext cx="10740640" cy="615021"/>
          </a:xfrm>
        </p:spPr>
        <p:txBody>
          <a:bodyPr>
            <a:norm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闭包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三种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trait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91591" y="47665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88667" y="1065080"/>
            <a:ext cx="7326157" cy="41806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b="1" u="none">
                <a:solidFill>
                  <a:srgbClr val="1D1D1A"/>
                </a:solidFill>
                <a:cs typeface="+mn-ea"/>
                <a:sym typeface="+mn-lt"/>
              </a:rPr>
              <a:t>FnMut trait</a:t>
            </a:r>
            <a:r>
              <a:rPr lang="zh-CN" sz="1400" b="0" u="none">
                <a:solidFill>
                  <a:srgbClr val="1D1D1A"/>
                </a:solidFill>
                <a:cs typeface="+mn-ea"/>
                <a:sym typeface="+mn-lt"/>
              </a:rPr>
              <a:t>：适用于不会将捕获的值移出闭包体的</a:t>
            </a:r>
            <a:r>
              <a:rPr lang="zh-CN" altLang="en-US" sz="1400" b="0" u="none">
                <a:solidFill>
                  <a:srgbClr val="1D1D1A"/>
                </a:solidFill>
                <a:cs typeface="+mn-ea"/>
                <a:sym typeface="+mn-lt"/>
              </a:rPr>
              <a:t>场景</a:t>
            </a:r>
            <a:r>
              <a:rPr lang="zh-CN" sz="1400" b="0" u="none">
                <a:solidFill>
                  <a:srgbClr val="1D1D1A"/>
                </a:solidFill>
                <a:cs typeface="+mn-ea"/>
                <a:sym typeface="+mn-lt"/>
              </a:rPr>
              <a:t>，但它可能会修改被捕获的值，这类闭包可以被调用多次。</a:t>
            </a:r>
            <a:endParaRPr lang="en-US" altLang="zh-CN" sz="1400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06735" y="1891263"/>
            <a:ext cx="5056641" cy="17576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2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FF0000"/>
                </a:solidFill>
                <a:cs typeface="+mn-ea"/>
                <a:sym typeface="+mn-lt"/>
              </a:rPr>
              <a:t>错误示例</a:t>
            </a:r>
            <a:endParaRPr lang="en-US" altLang="zh-CN" sz="1200" b="1">
              <a:solidFill>
                <a:srgbClr val="FF0000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u="sng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想要在闭包内部捕获可变借用，需要把该闭包声明为可变类型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也就是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update_string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要修改为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mut update_string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update_string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200" i="1">
                <a:solidFill>
                  <a:srgbClr val="E06C75"/>
                </a:solidFill>
                <a:cs typeface="+mn-ea"/>
                <a:sym typeface="+mn-lt"/>
              </a:rPr>
              <a:t>str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u="sng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u="sng">
                <a:solidFill>
                  <a:srgbClr val="61AFEF"/>
                </a:solidFill>
                <a:cs typeface="+mn-ea"/>
                <a:sym typeface="+mn-lt"/>
              </a:rPr>
              <a:t>push_str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i="1">
                <a:solidFill>
                  <a:srgbClr val="E06C75"/>
                </a:solidFill>
                <a:cs typeface="+mn-ea"/>
                <a:sym typeface="+mn-lt"/>
              </a:rPr>
              <a:t>str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update_string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println!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{:?}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u="sng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35" y="4221583"/>
            <a:ext cx="5056641" cy="1264160"/>
          </a:xfrm>
          <a:prstGeom prst="rect">
            <a:avLst/>
          </a:prstGeom>
        </p:spPr>
      </p:pic>
      <p:sp>
        <p:nvSpPr>
          <p:cNvPr id="18" name="右箭头 17"/>
          <p:cNvSpPr/>
          <p:nvPr/>
        </p:nvSpPr>
        <p:spPr>
          <a:xfrm rot="5400000">
            <a:off x="3072690" y="3798081"/>
            <a:ext cx="323557" cy="391886"/>
          </a:xfrm>
          <a:prstGeom prst="right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31675" y="3215148"/>
            <a:ext cx="5444848" cy="167906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正确示例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u="sng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u="sng">
                <a:solidFill>
                  <a:srgbClr val="E06C75"/>
                </a:solidFill>
                <a:cs typeface="+mn-ea"/>
                <a:sym typeface="+mn-lt"/>
              </a:rPr>
              <a:t>update_string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400" i="1">
                <a:solidFill>
                  <a:srgbClr val="E06C75"/>
                </a:solidFill>
                <a:cs typeface="+mn-ea"/>
                <a:sym typeface="+mn-lt"/>
              </a:rPr>
              <a:t>str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u="sng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u="sng">
                <a:solidFill>
                  <a:srgbClr val="61AFEF"/>
                </a:solidFill>
                <a:cs typeface="+mn-ea"/>
                <a:sym typeface="+mn-lt"/>
              </a:rPr>
              <a:t>push_str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i="1">
                <a:solidFill>
                  <a:srgbClr val="E06C75"/>
                </a:solidFill>
                <a:cs typeface="+mn-ea"/>
                <a:sym typeface="+mn-lt"/>
              </a:rPr>
              <a:t>str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u="sng">
                <a:solidFill>
                  <a:srgbClr val="E06C75"/>
                </a:solidFill>
                <a:cs typeface="+mn-ea"/>
                <a:sym typeface="+mn-lt"/>
              </a:rPr>
              <a:t>update_string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{:?}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u="sng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" name="Picture 1" descr="upload_83788556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9065" y="995402"/>
            <a:ext cx="3135516" cy="21002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1"/>
          <p:cNvSpPr>
            <a:spLocks noGrp="1"/>
          </p:cNvSpPr>
          <p:nvPr>
            <p:ph type="subTitle" idx="1"/>
          </p:nvPr>
        </p:nvSpPr>
        <p:spPr>
          <a:xfrm>
            <a:off x="291591" y="36595"/>
            <a:ext cx="10740640" cy="615021"/>
          </a:xfrm>
        </p:spPr>
        <p:txBody>
          <a:bodyPr>
            <a:norm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闭包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三种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trait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91591" y="47665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98621" y="1134758"/>
            <a:ext cx="5922641" cy="103521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b="1" u="none">
                <a:solidFill>
                  <a:srgbClr val="000000"/>
                </a:solidFill>
                <a:cs typeface="+mn-ea"/>
                <a:sym typeface="+mn-lt"/>
              </a:rPr>
              <a:t>Fn trait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：适用于既不将被捕获的值移出闭包体也不修改被捕获的值的闭包，当然也包括不从环境中捕获值的闭包。这类闭包可以被调用多次而不改变它们的环境，它以不可变借用的方式捕获环境中的值。</a:t>
            </a:r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329240" y="2807034"/>
            <a:ext cx="5653882" cy="248777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sz="14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call_with_one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&gt;(</a:t>
            </a:r>
            <a:r>
              <a:rPr lang="en-US" altLang="zh-CN" sz="1400" i="1" dirty="0" err="1">
                <a:solidFill>
                  <a:srgbClr val="E06C75"/>
                </a:solidFill>
                <a:cs typeface="+mn-ea"/>
                <a:sym typeface="+mn-lt"/>
              </a:rPr>
              <a:t>func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usize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where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usize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usize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i="1" dirty="0" err="1">
                <a:solidFill>
                  <a:srgbClr val="E06C75"/>
                </a:solidFill>
                <a:cs typeface="+mn-ea"/>
                <a:sym typeface="+mn-lt"/>
              </a:rPr>
              <a:t>func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double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400" i="1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i="1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*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call_with_one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double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" name="Picture 2" descr="upload_43580408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457" y="1119827"/>
            <a:ext cx="4628618" cy="12342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91591" y="36595"/>
            <a:ext cx="10740640" cy="615021"/>
          </a:xfrm>
        </p:spPr>
        <p:txBody>
          <a:bodyPr>
            <a:norm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闭包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带闭包字段的结构体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91591" y="47665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91591" y="2093546"/>
            <a:ext cx="5470746" cy="425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可以定义一个带有闭包字段的结构体：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91590" y="2555211"/>
            <a:ext cx="5470745" cy="204533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where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  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拥有一个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u32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类型的参数，同时返回一个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u32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类型值的闭包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add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sum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926752" y="978959"/>
            <a:ext cx="4880585" cy="48320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为该结构体实现方法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where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add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add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sum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value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arg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.sum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(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.add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)(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arg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.sum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结构体初始化，闭包作为参数传入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foo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foo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value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foo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.sum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839319" y="1889172"/>
            <a:ext cx="6914495" cy="327190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b="1" dirty="0">
                <a:solidFill>
                  <a:srgbClr val="00B050"/>
                </a:solidFill>
                <a:cs typeface="+mn-ea"/>
                <a:sym typeface="+mn-lt"/>
              </a:rPr>
              <a:t>正确示例</a:t>
            </a:r>
            <a:endParaRPr lang="zh-CN" sz="1200" b="1" u="none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定义了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annotate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泛型函数，接受一个泛型参数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F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，并返回类型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F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annotate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&gt;(</a:t>
            </a:r>
            <a:r>
              <a:rPr lang="en-US" altLang="zh-CN" sz="1200" i="1" dirty="0">
                <a:solidFill>
                  <a:srgbClr val="E06C75"/>
                </a:solidFill>
                <a:cs typeface="+mn-ea"/>
                <a:sym typeface="+mn-lt"/>
              </a:rPr>
              <a:t>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F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where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语句限定对于生命周期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'a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，类型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F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必须实现 </a:t>
            </a:r>
            <a:r>
              <a:rPr lang="en-US" altLang="zh-CN" sz="1200" i="1" dirty="0" err="1">
                <a:solidFill>
                  <a:srgbClr val="7F848E"/>
                </a:solidFill>
                <a:cs typeface="+mn-ea"/>
                <a:sym typeface="+mn-lt"/>
              </a:rPr>
              <a:t>Fn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(&amp;'a T) -&gt; &amp;'a T trait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。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意味着类型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F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必须是一个闭包，它接受指向类型为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T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的值的引用，并返回指向类型为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T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的值的引用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where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(&amp;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 -&gt; &amp;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i="1" dirty="0">
                <a:solidFill>
                  <a:srgbClr val="E06C75"/>
                </a:solidFill>
                <a:cs typeface="+mn-ea"/>
                <a:sym typeface="+mn-lt"/>
              </a:rPr>
              <a:t>f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annotate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200" i="1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i="1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&amp;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j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(*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j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1" name="副标题 1"/>
          <p:cNvSpPr txBox="1"/>
          <p:nvPr/>
        </p:nvSpPr>
        <p:spPr>
          <a:xfrm>
            <a:off x="291591" y="36595"/>
            <a:ext cx="10740640" cy="6150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闭包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生命周期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91591" y="47665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91591" y="482485"/>
            <a:ext cx="10740640" cy="425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闭包返回引用类型参数，需要显示指定声明周期。</a:t>
            </a:r>
          </a:p>
        </p:txBody>
      </p:sp>
      <p:sp>
        <p:nvSpPr>
          <p:cNvPr id="9" name="矩形 8"/>
          <p:cNvSpPr/>
          <p:nvPr/>
        </p:nvSpPr>
        <p:spPr>
          <a:xfrm>
            <a:off x="317387" y="1892985"/>
            <a:ext cx="3944663" cy="181363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chemeClr val="accent2"/>
                </a:solidFill>
                <a:cs typeface="+mn-ea"/>
                <a:sym typeface="+mn-lt"/>
              </a:rPr>
              <a:t>错误示例</a:t>
            </a:r>
            <a:endParaRPr lang="en-US" altLang="zh-CN" sz="1400" dirty="0">
              <a:solidFill>
                <a:schemeClr val="accent2"/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编译器无法确定返回值的生命周期</a:t>
            </a:r>
            <a:endParaRPr lang="en-US" altLang="zh-CN" sz="1400" i="1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  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是否与输入参数的生命周期相同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&amp;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j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51" y="4296055"/>
            <a:ext cx="3944663" cy="1178865"/>
          </a:xfrm>
          <a:prstGeom prst="rect">
            <a:avLst/>
          </a:prstGeom>
        </p:spPr>
      </p:pic>
      <p:sp>
        <p:nvSpPr>
          <p:cNvPr id="5" name="右箭头 4"/>
          <p:cNvSpPr/>
          <p:nvPr/>
        </p:nvSpPr>
        <p:spPr>
          <a:xfrm rot="5400000">
            <a:off x="1867863" y="3670662"/>
            <a:ext cx="278765" cy="756920"/>
          </a:xfrm>
          <a:prstGeom prst="right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2528321" y="2040575"/>
            <a:ext cx="6430296" cy="37506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需要两个参数：一个函数指针，和一个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i32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类型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do_twice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i="1" dirty="0">
                <a:solidFill>
                  <a:srgbClr val="E06C75"/>
                </a:solidFill>
                <a:cs typeface="+mn-ea"/>
                <a:sym typeface="+mn-lt"/>
              </a:rPr>
              <a:t>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i="1" dirty="0" err="1">
                <a:solidFill>
                  <a:srgbClr val="E06C75"/>
                </a:solidFill>
                <a:cs typeface="+mn-ea"/>
                <a:sym typeface="+mn-lt"/>
              </a:rPr>
              <a:t>arg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调用函数指针进行计算并返回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i="1" dirty="0">
                <a:solidFill>
                  <a:srgbClr val="E06C75"/>
                </a:solidFill>
                <a:cs typeface="+mn-ea"/>
                <a:sym typeface="+mn-lt"/>
              </a:rPr>
              <a:t>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i="1" dirty="0" err="1">
                <a:solidFill>
                  <a:srgbClr val="E06C75"/>
                </a:solidFill>
                <a:cs typeface="+mn-ea"/>
                <a:sym typeface="+mn-lt"/>
              </a:rPr>
              <a:t>arg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+ </a:t>
            </a:r>
            <a:r>
              <a:rPr lang="en-US" altLang="zh-CN" sz="1400" i="1" dirty="0">
                <a:solidFill>
                  <a:srgbClr val="E06C75"/>
                </a:solidFill>
                <a:cs typeface="+mn-ea"/>
                <a:sym typeface="+mn-lt"/>
              </a:rPr>
              <a:t>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i="1" dirty="0" err="1">
                <a:solidFill>
                  <a:srgbClr val="E06C75"/>
                </a:solidFill>
                <a:cs typeface="+mn-ea"/>
                <a:sym typeface="+mn-lt"/>
              </a:rPr>
              <a:t>arg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add_2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i="1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i="1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闭包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add_1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400" i="1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i="1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answer1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do_twice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add_1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answer2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do_twice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add_2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answer1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answer2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91591" y="754227"/>
            <a:ext cx="10740640" cy="78752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85750" indent="-285750">
              <a:lnSpc>
                <a:spcPct val="150000"/>
              </a:lnSpc>
              <a:buChar char="•"/>
            </a:pPr>
            <a:r>
              <a:rPr lang="zh-CN" sz="1600" b="0" u="none">
                <a:solidFill>
                  <a:srgbClr val="000000"/>
                </a:solidFill>
                <a:cs typeface="+mn-ea"/>
                <a:sym typeface="+mn-lt"/>
              </a:rPr>
              <a:t>不捕获环境中的任何变量的闭包可以通过匹配签名的方式被自动</a:t>
            </a:r>
            <a:r>
              <a:rPr lang="zh-CN" altLang="en-US" sz="1600" b="0" u="none">
                <a:solidFill>
                  <a:srgbClr val="000000"/>
                </a:solidFill>
                <a:cs typeface="+mn-ea"/>
                <a:sym typeface="+mn-lt"/>
              </a:rPr>
              <a:t>转换</a:t>
            </a:r>
            <a:r>
              <a:rPr lang="zh-CN" sz="1600" b="0" u="none">
                <a:solidFill>
                  <a:srgbClr val="000000"/>
                </a:solidFill>
                <a:cs typeface="+mn-ea"/>
                <a:sym typeface="+mn-lt"/>
              </a:rPr>
              <a:t>成函数指针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endParaRPr lang="en-US" altLang="zh-CN" sz="1600">
              <a:solidFill>
                <a:srgbClr val="000000"/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函数指针实现了闭包三个 </a:t>
            </a: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（</a:t>
            </a: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Fn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FnMut 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和 </a:t>
            </a: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FnOnce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）；</a:t>
            </a:r>
            <a:endParaRPr lang="en-US" altLang="zh-CN" sz="16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7" name="副标题 1"/>
          <p:cNvSpPr txBox="1"/>
          <p:nvPr/>
        </p:nvSpPr>
        <p:spPr>
          <a:xfrm>
            <a:off x="291591" y="36595"/>
            <a:ext cx="10740640" cy="6150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闭包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函数指针</a:t>
            </a:r>
            <a:endParaRPr lang="en-US" altLang="zh-CN" b="1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91591" y="47665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本章小结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090007"/>
            <a:ext cx="10733557" cy="4690459"/>
          </a:xfrm>
        </p:spPr>
        <p:txBody>
          <a:bodyPr/>
          <a:lstStyle/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学完本章，希望可以：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掌握闭包的概念和常用方法；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</a:t>
            </a:r>
            <a:r>
              <a:rPr lang="en-US" altLang="zh-CN" sz="1800">
                <a:cs typeface="+mn-ea"/>
                <a:sym typeface="+mn-lt"/>
              </a:rPr>
              <a:t>move</a:t>
            </a:r>
            <a:r>
              <a:rPr lang="zh-CN" altLang="en-US" sz="1800">
                <a:cs typeface="+mn-ea"/>
                <a:sym typeface="+mn-lt"/>
              </a:rPr>
              <a:t>关键字的用法和捕获规则；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掌握闭包的三种</a:t>
            </a:r>
            <a:r>
              <a:rPr lang="en-US" altLang="zh-CN" sz="1800">
                <a:cs typeface="+mn-ea"/>
                <a:sym typeface="+mn-lt"/>
              </a:rPr>
              <a:t>trait</a:t>
            </a:r>
            <a:r>
              <a:rPr lang="zh-CN" altLang="en-US" sz="1800">
                <a:cs typeface="+mn-ea"/>
                <a:sym typeface="+mn-lt"/>
              </a:rPr>
              <a:t>；</a:t>
            </a:r>
            <a:endParaRPr lang="en-US" altLang="zh-CN" sz="180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掌握闭包转换为函数指针的方式；</a:t>
            </a:r>
            <a:endParaRPr lang="en-US" altLang="zh-CN" sz="1800" dirty="0"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22092" y="962165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eytlpgw1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eytlpgw1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eytlpgw1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eytlpgw1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eytlpgw1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1191</TotalTime>
  <Words>2652</Words>
  <Application>Microsoft Office PowerPoint</Application>
  <PresentationFormat>自定义</PresentationFormat>
  <Paragraphs>285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微软雅黑</vt:lpstr>
      <vt:lpstr>微软雅黑</vt:lpstr>
      <vt:lpstr>Arial</vt:lpstr>
      <vt:lpstr>Calibri</vt:lpstr>
      <vt:lpstr>Huawei Sans</vt:lpstr>
      <vt:lpstr>Wingdings</vt:lpstr>
      <vt:lpstr>1_Title Slide</vt:lpstr>
      <vt:lpstr>2_Title Slide</vt:lpstr>
      <vt:lpstr>Chart page</vt:lpstr>
      <vt:lpstr>4_Chart page</vt:lpstr>
      <vt:lpstr>End page</vt:lpstr>
      <vt:lpstr>闭包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闭包</dc:title>
  <dc:creator>fanyan (A)</dc:creator>
  <cp:lastModifiedBy>Zhangyandong (ben)</cp:lastModifiedBy>
  <cp:revision>18</cp:revision>
  <dcterms:created xsi:type="dcterms:W3CDTF">2023-10-18T07:21:40Z</dcterms:created>
  <dcterms:modified xsi:type="dcterms:W3CDTF">2024-11-20T02:32:38Z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(3)c9GeJ/lwIBfvTPVKtEzqZbBH1EH+xlk+Op/y1K+kn+Mo0OkDLRhpkAVJqTO++/6TjntVkE0t
dFeIYB4B2D86zbiT9104JLvpSXjnxNjC2I6fle8g0CXMNKrUxLTS2fWraaOWAt6g74WEYzjF
rx10NGPOt4PYrUV5CYf3OsV6mLg5RQQn5X6LADrssIjYS1GoDMkCSr8FvufCk9quEkK2rGoI
O/jgQIYXgI10xewhKg</vt:lpwstr>
  </property>
  <property fmtid="{D5CDD505-2E9C-101B-9397-08002B2CF9AE}" pid="3" name="_2015_ms_pID_7253431">
    <vt:lpwstr>RBS0dVSaWLi4ez3epNzGA067nXQKB6aZ4DRsn908vcDYfHkMbQv/ov
/VsATulkneLs/hBXLc9AVD/v/zPDg9U+sy/8+1GscxHFX0U4Z/UQAHAF++cHwywtL1rFfvvh
eubvwLcLMcXI1Q537SQlc6pgSMrJekA/3n2ZzQePP6NdQLn05v8ZlJyM/SS6U5PPKdY9Hj+a
sTo3bcQkmg4/IMmdhFlHdjva9HCV6dHFqdcp</vt:lpwstr>
  </property>
  <property fmtid="{D5CDD505-2E9C-101B-9397-08002B2CF9AE}" pid="4" name="_2015_ms_pID_7253432">
    <vt:lpwstr>Wg==</vt:lpwstr>
  </property>
  <property fmtid="{D5CDD505-2E9C-101B-9397-08002B2CF9AE}" pid="5" name="KSOProductBuildVer">
    <vt:lpwstr>2052-0.0.0.0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1702379258</vt:lpwstr>
  </property>
</Properties>
</file>