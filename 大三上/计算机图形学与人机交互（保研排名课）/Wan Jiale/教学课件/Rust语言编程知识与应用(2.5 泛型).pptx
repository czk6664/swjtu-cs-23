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5" r:id="rId3"/>
    <p:sldMasterId id="2147483658" r:id="rId4"/>
  </p:sldMasterIdLst>
  <p:notesMasterIdLst>
    <p:notesMasterId r:id="rId22"/>
  </p:notesMasterIdLst>
  <p:handoutMasterIdLst>
    <p:handoutMasterId r:id="rId23"/>
  </p:handoutMasterIdLst>
  <p:sldIdLst>
    <p:sldId id="283" r:id="rId5"/>
    <p:sldId id="329" r:id="rId6"/>
    <p:sldId id="331" r:id="rId7"/>
    <p:sldId id="322" r:id="rId8"/>
    <p:sldId id="342" r:id="rId9"/>
    <p:sldId id="324" r:id="rId10"/>
    <p:sldId id="328" r:id="rId11"/>
    <p:sldId id="335" r:id="rId12"/>
    <p:sldId id="345" r:id="rId13"/>
    <p:sldId id="351" r:id="rId14"/>
    <p:sldId id="352" r:id="rId15"/>
    <p:sldId id="338" r:id="rId16"/>
    <p:sldId id="339" r:id="rId17"/>
    <p:sldId id="350" r:id="rId18"/>
    <p:sldId id="341" r:id="rId19"/>
    <p:sldId id="332" r:id="rId20"/>
    <p:sldId id="280" r:id="rId21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29"/>
            <p14:sldId id="331"/>
          </p14:sldIdLst>
        </p14:section>
        <p14:section name="章节页" id="{FD05EE94-C931-8C4B-83A2-004B32AA1207}">
          <p14:sldIdLst>
            <p14:sldId id="322"/>
            <p14:sldId id="342"/>
            <p14:sldId id="324"/>
            <p14:sldId id="328"/>
            <p14:sldId id="335"/>
            <p14:sldId id="345"/>
            <p14:sldId id="351"/>
            <p14:sldId id="352"/>
            <p14:sldId id="338"/>
            <p14:sldId id="339"/>
            <p14:sldId id="350"/>
            <p14:sldId id="341"/>
            <p14:sldId id="33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687889262" clrIdx="0"/>
  <p:cmAuthor id="2003" name="liyuan (BA)" initials="l(" lastIdx="26" clrIdx="1"/>
  <p:cmAuthor id="2004" name="gaoshang 00419539_MRJvMvEj" initials="authorId_AK20210901:AK20210901JXNSXO980865" lastIdx="1688382842" clrIdx="0"/>
  <p:cmAuthor id="2005" name="liyuan 00575100_AN3aEzey" initials="authorId_AK20210901:AK20210901JXNSXO4974597" lastIdx="1152304805" clrIdx="0"/>
  <p:cmAuthor id="2006" name="liziqiang 00556901_ERbuA7r6" initials="authorId_AK20210901:AK20210901JXNSXO4497046" lastIdx="78466437" clrIdx="0"/>
  <p:cmAuthor id="2000" name="fanchangchun 00567414_2yeyVvEJ" initials="authorId_AK20210901:AK20210901JXNSXO4723448" lastIdx="1150902215" clrIdx="0"/>
  <p:cmAuthor id="2001" name="wuxiaojun 00342820_QRBvBJbY" initials="authorId_AK20210901:AK20210901JXNSXO124321" lastIdx="168786810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235" autoAdjust="0"/>
  </p:normalViewPr>
  <p:slideViewPr>
    <p:cSldViewPr snapToGrid="0" snapToObjects="1">
      <p:cViewPr varScale="1">
        <p:scale>
          <a:sx n="69" d="100"/>
          <a:sy n="69" d="100"/>
        </p:scale>
        <p:origin x="52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tif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  <a:ea typeface="+mn-ea"/>
                <a:cs typeface="+mn-ea"/>
                <a:sym typeface="+mn-lt"/>
              </a:rPr>
              <a:t>Security Level: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  <a:p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898996" y="907092"/>
            <a:ext cx="6559809" cy="690255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泛型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，了解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泛型系统的概念和使用。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55622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泛型的概念和基本用法；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泛型函数</a:t>
            </a:r>
            <a:r>
              <a:rPr lang="en-US" altLang="zh-CN">
                <a:cs typeface="+mn-ea"/>
                <a:sym typeface="+mn-lt"/>
              </a:rPr>
              <a:t> / </a:t>
            </a:r>
            <a:r>
              <a:rPr lang="zh-CN" altLang="en-US">
                <a:cs typeface="+mn-ea"/>
                <a:sym typeface="+mn-lt"/>
              </a:rPr>
              <a:t>结构体 </a:t>
            </a:r>
            <a:r>
              <a:rPr lang="en-US" altLang="zh-CN">
                <a:cs typeface="+mn-ea"/>
                <a:sym typeface="+mn-lt"/>
              </a:rPr>
              <a:t>/ </a:t>
            </a:r>
            <a:r>
              <a:rPr lang="zh-CN" altLang="en-US">
                <a:cs typeface="+mn-ea"/>
                <a:sym typeface="+mn-lt"/>
              </a:rPr>
              <a:t>枚举 </a:t>
            </a:r>
            <a:r>
              <a:rPr lang="en-US" altLang="zh-CN">
                <a:cs typeface="+mn-ea"/>
                <a:sym typeface="+mn-lt"/>
              </a:rPr>
              <a:t>/ trait</a:t>
            </a:r>
            <a:r>
              <a:rPr lang="zh-CN" altLang="en-US">
                <a:cs typeface="+mn-ea"/>
                <a:sym typeface="+mn-lt"/>
              </a:rPr>
              <a:t>的用法；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常用泛型约束语法；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泛型关联类型（</a:t>
            </a:r>
            <a:r>
              <a:rPr lang="en-US" altLang="zh-CN">
                <a:cs typeface="+mn-ea"/>
                <a:sym typeface="+mn-lt"/>
              </a:rPr>
              <a:t>GAT</a:t>
            </a:r>
            <a:r>
              <a:rPr lang="zh-CN" altLang="en-US">
                <a:cs typeface="+mn-ea"/>
                <a:sym typeface="+mn-lt"/>
              </a:rPr>
              <a:t>）；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泛型概念和基本用法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泛型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trait&amp;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约束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泛型生命周期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泛型关联类型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泛型使用场景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72607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41247"/>
            <a:ext cx="1039372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泛型概念和基本用法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泛型函数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516" y="598630"/>
            <a:ext cx="5412566" cy="16158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400">
                <a:solidFill>
                  <a:srgbClr val="FF0000"/>
                </a:solidFill>
                <a:cs typeface="+mn-ea"/>
                <a:sym typeface="+mn-lt"/>
              </a:rPr>
              <a:t>泛型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是用于表示通用类型的一种语法，能够使得同一份代码应用于不用的类型上，可以简化代码。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>
                <a:cs typeface="+mn-ea"/>
                <a:sym typeface="+mn-lt"/>
              </a:rPr>
              <a:t>泛型最简单和常用的用法是用于类型参数，</a:t>
            </a:r>
            <a:r>
              <a:rPr lang="zh-CN" altLang="en-US" sz="1400">
                <a:cs typeface="+mn-ea"/>
                <a:sym typeface="+mn-lt"/>
              </a:rPr>
              <a:t>使用泛型前，需要在使用前对泛型参数进行声明，在 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中，泛型参数的名称可以任意起，但是出于惯例，我们都用 </a:t>
            </a:r>
            <a:r>
              <a:rPr lang="en-US" altLang="zh-CN" sz="1400">
                <a:cs typeface="+mn-ea"/>
                <a:sym typeface="+mn-lt"/>
              </a:rPr>
              <a:t>T </a:t>
            </a:r>
            <a:r>
              <a:rPr lang="zh-CN" altLang="en-US" sz="1400">
                <a:cs typeface="+mn-ea"/>
                <a:sym typeface="+mn-lt"/>
              </a:rPr>
              <a:t>表示。</a:t>
            </a:r>
            <a:endParaRPr lang="en-US" altLang="zh-CN" sz="1400"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939803" y="2360171"/>
            <a:ext cx="10202678" cy="3970318"/>
            <a:chOff x="939803" y="2020806"/>
            <a:chExt cx="10202678" cy="3970318"/>
          </a:xfrm>
        </p:grpSpPr>
        <p:sp>
          <p:nvSpPr>
            <p:cNvPr id="2" name="右箭头 1"/>
            <p:cNvSpPr/>
            <p:nvPr/>
          </p:nvSpPr>
          <p:spPr>
            <a:xfrm>
              <a:off x="5270362" y="2793377"/>
              <a:ext cx="1291904" cy="1132513"/>
            </a:xfrm>
            <a:prstGeom prst="rightArrow">
              <a:avLst>
                <a:gd name="adj1" fmla="val 50000"/>
                <a:gd name="adj2" fmla="val 24815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cs typeface="+mn-ea"/>
                  <a:sym typeface="+mn-lt"/>
                </a:rPr>
                <a:t>使用泛型简化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39803" y="2020806"/>
              <a:ext cx="4156556" cy="397031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display_i32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i32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"The number is 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display_u64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u64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"The number is 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display_f32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f32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"The number is 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i32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-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u64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c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f32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3.14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display_i32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display_u64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display_f32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c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736269" y="2793377"/>
              <a:ext cx="4406212" cy="95410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display_number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&lt;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&gt;(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  <a:r>
                <a:rPr lang="en-US" altLang="zh-CN" sz="1400" i="1">
                  <a:solidFill>
                    <a:srgbClr val="7F848E"/>
                  </a:solidFill>
                  <a:cs typeface="+mn-ea"/>
                  <a:sym typeface="+mn-lt"/>
                </a:rPr>
                <a:t>  // </a:t>
              </a:r>
              <a:r>
                <a:rPr lang="zh-CN" altLang="en-US" sz="1400" i="1">
                  <a:solidFill>
                    <a:srgbClr val="7F848E"/>
                  </a:solidFill>
                  <a:cs typeface="+mn-ea"/>
                  <a:sym typeface="+mn-lt"/>
                </a:rPr>
                <a:t>编译错误</a:t>
              </a:r>
              <a:endParaRPr lang="zh-CN" altLang="en-US" sz="140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zh-CN" altLang="en-US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"The number is 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num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6861098" y="893303"/>
            <a:ext cx="4156556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泛型语法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声明  泛型类型</a:t>
            </a: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   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 ... 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8059918" y="5156462"/>
            <a:ext cx="980387" cy="245097"/>
          </a:xfrm>
          <a:prstGeom prst="down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86" y="5509577"/>
            <a:ext cx="6343650" cy="115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41247"/>
            <a:ext cx="1039372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泛型概念和基本用法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泛型函数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2742" y="1202490"/>
            <a:ext cx="10133815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泛型通常和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一起使用。泛型参数后常常会跟随一个或多个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限定符，称为</a:t>
            </a:r>
            <a:r>
              <a:rPr kumimoji="1" lang="zh-CN" altLang="en-US" sz="1600">
                <a:solidFill>
                  <a:srgbClr val="FF0000"/>
                </a:solidFill>
                <a:cs typeface="+mn-ea"/>
                <a:sym typeface="+mn-lt"/>
              </a:rPr>
              <a:t>泛型约束（</a:t>
            </a:r>
            <a:r>
              <a:rPr kumimoji="1" lang="en-US" altLang="zh-CN" sz="1600">
                <a:solidFill>
                  <a:srgbClr val="FF0000"/>
                </a:solidFill>
                <a:cs typeface="+mn-ea"/>
                <a:sym typeface="+mn-lt"/>
              </a:rPr>
              <a:t>trait bound</a:t>
            </a:r>
            <a:r>
              <a:rPr kumimoji="1" lang="zh-CN" altLang="en-US" sz="1600">
                <a:solidFill>
                  <a:srgbClr val="FF0000"/>
                </a:solidFill>
                <a:cs typeface="+mn-ea"/>
                <a:sym typeface="+mn-lt"/>
              </a:rPr>
              <a:t>）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用户可以在函数实现中调用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中的方法，而不用关心泛型参数具体代表了什么类型。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在上面的例子中，通过增加泛型的约束就可以解决编译错误的问题。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0019" y="4106241"/>
            <a:ext cx="10514137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display_number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函数以实现了特定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的所有类型为参数，在输入参数为不同类型时，自动调用该类型对应的输出函数，大大简化了程序实现。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087358" y="2821917"/>
            <a:ext cx="4334585" cy="9531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display_number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"The number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is 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80" y="2821917"/>
            <a:ext cx="4448175" cy="100012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5537629" y="3109876"/>
            <a:ext cx="448391" cy="424206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33706"/>
            <a:ext cx="60433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泛型概念和基本用法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泛型结构体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515" y="630784"/>
            <a:ext cx="10740641" cy="332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在结构体定义中使用泛型也是十分常见的场景。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644045" y="2153692"/>
            <a:ext cx="5340111" cy="38164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gen_val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在结构体方法中使用已被声明的泛型参数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.gen_val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gen_val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3.14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gen_val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"{},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3514" y="1478562"/>
            <a:ext cx="5139189" cy="27392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1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在结构体后使用尖括号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+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泛型名称进行声明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integer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float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"world"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3516" y="4363775"/>
            <a:ext cx="5139189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2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当类型可能不同时，需要声明为不同的泛型参数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U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U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{</a:t>
            </a:r>
            <a:r>
              <a:rPr lang="fr-FR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fr-FR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:</a:t>
            </a:r>
            <a:r>
              <a:rPr lang="fr-FR" altLang="zh-CN" sz="1400">
                <a:solidFill>
                  <a:srgbClr val="D19A66"/>
                </a:solidFill>
                <a:cs typeface="+mn-ea"/>
                <a:sym typeface="+mn-lt"/>
              </a:rPr>
              <a:t>1.1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fr-FR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41247"/>
            <a:ext cx="563135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泛型概念和基本用法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泛型枚举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517" y="865519"/>
            <a:ext cx="6704038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枚举中同样可以使用泛型参数，最典型的枚举就是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Option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，在标准库中，定义为：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333222" y="865519"/>
            <a:ext cx="3592806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0335" y="1560709"/>
            <a:ext cx="6383527" cy="1803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它有两个成员：</a:t>
            </a:r>
            <a:r>
              <a:rPr lang="en-US" altLang="zh-CN" sz="1600">
                <a:cs typeface="+mn-ea"/>
                <a:sym typeface="+mn-lt"/>
              </a:rPr>
              <a:t>Some</a:t>
            </a:r>
            <a:r>
              <a:rPr lang="zh-CN" altLang="en-US" sz="1600">
                <a:cs typeface="+mn-ea"/>
                <a:sym typeface="+mn-lt"/>
              </a:rPr>
              <a:t>，它存放了一个类型 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 的值，和不存在任何值的</a:t>
            </a:r>
            <a:r>
              <a:rPr lang="en-US" altLang="zh-CN" sz="1600">
                <a:cs typeface="+mn-ea"/>
                <a:sym typeface="+mn-lt"/>
              </a:rPr>
              <a:t>None</a:t>
            </a:r>
            <a:r>
              <a:rPr lang="zh-CN" altLang="en-US" sz="160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通过 </a:t>
            </a:r>
            <a:r>
              <a:rPr lang="en-US" altLang="zh-CN" sz="1600">
                <a:cs typeface="+mn-ea"/>
                <a:sym typeface="+mn-lt"/>
              </a:rPr>
              <a:t>Option</a:t>
            </a:r>
            <a:r>
              <a:rPr lang="zh-CN" altLang="en-US" sz="1600">
                <a:cs typeface="+mn-ea"/>
                <a:sym typeface="+mn-lt"/>
              </a:rPr>
              <a:t> 枚举可以表达有一个可能的值的抽象概念；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因为 </a:t>
            </a:r>
            <a:r>
              <a:rPr lang="en-US" altLang="zh-CN" sz="1600">
                <a:cs typeface="+mn-ea"/>
                <a:sym typeface="+mn-lt"/>
              </a:rPr>
              <a:t>Option</a:t>
            </a:r>
            <a:r>
              <a:rPr lang="zh-CN" altLang="en-US" sz="1600">
                <a:cs typeface="+mn-ea"/>
                <a:sym typeface="+mn-lt"/>
              </a:rPr>
              <a:t> 是泛型的，无论这个可能的值是什么类型都可以使用这个抽象；</a:t>
            </a:r>
          </a:p>
        </p:txBody>
      </p:sp>
      <p:sp>
        <p:nvSpPr>
          <p:cNvPr id="9" name="矩形 8"/>
          <p:cNvSpPr/>
          <p:nvPr/>
        </p:nvSpPr>
        <p:spPr>
          <a:xfrm>
            <a:off x="243516" y="3446532"/>
            <a:ext cx="6383528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枚举也可以拥有多个泛型类型。错误处理中 </a:t>
            </a:r>
            <a:r>
              <a:rPr lang="en-US" altLang="zh-CN" sz="1600">
                <a:cs typeface="+mn-ea"/>
                <a:sym typeface="+mn-lt"/>
              </a:rPr>
              <a:t>Result</a:t>
            </a:r>
            <a:r>
              <a:rPr lang="zh-CN" altLang="en-US" sz="1600">
                <a:cs typeface="+mn-ea"/>
                <a:sym typeface="+mn-lt"/>
              </a:rPr>
              <a:t> 定义就是一个这样的例子：</a:t>
            </a:r>
          </a:p>
        </p:txBody>
      </p:sp>
      <p:sp>
        <p:nvSpPr>
          <p:cNvPr id="10" name="矩形 9"/>
          <p:cNvSpPr/>
          <p:nvPr/>
        </p:nvSpPr>
        <p:spPr>
          <a:xfrm>
            <a:off x="7333222" y="3449211"/>
            <a:ext cx="3592806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de-DE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E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e-DE" altLang="zh-CN" sz="1400">
                <a:solidFill>
                  <a:srgbClr val="E5C07B"/>
                </a:solidFill>
                <a:cs typeface="+mn-ea"/>
                <a:sym typeface="+mn-lt"/>
              </a:rPr>
              <a:t>E</a:t>
            </a:r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de-DE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de-DE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0334" y="4234055"/>
            <a:ext cx="6487221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Result</a:t>
            </a:r>
            <a:r>
              <a:rPr lang="zh-CN" altLang="en-US" sz="1600">
                <a:cs typeface="+mn-ea"/>
                <a:sym typeface="+mn-lt"/>
              </a:rPr>
              <a:t> 枚举有两个泛型类型，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 和 </a:t>
            </a:r>
            <a:r>
              <a:rPr lang="en-US" altLang="zh-CN" sz="1600">
                <a:cs typeface="+mn-ea"/>
                <a:sym typeface="+mn-lt"/>
              </a:rPr>
              <a:t>E</a:t>
            </a:r>
            <a:r>
              <a:rPr lang="zh-CN" altLang="en-US" sz="160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Result</a:t>
            </a:r>
            <a:r>
              <a:rPr lang="zh-CN" altLang="en-US" sz="1600">
                <a:cs typeface="+mn-ea"/>
                <a:sym typeface="+mn-lt"/>
              </a:rPr>
              <a:t> 有两个成员：</a:t>
            </a:r>
            <a:r>
              <a:rPr lang="en-US" altLang="zh-CN" sz="1600">
                <a:cs typeface="+mn-ea"/>
                <a:sym typeface="+mn-lt"/>
              </a:rPr>
              <a:t>Ok</a:t>
            </a:r>
            <a:r>
              <a:rPr lang="zh-CN" altLang="en-US" sz="1600">
                <a:cs typeface="+mn-ea"/>
                <a:sym typeface="+mn-lt"/>
              </a:rPr>
              <a:t>，它存放一个类型 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 的值，而 </a:t>
            </a:r>
            <a:r>
              <a:rPr lang="en-US" altLang="zh-CN" sz="1600">
                <a:cs typeface="+mn-ea"/>
                <a:sym typeface="+mn-lt"/>
              </a:rPr>
              <a:t>Err</a:t>
            </a:r>
            <a:r>
              <a:rPr lang="zh-CN" altLang="en-US" sz="1600">
                <a:cs typeface="+mn-ea"/>
                <a:sym typeface="+mn-lt"/>
              </a:rPr>
              <a:t> 则存放一个类型 </a:t>
            </a:r>
            <a:r>
              <a:rPr lang="en-US" altLang="zh-CN" sz="1600">
                <a:cs typeface="+mn-ea"/>
                <a:sym typeface="+mn-lt"/>
              </a:rPr>
              <a:t>E</a:t>
            </a:r>
            <a:r>
              <a:rPr lang="zh-CN" altLang="en-US" sz="1600">
                <a:cs typeface="+mn-ea"/>
                <a:sym typeface="+mn-lt"/>
              </a:rPr>
              <a:t> 的值；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这个定义使得 </a:t>
            </a:r>
            <a:r>
              <a:rPr lang="en-US" altLang="zh-CN" sz="1600">
                <a:cs typeface="+mn-ea"/>
                <a:sym typeface="+mn-lt"/>
              </a:rPr>
              <a:t>Result</a:t>
            </a:r>
            <a:r>
              <a:rPr lang="zh-CN" altLang="en-US" sz="1600">
                <a:cs typeface="+mn-ea"/>
                <a:sym typeface="+mn-lt"/>
              </a:rPr>
              <a:t> 枚举能很方便的表达任何可能成功（返回 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 类型的值）也可能失败（返回 </a:t>
            </a:r>
            <a:r>
              <a:rPr lang="en-US" altLang="zh-CN" sz="1600">
                <a:cs typeface="+mn-ea"/>
                <a:sym typeface="+mn-lt"/>
              </a:rPr>
              <a:t>E</a:t>
            </a:r>
            <a:r>
              <a:rPr lang="zh-CN" altLang="en-US" sz="1600">
                <a:cs typeface="+mn-ea"/>
                <a:sym typeface="+mn-lt"/>
              </a:rPr>
              <a:t> 类型的值）的操作；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11409"/>
            <a:ext cx="391132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泛型约束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-trait bound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43516" y="573482"/>
            <a:ext cx="10229316" cy="6143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>
                <a:cs typeface="+mn-ea"/>
                <a:sym typeface="+mn-lt"/>
              </a:rPr>
              <a:t>Rust </a:t>
            </a:r>
            <a:r>
              <a:rPr kumimoji="1" lang="zh-CN" altLang="en-US" sz="1400">
                <a:cs typeface="+mn-ea"/>
                <a:sym typeface="+mn-lt"/>
              </a:rPr>
              <a:t>中，</a:t>
            </a:r>
            <a:r>
              <a:rPr kumimoji="1" lang="en-US" altLang="zh-CN" sz="1400">
                <a:cs typeface="+mn-ea"/>
                <a:sym typeface="+mn-lt"/>
              </a:rPr>
              <a:t>trait bound </a:t>
            </a:r>
            <a:r>
              <a:rPr kumimoji="1" lang="zh-CN" altLang="en-US" sz="1400">
                <a:cs typeface="+mn-ea"/>
                <a:sym typeface="+mn-lt"/>
              </a:rPr>
              <a:t>是一种用于限制泛型类型的方法。它允许用户指定泛型类型必须实现哪些 </a:t>
            </a:r>
            <a:r>
              <a:rPr kumimoji="1" lang="en-US" altLang="zh-CN" sz="1400">
                <a:cs typeface="+mn-ea"/>
                <a:sym typeface="+mn-lt"/>
              </a:rPr>
              <a:t>trait</a:t>
            </a:r>
            <a:r>
              <a:rPr kumimoji="1" lang="zh-CN" altLang="en-US" sz="1400">
                <a:cs typeface="+mn-ea"/>
                <a:sym typeface="+mn-lt"/>
              </a:rPr>
              <a:t>，以便在使用泛型类型时可以调用这些 </a:t>
            </a:r>
            <a:r>
              <a:rPr kumimoji="1" lang="en-US" altLang="zh-CN" sz="1400">
                <a:cs typeface="+mn-ea"/>
                <a:sym typeface="+mn-lt"/>
              </a:rPr>
              <a:t>trait </a:t>
            </a:r>
            <a:r>
              <a:rPr kumimoji="1" lang="zh-CN" altLang="en-US" sz="1400">
                <a:cs typeface="+mn-ea"/>
                <a:sym typeface="+mn-lt"/>
              </a:rPr>
              <a:t>中的方法。</a:t>
            </a:r>
            <a:endParaRPr kumimoji="1" lang="en-US" altLang="zh-CN" sz="1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07953" y="1513010"/>
            <a:ext cx="5733514" cy="13527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3516" y="1192172"/>
            <a:ext cx="5912187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>
                <a:cs typeface="+mn-ea"/>
                <a:sym typeface="+mn-lt"/>
              </a:rPr>
              <a:t>例如在之前的例子中，限定了泛型参数必须实现 </a:t>
            </a:r>
            <a:r>
              <a:rPr kumimoji="1" lang="en-US" altLang="zh-CN" sz="1400">
                <a:cs typeface="+mn-ea"/>
                <a:sym typeface="+mn-lt"/>
              </a:rPr>
              <a:t>Debug trait</a:t>
            </a:r>
            <a:r>
              <a:rPr kumimoji="1" lang="zh-CN" altLang="en-US" sz="1400">
                <a:cs typeface="+mn-ea"/>
                <a:sym typeface="+mn-lt"/>
              </a:rPr>
              <a:t>：</a:t>
            </a:r>
            <a:endParaRPr kumimoji="1" lang="en-US" altLang="zh-CN" sz="140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9239" y="2772435"/>
            <a:ext cx="5912187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>
                <a:cs typeface="+mn-ea"/>
                <a:sym typeface="+mn-lt"/>
              </a:rPr>
              <a:t>如果对多个参数限定</a:t>
            </a:r>
            <a:r>
              <a:rPr kumimoji="1" lang="en-US" altLang="zh-CN" sz="1400">
                <a:cs typeface="+mn-ea"/>
                <a:sym typeface="+mn-lt"/>
              </a:rPr>
              <a:t>trait</a:t>
            </a:r>
            <a:r>
              <a:rPr kumimoji="1" lang="zh-CN" altLang="en-US" sz="1400">
                <a:cs typeface="+mn-ea"/>
                <a:sym typeface="+mn-lt"/>
              </a:rPr>
              <a:t>：</a:t>
            </a:r>
            <a:endParaRPr kumimoji="1" lang="en-US" altLang="zh-CN" sz="140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07953" y="3035976"/>
            <a:ext cx="5733514" cy="13836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val1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val2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val1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val2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43516" y="4510285"/>
            <a:ext cx="5912187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>
                <a:cs typeface="+mn-ea"/>
                <a:sym typeface="+mn-lt"/>
              </a:rPr>
              <a:t>如果存在多个限定</a:t>
            </a:r>
            <a:r>
              <a:rPr kumimoji="1" lang="en-US" altLang="zh-CN" sz="1400">
                <a:cs typeface="+mn-ea"/>
                <a:sym typeface="+mn-lt"/>
              </a:rPr>
              <a:t>trait</a:t>
            </a:r>
            <a:r>
              <a:rPr kumimoji="1" lang="zh-CN" altLang="en-US" sz="1400">
                <a:cs typeface="+mn-ea"/>
                <a:sym typeface="+mn-lt"/>
              </a:rPr>
              <a:t>：</a:t>
            </a:r>
            <a:endParaRPr kumimoji="1" lang="en-US" altLang="zh-CN" sz="1400"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07953" y="4767975"/>
            <a:ext cx="5743468" cy="174594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fmt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11409"/>
            <a:ext cx="378308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泛型约束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-where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语句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43516" y="616733"/>
            <a:ext cx="10229316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400">
                <a:solidFill>
                  <a:schemeClr val="accent1"/>
                </a:solidFill>
                <a:cs typeface="+mn-ea"/>
                <a:sym typeface="+mn-lt"/>
              </a:rPr>
              <a:t>泛型约束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除了在声明泛型参数时可使用冒号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+trait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的方式添加外，也可使用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where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语句添加，以增强代码可读性。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75091" y="1423224"/>
            <a:ext cx="4101982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例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：在结构体声明时使用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where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语句添加泛型约束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8923" y="3774839"/>
            <a:ext cx="3931066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例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：在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声明时使用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where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语句添加泛型约束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8923" y="1790265"/>
            <a:ext cx="443958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Display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923" y="4008585"/>
            <a:ext cx="443958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TraitA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fr-FR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Copy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fr-FR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75091" y="1790265"/>
            <a:ext cx="5098991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Default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8923" y="1374767"/>
            <a:ext cx="4071949" cy="383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例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：在函数声明时使用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where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语句添加泛型约束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41247"/>
            <a:ext cx="437940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生命周期参数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8001" y="741066"/>
            <a:ext cx="6788191" cy="1803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当程序需要使用生命周期标注时，会将生命周期以泛型参数的形式进行声明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如下例，当我们在结构体</a:t>
            </a:r>
            <a:r>
              <a:rPr lang="en-US" altLang="zh-CN" sz="1600">
                <a:cs typeface="+mn-ea"/>
                <a:sym typeface="+mn-lt"/>
              </a:rPr>
              <a:t>S</a:t>
            </a:r>
            <a:r>
              <a:rPr lang="zh-CN" altLang="en-US" sz="1600">
                <a:cs typeface="+mn-ea"/>
                <a:sym typeface="+mn-lt"/>
              </a:rPr>
              <a:t>中包含一个数组的引用时，我们需要在定义中以泛型参数的形式声明引用的生命周期，以创建包含成员生命周期不同的结构体</a:t>
            </a:r>
            <a:r>
              <a:rPr lang="en-US" altLang="zh-CN" sz="1600">
                <a:cs typeface="+mn-ea"/>
                <a:sym typeface="+mn-lt"/>
              </a:rPr>
              <a:t>S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45518" y="741066"/>
            <a:ext cx="3838638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8001" y="3164432"/>
            <a:ext cx="3672976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而当声明该结构体时，我们需要将引用的生命周期作为泛型参数传递。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79769" y="3164432"/>
            <a:ext cx="6704387" cy="2245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'b&gt;(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&amp;'a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array1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&amp;'b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array2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41247"/>
            <a:ext cx="437940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生命周期参数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2138" y="1392043"/>
            <a:ext cx="5379070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在使用泛型参数时，可以同时声明类型参数和生命周期参数。</a:t>
            </a:r>
          </a:p>
          <a:p>
            <a:pPr>
              <a:lnSpc>
                <a:spcPct val="150000"/>
              </a:lnSpc>
            </a:pP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生命周期参数始终在类型参数之前。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26786" y="1382089"/>
            <a:ext cx="425737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31766" y="2952088"/>
            <a:ext cx="6552390" cy="2245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&amp;'a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array1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&amp;'b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array2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11409"/>
            <a:ext cx="37446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泛型关联类型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(GAT)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43516" y="627489"/>
            <a:ext cx="10740640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在 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中，泛型关联类型（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generic associated types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，简称 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GAT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）通过在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关联类型定义中声明泛型参数，使得一种类型通过使用不同的泛型参数可以表达不同的关联类型。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7292" y="1609329"/>
            <a:ext cx="5540684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Calculator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在关联类型中声明泛型参数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此泛型约束表示关联类型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可和类型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T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执行相加操作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Output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是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Add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中的关联类型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,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此处表示该关联类型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是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Calculator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中的关联类型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I&lt;T&gt;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&gt;: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&gt;&gt;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fr-FR" altLang="zh-CN" sz="140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fr-FR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r>
              <a:rPr lang="fr-FR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fr-FR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27079" y="1609329"/>
            <a:ext cx="5540685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Calculator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data1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data2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data3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为使用相同类型定义、不同泛型参数的类型，分别可和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i8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u16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f32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进行相加操作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i8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u16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0" name="矩形 9"/>
          <p:cNvSpPr/>
          <p:nvPr/>
        </p:nvSpPr>
        <p:spPr>
          <a:xfrm>
            <a:off x="6227078" y="4954413"/>
            <a:ext cx="5540685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i8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u16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7292" y="4898383"/>
            <a:ext cx="5063778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>
                <a:cs typeface="+mn-ea"/>
                <a:sym typeface="+mn-lt"/>
              </a:rPr>
              <a:t>如果没有</a:t>
            </a:r>
            <a:r>
              <a:rPr kumimoji="1" lang="en-US" altLang="zh-CN" sz="1400">
                <a:cs typeface="+mn-ea"/>
                <a:sym typeface="+mn-lt"/>
              </a:rPr>
              <a:t>GAT</a:t>
            </a:r>
            <a:r>
              <a:rPr kumimoji="1" lang="zh-CN" altLang="en-US" sz="1400">
                <a:cs typeface="+mn-ea"/>
                <a:sym typeface="+mn-lt"/>
              </a:rPr>
              <a:t>的话，我们则需要声明三个泛型参数，且无法表达三种泛型为同一种声明类型的信息</a:t>
            </a:r>
            <a:endParaRPr kumimoji="1" lang="en-US" altLang="zh-CN" sz="1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11409"/>
            <a:ext cx="37446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泛型关联类型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(GAT)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39738" y="711361"/>
            <a:ext cx="7938459" cy="332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随后，我们分别实现包含泛型参数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的结构体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和枚举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，以及它们和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的加法实现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9738" y="1136709"/>
            <a:ext cx="4697870" cy="27392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rhs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rhs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85729" y="1136709"/>
            <a:ext cx="5411657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rhs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rhs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11409"/>
            <a:ext cx="37446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泛型关联类型</a:t>
            </a:r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(GAT)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88612" y="701018"/>
            <a:ext cx="7938459" cy="332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这样的话，我们就可以创建和使用成员分别为结构体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和枚举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Data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类型了。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8612" y="1443427"/>
            <a:ext cx="4422753" cy="24612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StructData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EnumData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Calculator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StructData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fr-FR" altLang="zh-CN" sz="1400">
                <a:solidFill>
                  <a:srgbClr val="E5C07B"/>
                </a:solidFill>
                <a:cs typeface="+mn-ea"/>
                <a:sym typeface="+mn-lt"/>
              </a:rPr>
              <a:t>Calculator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EnumData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71882" y="1437786"/>
            <a:ext cx="4488176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StructData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 },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.data1  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.data1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EnumData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.data2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e_data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.data2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66115" y="1244442"/>
            <a:ext cx="8866042" cy="9541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da-DK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3516" y="570323"/>
            <a:ext cx="10740640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中，类型别名允许用户为现有类型定义一个新名称，使得程序表达更为简洁。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3516" y="11409"/>
            <a:ext cx="451405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类型别名的泛型使用场景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3516" y="2609216"/>
            <a:ext cx="11266612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比如此例中，将返回类型进行别名，可大大简化函数签名的复杂度。</a:t>
            </a:r>
          </a:p>
        </p:txBody>
      </p:sp>
      <p:sp>
        <p:nvSpPr>
          <p:cNvPr id="7" name="矩形 6"/>
          <p:cNvSpPr/>
          <p:nvPr/>
        </p:nvSpPr>
        <p:spPr>
          <a:xfrm>
            <a:off x="966115" y="3657896"/>
            <a:ext cx="8866042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da-DK" altLang="zh-CN" sz="140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IOResult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IOResult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掌握泛型函数、结构体和枚举的定义和使用方法；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掌握泛型</a:t>
            </a:r>
            <a:r>
              <a:rPr lang="en-US" altLang="zh-CN" sz="1800">
                <a:cs typeface="+mn-ea"/>
                <a:sym typeface="+mn-lt"/>
              </a:rPr>
              <a:t>trait</a:t>
            </a:r>
            <a:r>
              <a:rPr lang="zh-CN" altLang="en-US" sz="1800">
                <a:cs typeface="+mn-ea"/>
                <a:sym typeface="+mn-lt"/>
              </a:rPr>
              <a:t>的定义和使用方法；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掌握常量泛型和泛型关联类型的概念和用法；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掌握类型别名在泛型场景的使用；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3jxmhkc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3jxmhkc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3jxmhkc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3jxmhkcs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2714</TotalTime>
  <Words>2881</Words>
  <Application>Microsoft Office PowerPoint</Application>
  <PresentationFormat>自定义</PresentationFormat>
  <Paragraphs>305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.AppleSystemUIFont</vt:lpstr>
      <vt:lpstr>Microsoft YaHei</vt:lpstr>
      <vt:lpstr>Arial</vt:lpstr>
      <vt:lpstr>Calibri</vt:lpstr>
      <vt:lpstr>Huawei Sans</vt:lpstr>
      <vt:lpstr>Wingdings</vt:lpstr>
      <vt:lpstr>封面页_图片版 </vt:lpstr>
      <vt:lpstr>目录页</vt:lpstr>
      <vt:lpstr>章节页</vt:lpstr>
      <vt:lpstr>结束页</vt:lpstr>
      <vt:lpstr>泛型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泛型</dc:title>
  <dc:creator/>
  <cp:lastModifiedBy>Zhangyandong (ben)</cp:lastModifiedBy>
  <cp:revision>9</cp:revision>
  <dcterms:created xsi:type="dcterms:W3CDTF">2023-10-18T07:18:49Z</dcterms:created>
  <dcterms:modified xsi:type="dcterms:W3CDTF">2024-11-20T02:32:02Z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(3)DfeSRiNjN+mlpEpxlMuPRjE23ctx1kQcGeXrjDPUu4/SOG9hM7YIg84eRvfQT7FTWNei1och
ihLAbjtKVcEg9mzktm1fTx+mHzDrRt0fi/oxvH9Ym4a1+p/AradjByn7UqiyNbGwa+Q8A81N
RqoJQeBLQysAMZc1gcoMNHA4BLQQ0SX1ST6ZEzfjukbUaK1yQ72GZ2/Gosy9zW9Xc4wp1eRZ
IdeFz+A/bJU6tUMXH+</vt:lpwstr>
  </property>
  <property fmtid="{D5CDD505-2E9C-101B-9397-08002B2CF9AE}" pid="3" name="_2015_ms_pID_7253431">
    <vt:lpwstr>nvPR8oepGo1WO6E0jywyjoscEbIBfmKtTX+D+dFGeeUSJZUMTAk+qH
3J9wK0zyKao8gleEdXCDqez7jnPi1pqiArYBumIA2FbTGI+LCOvEQQpwO0nCtVFmQkJT0qV3
RhiTQGB5OSwGDHxL3qfgo9Eloe0CXISQfP1O4D6nKuGH0UTpY/5e/6RkiEc/pwj7OGESx4to
EMNEQnlFhUer6juU2wCPyOROtQF9F4ay/wck</vt:lpwstr>
  </property>
  <property fmtid="{D5CDD505-2E9C-101B-9397-08002B2CF9AE}" pid="4" name="_2015_ms_pID_7253432">
    <vt:lpwstr>6g==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