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  <p:sldMasterId id="2147483659" r:id="rId3"/>
    <p:sldMasterId id="2147483660" r:id="rId4"/>
    <p:sldMasterId id="2147483662" r:id="rId5"/>
  </p:sldMasterIdLst>
  <p:notesMasterIdLst>
    <p:notesMasterId r:id="rId23"/>
  </p:notesMasterIdLst>
  <p:handoutMasterIdLst>
    <p:handoutMasterId r:id="rId24"/>
  </p:handoutMasterIdLst>
  <p:sldIdLst>
    <p:sldId id="283" r:id="rId6"/>
    <p:sldId id="288" r:id="rId7"/>
    <p:sldId id="442" r:id="rId8"/>
    <p:sldId id="448" r:id="rId9"/>
    <p:sldId id="450" r:id="rId10"/>
    <p:sldId id="452" r:id="rId11"/>
    <p:sldId id="475" r:id="rId12"/>
    <p:sldId id="451" r:id="rId13"/>
    <p:sldId id="453" r:id="rId14"/>
    <p:sldId id="466" r:id="rId15"/>
    <p:sldId id="454" r:id="rId16"/>
    <p:sldId id="461" r:id="rId17"/>
    <p:sldId id="456" r:id="rId18"/>
    <p:sldId id="473" r:id="rId19"/>
    <p:sldId id="457" r:id="rId20"/>
    <p:sldId id="292" r:id="rId21"/>
    <p:sldId id="280" r:id="rId22"/>
  </p:sldIdLst>
  <p:sldSz cx="12196763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>
            <p14:sldId id="288"/>
          </p14:sldIdLst>
        </p14:section>
        <p14:section name="章节页" id="{FD05EE94-C931-8C4B-83A2-004B32AA1207}">
          <p14:sldIdLst>
            <p14:sldId id="442"/>
            <p14:sldId id="448"/>
            <p14:sldId id="450"/>
            <p14:sldId id="452"/>
            <p14:sldId id="475"/>
            <p14:sldId id="451"/>
            <p14:sldId id="453"/>
            <p14:sldId id="466"/>
            <p14:sldId id="454"/>
            <p14:sldId id="461"/>
            <p14:sldId id="456"/>
            <p14:sldId id="473"/>
            <p14:sldId id="457"/>
            <p14:sldId id="292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pos="3701">
          <p15:clr>
            <a:srgbClr val="A4A3A4"/>
          </p15:clr>
        </p15:guide>
        <p15:guide id="2" orient="horz" pos="2159">
          <p15:clr>
            <a:srgbClr val="A4A3A4"/>
          </p15:clr>
        </p15:guide>
        <p15:guide id="3" pos="35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002" name="liziqiang 00556901_ERbuA7r6" initials="authorId_AK20210901:AK20210901JXNSXO4497046" lastIdx="1688589310" clrIdx="0"/>
  <p:cmAuthor id="2003" name="wuxiaojun 00342820_QRBvBJbY" initials="authorId_AK20210901:AK20210901JXNSXO124321" lastIdx="614493674" clrIdx="0"/>
  <p:cmAuthor id="2000" name="fanchangchun 00567414_2yeyVvEJ" initials="authorId_AK20210901:AK20210901JXNSXO4723448" lastIdx="0" clrIdx="0"/>
  <p:cmAuthor id="2001" name="zhanghandong WX930509_Jj22FnMn" initials="authorId_AK20210901:AK20210901JXNSXO4676065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E57B84"/>
    <a:srgbClr val="E6A8AD"/>
    <a:srgbClr val="E57984"/>
    <a:srgbClr val="FFFFFF"/>
    <a:srgbClr val="151515"/>
    <a:srgbClr val="C7000B"/>
    <a:srgbClr val="575756"/>
    <a:srgbClr val="DD4654"/>
    <a:srgbClr val="F3D2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17" autoAdjust="0"/>
    <p:restoredTop sz="91465" autoAdjust="0"/>
  </p:normalViewPr>
  <p:slideViewPr>
    <p:cSldViewPr snapToGrid="0" snapToObjects="1">
      <p:cViewPr varScale="1">
        <p:scale>
          <a:sx n="66" d="100"/>
          <a:sy n="66" d="100"/>
        </p:scale>
        <p:origin x="40" y="272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11/20/2024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1916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11/20/2024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753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99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127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233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885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697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8964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4246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2432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4175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2302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8060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4386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6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4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6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6021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6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5498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986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54" y="-57144"/>
            <a:ext cx="12243078" cy="5625189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036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234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90/79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120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0/15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248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181/60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235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92/1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137/137/137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35/24/21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221</a:t>
                </a: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221/221</a:t>
                </a:r>
                <a:endParaRPr kumimoji="1" lang="en-US" altLang="zh-CN" sz="700" b="1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233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140/128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159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0/1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245</a:t>
                </a: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220/87</a:t>
                </a:r>
                <a:endParaRPr kumimoji="1" lang="en-US" altLang="zh-CN" sz="700" b="1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240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133/0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181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181/181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89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87/87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255</a:t>
                </a: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255/255</a:t>
                </a:r>
                <a:endParaRPr kumimoji="1" lang="en-US" altLang="zh-CN" sz="700" b="1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8" y="6321130"/>
            <a:ext cx="1269075" cy="27754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</a:br>
            <a:r>
              <a:rPr kumimoji="1" lang="zh-CN" altLang="en-US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>
              <a:solidFill>
                <a:srgbClr val="1D1D1B"/>
              </a:solidFill>
              <a:latin typeface="+mn-lt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8" y="5237637"/>
            <a:ext cx="1869596" cy="4088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948808" y="1066890"/>
            <a:ext cx="6559809" cy="690255"/>
          </a:xfrm>
        </p:spPr>
        <p:txBody>
          <a:bodyPr>
            <a:no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集合容器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Text Placeholder 3"/>
          <p:cNvSpPr txBox="1"/>
          <p:nvPr/>
        </p:nvSpPr>
        <p:spPr>
          <a:xfrm>
            <a:off x="948808" y="6264112"/>
            <a:ext cx="2606870" cy="1366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kumimoji="1" lang="en-US" altLang="zh-CN" sz="1000" dirty="0">
                <a:cs typeface="+mn-ea"/>
                <a:sym typeface="+mn-lt"/>
              </a:rPr>
              <a:t>Security Level:</a:t>
            </a:r>
            <a:endParaRPr lang="en-US" sz="1000" dirty="0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01663" y="5858894"/>
            <a:ext cx="2794958" cy="888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关于本章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377391"/>
            <a:ext cx="10733557" cy="100182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章节目标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通过本章节的学习，掌握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Rust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语言标准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库中常用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的集合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容器以及迭代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器和适配器的概念和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用法。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29175" y="1811383"/>
            <a:ext cx="9065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9175" y="3017080"/>
            <a:ext cx="207366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419122" y="2967572"/>
            <a:ext cx="4196421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>
                <a:cs typeface="+mn-ea"/>
                <a:sym typeface="+mn-lt"/>
              </a:rPr>
              <a:t>集合容器的概念和基本用法；</a:t>
            </a:r>
            <a:endParaRPr lang="en-US" altLang="zh-CN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>
                <a:cs typeface="+mn-ea"/>
                <a:sym typeface="+mn-lt"/>
              </a:rPr>
              <a:t>常用迭代器的分类和使用；</a:t>
            </a:r>
            <a:endParaRPr lang="en-US" altLang="zh-CN" dirty="0"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4926" y="2549857"/>
            <a:ext cx="2276585" cy="466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cs typeface="+mn-ea"/>
                <a:sym typeface="+mn-lt"/>
              </a:rPr>
              <a:t>本章预期掌握知识点</a:t>
            </a:r>
            <a:endParaRPr lang="en-US" altLang="zh-CN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29175" y="952834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624474" y="0"/>
            <a:ext cx="36000" cy="6840000"/>
          </a:xfrm>
          <a:prstGeom prst="rect">
            <a:avLst/>
          </a:prstGeom>
          <a:gradFill>
            <a:gsLst>
              <a:gs pos="4000">
                <a:schemeClr val="tx2">
                  <a:lumMod val="85000"/>
                </a:schemeClr>
              </a:gs>
              <a:gs pos="54000">
                <a:schemeClr val="tx2">
                  <a:lumMod val="85000"/>
                </a:schemeClr>
              </a:gs>
              <a:gs pos="100000">
                <a:schemeClr val="tx2">
                  <a:lumMod val="85000"/>
                  <a:alpha val="7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目录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36258" y="1699607"/>
            <a:ext cx="10733557" cy="4690459"/>
          </a:xfrm>
        </p:spPr>
        <p:txBody>
          <a:bodyPr/>
          <a:lstStyle/>
          <a:p>
            <a:pPr marL="354965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集合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容器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354965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迭代器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29175" y="980319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157365" y="20623"/>
            <a:ext cx="10740640" cy="615021"/>
          </a:xfrm>
        </p:spPr>
        <p:txBody>
          <a:bodyPr>
            <a:norm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集合容器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集合类型介绍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574474"/>
              </p:ext>
            </p:extLst>
          </p:nvPr>
        </p:nvGraphicFramePr>
        <p:xfrm>
          <a:off x="434350" y="1130489"/>
          <a:ext cx="10906293" cy="469234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182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18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271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集合容器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latin typeface="+mn-lt"/>
                          <a:ea typeface="+mn-ea"/>
                          <a:cs typeface="+mn-ea"/>
                          <a:sym typeface="+mn-lt"/>
                        </a:rPr>
                        <a:t>使用场景</a:t>
                      </a:r>
                      <a:endParaRPr lang="zh-CN" altLang="en-US" sz="1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443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Vec&lt;T&gt;</a:t>
                      </a:r>
                      <a:endParaRPr lang="zh-CN" altLang="en-US" sz="1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动态数组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latin typeface="+mn-lt"/>
                          <a:ea typeface="+mn-ea"/>
                          <a:cs typeface="+mn-ea"/>
                          <a:sym typeface="+mn-lt"/>
                        </a:rPr>
                        <a:t>需要按特定顺序排列元素序列，并且只会附加到（或接近）末尾；设计堆栈；可调整大小的数组；堆分配的数组；</a:t>
                      </a:r>
                      <a:endParaRPr lang="zh-CN" altLang="en-US" sz="1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443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VecDeque&lt;T&gt;</a:t>
                      </a:r>
                      <a:endParaRPr lang="zh-CN" altLang="en-US" sz="1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双端队列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latin typeface="+mn-lt"/>
                          <a:ea typeface="+mn-ea"/>
                          <a:cs typeface="+mn-ea"/>
                          <a:sym typeface="+mn-lt"/>
                        </a:rPr>
                        <a:t>需要一个</a:t>
                      </a:r>
                      <a:r>
                        <a:rPr lang="en-US" altLang="zh-CN" sz="1400">
                          <a:latin typeface="+mn-lt"/>
                          <a:ea typeface="+mn-ea"/>
                          <a:cs typeface="+mn-ea"/>
                          <a:sym typeface="+mn-lt"/>
                        </a:rPr>
                        <a:t>Vec</a:t>
                      </a:r>
                      <a:r>
                        <a:rPr lang="zh-CN" altLang="en-US" sz="1400">
                          <a:latin typeface="+mn-lt"/>
                          <a:ea typeface="+mn-ea"/>
                          <a:cs typeface="+mn-ea"/>
                          <a:sym typeface="+mn-lt"/>
                        </a:rPr>
                        <a:t>支持在序列两端高效插入；实现队列；实现双端队列；</a:t>
                      </a:r>
                      <a:endParaRPr lang="zh-CN" altLang="en-US" sz="1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443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LinkedList&lt;T&gt;</a:t>
                      </a:r>
                      <a:endParaRPr lang="zh-CN" altLang="en-US" sz="1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双向链表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latin typeface="+mn-lt"/>
                          <a:ea typeface="+mn-ea"/>
                          <a:cs typeface="+mn-ea"/>
                          <a:sym typeface="+mn-lt"/>
                        </a:rPr>
                        <a:t>需要一个未知大小的</a:t>
                      </a:r>
                      <a:r>
                        <a:rPr lang="en-US" altLang="zh-CN" sz="1400">
                          <a:latin typeface="+mn-lt"/>
                          <a:ea typeface="+mn-ea"/>
                          <a:cs typeface="+mn-ea"/>
                          <a:sym typeface="+mn-lt"/>
                        </a:rPr>
                        <a:t>Vec</a:t>
                      </a:r>
                      <a:r>
                        <a:rPr lang="zh-CN" altLang="en-US" sz="1400">
                          <a:latin typeface="+mn-lt"/>
                          <a:ea typeface="+mn-ea"/>
                          <a:cs typeface="+mn-ea"/>
                          <a:sym typeface="+mn-lt"/>
                        </a:rPr>
                        <a:t>或</a:t>
                      </a:r>
                      <a:r>
                        <a:rPr lang="en-US" altLang="zh-CN" sz="1400">
                          <a:latin typeface="+mn-lt"/>
                          <a:ea typeface="+mn-ea"/>
                          <a:cs typeface="+mn-ea"/>
                          <a:sym typeface="+mn-lt"/>
                        </a:rPr>
                        <a:t>VecDeque</a:t>
                      </a:r>
                      <a:r>
                        <a:rPr lang="zh-CN" altLang="en-US" sz="1400">
                          <a:latin typeface="+mn-lt"/>
                          <a:ea typeface="+mn-ea"/>
                          <a:cs typeface="+mn-ea"/>
                          <a:sym typeface="+mn-lt"/>
                        </a:rPr>
                        <a:t>，并且不能容忍摊销；需要有效地拆分和追加列表；双向列表；</a:t>
                      </a:r>
                      <a:endParaRPr lang="zh-CN" altLang="en-US" sz="1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443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HashSet&lt;T&gt;</a:t>
                      </a:r>
                      <a:endParaRPr lang="zh-CN" altLang="en-US" sz="1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哈希集合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latin typeface="+mn-lt"/>
                          <a:ea typeface="+mn-ea"/>
                          <a:cs typeface="+mn-ea"/>
                          <a:sym typeface="+mn-lt"/>
                        </a:rPr>
                        <a:t>更加关注键；与键关联没有任何有意义的值；只想要一个</a:t>
                      </a:r>
                      <a:r>
                        <a:rPr lang="en-US" altLang="zh-CN" sz="1400">
                          <a:latin typeface="+mn-lt"/>
                          <a:ea typeface="+mn-ea"/>
                          <a:cs typeface="+mn-ea"/>
                          <a:sym typeface="+mn-lt"/>
                        </a:rPr>
                        <a:t>set</a:t>
                      </a:r>
                      <a:r>
                        <a:rPr lang="zh-CN" altLang="en-US" sz="1400">
                          <a:latin typeface="+mn-lt"/>
                          <a:ea typeface="+mn-ea"/>
                          <a:cs typeface="+mn-ea"/>
                          <a:sym typeface="+mn-lt"/>
                        </a:rPr>
                        <a:t>；</a:t>
                      </a:r>
                      <a:endParaRPr lang="zh-CN" altLang="en-US" sz="1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443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BTreeSet&lt;T&gt;</a:t>
                      </a:r>
                      <a:endParaRPr lang="zh-CN" altLang="en-US" sz="1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基于</a:t>
                      </a:r>
                      <a:r>
                        <a:rPr lang="en-US" altLang="zh-CN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B</a:t>
                      </a:r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树的有序集合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>
                          <a:latin typeface="+mn-lt"/>
                          <a:ea typeface="+mn-ea"/>
                          <a:cs typeface="+mn-ea"/>
                          <a:sym typeface="+mn-lt"/>
                        </a:rPr>
                        <a:t>更加关注键；与键关联没有任何有意义的值，需要排序的场景；</a:t>
                      </a:r>
                      <a:endParaRPr lang="zh-CN" altLang="en-US" sz="1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443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HashMap&lt;K,V&gt;</a:t>
                      </a:r>
                      <a:endParaRPr lang="zh-CN" altLang="en-US" sz="1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哈希表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latin typeface="+mn-lt"/>
                          <a:ea typeface="+mn-ea"/>
                          <a:cs typeface="+mn-ea"/>
                          <a:sym typeface="+mn-lt"/>
                        </a:rPr>
                        <a:t>需要将任意键与任意值相关联；需要缓存；需要一个没有额外功能的 </a:t>
                      </a:r>
                      <a:r>
                        <a:rPr lang="en-US" altLang="zh-CN" sz="1400">
                          <a:latin typeface="+mn-lt"/>
                          <a:ea typeface="+mn-ea"/>
                          <a:cs typeface="+mn-ea"/>
                          <a:sym typeface="+mn-lt"/>
                        </a:rPr>
                        <a:t>map</a:t>
                      </a:r>
                      <a:r>
                        <a:rPr lang="zh-CN" altLang="en-US" sz="1400">
                          <a:latin typeface="+mn-lt"/>
                          <a:ea typeface="+mn-ea"/>
                          <a:cs typeface="+mn-ea"/>
                          <a:sym typeface="+mn-lt"/>
                        </a:rPr>
                        <a:t>；</a:t>
                      </a:r>
                      <a:endParaRPr lang="zh-CN" altLang="en-US" sz="1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443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BTreeMap&lt;K,V&gt;</a:t>
                      </a:r>
                      <a:endParaRPr lang="zh-CN" altLang="en-US" sz="1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基于</a:t>
                      </a:r>
                      <a:r>
                        <a:rPr lang="en-US" altLang="zh-CN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B</a:t>
                      </a:r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树的有序映射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>
                          <a:latin typeface="+mn-lt"/>
                          <a:ea typeface="+mn-ea"/>
                          <a:cs typeface="+mn-ea"/>
                          <a:sym typeface="+mn-lt"/>
                        </a:rPr>
                        <a:t>需要按键排序的</a:t>
                      </a:r>
                      <a:r>
                        <a:rPr lang="en-US" altLang="zh-CN" sz="1400">
                          <a:latin typeface="+mn-lt"/>
                          <a:ea typeface="+mn-ea"/>
                          <a:cs typeface="+mn-ea"/>
                          <a:sym typeface="+mn-lt"/>
                        </a:rPr>
                        <a:t>map</a:t>
                      </a:r>
                      <a:r>
                        <a:rPr lang="zh-CN" altLang="en-US" sz="1400">
                          <a:latin typeface="+mn-lt"/>
                          <a:ea typeface="+mn-ea"/>
                          <a:cs typeface="+mn-ea"/>
                          <a:sym typeface="+mn-lt"/>
                        </a:rPr>
                        <a:t>；希望能够按需获取一系列条目；对最小和最大的键值对感兴趣；想要找到小于或大于某项的最大或最小键；</a:t>
                      </a:r>
                      <a:endParaRPr lang="zh-CN" altLang="en-US" sz="1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443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BinaryHeap&lt;T&gt;</a:t>
                      </a:r>
                      <a:endParaRPr lang="zh-CN" altLang="en-US" sz="1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二叉堆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latin typeface="+mn-lt"/>
                          <a:ea typeface="+mn-ea"/>
                          <a:cs typeface="+mn-ea"/>
                          <a:sym typeface="+mn-lt"/>
                        </a:rPr>
                        <a:t>想要存储一堆元素，但只想在任何给定时间处理 “</a:t>
                      </a:r>
                      <a:r>
                        <a:rPr lang="en-US" altLang="zh-CN" sz="1400">
                          <a:latin typeface="+mn-lt"/>
                          <a:ea typeface="+mn-ea"/>
                          <a:cs typeface="+mn-ea"/>
                          <a:sym typeface="+mn-lt"/>
                        </a:rPr>
                        <a:t>biggest” </a:t>
                      </a:r>
                      <a:r>
                        <a:rPr lang="zh-CN" altLang="en-US" sz="1400">
                          <a:latin typeface="+mn-lt"/>
                          <a:ea typeface="+mn-ea"/>
                          <a:cs typeface="+mn-ea"/>
                          <a:sym typeface="+mn-lt"/>
                        </a:rPr>
                        <a:t>或 “</a:t>
                      </a:r>
                      <a:r>
                        <a:rPr lang="en-US" altLang="zh-CN" sz="1400">
                          <a:latin typeface="+mn-lt"/>
                          <a:ea typeface="+mn-ea"/>
                          <a:cs typeface="+mn-ea"/>
                          <a:sym typeface="+mn-lt"/>
                        </a:rPr>
                        <a:t>most important”</a:t>
                      </a:r>
                      <a:r>
                        <a:rPr lang="zh-CN" altLang="en-US" sz="1400">
                          <a:latin typeface="+mn-lt"/>
                          <a:ea typeface="+mn-ea"/>
                          <a:cs typeface="+mn-ea"/>
                          <a:sym typeface="+mn-lt"/>
                        </a:rPr>
                        <a:t>；需要优先级队列；</a:t>
                      </a:r>
                      <a:endParaRPr lang="zh-CN" altLang="en-US" sz="1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29899" y="590648"/>
            <a:ext cx="7061703" cy="482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dirty="0">
                <a:cs typeface="+mn-ea"/>
                <a:sym typeface="+mn-lt"/>
              </a:rPr>
              <a:t>在</a:t>
            </a:r>
            <a:r>
              <a:rPr lang="en-US" altLang="zh-CN" dirty="0">
                <a:cs typeface="+mn-ea"/>
                <a:sym typeface="+mn-lt"/>
              </a:rPr>
              <a:t>Rust</a:t>
            </a:r>
            <a:r>
              <a:rPr lang="zh-CN" altLang="en-US" dirty="0">
                <a:cs typeface="+mn-ea"/>
                <a:sym typeface="+mn-lt"/>
              </a:rPr>
              <a:t>标准</a:t>
            </a:r>
            <a:r>
              <a:rPr lang="zh-CN" altLang="en-US">
                <a:cs typeface="+mn-ea"/>
                <a:sym typeface="+mn-lt"/>
              </a:rPr>
              <a:t>库中提供的</a:t>
            </a:r>
            <a:r>
              <a:rPr lang="zh-CN" altLang="en-US" dirty="0">
                <a:cs typeface="+mn-ea"/>
                <a:sym typeface="+mn-lt"/>
              </a:rPr>
              <a:t>集合类型：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157365" y="481726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434350" y="5948346"/>
            <a:ext cx="109062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cs typeface="+mn-ea"/>
                <a:sym typeface="+mn-lt"/>
              </a:rPr>
              <a:t>标准库各集合类型参考标准库文档：</a:t>
            </a:r>
            <a:r>
              <a:rPr lang="en-US" altLang="zh-CN">
                <a:cs typeface="+mn-ea"/>
                <a:sym typeface="+mn-lt"/>
              </a:rPr>
              <a:t>https://doc.rust-lang.org/std/collections/index.html</a:t>
            </a:r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57425" y="2020666"/>
            <a:ext cx="6918043" cy="45788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不同</a:t>
            </a:r>
            <a:r>
              <a:rPr lang="zh-CN" altLang="en-US" sz="1600" dirty="0">
                <a:cs typeface="+mn-ea"/>
                <a:sym typeface="+mn-lt"/>
              </a:rPr>
              <a:t>集合</a:t>
            </a:r>
            <a:r>
              <a:rPr lang="zh-CN" altLang="en-US" sz="1600">
                <a:cs typeface="+mn-ea"/>
                <a:sym typeface="+mn-lt"/>
              </a:rPr>
              <a:t>对于某些操作的性能表现：</a:t>
            </a:r>
            <a:endParaRPr lang="zh-CN" altLang="en-US" sz="1600" dirty="0">
              <a:cs typeface="+mn-ea"/>
              <a:sym typeface="+mn-lt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679634"/>
              </p:ext>
            </p:extLst>
          </p:nvPr>
        </p:nvGraphicFramePr>
        <p:xfrm>
          <a:off x="557425" y="2488505"/>
          <a:ext cx="10381615" cy="1235075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2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7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1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0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97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0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类型</a:t>
                      </a:r>
                      <a:endParaRPr lang="en-US" sz="1400" dirty="0"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get(i)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insert(i)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remove(i)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append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split_off</a:t>
                      </a:r>
                      <a:r>
                        <a:rPr lang="en-US" sz="14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u="none" strike="noStrike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Vec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O(1)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O(n-i)*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O(n-i)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O(m)*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O(n-i)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algn="ctr"/>
                      <a:r>
                        <a:rPr lang="en-US" sz="1400" u="none" strike="noStrike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VecDeque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O(1)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O(min(i, n-i))*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O(min(i, n-i))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O(m)*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O(min(i, n-i))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u="none" strike="noStrike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LinkedList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O(min(i, n-i))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O(min(i, n-i))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O(min(i, n-i))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O(1)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O(min(i, n-i))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270122"/>
              </p:ext>
            </p:extLst>
          </p:nvPr>
        </p:nvGraphicFramePr>
        <p:xfrm>
          <a:off x="557425" y="4091101"/>
          <a:ext cx="10382250" cy="916305"/>
        </p:xfrm>
        <a:graphic>
          <a:graphicData uri="http://schemas.openxmlformats.org/drawingml/2006/table">
            <a:tbl>
              <a:tblPr/>
              <a:tblGrid>
                <a:gridCol w="173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0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0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0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0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5435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类型</a:t>
                      </a:r>
                      <a:endParaRPr lang="en-US" sz="1400" dirty="0"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insert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remove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range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append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435">
                <a:tc>
                  <a:txBody>
                    <a:bodyPr/>
                    <a:lstStyle/>
                    <a:p>
                      <a:r>
                        <a:rPr lang="en-US" sz="1400" u="none" strike="noStrike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HashMap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O</a:t>
                      </a:r>
                      <a:r>
                        <a:rPr lang="en-US" sz="14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(1)~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O</a:t>
                      </a:r>
                      <a:r>
                        <a:rPr lang="en-US" sz="14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(1)~*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O</a:t>
                      </a:r>
                      <a:r>
                        <a:rPr lang="en-US" sz="14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(1)~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N/A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N/A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435">
                <a:tc>
                  <a:txBody>
                    <a:bodyPr/>
                    <a:lstStyle/>
                    <a:p>
                      <a:r>
                        <a:rPr lang="en-US" sz="1400" u="none" strike="noStrike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BTreeMap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O</a:t>
                      </a:r>
                      <a:r>
                        <a:rPr lang="en-US" sz="14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(log(</a:t>
                      </a:r>
                      <a:r>
                        <a:rPr lang="en-US" sz="1400" i="1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n</a:t>
                      </a:r>
                      <a:r>
                        <a:rPr lang="en-US" sz="14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O</a:t>
                      </a:r>
                      <a:r>
                        <a:rPr lang="en-US" sz="14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(log(</a:t>
                      </a:r>
                      <a:r>
                        <a:rPr lang="en-US" sz="1400" i="1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n</a:t>
                      </a:r>
                      <a:r>
                        <a:rPr lang="en-US" sz="14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O</a:t>
                      </a:r>
                      <a:r>
                        <a:rPr lang="en-US" sz="14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(log(</a:t>
                      </a:r>
                      <a:r>
                        <a:rPr lang="en-US" sz="1400" i="1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n</a:t>
                      </a:r>
                      <a:r>
                        <a:rPr lang="en-US" sz="14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O</a:t>
                      </a:r>
                      <a:r>
                        <a:rPr lang="en-US" sz="14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(log(</a:t>
                      </a:r>
                      <a:r>
                        <a:rPr lang="en-US" sz="1400" i="1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n</a:t>
                      </a:r>
                      <a:r>
                        <a:rPr lang="en-US" sz="14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O</a:t>
                      </a:r>
                      <a:r>
                        <a:rPr lang="en-US" sz="14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en-US" sz="1400" i="1" dirty="0" err="1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n</a:t>
                      </a:r>
                      <a:r>
                        <a:rPr lang="en-US" sz="1400" dirty="0" err="1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+</a:t>
                      </a:r>
                      <a:r>
                        <a:rPr lang="en-US" sz="1400" i="1" dirty="0" err="1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m</a:t>
                      </a:r>
                      <a:r>
                        <a:rPr lang="en-US" sz="14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557425" y="3643171"/>
            <a:ext cx="6918043" cy="45788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对于 </a:t>
            </a:r>
            <a:r>
              <a:rPr lang="en-US" altLang="zh-CN" sz="1600">
                <a:cs typeface="+mn-ea"/>
                <a:sym typeface="+mn-lt"/>
              </a:rPr>
              <a:t>Sets</a:t>
            </a:r>
            <a:r>
              <a:rPr lang="zh-CN" altLang="en-US" sz="1600">
                <a:cs typeface="+mn-ea"/>
                <a:sym typeface="+mn-lt"/>
              </a:rPr>
              <a:t>，所有操作的成本均等价于 </a:t>
            </a:r>
            <a:r>
              <a:rPr lang="en-US" altLang="zh-CN" sz="1600">
                <a:cs typeface="+mn-ea"/>
                <a:sym typeface="+mn-lt"/>
              </a:rPr>
              <a:t>Map </a:t>
            </a:r>
            <a:r>
              <a:rPr lang="zh-CN" altLang="en-US" sz="1600">
                <a:cs typeface="+mn-ea"/>
                <a:sym typeface="+mn-lt"/>
              </a:rPr>
              <a:t>操作：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1" name="副标题 1"/>
          <p:cNvSpPr txBox="1"/>
          <p:nvPr/>
        </p:nvSpPr>
        <p:spPr>
          <a:xfrm>
            <a:off x="157365" y="20623"/>
            <a:ext cx="10740640" cy="61502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8085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72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08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81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3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26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62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34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07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集合容器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时间复杂度</a:t>
            </a:r>
            <a:endParaRPr lang="en-US" altLang="zh-CN" b="1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57365" y="481726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 userDrawn="1"/>
        </p:nvSpPr>
        <p:spPr>
          <a:xfrm>
            <a:off x="617149" y="5703652"/>
            <a:ext cx="10839926" cy="64701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vert="horz"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注：</a:t>
            </a:r>
            <a:r>
              <a:rPr lang="en-US" altLang="zh-CN" sz="1200" dirty="0">
                <a:cs typeface="+mn-ea"/>
                <a:sym typeface="+mn-lt"/>
              </a:rPr>
              <a:t>m,n</a:t>
            </a:r>
            <a:r>
              <a:rPr lang="zh-CN" altLang="en-US" sz="1200" dirty="0">
                <a:cs typeface="+mn-ea"/>
                <a:sym typeface="+mn-lt"/>
              </a:rPr>
              <a:t>：表示操作的不同的集合大小；</a:t>
            </a:r>
            <a:r>
              <a:rPr lang="en-US" altLang="zh-CN" sz="1200" dirty="0">
                <a:cs typeface="+mn-ea"/>
                <a:sym typeface="+mn-lt"/>
              </a:rPr>
              <a:t>i</a:t>
            </a:r>
            <a:r>
              <a:rPr lang="zh-CN" altLang="en-US" sz="1200" dirty="0">
                <a:cs typeface="+mn-ea"/>
                <a:sym typeface="+mn-lt"/>
              </a:rPr>
              <a:t>：表示操作集合索引位置；</a:t>
            </a:r>
            <a:r>
              <a:rPr lang="en-US" altLang="zh-CN" sz="1200" dirty="0">
                <a:cs typeface="+mn-ea"/>
                <a:sym typeface="+mn-lt"/>
              </a:rPr>
              <a:t>*</a:t>
            </a:r>
            <a:r>
              <a:rPr lang="zh-CN" altLang="en-US" sz="1200" dirty="0">
                <a:cs typeface="+mn-ea"/>
                <a:sym typeface="+mn-lt"/>
              </a:rPr>
              <a:t>表示</a:t>
            </a:r>
            <a:r>
              <a:rPr lang="zh-CN" sz="1200" b="0" u="none">
                <a:solidFill>
                  <a:srgbClr val="111111"/>
                </a:solidFill>
                <a:cs typeface="+mn-ea"/>
                <a:sym typeface="+mn-lt"/>
              </a:rPr>
              <a:t>具有摊销成本的操作</a:t>
            </a:r>
            <a:r>
              <a:rPr lang="zh-CN" altLang="en-US" sz="1200" b="0" u="none">
                <a:solidFill>
                  <a:srgbClr val="111111"/>
                </a:solidFill>
                <a:cs typeface="+mn-ea"/>
                <a:sym typeface="+mn-lt"/>
              </a:rPr>
              <a:t>；</a:t>
            </a:r>
            <a:r>
              <a:rPr lang="en-US" altLang="zh-CN" sz="1200" b="0" u="none">
                <a:solidFill>
                  <a:srgbClr val="111111"/>
                </a:solidFill>
                <a:cs typeface="+mn-ea"/>
                <a:sym typeface="+mn-lt"/>
              </a:rPr>
              <a:t>~</a:t>
            </a:r>
            <a:r>
              <a:rPr lang="zh-CN" altLang="en-US" sz="1200" b="0" u="none">
                <a:solidFill>
                  <a:srgbClr val="111111"/>
                </a:solidFill>
                <a:cs typeface="+mn-ea"/>
                <a:sym typeface="+mn-lt"/>
              </a:rPr>
              <a:t>表示</a:t>
            </a:r>
            <a:r>
              <a:rPr lang="zh-CN" sz="1200" b="0" u="none">
                <a:solidFill>
                  <a:srgbClr val="111111"/>
                </a:solidFill>
                <a:cs typeface="+mn-ea"/>
                <a:sym typeface="+mn-lt"/>
              </a:rPr>
              <a:t>具有预期成本的操作</a:t>
            </a:r>
            <a:r>
              <a:rPr lang="zh-CN" altLang="en-US" sz="1200" b="0" u="none">
                <a:solidFill>
                  <a:srgbClr val="111111"/>
                </a:solidFill>
                <a:cs typeface="+mn-ea"/>
                <a:sym typeface="+mn-lt"/>
              </a:rPr>
              <a:t>；</a:t>
            </a:r>
          </a:p>
          <a:p>
            <a:pPr algn="l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参考资料链接：</a:t>
            </a:r>
            <a:r>
              <a:rPr lang="en-US" altLang="zh-CN" sz="1200" i="1" dirty="0">
                <a:cs typeface="+mn-ea"/>
                <a:sym typeface="+mn-lt"/>
              </a:rPr>
              <a:t>https://doc.rust</a:t>
            </a:r>
            <a:r>
              <a:rPr lang="zh-CN" altLang="en-US" sz="1200" i="1" dirty="0">
                <a:cs typeface="+mn-ea"/>
                <a:sym typeface="+mn-lt"/>
              </a:rPr>
              <a:t>-</a:t>
            </a:r>
            <a:r>
              <a:rPr lang="en-US" altLang="zh-CN" sz="1200" i="1" dirty="0">
                <a:cs typeface="+mn-ea"/>
                <a:sym typeface="+mn-lt"/>
              </a:rPr>
              <a:t>lang.org/std/collections/index.html</a:t>
            </a:r>
            <a:r>
              <a:rPr lang="zh-CN" altLang="en-US" sz="1200" i="1" dirty="0">
                <a:cs typeface="+mn-ea"/>
                <a:sym typeface="+mn-lt"/>
              </a:rPr>
              <a:t>#</a:t>
            </a:r>
            <a:r>
              <a:rPr lang="en-US" altLang="zh-CN" sz="1200" i="1" dirty="0">
                <a:cs typeface="+mn-ea"/>
                <a:sym typeface="+mn-lt"/>
              </a:rPr>
              <a:t>performance</a:t>
            </a:r>
            <a:endParaRPr lang="zh-CN" altLang="en-US" sz="1200" i="1" dirty="0">
              <a:cs typeface="+mn-ea"/>
              <a:sym typeface="+mn-lt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706735" y="5066595"/>
            <a:ext cx="10451719" cy="71668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HashMap</a:t>
            </a:r>
            <a:r>
              <a:rPr lang="zh-CN" altLang="en-US" sz="1400" dirty="0">
                <a:cs typeface="+mn-ea"/>
                <a:sym typeface="+mn-lt"/>
              </a:rPr>
              <a:t>：为了能够比较键（</a:t>
            </a:r>
            <a:r>
              <a:rPr lang="en-US" altLang="zh-CN" sz="1400" dirty="0">
                <a:cs typeface="+mn-ea"/>
                <a:sym typeface="+mn-lt"/>
              </a:rPr>
              <a:t>key</a:t>
            </a:r>
            <a:r>
              <a:rPr lang="zh-CN" altLang="en-US" sz="1400" dirty="0">
                <a:cs typeface="+mn-ea"/>
                <a:sym typeface="+mn-lt"/>
              </a:rPr>
              <a:t>）是否相等以及对键进行哈希计算，需要键实现 </a:t>
            </a:r>
            <a:r>
              <a:rPr lang="en-US" altLang="zh-CN" sz="1400" dirty="0">
                <a:cs typeface="+mn-ea"/>
                <a:sym typeface="+mn-lt"/>
              </a:rPr>
              <a:t>Hash trait </a:t>
            </a:r>
            <a:r>
              <a:rPr lang="zh-CN" altLang="en-US" sz="1400" dirty="0">
                <a:cs typeface="+mn-ea"/>
                <a:sym typeface="+mn-lt"/>
              </a:rPr>
              <a:t>和 </a:t>
            </a:r>
            <a:r>
              <a:rPr lang="en-US" altLang="zh-CN" sz="1400" dirty="0">
                <a:cs typeface="+mn-ea"/>
                <a:sym typeface="+mn-lt"/>
              </a:rPr>
              <a:t>Eq trait</a:t>
            </a:r>
            <a:r>
              <a:rPr lang="zh-CN" altLang="en-US" sz="1400" dirty="0">
                <a:cs typeface="+mn-ea"/>
                <a:sym typeface="+mn-lt"/>
              </a:rPr>
              <a:t>；</a:t>
            </a:r>
          </a:p>
          <a:p>
            <a:pPr algn="l"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BTreeMap</a:t>
            </a:r>
            <a:r>
              <a:rPr lang="zh-CN" altLang="en-US" sz="1400" dirty="0">
                <a:cs typeface="+mn-ea"/>
                <a:sym typeface="+mn-lt"/>
              </a:rPr>
              <a:t>：为了能够比较键（</a:t>
            </a:r>
            <a:r>
              <a:rPr lang="en-US" altLang="zh-CN" sz="1400" dirty="0">
                <a:cs typeface="+mn-ea"/>
                <a:sym typeface="+mn-lt"/>
              </a:rPr>
              <a:t>key</a:t>
            </a:r>
            <a:r>
              <a:rPr lang="zh-CN" altLang="en-US" sz="1400" dirty="0">
                <a:cs typeface="+mn-ea"/>
                <a:sym typeface="+mn-lt"/>
              </a:rPr>
              <a:t>）的顺序，需要键实现 </a:t>
            </a:r>
            <a:r>
              <a:rPr lang="en-US" altLang="zh-CN" sz="1400" dirty="0">
                <a:cs typeface="+mn-ea"/>
                <a:sym typeface="+mn-lt"/>
              </a:rPr>
              <a:t>Ord trait</a:t>
            </a:r>
            <a:r>
              <a:rPr lang="zh-CN" altLang="en-US" sz="1400" dirty="0">
                <a:cs typeface="+mn-ea"/>
                <a:sym typeface="+mn-lt"/>
              </a:rPr>
              <a:t>；</a:t>
            </a:r>
          </a:p>
        </p:txBody>
      </p:sp>
      <p:sp>
        <p:nvSpPr>
          <p:cNvPr id="5" name="文本框 4"/>
          <p:cNvSpPr txBox="1"/>
          <p:nvPr userDrawn="1"/>
        </p:nvSpPr>
        <p:spPr>
          <a:xfrm>
            <a:off x="169218" y="487747"/>
            <a:ext cx="10730432" cy="174195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400" b="1" dirty="0">
                <a:solidFill>
                  <a:srgbClr val="000000"/>
                </a:solidFill>
                <a:cs typeface="+mn-ea"/>
                <a:sym typeface="+mn-lt"/>
              </a:rPr>
              <a:t>常用操作功能简单介绍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：</a:t>
            </a:r>
          </a:p>
          <a:p>
            <a:pPr algn="l">
              <a:lnSpc>
                <a:spcPct val="150000"/>
              </a:lnSpc>
            </a:pP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get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r>
              <a:rPr lang="zh-CN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此方法用于获取集合中给定索引或键的</a:t>
            </a:r>
            <a:r>
              <a:rPr lang="zh-CN" altLang="en-US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元素；</a:t>
            </a:r>
            <a:r>
              <a:rPr lang="en-US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insert</a:t>
            </a:r>
            <a:r>
              <a:rPr lang="zh-CN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：此方法用于在集合中插入一个元素</a:t>
            </a:r>
            <a:r>
              <a:rPr lang="zh-CN" altLang="en-US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；</a:t>
            </a:r>
            <a:r>
              <a:rPr lang="en-US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remove</a:t>
            </a:r>
            <a:r>
              <a:rPr lang="zh-CN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：此方法用于从集合中移除一个元素</a:t>
            </a:r>
            <a:r>
              <a:rPr lang="zh-CN" altLang="en-US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；</a:t>
            </a:r>
            <a:r>
              <a:rPr lang="en-US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append</a:t>
            </a:r>
            <a:r>
              <a:rPr lang="zh-CN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：此方法用于将一个集合的所有元素追加到另一个集合</a:t>
            </a:r>
            <a:r>
              <a:rPr lang="zh-CN" altLang="en-US" sz="1400" b="0" u="none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；</a:t>
            </a:r>
            <a:r>
              <a:rPr lang="en-US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split_off</a:t>
            </a:r>
            <a:r>
              <a:rPr lang="zh-CN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：此方法用于在给定索引处将列表分割成两部分，并返回索引之后的所有元素，包括索引</a:t>
            </a:r>
            <a:r>
              <a:rPr lang="zh-CN" altLang="en-US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；</a:t>
            </a:r>
            <a:r>
              <a:rPr lang="en-US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range</a:t>
            </a:r>
            <a:r>
              <a:rPr lang="zh-CN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：此方法用于获取集合中一定范围内的元素。</a:t>
            </a:r>
            <a:endParaRPr lang="zh-CN" altLang="en-US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57364" y="517238"/>
            <a:ext cx="9901035" cy="4250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标准库中为各个集合容器提供了丰富的</a:t>
            </a:r>
            <a:r>
              <a:rPr lang="en-US" altLang="zh-CN" sz="1600" dirty="0">
                <a:cs typeface="+mn-ea"/>
                <a:sym typeface="+mn-lt"/>
              </a:rPr>
              <a:t>API</a:t>
            </a:r>
            <a:r>
              <a:rPr lang="zh-CN" altLang="en-US" sz="1600" dirty="0">
                <a:cs typeface="+mn-ea"/>
                <a:sym typeface="+mn-lt"/>
              </a:rPr>
              <a:t>，下面为部分集合类型的</a:t>
            </a:r>
            <a:r>
              <a:rPr lang="en-US" altLang="zh-CN" sz="1600" dirty="0">
                <a:cs typeface="+mn-ea"/>
                <a:sym typeface="+mn-lt"/>
              </a:rPr>
              <a:t>API</a:t>
            </a:r>
            <a:r>
              <a:rPr lang="zh-CN" altLang="en-US" sz="1600" dirty="0">
                <a:cs typeface="+mn-ea"/>
                <a:sym typeface="+mn-lt"/>
              </a:rPr>
              <a:t>使用示例</a:t>
            </a:r>
            <a:r>
              <a:rPr lang="zh-CN" altLang="en-US" sz="1600">
                <a:cs typeface="+mn-ea"/>
                <a:sym typeface="+mn-lt"/>
              </a:rPr>
              <a:t>：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38896" y="925724"/>
            <a:ext cx="4046777" cy="544736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() {</a:t>
            </a:r>
            <a:endParaRPr lang="en-US" sz="1400" b="0" i="1" u="none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sz="1400" b="0" i="1" u="none">
                <a:solidFill>
                  <a:srgbClr val="7F848E"/>
                </a:solidFill>
                <a:cs typeface="+mn-ea"/>
                <a:sym typeface="+mn-lt"/>
              </a:rPr>
              <a:t>    // Vec</a:t>
            </a:r>
            <a:endParaRPr lang="en-US" sz="1400" b="0" u="none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vec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Vec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vec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push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vec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push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vec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len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vec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], 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vec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pop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Some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vec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insert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4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vec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, [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4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]);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vec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remove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), 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4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vec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, [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]);</a:t>
            </a:r>
          </a:p>
          <a:p>
            <a:endParaRPr lang="en-US" sz="1400" b="0" u="none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i="1">
                <a:solidFill>
                  <a:srgbClr val="7F848E"/>
                </a:solidFill>
                <a:cs typeface="+mn-ea"/>
                <a:sym typeface="+mn-lt"/>
              </a:rPr>
              <a:t>    // VecDeque</a:t>
            </a:r>
            <a:endParaRPr 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>
                <a:solidFill>
                  <a:srgbClr val="E5C07B"/>
                </a:solidFill>
                <a:cs typeface="+mn-ea"/>
                <a:sym typeface="+mn-lt"/>
              </a:rPr>
              <a:t>collections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>
                <a:solidFill>
                  <a:srgbClr val="E5C07B"/>
                </a:solidFill>
                <a:cs typeface="+mn-ea"/>
                <a:sym typeface="+mn-lt"/>
              </a:rPr>
              <a:t>VecDeque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>
                <a:solidFill>
                  <a:srgbClr val="E06C75"/>
                </a:solidFill>
                <a:cs typeface="+mn-ea"/>
                <a:sym typeface="+mn-lt"/>
              </a:rPr>
              <a:t>d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>
                <a:solidFill>
                  <a:srgbClr val="E5C07B"/>
                </a:solidFill>
                <a:cs typeface="+mn-ea"/>
                <a:sym typeface="+mn-lt"/>
              </a:rPr>
              <a:t>VecDeque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>
                <a:solidFill>
                  <a:srgbClr val="E06C75"/>
                </a:solidFill>
                <a:cs typeface="+mn-ea"/>
                <a:sym typeface="+mn-lt"/>
              </a:rPr>
              <a:t>d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>
                <a:solidFill>
                  <a:srgbClr val="61AFEF"/>
                </a:solidFill>
                <a:cs typeface="+mn-ea"/>
                <a:sym typeface="+mn-lt"/>
              </a:rPr>
              <a:t>push_front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>
                <a:solidFill>
                  <a:srgbClr val="E06C75"/>
                </a:solidFill>
                <a:cs typeface="+mn-ea"/>
                <a:sym typeface="+mn-lt"/>
              </a:rPr>
              <a:t>d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>
                <a:solidFill>
                  <a:srgbClr val="61AFEF"/>
                </a:solidFill>
                <a:cs typeface="+mn-ea"/>
                <a:sym typeface="+mn-lt"/>
              </a:rPr>
              <a:t>push_front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>
                <a:solidFill>
                  <a:srgbClr val="E06C75"/>
                </a:solidFill>
                <a:cs typeface="+mn-ea"/>
                <a:sym typeface="+mn-lt"/>
              </a:rPr>
              <a:t>d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>
                <a:solidFill>
                  <a:srgbClr val="61AFEF"/>
                </a:solidFill>
                <a:cs typeface="+mn-ea"/>
                <a:sym typeface="+mn-lt"/>
              </a:rPr>
              <a:t>front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sz="1400">
                <a:solidFill>
                  <a:srgbClr val="E5C07B"/>
                </a:solidFill>
                <a:cs typeface="+mn-ea"/>
                <a:sym typeface="+mn-lt"/>
              </a:rPr>
              <a:t>Some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sz="14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>
                <a:solidFill>
                  <a:srgbClr val="E06C75"/>
                </a:solidFill>
                <a:cs typeface="+mn-ea"/>
                <a:sym typeface="+mn-lt"/>
              </a:rPr>
              <a:t>d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>
                <a:solidFill>
                  <a:srgbClr val="61AFEF"/>
                </a:solidFill>
                <a:cs typeface="+mn-ea"/>
                <a:sym typeface="+mn-lt"/>
              </a:rPr>
              <a:t>push_back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>
                <a:solidFill>
                  <a:srgbClr val="E06C75"/>
                </a:solidFill>
                <a:cs typeface="+mn-ea"/>
                <a:sym typeface="+mn-lt"/>
              </a:rPr>
              <a:t>d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>
                <a:solidFill>
                  <a:srgbClr val="61AFEF"/>
                </a:solidFill>
                <a:cs typeface="+mn-ea"/>
                <a:sym typeface="+mn-lt"/>
              </a:rPr>
              <a:t>push_back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, *</a:t>
            </a:r>
            <a:r>
              <a:rPr lang="en-US" sz="1400">
                <a:solidFill>
                  <a:srgbClr val="E06C75"/>
                </a:solidFill>
                <a:cs typeface="+mn-ea"/>
                <a:sym typeface="+mn-lt"/>
              </a:rPr>
              <a:t>d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>
                <a:solidFill>
                  <a:srgbClr val="61AFEF"/>
                </a:solidFill>
                <a:cs typeface="+mn-ea"/>
                <a:sym typeface="+mn-lt"/>
              </a:rPr>
              <a:t>back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sz="1400">
                <a:solidFill>
                  <a:srgbClr val="61AFEF"/>
                </a:solidFill>
                <a:cs typeface="+mn-ea"/>
                <a:sym typeface="+mn-lt"/>
              </a:rPr>
              <a:t>unwrap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>
                <a:solidFill>
                  <a:srgbClr val="E06C75"/>
                </a:solidFill>
                <a:cs typeface="+mn-ea"/>
                <a:sym typeface="+mn-lt"/>
              </a:rPr>
              <a:t>d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>
                <a:solidFill>
                  <a:srgbClr val="61AFEF"/>
                </a:solidFill>
                <a:cs typeface="+mn-ea"/>
                <a:sym typeface="+mn-lt"/>
              </a:rPr>
              <a:t>pop_back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sz="1400">
                <a:solidFill>
                  <a:srgbClr val="E5C07B"/>
                </a:solidFill>
                <a:cs typeface="+mn-ea"/>
                <a:sym typeface="+mn-lt"/>
              </a:rPr>
              <a:t>Some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sz="1400">
                <a:solidFill>
                  <a:srgbClr val="ABB2BF"/>
                </a:solidFill>
                <a:cs typeface="+mn-ea"/>
                <a:sym typeface="+mn-lt"/>
              </a:rPr>
              <a:t>));</a:t>
            </a:r>
            <a:endParaRPr lang="en-US" sz="1400" b="0" u="none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u="none">
              <a:solidFill>
                <a:srgbClr val="ABB2BF"/>
              </a:solidFill>
              <a:cs typeface="+mn-ea"/>
              <a:sym typeface="+mn-lt"/>
            </a:endParaRPr>
          </a:p>
        </p:txBody>
      </p:sp>
      <p:sp>
        <p:nvSpPr>
          <p:cNvPr id="7" name="副标题 1"/>
          <p:cNvSpPr txBox="1"/>
          <p:nvPr/>
        </p:nvSpPr>
        <p:spPr>
          <a:xfrm>
            <a:off x="157365" y="20623"/>
            <a:ext cx="10740640" cy="61502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8085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72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08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81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3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26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62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34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07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集合容器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基本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API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使用</a:t>
            </a:r>
            <a:endParaRPr lang="en-US" altLang="zh-CN" b="1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57365" y="481726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5714391" y="1132259"/>
            <a:ext cx="4842774" cy="505073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sz="1400" b="0" u="none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() {</a:t>
            </a:r>
            <a:endParaRPr lang="en-US" sz="1400" b="0" i="1" u="none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sz="1400" b="0" i="1" u="none">
                <a:solidFill>
                  <a:srgbClr val="7F848E"/>
                </a:solidFill>
                <a:cs typeface="+mn-ea"/>
                <a:sym typeface="+mn-lt"/>
              </a:rPr>
              <a:t>    // LinkedList</a:t>
            </a:r>
            <a:endParaRPr lang="en-US" sz="1400" b="0" u="none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collections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LinkedList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dl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LinkedList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dl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push_front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dl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front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unwrap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(), &amp;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dl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push_back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dl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push_back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, *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dl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back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unwrap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endParaRPr lang="en-US" sz="1400" b="0" i="1" u="none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sz="1400" b="0" i="1" u="none">
                <a:solidFill>
                  <a:srgbClr val="7F848E"/>
                </a:solidFill>
                <a:cs typeface="+mn-ea"/>
                <a:sym typeface="+mn-lt"/>
              </a:rPr>
              <a:t>    // HashMap</a:t>
            </a:r>
            <a:endParaRPr lang="en-US" sz="1400" b="0" u="none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collections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HashMap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map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HashMap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map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insert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37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400" b="0" u="none">
                <a:solidFill>
                  <a:srgbClr val="98C379"/>
                </a:solidFill>
                <a:cs typeface="+mn-ea"/>
                <a:sym typeface="+mn-lt"/>
              </a:rPr>
              <a:t>"a"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),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None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map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insert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37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400" b="0" u="none">
                <a:solidFill>
                  <a:srgbClr val="98C379"/>
                </a:solidFill>
                <a:cs typeface="+mn-ea"/>
                <a:sym typeface="+mn-lt"/>
              </a:rPr>
              <a:t>"b"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map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insert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37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400" b="0" u="none">
                <a:solidFill>
                  <a:srgbClr val="98C379"/>
                </a:solidFill>
                <a:cs typeface="+mn-ea"/>
                <a:sym typeface="+mn-lt"/>
              </a:rPr>
              <a:t>"c"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),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Some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98C379"/>
                </a:solidFill>
                <a:cs typeface="+mn-ea"/>
                <a:sym typeface="+mn-lt"/>
              </a:rPr>
              <a:t>"b"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map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[&amp;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37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], </a:t>
            </a:r>
            <a:r>
              <a:rPr lang="en-US" sz="1400" b="0" u="none">
                <a:solidFill>
                  <a:srgbClr val="98C379"/>
                </a:solidFill>
                <a:cs typeface="+mn-ea"/>
                <a:sym typeface="+mn-lt"/>
              </a:rPr>
              <a:t>"c"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map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remove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37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),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Some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98C379"/>
                </a:solidFill>
                <a:cs typeface="+mn-ea"/>
                <a:sym typeface="+mn-lt"/>
              </a:rPr>
              <a:t>"c"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map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remove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),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None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map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insert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400" b="0" u="none">
                <a:solidFill>
                  <a:srgbClr val="98C379"/>
                </a:solidFill>
                <a:cs typeface="+mn-ea"/>
                <a:sym typeface="+mn-lt"/>
              </a:rPr>
              <a:t>"a"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map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contains_key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), 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true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u="none">
              <a:solidFill>
                <a:srgbClr val="ABB2BF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57364" y="517238"/>
            <a:ext cx="9901035" cy="4250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标准库中为各个集合容器提供了丰富的</a:t>
            </a:r>
            <a:r>
              <a:rPr lang="en-US" altLang="zh-CN" sz="1600" dirty="0">
                <a:cs typeface="+mn-ea"/>
                <a:sym typeface="+mn-lt"/>
              </a:rPr>
              <a:t>API</a:t>
            </a:r>
            <a:r>
              <a:rPr lang="zh-CN" altLang="en-US" sz="1600" dirty="0">
                <a:cs typeface="+mn-ea"/>
                <a:sym typeface="+mn-lt"/>
              </a:rPr>
              <a:t>，下面为部分集合类型的</a:t>
            </a:r>
            <a:r>
              <a:rPr lang="en-US" altLang="zh-CN" sz="1600" dirty="0">
                <a:cs typeface="+mn-ea"/>
                <a:sym typeface="+mn-lt"/>
              </a:rPr>
              <a:t>API</a:t>
            </a:r>
            <a:r>
              <a:rPr lang="zh-CN" altLang="en-US" sz="1600" dirty="0">
                <a:cs typeface="+mn-ea"/>
                <a:sym typeface="+mn-lt"/>
              </a:rPr>
              <a:t>使用示例</a:t>
            </a:r>
            <a:r>
              <a:rPr lang="zh-CN" altLang="en-US" sz="1600">
                <a:cs typeface="+mn-ea"/>
                <a:sym typeface="+mn-lt"/>
              </a:rPr>
              <a:t>：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7" name="副标题 1"/>
          <p:cNvSpPr txBox="1"/>
          <p:nvPr/>
        </p:nvSpPr>
        <p:spPr>
          <a:xfrm>
            <a:off x="157365" y="20623"/>
            <a:ext cx="10740640" cy="61502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8085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72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08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81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3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26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62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34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07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集合容器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基本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API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使用</a:t>
            </a:r>
            <a:endParaRPr lang="en-US" altLang="zh-CN" b="1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57365" y="481726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49375" y="986166"/>
            <a:ext cx="6881098" cy="42393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() {</a:t>
            </a:r>
            <a:endParaRPr lang="en-US" sz="1400" b="0" i="1" u="none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sz="1400" b="0" i="1" u="none">
                <a:solidFill>
                  <a:srgbClr val="7F848E"/>
                </a:solidFill>
                <a:cs typeface="+mn-ea"/>
                <a:sym typeface="+mn-lt"/>
              </a:rPr>
              <a:t>    // BTreeMap</a:t>
            </a:r>
            <a:endParaRPr lang="en-US" sz="1400" b="0" u="none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collections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BTreeMap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ops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Bound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 b="0" u="none">
                <a:solidFill>
                  <a:srgbClr val="56B6C2"/>
                </a:solidFill>
                <a:cs typeface="+mn-ea"/>
                <a:sym typeface="+mn-lt"/>
              </a:rPr>
              <a:t>Included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06C75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map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BTreeMap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E06C75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map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insert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400" b="0" u="none">
                <a:solidFill>
                  <a:srgbClr val="98C379"/>
                </a:solidFill>
                <a:cs typeface="+mn-ea"/>
                <a:sym typeface="+mn-lt"/>
              </a:rPr>
              <a:t>"a"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E06C75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map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insert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400" b="0" u="none">
                <a:solidFill>
                  <a:srgbClr val="98C379"/>
                </a:solidFill>
                <a:cs typeface="+mn-ea"/>
                <a:sym typeface="+mn-lt"/>
              </a:rPr>
              <a:t>"b"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E06C75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map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insert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8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400" b="0" u="none">
                <a:solidFill>
                  <a:srgbClr val="98C379"/>
                </a:solidFill>
                <a:cs typeface="+mn-ea"/>
                <a:sym typeface="+mn-lt"/>
              </a:rPr>
              <a:t>"c"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  <a:endParaRPr lang="en-US" sz="1400" b="0" i="1" u="none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sz="1400" b="0" i="1" u="none">
                <a:solidFill>
                  <a:srgbClr val="7F848E"/>
                </a:solidFill>
                <a:cs typeface="+mn-ea"/>
                <a:sym typeface="+mn-lt"/>
              </a:rPr>
              <a:t>    </a:t>
            </a:r>
            <a:r>
              <a:rPr lang="zh-CN" sz="1400" b="0" i="1" u="none">
                <a:solidFill>
                  <a:srgbClr val="7F848E"/>
                </a:solidFill>
                <a:cs typeface="+mn-ea"/>
                <a:sym typeface="+mn-lt"/>
              </a:rPr>
              <a:t>// map.range会遍历键在4到8（包含4和8）之间的键值对</a:t>
            </a:r>
            <a:endParaRPr lang="en-US" sz="1400" b="0" i="1" u="none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sz="1400" b="0" i="1" u="none">
                <a:solidFill>
                  <a:srgbClr val="7F848E"/>
                </a:solidFill>
                <a:cs typeface="+mn-ea"/>
                <a:sym typeface="+mn-lt"/>
              </a:rPr>
              <a:t>    </a:t>
            </a:r>
            <a:r>
              <a:rPr lang="zh-CN" sz="1400" b="0" i="1" u="none">
                <a:solidFill>
                  <a:srgbClr val="7F848E"/>
                </a:solidFill>
                <a:cs typeface="+mn-ea"/>
                <a:sym typeface="+mn-lt"/>
              </a:rPr>
              <a:t>// Included表示包含边界</a:t>
            </a:r>
            <a:endParaRPr lang="en-US" sz="1400" b="0" u="none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(&amp;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key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, &amp;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value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in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06C75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map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range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((</a:t>
            </a:r>
            <a:r>
              <a:rPr lang="en-US" sz="1400" b="0" u="none">
                <a:solidFill>
                  <a:srgbClr val="56B6C2"/>
                </a:solidFill>
                <a:cs typeface="+mn-ea"/>
                <a:sym typeface="+mn-lt"/>
              </a:rPr>
              <a:t>Included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4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), </a:t>
            </a:r>
            <a:r>
              <a:rPr lang="en-US" sz="1400" b="0" u="none">
                <a:solidFill>
                  <a:srgbClr val="56B6C2"/>
                </a:solidFill>
                <a:cs typeface="+mn-ea"/>
                <a:sym typeface="+mn-lt"/>
              </a:rPr>
              <a:t>Included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8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))) {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    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println!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{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key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}</a:t>
            </a:r>
            <a:r>
              <a:rPr lang="en-US" sz="1400" b="0" u="none">
                <a:solidFill>
                  <a:srgbClr val="98C379"/>
                </a:solidFill>
                <a:cs typeface="+mn-ea"/>
                <a:sym typeface="+mn-lt"/>
              </a:rPr>
              <a:t>: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{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value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}</a:t>
            </a:r>
            <a:r>
              <a:rPr lang="en-US" sz="1400" b="0" u="none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}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E06C75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map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insert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400" b="0" u="none">
                <a:solidFill>
                  <a:srgbClr val="98C379"/>
                </a:solidFill>
                <a:cs typeface="+mn-ea"/>
                <a:sym typeface="+mn-lt"/>
              </a:rPr>
              <a:t>"a"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E06C75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map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get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), </a:t>
            </a:r>
            <a:r>
              <a:rPr lang="en-US" sz="1400" b="0" u="none">
                <a:solidFill>
                  <a:srgbClr val="56B6C2"/>
                </a:solidFill>
                <a:cs typeface="+mn-ea"/>
                <a:sym typeface="+mn-lt"/>
              </a:rPr>
              <a:t>Some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sz="1400" b="0" u="none">
                <a:solidFill>
                  <a:srgbClr val="98C379"/>
                </a:solidFill>
                <a:cs typeface="+mn-ea"/>
                <a:sym typeface="+mn-lt"/>
              </a:rPr>
              <a:t>"a"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E06C75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map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get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), </a:t>
            </a:r>
            <a:r>
              <a:rPr lang="en-US" sz="1400" b="0" u="none">
                <a:solidFill>
                  <a:srgbClr val="56B6C2"/>
                </a:solidFill>
                <a:cs typeface="+mn-ea"/>
                <a:sym typeface="+mn-lt"/>
              </a:rPr>
              <a:t>None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u="none">
              <a:solidFill>
                <a:srgbClr val="ABB2BF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704410" y="975494"/>
            <a:ext cx="4130918" cy="47381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sz="1400" b="0" u="none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() {</a:t>
            </a:r>
            <a:endParaRPr lang="en-US" sz="1400" b="0" i="1" u="none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sz="1400" b="0" i="1" u="none">
                <a:solidFill>
                  <a:srgbClr val="7F848E"/>
                </a:solidFill>
                <a:cs typeface="+mn-ea"/>
                <a:sym typeface="+mn-lt"/>
              </a:rPr>
              <a:t>    // HashSet&amp;BTreeSet</a:t>
            </a:r>
            <a:endParaRPr lang="en-US" sz="1400" b="0" u="none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collections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HashSet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set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HashSet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set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insert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), 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true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set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insert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set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remove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), 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true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endParaRPr lang="en-US" sz="1400" b="0" i="1" u="none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sz="1400" b="0" i="1" u="none">
                <a:solidFill>
                  <a:srgbClr val="7F848E"/>
                </a:solidFill>
                <a:cs typeface="+mn-ea"/>
                <a:sym typeface="+mn-lt"/>
              </a:rPr>
              <a:t>    // BinaryHeap</a:t>
            </a:r>
            <a:endParaRPr lang="en-US" sz="1400" b="0" u="none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collections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BinaryHeap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heap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BinaryHeap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heap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push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heap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push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heap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len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heap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peek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Some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heap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pop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Some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heap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pop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Some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heap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pop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None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u="none">
              <a:solidFill>
                <a:srgbClr val="ABB2BF"/>
              </a:solidFill>
              <a:cs typeface="+mn-ea"/>
              <a:sym typeface="+mn-lt"/>
            </a:endParaRPr>
          </a:p>
        </p:txBody>
      </p:sp>
      <p:sp>
        <p:nvSpPr>
          <p:cNvPr id="3" name="下箭头 2"/>
          <p:cNvSpPr/>
          <p:nvPr userDrawn="1"/>
        </p:nvSpPr>
        <p:spPr>
          <a:xfrm>
            <a:off x="3165430" y="5339927"/>
            <a:ext cx="782131" cy="170029"/>
          </a:xfrm>
          <a:prstGeom prst="downArrow">
            <a:avLst/>
          </a:prstGeom>
          <a:solidFill>
            <a:srgbClr val="ED7D31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  <a:cs typeface="+mn-ea"/>
              <a:sym typeface="+mn-lt"/>
            </a:endParaRPr>
          </a:p>
        </p:txBody>
      </p:sp>
      <p:pic>
        <p:nvPicPr>
          <p:cNvPr id="6" name="图片 5" descr="upload_4113860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394" y="5588363"/>
            <a:ext cx="5350232" cy="11448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28023" y="2398918"/>
            <a:ext cx="4648526" cy="267763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 err="1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collections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 b="0" u="none" dirty="0" err="1">
                <a:solidFill>
                  <a:srgbClr val="E5C07B"/>
                </a:solidFill>
                <a:cs typeface="+mn-ea"/>
                <a:sym typeface="+mn-lt"/>
              </a:rPr>
              <a:t>HashMap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  <a:endParaRPr lang="en-US" sz="1400" b="0" u="none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400" b="0" u="none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06C75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map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400" b="0" u="none" dirty="0" err="1">
                <a:solidFill>
                  <a:srgbClr val="E5C07B"/>
                </a:solidFill>
                <a:cs typeface="+mn-ea"/>
                <a:sym typeface="+mn-lt"/>
              </a:rPr>
              <a:t>HashMap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 b="0" u="none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sz="1400" dirty="0">
                <a:solidFill>
                  <a:srgbClr val="ABB2BF"/>
                </a:solidFill>
                <a:cs typeface="+mn-ea"/>
                <a:sym typeface="+mn-lt"/>
              </a:rPr>
              <a:t>    //…</a:t>
            </a:r>
            <a:endParaRPr lang="en-US" sz="1400" b="0" u="none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 err="1">
                <a:solidFill>
                  <a:srgbClr val="E06C75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map</a:t>
            </a:r>
            <a:r>
              <a:rPr lang="en-US" sz="1400" b="0" u="none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 dirty="0" err="1">
                <a:solidFill>
                  <a:srgbClr val="61AFEF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entry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 dirty="0">
                <a:solidFill>
                  <a:srgbClr val="98C379"/>
                </a:solidFill>
                <a:cs typeface="+mn-ea"/>
                <a:sym typeface="+mn-lt"/>
              </a:rPr>
              <a:t>"apple"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)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   .</a:t>
            </a:r>
            <a:r>
              <a:rPr lang="en-US" sz="1400" b="0" u="none" dirty="0" err="1">
                <a:solidFill>
                  <a:srgbClr val="61AFEF"/>
                </a:solidFill>
                <a:cs typeface="+mn-ea"/>
                <a:sym typeface="+mn-lt"/>
              </a:rPr>
              <a:t>and_modify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 dirty="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sz="1400" b="0" u="none" dirty="0">
                <a:solidFill>
                  <a:srgbClr val="E06C75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e</a:t>
            </a:r>
            <a:r>
              <a:rPr lang="en-US" sz="1400" b="0" u="none" dirty="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*</a:t>
            </a:r>
            <a:r>
              <a:rPr lang="en-US" sz="1400" b="0" u="none" dirty="0">
                <a:solidFill>
                  <a:srgbClr val="E06C75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e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ABB2BF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+=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)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   .</a:t>
            </a:r>
            <a:r>
              <a:rPr lang="en-US" sz="1400" b="0" u="none" dirty="0" err="1">
                <a:solidFill>
                  <a:srgbClr val="61AFEF"/>
                </a:solidFill>
                <a:cs typeface="+mn-ea"/>
                <a:sym typeface="+mn-lt"/>
              </a:rPr>
              <a:t>or_insert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 dirty="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u="none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9" name="副标题 1"/>
          <p:cNvSpPr txBox="1"/>
          <p:nvPr/>
        </p:nvSpPr>
        <p:spPr>
          <a:xfrm>
            <a:off x="157365" y="20623"/>
            <a:ext cx="10740640" cy="61502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8085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72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08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81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3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26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62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34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07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集合容器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-entry</a:t>
            </a:r>
          </a:p>
          <a:p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57365" y="481726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216287" y="534994"/>
            <a:ext cx="1068171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>
                <a:cs typeface="+mn-ea"/>
                <a:sym typeface="+mn-lt"/>
              </a:rPr>
              <a:t>HashMap </a:t>
            </a:r>
            <a:r>
              <a:rPr lang="zh-CN" altLang="en-US" sz="1400">
                <a:cs typeface="+mn-ea"/>
                <a:sym typeface="+mn-lt"/>
              </a:rPr>
              <a:t>和 </a:t>
            </a:r>
            <a:r>
              <a:rPr lang="en-US" altLang="zh-CN" sz="1400">
                <a:cs typeface="+mn-ea"/>
                <a:sym typeface="+mn-lt"/>
              </a:rPr>
              <a:t>BTreeMap </a:t>
            </a:r>
            <a:r>
              <a:rPr lang="zh-CN" altLang="en-US" sz="1400">
                <a:cs typeface="+mn-ea"/>
                <a:sym typeface="+mn-lt"/>
              </a:rPr>
              <a:t>提供了一个 </a:t>
            </a:r>
            <a:r>
              <a:rPr lang="en-US" altLang="zh-CN" sz="1400">
                <a:cs typeface="+mn-ea"/>
                <a:sym typeface="+mn-lt"/>
              </a:rPr>
              <a:t>entry </a:t>
            </a:r>
            <a:r>
              <a:rPr lang="zh-CN" altLang="en-US" sz="1400">
                <a:cs typeface="+mn-ea"/>
                <a:sym typeface="+mn-lt"/>
              </a:rPr>
              <a:t>的方法，用于以更高效的方式访问和修改映射中的条目。</a:t>
            </a:r>
            <a:endParaRPr lang="en-US" altLang="zh-CN" sz="140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cs typeface="+mn-ea"/>
                <a:sym typeface="+mn-lt"/>
              </a:rPr>
              <a:t>entry </a:t>
            </a:r>
            <a:r>
              <a:rPr lang="zh-CN" altLang="en-US" sz="1400">
                <a:cs typeface="+mn-ea"/>
                <a:sym typeface="+mn-lt"/>
              </a:rPr>
              <a:t>方法接受一个键作为参数，并返回一个 </a:t>
            </a:r>
            <a:r>
              <a:rPr lang="en-US" altLang="zh-CN" sz="1400">
                <a:cs typeface="+mn-ea"/>
                <a:sym typeface="+mn-lt"/>
              </a:rPr>
              <a:t>Entry </a:t>
            </a:r>
            <a:r>
              <a:rPr lang="zh-CN" altLang="en-US" sz="1400">
                <a:cs typeface="+mn-ea"/>
                <a:sym typeface="+mn-lt"/>
              </a:rPr>
              <a:t>枚举，它有两个变量：</a:t>
            </a:r>
            <a:endParaRPr lang="en-US" altLang="zh-CN" sz="14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>
                <a:cs typeface="+mn-ea"/>
                <a:sym typeface="+mn-lt"/>
              </a:rPr>
              <a:t>Occupied</a:t>
            </a:r>
            <a:r>
              <a:rPr lang="zh-CN" altLang="en-US" sz="1400">
                <a:cs typeface="+mn-ea"/>
                <a:sym typeface="+mn-lt"/>
              </a:rPr>
              <a:t>：如果映射中存在指定的键，则返回 </a:t>
            </a:r>
            <a:r>
              <a:rPr lang="en-US" altLang="zh-CN" sz="1400">
                <a:cs typeface="+mn-ea"/>
                <a:sym typeface="+mn-lt"/>
              </a:rPr>
              <a:t>Occupied(entry)</a:t>
            </a:r>
            <a:r>
              <a:rPr lang="zh-CN" altLang="en-US" sz="1400">
                <a:cs typeface="+mn-ea"/>
                <a:sym typeface="+mn-lt"/>
              </a:rPr>
              <a:t>，其中 </a:t>
            </a:r>
            <a:r>
              <a:rPr lang="en-US" altLang="zh-CN" sz="1400">
                <a:cs typeface="+mn-ea"/>
                <a:sym typeface="+mn-lt"/>
              </a:rPr>
              <a:t>entry </a:t>
            </a:r>
            <a:r>
              <a:rPr lang="zh-CN" altLang="en-US" sz="1400">
                <a:cs typeface="+mn-ea"/>
                <a:sym typeface="+mn-lt"/>
              </a:rPr>
              <a:t>是一个指向该条目的引用；</a:t>
            </a:r>
            <a:endParaRPr lang="en-US" altLang="zh-CN" sz="14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>
                <a:cs typeface="+mn-ea"/>
                <a:sym typeface="+mn-lt"/>
              </a:rPr>
              <a:t>Vacant</a:t>
            </a:r>
            <a:r>
              <a:rPr lang="zh-CN" altLang="en-US" sz="1400">
                <a:cs typeface="+mn-ea"/>
                <a:sym typeface="+mn-lt"/>
              </a:rPr>
              <a:t>：其中 </a:t>
            </a:r>
            <a:r>
              <a:rPr lang="en-US" altLang="zh-CN" sz="1400">
                <a:cs typeface="+mn-ea"/>
                <a:sym typeface="+mn-lt"/>
              </a:rPr>
              <a:t>entry </a:t>
            </a:r>
            <a:r>
              <a:rPr lang="zh-CN" altLang="en-US" sz="1400">
                <a:cs typeface="+mn-ea"/>
                <a:sym typeface="+mn-lt"/>
              </a:rPr>
              <a:t>是一个可以用来插入新条目的空位；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2" name="文本框 7"/>
          <p:cNvSpPr txBox="1"/>
          <p:nvPr/>
        </p:nvSpPr>
        <p:spPr>
          <a:xfrm>
            <a:off x="5743468" y="2383987"/>
            <a:ext cx="6042089" cy="353367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 err="1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collections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 b="0" u="none" dirty="0" err="1">
                <a:solidFill>
                  <a:srgbClr val="E5C07B"/>
                </a:solidFill>
                <a:cs typeface="+mn-ea"/>
                <a:sym typeface="+mn-lt"/>
              </a:rPr>
              <a:t>HashMap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  <a:endParaRPr lang="en-US" sz="1400" b="0" u="none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400" b="0" u="none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06C75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map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400" b="0" u="none" dirty="0" err="1">
                <a:solidFill>
                  <a:srgbClr val="E5C07B"/>
                </a:solidFill>
                <a:cs typeface="+mn-ea"/>
                <a:sym typeface="+mn-lt"/>
              </a:rPr>
              <a:t>HashMap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 b="0" u="none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dirty="0">
                <a:solidFill>
                  <a:srgbClr val="E06C75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//…</a:t>
            </a:r>
          </a:p>
          <a:p>
            <a:r>
              <a:rPr lang="en-US" sz="1400" b="0" i="1" u="none" dirty="0">
                <a:solidFill>
                  <a:srgbClr val="7F848E"/>
                </a:solidFill>
                <a:cs typeface="+mn-ea"/>
                <a:sym typeface="+mn-lt"/>
              </a:rPr>
              <a:t>    </a:t>
            </a:r>
            <a:r>
              <a:rPr lang="zh-CN" sz="1400" b="0" i="1" u="none" dirty="0">
                <a:solidFill>
                  <a:srgbClr val="7F848E"/>
                </a:solidFill>
                <a:cs typeface="+mn-ea"/>
                <a:sym typeface="+mn-lt"/>
              </a:rPr>
              <a:t>// 完成</a:t>
            </a:r>
            <a:r>
              <a:rPr lang="zh-CN" altLang="en-US" sz="1400" b="0" i="1" u="none" dirty="0">
                <a:solidFill>
                  <a:srgbClr val="7F848E"/>
                </a:solidFill>
                <a:cs typeface="+mn-ea"/>
                <a:sym typeface="+mn-lt"/>
              </a:rPr>
              <a:t>左边示例</a:t>
            </a:r>
            <a:r>
              <a:rPr lang="zh-CN" sz="1400" b="0" i="1" u="none" dirty="0">
                <a:solidFill>
                  <a:srgbClr val="7F848E"/>
                </a:solidFill>
                <a:cs typeface="+mn-ea"/>
                <a:sym typeface="+mn-lt"/>
              </a:rPr>
              <a:t>的操作需要进行两次查询</a:t>
            </a:r>
            <a:endParaRPr lang="en-US" sz="1400" b="0" i="1" u="none" dirty="0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sz="1400" b="0" i="1" u="none" dirty="0">
                <a:solidFill>
                  <a:srgbClr val="7F848E"/>
                </a:solidFill>
                <a:cs typeface="+mn-ea"/>
                <a:sym typeface="+mn-lt"/>
              </a:rPr>
              <a:t>    </a:t>
            </a:r>
            <a:r>
              <a:rPr lang="zh-CN" sz="1400" b="0" i="1" u="none" dirty="0">
                <a:solidFill>
                  <a:srgbClr val="7F848E"/>
                </a:solidFill>
                <a:cs typeface="+mn-ea"/>
                <a:sym typeface="+mn-lt"/>
              </a:rPr>
              <a:t>// get_mut </a:t>
            </a:r>
            <a:r>
              <a:rPr lang="zh-CN" altLang="en-US" sz="1400" b="0" i="1" u="none" dirty="0">
                <a:solidFill>
                  <a:srgbClr val="7F848E"/>
                </a:solidFill>
                <a:cs typeface="+mn-ea"/>
                <a:sym typeface="+mn-lt"/>
              </a:rPr>
              <a:t>需要</a:t>
            </a:r>
            <a:r>
              <a:rPr lang="zh-CN" sz="1400" b="0" i="1" u="none" dirty="0">
                <a:solidFill>
                  <a:srgbClr val="7F848E"/>
                </a:solidFill>
                <a:cs typeface="+mn-ea"/>
                <a:sym typeface="+mn-lt"/>
              </a:rPr>
              <a:t>进行一次查询</a:t>
            </a:r>
            <a:endParaRPr lang="en-US" sz="1400" b="0" i="1" u="none" dirty="0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sz="1400" b="0" i="1" u="none" dirty="0">
                <a:solidFill>
                  <a:srgbClr val="7F848E"/>
                </a:solidFill>
                <a:cs typeface="+mn-ea"/>
                <a:sym typeface="+mn-lt"/>
              </a:rPr>
              <a:t>    </a:t>
            </a:r>
            <a:r>
              <a:rPr lang="zh-CN" sz="1400" b="0" i="1" u="none" dirty="0">
                <a:solidFill>
                  <a:srgbClr val="7F848E"/>
                </a:solidFill>
                <a:cs typeface="+mn-ea"/>
                <a:sym typeface="+mn-lt"/>
              </a:rPr>
              <a:t>// insert 需要进行一次查询</a:t>
            </a:r>
            <a:endParaRPr lang="en-US" sz="1400" b="0" u="none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match </a:t>
            </a:r>
            <a:r>
              <a:rPr lang="en-US" sz="1400" b="0" u="none" dirty="0" err="1">
                <a:solidFill>
                  <a:srgbClr val="E06C75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map</a:t>
            </a:r>
            <a:r>
              <a:rPr lang="en-US" sz="1400" b="0" u="none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 dirty="0" err="1">
                <a:solidFill>
                  <a:srgbClr val="61AFEF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get_mut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 dirty="0">
                <a:solidFill>
                  <a:srgbClr val="98C379"/>
                </a:solidFill>
                <a:cs typeface="+mn-ea"/>
                <a:sym typeface="+mn-lt"/>
              </a:rPr>
              <a:t>"apple"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    Some(value) =&gt; *</a:t>
            </a:r>
            <a:r>
              <a:rPr lang="en-US" sz="1400" b="0" u="none" dirty="0">
                <a:solidFill>
                  <a:srgbClr val="E06C75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value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dirty="0">
                <a:solidFill>
                  <a:srgbClr val="ABB2BF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+=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D19A66"/>
                </a:solidFill>
                <a:cs typeface="+mn-ea"/>
                <a:sym typeface="+mn-lt"/>
              </a:rPr>
              <a:t>2,</a:t>
            </a:r>
          </a:p>
          <a:p>
            <a:r>
              <a:rPr lang="en-US" sz="1400" dirty="0">
                <a:solidFill>
                  <a:srgbClr val="D19A66"/>
                </a:solidFill>
                <a:cs typeface="+mn-ea"/>
                <a:sym typeface="+mn-lt"/>
              </a:rPr>
              <a:t>        _ =&gt; { </a:t>
            </a:r>
            <a:r>
              <a:rPr lang="en-US" altLang="zh-CN" sz="1400" dirty="0" err="1">
                <a:solidFill>
                  <a:srgbClr val="E06C75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map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insert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"apple"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 }</a:t>
            </a:r>
            <a:r>
              <a:rPr lang="en-US" sz="1400" dirty="0">
                <a:solidFill>
                  <a:srgbClr val="D19A66"/>
                </a:solidFill>
                <a:cs typeface="+mn-ea"/>
                <a:sym typeface="+mn-lt"/>
              </a:rPr>
              <a:t>,</a:t>
            </a:r>
            <a:endParaRPr lang="en-US" sz="1400" b="0" u="none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};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u="none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5176089" y="3633217"/>
            <a:ext cx="497701" cy="52756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l">
              <a:lnSpc>
                <a:spcPts val="3440"/>
              </a:lnSpc>
            </a:pPr>
            <a:r>
              <a:rPr lang="en-US" altLang="zh-CN" dirty="0">
                <a:cs typeface="+mn-ea"/>
                <a:sym typeface="+mn-lt"/>
              </a:rPr>
              <a:t>VS</a:t>
            </a:r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57365" y="635644"/>
            <a:ext cx="5370321" cy="17081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cs typeface="+mn-ea"/>
                <a:sym typeface="+mn-lt"/>
              </a:rPr>
              <a:t>迭代器</a:t>
            </a:r>
            <a:r>
              <a:rPr lang="zh-CN" altLang="en-US" sz="1400">
                <a:cs typeface="+mn-ea"/>
                <a:sym typeface="+mn-lt"/>
              </a:rPr>
              <a:t>负责</a:t>
            </a:r>
            <a:r>
              <a:rPr lang="zh-CN" altLang="en-US" sz="1400" dirty="0">
                <a:cs typeface="+mn-ea"/>
                <a:sym typeface="+mn-lt"/>
              </a:rPr>
              <a:t>遍历序列中的每一项和决定序列何时结束的逻辑。</a:t>
            </a:r>
            <a:endParaRPr lang="en-US" altLang="zh-CN" sz="14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cs typeface="+mn-ea"/>
                <a:sym typeface="+mn-lt"/>
              </a:rPr>
              <a:t>迭代器都</a:t>
            </a:r>
            <a:r>
              <a:rPr lang="zh-CN" altLang="en-US" sz="1400">
                <a:cs typeface="+mn-ea"/>
                <a:sym typeface="+mn-lt"/>
              </a:rPr>
              <a:t>实现了 </a:t>
            </a:r>
            <a:r>
              <a:rPr lang="en-US" altLang="zh-CN" sz="1400">
                <a:cs typeface="+mn-ea"/>
                <a:sym typeface="+mn-lt"/>
              </a:rPr>
              <a:t>iterator </a:t>
            </a:r>
            <a:r>
              <a:rPr lang="en-US" altLang="zh-CN" sz="1400" dirty="0">
                <a:cs typeface="+mn-ea"/>
                <a:sym typeface="+mn-lt"/>
              </a:rPr>
              <a:t>trait</a:t>
            </a:r>
            <a:r>
              <a:rPr lang="zh-CN" altLang="en-US" sz="1400" dirty="0">
                <a:cs typeface="+mn-ea"/>
                <a:sym typeface="+mn-lt"/>
              </a:rPr>
              <a:t>；</a:t>
            </a:r>
            <a:endParaRPr lang="en-US" altLang="zh-CN" sz="14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>
                <a:cs typeface="+mn-ea"/>
                <a:sym typeface="+mn-lt"/>
              </a:rPr>
              <a:t>next</a:t>
            </a:r>
            <a:r>
              <a:rPr lang="zh-CN" altLang="en-US" sz="1400">
                <a:cs typeface="+mn-ea"/>
                <a:sym typeface="+mn-lt"/>
              </a:rPr>
              <a:t>方法是</a:t>
            </a:r>
            <a:r>
              <a:rPr lang="en-US" altLang="zh-CN" sz="1400">
                <a:cs typeface="+mn-ea"/>
                <a:sym typeface="+mn-lt"/>
              </a:rPr>
              <a:t>iterator</a:t>
            </a:r>
            <a:r>
              <a:rPr lang="zh-CN" altLang="en-US" sz="1400">
                <a:cs typeface="+mn-ea"/>
                <a:sym typeface="+mn-lt"/>
              </a:rPr>
              <a:t>实现者被要求定义的唯一方法，</a:t>
            </a:r>
            <a:r>
              <a:rPr lang="en-US" altLang="zh-CN" sz="1400">
                <a:cs typeface="+mn-ea"/>
                <a:sym typeface="+mn-lt"/>
              </a:rPr>
              <a:t>next </a:t>
            </a:r>
            <a:r>
              <a:rPr lang="zh-CN" altLang="en-US" sz="1400">
                <a:cs typeface="+mn-ea"/>
                <a:sym typeface="+mn-lt"/>
              </a:rPr>
              <a:t>一次返回迭代器中的一个项，封装在 </a:t>
            </a:r>
            <a:r>
              <a:rPr lang="en-US" altLang="zh-CN" sz="1400">
                <a:cs typeface="+mn-ea"/>
                <a:sym typeface="+mn-lt"/>
              </a:rPr>
              <a:t>Some </a:t>
            </a:r>
            <a:r>
              <a:rPr lang="zh-CN" altLang="en-US" sz="1400">
                <a:cs typeface="+mn-ea"/>
                <a:sym typeface="+mn-lt"/>
              </a:rPr>
              <a:t>中，当迭代器结束时，它返回 </a:t>
            </a:r>
            <a:r>
              <a:rPr lang="en-US" altLang="zh-CN" sz="1400">
                <a:cs typeface="+mn-ea"/>
                <a:sym typeface="+mn-lt"/>
              </a:rPr>
              <a:t>None</a:t>
            </a:r>
            <a:r>
              <a:rPr lang="zh-CN" altLang="en-US" sz="1400">
                <a:cs typeface="+mn-ea"/>
                <a:sym typeface="+mn-lt"/>
              </a:rPr>
              <a:t>；</a:t>
            </a:r>
            <a:endParaRPr lang="en-US" altLang="zh-CN" sz="1400"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861599" y="3552237"/>
            <a:ext cx="5739274" cy="24622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手动调用</a:t>
            </a:r>
            <a:r>
              <a:rPr lang="en-US" altLang="zh-CN" sz="1400" b="1" dirty="0">
                <a:solidFill>
                  <a:srgbClr val="00B050"/>
                </a:solidFill>
                <a:cs typeface="+mn-ea"/>
                <a:sym typeface="+mn-lt"/>
              </a:rPr>
              <a:t>next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方法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iterator_demonstration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vec!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];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可以手动调用迭代器的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next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方法，但是迭代器需要声明为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mut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；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u="sng">
                <a:solidFill>
                  <a:srgbClr val="E06C75"/>
                </a:solidFill>
                <a:cs typeface="+mn-ea"/>
                <a:sym typeface="+mn-lt"/>
              </a:rPr>
              <a:t>v1_iter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iter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u="sng">
                <a:solidFill>
                  <a:srgbClr val="E06C75"/>
                </a:solidFill>
                <a:cs typeface="+mn-ea"/>
                <a:sym typeface="+mn-lt"/>
              </a:rPr>
              <a:t>v1_iter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u="sng">
                <a:solidFill>
                  <a:srgbClr val="61AFEF"/>
                </a:solidFill>
                <a:cs typeface="+mn-ea"/>
                <a:sym typeface="+mn-lt"/>
              </a:rPr>
              <a:t>next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Some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u="sng">
                <a:solidFill>
                  <a:srgbClr val="E06C75"/>
                </a:solidFill>
                <a:cs typeface="+mn-ea"/>
                <a:sym typeface="+mn-lt"/>
              </a:rPr>
              <a:t>v1_iter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u="sng">
                <a:solidFill>
                  <a:srgbClr val="61AFEF"/>
                </a:solidFill>
                <a:cs typeface="+mn-ea"/>
                <a:sym typeface="+mn-lt"/>
              </a:rPr>
              <a:t>next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Some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u="sng">
                <a:solidFill>
                  <a:srgbClr val="E06C75"/>
                </a:solidFill>
                <a:cs typeface="+mn-ea"/>
                <a:sym typeface="+mn-lt"/>
              </a:rPr>
              <a:t>v1_iter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u="sng">
                <a:solidFill>
                  <a:srgbClr val="61AFEF"/>
                </a:solidFill>
                <a:cs typeface="+mn-ea"/>
                <a:sym typeface="+mn-lt"/>
              </a:rPr>
              <a:t>next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Some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u="sng">
                <a:solidFill>
                  <a:srgbClr val="E06C75"/>
                </a:solidFill>
                <a:cs typeface="+mn-ea"/>
                <a:sym typeface="+mn-lt"/>
              </a:rPr>
              <a:t>v1_iter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u="sng">
                <a:solidFill>
                  <a:srgbClr val="61AFEF"/>
                </a:solidFill>
                <a:cs typeface="+mn-ea"/>
                <a:sym typeface="+mn-lt"/>
              </a:rPr>
              <a:t>next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None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62917" y="637057"/>
            <a:ext cx="4817745" cy="224960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迭代器使用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v1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vec!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];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创建迭代器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v1_iter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iter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val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v1_iter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"Got: {}"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val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9" name="副标题 1"/>
          <p:cNvSpPr txBox="1"/>
          <p:nvPr/>
        </p:nvSpPr>
        <p:spPr>
          <a:xfrm>
            <a:off x="157365" y="20623"/>
            <a:ext cx="10740640" cy="61502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8085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72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08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81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3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26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62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34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07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迭代器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概念和用法</a:t>
            </a:r>
            <a:endParaRPr lang="en-US" altLang="zh-CN" b="1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57365" y="481726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80884" y="3305552"/>
            <a:ext cx="5153017" cy="160043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vec!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];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通过调用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iter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方法创建了一个迭代器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这段代码本身没有任何用处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v1_iter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iter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7365" y="2582464"/>
            <a:ext cx="5400057" cy="70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cs typeface="+mn-ea"/>
                <a:sym typeface="+mn-lt"/>
              </a:rPr>
              <a:t>迭代器是惰性的，这意味着在调用方法使用迭代器之前它都不会有效果：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65" y="5197964"/>
            <a:ext cx="5479002" cy="1067008"/>
          </a:xfrm>
          <a:prstGeom prst="rect">
            <a:avLst/>
          </a:prstGeom>
        </p:spPr>
      </p:pic>
      <p:sp>
        <p:nvSpPr>
          <p:cNvPr id="14" name="右箭头 13"/>
          <p:cNvSpPr/>
          <p:nvPr/>
        </p:nvSpPr>
        <p:spPr>
          <a:xfrm rot="5400000">
            <a:off x="2611084" y="4847065"/>
            <a:ext cx="177809" cy="423997"/>
          </a:xfrm>
          <a:prstGeom prst="rightArrow">
            <a:avLst/>
          </a:prstGeom>
          <a:solidFill>
            <a:schemeClr val="accent3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8942" y="3931837"/>
            <a:ext cx="6529836" cy="211798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vec!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];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 into_iter()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创建一个获取所有权的迭代器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i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into_iter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{}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i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vec!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],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 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错误：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v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已经失去数据所有权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7655" y="647011"/>
            <a:ext cx="3175332" cy="138360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三种创建迭代器的方式：</a:t>
            </a: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iter()</a:t>
            </a:r>
            <a:endParaRPr lang="zh-CN" sz="1400" b="0" u="none">
              <a:solidFill>
                <a:srgbClr val="000000"/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iter_mut()</a:t>
            </a:r>
            <a:endParaRPr lang="zh-CN" sz="1400" b="0" u="none">
              <a:solidFill>
                <a:srgbClr val="000000"/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into_iter()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473952" y="656965"/>
            <a:ext cx="6509928" cy="30957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2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2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v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vec!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];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u="sng">
                <a:solidFill>
                  <a:srgbClr val="E06C75"/>
                </a:solidFill>
                <a:cs typeface="+mn-ea"/>
                <a:sym typeface="+mn-lt"/>
              </a:rPr>
              <a:t>v1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Vec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// iter()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创建一个不可变引用的迭代器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i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v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iter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 u="sng">
                <a:solidFill>
                  <a:srgbClr val="E06C75"/>
                </a:solidFill>
                <a:cs typeface="+mn-ea"/>
                <a:sym typeface="+mn-lt"/>
              </a:rPr>
              <a:t>v1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 u="sng">
                <a:solidFill>
                  <a:srgbClr val="61AFEF"/>
                </a:solidFill>
                <a:cs typeface="+mn-ea"/>
                <a:sym typeface="+mn-lt"/>
              </a:rPr>
              <a:t>push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(*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i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u="sng">
                <a:solidFill>
                  <a:srgbClr val="E06C75"/>
                </a:solidFill>
                <a:cs typeface="+mn-ea"/>
                <a:sym typeface="+mn-lt"/>
              </a:rPr>
              <a:t>v1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v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u="sng">
                <a:solidFill>
                  <a:srgbClr val="E06C75"/>
                </a:solidFill>
                <a:cs typeface="+mn-ea"/>
                <a:sym typeface="+mn-lt"/>
              </a:rPr>
              <a:t>v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vec!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];</a:t>
            </a: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// iter_mut()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创建一个可变引用的迭代器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u="sng">
                <a:solidFill>
                  <a:srgbClr val="E06C75"/>
                </a:solidFill>
                <a:cs typeface="+mn-ea"/>
                <a:sym typeface="+mn-lt"/>
              </a:rPr>
              <a:t>i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u="sng">
                <a:solidFill>
                  <a:srgbClr val="E06C75"/>
                </a:solidFill>
                <a:cs typeface="+mn-ea"/>
                <a:sym typeface="+mn-lt"/>
              </a:rPr>
              <a:t>v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 u="sng">
                <a:solidFill>
                  <a:srgbClr val="61AFEF"/>
                </a:solidFill>
                <a:cs typeface="+mn-ea"/>
                <a:sym typeface="+mn-lt"/>
              </a:rPr>
              <a:t>iter_mut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*</a:t>
            </a:r>
            <a:r>
              <a:rPr lang="en-US" altLang="zh-CN" sz="1200" u="sng">
                <a:solidFill>
                  <a:srgbClr val="E06C75"/>
                </a:solidFill>
                <a:cs typeface="+mn-ea"/>
                <a:sym typeface="+mn-lt"/>
              </a:rPr>
              <a:t>i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u="sng">
                <a:solidFill>
                  <a:srgbClr val="ABB2BF"/>
                </a:solidFill>
                <a:cs typeface="+mn-ea"/>
                <a:sym typeface="+mn-lt"/>
              </a:rPr>
              <a:t>+=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vec!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4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], </a:t>
            </a:r>
            <a:r>
              <a:rPr lang="en-US" altLang="zh-CN" sz="1200" u="sng">
                <a:solidFill>
                  <a:srgbClr val="E06C75"/>
                </a:solidFill>
                <a:cs typeface="+mn-ea"/>
                <a:sym typeface="+mn-lt"/>
              </a:rPr>
              <a:t>v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7" name="副标题 1"/>
          <p:cNvSpPr txBox="1"/>
          <p:nvPr/>
        </p:nvSpPr>
        <p:spPr>
          <a:xfrm>
            <a:off x="157365" y="20623"/>
            <a:ext cx="10740640" cy="61502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8085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72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08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81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3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26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62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34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07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迭代器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三种创建迭代器的方式</a:t>
            </a:r>
            <a:endParaRPr lang="en-US" altLang="zh-CN" b="1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57365" y="481726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右箭头 2"/>
          <p:cNvSpPr/>
          <p:nvPr/>
        </p:nvSpPr>
        <p:spPr>
          <a:xfrm>
            <a:off x="6908088" y="4991940"/>
            <a:ext cx="348391" cy="507655"/>
          </a:xfrm>
          <a:prstGeom prst="rightArrow">
            <a:avLst/>
          </a:prstGeom>
          <a:solidFill>
            <a:schemeClr val="accent3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6" name="图片 5" descr="upload_3952490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5790" y="4285205"/>
            <a:ext cx="4140872" cy="16722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69218" y="527563"/>
            <a:ext cx="5066595" cy="139356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cs typeface="+mn-ea"/>
                <a:sym typeface="+mn-lt"/>
              </a:rPr>
              <a:t>迭代器相关的</a:t>
            </a:r>
            <a:r>
              <a:rPr lang="en-US" altLang="zh-CN" sz="1400" b="1" dirty="0">
                <a:cs typeface="+mn-ea"/>
                <a:sym typeface="+mn-lt"/>
              </a:rPr>
              <a:t>trait</a:t>
            </a:r>
            <a:r>
              <a:rPr lang="zh-CN" altLang="en-US" sz="1400" b="1" dirty="0">
                <a:cs typeface="+mn-ea"/>
                <a:sym typeface="+mn-lt"/>
              </a:rPr>
              <a:t>：</a:t>
            </a:r>
            <a:endParaRPr lang="en-US" altLang="zh-CN" sz="1400" b="1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>
                <a:cs typeface="+mn-ea"/>
                <a:sym typeface="+mn-lt"/>
              </a:rPr>
              <a:t>Iterator</a:t>
            </a:r>
            <a:r>
              <a:rPr lang="zh-CN" altLang="en-US" sz="1400">
                <a:cs typeface="+mn-ea"/>
                <a:sym typeface="+mn-lt"/>
              </a:rPr>
              <a:t>：定义了一个迭代器的基本行为，实现了它才可以称为迭代器；</a:t>
            </a:r>
            <a:endParaRPr lang="en-US" altLang="zh-CN" sz="14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>
                <a:cs typeface="+mn-ea"/>
                <a:sym typeface="+mn-lt"/>
              </a:rPr>
              <a:t>IntoIterator</a:t>
            </a:r>
            <a:r>
              <a:rPr lang="zh-CN" altLang="en-US" sz="1400">
                <a:cs typeface="+mn-ea"/>
                <a:sym typeface="+mn-lt"/>
              </a:rPr>
              <a:t>：定义了如何将一个类型转换为迭代器，如果实现了该</a:t>
            </a:r>
            <a:r>
              <a:rPr lang="en-US" altLang="zh-CN" sz="1400">
                <a:cs typeface="+mn-ea"/>
                <a:sym typeface="+mn-lt"/>
              </a:rPr>
              <a:t>trait</a:t>
            </a:r>
            <a:r>
              <a:rPr lang="zh-CN" altLang="en-US" sz="1400">
                <a:cs typeface="+mn-ea"/>
                <a:sym typeface="+mn-lt"/>
              </a:rPr>
              <a:t>，那么可以通过</a:t>
            </a:r>
            <a:r>
              <a:rPr lang="en-US" altLang="zh-CN" sz="1400">
                <a:cs typeface="+mn-ea"/>
                <a:sym typeface="+mn-lt"/>
              </a:rPr>
              <a:t>into_iter()</a:t>
            </a:r>
            <a:r>
              <a:rPr lang="zh-CN" altLang="en-US" sz="1400">
                <a:cs typeface="+mn-ea"/>
                <a:sym typeface="+mn-lt"/>
              </a:rPr>
              <a:t>方法将集合转换为迭代器；</a:t>
            </a:r>
            <a:endParaRPr lang="en-US" altLang="zh-CN" sz="1400">
              <a:cs typeface="+mn-ea"/>
              <a:sym typeface="+mn-lt"/>
            </a:endParaRPr>
          </a:p>
        </p:txBody>
      </p:sp>
      <p:sp>
        <p:nvSpPr>
          <p:cNvPr id="9" name="副标题 1"/>
          <p:cNvSpPr txBox="1"/>
          <p:nvPr/>
        </p:nvSpPr>
        <p:spPr>
          <a:xfrm>
            <a:off x="157365" y="20623"/>
            <a:ext cx="10740640" cy="61502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8085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72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08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81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3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26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62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34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07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迭代器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相关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trait</a:t>
            </a:r>
          </a:p>
          <a:p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57365" y="481726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74710" y="408115"/>
            <a:ext cx="5524480" cy="527563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l">
              <a:lnSpc>
                <a:spcPts val="3440"/>
              </a:lnSpc>
            </a:pP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Rust 的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 for 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循环语法实际上是迭代器的语法糖。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" name="文本框 5"/>
          <p:cNvSpPr txBox="1"/>
          <p:nvPr/>
        </p:nvSpPr>
        <p:spPr>
          <a:xfrm>
            <a:off x="5584204" y="945632"/>
            <a:ext cx="6061997" cy="123429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en-US" altLang="zh-CN" sz="1400" b="1" dirty="0">
                <a:solidFill>
                  <a:srgbClr val="00B050"/>
                </a:solidFill>
                <a:cs typeface="+mn-ea"/>
                <a:sym typeface="+mn-lt"/>
              </a:rPr>
              <a:t>for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循环示例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values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vec!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4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];</a:t>
            </a:r>
            <a:endParaRPr lang="en-US" sz="1500" b="0" u="none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in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values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>
                <a:solidFill>
                  <a:srgbClr val="98C379"/>
                </a:solidFill>
                <a:cs typeface="+mn-ea"/>
                <a:sym typeface="+mn-lt"/>
              </a:rPr>
              <a:t>"{x}"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500" b="0" u="none" dirty="0">
              <a:solidFill>
                <a:srgbClr val="ABB2BF"/>
              </a:solidFill>
              <a:cs typeface="+mn-ea"/>
              <a:sym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91756" y="1958539"/>
            <a:ext cx="5524480" cy="527563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以上示例代码反糖化为：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" name="文本框 5"/>
          <p:cNvSpPr txBox="1"/>
          <p:nvPr/>
        </p:nvSpPr>
        <p:spPr>
          <a:xfrm>
            <a:off x="5594158" y="2428780"/>
            <a:ext cx="6061997" cy="38123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标准库定义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values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vec!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4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];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{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result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match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5C07B"/>
                </a:solidFill>
                <a:cs typeface="+mn-ea"/>
                <a:sym typeface="+mn-lt"/>
              </a:rPr>
              <a:t>IntoIterator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into_iter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values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    </a:t>
            </a:r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iter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=&gt; </a:t>
            </a:r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loop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        </a:t>
            </a:r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next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        </a:t>
            </a:r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match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iter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next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            </a:t>
            </a:r>
            <a:r>
              <a:rPr lang="en-US" sz="1500" b="0" u="none">
                <a:solidFill>
                  <a:srgbClr val="E5C07B"/>
                </a:solidFill>
                <a:cs typeface="+mn-ea"/>
                <a:sym typeface="+mn-lt"/>
              </a:rPr>
              <a:t>Some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val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) =&gt;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next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val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            </a:t>
            </a:r>
            <a:r>
              <a:rPr lang="en-US" sz="1500" b="0" u="none">
                <a:solidFill>
                  <a:srgbClr val="E5C07B"/>
                </a:solidFill>
                <a:cs typeface="+mn-ea"/>
                <a:sym typeface="+mn-lt"/>
              </a:rPr>
              <a:t>None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=&gt; </a:t>
            </a:r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break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        };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        </a:t>
            </a:r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next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        </a:t>
            </a:r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() </a:t>
            </a:r>
            <a:r>
              <a:rPr lang="en-US" sz="15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>
                <a:solidFill>
                  <a:srgbClr val="98C379"/>
                </a:solidFill>
                <a:cs typeface="+mn-ea"/>
                <a:sym typeface="+mn-lt"/>
              </a:rPr>
              <a:t>"{x}"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); };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    },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};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result</a:t>
            </a:r>
            <a:endParaRPr lang="en-US" sz="1500" b="0" u="none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500" b="0" u="none" dirty="0">
              <a:solidFill>
                <a:srgbClr val="ABB2BF"/>
              </a:solidFill>
              <a:cs typeface="+mn-ea"/>
              <a:sym typeface="+mn-lt"/>
            </a:endParaRPr>
          </a:p>
        </p:txBody>
      </p:sp>
      <p:pic>
        <p:nvPicPr>
          <p:cNvPr id="2" name="图片 1" descr="upload_8517571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544" y="2637656"/>
            <a:ext cx="4479308" cy="1323884"/>
          </a:xfrm>
          <a:prstGeom prst="rect">
            <a:avLst/>
          </a:prstGeom>
        </p:spPr>
      </p:pic>
      <p:pic>
        <p:nvPicPr>
          <p:cNvPr id="4" name="图片 3" descr="upload_9694250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379" y="4320044"/>
            <a:ext cx="4479308" cy="16822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标题 1"/>
          <p:cNvSpPr txBox="1"/>
          <p:nvPr/>
        </p:nvSpPr>
        <p:spPr>
          <a:xfrm>
            <a:off x="157365" y="20623"/>
            <a:ext cx="10740640" cy="61502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8085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72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08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81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3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26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62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34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07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迭代器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利用相关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trait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实现迭代器</a:t>
            </a:r>
            <a:endParaRPr lang="en-US" altLang="zh-CN" b="1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57365" y="481726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1946011" y="642034"/>
            <a:ext cx="7166893" cy="526923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altLang="zh-CN" sz="12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200" b="1">
                <a:solidFill>
                  <a:srgbClr val="00B050"/>
                </a:solidFill>
                <a:cs typeface="+mn-ea"/>
                <a:sym typeface="+mn-lt"/>
              </a:rPr>
              <a:t>为自定义类型实现迭代器代码示例</a:t>
            </a:r>
            <a:endParaRPr lang="en-US" altLang="zh-CN" sz="12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E5C07B"/>
                </a:solidFill>
                <a:cs typeface="+mn-ea"/>
                <a:sym typeface="+mn-lt"/>
              </a:rPr>
              <a:t>Fibonacci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current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200" b="0" u="none">
                <a:solidFill>
                  <a:srgbClr val="E5C07B"/>
                </a:solidFill>
                <a:cs typeface="+mn-ea"/>
                <a:sym typeface="+mn-lt"/>
              </a:rPr>
              <a:t>u64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next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200" b="0" u="none">
                <a:solidFill>
                  <a:srgbClr val="E5C07B"/>
                </a:solidFill>
                <a:cs typeface="+mn-ea"/>
                <a:sym typeface="+mn-lt"/>
              </a:rPr>
              <a:t>u64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count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200" b="0" u="none">
                <a:solidFill>
                  <a:srgbClr val="E5C07B"/>
                </a:solidFill>
                <a:cs typeface="+mn-ea"/>
                <a:sym typeface="+mn-lt"/>
              </a:rPr>
              <a:t>u8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}</a:t>
            </a:r>
            <a:endParaRPr lang="en-US" sz="1200" b="0" u="none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E5C07B"/>
                </a:solidFill>
                <a:cs typeface="+mn-ea"/>
                <a:sym typeface="+mn-lt"/>
              </a:rPr>
              <a:t>Fibonacci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() -&gt; </a:t>
            </a:r>
            <a:r>
              <a:rPr lang="en-US" sz="1200" b="0" u="none">
                <a:solidFill>
                  <a:srgbClr val="E5C07B"/>
                </a:solidFill>
                <a:cs typeface="+mn-ea"/>
                <a:sym typeface="+mn-lt"/>
              </a:rPr>
              <a:t>Fibonacci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sz="1200" b="0" u="none">
                <a:solidFill>
                  <a:srgbClr val="E5C07B"/>
                </a:solidFill>
                <a:cs typeface="+mn-ea"/>
                <a:sym typeface="+mn-lt"/>
              </a:rPr>
              <a:t>Fibonacci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current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200" b="0" u="none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next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2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count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200" b="0" u="none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} }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sz="1200" b="0" u="none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E5C07B"/>
                </a:solidFill>
                <a:cs typeface="+mn-ea"/>
                <a:sym typeface="+mn-lt"/>
              </a:rPr>
              <a:t>Iterator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E5C07B"/>
                </a:solidFill>
                <a:cs typeface="+mn-ea"/>
                <a:sym typeface="+mn-lt"/>
              </a:rPr>
              <a:t>Fibonacci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type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E5C07B"/>
                </a:solidFill>
                <a:cs typeface="+mn-ea"/>
                <a:sym typeface="+mn-lt"/>
              </a:rPr>
              <a:t>Item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200" b="0" u="none">
                <a:solidFill>
                  <a:srgbClr val="E5C07B"/>
                </a:solidFill>
                <a:cs typeface="+mn-ea"/>
                <a:sym typeface="+mn-lt"/>
              </a:rPr>
              <a:t>u64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61AFEF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next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C678DD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self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sz="1200" b="0" u="none">
                <a:solidFill>
                  <a:srgbClr val="E5C07B"/>
                </a:solidFill>
                <a:cs typeface="+mn-ea"/>
                <a:sym typeface="+mn-lt"/>
              </a:rPr>
              <a:t>Option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Self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200" b="0" u="none">
                <a:solidFill>
                  <a:srgbClr val="E5C07B"/>
                </a:solidFill>
                <a:cs typeface="+mn-ea"/>
                <a:sym typeface="+mn-lt"/>
              </a:rPr>
              <a:t>Item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    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if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C678DD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self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count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&lt; </a:t>
            </a:r>
            <a:r>
              <a:rPr lang="en-US" sz="1200" b="0" u="none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        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new_next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200" b="0" u="none">
                <a:solidFill>
                  <a:srgbClr val="C678DD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self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current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+ </a:t>
            </a:r>
            <a:r>
              <a:rPr lang="en-US" sz="1200" b="0" u="none">
                <a:solidFill>
                  <a:srgbClr val="C678DD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self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next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        </a:t>
            </a:r>
            <a:r>
              <a:rPr lang="en-US" sz="1200" b="0" u="none">
                <a:solidFill>
                  <a:srgbClr val="C678DD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self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current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200" b="0" u="none">
                <a:solidFill>
                  <a:srgbClr val="C678DD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self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next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        </a:t>
            </a:r>
            <a:r>
              <a:rPr lang="en-US" sz="1200" b="0" u="none">
                <a:solidFill>
                  <a:srgbClr val="C678DD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self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next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new_next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        </a:t>
            </a:r>
            <a:r>
              <a:rPr lang="en-US" sz="1200" b="0" u="none">
                <a:solidFill>
                  <a:srgbClr val="C678DD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self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count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ABB2BF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+=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        </a:t>
            </a:r>
            <a:r>
              <a:rPr lang="en-US" sz="1200" b="0" u="none">
                <a:solidFill>
                  <a:srgbClr val="56B6C2"/>
                </a:solidFill>
                <a:cs typeface="+mn-ea"/>
                <a:sym typeface="+mn-lt"/>
              </a:rPr>
              <a:t>Some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200" b="0" u="none">
                <a:solidFill>
                  <a:srgbClr val="C678DD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self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current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)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    } 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else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        </a:t>
            </a:r>
            <a:r>
              <a:rPr lang="en-US" sz="1200" b="0" u="none">
                <a:solidFill>
                  <a:srgbClr val="56B6C2"/>
                </a:solidFill>
                <a:cs typeface="+mn-ea"/>
                <a:sym typeface="+mn-lt"/>
              </a:rPr>
              <a:t>None</a:t>
            </a:r>
            <a:endParaRPr lang="en-US" sz="1200" b="0" u="none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    }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}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sz="1200" b="0" u="none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fib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200" b="0" u="none">
                <a:solidFill>
                  <a:srgbClr val="E5C07B"/>
                </a:solidFill>
                <a:cs typeface="+mn-ea"/>
                <a:sym typeface="+mn-lt"/>
              </a:rPr>
              <a:t>Fibonacci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200" b="0" u="none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E06C75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result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200" b="0" u="none">
                <a:solidFill>
                  <a:srgbClr val="E5C07B"/>
                </a:solidFill>
                <a:cs typeface="+mn-ea"/>
                <a:sym typeface="+mn-lt"/>
              </a:rPr>
              <a:t>Vec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200" b="0" u="none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expect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200" b="0" u="none">
                <a:solidFill>
                  <a:srgbClr val="D19A66"/>
                </a:solidFill>
                <a:cs typeface="+mn-ea"/>
                <a:sym typeface="+mn-lt"/>
              </a:rPr>
              <a:t>vec!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sz="12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2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200" b="0" u="none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200" b="0" u="none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200" b="0" u="none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200" b="0" u="none">
                <a:solidFill>
                  <a:srgbClr val="D19A66"/>
                </a:solidFill>
                <a:cs typeface="+mn-ea"/>
                <a:sym typeface="+mn-lt"/>
              </a:rPr>
              <a:t>8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200" b="0" u="none">
                <a:solidFill>
                  <a:srgbClr val="D19A66"/>
                </a:solidFill>
                <a:cs typeface="+mn-ea"/>
                <a:sym typeface="+mn-lt"/>
              </a:rPr>
              <a:t>13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200" b="0" u="none">
                <a:solidFill>
                  <a:srgbClr val="D19A66"/>
                </a:solidFill>
                <a:cs typeface="+mn-ea"/>
                <a:sym typeface="+mn-lt"/>
              </a:rPr>
              <a:t>21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200" b="0" u="none">
                <a:solidFill>
                  <a:srgbClr val="D19A66"/>
                </a:solidFill>
                <a:cs typeface="+mn-ea"/>
                <a:sym typeface="+mn-lt"/>
              </a:rPr>
              <a:t>34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200" b="0" u="none">
                <a:solidFill>
                  <a:srgbClr val="D19A66"/>
                </a:solidFill>
                <a:cs typeface="+mn-ea"/>
                <a:sym typeface="+mn-lt"/>
              </a:rPr>
              <a:t>55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];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i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in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fib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200" b="0" u="none">
                <a:solidFill>
                  <a:srgbClr val="61AFEF"/>
                </a:solidFill>
                <a:cs typeface="+mn-ea"/>
                <a:sym typeface="+mn-lt"/>
              </a:rPr>
              <a:t>into_iter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    </a:t>
            </a:r>
            <a:r>
              <a:rPr lang="en-US" sz="1200" b="0" u="none">
                <a:solidFill>
                  <a:srgbClr val="E06C75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result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200" b="0" u="none">
                <a:solidFill>
                  <a:srgbClr val="61AFEF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push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i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}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200" b="0" u="none">
                <a:solidFill>
                  <a:srgbClr val="E06C75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result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expect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 u="none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 1"/>
          <p:cNvSpPr txBox="1"/>
          <p:nvPr/>
        </p:nvSpPr>
        <p:spPr>
          <a:xfrm>
            <a:off x="157365" y="20623"/>
            <a:ext cx="10740640" cy="61502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8085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72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08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81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3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26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62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34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07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迭代器</a:t>
            </a:r>
            <a:endParaRPr lang="en-US" altLang="zh-CN" b="1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57365" y="481726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708116" y="1223820"/>
            <a:ext cx="9914202" cy="15727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defTabSz="1219200">
              <a:lnSpc>
                <a:spcPct val="150000"/>
              </a:lnSpc>
              <a:defRPr/>
            </a:pPr>
            <a:r>
              <a:rPr lang="zh-CN" altLang="en-US" sz="1600">
                <a:cs typeface="+mn-ea"/>
                <a:sym typeface="+mn-lt"/>
              </a:rPr>
              <a:t>迭代器的某些方法称为适配器，适配器可以分为两种：</a:t>
            </a:r>
          </a:p>
          <a:p>
            <a:pPr marL="285750" lvl="0" indent="-285750" defTabSz="1219200">
              <a:lnSpc>
                <a:spcPct val="150000"/>
              </a:lnSpc>
              <a:buChar char="•"/>
              <a:defRPr/>
            </a:pPr>
            <a:r>
              <a:rPr lang="zh-CN" altLang="en-US" sz="1600">
                <a:cs typeface="+mn-ea"/>
                <a:sym typeface="+mn-lt"/>
              </a:rPr>
              <a:t>消费适配器，调用 </a:t>
            </a:r>
            <a:r>
              <a:rPr lang="en-US" altLang="zh-CN" sz="1600">
                <a:cs typeface="+mn-ea"/>
                <a:sym typeface="+mn-lt"/>
              </a:rPr>
              <a:t>next </a:t>
            </a:r>
            <a:r>
              <a:rPr lang="zh-CN" altLang="en-US" sz="1600">
                <a:cs typeface="+mn-ea"/>
                <a:sym typeface="+mn-lt"/>
              </a:rPr>
              <a:t>方法的方法被称为消费适配器，调用他们后返回的不是迭代器，将迭代器转换为其他类型的值；</a:t>
            </a:r>
          </a:p>
          <a:p>
            <a:pPr marL="285750" lvl="0" indent="-285750" defTabSz="1219200">
              <a:lnSpc>
                <a:spcPct val="150000"/>
              </a:lnSpc>
              <a:buChar char="•"/>
              <a:defRPr/>
            </a:pPr>
            <a:r>
              <a:rPr lang="zh-CN" altLang="en-US" sz="1600">
                <a:cs typeface="+mn-ea"/>
                <a:sym typeface="+mn-lt"/>
              </a:rPr>
              <a:t>迭代适配器，对迭代器进行遍历的操作，可以将当前迭代器变为其他类型的迭代器；</a:t>
            </a:r>
            <a:endParaRPr lang="en-US" altLang="zh-CN" sz="160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63865" y="646349"/>
            <a:ext cx="2097383" cy="19380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部分消费适配器：</a:t>
            </a:r>
            <a:endParaRPr lang="en-US" altLang="zh-CN" sz="16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cs typeface="+mn-ea"/>
                <a:sym typeface="+mn-lt"/>
              </a:rPr>
              <a:t>.count()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cs typeface="+mn-ea"/>
                <a:sym typeface="+mn-lt"/>
              </a:rPr>
              <a:t>.fold()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cs typeface="+mn-ea"/>
                <a:sym typeface="+mn-lt"/>
              </a:rPr>
              <a:t>.collect()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cs typeface="+mn-ea"/>
                <a:sym typeface="+mn-lt"/>
              </a:rPr>
              <a:t>.sum()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759116" y="1243374"/>
            <a:ext cx="5974339" cy="332398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获取迭代器的所有权并反复调用 </a:t>
            </a:r>
            <a:r>
              <a:rPr lang="en-US" altLang="zh-CN" sz="1400" b="1">
                <a:solidFill>
                  <a:srgbClr val="00B050"/>
                </a:solidFill>
                <a:cs typeface="+mn-ea"/>
                <a:sym typeface="+mn-lt"/>
              </a:rPr>
              <a:t>next 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来遍历迭代器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 count()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[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];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iter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count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 sum()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[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];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sum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iter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sum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sum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6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 fold()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[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];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sum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iter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fold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altLang="zh-CN" sz="1400" i="1">
                <a:solidFill>
                  <a:srgbClr val="E06C75"/>
                </a:solidFill>
                <a:cs typeface="+mn-ea"/>
                <a:sym typeface="+mn-lt"/>
              </a:rPr>
              <a:t>acc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i="1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i="1">
                <a:solidFill>
                  <a:srgbClr val="E06C75"/>
                </a:solidFill>
                <a:cs typeface="+mn-ea"/>
                <a:sym typeface="+mn-lt"/>
              </a:rPr>
              <a:t>acc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+ </a:t>
            </a:r>
            <a:r>
              <a:rPr lang="en-US" altLang="zh-CN" sz="1400" i="1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sum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6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7" name="副标题 1"/>
          <p:cNvSpPr txBox="1"/>
          <p:nvPr/>
        </p:nvSpPr>
        <p:spPr>
          <a:xfrm>
            <a:off x="157365" y="20623"/>
            <a:ext cx="10740640" cy="61502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8085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72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08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81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3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26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62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34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07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迭代器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消费适配器</a:t>
            </a:r>
            <a:endParaRPr lang="en-US" altLang="zh-CN" b="1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57365" y="481726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upload_6755383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80" y="3483747"/>
            <a:ext cx="3792481" cy="786367"/>
          </a:xfrm>
          <a:prstGeom prst="rect">
            <a:avLst/>
          </a:prstGeom>
        </p:spPr>
      </p:pic>
      <p:pic>
        <p:nvPicPr>
          <p:cNvPr id="11" name="图片 10" descr="upload_115497368"/>
          <p:cNvPicPr>
            <a:picLocks noChangeAspect="1"/>
          </p:cNvPicPr>
          <p:nvPr/>
        </p:nvPicPr>
        <p:blipFill>
          <a:blip r:embed="rId4"/>
          <a:srcRect r="29545"/>
          <a:stretch>
            <a:fillRect/>
          </a:stretch>
        </p:blipFill>
        <p:spPr>
          <a:xfrm>
            <a:off x="393326" y="4424402"/>
            <a:ext cx="3702895" cy="816229"/>
          </a:xfrm>
          <a:prstGeom prst="rect">
            <a:avLst/>
          </a:prstGeom>
        </p:spPr>
      </p:pic>
      <p:pic>
        <p:nvPicPr>
          <p:cNvPr id="12" name="图片 11" descr="upload_815080586"/>
          <p:cNvPicPr>
            <a:picLocks noChangeAspect="1"/>
          </p:cNvPicPr>
          <p:nvPr/>
        </p:nvPicPr>
        <p:blipFill>
          <a:blip r:embed="rId5"/>
          <a:srcRect r="31949"/>
          <a:stretch>
            <a:fillRect/>
          </a:stretch>
        </p:blipFill>
        <p:spPr>
          <a:xfrm>
            <a:off x="393326" y="2657564"/>
            <a:ext cx="3752665" cy="607195"/>
          </a:xfrm>
          <a:prstGeom prst="rect">
            <a:avLst/>
          </a:prstGeom>
        </p:spPr>
      </p:pic>
      <p:pic>
        <p:nvPicPr>
          <p:cNvPr id="13" name="图片 12" descr="upload_162047564"/>
          <p:cNvPicPr>
            <a:picLocks noChangeAspect="1"/>
          </p:cNvPicPr>
          <p:nvPr/>
        </p:nvPicPr>
        <p:blipFill>
          <a:blip r:embed="rId6"/>
          <a:srcRect r="12085"/>
          <a:stretch>
            <a:fillRect/>
          </a:stretch>
        </p:blipFill>
        <p:spPr>
          <a:xfrm>
            <a:off x="413234" y="5439712"/>
            <a:ext cx="3692941" cy="81622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68477" y="481256"/>
            <a:ext cx="2097383" cy="19380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部分迭代器适配器：</a:t>
            </a:r>
            <a:endParaRPr lang="en-US" altLang="zh-CN" sz="16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cs typeface="+mn-ea"/>
                <a:sym typeface="+mn-lt"/>
              </a:rPr>
              <a:t>.map()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cs typeface="+mn-ea"/>
                <a:sym typeface="+mn-lt"/>
              </a:rPr>
              <a:t>.filter()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cs typeface="+mn-ea"/>
                <a:sym typeface="+mn-lt"/>
              </a:rPr>
              <a:t>.take()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cs typeface="+mn-ea"/>
                <a:sym typeface="+mn-lt"/>
              </a:rPr>
              <a:t>.chain()</a:t>
            </a:r>
          </a:p>
        </p:txBody>
      </p:sp>
      <p:sp>
        <p:nvSpPr>
          <p:cNvPr id="10" name="副标题 1"/>
          <p:cNvSpPr txBox="1"/>
          <p:nvPr/>
        </p:nvSpPr>
        <p:spPr>
          <a:xfrm>
            <a:off x="157365" y="20623"/>
            <a:ext cx="10740640" cy="61502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8085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72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08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81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3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26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62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34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07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迭代器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迭代适配器</a:t>
            </a:r>
            <a:endParaRPr lang="en-US" altLang="zh-CN" b="1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57365" y="481726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5180203" y="2437076"/>
            <a:ext cx="6551767" cy="21310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4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u="sng">
                <a:solidFill>
                  <a:srgbClr val="E06C75"/>
                </a:solidFill>
                <a:cs typeface="+mn-ea"/>
                <a:sym typeface="+mn-lt"/>
              </a:rPr>
              <a:t>v1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Vec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=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vec!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];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调用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map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方法创建了一个新迭代器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因为迭代器适配器是惰性的，意味着你需要一个消费者适配器来收尾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collect()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方法将迭代器转换为集合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_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 u="sng">
                <a:solidFill>
                  <a:srgbClr val="E06C75"/>
                </a:solidFill>
                <a:cs typeface="+mn-ea"/>
                <a:sym typeface="+mn-lt"/>
              </a:rPr>
              <a:t>v1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u="sng">
                <a:solidFill>
                  <a:srgbClr val="61AFEF"/>
                </a:solidFill>
                <a:cs typeface="+mn-ea"/>
                <a:sym typeface="+mn-lt"/>
              </a:rPr>
              <a:t>iter_mut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altLang="zh-CN" sz="1400" u="sng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*</a:t>
            </a:r>
            <a:r>
              <a:rPr lang="en-US" altLang="zh-CN" sz="1400" u="sng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u="sng">
                <a:solidFill>
                  <a:srgbClr val="ABB2BF"/>
                </a:solidFill>
                <a:cs typeface="+mn-ea"/>
                <a:sym typeface="+mn-lt"/>
              </a:rPr>
              <a:t>+=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collect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Vec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_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&gt;&gt;();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vec!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4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], </a:t>
            </a:r>
            <a:r>
              <a:rPr lang="en-US" altLang="zh-CN" sz="1400" u="sng">
                <a:solidFill>
                  <a:srgbClr val="E06C75"/>
                </a:solidFill>
                <a:cs typeface="+mn-ea"/>
                <a:sym typeface="+mn-lt"/>
              </a:rPr>
              <a:t>v1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" name="图片 1" descr="upload_739984658"/>
          <p:cNvPicPr>
            <a:picLocks noChangeAspect="1"/>
          </p:cNvPicPr>
          <p:nvPr/>
        </p:nvPicPr>
        <p:blipFill>
          <a:blip r:embed="rId3"/>
          <a:srcRect r="8711"/>
          <a:stretch>
            <a:fillRect/>
          </a:stretch>
        </p:blipFill>
        <p:spPr>
          <a:xfrm>
            <a:off x="170029" y="2425741"/>
            <a:ext cx="4942164" cy="816137"/>
          </a:xfrm>
          <a:prstGeom prst="rect">
            <a:avLst/>
          </a:prstGeom>
        </p:spPr>
      </p:pic>
      <p:pic>
        <p:nvPicPr>
          <p:cNvPr id="4" name="图片 3" descr="upload_960683028"/>
          <p:cNvPicPr>
            <a:picLocks noChangeAspect="1"/>
          </p:cNvPicPr>
          <p:nvPr/>
        </p:nvPicPr>
        <p:blipFill>
          <a:blip r:embed="rId4"/>
          <a:srcRect r="23348"/>
          <a:stretch>
            <a:fillRect/>
          </a:stretch>
        </p:blipFill>
        <p:spPr>
          <a:xfrm>
            <a:off x="170029" y="3479918"/>
            <a:ext cx="4919493" cy="816137"/>
          </a:xfrm>
          <a:prstGeom prst="rect">
            <a:avLst/>
          </a:prstGeom>
        </p:spPr>
      </p:pic>
      <p:pic>
        <p:nvPicPr>
          <p:cNvPr id="8" name="图片 7" descr="upload_302718054"/>
          <p:cNvPicPr>
            <a:picLocks noChangeAspect="1"/>
          </p:cNvPicPr>
          <p:nvPr/>
        </p:nvPicPr>
        <p:blipFill>
          <a:blip r:embed="rId5"/>
          <a:srcRect r="20821"/>
          <a:stretch>
            <a:fillRect/>
          </a:stretch>
        </p:blipFill>
        <p:spPr>
          <a:xfrm>
            <a:off x="181364" y="4568101"/>
            <a:ext cx="4919493" cy="6007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本章小结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224478"/>
            <a:ext cx="10733557" cy="4690459"/>
          </a:xfrm>
        </p:spPr>
        <p:txBody>
          <a:bodyPr/>
          <a:lstStyle/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学完本章，希望可以：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掌握标准库中集合容器类型的基础使用、</a:t>
            </a:r>
            <a:r>
              <a:rPr lang="en-US" altLang="zh-CN" sz="1800">
                <a:cs typeface="+mn-ea"/>
                <a:sym typeface="+mn-lt"/>
              </a:rPr>
              <a:t>API</a:t>
            </a:r>
            <a:r>
              <a:rPr lang="zh-CN" altLang="en-US" sz="1800">
                <a:cs typeface="+mn-ea"/>
                <a:sym typeface="+mn-lt"/>
              </a:rPr>
              <a:t>使用；</a:t>
            </a:r>
            <a:endParaRPr lang="en-US" altLang="zh-CN" sz="180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</a:t>
            </a:r>
            <a:r>
              <a:rPr lang="en-US" altLang="zh-CN" sz="1800">
                <a:cs typeface="+mn-ea"/>
                <a:sym typeface="+mn-lt"/>
              </a:rPr>
              <a:t>HashMap</a:t>
            </a:r>
            <a:r>
              <a:rPr lang="zh-CN" altLang="en-US" sz="1800">
                <a:cs typeface="+mn-ea"/>
                <a:sym typeface="+mn-lt"/>
              </a:rPr>
              <a:t>、</a:t>
            </a:r>
            <a:r>
              <a:rPr lang="en-US" altLang="zh-CN" sz="1800">
                <a:cs typeface="+mn-ea"/>
                <a:sym typeface="+mn-lt"/>
              </a:rPr>
              <a:t>BTreeMap</a:t>
            </a:r>
            <a:r>
              <a:rPr lang="zh-CN" altLang="en-US" sz="1800">
                <a:cs typeface="+mn-ea"/>
                <a:sym typeface="+mn-lt"/>
              </a:rPr>
              <a:t>的</a:t>
            </a:r>
            <a:r>
              <a:rPr lang="en-US" altLang="zh-CN" sz="1800">
                <a:cs typeface="+mn-ea"/>
                <a:sym typeface="+mn-lt"/>
              </a:rPr>
              <a:t>entry</a:t>
            </a:r>
            <a:r>
              <a:rPr lang="zh-CN" altLang="en-US" sz="1800">
                <a:cs typeface="+mn-ea"/>
                <a:sym typeface="+mn-lt"/>
              </a:rPr>
              <a:t>模式；</a:t>
            </a:r>
            <a:endParaRPr lang="en-US" altLang="zh-CN" sz="1800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掌握迭代器的使用、相关</a:t>
            </a:r>
            <a:r>
              <a:rPr lang="en-US" altLang="zh-CN" sz="1800">
                <a:cs typeface="+mn-ea"/>
                <a:sym typeface="+mn-lt"/>
              </a:rPr>
              <a:t>trait</a:t>
            </a:r>
            <a:r>
              <a:rPr lang="zh-CN" altLang="en-US" sz="1800">
                <a:cs typeface="+mn-ea"/>
                <a:sym typeface="+mn-lt"/>
              </a:rPr>
              <a:t>以及适配器的分类和使用方法；</a:t>
            </a:r>
            <a:endParaRPr lang="en-US" altLang="zh-CN" sz="1800" dirty="0"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22092" y="924919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ikfsbytp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ikfsbytp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ikfsbytp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ikfsbytp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15151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vert="horz" wrap="none" rtlCol="0">
        <a:spAutoFit/>
      </a:bodyPr>
      <a:lstStyle>
        <a:defPPr algn="l">
          <a:lnSpc>
            <a:spcPts val="3440"/>
          </a:lnSpc>
          <a:defRPr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ikfsbytp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3397</Words>
  <Application>Microsoft Office PowerPoint</Application>
  <PresentationFormat>自定义</PresentationFormat>
  <Paragraphs>387</Paragraphs>
  <Slides>17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Microsoft YaHei</vt:lpstr>
      <vt:lpstr>Arial</vt:lpstr>
      <vt:lpstr>Calibri</vt:lpstr>
      <vt:lpstr>Huawei Sans</vt:lpstr>
      <vt:lpstr>Wingdings</vt:lpstr>
      <vt:lpstr>1_Title Slide</vt:lpstr>
      <vt:lpstr>2_Title Slide</vt:lpstr>
      <vt:lpstr>Chart page</vt:lpstr>
      <vt:lpstr>4_Chart page</vt:lpstr>
      <vt:lpstr>End page</vt:lpstr>
      <vt:lpstr>集合容器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集合容器</dc:title>
  <dc:creator>fanyan (A)</dc:creator>
  <cp:lastModifiedBy>Zhangyandong (ben)</cp:lastModifiedBy>
  <cp:revision>6</cp:revision>
  <dcterms:created xsi:type="dcterms:W3CDTF">2023-10-18T07:23:08Z</dcterms:created>
  <dcterms:modified xsi:type="dcterms:W3CDTF">2024-11-20T02:33:24Z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(3)RrLA9OzhwowaqbgSNeFwKRS8HhV1y8rq80hcmUQaLo1Qwpr3BRLFLNewZ4srZCd2XukwSUz9
TkEFaPu0zTniYoWBuYe0KwPCTrgOZYvv3MQPfnW7K6rEoLqTCQmO+TYk+TK6nWP0vVUxY8J0
uni9wUxEKkErlqdebGDQWsjd2qOBmyYJzebmJnKHFauYGrDDYhdiecFlYOOrkl8kW5ofeg2F
AMst9ximN1EQuq7O9Q</vt:lpwstr>
  </property>
  <property fmtid="{D5CDD505-2E9C-101B-9397-08002B2CF9AE}" pid="3" name="_2015_ms_pID_7253431">
    <vt:lpwstr>igI3YDma1xF42RKkopVL5autSdB1ULMHFPuFr1rzCvewoubDyxSVNi
Dcx+SpYJwKfr2UPgQvwR+bBqZrL1tIRCoReVleiYWWpO+OaphYjTmKHcWHjmWdBzp2ez1fRr
plUNnzK2fTnf2CoRFdpHRMS+YFW085iZ8bkIhVFgHJg7bCp8ZySNuWpGi1Jnge+Dypl7qyyl
HB5zL2R1Rl235Y2YYrB2y42in1wgPDvP01Kv</vt:lpwstr>
  </property>
  <property fmtid="{D5CDD505-2E9C-101B-9397-08002B2CF9AE}" pid="4" name="_2015_ms_pID_7253432">
    <vt:lpwstr>hA==</vt:lpwstr>
  </property>
  <property fmtid="{D5CDD505-2E9C-101B-9397-08002B2CF9AE}" pid="5" name="KSOProductBuildVer">
    <vt:lpwstr>2052-0.0.0.0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1703052210</vt:lpwstr>
  </property>
</Properties>
</file>