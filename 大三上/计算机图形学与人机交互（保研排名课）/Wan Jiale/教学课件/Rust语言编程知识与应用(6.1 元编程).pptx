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19"/>
  </p:notesMasterIdLst>
  <p:handoutMasterIdLst>
    <p:handoutMasterId r:id="rId20"/>
  </p:handoutMasterIdLst>
  <p:sldIdLst>
    <p:sldId id="283" r:id="rId6"/>
    <p:sldId id="288" r:id="rId7"/>
    <p:sldId id="422" r:id="rId8"/>
    <p:sldId id="392" r:id="rId9"/>
    <p:sldId id="424" r:id="rId10"/>
    <p:sldId id="430" r:id="rId11"/>
    <p:sldId id="425" r:id="rId12"/>
    <p:sldId id="453" r:id="rId13"/>
    <p:sldId id="450" r:id="rId14"/>
    <p:sldId id="458" r:id="rId15"/>
    <p:sldId id="455" r:id="rId16"/>
    <p:sldId id="292" r:id="rId17"/>
    <p:sldId id="280" r:id="rId18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22"/>
            <p14:sldId id="392"/>
            <p14:sldId id="424"/>
            <p14:sldId id="430"/>
            <p14:sldId id="425"/>
            <p14:sldId id="453"/>
            <p14:sldId id="450"/>
            <p14:sldId id="458"/>
            <p14:sldId id="455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zhanghandong WX930509_Jj22FnMn" initials="authorId_AK20210901:AK20210901JXNSXO4676065" lastIdx="1690296584" clrIdx="0"/>
  <p:cmAuthor id="2000" name="fanchangchun 00567414_2yeyVvEJ" initials="authorId_AK20210901:AK20210901JXNSXO4723448" lastIdx="0" clrIdx="0"/>
  <p:cmAuthor id="2001" name="liziqiang 00556901_ERbuA7r6" initials="authorId_AK20210901:AK20210901JXNSXO4497046" lastIdx="115228910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0888" autoAdjust="0"/>
  </p:normalViewPr>
  <p:slideViewPr>
    <p:cSldViewPr snapToGrid="0" snapToObjects="1">
      <p:cViewPr varScale="1">
        <p:scale>
          <a:sx n="66" d="100"/>
          <a:sy n="66" d="100"/>
        </p:scale>
        <p:origin x="40" y="26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学习，掌握 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中元编程的概念，宏的分类以及内置宏的使用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2795760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29175" y="2855236"/>
            <a:ext cx="7019651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元编程概念；</a:t>
            </a:r>
            <a:endParaRPr lang="en-US" altLang="zh-CN" dirty="0">
              <a:cs typeface="+mn-ea"/>
              <a:sym typeface="+mn-lt"/>
            </a:endParaRP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宏的分类；</a:t>
            </a:r>
            <a:endParaRPr lang="en-US" altLang="zh-CN" dirty="0">
              <a:cs typeface="+mn-ea"/>
              <a:sym typeface="+mn-lt"/>
            </a:endParaRP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常见内置宏及使用示例；</a:t>
            </a: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宏优势介绍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35853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729175" y="382562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元编程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Tx/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常见内置宏</a:t>
            </a:r>
          </a:p>
          <a:p>
            <a:pPr marL="354965" indent="-342900">
              <a:lnSpc>
                <a:spcPct val="150000"/>
              </a:lnSpc>
              <a:buFontTx/>
              <a:buAutoNum type="arabicPlain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宏优势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88751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7712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3182" y="789466"/>
            <a:ext cx="10740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accent1"/>
                </a:solidFill>
                <a:cs typeface="+mn-ea"/>
                <a:sym typeface="+mn-lt"/>
              </a:rPr>
              <a:t>什么是元编程？ </a:t>
            </a:r>
            <a:r>
              <a:rPr lang="en-US" altLang="zh-CN" sz="1600">
                <a:solidFill>
                  <a:schemeClr val="accent1"/>
                </a:solidFill>
                <a:cs typeface="+mn-ea"/>
                <a:sym typeface="+mn-lt"/>
              </a:rPr>
              <a:t>Rust </a:t>
            </a:r>
            <a:r>
              <a:rPr lang="zh-CN" altLang="en-US" sz="1600">
                <a:solidFill>
                  <a:schemeClr val="accent1"/>
                </a:solidFill>
                <a:cs typeface="+mn-ea"/>
                <a:sym typeface="+mn-lt"/>
              </a:rPr>
              <a:t>如何提供元编程？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元</a:t>
            </a:r>
            <a:r>
              <a:rPr lang="zh-CN" altLang="en-US" sz="1600" dirty="0">
                <a:cs typeface="+mn-ea"/>
                <a:sym typeface="+mn-lt"/>
              </a:rPr>
              <a:t>编程是一种能够生成代码的</a:t>
            </a:r>
            <a:r>
              <a:rPr lang="zh-CN" altLang="en-US" sz="1600">
                <a:cs typeface="+mn-ea"/>
                <a:sym typeface="+mn-lt"/>
              </a:rPr>
              <a:t>编程技术；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元编程可以帮助开发者减少需要编写和维护的代码量，以及扩展</a:t>
            </a:r>
            <a:r>
              <a:rPr lang="zh-CN" altLang="en-US" sz="1600">
                <a:cs typeface="+mn-ea"/>
                <a:sym typeface="+mn-lt"/>
              </a:rPr>
              <a:t>编程语言自身；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7869" y="2193300"/>
            <a:ext cx="1054595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中，元编程主要通过宏（</a:t>
            </a:r>
            <a:r>
              <a:rPr lang="en-US" altLang="zh-CN" sz="1600" dirty="0">
                <a:cs typeface="+mn-ea"/>
                <a:sym typeface="+mn-lt"/>
              </a:rPr>
              <a:t>Macros</a:t>
            </a:r>
            <a:r>
              <a:rPr lang="zh-CN" altLang="en-US" sz="1600" dirty="0">
                <a:cs typeface="+mn-ea"/>
                <a:sym typeface="+mn-lt"/>
              </a:rPr>
              <a:t>）来实现。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的宏有两种形式：声明式宏（</a:t>
            </a:r>
            <a:r>
              <a:rPr lang="en-US" altLang="zh-CN" sz="1600" dirty="0">
                <a:cs typeface="+mn-ea"/>
                <a:sym typeface="+mn-lt"/>
              </a:rPr>
              <a:t>Declarative Macros</a:t>
            </a:r>
            <a:r>
              <a:rPr lang="zh-CN" altLang="en-US" sz="1600" dirty="0">
                <a:cs typeface="+mn-ea"/>
                <a:sym typeface="+mn-lt"/>
              </a:rPr>
              <a:t>）和过程宏（</a:t>
            </a:r>
            <a:r>
              <a:rPr lang="en-US" altLang="zh-CN" sz="1600" dirty="0">
                <a:cs typeface="+mn-ea"/>
                <a:sym typeface="+mn-lt"/>
              </a:rPr>
              <a:t>Procedural </a:t>
            </a:r>
            <a:r>
              <a:rPr lang="en-US" altLang="zh-CN" sz="1600">
                <a:cs typeface="+mn-ea"/>
                <a:sym typeface="+mn-lt"/>
              </a:rPr>
              <a:t>Macros</a:t>
            </a:r>
            <a:r>
              <a:rPr lang="zh-CN" altLang="en-US" sz="1600">
                <a:cs typeface="+mn-ea"/>
                <a:sym typeface="+mn-lt"/>
              </a:rPr>
              <a:t>）：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cs typeface="+mn-ea"/>
                <a:sym typeface="+mn-lt"/>
              </a:rPr>
              <a:t>声明宏：</a:t>
            </a:r>
            <a:r>
              <a:rPr lang="zh-CN" altLang="en-US" sz="1600">
                <a:cs typeface="+mn-ea"/>
                <a:sym typeface="+mn-lt"/>
              </a:rPr>
              <a:t>这是 </a:t>
            </a: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中最常见的宏形式，你可以使用 </a:t>
            </a:r>
            <a:r>
              <a:rPr lang="en-US" altLang="zh-CN" sz="1600">
                <a:cs typeface="+mn-ea"/>
                <a:sym typeface="+mn-lt"/>
              </a:rPr>
              <a:t>macro_rules! </a:t>
            </a:r>
            <a:r>
              <a:rPr lang="zh-CN" altLang="en-US" sz="1600">
                <a:cs typeface="+mn-ea"/>
                <a:sym typeface="+mn-lt"/>
              </a:rPr>
              <a:t>关键字来定义一个声明式宏。声明式宏类似于 </a:t>
            </a:r>
            <a:r>
              <a:rPr lang="en-US" altLang="zh-CN" sz="1600">
                <a:cs typeface="+mn-ea"/>
                <a:sym typeface="+mn-lt"/>
              </a:rPr>
              <a:t>C </a:t>
            </a:r>
            <a:r>
              <a:rPr lang="zh-CN" altLang="en-US" sz="1600">
                <a:cs typeface="+mn-ea"/>
                <a:sym typeface="+mn-lt"/>
              </a:rPr>
              <a:t>语言中的宏，但是更加强大和安全。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cs typeface="+mn-ea"/>
                <a:sym typeface="+mn-lt"/>
              </a:rPr>
              <a:t>过程宏：</a:t>
            </a:r>
            <a:r>
              <a:rPr lang="zh-CN" altLang="en-US" sz="1600">
                <a:cs typeface="+mn-ea"/>
                <a:sym typeface="+mn-lt"/>
              </a:rPr>
              <a:t>过程宏是 </a:t>
            </a: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中的一种更高级的宏形式，它们更像是一种函数，可以接受一些输入，然后生成一些代码。过程宏可以用于实现自定义的派生（</a:t>
            </a:r>
            <a:r>
              <a:rPr lang="en-US" altLang="zh-CN" sz="1600">
                <a:cs typeface="+mn-ea"/>
                <a:sym typeface="+mn-lt"/>
              </a:rPr>
              <a:t>Derive</a:t>
            </a:r>
            <a:r>
              <a:rPr lang="zh-CN" altLang="en-US" sz="1600">
                <a:cs typeface="+mn-ea"/>
                <a:sym typeface="+mn-lt"/>
              </a:rPr>
              <a:t>）宏，自定义的属性（</a:t>
            </a:r>
            <a:r>
              <a:rPr lang="en-US" altLang="zh-CN" sz="1600">
                <a:cs typeface="+mn-ea"/>
                <a:sym typeface="+mn-lt"/>
              </a:rPr>
              <a:t>Attribute</a:t>
            </a:r>
            <a:r>
              <a:rPr lang="zh-CN" altLang="en-US" sz="1600">
                <a:cs typeface="+mn-ea"/>
                <a:sym typeface="+mn-lt"/>
              </a:rPr>
              <a:t>）宏，以及函数风格的宏。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的元编程技术也包括运行时反射，但仅仅可以通过 </a:t>
            </a:r>
            <a:r>
              <a:rPr lang="en-US" altLang="zh-CN" sz="1600">
                <a:cs typeface="+mn-ea"/>
                <a:sym typeface="+mn-lt"/>
              </a:rPr>
              <a:t>Any trait </a:t>
            </a:r>
            <a:r>
              <a:rPr lang="zh-CN" altLang="en-US" sz="1600">
                <a:cs typeface="+mn-ea"/>
                <a:sym typeface="+mn-lt"/>
              </a:rPr>
              <a:t>获取类型信息，并不完整。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本章重点探讨宏（</a:t>
            </a:r>
            <a:r>
              <a:rPr lang="en-US" altLang="zh-CN" sz="1600">
                <a:cs typeface="+mn-ea"/>
                <a:sym typeface="+mn-lt"/>
              </a:rPr>
              <a:t>Macros</a:t>
            </a:r>
            <a:r>
              <a:rPr lang="zh-CN" altLang="en-US" sz="1600">
                <a:cs typeface="+mn-ea"/>
                <a:sym typeface="+mn-lt"/>
              </a:rPr>
              <a:t>）的机制与实现。</a:t>
            </a:r>
            <a:endParaRPr lang="en-US" altLang="zh-CN" sz="1600"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声明宏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3181" y="829255"/>
            <a:ext cx="9665556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声明宏（</a:t>
            </a:r>
            <a:r>
              <a:rPr lang="en-US" altLang="zh-CN" sz="1600" dirty="0">
                <a:cs typeface="+mn-ea"/>
                <a:sym typeface="+mn-lt"/>
              </a:rPr>
              <a:t>Declarative Macros</a:t>
            </a:r>
            <a:r>
              <a:rPr lang="zh-CN" altLang="en-US" sz="1600" dirty="0">
                <a:cs typeface="+mn-ea"/>
                <a:sym typeface="+mn-lt"/>
              </a:rPr>
              <a:t>）及其</a:t>
            </a:r>
            <a:r>
              <a:rPr lang="zh-CN" altLang="en-US" sz="1600">
                <a:cs typeface="+mn-ea"/>
                <a:sym typeface="+mn-lt"/>
              </a:rPr>
              <a:t>展开形式：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71770" y="1343504"/>
            <a:ext cx="4748014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macro_rules!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sum_of_numbers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( $( 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),* ) =&gt;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$(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)*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i64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sum_of_numbers!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4.2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73922" y="2097556"/>
            <a:ext cx="3743097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4.2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i64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872918" y="2903699"/>
            <a:ext cx="447870" cy="634481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9464" y="5089405"/>
            <a:ext cx="1074064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sum_of_numbers</a:t>
            </a:r>
            <a:r>
              <a:rPr lang="zh-CN" altLang="en-US" sz="1600">
                <a:cs typeface="+mn-ea"/>
                <a:sym typeface="+mn-lt"/>
              </a:rPr>
              <a:t>：宏名；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($($x:expr),*)</a:t>
            </a:r>
            <a:r>
              <a:rPr lang="zh-CN" altLang="en-US" sz="1600">
                <a:cs typeface="+mn-ea"/>
                <a:sym typeface="+mn-lt"/>
              </a:rPr>
              <a:t>：</a:t>
            </a:r>
            <a:r>
              <a:rPr lang="en-US" altLang="zh-CN" sz="1600">
                <a:cs typeface="+mn-ea"/>
                <a:sym typeface="+mn-lt"/>
              </a:rPr>
              <a:t> * </a:t>
            </a:r>
            <a:r>
              <a:rPr lang="zh-CN" altLang="en-US" sz="1600">
                <a:cs typeface="+mn-ea"/>
                <a:sym typeface="+mn-lt"/>
              </a:rPr>
              <a:t>表示此宏接受至少一个参数，并在每个参数之间插入逗号；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 ($x:expr)</a:t>
            </a:r>
            <a:r>
              <a:rPr lang="zh-CN" altLang="en-US" sz="1600">
                <a:cs typeface="+mn-ea"/>
                <a:sym typeface="+mn-lt"/>
              </a:rPr>
              <a:t>：</a:t>
            </a:r>
            <a:r>
              <a:rPr lang="en-US" altLang="zh-CN" sz="1600">
                <a:cs typeface="+mn-ea"/>
                <a:sym typeface="+mn-lt"/>
              </a:rPr>
              <a:t> x </a:t>
            </a:r>
            <a:r>
              <a:rPr lang="zh-CN" altLang="en-US" sz="1600">
                <a:cs typeface="+mn-ea"/>
                <a:sym typeface="+mn-lt"/>
              </a:rPr>
              <a:t>表示此宏接受至少一个参数</a:t>
            </a:r>
            <a:r>
              <a:rPr lang="zh-CN" altLang="en-US" sz="1600" dirty="0">
                <a:cs typeface="+mn-ea"/>
                <a:sym typeface="+mn-lt"/>
              </a:rPr>
              <a:t>；</a:t>
            </a:r>
            <a:endParaRPr lang="en-US" altLang="zh-CN" sz="16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7721" y="3623683"/>
            <a:ext cx="9778973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Describe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MyEnumt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MyVariant1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my_string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my_enum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MyVariant1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my_number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describe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"MyStruct is a struct with these named fields: my_string, my_enum, my_number"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75087" y="66688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3181" y="668142"/>
            <a:ext cx="2863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过程宏有</a:t>
            </a:r>
            <a:r>
              <a:rPr lang="zh-CN" altLang="en-US" sz="1600" dirty="0">
                <a:cs typeface="+mn-ea"/>
                <a:sym typeface="+mn-lt"/>
              </a:rPr>
              <a:t>三种形式：</a:t>
            </a:r>
            <a:endParaRPr lang="en-US" altLang="zh-CN" sz="16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cs typeface="+mn-ea"/>
                <a:sym typeface="+mn-lt"/>
              </a:rPr>
              <a:t>函数</a:t>
            </a:r>
            <a:r>
              <a:rPr lang="zh-CN" altLang="en-US" sz="1600">
                <a:cs typeface="+mn-ea"/>
                <a:sym typeface="+mn-lt"/>
              </a:rPr>
              <a:t>调用形式；</a:t>
            </a:r>
            <a:endParaRPr lang="zh-CN" altLang="en-US" sz="16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 dirty="0">
                <a:cs typeface="+mn-ea"/>
                <a:sym typeface="+mn-lt"/>
              </a:rPr>
              <a:t>Derive</a:t>
            </a:r>
            <a:r>
              <a:rPr lang="zh-CN" altLang="en-US" sz="1600" dirty="0">
                <a:cs typeface="+mn-ea"/>
                <a:sym typeface="+mn-lt"/>
              </a:rPr>
              <a:t>派生</a:t>
            </a:r>
            <a:r>
              <a:rPr lang="zh-CN" altLang="en-US" sz="1600">
                <a:cs typeface="+mn-ea"/>
                <a:sym typeface="+mn-lt"/>
              </a:rPr>
              <a:t>宏形式；</a:t>
            </a:r>
            <a:endParaRPr lang="en-US" altLang="zh-CN" sz="16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cs typeface="+mn-ea"/>
                <a:sym typeface="+mn-lt"/>
              </a:rPr>
              <a:t>属性</a:t>
            </a:r>
            <a:r>
              <a:rPr lang="zh-CN" altLang="en-US" sz="1600">
                <a:cs typeface="+mn-ea"/>
                <a:sym typeface="+mn-lt"/>
              </a:rPr>
              <a:t>宏形式；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276300" y="668142"/>
            <a:ext cx="8060394" cy="1383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函数调用形式</a:t>
            </a:r>
            <a:endParaRPr lang="en-US" sz="1400" b="0" u="none">
              <a:solidFill>
                <a:srgbClr val="61AFE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fn_macro_custom_syntax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ThingManager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K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V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K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Send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Default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+ '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static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V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Send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Default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+ '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static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HashMap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K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V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76300" y="2135710"/>
            <a:ext cx="8060394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#[proc_macro_attribute]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show_streams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attr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item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"attr:  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\"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{}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\"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attr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"item: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\"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{}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\"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item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item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934" y="4599993"/>
            <a:ext cx="905070" cy="482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cs typeface="+mn-ea"/>
                <a:sym typeface="+mn-lt"/>
              </a:rPr>
              <a:t>函数宏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1129004" y="4901491"/>
            <a:ext cx="79310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3934" y="3520752"/>
            <a:ext cx="905070" cy="482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cs typeface="+mn-ea"/>
                <a:sym typeface="+mn-lt"/>
              </a:rPr>
              <a:t>派生宏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129004" y="3822250"/>
            <a:ext cx="4287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123368" y="2465993"/>
            <a:ext cx="905070" cy="482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cs typeface="+mn-ea"/>
                <a:sym typeface="+mn-lt"/>
              </a:rPr>
              <a:t>属性宏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2919766" y="2413655"/>
            <a:ext cx="403241" cy="2130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85781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元编程-常见内置宏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3099" y="855497"/>
            <a:ext cx="586770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assert!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断言一个布尔表达式在运行时</a:t>
            </a:r>
            <a:r>
              <a:rPr lang="zh-CN" altLang="en-US" sz="1400">
                <a:cs typeface="+mn-ea"/>
                <a:sym typeface="+mn-lt"/>
              </a:rPr>
              <a:t>为真；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assert_eq!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断言两个表达式在运行时相等（使用 </a:t>
            </a:r>
            <a:r>
              <a:rPr lang="en-US" altLang="zh-CN" sz="1400" err="1">
                <a:cs typeface="+mn-ea"/>
                <a:sym typeface="+mn-lt"/>
              </a:rPr>
              <a:t>PartialEq</a:t>
            </a:r>
            <a:r>
              <a:rPr lang="zh-CN" altLang="en-US" sz="1400">
                <a:cs typeface="+mn-ea"/>
                <a:sym typeface="+mn-lt"/>
              </a:rPr>
              <a:t>）；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assert_ne!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断言两个表达式在运行时不相等（使用 </a:t>
            </a:r>
            <a:r>
              <a:rPr lang="en-US" altLang="zh-CN" sz="1400" err="1">
                <a:cs typeface="+mn-ea"/>
                <a:sym typeface="+mn-lt"/>
              </a:rPr>
              <a:t>PartialEq</a:t>
            </a:r>
            <a:r>
              <a:rPr lang="zh-CN" altLang="en-US" sz="1400">
                <a:cs typeface="+mn-ea"/>
                <a:sym typeface="+mn-lt"/>
              </a:rPr>
              <a:t>）；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cfg!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在编译时评估配置标志的</a:t>
            </a:r>
            <a:r>
              <a:rPr lang="zh-CN" altLang="en-US" sz="1400">
                <a:cs typeface="+mn-ea"/>
                <a:sym typeface="+mn-lt"/>
              </a:rPr>
              <a:t>布尔组合；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concat!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将字面量连接成一个静态</a:t>
            </a:r>
            <a:r>
              <a:rPr lang="zh-CN" altLang="en-US" sz="1400">
                <a:cs typeface="+mn-ea"/>
                <a:sym typeface="+mn-lt"/>
              </a:rPr>
              <a:t>字符串切片；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dbg!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打印并返回给定表达式的值，用于快速和简单</a:t>
            </a:r>
            <a:r>
              <a:rPr lang="zh-CN" altLang="en-US" sz="1400">
                <a:cs typeface="+mn-ea"/>
                <a:sym typeface="+mn-lt"/>
              </a:rPr>
              <a:t>的调试；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format!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使用运行时表达式的插值创建一</a:t>
            </a:r>
            <a:r>
              <a:rPr lang="zh-CN" altLang="en-US" sz="1400">
                <a:cs typeface="+mn-ea"/>
                <a:sym typeface="+mn-lt"/>
              </a:rPr>
              <a:t>个字符串；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include_bytes!</a:t>
            </a:r>
            <a:r>
              <a:rPr lang="zh-CN" altLang="en-US" sz="1400">
                <a:cs typeface="+mn-ea"/>
                <a:sym typeface="+mn-lt"/>
              </a:rPr>
              <a:t>：</a:t>
            </a:r>
            <a:r>
              <a:rPr lang="zh-CN" altLang="en-US" sz="1400" dirty="0">
                <a:cs typeface="+mn-ea"/>
                <a:sym typeface="+mn-lt"/>
              </a:rPr>
              <a:t>将文件包含为字节数组</a:t>
            </a:r>
            <a:r>
              <a:rPr lang="zh-CN" altLang="en-US" sz="1400">
                <a:cs typeface="+mn-ea"/>
                <a:sym typeface="+mn-lt"/>
              </a:rPr>
              <a:t>的引用；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include_str!</a:t>
            </a:r>
            <a:r>
              <a:rPr lang="zh-CN" altLang="en-US" sz="1400">
                <a:cs typeface="+mn-ea"/>
                <a:sym typeface="+mn-lt"/>
              </a:rPr>
              <a:t>：将</a:t>
            </a:r>
            <a:r>
              <a:rPr lang="en-US" altLang="zh-CN" sz="1400">
                <a:cs typeface="+mn-ea"/>
                <a:sym typeface="+mn-lt"/>
              </a:rPr>
              <a:t>UTF-8</a:t>
            </a:r>
            <a:r>
              <a:rPr lang="zh-CN" altLang="en-US" sz="1400">
                <a:cs typeface="+mn-ea"/>
                <a:sym typeface="+mn-lt"/>
              </a:rPr>
              <a:t>编码的文件包含为字符串；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panic!</a:t>
            </a:r>
            <a:r>
              <a:rPr lang="zh-CN" altLang="en-US" sz="1400">
                <a:cs typeface="+mn-ea"/>
                <a:sym typeface="+mn-lt"/>
              </a:rPr>
              <a:t>：使当前线程恐慌；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print!</a:t>
            </a:r>
            <a:r>
              <a:rPr lang="zh-CN" altLang="en-US" sz="1400">
                <a:cs typeface="+mn-ea"/>
                <a:sym typeface="+mn-lt"/>
              </a:rPr>
              <a:t>：打印到标准输出；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println!</a:t>
            </a:r>
            <a:r>
              <a:rPr lang="zh-CN" altLang="en-US" sz="1400">
                <a:cs typeface="+mn-ea"/>
                <a:sym typeface="+mn-lt"/>
              </a:rPr>
              <a:t>：打印到标准输出，并附加一个换行符；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todo!</a:t>
            </a:r>
            <a:r>
              <a:rPr lang="zh-CN" altLang="en-US" sz="1400">
                <a:cs typeface="+mn-ea"/>
                <a:sym typeface="+mn-lt"/>
              </a:rPr>
              <a:t>：表示未完成的代码；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unimplemented!</a:t>
            </a:r>
            <a:r>
              <a:rPr lang="zh-CN" altLang="en-US" sz="1400">
                <a:cs typeface="+mn-ea"/>
                <a:sym typeface="+mn-lt"/>
              </a:rPr>
              <a:t>：通过恐慌表示未实现的代码；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unreachable!</a:t>
            </a:r>
            <a:r>
              <a:rPr lang="zh-CN" altLang="en-US" sz="1400">
                <a:cs typeface="+mn-ea"/>
                <a:sym typeface="+mn-lt"/>
              </a:rPr>
              <a:t>：表示无法到达的代码；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vec!</a:t>
            </a:r>
            <a:r>
              <a:rPr lang="zh-CN" altLang="en-US" sz="1400">
                <a:cs typeface="+mn-ea"/>
                <a:sym typeface="+mn-lt"/>
              </a:rPr>
              <a:t>：创建一个包含参数的</a:t>
            </a:r>
            <a:r>
              <a:rPr lang="en-US" altLang="zh-CN" sz="1400">
                <a:cs typeface="+mn-ea"/>
                <a:sym typeface="+mn-lt"/>
              </a:rPr>
              <a:t>Vec</a:t>
            </a:r>
            <a:r>
              <a:rPr lang="zh-CN" altLang="en-US" sz="1400">
                <a:cs typeface="+mn-ea"/>
                <a:sym typeface="+mn-lt"/>
              </a:rPr>
              <a:t>；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85781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元编程-常见内置宏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示例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565088" y="2276649"/>
            <a:ext cx="4393464" cy="1044443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handle_arr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arr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&amp;[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index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`assert!`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宏用于在测试或者代码中进行断言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arr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&gt;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&amp;&amp;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index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&lt;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arr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do something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65087" y="3719708"/>
            <a:ext cx="4393463" cy="1409317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输出：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[src/main.rs:4] x * 2 = 10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dbg!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*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输出：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y = 9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"y =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5840918" y="815183"/>
            <a:ext cx="4988993" cy="2492551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- `{:x}`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、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`{:X}`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：以十六进制格式化。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- `{:o}`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：以八进制格式化。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- `{:e}`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、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`{:E}`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：以科学记数法格式化。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"Alice"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age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自动调用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`Display` trait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来格式化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format!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创建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String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类型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info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format!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 is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 years old."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age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info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输出：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Alice is 30 years old.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使用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`Debug` trait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来格式化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]);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输出：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[1, 2, 3]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840918" y="3555284"/>
            <a:ext cx="4988993" cy="2718020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task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task1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task2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task1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... some code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// todo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！宏允许暂未实现的函数编译通过，用于未来实现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运行时调用会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panic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todo!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"needs to be task1 implemented"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task2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... some code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todo!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"needs to be task2 implemented"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78634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元编程-常见内置宏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属性宏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3181" y="739106"/>
            <a:ext cx="10840917" cy="4578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cs typeface="+mn-ea"/>
                <a:sym typeface="+mn-lt"/>
              </a:rPr>
              <a:t>#</a:t>
            </a:r>
            <a:r>
              <a:rPr lang="en-US" altLang="zh-CN" sz="1400">
                <a:cs typeface="+mn-ea"/>
                <a:sym typeface="+mn-lt"/>
              </a:rPr>
              <a:t>[</a:t>
            </a:r>
            <a:r>
              <a:rPr lang="en-US" altLang="zh-CN" sz="1400" b="1" dirty="0">
                <a:cs typeface="+mn-ea"/>
                <a:sym typeface="+mn-lt"/>
              </a:rPr>
              <a:t>derive]</a:t>
            </a:r>
            <a:r>
              <a:rPr lang="zh-CN" altLang="en-US" sz="1400" dirty="0">
                <a:cs typeface="+mn-ea"/>
                <a:sym typeface="+mn-lt"/>
              </a:rPr>
              <a:t>：这是一个用于自动派生特定 </a:t>
            </a:r>
            <a:r>
              <a:rPr lang="en-US" altLang="zh-CN" sz="1400" dirty="0">
                <a:cs typeface="+mn-ea"/>
                <a:sym typeface="+mn-lt"/>
              </a:rPr>
              <a:t>trait </a:t>
            </a:r>
            <a:r>
              <a:rPr lang="zh-CN" altLang="en-US" sz="1400" dirty="0">
                <a:cs typeface="+mn-ea"/>
                <a:sym typeface="+mn-lt"/>
              </a:rPr>
              <a:t>实现的宏。例如</a:t>
            </a:r>
            <a:r>
              <a:rPr lang="zh-CN" altLang="en-US" sz="1400" b="1">
                <a:cs typeface="+mn-ea"/>
                <a:sym typeface="+mn-lt"/>
              </a:rPr>
              <a:t>标准库内置了一些重要的派生宏</a:t>
            </a:r>
            <a:r>
              <a:rPr lang="zh-CN" altLang="en-US" sz="1400">
                <a:cs typeface="+mn-ea"/>
                <a:sym typeface="+mn-lt"/>
              </a:rPr>
              <a:t>；</a:t>
            </a:r>
            <a:endParaRPr lang="en-US" altLang="zh-CN" sz="14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Char char="•"/>
            </a:pPr>
            <a:r>
              <a:rPr lang="zh-CN" altLang="en-US" sz="1400">
                <a:cs typeface="+mn-ea"/>
                <a:sym typeface="+mn-lt"/>
              </a:rPr>
              <a:t>#</a:t>
            </a:r>
            <a:r>
              <a:rPr lang="en-US" altLang="zh-CN" sz="1400">
                <a:cs typeface="+mn-ea"/>
                <a:sym typeface="+mn-lt"/>
              </a:rPr>
              <a:t>[derive(Debug)]</a:t>
            </a:r>
            <a:r>
              <a:rPr lang="zh-CN" altLang="en-US" sz="1400">
                <a:cs typeface="+mn-ea"/>
                <a:sym typeface="+mn-lt"/>
              </a:rPr>
              <a:t>，可以为指定类型自动实现 </a:t>
            </a:r>
            <a:r>
              <a:rPr lang="en-US" altLang="zh-CN" sz="1400">
                <a:cs typeface="+mn-ea"/>
                <a:sym typeface="+mn-lt"/>
              </a:rPr>
              <a:t>Debug trait </a:t>
            </a:r>
          </a:p>
          <a:p>
            <a:pPr marL="742950" lvl="1" indent="-285750">
              <a:lnSpc>
                <a:spcPct val="150000"/>
              </a:lnSpc>
              <a:buChar char="•"/>
            </a:pPr>
            <a:r>
              <a:rPr lang="zh-CN" altLang="en-US" sz="1400">
                <a:cs typeface="+mn-ea"/>
                <a:sym typeface="+mn-lt"/>
              </a:rPr>
              <a:t>#</a:t>
            </a:r>
            <a:r>
              <a:rPr lang="en-US" altLang="zh-CN" sz="1400">
                <a:cs typeface="+mn-ea"/>
                <a:sym typeface="+mn-lt"/>
              </a:rPr>
              <a:t>[derive(Copy, Clone)]</a:t>
            </a:r>
            <a:r>
              <a:rPr lang="zh-CN" altLang="en-US" sz="1400">
                <a:cs typeface="+mn-ea"/>
                <a:sym typeface="+mn-lt"/>
              </a:rPr>
              <a:t>，可以为指定类型自动实现 </a:t>
            </a:r>
            <a:r>
              <a:rPr lang="en-US" altLang="zh-CN" sz="1400">
                <a:cs typeface="+mn-ea"/>
                <a:sym typeface="+mn-lt"/>
              </a:rPr>
              <a:t>Copy trait</a:t>
            </a:r>
            <a:r>
              <a:rPr lang="zh-CN" altLang="en-US" sz="1400">
                <a:cs typeface="+mn-ea"/>
                <a:sym typeface="+mn-lt"/>
              </a:rPr>
              <a:t>，需要搭配 </a:t>
            </a:r>
            <a:r>
              <a:rPr lang="en-US" altLang="zh-CN" sz="1400">
                <a:cs typeface="+mn-ea"/>
                <a:sym typeface="+mn-lt"/>
              </a:rPr>
              <a:t>Clone trait </a:t>
            </a:r>
            <a:r>
              <a:rPr lang="zh-CN" altLang="en-US" sz="1400">
                <a:cs typeface="+mn-ea"/>
                <a:sym typeface="+mn-lt"/>
              </a:rPr>
              <a:t>使用</a:t>
            </a:r>
            <a:endParaRPr lang="en-US" altLang="zh-CN" sz="14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Char char="•"/>
            </a:pPr>
            <a:r>
              <a:rPr lang="zh-CN" altLang="en-US" sz="1400">
                <a:cs typeface="+mn-ea"/>
                <a:sym typeface="+mn-lt"/>
              </a:rPr>
              <a:t>#</a:t>
            </a:r>
            <a:r>
              <a:rPr lang="en-US" altLang="zh-CN" sz="1400">
                <a:cs typeface="+mn-ea"/>
                <a:sym typeface="+mn-lt"/>
              </a:rPr>
              <a:t>[derive(Eq, PartialEq)</a:t>
            </a:r>
            <a:r>
              <a:rPr lang="zh-CN" altLang="en-US" sz="1400">
                <a:cs typeface="+mn-ea"/>
                <a:sym typeface="+mn-lt"/>
              </a:rPr>
              <a:t>）</a:t>
            </a:r>
            <a:r>
              <a:rPr lang="en-US" altLang="zh-CN" sz="1400">
                <a:cs typeface="+mn-ea"/>
                <a:sym typeface="+mn-lt"/>
              </a:rPr>
              <a:t>]</a:t>
            </a:r>
            <a:r>
              <a:rPr lang="zh-CN" altLang="en-US" sz="1400">
                <a:cs typeface="+mn-ea"/>
                <a:sym typeface="+mn-lt"/>
              </a:rPr>
              <a:t>，可以为指定类型自动实现 </a:t>
            </a:r>
            <a:r>
              <a:rPr lang="en-US" altLang="zh-CN" sz="1400">
                <a:cs typeface="+mn-ea"/>
                <a:sym typeface="+mn-lt"/>
              </a:rPr>
              <a:t>Eq</a:t>
            </a:r>
            <a:r>
              <a:rPr lang="zh-CN" altLang="en-US" sz="1400">
                <a:cs typeface="+mn-ea"/>
                <a:sym typeface="+mn-lt"/>
              </a:rPr>
              <a:t>、 </a:t>
            </a:r>
            <a:r>
              <a:rPr lang="en-US" altLang="zh-CN" sz="1400">
                <a:cs typeface="+mn-ea"/>
                <a:sym typeface="+mn-lt"/>
              </a:rPr>
              <a:t>PartialEq trait</a:t>
            </a:r>
          </a:p>
          <a:p>
            <a:pPr marL="742950" lvl="1" indent="-285750">
              <a:lnSpc>
                <a:spcPct val="150000"/>
              </a:lnSpc>
              <a:buChar char="•"/>
            </a:pPr>
            <a:r>
              <a:rPr lang="zh-CN" altLang="en-US" sz="1400">
                <a:cs typeface="+mn-ea"/>
                <a:sym typeface="+mn-lt"/>
              </a:rPr>
              <a:t>#</a:t>
            </a:r>
            <a:r>
              <a:rPr lang="en-US" altLang="zh-CN" sz="1400">
                <a:cs typeface="+mn-ea"/>
                <a:sym typeface="+mn-lt"/>
              </a:rPr>
              <a:t>[derive(Hash)]</a:t>
            </a:r>
            <a:r>
              <a:rPr lang="zh-CN" altLang="en-US" sz="1400">
                <a:cs typeface="+mn-ea"/>
                <a:sym typeface="+mn-lt"/>
              </a:rPr>
              <a:t>，可以为指定类型实现 </a:t>
            </a:r>
            <a:r>
              <a:rPr lang="en-US" altLang="zh-CN" sz="1400">
                <a:cs typeface="+mn-ea"/>
                <a:sym typeface="+mn-lt"/>
              </a:rPr>
              <a:t>Hash trait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cs typeface="+mn-ea"/>
                <a:sym typeface="+mn-lt"/>
              </a:rPr>
              <a:t>#[</a:t>
            </a:r>
            <a:r>
              <a:rPr lang="en-US" altLang="zh-CN" sz="1400" b="1" dirty="0" err="1">
                <a:cs typeface="+mn-ea"/>
                <a:sym typeface="+mn-lt"/>
              </a:rPr>
              <a:t>cfg</a:t>
            </a:r>
            <a:r>
              <a:rPr lang="en-US" altLang="zh-CN" sz="1400" b="1" dirty="0">
                <a:cs typeface="+mn-ea"/>
                <a:sym typeface="+mn-lt"/>
              </a:rPr>
              <a:t>]</a:t>
            </a:r>
            <a:r>
              <a:rPr lang="zh-CN" altLang="en-US" sz="1400" dirty="0">
                <a:cs typeface="+mn-ea"/>
                <a:sym typeface="+mn-lt"/>
              </a:rPr>
              <a:t>：这是一个条件编译宏，它允许你根据特定的编译器配置标志来包含或排除代码。例如，你可以</a:t>
            </a:r>
            <a:r>
              <a:rPr lang="zh-CN" altLang="en-US" sz="1400">
                <a:cs typeface="+mn-ea"/>
                <a:sym typeface="+mn-lt"/>
              </a:rPr>
              <a:t>使用 </a:t>
            </a:r>
            <a:r>
              <a:rPr lang="en-US" altLang="zh-CN" sz="1400">
                <a:cs typeface="+mn-ea"/>
                <a:sym typeface="+mn-lt"/>
              </a:rPr>
              <a:t>#[</a:t>
            </a:r>
            <a:r>
              <a:rPr lang="en-US" altLang="zh-CN" sz="1400" dirty="0" err="1">
                <a:cs typeface="+mn-ea"/>
                <a:sym typeface="+mn-lt"/>
              </a:rPr>
              <a:t>cfg</a:t>
            </a:r>
            <a:r>
              <a:rPr lang="en-US" altLang="zh-CN" sz="1400" dirty="0">
                <a:cs typeface="+mn-ea"/>
                <a:sym typeface="+mn-lt"/>
              </a:rPr>
              <a:t>(</a:t>
            </a:r>
            <a:r>
              <a:rPr lang="en-US" altLang="zh-CN" sz="1400" dirty="0" err="1">
                <a:cs typeface="+mn-ea"/>
                <a:sym typeface="+mn-lt"/>
              </a:rPr>
              <a:t>target_os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r>
              <a:rPr lang="en-US" altLang="zh-CN" sz="1400">
                <a:cs typeface="+mn-ea"/>
                <a:sym typeface="+mn-lt"/>
              </a:rPr>
              <a:t>= “linux”)] </a:t>
            </a:r>
            <a:r>
              <a:rPr lang="zh-CN" altLang="en-US" sz="1400" dirty="0">
                <a:cs typeface="+mn-ea"/>
                <a:sym typeface="+mn-lt"/>
              </a:rPr>
              <a:t>来只在 </a:t>
            </a:r>
            <a:r>
              <a:rPr lang="en-US" altLang="zh-CN" sz="1400" dirty="0">
                <a:cs typeface="+mn-ea"/>
                <a:sym typeface="+mn-lt"/>
              </a:rPr>
              <a:t>Linux </a:t>
            </a:r>
            <a:r>
              <a:rPr lang="zh-CN" altLang="en-US" sz="1400" dirty="0">
                <a:cs typeface="+mn-ea"/>
                <a:sym typeface="+mn-lt"/>
              </a:rPr>
              <a:t>操作系统上编译特定</a:t>
            </a:r>
            <a:r>
              <a:rPr lang="zh-CN" altLang="en-US" sz="1400">
                <a:cs typeface="+mn-ea"/>
                <a:sym typeface="+mn-lt"/>
              </a:rPr>
              <a:t>的代码；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cs typeface="+mn-ea"/>
                <a:sym typeface="+mn-lt"/>
              </a:rPr>
              <a:t>#[</a:t>
            </a:r>
            <a:r>
              <a:rPr lang="en-US" altLang="zh-CN" sz="1400" b="1" dirty="0">
                <a:cs typeface="+mn-ea"/>
                <a:sym typeface="+mn-lt"/>
              </a:rPr>
              <a:t>test]</a:t>
            </a:r>
            <a:r>
              <a:rPr lang="zh-CN" altLang="en-US" sz="1400" dirty="0">
                <a:cs typeface="+mn-ea"/>
                <a:sym typeface="+mn-lt"/>
              </a:rPr>
              <a:t>：这是一个用于标记单元测试函数的宏。在测试模式下编译你的程序时，编译器会自动识别和执行所有标记</a:t>
            </a:r>
            <a:r>
              <a:rPr lang="zh-CN" altLang="en-US" sz="1400">
                <a:cs typeface="+mn-ea"/>
                <a:sym typeface="+mn-lt"/>
              </a:rPr>
              <a:t>为 </a:t>
            </a:r>
            <a:r>
              <a:rPr lang="en-US" altLang="zh-CN" sz="1400">
                <a:cs typeface="+mn-ea"/>
                <a:sym typeface="+mn-lt"/>
              </a:rPr>
              <a:t>#[test] </a:t>
            </a:r>
            <a:r>
              <a:rPr lang="zh-CN" altLang="en-US" sz="1400">
                <a:cs typeface="+mn-ea"/>
                <a:sym typeface="+mn-lt"/>
              </a:rPr>
              <a:t>的函数；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cs typeface="+mn-ea"/>
                <a:sym typeface="+mn-lt"/>
              </a:rPr>
              <a:t>#[</a:t>
            </a:r>
            <a:r>
              <a:rPr lang="en-US" altLang="zh-CN" sz="1400" b="1" dirty="0">
                <a:cs typeface="+mn-ea"/>
                <a:sym typeface="+mn-lt"/>
              </a:rPr>
              <a:t>allow]</a:t>
            </a:r>
            <a:r>
              <a:rPr lang="zh-CN" altLang="en-US" sz="1400" b="1" dirty="0">
                <a:cs typeface="+mn-ea"/>
                <a:sym typeface="+mn-lt"/>
              </a:rPr>
              <a:t>、</a:t>
            </a:r>
            <a:r>
              <a:rPr lang="en-US" altLang="zh-CN" sz="1400" b="1" dirty="0">
                <a:cs typeface="+mn-ea"/>
                <a:sym typeface="+mn-lt"/>
              </a:rPr>
              <a:t>#[warn]</a:t>
            </a:r>
            <a:r>
              <a:rPr lang="zh-CN" altLang="en-US" sz="1400" b="1" dirty="0">
                <a:cs typeface="+mn-ea"/>
                <a:sym typeface="+mn-lt"/>
              </a:rPr>
              <a:t>、</a:t>
            </a:r>
            <a:r>
              <a:rPr lang="en-US" altLang="zh-CN" sz="1400" b="1" dirty="0">
                <a:cs typeface="+mn-ea"/>
                <a:sym typeface="+mn-lt"/>
              </a:rPr>
              <a:t>#[deny]</a:t>
            </a:r>
            <a:r>
              <a:rPr lang="zh-CN" altLang="en-US" sz="1400" b="1" dirty="0">
                <a:cs typeface="+mn-ea"/>
                <a:sym typeface="+mn-lt"/>
              </a:rPr>
              <a:t>、</a:t>
            </a:r>
            <a:r>
              <a:rPr lang="en-US" altLang="zh-CN" sz="1400" b="1" dirty="0">
                <a:cs typeface="+mn-ea"/>
                <a:sym typeface="+mn-lt"/>
              </a:rPr>
              <a:t>#[forbid]</a:t>
            </a:r>
            <a:r>
              <a:rPr lang="zh-CN" altLang="en-US" sz="1400" dirty="0">
                <a:cs typeface="+mn-ea"/>
                <a:sym typeface="+mn-lt"/>
              </a:rPr>
              <a:t>：这些宏用于控制编译器警告和错误。例如，你可以</a:t>
            </a:r>
            <a:r>
              <a:rPr lang="zh-CN" altLang="en-US" sz="1400">
                <a:cs typeface="+mn-ea"/>
                <a:sym typeface="+mn-lt"/>
              </a:rPr>
              <a:t>使用 </a:t>
            </a:r>
            <a:r>
              <a:rPr lang="en-US" altLang="zh-CN" sz="1400">
                <a:cs typeface="+mn-ea"/>
                <a:sym typeface="+mn-lt"/>
              </a:rPr>
              <a:t>#[allow(</a:t>
            </a:r>
            <a:r>
              <a:rPr lang="en-US" altLang="zh-CN" sz="1400" err="1">
                <a:cs typeface="+mn-ea"/>
                <a:sym typeface="+mn-lt"/>
              </a:rPr>
              <a:t>dead_code</a:t>
            </a:r>
            <a:r>
              <a:rPr lang="en-US" altLang="zh-CN" sz="1400">
                <a:cs typeface="+mn-ea"/>
                <a:sym typeface="+mn-lt"/>
              </a:rPr>
              <a:t>)] </a:t>
            </a:r>
            <a:r>
              <a:rPr lang="zh-CN" altLang="en-US" sz="1400" dirty="0">
                <a:cs typeface="+mn-ea"/>
                <a:sym typeface="+mn-lt"/>
              </a:rPr>
              <a:t>来禁止编译器对未使用的代码</a:t>
            </a:r>
            <a:r>
              <a:rPr lang="zh-CN" altLang="en-US" sz="1400">
                <a:cs typeface="+mn-ea"/>
                <a:sym typeface="+mn-lt"/>
              </a:rPr>
              <a:t>发出警告；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cs typeface="+mn-ea"/>
                <a:sym typeface="+mn-lt"/>
              </a:rPr>
              <a:t>#[</a:t>
            </a:r>
            <a:r>
              <a:rPr lang="en-US" altLang="zh-CN" sz="1400" b="1" dirty="0">
                <a:cs typeface="+mn-ea"/>
                <a:sym typeface="+mn-lt"/>
              </a:rPr>
              <a:t>inline]</a:t>
            </a:r>
            <a:r>
              <a:rPr lang="zh-CN" altLang="en-US" sz="1400" b="1" dirty="0">
                <a:cs typeface="+mn-ea"/>
                <a:sym typeface="+mn-lt"/>
              </a:rPr>
              <a:t>、</a:t>
            </a:r>
            <a:r>
              <a:rPr lang="en-US" altLang="zh-CN" sz="1400" b="1" dirty="0">
                <a:cs typeface="+mn-ea"/>
                <a:sym typeface="+mn-lt"/>
              </a:rPr>
              <a:t>#[inline(always)]</a:t>
            </a:r>
            <a:r>
              <a:rPr lang="zh-CN" altLang="en-US" sz="1400" b="1" dirty="0">
                <a:cs typeface="+mn-ea"/>
                <a:sym typeface="+mn-lt"/>
              </a:rPr>
              <a:t>、</a:t>
            </a:r>
            <a:r>
              <a:rPr lang="en-US" altLang="zh-CN" sz="1400" b="1" dirty="0">
                <a:cs typeface="+mn-ea"/>
                <a:sym typeface="+mn-lt"/>
              </a:rPr>
              <a:t>#[inline(never)]</a:t>
            </a:r>
            <a:r>
              <a:rPr lang="zh-CN" altLang="en-US" sz="1400" dirty="0">
                <a:cs typeface="+mn-ea"/>
                <a:sym typeface="+mn-lt"/>
              </a:rPr>
              <a:t>：这些宏用于控制函数的内</a:t>
            </a:r>
            <a:r>
              <a:rPr lang="zh-CN" altLang="en-US" sz="1400">
                <a:cs typeface="+mn-ea"/>
                <a:sym typeface="+mn-lt"/>
              </a:rPr>
              <a:t>联。</a:t>
            </a:r>
            <a:r>
              <a:rPr lang="en-US" altLang="zh-CN" sz="1400">
                <a:cs typeface="+mn-ea"/>
                <a:sym typeface="+mn-lt"/>
              </a:rPr>
              <a:t>#[inline] </a:t>
            </a:r>
            <a:r>
              <a:rPr lang="zh-CN" altLang="en-US" sz="1400" dirty="0">
                <a:cs typeface="+mn-ea"/>
                <a:sym typeface="+mn-lt"/>
              </a:rPr>
              <a:t>提示编译器这个函数是一个内联</a:t>
            </a:r>
            <a:r>
              <a:rPr lang="zh-CN" altLang="en-US" sz="1400">
                <a:cs typeface="+mn-ea"/>
                <a:sym typeface="+mn-lt"/>
              </a:rPr>
              <a:t>候选，</a:t>
            </a:r>
            <a:r>
              <a:rPr lang="en-US" altLang="zh-CN" sz="1400">
                <a:cs typeface="+mn-ea"/>
                <a:sym typeface="+mn-lt"/>
              </a:rPr>
              <a:t>#[inline(always)] </a:t>
            </a:r>
            <a:r>
              <a:rPr lang="zh-CN" altLang="en-US" sz="1400" dirty="0">
                <a:cs typeface="+mn-ea"/>
                <a:sym typeface="+mn-lt"/>
              </a:rPr>
              <a:t>强制编译器总是内联这个</a:t>
            </a:r>
            <a:r>
              <a:rPr lang="zh-CN" altLang="en-US" sz="1400">
                <a:cs typeface="+mn-ea"/>
                <a:sym typeface="+mn-lt"/>
              </a:rPr>
              <a:t>函数，</a:t>
            </a:r>
            <a:r>
              <a:rPr lang="en-US" altLang="zh-CN" sz="1400">
                <a:cs typeface="+mn-ea"/>
                <a:sym typeface="+mn-lt"/>
              </a:rPr>
              <a:t>#[inline(never)] </a:t>
            </a:r>
            <a:r>
              <a:rPr lang="zh-CN" altLang="en-US" sz="1400" dirty="0">
                <a:cs typeface="+mn-ea"/>
                <a:sym typeface="+mn-lt"/>
              </a:rPr>
              <a:t>则禁止编译器内联</a:t>
            </a:r>
            <a:r>
              <a:rPr lang="zh-CN" altLang="en-US" sz="1400">
                <a:cs typeface="+mn-ea"/>
                <a:sym typeface="+mn-lt"/>
              </a:rPr>
              <a:t>这个函数；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cs typeface="+mn-ea"/>
                <a:sym typeface="+mn-lt"/>
              </a:rPr>
              <a:t>#[</a:t>
            </a:r>
            <a:r>
              <a:rPr lang="en-US" altLang="zh-CN" sz="1400" b="1" dirty="0" err="1">
                <a:cs typeface="+mn-ea"/>
                <a:sym typeface="+mn-lt"/>
              </a:rPr>
              <a:t>repr</a:t>
            </a:r>
            <a:r>
              <a:rPr lang="en-US" altLang="zh-CN" sz="1400" b="1" dirty="0">
                <a:cs typeface="+mn-ea"/>
                <a:sym typeface="+mn-lt"/>
              </a:rPr>
              <a:t>]</a:t>
            </a:r>
            <a:r>
              <a:rPr lang="zh-CN" altLang="en-US" sz="1400" dirty="0">
                <a:cs typeface="+mn-ea"/>
                <a:sym typeface="+mn-lt"/>
              </a:rPr>
              <a:t>：这个宏用于控制数据结构的内存布局。</a:t>
            </a:r>
            <a:r>
              <a:rPr lang="zh-CN" altLang="en-US" sz="1400">
                <a:cs typeface="+mn-ea"/>
                <a:sym typeface="+mn-lt"/>
              </a:rPr>
              <a:t>例如，</a:t>
            </a:r>
            <a:r>
              <a:rPr lang="en-US" altLang="zh-CN" sz="1400">
                <a:cs typeface="+mn-ea"/>
                <a:sym typeface="+mn-lt"/>
              </a:rPr>
              <a:t>#[</a:t>
            </a:r>
            <a:r>
              <a:rPr lang="en-US" altLang="zh-CN" sz="1400" err="1">
                <a:cs typeface="+mn-ea"/>
                <a:sym typeface="+mn-lt"/>
              </a:rPr>
              <a:t>repr</a:t>
            </a:r>
            <a:r>
              <a:rPr lang="en-US" altLang="zh-CN" sz="1400">
                <a:cs typeface="+mn-ea"/>
                <a:sym typeface="+mn-lt"/>
              </a:rPr>
              <a:t>(C)] </a:t>
            </a:r>
            <a:r>
              <a:rPr lang="zh-CN" altLang="en-US" sz="1400" dirty="0">
                <a:cs typeface="+mn-ea"/>
                <a:sym typeface="+mn-lt"/>
              </a:rPr>
              <a:t>可以使得一个结构体的内存布局与 </a:t>
            </a:r>
            <a:r>
              <a:rPr lang="en-US" altLang="zh-CN" sz="1400" dirty="0">
                <a:cs typeface="+mn-ea"/>
                <a:sym typeface="+mn-lt"/>
              </a:rPr>
              <a:t>C </a:t>
            </a:r>
            <a:r>
              <a:rPr lang="zh-CN" altLang="en-US" sz="1400">
                <a:cs typeface="+mn-ea"/>
                <a:sym typeface="+mn-lt"/>
              </a:rPr>
              <a:t>语言兼容；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cs typeface="+mn-ea"/>
                <a:sym typeface="+mn-lt"/>
              </a:rPr>
              <a:t>#[doc]</a:t>
            </a:r>
            <a:r>
              <a:rPr lang="zh-CN" altLang="en-US" sz="1400">
                <a:cs typeface="+mn-ea"/>
                <a:sym typeface="+mn-lt"/>
              </a:rPr>
              <a:t>：这个宏用于为函数、结构体、模块等添加文档注释。可以通过 </a:t>
            </a:r>
            <a:r>
              <a:rPr lang="en-US" altLang="zh-CN" sz="1400">
                <a:cs typeface="+mn-ea"/>
                <a:sym typeface="+mn-lt"/>
              </a:rPr>
              <a:t>rustdoc </a:t>
            </a:r>
            <a:r>
              <a:rPr lang="zh-CN" altLang="en-US" sz="1400">
                <a:cs typeface="+mn-ea"/>
                <a:sym typeface="+mn-lt"/>
              </a:rPr>
              <a:t>工具生成 </a:t>
            </a:r>
            <a:r>
              <a:rPr lang="en-US" altLang="zh-CN" sz="1400">
                <a:cs typeface="+mn-ea"/>
                <a:sym typeface="+mn-lt"/>
              </a:rPr>
              <a:t>HTML </a:t>
            </a:r>
            <a:r>
              <a:rPr lang="zh-CN" altLang="en-US" sz="1400">
                <a:cs typeface="+mn-ea"/>
                <a:sym typeface="+mn-lt"/>
              </a:rPr>
              <a:t>文档，或在 </a:t>
            </a:r>
            <a:r>
              <a:rPr lang="en-US" altLang="zh-CN" sz="1400">
                <a:cs typeface="+mn-ea"/>
                <a:sym typeface="+mn-lt"/>
              </a:rPr>
              <a:t>IDE </a:t>
            </a:r>
            <a:r>
              <a:rPr lang="zh-CN" altLang="en-US" sz="1400">
                <a:cs typeface="+mn-ea"/>
                <a:sym typeface="+mn-lt"/>
              </a:rPr>
              <a:t>中显示作为提示；</a:t>
            </a:r>
            <a:endParaRPr lang="en-US" altLang="zh-CN" sz="1400"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78634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元编程-常见内置宏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属性宏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375290" y="1249615"/>
            <a:ext cx="7618531" cy="48619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Centimeters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结构体通过派生宏可以自动实现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Debug/PartialEq/PartialOrd trait 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Debug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用于打印结构体实例方便调试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PartialEq, PartialOrd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用于实现比较功能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derive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PartialEq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PartialOrd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Centimeters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meter_100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Centimeters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100.0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meter_200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Centimeters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200.0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cmp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meter_100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&lt;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meter_200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"smaller"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else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"bigger"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运行后会打印下面内容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: 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  One Centimeters(100.0) is smaller than one Centimeters(200.0).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"One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 is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 than one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."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meter_100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cmp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meter_200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181" y="1730655"/>
            <a:ext cx="2850097" cy="1417241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>
                <a:cs typeface="+mn-ea"/>
                <a:sym typeface="+mn-lt"/>
              </a:rPr>
              <a:t>内置属性宏最常用的是派生宏：</a:t>
            </a:r>
          </a:p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形如</a:t>
            </a:r>
            <a:r>
              <a:rPr lang="en-US" altLang="zh-CN" sz="1600" dirty="0">
                <a:cs typeface="+mn-ea"/>
                <a:sym typeface="+mn-lt"/>
              </a:rPr>
              <a:t> </a:t>
            </a:r>
            <a:r>
              <a:rPr lang="zh-CN" altLang="en-US" sz="1600" dirty="0">
                <a:cs typeface="+mn-ea"/>
                <a:sym typeface="+mn-lt"/>
              </a:rPr>
              <a:t>#</a:t>
            </a:r>
            <a:r>
              <a:rPr lang="en-US" altLang="zh-CN" sz="1600" dirty="0">
                <a:cs typeface="+mn-ea"/>
                <a:sym typeface="+mn-lt"/>
              </a:rPr>
              <a:t>[derive(Debug)]</a:t>
            </a:r>
          </a:p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可以自动给指定结构体或其他复合结构实现 </a:t>
            </a:r>
            <a:r>
              <a:rPr lang="en-US" altLang="zh-CN" sz="1600" dirty="0">
                <a:cs typeface="+mn-ea"/>
                <a:sym typeface="+mn-lt"/>
              </a:rPr>
              <a:t>Debug trait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85781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元编程-宏优势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66327" y="675330"/>
            <a:ext cx="10976483" cy="97019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在 Rust 中，宏和函数都是用于代码复用和抽象的工具，但它们之间有明显区别。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839" y="1464799"/>
            <a:ext cx="7315200" cy="27381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285750" indent="-285750" algn="l">
              <a:lnSpc>
                <a:spcPts val="344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宏调用是生成代码；函数调用是执行代码</a:t>
            </a:r>
          </a:p>
          <a:p>
            <a:pPr marL="742950" lvl="1" indent="-285750" algn="l">
              <a:lnSpc>
                <a:spcPts val="344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宏常用于消除重复代码；</a:t>
            </a:r>
          </a:p>
          <a:p>
            <a:pPr marL="285750" lvl="0" indent="-285750" algn="l">
              <a:lnSpc>
                <a:spcPts val="344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利用宏的特性来完成普通函数做不到的事</a:t>
            </a:r>
          </a:p>
          <a:p>
            <a:pPr marL="742950" lvl="1" indent="-285750" algn="l">
              <a:lnSpc>
                <a:spcPts val="3440"/>
              </a:lnSpc>
              <a:buChar char="•"/>
            </a:pP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不支持变长参数，利用宏可以实现这一点</a:t>
            </a:r>
          </a:p>
          <a:p>
            <a:pPr marL="742950" lvl="1" indent="-285750" algn="l">
              <a:lnSpc>
                <a:spcPts val="344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利用宏实现根据不同类型参数生成不同代码（代码示例在声明宏章节介绍）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6259497" y="1977499"/>
            <a:ext cx="4734324" cy="760760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println!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支持变长参数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"Hello,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!"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"world"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 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一个参数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 +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 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三个参数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</a:br>
            <a:endParaRPr lang="zh-CN" altLang="en-US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96607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zh-CN" altLang="en-US" sz="1800">
                <a:cs typeface="+mn-ea"/>
                <a:sym typeface="+mn-lt"/>
              </a:rPr>
              <a:t> </a:t>
            </a:r>
            <a:r>
              <a:rPr lang="en-US" altLang="zh-CN" sz="1800">
                <a:cs typeface="+mn-ea"/>
                <a:sym typeface="+mn-lt"/>
              </a:rPr>
              <a:t>Rust </a:t>
            </a:r>
            <a:r>
              <a:rPr lang="zh-CN" altLang="en-US" sz="1800">
                <a:cs typeface="+mn-ea"/>
                <a:sym typeface="+mn-lt"/>
              </a:rPr>
              <a:t>元编程概念和宏的分类；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 </a:t>
            </a:r>
            <a:r>
              <a:rPr lang="en-US" altLang="zh-CN" sz="1800">
                <a:cs typeface="+mn-ea"/>
                <a:sym typeface="+mn-lt"/>
              </a:rPr>
              <a:t>Rust </a:t>
            </a:r>
            <a:r>
              <a:rPr lang="zh-CN" altLang="en-US" sz="1800">
                <a:cs typeface="+mn-ea"/>
                <a:sym typeface="+mn-lt"/>
              </a:rPr>
              <a:t>的常见内置宏及其使用示例；</a:t>
            </a: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了解</a:t>
            </a:r>
            <a:r>
              <a:rPr lang="en-US" altLang="zh-CN" sz="1800" dirty="0">
                <a:cs typeface="+mn-ea"/>
                <a:sym typeface="+mn-lt"/>
              </a:rPr>
              <a:t> Rust  </a:t>
            </a:r>
            <a:r>
              <a:rPr lang="zh-CN" altLang="en-US" sz="1800" dirty="0">
                <a:cs typeface="+mn-ea"/>
                <a:sym typeface="+mn-lt"/>
              </a:rPr>
              <a:t>宏相比于函数的优势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rpzkik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rpzkik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irpzkik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rpzkik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rpzkik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2279</Words>
  <Application>Microsoft Office PowerPoint</Application>
  <PresentationFormat>自定义</PresentationFormat>
  <Paragraphs>208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元编程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元编程</dc:title>
  <dc:creator>fanyan (A)</dc:creator>
  <cp:lastModifiedBy>Zhangyandong (ben)</cp:lastModifiedBy>
  <cp:revision>3</cp:revision>
  <dcterms:created xsi:type="dcterms:W3CDTF">2023-10-18T07:31:24Z</dcterms:created>
  <dcterms:modified xsi:type="dcterms:W3CDTF">2024-11-20T02:35:36Z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(3)qB3arjn+eU6MO+Me0kl89HW2owknH6MRpMQWqIzA8PZ/JkptJ3MoxKxKWyN8uX8o3iXFBsZq
caV9ZvGohBdPzGkOaP+57OSwBbcSnRBq00rkUKbNiLSaW3M/0VPfZJre5s/76YR9IzCOqoer
VChRldTjR43iW5n9bKrE7hZdvIBplf0xHhIgEis6sK8JA4ed0Tx225Z0f+9QOGWrigEVDcVs
90A4rq7t+XOnmzh1ag</vt:lpwstr>
  </property>
  <property fmtid="{D5CDD505-2E9C-101B-9397-08002B2CF9AE}" pid="3" name="_2015_ms_pID_7253431">
    <vt:lpwstr>eYelfdY1O3sgnCk5yqkQu+7Ad7r1B2xrUcS5TYjkSyhwbhzgpgk4gc
8kgdyFqqd6G9ZSRTrUwfCBtmGT6FYPDlADmFL5YaFsaOnRcuwojwzDaLjVLDSvjrC1qtNjHE
zi/o1Ka+WvLKPJhbxAyRHQsNyoBeWVxFuymyZYQJhD1MhVbtzXpdv8TwLNzDb9qr75ZNSf/g
o7saWvT7SS2z6czOKhLa5hLkVchW7nwc41Br</vt:lpwstr>
  </property>
  <property fmtid="{D5CDD505-2E9C-101B-9397-08002B2CF9AE}" pid="4" name="_2015_ms_pID_7253432">
    <vt:lpwstr>bA==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