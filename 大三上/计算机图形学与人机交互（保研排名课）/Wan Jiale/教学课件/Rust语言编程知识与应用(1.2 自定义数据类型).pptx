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19"/>
  </p:notesMasterIdLst>
  <p:handoutMasterIdLst>
    <p:handoutMasterId r:id="rId20"/>
  </p:handoutMasterIdLst>
  <p:sldIdLst>
    <p:sldId id="424" r:id="rId6"/>
    <p:sldId id="423" r:id="rId7"/>
    <p:sldId id="396" r:id="rId8"/>
    <p:sldId id="365" r:id="rId9"/>
    <p:sldId id="366" r:id="rId10"/>
    <p:sldId id="431" r:id="rId11"/>
    <p:sldId id="437" r:id="rId12"/>
    <p:sldId id="399" r:id="rId13"/>
    <p:sldId id="433" r:id="rId14"/>
    <p:sldId id="430" r:id="rId15"/>
    <p:sldId id="404" r:id="rId16"/>
    <p:sldId id="292" r:id="rId17"/>
    <p:sldId id="280" r:id="rId18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424"/>
          </p14:sldIdLst>
        </p14:section>
        <p14:section name="目录页" id="{9D221634-295C-7843-AF5C-A0CB4F229241}">
          <p14:sldIdLst>
            <p14:sldId id="423"/>
          </p14:sldIdLst>
        </p14:section>
        <p14:section name="章节页" id="{FD05EE94-C931-8C4B-83A2-004B32AA1207}">
          <p14:sldIdLst>
            <p14:sldId id="396"/>
            <p14:sldId id="365"/>
            <p14:sldId id="366"/>
            <p14:sldId id="431"/>
            <p14:sldId id="437"/>
            <p14:sldId id="399"/>
            <p14:sldId id="433"/>
            <p14:sldId id="430"/>
            <p14:sldId id="404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ziqiang (A)" initials="l(" lastIdx="21" clrIdx="0"/>
  <p:cmAuthor id="2000" name="gaoshang 00419539_MRJvMvEj" initials="authorId_AK20210901:AK20210901JXNSXO980865" lastIdx="1688987539" clrIdx="0"/>
  <p:cmAuthor id="2001" name="liziqiang 00556901_ERbuA7r6" initials="authorId_AK20210901:AK20210901JXNSXO4497046" lastIdx="168900486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5271" autoAdjust="0"/>
  </p:normalViewPr>
  <p:slideViewPr>
    <p:cSldViewPr snapToGrid="0" snapToObjects="1">
      <p:cViewPr varScale="1">
        <p:scale>
          <a:sx n="66" d="100"/>
          <a:sy n="66" d="100"/>
        </p:scale>
        <p:origin x="32" y="284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自定义数据类型</a:t>
            </a: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自定义数据类型相关概念和基本用法以及类型别名的基本用法。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419642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结构体；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枚举；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类型别名；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49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结构体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枚举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3  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类型别名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9948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41794" y="194902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自定义数据类型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15651" y="1110019"/>
            <a:ext cx="5650315" cy="50033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自定义数据类型分类：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结构体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struct</a:t>
            </a: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cs typeface="+mn-ea"/>
                <a:sym typeface="+mn-lt"/>
              </a:rPr>
              <a:t>具名结构体</a:t>
            </a:r>
            <a:endParaRPr lang="en-US" altLang="zh-CN" sz="16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cs typeface="+mn-ea"/>
                <a:sym typeface="+mn-lt"/>
              </a:rPr>
              <a:t>元组结构体</a:t>
            </a:r>
            <a:endParaRPr lang="en-US" altLang="zh-CN" sz="16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cs typeface="+mn-ea"/>
                <a:sym typeface="+mn-lt"/>
              </a:rPr>
              <a:t>单元结构体</a:t>
            </a:r>
            <a:endParaRPr lang="en-US" altLang="zh-CN" sz="2300" dirty="0">
              <a:cs typeface="+mn-ea"/>
              <a:sym typeface="+mn-lt"/>
            </a:endParaRPr>
          </a:p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枚举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enum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cs typeface="+mn-ea"/>
                <a:sym typeface="+mn-lt"/>
              </a:rPr>
              <a:t>有字段枚举类型</a:t>
            </a:r>
            <a:endParaRPr lang="en-US" altLang="zh-CN" sz="16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cs typeface="+mn-ea"/>
                <a:sym typeface="+mn-lt"/>
              </a:rPr>
              <a:t>无字段枚举类型</a:t>
            </a:r>
            <a:endParaRPr lang="en-US" altLang="zh-CN" sz="1600" dirty="0"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00" dirty="0">
                <a:latin typeface="+mn-lt"/>
                <a:ea typeface="+mn-ea"/>
                <a:cs typeface="+mn-ea"/>
                <a:sym typeface="+mn-lt"/>
              </a:rPr>
              <a:t>联合 </a:t>
            </a:r>
            <a:r>
              <a:rPr lang="en-US" altLang="zh-CN" sz="2100" dirty="0">
                <a:latin typeface="+mn-lt"/>
                <a:ea typeface="+mn-ea"/>
                <a:cs typeface="+mn-ea"/>
                <a:sym typeface="+mn-lt"/>
              </a:rPr>
              <a:t>union</a:t>
            </a:r>
          </a:p>
          <a:p>
            <a:pPr marL="86868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cs typeface="+mn-ea"/>
                <a:sym typeface="+mn-lt"/>
              </a:rPr>
              <a:t>在内存布局章节中讲解</a:t>
            </a:r>
            <a:endParaRPr lang="en-US" altLang="zh-CN" sz="1600" dirty="0"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41794" y="691602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结构体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分类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1331" y="1422423"/>
            <a:ext cx="5783996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具名结构体</a:t>
            </a:r>
            <a:endParaRPr lang="en-US" altLang="zh-CN" sz="1600" b="1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在大括号中，定义每一部分数据的名字和类型；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成员结尾使用逗号，最后一个成员结尾的逗号可省略；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在表达复杂数据类型时使用；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1331" y="3538579"/>
            <a:ext cx="5783997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元组结构体</a:t>
            </a:r>
            <a:endParaRPr lang="en-US" altLang="zh-CN" sz="1400" b="1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与元组类似的结构体，称为 </a:t>
            </a:r>
            <a:r>
              <a:rPr lang="zh-CN" altLang="en-US" sz="1400" b="1" dirty="0">
                <a:cs typeface="+mn-ea"/>
                <a:sym typeface="+mn-lt"/>
              </a:rPr>
              <a:t>元组结构体；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元组结构体使用 </a:t>
            </a:r>
            <a:r>
              <a:rPr lang="en-US" altLang="zh-CN" sz="1400" dirty="0">
                <a:cs typeface="+mn-ea"/>
                <a:sym typeface="+mn-lt"/>
              </a:rPr>
              <a:t>struct </a:t>
            </a:r>
            <a:r>
              <a:rPr lang="zh-CN" altLang="en-US" sz="1400" dirty="0">
                <a:cs typeface="+mn-ea"/>
                <a:sym typeface="+mn-lt"/>
              </a:rPr>
              <a:t>关键字声明，但没有具体的字段名，只有字段的类型；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在需要定义数据类型但是不想太复杂时使用，例如，颜色、坐标等；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1334" y="5480525"/>
            <a:ext cx="5783995" cy="1061829"/>
          </a:xfrm>
          <a:prstGeom prst="rect">
            <a:avLst/>
          </a:prstGeom>
          <a:solidFill>
            <a:schemeClr val="tx2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b="1" dirty="0">
                <a:cs typeface="+mn-ea"/>
                <a:sym typeface="+mn-lt"/>
              </a:rPr>
              <a:t>单元结构体</a:t>
            </a:r>
            <a:endParaRPr lang="en-US" altLang="zh-CN" sz="1400" b="1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没有任何字段的结构体，称为类单元结构体</a:t>
            </a:r>
            <a:r>
              <a:rPr lang="zh-CN" altLang="en-US" sz="1400" b="1" dirty="0">
                <a:cs typeface="+mn-ea"/>
                <a:sym typeface="+mn-lt"/>
              </a:rPr>
              <a:t>；</a:t>
            </a:r>
            <a:endParaRPr lang="en-US" altLang="zh-CN" sz="1400" b="1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定义使用 </a:t>
            </a:r>
            <a:r>
              <a:rPr lang="zh-CN" altLang="zh-CN" sz="1400" dirty="0">
                <a:cs typeface="+mn-ea"/>
                <a:sym typeface="+mn-lt"/>
              </a:rPr>
              <a:t>struct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 关键字，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单元结构体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名称，不需要花括号或圆括号</a:t>
            </a:r>
            <a:r>
              <a:rPr lang="zh-CN" altLang="zh-CN" sz="1400" dirty="0">
                <a:cs typeface="+mn-ea"/>
                <a:sym typeface="+mn-lt"/>
              </a:rPr>
              <a:t> </a:t>
            </a:r>
            <a:r>
              <a:rPr lang="zh-CN" altLang="en-US" sz="1400" dirty="0">
                <a:cs typeface="+mn-ea"/>
                <a:sym typeface="+mn-lt"/>
              </a:rPr>
              <a:t>；</a:t>
            </a:r>
            <a:endParaRPr lang="zh-CN" altLang="zh-CN" sz="1400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68250" y="3861744"/>
            <a:ext cx="4814181" cy="1384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元组结构体代码示例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black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origin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Point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68251" y="5468514"/>
            <a:ext cx="4814181" cy="1046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单元结构体代码示例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AlwaysEqual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subject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AlwaysEqual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不占用内存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41794" y="691602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368253" y="783765"/>
            <a:ext cx="4814182" cy="30460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局名结构体代码示例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char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user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5678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85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'B'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};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user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.scores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85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结构体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–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结构体的初始化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873" y="2644244"/>
            <a:ext cx="3000050" cy="14763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char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9206" y="2176935"/>
            <a:ext cx="3013718" cy="4235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具名结构体的结构体初始化：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49464" y="1280882"/>
            <a:ext cx="4976169" cy="21650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user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5678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85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'B'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endParaRPr lang="zh-CN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修改实例中字段的值</a:t>
            </a:r>
            <a:endParaRPr lang="en-US" sz="1400" b="0" u="none" dirty="0">
              <a:solidFill>
                <a:srgbClr val="E06C75"/>
              </a:solidFill>
              <a:cs typeface="+mn-ea"/>
              <a:sym typeface="+mn-lt"/>
            </a:endParaRPr>
          </a:p>
          <a:p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user</a:t>
            </a:r>
            <a:r>
              <a:rPr lang="en-US" sz="1400" b="0" u="none" dirty="0" err="1">
                <a:solidFill>
                  <a:srgbClr val="ABB2BF"/>
                </a:solidFill>
                <a:cs typeface="+mn-ea"/>
                <a:sym typeface="+mn-lt"/>
              </a:rPr>
              <a:t>.scores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90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altLang="zh-CN" sz="14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3663158" y="1597669"/>
            <a:ext cx="924293" cy="600892"/>
          </a:xfrm>
          <a:prstGeom prst="rightArrow">
            <a:avLst>
              <a:gd name="adj1" fmla="val 67729"/>
              <a:gd name="adj2" fmla="val 26361"/>
            </a:avLst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cs typeface="+mn-ea"/>
                <a:sym typeface="+mn-lt"/>
              </a:rPr>
              <a:t>初始化</a:t>
            </a:r>
            <a:endParaRPr lang="zh-CN" altLang="en-US" sz="12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59205" y="69268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760800" y="3842645"/>
            <a:ext cx="4987504" cy="21650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'A'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user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5678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  <a:endParaRPr lang="en-US" altLang="zh-CN" sz="14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3663157" y="4017019"/>
            <a:ext cx="924293" cy="600892"/>
          </a:xfrm>
          <a:prstGeom prst="rightArrow">
            <a:avLst>
              <a:gd name="adj1" fmla="val 67729"/>
              <a:gd name="adj2" fmla="val 26361"/>
            </a:avLst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cs typeface="+mn-ea"/>
                <a:sym typeface="+mn-lt"/>
              </a:rPr>
              <a:t>初始化简写语法</a:t>
            </a:r>
            <a:endParaRPr lang="zh-CN" altLang="en-US" sz="12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4772135" y="861478"/>
            <a:ext cx="6393074" cy="41940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通过为每个字段指定具体的值来初始化结构体：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4751777" y="3414219"/>
            <a:ext cx="6393074" cy="41940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如果结构体字段名和变量名一样，可以使用简写语法：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结构体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–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结构体的初始化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59205" y="69268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3409" y="986166"/>
            <a:ext cx="10734470" cy="44207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结构体初始化更新语法可以实现</a:t>
            </a:r>
            <a:r>
              <a:rPr lang="zh-CN" sz="1600" dirty="0">
                <a:solidFill>
                  <a:srgbClr val="000000"/>
                </a:solidFill>
                <a:cs typeface="+mn-ea"/>
                <a:sym typeface="+mn-lt"/>
              </a:rPr>
              <a:t>使用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其他</a:t>
            </a:r>
            <a:r>
              <a:rPr lang="zh-CN" sz="1600" dirty="0">
                <a:solidFill>
                  <a:srgbClr val="000000"/>
                </a:solidFill>
                <a:cs typeface="+mn-ea"/>
                <a:sym typeface="+mn-lt"/>
              </a:rPr>
              <a:t>实例的大部分值但改变其部分值来创建一个新的结构体实例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1739" y="1995002"/>
            <a:ext cx="2527758" cy="2629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user1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5678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85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'B'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user2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5679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..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user1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  <a:endParaRPr lang="en-US" altLang="zh-CN" sz="1500" b="0" u="none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5337347" y="3005247"/>
            <a:ext cx="709400" cy="600892"/>
          </a:xfrm>
          <a:prstGeom prst="rightArrow">
            <a:avLst>
              <a:gd name="adj1" fmla="val 67729"/>
              <a:gd name="adj2" fmla="val 26361"/>
            </a:avLst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cs typeface="+mn-ea"/>
                <a:sym typeface="+mn-lt"/>
              </a:rPr>
              <a:t>更新语法</a:t>
            </a:r>
            <a:endParaRPr lang="zh-CN" altLang="en-US" sz="12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11621" y="1756962"/>
            <a:ext cx="3264548" cy="30945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user1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5678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85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'B'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user2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User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active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user_id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5679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scores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dirty="0">
                <a:solidFill>
                  <a:srgbClr val="D19A66"/>
                </a:solidFill>
                <a:cs typeface="+mn-ea"/>
                <a:sym typeface="+mn-lt"/>
              </a:rPr>
              <a:t>85</a:t>
            </a:r>
            <a:r>
              <a:rPr lang="en-US" sz="15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rank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'B'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枚举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分类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9206" y="2548215"/>
            <a:ext cx="4459023" cy="8595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b="1" dirty="0">
                <a:cs typeface="+mn-ea"/>
                <a:sym typeface="+mn-lt"/>
              </a:rPr>
              <a:t>有字段枚举类型</a:t>
            </a:r>
            <a:endParaRPr lang="en-US" altLang="zh-CN" sz="1600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具名字段或未具名字段；</a:t>
            </a:r>
            <a:endParaRPr lang="zh-CN" altLang="zh-CN" sz="16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205" y="4499660"/>
            <a:ext cx="4459023" cy="7875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无字段枚举类型</a:t>
            </a:r>
            <a:endParaRPr lang="en-US" altLang="zh-CN" sz="1600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变体没有包含字段的枚举称为无字段枚举；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05253" y="879069"/>
            <a:ext cx="5496072" cy="11695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枚举定义代码示例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Dog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Cat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111059" y="4521372"/>
            <a:ext cx="5490265" cy="1384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无字段枚举代码示例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Fieldless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Tuple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{},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Unit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9205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05253" y="2711470"/>
            <a:ext cx="5496072" cy="1168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有字段枚举代码示例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Dog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类似元组结构体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Cat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name_id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weight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}, 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类似具名结构体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9206" y="1002968"/>
            <a:ext cx="4459024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中，枚举类型允许定义一个由多个变体组成的类型，每个变体都可以有自己的字段。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枚举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–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判别式与自增规则</a:t>
            </a: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59205" y="69268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59205" y="692689"/>
            <a:ext cx="107406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11111"/>
                </a:solidFill>
                <a:cs typeface="+mn-ea"/>
                <a:sym typeface="+mn-lt"/>
              </a:rPr>
              <a:t>枚举每个变体都可以有自己的判别式，判别式是一个整数值，用于区分不同的枚举变体；</a:t>
            </a:r>
            <a:r>
              <a:rPr lang="zh-CN" altLang="en-US" sz="1600" dirty="0">
                <a:cs typeface="+mn-ea"/>
                <a:sym typeface="+mn-lt"/>
              </a:rPr>
              <a:t>如果枚举的任何变体都没有附加字段，则可以直接设置和访问判别值。</a:t>
            </a:r>
          </a:p>
        </p:txBody>
      </p:sp>
      <p:sp>
        <p:nvSpPr>
          <p:cNvPr id="6" name="矩形 5"/>
          <p:cNvSpPr/>
          <p:nvPr/>
        </p:nvSpPr>
        <p:spPr>
          <a:xfrm>
            <a:off x="459205" y="1678580"/>
            <a:ext cx="4734232" cy="44012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没有显示指定判别式，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Rust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自动分配判别式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默认第一个判别式为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0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比前一个判别式增加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1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Baz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可以显示指定变体的判别式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123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Baz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456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Quux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Baz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123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456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Baz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457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Quux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5576937" y="1677615"/>
            <a:ext cx="5610943" cy="329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::mem;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A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char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B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C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 }</a:t>
            </a:r>
            <a:endParaRPr lang="en-US" sz="1500" b="0" u="none" dirty="0">
              <a:solidFill>
                <a:srgbClr val="61AFEF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discriminant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A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'a'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discriminant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A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'b'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500" b="0" u="none" dirty="0">
              <a:solidFill>
                <a:srgbClr val="61AFEF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discriminant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B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)), 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discriminant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B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500" b="0" u="none" dirty="0">
              <a:solidFill>
                <a:srgbClr val="61AFEF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assert_ne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discriminant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B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mem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discriminant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C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73109" y="1150684"/>
            <a:ext cx="5174711" cy="4735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使用</a:t>
            </a:r>
            <a:r>
              <a:rPr lang="en-US" altLang="zh-CN" sz="1600" dirty="0">
                <a:cs typeface="+mn-ea"/>
                <a:sym typeface="+mn-lt"/>
              </a:rPr>
              <a:t>mem::discriminant</a:t>
            </a:r>
            <a:r>
              <a:rPr lang="zh-CN" altLang="en-US" sz="1600" dirty="0">
                <a:cs typeface="+mn-ea"/>
                <a:sym typeface="+mn-lt"/>
              </a:rPr>
              <a:t>访问判别式：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06908" y="5078186"/>
            <a:ext cx="5962335" cy="98616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sz="1500" b="0" u="none" dirty="0">
                <a:solidFill>
                  <a:srgbClr val="000000"/>
                </a:solidFill>
                <a:cs typeface="+mn-ea"/>
                <a:sym typeface="+mn-lt"/>
              </a:rPr>
              <a:t>示例中通过 use 语句引入了标准库(std)</a:t>
            </a:r>
            <a:r>
              <a:rPr lang="zh-CN" altLang="en-US" sz="1500" b="0" u="none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sz="1500" b="0" u="none" dirty="0">
                <a:solidFill>
                  <a:srgbClr val="000000"/>
                </a:solidFill>
                <a:cs typeface="+mn-ea"/>
                <a:sym typeface="+mn-lt"/>
              </a:rPr>
              <a:t>std提供了核心的数据类型、基本操作、标准宏、I/O、多线程等；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枚举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–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初始化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24622" y="802550"/>
            <a:ext cx="8454423" cy="30765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枚举初始化代码示例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WebEvent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PageLoad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PageUnload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KeyPress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char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Click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i64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i64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},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pressed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WebEvent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KeyPress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'x'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click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WebEvent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Click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20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80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load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WebEvent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PageLoad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unload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WebEvent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PageUnload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59205" y="69268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28192" y="4081270"/>
            <a:ext cx="5123804" cy="4235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枚举类型可以作为结构体成员；</a:t>
            </a:r>
          </a:p>
        </p:txBody>
      </p:sp>
      <p:sp>
        <p:nvSpPr>
          <p:cNvPr id="20" name="矩形 19"/>
          <p:cNvSpPr/>
          <p:nvPr/>
        </p:nvSpPr>
        <p:spPr>
          <a:xfrm>
            <a:off x="928191" y="4542935"/>
            <a:ext cx="5123804" cy="16300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IpAddrKind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V4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V6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IpAddr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kind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IpAddrKind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IpAddr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kind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IpAddrKind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V4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</p:txBody>
      </p:sp>
      <p:sp>
        <p:nvSpPr>
          <p:cNvPr id="21" name="矩形 20"/>
          <p:cNvSpPr/>
          <p:nvPr/>
        </p:nvSpPr>
        <p:spPr>
          <a:xfrm>
            <a:off x="6617889" y="4544987"/>
            <a:ext cx="3756156" cy="16619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Ipv4Addr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Ipv6Addr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IpAddr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V4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Ipv4Addr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V6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Ipv6Addr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7889" y="4124744"/>
            <a:ext cx="3345788" cy="4235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枚举成员也可以为结构体类型；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类型别名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9204" y="664140"/>
            <a:ext cx="10620127" cy="9042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en-US" altLang="zh-CN" sz="1600" b="1" dirty="0">
                <a:cs typeface="+mn-ea"/>
                <a:sym typeface="+mn-lt"/>
              </a:rPr>
              <a:t>type - 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使用 </a:t>
            </a:r>
            <a:r>
              <a:rPr lang="zh-CN" altLang="zh-CN" sz="1600" dirty="0">
                <a:cs typeface="+mn-ea"/>
                <a:sym typeface="+mn-lt"/>
              </a:rPr>
              <a:t>type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 关键字来给予现有类型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新的名称，可以赋予较长</a:t>
            </a:r>
            <a:r>
              <a:rPr lang="zh-CN" altLang="en-US" sz="1600" dirty="0">
                <a:cs typeface="+mn-ea"/>
                <a:sym typeface="+mn-lt"/>
              </a:rPr>
              <a:t>类型简明的业务语义，以便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有更好的可读性以及便利性</a:t>
            </a:r>
            <a:r>
              <a:rPr lang="zh-CN" altLang="en-US" sz="1600" dirty="0">
                <a:cs typeface="+mn-ea"/>
                <a:sym typeface="+mn-lt"/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533650" y="1424477"/>
            <a:ext cx="6113201" cy="20313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da-DK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Kilometers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i32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的同义词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Kilometers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Kilometers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类型的值将被完全当作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i32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类型值来使用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Kilometers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6125" y="3589543"/>
            <a:ext cx="8686800" cy="2677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VeryVerboseEnumOfThingsToDoWithNumbers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Subtract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创建类型别名</a:t>
            </a:r>
            <a:endParaRPr lang="en-US" altLang="zh-CN" sz="14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Operations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VeryVerboseEnumOfThingsToDoWithNumbers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简化类型名，具有更好的可读性和便利性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Operations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9205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结构体的分类、初始化语法；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枚举的分类、初始化语法、内存布局以及判别式和自增规则；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掌握类型别名的基本用法；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giu51kh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giu51kh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4giu51kh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giu51kh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giu51kh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1522</Words>
  <Application>Microsoft Office PowerPoint</Application>
  <PresentationFormat>自定义</PresentationFormat>
  <Paragraphs>244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方正兰亭黑简体</vt:lpstr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自定义数据类型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自定义数据类型</dc:title>
  <dc:creator>fanyan (A)</dc:creator>
  <cp:lastModifiedBy>Zhangyandong (ben)</cp:lastModifiedBy>
  <cp:revision>13</cp:revision>
  <dcterms:created xsi:type="dcterms:W3CDTF">2023-10-18T07:15:32Z</dcterms:created>
  <dcterms:modified xsi:type="dcterms:W3CDTF">2024-11-20T02:25:56Z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(3)/sh41gj78BxQlIgYSNClME6tNdeSN/caCxJIasix106uUmr5KILmzpQlIT9yv0bSJ9BBw2mc
oHWNNd/gXU0igf9N6bCpFY9djk1VeIxPh7xQSMxe6JDW11nDEWj/5sJuhMwN0YkvPcptMREU
xmtBbTtKizscGSoz3DibCbL5jrfI2atkwBTzXQ6RjzcSYpifu9DJIl6fr4nM1SIKuHKuwGOO
Cnnmi2NSjkv9Twpfa2</vt:lpwstr>
  </property>
  <property fmtid="{D5CDD505-2E9C-101B-9397-08002B2CF9AE}" pid="3" name="_2015_ms_pID_7253431">
    <vt:lpwstr>iYL6f6DAsAC9e6B9V3JlUuZbEn9INvp+KyjeUuJLgr1KhEEov/FFyB
8fFZ9LX/PXV737/7s0YyTpnBGJsJ2wEt3+an0ysev3osu/XwGwW5+zWqF+DkhZwuqH+BvO/F
MxgCE/bCjqL0YttFrE3o6XHQhM3hp1MYH/5pZM09F/R1cgTVXz8JN5qHXY/aToXxXTWv2LHS
gupZ9AsHwTr8e0w5VS4qhy6+b54U+tErQ8mN</vt:lpwstr>
  </property>
  <property fmtid="{D5CDD505-2E9C-101B-9397-08002B2CF9AE}" pid="4" name="_2015_ms_pID_7253432">
    <vt:lpwstr>Ug==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1697529755</vt:lpwstr>
  </property>
</Properties>
</file>