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21"/>
  </p:notesMasterIdLst>
  <p:handoutMasterIdLst>
    <p:handoutMasterId r:id="rId22"/>
  </p:handoutMasterIdLst>
  <p:sldIdLst>
    <p:sldId id="283" r:id="rId6"/>
    <p:sldId id="288" r:id="rId7"/>
    <p:sldId id="429" r:id="rId8"/>
    <p:sldId id="447" r:id="rId9"/>
    <p:sldId id="436" r:id="rId10"/>
    <p:sldId id="453" r:id="rId11"/>
    <p:sldId id="455" r:id="rId12"/>
    <p:sldId id="454" r:id="rId13"/>
    <p:sldId id="456" r:id="rId14"/>
    <p:sldId id="437" r:id="rId15"/>
    <p:sldId id="457" r:id="rId16"/>
    <p:sldId id="458" r:id="rId17"/>
    <p:sldId id="438" r:id="rId18"/>
    <p:sldId id="292" r:id="rId19"/>
    <p:sldId id="280" r:id="rId20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8"/>
          </p14:sldIdLst>
        </p14:section>
        <p14:section name="章节页" id="{FD05EE94-C931-8C4B-83A2-004B32AA1207}">
          <p14:sldIdLst>
            <p14:sldId id="429"/>
            <p14:sldId id="447"/>
            <p14:sldId id="436"/>
            <p14:sldId id="453"/>
            <p14:sldId id="455"/>
            <p14:sldId id="454"/>
            <p14:sldId id="456"/>
            <p14:sldId id="437"/>
            <p14:sldId id="457"/>
            <p14:sldId id="458"/>
            <p14:sldId id="438"/>
            <p14:sldId id="29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zhanghandong WX930509_Jj22FnMn" initials="authorId_AK20210901:AK20210901JXNSXO4676065" lastIdx="1690299041" clrIdx="0"/>
  <p:cmAuthor id="2000" name="wuxiaojun 00342820_QRBvBJbY" initials="authorId_AK20210901:AK20210901JXNSXO124321" lastIdx="0" clrIdx="0"/>
  <p:cmAuthor id="2001" name="liziqiang 00556901_ERbuA7r6" initials="authorId_AK20210901:AK20210901JXNSXO4497046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7" autoAdjust="0"/>
    <p:restoredTop sz="90888" autoAdjust="0"/>
  </p:normalViewPr>
  <p:slideViewPr>
    <p:cSldViewPr snapToGrid="0" snapToObjects="1">
      <p:cViewPr varScale="1">
        <p:scale>
          <a:sx n="66" d="100"/>
          <a:sy n="66" d="100"/>
        </p:scale>
        <p:origin x="40" y="260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>
                <a:cs typeface="+mn-ea"/>
                <a:sym typeface="+mn-lt"/>
              </a:rPr>
              <a:t>Security Level:</a:t>
            </a:r>
            <a:endParaRPr lang="en-US" sz="100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8781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学习，掌握 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Rust 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中如何编写过程宏。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29175" y="2948748"/>
            <a:ext cx="7589761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过程宏概念；</a:t>
            </a:r>
            <a:endParaRPr lang="en-US" altLang="zh-CN" dirty="0">
              <a:cs typeface="+mn-ea"/>
              <a:sym typeface="+mn-lt"/>
            </a:endParaRPr>
          </a:p>
          <a:p>
            <a:pPr marL="35433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如何编写过程宏；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358537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29175" y="2812870"/>
            <a:ext cx="208867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84089"/>
            <a:ext cx="10740640" cy="461749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51932" y="694354"/>
            <a:ext cx="10957460" cy="81720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过程宏跟声明宏类似，同样是宏，可以生成代码。但与声明宏不同的是，过程宏更加强大。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过程宏和声明宏一样，也是通过操作 </a:t>
            </a:r>
            <a:r>
              <a:rPr lang="en-US" altLang="zh-CN" sz="1600" dirty="0">
                <a:solidFill>
                  <a:srgbClr val="FF0000"/>
                </a:solidFill>
                <a:cs typeface="+mn-ea"/>
                <a:sym typeface="+mn-lt"/>
              </a:rPr>
              <a:t>AST</a:t>
            </a:r>
            <a:r>
              <a:rPr lang="en-US" altLang="zh-CN" sz="1600" dirty="0">
                <a:cs typeface="+mn-ea"/>
                <a:sym typeface="+mn-lt"/>
              </a:rPr>
              <a:t> </a:t>
            </a:r>
            <a:r>
              <a:rPr lang="zh-CN" altLang="en-US" sz="1600" dirty="0">
                <a:cs typeface="+mn-ea"/>
                <a:sym typeface="+mn-lt"/>
              </a:rPr>
              <a:t>来完成指定代码生成。同样也是发生在</a:t>
            </a:r>
            <a:r>
              <a:rPr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词法分析</a:t>
            </a:r>
            <a:r>
              <a:rPr lang="zh-CN" altLang="en-US" sz="1600" dirty="0">
                <a:cs typeface="+mn-ea"/>
                <a:sym typeface="+mn-lt"/>
              </a:rPr>
              <a:t>和</a:t>
            </a:r>
            <a:r>
              <a:rPr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语法分析</a:t>
            </a:r>
            <a:r>
              <a:rPr lang="zh-CN" altLang="en-US" sz="1600" dirty="0">
                <a:cs typeface="+mn-ea"/>
                <a:sym typeface="+mn-lt"/>
              </a:rPr>
              <a:t>过程。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561" y="1835755"/>
            <a:ext cx="6651960" cy="4327816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与声明宏不同的地方在于：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zh-CN" altLang="en-US" sz="1600" dirty="0">
                <a:cs typeface="+mn-ea"/>
                <a:sym typeface="+mn-lt"/>
              </a:rPr>
              <a:t>定义过程宏需要独立的 </a:t>
            </a:r>
            <a:r>
              <a:rPr lang="en-US" altLang="zh-CN" sz="1600" dirty="0">
                <a:cs typeface="+mn-ea"/>
                <a:sym typeface="+mn-lt"/>
              </a:rPr>
              <a:t>crate</a:t>
            </a:r>
            <a:r>
              <a:rPr lang="zh-CN" altLang="en-US" sz="1600" dirty="0">
                <a:cs typeface="+mn-ea"/>
                <a:sym typeface="+mn-lt"/>
              </a:rPr>
              <a:t>，库类型为 </a:t>
            </a:r>
            <a:r>
              <a:rPr lang="en-US" altLang="zh-CN" sz="1600" dirty="0">
                <a:cs typeface="+mn-ea"/>
                <a:sym typeface="+mn-lt"/>
              </a:rPr>
              <a:t>proc</a:t>
            </a:r>
            <a:r>
              <a:rPr lang="zh-CN" altLang="en-US" sz="1600" dirty="0">
                <a:cs typeface="+mn-ea"/>
                <a:sym typeface="+mn-lt"/>
              </a:rPr>
              <a:t>-</a:t>
            </a:r>
            <a:r>
              <a:rPr lang="en-US" altLang="zh-CN" sz="1600" dirty="0">
                <a:cs typeface="+mn-ea"/>
                <a:sym typeface="+mn-lt"/>
              </a:rPr>
              <a:t>macro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zh-CN" altLang="en-US" sz="1600" dirty="0">
                <a:cs typeface="+mn-ea"/>
                <a:sym typeface="+mn-lt"/>
              </a:rPr>
              <a:t>定义过程宏需要依赖第三方库：</a:t>
            </a:r>
          </a:p>
          <a:p>
            <a:pPr marL="742950" lvl="1" indent="-285750" algn="l">
              <a:lnSpc>
                <a:spcPct val="150000"/>
              </a:lnSpc>
              <a:buChar char="•"/>
            </a:pPr>
            <a:r>
              <a:rPr lang="en-US" altLang="zh-CN" sz="1600" dirty="0">
                <a:cs typeface="+mn-ea"/>
                <a:sym typeface="+mn-lt"/>
              </a:rPr>
              <a:t>proc_macro2</a:t>
            </a:r>
            <a:r>
              <a:rPr lang="zh-CN" altLang="en-US" sz="1600" dirty="0">
                <a:cs typeface="+mn-ea"/>
                <a:sym typeface="+mn-lt"/>
              </a:rPr>
              <a:t>，是操作 </a:t>
            </a:r>
            <a:r>
              <a:rPr lang="en-US" altLang="zh-CN" sz="1600" dirty="0">
                <a:cs typeface="+mn-ea"/>
                <a:sym typeface="+mn-lt"/>
              </a:rPr>
              <a:t>TokenStream </a:t>
            </a:r>
            <a:r>
              <a:rPr lang="zh-CN" altLang="en-US" sz="1600" dirty="0">
                <a:cs typeface="+mn-ea"/>
                <a:sym typeface="+mn-lt"/>
              </a:rPr>
              <a:t>的接口</a:t>
            </a:r>
          </a:p>
          <a:p>
            <a:pPr marL="742950" lvl="1" indent="-285750" algn="l">
              <a:lnSpc>
                <a:spcPct val="150000"/>
              </a:lnSpc>
              <a:buChar char="•"/>
            </a:pPr>
            <a:r>
              <a:rPr lang="en-US" altLang="zh-CN" sz="1600" dirty="0">
                <a:cs typeface="+mn-ea"/>
                <a:sym typeface="+mn-lt"/>
              </a:rPr>
              <a:t>syn</a:t>
            </a:r>
            <a:r>
              <a:rPr lang="zh-CN" altLang="en-US" sz="1600" dirty="0">
                <a:cs typeface="+mn-ea"/>
                <a:sym typeface="+mn-lt"/>
              </a:rPr>
              <a:t>，提供了稳定的 </a:t>
            </a:r>
            <a:r>
              <a:rPr lang="en-US" altLang="zh-CN" sz="1600" dirty="0">
                <a:cs typeface="+mn-ea"/>
                <a:sym typeface="+mn-lt"/>
              </a:rPr>
              <a:t>AST</a:t>
            </a:r>
            <a:r>
              <a:rPr lang="zh-CN" altLang="en-US" sz="1600" dirty="0">
                <a:cs typeface="+mn-ea"/>
                <a:sym typeface="+mn-lt"/>
              </a:rPr>
              <a:t> 类型及操作接口</a:t>
            </a:r>
          </a:p>
          <a:p>
            <a:pPr marL="742950" lvl="1" indent="-285750" algn="l">
              <a:lnSpc>
                <a:spcPct val="150000"/>
              </a:lnSpc>
              <a:buChar char="•"/>
            </a:pPr>
            <a:r>
              <a:rPr lang="en-US" altLang="zh-CN" sz="1600" dirty="0">
                <a:cs typeface="+mn-ea"/>
                <a:sym typeface="+mn-lt"/>
              </a:rPr>
              <a:t>quote</a:t>
            </a:r>
            <a:r>
              <a:rPr lang="zh-CN" altLang="en-US" sz="1600" dirty="0">
                <a:cs typeface="+mn-ea"/>
                <a:sym typeface="+mn-lt"/>
              </a:rPr>
              <a:t>，提供了将 </a:t>
            </a:r>
            <a:r>
              <a:rPr lang="en-US" altLang="zh-CN" sz="1600" dirty="0">
                <a:cs typeface="+mn-ea"/>
                <a:sym typeface="+mn-lt"/>
              </a:rPr>
              <a:t>syn </a:t>
            </a:r>
            <a:r>
              <a:rPr lang="zh-CN" altLang="en-US" sz="1600" dirty="0">
                <a:cs typeface="+mn-ea"/>
                <a:sym typeface="+mn-lt"/>
              </a:rPr>
              <a:t>的 </a:t>
            </a:r>
            <a:r>
              <a:rPr lang="en-US" altLang="zh-CN" sz="1600" dirty="0">
                <a:cs typeface="+mn-ea"/>
                <a:sym typeface="+mn-lt"/>
              </a:rPr>
              <a:t>AST </a:t>
            </a:r>
            <a:r>
              <a:rPr lang="zh-CN" altLang="en-US" sz="1600" dirty="0">
                <a:cs typeface="+mn-ea"/>
                <a:sym typeface="+mn-lt"/>
              </a:rPr>
              <a:t>类型转换为 </a:t>
            </a:r>
            <a:r>
              <a:rPr lang="en-US" altLang="zh-CN" sz="1600" dirty="0">
                <a:cs typeface="+mn-ea"/>
                <a:sym typeface="+mn-lt"/>
              </a:rPr>
              <a:t>TokenStream</a:t>
            </a:r>
            <a:r>
              <a:rPr lang="zh-CN" altLang="en-US" sz="1600" dirty="0">
                <a:cs typeface="+mn-ea"/>
                <a:sym typeface="+mn-lt"/>
              </a:rPr>
              <a:t>的能力</a:t>
            </a:r>
          </a:p>
          <a:p>
            <a:pPr lvl="0" indent="0" algn="l">
              <a:lnSpc>
                <a:spcPct val="150000"/>
              </a:lnSpc>
              <a:buNone/>
            </a:pPr>
            <a:endParaRPr lang="en-US" altLang="zh-CN" sz="1600" dirty="0">
              <a:cs typeface="+mn-ea"/>
              <a:sym typeface="+mn-lt"/>
            </a:endParaRPr>
          </a:p>
          <a:p>
            <a:pPr lvl="0" indent="0" algn="l">
              <a:lnSpc>
                <a:spcPct val="150000"/>
              </a:lnSpc>
              <a:buNone/>
            </a:pPr>
            <a:r>
              <a:rPr lang="zh-CN" altLang="en-US" sz="1600" dirty="0">
                <a:cs typeface="+mn-ea"/>
                <a:sym typeface="+mn-lt"/>
              </a:rPr>
              <a:t>通过这三个库，就实现了编译期操作 </a:t>
            </a:r>
            <a:r>
              <a:rPr lang="en-US" altLang="zh-CN" sz="1600" dirty="0">
                <a:cs typeface="+mn-ea"/>
                <a:sym typeface="+mn-lt"/>
              </a:rPr>
              <a:t>AST</a:t>
            </a:r>
            <a:r>
              <a:rPr lang="zh-CN" altLang="en-US" sz="1600" dirty="0">
                <a:cs typeface="+mn-ea"/>
                <a:sym typeface="+mn-lt"/>
              </a:rPr>
              <a:t> 的无限可能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143190" y="1740638"/>
            <a:ext cx="2178176" cy="894098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Rust 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源码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8137324" y="3332437"/>
            <a:ext cx="2178176" cy="894098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词法分析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TokenStream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8146766" y="4867166"/>
            <a:ext cx="2178176" cy="894098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语法分析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AST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</p:txBody>
      </p:sp>
      <p:cxnSp>
        <p:nvCxnSpPr>
          <p:cNvPr id="13" name="Straight Arrow Connector 12"/>
          <p:cNvCxnSpPr/>
          <p:nvPr userDrawn="1"/>
        </p:nvCxnSpPr>
        <p:spPr>
          <a:xfrm flipH="1">
            <a:off x="9127649" y="2710829"/>
            <a:ext cx="9512" cy="542166"/>
          </a:xfrm>
          <a:prstGeom prst="straightConnector1">
            <a:avLst/>
          </a:prstGeom>
          <a:ln w="63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 userDrawn="1"/>
        </p:nvCxnSpPr>
        <p:spPr>
          <a:xfrm flipH="1">
            <a:off x="9150020" y="4274093"/>
            <a:ext cx="9512" cy="542166"/>
          </a:xfrm>
          <a:prstGeom prst="straightConnector1">
            <a:avLst/>
          </a:prstGeom>
          <a:ln w="63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218769" y="47558"/>
            <a:ext cx="10738691" cy="532654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08" y="1290275"/>
            <a:ext cx="3947928" cy="108318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484" y="1373587"/>
            <a:ext cx="4982831" cy="147085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01" y="4499320"/>
            <a:ext cx="8379768" cy="1719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181" y="2870157"/>
            <a:ext cx="5730394" cy="1470857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53181" y="639615"/>
            <a:ext cx="10962215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过程宏一般都是独立的库，在 </a:t>
            </a:r>
            <a:r>
              <a:rPr lang="en-US" altLang="zh-CN" sz="1600" dirty="0">
                <a:cs typeface="+mn-ea"/>
                <a:sym typeface="+mn-lt"/>
              </a:rPr>
              <a:t>Cargo.toml </a:t>
            </a:r>
            <a:r>
              <a:rPr lang="zh-CN" altLang="en-US" sz="1600" dirty="0">
                <a:cs typeface="+mn-ea"/>
                <a:sym typeface="+mn-lt"/>
              </a:rPr>
              <a:t>中指定为 </a:t>
            </a:r>
            <a:r>
              <a:rPr lang="en-US" altLang="zh-CN" sz="1600" dirty="0">
                <a:cs typeface="+mn-ea"/>
                <a:sym typeface="+mn-lt"/>
              </a:rPr>
              <a:t>proc</a:t>
            </a:r>
            <a:r>
              <a:rPr lang="zh-CN" altLang="en-US" sz="1600" dirty="0">
                <a:cs typeface="+mn-ea"/>
                <a:sym typeface="+mn-lt"/>
              </a:rPr>
              <a:t>-</a:t>
            </a:r>
            <a:r>
              <a:rPr lang="en-US" altLang="zh-CN" sz="1600" dirty="0">
                <a:cs typeface="+mn-ea"/>
                <a:sym typeface="+mn-lt"/>
              </a:rPr>
              <a:t>macro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2421" y="2368409"/>
            <a:ext cx="5849685" cy="1854778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过程宏三种形式：</a:t>
            </a:r>
          </a:p>
          <a:p>
            <a:pPr marL="285750" indent="-285750" algn="l">
              <a:lnSpc>
                <a:spcPts val="3440"/>
              </a:lnSpc>
              <a:buChar char="•"/>
            </a:pPr>
            <a:r>
              <a:rPr lang="zh-CN" altLang="en-US" sz="1600" dirty="0">
                <a:cs typeface="+mn-ea"/>
                <a:sym typeface="+mn-lt"/>
              </a:rPr>
              <a:t>函数调用，通过 #</a:t>
            </a:r>
            <a:r>
              <a:rPr lang="en-US" altLang="zh-CN" sz="1600" dirty="0">
                <a:cs typeface="+mn-ea"/>
                <a:sym typeface="+mn-lt"/>
              </a:rPr>
              <a:t>[proc_macro]</a:t>
            </a:r>
            <a:r>
              <a:rPr lang="zh-CN" altLang="en-US" sz="1600" dirty="0">
                <a:cs typeface="+mn-ea"/>
                <a:sym typeface="+mn-lt"/>
              </a:rPr>
              <a:t>定义</a:t>
            </a:r>
          </a:p>
          <a:p>
            <a:pPr marL="285750" indent="-285750" algn="l">
              <a:lnSpc>
                <a:spcPts val="3440"/>
              </a:lnSpc>
              <a:buChar char="•"/>
            </a:pPr>
            <a:r>
              <a:rPr lang="zh-CN" altLang="en-US" sz="1600" dirty="0">
                <a:cs typeface="+mn-ea"/>
                <a:sym typeface="+mn-lt"/>
              </a:rPr>
              <a:t>派生宏，通过 #</a:t>
            </a:r>
            <a:r>
              <a:rPr lang="en-US" altLang="zh-CN" sz="1600" dirty="0">
                <a:cs typeface="+mn-ea"/>
                <a:sym typeface="+mn-lt"/>
              </a:rPr>
              <a:t>[proc_macro_derive]</a:t>
            </a:r>
            <a:r>
              <a:rPr lang="zh-CN" altLang="en-US" sz="1600" dirty="0">
                <a:cs typeface="+mn-ea"/>
                <a:sym typeface="+mn-lt"/>
              </a:rPr>
              <a:t>定义</a:t>
            </a:r>
          </a:p>
          <a:p>
            <a:pPr marL="285750" indent="-285750" algn="l">
              <a:lnSpc>
                <a:spcPts val="3440"/>
              </a:lnSpc>
              <a:buChar char="•"/>
            </a:pPr>
            <a:r>
              <a:rPr lang="zh-CN" altLang="en-US" sz="1600" dirty="0">
                <a:cs typeface="+mn-ea"/>
                <a:sym typeface="+mn-lt"/>
              </a:rPr>
              <a:t>属性宏，通过 #</a:t>
            </a:r>
            <a:r>
              <a:rPr lang="en-US" altLang="zh-CN" sz="1600" dirty="0">
                <a:cs typeface="+mn-ea"/>
                <a:sym typeface="+mn-lt"/>
              </a:rPr>
              <a:t>[proc_macro_attribute]</a:t>
            </a:r>
            <a:r>
              <a:rPr lang="zh-CN" altLang="en-US" sz="1600" dirty="0">
                <a:cs typeface="+mn-ea"/>
                <a:sym typeface="+mn-lt"/>
              </a:rPr>
              <a:t>定义</a:t>
            </a:r>
          </a:p>
        </p:txBody>
      </p:sp>
      <p:cxnSp>
        <p:nvCxnSpPr>
          <p:cNvPr id="6" name="Straight Arrow Connector 5"/>
          <p:cNvCxnSpPr/>
          <p:nvPr userDrawn="1"/>
        </p:nvCxnSpPr>
        <p:spPr>
          <a:xfrm flipV="1">
            <a:off x="3732245" y="2143820"/>
            <a:ext cx="1788130" cy="813984"/>
          </a:xfrm>
          <a:prstGeom prst="straightConnector1">
            <a:avLst/>
          </a:prstGeom>
          <a:ln w="6350" cap="flat" cmpd="sng" algn="ctr">
            <a:solidFill>
              <a:schemeClr val="accent2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 userDrawn="1"/>
        </p:nvCxnSpPr>
        <p:spPr>
          <a:xfrm flipV="1">
            <a:off x="4525347" y="3312367"/>
            <a:ext cx="597159" cy="208751"/>
          </a:xfrm>
          <a:prstGeom prst="straightConnector1">
            <a:avLst/>
          </a:prstGeom>
          <a:ln w="6350" cap="flat" cmpd="sng" algn="ctr">
            <a:solidFill>
              <a:schemeClr val="accent2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 userDrawn="1"/>
        </p:nvCxnSpPr>
        <p:spPr>
          <a:xfrm>
            <a:off x="2407298" y="4105469"/>
            <a:ext cx="727788" cy="326572"/>
          </a:xfrm>
          <a:prstGeom prst="straightConnector1">
            <a:avLst/>
          </a:prstGeom>
          <a:ln w="6350" cap="flat" cmpd="sng" algn="ctr">
            <a:solidFill>
              <a:schemeClr val="accent2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57978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3181" y="648766"/>
            <a:ext cx="813235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600" dirty="0">
                <a:cs typeface="+mn-ea"/>
                <a:sym typeface="+mn-lt"/>
              </a:rPr>
              <a:t>在编写过程宏之前，我们需要明白过程宏要解决什么问题。</a:t>
            </a:r>
          </a:p>
          <a:p>
            <a:pPr algn="l"/>
            <a:r>
              <a:rPr lang="zh-CN" altLang="en-US" sz="1600" dirty="0">
                <a:cs typeface="+mn-ea"/>
                <a:sym typeface="+mn-lt"/>
              </a:rPr>
              <a:t>过程宏本身比较复杂，最好的实践是把正常的功能代码实现完毕之后，再改写为过程宏</a:t>
            </a:r>
          </a:p>
          <a:p>
            <a:pPr algn="l"/>
            <a:endParaRPr lang="zh-CN" altLang="en-US" sz="1600" dirty="0">
              <a:cs typeface="+mn-ea"/>
              <a:sym typeface="+mn-lt"/>
            </a:endParaRPr>
          </a:p>
          <a:p>
            <a:pPr algn="l"/>
            <a:r>
              <a:rPr lang="zh-CN" altLang="en-US" sz="1600" dirty="0">
                <a:cs typeface="+mn-ea"/>
                <a:sym typeface="+mn-lt"/>
              </a:rPr>
              <a:t>首先，我们描述好需求：计算 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1 + 2 * 3 </a:t>
            </a:r>
            <a:r>
              <a:rPr lang="zh-CN" alt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的值，并且要打印出 “</a:t>
            </a:r>
            <a:r>
              <a:rPr 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1 + 2 * 3 = 7</a:t>
            </a:r>
            <a:r>
              <a:rPr lang="zh-CN" altLang="en-US" sz="1600" b="0" u="none" dirty="0">
                <a:solidFill>
                  <a:srgbClr val="000000"/>
                </a:solidFill>
                <a:cs typeface="+mn-ea"/>
                <a:sym typeface="+mn-lt"/>
              </a:rPr>
              <a:t>”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2"/>
          <p:cNvSpPr/>
          <p:nvPr/>
        </p:nvSpPr>
        <p:spPr>
          <a:xfrm>
            <a:off x="6699380" y="2387433"/>
            <a:ext cx="5159828" cy="21115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假设从另外一个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crate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内引入我们即将定义的过程宏来调用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proc_func_demo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print_expr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期望这个过程宏调用之后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能生成跟左边实现代码一样的效果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print_expr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*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2" name="矩形 19"/>
          <p:cNvSpPr/>
          <p:nvPr/>
        </p:nvSpPr>
        <p:spPr>
          <a:xfrm>
            <a:off x="345879" y="1988058"/>
            <a:ext cx="3012556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cs typeface="+mn-ea"/>
                <a:sym typeface="+mn-lt"/>
              </a:rPr>
              <a:t>首先不使用宏，完成代码实现：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9380" y="1845267"/>
            <a:ext cx="4156606" cy="532654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然后根据实现的代码设计过程宏：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05B45F-6E2F-4266-985A-C5912F4E5405}"/>
              </a:ext>
            </a:extLst>
          </p:cNvPr>
          <p:cNvSpPr/>
          <p:nvPr/>
        </p:nvSpPr>
        <p:spPr>
          <a:xfrm>
            <a:off x="345879" y="2521059"/>
            <a:ext cx="6096000" cy="1815882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代码示例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计算 </a:t>
            </a:r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1 + 2 * 3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的值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result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*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打印字符串 </a:t>
            </a:r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"1 + 2 * 3 = 7"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en-US" altLang="zh-CN" sz="1400" dirty="0" err="1">
                <a:solidFill>
                  <a:srgbClr val="6A9955"/>
                </a:solidFill>
                <a:cs typeface="+mn-ea"/>
                <a:sym typeface="+mn-lt"/>
              </a:rPr>
              <a:t>stringify</a:t>
            </a:r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!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宏会把表达式参数转为字符串，但是不会对其求值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BD63C5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BD63C5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{:?}</a:t>
            </a:r>
            <a:r>
              <a:rPr lang="en-US" altLang="zh-CN" sz="1400" dirty="0">
                <a:solidFill>
                  <a:srgbClr val="CE9178"/>
                </a:solidFill>
                <a:cs typeface="+mn-ea"/>
                <a:sym typeface="+mn-lt"/>
              </a:rPr>
              <a:t> = 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{:?}</a:t>
            </a:r>
            <a:r>
              <a:rPr lang="en-US" altLang="zh-CN" sz="1400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BD63C5"/>
                </a:solidFill>
                <a:cs typeface="+mn-ea"/>
                <a:sym typeface="+mn-lt"/>
              </a:rPr>
              <a:t>stringify</a:t>
            </a:r>
            <a:r>
              <a:rPr lang="en-US" altLang="zh-CN" sz="1400" dirty="0">
                <a:solidFill>
                  <a:srgbClr val="BD63C5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*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),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result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57978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过程宏案例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9529" y="639254"/>
            <a:ext cx="6563015" cy="793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要想实现过程宏，需要先创建一个独立的</a:t>
            </a:r>
            <a:r>
              <a:rPr lang="en-US" altLang="zh-CN" sz="1600" dirty="0">
                <a:cs typeface="+mn-ea"/>
                <a:sym typeface="+mn-lt"/>
              </a:rPr>
              <a:t>crate</a:t>
            </a:r>
            <a:r>
              <a:rPr lang="zh-CN" altLang="en-US" sz="1600" dirty="0">
                <a:cs typeface="+mn-ea"/>
                <a:sym typeface="+mn-lt"/>
              </a:rPr>
              <a:t>，名为 </a:t>
            </a:r>
            <a:r>
              <a:rPr lang="en-US" altLang="zh-CN" sz="1600" dirty="0" err="1">
                <a:cs typeface="+mn-ea"/>
                <a:sym typeface="+mn-lt"/>
              </a:rPr>
              <a:t>proc_func_demo</a:t>
            </a: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在 </a:t>
            </a:r>
            <a:r>
              <a:rPr lang="en-US" altLang="zh-CN" sz="1600" dirty="0" err="1">
                <a:cs typeface="+mn-ea"/>
                <a:sym typeface="+mn-lt"/>
              </a:rPr>
              <a:t>Cargo.toml</a:t>
            </a:r>
            <a:r>
              <a:rPr lang="en-US" altLang="zh-CN" sz="1600" dirty="0">
                <a:cs typeface="+mn-ea"/>
                <a:sym typeface="+mn-lt"/>
              </a:rPr>
              <a:t> </a:t>
            </a:r>
            <a:r>
              <a:rPr lang="zh-CN" altLang="en-US" sz="1600" dirty="0">
                <a:cs typeface="+mn-ea"/>
                <a:sym typeface="+mn-lt"/>
              </a:rPr>
              <a:t>中指定 </a:t>
            </a:r>
            <a:r>
              <a:rPr lang="en-US" altLang="zh-CN" sz="1600" dirty="0">
                <a:cs typeface="+mn-ea"/>
                <a:sym typeface="+mn-lt"/>
              </a:rPr>
              <a:t>proc</a:t>
            </a:r>
            <a:r>
              <a:rPr lang="zh-CN" altLang="en-US" sz="1600" dirty="0">
                <a:cs typeface="+mn-ea"/>
                <a:sym typeface="+mn-lt"/>
              </a:rPr>
              <a:t>-</a:t>
            </a:r>
            <a:r>
              <a:rPr lang="en-US" altLang="zh-CN" sz="1600" dirty="0">
                <a:cs typeface="+mn-ea"/>
                <a:sym typeface="+mn-lt"/>
              </a:rPr>
              <a:t>macro </a:t>
            </a:r>
            <a:r>
              <a:rPr lang="zh-CN" altLang="en-US" sz="1600" dirty="0">
                <a:cs typeface="+mn-ea"/>
                <a:sym typeface="+mn-lt"/>
              </a:rPr>
              <a:t>为 </a:t>
            </a:r>
            <a:r>
              <a:rPr lang="en-US" altLang="zh-CN" sz="1600" dirty="0">
                <a:cs typeface="+mn-ea"/>
                <a:sym typeface="+mn-lt"/>
              </a:rPr>
              <a:t>true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5903121" y="1573169"/>
            <a:ext cx="6096000" cy="4401205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proc_macro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/syn/quote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是必须引入的三个第三方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crate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proc_macro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TokenStream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quote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::quote;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syn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parse_macro_input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Expr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#[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proc_macro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 // </a:t>
            </a:r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定义过程宏必须使用该属性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print_expr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i="1" dirty="0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TokenStream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TokenStream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解析输入表达式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parse_macro_input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 input as Expr);</a:t>
            </a:r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生成新的代码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expanded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quote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//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todo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返回生成的代码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TokenStream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expanded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134" y="642039"/>
            <a:ext cx="2967645" cy="8180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2187" y="1849434"/>
            <a:ext cx="5526288" cy="367836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在 </a:t>
            </a:r>
            <a:r>
              <a:rPr lang="en-US" altLang="zh-CN" sz="1400" dirty="0">
                <a:cs typeface="+mn-ea"/>
                <a:sym typeface="+mn-lt"/>
              </a:rPr>
              <a:t>lib.rs </a:t>
            </a:r>
            <a:r>
              <a:rPr lang="zh-CN" altLang="en-US" sz="1400" dirty="0">
                <a:cs typeface="+mn-ea"/>
                <a:sym typeface="+mn-lt"/>
              </a:rPr>
              <a:t>中需要引入三个第三方库，然后把过程宏实现的代码结构写出来：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zh-CN" altLang="en-US" sz="1400" dirty="0">
                <a:cs typeface="+mn-ea"/>
                <a:sym typeface="+mn-lt"/>
              </a:rPr>
              <a:t>宏名叫 </a:t>
            </a:r>
            <a:r>
              <a:rPr lang="en-US" altLang="zh-CN" sz="1400" dirty="0">
                <a:cs typeface="+mn-ea"/>
                <a:sym typeface="+mn-lt"/>
              </a:rPr>
              <a:t>print_expr</a:t>
            </a:r>
            <a:r>
              <a:rPr lang="zh-CN" altLang="en-US" sz="1400" dirty="0">
                <a:cs typeface="+mn-ea"/>
                <a:sym typeface="+mn-lt"/>
              </a:rPr>
              <a:t>，所以该函数名也一样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zh-CN" altLang="en-US" sz="1400" dirty="0">
                <a:cs typeface="+mn-ea"/>
                <a:sym typeface="+mn-lt"/>
              </a:rPr>
              <a:t>该函数输入参数 </a:t>
            </a:r>
            <a:r>
              <a:rPr lang="en-US" altLang="zh-CN" sz="1400" dirty="0">
                <a:cs typeface="+mn-ea"/>
                <a:sym typeface="+mn-lt"/>
              </a:rPr>
              <a:t>input </a:t>
            </a:r>
            <a:r>
              <a:rPr lang="zh-CN" altLang="en-US" sz="1400" dirty="0">
                <a:cs typeface="+mn-ea"/>
                <a:sym typeface="+mn-lt"/>
              </a:rPr>
              <a:t>是 </a:t>
            </a:r>
            <a:r>
              <a:rPr lang="en-US" altLang="zh-CN" sz="1400" dirty="0">
                <a:cs typeface="+mn-ea"/>
                <a:sym typeface="+mn-lt"/>
              </a:rPr>
              <a:t>TokenSteam </a:t>
            </a:r>
            <a:r>
              <a:rPr lang="zh-CN" altLang="en-US" sz="1400" dirty="0">
                <a:cs typeface="+mn-ea"/>
                <a:sym typeface="+mn-lt"/>
              </a:rPr>
              <a:t>类型，返回也是同样类型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zh-CN" altLang="en-US" sz="1400" dirty="0">
                <a:cs typeface="+mn-ea"/>
                <a:sym typeface="+mn-lt"/>
              </a:rPr>
              <a:t>将</a:t>
            </a:r>
            <a:r>
              <a:rPr lang="en-US" altLang="zh-CN" sz="1400" dirty="0">
                <a:cs typeface="+mn-ea"/>
                <a:sym typeface="+mn-lt"/>
              </a:rPr>
              <a:t>input</a:t>
            </a:r>
            <a:r>
              <a:rPr lang="zh-CN" altLang="en-US" sz="1400" dirty="0">
                <a:cs typeface="+mn-ea"/>
                <a:sym typeface="+mn-lt"/>
              </a:rPr>
              <a:t> 转换为 </a:t>
            </a:r>
            <a:r>
              <a:rPr lang="en-US" altLang="zh-CN" sz="1400" dirty="0">
                <a:cs typeface="+mn-ea"/>
                <a:sym typeface="+mn-lt"/>
              </a:rPr>
              <a:t>syn </a:t>
            </a:r>
            <a:r>
              <a:rPr lang="zh-CN" altLang="en-US" sz="1400" dirty="0">
                <a:cs typeface="+mn-ea"/>
                <a:sym typeface="+mn-lt"/>
              </a:rPr>
              <a:t>库中定义的 </a:t>
            </a:r>
            <a:r>
              <a:rPr lang="en-US" altLang="zh-CN" sz="1400" dirty="0">
                <a:cs typeface="+mn-ea"/>
                <a:sym typeface="+mn-lt"/>
              </a:rPr>
              <a:t>Expr </a:t>
            </a:r>
            <a:r>
              <a:rPr lang="zh-CN" altLang="en-US" sz="1400" dirty="0">
                <a:cs typeface="+mn-ea"/>
                <a:sym typeface="+mn-lt"/>
              </a:rPr>
              <a:t>类型，传给 </a:t>
            </a:r>
            <a:r>
              <a:rPr lang="en-US" altLang="zh-CN" sz="1400" dirty="0">
                <a:cs typeface="+mn-ea"/>
                <a:sym typeface="+mn-lt"/>
              </a:rPr>
              <a:t>syn </a:t>
            </a:r>
            <a:r>
              <a:rPr lang="zh-CN" altLang="en-US" sz="1400" dirty="0">
                <a:cs typeface="+mn-ea"/>
                <a:sym typeface="+mn-lt"/>
              </a:rPr>
              <a:t>中定义的 </a:t>
            </a:r>
            <a:r>
              <a:rPr lang="en-US" altLang="zh-CN" sz="1400" dirty="0">
                <a:cs typeface="+mn-ea"/>
                <a:sym typeface="+mn-lt"/>
              </a:rPr>
              <a:t>parse_macro_input! </a:t>
            </a:r>
            <a:r>
              <a:rPr lang="zh-CN" altLang="en-US" sz="1400" dirty="0">
                <a:cs typeface="+mn-ea"/>
                <a:sym typeface="+mn-lt"/>
              </a:rPr>
              <a:t>宏，就可以将传入的 </a:t>
            </a:r>
            <a:r>
              <a:rPr lang="en-US" altLang="zh-CN" sz="1400" dirty="0">
                <a:cs typeface="+mn-ea"/>
                <a:sym typeface="+mn-lt"/>
              </a:rPr>
              <a:t>input </a:t>
            </a:r>
            <a:r>
              <a:rPr lang="zh-CN" altLang="en-US" sz="1400" dirty="0">
                <a:cs typeface="+mn-ea"/>
                <a:sym typeface="+mn-lt"/>
              </a:rPr>
              <a:t>按表达式类型来解析，得到的 </a:t>
            </a:r>
            <a:r>
              <a:rPr lang="en-US" altLang="zh-CN" sz="1400" dirty="0">
                <a:cs typeface="+mn-ea"/>
                <a:sym typeface="+mn-lt"/>
              </a:rPr>
              <a:t>expr </a:t>
            </a:r>
            <a:r>
              <a:rPr lang="zh-CN" altLang="en-US" sz="1400" dirty="0">
                <a:cs typeface="+mn-ea"/>
                <a:sym typeface="+mn-lt"/>
              </a:rPr>
              <a:t>变量，就是我们要操作的 </a:t>
            </a:r>
            <a:r>
              <a:rPr lang="en-US" altLang="zh-CN" sz="1400" dirty="0">
                <a:cs typeface="+mn-ea"/>
                <a:sym typeface="+mn-lt"/>
              </a:rPr>
              <a:t>syn </a:t>
            </a:r>
            <a:r>
              <a:rPr lang="zh-CN" altLang="en-US" sz="1400" dirty="0">
                <a:cs typeface="+mn-ea"/>
                <a:sym typeface="+mn-lt"/>
              </a:rPr>
              <a:t>定义的 </a:t>
            </a:r>
            <a:r>
              <a:rPr lang="en-US" altLang="zh-CN" sz="1400" dirty="0">
                <a:cs typeface="+mn-ea"/>
                <a:sym typeface="+mn-lt"/>
              </a:rPr>
              <a:t>AST </a:t>
            </a:r>
            <a:r>
              <a:rPr lang="zh-CN" altLang="en-US" sz="1400" dirty="0">
                <a:cs typeface="+mn-ea"/>
                <a:sym typeface="+mn-lt"/>
              </a:rPr>
              <a:t>类型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zh-CN" altLang="en-US" sz="1400" dirty="0">
                <a:cs typeface="+mn-ea"/>
                <a:sym typeface="+mn-lt"/>
              </a:rPr>
              <a:t>最后再使用 </a:t>
            </a:r>
            <a:r>
              <a:rPr lang="en-US" altLang="zh-CN" sz="1400" dirty="0">
                <a:cs typeface="+mn-ea"/>
                <a:sym typeface="+mn-lt"/>
              </a:rPr>
              <a:t>quote</a:t>
            </a:r>
            <a:r>
              <a:rPr lang="zh-CN" altLang="en-US" sz="1400" dirty="0">
                <a:cs typeface="+mn-ea"/>
                <a:sym typeface="+mn-lt"/>
              </a:rPr>
              <a:t>里定义的  </a:t>
            </a:r>
            <a:r>
              <a:rPr lang="en-US" altLang="zh-CN" sz="1400" dirty="0">
                <a:cs typeface="+mn-ea"/>
                <a:sym typeface="+mn-lt"/>
              </a:rPr>
              <a:t>quote! </a:t>
            </a:r>
            <a:r>
              <a:rPr lang="zh-CN" altLang="en-US" sz="1400" dirty="0">
                <a:cs typeface="+mn-ea"/>
                <a:sym typeface="+mn-lt"/>
              </a:rPr>
              <a:t>宏将我们解析修改后的 </a:t>
            </a:r>
            <a:r>
              <a:rPr lang="en-US" altLang="zh-CN" sz="1400" dirty="0">
                <a:cs typeface="+mn-ea"/>
                <a:sym typeface="+mn-lt"/>
              </a:rPr>
              <a:t>AST expanded </a:t>
            </a:r>
            <a:r>
              <a:rPr lang="zh-CN" altLang="en-US" sz="1400" dirty="0">
                <a:cs typeface="+mn-ea"/>
                <a:sym typeface="+mn-lt"/>
              </a:rPr>
              <a:t>模版代码，</a:t>
            </a:r>
            <a:r>
              <a:rPr lang="en-US" altLang="zh-CN" sz="1400" dirty="0">
                <a:cs typeface="+mn-ea"/>
                <a:sym typeface="+mn-lt"/>
              </a:rPr>
              <a:t> </a:t>
            </a:r>
            <a:r>
              <a:rPr lang="zh-CN" altLang="en-US" sz="1400" dirty="0">
                <a:cs typeface="+mn-ea"/>
                <a:sym typeface="+mn-lt"/>
              </a:rPr>
              <a:t>转为 </a:t>
            </a:r>
            <a:r>
              <a:rPr lang="en-US" altLang="zh-CN" sz="1400" dirty="0">
                <a:cs typeface="+mn-ea"/>
                <a:sym typeface="+mn-lt"/>
              </a:rPr>
              <a:t>TokenStream </a:t>
            </a:r>
            <a:r>
              <a:rPr lang="zh-CN" altLang="en-US" sz="1400" dirty="0">
                <a:cs typeface="+mn-ea"/>
                <a:sym typeface="+mn-lt"/>
              </a:rPr>
              <a:t>返回给编译器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57978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过程宏案例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9529" y="639254"/>
            <a:ext cx="5054461" cy="7875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接下来我们只需要完成</a:t>
            </a:r>
            <a:r>
              <a:rPr lang="en-US" altLang="zh-CN" sz="1600" dirty="0">
                <a:cs typeface="+mn-ea"/>
                <a:sym typeface="+mn-lt"/>
              </a:rPr>
              <a:t> quote! </a:t>
            </a:r>
            <a:r>
              <a:rPr lang="zh-CN" altLang="en-US" sz="1600" dirty="0">
                <a:cs typeface="+mn-ea"/>
                <a:sym typeface="+mn-lt"/>
              </a:rPr>
              <a:t>宏中的模版代码即可。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此时就应该用到我们之前实现的普通功能代码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4251723"/>
            <a:ext cx="5523722" cy="1346907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对比左边的功能代码和右边 </a:t>
            </a:r>
            <a:r>
              <a:rPr lang="en-US" altLang="zh-CN" sz="1400" dirty="0">
                <a:cs typeface="+mn-ea"/>
                <a:sym typeface="+mn-lt"/>
              </a:rPr>
              <a:t>quote! </a:t>
            </a:r>
            <a:r>
              <a:rPr lang="zh-CN" altLang="en-US" sz="1400" dirty="0">
                <a:cs typeface="+mn-ea"/>
                <a:sym typeface="+mn-lt"/>
              </a:rPr>
              <a:t>块中的代码，基本上相同</a:t>
            </a: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不同的地方在于左边代码具体的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1 </a:t>
            </a:r>
            <a:r>
              <a:rPr lang="zh-CN" altLang="en-US" sz="1400" dirty="0">
                <a:solidFill>
                  <a:srgbClr val="C678DD"/>
                </a:solidFill>
                <a:cs typeface="+mn-ea"/>
                <a:sym typeface="+mn-lt"/>
              </a:rPr>
              <a:t>+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2 * 3</a:t>
            </a:r>
            <a:r>
              <a:rPr lang="en-US" altLang="zh-CN" sz="1400" dirty="0">
                <a:cs typeface="+mn-ea"/>
                <a:sym typeface="+mn-lt"/>
              </a:rPr>
              <a:t> </a:t>
            </a:r>
            <a:r>
              <a:rPr lang="zh-CN" altLang="en-US" sz="1400" dirty="0">
                <a:cs typeface="+mn-ea"/>
                <a:sym typeface="+mn-lt"/>
              </a:rPr>
              <a:t>表达式，被 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#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400" dirty="0">
                <a:cs typeface="+mn-ea"/>
                <a:sym typeface="+mn-lt"/>
              </a:rPr>
              <a:t> </a:t>
            </a:r>
            <a:r>
              <a:rPr lang="zh-CN" altLang="en-US" sz="1400" dirty="0">
                <a:cs typeface="+mn-ea"/>
                <a:sym typeface="+mn-lt"/>
              </a:rPr>
              <a:t>代替</a:t>
            </a:r>
          </a:p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#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expr</a:t>
            </a:r>
            <a:r>
              <a:rPr lang="en-US" altLang="zh-CN" sz="1400" dirty="0">
                <a:cs typeface="+mn-ea"/>
                <a:sym typeface="+mn-lt"/>
              </a:rPr>
              <a:t> </a:t>
            </a:r>
            <a:r>
              <a:rPr lang="zh-CN" altLang="en-US" sz="1400" dirty="0">
                <a:cs typeface="+mn-ea"/>
                <a:sym typeface="+mn-lt"/>
              </a:rPr>
              <a:t>类似于声明宏的元变量，用于被替代</a:t>
            </a: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最终该过程宏在调用之后，生成跟原功能代码一样的代码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41B311-E920-45FC-BE8C-DD316551E4FA}"/>
              </a:ext>
            </a:extLst>
          </p:cNvPr>
          <p:cNvSpPr/>
          <p:nvPr/>
        </p:nvSpPr>
        <p:spPr>
          <a:xfrm>
            <a:off x="180722" y="1743609"/>
            <a:ext cx="5054461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代码示例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计算 </a:t>
            </a:r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1 + 2 * 3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的值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result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*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打印字符串 </a:t>
            </a:r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"1 + 2 * 3 = 7"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BD63C5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BD63C5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{:?}</a:t>
            </a:r>
            <a:r>
              <a:rPr lang="en-US" altLang="zh-CN" sz="1400" dirty="0">
                <a:solidFill>
                  <a:srgbClr val="CE9178"/>
                </a:solidFill>
                <a:cs typeface="+mn-ea"/>
                <a:sym typeface="+mn-lt"/>
              </a:rPr>
              <a:t> = 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{:?}</a:t>
            </a:r>
            <a:r>
              <a:rPr lang="en-US" altLang="zh-CN" sz="1400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BD63C5"/>
                </a:solidFill>
                <a:cs typeface="+mn-ea"/>
                <a:sym typeface="+mn-lt"/>
              </a:rPr>
              <a:t>stringify</a:t>
            </a:r>
            <a:r>
              <a:rPr lang="en-US" altLang="zh-CN" sz="1400" dirty="0">
                <a:solidFill>
                  <a:srgbClr val="BD63C5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* </a:t>
            </a:r>
            <a:r>
              <a:rPr lang="en-US" altLang="zh-CN" sz="1400" dirty="0">
                <a:solidFill>
                  <a:srgbClr val="B5CEA8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),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result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35EDDB-6E4C-4B99-AD45-A6C0549EEDCC}"/>
              </a:ext>
            </a:extLst>
          </p:cNvPr>
          <p:cNvSpPr/>
          <p:nvPr/>
        </p:nvSpPr>
        <p:spPr>
          <a:xfrm>
            <a:off x="5523722" y="928001"/>
            <a:ext cx="6325378" cy="50475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代码示例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en-US" altLang="zh-CN" sz="1400" dirty="0" err="1">
                <a:solidFill>
                  <a:srgbClr val="6A9955"/>
                </a:solidFill>
                <a:cs typeface="+mn-ea"/>
                <a:sym typeface="+mn-lt"/>
              </a:rPr>
              <a:t>proc_macro</a:t>
            </a:r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/syn/quote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是必须引入的三个第三方</a:t>
            </a:r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crate</a:t>
            </a:r>
            <a:endParaRPr lang="en-US" altLang="zh-CN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8C8C8"/>
                </a:solidFill>
                <a:cs typeface="+mn-ea"/>
                <a:sym typeface="+mn-lt"/>
              </a:rPr>
              <a:t>proc_macro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4EC9B0"/>
                </a:solidFill>
                <a:cs typeface="+mn-ea"/>
                <a:sym typeface="+mn-lt"/>
              </a:rPr>
              <a:t>TokenStream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quote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BD63C5"/>
                </a:solidFill>
                <a:cs typeface="+mn-ea"/>
                <a:sym typeface="+mn-lt"/>
              </a:rPr>
              <a:t>quote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syn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::{</a:t>
            </a:r>
            <a:r>
              <a:rPr lang="en-US" altLang="zh-CN" sz="1400" dirty="0" err="1">
                <a:solidFill>
                  <a:srgbClr val="C8C8C8"/>
                </a:solidFill>
                <a:cs typeface="+mn-ea"/>
                <a:sym typeface="+mn-lt"/>
              </a:rPr>
              <a:t>parse_macro_input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4EC9B0"/>
                </a:solidFill>
                <a:cs typeface="+mn-ea"/>
                <a:sym typeface="+mn-lt"/>
              </a:rPr>
              <a:t>Expr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};</a:t>
            </a:r>
          </a:p>
          <a:p>
            <a:b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#[</a:t>
            </a:r>
            <a:r>
              <a:rPr lang="en-US" altLang="zh-CN" sz="1400" dirty="0" err="1">
                <a:solidFill>
                  <a:srgbClr val="D4D4D4"/>
                </a:solidFill>
                <a:cs typeface="+mn-ea"/>
                <a:sym typeface="+mn-lt"/>
              </a:rPr>
              <a:t>proc_macro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]</a:t>
            </a:r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 //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定义过程宏必须使用该属性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pub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BD63C5"/>
                </a:solidFill>
                <a:cs typeface="+mn-ea"/>
                <a:sym typeface="+mn-lt"/>
              </a:rPr>
              <a:t>print_expr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7F7F7F"/>
                </a:solidFill>
                <a:cs typeface="+mn-ea"/>
                <a:sym typeface="+mn-lt"/>
              </a:rPr>
              <a:t>input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4EC9B0"/>
                </a:solidFill>
                <a:cs typeface="+mn-ea"/>
                <a:sym typeface="+mn-lt"/>
              </a:rPr>
              <a:t>TokenStream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 err="1">
                <a:solidFill>
                  <a:srgbClr val="4EC9B0"/>
                </a:solidFill>
                <a:cs typeface="+mn-ea"/>
                <a:sym typeface="+mn-lt"/>
              </a:rPr>
              <a:t>TokenStream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解析输入表达式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expr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400" dirty="0" err="1">
                <a:solidFill>
                  <a:srgbClr val="BD63C5"/>
                </a:solidFill>
                <a:cs typeface="+mn-ea"/>
                <a:sym typeface="+mn-lt"/>
              </a:rPr>
              <a:t>parse_macro_input</a:t>
            </a:r>
            <a:r>
              <a:rPr lang="en-US" altLang="zh-CN" sz="1400" dirty="0">
                <a:solidFill>
                  <a:srgbClr val="BD63C5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7F7F7F"/>
                </a:solidFill>
                <a:cs typeface="+mn-ea"/>
                <a:sym typeface="+mn-lt"/>
              </a:rPr>
              <a:t>input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as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4EC9B0"/>
                </a:solidFill>
                <a:cs typeface="+mn-ea"/>
                <a:sym typeface="+mn-lt"/>
              </a:rPr>
              <a:t>Expr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BD63C5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BD63C5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CE9178"/>
                </a:solidFill>
                <a:cs typeface="+mn-ea"/>
                <a:sym typeface="+mn-lt"/>
              </a:rPr>
              <a:t>"expand proc macro to generate </a:t>
            </a:r>
            <a:r>
              <a:rPr lang="en-US" altLang="zh-CN" sz="1400" dirty="0" err="1">
                <a:solidFill>
                  <a:srgbClr val="CE9178"/>
                </a:solidFill>
                <a:cs typeface="+mn-ea"/>
                <a:sym typeface="+mn-lt"/>
              </a:rPr>
              <a:t>print_expr</a:t>
            </a:r>
            <a:r>
              <a:rPr lang="en-US" altLang="zh-CN" sz="1400" dirty="0">
                <a:solidFill>
                  <a:srgbClr val="CE9178"/>
                </a:solidFill>
                <a:cs typeface="+mn-ea"/>
                <a:sym typeface="+mn-lt"/>
              </a:rPr>
              <a:t> code"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生成新代码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expanded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400" dirty="0">
                <a:solidFill>
                  <a:srgbClr val="BD63C5"/>
                </a:solidFill>
                <a:cs typeface="+mn-ea"/>
                <a:sym typeface="+mn-lt"/>
              </a:rPr>
              <a:t>quote!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    {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result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 = #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expr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 err="1">
                <a:solidFill>
                  <a:srgbClr val="C8C8C8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CE9178"/>
                </a:solidFill>
                <a:cs typeface="+mn-ea"/>
                <a:sym typeface="+mn-lt"/>
              </a:rPr>
              <a:t>"{} = {:?}"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C8C8C8"/>
                </a:solidFill>
                <a:cs typeface="+mn-ea"/>
                <a:sym typeface="+mn-lt"/>
              </a:rPr>
              <a:t>stringify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(#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expr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),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result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result</a:t>
            </a:r>
            <a:endParaRPr lang="en-US" altLang="zh-CN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    };</a:t>
            </a:r>
          </a:p>
          <a:p>
            <a:b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400" dirty="0">
                <a:solidFill>
                  <a:srgbClr val="6A9955"/>
                </a:solidFill>
                <a:cs typeface="+mn-ea"/>
                <a:sym typeface="+mn-lt"/>
              </a:rPr>
              <a:t>返回生成的代码</a:t>
            </a:r>
            <a:endParaRPr lang="zh-CN" altLang="en-US" sz="14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4EC9B0"/>
                </a:solidFill>
                <a:cs typeface="+mn-ea"/>
                <a:sym typeface="+mn-lt"/>
              </a:rPr>
              <a:t>TokenStream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from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C8C8C8"/>
                </a:solidFill>
                <a:cs typeface="+mn-ea"/>
                <a:sym typeface="+mn-lt"/>
              </a:rPr>
              <a:t>expanded</a:t>
            </a:r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57978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过程宏案例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2"/>
          <p:cNvSpPr/>
          <p:nvPr/>
        </p:nvSpPr>
        <p:spPr>
          <a:xfrm>
            <a:off x="314214" y="1450896"/>
            <a:ext cx="4925418" cy="139494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引入过程宏来调用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proc_func_demo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print_expr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print_expr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*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矩形 19"/>
          <p:cNvSpPr/>
          <p:nvPr/>
        </p:nvSpPr>
        <p:spPr>
          <a:xfrm>
            <a:off x="5916267" y="941657"/>
            <a:ext cx="4584632" cy="179770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当你编译这段代码时，会打印：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rgbClr val="ABB2BF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当你运行这段代码时，它将打印 </a:t>
            </a:r>
            <a:r>
              <a:rPr lang="en-US" altLang="zh-CN" sz="1600" dirty="0">
                <a:cs typeface="+mn-ea"/>
                <a:sym typeface="+mn-lt"/>
              </a:rPr>
              <a:t>“1 + 2 * 3 = 7”</a:t>
            </a:r>
            <a:r>
              <a:rPr lang="zh-CN" altLang="en-US" sz="1600" dirty="0">
                <a:cs typeface="+mn-ea"/>
                <a:sym typeface="+mn-lt"/>
              </a:rPr>
              <a:t>，并将 </a:t>
            </a:r>
            <a:r>
              <a:rPr lang="en-US" altLang="zh-CN" sz="1600" dirty="0">
                <a:cs typeface="+mn-ea"/>
                <a:sym typeface="+mn-lt"/>
              </a:rPr>
              <a:t>7 </a:t>
            </a:r>
            <a:r>
              <a:rPr lang="zh-CN" altLang="en-US" sz="1600" dirty="0">
                <a:cs typeface="+mn-ea"/>
                <a:sym typeface="+mn-lt"/>
              </a:rPr>
              <a:t>赋值给 </a:t>
            </a:r>
            <a:r>
              <a:rPr lang="en-US" altLang="zh-CN" sz="1600" dirty="0">
                <a:cs typeface="+mn-ea"/>
                <a:sym typeface="+mn-lt"/>
              </a:rPr>
              <a:t>y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327" y="818005"/>
            <a:ext cx="5811639" cy="437537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最终，在另外一个 </a:t>
            </a:r>
            <a:r>
              <a:rPr lang="en-US" altLang="zh-CN" sz="1600" dirty="0">
                <a:cs typeface="+mn-ea"/>
                <a:sym typeface="+mn-lt"/>
              </a:rPr>
              <a:t>crate </a:t>
            </a:r>
            <a:r>
              <a:rPr lang="zh-CN" altLang="en-US" sz="1600" dirty="0">
                <a:cs typeface="+mn-ea"/>
                <a:sym typeface="+mn-lt"/>
              </a:rPr>
              <a:t>的</a:t>
            </a:r>
            <a:r>
              <a:rPr lang="en-US" altLang="zh-CN" sz="1600" dirty="0">
                <a:cs typeface="+mn-ea"/>
                <a:sym typeface="+mn-lt"/>
              </a:rPr>
              <a:t>main </a:t>
            </a:r>
            <a:r>
              <a:rPr lang="zh-CN" altLang="en-US" sz="1600" dirty="0">
                <a:cs typeface="+mn-ea"/>
                <a:sym typeface="+mn-lt"/>
              </a:rPr>
              <a:t>函数中使用该过程宏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34" y="3903139"/>
            <a:ext cx="10611690" cy="1042085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通过这个示例看得出来，过程宏在编译期生成代码的时候可以执行 </a:t>
            </a:r>
            <a:r>
              <a:rPr lang="en-US" altLang="zh-CN" sz="1400" dirty="0">
                <a:cs typeface="+mn-ea"/>
                <a:sym typeface="+mn-lt"/>
              </a:rPr>
              <a:t>Rust</a:t>
            </a:r>
            <a:r>
              <a:rPr lang="zh-CN" altLang="en-US" sz="1400" dirty="0">
                <a:cs typeface="+mn-ea"/>
                <a:sym typeface="+mn-lt"/>
              </a:rPr>
              <a:t>代码，比如那个打印语句；而声明宏是无法做到这一点的。</a:t>
            </a: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所以，这是过程宏强大的地方。</a:t>
            </a:r>
          </a:p>
        </p:txBody>
      </p:sp>
      <p:sp>
        <p:nvSpPr>
          <p:cNvPr id="12" name="矩形 2"/>
          <p:cNvSpPr/>
          <p:nvPr/>
        </p:nvSpPr>
        <p:spPr>
          <a:xfrm>
            <a:off x="6001872" y="1312612"/>
            <a:ext cx="4927052" cy="33874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expand proc macro to generate print_expr code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3" name="矩形 2"/>
          <p:cNvSpPr/>
          <p:nvPr/>
        </p:nvSpPr>
        <p:spPr>
          <a:xfrm>
            <a:off x="6001872" y="3219220"/>
            <a:ext cx="4927052" cy="3105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400">
                <a:solidFill>
                  <a:srgbClr val="D9D9D9"/>
                </a:solidFill>
                <a:cs typeface="+mn-ea"/>
                <a:sym typeface="+mn-lt"/>
              </a:rPr>
              <a:t>“1 </a:t>
            </a:r>
            <a:r>
              <a:rPr lang="en-US" altLang="zh-CN" sz="1400" dirty="0">
                <a:solidFill>
                  <a:srgbClr val="D9D9D9"/>
                </a:solidFill>
                <a:cs typeface="+mn-ea"/>
                <a:sym typeface="+mn-lt"/>
              </a:rPr>
              <a:t>+ 2 * 3 </a:t>
            </a:r>
            <a:r>
              <a:rPr lang="en-US" altLang="zh-CN" sz="1400">
                <a:solidFill>
                  <a:srgbClr val="D9D9D9"/>
                </a:solidFill>
                <a:cs typeface="+mn-ea"/>
                <a:sym typeface="+mn-lt"/>
              </a:rPr>
              <a:t>= 7”</a:t>
            </a:r>
            <a:endParaRPr lang="en-US" altLang="zh-CN" sz="1400" b="0">
              <a:solidFill>
                <a:srgbClr val="D9D9D9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57978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三方库介绍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6327" y="818005"/>
            <a:ext cx="8779284" cy="437537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实现过程宏当前必须依赖三个第三方库：</a:t>
            </a:r>
            <a:r>
              <a:rPr lang="en-US" altLang="zh-CN" sz="1600" dirty="0">
                <a:cs typeface="+mn-ea"/>
                <a:sym typeface="+mn-lt"/>
              </a:rPr>
              <a:t>syn/quote/proc_macro2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0467" y="1331636"/>
            <a:ext cx="4280258" cy="2301827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这其中的原因在于：</a:t>
            </a:r>
            <a:r>
              <a:rPr lang="en-US" altLang="zh-CN" sz="1600" dirty="0">
                <a:cs typeface="+mn-ea"/>
                <a:sym typeface="+mn-lt"/>
              </a:rPr>
              <a:t>Rust</a:t>
            </a:r>
            <a:r>
              <a:rPr lang="zh-CN" altLang="en-US" sz="1600" dirty="0">
                <a:cs typeface="+mn-ea"/>
                <a:sym typeface="+mn-lt"/>
              </a:rPr>
              <a:t>语言还在不断发展，内部的 </a:t>
            </a:r>
            <a:r>
              <a:rPr lang="en-US" altLang="zh-CN" sz="1600" dirty="0">
                <a:cs typeface="+mn-ea"/>
                <a:sym typeface="+mn-lt"/>
              </a:rPr>
              <a:t>AST </a:t>
            </a:r>
            <a:r>
              <a:rPr lang="zh-CN" altLang="en-US" sz="1600" dirty="0">
                <a:cs typeface="+mn-ea"/>
                <a:sym typeface="+mn-lt"/>
              </a:rPr>
              <a:t>无法稳定，但是 </a:t>
            </a:r>
            <a:r>
              <a:rPr lang="en-US" altLang="zh-CN" sz="1600" dirty="0">
                <a:cs typeface="+mn-ea"/>
                <a:sym typeface="+mn-lt"/>
              </a:rPr>
              <a:t>TokenStream </a:t>
            </a:r>
            <a:r>
              <a:rPr lang="zh-CN" altLang="en-US" sz="1600" dirty="0">
                <a:cs typeface="+mn-ea"/>
                <a:sym typeface="+mn-lt"/>
              </a:rPr>
              <a:t>可以稳定，所以就通过 </a:t>
            </a:r>
            <a:r>
              <a:rPr lang="en-US" altLang="zh-CN" sz="1600" dirty="0">
                <a:cs typeface="+mn-ea"/>
                <a:sym typeface="+mn-lt"/>
              </a:rPr>
              <a:t>proc_macro </a:t>
            </a:r>
            <a:r>
              <a:rPr lang="zh-CN" altLang="en-US" sz="1600" dirty="0">
                <a:cs typeface="+mn-ea"/>
                <a:sym typeface="+mn-lt"/>
              </a:rPr>
              <a:t>库将 </a:t>
            </a:r>
            <a:r>
              <a:rPr lang="en-US" altLang="zh-CN" sz="1600" dirty="0">
                <a:cs typeface="+mn-ea"/>
                <a:sym typeface="+mn-lt"/>
              </a:rPr>
              <a:t>TokenStream </a:t>
            </a:r>
            <a:r>
              <a:rPr lang="zh-CN" altLang="en-US" sz="1600" dirty="0">
                <a:cs typeface="+mn-ea"/>
                <a:sym typeface="+mn-lt"/>
              </a:rPr>
              <a:t>的接口公开，而 </a:t>
            </a:r>
            <a:r>
              <a:rPr lang="en-US" altLang="zh-CN" sz="1600" dirty="0">
                <a:cs typeface="+mn-ea"/>
                <a:sym typeface="+mn-lt"/>
              </a:rPr>
              <a:t>proc_macro2 </a:t>
            </a:r>
            <a:r>
              <a:rPr lang="zh-CN" altLang="en-US" sz="1600" dirty="0">
                <a:cs typeface="+mn-ea"/>
                <a:sym typeface="+mn-lt"/>
              </a:rPr>
              <a:t>是对 </a:t>
            </a:r>
            <a:r>
              <a:rPr lang="en-US" altLang="zh-CN" sz="1600" dirty="0">
                <a:cs typeface="+mn-ea"/>
                <a:sym typeface="+mn-lt"/>
              </a:rPr>
              <a:t>proc_macro </a:t>
            </a:r>
            <a:r>
              <a:rPr lang="zh-CN" altLang="en-US" sz="1600" dirty="0">
                <a:cs typeface="+mn-ea"/>
                <a:sym typeface="+mn-lt"/>
              </a:rPr>
              <a:t>库的由一次封装，提供了稳定和方便操作的接口。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syn</a:t>
            </a:r>
            <a:r>
              <a:rPr lang="zh-CN" altLang="en-US" sz="1600" dirty="0">
                <a:cs typeface="+mn-ea"/>
                <a:sym typeface="+mn-lt"/>
              </a:rPr>
              <a:t>和</a:t>
            </a:r>
            <a:r>
              <a:rPr lang="en-US" altLang="zh-CN" sz="1600" dirty="0">
                <a:cs typeface="+mn-ea"/>
                <a:sym typeface="+mn-lt"/>
              </a:rPr>
              <a:t>quote</a:t>
            </a:r>
            <a:r>
              <a:rPr lang="zh-CN" altLang="en-US" sz="1600" dirty="0">
                <a:cs typeface="+mn-ea"/>
                <a:sym typeface="+mn-lt"/>
              </a:rPr>
              <a:t>，就在 </a:t>
            </a:r>
            <a:r>
              <a:rPr lang="en-US" altLang="zh-CN" sz="1600" dirty="0">
                <a:cs typeface="+mn-ea"/>
                <a:sym typeface="+mn-lt"/>
              </a:rPr>
              <a:t>proc_macro2 </a:t>
            </a:r>
            <a:r>
              <a:rPr lang="zh-CN" altLang="en-US" sz="1600" dirty="0">
                <a:cs typeface="+mn-ea"/>
                <a:sym typeface="+mn-lt"/>
              </a:rPr>
              <a:t>接口基础上，实现了一套第三方定义的稳定 </a:t>
            </a:r>
            <a:r>
              <a:rPr lang="en-US" altLang="zh-CN" sz="1600" dirty="0">
                <a:cs typeface="+mn-ea"/>
                <a:sym typeface="+mn-lt"/>
              </a:rPr>
              <a:t>AST </a:t>
            </a:r>
            <a:r>
              <a:rPr lang="zh-CN" altLang="en-US" sz="1600" dirty="0">
                <a:cs typeface="+mn-ea"/>
                <a:sym typeface="+mn-lt"/>
              </a:rPr>
              <a:t>类型和接口，供大家使用，目前已经成为编写过程宏的事实性标准库。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未来等 </a:t>
            </a:r>
            <a:r>
              <a:rPr lang="en-US" altLang="zh-CN" sz="1600" dirty="0">
                <a:cs typeface="+mn-ea"/>
                <a:sym typeface="+mn-lt"/>
              </a:rPr>
              <a:t>Rust</a:t>
            </a:r>
            <a:r>
              <a:rPr lang="zh-CN" altLang="en-US" sz="1600" dirty="0">
                <a:cs typeface="+mn-ea"/>
                <a:sym typeface="+mn-lt"/>
              </a:rPr>
              <a:t> 稳定了内部的 </a:t>
            </a:r>
            <a:r>
              <a:rPr lang="en-US" altLang="zh-CN" sz="1600" dirty="0">
                <a:cs typeface="+mn-ea"/>
                <a:sym typeface="+mn-lt"/>
              </a:rPr>
              <a:t>AST </a:t>
            </a:r>
            <a:r>
              <a:rPr lang="zh-CN" altLang="en-US" sz="1600" dirty="0">
                <a:cs typeface="+mn-ea"/>
                <a:sym typeface="+mn-lt"/>
              </a:rPr>
              <a:t>接口，这一套第三方库应该会完成它的历史使命。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7775" y="1502846"/>
            <a:ext cx="5958332" cy="2873211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b="0" u="none">
                <a:solidFill>
                  <a:srgbClr val="000000"/>
                </a:solidFill>
                <a:cs typeface="+mn-ea"/>
                <a:sym typeface="+mn-lt"/>
              </a:rPr>
              <a:t>syn </a:t>
            </a:r>
            <a:r>
              <a:rPr lang="zh-CN" altLang="en-US" sz="1200" b="0" u="none">
                <a:solidFill>
                  <a:srgbClr val="000000"/>
                </a:solidFill>
                <a:cs typeface="+mn-ea"/>
                <a:sym typeface="+mn-lt"/>
              </a:rPr>
              <a:t>库提供了以下一些接口（详情 </a:t>
            </a:r>
            <a:r>
              <a:rPr lang="en-US" altLang="zh-CN" sz="1200" b="0" u="sng">
                <a:solidFill>
                  <a:srgbClr val="000000"/>
                </a:solidFill>
                <a:cs typeface="+mn-ea"/>
                <a:sym typeface="+mn-lt"/>
              </a:rPr>
              <a:t>https://docs.rs/crate/syn/latest</a:t>
            </a:r>
            <a:r>
              <a:rPr lang="zh-CN" altLang="en-US" sz="1200" b="0" u="none">
                <a:solidFill>
                  <a:srgbClr val="000000"/>
                </a:solidFill>
                <a:cs typeface="+mn-ea"/>
                <a:sym typeface="+mn-lt"/>
              </a:rPr>
              <a:t>）：</a:t>
            </a:r>
            <a:endParaRPr lang="zh-CN" sz="1200" b="0" u="none">
              <a:solidFill>
                <a:srgbClr val="000000"/>
              </a:solidFill>
              <a:cs typeface="+mn-ea"/>
              <a:sym typeface="+mn-lt"/>
            </a:endParaRPr>
          </a:p>
          <a:p>
            <a:pPr marL="171450" indent="-171450" algn="l">
              <a:lnSpc>
                <a:spcPct val="150000"/>
              </a:lnSpc>
              <a:buChar char="•"/>
            </a:pPr>
            <a:r>
              <a:rPr lang="en-US" altLang="zh-CN" sz="1200">
                <a:solidFill>
                  <a:srgbClr val="000000"/>
                </a:solidFill>
                <a:cs typeface="+mn-ea"/>
                <a:sym typeface="+mn-lt"/>
              </a:rPr>
              <a:t>DataStruct</a:t>
            </a: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 sz="1200" b="0" u="none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 Syn 提供了一个完整的语法树，可以表示任何有效的 Rust 源代码。语法树以</a:t>
            </a:r>
            <a:r>
              <a:rPr lang="en-US" sz="1200" b="0" u="none">
                <a:solidFill>
                  <a:srgbClr val="000000"/>
                </a:solidFill>
                <a:cs typeface="+mn-ea"/>
                <a:sym typeface="+mn-lt"/>
              </a:rPr>
              <a:t> syn::File </a:t>
            </a: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为根，表示一个完整的源文件，但还有其他入口点对于过程宏可能会有用，包括</a:t>
            </a:r>
            <a:r>
              <a:rPr lang="en-US" sz="1200" b="0" u="none">
                <a:solidFill>
                  <a:srgbClr val="000000"/>
                </a:solidFill>
                <a:cs typeface="+mn-ea"/>
                <a:sym typeface="+mn-lt"/>
              </a:rPr>
              <a:t> syn::Item </a:t>
            </a: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sz="1200" b="0" u="none">
                <a:solidFill>
                  <a:srgbClr val="000000"/>
                </a:solidFill>
                <a:cs typeface="+mn-ea"/>
                <a:sym typeface="+mn-lt"/>
              </a:rPr>
              <a:t> syn::Expr </a:t>
            </a: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和</a:t>
            </a:r>
            <a:r>
              <a:rPr lang="en-US" sz="1200" b="0" u="none">
                <a:solidFill>
                  <a:srgbClr val="000000"/>
                </a:solidFill>
                <a:cs typeface="+mn-ea"/>
                <a:sym typeface="+mn-lt"/>
              </a:rPr>
              <a:t> syn::Type </a:t>
            </a: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  <a:p>
            <a:pPr marL="171450" indent="-171450" algn="l">
              <a:lnSpc>
                <a:spcPct val="150000"/>
              </a:lnSpc>
              <a:buChar char="•"/>
            </a:pPr>
            <a:r>
              <a:rPr lang="en-US" sz="1200" b="0" u="none">
                <a:solidFill>
                  <a:srgbClr val="000000"/>
                </a:solidFill>
                <a:cs typeface="+mn-ea"/>
                <a:sym typeface="+mn-lt"/>
              </a:rPr>
              <a:t>Derives</a:t>
            </a:r>
            <a:r>
              <a:rPr lang="zh-CN" altLang="en-US" sz="1200" b="0" u="none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对于派生宏来说，</a:t>
            </a:r>
            <a:r>
              <a:rPr lang="zh-CN" altLang="en-US" sz="1200" b="0" u="none">
                <a:solidFill>
                  <a:srgbClr val="000000"/>
                </a:solidFill>
                <a:cs typeface="+mn-ea"/>
                <a:sym typeface="+mn-lt"/>
              </a:rPr>
              <a:t>常用的</a:t>
            </a: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是</a:t>
            </a:r>
            <a:r>
              <a:rPr lang="en-US" sz="1200" b="0" u="none">
                <a:solidFill>
                  <a:srgbClr val="000000"/>
                </a:solidFill>
                <a:cs typeface="+mn-ea"/>
                <a:sym typeface="+mn-lt"/>
              </a:rPr>
              <a:t> syn::DeriveInput </a:t>
            </a: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，它是派生宏的三个合法输入项之一</a:t>
            </a:r>
            <a:r>
              <a:rPr lang="zh-CN" altLang="en-US" sz="1200" b="0" u="none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  <a:p>
            <a:pPr marL="171450" indent="-171450" algn="l">
              <a:lnSpc>
                <a:spcPct val="150000"/>
              </a:lnSpc>
              <a:buChar char="•"/>
            </a:pPr>
            <a:r>
              <a:rPr lang="en-US" sz="1200" b="0" u="none">
                <a:solidFill>
                  <a:srgbClr val="000000"/>
                </a:solidFill>
                <a:cs typeface="+mn-ea"/>
                <a:sym typeface="+mn-lt"/>
              </a:rPr>
              <a:t> Parsing </a:t>
            </a:r>
            <a:r>
              <a:rPr lang="zh-CN" altLang="en-US" sz="1200" b="0" u="none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Syn中的解析是建立在具有签名</a:t>
            </a:r>
            <a:r>
              <a:rPr lang="en-US" sz="1200" b="0" u="none">
                <a:solidFill>
                  <a:srgbClr val="000000"/>
                </a:solidFill>
                <a:cs typeface="+mn-ea"/>
                <a:sym typeface="+mn-lt"/>
              </a:rPr>
              <a:t> fn(ParseStream) -&gt; Result&lt;T&gt; </a:t>
            </a: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的解析器函数周围的。Syn定义的每个语法树节点都可以单独解析，并可用作自定义语法的构建块</a:t>
            </a:r>
          </a:p>
          <a:p>
            <a:pPr marL="171450" indent="-171450" algn="l">
              <a:lnSpc>
                <a:spcPct val="150000"/>
              </a:lnSpc>
              <a:buChar char="•"/>
            </a:pP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位置信息 </a:t>
            </a:r>
            <a:r>
              <a:rPr lang="zh-CN" altLang="en-US" sz="1200" b="0" u="none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 Syn解析的每个标记都与一个</a:t>
            </a:r>
            <a:r>
              <a:rPr lang="en-US" sz="1200" b="0" u="none">
                <a:solidFill>
                  <a:srgbClr val="000000"/>
                </a:solidFill>
                <a:cs typeface="+mn-ea"/>
                <a:sym typeface="+mn-lt"/>
              </a:rPr>
              <a:t> Span </a:t>
            </a:r>
            <a:r>
              <a:rPr lang="zh-CN" sz="1200" b="0" u="none">
                <a:solidFill>
                  <a:srgbClr val="000000"/>
                </a:solidFill>
                <a:cs typeface="+mn-ea"/>
                <a:sym typeface="+mn-lt"/>
              </a:rPr>
              <a:t>相关联，该标记跟踪到该标记源的行和列信息。这些跨度允许过程宏显示详细的错误消息，指向用户代码中的所有正确位置。</a:t>
            </a:r>
          </a:p>
          <a:p>
            <a:pPr marL="171450" indent="-171450" algn="l">
              <a:lnSpc>
                <a:spcPct val="150000"/>
              </a:lnSpc>
              <a:buChar char="•"/>
            </a:pPr>
            <a:r>
              <a:rPr lang="zh-CN" altLang="en-US" sz="1200">
                <a:solidFill>
                  <a:srgbClr val="000000"/>
                </a:solidFill>
                <a:cs typeface="+mn-ea"/>
                <a:sym typeface="+mn-lt"/>
              </a:rPr>
              <a:t>内置宏，比如 </a:t>
            </a:r>
            <a:r>
              <a:rPr lang="en-US" altLang="zh-CN" sz="1200">
                <a:solidFill>
                  <a:srgbClr val="000000"/>
                </a:solidFill>
                <a:cs typeface="+mn-ea"/>
                <a:sym typeface="+mn-lt"/>
              </a:rPr>
              <a:t>parse_macro_input!</a:t>
            </a:r>
            <a:r>
              <a:rPr lang="zh-CN" altLang="en-US" sz="1200">
                <a:solidFill>
                  <a:srgbClr val="000000"/>
                </a:solidFill>
                <a:cs typeface="+mn-ea"/>
                <a:sym typeface="+mn-lt"/>
              </a:rPr>
              <a:t> 宏，方便使用者解析 </a:t>
            </a:r>
            <a:r>
              <a:rPr lang="en-US" altLang="zh-CN" sz="1200">
                <a:solidFill>
                  <a:srgbClr val="000000"/>
                </a:solidFill>
                <a:cs typeface="+mn-ea"/>
                <a:sym typeface="+mn-lt"/>
              </a:rPr>
              <a:t>TokenSteam</a:t>
            </a:r>
            <a:r>
              <a:rPr lang="zh-CN" altLang="en-US" sz="1200">
                <a:solidFill>
                  <a:srgbClr val="000000"/>
                </a:solidFill>
                <a:cs typeface="+mn-ea"/>
                <a:sym typeface="+mn-lt"/>
              </a:rPr>
              <a:t>为 </a:t>
            </a:r>
            <a:r>
              <a:rPr lang="en-US" altLang="zh-CN" sz="1200">
                <a:solidFill>
                  <a:srgbClr val="000000"/>
                </a:solidFill>
                <a:cs typeface="+mn-ea"/>
                <a:sym typeface="+mn-lt"/>
              </a:rPr>
              <a:t>AST</a:t>
            </a:r>
            <a:endParaRPr lang="zh-CN" altLang="en-US" sz="1200" b="0" u="none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91649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过程宏案例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3181" y="635952"/>
            <a:ext cx="55435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cs typeface="+mn-ea"/>
                <a:sym typeface="+mn-lt"/>
              </a:rPr>
              <a:t>接下来，实现一个 </a:t>
            </a:r>
            <a:r>
              <a:rPr lang="en-US" altLang="zh-CN" sz="1600" dirty="0">
                <a:cs typeface="+mn-ea"/>
                <a:sym typeface="+mn-lt"/>
              </a:rPr>
              <a:t>Derive </a:t>
            </a:r>
            <a:r>
              <a:rPr lang="zh-CN" altLang="en-US" sz="1600" dirty="0">
                <a:cs typeface="+mn-ea"/>
                <a:sym typeface="+mn-lt"/>
              </a:rPr>
              <a:t>宏，库名为 </a:t>
            </a:r>
            <a:r>
              <a:rPr lang="en-US" altLang="zh-CN" sz="1600" dirty="0">
                <a:cs typeface="+mn-ea"/>
                <a:sym typeface="+mn-lt"/>
              </a:rPr>
              <a:t>proc_derive_demo</a:t>
            </a:r>
            <a:r>
              <a:rPr lang="zh-CN" altLang="en-US" sz="1600" dirty="0">
                <a:cs typeface="+mn-ea"/>
                <a:sym typeface="+mn-lt"/>
              </a:rPr>
              <a:t>：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99491" y="2862570"/>
            <a:ext cx="4556096" cy="276379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proc_derive_demo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ToString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#[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derive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ToString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Color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Red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Green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Blue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color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Color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Red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 err="1">
                <a:solidFill>
                  <a:srgbClr val="D19A66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color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7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407" y="646794"/>
            <a:ext cx="2996180" cy="8180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6327" y="894098"/>
            <a:ext cx="5659452" cy="608748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同样，在 </a:t>
            </a:r>
            <a:r>
              <a:rPr lang="en-US" altLang="zh-CN" sz="1600" dirty="0">
                <a:cs typeface="+mn-ea"/>
                <a:sym typeface="+mn-lt"/>
              </a:rPr>
              <a:t>Cargo.toml </a:t>
            </a:r>
            <a:r>
              <a:rPr lang="zh-CN" altLang="en-US" sz="1600" dirty="0">
                <a:cs typeface="+mn-ea"/>
                <a:sym typeface="+mn-lt"/>
              </a:rPr>
              <a:t>中指定 </a:t>
            </a:r>
            <a:r>
              <a:rPr lang="en-US" altLang="zh-CN" sz="1600" dirty="0">
                <a:cs typeface="+mn-ea"/>
                <a:sym typeface="+mn-lt"/>
              </a:rPr>
              <a:t>proc</a:t>
            </a:r>
            <a:r>
              <a:rPr lang="zh-CN" altLang="en-US" sz="1600" dirty="0">
                <a:cs typeface="+mn-ea"/>
                <a:sym typeface="+mn-lt"/>
              </a:rPr>
              <a:t>-</a:t>
            </a:r>
            <a:r>
              <a:rPr lang="en-US" altLang="zh-CN" sz="1600" dirty="0">
                <a:cs typeface="+mn-ea"/>
                <a:sym typeface="+mn-lt"/>
              </a:rPr>
              <a:t>macro </a:t>
            </a:r>
            <a:r>
              <a:rPr lang="zh-CN" altLang="en-US" sz="1600" dirty="0">
                <a:cs typeface="+mn-ea"/>
                <a:sym typeface="+mn-lt"/>
              </a:rPr>
              <a:t>为 </a:t>
            </a:r>
            <a:r>
              <a:rPr lang="en-US" altLang="zh-CN" sz="1600" dirty="0">
                <a:cs typeface="+mn-ea"/>
                <a:sym typeface="+mn-lt"/>
              </a:rPr>
              <a:t>true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1" name="矩形 7"/>
          <p:cNvSpPr/>
          <p:nvPr/>
        </p:nvSpPr>
        <p:spPr>
          <a:xfrm>
            <a:off x="275839" y="1512358"/>
            <a:ext cx="5288496" cy="58021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derive</a:t>
            </a:r>
            <a:r>
              <a:rPr lang="zh-CN" altLang="en-US" sz="1600" dirty="0">
                <a:cs typeface="+mn-ea"/>
                <a:sym typeface="+mn-lt"/>
              </a:rPr>
              <a:t>宏一般这样使用，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我们期望它为指定的枚举类型自动实现 </a:t>
            </a:r>
            <a:r>
              <a:rPr lang="en-US" altLang="zh-CN" sz="1600" dirty="0">
                <a:cs typeface="+mn-ea"/>
                <a:sym typeface="+mn-lt"/>
              </a:rPr>
              <a:t>to_string </a:t>
            </a:r>
            <a:r>
              <a:rPr lang="zh-CN" altLang="en-US" sz="1600" dirty="0">
                <a:cs typeface="+mn-ea"/>
                <a:sym typeface="+mn-lt"/>
              </a:rPr>
              <a:t>的方法代替我们手工实现</a:t>
            </a:r>
          </a:p>
        </p:txBody>
      </p:sp>
      <p:sp>
        <p:nvSpPr>
          <p:cNvPr id="12" name="矩形 5"/>
          <p:cNvSpPr/>
          <p:nvPr/>
        </p:nvSpPr>
        <p:spPr>
          <a:xfrm>
            <a:off x="5623501" y="2114843"/>
            <a:ext cx="5442605" cy="374760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创建过程宏模版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#[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proc_macro_derive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ToString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derive_to_string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i="1" dirty="0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TokenStream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TokenStream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输入项转换为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DeriveInput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类型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parse_macro_input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DeriveInput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这里根据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input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来创建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#variants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生成新的代码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expanded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quote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#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      // self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是枚举，这里需要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match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变体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                 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match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分支是不确定的，所以这里多项匹配的方式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                 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#(#variants)*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表示生成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#variants 0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次或多次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             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{#(#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variants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)*}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     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返回生成的代码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TokenStream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expanded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endParaRPr lang="en-US" altLang="zh-CN" sz="12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91649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过程宏案例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3181" y="635952"/>
            <a:ext cx="32308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cs typeface="+mn-ea"/>
                <a:sym typeface="+mn-lt"/>
              </a:rPr>
              <a:t>继续完善过程宏模版的主要逻辑</a:t>
            </a:r>
            <a:r>
              <a:rPr lang="zh-CN" altLang="en-US" sz="1600">
                <a:cs typeface="+mn-ea"/>
                <a:sym typeface="+mn-lt"/>
              </a:rPr>
              <a:t>：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09002" y="1093844"/>
            <a:ext cx="7266926" cy="506972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#[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proc_macro_derive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ToString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derive_to_string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i="1" dirty="0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TokenStream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TokenStream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解析输入项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parse_macro_input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as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DeriveInput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先获取枚举变量的名称，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input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已经是 语法树类型了，通过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ident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字段能拿到枚举名称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.ident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确保输入项是枚举，这里通过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input.data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获取其数据进行验证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input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.data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Enum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只匹配枚举数据，如果不是枚举则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panic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panic!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 dirty="0" err="1">
                <a:solidFill>
                  <a:srgbClr val="98C379"/>
                </a:solidFill>
                <a:cs typeface="+mn-ea"/>
                <a:sym typeface="+mn-lt"/>
              </a:rPr>
              <a:t>ToString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 can only be derived for </a:t>
            </a:r>
            <a:r>
              <a:rPr lang="en-US" altLang="zh-CN" sz="1200" dirty="0" err="1">
                <a:solidFill>
                  <a:srgbClr val="98C379"/>
                </a:solidFill>
                <a:cs typeface="+mn-ea"/>
                <a:sym typeface="+mn-lt"/>
              </a:rPr>
              <a:t>enums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生成每个变体的匹配分支，通过上一步拿到的枚举数据得到变体迭代生成后面要替换的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variants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variants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.variants.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iter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map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200" i="1" dirty="0">
                <a:solidFill>
                  <a:srgbClr val="E06C75"/>
                </a:solidFill>
                <a:cs typeface="+mn-ea"/>
                <a:sym typeface="+mn-lt"/>
              </a:rPr>
              <a:t>variant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variant_name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&amp;</a:t>
            </a:r>
            <a:r>
              <a:rPr lang="en-US" altLang="zh-CN" sz="1200" i="1" dirty="0" err="1">
                <a:solidFill>
                  <a:srgbClr val="E06C75"/>
                </a:solidFill>
                <a:cs typeface="+mn-ea"/>
                <a:sym typeface="+mn-lt"/>
              </a:rPr>
              <a:t>variant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.ident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这里生成每个变体的匹配分支，用于后面替换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       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Color::Red =&gt; String::from("Red"),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quote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{#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name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::#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variant_name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stringify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(#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variant_name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)),}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});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生成新的代码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expanded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quote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#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name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{#(#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variants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)*}}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}};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返回生成的代码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TokenStream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expanded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endParaRPr lang="en-US" altLang="zh-CN" sz="12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矩形 2"/>
          <p:cNvSpPr/>
          <p:nvPr/>
        </p:nvSpPr>
        <p:spPr>
          <a:xfrm>
            <a:off x="7782912" y="1312997"/>
            <a:ext cx="3728580" cy="23398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proc_derive_demo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ToString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#[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derive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ToString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Color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Red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Green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Blue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color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Color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Red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"Red"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color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2912" y="3880766"/>
            <a:ext cx="3758875" cy="532654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枚举</a:t>
            </a:r>
            <a:r>
              <a:rPr lang="en-US" altLang="zh-CN" sz="1600" dirty="0">
                <a:cs typeface="+mn-ea"/>
                <a:sym typeface="+mn-lt"/>
              </a:rPr>
              <a:t> Color </a:t>
            </a:r>
            <a:r>
              <a:rPr lang="zh-CN" altLang="en-US" sz="1600" dirty="0">
                <a:cs typeface="+mn-ea"/>
                <a:sym typeface="+mn-lt"/>
              </a:rPr>
              <a:t>是过程宏的输入</a:t>
            </a:r>
            <a:r>
              <a:rPr lang="en-US" altLang="zh-CN" sz="1600" dirty="0">
                <a:cs typeface="+mn-ea"/>
                <a:sym typeface="+mn-lt"/>
              </a:rPr>
              <a:t> input </a:t>
            </a:r>
            <a:r>
              <a:rPr lang="zh-CN" altLang="en-US" sz="1600" dirty="0">
                <a:cs typeface="+mn-ea"/>
                <a:sym typeface="+mn-lt"/>
              </a:rPr>
              <a:t>参数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91649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过程宏案例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7264" y="1613223"/>
            <a:ext cx="14681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cs typeface="+mn-ea"/>
                <a:sym typeface="+mn-lt"/>
              </a:rPr>
              <a:t>使用</a:t>
            </a:r>
            <a:r>
              <a:rPr lang="en-US" altLang="zh-CN" sz="1600" dirty="0">
                <a:cs typeface="+mn-ea"/>
                <a:sym typeface="+mn-lt"/>
              </a:rPr>
              <a:t> </a:t>
            </a:r>
            <a:r>
              <a:rPr lang="zh-CN" altLang="en-US" sz="1600" dirty="0">
                <a:cs typeface="+mn-ea"/>
                <a:sym typeface="+mn-lt"/>
              </a:rPr>
              <a:t>派生宏</a:t>
            </a:r>
            <a:r>
              <a:rPr lang="zh-CN" altLang="en-US" sz="1600">
                <a:cs typeface="+mn-ea"/>
                <a:sym typeface="+mn-lt"/>
              </a:rPr>
              <a:t>：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5889128" y="1166652"/>
            <a:ext cx="4499026" cy="36572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Color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Red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Green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Blue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Color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Color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Red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"Red"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Color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Green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"Green"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Color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Blue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"Blue"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color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Color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Red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"Red"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color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89128" y="700580"/>
            <a:ext cx="1911862" cy="46607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宏展开代码为：</a:t>
            </a:r>
          </a:p>
        </p:txBody>
      </p:sp>
      <p:sp>
        <p:nvSpPr>
          <p:cNvPr id="11" name="矩形 2"/>
          <p:cNvSpPr/>
          <p:nvPr/>
        </p:nvSpPr>
        <p:spPr>
          <a:xfrm>
            <a:off x="977264" y="1968737"/>
            <a:ext cx="3728580" cy="23024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proc_derive_demo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ToString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#[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derive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ToString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Color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Red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Green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Blue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color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Color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Red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"Red"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color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4" name="Right Arrow 3"/>
          <p:cNvSpPr/>
          <p:nvPr userDrawn="1"/>
        </p:nvSpPr>
        <p:spPr>
          <a:xfrm>
            <a:off x="4901431" y="2815613"/>
            <a:ext cx="819187" cy="608748"/>
          </a:xfrm>
          <a:prstGeom prst="rightArrow">
            <a:avLst/>
          </a:prstGeom>
          <a:solidFill>
            <a:schemeClr val="accent3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74971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如何编写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过程宏案例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3181" y="591493"/>
            <a:ext cx="55321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cs typeface="+mn-ea"/>
                <a:sym typeface="+mn-lt"/>
              </a:rPr>
              <a:t>同理，再实现一个 </a:t>
            </a:r>
            <a:r>
              <a:rPr lang="zh-CN" altLang="en-US" sz="1600">
                <a:cs typeface="+mn-ea"/>
                <a:sym typeface="+mn-lt"/>
              </a:rPr>
              <a:t>属性宏，用于为指定函数添加打印语句：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895233" y="3170761"/>
            <a:ext cx="4582392" cy="2793743"/>
            <a:chOff x="1639956" y="2750884"/>
            <a:chExt cx="4749088" cy="2793743"/>
          </a:xfrm>
        </p:grpSpPr>
        <p:sp>
          <p:nvSpPr>
            <p:cNvPr id="8" name="矩形 7"/>
            <p:cNvSpPr/>
            <p:nvPr/>
          </p:nvSpPr>
          <p:spPr>
            <a:xfrm>
              <a:off x="1662008" y="2750884"/>
              <a:ext cx="4216278" cy="7005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cs typeface="+mn-ea"/>
                  <a:sym typeface="+mn-lt"/>
                </a:rPr>
                <a:t>属性宏这样使用，会在编译时为标记的函数添加一个打印语句，打印函数的名字</a:t>
              </a:r>
              <a:r>
                <a:rPr lang="zh-CN" altLang="en-US" sz="1400">
                  <a:cs typeface="+mn-ea"/>
                  <a:sym typeface="+mn-lt"/>
                </a:rPr>
                <a:t>和参数；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639956" y="4844051"/>
              <a:ext cx="4749088" cy="7005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cs typeface="+mn-ea"/>
                  <a:sym typeface="+mn-lt"/>
                </a:rPr>
                <a:t>当调用 </a:t>
              </a:r>
              <a:r>
                <a:rPr lang="en-US" altLang="zh-CN" sz="1400" dirty="0">
                  <a:cs typeface="+mn-ea"/>
                  <a:sym typeface="+mn-lt"/>
                </a:rPr>
                <a:t>foo(1, 2) </a:t>
              </a:r>
              <a:r>
                <a:rPr lang="zh-CN" altLang="en-US" sz="1400" dirty="0">
                  <a:cs typeface="+mn-ea"/>
                  <a:sym typeface="+mn-lt"/>
                </a:rPr>
                <a:t>时，</a:t>
              </a:r>
              <a:endParaRPr lang="en-US" altLang="zh-CN" sz="1400" dirty="0"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cs typeface="+mn-ea"/>
                  <a:sym typeface="+mn-lt"/>
                </a:rPr>
                <a:t>它将打印 </a:t>
              </a:r>
              <a:r>
                <a:rPr lang="en-US" altLang="zh-CN" sz="1400" dirty="0">
                  <a:cs typeface="+mn-ea"/>
                  <a:sym typeface="+mn-lt"/>
                </a:rPr>
                <a:t>"foo was called with args: x = 1, y = 2"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684060" y="3667272"/>
              <a:ext cx="3472510" cy="116955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b="1" dirty="0">
                  <a:solidFill>
                    <a:srgbClr val="00B050"/>
                  </a:solidFill>
                  <a:cs typeface="+mn-ea"/>
                  <a:sym typeface="+mn-lt"/>
                </a:rPr>
                <a:t>代码示例</a:t>
              </a:r>
              <a:endParaRPr lang="en-US" altLang="zh-CN" sz="1400" b="1" dirty="0">
                <a:solidFill>
                  <a:srgbClr val="00B050"/>
                </a:solidFill>
                <a:cs typeface="+mn-ea"/>
                <a:sym typeface="+mn-lt"/>
              </a:endParaRPr>
            </a:p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#[</a:t>
              </a:r>
              <a:r>
                <a:rPr lang="en-US" altLang="zh-CN" sz="1400" dirty="0" err="1">
                  <a:solidFill>
                    <a:srgbClr val="ABB2BF"/>
                  </a:solidFill>
                  <a:cs typeface="+mn-ea"/>
                  <a:sym typeface="+mn-lt"/>
                </a:rPr>
                <a:t>log_args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]</a:t>
              </a:r>
            </a:p>
            <a:p>
              <a:r>
                <a:rPr lang="en-US" altLang="zh-CN" sz="1400" dirty="0" err="1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 dirty="0">
                  <a:solidFill>
                    <a:srgbClr val="61AFEF"/>
                  </a:solidFill>
                  <a:cs typeface="+mn-ea"/>
                  <a:sym typeface="+mn-lt"/>
                </a:rPr>
                <a:t>foo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 dirty="0">
                  <a:solidFill>
                    <a:srgbClr val="E06C75"/>
                  </a:solidFill>
                  <a:cs typeface="+mn-ea"/>
                  <a:sym typeface="+mn-lt"/>
                </a:rPr>
                <a:t>x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 dirty="0">
                  <a:solidFill>
                    <a:srgbClr val="E5C07B"/>
                  </a:solidFill>
                  <a:cs typeface="+mn-ea"/>
                  <a:sym typeface="+mn-lt"/>
                </a:rPr>
                <a:t>i32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400" dirty="0">
                  <a:solidFill>
                    <a:srgbClr val="E06C75"/>
                  </a:solidFill>
                  <a:cs typeface="+mn-ea"/>
                  <a:sym typeface="+mn-lt"/>
                </a:rPr>
                <a:t>y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 dirty="0">
                  <a:solidFill>
                    <a:srgbClr val="D19A66"/>
                  </a:solidFill>
                  <a:cs typeface="+mn-ea"/>
                  <a:sym typeface="+mn-lt"/>
                </a:rPr>
                <a:t>i32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) {</a:t>
              </a:r>
            </a:p>
            <a:p>
              <a:r>
                <a:rPr lang="en-US" altLang="zh-CN" sz="1400" i="1" dirty="0">
                  <a:solidFill>
                    <a:srgbClr val="7F848E"/>
                  </a:solidFill>
                  <a:cs typeface="+mn-ea"/>
                  <a:sym typeface="+mn-lt"/>
                </a:rPr>
                <a:t>    // ...</a:t>
              </a:r>
              <a:endParaRPr lang="en-US" altLang="zh-CN" sz="1400" dirty="0">
                <a:solidFill>
                  <a:srgbClr val="ABB2BF"/>
                </a:solidFill>
                <a:cs typeface="+mn-ea"/>
                <a:sym typeface="+mn-lt"/>
              </a:endParaRPr>
            </a:p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  <a:endParaRPr lang="en-US" altLang="zh-CN" sz="1400" b="0" dirty="0">
                <a:solidFill>
                  <a:srgbClr val="ABB2BF"/>
                </a:solidFill>
                <a:effectLst/>
                <a:cs typeface="+mn-ea"/>
                <a:sym typeface="+mn-lt"/>
              </a:endParaRPr>
            </a:p>
          </p:txBody>
        </p:sp>
      </p:grpSp>
      <p:pic>
        <p:nvPicPr>
          <p:cNvPr id="7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121" y="1402562"/>
            <a:ext cx="3015620" cy="8273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8258" y="549374"/>
            <a:ext cx="4982249" cy="606205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 dirty="0">
                <a:cs typeface="+mn-ea"/>
                <a:sym typeface="+mn-lt"/>
              </a:rPr>
              <a:t>在 </a:t>
            </a:r>
            <a:r>
              <a:rPr lang="en-US" altLang="zh-CN" sz="1600" dirty="0">
                <a:cs typeface="+mn-ea"/>
                <a:sym typeface="+mn-lt"/>
              </a:rPr>
              <a:t>Cargo.toml </a:t>
            </a:r>
            <a:r>
              <a:rPr lang="zh-CN" altLang="en-US" sz="1600" dirty="0">
                <a:cs typeface="+mn-ea"/>
                <a:sym typeface="+mn-lt"/>
              </a:rPr>
              <a:t>中指定 </a:t>
            </a:r>
            <a:r>
              <a:rPr lang="en-US" altLang="zh-CN" sz="1600" dirty="0">
                <a:cs typeface="+mn-ea"/>
                <a:sym typeface="+mn-lt"/>
              </a:rPr>
              <a:t>proc</a:t>
            </a:r>
            <a:r>
              <a:rPr lang="zh-CN" altLang="en-US" sz="1600" dirty="0">
                <a:cs typeface="+mn-ea"/>
                <a:sym typeface="+mn-lt"/>
              </a:rPr>
              <a:t>-</a:t>
            </a:r>
            <a:r>
              <a:rPr lang="en-US" altLang="zh-CN" sz="1600" dirty="0">
                <a:cs typeface="+mn-ea"/>
                <a:sym typeface="+mn-lt"/>
              </a:rPr>
              <a:t>macro </a:t>
            </a:r>
            <a:r>
              <a:rPr lang="zh-CN" altLang="en-US" sz="1600" dirty="0">
                <a:cs typeface="+mn-ea"/>
                <a:sym typeface="+mn-lt"/>
              </a:rPr>
              <a:t>为 </a:t>
            </a:r>
            <a:r>
              <a:rPr lang="en-US" altLang="zh-CN" sz="1600" dirty="0">
                <a:cs typeface="+mn-ea"/>
                <a:sym typeface="+mn-lt"/>
              </a:rPr>
              <a:t>true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44072F-7FE2-474E-9FE5-D66AAF4469F1}"/>
              </a:ext>
            </a:extLst>
          </p:cNvPr>
          <p:cNvSpPr/>
          <p:nvPr/>
        </p:nvSpPr>
        <p:spPr>
          <a:xfrm>
            <a:off x="253181" y="928678"/>
            <a:ext cx="6415077" cy="584775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代码示例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#[</a:t>
            </a:r>
            <a:r>
              <a:rPr lang="en-US" altLang="zh-CN" sz="1100" dirty="0" err="1">
                <a:solidFill>
                  <a:srgbClr val="D4D4D4"/>
                </a:solidFill>
                <a:cs typeface="+mn-ea"/>
                <a:sym typeface="+mn-lt"/>
              </a:rPr>
              <a:t>proc_macro_attribute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] 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使用专门的内置属性来定义属性宏</a:t>
            </a:r>
            <a:endParaRPr lang="en-US" altLang="zh-CN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100" dirty="0">
                <a:solidFill>
                  <a:srgbClr val="569CD6"/>
                </a:solidFill>
                <a:cs typeface="+mn-ea"/>
                <a:sym typeface="+mn-lt"/>
              </a:rPr>
              <a:t>pub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log_args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100" dirty="0">
                <a:solidFill>
                  <a:srgbClr val="7F7F7F"/>
                </a:solidFill>
                <a:cs typeface="+mn-ea"/>
                <a:sym typeface="+mn-lt"/>
              </a:rPr>
              <a:t>_</a:t>
            </a:r>
            <a:r>
              <a:rPr lang="en-US" altLang="zh-CN" sz="1100" dirty="0" err="1">
                <a:solidFill>
                  <a:srgbClr val="7F7F7F"/>
                </a:solidFill>
                <a:cs typeface="+mn-ea"/>
                <a:sym typeface="+mn-lt"/>
              </a:rPr>
              <a:t>attrs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100" dirty="0" err="1">
                <a:solidFill>
                  <a:srgbClr val="4EC9B0"/>
                </a:solidFill>
                <a:cs typeface="+mn-ea"/>
                <a:sym typeface="+mn-lt"/>
              </a:rPr>
              <a:t>TokenStream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100" dirty="0">
                <a:solidFill>
                  <a:srgbClr val="7F7F7F"/>
                </a:solidFill>
                <a:cs typeface="+mn-ea"/>
                <a:sym typeface="+mn-lt"/>
              </a:rPr>
              <a:t>item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100" dirty="0" err="1">
                <a:solidFill>
                  <a:srgbClr val="4EC9B0"/>
                </a:solidFill>
                <a:cs typeface="+mn-ea"/>
                <a:sym typeface="+mn-lt"/>
              </a:rPr>
              <a:t>TokenStream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) -&gt; </a:t>
            </a:r>
            <a:r>
              <a:rPr lang="en-US" altLang="zh-CN" sz="1100" dirty="0" err="1">
                <a:solidFill>
                  <a:srgbClr val="4EC9B0"/>
                </a:solidFill>
                <a:cs typeface="+mn-ea"/>
                <a:sym typeface="+mn-lt"/>
              </a:rPr>
              <a:t>TokenStream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解析函数 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item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代表指定函数项，将其转换为 </a:t>
            </a:r>
            <a:r>
              <a:rPr lang="en-US" altLang="zh-CN" sz="1100" dirty="0" err="1">
                <a:solidFill>
                  <a:srgbClr val="6A9955"/>
                </a:solidFill>
                <a:cs typeface="+mn-ea"/>
                <a:sym typeface="+mn-lt"/>
              </a:rPr>
              <a:t>ItemFn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类型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1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dirty="0" err="1">
                <a:solidFill>
                  <a:srgbClr val="569CD6"/>
                </a:solidFill>
                <a:cs typeface="+mn-ea"/>
                <a:sym typeface="+mn-lt"/>
              </a:rPr>
              <a:t>mut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u="sng" dirty="0">
                <a:solidFill>
                  <a:srgbClr val="C8C8C8"/>
                </a:solidFill>
                <a:cs typeface="+mn-ea"/>
                <a:sym typeface="+mn-lt"/>
              </a:rPr>
              <a:t>function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100" dirty="0" err="1">
                <a:solidFill>
                  <a:srgbClr val="BD63C5"/>
                </a:solidFill>
                <a:cs typeface="+mn-ea"/>
                <a:sym typeface="+mn-lt"/>
              </a:rPr>
              <a:t>parse_macro_input</a:t>
            </a:r>
            <a:r>
              <a:rPr lang="en-US" altLang="zh-CN" sz="1100" dirty="0">
                <a:solidFill>
                  <a:srgbClr val="BD63C5"/>
                </a:solidFill>
                <a:cs typeface="+mn-ea"/>
                <a:sym typeface="+mn-lt"/>
              </a:rPr>
              <a:t>!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100" dirty="0">
                <a:solidFill>
                  <a:srgbClr val="7F7F7F"/>
                </a:solidFill>
                <a:cs typeface="+mn-ea"/>
                <a:sym typeface="+mn-lt"/>
              </a:rPr>
              <a:t>item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dirty="0">
                <a:solidFill>
                  <a:srgbClr val="569CD6"/>
                </a:solidFill>
                <a:cs typeface="+mn-ea"/>
                <a:sym typeface="+mn-lt"/>
              </a:rPr>
              <a:t>as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dirty="0" err="1">
                <a:solidFill>
                  <a:srgbClr val="4EC9B0"/>
                </a:solidFill>
                <a:cs typeface="+mn-ea"/>
                <a:sym typeface="+mn-lt"/>
              </a:rPr>
              <a:t>ItemFn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获取函数名 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sig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字段代表 函数签名信息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1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fname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= &amp;</a:t>
            </a:r>
            <a:r>
              <a:rPr lang="en-US" altLang="zh-CN" sz="1100" u="sng" dirty="0" err="1">
                <a:solidFill>
                  <a:srgbClr val="C8C8C8"/>
                </a:solidFill>
                <a:cs typeface="+mn-ea"/>
                <a:sym typeface="+mn-lt"/>
              </a:rPr>
              <a:t>function</a:t>
            </a:r>
            <a:r>
              <a:rPr lang="en-US" altLang="zh-CN" sz="11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100" dirty="0" err="1">
                <a:solidFill>
                  <a:srgbClr val="DADADA"/>
                </a:solidFill>
                <a:cs typeface="+mn-ea"/>
                <a:sym typeface="+mn-lt"/>
              </a:rPr>
              <a:t>sig</a:t>
            </a:r>
            <a:r>
              <a:rPr lang="en-US" altLang="zh-CN" sz="11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100" dirty="0" err="1">
                <a:solidFill>
                  <a:srgbClr val="DADADA"/>
                </a:solidFill>
                <a:cs typeface="+mn-ea"/>
                <a:sym typeface="+mn-lt"/>
              </a:rPr>
              <a:t>ident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通过 </a:t>
            </a:r>
            <a:r>
              <a:rPr lang="en-US" altLang="zh-CN" sz="1100" dirty="0" err="1">
                <a:solidFill>
                  <a:srgbClr val="6A9955"/>
                </a:solidFill>
                <a:cs typeface="+mn-ea"/>
                <a:sym typeface="+mn-lt"/>
              </a:rPr>
              <a:t>sig.inputs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获取函数参数数组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[x: i32, y: 132]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，根据实际的参数个数去迭代，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    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组装为函数参数数组，方便后面生成打印语句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1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args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100" dirty="0" err="1">
                <a:solidFill>
                  <a:srgbClr val="4EC9B0"/>
                </a:solidFill>
                <a:cs typeface="+mn-ea"/>
                <a:sym typeface="+mn-lt"/>
              </a:rPr>
              <a:t>Vec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&lt;</a:t>
            </a:r>
            <a:r>
              <a:rPr lang="en-US" altLang="zh-CN" sz="1100" dirty="0">
                <a:solidFill>
                  <a:srgbClr val="4EC9B0"/>
                </a:solidFill>
                <a:cs typeface="+mn-ea"/>
                <a:sym typeface="+mn-lt"/>
              </a:rPr>
              <a:t>Ident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&gt; = </a:t>
            </a:r>
            <a:r>
              <a:rPr lang="en-US" altLang="zh-CN" sz="1100" u="sng" dirty="0" err="1">
                <a:solidFill>
                  <a:srgbClr val="C8C8C8"/>
                </a:solidFill>
                <a:cs typeface="+mn-ea"/>
                <a:sym typeface="+mn-lt"/>
              </a:rPr>
              <a:t>function</a:t>
            </a:r>
            <a:r>
              <a:rPr lang="en-US" altLang="zh-CN" sz="11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100" dirty="0" err="1">
                <a:solidFill>
                  <a:srgbClr val="DADADA"/>
                </a:solidFill>
                <a:cs typeface="+mn-ea"/>
                <a:sym typeface="+mn-lt"/>
              </a:rPr>
              <a:t>sig</a:t>
            </a:r>
            <a:r>
              <a:rPr lang="en-US" altLang="zh-CN" sz="11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100" dirty="0" err="1">
                <a:solidFill>
                  <a:srgbClr val="DADADA"/>
                </a:solidFill>
                <a:cs typeface="+mn-ea"/>
                <a:sym typeface="+mn-lt"/>
              </a:rPr>
              <a:t>inputs</a:t>
            </a:r>
            <a:r>
              <a:rPr lang="en-US" altLang="zh-CN" sz="11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iter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().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map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(|</a:t>
            </a:r>
            <a:r>
              <a:rPr lang="en-US" altLang="zh-CN" sz="1100" dirty="0" err="1">
                <a:solidFill>
                  <a:srgbClr val="7F7F7F"/>
                </a:solidFill>
                <a:cs typeface="+mn-ea"/>
                <a:sym typeface="+mn-lt"/>
              </a:rPr>
              <a:t>arg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| {</a:t>
            </a:r>
          </a:p>
          <a:p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            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下面三行是为了从 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AST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信息中获得具体参数名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D4D4D4"/>
                </a:solidFill>
                <a:cs typeface="+mn-ea"/>
                <a:sym typeface="+mn-lt"/>
              </a:rPr>
              <a:t>            </a:t>
            </a:r>
            <a:r>
              <a:rPr lang="en-US" altLang="zh-CN" sz="11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arg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100" dirty="0">
                <a:solidFill>
                  <a:srgbClr val="BD63C5"/>
                </a:solidFill>
                <a:cs typeface="+mn-ea"/>
                <a:sym typeface="+mn-lt"/>
              </a:rPr>
              <a:t>quote!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{ #</a:t>
            </a:r>
            <a:r>
              <a:rPr lang="en-US" altLang="zh-CN" sz="1100" dirty="0" err="1">
                <a:solidFill>
                  <a:srgbClr val="7F7F7F"/>
                </a:solidFill>
                <a:cs typeface="+mn-ea"/>
                <a:sym typeface="+mn-lt"/>
              </a:rPr>
              <a:t>arg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};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 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拿到参数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AST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枚举</a:t>
            </a:r>
            <a:r>
              <a:rPr lang="en-US" altLang="zh-CN" sz="1100" dirty="0" err="1">
                <a:solidFill>
                  <a:srgbClr val="6A9955"/>
                </a:solidFill>
                <a:cs typeface="+mn-ea"/>
                <a:sym typeface="+mn-lt"/>
              </a:rPr>
              <a:t>FnArg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，比如 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x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和它的类型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D4D4D4"/>
                </a:solidFill>
                <a:cs typeface="+mn-ea"/>
                <a:sym typeface="+mn-lt"/>
              </a:rPr>
              <a:t>            </a:t>
            </a:r>
            <a:r>
              <a:rPr lang="en-US" altLang="zh-CN" sz="11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arg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arg</a:t>
            </a:r>
            <a:r>
              <a:rPr lang="en-US" altLang="zh-CN" sz="11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to_string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();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 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将枚举转换为字符串 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x i32</a:t>
            </a:r>
            <a:endParaRPr lang="en-US" altLang="zh-CN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            </a:t>
            </a:r>
            <a:r>
              <a:rPr lang="en-US" altLang="zh-CN" sz="11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arg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arg</a:t>
            </a:r>
            <a:r>
              <a:rPr lang="en-US" altLang="zh-CN" sz="11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split_whitespace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().</a:t>
            </a:r>
            <a:r>
              <a:rPr lang="en-US" altLang="zh-CN" sz="1100" u="sng" dirty="0">
                <a:solidFill>
                  <a:srgbClr val="C8C8C8"/>
                </a:solidFill>
                <a:cs typeface="+mn-ea"/>
                <a:sym typeface="+mn-lt"/>
              </a:rPr>
              <a:t>next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().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unwrap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();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 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分离得到 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x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参数名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            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将 </a:t>
            </a:r>
            <a:r>
              <a:rPr lang="en-US" altLang="zh-CN" sz="1100" dirty="0" err="1">
                <a:solidFill>
                  <a:srgbClr val="6A9955"/>
                </a:solidFill>
                <a:cs typeface="+mn-ea"/>
                <a:sym typeface="+mn-lt"/>
              </a:rPr>
              <a:t>arg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字符串转为标识符，并标记位置信息方便调试宏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D4D4D4"/>
                </a:solidFill>
                <a:cs typeface="+mn-ea"/>
                <a:sym typeface="+mn-lt"/>
              </a:rPr>
              <a:t>            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syn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100" dirty="0">
                <a:solidFill>
                  <a:srgbClr val="4EC9B0"/>
                </a:solidFill>
                <a:cs typeface="+mn-ea"/>
                <a:sym typeface="+mn-lt"/>
              </a:rPr>
              <a:t>Ident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new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arg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proc_macro2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100" dirty="0">
                <a:solidFill>
                  <a:srgbClr val="4EC9B0"/>
                </a:solidFill>
                <a:cs typeface="+mn-ea"/>
                <a:sym typeface="+mn-lt"/>
              </a:rPr>
              <a:t>Span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call_site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())</a:t>
            </a:r>
          </a:p>
          <a:p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        }).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collect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原函数体内容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1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statements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100" dirty="0" err="1">
                <a:solidFill>
                  <a:srgbClr val="4EC9B0"/>
                </a:solidFill>
                <a:cs typeface="+mn-ea"/>
                <a:sym typeface="+mn-lt"/>
              </a:rPr>
              <a:t>Vec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&lt;</a:t>
            </a:r>
            <a:r>
              <a:rPr lang="en-US" altLang="zh-CN" sz="1100" dirty="0">
                <a:solidFill>
                  <a:srgbClr val="4EC9B0"/>
                </a:solidFill>
                <a:cs typeface="+mn-ea"/>
                <a:sym typeface="+mn-lt"/>
              </a:rPr>
              <a:t>TokenStream2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&gt; = </a:t>
            </a:r>
          </a:p>
          <a:p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100" u="sng" dirty="0" err="1">
                <a:solidFill>
                  <a:srgbClr val="C8C8C8"/>
                </a:solidFill>
                <a:cs typeface="+mn-ea"/>
                <a:sym typeface="+mn-lt"/>
              </a:rPr>
              <a:t>function</a:t>
            </a:r>
            <a:r>
              <a:rPr lang="en-US" altLang="zh-CN" sz="11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100" dirty="0" err="1">
                <a:solidFill>
                  <a:srgbClr val="DADADA"/>
                </a:solidFill>
                <a:cs typeface="+mn-ea"/>
                <a:sym typeface="+mn-lt"/>
              </a:rPr>
              <a:t>block</a:t>
            </a:r>
            <a:r>
              <a:rPr lang="en-US" altLang="zh-CN" sz="11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100" dirty="0" err="1">
                <a:solidFill>
                  <a:srgbClr val="DADADA"/>
                </a:solidFill>
                <a:cs typeface="+mn-ea"/>
                <a:sym typeface="+mn-lt"/>
              </a:rPr>
              <a:t>stmts</a:t>
            </a:r>
            <a:r>
              <a:rPr lang="en-US" altLang="zh-CN" sz="11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iter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().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map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(|</a:t>
            </a:r>
            <a:r>
              <a:rPr lang="en-US" altLang="zh-CN" sz="1100" dirty="0" err="1">
                <a:solidFill>
                  <a:srgbClr val="7F7F7F"/>
                </a:solidFill>
                <a:cs typeface="+mn-ea"/>
                <a:sym typeface="+mn-lt"/>
              </a:rPr>
              <a:t>stmt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| </a:t>
            </a:r>
            <a:r>
              <a:rPr lang="en-US" altLang="zh-CN" sz="1100" dirty="0">
                <a:solidFill>
                  <a:srgbClr val="BD63C5"/>
                </a:solidFill>
                <a:cs typeface="+mn-ea"/>
                <a:sym typeface="+mn-lt"/>
              </a:rPr>
              <a:t>quote!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(#</a:t>
            </a:r>
            <a:r>
              <a:rPr lang="en-US" altLang="zh-CN" sz="1100" dirty="0" err="1">
                <a:solidFill>
                  <a:srgbClr val="7F7F7F"/>
                </a:solidFill>
                <a:cs typeface="+mn-ea"/>
                <a:sym typeface="+mn-lt"/>
              </a:rPr>
              <a:t>stmt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)).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collect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增加新的打印内容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1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format_string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100" dirty="0">
                <a:solidFill>
                  <a:srgbClr val="BD63C5"/>
                </a:solidFill>
                <a:cs typeface="+mn-ea"/>
                <a:sym typeface="+mn-lt"/>
              </a:rPr>
              <a:t>format!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</a:p>
          <a:p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100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sz="1100" dirty="0">
                <a:solidFill>
                  <a:srgbClr val="569CD6"/>
                </a:solidFill>
                <a:cs typeface="+mn-ea"/>
                <a:sym typeface="+mn-lt"/>
              </a:rPr>
              <a:t>{}</a:t>
            </a:r>
            <a:r>
              <a:rPr lang="en-US" altLang="zh-CN" sz="1100" dirty="0">
                <a:solidFill>
                  <a:srgbClr val="CE9178"/>
                </a:solidFill>
                <a:cs typeface="+mn-ea"/>
                <a:sym typeface="+mn-lt"/>
              </a:rPr>
              <a:t> was called with args: </a:t>
            </a:r>
            <a:r>
              <a:rPr lang="en-US" altLang="zh-CN" sz="1100" dirty="0">
                <a:solidFill>
                  <a:srgbClr val="569CD6"/>
                </a:solidFill>
                <a:cs typeface="+mn-ea"/>
                <a:sym typeface="+mn-lt"/>
              </a:rPr>
              <a:t>{}</a:t>
            </a:r>
            <a:r>
              <a:rPr lang="en-US" altLang="zh-CN" sz="1100" dirty="0">
                <a:solidFill>
                  <a:srgbClr val="CE9178"/>
                </a:solidFill>
                <a:cs typeface="+mn-ea"/>
                <a:sym typeface="+mn-lt"/>
              </a:rPr>
              <a:t>"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100" dirty="0">
                <a:solidFill>
                  <a:srgbClr val="BD63C5"/>
                </a:solidFill>
                <a:cs typeface="+mn-ea"/>
                <a:sym typeface="+mn-lt"/>
              </a:rPr>
              <a:t>quote!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(#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fname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        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args</a:t>
            </a:r>
            <a:r>
              <a:rPr lang="en-US" altLang="zh-CN" sz="11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iter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().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map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(|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_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| </a:t>
            </a:r>
            <a:r>
              <a:rPr lang="en-US" altLang="zh-CN" sz="1100" dirty="0">
                <a:solidFill>
                  <a:srgbClr val="CE9178"/>
                </a:solidFill>
                <a:cs typeface="+mn-ea"/>
                <a:sym typeface="+mn-lt"/>
              </a:rPr>
              <a:t>"{}"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).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collect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::&lt;</a:t>
            </a:r>
            <a:r>
              <a:rPr lang="en-US" altLang="zh-CN" sz="1100" dirty="0" err="1">
                <a:solidFill>
                  <a:srgbClr val="4EC9B0"/>
                </a:solidFill>
                <a:cs typeface="+mn-ea"/>
                <a:sym typeface="+mn-lt"/>
              </a:rPr>
              <a:t>Vec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&lt;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_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&gt;&gt;().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join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100" dirty="0">
                <a:solidFill>
                  <a:srgbClr val="CE9178"/>
                </a:solidFill>
                <a:cs typeface="+mn-ea"/>
                <a:sym typeface="+mn-lt"/>
              </a:rPr>
              <a:t>", "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组装新的函数体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100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new_body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: </a:t>
            </a:r>
            <a:r>
              <a:rPr lang="en-US" altLang="zh-CN" sz="1100" dirty="0">
                <a:solidFill>
                  <a:srgbClr val="4EC9B0"/>
                </a:solidFill>
                <a:cs typeface="+mn-ea"/>
                <a:sym typeface="+mn-lt"/>
              </a:rPr>
              <a:t>TokenStream2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100" dirty="0">
                <a:solidFill>
                  <a:srgbClr val="BD63C5"/>
                </a:solidFill>
                <a:cs typeface="+mn-ea"/>
                <a:sym typeface="+mn-lt"/>
              </a:rPr>
              <a:t>quote!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{{</a:t>
            </a:r>
          </a:p>
          <a:p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            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println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!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(#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format_string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, #({</a:t>
            </a:r>
          </a:p>
          <a:p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                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format!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100" dirty="0">
                <a:solidFill>
                  <a:srgbClr val="CE9178"/>
                </a:solidFill>
                <a:cs typeface="+mn-ea"/>
                <a:sym typeface="+mn-lt"/>
              </a:rPr>
              <a:t>"{} = {:?}"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stringify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!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(#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args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), &amp;#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args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)},)*);</a:t>
            </a:r>
          </a:p>
          <a:p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            #(#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statements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)*}};</a:t>
            </a:r>
          </a:p>
          <a:p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使用新的函数体替换掉原来的函数体；</a:t>
            </a:r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block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字段代表函数体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100" u="sng" dirty="0" err="1">
                <a:solidFill>
                  <a:srgbClr val="C8C8C8"/>
                </a:solidFill>
                <a:cs typeface="+mn-ea"/>
                <a:sym typeface="+mn-lt"/>
              </a:rPr>
              <a:t>function</a:t>
            </a:r>
            <a:r>
              <a:rPr lang="en-US" altLang="zh-CN" sz="1100" dirty="0" err="1">
                <a:solidFill>
                  <a:srgbClr val="D4D4D4"/>
                </a:solidFill>
                <a:cs typeface="+mn-ea"/>
                <a:sym typeface="+mn-lt"/>
              </a:rPr>
              <a:t>.</a:t>
            </a:r>
            <a:r>
              <a:rPr lang="en-US" altLang="zh-CN" sz="1100" dirty="0" err="1">
                <a:solidFill>
                  <a:srgbClr val="DADADA"/>
                </a:solidFill>
                <a:cs typeface="+mn-ea"/>
                <a:sym typeface="+mn-lt"/>
              </a:rPr>
              <a:t>block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syn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parse2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100" dirty="0" err="1">
                <a:solidFill>
                  <a:srgbClr val="C8C8C8"/>
                </a:solidFill>
                <a:cs typeface="+mn-ea"/>
                <a:sym typeface="+mn-lt"/>
              </a:rPr>
              <a:t>new_body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).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expect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100" dirty="0">
                <a:solidFill>
                  <a:srgbClr val="CE9178"/>
                </a:solidFill>
                <a:cs typeface="+mn-ea"/>
                <a:sym typeface="+mn-lt"/>
              </a:rPr>
              <a:t>"Failed to parse"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100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sz="1100" dirty="0">
                <a:solidFill>
                  <a:srgbClr val="6A9955"/>
                </a:solidFill>
                <a:cs typeface="+mn-ea"/>
                <a:sym typeface="+mn-lt"/>
              </a:rPr>
              <a:t>返回生成的函数</a:t>
            </a:r>
            <a:endParaRPr lang="zh-CN" altLang="en-US" sz="1100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sz="1100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sz="1100" dirty="0" err="1">
                <a:solidFill>
                  <a:srgbClr val="4EC9B0"/>
                </a:solidFill>
                <a:cs typeface="+mn-ea"/>
                <a:sym typeface="+mn-lt"/>
              </a:rPr>
              <a:t>TokenStream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sz="1100" dirty="0">
                <a:solidFill>
                  <a:srgbClr val="C8C8C8"/>
                </a:solidFill>
                <a:cs typeface="+mn-ea"/>
                <a:sym typeface="+mn-lt"/>
              </a:rPr>
              <a:t>from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sz="1100" dirty="0">
                <a:solidFill>
                  <a:srgbClr val="BD63C5"/>
                </a:solidFill>
                <a:cs typeface="+mn-ea"/>
                <a:sym typeface="+mn-lt"/>
              </a:rPr>
              <a:t>quote!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{ #</a:t>
            </a:r>
            <a:r>
              <a:rPr lang="en-US" altLang="zh-CN" sz="1100" u="sng" dirty="0">
                <a:solidFill>
                  <a:srgbClr val="C8C8C8"/>
                </a:solidFill>
                <a:cs typeface="+mn-ea"/>
                <a:sym typeface="+mn-lt"/>
              </a:rPr>
              <a:t>function</a:t>
            </a:r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 })</a:t>
            </a:r>
          </a:p>
          <a:p>
            <a:r>
              <a:rPr lang="en-US" altLang="zh-CN" sz="1100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53181" y="96607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掌握过程宏的概念；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 </a:t>
            </a:r>
            <a:r>
              <a:rPr lang="en-US" altLang="zh-CN" sz="1800" dirty="0">
                <a:cs typeface="+mn-ea"/>
                <a:sym typeface="+mn-lt"/>
              </a:rPr>
              <a:t>Rust </a:t>
            </a:r>
            <a:r>
              <a:rPr lang="zh-CN" altLang="en-US" sz="1800" dirty="0">
                <a:cs typeface="+mn-ea"/>
                <a:sym typeface="+mn-lt"/>
              </a:rPr>
              <a:t>的过程宏的机制和编写方法；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53181" y="5458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kgdu0y5m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kgdu0y5m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kgdu0y5m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kgdu0y5m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kgdu0y5m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</TotalTime>
  <Words>3690</Words>
  <Application>Microsoft Office PowerPoint</Application>
  <PresentationFormat>自定义</PresentationFormat>
  <Paragraphs>314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过程宏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过程宏（仅限专业级）</dc:title>
  <dc:creator>fanyan (A)</dc:creator>
  <cp:lastModifiedBy>Zhangyandong (ben)</cp:lastModifiedBy>
  <cp:revision>16</cp:revision>
  <dcterms:created xsi:type="dcterms:W3CDTF">2023-10-18T07:31:59Z</dcterms:created>
  <dcterms:modified xsi:type="dcterms:W3CDTF">2024-11-20T02:36:08Z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(3)LTL8meVeipEOr76d4U+Chnr+w5agflAN5uTrf2EDCRdLM6C18Jih+oFDib1+fMV4Wst819XH
UHOX9mrIqTlPpYDcUHkqTwoxSqZtYotNuvIhVi/FqLHVu8RC9T2ySjopoW0YEJmlqJR6NHKB
Kd07/XdrCC/UVzwz44doaalkjLqY/pPSArG44dAuE69nLfqC0HZ1oQ147HOYN1/bLCogRYc/
Dn5dZ7vv47xEKXgZpw</vt:lpwstr>
  </property>
  <property fmtid="{D5CDD505-2E9C-101B-9397-08002B2CF9AE}" pid="3" name="_2015_ms_pID_7253431">
    <vt:lpwstr>uAydrFjz8bfJO/TzCIXjEEChxPpnLviDpyMN7r+yNxVz4J5u1mbucK
/5JfKOYK23eyIUQh0gdHhPiMilt5OjeqKfrmNjiYlHyeRvWhO+xyfsSdw6GtIuxX5JjwPna0
9gNL1DXDerfY+ASeXz5TF8alPakX1PytNyvAeG+vcDPtjItgt+jT7VEyqN1oiFsmStFH1OCW
8OUqV23bQfW06tXNW3mn3DaokmKl3RGt/o40</vt:lpwstr>
  </property>
  <property fmtid="{D5CDD505-2E9C-101B-9397-08002B2CF9AE}" pid="4" name="_2015_ms_pID_7253432">
    <vt:lpwstr>MA==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1697544692</vt:lpwstr>
  </property>
</Properties>
</file>