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  <p:sldMasterId id="2147483659" r:id="rId3"/>
    <p:sldMasterId id="2147483660" r:id="rId4"/>
    <p:sldMasterId id="2147483662" r:id="rId5"/>
  </p:sldMasterIdLst>
  <p:notesMasterIdLst>
    <p:notesMasterId r:id="rId16"/>
  </p:notesMasterIdLst>
  <p:handoutMasterIdLst>
    <p:handoutMasterId r:id="rId17"/>
  </p:handoutMasterIdLst>
  <p:sldIdLst>
    <p:sldId id="283" r:id="rId6"/>
    <p:sldId id="288" r:id="rId7"/>
    <p:sldId id="428" r:id="rId8"/>
    <p:sldId id="471" r:id="rId9"/>
    <p:sldId id="462" r:id="rId10"/>
    <p:sldId id="472" r:id="rId11"/>
    <p:sldId id="450" r:id="rId12"/>
    <p:sldId id="473" r:id="rId13"/>
    <p:sldId id="292" r:id="rId14"/>
    <p:sldId id="280" r:id="rId15"/>
  </p:sldIdLst>
  <p:sldSz cx="12196763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>
            <p14:sldId id="288"/>
          </p14:sldIdLst>
        </p14:section>
        <p14:section name="章节页" id="{FD05EE94-C931-8C4B-83A2-004B32AA1207}">
          <p14:sldIdLst>
            <p14:sldId id="428"/>
            <p14:sldId id="471"/>
            <p14:sldId id="462"/>
            <p14:sldId id="472"/>
            <p14:sldId id="450"/>
            <p14:sldId id="473"/>
            <p14:sldId id="292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pos="3701">
          <p15:clr>
            <a:srgbClr val="A4A3A4"/>
          </p15:clr>
        </p15:guide>
        <p15:guide id="2" orient="horz" pos="2159">
          <p15:clr>
            <a:srgbClr val="A4A3A4"/>
          </p15:clr>
        </p15:guide>
        <p15:guide id="3" pos="35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ziqiang (A)" initials="l(" lastIdx="33" clrIdx="0"/>
  <p:cmAuthor id="2000" name="gaoshang 00419539_MRJvMvEj" initials="authorId_AK20210901:AK20210901JXNSXO980865" lastIdx="1689022183" clrIdx="0"/>
  <p:cmAuthor id="2001" name="liziqiang 00556901_ERbuA7r6" initials="authorId_AK20210901:AK20210901JXNSXO4497046" lastIdx="169013106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00"/>
    <a:srgbClr val="E57B84"/>
    <a:srgbClr val="E6A8AD"/>
    <a:srgbClr val="E57984"/>
    <a:srgbClr val="FFFFFF"/>
    <a:srgbClr val="151515"/>
    <a:srgbClr val="C7000B"/>
    <a:srgbClr val="575756"/>
    <a:srgbClr val="DD4654"/>
    <a:srgbClr val="F3D2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83" autoAdjust="0"/>
    <p:restoredTop sz="93772" autoAdjust="0"/>
  </p:normalViewPr>
  <p:slideViewPr>
    <p:cSldViewPr snapToGrid="0" snapToObjects="1">
      <p:cViewPr varScale="1">
        <p:scale>
          <a:sx n="70" d="100"/>
          <a:sy n="70" d="100"/>
        </p:scale>
        <p:origin x="32" y="188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11/20/2024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11/20/2024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6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6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600" dirty="0">
              <a:solidFill>
                <a:srgbClr val="000000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7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600" dirty="0">
              <a:solidFill>
                <a:srgbClr val="000000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8866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10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154" y="-57144"/>
            <a:ext cx="12243078" cy="5625189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0363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0030"/>
            <a:ext cx="2256665" cy="4935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方正兰亭黑简体" panose="02000000000000000000" pitchFamily="2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0030"/>
            <a:ext cx="2256665" cy="4935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方正兰亭黑简体" panose="02000000000000000000" pitchFamily="2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75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200/16/46</a:t>
                </a: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199/0/11</a:t>
                </a: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800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方正兰亭黑简体" panose="02000000000000000000" pitchFamily="2" charset="-122"/>
                    <a:ea typeface="方正兰亭黑简体" panose="02000000000000000000" pitchFamily="2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54642"/>
              <a:ext cx="1982912" cy="3811978"/>
              <a:chOff x="12216278" y="3054642"/>
              <a:chExt cx="1982912" cy="3811978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234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90/79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120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0/15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54642"/>
                <a:ext cx="569387" cy="18007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方正兰亭黑简体" panose="02000000000000000000" pitchFamily="2" charset="-122"/>
                    <a:ea typeface="方正兰亭黑简体" panose="02000000000000000000" pitchFamily="2" charset="-122"/>
                  </a:rPr>
                  <a:t>辅助色</a:t>
                </a: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248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181/60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235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92/1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137/137/137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35/24/21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221</a:t>
                </a: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221/221</a:t>
                </a:r>
                <a:endParaRPr kumimoji="1" lang="en-US" altLang="zh-CN" sz="700" b="1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233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140/128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159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0/1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245</a:t>
                </a: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220/87</a:t>
                </a:r>
                <a:endParaRPr kumimoji="1" lang="en-US" altLang="zh-CN" sz="700" b="1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240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133/0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181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181/181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89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87/87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255</a:t>
                </a: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255/255</a:t>
                </a:r>
                <a:endParaRPr kumimoji="1" lang="en-US" altLang="zh-CN" sz="700" b="1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8" y="6321130"/>
            <a:ext cx="1269075" cy="27754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  <a:ea typeface="方正兰亭黑简体" panose="02000000000000000000" pitchFamily="2" charset="-122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  <a:ea typeface="方正兰亭黑简体" panose="02000000000000000000" pitchFamily="2" charset="-122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  <a:ea typeface="方正兰亭黑简体" panose="02000000000000000000" pitchFamily="2" charset="-122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+mn-lt"/>
              <a:ea typeface="方正兰亭黑简体" panose="02000000000000000000" pitchFamily="2" charset="-122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Microsoft YaHei" panose="020B0503020204020204" pitchFamily="3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Microsoft YaHei" panose="020B0503020204020204" pitchFamily="34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Microsoft YaHei" panose="020B0503020204020204" pitchFamily="34" charset="-122"/>
              </a:rPr>
              <a:t>每个组织，构建万物互联的智能世界。</a:t>
            </a: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方正兰亭黑简体" panose="02000000000000000000" pitchFamily="2" charset="-122"/>
              <a:cs typeface="Microsoft YaHei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8" y="5237637"/>
            <a:ext cx="1869596" cy="4088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方正兰亭黑简体" panose="02000000000000000000" pitchFamily="2" charset="-122"/>
          <a:cs typeface="Arial" panose="020B060402020202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948808" y="1066890"/>
            <a:ext cx="6559809" cy="690255"/>
          </a:xfrm>
        </p:spPr>
        <p:txBody>
          <a:bodyPr>
            <a:no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函数</a:t>
            </a:r>
          </a:p>
        </p:txBody>
      </p:sp>
      <p:sp>
        <p:nvSpPr>
          <p:cNvPr id="4" name="Text Placeholder 3"/>
          <p:cNvSpPr txBox="1"/>
          <p:nvPr/>
        </p:nvSpPr>
        <p:spPr>
          <a:xfrm>
            <a:off x="948808" y="6264112"/>
            <a:ext cx="2606870" cy="1366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kumimoji="1" lang="en-US" altLang="zh-CN" sz="1000" dirty="0">
                <a:cs typeface="+mn-ea"/>
                <a:sym typeface="+mn-lt"/>
              </a:rPr>
              <a:t>Security Level:</a:t>
            </a:r>
            <a:endParaRPr lang="en-US" sz="1000" dirty="0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01663" y="5858894"/>
            <a:ext cx="2794958" cy="888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4486">
        <p:fade/>
      </p:transition>
    </mc:Choice>
    <mc:Fallback xmlns="">
      <p:transition spd="med" advTm="4486">
        <p:fade/>
      </p:transition>
    </mc:Fallback>
  </mc:AlternateContent>
  <p:extLst>
    <p:ext uri="{3A86A75C-4F4B-4683-9AE1-C65F6400EC91}">
      <p14:laserTraceLst xmlns:p14="http://schemas.microsoft.com/office/powerpoint/2010/main">
        <p14:tracePtLst>
          <p14:tracePt t="3569" x="7381875" y="3100388"/>
          <p14:tracePt t="3577" x="7050088" y="3019425"/>
          <p14:tracePt t="3584" x="6650038" y="2913063"/>
          <p14:tracePt t="3592" x="6118225" y="2763838"/>
          <p14:tracePt t="3597" x="5548313" y="2544763"/>
          <p14:tracePt t="3606" x="4860925" y="2263775"/>
          <p14:tracePt t="3611" x="4141788" y="1951038"/>
          <p14:tracePt t="3618" x="3390900" y="1619250"/>
          <p14:tracePt t="3626" x="2689225" y="1250950"/>
          <p14:tracePt t="3633" x="2063750" y="906463"/>
          <p14:tracePt t="3641" x="1538288" y="574675"/>
          <p14:tracePt t="3646" x="1101725" y="274638"/>
          <p14:tracePt t="3653" x="793750" y="31750"/>
        </p14:tracePtLst>
      </p14:laserTrace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关于本章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377391"/>
            <a:ext cx="10733557" cy="87813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章节目标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通过本章节的学习，掌握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Rust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函数、函数指针、方法的概念以及常用用法。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29175" y="1811383"/>
            <a:ext cx="90658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29175" y="3243628"/>
            <a:ext cx="207366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729175" y="3257130"/>
            <a:ext cx="4196421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433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cs typeface="+mn-ea"/>
                <a:sym typeface="+mn-lt"/>
              </a:rPr>
              <a:t>函数的概念的用法；</a:t>
            </a:r>
            <a:endParaRPr lang="en-US" altLang="zh-CN" dirty="0">
              <a:cs typeface="+mn-ea"/>
              <a:sym typeface="+mn-lt"/>
            </a:endParaRPr>
          </a:p>
          <a:p>
            <a:pPr marL="35433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cs typeface="+mn-ea"/>
                <a:sym typeface="+mn-lt"/>
              </a:rPr>
              <a:t>方法的声明和使用；</a:t>
            </a:r>
            <a:endParaRPr lang="en-US" altLang="zh-CN" dirty="0">
              <a:cs typeface="+mn-ea"/>
              <a:sym typeface="+mn-lt"/>
            </a:endParaRPr>
          </a:p>
          <a:p>
            <a:pPr marL="35433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cs typeface="+mn-ea"/>
                <a:sym typeface="+mn-lt"/>
              </a:rPr>
              <a:t>常量函数；</a:t>
            </a:r>
            <a:endParaRPr lang="en-US" altLang="zh-CN" dirty="0"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4926" y="2795455"/>
            <a:ext cx="2276585" cy="4649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cs typeface="+mn-ea"/>
                <a:sym typeface="+mn-lt"/>
              </a:rPr>
              <a:t>本章预期掌握知识点</a:t>
            </a:r>
            <a:endParaRPr lang="en-US" altLang="zh-CN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22092" y="977133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447"/>
    </mc:Choice>
    <mc:Fallback xmlns="">
      <p:transition spd="slow" advTm="12447"/>
    </mc:Fallback>
  </mc:AlternateContent>
  <p:extLst>
    <p:ext uri="{3A86A75C-4F4B-4683-9AE1-C65F6400EC91}">
      <p14:laserTraceLst xmlns:p14="http://schemas.microsoft.com/office/powerpoint/2010/main">
        <p14:tracePtLst>
          <p14:tracePt t="11246" x="6843713" y="3713163"/>
          <p14:tracePt t="11252" x="6737350" y="3663950"/>
          <p14:tracePt t="11262" x="6580188" y="3581400"/>
          <p14:tracePt t="11267" x="6362700" y="3476625"/>
          <p14:tracePt t="11274" x="6118225" y="3357563"/>
          <p14:tracePt t="11281" x="5848350" y="3232150"/>
          <p14:tracePt t="11288" x="5573713" y="3070225"/>
          <p14:tracePt t="11296" x="5299075" y="2906713"/>
          <p14:tracePt t="11302" x="5041900" y="2732088"/>
          <p14:tracePt t="11308" x="4767263" y="2551113"/>
          <p14:tracePt t="11315" x="4554538" y="2381250"/>
          <p14:tracePt t="11324" x="4365625" y="2225675"/>
          <p14:tracePt t="11331" x="4197350" y="2068513"/>
          <p14:tracePt t="11337" x="4052888" y="1925638"/>
          <p14:tracePt t="11344" x="3922713" y="1787525"/>
          <p14:tracePt t="11350" x="3829050" y="1693863"/>
          <p14:tracePt t="11358" x="3759200" y="1600200"/>
          <p14:tracePt t="11365" x="3684588" y="1493838"/>
          <p14:tracePt t="11372" x="3622675" y="1387475"/>
          <p14:tracePt t="11381" x="3578225" y="1281113"/>
          <p14:tracePt t="11388" x="3540125" y="1181100"/>
          <p14:tracePt t="11392" x="3509963" y="1068388"/>
          <p14:tracePt t="11399" x="3497263" y="1000125"/>
          <p14:tracePt t="11406" x="3490913" y="987425"/>
          <p14:tracePt t="11653" x="3359150" y="987425"/>
          <p14:tracePt t="11659" x="3121025" y="974725"/>
          <p14:tracePt t="11665" x="2871788" y="919163"/>
          <p14:tracePt t="11672" x="2595563" y="857250"/>
          <p14:tracePt t="11680" x="2339975" y="781050"/>
          <p14:tracePt t="11686" x="2046288" y="650875"/>
          <p14:tracePt t="11692" x="1827213" y="531813"/>
          <p14:tracePt t="11700" x="1631950" y="438150"/>
          <p14:tracePt t="11706" x="1457325" y="325438"/>
          <p14:tracePt t="11715" x="1325563" y="244475"/>
          <p14:tracePt t="11721" x="1225550" y="168275"/>
          <p14:tracePt t="11730" x="1131888" y="112713"/>
          <p14:tracePt t="11735" x="1050925" y="50800"/>
        </p14:tracePtLst>
      </p14:laserTraceLst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624474" y="0"/>
            <a:ext cx="36000" cy="6840000"/>
          </a:xfrm>
          <a:prstGeom prst="rect">
            <a:avLst/>
          </a:prstGeom>
          <a:gradFill>
            <a:gsLst>
              <a:gs pos="4000">
                <a:schemeClr val="tx2">
                  <a:lumMod val="85000"/>
                </a:schemeClr>
              </a:gs>
              <a:gs pos="54000">
                <a:schemeClr val="tx2">
                  <a:lumMod val="85000"/>
                </a:schemeClr>
              </a:gs>
              <a:gs pos="100000">
                <a:schemeClr val="tx2">
                  <a:lumMod val="85000"/>
                  <a:alpha val="7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目录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647054"/>
            <a:ext cx="10733557" cy="4690459"/>
          </a:xfrm>
        </p:spPr>
        <p:txBody>
          <a:bodyPr/>
          <a:lstStyle/>
          <a:p>
            <a:pPr marL="354965" indent="-342900">
              <a:lnSpc>
                <a:spcPct val="150000"/>
              </a:lnSpc>
              <a:buAutoNum type="arabicPlain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函数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354965" indent="-342900">
              <a:lnSpc>
                <a:spcPct val="150000"/>
              </a:lnSpc>
              <a:buAutoNum type="arabicPlain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方法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354965" indent="-342900">
              <a:lnSpc>
                <a:spcPct val="150000"/>
              </a:lnSpc>
              <a:buAutoNum type="arabicPlain" startAt="3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常量函数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29175" y="1031243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91591" y="143841"/>
            <a:ext cx="10740640" cy="615021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函数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概念和用法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91590" y="3115668"/>
            <a:ext cx="7314075" cy="35394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被调用函数定义在调用函数之前或者之后都可以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assert_eq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add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assert_eq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add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声明并定义了一个函数，声明一组输入变量作为参数，多个参数使用逗号分隔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函数完成后将带有输出类型的结果值返回给调用者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add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if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&gt;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提前返回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return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-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函数的返回值等同于函数体最后一个表达式的值或者使用 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return 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关键字和指定值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+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y</a:t>
            </a:r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91591" y="634919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291590" y="634919"/>
            <a:ext cx="7621703" cy="235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函数使用关键字 </a:t>
            </a:r>
            <a:r>
              <a:rPr lang="en-US" altLang="zh-CN" sz="1400" dirty="0" err="1">
                <a:cs typeface="+mn-ea"/>
                <a:sym typeface="+mn-lt"/>
              </a:rPr>
              <a:t>fn</a:t>
            </a:r>
            <a:r>
              <a:rPr lang="en-US" altLang="zh-CN" sz="1400" dirty="0">
                <a:cs typeface="+mn-ea"/>
                <a:sym typeface="+mn-lt"/>
              </a:rPr>
              <a:t> </a:t>
            </a:r>
            <a:r>
              <a:rPr lang="zh-CN" altLang="en-US" sz="1400" dirty="0">
                <a:cs typeface="+mn-ea"/>
                <a:sym typeface="+mn-lt"/>
              </a:rPr>
              <a:t>声明，由一个块表达式以及一个名称和一组参数组成，其中除了名称，其他的都是可选的。</a:t>
            </a:r>
            <a:endParaRPr lang="en-US" altLang="zh-CN" sz="1400" dirty="0"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>
                <a:cs typeface="+mn-ea"/>
                <a:sym typeface="+mn-lt"/>
              </a:rPr>
              <a:t>函数签名中每个输入参数须指明类型；</a:t>
            </a:r>
            <a:endParaRPr lang="en-US" altLang="zh-CN" sz="1400" dirty="0"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>
                <a:cs typeface="+mn-ea"/>
                <a:sym typeface="+mn-lt"/>
              </a:rPr>
              <a:t>返回值需要在箭头（</a:t>
            </a:r>
            <a:r>
              <a:rPr lang="en-US" altLang="zh-CN" sz="1400" dirty="0">
                <a:cs typeface="+mn-ea"/>
                <a:sym typeface="+mn-lt"/>
              </a:rPr>
              <a:t>-&gt;</a:t>
            </a:r>
            <a:r>
              <a:rPr lang="zh-CN" altLang="en-US" sz="1400" dirty="0">
                <a:cs typeface="+mn-ea"/>
                <a:sym typeface="+mn-lt"/>
              </a:rPr>
              <a:t>）后声明它的类型；</a:t>
            </a:r>
            <a:endParaRPr lang="en-US" altLang="zh-CN" sz="1400" dirty="0"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>
                <a:cs typeface="+mn-ea"/>
                <a:sym typeface="+mn-lt"/>
              </a:rPr>
              <a:t>函数体是块表达式；</a:t>
            </a:r>
            <a:endParaRPr lang="en-US" altLang="zh-CN" sz="1400" dirty="0"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>
                <a:cs typeface="+mn-ea"/>
                <a:sym typeface="+mn-lt"/>
              </a:rPr>
              <a:t>函数不能重复定义（比如有相同的函数名但是不同的参数列表），函数的声明和定义是一起完成的；</a:t>
            </a:r>
            <a:endParaRPr lang="en-US" altLang="zh-CN" sz="1400" dirty="0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040041" y="758862"/>
            <a:ext cx="2992190" cy="30777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chemeClr val="accent2"/>
                </a:solidFill>
                <a:cs typeface="+mn-ea"/>
                <a:sym typeface="+mn-lt"/>
              </a:rPr>
              <a:t>错误示例</a:t>
            </a:r>
            <a:endParaRPr lang="en-US" altLang="zh-CN" sz="1400" b="1" dirty="0">
              <a:solidFill>
                <a:schemeClr val="accent2"/>
              </a:solidFill>
              <a:cs typeface="+mn-ea"/>
              <a:sym typeface="+mn-lt"/>
            </a:endParaRPr>
          </a:p>
          <a:p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add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add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b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add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// ...</a:t>
            </a:r>
            <a:endParaRPr lang="en-US" altLang="zh-CN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错误：重复定义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add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// ...</a:t>
            </a:r>
            <a:endParaRPr lang="en-US" altLang="zh-CN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错误：重复定义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add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z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// ...</a:t>
            </a:r>
            <a:endParaRPr lang="en-US" altLang="zh-CN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2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3293" y="4293707"/>
            <a:ext cx="3647728" cy="2361391"/>
          </a:xfrm>
          <a:prstGeom prst="rect">
            <a:avLst/>
          </a:prstGeom>
        </p:spPr>
      </p:pic>
      <p:sp>
        <p:nvSpPr>
          <p:cNvPr id="4" name="下箭头 3"/>
          <p:cNvSpPr/>
          <p:nvPr/>
        </p:nvSpPr>
        <p:spPr>
          <a:xfrm>
            <a:off x="9311644" y="3933892"/>
            <a:ext cx="425513" cy="262551"/>
          </a:xfrm>
          <a:prstGeom prst="downArrow">
            <a:avLst/>
          </a:prstGeom>
          <a:solidFill>
            <a:schemeClr val="accent3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879"/>
    </mc:Choice>
    <mc:Fallback xmlns="">
      <p:transition spd="slow" advTm="7487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70851" y="168744"/>
            <a:ext cx="10740640" cy="615021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关联函数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概念和用法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70851" y="719025"/>
            <a:ext cx="10740640" cy="10618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所有在 </a:t>
            </a:r>
            <a:r>
              <a:rPr lang="en-US" altLang="zh-CN" sz="1400" dirty="0" err="1">
                <a:solidFill>
                  <a:srgbClr val="000000"/>
                </a:solidFill>
                <a:cs typeface="+mn-ea"/>
                <a:sym typeface="+mn-lt"/>
              </a:rPr>
              <a:t>impl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 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块中定义的函数被称为</a:t>
            </a:r>
            <a:r>
              <a:rPr lang="zh-CN" altLang="en-US" sz="1400" b="1" dirty="0">
                <a:solidFill>
                  <a:srgbClr val="000000"/>
                </a:solidFill>
                <a:cs typeface="+mn-ea"/>
                <a:sym typeface="+mn-lt"/>
              </a:rPr>
              <a:t>关联函数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，因为它们与 </a:t>
            </a:r>
            <a:r>
              <a:rPr lang="en-US" altLang="zh-CN" sz="1400" dirty="0" err="1">
                <a:solidFill>
                  <a:srgbClr val="000000"/>
                </a:solidFill>
                <a:cs typeface="+mn-ea"/>
                <a:sym typeface="+mn-lt"/>
              </a:rPr>
              <a:t>impl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 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后面命名的类型相关；</a:t>
            </a:r>
            <a:endParaRPr lang="en-US" altLang="zh-CN" sz="1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关联函数的第一个参数不是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self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，关联函数不作用于结构体实例；</a:t>
            </a:r>
            <a:endParaRPr lang="en-US" altLang="zh-CN" sz="1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每个结构体、枚举等可以拥有多个 </a:t>
            </a:r>
            <a:r>
              <a:rPr lang="en-US" altLang="zh-CN" sz="1400" dirty="0" err="1">
                <a:solidFill>
                  <a:srgbClr val="000000"/>
                </a:solidFill>
                <a:cs typeface="+mn-ea"/>
                <a:sym typeface="+mn-lt"/>
              </a:rPr>
              <a:t>impl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块；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598238" y="1780854"/>
            <a:ext cx="6799907" cy="436943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 dirty="0">
                <a:solidFill>
                  <a:schemeClr val="bg2"/>
                </a:solidFill>
                <a:cs typeface="+mn-ea"/>
                <a:sym typeface="+mn-lt"/>
              </a:rPr>
              <a:t>//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#[derive(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Debug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)]</a:t>
            </a:r>
          </a:p>
          <a:p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Rectangle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width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height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Rectangle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不是方法的关联函数经常被用作返回一个结构体新实例的构造函数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    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// Self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代指在</a:t>
            </a:r>
            <a:r>
              <a:rPr lang="en-US" altLang="zh-CN" sz="1200" i="1" dirty="0" err="1">
                <a:solidFill>
                  <a:srgbClr val="7F848E"/>
                </a:solidFill>
                <a:cs typeface="+mn-ea"/>
                <a:sym typeface="+mn-lt"/>
              </a:rPr>
              <a:t>impl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关键字后出现的类型，在这里是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Rectangle</a:t>
            </a:r>
            <a:endParaRPr lang="en-US" altLang="zh-CN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square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size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width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size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height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size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    }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关联函数调用方式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sq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Rectangle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square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实例是指一个特定类型的具体对象</a:t>
            </a:r>
            <a:endParaRPr lang="en-US" altLang="zh-CN" sz="1200" i="1" dirty="0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Rt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Rectangle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{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width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height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};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Rt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 dirty="0" err="1">
                <a:solidFill>
                  <a:srgbClr val="61AFEF"/>
                </a:solidFill>
                <a:cs typeface="+mn-ea"/>
                <a:sym typeface="+mn-lt"/>
              </a:rPr>
              <a:t>square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);  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错误：不能使用实例来调用关联函数</a:t>
            </a:r>
            <a:endParaRPr lang="en-US" altLang="zh-CN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291591" y="634919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4021"/>
    </mc:Choice>
    <mc:Fallback xmlns="">
      <p:transition spd="slow" advTm="8402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70851" y="168744"/>
            <a:ext cx="10740640" cy="615021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方法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概念和基本用法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29217" y="1759053"/>
            <a:ext cx="5885274" cy="49244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 dirty="0">
                <a:solidFill>
                  <a:schemeClr val="bg2"/>
                </a:solidFill>
                <a:cs typeface="+mn-ea"/>
                <a:sym typeface="+mn-lt"/>
              </a:rPr>
              <a:t>//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Rectangle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width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height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}</a:t>
            </a: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为使用 </a:t>
            </a:r>
            <a:r>
              <a:rPr lang="en-US" altLang="zh-CN" sz="1200" i="1" dirty="0" err="1">
                <a:solidFill>
                  <a:srgbClr val="7F848E"/>
                </a:solidFill>
                <a:cs typeface="+mn-ea"/>
                <a:sym typeface="+mn-lt"/>
              </a:rPr>
              <a:t>impl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为类型实现函数或方法</a:t>
            </a:r>
            <a:endParaRPr lang="en-US" altLang="zh-CN" sz="1200" i="1" dirty="0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Rectangle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第一个参数为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self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，其实是 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self: Self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的缩写，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Self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表示为实例类型</a:t>
            </a:r>
            <a:endParaRPr lang="en-US" altLang="zh-CN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area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.width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* 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.height</a:t>
            </a:r>
            <a:endParaRPr lang="en-US" altLang="zh-CN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}</a:t>
            </a:r>
            <a:b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使用 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mut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修饰参数，并返回修改后的实例</a:t>
            </a:r>
            <a:endParaRPr lang="en-US" altLang="zh-CN" sz="1200" i="1" dirty="0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change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.width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endParaRPr lang="en-US" altLang="zh-CN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结构体初始化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rect1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Rectangle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width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30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height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50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};</a:t>
            </a: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方法调用采用实例并加上一个点号，后跟方法名、圆括号以及其他参数</a:t>
            </a:r>
            <a:endParaRPr lang="en-US" altLang="zh-CN" sz="1200" i="1" dirty="0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   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点调用展开为：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Rectangle::area(rect1)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61AFEF"/>
                </a:solidFill>
                <a:cs typeface="+mn-ea"/>
                <a:sym typeface="+mn-lt"/>
              </a:rPr>
              <a:t>assert_eq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1500,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rect1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area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b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rect2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Rectangle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width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10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height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20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};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61AFEF"/>
                </a:solidFill>
                <a:cs typeface="+mn-ea"/>
                <a:sym typeface="+mn-lt"/>
              </a:rPr>
              <a:t>assert_eq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rect2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change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().width);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70851" y="666072"/>
            <a:ext cx="10761380" cy="10618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000000"/>
                </a:solidFill>
                <a:cs typeface="+mn-ea"/>
                <a:sym typeface="+mn-lt"/>
              </a:rPr>
              <a:t>方法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（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method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）与函数类似：使用 </a:t>
            </a:r>
            <a:r>
              <a:rPr lang="en-US" altLang="zh-CN" sz="1400" dirty="0" err="1">
                <a:solidFill>
                  <a:srgbClr val="000000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 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关键字和名称声明，可以拥有参数和返回值，同时包含在某处调用该方法时会执行的代码。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方法的第一个参数是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self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，它表示调用该方法的结构体实例；</a:t>
            </a:r>
            <a:endParaRPr lang="en-US" altLang="zh-CN" sz="1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方法参数上的属性遵循与常规函数参数上相同的规则和限制；</a:t>
            </a:r>
            <a:endParaRPr lang="en-US" altLang="zh-CN" sz="1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291591" y="634919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219"/>
    </mc:Choice>
    <mc:Fallback xmlns="">
      <p:transition spd="slow" advTm="46219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91591" y="168744"/>
            <a:ext cx="10740640" cy="615021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常量函数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-const </a:t>
            </a:r>
            <a:r>
              <a:rPr lang="en-US" altLang="zh-CN" b="1" dirty="0" err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fn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217022" y="2740020"/>
            <a:ext cx="6169885" cy="267765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const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square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*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n</a:t>
            </a:r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const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SQUARE_2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square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const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SQUARE_3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square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assert_eq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4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SQUARE_2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assert_eq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9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SQUARE_3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91591" y="634919"/>
            <a:ext cx="10740640" cy="19380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使用关键字 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const 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限定的函数是常量函数；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const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标志会限制该函数的参数和返回可以使用的类型，并限制在这两个位置上使用不被允许的表达式类型；限制的目的是确保其可以在编译时可被求值；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当从常量上下文中调用这类函数时，编译器会在编译时执行该函数。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使用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const </a:t>
            </a:r>
            <a:r>
              <a:rPr lang="en-US" altLang="zh-CN" sz="1600" dirty="0" err="1">
                <a:solidFill>
                  <a:srgbClr val="000000"/>
                </a:solidFill>
                <a:cs typeface="+mn-ea"/>
                <a:sym typeface="+mn-lt"/>
              </a:rPr>
              <a:t>fn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函数定义常量时，其返回值必须是可以用于常量上下文的类型；</a:t>
            </a:r>
            <a:endParaRPr lang="zh-CN" altLang="en-US" sz="1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291591" y="634919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974830" y="5599607"/>
            <a:ext cx="7220546" cy="29471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1200" i="1" dirty="0">
                <a:solidFill>
                  <a:srgbClr val="000000"/>
                </a:solidFill>
                <a:cs typeface="+mn-ea"/>
                <a:sym typeface="+mn-lt"/>
              </a:rPr>
              <a:t>常量上下文参考链接：</a:t>
            </a:r>
            <a:r>
              <a:rPr lang="en-US" altLang="zh-CN" sz="1200" i="1" dirty="0">
                <a:cs typeface="+mn-ea"/>
                <a:sym typeface="+mn-lt"/>
              </a:rPr>
              <a:t>https://doc.rust-lang.org/stable/reference/const_eval.html#const-context</a:t>
            </a:r>
            <a:endParaRPr lang="en-US" altLang="zh-CN" sz="1200" i="1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181"/>
    </mc:Choice>
    <mc:Fallback xmlns="">
      <p:transition spd="slow" advTm="3518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91591" y="168744"/>
            <a:ext cx="10740640" cy="615021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常量函数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-const </a:t>
            </a:r>
            <a:r>
              <a:rPr lang="en-US" altLang="zh-CN" b="1" dirty="0" err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fn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94621" y="2329805"/>
            <a:ext cx="5431534" cy="160043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FF0000"/>
                </a:solidFill>
                <a:cs typeface="+mn-ea"/>
                <a:sym typeface="+mn-lt"/>
              </a:rPr>
              <a:t>错误示例</a:t>
            </a:r>
            <a:r>
              <a:rPr lang="en-US" altLang="zh-CN" sz="1400" b="1" dirty="0">
                <a:solidFill>
                  <a:srgbClr val="FF0000"/>
                </a:solidFill>
                <a:cs typeface="+mn-ea"/>
                <a:sym typeface="+mn-lt"/>
              </a:rPr>
              <a:t>1</a:t>
            </a: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const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generate_random_number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-&gt;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u="sng" dirty="0" err="1">
                <a:solidFill>
                  <a:srgbClr val="E06C75"/>
                </a:solidFill>
                <a:cs typeface="+mn-ea"/>
                <a:sym typeface="+mn-lt"/>
              </a:rPr>
              <a:t>rng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rand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thread_rng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u="sng" dirty="0" err="1">
                <a:solidFill>
                  <a:srgbClr val="E06C75"/>
                </a:solidFill>
                <a:cs typeface="+mn-ea"/>
                <a:sym typeface="+mn-lt"/>
              </a:rPr>
              <a:t>rng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u="sng" dirty="0" err="1">
                <a:solidFill>
                  <a:srgbClr val="61AFEF"/>
                </a:solidFill>
                <a:cs typeface="+mn-ea"/>
                <a:sym typeface="+mn-lt"/>
              </a:rPr>
              <a:t>gen_range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..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10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const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RANDOM_NUMBER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generate_random_number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91591" y="783765"/>
            <a:ext cx="10740640" cy="1383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常量函数在编译时计算其结果，结果必须是确定的，所以不能将随机数生成器编写为常量函数，参考错误示例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1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；</a:t>
            </a:r>
            <a:endParaRPr lang="en-US" altLang="zh-CN" sz="1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常量函数内不能包含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for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循环（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loop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while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可以），也不能执行浮点数运算，参考代码示例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2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3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4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5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；</a:t>
            </a:r>
            <a:endParaRPr lang="en-US" altLang="zh-CN" sz="1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在编译时调用常量函数将始终产生与运行时调用它相同的结果，例外：如果在极端情况下执行复杂的浮点运算，那么可能得到（非常轻微）不同的结果；</a:t>
            </a:r>
            <a:endParaRPr lang="en-US" altLang="zh-CN" sz="1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291591" y="634919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312" y="2263568"/>
            <a:ext cx="3444892" cy="1821580"/>
          </a:xfrm>
          <a:prstGeom prst="rect">
            <a:avLst/>
          </a:prstGeom>
        </p:spPr>
      </p:pic>
      <p:sp>
        <p:nvSpPr>
          <p:cNvPr id="7" name="右箭头 6"/>
          <p:cNvSpPr/>
          <p:nvPr/>
        </p:nvSpPr>
        <p:spPr>
          <a:xfrm>
            <a:off x="6643396" y="2891302"/>
            <a:ext cx="345233" cy="550506"/>
          </a:xfrm>
          <a:prstGeom prst="rightArrow">
            <a:avLst/>
          </a:prstGeom>
          <a:solidFill>
            <a:schemeClr val="accent3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944037" y="4250068"/>
            <a:ext cx="2874946" cy="24929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2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r>
              <a:rPr lang="en-US" altLang="zh-CN" sz="1200" b="1" dirty="0">
                <a:solidFill>
                  <a:srgbClr val="00B050"/>
                </a:solidFill>
                <a:cs typeface="+mn-ea"/>
                <a:sym typeface="+mn-lt"/>
              </a:rPr>
              <a:t>3</a:t>
            </a:r>
          </a:p>
          <a:p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const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calculate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 -&gt;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res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while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true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res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+=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if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res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&gt;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10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break</a:t>
            </a:r>
            <a:endParaRPr lang="en-US" altLang="zh-CN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    }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return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res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const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RESULT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calculate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  <a:endParaRPr lang="en-US" altLang="zh-CN" sz="12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99848" y="4250068"/>
            <a:ext cx="2874946" cy="24929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2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r>
              <a:rPr lang="en-US" altLang="zh-CN" sz="1200" b="1" dirty="0">
                <a:solidFill>
                  <a:srgbClr val="00B050"/>
                </a:solidFill>
                <a:cs typeface="+mn-ea"/>
                <a:sym typeface="+mn-lt"/>
              </a:rPr>
              <a:t>4</a:t>
            </a:r>
          </a:p>
          <a:p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const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calculate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 -&gt;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res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loop 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res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+=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if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res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&gt;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10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break</a:t>
            </a:r>
            <a:endParaRPr lang="en-US" altLang="zh-CN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    }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return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res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const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RESULT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calculate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  <a:endParaRPr lang="en-US" altLang="zh-CN" sz="12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17945" y="4250068"/>
            <a:ext cx="2874946" cy="24929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200" b="1" dirty="0">
                <a:solidFill>
                  <a:srgbClr val="FF0000"/>
                </a:solidFill>
                <a:cs typeface="+mn-ea"/>
                <a:sym typeface="+mn-lt"/>
              </a:rPr>
              <a:t>代码示例</a:t>
            </a:r>
            <a:r>
              <a:rPr lang="en-US" altLang="zh-CN" sz="1200" b="1" dirty="0">
                <a:solidFill>
                  <a:srgbClr val="FF0000"/>
                </a:solidFill>
                <a:cs typeface="+mn-ea"/>
                <a:sym typeface="+mn-lt"/>
              </a:rPr>
              <a:t>2</a:t>
            </a:r>
          </a:p>
          <a:p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const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calculate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 -&gt;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res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i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in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..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10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{ // error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res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+=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if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res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&gt;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10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break</a:t>
            </a:r>
            <a:endParaRPr lang="en-US" altLang="zh-CN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    }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return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res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const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RESULT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calculate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  <a:endParaRPr lang="en-US" altLang="zh-CN" sz="12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665" y="4823927"/>
            <a:ext cx="2598507" cy="1414894"/>
          </a:xfrm>
          <a:prstGeom prst="rect">
            <a:avLst/>
          </a:prstGeom>
        </p:spPr>
      </p:pic>
      <p:sp>
        <p:nvSpPr>
          <p:cNvPr id="16" name="右箭头 15"/>
          <p:cNvSpPr/>
          <p:nvPr/>
        </p:nvSpPr>
        <p:spPr>
          <a:xfrm>
            <a:off x="3032361" y="5329804"/>
            <a:ext cx="192833" cy="403139"/>
          </a:xfrm>
          <a:prstGeom prst="rightArrow">
            <a:avLst/>
          </a:prstGeom>
          <a:solidFill>
            <a:schemeClr val="accent3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544"/>
    </mc:Choice>
    <mc:Fallback xmlns="">
      <p:transition spd="slow" advTm="45544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本章小结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423309"/>
            <a:ext cx="10733557" cy="4690459"/>
          </a:xfrm>
        </p:spPr>
        <p:txBody>
          <a:bodyPr/>
          <a:lstStyle/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学完本章，希望可以：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 dirty="0">
                <a:cs typeface="+mn-ea"/>
                <a:sym typeface="+mn-lt"/>
              </a:rPr>
              <a:t>掌握函数、方法、关联函数的概念、联系以及调用方式；</a:t>
            </a:r>
            <a:endParaRPr lang="en-US" altLang="zh-CN" sz="1800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 dirty="0">
                <a:cs typeface="+mn-ea"/>
                <a:sym typeface="+mn-lt"/>
              </a:rPr>
              <a:t>掌握</a:t>
            </a:r>
            <a:r>
              <a:rPr lang="en-US" altLang="zh-CN" sz="1800" dirty="0">
                <a:cs typeface="+mn-ea"/>
                <a:sym typeface="+mn-lt"/>
              </a:rPr>
              <a:t>Rust</a:t>
            </a:r>
            <a:r>
              <a:rPr lang="zh-CN" altLang="en-US" sz="1800" dirty="0">
                <a:cs typeface="+mn-ea"/>
                <a:sym typeface="+mn-lt"/>
              </a:rPr>
              <a:t>常量函数的概念和使用方法；</a:t>
            </a:r>
            <a:endParaRPr lang="en-US" altLang="zh-CN" sz="1800" dirty="0"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29175" y="972379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449"/>
    </mc:Choice>
    <mc:Fallback xmlns="">
      <p:transition spd="slow" advTm="17449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r4irfp21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r4irfp21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r4irfp21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r4irfp21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151515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vert="horz" wrap="none" rtlCol="0">
        <a:spAutoFit/>
      </a:bodyPr>
      <a:lstStyle>
        <a:defPPr algn="l">
          <a:lnSpc>
            <a:spcPts val="3440"/>
          </a:lnSpc>
          <a:defRPr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r4irfp21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1735</Words>
  <Application>Microsoft Office PowerPoint</Application>
  <PresentationFormat>自定义</PresentationFormat>
  <Paragraphs>181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方正兰亭黑简体</vt:lpstr>
      <vt:lpstr>Microsoft YaHei</vt:lpstr>
      <vt:lpstr>Arial</vt:lpstr>
      <vt:lpstr>Calibri</vt:lpstr>
      <vt:lpstr>Huawei Sans</vt:lpstr>
      <vt:lpstr>Wingdings</vt:lpstr>
      <vt:lpstr>1_Title Slide</vt:lpstr>
      <vt:lpstr>2_Title Slide</vt:lpstr>
      <vt:lpstr>Chart page</vt:lpstr>
      <vt:lpstr>4_Chart page</vt:lpstr>
      <vt:lpstr>End page</vt:lpstr>
      <vt:lpstr>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函数</dc:title>
  <dc:creator>fanyan (A)</dc:creator>
  <cp:lastModifiedBy>Zhangyandong (ben)</cp:lastModifiedBy>
  <cp:revision>17</cp:revision>
  <dcterms:created xsi:type="dcterms:W3CDTF">2023-10-18T07:16:20Z</dcterms:created>
  <dcterms:modified xsi:type="dcterms:W3CDTF">2024-11-20T02:26:53Z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(3)U1BmNt+Zhwj9UHRAqif4OKYo3CoVs2H8wZ/Tp23Jg4BDQZt1Pa2Mo51/iDJVsIjAdOp4XJcn
7Q7x7OlFU+poyynvDwuJKezSCoseYkgF5LFwKFycz9PtRcLiFjB8WVdAZ2e4oEG5lyd51BdG
EPoJoeoJGlfFcCOImcNJVmMZa2Ebav92IVrlk2G3GtvbMz5HdgJJNbgk1H8cxUbHvF17cl3Q
MBiQ87OCoqfSwrkmvr</vt:lpwstr>
  </property>
  <property fmtid="{D5CDD505-2E9C-101B-9397-08002B2CF9AE}" pid="3" name="_2015_ms_pID_7253431">
    <vt:lpwstr>P/O6AzN1aoELD9Q0/xNKYGbYgA/YgZy45ZbAzQWpFLUC5S79WZK431
UF8kWUATzo696Sdvf0Qz/vQ8qQIMlDWerP4ZvrjHfiopRCgTX1SEswdpGTjSgRTuhozwVhWs
H3qkMO5M3xV7PkZyIALNwf44C9kU5dHuEfaUnzJ1OOzYQzV7iahi21rPAeecc/JxEnAPmjjr
AwJI1qkS/z8JRY1i7byhDhuZBKqPpkY+Q4ag</vt:lpwstr>
  </property>
  <property fmtid="{D5CDD505-2E9C-101B-9397-08002B2CF9AE}" pid="4" name="_2015_ms_pID_7253432">
    <vt:lpwstr>AA==</vt:lpwstr>
  </property>
  <property fmtid="{D5CDD505-2E9C-101B-9397-08002B2CF9AE}" pid="5" name="KSOProductBuildVer">
    <vt:lpwstr>2052-0.0.0.0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1697544632</vt:lpwstr>
  </property>
</Properties>
</file>