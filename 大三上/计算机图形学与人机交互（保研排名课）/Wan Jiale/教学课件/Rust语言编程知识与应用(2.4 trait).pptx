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55" r:id="rId3"/>
    <p:sldMasterId id="2147483658" r:id="rId4"/>
  </p:sldMasterIdLst>
  <p:notesMasterIdLst>
    <p:notesMasterId r:id="rId26"/>
  </p:notesMasterIdLst>
  <p:handoutMasterIdLst>
    <p:handoutMasterId r:id="rId27"/>
  </p:handoutMasterIdLst>
  <p:sldIdLst>
    <p:sldId id="283" r:id="rId5"/>
    <p:sldId id="324" r:id="rId6"/>
    <p:sldId id="325" r:id="rId7"/>
    <p:sldId id="316" r:id="rId8"/>
    <p:sldId id="342" r:id="rId9"/>
    <p:sldId id="343" r:id="rId10"/>
    <p:sldId id="317" r:id="rId11"/>
    <p:sldId id="319" r:id="rId12"/>
    <p:sldId id="328" r:id="rId13"/>
    <p:sldId id="358" r:id="rId14"/>
    <p:sldId id="340" r:id="rId15"/>
    <p:sldId id="331" r:id="rId16"/>
    <p:sldId id="336" r:id="rId17"/>
    <p:sldId id="337" r:id="rId18"/>
    <p:sldId id="338" r:id="rId19"/>
    <p:sldId id="339" r:id="rId20"/>
    <p:sldId id="332" r:id="rId21"/>
    <p:sldId id="347" r:id="rId22"/>
    <p:sldId id="346" r:id="rId23"/>
    <p:sldId id="327" r:id="rId24"/>
    <p:sldId id="280" r:id="rId25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324"/>
            <p14:sldId id="325"/>
          </p14:sldIdLst>
        </p14:section>
        <p14:section name="章节页" id="{FD05EE94-C931-8C4B-83A2-004B32AA1207}">
          <p14:sldIdLst>
            <p14:sldId id="316"/>
            <p14:sldId id="342"/>
            <p14:sldId id="343"/>
            <p14:sldId id="317"/>
            <p14:sldId id="319"/>
            <p14:sldId id="328"/>
            <p14:sldId id="358"/>
            <p14:sldId id="340"/>
            <p14:sldId id="331"/>
            <p14:sldId id="336"/>
            <p14:sldId id="337"/>
            <p14:sldId id="338"/>
            <p14:sldId id="339"/>
            <p14:sldId id="332"/>
            <p14:sldId id="347"/>
            <p14:sldId id="346"/>
            <p14:sldId id="327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wuxiaojun 00342820_QRBvBJbY" initials="authorId_AK20210901:AK20210901JXNSXO124321" lastIdx="0" clrIdx="0"/>
  <p:cmAuthor id="2003" name="zhanghandong WX930509_Jj22FnMn" initials="authorId_AK20210901:AK20210901JXNSXO4676065" lastIdx="1150997435" clrIdx="0"/>
  <p:cmAuthor id="2004" name="gaoshang 00419539_MRJvMvEj" initials="authorId_AK20210901:AK20210901JXNSXO980865" lastIdx="1690022090" clrIdx="0"/>
  <p:cmAuthor id="2005" name="liyuan 00575100_AN3aEzey" initials="authorId_AK20210901:AK20210901JXNSXO4974597" lastIdx="1688663900" clrIdx="0"/>
  <p:cmAuthor id="2000" name="liziqiang 00556901_ERbuA7r6" initials="authorId_AK20210901:AK20210901JXNSXO4497046" lastIdx="1688312375" clrIdx="0"/>
  <p:cmAuthor id="2001" name="fanchangchun 00567414_2yeyVvEJ" initials="authorId_AK20210901:AK20210901JXNSXO4723448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695" autoAdjust="0"/>
  </p:normalViewPr>
  <p:slideViewPr>
    <p:cSldViewPr snapToGrid="0" snapToObjects="1">
      <p:cViewPr varScale="1">
        <p:scale>
          <a:sx n="69" d="100"/>
          <a:sy n="69" d="100"/>
        </p:scale>
        <p:origin x="52" y="3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 </a:t>
            </a:r>
            <a:r>
              <a:rPr lang="en-US" altLang="zh-CN"/>
              <a:t>trait</a:t>
            </a:r>
            <a:r>
              <a:rPr lang="en-US" altLang="zh-CN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关键字来声明一个 </a:t>
            </a:r>
            <a:r>
              <a:rPr lang="en-US" altLang="zh-CN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trait</a:t>
            </a:r>
            <a:r>
              <a:rPr lang="zh-CN" altLang="en-US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，后面是 </a:t>
            </a:r>
            <a:r>
              <a:rPr lang="en-US" altLang="zh-CN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trait </a:t>
            </a:r>
            <a:r>
              <a:rPr lang="zh-CN" altLang="en-US" sz="1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的名字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PartialEq</a:t>
            </a:r>
            <a:r>
              <a:rPr lang="zh-CN" altLang="en-US" dirty="0"/>
              <a:t>包含</a:t>
            </a:r>
            <a:r>
              <a:rPr lang="en-US" altLang="zh-CN" dirty="0"/>
              <a:t>2</a:t>
            </a:r>
            <a:r>
              <a:rPr lang="zh-CN" altLang="en-US" dirty="0"/>
              <a:t>个接口，一般只需要实现</a:t>
            </a:r>
            <a:r>
              <a:rPr lang="en-US" altLang="zh-CN" dirty="0"/>
              <a:t>eq</a:t>
            </a:r>
            <a:r>
              <a:rPr lang="zh-CN" altLang="en-US" dirty="0"/>
              <a:t>，没有好的理由不需要覆写</a:t>
            </a:r>
            <a:r>
              <a:rPr lang="en-US" altLang="zh-CN" dirty="0"/>
              <a:t>ne</a:t>
            </a:r>
            <a:r>
              <a:rPr lang="zh-CN" altLang="en-US" dirty="0"/>
              <a:t>方法：</a:t>
            </a:r>
            <a:endParaRPr lang="en-US" altLang="zh-CN" dirty="0"/>
          </a:p>
          <a:p>
            <a:r>
              <a:rPr lang="en-US" altLang="zh-CN" dirty="0">
                <a:effectLst/>
              </a:rPr>
              <a:t>fn </a:t>
            </a:r>
            <a:r>
              <a:rPr lang="en-US" altLang="zh-CN" dirty="0"/>
              <a:t>ne(</a:t>
            </a:r>
            <a:r>
              <a:rPr lang="en-US" altLang="zh-CN" dirty="0">
                <a:effectLst/>
              </a:rPr>
              <a:t>&amp;self</a:t>
            </a:r>
            <a:r>
              <a:rPr lang="en-US" altLang="zh-CN" dirty="0"/>
              <a:t>, other: </a:t>
            </a:r>
            <a:r>
              <a:rPr lang="en-US" altLang="zh-CN" dirty="0">
                <a:effectLst/>
              </a:rPr>
              <a:t>&amp;</a:t>
            </a:r>
            <a:r>
              <a:rPr lang="en-US" altLang="zh-CN" dirty="0" err="1"/>
              <a:t>Rhs</a:t>
            </a:r>
            <a:r>
              <a:rPr lang="en-US" altLang="zh-CN" dirty="0"/>
              <a:t>) -&gt; bool { !</a:t>
            </a:r>
            <a:r>
              <a:rPr lang="en-US" altLang="zh-CN" dirty="0" err="1">
                <a:effectLst/>
              </a:rPr>
              <a:t>self</a:t>
            </a:r>
            <a:r>
              <a:rPr lang="en-US" altLang="zh-CN" dirty="0" err="1"/>
              <a:t>.eq</a:t>
            </a:r>
            <a:r>
              <a:rPr lang="en-US" altLang="zh-CN" dirty="0"/>
              <a:t>(other) 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39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 Trait 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 </a:t>
            </a:r>
            <a:r>
              <a:rPr lang="en-US" altLang="zh-CN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PartialEq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Trait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，并且在此之上并没有添加新的方法定义；</a:t>
            </a:r>
          </a:p>
          <a:p>
            <a:r>
              <a:rPr lang="zh-CN" altLang="en-US" b="0" dirty="0">
                <a:effectLst/>
              </a:rPr>
              <a:t>这个 </a:t>
            </a:r>
            <a:r>
              <a:rPr lang="en-US" altLang="zh-CN" b="0" dirty="0">
                <a:effectLst/>
              </a:rPr>
              <a:t>Trait </a:t>
            </a:r>
            <a:r>
              <a:rPr lang="zh-CN" altLang="en-US" b="0" dirty="0">
                <a:effectLst/>
              </a:rPr>
              <a:t>只是用于告诉编译器，这是个 等价关系 而非 部分等价关系；因为编译器并不能检测 自反性 </a:t>
            </a:r>
            <a:r>
              <a:rPr lang="en-US" altLang="zh-CN" b="0" dirty="0">
                <a:effectLst/>
              </a:rPr>
              <a:t>(reflexive)</a:t>
            </a:r>
            <a:r>
              <a:rPr lang="zh-CN" altLang="en-US" b="0" dirty="0">
                <a:effectLst/>
              </a:rPr>
              <a:t>；</a:t>
            </a:r>
            <a:endParaRPr lang="en-US" altLang="zh-CN" b="0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34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在标准库中，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f32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f64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没有实现 </a:t>
            </a:r>
            <a:r>
              <a:rPr lang="en-US" altLang="zh-CN" dirty="0"/>
              <a:t>Ord Trait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，同样是因为 </a:t>
            </a:r>
            <a:r>
              <a:rPr lang="en-US" altLang="zh-CN" dirty="0"/>
              <a:t>NAN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 </a:t>
            </a:r>
            <a:r>
              <a:rPr lang="en-US" altLang="zh-CN" dirty="0"/>
              <a:t>INFINITY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不确定性，</a:t>
            </a:r>
            <a:r>
              <a:rPr lang="en-US" altLang="zh-CN" dirty="0"/>
              <a:t>NAN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 </a:t>
            </a:r>
            <a:r>
              <a:rPr lang="en-US" altLang="zh-CN" dirty="0"/>
              <a:t>INFINITY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无法跟其它浮点值比较大小；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3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tif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rust-lang.org/stable/std/cmp/trait.PartialEq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trait</a:t>
            </a:r>
            <a:endParaRPr lang="zh-CN" altLang="en-US" b="1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>
                <a:latin typeface="+mn-lt"/>
                <a:ea typeface="+mn-ea"/>
                <a:cs typeface="+mn-ea"/>
                <a:sym typeface="+mn-lt"/>
              </a:rPr>
              <a:t>Security Level: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  <a:p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78452"/>
            <a:ext cx="5662833" cy="14180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，了解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Rust trait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的概念及用法。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512444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2364396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2333939"/>
            <a:ext cx="4196421" cy="3003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0" u="none" dirty="0">
                <a:solidFill>
                  <a:srgbClr val="1D1D1A"/>
                </a:solidFill>
                <a:cs typeface="+mn-ea"/>
                <a:sym typeface="+mn-lt"/>
              </a:rPr>
              <a:t>trait</a:t>
            </a:r>
            <a:r>
              <a:rPr 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概念及用法；</a:t>
            </a:r>
            <a:endParaRPr lang="en-US" sz="1600" b="0" u="none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0" u="none" dirty="0">
                <a:solidFill>
                  <a:srgbClr val="1D1D1A"/>
                </a:solidFill>
                <a:cs typeface="+mn-ea"/>
                <a:sym typeface="+mn-lt"/>
              </a:rPr>
              <a:t>trait</a:t>
            </a:r>
            <a:r>
              <a:rPr 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关联类型；</a:t>
            </a:r>
            <a:endParaRPr lang="en-US" sz="1600" b="0" u="none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0" u="none" dirty="0">
                <a:solidFill>
                  <a:srgbClr val="1D1D1A"/>
                </a:solidFill>
                <a:cs typeface="+mn-ea"/>
                <a:sym typeface="+mn-lt"/>
              </a:rPr>
              <a:t>super/sub trait</a:t>
            </a:r>
            <a:r>
              <a:rPr 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；</a:t>
            </a:r>
            <a:endParaRPr lang="en-US" sz="1600" b="0" u="none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0" u="none" dirty="0" err="1">
                <a:solidFill>
                  <a:srgbClr val="1D1D1A"/>
                </a:solidFill>
                <a:cs typeface="+mn-ea"/>
                <a:sym typeface="+mn-lt"/>
              </a:rPr>
              <a:t>dyn</a:t>
            </a:r>
            <a:r>
              <a:rPr lang="en-US" sz="1600" b="0" u="none" dirty="0">
                <a:solidFill>
                  <a:srgbClr val="1D1D1A"/>
                </a:solidFill>
                <a:cs typeface="+mn-ea"/>
                <a:sym typeface="+mn-lt"/>
              </a:rPr>
              <a:t> trait</a:t>
            </a:r>
            <a:r>
              <a:rPr 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；</a:t>
            </a:r>
            <a:endParaRPr lang="en-US" sz="1600" b="0" u="none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rgbClr val="1D1D1A"/>
                </a:solidFill>
                <a:cs typeface="+mn-ea"/>
                <a:sym typeface="+mn-lt"/>
              </a:rPr>
              <a:t>t</a:t>
            </a:r>
            <a:r>
              <a:rPr lang="en-US" sz="1600" b="0" u="none" dirty="0">
                <a:solidFill>
                  <a:srgbClr val="1D1D1A"/>
                </a:solidFill>
                <a:cs typeface="+mn-ea"/>
                <a:sym typeface="+mn-lt"/>
              </a:rPr>
              <a:t>rait</a:t>
            </a:r>
            <a:r>
              <a:rPr lang="en-US" alt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 object</a:t>
            </a:r>
            <a:r>
              <a:rPr 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；</a:t>
            </a:r>
            <a:endParaRPr lang="en-US" sz="1600" b="0" u="none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运算符重载；</a:t>
            </a:r>
            <a:endParaRPr lang="en-US" sz="1600" b="0" u="none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孤儿规则；</a:t>
            </a:r>
            <a:endParaRPr lang="en-US" sz="1600" b="0" u="none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重要内置</a:t>
            </a:r>
            <a:r>
              <a:rPr lang="en-US" sz="1600" b="0" u="none" dirty="0">
                <a:solidFill>
                  <a:srgbClr val="1D1D1A"/>
                </a:solidFill>
                <a:cs typeface="+mn-ea"/>
                <a:sym typeface="+mn-lt"/>
              </a:rPr>
              <a:t>trait</a:t>
            </a:r>
            <a:r>
              <a:rPr lang="zh-CN" sz="1600" b="0" u="none" dirty="0">
                <a:solidFill>
                  <a:srgbClr val="1D1D1A"/>
                </a:solidFill>
                <a:cs typeface="+mn-ea"/>
                <a:sym typeface="+mn-lt"/>
              </a:rPr>
              <a:t>；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1916224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>
            <a:stCxn id="2" idx="1"/>
            <a:endCxn id="2" idx="3"/>
          </p:cNvCxnSpPr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2092" y="1337878"/>
            <a:ext cx="5256677" cy="4552970"/>
          </a:xfrm>
        </p:spPr>
        <p:txBody>
          <a:bodyPr/>
          <a:lstStyle/>
          <a:p>
            <a:pPr marL="469265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概念及用法；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469265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关联类型；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469265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super/sub trait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469265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dyn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trait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469265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trait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object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469265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孤儿规则；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469265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常见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trait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介绍；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469265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运算符重载；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469265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trait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生命周期参数；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2092" y="972607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75488" y="1100330"/>
            <a:ext cx="10646111" cy="1064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是一系列方法函数的集合；某个特定类型拥有可能与其他类型共享的功能，可以通过 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trait 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以一种抽象的方式定义共享的行为。</a:t>
            </a:r>
          </a:p>
          <a:p>
            <a:pPr>
              <a:lnSpc>
                <a:spcPct val="150000"/>
              </a:lnSpc>
            </a:pPr>
            <a:r>
              <a:rPr lang="en-US" altLang="zh-CN" sz="1600" b="0" u="none">
                <a:solidFill>
                  <a:srgbClr val="000000"/>
                </a:solidFill>
                <a:cs typeface="+mn-ea"/>
                <a:sym typeface="+mn-lt"/>
              </a:rPr>
              <a:t>Rust</a:t>
            </a:r>
            <a:r>
              <a:rPr lang="zh-CN" altLang="en-US" sz="1600" b="0" u="none">
                <a:solidFill>
                  <a:srgbClr val="000000"/>
                </a:solidFill>
                <a:cs typeface="+mn-ea"/>
                <a:sym typeface="+mn-lt"/>
              </a:rPr>
              <a:t>中的任何类型都可以是</a:t>
            </a:r>
            <a:r>
              <a:rPr lang="en-US" altLang="zh-CN" sz="16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altLang="en-US" sz="1600" b="0" u="none">
                <a:solidFill>
                  <a:srgbClr val="000000"/>
                </a:solidFill>
                <a:cs typeface="+mn-ea"/>
                <a:sym typeface="+mn-lt"/>
              </a:rPr>
              <a:t>的实例。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0959" y="35547"/>
            <a:ext cx="555506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trait-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概念和用法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475846" y="2487464"/>
            <a:ext cx="5484811" cy="28931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//</a:t>
            </a:r>
            <a:r>
              <a:rPr sz="1400" b="0" u="none">
                <a:cs typeface="+mn-ea"/>
                <a:sym typeface="+mn-lt"/>
              </a:rPr>
              <a:t>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使用</a:t>
            </a:r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trait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关键字</a:t>
            </a:r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+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标识符进行声明</a:t>
            </a:r>
            <a:endParaRPr lang="en-US" sz="14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trait</a:t>
            </a:r>
            <a:r>
              <a:rPr sz="1400"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Summary</a:t>
            </a:r>
            <a:r>
              <a:rPr sz="1400"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{</a:t>
            </a:r>
            <a:endParaRPr lang="en-US" sz="1400" b="0" u="none">
              <a:solidFill>
                <a:srgbClr val="DDDDDD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DDDDDD"/>
                </a:solidFill>
                <a:cs typeface="+mn-ea"/>
                <a:sym typeface="+mn-lt"/>
              </a:rPr>
              <a:t>    </a:t>
            </a:r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在大括号中声明</a:t>
            </a:r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trait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所包含的方法签名明</a:t>
            </a:r>
            <a:endParaRPr lang="en-US" sz="1400" b="1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1" i="1" u="none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签名后跟分号，函数体由具体类型进行实现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sz="1400"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summarize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endParaRPr lang="en-US" sz="1400" b="1" u="none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1" u="none">
                <a:solidFill>
                  <a:srgbClr val="00B050"/>
                </a:solidFill>
                <a:cs typeface="+mn-ea"/>
                <a:sym typeface="+mn-lt"/>
              </a:rPr>
              <a:t>       </a:t>
            </a:r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可以实现多个方法</a:t>
            </a:r>
            <a:endParaRPr lang="en-US" sz="14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也可为方法添加默认实现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sz="1400"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display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   println!(“{}”, self.summarize());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}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>
              <a:solidFill>
                <a:srgbClr val="ABB2BF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80960" y="660036"/>
            <a:ext cx="4963394" cy="7005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例如，下面代码演示了定义一个名为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Animal 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的 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，并为 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Sheep 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类型实现该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0959" y="35547"/>
            <a:ext cx="555506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trait-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概念和用法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416490" y="1544904"/>
            <a:ext cx="4581993" cy="161582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1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100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100" dirty="0">
                <a:solidFill>
                  <a:srgbClr val="C678DD"/>
                </a:solidFill>
                <a:cs typeface="+mn-ea"/>
                <a:sym typeface="+mn-lt"/>
              </a:rPr>
              <a:t>trait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 dirty="0">
                <a:solidFill>
                  <a:srgbClr val="E5C07B"/>
                </a:solidFill>
                <a:cs typeface="+mn-ea"/>
                <a:sym typeface="+mn-lt"/>
              </a:rPr>
              <a:t>Animal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1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 dirty="0">
                <a:solidFill>
                  <a:srgbClr val="61AFEF"/>
                </a:solidFill>
                <a:cs typeface="+mn-ea"/>
                <a:sym typeface="+mn-lt"/>
              </a:rPr>
              <a:t>name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1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) -&gt; &amp;'static </a:t>
            </a:r>
            <a:r>
              <a:rPr lang="en-US" altLang="zh-CN" sz="1100" dirty="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1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 dirty="0">
                <a:solidFill>
                  <a:srgbClr val="61AFEF"/>
                </a:solidFill>
                <a:cs typeface="+mn-ea"/>
                <a:sym typeface="+mn-lt"/>
              </a:rPr>
              <a:t>noise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1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) -&gt; &amp;'static </a:t>
            </a:r>
            <a:r>
              <a:rPr lang="en-US" altLang="zh-CN" sz="1100" dirty="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100" i="1" dirty="0">
                <a:solidFill>
                  <a:srgbClr val="7F848E"/>
                </a:solidFill>
                <a:cs typeface="+mn-ea"/>
                <a:sym typeface="+mn-lt"/>
              </a:rPr>
              <a:t>    //  </a:t>
            </a:r>
            <a:r>
              <a:rPr lang="zh-CN" altLang="en-US" sz="1100" i="1" dirty="0">
                <a:solidFill>
                  <a:srgbClr val="7F848E"/>
                </a:solidFill>
                <a:cs typeface="+mn-ea"/>
                <a:sym typeface="+mn-lt"/>
              </a:rPr>
              <a:t>此处提供了默认实现</a:t>
            </a:r>
            <a:endParaRPr lang="zh-CN" altLang="en-US" sz="11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1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 dirty="0">
                <a:solidFill>
                  <a:srgbClr val="61AFEF"/>
                </a:solidFill>
                <a:cs typeface="+mn-ea"/>
                <a:sym typeface="+mn-lt"/>
              </a:rPr>
              <a:t>talk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1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100" dirty="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1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100" dirty="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100" dirty="0">
                <a:solidFill>
                  <a:srgbClr val="98C379"/>
                </a:solidFill>
                <a:cs typeface="+mn-ea"/>
                <a:sym typeface="+mn-lt"/>
              </a:rPr>
              <a:t> says </a:t>
            </a:r>
            <a:r>
              <a:rPr lang="en-US" altLang="zh-CN" sz="1100" dirty="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1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1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100" dirty="0">
                <a:solidFill>
                  <a:srgbClr val="61AFEF"/>
                </a:solidFill>
                <a:cs typeface="+mn-ea"/>
                <a:sym typeface="+mn-lt"/>
              </a:rPr>
              <a:t>name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100" dirty="0" err="1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1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61AFEF"/>
                </a:solidFill>
                <a:cs typeface="+mn-ea"/>
                <a:sym typeface="+mn-lt"/>
              </a:rPr>
              <a:t>noise</a:t>
            </a:r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1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1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441576" y="660036"/>
            <a:ext cx="35858" cy="583133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2230ACA3-CD1E-4DE5-ABFE-17D72A515343}"/>
              </a:ext>
            </a:extLst>
          </p:cNvPr>
          <p:cNvSpPr/>
          <p:nvPr/>
        </p:nvSpPr>
        <p:spPr>
          <a:xfrm>
            <a:off x="5687447" y="1029288"/>
            <a:ext cx="6096000" cy="3046988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struct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Sheep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{}</a:t>
            </a:r>
          </a:p>
          <a:p>
            <a:b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使用 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impl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语句为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`Sheep`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实现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`Animal` trait.</a:t>
            </a:r>
            <a:endParaRPr lang="en-US" altLang="zh-CN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impl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Animal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for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Sheep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name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-&gt; 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'static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str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"Dolly"</a:t>
            </a:r>
            <a:endParaRPr lang="en-US" altLang="zh-CN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noise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-&gt; 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'static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str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sz="1200" dirty="0" err="1">
                <a:solidFill>
                  <a:srgbClr val="CE9178"/>
                </a:solidFill>
                <a:cs typeface="+mn-ea"/>
                <a:sym typeface="+mn-lt"/>
              </a:rPr>
              <a:t>baaaaah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!"</a:t>
            </a:r>
            <a:endParaRPr lang="en-US" altLang="zh-CN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    //  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此处覆盖了默认实现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talk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BD63C5"/>
                </a:solidFill>
                <a:cs typeface="+mn-ea"/>
                <a:sym typeface="+mn-lt"/>
              </a:rPr>
              <a:t>println!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{}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 pauses briefly...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{}</a:t>
            </a:r>
            <a:r>
              <a:rPr lang="en-US" altLang="zh-CN" sz="1200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name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(), 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noise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0959" y="12380"/>
            <a:ext cx="259365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trait-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关联类型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0959" y="594306"/>
            <a:ext cx="10740640" cy="2911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在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抽象方法的定义中，若输入或输出类型只有在实现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时才能确定，我们就可以在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定义中以关联类型的方式进行表示。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0020" y="3541017"/>
            <a:ext cx="10551580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这样，我们就可以在为不同的动物实现不同的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eat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方法，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Sheep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中关联类型为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Grass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类型，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Lion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中关联类型为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Meat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类型。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132929" y="1150560"/>
            <a:ext cx="5215871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</a:t>
            </a:r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trait</a:t>
            </a:r>
            <a:r>
              <a:rPr sz="1400"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Animal</a:t>
            </a:r>
            <a:r>
              <a:rPr sz="1400"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{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添加关联类型 </a:t>
            </a:r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Food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sz="1400"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Food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i="1" u="none">
                <a:solidFill>
                  <a:srgbClr val="7F7F7F"/>
                </a:solidFill>
                <a:cs typeface="+mn-ea"/>
                <a:sym typeface="+mn-lt"/>
              </a:rPr>
              <a:t>// </a:t>
            </a:r>
            <a:r>
              <a:rPr lang="zh-CN" sz="1400" b="0" i="1" u="none">
                <a:solidFill>
                  <a:srgbClr val="7F7F7F"/>
                </a:solidFill>
                <a:cs typeface="+mn-ea"/>
                <a:sym typeface="+mn-lt"/>
              </a:rPr>
              <a:t>使用关联类型 </a:t>
            </a:r>
            <a:r>
              <a:rPr lang="en-US" sz="1400" b="0" i="1" u="none">
                <a:solidFill>
                  <a:srgbClr val="7F7F7F"/>
                </a:solidFill>
                <a:cs typeface="+mn-ea"/>
                <a:sym typeface="+mn-lt"/>
              </a:rPr>
              <a:t>Food</a:t>
            </a:r>
            <a:r>
              <a:rPr lang="en-US" altLang="zh-CN" sz="1400" b="0" i="1" u="none">
                <a:solidFill>
                  <a:srgbClr val="7F7F7F"/>
                </a:solidFill>
                <a:cs typeface="+mn-ea"/>
                <a:sym typeface="+mn-lt"/>
              </a:rPr>
              <a:t>, Self</a:t>
            </a:r>
            <a:r>
              <a:rPr lang="zh-CN" altLang="en-US" sz="1400" b="0" i="1" u="none">
                <a:solidFill>
                  <a:srgbClr val="7F7F7F"/>
                </a:solidFill>
                <a:cs typeface="+mn-ea"/>
                <a:sym typeface="+mn-lt"/>
              </a:rPr>
              <a:t>表示自身类型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sz="1400"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eat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Food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7070" y="3915915"/>
            <a:ext cx="5215871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</a:t>
            </a:r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sz="14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Animal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Sheep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Food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Grass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&amp;self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为语法糖，表示自身的引用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eat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grass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Grass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"The sheep has eaten the grass!"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53954" y="3915915"/>
            <a:ext cx="5167646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</a:t>
            </a:r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sz="14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Animal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Lion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Food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Meat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&amp;self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为语法糖，表示自身的引用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eat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meat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Meat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printin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"The Lion has eaten the meat!"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0959" y="-7160"/>
            <a:ext cx="368370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trait-super/sub trait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7040" y="895862"/>
            <a:ext cx="4729509" cy="702052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没有继承的功能，但可以定义一个 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trait 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作为另一个 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trait 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的超集。</a:t>
            </a:r>
            <a:endParaRPr kumimoji="1"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5076549" y="895862"/>
            <a:ext cx="5843009" cy="46263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</a:t>
            </a:r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trait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name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endParaRPr lang="en-US" altLang="zh-CN" sz="1400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trait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Speaker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language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一个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trait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可以有多个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super trait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的限定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所有实现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Student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的实例必须先实现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Person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及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Speaker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trait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Student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Speaker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university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greeting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"My name is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 and I attend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, I speak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."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    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可以调用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super trait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中的方法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name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university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language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)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6434A8-C929-4E74-943A-5B873D566EB5}"/>
              </a:ext>
            </a:extLst>
          </p:cNvPr>
          <p:cNvSpPr/>
          <p:nvPr/>
        </p:nvSpPr>
        <p:spPr>
          <a:xfrm>
            <a:off x="347040" y="2618306"/>
            <a:ext cx="4470150" cy="81069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</a:t>
            </a:r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trait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Subtrait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Supertrait1 + Supertrait2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C90D2B-6516-4E37-A1CA-814CC68ACCDA}"/>
              </a:ext>
            </a:extLst>
          </p:cNvPr>
          <p:cNvSpPr txBox="1"/>
          <p:nvPr/>
        </p:nvSpPr>
        <p:spPr>
          <a:xfrm>
            <a:off x="280959" y="3641828"/>
            <a:ext cx="4729509" cy="702052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所有实现</a:t>
            </a:r>
            <a:r>
              <a:rPr kumimoji="1"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Subtrait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的类型是所有实现</a:t>
            </a:r>
            <a:r>
              <a:rPr kumimoji="1"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Supertrait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的类型的子集</a:t>
            </a:r>
            <a:endParaRPr kumimoji="1"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0959" y="8569"/>
            <a:ext cx="253595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trait-dyn trait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8023" y="3085746"/>
            <a:ext cx="5454802" cy="14731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当我们希望使用一个 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trait 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的实例而不确定到底是哪种类型时，可以使用</a:t>
            </a:r>
            <a:r>
              <a:rPr lang="en-US" sz="1600" b="0" u="none">
                <a:solidFill>
                  <a:srgbClr val="000000"/>
                </a:solidFill>
                <a:cs typeface="+mn-ea"/>
                <a:sym typeface="+mn-lt"/>
              </a:rPr>
              <a:t>dyn trait</a:t>
            </a:r>
            <a:r>
              <a:rPr lang="zh-CN" sz="1600" b="0" u="none">
                <a:solidFill>
                  <a:srgbClr val="000000"/>
                </a:solidFill>
                <a:cs typeface="+mn-ea"/>
                <a:sym typeface="+mn-lt"/>
              </a:rPr>
              <a:t>来表示</a:t>
            </a:r>
            <a:r>
              <a:rPr lang="zh-CN" altLang="en-US" sz="1600" b="0" u="none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zh-CN" sz="1600" b="0" u="none">
              <a:solidFill>
                <a:srgbClr val="000000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常见的使用方法是&amp;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dyn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或者</a:t>
            </a:r>
            <a:r>
              <a:rPr kumimoji="1" lang="en-US" altLang="zh-CN" sz="1600">
                <a:solidFill>
                  <a:srgbClr val="000000"/>
                </a:solidFill>
                <a:cs typeface="+mn-ea"/>
                <a:sym typeface="+mn-lt"/>
              </a:rPr>
              <a:t>Box&lt;dyn trait&gt;</a:t>
            </a:r>
            <a:r>
              <a:rPr kumimoji="1" lang="zh-CN" altLang="en-US" sz="160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kumimoji="1"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131675" y="656966"/>
            <a:ext cx="5637065" cy="566465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Sheep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{}</a:t>
            </a:r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Cow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{}</a:t>
            </a:r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trait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Animal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noise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 -&gt; &amp;'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static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Animal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Sheep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noise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 -&gt; &amp;'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static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400" b="0" u="none" dirty="0" err="1">
                <a:solidFill>
                  <a:srgbClr val="98C379"/>
                </a:solidFill>
                <a:cs typeface="+mn-ea"/>
                <a:sym typeface="+mn-lt"/>
              </a:rPr>
              <a:t>baaaaah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!"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}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Animal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Cow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noise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 -&gt; &amp;'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static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400" b="0" u="none" dirty="0" err="1">
                <a:solidFill>
                  <a:srgbClr val="98C379"/>
                </a:solidFill>
                <a:cs typeface="+mn-ea"/>
                <a:sym typeface="+mn-lt"/>
              </a:rPr>
              <a:t>moooooo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!"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}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zh-CN" sz="14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使用dyn trait来表示Animal的实例</a:t>
            </a:r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 err="1">
                <a:solidFill>
                  <a:srgbClr val="61AFEF"/>
                </a:solidFill>
                <a:cs typeface="+mn-ea"/>
                <a:sym typeface="+mn-lt"/>
              </a:rPr>
              <a:t>animal_speak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animal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sz="1400" b="0" u="none" dirty="0" err="1">
                <a:solidFill>
                  <a:srgbClr val="C678DD"/>
                </a:solidFill>
                <a:cs typeface="+mn-ea"/>
                <a:sym typeface="+mn-lt"/>
              </a:rPr>
              <a:t>dyn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Animal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 -&gt; &amp; '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static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 err="1">
                <a:solidFill>
                  <a:srgbClr val="E06C75"/>
                </a:solidFill>
                <a:cs typeface="+mn-ea"/>
                <a:sym typeface="+mn-lt"/>
              </a:rPr>
              <a:t>animal</a:t>
            </a:r>
            <a:r>
              <a:rPr lang="en-US" sz="14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 dirty="0" err="1">
                <a:solidFill>
                  <a:srgbClr val="61AFEF"/>
                </a:solidFill>
                <a:cs typeface="+mn-ea"/>
                <a:sym typeface="+mn-lt"/>
              </a:rPr>
              <a:t>noise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() </a:t>
            </a:r>
            <a:r>
              <a:rPr lang="zh-CN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可直接调用`noise`方法</a:t>
            </a:r>
            <a:endParaRPr lang="en-US" sz="14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sz="14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Sheep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{};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 dirty="0">
                <a:solidFill>
                  <a:srgbClr val="E5C07B"/>
                </a:solidFill>
                <a:cs typeface="+mn-ea"/>
                <a:sym typeface="+mn-lt"/>
              </a:rPr>
              <a:t>Cow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{};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 err="1">
                <a:solidFill>
                  <a:srgbClr val="61AFEF"/>
                </a:solidFill>
                <a:cs typeface="+mn-ea"/>
                <a:sym typeface="+mn-lt"/>
              </a:rPr>
              <a:t>animal_speak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400" b="0" u="none" dirty="0" err="1">
                <a:solidFill>
                  <a:srgbClr val="98C379"/>
                </a:solidFill>
                <a:cs typeface="+mn-ea"/>
                <a:sym typeface="+mn-lt"/>
              </a:rPr>
              <a:t>baaaaah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!"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 dirty="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 dirty="0" err="1">
                <a:solidFill>
                  <a:srgbClr val="61AFEF"/>
                </a:solidFill>
                <a:cs typeface="+mn-ea"/>
                <a:sym typeface="+mn-lt"/>
              </a:rPr>
              <a:t>animal_speak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 dirty="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400" b="0" u="none" dirty="0" err="1">
                <a:solidFill>
                  <a:srgbClr val="98C379"/>
                </a:solidFill>
                <a:cs typeface="+mn-ea"/>
                <a:sym typeface="+mn-lt"/>
              </a:rPr>
              <a:t>moooooo</a:t>
            </a:r>
            <a:r>
              <a:rPr lang="en-US" sz="1400" b="0" u="none" dirty="0">
                <a:solidFill>
                  <a:srgbClr val="98C379"/>
                </a:solidFill>
                <a:cs typeface="+mn-ea"/>
                <a:sym typeface="+mn-lt"/>
              </a:rPr>
              <a:t>!"</a:t>
            </a:r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0959" y="8569"/>
            <a:ext cx="418383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trait-dyn trait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对象安全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4745" y="646109"/>
            <a:ext cx="9872992" cy="31231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并不是所有的 </a:t>
            </a:r>
            <a:r>
              <a:rPr 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trait 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对象都能用 </a:t>
            </a:r>
            <a:r>
              <a:rPr lang="en-US" sz="1400" b="0" u="none" dirty="0" err="1">
                <a:solidFill>
                  <a:srgbClr val="000000"/>
                </a:solidFill>
                <a:cs typeface="+mn-ea"/>
                <a:sym typeface="+mn-lt"/>
              </a:rPr>
              <a:t>dyn</a:t>
            </a:r>
            <a:r>
              <a:rPr 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 trait 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来进行表示，而是只有满足</a:t>
            </a:r>
            <a:r>
              <a:rPr lang="zh-CN" sz="1400" b="0" u="none" dirty="0">
                <a:solidFill>
                  <a:srgbClr val="FF0000"/>
                </a:solidFill>
                <a:cs typeface="+mn-ea"/>
                <a:sym typeface="+mn-lt"/>
              </a:rPr>
              <a:t>对象安全（</a:t>
            </a:r>
            <a:r>
              <a:rPr lang="en-US" sz="1400" b="0" u="none" dirty="0">
                <a:solidFill>
                  <a:srgbClr val="FF0000"/>
                </a:solidFill>
                <a:cs typeface="+mn-ea"/>
                <a:sym typeface="+mn-lt"/>
              </a:rPr>
              <a:t>object safe</a:t>
            </a:r>
            <a:r>
              <a:rPr lang="zh-CN" sz="1400" b="0" u="none" dirty="0">
                <a:solidFill>
                  <a:srgbClr val="FF0000"/>
                </a:solidFill>
                <a:cs typeface="+mn-ea"/>
                <a:sym typeface="+mn-lt"/>
              </a:rPr>
              <a:t>）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的 </a:t>
            </a:r>
            <a:r>
              <a:rPr 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trait 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才可行。</a:t>
            </a:r>
            <a:endParaRPr lang="en-US" sz="1400" b="0" u="none" dirty="0">
              <a:solidFill>
                <a:srgbClr val="000000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sz="1400" b="0" u="none" dirty="0">
              <a:solidFill>
                <a:srgbClr val="000000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否则将会在编译时触发非对象安全错误：</a:t>
            </a:r>
            <a:endParaRPr kumimoji="1"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7793" y="5733514"/>
            <a:ext cx="3354504" cy="248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sz="1200" b="0" i="1" u="none" dirty="0">
                <a:solidFill>
                  <a:srgbClr val="000000"/>
                </a:solidFill>
                <a:cs typeface="+mn-ea"/>
                <a:sym typeface="+mn-lt"/>
              </a:rPr>
              <a:t>注：泛型参数在后面章节会有详细介绍</a:t>
            </a:r>
            <a:endParaRPr kumimoji="1" lang="zh-CN" altLang="en-US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5" name="图片 4" descr="upload_0319140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086" y="4568101"/>
            <a:ext cx="4244672" cy="188164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02E08ED-4824-4222-8F6D-D9D93C372DA1}"/>
              </a:ext>
            </a:extLst>
          </p:cNvPr>
          <p:cNvSpPr/>
          <p:nvPr/>
        </p:nvSpPr>
        <p:spPr>
          <a:xfrm>
            <a:off x="6461085" y="1036428"/>
            <a:ext cx="4244672" cy="32316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NonObjectSafe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非对象安全，因为首参不含 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Self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参数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foo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7F7F7F"/>
                </a:solidFill>
                <a:cs typeface="+mn-ea"/>
                <a:sym typeface="+mn-lt"/>
              </a:rPr>
              <a:t>x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{}</a:t>
            </a:r>
          </a:p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非对象安全，因为返回 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Self  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类型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returns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非对象安全，因为除了首参外使用到了 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Self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类型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param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7F7F7F"/>
                </a:solidFill>
                <a:cs typeface="+mn-ea"/>
                <a:sym typeface="+mn-lt"/>
              </a:rPr>
              <a:t>s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{}</a:t>
            </a:r>
          </a:p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非对象安全，因为含有泛型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typed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&gt;(&amp;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7F7F7F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{}</a:t>
            </a:r>
          </a:p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这是对象安全的方法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call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{}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test_dyn_trait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7F7F7F"/>
                </a:solidFill>
                <a:cs typeface="+mn-ea"/>
                <a:sym typeface="+mn-lt"/>
              </a:rPr>
              <a:t>obj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&amp;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dyn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NonObjectSafe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7F7F7F"/>
                </a:solidFill>
                <a:cs typeface="+mn-ea"/>
                <a:sym typeface="+mn-lt"/>
              </a:rPr>
              <a:t>obj</a:t>
            </a:r>
            <a:r>
              <a:rPr lang="en-US" altLang="zh-CN" sz="12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call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0959" y="8569"/>
            <a:ext cx="418383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trait-dyn trait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对象安全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4745" y="646109"/>
            <a:ext cx="9872992" cy="27091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50000"/>
              </a:lnSpc>
            </a:pPr>
            <a:endParaRPr lang="en-US" sz="1400" b="0" u="none" dirty="0">
              <a:solidFill>
                <a:srgbClr val="000000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Rust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定义了满足以下条件的 </a:t>
            </a:r>
            <a:r>
              <a:rPr 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trait 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被认为是</a:t>
            </a:r>
            <a:r>
              <a:rPr lang="zh-CN" sz="1400" dirty="0">
                <a:solidFill>
                  <a:srgbClr val="FF0000"/>
                </a:solidFill>
                <a:cs typeface="+mn-ea"/>
                <a:sym typeface="+mn-lt"/>
              </a:rPr>
              <a:t>对象安全（</a:t>
            </a:r>
            <a:r>
              <a:rPr lang="en-US" sz="1400" dirty="0">
                <a:solidFill>
                  <a:srgbClr val="FF0000"/>
                </a:solidFill>
                <a:cs typeface="+mn-ea"/>
                <a:sym typeface="+mn-lt"/>
              </a:rPr>
              <a:t>object safe</a:t>
            </a:r>
            <a:r>
              <a:rPr lang="zh-CN" sz="1400" dirty="0">
                <a:solidFill>
                  <a:srgbClr val="FF0000"/>
                </a:solidFill>
                <a:cs typeface="+mn-ea"/>
                <a:sym typeface="+mn-lt"/>
              </a:rPr>
              <a:t>）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的 </a:t>
            </a:r>
            <a:r>
              <a:rPr 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b="0" u="none" dirty="0">
                <a:cs typeface="+mn-ea"/>
                <a:sym typeface="+mn-lt"/>
              </a:rPr>
              <a:t>1.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该</a:t>
            </a:r>
            <a:r>
              <a:rPr 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的所有</a:t>
            </a:r>
            <a:r>
              <a:rPr 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super traits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也必须是对象安全的；</a:t>
            </a: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b="0" u="none" dirty="0">
                <a:cs typeface="+mn-ea"/>
                <a:sym typeface="+mn-lt"/>
              </a:rPr>
              <a:t>2</a:t>
            </a:r>
            <a:r>
              <a:rPr b="0" u="none" dirty="0">
                <a:cs typeface="+mn-ea"/>
                <a:sym typeface="+mn-lt"/>
              </a:rPr>
              <a:t>.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该</a:t>
            </a:r>
            <a:r>
              <a:rPr 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不能有任何关联类型；</a:t>
            </a: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b="0" u="none" dirty="0">
                <a:cs typeface="+mn-ea"/>
                <a:sym typeface="+mn-lt"/>
              </a:rPr>
              <a:t>3</a:t>
            </a:r>
            <a:r>
              <a:rPr b="0" u="none" dirty="0">
                <a:cs typeface="+mn-ea"/>
                <a:sym typeface="+mn-lt"/>
              </a:rPr>
              <a:t>.</a:t>
            </a:r>
            <a:r>
              <a:rPr 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中的方法不能包含泛型参数</a:t>
            </a: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b="0" u="none" dirty="0">
                <a:cs typeface="+mn-ea"/>
                <a:sym typeface="+mn-lt"/>
              </a:rPr>
              <a:t>4</a:t>
            </a:r>
            <a:r>
              <a:rPr b="0" u="none" dirty="0">
                <a:cs typeface="+mn-ea"/>
                <a:sym typeface="+mn-lt"/>
              </a:rPr>
              <a:t>.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函数</a:t>
            </a:r>
            <a:r>
              <a:rPr lang="zh-CN" sz="1400" b="0" u="none" dirty="0">
                <a:solidFill>
                  <a:srgbClr val="FF0000"/>
                </a:solidFill>
                <a:cs typeface="+mn-ea"/>
                <a:sym typeface="+mn-lt"/>
              </a:rPr>
              <a:t>首参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必须使用到</a:t>
            </a:r>
            <a:r>
              <a:rPr 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Self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（比如引用），除此之外不使用</a:t>
            </a:r>
            <a:r>
              <a:rPr 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Self</a:t>
            </a:r>
            <a:r>
              <a:rPr 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类型</a:t>
            </a: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b="0" u="none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sz="1400" b="0" u="none" dirty="0">
              <a:solidFill>
                <a:srgbClr val="000000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将 </a:t>
            </a:r>
            <a:r>
              <a:rPr lang="en-US" alt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trait </a:t>
            </a:r>
            <a:r>
              <a:rPr lang="zh-CN" alt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中不满足 对象安全 条件的函数或方法使用  </a:t>
            </a:r>
            <a:r>
              <a:rPr lang="en-US" alt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`where </a:t>
            </a:r>
            <a:r>
              <a:rPr lang="en-US" altLang="zh-CN" sz="1400" b="0" u="none" dirty="0" err="1">
                <a:solidFill>
                  <a:srgbClr val="000000"/>
                </a:solidFill>
                <a:cs typeface="+mn-ea"/>
                <a:sym typeface="+mn-lt"/>
              </a:rPr>
              <a:t>Self:Sized</a:t>
            </a:r>
            <a:r>
              <a:rPr lang="en-US" altLang="zh-CN" sz="1400" b="0" u="none" dirty="0">
                <a:solidFill>
                  <a:srgbClr val="000000"/>
                </a:solidFill>
                <a:cs typeface="+mn-ea"/>
                <a:sym typeface="+mn-lt"/>
              </a:rPr>
              <a:t>` </a:t>
            </a:r>
            <a:r>
              <a:rPr lang="zh-CN" altLang="en-US" sz="1400" b="0" u="none" dirty="0">
                <a:solidFill>
                  <a:srgbClr val="000000"/>
                </a:solidFill>
                <a:cs typeface="+mn-ea"/>
                <a:sym typeface="+mn-lt"/>
              </a:rPr>
              <a:t>将其排除在外</a:t>
            </a:r>
            <a:endParaRPr kumimoji="1"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7793" y="5733514"/>
            <a:ext cx="3354504" cy="248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sz="1200" b="0" i="1" u="none">
                <a:solidFill>
                  <a:srgbClr val="000000"/>
                </a:solidFill>
                <a:cs typeface="+mn-ea"/>
                <a:sym typeface="+mn-lt"/>
              </a:rPr>
              <a:t>注：泛型参数在后面章节会有详细介绍</a:t>
            </a:r>
            <a:endParaRPr kumimoji="1" lang="zh-CN" altLang="en-US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14EF38-97DE-46EF-A7BC-902EDB233816}"/>
              </a:ext>
            </a:extLst>
          </p:cNvPr>
          <p:cNvSpPr/>
          <p:nvPr/>
        </p:nvSpPr>
        <p:spPr>
          <a:xfrm>
            <a:off x="6098381" y="1372577"/>
            <a:ext cx="5563920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NonObjectSafe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非对象安全，因为首参不含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Self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参数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但是增加了  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`where Self: Sized`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将其排除到对象安全的方法之外</a:t>
            </a:r>
            <a:endParaRPr lang="zh-CN" altLang="en-US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foo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7F7F7F"/>
                </a:solidFill>
                <a:cs typeface="+mn-ea"/>
                <a:sym typeface="+mn-lt"/>
              </a:rPr>
              <a:t>x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i32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where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Sized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, {}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returns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where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Sized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param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7F7F7F"/>
                </a:solidFill>
                <a:cs typeface="+mn-ea"/>
                <a:sym typeface="+mn-lt"/>
              </a:rPr>
              <a:t>s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where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Sized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, {}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typed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&lt;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&gt;(&amp;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, t: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where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200" dirty="0">
                <a:solidFill>
                  <a:srgbClr val="4EC9B0"/>
                </a:solidFill>
                <a:cs typeface="+mn-ea"/>
                <a:sym typeface="+mn-lt"/>
              </a:rPr>
              <a:t>Sized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, {}</a:t>
            </a:r>
          </a:p>
          <a:p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200" dirty="0">
                <a:solidFill>
                  <a:srgbClr val="6A9955"/>
                </a:solidFill>
                <a:cs typeface="+mn-ea"/>
                <a:sym typeface="+mn-lt"/>
              </a:rPr>
              <a:t>这是对象安全的方法，不需要加  </a:t>
            </a:r>
            <a:r>
              <a:rPr lang="en-US" altLang="zh-CN" sz="1200" dirty="0">
                <a:solidFill>
                  <a:srgbClr val="6A9955"/>
                </a:solidFill>
                <a:cs typeface="+mn-ea"/>
                <a:sym typeface="+mn-lt"/>
              </a:rPr>
              <a:t>where Self: Sized</a:t>
            </a:r>
            <a:endParaRPr lang="en-US" altLang="zh-CN" sz="12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8C8C8"/>
                </a:solidFill>
                <a:cs typeface="+mn-ea"/>
                <a:sym typeface="+mn-lt"/>
              </a:rPr>
              <a:t>call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{}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test_dyn_trait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7F7F7F"/>
                </a:solidFill>
                <a:cs typeface="+mn-ea"/>
                <a:sym typeface="+mn-lt"/>
              </a:rPr>
              <a:t>obj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: &amp;</a:t>
            </a:r>
            <a:r>
              <a:rPr lang="en-US" altLang="zh-CN" sz="1200" dirty="0" err="1">
                <a:solidFill>
                  <a:srgbClr val="569CD6"/>
                </a:solidFill>
                <a:cs typeface="+mn-ea"/>
                <a:sym typeface="+mn-lt"/>
              </a:rPr>
              <a:t>dyn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4EC9B0"/>
                </a:solidFill>
                <a:cs typeface="+mn-ea"/>
                <a:sym typeface="+mn-lt"/>
              </a:rPr>
              <a:t>NonObjectSafe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7F7F7F"/>
                </a:solidFill>
                <a:cs typeface="+mn-ea"/>
                <a:sym typeface="+mn-lt"/>
              </a:rPr>
              <a:t>obj</a:t>
            </a:r>
            <a:r>
              <a:rPr lang="en-US" altLang="zh-CN" sz="12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C8C8C8"/>
                </a:solidFill>
                <a:cs typeface="+mn-ea"/>
                <a:sym typeface="+mn-lt"/>
              </a:rPr>
              <a:t>call</a:t>
            </a:r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0959" y="12380"/>
            <a:ext cx="337752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trait-trait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孤儿规则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8713" y="656965"/>
            <a:ext cx="10730432" cy="1612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Rust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语言对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的实现添加了限制：在某个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crate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中为一个类型实现一个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时，必须满足以下中的一条：</a:t>
            </a:r>
          </a:p>
          <a:p>
            <a:pPr algn="l"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）该类型为当前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crate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所定义</a:t>
            </a:r>
          </a:p>
          <a:p>
            <a:pPr algn="l"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）该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为当前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crate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所定义</a:t>
            </a:r>
          </a:p>
          <a:p>
            <a:pPr algn="l"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比如下面的例子中，我们尝试为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String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类型实现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Clone 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，则会使编译器报错</a:t>
            </a:r>
          </a:p>
          <a:p>
            <a:pPr algn="l">
              <a:lnSpc>
                <a:spcPct val="150000"/>
              </a:lnSpc>
            </a:pP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80959" y="3979463"/>
            <a:ext cx="5626782" cy="22618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这被</a:t>
            </a:r>
            <a:r>
              <a:rPr lang="zh-CN" altLang="en-US" sz="1400" b="0" u="none">
                <a:solidFill>
                  <a:srgbClr val="000000"/>
                </a:solidFill>
                <a:cs typeface="+mn-ea"/>
                <a:sym typeface="+mn-lt"/>
              </a:rPr>
              <a:t>称为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Rust 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的孤儿规则。该规则主要有两条目的：</a:t>
            </a: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防止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crate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间的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实现冲突；</a:t>
            </a: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实现</a:t>
            </a:r>
            <a:r>
              <a:rPr lang="zh-CN" altLang="en-US" sz="1400" b="0" u="none">
                <a:solidFill>
                  <a:srgbClr val="000000"/>
                </a:solidFill>
                <a:cs typeface="+mn-ea"/>
                <a:sym typeface="+mn-lt"/>
              </a:rPr>
              <a:t>向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前兼容，即不会因为依赖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crate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中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实现的变化而造成依赖项目无法编译；</a:t>
            </a:r>
          </a:p>
          <a:p>
            <a:pPr indent="0" algn="l">
              <a:lnSpc>
                <a:spcPct val="150000"/>
              </a:lnSpc>
              <a:buNone/>
            </a:pPr>
            <a:endParaRPr lang="zh-CN" sz="1400" b="0" u="none">
              <a:solidFill>
                <a:srgbClr val="000000"/>
              </a:solidFill>
              <a:cs typeface="+mn-ea"/>
              <a:sym typeface="+mn-lt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如果确实要为其他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crate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中的类型实现其他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crate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中的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，建议使用封装类型，如右例所示。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7885" y="2319286"/>
            <a:ext cx="3961699" cy="138360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as_str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01244" y="3979463"/>
            <a:ext cx="5348074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StringWrapper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StringWrapper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StringWrapper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as_str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" name="Picture 4" descr="upload_0813807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952" y="2294401"/>
            <a:ext cx="6569652" cy="1443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0959" y="40612"/>
            <a:ext cx="420147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3200" b="1" u="none">
                <a:solidFill>
                  <a:srgbClr val="C00000"/>
                </a:solidFill>
                <a:cs typeface="+mn-ea"/>
                <a:sym typeface="+mn-lt"/>
              </a:rPr>
              <a:t>trait-</a:t>
            </a:r>
            <a:r>
              <a:rPr lang="zh-CN" sz="3200" b="1" u="none">
                <a:solidFill>
                  <a:srgbClr val="C00000"/>
                </a:solidFill>
                <a:cs typeface="+mn-ea"/>
                <a:sym typeface="+mn-lt"/>
              </a:rPr>
              <a:t>语言内置重点</a:t>
            </a:r>
            <a:r>
              <a:rPr lang="en-US" sz="3200" b="1" u="none">
                <a:solidFill>
                  <a:srgbClr val="C00000"/>
                </a:solidFill>
                <a:cs typeface="+mn-ea"/>
                <a:sym typeface="+mn-lt"/>
              </a:rPr>
              <a:t>trait</a:t>
            </a:r>
            <a:endParaRPr kumimoji="1" lang="en-US" altLang="zh-CN" sz="3200" b="1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0959" y="675279"/>
            <a:ext cx="10740640" cy="1846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Rust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标准库提供了多种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，以实现类型的大小比较。</a:t>
            </a:r>
            <a:endParaRPr kumimoji="1"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sz="1600" b="1" u="none" dirty="0" err="1">
                <a:solidFill>
                  <a:srgbClr val="FF0000"/>
                </a:solidFill>
                <a:cs typeface="+mn-ea"/>
                <a:sym typeface="+mn-lt"/>
              </a:rPr>
              <a:t>PartialEq</a:t>
            </a:r>
            <a:endParaRPr lang="zh-CN" sz="1600" b="0" u="none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若变量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的类型是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，变量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的类型是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，则</a:t>
            </a:r>
            <a:r>
              <a:rPr lang="en-US" sz="1600" b="0" u="none" dirty="0" err="1">
                <a:solidFill>
                  <a:srgbClr val="000000"/>
                </a:solidFill>
                <a:cs typeface="+mn-ea"/>
                <a:sym typeface="+mn-lt"/>
              </a:rPr>
              <a:t>PatialEq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是用于判断 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a == b 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和 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a != b 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运算结果的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。其中，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类型是</a:t>
            </a:r>
            <a:r>
              <a:rPr lang="en-US" sz="1600" b="0" u="none" dirty="0" err="1">
                <a:solidFill>
                  <a:srgbClr val="000000"/>
                </a:solidFill>
                <a:cs typeface="+mn-ea"/>
                <a:sym typeface="+mn-lt"/>
              </a:rPr>
              <a:t>PartialEq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&lt;B&gt;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的实例。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a != b 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当且仅当 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!(a == b)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在下例中，在为</a:t>
            </a:r>
            <a:r>
              <a:rPr lang="en-US" altLang="zh-CN" sz="1600" b="0" u="none" dirty="0" err="1">
                <a:solidFill>
                  <a:srgbClr val="000000"/>
                </a:solidFill>
                <a:cs typeface="+mn-ea"/>
                <a:sym typeface="+mn-lt"/>
              </a:rPr>
              <a:t>E</a:t>
            </a:r>
            <a:r>
              <a:rPr lang="en-US" sz="1600" b="0" u="none" dirty="0" err="1">
                <a:solidFill>
                  <a:srgbClr val="000000"/>
                </a:solidFill>
                <a:cs typeface="+mn-ea"/>
                <a:sym typeface="+mn-lt"/>
              </a:rPr>
              <a:t>Book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类型实现了</a:t>
            </a:r>
            <a:r>
              <a:rPr lang="en-US" sz="1600" b="0" u="none" dirty="0" err="1">
                <a:solidFill>
                  <a:srgbClr val="000000"/>
                </a:solidFill>
                <a:cs typeface="+mn-ea"/>
                <a:sym typeface="+mn-lt"/>
              </a:rPr>
              <a:t>PartialEq</a:t>
            </a:r>
            <a:r>
              <a:rPr lang="zh-CN" sz="1600" b="0" u="none" dirty="0">
                <a:solidFill>
                  <a:srgbClr val="000000"/>
                </a:solidFill>
                <a:cs typeface="+mn-ea"/>
                <a:sym typeface="+mn-lt"/>
              </a:rPr>
              <a:t>后，就可以通过比较运算符进行比较。</a:t>
            </a:r>
            <a:endParaRPr kumimoji="1"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E00C8B1C-1870-4C89-8808-4CEC8F44E622}"/>
              </a:ext>
            </a:extLst>
          </p:cNvPr>
          <p:cNvSpPr/>
          <p:nvPr/>
        </p:nvSpPr>
        <p:spPr>
          <a:xfrm>
            <a:off x="7153917" y="2566747"/>
            <a:ext cx="2855621" cy="37548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b1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400" dirty="0" err="1">
                <a:solidFill>
                  <a:srgbClr val="4EC9B0"/>
                </a:solidFill>
                <a:cs typeface="+mn-ea"/>
                <a:sym typeface="+mn-lt"/>
              </a:rPr>
              <a:t>EBook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DADADA"/>
                </a:solidFill>
                <a:cs typeface="+mn-ea"/>
                <a:sym typeface="+mn-lt"/>
              </a:rPr>
              <a:t>isbn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DADADA"/>
                </a:solidFill>
                <a:cs typeface="+mn-ea"/>
                <a:sym typeface="+mn-lt"/>
              </a:rPr>
              <a:t>e_code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200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b2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400" dirty="0" err="1">
                <a:solidFill>
                  <a:srgbClr val="4EC9B0"/>
                </a:solidFill>
                <a:cs typeface="+mn-ea"/>
                <a:sym typeface="+mn-lt"/>
              </a:rPr>
              <a:t>EBook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DADADA"/>
                </a:solidFill>
                <a:cs typeface="+mn-ea"/>
                <a:sym typeface="+mn-lt"/>
              </a:rPr>
              <a:t>isbn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DADADA"/>
                </a:solidFill>
                <a:cs typeface="+mn-ea"/>
                <a:sym typeface="+mn-lt"/>
              </a:rPr>
              <a:t>e_code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100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b3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400" dirty="0" err="1">
                <a:solidFill>
                  <a:srgbClr val="4EC9B0"/>
                </a:solidFill>
                <a:cs typeface="+mn-ea"/>
                <a:sym typeface="+mn-lt"/>
              </a:rPr>
              <a:t>EBook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DADADA"/>
                </a:solidFill>
                <a:cs typeface="+mn-ea"/>
                <a:sym typeface="+mn-lt"/>
              </a:rPr>
              <a:t>isbn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DADADA"/>
                </a:solidFill>
                <a:cs typeface="+mn-ea"/>
                <a:sym typeface="+mn-lt"/>
              </a:rPr>
              <a:t>e_code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200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BD63C5"/>
                </a:solidFill>
                <a:cs typeface="+mn-ea"/>
                <a:sym typeface="+mn-lt"/>
              </a:rPr>
              <a:t>assert!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b1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==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b2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BD63C5"/>
                </a:solidFill>
                <a:cs typeface="+mn-ea"/>
                <a:sym typeface="+mn-lt"/>
              </a:rPr>
              <a:t>assert!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b1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!=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b3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C15648-C09E-4FF5-BFCE-E6CC2693A3A8}"/>
              </a:ext>
            </a:extLst>
          </p:cNvPr>
          <p:cNvSpPr/>
          <p:nvPr/>
        </p:nvSpPr>
        <p:spPr>
          <a:xfrm>
            <a:off x="1067225" y="2857502"/>
            <a:ext cx="4308168" cy="24622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4EC9B0"/>
                </a:solidFill>
                <a:cs typeface="+mn-ea"/>
                <a:sym typeface="+mn-lt"/>
              </a:rPr>
              <a:t>EBook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DADADA"/>
                </a:solidFill>
                <a:cs typeface="+mn-ea"/>
                <a:sym typeface="+mn-lt"/>
              </a:rPr>
              <a:t>isbn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4EC9B0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DADADA"/>
                </a:solidFill>
                <a:cs typeface="+mn-ea"/>
                <a:sym typeface="+mn-lt"/>
              </a:rPr>
              <a:t>e_code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4EC9B0"/>
                </a:solidFill>
                <a:cs typeface="+mn-ea"/>
                <a:sym typeface="+mn-lt"/>
              </a:rPr>
              <a:t>u64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impl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4EC9B0"/>
                </a:solidFill>
                <a:cs typeface="+mn-ea"/>
                <a:sym typeface="+mn-lt"/>
              </a:rPr>
              <a:t>PartialEq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for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4EC9B0"/>
                </a:solidFill>
                <a:cs typeface="+mn-ea"/>
                <a:sym typeface="+mn-lt"/>
              </a:rPr>
              <a:t>EBook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eq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7F7F7F"/>
                </a:solidFill>
                <a:cs typeface="+mn-ea"/>
                <a:sym typeface="+mn-lt"/>
              </a:rPr>
              <a:t>other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 &amp;</a:t>
            </a:r>
            <a:r>
              <a:rPr lang="en-US" altLang="zh-CN" sz="1400" dirty="0" err="1">
                <a:solidFill>
                  <a:srgbClr val="4EC9B0"/>
                </a:solidFill>
                <a:cs typeface="+mn-ea"/>
                <a:sym typeface="+mn-lt"/>
              </a:rPr>
              <a:t>EBook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4EC9B0"/>
                </a:solidFill>
                <a:cs typeface="+mn-ea"/>
                <a:sym typeface="+mn-lt"/>
              </a:rPr>
              <a:t>bool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 err="1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sz="14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DADADA"/>
                </a:solidFill>
                <a:cs typeface="+mn-ea"/>
                <a:sym typeface="+mn-lt"/>
              </a:rPr>
              <a:t>isbn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== </a:t>
            </a:r>
            <a:r>
              <a:rPr lang="en-US" altLang="zh-CN" sz="1400" dirty="0" err="1">
                <a:solidFill>
                  <a:srgbClr val="7F7F7F"/>
                </a:solidFill>
                <a:cs typeface="+mn-ea"/>
                <a:sym typeface="+mn-lt"/>
              </a:rPr>
              <a:t>other</a:t>
            </a:r>
            <a:r>
              <a:rPr lang="en-US" altLang="zh-CN" sz="14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DADADA"/>
                </a:solidFill>
                <a:cs typeface="+mn-ea"/>
                <a:sym typeface="+mn-lt"/>
              </a:rPr>
              <a:t>isbn</a:t>
            </a:r>
            <a:endParaRPr lang="en-US" altLang="zh-CN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0020" y="809750"/>
            <a:ext cx="9195273" cy="22702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b="1" dirty="0">
                <a:solidFill>
                  <a:srgbClr val="FF0000"/>
                </a:solidFill>
                <a:cs typeface="+mn-ea"/>
                <a:sym typeface="+mn-lt"/>
              </a:rPr>
              <a:t>Eq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cs typeface="+mn-ea"/>
                <a:sym typeface="+mn-lt"/>
              </a:rPr>
              <a:t>Eq</a:t>
            </a:r>
            <a:r>
              <a:rPr kumimoji="1" lang="zh-CN" altLang="en-US" sz="1400" dirty="0">
                <a:cs typeface="+mn-ea"/>
                <a:sym typeface="+mn-lt"/>
              </a:rPr>
              <a:t>的条件比</a:t>
            </a:r>
            <a:r>
              <a:rPr kumimoji="1" lang="en-US" altLang="zh-CN" sz="1400" dirty="0" err="1">
                <a:cs typeface="+mn-ea"/>
                <a:sym typeface="+mn-lt"/>
              </a:rPr>
              <a:t>PartialEq</a:t>
            </a:r>
            <a:r>
              <a:rPr kumimoji="1" lang="zh-CN" altLang="en-US" sz="1400" dirty="0">
                <a:cs typeface="+mn-ea"/>
                <a:sym typeface="+mn-lt"/>
              </a:rPr>
              <a:t>更为严格，且仅能用于同类型之间的比较。若</a:t>
            </a:r>
            <a:r>
              <a:rPr kumimoji="1" lang="en-US" altLang="zh-CN" sz="1400" dirty="0">
                <a:cs typeface="+mn-ea"/>
                <a:sym typeface="+mn-lt"/>
              </a:rPr>
              <a:t>A</a:t>
            </a:r>
            <a:r>
              <a:rPr kumimoji="1" lang="zh-CN" altLang="en-US" sz="1400" dirty="0">
                <a:cs typeface="+mn-ea"/>
                <a:sym typeface="+mn-lt"/>
              </a:rPr>
              <a:t>类型已满足</a:t>
            </a:r>
            <a:r>
              <a:rPr kumimoji="1" lang="en-US" altLang="zh-CN" sz="1400" dirty="0" err="1">
                <a:cs typeface="+mn-ea"/>
                <a:sym typeface="+mn-lt"/>
              </a:rPr>
              <a:t>PartialEq</a:t>
            </a:r>
            <a:r>
              <a:rPr kumimoji="1" lang="zh-CN" altLang="en-US" sz="1400" dirty="0">
                <a:cs typeface="+mn-ea"/>
                <a:sym typeface="+mn-lt"/>
              </a:rPr>
              <a:t>，变量</a:t>
            </a:r>
            <a:r>
              <a:rPr kumimoji="1" lang="en-US" altLang="zh-CN" sz="1400" dirty="0">
                <a:cs typeface="+mn-ea"/>
                <a:sym typeface="+mn-lt"/>
              </a:rPr>
              <a:t>a</a:t>
            </a:r>
            <a:r>
              <a:rPr kumimoji="1" lang="zh-CN" altLang="en-US" sz="1400" dirty="0">
                <a:cs typeface="+mn-ea"/>
                <a:sym typeface="+mn-lt"/>
              </a:rPr>
              <a:t>，</a:t>
            </a:r>
            <a:r>
              <a:rPr kumimoji="1" lang="en-US" altLang="zh-CN" sz="1400" dirty="0">
                <a:cs typeface="+mn-ea"/>
                <a:sym typeface="+mn-lt"/>
              </a:rPr>
              <a:t>b</a:t>
            </a:r>
            <a:r>
              <a:rPr kumimoji="1" lang="zh-CN" altLang="en-US" sz="1400" dirty="0">
                <a:cs typeface="+mn-ea"/>
                <a:sym typeface="+mn-lt"/>
              </a:rPr>
              <a:t>，</a:t>
            </a:r>
            <a:r>
              <a:rPr kumimoji="1" lang="en-US" altLang="zh-CN" sz="1400" dirty="0">
                <a:cs typeface="+mn-ea"/>
                <a:sym typeface="+mn-lt"/>
              </a:rPr>
              <a:t>c</a:t>
            </a:r>
            <a:r>
              <a:rPr kumimoji="1" lang="zh-CN" altLang="en-US" sz="1400" dirty="0">
                <a:cs typeface="+mn-ea"/>
                <a:sym typeface="+mn-lt"/>
              </a:rPr>
              <a:t>为</a:t>
            </a:r>
            <a:r>
              <a:rPr kumimoji="1" lang="en-US" altLang="zh-CN" sz="1400" dirty="0">
                <a:cs typeface="+mn-ea"/>
                <a:sym typeface="+mn-lt"/>
              </a:rPr>
              <a:t>A</a:t>
            </a:r>
            <a:r>
              <a:rPr kumimoji="1" lang="zh-CN" altLang="en-US" sz="1400" dirty="0">
                <a:cs typeface="+mn-ea"/>
                <a:sym typeface="+mn-lt"/>
              </a:rPr>
              <a:t>类型任意对象，且满足以下条件：</a:t>
            </a:r>
            <a:endParaRPr kumimoji="1" lang="en-US" altLang="zh-CN" sz="14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cs typeface="+mn-ea"/>
                <a:sym typeface="+mn-lt"/>
              </a:rPr>
              <a:t>（</a:t>
            </a:r>
            <a:r>
              <a:rPr kumimoji="1" lang="en-US" altLang="zh-CN" sz="1400" dirty="0">
                <a:cs typeface="+mn-ea"/>
                <a:sym typeface="+mn-lt"/>
              </a:rPr>
              <a:t>1</a:t>
            </a:r>
            <a:r>
              <a:rPr kumimoji="1" lang="zh-CN" altLang="en-US" sz="1400" dirty="0">
                <a:cs typeface="+mn-ea"/>
                <a:sym typeface="+mn-lt"/>
              </a:rPr>
              <a:t>）自反性：</a:t>
            </a:r>
            <a:r>
              <a:rPr kumimoji="1" lang="en-US" altLang="zh-CN" sz="1400" dirty="0">
                <a:cs typeface="+mn-ea"/>
                <a:sym typeface="+mn-lt"/>
              </a:rPr>
              <a:t>a == a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cs typeface="+mn-ea"/>
                <a:sym typeface="+mn-lt"/>
              </a:rPr>
              <a:t>（</a:t>
            </a:r>
            <a:r>
              <a:rPr kumimoji="1" lang="en-US" altLang="zh-CN" sz="1400" dirty="0">
                <a:cs typeface="+mn-ea"/>
                <a:sym typeface="+mn-lt"/>
              </a:rPr>
              <a:t>2</a:t>
            </a:r>
            <a:r>
              <a:rPr kumimoji="1" lang="zh-CN" altLang="en-US" sz="1400" dirty="0">
                <a:cs typeface="+mn-ea"/>
                <a:sym typeface="+mn-lt"/>
              </a:rPr>
              <a:t>）对称性 ：</a:t>
            </a:r>
            <a:r>
              <a:rPr kumimoji="1" lang="en-US" altLang="zh-CN" sz="1400" dirty="0">
                <a:cs typeface="+mn-ea"/>
                <a:sym typeface="+mn-lt"/>
              </a:rPr>
              <a:t>a == b </a:t>
            </a:r>
            <a:r>
              <a:rPr kumimoji="1" lang="zh-CN" altLang="en-US" sz="1400" dirty="0">
                <a:cs typeface="+mn-ea"/>
                <a:sym typeface="+mn-lt"/>
              </a:rPr>
              <a:t>当且仅当 </a:t>
            </a:r>
            <a:r>
              <a:rPr kumimoji="1" lang="en-US" altLang="zh-CN" sz="1400" dirty="0">
                <a:cs typeface="+mn-ea"/>
                <a:sym typeface="+mn-lt"/>
              </a:rPr>
              <a:t>b == a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cs typeface="+mn-ea"/>
                <a:sym typeface="+mn-lt"/>
              </a:rPr>
              <a:t>（</a:t>
            </a:r>
            <a:r>
              <a:rPr kumimoji="1" lang="en-US" altLang="zh-CN" sz="1400" dirty="0">
                <a:cs typeface="+mn-ea"/>
                <a:sym typeface="+mn-lt"/>
              </a:rPr>
              <a:t>3</a:t>
            </a:r>
            <a:r>
              <a:rPr kumimoji="1" lang="zh-CN" altLang="en-US" sz="1400" dirty="0">
                <a:cs typeface="+mn-ea"/>
                <a:sym typeface="+mn-lt"/>
              </a:rPr>
              <a:t>）传递性：</a:t>
            </a:r>
            <a:r>
              <a:rPr kumimoji="1" lang="en-US" altLang="zh-CN" sz="1400" dirty="0">
                <a:cs typeface="+mn-ea"/>
                <a:sym typeface="+mn-lt"/>
              </a:rPr>
              <a:t>a == b </a:t>
            </a:r>
            <a:r>
              <a:rPr kumimoji="1" lang="zh-CN" altLang="en-US" sz="1400" dirty="0">
                <a:cs typeface="+mn-ea"/>
                <a:sym typeface="+mn-lt"/>
              </a:rPr>
              <a:t>且 </a:t>
            </a:r>
            <a:r>
              <a:rPr kumimoji="1" lang="en-US" altLang="zh-CN" sz="1400" dirty="0">
                <a:cs typeface="+mn-ea"/>
                <a:sym typeface="+mn-lt"/>
              </a:rPr>
              <a:t>b == c</a:t>
            </a:r>
            <a:r>
              <a:rPr kumimoji="1" lang="zh-CN" altLang="en-US" sz="1400" dirty="0">
                <a:cs typeface="+mn-ea"/>
                <a:sym typeface="+mn-lt"/>
              </a:rPr>
              <a:t>，则</a:t>
            </a:r>
            <a:r>
              <a:rPr kumimoji="1" lang="en-US" altLang="zh-CN" sz="1400" dirty="0">
                <a:cs typeface="+mn-ea"/>
                <a:sym typeface="+mn-lt"/>
              </a:rPr>
              <a:t>a == c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cs typeface="+mn-ea"/>
                <a:sym typeface="+mn-lt"/>
              </a:rPr>
              <a:t>那么我们可以为该类型实现</a:t>
            </a:r>
            <a:r>
              <a:rPr kumimoji="1" lang="en-US" altLang="zh-CN" sz="1400" dirty="0">
                <a:cs typeface="+mn-ea"/>
                <a:sym typeface="+mn-lt"/>
              </a:rPr>
              <a:t>Eq</a:t>
            </a:r>
            <a:r>
              <a:rPr kumimoji="1" lang="zh-CN" altLang="en-US" sz="1400" dirty="0">
                <a:cs typeface="+mn-ea"/>
                <a:sym typeface="+mn-lt"/>
              </a:rPr>
              <a:t>。当然，</a:t>
            </a:r>
            <a:r>
              <a:rPr kumimoji="1" lang="en-US" altLang="zh-CN" sz="1400" dirty="0">
                <a:cs typeface="+mn-ea"/>
                <a:sym typeface="+mn-lt"/>
              </a:rPr>
              <a:t>Eq</a:t>
            </a:r>
            <a:r>
              <a:rPr kumimoji="1" lang="zh-CN" altLang="en-US" sz="1400" dirty="0">
                <a:cs typeface="+mn-ea"/>
                <a:sym typeface="+mn-lt"/>
              </a:rPr>
              <a:t>也可以使用</a:t>
            </a:r>
            <a:r>
              <a:rPr kumimoji="1" lang="en-US" altLang="zh-CN" sz="1400" dirty="0">
                <a:cs typeface="+mn-ea"/>
                <a:sym typeface="+mn-lt"/>
              </a:rPr>
              <a:t>derive</a:t>
            </a:r>
            <a:r>
              <a:rPr kumimoji="1" lang="zh-CN" altLang="en-US" sz="1400" dirty="0">
                <a:cs typeface="+mn-ea"/>
                <a:sym typeface="+mn-lt"/>
              </a:rPr>
              <a:t>属性宏进行快捷实现。</a:t>
            </a:r>
            <a:endParaRPr kumimoji="1" lang="en-US" altLang="zh-CN" sz="1400" dirty="0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51338" y="3247374"/>
            <a:ext cx="4245415" cy="270843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BookFormat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Paperback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Hardback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Ebook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,}</a:t>
            </a: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Book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isbn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format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BookFormat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PartialEq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Book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eq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other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bool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.isbn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other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.isbn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Eq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Book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07940" y="3602988"/>
            <a:ext cx="4462837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#[derive(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Eq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PartialEq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BookFormat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Paperback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Hardback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Ebook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#[derive(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Eq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PartialEq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Book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isbn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format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BookFormat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0959" y="40612"/>
            <a:ext cx="420147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3200" b="1" u="none">
                <a:solidFill>
                  <a:srgbClr val="C00000"/>
                </a:solidFill>
                <a:cs typeface="+mn-ea"/>
                <a:sym typeface="+mn-lt"/>
              </a:rPr>
              <a:t>trait-</a:t>
            </a:r>
            <a:r>
              <a:rPr lang="zh-CN" sz="3200" b="1" u="none">
                <a:solidFill>
                  <a:srgbClr val="C00000"/>
                </a:solidFill>
                <a:cs typeface="+mn-ea"/>
                <a:sym typeface="+mn-lt"/>
              </a:rPr>
              <a:t>语言内置重点</a:t>
            </a:r>
            <a:r>
              <a:rPr lang="en-US" sz="3200" b="1" u="none">
                <a:solidFill>
                  <a:srgbClr val="C00000"/>
                </a:solidFill>
                <a:cs typeface="+mn-ea"/>
                <a:sym typeface="+mn-lt"/>
              </a:rPr>
              <a:t>trait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BE19121-1EB8-425E-BF55-4A31147C1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489"/>
            <a:ext cx="16706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pub trait Eq: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  <a:hlinkClick r:id="rId3" tooltip="trait std::cmp::PartialEq"/>
              </a:rPr>
              <a:t>PartialEq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{ }</a:t>
            </a: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+mn-ea"/>
                <a:sym typeface="+mn-lt"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1E4761-9729-4BFF-968C-CB4EB5B58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7889"/>
            <a:ext cx="16706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pub trait Eq: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  <a:hlinkClick r:id="rId3" tooltip="trait std::cmp::PartialEq"/>
              </a:rPr>
              <a:t>PartialEq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{ }</a:t>
            </a: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+mn-ea"/>
                <a:sym typeface="+mn-lt"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F3ED76D-124C-4DDA-954F-9EDB40D01DFA}"/>
              </a:ext>
            </a:extLst>
          </p:cNvPr>
          <p:cNvGrpSpPr/>
          <p:nvPr/>
        </p:nvGrpSpPr>
        <p:grpSpPr>
          <a:xfrm>
            <a:off x="7532445" y="1635218"/>
            <a:ext cx="3985914" cy="471076"/>
            <a:chOff x="7476604" y="1482818"/>
            <a:chExt cx="3985914" cy="471076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DC58BA0-8311-433C-B6DA-AAF18FBDC5B2}"/>
                </a:ext>
              </a:extLst>
            </p:cNvPr>
            <p:cNvSpPr txBox="1"/>
            <p:nvPr/>
          </p:nvSpPr>
          <p:spPr>
            <a:xfrm>
              <a:off x="7476604" y="1482818"/>
              <a:ext cx="1134617" cy="46814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zh-CN" altLang="en-US" sz="1400" dirty="0">
                  <a:cs typeface="+mn-ea"/>
                  <a:sym typeface="+mn-lt"/>
                </a:rPr>
                <a:t>标准库定义：</a:t>
              </a: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E428490-BA93-4F35-A8ED-856251F2E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11221" y="1534772"/>
              <a:ext cx="2851297" cy="41912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0959" y="578489"/>
            <a:ext cx="10740640" cy="24003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u="none">
                <a:solidFill>
                  <a:srgbClr val="FF0000"/>
                </a:solidFill>
                <a:cs typeface="+mn-ea"/>
                <a:sym typeface="+mn-lt"/>
              </a:rPr>
              <a:t>PartialOrd</a:t>
            </a:r>
            <a:endParaRPr lang="en-US" sz="1400" b="0" u="none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PartialEq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是为了计算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a == b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运算的结果，而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PartialOrd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是为了计算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a &gt; b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a &lt; b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a &gt;= b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a &lt;= b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运算的结果。这几种运算都是通过调用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PartialOrd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中的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a.partial_cmp (b)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方法，通过判断该方法返回值来实现的。</a:t>
            </a:r>
          </a:p>
          <a:p>
            <a:pPr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注意：实现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PartialOrd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的对象必须先实现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PartialEq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以下是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Rust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标准库提供的用于表示两个对象之间大小关系的枚举类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Ordering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，其中</a:t>
            </a:r>
            <a:endParaRPr lang="en-US" sz="1400" b="0" u="none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Less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表示小于，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Equal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表示相等，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Greater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表示大于。</a:t>
            </a:r>
            <a:r>
              <a:rPr b="0" u="none"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a.partial_cmp (b)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方法的返回值为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Option&lt;Ordering&gt;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当无法正确比较大小时（一般仅用于浮点数大小，比较双方差异过小时），将会返回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None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0020" y="3403991"/>
            <a:ext cx="7896318" cy="27392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/// An ordering where a compared value is less than another.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#[stable(feature =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"rust1"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since =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"1.0.0"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Less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-1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/// An ordering where a compared value is equal to another.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#[stable(feature =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"rust1"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since =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"1.0.0"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Equal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/// An ordering where a compared value is greater than another.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#[stable(feature =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"rust1"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since =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"1.0.0"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Greater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0959" y="40612"/>
            <a:ext cx="420147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3200" b="1" u="none">
                <a:solidFill>
                  <a:srgbClr val="C00000"/>
                </a:solidFill>
                <a:cs typeface="+mn-ea"/>
                <a:sym typeface="+mn-lt"/>
              </a:rPr>
              <a:t>trait-</a:t>
            </a:r>
            <a:r>
              <a:rPr lang="zh-CN" sz="3200" b="1" u="none">
                <a:solidFill>
                  <a:srgbClr val="C00000"/>
                </a:solidFill>
                <a:cs typeface="+mn-ea"/>
                <a:sym typeface="+mn-lt"/>
              </a:rPr>
              <a:t>语言内置重点</a:t>
            </a:r>
            <a:r>
              <a:rPr lang="en-US" sz="3200" b="1" u="none">
                <a:solidFill>
                  <a:srgbClr val="C00000"/>
                </a:solidFill>
                <a:cs typeface="+mn-ea"/>
                <a:sym typeface="+mn-lt"/>
              </a:rPr>
              <a:t>trait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097" y="638829"/>
            <a:ext cx="9195273" cy="654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b="1">
                <a:solidFill>
                  <a:srgbClr val="FF0000"/>
                </a:solidFill>
                <a:cs typeface="+mn-ea"/>
                <a:sym typeface="+mn-lt"/>
              </a:rPr>
              <a:t>PartialOrd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下面是使用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PartialOrd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的一个例子。对于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Person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的大小比较，通过比较其成员变量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height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来获取结果。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0959" y="5497431"/>
            <a:ext cx="919527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一般情况下，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PartialOrd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用于同类型之间的比较，但也可以通过为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类型实现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PartialOrd&lt;B&gt;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来进行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类型和</a:t>
            </a:r>
            <a:r>
              <a:rPr kumimoji="1" lang="en-US" altLang="zh-CN" sz="140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kumimoji="1" lang="zh-CN" altLang="en-US" sz="1400">
                <a:solidFill>
                  <a:srgbClr val="000000"/>
                </a:solidFill>
                <a:cs typeface="+mn-ea"/>
                <a:sym typeface="+mn-lt"/>
              </a:rPr>
              <a:t>类型之间的大小比较。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0959" y="1885482"/>
            <a:ext cx="5333350" cy="34470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PartialOrd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partial_cmp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other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Option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.height.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partial_cmp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other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.height)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PartialEq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eq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other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bool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.height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other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.height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5747965" y="1885482"/>
            <a:ext cx="5637212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100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zh-CN" altLang="en-US" sz="1200">
                <a:solidFill>
                  <a:srgbClr val="98C379"/>
                </a:solidFill>
                <a:cs typeface="+mn-ea"/>
                <a:sym typeface="+mn-lt"/>
              </a:rPr>
              <a:t>小明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170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200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zh-CN" altLang="en-US" sz="1200">
                <a:solidFill>
                  <a:srgbClr val="98C379"/>
                </a:solidFill>
                <a:cs typeface="+mn-ea"/>
                <a:sym typeface="+mn-lt"/>
              </a:rPr>
              <a:t>小刚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175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300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zh-CN" altLang="en-US" sz="1200">
                <a:solidFill>
                  <a:srgbClr val="98C379"/>
                </a:solidFill>
                <a:cs typeface="+mn-ea"/>
                <a:sym typeface="+mn-lt"/>
              </a:rPr>
              <a:t>小红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160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&lt;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&gt;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0959" y="40612"/>
            <a:ext cx="420147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3200" b="1" u="none">
                <a:solidFill>
                  <a:srgbClr val="C00000"/>
                </a:solidFill>
                <a:cs typeface="+mn-ea"/>
                <a:sym typeface="+mn-lt"/>
              </a:rPr>
              <a:t>trait-</a:t>
            </a:r>
            <a:r>
              <a:rPr lang="zh-CN" sz="3200" b="1" u="none">
                <a:solidFill>
                  <a:srgbClr val="C00000"/>
                </a:solidFill>
                <a:cs typeface="+mn-ea"/>
                <a:sym typeface="+mn-lt"/>
              </a:rPr>
              <a:t>语言内置重点</a:t>
            </a:r>
            <a:r>
              <a:rPr lang="en-US" sz="3200" b="1" u="none">
                <a:solidFill>
                  <a:srgbClr val="C00000"/>
                </a:solidFill>
                <a:cs typeface="+mn-ea"/>
                <a:sym typeface="+mn-lt"/>
              </a:rPr>
              <a:t>trait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0020" y="809750"/>
            <a:ext cx="9195273" cy="16239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b="1" dirty="0">
                <a:solidFill>
                  <a:srgbClr val="FF0000"/>
                </a:solidFill>
                <a:cs typeface="+mn-ea"/>
                <a:sym typeface="+mn-lt"/>
              </a:rPr>
              <a:t>Ord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Ord</a:t>
            </a:r>
            <a:r>
              <a:rPr kumimoji="1"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的实例通过成员函数</a:t>
            </a:r>
            <a:r>
              <a:rPr kumimoji="1"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cmp</a:t>
            </a:r>
            <a:r>
              <a:rPr kumimoji="1"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来比较大小。其在类型已实现</a:t>
            </a:r>
            <a:r>
              <a:rPr kumimoji="1"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PartialOrd</a:t>
            </a:r>
            <a:r>
              <a:rPr kumimoji="1"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kumimoji="1"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Eq</a:t>
            </a:r>
            <a:r>
              <a:rPr kumimoji="1"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的基础上，再添加了部分限制：</a:t>
            </a:r>
            <a:endParaRPr kumimoji="1"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kumimoji="1"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）比较的双方必须是同一种类型</a:t>
            </a:r>
            <a:endParaRPr kumimoji="1"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kumimoji="1"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）比较结果确定且和顺序无关，如 </a:t>
            </a:r>
            <a:r>
              <a:rPr kumimoji="1"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a &gt; b </a:t>
            </a:r>
            <a:r>
              <a:rPr kumimoji="1"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当且仅当 </a:t>
            </a:r>
            <a:r>
              <a:rPr kumimoji="1"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b &lt; a </a:t>
            </a:r>
            <a:r>
              <a:rPr kumimoji="1"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。因此浮点数类型不能实现</a:t>
            </a:r>
            <a:r>
              <a:rPr kumimoji="1"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Ord</a:t>
            </a:r>
            <a:r>
              <a:rPr kumimoji="1"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kumimoji="1"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1"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即</a:t>
            </a:r>
            <a:r>
              <a:rPr kumimoji="1"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Some(</a:t>
            </a:r>
            <a:r>
              <a:rPr kumimoji="1"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a.cmp</a:t>
            </a:r>
            <a:r>
              <a:rPr kumimoji="1"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(b)) == </a:t>
            </a:r>
            <a:r>
              <a:rPr kumimoji="1"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a.partial_cmp</a:t>
            </a:r>
            <a:r>
              <a:rPr kumimoji="1"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(b)</a:t>
            </a:r>
          </a:p>
        </p:txBody>
      </p:sp>
      <p:sp>
        <p:nvSpPr>
          <p:cNvPr id="2" name="矩形 1"/>
          <p:cNvSpPr/>
          <p:nvPr/>
        </p:nvSpPr>
        <p:spPr>
          <a:xfrm>
            <a:off x="470020" y="3079487"/>
            <a:ext cx="4137839" cy="24929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#[derive(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Eq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cmp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other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Ordering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.height.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cmp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other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.height)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12033" y="3456295"/>
            <a:ext cx="6309566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100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zh-CN" altLang="en-US" sz="1200">
                <a:solidFill>
                  <a:srgbClr val="98C379"/>
                </a:solidFill>
                <a:cs typeface="+mn-ea"/>
                <a:sym typeface="+mn-lt"/>
              </a:rPr>
              <a:t>小明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170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200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zh-CN" altLang="en-US" sz="1200">
                <a:solidFill>
                  <a:srgbClr val="98C379"/>
                </a:solidFill>
                <a:cs typeface="+mn-ea"/>
                <a:sym typeface="+mn-lt"/>
              </a:rPr>
              <a:t>小刚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175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id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300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zh-CN" altLang="en-US" sz="1200">
                <a:solidFill>
                  <a:srgbClr val="98C379"/>
                </a:solidFill>
                <a:cs typeface="+mn-ea"/>
                <a:sym typeface="+mn-lt"/>
              </a:rPr>
              <a:t>小红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height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160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&lt;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&gt;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0959" y="40612"/>
            <a:ext cx="420147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3200" b="1" u="none">
                <a:solidFill>
                  <a:srgbClr val="C00000"/>
                </a:solidFill>
                <a:cs typeface="+mn-ea"/>
                <a:sym typeface="+mn-lt"/>
              </a:rPr>
              <a:t>trait-</a:t>
            </a:r>
            <a:r>
              <a:rPr lang="zh-CN" sz="3200" b="1" u="none">
                <a:solidFill>
                  <a:srgbClr val="C00000"/>
                </a:solidFill>
                <a:cs typeface="+mn-ea"/>
                <a:sym typeface="+mn-lt"/>
              </a:rPr>
              <a:t>语言内置重点</a:t>
            </a:r>
            <a:r>
              <a:rPr lang="en-US" sz="3200" b="1" u="none">
                <a:solidFill>
                  <a:srgbClr val="C00000"/>
                </a:solidFill>
                <a:cs typeface="+mn-ea"/>
                <a:sym typeface="+mn-lt"/>
              </a:rPr>
              <a:t>trait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0020" y="621489"/>
            <a:ext cx="8374878" cy="1338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600" b="1" u="none">
                <a:solidFill>
                  <a:srgbClr val="FF0000"/>
                </a:solidFill>
                <a:cs typeface="+mn-ea"/>
                <a:sym typeface="+mn-lt"/>
              </a:rPr>
              <a:t>Sized</a:t>
            </a:r>
            <a:endParaRPr lang="zh-CN" sz="1400" b="0" u="none">
              <a:solidFill>
                <a:srgbClr val="000000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用于表示实例占用的空间大小在编译时确定。</a:t>
            </a:r>
          </a:p>
          <a:p>
            <a:pPr algn="l"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在程序需要在编译时确定一个实例占用的空间大小，比如在传递函数参数时，就会为实例添加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Sized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约束。比如无长度参数的数组，就不能作为函数参数进行传递。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0019" y="2510913"/>
            <a:ext cx="3393769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[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"unsized array!"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80959" y="40612"/>
            <a:ext cx="420147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3200" b="1" u="none">
                <a:solidFill>
                  <a:srgbClr val="C00000"/>
                </a:solidFill>
                <a:cs typeface="+mn-ea"/>
                <a:sym typeface="+mn-lt"/>
              </a:rPr>
              <a:t>trait-</a:t>
            </a:r>
            <a:r>
              <a:rPr lang="zh-CN" sz="3200" b="1" u="none">
                <a:solidFill>
                  <a:srgbClr val="C00000"/>
                </a:solidFill>
                <a:cs typeface="+mn-ea"/>
                <a:sym typeface="+mn-lt"/>
              </a:rPr>
              <a:t>语言内置重点</a:t>
            </a:r>
            <a:r>
              <a:rPr lang="en-US" sz="3200" b="1" u="none">
                <a:solidFill>
                  <a:srgbClr val="C00000"/>
                </a:solidFill>
                <a:cs typeface="+mn-ea"/>
                <a:sym typeface="+mn-lt"/>
              </a:rPr>
              <a:t>trait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0959" y="536379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右箭头 1"/>
          <p:cNvSpPr/>
          <p:nvPr/>
        </p:nvSpPr>
        <p:spPr>
          <a:xfrm>
            <a:off x="4167724" y="2813009"/>
            <a:ext cx="286870" cy="421341"/>
          </a:xfrm>
          <a:prstGeom prst="righ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0018" y="3783176"/>
            <a:ext cx="10475888" cy="1569085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大部分类型都是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Sized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，而以下几种类型则会被编译器认为是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Unsized:</a:t>
            </a:r>
          </a:p>
          <a:p>
            <a:pPr algn="l">
              <a:lnSpc>
                <a:spcPct val="150000"/>
              </a:lnSpc>
            </a:pPr>
            <a:r>
              <a:rPr b="0" u="none">
                <a:cs typeface="+mn-ea"/>
                <a:sym typeface="+mn-lt"/>
              </a:rPr>
              <a:t>1.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无长度参数组，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[T]</a:t>
            </a:r>
            <a:endParaRPr b="0" u="none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b="0" u="none">
                <a:cs typeface="+mn-ea"/>
                <a:sym typeface="+mn-lt"/>
              </a:rPr>
              <a:t>2.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不含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Sized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约束的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dyn 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类型</a:t>
            </a:r>
            <a:endParaRPr b="0" u="none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b="0" u="none">
                <a:cs typeface="+mn-ea"/>
                <a:sym typeface="+mn-lt"/>
              </a:rPr>
              <a:t>3.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含有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?Sized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约束的结构体泛型参数</a:t>
            </a:r>
            <a:endParaRPr kumimoji="1"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3" name="Picture 2" descr="upload_8820050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002" y="2463771"/>
            <a:ext cx="6151583" cy="1104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3516" y="23834"/>
            <a:ext cx="300563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>
                <a:solidFill>
                  <a:srgbClr val="C00000"/>
                </a:solidFill>
                <a:cs typeface="+mn-ea"/>
                <a:sym typeface="+mn-lt"/>
              </a:rPr>
              <a:t>trait-</a:t>
            </a:r>
            <a:r>
              <a:rPr kumimoji="1" lang="zh-CN" altLang="en-US" sz="3200" b="1">
                <a:solidFill>
                  <a:srgbClr val="C00000"/>
                </a:solidFill>
                <a:cs typeface="+mn-ea"/>
                <a:sym typeface="+mn-lt"/>
              </a:rPr>
              <a:t>运算符重载</a:t>
            </a:r>
            <a:endParaRPr kumimoji="1" lang="zh-CN" altLang="en-US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517" y="742638"/>
            <a:ext cx="10740640" cy="12922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Rust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中的运算符重载是通过标准库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ops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模块提供的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Add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Sub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Mul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等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来实现的，我们可以通过这几种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为自定义类型实现运算符重载。</a:t>
            </a:r>
          </a:p>
          <a:p>
            <a:pPr algn="l"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下面是一个简单的例子，它定义了一个结构体 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Point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，表示二维平面上的点。我们为 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Point 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类型实现了 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Add trait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，以便对两个点执行加法运算。</a:t>
            </a:r>
            <a:endParaRPr kumimoji="1" lang="zh-CN" altLang="en-US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43516" y="533690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778546" y="2035300"/>
            <a:ext cx="4812577" cy="47078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chemeClr val="accent5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chemeClr val="accent5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ops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#[derive(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Copy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Add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type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Output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add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other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.x +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other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.x,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.y +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other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.y,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Point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p2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assert_eq!(p3.x, 4);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   assert_eq!(p3.y, 6);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5836022" y="3723435"/>
            <a:ext cx="376518" cy="684118"/>
          </a:xfrm>
          <a:prstGeom prst="righ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Picture 4" descr="upload_2475791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142" y="3727932"/>
            <a:ext cx="4728159" cy="6768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313" y="59972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trait-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生命周期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参数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253313" y="54228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247154" y="1823219"/>
            <a:ext cx="3931010" cy="35394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trait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Named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name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&amp;'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Named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Person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name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&amp;'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.name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3313" y="801051"/>
            <a:ext cx="107406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cs typeface="+mn-ea"/>
                <a:sym typeface="+mn-lt"/>
              </a:rPr>
              <a:t>在 </a:t>
            </a:r>
            <a:r>
              <a:rPr lang="en-US" altLang="zh-CN" sz="1600">
                <a:cs typeface="+mn-ea"/>
                <a:sym typeface="+mn-lt"/>
              </a:rPr>
              <a:t>Rust </a:t>
            </a:r>
            <a:r>
              <a:rPr lang="zh-CN" altLang="en-US" sz="1600">
                <a:cs typeface="+mn-ea"/>
                <a:sym typeface="+mn-lt"/>
              </a:rPr>
              <a:t>中，</a:t>
            </a:r>
            <a:r>
              <a:rPr lang="en-US" altLang="zh-CN" sz="1600">
                <a:cs typeface="+mn-ea"/>
                <a:sym typeface="+mn-lt"/>
              </a:rPr>
              <a:t>trait </a:t>
            </a:r>
            <a:r>
              <a:rPr lang="zh-CN" altLang="en-US" sz="1600">
                <a:cs typeface="+mn-ea"/>
                <a:sym typeface="+mn-lt"/>
              </a:rPr>
              <a:t>可以具有生命周期参数。这些生命周期参数用于指定 </a:t>
            </a:r>
            <a:r>
              <a:rPr lang="en-US" altLang="zh-CN" sz="1600">
                <a:cs typeface="+mn-ea"/>
                <a:sym typeface="+mn-lt"/>
              </a:rPr>
              <a:t>trait </a:t>
            </a:r>
            <a:r>
              <a:rPr lang="zh-CN" altLang="en-US" sz="1600">
                <a:cs typeface="+mn-ea"/>
                <a:sym typeface="+mn-lt"/>
              </a:rPr>
              <a:t>中引用的有效期。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3313" y="1312135"/>
            <a:ext cx="107406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cs typeface="+mn-ea"/>
                <a:sym typeface="+mn-lt"/>
              </a:rPr>
              <a:t>在使用带有生命周期参数的 </a:t>
            </a:r>
            <a:r>
              <a:rPr lang="en-US" altLang="zh-CN" sz="1600">
                <a:cs typeface="+mn-ea"/>
                <a:sym typeface="+mn-lt"/>
              </a:rPr>
              <a:t>trait </a:t>
            </a:r>
            <a:r>
              <a:rPr lang="zh-CN" altLang="en-US" sz="1600">
                <a:cs typeface="+mn-ea"/>
                <a:sym typeface="+mn-lt"/>
              </a:rPr>
              <a:t>时，必须为每个生命周期参数提供具体的生命周期。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3313" y="2375680"/>
            <a:ext cx="57261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在右面的例子中，我们定义了一个结构体 </a:t>
            </a:r>
            <a:r>
              <a:rPr lang="en-US" altLang="zh-CN" sz="1600">
                <a:cs typeface="+mn-ea"/>
                <a:sym typeface="+mn-lt"/>
              </a:rPr>
              <a:t>Person</a:t>
            </a:r>
            <a:r>
              <a:rPr lang="zh-CN" altLang="en-US" sz="1600">
                <a:cs typeface="+mn-ea"/>
                <a:sym typeface="+mn-lt"/>
              </a:rPr>
              <a:t>，它包含一个字符串引用，表示人的名字；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此外，还定义了一个带有生命周期参数</a:t>
            </a:r>
            <a:r>
              <a:rPr lang="en-US" altLang="zh-CN" sz="1600">
                <a:cs typeface="+mn-ea"/>
                <a:sym typeface="+mn-lt"/>
              </a:rPr>
              <a:t>‘a </a:t>
            </a:r>
            <a:r>
              <a:rPr lang="zh-CN" altLang="en-US" sz="1600">
                <a:cs typeface="+mn-ea"/>
                <a:sym typeface="+mn-lt"/>
              </a:rPr>
              <a:t>的 </a:t>
            </a:r>
            <a:r>
              <a:rPr lang="en-US" altLang="zh-CN" sz="1600">
                <a:cs typeface="+mn-ea"/>
                <a:sym typeface="+mn-lt"/>
              </a:rPr>
              <a:t>trait Named</a:t>
            </a:r>
            <a:r>
              <a:rPr lang="zh-CN" altLang="en-US" sz="1600">
                <a:cs typeface="+mn-ea"/>
                <a:sym typeface="+mn-lt"/>
              </a:rPr>
              <a:t>，这个生命周期参数用于指定 </a:t>
            </a:r>
            <a:r>
              <a:rPr lang="en-US" altLang="zh-CN" sz="1600">
                <a:cs typeface="+mn-ea"/>
                <a:sym typeface="+mn-lt"/>
              </a:rPr>
              <a:t>name </a:t>
            </a:r>
            <a:r>
              <a:rPr lang="zh-CN" altLang="en-US" sz="1600">
                <a:cs typeface="+mn-ea"/>
                <a:sym typeface="+mn-lt"/>
              </a:rPr>
              <a:t>方法返回的字符串引用的有效期；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60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>
                <a:cs typeface="+mn-ea"/>
                <a:sym typeface="+mn-lt"/>
              </a:rPr>
              <a:t>trait</a:t>
            </a:r>
            <a:r>
              <a:rPr lang="zh-CN" altLang="en-US" sz="1800" dirty="0">
                <a:cs typeface="+mn-ea"/>
                <a:sym typeface="+mn-lt"/>
              </a:rPr>
              <a:t>的概念和基本用法；及</a:t>
            </a:r>
            <a:r>
              <a:rPr lang="en-US" altLang="zh-CN" sz="1800" dirty="0">
                <a:cs typeface="+mn-ea"/>
                <a:sym typeface="+mn-lt"/>
              </a:rPr>
              <a:t>super trait</a:t>
            </a:r>
            <a:r>
              <a:rPr lang="zh-CN" altLang="en-US" sz="1800" dirty="0">
                <a:cs typeface="+mn-ea"/>
                <a:sym typeface="+mn-lt"/>
              </a:rPr>
              <a:t>、</a:t>
            </a:r>
            <a:r>
              <a:rPr lang="en-US" altLang="zh-CN" sz="1800" dirty="0">
                <a:cs typeface="+mn-ea"/>
                <a:sym typeface="+mn-lt"/>
              </a:rPr>
              <a:t>trait</a:t>
            </a:r>
            <a:r>
              <a:rPr lang="zh-CN" altLang="en-US" sz="1800" dirty="0">
                <a:cs typeface="+mn-ea"/>
                <a:sym typeface="+mn-lt"/>
              </a:rPr>
              <a:t>关联类型的定义及用法；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 err="1">
                <a:cs typeface="+mn-ea"/>
                <a:sym typeface="+mn-lt"/>
              </a:rPr>
              <a:t>dyn</a:t>
            </a:r>
            <a:r>
              <a:rPr lang="en-US" altLang="zh-CN" sz="1800" dirty="0">
                <a:cs typeface="+mn-ea"/>
                <a:sym typeface="+mn-lt"/>
              </a:rPr>
              <a:t> trait</a:t>
            </a:r>
            <a:r>
              <a:rPr lang="zh-CN" altLang="en-US" sz="1800" dirty="0">
                <a:cs typeface="+mn-ea"/>
                <a:sym typeface="+mn-lt"/>
              </a:rPr>
              <a:t>、</a:t>
            </a:r>
            <a:r>
              <a:rPr lang="en-US" altLang="zh-CN" sz="1800" dirty="0" err="1">
                <a:cs typeface="+mn-ea"/>
                <a:sym typeface="+mn-lt"/>
              </a:rPr>
              <a:t>impl</a:t>
            </a:r>
            <a:r>
              <a:rPr lang="en-US" altLang="zh-CN" sz="1800" dirty="0">
                <a:cs typeface="+mn-ea"/>
                <a:sym typeface="+mn-lt"/>
              </a:rPr>
              <a:t> trait</a:t>
            </a:r>
            <a:r>
              <a:rPr lang="zh-CN" altLang="en-US" sz="1800" dirty="0">
                <a:cs typeface="+mn-ea"/>
                <a:sym typeface="+mn-lt"/>
              </a:rPr>
              <a:t>、</a:t>
            </a:r>
            <a:r>
              <a:rPr lang="en-US" altLang="zh-CN" sz="1800" dirty="0">
                <a:cs typeface="+mn-ea"/>
                <a:sym typeface="+mn-lt"/>
              </a:rPr>
              <a:t>sub/super trait</a:t>
            </a:r>
            <a:r>
              <a:rPr lang="zh-CN" altLang="en-US" sz="1800" dirty="0">
                <a:cs typeface="+mn-ea"/>
                <a:sym typeface="+mn-lt"/>
              </a:rPr>
              <a:t>、</a:t>
            </a:r>
            <a:r>
              <a:rPr lang="en-US" altLang="zh-CN" sz="1800" dirty="0">
                <a:cs typeface="+mn-ea"/>
                <a:sym typeface="+mn-lt"/>
              </a:rPr>
              <a:t>trait</a:t>
            </a:r>
            <a:r>
              <a:rPr lang="zh-CN" altLang="en-US" sz="1800" dirty="0">
                <a:cs typeface="+mn-ea"/>
                <a:sym typeface="+mn-lt"/>
              </a:rPr>
              <a:t>对象及对象安全的用法；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掌握孤儿原则的概念；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>
                <a:cs typeface="+mn-ea"/>
                <a:sym typeface="+mn-lt"/>
              </a:rPr>
              <a:t>Rust</a:t>
            </a:r>
            <a:r>
              <a:rPr lang="zh-CN" altLang="en-US" sz="1800" dirty="0">
                <a:cs typeface="+mn-ea"/>
                <a:sym typeface="+mn-lt"/>
              </a:rPr>
              <a:t>常见</a:t>
            </a:r>
            <a:r>
              <a:rPr lang="en-US" altLang="zh-CN" sz="1800" dirty="0">
                <a:cs typeface="+mn-ea"/>
                <a:sym typeface="+mn-lt"/>
              </a:rPr>
              <a:t>trait</a:t>
            </a:r>
            <a:r>
              <a:rPr lang="zh-CN" altLang="en-US" sz="1800" dirty="0">
                <a:cs typeface="+mn-ea"/>
                <a:sym typeface="+mn-lt"/>
              </a:rPr>
              <a:t>的使用以及运算符重载的方式；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2092" y="962165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nk23ytbf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nk23ytbf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nk23ytbf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nk23ytbf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4554</TotalTime>
  <Words>4179</Words>
  <Application>Microsoft Office PowerPoint</Application>
  <PresentationFormat>自定义</PresentationFormat>
  <Paragraphs>439</Paragraphs>
  <Slides>21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.AppleSystemUIFont</vt:lpstr>
      <vt:lpstr>Microsoft YaHei</vt:lpstr>
      <vt:lpstr>Arial</vt:lpstr>
      <vt:lpstr>Calibri</vt:lpstr>
      <vt:lpstr>Huawei Sans</vt:lpstr>
      <vt:lpstr>Wingdings</vt:lpstr>
      <vt:lpstr>封面页_图片版 </vt:lpstr>
      <vt:lpstr>目录页</vt:lpstr>
      <vt:lpstr>章节页</vt:lpstr>
      <vt:lpstr>结束页</vt:lpstr>
      <vt:lpstr>trait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trait</dc:title>
  <dc:creator/>
  <cp:lastModifiedBy>Zhangyandong (ben)</cp:lastModifiedBy>
  <cp:revision>26</cp:revision>
  <dcterms:created xsi:type="dcterms:W3CDTF">2023-10-18T07:18:19Z</dcterms:created>
  <dcterms:modified xsi:type="dcterms:W3CDTF">2024-11-20T02:29:59Z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(3)wmiT1J14Cu1iZ18Pu24OGRJLUCrIQXr/7iMr2RX9/T4SpxI5AGKMRYPn0kWMTZ5ttJkhxD+e
0dUidIOeGVW8dQ9L3FiUxwcpA2AeEd9s/r/BIL5ljDzc3igKnBid9Fj5FIOZzShIgiFbX07k
+s95st3dDvP12woL8XHOXkVKALTqgKC9zJPenSooRX/4AbO+5sjbtKYVpIq5I+Y268wqcuWC
mbfwW6cJ7AV5nhBzag</vt:lpwstr>
  </property>
  <property fmtid="{D5CDD505-2E9C-101B-9397-08002B2CF9AE}" pid="3" name="_2015_ms_pID_7253431">
    <vt:lpwstr>0yLQJqJN8D1wKnxptm7ST0oHbKN60vLEtVhHhRSv6LCS/Q8D+d1YsB
aXlo4AlfvPk0+3iIXU7mCJHtMFKpFauWKC8AWwSUeenEdz++l08zlmkuToYw9khgF5JVd5tc
d8+dpyFXjwKRHbHSHFtTWh5+FqzGmttJzK5ARixHeoLJVxDj7LCIhwNwep/hNHwI0sk3rImE
ZDTRxQZdbhFg9BFaKhNJILF9kkRb133g/Cfk</vt:lpwstr>
  </property>
  <property fmtid="{D5CDD505-2E9C-101B-9397-08002B2CF9AE}" pid="4" name="_2015_ms_pID_7253432">
    <vt:lpwstr>Lg==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1697545538</vt:lpwstr>
  </property>
</Properties>
</file>