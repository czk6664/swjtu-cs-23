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1"/>
  </p:notesMasterIdLst>
  <p:handoutMasterIdLst>
    <p:handoutMasterId r:id="rId22"/>
  </p:handoutMasterIdLst>
  <p:sldIdLst>
    <p:sldId id="424" r:id="rId6"/>
    <p:sldId id="423" r:id="rId7"/>
    <p:sldId id="444" r:id="rId8"/>
    <p:sldId id="398" r:id="rId9"/>
    <p:sldId id="446" r:id="rId10"/>
    <p:sldId id="434" r:id="rId11"/>
    <p:sldId id="456" r:id="rId12"/>
    <p:sldId id="435" r:id="rId13"/>
    <p:sldId id="437" r:id="rId14"/>
    <p:sldId id="438" r:id="rId15"/>
    <p:sldId id="439" r:id="rId16"/>
    <p:sldId id="443" r:id="rId17"/>
    <p:sldId id="442" r:id="rId18"/>
    <p:sldId id="292" r:id="rId19"/>
    <p:sldId id="280" r:id="rId20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424"/>
          </p14:sldIdLst>
        </p14:section>
        <p14:section name="目录页" id="{9D221634-295C-7843-AF5C-A0CB4F229241}">
          <p14:sldIdLst>
            <p14:sldId id="423"/>
          </p14:sldIdLst>
        </p14:section>
        <p14:section name="章节页" id="{FD05EE94-C931-8C4B-83A2-004B32AA1207}">
          <p14:sldIdLst>
            <p14:sldId id="444"/>
            <p14:sldId id="398"/>
            <p14:sldId id="446"/>
            <p14:sldId id="434"/>
            <p14:sldId id="456"/>
            <p14:sldId id="435"/>
            <p14:sldId id="437"/>
            <p14:sldId id="438"/>
            <p14:sldId id="439"/>
            <p14:sldId id="443"/>
            <p14:sldId id="442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151018687" clrIdx="0"/>
  <p:cmAuthor id="2003" name="liziqiang 00556901_ERbuA7r6" initials="authorId_AK20210901:AK20210901JXNSXO4497046" lastIdx="1690055222" clrIdx="0"/>
  <p:cmAuthor id="2004" name="gaoshang 00419539_MRJvMvEj" initials="authorId_AK20210901:AK20210901JXNSXO980865" lastIdx="616283707" clrIdx="0"/>
  <p:cmAuthor id="2000" name="fanchangchun 00567414_2yeyVvEJ" initials="authorId_AK20210901:AK20210901JXNSXO4723448" lastIdx="0" clrIdx="0"/>
  <p:cmAuthor id="2001" name="wuxiaojun 00342820_QRBvBJbY" initials="authorId_AK20210901:AK20210901JXNSXO124321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4198" autoAdjust="0"/>
  </p:normalViewPr>
  <p:slideViewPr>
    <p:cSldViewPr snapToGrid="0" snapToObjects="1">
      <p:cViewPr varScale="1">
        <p:scale>
          <a:sx n="66" d="100"/>
          <a:sy n="66" d="100"/>
        </p:scale>
        <p:origin x="44" y="13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println!("{}", std::mem::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size_of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::&lt;Box&lt;i32&gt;&gt;());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println!("{}", std::mem::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size_of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::&lt;Box&lt;[i32]&gt;&gt;());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println!("{}", std::mem::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size_of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::&lt;Box&lt;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Trait&gt;&gt;());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/>
              <a:t>为了解决一个资源拥有多个所有者的此类问题，</a:t>
            </a:r>
            <a:r>
              <a:rPr lang="en-US" altLang="zh-CN" sz="1600" dirty="0"/>
              <a:t>Rust </a:t>
            </a:r>
            <a:r>
              <a:rPr lang="zh-CN" altLang="en-US" sz="1600" dirty="0"/>
              <a:t>在所有权机制之外又引入了引用计数的措施来简化相应的实现；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智能指针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了解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常用智能指针的概念、用法及其内存布局。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1104361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Box&lt;T&gt;</a:t>
            </a:r>
            <a:r>
              <a:rPr lang="zh-CN" altLang="en-US">
                <a:cs typeface="+mn-ea"/>
                <a:sym typeface="+mn-lt"/>
              </a:rPr>
              <a:t>、</a:t>
            </a:r>
            <a:r>
              <a:rPr lang="en-US" altLang="zh-CN">
                <a:cs typeface="+mn-ea"/>
                <a:sym typeface="+mn-lt"/>
              </a:rPr>
              <a:t> Rc&lt;T&gt;</a:t>
            </a:r>
            <a:r>
              <a:rPr lang="zh-CN" altLang="en-US">
                <a:cs typeface="+mn-ea"/>
                <a:sym typeface="+mn-lt"/>
              </a:rPr>
              <a:t>、</a:t>
            </a:r>
            <a:r>
              <a:rPr lang="en-US" altLang="zh-CN">
                <a:cs typeface="+mn-ea"/>
                <a:sym typeface="+mn-lt"/>
              </a:rPr>
              <a:t> Cow</a:t>
            </a:r>
            <a:r>
              <a:rPr lang="zh-CN" altLang="en-US">
                <a:cs typeface="+mn-ea"/>
                <a:sym typeface="+mn-lt"/>
              </a:rPr>
              <a:t>的概念和使用；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循环引用的处理方式；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36258" y="1601635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Box&lt;T&gt;</a:t>
            </a: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Rc&lt;T&gt;</a:t>
            </a: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Cow&lt;T&gt;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3464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智能指针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928872" y="2990443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065"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本节课重点介绍以下智能指针：</a:t>
            </a:r>
            <a:endParaRPr lang="en-US" altLang="zh-CN" sz="1600"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Box&lt;T&gt;</a:t>
            </a:r>
            <a:r>
              <a:rPr lang="zh-CN" altLang="en-US" sz="1600">
                <a:cs typeface="+mn-ea"/>
                <a:sym typeface="+mn-lt"/>
              </a:rPr>
              <a:t>：用于在堆上分配数据</a:t>
            </a:r>
            <a:endParaRPr lang="en-US" altLang="zh-CN" sz="1600"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Rc&lt;T&gt;</a:t>
            </a:r>
            <a:r>
              <a:rPr lang="zh-CN" altLang="en-US" sz="1600">
                <a:cs typeface="+mn-ea"/>
                <a:sym typeface="+mn-lt"/>
              </a:rPr>
              <a:t>：一个引用计数类型，其数据可以有多个所有者</a:t>
            </a:r>
            <a:endParaRPr lang="en-US" altLang="zh-CN" sz="1600"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Cow</a:t>
            </a:r>
            <a:r>
              <a:rPr lang="zh-CN" altLang="en-US" sz="1600">
                <a:cs typeface="+mn-ea"/>
                <a:sym typeface="+mn-lt"/>
              </a:rPr>
              <a:t>：用于实现写时克隆</a:t>
            </a:r>
            <a:r>
              <a:rPr lang="en-US" altLang="zh-CN" sz="1600">
                <a:cs typeface="+mn-ea"/>
                <a:sym typeface="+mn-lt"/>
              </a:rPr>
              <a:t>(Clone on write)</a:t>
            </a:r>
            <a:r>
              <a:rPr lang="zh-CN" altLang="en-US" sz="1600">
                <a:cs typeface="+mn-ea"/>
                <a:sym typeface="+mn-lt"/>
              </a:rPr>
              <a:t>的智能指针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8391" y="726643"/>
            <a:ext cx="11218178" cy="157273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智能指针是</a:t>
            </a:r>
            <a:r>
              <a:rPr lang="en-US" altLang="zh-CN" sz="1600">
                <a:cs typeface="+mn-ea"/>
                <a:sym typeface="+mn-lt"/>
              </a:rPr>
              <a:t>Rust</a:t>
            </a:r>
            <a:r>
              <a:rPr lang="zh-CN" altLang="en-US" sz="1600">
                <a:cs typeface="+mn-ea"/>
                <a:sym typeface="+mn-lt"/>
              </a:rPr>
              <a:t>中具有指针语义的数据结构，并在生命周期内保证值的正确性和安全性。</a:t>
            </a:r>
          </a:p>
          <a:p>
            <a:pPr algn="l">
              <a:lnSpc>
                <a:spcPct val="150000"/>
              </a:lnSpc>
            </a:pP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智能指针通常使用结构体实现。智能指针不同于结构体的地方在于其实现了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sz="1600" b="0" u="none">
                <a:cs typeface="+mn-ea"/>
                <a:sym typeface="+mn-lt"/>
              </a:rPr>
              <a:t>Deref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sz="1600" b="0" u="none">
                <a:cs typeface="+mn-ea"/>
                <a:sym typeface="+mn-lt"/>
              </a:rPr>
              <a:t>Drop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trait。</a:t>
            </a:r>
            <a:r>
              <a:rPr lang="en-US" sz="1600" b="0" u="none">
                <a:cs typeface="+mn-ea"/>
                <a:sym typeface="+mn-lt"/>
              </a:rPr>
              <a:t>Deref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trait 允许智能指针结构体实例表现的像引用一样，这样就可以编写既用于引用、又用于智能指针的代码。</a:t>
            </a:r>
            <a:r>
              <a:rPr lang="en-US" sz="1600" b="0" u="none">
                <a:cs typeface="+mn-ea"/>
                <a:sym typeface="+mn-lt"/>
              </a:rPr>
              <a:t>Drop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trait 允许自定义当智能指针离开作用域时运行的代码。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Box&lt;T&gt;-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0307" y="1481522"/>
            <a:ext cx="4752867" cy="7386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  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在堆中存储数据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5</a:t>
            </a:r>
          </a:p>
          <a:p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"b = {}", 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0309" y="2257706"/>
            <a:ext cx="4752867" cy="16751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cs typeface="+mn-ea"/>
                <a:sym typeface="+mn-lt"/>
              </a:rPr>
              <a:t>Box</a:t>
            </a:r>
            <a:r>
              <a:rPr lang="zh-CN" altLang="en-US" sz="1400" b="1" dirty="0">
                <a:cs typeface="+mn-ea"/>
                <a:sym typeface="+mn-lt"/>
              </a:rPr>
              <a:t>智能指针可以解决递归类型问题：</a:t>
            </a:r>
            <a:endParaRPr lang="en-US" altLang="zh-CN" sz="1400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递归类型：可以拥有另一个同类型的值作为其的一部分。</a:t>
            </a:r>
            <a:endParaRPr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这会产生一个问题，因为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需要在编译时知道类型占用多少空间。递归类型的值嵌套理论上可以无限的进行下去，所以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不知道递归类型需要多少空间。例如下面的例子：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0309" y="4085220"/>
            <a:ext cx="4752867" cy="2461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5374433" y="5209686"/>
            <a:ext cx="534714" cy="503853"/>
          </a:xfrm>
          <a:prstGeom prst="rightArrow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上箭头 13"/>
          <p:cNvSpPr/>
          <p:nvPr/>
        </p:nvSpPr>
        <p:spPr>
          <a:xfrm>
            <a:off x="8148292" y="4087410"/>
            <a:ext cx="793102" cy="217784"/>
          </a:xfrm>
          <a:prstGeom prst="upArrow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309835" y="1367497"/>
            <a:ext cx="6470015" cy="2421255"/>
            <a:chOff x="8402" y="2803"/>
            <a:chExt cx="10189" cy="3813"/>
          </a:xfrm>
        </p:grpSpPr>
        <p:sp>
          <p:nvSpPr>
            <p:cNvPr id="13" name="文本框 12"/>
            <p:cNvSpPr txBox="1"/>
            <p:nvPr/>
          </p:nvSpPr>
          <p:spPr>
            <a:xfrm>
              <a:off x="8402" y="2803"/>
              <a:ext cx="10189" cy="381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rtlCol="0">
              <a:noAutofit/>
            </a:bodyPr>
            <a:lstStyle/>
            <a:p>
              <a:r>
                <a:rPr lang="en-US" altLang="zh-CN" sz="1400" dirty="0">
                  <a:solidFill>
                    <a:srgbClr val="FFFFFF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 dirty="0">
                  <a:solidFill>
                    <a:srgbClr val="00B050"/>
                  </a:solidFill>
                  <a:cs typeface="+mn-ea"/>
                  <a:sym typeface="+mn-lt"/>
                </a:rPr>
                <a:t>正确示例</a:t>
              </a:r>
              <a:endParaRPr lang="en-US" altLang="zh-CN" sz="1400" b="1" dirty="0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200" dirty="0" err="1">
                  <a:solidFill>
                    <a:srgbClr val="C678DD"/>
                  </a:solidFill>
                  <a:cs typeface="+mn-ea"/>
                  <a:sym typeface="+mn-lt"/>
                </a:rPr>
                <a:t>enum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List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{</a:t>
              </a:r>
            </a:p>
            <a:p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Cons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i32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Box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&lt;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List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&gt;),</a:t>
              </a:r>
            </a:p>
            <a:p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Nil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</a:p>
            <a:p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  <a:p>
              <a:b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200" dirty="0">
                  <a:solidFill>
                    <a:srgbClr val="C678DD"/>
                  </a:solidFill>
                  <a:cs typeface="+mn-ea"/>
                  <a:sym typeface="+mn-lt"/>
                </a:rPr>
                <a:t>use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List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::{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Cons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Nil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};</a:t>
              </a:r>
            </a:p>
            <a:p>
              <a:b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200" dirty="0" err="1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200" dirty="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E06C75"/>
                  </a:solidFill>
                  <a:cs typeface="+mn-ea"/>
                  <a:sym typeface="+mn-lt"/>
                </a:rPr>
                <a:t>list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Cons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D19A66"/>
                  </a:solidFill>
                  <a:cs typeface="+mn-ea"/>
                  <a:sym typeface="+mn-lt"/>
                </a:rPr>
                <a:t>1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Box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new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Cons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D19A66"/>
                  </a:solidFill>
                  <a:cs typeface="+mn-ea"/>
                  <a:sym typeface="+mn-lt"/>
                </a:rPr>
                <a:t>2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Box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new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Cons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D19A66"/>
                  </a:solidFill>
                  <a:cs typeface="+mn-ea"/>
                  <a:sym typeface="+mn-lt"/>
                </a:rPr>
                <a:t>3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Box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200" dirty="0">
                  <a:solidFill>
                    <a:srgbClr val="61AFEF"/>
                  </a:solidFill>
                  <a:cs typeface="+mn-ea"/>
                  <a:sym typeface="+mn-lt"/>
                </a:rPr>
                <a:t>new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200" dirty="0">
                  <a:solidFill>
                    <a:srgbClr val="E5C07B"/>
                  </a:solidFill>
                  <a:cs typeface="+mn-ea"/>
                  <a:sym typeface="+mn-lt"/>
                </a:rPr>
                <a:t>Nil</a:t>
              </a:r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))))));</a:t>
              </a:r>
            </a:p>
            <a:p>
              <a:r>
                <a:rPr lang="en-US" altLang="zh-CN" sz="12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200" b="0" dirty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88" y="3116"/>
              <a:ext cx="2436" cy="2353"/>
            </a:xfrm>
            <a:prstGeom prst="rect">
              <a:avLst/>
            </a:prstGeom>
          </p:spPr>
        </p:pic>
      </p:grpSp>
      <p:cxnSp>
        <p:nvCxnSpPr>
          <p:cNvPr id="16" name="直接连接符 15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39005" y="584206"/>
            <a:ext cx="10889437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Box</a:t>
            </a:r>
            <a:r>
              <a:rPr lang="zh-CN" altLang="en-US" sz="1600">
                <a:cs typeface="+mn-ea"/>
                <a:sym typeface="+mn-lt"/>
              </a:rPr>
              <a:t> 允许将一个值分配到堆上，然后在栈上保留一个智能指针指向堆上的数据；当</a:t>
            </a:r>
            <a:r>
              <a:rPr lang="zh-CN" sz="1600">
                <a:solidFill>
                  <a:srgbClr val="333333"/>
                </a:solidFill>
                <a:cs typeface="+mn-ea"/>
                <a:sym typeface="+mn-lt"/>
              </a:rPr>
              <a:t>有</a:t>
            </a:r>
            <a:r>
              <a:rPr lang="zh-CN" altLang="en-US" sz="1600">
                <a:solidFill>
                  <a:srgbClr val="333333"/>
                </a:solidFill>
                <a:cs typeface="+mn-ea"/>
                <a:sym typeface="+mn-lt"/>
              </a:rPr>
              <a:t>一个</a:t>
            </a:r>
            <a:r>
              <a:rPr lang="zh-CN" sz="1600">
                <a:solidFill>
                  <a:srgbClr val="333333"/>
                </a:solidFill>
                <a:cs typeface="+mn-ea"/>
                <a:sym typeface="+mn-lt"/>
              </a:rPr>
              <a:t>在编译时未知大小的类型，而又想要在需要确切大小的上下文中使用这个类型值时</a:t>
            </a:r>
            <a:r>
              <a:rPr lang="zh-CN" altLang="en-US" sz="1600">
                <a:solidFill>
                  <a:srgbClr val="333333"/>
                </a:solidFill>
                <a:cs typeface="+mn-ea"/>
                <a:sym typeface="+mn-lt"/>
              </a:rPr>
              <a:t>使用。</a:t>
            </a:r>
            <a:endParaRPr lang="zh-CN" altLang="en-US" sz="1600" dirty="0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089" y="4439492"/>
            <a:ext cx="5305492" cy="2120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Box&lt;T&gt;-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内存布局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解引用特殊性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64589" y="822175"/>
            <a:ext cx="5353755" cy="7875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>
                <a:cs typeface="+mn-ea"/>
                <a:sym typeface="+mn-lt"/>
              </a:rPr>
              <a:t>解引用的特殊性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en-US" altLang="zh-CN" sz="160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对</a:t>
            </a:r>
            <a:r>
              <a:rPr lang="en-US" altLang="zh-CN" sz="1600">
                <a:cs typeface="+mn-ea"/>
                <a:sym typeface="+mn-lt"/>
              </a:rPr>
              <a:t>Box</a:t>
            </a:r>
            <a:r>
              <a:rPr lang="zh-CN" altLang="en-US" sz="1600">
                <a:cs typeface="+mn-ea"/>
                <a:sym typeface="+mn-lt"/>
              </a:rPr>
              <a:t>进行解引用时，可以转移指针内部数据的所有权。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535336" y="1671926"/>
            <a:ext cx="5806936" cy="15030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&gt; =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*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,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i="1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下箭头 3"/>
          <p:cNvSpPr/>
          <p:nvPr/>
        </p:nvSpPr>
        <p:spPr>
          <a:xfrm>
            <a:off x="7936126" y="3472634"/>
            <a:ext cx="1005356" cy="288667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下箭头 24"/>
          <p:cNvSpPr/>
          <p:nvPr/>
        </p:nvSpPr>
        <p:spPr>
          <a:xfrm rot="5400000">
            <a:off x="5574250" y="4164438"/>
            <a:ext cx="686827" cy="358345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335" y="3895749"/>
            <a:ext cx="4294075" cy="2073301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89612" y="3728412"/>
            <a:ext cx="5033143" cy="12259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*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"{a}, {b}"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下箭头 3"/>
          <p:cNvSpPr/>
          <p:nvPr/>
        </p:nvSpPr>
        <p:spPr>
          <a:xfrm>
            <a:off x="2654954" y="5066050"/>
            <a:ext cx="543054" cy="421564"/>
          </a:xfrm>
          <a:prstGeom prst="downArrow">
            <a:avLst>
              <a:gd name="adj1" fmla="val 41747"/>
              <a:gd name="adj2" fmla="val 50000"/>
            </a:avLst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447931" y="746551"/>
            <a:ext cx="1931080" cy="5275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600" b="1" dirty="0">
                <a:cs typeface="+mn-ea"/>
                <a:sym typeface="+mn-lt"/>
              </a:rPr>
              <a:t>Box&lt;T&gt;</a:t>
            </a:r>
            <a:r>
              <a:rPr lang="zh-CN" altLang="en-US" sz="1600" b="1" dirty="0">
                <a:cs typeface="+mn-ea"/>
                <a:sym typeface="+mn-lt"/>
              </a:rPr>
              <a:t>内存布局：</a:t>
            </a:r>
          </a:p>
        </p:txBody>
      </p:sp>
      <p:pic>
        <p:nvPicPr>
          <p:cNvPr id="18" name="Picture 17" descr="upload_7606892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7" y="1274114"/>
            <a:ext cx="4977009" cy="1771815"/>
          </a:xfrm>
          <a:prstGeom prst="rect">
            <a:avLst/>
          </a:prstGeom>
        </p:spPr>
      </p:pic>
      <p:pic>
        <p:nvPicPr>
          <p:cNvPr id="29" name="Picture 28" descr="upload_4818316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23" y="5599287"/>
            <a:ext cx="4509170" cy="676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Deref trait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：将智能指针当作常规引用处理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63917" y="721666"/>
            <a:ext cx="2687585" cy="20409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解引用示例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y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x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的引用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解引用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" name="Picture 4" descr="upload_1290557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4" y="1518140"/>
            <a:ext cx="3812389" cy="151301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58804" y="547471"/>
            <a:ext cx="3832297" cy="96554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实现 </a:t>
            </a:r>
            <a:r>
              <a:rPr lang="en-US" altLang="zh-CN" sz="1600" dirty="0">
                <a:cs typeface="+mn-ea"/>
                <a:sym typeface="+mn-lt"/>
              </a:rPr>
              <a:t>Deref trait </a:t>
            </a:r>
            <a:r>
              <a:rPr lang="zh-CN" altLang="en-US" sz="1600" dirty="0">
                <a:cs typeface="+mn-ea"/>
                <a:sym typeface="+mn-lt"/>
              </a:rPr>
              <a:t>允许重载</a:t>
            </a:r>
            <a:r>
              <a:rPr lang="zh-CN" altLang="en-US" sz="1600" b="1" dirty="0">
                <a:cs typeface="+mn-ea"/>
                <a:sym typeface="+mn-lt"/>
              </a:rPr>
              <a:t>解引用运算符：</a:t>
            </a:r>
            <a:r>
              <a:rPr lang="en-US" altLang="zh-CN" sz="1600" dirty="0">
                <a:cs typeface="+mn-ea"/>
                <a:sym typeface="+mn-lt"/>
              </a:rPr>
              <a:t>*</a:t>
            </a:r>
            <a:r>
              <a:rPr lang="zh-CN" altLang="en-US" sz="1600" dirty="0">
                <a:cs typeface="+mn-ea"/>
                <a:sym typeface="+mn-lt"/>
              </a:rPr>
              <a:t>，</a:t>
            </a:r>
            <a:r>
              <a:rPr lang="en-US" altLang="zh-CN" sz="1600" dirty="0">
                <a:cs typeface="+mn-ea"/>
                <a:sym typeface="+mn-lt"/>
              </a:rPr>
              <a:t>Deref trait</a:t>
            </a:r>
            <a:r>
              <a:rPr lang="zh-CN" altLang="en-US" sz="1600" dirty="0">
                <a:cs typeface="+mn-ea"/>
                <a:sym typeface="+mn-lt"/>
              </a:rPr>
              <a:t>标准库定义：</a:t>
            </a:r>
          </a:p>
        </p:txBody>
      </p:sp>
      <p:sp>
        <p:nvSpPr>
          <p:cNvPr id="10" name="文本框 8"/>
          <p:cNvSpPr txBox="1"/>
          <p:nvPr/>
        </p:nvSpPr>
        <p:spPr>
          <a:xfrm>
            <a:off x="7838789" y="721666"/>
            <a:ext cx="3188198" cy="2926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自定义指针代码示例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MyBox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MyBox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MyBox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MyBox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MyBox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 *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pic>
        <p:nvPicPr>
          <p:cNvPr id="11" name="Picture 10" descr="upload_2594102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537" y="4113098"/>
            <a:ext cx="4329998" cy="1343792"/>
          </a:xfrm>
          <a:prstGeom prst="rect">
            <a:avLst/>
          </a:prstGeom>
        </p:spPr>
      </p:pic>
      <p:sp>
        <p:nvSpPr>
          <p:cNvPr id="12" name="下箭头 3"/>
          <p:cNvSpPr/>
          <p:nvPr/>
        </p:nvSpPr>
        <p:spPr>
          <a:xfrm>
            <a:off x="9212631" y="3735237"/>
            <a:ext cx="573395" cy="238760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8"/>
          <p:cNvSpPr txBox="1"/>
          <p:nvPr/>
        </p:nvSpPr>
        <p:spPr>
          <a:xfrm>
            <a:off x="733863" y="3319665"/>
            <a:ext cx="5173846" cy="22150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sz="1400" b="1">
                <a:solidFill>
                  <a:srgbClr val="00B050"/>
                </a:solidFill>
                <a:cs typeface="+mn-ea"/>
                <a:sym typeface="+mn-lt"/>
              </a:rPr>
              <a:t>为自定义类型实现 Deref trait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ops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实现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deref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方法，返回一个内部数据的引用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0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850" y="5712257"/>
            <a:ext cx="11606385" cy="51760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如果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没有</a:t>
            </a: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实现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sz="1600" b="0" u="none">
                <a:cs typeface="+mn-ea"/>
                <a:sym typeface="+mn-lt"/>
              </a:rPr>
              <a:t>Deref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trait ，编译器只会解引用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sz="1600" b="0" u="none">
                <a:cs typeface="+mn-ea"/>
                <a:sym typeface="+mn-lt"/>
              </a:rPr>
              <a:t>&amp;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引用类型。</a:t>
            </a:r>
            <a:r>
              <a:rPr lang="en-US" sz="1600" b="0" u="none">
                <a:cs typeface="+mn-ea"/>
                <a:sym typeface="+mn-lt"/>
              </a:rPr>
              <a:t>deref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方法向编译器提供了获取任何实现了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sz="1600" b="0" u="none">
                <a:cs typeface="+mn-ea"/>
                <a:sym typeface="+mn-lt"/>
              </a:rPr>
              <a:t>Deref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trait 的类型的值</a:t>
            </a: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347310" y="1522654"/>
            <a:ext cx="428023" cy="4636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400" dirty="0">
                <a:cs typeface="+mn-ea"/>
                <a:sym typeface="+mn-lt"/>
              </a:rPr>
              <a:t>VS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Rc&lt;T&gt;-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239006" y="641682"/>
            <a:ext cx="11340282" cy="6850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400">
                <a:latin typeface="+mn-lt"/>
                <a:ea typeface="+mn-ea"/>
                <a:cs typeface="+mn-ea"/>
                <a:sym typeface="+mn-lt"/>
              </a:rPr>
              <a:t>Rc</a:t>
            </a:r>
            <a:r>
              <a:rPr lang="zh-CN" altLang="en-US" sz="1400">
                <a:latin typeface="+mn-lt"/>
                <a:ea typeface="+mn-ea"/>
                <a:cs typeface="+mn-ea"/>
                <a:sym typeface="+mn-lt"/>
              </a:rPr>
              <a:t>为引用计数指针，引用计数就是记录一个值引用的数量来知晓这个值是否仍在被使用；如果某个值有零个引用，就代表没有任何有效引用并可以被清理；不可用于多线程中。</a:t>
            </a:r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248" y="1919820"/>
            <a:ext cx="3833094" cy="13628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9006" y="1434146"/>
            <a:ext cx="5564630" cy="2677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crate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2419496" y="4239647"/>
            <a:ext cx="1203649" cy="225352"/>
          </a:xfrm>
          <a:prstGeom prst="downArrow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05655" y="3512995"/>
            <a:ext cx="5452101" cy="28931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crate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)))));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_b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_c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左箭头 10"/>
          <p:cNvSpPr/>
          <p:nvPr/>
        </p:nvSpPr>
        <p:spPr>
          <a:xfrm rot="10800000">
            <a:off x="6019353" y="4996199"/>
            <a:ext cx="270587" cy="822279"/>
          </a:xfrm>
          <a:prstGeom prst="leftArrow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06" y="4606857"/>
            <a:ext cx="5564630" cy="164937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505656" y="1572541"/>
            <a:ext cx="52089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>
                <a:cs typeface="+mn-ea"/>
                <a:sym typeface="+mn-lt"/>
              </a:rPr>
              <a:t>Rc</a:t>
            </a:r>
            <a:r>
              <a:rPr lang="zh-CN" altLang="en-US" sz="1400">
                <a:cs typeface="+mn-ea"/>
                <a:sym typeface="+mn-lt"/>
              </a:rPr>
              <a:t>智能指针可以解决一个资源拥有多个所有者的问题。例如：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Rc&lt;T&gt;-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72565" y="715901"/>
            <a:ext cx="7619498" cy="4730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600">
                <a:cs typeface="+mn-ea"/>
                <a:sym typeface="+mn-lt"/>
              </a:rPr>
              <a:t>注意：对 </a:t>
            </a:r>
            <a:r>
              <a:rPr lang="en-US" altLang="zh-CN" sz="1600">
                <a:cs typeface="+mn-ea"/>
                <a:sym typeface="+mn-lt"/>
              </a:rPr>
              <a:t>Rc&lt;T&gt; </a:t>
            </a:r>
            <a:r>
              <a:rPr lang="zh-CN" altLang="en-US" sz="1600">
                <a:cs typeface="+mn-ea"/>
                <a:sym typeface="+mn-lt"/>
              </a:rPr>
              <a:t>进行克隆会增加引用计数但是指向同一个底层数据：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562781" y="1254207"/>
            <a:ext cx="7326157" cy="48644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Nil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)))));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strong_count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clone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会增加引用计数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strong_count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会记录引用计数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strong_count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clone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会增加引用计数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Cons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strong_count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超过作用范围引用计数会减少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strong_count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Rc&lt;T&gt;-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内存布局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3538" y="750982"/>
            <a:ext cx="3425432" cy="475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600">
                <a:cs typeface="+mn-ea"/>
                <a:sym typeface="+mn-lt"/>
              </a:rPr>
              <a:t>Rc</a:t>
            </a:r>
            <a:r>
              <a:rPr lang="zh-CN" altLang="en-US" sz="1600">
                <a:cs typeface="+mn-ea"/>
                <a:sym typeface="+mn-lt"/>
              </a:rPr>
              <a:t>的内存布局以下代码为例：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8437" y="1284068"/>
            <a:ext cx="4419584" cy="26776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"Odin"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"Thor"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"Loki"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]);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capacity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capacity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箭头 2"/>
          <p:cNvSpPr/>
          <p:nvPr/>
        </p:nvSpPr>
        <p:spPr>
          <a:xfrm>
            <a:off x="5003872" y="2161112"/>
            <a:ext cx="262647" cy="661480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upload_8590672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848" y="1557804"/>
            <a:ext cx="5036733" cy="214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Rc&lt;T&gt;-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循环引用的正确处理方式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33560" y="2723684"/>
            <a:ext cx="4362177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在右面的示例中，我们定义了一个链表</a:t>
            </a:r>
            <a:r>
              <a:rPr lang="en-US" altLang="zh-CN" sz="1400">
                <a:cs typeface="+mn-ea"/>
                <a:sym typeface="+mn-lt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在创建了 </a:t>
            </a:r>
            <a:r>
              <a:rPr lang="en-US" altLang="zh-CN" sz="1400">
                <a:cs typeface="+mn-ea"/>
                <a:sym typeface="+mn-lt"/>
              </a:rPr>
              <a:t>a </a:t>
            </a:r>
            <a:r>
              <a:rPr lang="zh-CN" altLang="en-US" sz="1400">
                <a:cs typeface="+mn-ea"/>
                <a:sym typeface="+mn-lt"/>
              </a:rPr>
              <a:t>后，紧接着就使用 </a:t>
            </a:r>
            <a:r>
              <a:rPr lang="en-US" altLang="zh-CN" sz="1400">
                <a:cs typeface="+mn-ea"/>
                <a:sym typeface="+mn-lt"/>
              </a:rPr>
              <a:t>a </a:t>
            </a:r>
            <a:r>
              <a:rPr lang="zh-CN" altLang="en-US" sz="1400">
                <a:cs typeface="+mn-ea"/>
                <a:sym typeface="+mn-lt"/>
              </a:rPr>
              <a:t>创建了 </a:t>
            </a:r>
            <a:r>
              <a:rPr lang="en-US" altLang="zh-CN" sz="1400">
                <a:cs typeface="+mn-ea"/>
                <a:sym typeface="+mn-lt"/>
              </a:rPr>
              <a:t>b</a:t>
            </a:r>
            <a:r>
              <a:rPr lang="zh-CN" altLang="en-US" sz="1400">
                <a:cs typeface="+mn-ea"/>
                <a:sym typeface="+mn-lt"/>
              </a:rPr>
              <a:t>，因此 </a:t>
            </a:r>
            <a:r>
              <a:rPr lang="en-US" altLang="zh-CN" sz="1400">
                <a:cs typeface="+mn-ea"/>
                <a:sym typeface="+mn-lt"/>
              </a:rPr>
              <a:t>b </a:t>
            </a:r>
            <a:r>
              <a:rPr lang="zh-CN" altLang="en-US" sz="1400">
                <a:cs typeface="+mn-ea"/>
                <a:sym typeface="+mn-lt"/>
              </a:rPr>
              <a:t>引用了 </a:t>
            </a:r>
            <a:r>
              <a:rPr lang="en-US" altLang="zh-CN" sz="1400">
                <a:cs typeface="+mn-ea"/>
                <a:sym typeface="+mn-lt"/>
              </a:rPr>
              <a:t>a</a:t>
            </a:r>
            <a:r>
              <a:rPr lang="zh-CN" altLang="en-US" sz="1400">
                <a:cs typeface="+mn-ea"/>
                <a:sym typeface="+mn-lt"/>
              </a:rPr>
              <a:t>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然后我们又利用 </a:t>
            </a:r>
            <a:r>
              <a:rPr lang="en-US" altLang="zh-CN" sz="1400">
                <a:cs typeface="+mn-ea"/>
                <a:sym typeface="+mn-lt"/>
              </a:rPr>
              <a:t>Rc </a:t>
            </a:r>
            <a:r>
              <a:rPr lang="zh-CN" altLang="en-US" sz="1400">
                <a:cs typeface="+mn-ea"/>
                <a:sym typeface="+mn-lt"/>
              </a:rPr>
              <a:t>克隆了 </a:t>
            </a:r>
            <a:r>
              <a:rPr lang="en-US" altLang="zh-CN" sz="1400">
                <a:cs typeface="+mn-ea"/>
                <a:sym typeface="+mn-lt"/>
              </a:rPr>
              <a:t>b</a:t>
            </a:r>
            <a:r>
              <a:rPr lang="zh-CN" altLang="en-US" sz="1400">
                <a:cs typeface="+mn-ea"/>
                <a:sym typeface="+mn-lt"/>
              </a:rPr>
              <a:t>，然后通过 </a:t>
            </a:r>
            <a:r>
              <a:rPr lang="en-US" altLang="zh-CN" sz="1400">
                <a:cs typeface="+mn-ea"/>
                <a:sym typeface="+mn-lt"/>
              </a:rPr>
              <a:t>RefCell </a:t>
            </a:r>
            <a:r>
              <a:rPr lang="zh-CN" altLang="en-US" sz="1400">
                <a:cs typeface="+mn-ea"/>
                <a:sym typeface="+mn-lt"/>
              </a:rPr>
              <a:t>的可变性，让 </a:t>
            </a:r>
            <a:r>
              <a:rPr lang="en-US" altLang="zh-CN" sz="1400">
                <a:cs typeface="+mn-ea"/>
                <a:sym typeface="+mn-lt"/>
              </a:rPr>
              <a:t>a </a:t>
            </a:r>
            <a:r>
              <a:rPr lang="zh-CN" altLang="en-US" sz="1400">
                <a:cs typeface="+mn-ea"/>
                <a:sym typeface="+mn-lt"/>
              </a:rPr>
              <a:t>引用了 </a:t>
            </a:r>
            <a:r>
              <a:rPr lang="en-US" altLang="zh-CN" sz="1400">
                <a:cs typeface="+mn-ea"/>
                <a:sym typeface="+mn-lt"/>
              </a:rPr>
              <a:t>b</a:t>
            </a:r>
            <a:r>
              <a:rPr lang="zh-CN" altLang="en-US" sz="1400">
                <a:cs typeface="+mn-ea"/>
                <a:sym typeface="+mn-lt"/>
              </a:rPr>
              <a:t>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至此创建了循环引用</a:t>
            </a:r>
            <a:r>
              <a:rPr lang="en-US" altLang="zh-CN" sz="1400">
                <a:cs typeface="+mn-ea"/>
                <a:sym typeface="+mn-lt"/>
              </a:rPr>
              <a:t>a-&gt; b -&gt; a -&gt; b -&gt;…</a:t>
            </a:r>
            <a:r>
              <a:rPr lang="zh-CN" altLang="en-US" sz="1400">
                <a:cs typeface="+mn-ea"/>
                <a:sym typeface="+mn-lt"/>
              </a:rPr>
              <a:t>；</a:t>
            </a:r>
            <a:endParaRPr lang="zh-CN" altLang="en-US" sz="1400" b="1">
              <a:cs typeface="+mn-ea"/>
              <a:sym typeface="+mn-lt"/>
            </a:endParaRPr>
          </a:p>
        </p:txBody>
      </p:sp>
      <p:pic>
        <p:nvPicPr>
          <p:cNvPr id="1026" name="Picture 2" descr="https://pic1.zhimg.com/80/v2-2dbfc981f05019bf70bf81c93f956c35_1440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41" y="742897"/>
            <a:ext cx="3024360" cy="175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02107" y="5963853"/>
            <a:ext cx="8380412" cy="70564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cs typeface="+mn-ea"/>
                <a:sym typeface="+mn-lt"/>
              </a:rPr>
              <a:t>（注：</a:t>
            </a:r>
            <a:r>
              <a:rPr lang="en-US" altLang="zh-CN" sz="1400" i="1">
                <a:cs typeface="+mn-ea"/>
                <a:sym typeface="+mn-lt"/>
              </a:rPr>
              <a:t>RefCell </a:t>
            </a:r>
            <a:r>
              <a:rPr lang="zh-CN" altLang="en-US" sz="1400" i="1">
                <a:cs typeface="+mn-ea"/>
                <a:sym typeface="+mn-lt"/>
              </a:rPr>
              <a:t>的使用仅是为了能够让每个 </a:t>
            </a:r>
            <a:r>
              <a:rPr lang="en-US" altLang="zh-CN" sz="1400" i="1">
                <a:cs typeface="+mn-ea"/>
                <a:sym typeface="+mn-lt"/>
              </a:rPr>
              <a:t>List </a:t>
            </a:r>
            <a:r>
              <a:rPr lang="zh-CN" altLang="en-US" sz="1400" i="1">
                <a:cs typeface="+mn-ea"/>
                <a:sym typeface="+mn-lt"/>
              </a:rPr>
              <a:t>所指向的 </a:t>
            </a:r>
            <a:r>
              <a:rPr lang="en-US" altLang="zh-CN" sz="1400" i="1">
                <a:cs typeface="+mn-ea"/>
                <a:sym typeface="+mn-lt"/>
              </a:rPr>
              <a:t>List </a:t>
            </a:r>
            <a:r>
              <a:rPr lang="zh-CN" altLang="en-US" sz="1400" i="1">
                <a:cs typeface="+mn-ea"/>
                <a:sym typeface="+mn-lt"/>
              </a:rPr>
              <a:t>能够被修改，后面内部可变性章节会详细介绍）</a:t>
            </a:r>
            <a:endParaRPr lang="zh-CN" altLang="en-US" sz="1400" b="1" i="1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55991" y="641249"/>
            <a:ext cx="6423297" cy="52629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&gt;&gt;),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tail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&gt;&gt;&gt;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))));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b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a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的引用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))));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利用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RefCell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的可变性，创建了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a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b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的引用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link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tail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*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link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borrow_mut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错误：导致循环引用，导致无限打印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"a next item = {:?}"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tail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Rc&lt;T&gt;-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循环引用的正确处理方式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9675" y="916915"/>
            <a:ext cx="5164532" cy="1162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cs typeface="+mn-ea"/>
                <a:sym typeface="+mn-lt"/>
              </a:rPr>
              <a:t>Weak&lt;T&gt;</a:t>
            </a:r>
            <a:r>
              <a:rPr lang="zh-CN" altLang="en-US" sz="1600">
                <a:cs typeface="+mn-ea"/>
                <a:sym typeface="+mn-lt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Weak </a:t>
            </a:r>
            <a:r>
              <a:rPr lang="zh-CN" altLang="en-US" sz="1600">
                <a:cs typeface="+mn-ea"/>
                <a:sym typeface="+mn-lt"/>
              </a:rPr>
              <a:t>类似于 </a:t>
            </a:r>
            <a:r>
              <a:rPr lang="en-US" altLang="zh-CN" sz="1600">
                <a:cs typeface="+mn-ea"/>
                <a:sym typeface="+mn-lt"/>
              </a:rPr>
              <a:t>Rc</a:t>
            </a:r>
            <a:r>
              <a:rPr lang="zh-CN" altLang="en-US" sz="1600">
                <a:cs typeface="+mn-ea"/>
                <a:sym typeface="+mn-lt"/>
              </a:rPr>
              <a:t>，但是与 </a:t>
            </a:r>
            <a:r>
              <a:rPr lang="en-US" altLang="zh-CN" sz="1600">
                <a:cs typeface="+mn-ea"/>
                <a:sym typeface="+mn-lt"/>
              </a:rPr>
              <a:t>Rc </a:t>
            </a:r>
            <a:r>
              <a:rPr lang="zh-CN" altLang="en-US" sz="1600">
                <a:cs typeface="+mn-ea"/>
                <a:sym typeface="+mn-lt"/>
              </a:rPr>
              <a:t>持有所有权不同，</a:t>
            </a:r>
            <a:r>
              <a:rPr lang="en-US" altLang="zh-CN" sz="1600">
                <a:cs typeface="+mn-ea"/>
                <a:sym typeface="+mn-lt"/>
              </a:rPr>
              <a:t>Weak </a:t>
            </a:r>
            <a:r>
              <a:rPr lang="zh-CN" altLang="en-US" sz="1600">
                <a:cs typeface="+mn-ea"/>
                <a:sym typeface="+mn-lt"/>
              </a:rPr>
              <a:t>不持有所有权，它仅仅保存一份指向数据的弱引用。</a:t>
            </a:r>
            <a:endParaRPr lang="zh-CN" altLang="en-US" sz="1600" b="1"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915138"/>
              </p:ext>
            </p:extLst>
          </p:nvPr>
        </p:nvGraphicFramePr>
        <p:xfrm>
          <a:off x="332782" y="2619499"/>
          <a:ext cx="5070112" cy="2049780"/>
        </p:xfrm>
        <a:graphic>
          <a:graphicData uri="http://schemas.openxmlformats.org/drawingml/2006/table">
            <a:tbl>
              <a:tblPr/>
              <a:tblGrid>
                <a:gridCol w="242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61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Weak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Rc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不计数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引用计数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不拥有所有权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拥有值的所有权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不阻止值被释放</a:t>
                      </a:r>
                      <a:r>
                        <a:rPr lang="en-US" altLang="zh-CN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drop)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所有权计数归零，才能 </a:t>
                      </a:r>
                      <a:r>
                        <a:rPr lang="en-US" altLang="zh-CN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drop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引用的值存在返回 </a:t>
                      </a:r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Some，</a:t>
                      </a:r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不存在返回 </a:t>
                      </a:r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None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引用的值必定存在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通过 </a:t>
                      </a:r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upgrade </a:t>
                      </a:r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取到 </a:t>
                      </a:r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Option，</a:t>
                      </a:r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然后再取值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自动解引用，取值无需任何操作</a:t>
                      </a:r>
                    </a:p>
                  </a:txBody>
                  <a:tcPr marL="190500" marR="190500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607697" y="732559"/>
            <a:ext cx="6367067" cy="54784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Weak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&gt;&gt;),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tail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Weak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&gt;&gt;&gt;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Weak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())));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b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a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的引用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downgrade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))));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利用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RefCell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的可变性，创建了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a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b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的引用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link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tail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*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link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borrow_mut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downgrade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"a next item = {:?}"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tail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9" y="5601537"/>
            <a:ext cx="4429125" cy="514350"/>
          </a:xfrm>
          <a:prstGeom prst="rect">
            <a:avLst/>
          </a:prstGeom>
        </p:spPr>
      </p:pic>
      <p:sp>
        <p:nvSpPr>
          <p:cNvPr id="6" name="下箭头 5"/>
          <p:cNvSpPr/>
          <p:nvPr/>
        </p:nvSpPr>
        <p:spPr>
          <a:xfrm rot="5400000">
            <a:off x="4993070" y="5788666"/>
            <a:ext cx="588265" cy="214008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Cow&lt;T&gt;-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概念与用法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60158" y="806275"/>
            <a:ext cx="4853110" cy="51567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abs_all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&lt;'_,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]&gt;)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&lt;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to_mut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()[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 = -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因为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input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不需要修改，所以不会发生克隆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slice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slice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[..]);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abs_all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发生克隆是因为需要对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input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进行修改。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slice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-1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slice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[..]);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abs_all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因为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input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已被拥有，所以不会发生克隆。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-1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abs_all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63916" y="580905"/>
            <a:ext cx="65682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Cow</a:t>
            </a:r>
            <a:r>
              <a:rPr lang="zh-CN" altLang="en-US" sz="1600">
                <a:cs typeface="+mn-ea"/>
                <a:sym typeface="+mn-lt"/>
              </a:rPr>
              <a:t> 智能指针可以包含两种数据：</a:t>
            </a:r>
            <a:r>
              <a:rPr lang="en-US" altLang="zh-CN" sz="1600">
                <a:cs typeface="+mn-ea"/>
                <a:sym typeface="+mn-lt"/>
              </a:rPr>
              <a:t>Borrowed</a:t>
            </a:r>
            <a:r>
              <a:rPr lang="zh-CN" altLang="en-US" sz="1600">
                <a:cs typeface="+mn-ea"/>
                <a:sym typeface="+mn-lt"/>
              </a:rPr>
              <a:t> 和 </a:t>
            </a:r>
            <a:r>
              <a:rPr lang="en-US" altLang="zh-CN" sz="1600">
                <a:cs typeface="+mn-ea"/>
                <a:sym typeface="+mn-lt"/>
              </a:rPr>
              <a:t>Owned</a:t>
            </a:r>
            <a:r>
              <a:rPr lang="zh-CN" altLang="en-US" sz="1600">
                <a:cs typeface="+mn-ea"/>
                <a:sym typeface="+mn-lt"/>
              </a:rPr>
              <a:t>。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Borrowed</a:t>
            </a:r>
            <a:r>
              <a:rPr lang="zh-CN" altLang="en-US" sz="1600">
                <a:cs typeface="+mn-ea"/>
                <a:sym typeface="+mn-lt"/>
              </a:rPr>
              <a:t> 数据是对原始数据的引用；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Owned</a:t>
            </a:r>
            <a:r>
              <a:rPr lang="zh-CN" altLang="en-US" sz="1600">
                <a:cs typeface="+mn-ea"/>
                <a:sym typeface="+mn-lt"/>
              </a:rPr>
              <a:t> 数据是对原始数据的复制；</a:t>
            </a:r>
            <a:endParaRPr lang="en-US" altLang="zh-CN" sz="1600"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89678" y="1856505"/>
            <a:ext cx="4319078" cy="1928631"/>
            <a:chOff x="1590069" y="4617410"/>
            <a:chExt cx="4319078" cy="192863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/>
            <a:srcRect r="60547"/>
            <a:stretch>
              <a:fillRect/>
            </a:stretch>
          </p:blipFill>
          <p:spPr>
            <a:xfrm>
              <a:off x="2931685" y="4617410"/>
              <a:ext cx="2977462" cy="1928631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590069" y="5319237"/>
              <a:ext cx="1435234" cy="47506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zh-CN" altLang="en-US" sz="1600">
                  <a:cs typeface="+mn-ea"/>
                  <a:sym typeface="+mn-lt"/>
                </a:rPr>
                <a:t>标准库定义：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248960" y="3898591"/>
            <a:ext cx="6200705" cy="186756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Cow&lt;T&gt; </a:t>
            </a:r>
            <a:r>
              <a:rPr lang="zh-CN" altLang="en-US" sz="1400">
                <a:cs typeface="+mn-ea"/>
                <a:sym typeface="+mn-lt"/>
              </a:rPr>
              <a:t>实现的 </a:t>
            </a:r>
            <a:r>
              <a:rPr lang="en-US" altLang="zh-CN" sz="1400">
                <a:cs typeface="+mn-ea"/>
                <a:sym typeface="+mn-lt"/>
              </a:rPr>
              <a:t>From trait </a:t>
            </a:r>
            <a:r>
              <a:rPr lang="zh-CN" altLang="en-US" sz="1400">
                <a:cs typeface="+mn-ea"/>
                <a:sym typeface="+mn-lt"/>
              </a:rPr>
              <a:t>接受引用类型，可以创建一个 </a:t>
            </a:r>
            <a:r>
              <a:rPr lang="en-US" altLang="zh-CN" sz="1400">
                <a:cs typeface="+mn-ea"/>
                <a:sym typeface="+mn-lt"/>
              </a:rPr>
              <a:t>Borrowed </a:t>
            </a:r>
            <a:r>
              <a:rPr lang="zh-CN" altLang="en-US" sz="1400">
                <a:cs typeface="+mn-ea"/>
                <a:sym typeface="+mn-lt"/>
              </a:rPr>
              <a:t>变体；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如果需要修改数据，则 </a:t>
            </a:r>
            <a:r>
              <a:rPr lang="en-US" altLang="zh-CN" sz="1400">
                <a:cs typeface="+mn-ea"/>
                <a:sym typeface="+mn-lt"/>
              </a:rPr>
              <a:t>Cow</a:t>
            </a:r>
            <a:r>
              <a:rPr lang="zh-CN" altLang="en-US" sz="1400">
                <a:cs typeface="+mn-ea"/>
                <a:sym typeface="+mn-lt"/>
              </a:rPr>
              <a:t> 智能指针会自动执行复制操作，并将其转换为 </a:t>
            </a:r>
            <a:r>
              <a:rPr lang="en-US" altLang="zh-CN" sz="1400">
                <a:cs typeface="+mn-ea"/>
                <a:sym typeface="+mn-lt"/>
              </a:rPr>
              <a:t>Owned</a:t>
            </a:r>
            <a:r>
              <a:rPr lang="zh-CN" altLang="en-US" sz="1400">
                <a:cs typeface="+mn-ea"/>
                <a:sym typeface="+mn-lt"/>
              </a:rPr>
              <a:t> 数据。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ts val="344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在写入时进行克隆操作；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ts val="344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可以避免不必要的内存分配和复制操作；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</a:t>
            </a:r>
            <a:r>
              <a:rPr lang="zh-CN" altLang="en-US" sz="1800">
                <a:cs typeface="+mn-ea"/>
                <a:sym typeface="+mn-lt"/>
              </a:rPr>
              <a:t>常用智能指针的概念和用法；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掌握几种智能指针的内存布局；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x5sq4dm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x5sq4dm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x5sq4dm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x5sq4dm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x5sq4dm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2306</TotalTime>
  <Words>2874</Words>
  <Application>Microsoft Office PowerPoint</Application>
  <PresentationFormat>自定义</PresentationFormat>
  <Paragraphs>273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智能指针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智能指针</dc:title>
  <dc:creator>fanyan (A)</dc:creator>
  <cp:lastModifiedBy>Zhangyandong (ben)</cp:lastModifiedBy>
  <cp:revision>13</cp:revision>
  <dcterms:created xsi:type="dcterms:W3CDTF">2023-10-18T07:19:23Z</dcterms:created>
  <dcterms:modified xsi:type="dcterms:W3CDTF">2024-11-20T02:32:15Z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(3)ScfRiYyzGyTPi0+fwV/5et0sExl6+j0M0Vas3lD0zJ2zf8G729Lbg6/qwoJEmXMvKdznzK5W
Cn4MAAG3hLQl+fNqZ1kJ4yD1+SNlPQpamI45yAgMFH6pWfAdB5YiEv/ntMEnvce+2WmLPlv5
I3YBRn0k2XONAiqbNbf7+3BHPiH/+8T3wBqms8IxErm3OG873naMCfFEMX0qZp7fMVPXo6XK
tCnMSGy4W26Woi7B3Y</vt:lpwstr>
  </property>
  <property fmtid="{D5CDD505-2E9C-101B-9397-08002B2CF9AE}" pid="3" name="_2015_ms_pID_7253431">
    <vt:lpwstr>49E9WX2Ly1EggZSWwztlgv8k4U4CFd/2IBRZuR7gK5NDzEIlX2Yddn
hqzTekiXEwFB6KixFp8y6SgTqYj8ev009fhb2MioxkwWEnDNHGYfGUUm2fgAFQQh3iyxjZ9F
P7imXr8Lo5Szj6reOImoOqnsVHx8a5zGknckr/BkYahWFALRu9sJizz2XHIFcFtrNGMuT/HU
UU0Bf38nvR2C0Bc2FCCfHyKMZfW2QY5EJikq</vt:lpwstr>
  </property>
  <property fmtid="{D5CDD505-2E9C-101B-9397-08002B2CF9AE}" pid="4" name="_2015_ms_pID_7253432">
    <vt:lpwstr>lA==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