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  <p:sldMasterId id="2147483664" r:id="rId6"/>
  </p:sldMasterIdLst>
  <p:notesMasterIdLst>
    <p:notesMasterId r:id="rId23"/>
  </p:notesMasterIdLst>
  <p:handoutMasterIdLst>
    <p:handoutMasterId r:id="rId24"/>
  </p:handoutMasterIdLst>
  <p:sldIdLst>
    <p:sldId id="424" r:id="rId7"/>
    <p:sldId id="423" r:id="rId8"/>
    <p:sldId id="421" r:id="rId9"/>
    <p:sldId id="426" r:id="rId10"/>
    <p:sldId id="457" r:id="rId11"/>
    <p:sldId id="469" r:id="rId12"/>
    <p:sldId id="459" r:id="rId13"/>
    <p:sldId id="437" r:id="rId14"/>
    <p:sldId id="443" r:id="rId15"/>
    <p:sldId id="438" r:id="rId16"/>
    <p:sldId id="439" r:id="rId17"/>
    <p:sldId id="441" r:id="rId18"/>
    <p:sldId id="442" r:id="rId19"/>
    <p:sldId id="445" r:id="rId20"/>
    <p:sldId id="292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24"/>
          </p14:sldIdLst>
        </p14:section>
        <p14:section name="目录页" id="{9D221634-295C-7843-AF5C-A0CB4F229241}">
          <p14:sldIdLst>
            <p14:sldId id="423"/>
          </p14:sldIdLst>
        </p14:section>
        <p14:section name="章节页" id="{FD05EE94-C931-8C4B-83A2-004B32AA1207}">
          <p14:sldIdLst>
            <p14:sldId id="421"/>
            <p14:sldId id="426"/>
            <p14:sldId id="457"/>
            <p14:sldId id="469"/>
            <p14:sldId id="459"/>
            <p14:sldId id="437"/>
            <p14:sldId id="443"/>
            <p14:sldId id="438"/>
            <p14:sldId id="439"/>
            <p14:sldId id="441"/>
            <p14:sldId id="442"/>
            <p14:sldId id="445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ziqiang (A)" initials="l(" lastIdx="24" clrIdx="0"/>
  <p:cmAuthor id="2000" name="liziqiang 00556901_ERbuA7r6" initials="authorId_AK20210901:AK20210901JXNSXO4497046" lastIdx="1690052230" clrIdx="0"/>
  <p:cmAuthor id="2001" name="gaoshang 00419539_MRJvMvEj" initials="authorId_AK20210901:AK20210901JXNSXO980865" lastIdx="168926883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87">
        <p:fade/>
      </p:transition>
    </mc:Choice>
    <mc:Fallback xmlns="">
      <p:transition spd="med" advTm="508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9213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学习，掌握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所有权概念和使用。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1104361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所有权与</a:t>
            </a:r>
            <a:r>
              <a:rPr lang="en-US" altLang="zh-CN">
                <a:cs typeface="+mn-ea"/>
                <a:sym typeface="+mn-lt"/>
              </a:rPr>
              <a:t>move</a:t>
            </a:r>
            <a:r>
              <a:rPr lang="zh-CN" altLang="en-US">
                <a:cs typeface="+mn-ea"/>
                <a:sym typeface="+mn-lt"/>
              </a:rPr>
              <a:t>语义；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mem</a:t>
            </a:r>
            <a:r>
              <a:rPr lang="zh-CN" altLang="en-US">
                <a:cs typeface="+mn-ea"/>
                <a:sym typeface="+mn-lt"/>
              </a:rPr>
              <a:t>模块相关函数与所有权；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析构；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61"/>
    </mc:Choice>
    <mc:Fallback xmlns="">
      <p:transition spd="slow" advTm="2426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语义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std::mem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析构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7260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32821" y="2799901"/>
            <a:ext cx="1790968" cy="2187701"/>
            <a:chOff x="4452577" y="4074053"/>
            <a:chExt cx="2088182" cy="26805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52577" y="4074053"/>
              <a:ext cx="2088182" cy="2680532"/>
            </a:xfrm>
            <a:prstGeom prst="rect">
              <a:avLst/>
            </a:prstGeom>
          </p:spPr>
        </p:pic>
        <p:sp>
          <p:nvSpPr>
            <p:cNvPr id="31" name="乘号 30"/>
            <p:cNvSpPr/>
            <p:nvPr/>
          </p:nvSpPr>
          <p:spPr>
            <a:xfrm>
              <a:off x="5303049" y="4984146"/>
              <a:ext cx="536137" cy="616345"/>
            </a:xfrm>
            <a:prstGeom prst="mathMultiply">
              <a:avLst>
                <a:gd name="adj1" fmla="val 17952"/>
              </a:avLst>
            </a:prstGeom>
            <a:solidFill>
              <a:schemeClr val="accent2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-move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91515" y="1518920"/>
            <a:ext cx="3208020" cy="736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75860" y="4791165"/>
            <a:ext cx="3929783" cy="11695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"s1 = {}, s2 =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75860" y="4316563"/>
            <a:ext cx="4002832" cy="475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600">
                <a:cs typeface="+mn-ea"/>
                <a:sym typeface="+mn-lt"/>
              </a:rPr>
              <a:t>可以使用</a:t>
            </a:r>
            <a:r>
              <a:rPr lang="en-US" altLang="zh-CN" sz="1600">
                <a:cs typeface="+mn-ea"/>
                <a:sym typeface="+mn-lt"/>
              </a:rPr>
              <a:t>clone</a:t>
            </a:r>
            <a:r>
              <a:rPr lang="zh-CN" altLang="en-US" sz="1600">
                <a:cs typeface="+mn-ea"/>
                <a:sym typeface="+mn-lt"/>
              </a:rPr>
              <a:t>方法进行复制；</a:t>
            </a:r>
            <a:endParaRPr lang="zh-CN" altLang="en-US" sz="1600" dirty="0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094520" y="2743127"/>
            <a:ext cx="1938326" cy="2097019"/>
            <a:chOff x="428187" y="3556318"/>
            <a:chExt cx="2459951" cy="243284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187" y="3556318"/>
              <a:ext cx="2459951" cy="2432844"/>
            </a:xfrm>
            <a:prstGeom prst="rect">
              <a:avLst/>
            </a:prstGeom>
          </p:spPr>
        </p:pic>
        <p:sp>
          <p:nvSpPr>
            <p:cNvPr id="23" name="乘号 22"/>
            <p:cNvSpPr/>
            <p:nvPr/>
          </p:nvSpPr>
          <p:spPr>
            <a:xfrm>
              <a:off x="1505058" y="4291151"/>
              <a:ext cx="311864" cy="400728"/>
            </a:xfrm>
            <a:prstGeom prst="mathMultiply">
              <a:avLst>
                <a:gd name="adj1" fmla="val 17952"/>
              </a:avLst>
            </a:prstGeom>
            <a:solidFill>
              <a:schemeClr val="accent2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012674" y="793467"/>
            <a:ext cx="4420743" cy="97483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u="none">
                <a:solidFill>
                  <a:srgbClr val="1D1D1A"/>
                </a:solidFill>
                <a:cs typeface="+mn-ea"/>
                <a:sym typeface="+mn-lt"/>
              </a:rPr>
              <a:t>String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 由三部分组成，一个指向存放字符串内容内存的指针，一个长度，和一个容量。这一组数据存储在栈上。右侧则是堆上存放内容的内存部分。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7" name="图片 16" descr="upload_0427509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099" y="1065512"/>
            <a:ext cx="2731792" cy="1790968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 userDrawn="1"/>
        </p:nvCxnSpPr>
        <p:spPr>
          <a:xfrm>
            <a:off x="3862514" y="1860009"/>
            <a:ext cx="4715459" cy="1"/>
          </a:xfrm>
          <a:prstGeom prst="straightConnector1">
            <a:avLst/>
          </a:prstGeom>
          <a:ln w="25400" cap="flat" cmpd="sng" algn="ctr">
            <a:solidFill>
              <a:srgbClr val="ED7D31">
                <a:alpha val="100000"/>
              </a:srgbClr>
            </a:solidFill>
            <a:prstDash val="solid"/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25167" y="5202874"/>
            <a:ext cx="2094097" cy="73679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将</a:t>
            </a:r>
            <a:r>
              <a:rPr lang="en-US" sz="1200">
                <a:solidFill>
                  <a:srgbClr val="1D1D1A"/>
                </a:solidFill>
                <a:cs typeface="+mn-ea"/>
                <a:sym typeface="+mn-lt"/>
              </a:rPr>
              <a:t> s1</a:t>
            </a: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 赋值给 </a:t>
            </a:r>
            <a:r>
              <a:rPr lang="en-US" sz="1200">
                <a:solidFill>
                  <a:srgbClr val="1D1D1A"/>
                </a:solidFill>
                <a:cs typeface="+mn-ea"/>
                <a:sym typeface="+mn-lt"/>
              </a:rPr>
              <a:t>s2</a:t>
            </a: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，</a:t>
            </a:r>
            <a:r>
              <a:rPr lang="zh-CN" altLang="en-US" sz="1200">
                <a:solidFill>
                  <a:srgbClr val="1D1D1A"/>
                </a:solidFill>
                <a:cs typeface="+mn-ea"/>
                <a:sym typeface="+mn-lt"/>
              </a:rPr>
              <a:t>并不是完整复制栈上和堆上的内容。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0514" y="5044181"/>
            <a:ext cx="2278383" cy="906819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将</a:t>
            </a:r>
            <a:r>
              <a:rPr lang="en-US" sz="1200">
                <a:solidFill>
                  <a:srgbClr val="1D1D1A"/>
                </a:solidFill>
                <a:cs typeface="+mn-ea"/>
                <a:sym typeface="+mn-lt"/>
              </a:rPr>
              <a:t> s1</a:t>
            </a: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 赋值给 </a:t>
            </a:r>
            <a:r>
              <a:rPr lang="en-US" sz="1200">
                <a:solidFill>
                  <a:srgbClr val="1D1D1A"/>
                </a:solidFill>
                <a:cs typeface="+mn-ea"/>
                <a:sym typeface="+mn-lt"/>
              </a:rPr>
              <a:t>s2</a:t>
            </a:r>
            <a:r>
              <a:rPr lang="zh-CN" sz="1200">
                <a:solidFill>
                  <a:srgbClr val="1D1D1A"/>
                </a:solidFill>
                <a:cs typeface="+mn-ea"/>
                <a:sym typeface="+mn-lt"/>
              </a:rPr>
              <a:t>，意味着从栈上拷贝了它的指针、长度和容量</a:t>
            </a:r>
            <a:r>
              <a:rPr lang="zh-CN" altLang="en-US" sz="1200">
                <a:solidFill>
                  <a:srgbClr val="1D1D1A"/>
                </a:solidFill>
                <a:cs typeface="+mn-ea"/>
                <a:sym typeface="+mn-lt"/>
              </a:rPr>
              <a:t>；同时</a:t>
            </a:r>
            <a:r>
              <a:rPr lang="en-US" altLang="zh-CN" sz="1200">
                <a:solidFill>
                  <a:srgbClr val="1D1D1A"/>
                </a:solidFill>
                <a:cs typeface="+mn-ea"/>
                <a:sym typeface="+mn-lt"/>
              </a:rPr>
              <a:t>s1</a:t>
            </a:r>
            <a:r>
              <a:rPr lang="zh-CN" altLang="en-US" sz="1200">
                <a:solidFill>
                  <a:srgbClr val="1D1D1A"/>
                </a:solidFill>
                <a:cs typeface="+mn-ea"/>
                <a:sym typeface="+mn-lt"/>
              </a:rPr>
              <a:t>不再有效；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" name="下箭头 3"/>
          <p:cNvSpPr/>
          <p:nvPr userDrawn="1"/>
        </p:nvSpPr>
        <p:spPr>
          <a:xfrm>
            <a:off x="1731490" y="2415436"/>
            <a:ext cx="963495" cy="192699"/>
          </a:xfrm>
          <a:prstGeom prst="downArrow">
            <a:avLst/>
          </a:prstGeom>
          <a:solidFill>
            <a:srgbClr val="ED7D31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659"/>
    </mc:Choice>
    <mc:Fallback xmlns="">
      <p:transition spd="slow" advTm="1436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-Copy trait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02681" y="1430847"/>
            <a:ext cx="6019425" cy="518065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1.23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1.23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'a'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()),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// error：a 没有实现 copy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9375" y="657444"/>
            <a:ext cx="11323902" cy="1201535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Copy trait </a:t>
            </a:r>
            <a:r>
              <a:rPr lang="zh-CN"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是 Rust 中的一个特殊 trait，它表示一个类型的值可以通过简单地复制位来复制。如果一个类型实现了 Copy trait，当我们把一个变量赋值给另一个变量时，原变量仍然可以使用</a:t>
            </a:r>
            <a:r>
              <a:rPr lang="zh-CN" sz="16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6698" y="1874903"/>
            <a:ext cx="4810606" cy="3083722"/>
          </a:xfrm>
          <a:prstGeom prst="rect">
            <a:avLst/>
          </a:prstGeom>
          <a:solidFill>
            <a:schemeClr val="tx2"/>
          </a:solidFill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实现了 </a:t>
            </a:r>
            <a:r>
              <a:rPr lang="en-US" altLang="zh-CN" sz="1600">
                <a:cs typeface="+mn-ea"/>
                <a:sym typeface="+mn-lt"/>
              </a:rPr>
              <a:t>Copy trait </a:t>
            </a:r>
            <a:r>
              <a:rPr lang="zh-CN" altLang="en-US" sz="1600">
                <a:cs typeface="+mn-ea"/>
                <a:sym typeface="+mn-lt"/>
              </a:rPr>
              <a:t>的部分类型包括：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整数类型；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布尔类型；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所有浮点数类型；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字符类型；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元组，当且仅当其包含的类型也都实现 </a:t>
            </a:r>
            <a:r>
              <a:rPr lang="en-US" altLang="zh-CN" sz="1600">
                <a:cs typeface="+mn-ea"/>
                <a:sym typeface="+mn-lt"/>
              </a:rPr>
              <a:t>Copy </a:t>
            </a:r>
            <a:r>
              <a:rPr lang="zh-CN" altLang="en-US" sz="1600">
                <a:cs typeface="+mn-ea"/>
                <a:sym typeface="+mn-lt"/>
              </a:rPr>
              <a:t>的时候，比如，</a:t>
            </a:r>
            <a:r>
              <a:rPr lang="en-US" altLang="zh-CN" sz="1600">
                <a:cs typeface="+mn-ea"/>
                <a:sym typeface="+mn-lt"/>
              </a:rPr>
              <a:t>(i32, i32) </a:t>
            </a:r>
            <a:r>
              <a:rPr lang="zh-CN" altLang="en-US" sz="1600">
                <a:cs typeface="+mn-ea"/>
                <a:sym typeface="+mn-lt"/>
              </a:rPr>
              <a:t>实现了 </a:t>
            </a:r>
            <a:r>
              <a:rPr lang="en-US" altLang="zh-CN" sz="1600">
                <a:cs typeface="+mn-ea"/>
                <a:sym typeface="+mn-lt"/>
              </a:rPr>
              <a:t>Copy</a:t>
            </a:r>
            <a:r>
              <a:rPr lang="zh-CN" altLang="en-US" sz="1600">
                <a:cs typeface="+mn-ea"/>
                <a:sym typeface="+mn-lt"/>
              </a:rPr>
              <a:t>，但 </a:t>
            </a:r>
            <a:r>
              <a:rPr lang="en-US" altLang="zh-CN" sz="1600">
                <a:cs typeface="+mn-ea"/>
                <a:sym typeface="+mn-lt"/>
              </a:rPr>
              <a:t>(i32, String) </a:t>
            </a:r>
            <a:r>
              <a:rPr lang="zh-CN" altLang="en-US" sz="1600">
                <a:cs typeface="+mn-ea"/>
                <a:sym typeface="+mn-lt"/>
              </a:rPr>
              <a:t>就没有；</a:t>
            </a:r>
          </a:p>
        </p:txBody>
      </p:sp>
      <p:pic>
        <p:nvPicPr>
          <p:cNvPr id="6" name="图片 5" descr="upload_292643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43" y="5205322"/>
            <a:ext cx="4341880" cy="1060800"/>
          </a:xfrm>
          <a:prstGeom prst="rect">
            <a:avLst/>
          </a:prstGeom>
        </p:spPr>
      </p:pic>
      <p:sp>
        <p:nvSpPr>
          <p:cNvPr id="8" name="左箭头 7"/>
          <p:cNvSpPr/>
          <p:nvPr userDrawn="1"/>
        </p:nvSpPr>
        <p:spPr>
          <a:xfrm>
            <a:off x="4933955" y="5550699"/>
            <a:ext cx="370047" cy="370047"/>
          </a:xfrm>
          <a:prstGeom prst="leftArrow">
            <a:avLst/>
          </a:prstGeom>
          <a:solidFill>
            <a:srgbClr val="ED7D31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393"/>
    </mc:Choice>
    <mc:Fallback xmlns="">
      <p:transition spd="slow" advTm="6639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-Copy trait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769636" y="884149"/>
            <a:ext cx="5894323" cy="31965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#[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Copy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)]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Foo1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  </a:t>
            </a:r>
          </a:p>
          <a:p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#[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derive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Copy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)] </a:t>
            </a:r>
            <a:r>
              <a:rPr lang="en-US" sz="1400" b="0" i="1" u="none">
                <a:solidFill>
                  <a:srgbClr val="7F848E"/>
                </a:solidFill>
                <a:cs typeface="+mn-ea"/>
                <a:sym typeface="+mn-lt"/>
              </a:rPr>
              <a:t>  </a:t>
            </a:r>
            <a:r>
              <a:rPr lang="zh-CN" sz="1400" b="0" i="1" u="none">
                <a:solidFill>
                  <a:srgbClr val="7F848E"/>
                </a:solidFill>
                <a:cs typeface="+mn-ea"/>
                <a:sym typeface="+mn-lt"/>
              </a:rPr>
              <a:t>// error: String字段没有实现Copy trait</a:t>
            </a:r>
            <a:endParaRPr lang="en-US" sz="14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Foo2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{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j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"String"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()};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368" y="912782"/>
            <a:ext cx="5279332" cy="5081974"/>
          </a:xfrm>
          <a:prstGeom prst="rect">
            <a:avLst/>
          </a:prstGeom>
          <a:solidFill>
            <a:schemeClr val="tx2"/>
          </a:solidFill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可以通过在结构体定义上添加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 #[derive(Copy, Clone)] 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属性来为结构体实现 Copy trait</a:t>
            </a:r>
            <a:r>
              <a:rPr lang="zh-CN" sz="140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，但需要满足一些条件</a:t>
            </a:r>
            <a:r>
              <a:rPr lang="zh-CN" sz="1400" u="none">
                <a:solidFill>
                  <a:srgbClr val="000000"/>
                </a:solidFill>
                <a:cs typeface="+mn-ea"/>
                <a:sym typeface="+mn-lt"/>
              </a:rPr>
              <a:t>：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sz="140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结构体的所有字段都必须实现了 Copy trait</a:t>
            </a:r>
            <a:r>
              <a:rPr lang="en-US" altLang="zh-CN" sz="140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;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sz="140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结构体不能实现 Drop trait</a:t>
            </a:r>
            <a:r>
              <a:rPr lang="en-US" altLang="zh-CN" sz="140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;</a:t>
            </a:r>
          </a:p>
          <a:p>
            <a:pPr marL="285750" indent="-285750">
              <a:lnSpc>
                <a:spcPct val="150000"/>
              </a:lnSpc>
              <a:buChar char="•"/>
            </a:pPr>
            <a:endParaRPr lang="zh-CN" sz="1400" b="0" u="none">
              <a:solidFill>
                <a:srgbClr val="000000"/>
              </a:solidFill>
              <a:uFill>
                <a:solidFill>
                  <a:srgbClr val="000000"/>
                </a:solidFill>
              </a:u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注意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：</a:t>
            </a:r>
            <a:endParaRPr lang="zh-CN" sz="1400" b="0" u="none">
              <a:solidFill>
                <a:srgbClr val="000000"/>
              </a:solidFill>
              <a:uFill>
                <a:solidFill>
                  <a:srgbClr val="000000"/>
                </a:solidFill>
              </a:u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所有实现 Copy 的类型都必须实现 Clone </a:t>
            </a:r>
            <a:r>
              <a:rPr lang="en-US" alt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trait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。此外，Copy 是一个标记 trait，它没有任何方法。它只是用来标记一个类型可以按位复制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  <a:p>
            <a:pPr marL="285750" indent="-285750">
              <a:lnSpc>
                <a:spcPct val="150000"/>
              </a:lnSpc>
              <a:buChar char="•"/>
            </a:pP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alt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clone trait</a:t>
            </a:r>
            <a:r>
              <a:rPr lang="zh-CN" alt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是</a:t>
            </a:r>
            <a:r>
              <a:rPr lang="zh-CN" sz="1400">
                <a:solidFill>
                  <a:srgbClr val="121212"/>
                </a:solidFill>
                <a:cs typeface="+mn-ea"/>
                <a:sym typeface="+mn-lt"/>
              </a:rPr>
              <a:t>数据被拷贝时栈内存和堆内存会一起拷贝</a:t>
            </a:r>
            <a:r>
              <a:rPr lang="zh-CN" altLang="en-US" sz="1400">
                <a:solidFill>
                  <a:srgbClr val="121212"/>
                </a:solidFill>
                <a:cs typeface="+mn-ea"/>
                <a:sym typeface="+mn-lt"/>
              </a:rPr>
              <a:t>；</a:t>
            </a:r>
            <a:endParaRPr lang="zh-CN" sz="1400" b="0" u="none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同时实现</a:t>
            </a:r>
            <a:r>
              <a:rPr lang="en-US" alt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Copy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和</a:t>
            </a:r>
            <a:r>
              <a:rPr lang="en-US" alt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Drop trait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可能会导致一些问题，例如重复释放内存或者重复关闭文件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r>
              <a:rPr lang="en-US" altLang="zh-CN" sz="1400" b="0" u="none">
                <a:solidFill>
                  <a:srgbClr val="000000"/>
                </a:solidFill>
                <a:cs typeface="+mn-ea"/>
                <a:sym typeface="+mn-lt"/>
              </a:rPr>
              <a:t>D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rop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000000"/>
                </a:solidFill>
                <a:cs typeface="+mn-ea"/>
                <a:sym typeface="+mn-lt"/>
              </a:rPr>
              <a:t>trait </a:t>
            </a:r>
            <a:r>
              <a:rPr lang="zh-CN" altLang="en-US" sz="1400">
                <a:solidFill>
                  <a:srgbClr val="000000"/>
                </a:solidFill>
                <a:cs typeface="+mn-ea"/>
                <a:sym typeface="+mn-lt"/>
              </a:rPr>
              <a:t>允许在值离开作用域后自动调用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释放实现者实例拥有的资源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；</a:t>
            </a:r>
            <a:endParaRPr lang="en-US" altLang="zh-CN" sz="1400">
              <a:solidFill>
                <a:srgbClr val="000000"/>
              </a:solidFill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3" name="图片 2" descr="upload_3720179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880" y="3959547"/>
            <a:ext cx="2763015" cy="41938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74727" y="4553234"/>
            <a:ext cx="5896076" cy="175155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#[derive(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Copy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Clone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)]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{}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Drop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drop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 {}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sz="14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864"/>
    </mc:Choice>
    <mc:Fallback xmlns="">
      <p:transition spd="slow" advTm="8786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-Copy trait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443322" y="1578866"/>
            <a:ext cx="9275835" cy="26643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>
                <a:solidFill>
                  <a:srgbClr val="FF0000"/>
                </a:solidFill>
                <a:cs typeface="+mn-ea"/>
                <a:sym typeface="+mn-lt"/>
              </a:rPr>
              <a:t>错误</a:t>
            </a:r>
            <a:r>
              <a:rPr lang="zh-CN" altLang="en-US" sz="1200" b="1">
                <a:solidFill>
                  <a:srgbClr val="FF0000"/>
                </a:solidFill>
                <a:cs typeface="+mn-ea"/>
                <a:sym typeface="+mn-lt"/>
              </a:rPr>
              <a:t>示例</a:t>
            </a:r>
            <a:endParaRPr lang="en-US" altLang="zh-CN" sz="12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en-US" sz="15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// 如果数组的元素类型实现了 Copy trait，那么这个数组类型也会实现 Copy trait。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5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en-US" sz="1500" b="0" i="1" u="none">
                <a:solidFill>
                  <a:srgbClr val="7F848E"/>
                </a:solidFill>
                <a:cs typeface="+mn-ea"/>
                <a:sym typeface="+mn-lt"/>
              </a:rPr>
              <a:t>    </a:t>
            </a:r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// 如果数组的元素类型没有实现 Copy trait，那么这个数组类型也不会实现 Copy trait12。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 [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"world"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()];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"world"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()],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// error：a 没有实现 copy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i="1" u="none">
              <a:solidFill>
                <a:srgbClr val="7F848E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368" y="838772"/>
            <a:ext cx="11446775" cy="518065"/>
          </a:xfrm>
          <a:prstGeom prst="rect">
            <a:avLst/>
          </a:prstGeom>
          <a:solidFill>
            <a:schemeClr val="tx2"/>
          </a:solidFill>
        </p:spPr>
        <p:txBody>
          <a:bodyPr vert="horz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数组类型是否实现了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 Copy 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trait 取决于它的元素类型。</a:t>
            </a:r>
            <a:endParaRPr lang="zh-CN" altLang="en-US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3" name="图片 2" descr="upload_5236942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735" y="4810606"/>
            <a:ext cx="8017677" cy="1504856"/>
          </a:xfrm>
          <a:prstGeom prst="rect">
            <a:avLst/>
          </a:prstGeom>
        </p:spPr>
      </p:pic>
      <p:sp>
        <p:nvSpPr>
          <p:cNvPr id="4" name="下箭头 3"/>
          <p:cNvSpPr/>
          <p:nvPr userDrawn="1"/>
        </p:nvSpPr>
        <p:spPr>
          <a:xfrm>
            <a:off x="5794221" y="4396500"/>
            <a:ext cx="616744" cy="320707"/>
          </a:xfrm>
          <a:prstGeom prst="downArrow">
            <a:avLst/>
          </a:prstGeom>
          <a:solidFill>
            <a:srgbClr val="ED7D31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54"/>
    </mc:Choice>
    <mc:Fallback xmlns="">
      <p:transition spd="slow" advTm="1955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复合类型中的所有权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39006" y="779177"/>
            <a:ext cx="10761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cs typeface="+mn-ea"/>
                <a:sym typeface="+mn-lt"/>
              </a:rPr>
              <a:t>对于复合类型来说，如果其中有</a:t>
            </a:r>
            <a:r>
              <a:rPr lang="zh-CN" altLang="en-US" sz="1600">
                <a:cs typeface="+mn-ea"/>
                <a:sym typeface="+mn-lt"/>
              </a:rPr>
              <a:t>一部分成员发生</a:t>
            </a:r>
            <a:r>
              <a:rPr lang="en-US" altLang="zh-CN" sz="1600">
                <a:cs typeface="+mn-ea"/>
                <a:sym typeface="+mn-lt"/>
              </a:rPr>
              <a:t>move</a:t>
            </a:r>
            <a:r>
              <a:rPr lang="zh-CN" altLang="en-US" sz="1600">
                <a:cs typeface="+mn-ea"/>
                <a:sym typeface="+mn-lt"/>
              </a:rPr>
              <a:t>，</a:t>
            </a:r>
            <a:r>
              <a:rPr lang="zh-CN" altLang="en-US" sz="1600" dirty="0">
                <a:cs typeface="+mn-ea"/>
                <a:sym typeface="+mn-lt"/>
              </a:rPr>
              <a:t>则会</a:t>
            </a:r>
            <a:r>
              <a:rPr lang="zh-CN" altLang="en-US" sz="1600">
                <a:cs typeface="+mn-ea"/>
                <a:sym typeface="+mn-lt"/>
              </a:rPr>
              <a:t>产生部分失去所有权的情况。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9006" y="1241409"/>
            <a:ext cx="1134028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如果是</a:t>
            </a:r>
            <a:r>
              <a:rPr lang="en-US" altLang="zh-CN" sz="1600" dirty="0" err="1">
                <a:cs typeface="+mn-ea"/>
                <a:sym typeface="+mn-lt"/>
              </a:rPr>
              <a:t>struct</a:t>
            </a:r>
            <a:r>
              <a:rPr lang="zh-CN" altLang="en-US" sz="1600" dirty="0">
                <a:cs typeface="+mn-ea"/>
                <a:sym typeface="+mn-lt"/>
              </a:rPr>
              <a:t>、</a:t>
            </a:r>
            <a:r>
              <a:rPr lang="en-US" altLang="zh-CN" sz="1600" dirty="0">
                <a:cs typeface="+mn-ea"/>
                <a:sym typeface="+mn-lt"/>
              </a:rPr>
              <a:t>tuple</a:t>
            </a:r>
            <a:r>
              <a:rPr lang="zh-CN" altLang="en-US" sz="1600" dirty="0">
                <a:cs typeface="+mn-ea"/>
                <a:sym typeface="+mn-lt"/>
              </a:rPr>
              <a:t>等编译期可以确定使用哪个成员的类型，允许对象中有</a:t>
            </a:r>
            <a:r>
              <a:rPr lang="zh-CN" altLang="en-US" sz="1600">
                <a:cs typeface="+mn-ea"/>
                <a:sym typeface="+mn-lt"/>
              </a:rPr>
              <a:t>部分成员失去所有权，其他成员</a:t>
            </a:r>
            <a:r>
              <a:rPr lang="zh-CN" altLang="en-US" sz="1600" dirty="0">
                <a:cs typeface="+mn-ea"/>
                <a:sym typeface="+mn-lt"/>
              </a:rPr>
              <a:t>仍然可以正常使用</a:t>
            </a:r>
            <a:r>
              <a:rPr lang="zh-CN" altLang="en-US" sz="1600">
                <a:cs typeface="+mn-ea"/>
                <a:sym typeface="+mn-lt"/>
              </a:rPr>
              <a:t>，但结构体整体不</a:t>
            </a:r>
            <a:r>
              <a:rPr lang="zh-CN" altLang="en-US" sz="1600" dirty="0">
                <a:cs typeface="+mn-ea"/>
                <a:sym typeface="+mn-lt"/>
              </a:rPr>
              <a:t>允许再被使用。</a:t>
            </a:r>
          </a:p>
        </p:txBody>
      </p:sp>
      <p:sp>
        <p:nvSpPr>
          <p:cNvPr id="15" name="矩形 14"/>
          <p:cNvSpPr/>
          <p:nvPr/>
        </p:nvSpPr>
        <p:spPr>
          <a:xfrm>
            <a:off x="397627" y="2414660"/>
            <a:ext cx="6311084" cy="33547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Two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first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second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Two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first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"Miko"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second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"Shark"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.first;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把第一个成员移动走了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"{:?}"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.second);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第二个成员仍可以使用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“{:?}”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.first);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错误：第一个成员已发生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move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。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simon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mike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错误：因为已有部分成员被移动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545" y="3465536"/>
            <a:ext cx="4389743" cy="1253011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6806153" y="3831133"/>
            <a:ext cx="285949" cy="521818"/>
          </a:xfrm>
          <a:prstGeom prst="rightArrow">
            <a:avLst/>
          </a:prstGeom>
          <a:solidFill>
            <a:schemeClr val="accent3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76"/>
    </mc:Choice>
    <mc:Fallback xmlns="">
      <p:transition spd="slow" advTm="4217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复合类型中的所有权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19605" y="1424846"/>
            <a:ext cx="305470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>
              <a:solidFill>
                <a:srgbClr val="569CD6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menu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[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"apple"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"orange"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"banana"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apple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menu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3516383" y="2179599"/>
            <a:ext cx="285949" cy="521818"/>
          </a:xfrm>
          <a:prstGeom prst="rightArrow">
            <a:avLst/>
          </a:prstGeom>
          <a:solidFill>
            <a:schemeClr val="accent3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9605" y="657324"/>
            <a:ext cx="11054330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如果是数组、</a:t>
            </a:r>
            <a:r>
              <a:rPr lang="en-US" altLang="zh-CN" sz="1600" dirty="0" err="1">
                <a:cs typeface="+mn-ea"/>
                <a:sym typeface="+mn-lt"/>
              </a:rPr>
              <a:t>Vec</a:t>
            </a:r>
            <a:r>
              <a:rPr lang="zh-CN" altLang="en-US" sz="1600" dirty="0">
                <a:cs typeface="+mn-ea"/>
                <a:sym typeface="+mn-lt"/>
              </a:rPr>
              <a:t>等通过变量作为下标来获取成员的类型，则不允许其中任何成员</a:t>
            </a:r>
            <a:r>
              <a:rPr lang="zh-CN" altLang="en-US" sz="1600">
                <a:cs typeface="+mn-ea"/>
                <a:sym typeface="+mn-lt"/>
              </a:rPr>
              <a:t>被移动的。</a:t>
            </a:r>
            <a:endParaRPr lang="en-US" altLang="zh-CN" sz="16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因为</a:t>
            </a:r>
            <a:r>
              <a:rPr lang="zh-CN" altLang="en-US" sz="1600" dirty="0">
                <a:cs typeface="+mn-ea"/>
                <a:sym typeface="+mn-lt"/>
              </a:rPr>
              <a:t>在编译期无法计算哪些</a:t>
            </a:r>
            <a:r>
              <a:rPr lang="zh-CN" altLang="en-US" sz="1600">
                <a:cs typeface="+mn-ea"/>
                <a:sym typeface="+mn-lt"/>
              </a:rPr>
              <a:t>成员是已失去所有权。</a:t>
            </a:r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410" y="1545158"/>
            <a:ext cx="7629525" cy="17907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20939" y="3513923"/>
            <a:ext cx="8410746" cy="32414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altLang="zh-CN" sz="12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>
              <a:solidFill>
                <a:srgbClr val="569CD6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元组的所有权可以被转移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这里发生了所有权转移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println!("{:?}", tuple1);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这里会报错，因为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tuple1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的所有权已经被转移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如果元组中的所有元素都实现了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Copy trait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，那么元组可以被复制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这里发生了复制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你可以独立地移动或复制元组中的元素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= 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=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tuple5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29"/>
    </mc:Choice>
    <mc:Fallback xmlns="">
      <p:transition spd="slow" advTm="3602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编译期检查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28722" y="1065512"/>
            <a:ext cx="11244556" cy="44207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Rust </a:t>
            </a:r>
            <a:r>
              <a:rPr lang="zh-CN" altLang="en-US" sz="1400" dirty="0">
                <a:cs typeface="+mn-ea"/>
                <a:sym typeface="+mn-lt"/>
              </a:rPr>
              <a:t>在编译器的所有权检查有可能让功能正确的代码无法通过</a:t>
            </a:r>
            <a:r>
              <a:rPr lang="zh-CN" altLang="en-US" sz="1400">
                <a:cs typeface="+mn-ea"/>
                <a:sym typeface="+mn-lt"/>
              </a:rPr>
              <a:t>编译：</a:t>
            </a:r>
            <a:endParaRPr lang="en-US" altLang="zh-CN" sz="1400" dirty="0"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64761" y="1711702"/>
            <a:ext cx="11085195" cy="3571875"/>
            <a:chOff x="582" y="1461"/>
            <a:chExt cx="17457" cy="5625"/>
          </a:xfrm>
        </p:grpSpPr>
        <p:sp>
          <p:nvSpPr>
            <p:cNvPr id="12" name="矩形 11"/>
            <p:cNvSpPr/>
            <p:nvPr/>
          </p:nvSpPr>
          <p:spPr>
            <a:xfrm>
              <a:off x="9347" y="1461"/>
              <a:ext cx="8692" cy="31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rgbClr val="FFFFFF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chemeClr val="accent2"/>
                  </a:solidFill>
                  <a:cs typeface="+mn-ea"/>
                  <a:sym typeface="+mn-lt"/>
                </a:rPr>
                <a:t>代码示例</a:t>
              </a:r>
              <a:endParaRPr lang="en-US" altLang="zh-CN" sz="1400">
                <a:solidFill>
                  <a:schemeClr val="accent2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"Rust"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to_string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mut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 i="1">
                  <a:solidFill>
                    <a:srgbClr val="7F848E"/>
                  </a:solidFill>
                  <a:cs typeface="+mn-ea"/>
                  <a:sym typeface="+mn-lt"/>
                </a:rPr>
                <a:t>    // </a:t>
              </a:r>
              <a:r>
                <a:rPr lang="zh-CN" altLang="en-US" sz="1400" i="1">
                  <a:solidFill>
                    <a:srgbClr val="7F848E"/>
                  </a:solidFill>
                  <a:cs typeface="+mn-ea"/>
                  <a:sym typeface="+mn-lt"/>
                </a:rPr>
                <a:t>以下循环实际上只会执行一次</a:t>
              </a:r>
              <a:endParaRPr lang="zh-CN" altLang="en-US" sz="140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zh-CN" altLang="en-US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for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_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0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..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}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82" y="1477"/>
              <a:ext cx="7729" cy="31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rgbClr val="FFFFFF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chemeClr val="accent2"/>
                  </a:solidFill>
                  <a:cs typeface="+mn-ea"/>
                  <a:sym typeface="+mn-lt"/>
                </a:rPr>
                <a:t>代码示例</a:t>
              </a:r>
              <a:endParaRPr lang="en-US" altLang="zh-CN" sz="1400">
                <a:solidFill>
                  <a:schemeClr val="accent2"/>
                </a:solidFill>
                <a:cs typeface="+mn-ea"/>
                <a:sym typeface="+mn-lt"/>
              </a:endParaRP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"Rust"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to_string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();</a:t>
              </a:r>
            </a:p>
            <a:p>
              <a:r>
                <a:rPr lang="en-US" altLang="zh-CN" sz="1400" i="1">
                  <a:solidFill>
                    <a:srgbClr val="7F848E"/>
                  </a:solidFill>
                  <a:cs typeface="+mn-ea"/>
                  <a:sym typeface="+mn-lt"/>
                </a:rPr>
                <a:t>    // </a:t>
              </a:r>
              <a:r>
                <a:rPr lang="zh-CN" altLang="en-US" sz="1400" i="1">
                  <a:solidFill>
                    <a:srgbClr val="7F848E"/>
                  </a:solidFill>
                  <a:cs typeface="+mn-ea"/>
                  <a:sym typeface="+mn-lt"/>
                </a:rPr>
                <a:t>以下分支代码实际并不会执行</a:t>
              </a:r>
              <a:endParaRPr lang="zh-CN" altLang="en-US" sz="140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zh-CN" altLang="en-US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if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false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}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"{:?}"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" y="5136"/>
              <a:ext cx="7729" cy="195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47" y="5136"/>
              <a:ext cx="8692" cy="1950"/>
            </a:xfrm>
            <a:prstGeom prst="rect">
              <a:avLst/>
            </a:prstGeom>
          </p:spPr>
        </p:pic>
        <p:sp>
          <p:nvSpPr>
            <p:cNvPr id="8" name="下箭头 7"/>
            <p:cNvSpPr/>
            <p:nvPr/>
          </p:nvSpPr>
          <p:spPr>
            <a:xfrm>
              <a:off x="3925" y="4782"/>
              <a:ext cx="1043" cy="250"/>
            </a:xfrm>
            <a:prstGeom prst="downArrow">
              <a:avLst/>
            </a:prstGeom>
            <a:solidFill>
              <a:schemeClr val="accent3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下箭头 12"/>
            <p:cNvSpPr/>
            <p:nvPr/>
          </p:nvSpPr>
          <p:spPr>
            <a:xfrm>
              <a:off x="13171" y="4773"/>
              <a:ext cx="1043" cy="250"/>
            </a:xfrm>
            <a:prstGeom prst="downArrow">
              <a:avLst/>
            </a:prstGeom>
            <a:solidFill>
              <a:schemeClr val="accent3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93"/>
    </mc:Choice>
    <mc:Fallback xmlns="">
      <p:transition spd="slow" advTm="4509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函数参数与返回值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80114" y="1337558"/>
            <a:ext cx="5580727" cy="24786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takes_ownership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s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的值移动到函数里之后不再有效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x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不可以使用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获得参数的所有权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takes_ownership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some_string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作用域后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some_string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占用内存释放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i="1">
                <a:solidFill>
                  <a:srgbClr val="E06C75"/>
                </a:solidFill>
                <a:cs typeface="+mn-ea"/>
                <a:sym typeface="+mn-lt"/>
              </a:rPr>
              <a:t>some_string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9745" y="874984"/>
            <a:ext cx="3450672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所有权与函数参数：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8" name="右箭头 7"/>
          <p:cNvSpPr/>
          <p:nvPr/>
        </p:nvSpPr>
        <p:spPr>
          <a:xfrm rot="5400000">
            <a:off x="3333718" y="3918917"/>
            <a:ext cx="273517" cy="653532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 descr="upload_1447148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70" y="4565783"/>
            <a:ext cx="4828811" cy="126954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93318" y="1334201"/>
            <a:ext cx="4996126" cy="24820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gives_ownership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将返回值转移给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                       // s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可以使用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返回值返回数据的所有权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gives_ownership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some_string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右箭头 5"/>
          <p:cNvSpPr/>
          <p:nvPr/>
        </p:nvSpPr>
        <p:spPr>
          <a:xfrm rot="5400000">
            <a:off x="8908760" y="4102258"/>
            <a:ext cx="273517" cy="653532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 descr="upload_8584598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116" y="4726792"/>
            <a:ext cx="3978668" cy="45340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94285" y="871627"/>
            <a:ext cx="3450672" cy="42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所有权与函数返回值：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65"/>
    </mc:Choice>
    <mc:Fallback xmlns="">
      <p:transition spd="slow" advTm="4966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mem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39006" y="594594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210371" y="3026508"/>
            <a:ext cx="7084523" cy="14428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200" b="0" u="none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sz="1200" b="1" u="none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sz="12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zh-CN" sz="15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          // drop(): 立即释放一个值的所有权</a:t>
            </a:r>
            <a:endParaRPr lang="en-US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vec!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];</a:t>
            </a:r>
            <a:endParaRPr lang="en-US" sz="1500" b="0" u="none">
              <a:solidFill>
                <a:srgbClr val="56B6C2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    drop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  <a:r>
              <a:rPr lang="en-US" sz="1500" b="0" i="1" u="none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500" b="0" i="1" u="none">
                <a:solidFill>
                  <a:srgbClr val="7F848E"/>
                </a:solidFill>
                <a:cs typeface="+mn-ea"/>
                <a:sym typeface="+mn-lt"/>
              </a:rPr>
              <a:t>显示释放</a:t>
            </a:r>
            <a:r>
              <a:rPr lang="en-US" sz="1500" b="0" i="1" u="none">
                <a:solidFill>
                  <a:srgbClr val="7F848E"/>
                </a:solidFill>
                <a:cs typeface="+mn-ea"/>
                <a:sym typeface="+mn-lt"/>
              </a:rPr>
              <a:t> veco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>
              <a:solidFill>
                <a:srgbClr val="ABB2BF"/>
              </a:solidFill>
              <a:cs typeface="+mn-ea"/>
              <a:sym typeface="+mn-lt"/>
            </a:endParaRPr>
          </a:p>
          <a:p>
            <a:endParaRPr lang="en-US" altLang="zh-CN" sz="1500" b="0" u="none">
              <a:solidFill>
                <a:srgbClr val="ABB2BF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9006" y="723321"/>
            <a:ext cx="11340282" cy="4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0" u="none">
                <a:solidFill>
                  <a:srgbClr val="1D1D1A"/>
                </a:solidFill>
                <a:cs typeface="+mn-ea"/>
                <a:sym typeface="+mn-lt"/>
              </a:rPr>
              <a:t>std::mem</a:t>
            </a:r>
            <a:r>
              <a:rPr lang="zh-CN" sz="1800" b="0" u="none">
                <a:solidFill>
                  <a:srgbClr val="1D1D1A"/>
                </a:solidFill>
                <a:cs typeface="+mn-ea"/>
                <a:sym typeface="+mn-lt"/>
              </a:rPr>
              <a:t>模块提供了用于内存操作的函数</a:t>
            </a:r>
            <a:r>
              <a:rPr lang="en-US" altLang="zh-CN" sz="1800" b="0" u="none">
                <a:solidFill>
                  <a:srgbClr val="1D1D1A"/>
                </a:solidFill>
                <a:cs typeface="+mn-ea"/>
                <a:sym typeface="+mn-lt"/>
              </a:rPr>
              <a:t>drop()</a:t>
            </a:r>
            <a:r>
              <a:rPr lang="zh-CN" sz="1800" b="0" u="none">
                <a:solidFill>
                  <a:srgbClr val="1D1D1A"/>
                </a:solidFill>
                <a:cs typeface="+mn-ea"/>
                <a:sym typeface="+mn-lt"/>
              </a:rPr>
              <a:t>可以立即释放一个值的所有权：</a:t>
            </a:r>
            <a:endParaRPr lang="en-US" altLang="zh-CN">
              <a:cs typeface="+mn-ea"/>
              <a:sym typeface="+mn-lt"/>
            </a:endParaRPr>
          </a:p>
        </p:txBody>
      </p:sp>
      <p:pic>
        <p:nvPicPr>
          <p:cNvPr id="4" name="图片 3" descr="upload_1107943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157" y="1756962"/>
            <a:ext cx="6041682" cy="1065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70"/>
    </mc:Choice>
    <mc:Fallback xmlns="">
      <p:transition spd="slow" advTm="1867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析构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-drop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39006" y="594594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589507" y="2343629"/>
            <a:ext cx="4983294" cy="266433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Drop</a:t>
            </a:r>
            <a:r>
              <a:rPr lang="zh-CN" altLang="en-US" sz="1400" dirty="0">
                <a:cs typeface="+mn-ea"/>
                <a:sym typeface="+mn-lt"/>
              </a:rPr>
              <a:t>顺序：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递归运行其所有字段的析构函数：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结构体的字段按声明顺序删除。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活动枚举变量的字段按声明顺序删除。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元组的字段按顺序删除。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数组或所属切片的元素从第一个元素删除到最后一个元素。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+mn-ea"/>
                <a:sym typeface="+mn-lt"/>
              </a:rPr>
              <a:t>闭包通过移动捕获的变量以未明确定义的顺序删除。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cs typeface="+mn-ea"/>
                <a:sym typeface="+mn-lt"/>
              </a:rPr>
              <a:t>trait </a:t>
            </a:r>
            <a:r>
              <a:rPr lang="zh-CN" altLang="en-US" sz="1400" dirty="0">
                <a:cs typeface="+mn-ea"/>
                <a:sym typeface="+mn-lt"/>
              </a:rPr>
              <a:t>对象运行基础类型的析构函数。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71368" y="764763"/>
            <a:ext cx="7598291" cy="143084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Drop </a:t>
            </a:r>
            <a:r>
              <a:rPr 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trait 允许你在值离开作用</a:t>
            </a:r>
            <a:r>
              <a:rPr lang="zh-CN" alt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范围</a:t>
            </a:r>
            <a:r>
              <a:rPr 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时运行一些代码</a:t>
            </a:r>
            <a:r>
              <a:rPr lang="zh-CN" alt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，它</a:t>
            </a:r>
            <a:r>
              <a:rPr 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只有一个方法：</a:t>
            </a:r>
            <a:r>
              <a:rPr 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drop</a:t>
            </a:r>
            <a:r>
              <a:rPr 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，当对象离开作用</a:t>
            </a:r>
            <a:r>
              <a:rPr lang="zh-CN" alt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范围</a:t>
            </a:r>
            <a:r>
              <a:rPr lang="zh-CN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时，它会被自动调用</a:t>
            </a:r>
            <a:r>
              <a:rPr lang="zh-CN" altLang="en-US" sz="1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。</a:t>
            </a:r>
          </a:p>
          <a:p>
            <a:pPr indent="0">
              <a:lnSpc>
                <a:spcPct val="150000"/>
              </a:lnSpc>
              <a:buNone/>
            </a:pP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不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允许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自己调用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 Drop::drop 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方法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如果想显式地</a:t>
            </a:r>
            <a:r>
              <a:rPr lang="zh-CN" alt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释放资源</a:t>
            </a:r>
            <a:r>
              <a:rPr lang="zh-CN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，可以使用</a:t>
            </a:r>
            <a:r>
              <a:rPr lang="en-US" sz="1400" b="0" u="none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cs typeface="+mn-ea"/>
                <a:sym typeface="+mn-lt"/>
              </a:rPr>
              <a:t> mem::drop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14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4" name="图片 3" descr="upload_9759930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2" y="935271"/>
            <a:ext cx="2664336" cy="10854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55427" y="2221707"/>
            <a:ext cx="5985005" cy="31398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手动调用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drop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CustomSmartPointer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CustomSmartPointer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"some data"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"CustomSmartPointer created."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c.drop();  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错误方式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drop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 </a:t>
            </a:r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// 正确</a:t>
            </a:r>
            <a:r>
              <a:rPr lang="zh-CN" altLang="en-US" sz="1500" b="0" i="1" u="none">
                <a:solidFill>
                  <a:srgbClr val="7F848E"/>
                </a:solidFill>
                <a:cs typeface="+mn-ea"/>
                <a:sym typeface="+mn-lt"/>
              </a:rPr>
              <a:t>方式</a:t>
            </a:r>
            <a:endParaRPr lang="zh-CN" sz="1500" b="0" i="1" u="none">
              <a:solidFill>
                <a:srgbClr val="7F848E"/>
              </a:solidFill>
              <a:cs typeface="+mn-ea"/>
              <a:sym typeface="+mn-lt"/>
            </a:endParaRPr>
          </a:p>
          <a:p>
            <a:r>
              <a:rPr lang="zh-CN" sz="1500" b="0" i="1" u="none">
                <a:solidFill>
                  <a:srgbClr val="7F848E"/>
                </a:solidFill>
                <a:cs typeface="+mn-ea"/>
                <a:sym typeface="+mn-lt"/>
              </a:rPr>
              <a:t>      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"CustomSmartPointer dropped before the end of main."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i="1" u="none">
              <a:solidFill>
                <a:srgbClr val="7F848E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2900543" y="5502628"/>
            <a:ext cx="606490" cy="270588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66" y="5908706"/>
            <a:ext cx="4391025" cy="64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746"/>
    </mc:Choice>
    <mc:Fallback xmlns="">
      <p:transition spd="slow" advTm="13974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所有权与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move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语义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所有权规则总结</a:t>
            </a:r>
          </a:p>
          <a:p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276330" y="642491"/>
            <a:ext cx="4454289" cy="3675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1.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每一个值都有一个所有者。</a:t>
            </a:r>
            <a:endParaRPr lang="en-US" altLang="zh-CN" sz="16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0937" y="967739"/>
            <a:ext cx="6144007" cy="7386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// rust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字符串的所有者是变量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7" name="直接连接符 6"/>
          <p:cNvCxnSpPr>
            <a:stCxn id="2" idx="1"/>
            <a:endCxn id="2" idx="3"/>
          </p:cNvCxnSpPr>
          <p:nvPr/>
        </p:nvCxnSpPr>
        <p:spPr>
          <a:xfrm>
            <a:off x="239006" y="641249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90938" y="2075217"/>
            <a:ext cx="4659560" cy="18774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  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发生了所有权转移，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s1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失去了数据所有权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0938" y="4426541"/>
            <a:ext cx="5135422" cy="22467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在声明以前，变量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无效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这里是变量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的可用范围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错误：变量范围已经结束，变量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无效，不可再用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"rust"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276329" y="1706403"/>
            <a:ext cx="4454289" cy="333802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2.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值在任一时刻有且只有一个所有者。</a:t>
            </a:r>
            <a:endParaRPr lang="zh-CN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276330" y="4008485"/>
            <a:ext cx="4454289" cy="389167"/>
          </a:xfrm>
          <a:prstGeom prst="rect">
            <a:avLst/>
          </a:prstGeom>
        </p:spPr>
        <p:txBody>
          <a:bodyPr lIns="0" tIns="0" rIns="0" bIns="0"/>
          <a:lstStyle>
            <a:lvl1pPr marL="12065" indent="0" algn="l" defTabSz="1188085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780" indent="-17145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05" algn="ctr"/>
              </a:tabLst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600">
                <a:latin typeface="+mn-lt"/>
                <a:ea typeface="+mn-ea"/>
                <a:cs typeface="+mn-ea"/>
                <a:sym typeface="+mn-lt"/>
              </a:rPr>
              <a:t>3.</a:t>
            </a:r>
            <a:r>
              <a:rPr lang="zh-CN" altLang="en-US" sz="1600">
                <a:latin typeface="+mn-lt"/>
                <a:ea typeface="+mn-ea"/>
                <a:cs typeface="+mn-ea"/>
                <a:sym typeface="+mn-lt"/>
              </a:rPr>
              <a:t>当所有者离开作用域，这个值将被丢弃。</a:t>
            </a:r>
            <a:endParaRPr lang="zh-CN" altLang="zh-CN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349321" y="2702847"/>
            <a:ext cx="214604" cy="513183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70215" y="2159219"/>
            <a:ext cx="4194879" cy="18158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clone()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复制变量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s1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_s2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5807538" y="5293333"/>
            <a:ext cx="214604" cy="513183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20" y="4902224"/>
            <a:ext cx="4743450" cy="1295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48"/>
    </mc:Choice>
    <mc:Fallback xmlns="">
      <p:transition spd="slow" advTm="3204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所有权概念；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Move</a:t>
            </a:r>
            <a:r>
              <a:rPr lang="zh-CN" altLang="en-US" sz="1800">
                <a:cs typeface="+mn-ea"/>
                <a:sym typeface="+mn-lt"/>
              </a:rPr>
              <a:t>和</a:t>
            </a:r>
            <a:r>
              <a:rPr lang="en-US" altLang="zh-CN" sz="1800">
                <a:cs typeface="+mn-ea"/>
                <a:sym typeface="+mn-lt"/>
              </a:rPr>
              <a:t>copy</a:t>
            </a:r>
            <a:r>
              <a:rPr lang="zh-CN" altLang="en-US" sz="1800">
                <a:cs typeface="+mn-ea"/>
                <a:sym typeface="+mn-lt"/>
              </a:rPr>
              <a:t>语义；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掌握程序</a:t>
            </a:r>
            <a:r>
              <a:rPr lang="en-US" altLang="zh-CN" sz="1800">
                <a:cs typeface="+mn-ea"/>
                <a:sym typeface="+mn-lt"/>
              </a:rPr>
              <a:t>drop</a:t>
            </a:r>
            <a:r>
              <a:rPr lang="zh-CN" altLang="en-US" sz="1800">
                <a:cs typeface="+mn-ea"/>
                <a:sym typeface="+mn-lt"/>
              </a:rPr>
              <a:t>顺序以及标准库中内存管理相关函数的使用；</a:t>
            </a:r>
            <a:endParaRPr lang="en-US" altLang="zh-CN" sz="180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31"/>
    </mc:Choice>
    <mc:Fallback xmlns="">
      <p:transition spd="slow" advTm="2253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sctynbtt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2547</Words>
  <Application>Microsoft Office PowerPoint</Application>
  <PresentationFormat>自定义</PresentationFormat>
  <Paragraphs>275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1_Chart page</vt:lpstr>
      <vt:lpstr>所有权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所有权</dc:title>
  <dc:creator>fanyan (A)</dc:creator>
  <cp:lastModifiedBy>Zhangyandong (ben)</cp:lastModifiedBy>
  <cp:revision>8</cp:revision>
  <dcterms:created xsi:type="dcterms:W3CDTF">2023-10-18T07:17:22Z</dcterms:created>
  <dcterms:modified xsi:type="dcterms:W3CDTF">2024-11-20T02:28:25Z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(3)VFzZKKsUWQkttfoy3iVtOz1yiKp3eZVYDvhoVi15NG2Yr6pYFYAqk2MKkKkH4TfikkE4t6IY
XYpXqHz6MIXrBQYz6IYHorDdoumjP+/ViG7U0E+D75CuF1jc9LxKHFmT0qMBTlKEX03FRD9S
r+5jVYAJu6YE+erKl3Hs+UmeA06E05RO1PaQ6hM2PxOoXym1ujn7oKSPpeoNSwkwY6ixBR8k
8R7+/CpwMMbZzRqNX5</vt:lpwstr>
  </property>
  <property fmtid="{D5CDD505-2E9C-101B-9397-08002B2CF9AE}" pid="3" name="_2015_ms_pID_7253431">
    <vt:lpwstr>ewH0r8cREvm8xoM5mB4+8oL3Lk7RWA0k8z0W905SpnvgvV8Ka+7d/j
lDejNrxFIt1NIFOorU6KQsweXzSG9JjLA8RmsGjZV+uZXn9yQkxNYqoCQQHVIAN5c7Q5uvnL
fwenc1971pzkXLiTv7CR8z0KT+o8X6FkB7Zq3aoIbXE5qn7Iq+O3T5cLkEu42+A/Id5k68Qh
IOl5Iy1BZOeTM8a1FOBRbb7D/iJYH4wAISI+</vt:lpwstr>
  </property>
  <property fmtid="{D5CDD505-2E9C-101B-9397-08002B2CF9AE}" pid="4" name="_2015_ms_pID_7253432">
    <vt:lpwstr>rg==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