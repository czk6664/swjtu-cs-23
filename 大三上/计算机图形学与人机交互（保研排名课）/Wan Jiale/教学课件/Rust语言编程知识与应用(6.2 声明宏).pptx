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5" r:id="rId2"/>
    <p:sldMasterId id="2147483659" r:id="rId3"/>
    <p:sldMasterId id="2147483660" r:id="rId4"/>
    <p:sldMasterId id="2147483662" r:id="rId5"/>
  </p:sldMasterIdLst>
  <p:notesMasterIdLst>
    <p:notesMasterId r:id="rId20"/>
  </p:notesMasterIdLst>
  <p:handoutMasterIdLst>
    <p:handoutMasterId r:id="rId21"/>
  </p:handoutMasterIdLst>
  <p:sldIdLst>
    <p:sldId id="283" r:id="rId6"/>
    <p:sldId id="288" r:id="rId7"/>
    <p:sldId id="441" r:id="rId8"/>
    <p:sldId id="457" r:id="rId9"/>
    <p:sldId id="456" r:id="rId10"/>
    <p:sldId id="460" r:id="rId11"/>
    <p:sldId id="459" r:id="rId12"/>
    <p:sldId id="458" r:id="rId13"/>
    <p:sldId id="454" r:id="rId14"/>
    <p:sldId id="431" r:id="rId15"/>
    <p:sldId id="434" r:id="rId16"/>
    <p:sldId id="435" r:id="rId17"/>
    <p:sldId id="292" r:id="rId18"/>
    <p:sldId id="280" r:id="rId19"/>
  </p:sldIdLst>
  <p:sldSz cx="12196763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页_图片版" id="{E8D0D622-F6C6-F44A-B365-B4A5FF6195C2}">
          <p14:sldIdLst>
            <p14:sldId id="283"/>
          </p14:sldIdLst>
        </p14:section>
        <p14:section name="目录页" id="{9D221634-295C-7843-AF5C-A0CB4F229241}">
          <p14:sldIdLst>
            <p14:sldId id="288"/>
          </p14:sldIdLst>
        </p14:section>
        <p14:section name="章节页" id="{FD05EE94-C931-8C4B-83A2-004B32AA1207}">
          <p14:sldIdLst>
            <p14:sldId id="441"/>
            <p14:sldId id="457"/>
            <p14:sldId id="456"/>
            <p14:sldId id="460"/>
            <p14:sldId id="459"/>
            <p14:sldId id="458"/>
            <p14:sldId id="454"/>
            <p14:sldId id="431"/>
            <p14:sldId id="434"/>
            <p14:sldId id="435"/>
            <p14:sldId id="292"/>
          </p14:sldIdLst>
        </p14:section>
        <p14:section name="结束页" id="{3F9D54A7-3BE2-2540-BB4C-DFE5509085F3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>
        <p15:guide id="1" pos="3701">
          <p15:clr>
            <a:srgbClr val="A4A3A4"/>
          </p15:clr>
        </p15:guide>
        <p15:guide id="2" orient="horz" pos="2159">
          <p15:clr>
            <a:srgbClr val="A4A3A4"/>
          </p15:clr>
        </p15:guide>
        <p15:guide id="3" pos="35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002" name="zhanghandong WX930509_Jj22FnMn" initials="authorId_AK20210901:AK20210901JXNSXO4676065" lastIdx="1690297775" clrIdx="0"/>
  <p:cmAuthor id="2000" name="wuxiaojun 00342820_QRBvBJbY" initials="authorId_AK20210901:AK20210901JXNSXO124321" lastIdx="0" clrIdx="0"/>
  <p:cmAuthor id="2001" name="liziqiang 00556901_ERbuA7r6" initials="authorId_AK20210901:AK20210901JXNSXO4497046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0000"/>
    <a:srgbClr val="E57B84"/>
    <a:srgbClr val="E6A8AD"/>
    <a:srgbClr val="E57984"/>
    <a:srgbClr val="FFFFFF"/>
    <a:srgbClr val="151515"/>
    <a:srgbClr val="C7000B"/>
    <a:srgbClr val="575756"/>
    <a:srgbClr val="DD4654"/>
    <a:srgbClr val="F3D2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717" autoAdjust="0"/>
    <p:restoredTop sz="90888" autoAdjust="0"/>
  </p:normalViewPr>
  <p:slideViewPr>
    <p:cSldViewPr snapToGrid="0" snapToObjects="1">
      <p:cViewPr varScale="1">
        <p:scale>
          <a:sx n="66" d="100"/>
          <a:sy n="66" d="100"/>
        </p:scale>
        <p:origin x="40" y="260"/>
      </p:cViewPr>
      <p:guideLst>
        <p:guide pos="3701"/>
        <p:guide orient="horz" pos="2159"/>
        <p:guide pos="35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8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4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探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25" r="2034" b="5607"/>
          <a:stretch>
            <a:fillRect/>
          </a:stretch>
        </p:blipFill>
        <p:spPr>
          <a:xfrm>
            <a:off x="1" y="-36206"/>
            <a:ext cx="12196763" cy="56384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154" y="-57144"/>
            <a:ext cx="12243078" cy="5625189"/>
          </a:xfrm>
          <a:prstGeom prst="rect">
            <a:avLst/>
          </a:prstGeom>
        </p:spPr>
      </p:pic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18" name="L 形 17"/>
          <p:cNvSpPr/>
          <p:nvPr userDrawn="1"/>
        </p:nvSpPr>
        <p:spPr>
          <a:xfrm rot="5400000">
            <a:off x="5824025" y="256863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创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0363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18" name="L 形 17"/>
          <p:cNvSpPr/>
          <p:nvPr userDrawn="1"/>
        </p:nvSpPr>
        <p:spPr>
          <a:xfrm rot="5400000">
            <a:off x="5824025" y="256863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创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25" r="2034" b="5607"/>
          <a:stretch>
            <a:fillRect/>
          </a:stretch>
        </p:blipFill>
        <p:spPr>
          <a:xfrm>
            <a:off x="1" y="-36206"/>
            <a:ext cx="12196763" cy="56384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2pPr>
            <a:lvl3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3pPr>
            <a:lvl4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</a:rPr>
              <a:t>Thank you.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jpe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/>
          <p:cNvSpPr>
            <a:spLocks noGrp="1"/>
          </p:cNvSpPr>
          <p:nvPr>
            <p:ph type="body" idx="1"/>
          </p:nvPr>
        </p:nvSpPr>
        <p:spPr>
          <a:xfrm>
            <a:off x="909309" y="6270651"/>
            <a:ext cx="1982316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684" y="5970030"/>
            <a:ext cx="2256665" cy="49353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/>
          <p:cNvSpPr>
            <a:spLocks noGrp="1"/>
          </p:cNvSpPr>
          <p:nvPr>
            <p:ph type="body" idx="1"/>
          </p:nvPr>
        </p:nvSpPr>
        <p:spPr>
          <a:xfrm>
            <a:off x="909309" y="6270651"/>
            <a:ext cx="1982316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684" y="5970030"/>
            <a:ext cx="2256665" cy="49353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7" y="6356939"/>
            <a:ext cx="14634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baseline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75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975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/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kumimoji="1" lang="en-US" altLang="en-US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ANTONE</a:t>
                </a: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186C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200/16/46</a:t>
                </a:r>
              </a:p>
            </p:txBody>
          </p:sp>
          <p:sp>
            <p:nvSpPr>
              <p:cNvPr id="45" name="矩形 9"/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kumimoji="1" lang="en-US" altLang="en-US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ANTONE</a:t>
                </a: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185C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199/0/11</a:t>
                </a:r>
              </a:p>
            </p:txBody>
          </p:sp>
          <p:sp>
            <p:nvSpPr>
              <p:cNvPr id="46" name="文本框 31"/>
              <p:cNvSpPr txBox="1"/>
              <p:nvPr userDrawn="1"/>
            </p:nvSpPr>
            <p:spPr>
              <a:xfrm>
                <a:off x="12326898" y="2207613"/>
                <a:ext cx="38472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品牌色</a:t>
                </a: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80825"/>
              <a:ext cx="1982912" cy="3785795"/>
              <a:chOff x="12216278" y="3080825"/>
              <a:chExt cx="1982912" cy="3785795"/>
            </a:xfrm>
          </p:grpSpPr>
          <p:sp>
            <p:nvSpPr>
              <p:cNvPr id="28" name="矩形 12"/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234/90/79</a:t>
                </a:r>
              </a:p>
            </p:txBody>
          </p:sp>
          <p:sp>
            <p:nvSpPr>
              <p:cNvPr id="29" name="矩形 13"/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120/0/15</a:t>
                </a:r>
              </a:p>
            </p:txBody>
          </p:sp>
          <p:sp>
            <p:nvSpPr>
              <p:cNvPr id="30" name="文本框 15"/>
              <p:cNvSpPr txBox="1"/>
              <p:nvPr userDrawn="1"/>
            </p:nvSpPr>
            <p:spPr>
              <a:xfrm>
                <a:off x="12216278" y="3080825"/>
                <a:ext cx="569387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辅助色</a:t>
                </a:r>
              </a:p>
            </p:txBody>
          </p:sp>
          <p:sp>
            <p:nvSpPr>
              <p:cNvPr id="31" name="矩形 16"/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248/181/60</a:t>
                </a:r>
              </a:p>
            </p:txBody>
          </p:sp>
          <p:sp>
            <p:nvSpPr>
              <p:cNvPr id="32" name="矩形 17"/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235/92/1</a:t>
                </a:r>
              </a:p>
            </p:txBody>
          </p:sp>
          <p:sp>
            <p:nvSpPr>
              <p:cNvPr id="33" name="矩形 18"/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137/137/137</a:t>
                </a:r>
              </a:p>
            </p:txBody>
          </p:sp>
          <p:sp>
            <p:nvSpPr>
              <p:cNvPr id="34" name="矩形 19"/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35/24/21</a:t>
                </a:r>
              </a:p>
            </p:txBody>
          </p:sp>
          <p:sp>
            <p:nvSpPr>
              <p:cNvPr id="35" name="矩形 22"/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221/221/221</a:t>
                </a:r>
              </a:p>
            </p:txBody>
          </p:sp>
          <p:sp>
            <p:nvSpPr>
              <p:cNvPr id="36" name="矩形 12"/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233/140/128</a:t>
                </a:r>
              </a:p>
            </p:txBody>
          </p:sp>
          <p:sp>
            <p:nvSpPr>
              <p:cNvPr id="37" name="矩形 13"/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159/0/1</a:t>
                </a:r>
              </a:p>
            </p:txBody>
          </p:sp>
          <p:sp>
            <p:nvSpPr>
              <p:cNvPr id="38" name="矩形 16"/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245/220/87</a:t>
                </a:r>
              </a:p>
            </p:txBody>
          </p:sp>
          <p:sp>
            <p:nvSpPr>
              <p:cNvPr id="39" name="矩形 17"/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240/133/0</a:t>
                </a:r>
              </a:p>
            </p:txBody>
          </p:sp>
          <p:sp>
            <p:nvSpPr>
              <p:cNvPr id="40" name="矩形 18"/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181/181/181</a:t>
                </a:r>
              </a:p>
            </p:txBody>
          </p:sp>
          <p:sp>
            <p:nvSpPr>
              <p:cNvPr id="42" name="矩形 19"/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89/87/87</a:t>
                </a:r>
              </a:p>
            </p:txBody>
          </p:sp>
          <p:sp>
            <p:nvSpPr>
              <p:cNvPr id="43" name="矩形 22"/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255/255/255</a:t>
                </a:r>
              </a:p>
            </p:txBody>
          </p:sp>
        </p:grpSp>
      </p:grp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8" y="6321130"/>
            <a:ext cx="1269075" cy="27754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6573" y="1474269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"/>
          <p:cNvSpPr txBox="1"/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>
                <a:solidFill>
                  <a:srgbClr val="1D1D1B"/>
                </a:solidFill>
                <a:latin typeface="+mj-lt"/>
              </a:rPr>
              <a:t>Copyright©2018 Huawei Technologies Co., Ltd.</a:t>
            </a:r>
            <a:br>
              <a:rPr kumimoji="1" lang="en-US" altLang="zh-CN" sz="850" b="1" baseline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8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8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8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6" name="Subtitle 6"/>
          <p:cNvSpPr txBox="1"/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0"/>
              </a:lnSpc>
              <a:spcBef>
                <a:spcPts val="0"/>
              </a:spcBef>
            </a:pPr>
            <a:r>
              <a:rPr kumimoji="1" lang="zh-CN" altLang="en-US" sz="1300">
                <a:solidFill>
                  <a:srgbClr val="1D1D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把数字世界带入每个人、每个家庭、</a:t>
            </a:r>
            <a:br>
              <a:rPr kumimoji="1" lang="en-US" altLang="zh-CN" sz="1300">
                <a:solidFill>
                  <a:srgbClr val="1D1D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</a:br>
            <a:r>
              <a:rPr kumimoji="1" lang="zh-CN" altLang="en-US" sz="1300">
                <a:solidFill>
                  <a:srgbClr val="1D1D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每个组织，构建万物互联的智能世界。</a:t>
            </a:r>
          </a:p>
        </p:txBody>
      </p:sp>
      <p:sp>
        <p:nvSpPr>
          <p:cNvPr id="7" name="Subtitle 6"/>
          <p:cNvSpPr txBox="1"/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5"/>
              </a:lnSpc>
            </a:pPr>
            <a:r>
              <a:rPr kumimoji="1" lang="en-US" altLang="zh-CN" sz="120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 and </a:t>
            </a:r>
            <a:br>
              <a:rPr kumimoji="1" lang="en-US" altLang="zh-CN" sz="120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>
              <a:solidFill>
                <a:srgbClr val="1D1D1B"/>
              </a:solidFill>
              <a:latin typeface="+mn-lt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498" y="5237637"/>
            <a:ext cx="1869596" cy="4088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None/>
        <a:defRPr sz="1820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72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ctrTitle"/>
          </p:nvPr>
        </p:nvSpPr>
        <p:spPr>
          <a:xfrm>
            <a:off x="948808" y="1066890"/>
            <a:ext cx="6559809" cy="690255"/>
          </a:xfrm>
        </p:spPr>
        <p:txBody>
          <a:bodyPr>
            <a:noAutofit/>
          </a:bodyPr>
          <a:lstStyle/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声明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宏</a:t>
            </a:r>
          </a:p>
        </p:txBody>
      </p:sp>
      <p:sp>
        <p:nvSpPr>
          <p:cNvPr id="4" name="Text Placeholder 3"/>
          <p:cNvSpPr txBox="1"/>
          <p:nvPr/>
        </p:nvSpPr>
        <p:spPr>
          <a:xfrm>
            <a:off x="948808" y="6264112"/>
            <a:ext cx="2606870" cy="13669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kumimoji="1" lang="en-US" altLang="zh-CN" sz="1000">
                <a:cs typeface="+mn-ea"/>
                <a:sym typeface="+mn-lt"/>
              </a:rPr>
              <a:t>Security Level:</a:t>
            </a:r>
            <a:endParaRPr lang="en-US" sz="1000"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001663" y="5858894"/>
            <a:ext cx="2794958" cy="888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关于本章</a:t>
            </a:r>
            <a:endParaRPr 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0"/>
          </p:nvPr>
        </p:nvSpPr>
        <p:spPr>
          <a:xfrm>
            <a:off x="729175" y="1377391"/>
            <a:ext cx="10733557" cy="87813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章节目标</a:t>
            </a:r>
            <a:endParaRPr lang="en-US" altLang="zh-CN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通过本章节的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学习，掌握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Rust 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中如何编写声明宏。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en-US" altLang="zh-CN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729175" y="1811383"/>
            <a:ext cx="90658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586501" y="2496859"/>
            <a:ext cx="5475682" cy="2168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" indent="0">
              <a:lnSpc>
                <a:spcPct val="150000"/>
              </a:lnSpc>
              <a:buNone/>
            </a:pPr>
            <a:endParaRPr lang="zh-CN" altLang="en-US">
              <a:cs typeface="+mn-ea"/>
              <a:sym typeface="+mn-lt"/>
            </a:endParaRPr>
          </a:p>
          <a:p>
            <a:pPr marL="35433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>
                <a:cs typeface="+mn-ea"/>
                <a:sym typeface="+mn-lt"/>
              </a:rPr>
              <a:t>如何编写声明宏；</a:t>
            </a:r>
          </a:p>
          <a:p>
            <a:pPr marL="35433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>
                <a:cs typeface="+mn-ea"/>
                <a:sym typeface="+mn-lt"/>
              </a:rPr>
              <a:t>宏工作机制</a:t>
            </a:r>
          </a:p>
          <a:p>
            <a:pPr marL="35433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>
                <a:cs typeface="+mn-ea"/>
                <a:sym typeface="+mn-lt"/>
              </a:rPr>
              <a:t>声明宏编写示例</a:t>
            </a:r>
            <a:endParaRPr lang="en-US" altLang="zh-CN">
              <a:cs typeface="+mn-ea"/>
              <a:sym typeface="+mn-lt"/>
            </a:endParaRPr>
          </a:p>
          <a:p>
            <a:pPr marL="35433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>
                <a:cs typeface="+mn-ea"/>
                <a:sym typeface="+mn-lt"/>
              </a:rPr>
              <a:t>宏卫生性；</a:t>
            </a:r>
            <a:endParaRPr lang="en-US" altLang="zh-CN">
              <a:cs typeface="+mn-ea"/>
              <a:sym typeface="+mn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4926" y="2358537"/>
            <a:ext cx="2276585" cy="466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C00000"/>
                </a:solidFill>
                <a:cs typeface="+mn-ea"/>
                <a:sym typeface="+mn-lt"/>
              </a:rPr>
              <a:t>本章预期掌握知识点</a:t>
            </a:r>
            <a:endParaRPr lang="en-US" altLang="zh-CN" b="1" dirty="0">
              <a:solidFill>
                <a:srgbClr val="C00000"/>
              </a:solidFill>
              <a:cs typeface="+mn-ea"/>
              <a:sym typeface="+mn-lt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729175" y="952834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729175" y="2791721"/>
            <a:ext cx="205134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53181" y="66688"/>
            <a:ext cx="10740640" cy="558463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如何编写声明宏</a:t>
            </a:r>
          </a:p>
        </p:txBody>
      </p:sp>
      <p:sp>
        <p:nvSpPr>
          <p:cNvPr id="3" name="矩形 2"/>
          <p:cNvSpPr/>
          <p:nvPr/>
        </p:nvSpPr>
        <p:spPr>
          <a:xfrm>
            <a:off x="780657" y="962496"/>
            <a:ext cx="3557384" cy="4238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声明宏</a:t>
            </a:r>
            <a:r>
              <a:rPr lang="zh-CN" altLang="en-US" sz="1600">
                <a:cs typeface="+mn-ea"/>
                <a:sym typeface="+mn-lt"/>
              </a:rPr>
              <a:t>由 </a:t>
            </a:r>
            <a:r>
              <a:rPr lang="en-US" altLang="zh-CN" sz="1600">
                <a:cs typeface="+mn-ea"/>
                <a:sym typeface="+mn-lt"/>
              </a:rPr>
              <a:t>macro_rules! </a:t>
            </a:r>
            <a:r>
              <a:rPr lang="zh-CN" altLang="en-US" sz="1600">
                <a:cs typeface="+mn-ea"/>
                <a:sym typeface="+mn-lt"/>
              </a:rPr>
              <a:t>内置</a:t>
            </a:r>
            <a:r>
              <a:rPr lang="zh-CN" altLang="en-US" sz="1600" dirty="0">
                <a:cs typeface="+mn-ea"/>
                <a:sym typeface="+mn-lt"/>
              </a:rPr>
              <a:t>宏来创建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253181" y="545838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 userDrawn="1"/>
        </p:nvSpPr>
        <p:spPr>
          <a:xfrm>
            <a:off x="730867" y="1592814"/>
            <a:ext cx="4812912" cy="1740489"/>
          </a:xfrm>
          <a:prstGeom prst="rect">
            <a:avLst/>
          </a:prstGeom>
          <a:solidFill>
            <a:schemeClr val="tx1"/>
          </a:solidFill>
        </p:spPr>
        <p:txBody>
          <a:bodyPr vert="horz" wrap="square" rtlCol="0" anchor="t">
            <a:noAutofit/>
          </a:bodyPr>
          <a:lstStyle/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macro_rules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 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generate_code_based_on_type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    // =&gt;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左边为匹配规则，右边为生成代码模版</a:t>
            </a:r>
            <a:endParaRPr lang="zh-CN" altLang="en-US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($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sum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expr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 =&gt; {</a:t>
            </a:r>
          </a:p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        // $sum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为元变量，用于替换匹配的表达式</a:t>
            </a:r>
            <a:endParaRPr lang="zh-CN" altLang="en-US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println!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"i32 type expr: {:?}"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$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sum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};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0867" y="3931634"/>
            <a:ext cx="5444520" cy="738664"/>
          </a:xfrm>
          <a:prstGeom prst="rect">
            <a:avLst/>
          </a:prstGeom>
          <a:solidFill>
            <a:schemeClr val="tx1"/>
          </a:solidFill>
        </p:spPr>
        <p:txBody>
          <a:bodyPr vert="horz" wrap="square" rtlCol="0" anchor="t">
            <a:spAutoFit/>
          </a:bodyPr>
          <a:lstStyle/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//  generate_code_based_on_type!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宏调用会生成下面代码</a:t>
            </a:r>
            <a:endParaRPr lang="zh-CN" altLang="en-US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//  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注意：宏调用只会生成 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Rust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代码，并不会执行它</a:t>
            </a:r>
            <a:endParaRPr lang="zh-CN" altLang="en-US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println!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"i32 type expr: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{:?}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sum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91111" y="2093726"/>
            <a:ext cx="4250384" cy="738664"/>
          </a:xfrm>
          <a:prstGeom prst="rect">
            <a:avLst/>
          </a:prstGeom>
          <a:solidFill>
            <a:schemeClr val="tx1"/>
          </a:solidFill>
        </p:spPr>
        <p:txBody>
          <a:bodyPr vert="horz" wrap="square" rtlCol="0" anchor="t">
            <a:spAutoFit/>
          </a:bodyPr>
          <a:lstStyle/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//  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根据 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i32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生成相应代码</a:t>
            </a:r>
            <a:endParaRPr lang="zh-CN" altLang="en-US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sum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+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;</a:t>
            </a:r>
          </a:p>
          <a:p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generate_code_based_on_type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sum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53181" y="66688"/>
            <a:ext cx="10740640" cy="558463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如何编写声明宏</a:t>
            </a:r>
          </a:p>
        </p:txBody>
      </p:sp>
      <p:sp>
        <p:nvSpPr>
          <p:cNvPr id="3" name="矩形 2"/>
          <p:cNvSpPr/>
          <p:nvPr/>
        </p:nvSpPr>
        <p:spPr>
          <a:xfrm>
            <a:off x="211489" y="577666"/>
            <a:ext cx="5583580" cy="4250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声明宏</a:t>
            </a:r>
            <a:r>
              <a:rPr lang="zh-CN" altLang="en-US" sz="1600">
                <a:cs typeface="+mn-ea"/>
                <a:sym typeface="+mn-lt"/>
              </a:rPr>
              <a:t>由 </a:t>
            </a:r>
            <a:r>
              <a:rPr lang="en-US" altLang="zh-CN" sz="1600">
                <a:cs typeface="+mn-ea"/>
                <a:sym typeface="+mn-lt"/>
              </a:rPr>
              <a:t>macro_rules! </a:t>
            </a:r>
            <a:r>
              <a:rPr lang="zh-CN" altLang="en-US" sz="1600" dirty="0">
                <a:cs typeface="+mn-ea"/>
                <a:sym typeface="+mn-lt"/>
              </a:rPr>
              <a:t>内置宏来创建：支持多个匹配规则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253181" y="545838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 userDrawn="1"/>
        </p:nvSpPr>
        <p:spPr>
          <a:xfrm>
            <a:off x="486466" y="1207984"/>
            <a:ext cx="5297148" cy="2729534"/>
          </a:xfrm>
          <a:prstGeom prst="rect">
            <a:avLst/>
          </a:prstGeom>
          <a:solidFill>
            <a:schemeClr val="tx1"/>
          </a:solidFill>
        </p:spPr>
        <p:txBody>
          <a:bodyPr vert="horz" wrap="square" rtlCol="0" anchor="t">
            <a:noAutofit/>
          </a:bodyPr>
          <a:lstStyle/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macro_rules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generate_code_based_on_type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    // =&gt;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左边为匹配规则，右边为生成代码模版</a:t>
            </a:r>
            <a:endParaRPr lang="zh-CN" altLang="en-US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($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sum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expr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 =&gt; {</a:t>
            </a:r>
          </a:p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        // $sum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为元变量，用于替换匹配的表达式</a:t>
            </a:r>
            <a:endParaRPr lang="zh-CN" altLang="en-US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println!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"i32 type expr: {:?}"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$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sum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};</a:t>
            </a:r>
          </a:p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声明宏支持多个匹配规则</a:t>
            </a:r>
            <a:endParaRPr lang="zh-CN" altLang="en-US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    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所以可以定义不同的规则来生成不同代码</a:t>
            </a:r>
            <a:endParaRPr lang="zh-CN" altLang="en-US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($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expr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f64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 =&gt;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println!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"f64 type expr: {:?}"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$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};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86467" y="4721661"/>
            <a:ext cx="5297148" cy="954107"/>
          </a:xfrm>
          <a:prstGeom prst="rect">
            <a:avLst/>
          </a:prstGeom>
          <a:solidFill>
            <a:schemeClr val="tx1"/>
          </a:solidFill>
        </p:spPr>
        <p:txBody>
          <a:bodyPr vert="horz" wrap="square" rtlCol="0" anchor="t">
            <a:spAutoFit/>
          </a:bodyPr>
          <a:lstStyle/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//  generate_code_based_on_type!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宏调用会生成下面代码</a:t>
            </a:r>
            <a:endParaRPr lang="zh-CN" altLang="en-US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//  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注意：宏调用只会生成 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Rust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代码，并不会执行它</a:t>
            </a:r>
            <a:endParaRPr lang="zh-CN" altLang="en-US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println!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"i32 type expr: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{:?}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+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println!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"f64 type expr: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{:?}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1.0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+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2.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41283" y="1886348"/>
            <a:ext cx="4744905" cy="954107"/>
          </a:xfrm>
          <a:prstGeom prst="rect">
            <a:avLst/>
          </a:prstGeom>
          <a:solidFill>
            <a:schemeClr val="tx1"/>
          </a:solidFill>
        </p:spPr>
        <p:txBody>
          <a:bodyPr vert="horz" wrap="square" rtlCol="0" anchor="t">
            <a:spAutoFit/>
          </a:bodyPr>
          <a:lstStyle/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根据 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i32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生成相应代码</a:t>
            </a:r>
            <a:endParaRPr lang="zh-CN" altLang="en-US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generate_code_based_on_type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+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,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 </a:t>
            </a:r>
          </a:p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根据 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f64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生成相应代码</a:t>
            </a:r>
            <a:endParaRPr lang="zh-CN" altLang="en-US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generate_code_based_on_type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1.0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+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2.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f64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 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53181" y="66688"/>
            <a:ext cx="10740640" cy="558463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如何编写声明宏-声明宏工作机制</a:t>
            </a:r>
          </a:p>
        </p:txBody>
      </p:sp>
      <p:sp>
        <p:nvSpPr>
          <p:cNvPr id="6" name="矩形 5"/>
          <p:cNvSpPr/>
          <p:nvPr/>
        </p:nvSpPr>
        <p:spPr>
          <a:xfrm>
            <a:off x="988996" y="690543"/>
            <a:ext cx="7866162" cy="827516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在 </a:t>
            </a:r>
            <a:r>
              <a:rPr lang="en-US" altLang="zh-CN" sz="1600" dirty="0">
                <a:cs typeface="+mn-ea"/>
                <a:sym typeface="+mn-lt"/>
              </a:rPr>
              <a:t>Rust </a:t>
            </a:r>
            <a:r>
              <a:rPr lang="zh-CN" altLang="en-US" sz="1600" dirty="0">
                <a:cs typeface="+mn-ea"/>
                <a:sym typeface="+mn-lt"/>
              </a:rPr>
              <a:t>中，声明宏允许开发者控制更底层的语法结构来生成代码。这种更底层的语法结构，叫做抽象语法树（</a:t>
            </a:r>
            <a:r>
              <a:rPr lang="en-US" altLang="zh-CN" sz="1600" dirty="0">
                <a:cs typeface="+mn-ea"/>
                <a:sym typeface="+mn-lt"/>
              </a:rPr>
              <a:t>Abstract Syntax Tree</a:t>
            </a:r>
            <a:r>
              <a:rPr lang="zh-CN" altLang="en-US" sz="1600" dirty="0">
                <a:cs typeface="+mn-ea"/>
                <a:sym typeface="+mn-lt"/>
              </a:rPr>
              <a:t>）。</a:t>
            </a:r>
          </a:p>
          <a:p>
            <a:pPr>
              <a:lnSpc>
                <a:spcPct val="150000"/>
              </a:lnSpc>
            </a:pPr>
            <a:endParaRPr lang="zh-CN" altLang="en-US" sz="1600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zh-CN" altLang="en-US" sz="1600" dirty="0">
              <a:cs typeface="+mn-ea"/>
              <a:sym typeface="+mn-lt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253181" y="545838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69718" y="1708293"/>
            <a:ext cx="5611893" cy="463219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400">
                <a:solidFill>
                  <a:srgbClr val="000000"/>
                </a:solidFill>
                <a:cs typeface="+mn-ea"/>
                <a:sym typeface="+mn-lt"/>
              </a:rPr>
              <a:t>Rustc</a:t>
            </a:r>
            <a:r>
              <a:rPr lang="zh-CN" altLang="zh-CN" sz="140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zh-CN" altLang="en-US" sz="1400">
                <a:solidFill>
                  <a:srgbClr val="000000"/>
                </a:solidFill>
                <a:cs typeface="+mn-ea"/>
                <a:sym typeface="+mn-lt"/>
              </a:rPr>
              <a:t>编译 </a:t>
            </a:r>
            <a:r>
              <a:rPr lang="en-US" altLang="zh-CN" sz="1400">
                <a:solidFill>
                  <a:srgbClr val="000000"/>
                </a:solidFill>
                <a:cs typeface="+mn-ea"/>
                <a:sym typeface="+mn-lt"/>
              </a:rPr>
              <a:t>Rust </a:t>
            </a: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代码</a:t>
            </a:r>
            <a:r>
              <a:rPr lang="zh-CN" altLang="en-US" sz="1400" b="0" u="none">
                <a:solidFill>
                  <a:srgbClr val="000000"/>
                </a:solidFill>
                <a:cs typeface="+mn-ea"/>
                <a:sym typeface="+mn-lt"/>
              </a:rPr>
              <a:t>过程如下：</a:t>
            </a:r>
          </a:p>
          <a:p>
            <a:pPr marL="285750" indent="-285750" algn="l">
              <a:lnSpc>
                <a:spcPct val="150000"/>
              </a:lnSpc>
              <a:buChar char="•"/>
            </a:pP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源码经过词法分析，转换为编译器识别的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Tokens 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流（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TokenStream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）</a:t>
            </a:r>
            <a:endParaRPr lang="en-US" altLang="zh-CN" sz="1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285750" indent="-285750" algn="l">
              <a:lnSpc>
                <a:spcPct val="150000"/>
              </a:lnSpc>
              <a:buChar char="•"/>
            </a:pP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再经过语法分析转换为抽象语法树，可以让编译器识别代码语义</a:t>
            </a:r>
          </a:p>
          <a:p>
            <a:pPr marL="285750" indent="-285750" algn="l">
              <a:lnSpc>
                <a:spcPct val="150000"/>
              </a:lnSpc>
              <a:buChar char="•"/>
            </a:pP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之后，为了类型检查和进一步优化代码，抽象语法树被进一步转换降级直到生成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LLVM IR</a:t>
            </a:r>
          </a:p>
          <a:p>
            <a:pPr marL="285750" indent="-285750" algn="l">
              <a:lnSpc>
                <a:spcPct val="150000"/>
              </a:lnSpc>
              <a:buChar char="•"/>
            </a:pP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最终由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Rust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编译后端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LLVM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生成机器码</a:t>
            </a:r>
          </a:p>
          <a:p>
            <a:pPr marL="285750" indent="-285750" algn="l">
              <a:lnSpc>
                <a:spcPct val="150000"/>
              </a:lnSpc>
              <a:buChar char="•"/>
            </a:pPr>
            <a:endParaRPr lang="zh-CN" altLang="en-US" sz="1400" dirty="0">
              <a:solidFill>
                <a:srgbClr val="000000"/>
              </a:solidFill>
              <a:cs typeface="+mn-ea"/>
              <a:sym typeface="+mn-lt"/>
            </a:endParaRPr>
          </a:p>
          <a:p>
            <a:pPr indent="0" algn="l">
              <a:lnSpc>
                <a:spcPct val="150000"/>
              </a:lnSpc>
              <a:buNone/>
            </a:pPr>
            <a:r>
              <a:rPr lang="zh-CN" altLang="en-US" sz="1400" b="1" dirty="0">
                <a:solidFill>
                  <a:srgbClr val="000000"/>
                </a:solidFill>
                <a:cs typeface="+mn-ea"/>
                <a:sym typeface="+mn-lt"/>
              </a:rPr>
              <a:t>宏的“魔法”就发生在词法分析和语法分析这两个阶段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7870699" y="1797708"/>
            <a:ext cx="2178176" cy="894098"/>
          </a:xfrm>
          <a:prstGeom prst="rect">
            <a:avLst/>
          </a:prstGeom>
          <a:solidFill>
            <a:srgbClr val="E2E6ED">
              <a:alpha val="100000"/>
            </a:srgbClr>
          </a:soli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>
                <a:solidFill>
                  <a:srgbClr val="000000"/>
                </a:solidFill>
                <a:cs typeface="+mn-ea"/>
                <a:sym typeface="+mn-lt"/>
              </a:rPr>
              <a:t>Rust </a:t>
            </a:r>
            <a:r>
              <a:rPr lang="zh-CN" altLang="en-US">
                <a:solidFill>
                  <a:srgbClr val="000000"/>
                </a:solidFill>
                <a:cs typeface="+mn-ea"/>
                <a:sym typeface="+mn-lt"/>
              </a:rPr>
              <a:t>源码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7864833" y="3389507"/>
            <a:ext cx="2178176" cy="894098"/>
          </a:xfrm>
          <a:prstGeom prst="rect">
            <a:avLst/>
          </a:prstGeom>
          <a:solidFill>
            <a:srgbClr val="E2E6ED">
              <a:alpha val="100000"/>
            </a:srgbClr>
          </a:soli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>
                <a:solidFill>
                  <a:srgbClr val="000000"/>
                </a:solidFill>
                <a:cs typeface="+mn-ea"/>
                <a:sym typeface="+mn-lt"/>
              </a:rPr>
              <a:t>词法分析</a:t>
            </a:r>
            <a:r>
              <a:rPr lang="en-US" altLang="zh-CN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zh-CN" altLang="en-US">
                <a:solidFill>
                  <a:srgbClr val="000000"/>
                </a:solidFill>
                <a:cs typeface="+mn-ea"/>
                <a:sym typeface="+mn-lt"/>
              </a:rPr>
              <a:t>（</a:t>
            </a:r>
            <a:r>
              <a:rPr lang="en-US" altLang="zh-CN">
                <a:solidFill>
                  <a:srgbClr val="000000"/>
                </a:solidFill>
                <a:cs typeface="+mn-ea"/>
                <a:sym typeface="+mn-lt"/>
              </a:rPr>
              <a:t>TokenStream</a:t>
            </a:r>
            <a:r>
              <a:rPr lang="zh-CN" altLang="en-US">
                <a:solidFill>
                  <a:srgbClr val="000000"/>
                </a:solidFill>
                <a:cs typeface="+mn-ea"/>
                <a:sym typeface="+mn-lt"/>
              </a:rPr>
              <a:t>）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7874275" y="4924236"/>
            <a:ext cx="2178176" cy="894098"/>
          </a:xfrm>
          <a:prstGeom prst="rect">
            <a:avLst/>
          </a:prstGeom>
          <a:solidFill>
            <a:srgbClr val="E2E6ED">
              <a:alpha val="100000"/>
            </a:srgbClr>
          </a:soli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>
                <a:solidFill>
                  <a:srgbClr val="000000"/>
                </a:solidFill>
                <a:cs typeface="+mn-ea"/>
                <a:sym typeface="+mn-lt"/>
              </a:rPr>
              <a:t>语法分析</a:t>
            </a:r>
            <a:r>
              <a:rPr lang="en-US" altLang="zh-CN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zh-CN" altLang="en-US">
                <a:solidFill>
                  <a:srgbClr val="000000"/>
                </a:solidFill>
                <a:cs typeface="+mn-ea"/>
                <a:sym typeface="+mn-lt"/>
              </a:rPr>
              <a:t>（</a:t>
            </a:r>
            <a:r>
              <a:rPr lang="en-US" altLang="zh-CN">
                <a:solidFill>
                  <a:srgbClr val="000000"/>
                </a:solidFill>
                <a:cs typeface="+mn-ea"/>
                <a:sym typeface="+mn-lt"/>
              </a:rPr>
              <a:t>AST</a:t>
            </a:r>
            <a:r>
              <a:rPr lang="zh-CN" altLang="en-US">
                <a:solidFill>
                  <a:srgbClr val="000000"/>
                </a:solidFill>
                <a:cs typeface="+mn-ea"/>
                <a:sym typeface="+mn-lt"/>
              </a:rPr>
              <a:t>）</a:t>
            </a:r>
          </a:p>
        </p:txBody>
      </p:sp>
      <p:cxnSp>
        <p:nvCxnSpPr>
          <p:cNvPr id="13" name="Straight Arrow Connector 12"/>
          <p:cNvCxnSpPr/>
          <p:nvPr userDrawn="1"/>
        </p:nvCxnSpPr>
        <p:spPr>
          <a:xfrm flipH="1">
            <a:off x="8855158" y="2767899"/>
            <a:ext cx="9512" cy="542166"/>
          </a:xfrm>
          <a:prstGeom prst="straightConnector1">
            <a:avLst/>
          </a:prstGeom>
          <a:ln w="6350" cap="flat" cmpd="sng" algn="ctr">
            <a:solidFill>
              <a:srgbClr val="979797">
                <a:alpha val="100000"/>
              </a:srgbClr>
            </a:solidFill>
            <a:prstDash val="solid"/>
            <a:miter lim="800000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 userDrawn="1"/>
        </p:nvCxnSpPr>
        <p:spPr>
          <a:xfrm flipH="1">
            <a:off x="8877529" y="4331163"/>
            <a:ext cx="9512" cy="542166"/>
          </a:xfrm>
          <a:prstGeom prst="straightConnector1">
            <a:avLst/>
          </a:prstGeom>
          <a:ln w="6350" cap="flat" cmpd="sng" algn="ctr">
            <a:solidFill>
              <a:srgbClr val="979797">
                <a:alpha val="100000"/>
              </a:srgbClr>
            </a:solidFill>
            <a:prstDash val="solid"/>
            <a:miter lim="800000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53181" y="66688"/>
            <a:ext cx="10740640" cy="558463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如何编写声明宏-声明宏工作机制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253181" y="545838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 userDrawn="1"/>
        </p:nvSpPr>
        <p:spPr>
          <a:xfrm>
            <a:off x="488471" y="961532"/>
            <a:ext cx="5336055" cy="304130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400" dirty="0">
                <a:cs typeface="+mn-ea"/>
                <a:sym typeface="+mn-lt"/>
              </a:rPr>
              <a:t>Rust</a:t>
            </a:r>
            <a:r>
              <a:rPr lang="zh-CN" altLang="en-US" sz="1400" dirty="0">
                <a:cs typeface="+mn-ea"/>
                <a:sym typeface="+mn-lt"/>
              </a:rPr>
              <a:t>有各种类型的标记，例如：</a:t>
            </a:r>
          </a:p>
          <a:p>
            <a:pPr algn="l">
              <a:lnSpc>
                <a:spcPct val="150000"/>
              </a:lnSpc>
            </a:pPr>
            <a:endParaRPr lang="zh-CN" altLang="en-US" sz="1400" dirty="0"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altLang="en-US" sz="1400" dirty="0">
                <a:cs typeface="+mn-ea"/>
                <a:sym typeface="+mn-lt"/>
              </a:rPr>
              <a:t>标识符： </a:t>
            </a:r>
            <a:r>
              <a:rPr lang="en-US" altLang="zh-CN" sz="1400" dirty="0">
                <a:cs typeface="+mn-ea"/>
                <a:sym typeface="+mn-lt"/>
              </a:rPr>
              <a:t>foo </a:t>
            </a:r>
            <a:r>
              <a:rPr lang="zh-CN" altLang="en-US" sz="1400" dirty="0">
                <a:cs typeface="+mn-ea"/>
                <a:sym typeface="+mn-lt"/>
              </a:rPr>
              <a:t>， </a:t>
            </a:r>
            <a:r>
              <a:rPr lang="en-US" altLang="zh-CN" sz="1400" dirty="0">
                <a:cs typeface="+mn-ea"/>
                <a:sym typeface="+mn-lt"/>
              </a:rPr>
              <a:t>Bambous </a:t>
            </a:r>
            <a:r>
              <a:rPr lang="zh-CN" altLang="en-US" sz="1400" dirty="0">
                <a:cs typeface="+mn-ea"/>
                <a:sym typeface="+mn-lt"/>
              </a:rPr>
              <a:t>， </a:t>
            </a:r>
            <a:r>
              <a:rPr lang="en-US" altLang="zh-CN" sz="1400" dirty="0">
                <a:cs typeface="+mn-ea"/>
                <a:sym typeface="+mn-lt"/>
              </a:rPr>
              <a:t>self </a:t>
            </a:r>
            <a:r>
              <a:rPr lang="zh-CN" altLang="en-US" sz="1400" dirty="0">
                <a:cs typeface="+mn-ea"/>
                <a:sym typeface="+mn-lt"/>
              </a:rPr>
              <a:t>， </a:t>
            </a:r>
            <a:r>
              <a:rPr lang="en-US" altLang="zh-CN" sz="1400" dirty="0">
                <a:cs typeface="+mn-ea"/>
                <a:sym typeface="+mn-lt"/>
              </a:rPr>
              <a:t>we_can_dance </a:t>
            </a:r>
            <a:r>
              <a:rPr lang="zh-CN" altLang="en-US" sz="1400" dirty="0">
                <a:cs typeface="+mn-ea"/>
                <a:sym typeface="+mn-lt"/>
              </a:rPr>
              <a:t>， </a:t>
            </a:r>
            <a:r>
              <a:rPr lang="en-US" altLang="zh-CN" sz="1400" dirty="0">
                <a:cs typeface="+mn-ea"/>
                <a:sym typeface="+mn-lt"/>
              </a:rPr>
              <a:t>LaCaravane </a:t>
            </a:r>
            <a:r>
              <a:rPr lang="zh-CN" altLang="en-US" sz="1400" dirty="0">
                <a:cs typeface="+mn-ea"/>
                <a:sym typeface="+mn-lt"/>
              </a:rPr>
              <a:t>，…</a:t>
            </a:r>
          </a:p>
          <a:p>
            <a:pPr algn="l">
              <a:lnSpc>
                <a:spcPct val="150000"/>
              </a:lnSpc>
            </a:pPr>
            <a:r>
              <a:rPr lang="zh-CN" altLang="en-US" sz="1400" dirty="0">
                <a:cs typeface="+mn-ea"/>
                <a:sym typeface="+mn-lt"/>
              </a:rPr>
              <a:t>字面量： </a:t>
            </a:r>
            <a:r>
              <a:rPr lang="en-US" altLang="zh-CN" sz="1400" dirty="0">
                <a:cs typeface="+mn-ea"/>
                <a:sym typeface="+mn-lt"/>
              </a:rPr>
              <a:t>42 </a:t>
            </a:r>
            <a:r>
              <a:rPr lang="zh-CN" altLang="en-US" sz="1400" dirty="0">
                <a:cs typeface="+mn-ea"/>
                <a:sym typeface="+mn-lt"/>
              </a:rPr>
              <a:t>， </a:t>
            </a:r>
            <a:r>
              <a:rPr lang="en-US" altLang="zh-CN" sz="1400" dirty="0">
                <a:cs typeface="+mn-ea"/>
                <a:sym typeface="+mn-lt"/>
              </a:rPr>
              <a:t>72u32 </a:t>
            </a:r>
            <a:r>
              <a:rPr lang="zh-CN" altLang="en-US" sz="1400" dirty="0">
                <a:cs typeface="+mn-ea"/>
                <a:sym typeface="+mn-lt"/>
              </a:rPr>
              <a:t>， </a:t>
            </a:r>
            <a:r>
              <a:rPr lang="en-US" altLang="zh-CN" sz="1400" dirty="0">
                <a:cs typeface="+mn-ea"/>
                <a:sym typeface="+mn-lt"/>
              </a:rPr>
              <a:t>0_______0 </a:t>
            </a:r>
            <a:r>
              <a:rPr lang="zh-CN" altLang="en-US" sz="1400" dirty="0">
                <a:cs typeface="+mn-ea"/>
                <a:sym typeface="+mn-lt"/>
              </a:rPr>
              <a:t>， </a:t>
            </a:r>
            <a:r>
              <a:rPr lang="en-US" altLang="zh-CN" sz="1400" dirty="0">
                <a:cs typeface="+mn-ea"/>
                <a:sym typeface="+mn-lt"/>
              </a:rPr>
              <a:t>1.0e</a:t>
            </a:r>
            <a:r>
              <a:rPr lang="zh-CN" altLang="en-US" sz="1400" dirty="0">
                <a:cs typeface="+mn-ea"/>
                <a:sym typeface="+mn-lt"/>
              </a:rPr>
              <a:t>-</a:t>
            </a:r>
            <a:r>
              <a:rPr lang="en-US" altLang="zh-CN" sz="1400" dirty="0">
                <a:cs typeface="+mn-ea"/>
                <a:sym typeface="+mn-lt"/>
              </a:rPr>
              <a:t>40 </a:t>
            </a:r>
            <a:r>
              <a:rPr lang="zh-CN" altLang="en-US" sz="1400" dirty="0">
                <a:cs typeface="+mn-ea"/>
                <a:sym typeface="+mn-lt"/>
              </a:rPr>
              <a:t>， </a:t>
            </a:r>
            <a:r>
              <a:rPr lang="en-US" altLang="zh-CN" sz="1400" dirty="0">
                <a:cs typeface="+mn-ea"/>
                <a:sym typeface="+mn-lt"/>
              </a:rPr>
              <a:t>"ferris was here" </a:t>
            </a:r>
            <a:r>
              <a:rPr lang="zh-CN" altLang="en-US" sz="1400" dirty="0">
                <a:cs typeface="+mn-ea"/>
                <a:sym typeface="+mn-lt"/>
              </a:rPr>
              <a:t>，</a:t>
            </a:r>
            <a:r>
              <a:rPr lang="en-US" altLang="zh-CN" sz="1400" dirty="0">
                <a:cs typeface="+mn-ea"/>
                <a:sym typeface="+mn-lt"/>
              </a:rPr>
              <a:t>..</a:t>
            </a:r>
          </a:p>
          <a:p>
            <a:pPr algn="l">
              <a:lnSpc>
                <a:spcPct val="150000"/>
              </a:lnSpc>
            </a:pPr>
            <a:r>
              <a:rPr lang="zh-CN" altLang="en-US" sz="1400" dirty="0">
                <a:cs typeface="+mn-ea"/>
                <a:sym typeface="+mn-lt"/>
              </a:rPr>
              <a:t>关键词： </a:t>
            </a:r>
            <a:r>
              <a:rPr lang="en-US" altLang="zh-CN" sz="1400" dirty="0">
                <a:cs typeface="+mn-ea"/>
                <a:sym typeface="+mn-lt"/>
              </a:rPr>
              <a:t>_ </a:t>
            </a:r>
            <a:r>
              <a:rPr lang="zh-CN" altLang="en-US" sz="1400" dirty="0">
                <a:cs typeface="+mn-ea"/>
                <a:sym typeface="+mn-lt"/>
              </a:rPr>
              <a:t>， </a:t>
            </a:r>
            <a:r>
              <a:rPr lang="en-US" altLang="zh-CN" sz="1400" dirty="0">
                <a:cs typeface="+mn-ea"/>
                <a:sym typeface="+mn-lt"/>
              </a:rPr>
              <a:t>fn </a:t>
            </a:r>
            <a:r>
              <a:rPr lang="zh-CN" altLang="en-US" sz="1400" dirty="0">
                <a:cs typeface="+mn-ea"/>
                <a:sym typeface="+mn-lt"/>
              </a:rPr>
              <a:t>， </a:t>
            </a:r>
            <a:r>
              <a:rPr lang="en-US" altLang="zh-CN" sz="1400" dirty="0">
                <a:cs typeface="+mn-ea"/>
                <a:sym typeface="+mn-lt"/>
              </a:rPr>
              <a:t>self </a:t>
            </a:r>
            <a:r>
              <a:rPr lang="zh-CN" altLang="en-US" sz="1400" dirty="0">
                <a:cs typeface="+mn-ea"/>
                <a:sym typeface="+mn-lt"/>
              </a:rPr>
              <a:t>， </a:t>
            </a:r>
            <a:r>
              <a:rPr lang="en-US" altLang="zh-CN" sz="1400" dirty="0">
                <a:cs typeface="+mn-ea"/>
                <a:sym typeface="+mn-lt"/>
              </a:rPr>
              <a:t>match </a:t>
            </a:r>
            <a:r>
              <a:rPr lang="zh-CN" altLang="en-US" sz="1400" dirty="0">
                <a:cs typeface="+mn-ea"/>
                <a:sym typeface="+mn-lt"/>
              </a:rPr>
              <a:t>， </a:t>
            </a:r>
            <a:r>
              <a:rPr lang="en-US" altLang="zh-CN" sz="1400" dirty="0">
                <a:cs typeface="+mn-ea"/>
                <a:sym typeface="+mn-lt"/>
              </a:rPr>
              <a:t>yield </a:t>
            </a:r>
            <a:r>
              <a:rPr lang="zh-CN" altLang="en-US" sz="1400" dirty="0">
                <a:cs typeface="+mn-ea"/>
                <a:sym typeface="+mn-lt"/>
              </a:rPr>
              <a:t>， </a:t>
            </a:r>
            <a:r>
              <a:rPr lang="en-US" altLang="zh-CN" sz="1400" dirty="0">
                <a:cs typeface="+mn-ea"/>
                <a:sym typeface="+mn-lt"/>
              </a:rPr>
              <a:t>macro </a:t>
            </a:r>
            <a:r>
              <a:rPr lang="zh-CN" altLang="en-US" sz="1400" dirty="0">
                <a:cs typeface="+mn-ea"/>
                <a:sym typeface="+mn-lt"/>
              </a:rPr>
              <a:t>，</a:t>
            </a:r>
            <a:r>
              <a:rPr lang="en-US" altLang="zh-CN" sz="1400" dirty="0">
                <a:cs typeface="+mn-ea"/>
                <a:sym typeface="+mn-lt"/>
              </a:rPr>
              <a:t>..</a:t>
            </a:r>
          </a:p>
          <a:p>
            <a:pPr algn="l">
              <a:lnSpc>
                <a:spcPct val="150000"/>
              </a:lnSpc>
            </a:pPr>
            <a:r>
              <a:rPr lang="zh-CN" altLang="en-US" sz="1400" dirty="0">
                <a:cs typeface="+mn-ea"/>
                <a:sym typeface="+mn-lt"/>
              </a:rPr>
              <a:t>符号： </a:t>
            </a:r>
            <a:r>
              <a:rPr lang="en-US" altLang="zh-CN" sz="1400" dirty="0">
                <a:cs typeface="+mn-ea"/>
                <a:sym typeface="+mn-lt"/>
              </a:rPr>
              <a:t>[ </a:t>
            </a:r>
            <a:r>
              <a:rPr lang="zh-CN" altLang="en-US" sz="1400" dirty="0">
                <a:cs typeface="+mn-ea"/>
                <a:sym typeface="+mn-lt"/>
              </a:rPr>
              <a:t>， </a:t>
            </a:r>
            <a:r>
              <a:rPr lang="en-US" altLang="zh-CN" sz="1400" dirty="0">
                <a:cs typeface="+mn-ea"/>
                <a:sym typeface="+mn-lt"/>
              </a:rPr>
              <a:t>: </a:t>
            </a:r>
            <a:r>
              <a:rPr lang="zh-CN" altLang="en-US" sz="1400" dirty="0">
                <a:cs typeface="+mn-ea"/>
                <a:sym typeface="+mn-lt"/>
              </a:rPr>
              <a:t>， </a:t>
            </a:r>
            <a:r>
              <a:rPr lang="en-US" altLang="zh-CN" sz="1400" dirty="0">
                <a:cs typeface="+mn-ea"/>
                <a:sym typeface="+mn-lt"/>
              </a:rPr>
              <a:t>:: </a:t>
            </a:r>
            <a:r>
              <a:rPr lang="zh-CN" altLang="en-US" sz="1400" dirty="0">
                <a:cs typeface="+mn-ea"/>
                <a:sym typeface="+mn-lt"/>
              </a:rPr>
              <a:t>， </a:t>
            </a:r>
            <a:r>
              <a:rPr lang="en-US" altLang="zh-CN" sz="1400" dirty="0">
                <a:cs typeface="+mn-ea"/>
                <a:sym typeface="+mn-lt"/>
              </a:rPr>
              <a:t>? </a:t>
            </a:r>
            <a:r>
              <a:rPr lang="zh-CN" altLang="en-US" sz="1400" dirty="0">
                <a:cs typeface="+mn-ea"/>
                <a:sym typeface="+mn-lt"/>
              </a:rPr>
              <a:t>， </a:t>
            </a:r>
            <a:r>
              <a:rPr lang="en-US" altLang="zh-CN" sz="1400" dirty="0">
                <a:cs typeface="+mn-ea"/>
                <a:sym typeface="+mn-lt"/>
              </a:rPr>
              <a:t>~ </a:t>
            </a:r>
            <a:r>
              <a:rPr lang="zh-CN" altLang="en-US" sz="1400" dirty="0">
                <a:cs typeface="+mn-ea"/>
                <a:sym typeface="+mn-lt"/>
              </a:rPr>
              <a:t>， @ ， </a:t>
            </a:r>
            <a:r>
              <a:rPr lang="en-US" altLang="zh-CN" sz="1400" dirty="0">
                <a:cs typeface="+mn-ea"/>
                <a:sym typeface="+mn-lt"/>
              </a:rPr>
              <a:t>1 </a:t>
            </a:r>
            <a:r>
              <a:rPr lang="zh-CN" altLang="en-US" sz="1400" dirty="0">
                <a:cs typeface="+mn-ea"/>
                <a:sym typeface="+mn-lt"/>
              </a:rPr>
              <a:t>，</a:t>
            </a:r>
            <a:r>
              <a:rPr lang="en-US" altLang="zh-CN" sz="1400" dirty="0">
                <a:cs typeface="+mn-ea"/>
                <a:sym typeface="+mn-lt"/>
              </a:rPr>
              <a:t>..</a:t>
            </a:r>
          </a:p>
          <a:p>
            <a:pPr algn="l">
              <a:lnSpc>
                <a:spcPct val="150000"/>
              </a:lnSpc>
            </a:pPr>
            <a:r>
              <a:rPr lang="zh-CN" altLang="en-US" sz="1400" dirty="0">
                <a:cs typeface="+mn-ea"/>
                <a:sym typeface="+mn-lt"/>
              </a:rPr>
              <a:t>类型：</a:t>
            </a:r>
            <a:r>
              <a:rPr lang="en-US" altLang="zh-CN" sz="1400" dirty="0">
                <a:cs typeface="+mn-ea"/>
                <a:sym typeface="+mn-lt"/>
              </a:rPr>
              <a:t>String</a:t>
            </a:r>
            <a:r>
              <a:rPr lang="zh-CN" altLang="en-US" sz="1400" dirty="0">
                <a:cs typeface="+mn-ea"/>
                <a:sym typeface="+mn-lt"/>
              </a:rPr>
              <a:t>，</a:t>
            </a:r>
            <a:r>
              <a:rPr lang="en-US" altLang="zh-CN" sz="1400" dirty="0">
                <a:cs typeface="+mn-ea"/>
                <a:sym typeface="+mn-lt"/>
              </a:rPr>
              <a:t>Vec</a:t>
            </a:r>
            <a:r>
              <a:rPr lang="zh-CN" altLang="en-US" sz="1400" dirty="0">
                <a:cs typeface="+mn-ea"/>
                <a:sym typeface="+mn-lt"/>
              </a:rPr>
              <a:t>，</a:t>
            </a:r>
            <a:r>
              <a:rPr lang="en-US" altLang="zh-CN" sz="1400" dirty="0">
                <a:cs typeface="+mn-ea"/>
                <a:sym typeface="+mn-lt"/>
              </a:rPr>
              <a:t>...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8" name="矩形 5"/>
          <p:cNvSpPr/>
          <p:nvPr/>
        </p:nvSpPr>
        <p:spPr>
          <a:xfrm>
            <a:off x="5824526" y="847485"/>
            <a:ext cx="5873159" cy="36471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cs typeface="+mn-ea"/>
                <a:sym typeface="+mn-lt"/>
              </a:rPr>
              <a:t>这些类型标记与定义声明宏时可以使用元变量相对应：</a:t>
            </a:r>
            <a:br>
              <a:rPr lang="zh-CN" altLang="en-US" sz="1400" dirty="0">
                <a:cs typeface="+mn-ea"/>
                <a:sym typeface="+mn-lt"/>
              </a:rPr>
            </a:br>
            <a:br>
              <a:rPr lang="zh-CN" altLang="en-US" sz="1400" dirty="0">
                <a:cs typeface="+mn-ea"/>
                <a:sym typeface="+mn-lt"/>
              </a:rPr>
            </a:br>
            <a:r>
              <a:rPr lang="en-US" altLang="zh-CN" sz="1400" dirty="0">
                <a:cs typeface="+mn-ea"/>
                <a:sym typeface="+mn-lt"/>
              </a:rPr>
              <a:t>- `$</a:t>
            </a:r>
            <a:r>
              <a:rPr lang="en-US" altLang="zh-CN" sz="1400" dirty="0" err="1">
                <a:cs typeface="+mn-ea"/>
                <a:sym typeface="+mn-lt"/>
              </a:rPr>
              <a:t>i:ident</a:t>
            </a:r>
            <a:r>
              <a:rPr lang="en-US" altLang="zh-CN" sz="1400" dirty="0">
                <a:cs typeface="+mn-ea"/>
                <a:sym typeface="+mn-lt"/>
              </a:rPr>
              <a:t>`</a:t>
            </a:r>
            <a:r>
              <a:rPr lang="zh-CN" altLang="en-US" sz="1400" dirty="0">
                <a:cs typeface="+mn-ea"/>
                <a:sym typeface="+mn-lt"/>
              </a:rPr>
              <a:t>：匹配 </a:t>
            </a:r>
            <a:r>
              <a:rPr lang="en-US" altLang="zh-CN" sz="1400" dirty="0">
                <a:cs typeface="+mn-ea"/>
                <a:sym typeface="+mn-lt"/>
              </a:rPr>
              <a:t>Rust </a:t>
            </a:r>
            <a:r>
              <a:rPr lang="zh-CN" altLang="en-US" sz="1400" dirty="0">
                <a:cs typeface="+mn-ea"/>
                <a:sym typeface="+mn-lt"/>
              </a:rPr>
              <a:t>标识符，如变量名或函数名。</a:t>
            </a:r>
            <a:br>
              <a:rPr lang="zh-CN" altLang="en-US" sz="1400" dirty="0">
                <a:cs typeface="+mn-ea"/>
                <a:sym typeface="+mn-lt"/>
              </a:rPr>
            </a:br>
            <a:r>
              <a:rPr lang="en-US" altLang="zh-CN" sz="1400" dirty="0">
                <a:cs typeface="+mn-ea"/>
                <a:sym typeface="+mn-lt"/>
              </a:rPr>
              <a:t>- `$</a:t>
            </a:r>
            <a:r>
              <a:rPr lang="en-US" altLang="zh-CN" sz="1400" dirty="0" err="1">
                <a:cs typeface="+mn-ea"/>
                <a:sym typeface="+mn-lt"/>
              </a:rPr>
              <a:t>t:ty</a:t>
            </a:r>
            <a:r>
              <a:rPr lang="en-US" altLang="zh-CN" sz="1400" dirty="0">
                <a:cs typeface="+mn-ea"/>
                <a:sym typeface="+mn-lt"/>
              </a:rPr>
              <a:t>`</a:t>
            </a:r>
            <a:r>
              <a:rPr lang="zh-CN" altLang="en-US" sz="1400" dirty="0">
                <a:cs typeface="+mn-ea"/>
                <a:sym typeface="+mn-lt"/>
              </a:rPr>
              <a:t>：匹配 </a:t>
            </a:r>
            <a:r>
              <a:rPr lang="en-US" altLang="zh-CN" sz="1400" dirty="0">
                <a:cs typeface="+mn-ea"/>
                <a:sym typeface="+mn-lt"/>
              </a:rPr>
              <a:t>Rust </a:t>
            </a:r>
            <a:r>
              <a:rPr lang="zh-CN" altLang="en-US" sz="1400" dirty="0">
                <a:cs typeface="+mn-ea"/>
                <a:sym typeface="+mn-lt"/>
              </a:rPr>
              <a:t>类型。</a:t>
            </a:r>
            <a:br>
              <a:rPr lang="zh-CN" altLang="en-US" sz="1400" dirty="0">
                <a:cs typeface="+mn-ea"/>
                <a:sym typeface="+mn-lt"/>
              </a:rPr>
            </a:br>
            <a:r>
              <a:rPr lang="en-US" altLang="zh-CN" sz="1400" dirty="0">
                <a:cs typeface="+mn-ea"/>
                <a:sym typeface="+mn-lt"/>
              </a:rPr>
              <a:t>- `$</a:t>
            </a:r>
            <a:r>
              <a:rPr lang="en-US" altLang="zh-CN" sz="1400" dirty="0" err="1">
                <a:cs typeface="+mn-ea"/>
                <a:sym typeface="+mn-lt"/>
              </a:rPr>
              <a:t>e:expr</a:t>
            </a:r>
            <a:r>
              <a:rPr lang="en-US" altLang="zh-CN" sz="1400" dirty="0">
                <a:cs typeface="+mn-ea"/>
                <a:sym typeface="+mn-lt"/>
              </a:rPr>
              <a:t>`</a:t>
            </a:r>
            <a:r>
              <a:rPr lang="zh-CN" altLang="en-US" sz="1400" dirty="0">
                <a:cs typeface="+mn-ea"/>
                <a:sym typeface="+mn-lt"/>
              </a:rPr>
              <a:t>：匹配 </a:t>
            </a:r>
            <a:r>
              <a:rPr lang="en-US" altLang="zh-CN" sz="1400" dirty="0">
                <a:cs typeface="+mn-ea"/>
                <a:sym typeface="+mn-lt"/>
              </a:rPr>
              <a:t>Rust </a:t>
            </a:r>
            <a:r>
              <a:rPr lang="zh-CN" altLang="en-US" sz="1400" dirty="0">
                <a:cs typeface="+mn-ea"/>
                <a:sym typeface="+mn-lt"/>
              </a:rPr>
              <a:t>表达式。</a:t>
            </a:r>
            <a:br>
              <a:rPr lang="zh-CN" altLang="en-US" sz="1400" dirty="0">
                <a:cs typeface="+mn-ea"/>
                <a:sym typeface="+mn-lt"/>
              </a:rPr>
            </a:br>
            <a:r>
              <a:rPr lang="en-US" altLang="zh-CN" sz="1400" dirty="0">
                <a:cs typeface="+mn-ea"/>
                <a:sym typeface="+mn-lt"/>
              </a:rPr>
              <a:t>- `$</a:t>
            </a:r>
            <a:r>
              <a:rPr lang="en-US" altLang="zh-CN" sz="1400" dirty="0" err="1">
                <a:cs typeface="+mn-ea"/>
                <a:sym typeface="+mn-lt"/>
              </a:rPr>
              <a:t>p:pat</a:t>
            </a:r>
            <a:r>
              <a:rPr lang="en-US" altLang="zh-CN" sz="1400" dirty="0">
                <a:cs typeface="+mn-ea"/>
                <a:sym typeface="+mn-lt"/>
              </a:rPr>
              <a:t>`</a:t>
            </a:r>
            <a:r>
              <a:rPr lang="zh-CN" altLang="en-US" sz="1400" dirty="0">
                <a:cs typeface="+mn-ea"/>
                <a:sym typeface="+mn-lt"/>
              </a:rPr>
              <a:t>：匹配 </a:t>
            </a:r>
            <a:r>
              <a:rPr lang="en-US" altLang="zh-CN" sz="1400" dirty="0">
                <a:cs typeface="+mn-ea"/>
                <a:sym typeface="+mn-lt"/>
              </a:rPr>
              <a:t>Rust </a:t>
            </a:r>
            <a:r>
              <a:rPr lang="zh-CN" altLang="en-US" sz="1400" dirty="0">
                <a:cs typeface="+mn-ea"/>
                <a:sym typeface="+mn-lt"/>
              </a:rPr>
              <a:t>模式。</a:t>
            </a:r>
            <a:br>
              <a:rPr lang="zh-CN" altLang="en-US" sz="1400" dirty="0">
                <a:cs typeface="+mn-ea"/>
                <a:sym typeface="+mn-lt"/>
              </a:rPr>
            </a:br>
            <a:r>
              <a:rPr lang="en-US" altLang="zh-CN" sz="1400" dirty="0">
                <a:cs typeface="+mn-ea"/>
                <a:sym typeface="+mn-lt"/>
              </a:rPr>
              <a:t>- `$</a:t>
            </a:r>
            <a:r>
              <a:rPr lang="en-US" altLang="zh-CN" sz="1400" dirty="0" err="1">
                <a:cs typeface="+mn-ea"/>
                <a:sym typeface="+mn-lt"/>
              </a:rPr>
              <a:t>s:stmt</a:t>
            </a:r>
            <a:r>
              <a:rPr lang="en-US" altLang="zh-CN" sz="1400" dirty="0">
                <a:cs typeface="+mn-ea"/>
                <a:sym typeface="+mn-lt"/>
              </a:rPr>
              <a:t>`</a:t>
            </a:r>
            <a:r>
              <a:rPr lang="zh-CN" altLang="en-US" sz="1400" dirty="0">
                <a:cs typeface="+mn-ea"/>
                <a:sym typeface="+mn-lt"/>
              </a:rPr>
              <a:t>：匹配 </a:t>
            </a:r>
            <a:r>
              <a:rPr lang="en-US" altLang="zh-CN" sz="1400" dirty="0">
                <a:cs typeface="+mn-ea"/>
                <a:sym typeface="+mn-lt"/>
              </a:rPr>
              <a:t>Rust </a:t>
            </a:r>
            <a:r>
              <a:rPr lang="zh-CN" altLang="en-US" sz="1400" dirty="0">
                <a:cs typeface="+mn-ea"/>
                <a:sym typeface="+mn-lt"/>
              </a:rPr>
              <a:t>语句。</a:t>
            </a:r>
            <a:br>
              <a:rPr lang="zh-CN" altLang="en-US" sz="1400" dirty="0">
                <a:cs typeface="+mn-ea"/>
                <a:sym typeface="+mn-lt"/>
              </a:rPr>
            </a:br>
            <a:r>
              <a:rPr lang="en-US" altLang="zh-CN" sz="1400" dirty="0">
                <a:cs typeface="+mn-ea"/>
                <a:sym typeface="+mn-lt"/>
              </a:rPr>
              <a:t>- `$</a:t>
            </a:r>
            <a:r>
              <a:rPr lang="en-US" altLang="zh-CN" sz="1400" dirty="0" err="1">
                <a:cs typeface="+mn-ea"/>
                <a:sym typeface="+mn-lt"/>
              </a:rPr>
              <a:t>b:block</a:t>
            </a:r>
            <a:r>
              <a:rPr lang="en-US" altLang="zh-CN" sz="1400" dirty="0">
                <a:cs typeface="+mn-ea"/>
                <a:sym typeface="+mn-lt"/>
              </a:rPr>
              <a:t>`</a:t>
            </a:r>
            <a:r>
              <a:rPr lang="zh-CN" altLang="en-US" sz="1400" dirty="0">
                <a:cs typeface="+mn-ea"/>
                <a:sym typeface="+mn-lt"/>
              </a:rPr>
              <a:t>：匹配 </a:t>
            </a:r>
            <a:r>
              <a:rPr lang="en-US" altLang="zh-CN" sz="1400" dirty="0">
                <a:cs typeface="+mn-ea"/>
                <a:sym typeface="+mn-lt"/>
              </a:rPr>
              <a:t>Rust </a:t>
            </a:r>
            <a:r>
              <a:rPr lang="zh-CN" altLang="en-US" sz="1400" dirty="0">
                <a:cs typeface="+mn-ea"/>
                <a:sym typeface="+mn-lt"/>
              </a:rPr>
              <a:t>代码块。</a:t>
            </a:r>
            <a:br>
              <a:rPr lang="zh-CN" altLang="en-US" sz="1400" dirty="0">
                <a:cs typeface="+mn-ea"/>
                <a:sym typeface="+mn-lt"/>
              </a:rPr>
            </a:br>
            <a:r>
              <a:rPr lang="en-US" altLang="zh-CN" sz="1400" dirty="0">
                <a:cs typeface="+mn-ea"/>
                <a:sym typeface="+mn-lt"/>
              </a:rPr>
              <a:t>- `$</a:t>
            </a:r>
            <a:r>
              <a:rPr lang="en-US" altLang="zh-CN" sz="1400" dirty="0" err="1">
                <a:cs typeface="+mn-ea"/>
                <a:sym typeface="+mn-lt"/>
              </a:rPr>
              <a:t>m:meta</a:t>
            </a:r>
            <a:r>
              <a:rPr lang="en-US" altLang="zh-CN" sz="1400" dirty="0">
                <a:cs typeface="+mn-ea"/>
                <a:sym typeface="+mn-lt"/>
              </a:rPr>
              <a:t>`</a:t>
            </a:r>
            <a:r>
              <a:rPr lang="zh-CN" altLang="en-US" sz="1400" dirty="0">
                <a:cs typeface="+mn-ea"/>
                <a:sym typeface="+mn-lt"/>
              </a:rPr>
              <a:t>：匹配 </a:t>
            </a:r>
            <a:r>
              <a:rPr lang="en-US" altLang="zh-CN" sz="1400" dirty="0">
                <a:cs typeface="+mn-ea"/>
                <a:sym typeface="+mn-lt"/>
              </a:rPr>
              <a:t>Rust </a:t>
            </a:r>
            <a:r>
              <a:rPr lang="zh-CN" altLang="en-US" sz="1400" dirty="0">
                <a:cs typeface="+mn-ea"/>
                <a:sym typeface="+mn-lt"/>
              </a:rPr>
              <a:t>属性内容。</a:t>
            </a:r>
            <a:br>
              <a:rPr lang="zh-CN" altLang="en-US" sz="1400" dirty="0">
                <a:cs typeface="+mn-ea"/>
                <a:sym typeface="+mn-lt"/>
              </a:rPr>
            </a:br>
            <a:r>
              <a:rPr lang="en-US" altLang="zh-CN" sz="1400" dirty="0">
                <a:cs typeface="+mn-ea"/>
                <a:sym typeface="+mn-lt"/>
              </a:rPr>
              <a:t>- `$</a:t>
            </a:r>
            <a:r>
              <a:rPr lang="en-US" altLang="zh-CN" sz="1400" dirty="0" err="1">
                <a:cs typeface="+mn-ea"/>
                <a:sym typeface="+mn-lt"/>
              </a:rPr>
              <a:t>l:lifetime</a:t>
            </a:r>
            <a:r>
              <a:rPr lang="en-US" altLang="zh-CN" sz="1400" dirty="0">
                <a:cs typeface="+mn-ea"/>
                <a:sym typeface="+mn-lt"/>
              </a:rPr>
              <a:t>`</a:t>
            </a:r>
            <a:r>
              <a:rPr lang="zh-CN" altLang="en-US" sz="1400" dirty="0">
                <a:cs typeface="+mn-ea"/>
                <a:sym typeface="+mn-lt"/>
              </a:rPr>
              <a:t>：匹配 </a:t>
            </a:r>
            <a:r>
              <a:rPr lang="en-US" altLang="zh-CN" sz="1400" dirty="0">
                <a:cs typeface="+mn-ea"/>
                <a:sym typeface="+mn-lt"/>
              </a:rPr>
              <a:t>Rust </a:t>
            </a:r>
            <a:r>
              <a:rPr lang="zh-CN" altLang="en-US" sz="1400" dirty="0">
                <a:cs typeface="+mn-ea"/>
                <a:sym typeface="+mn-lt"/>
              </a:rPr>
              <a:t>生命周期标识符。</a:t>
            </a:r>
            <a:br>
              <a:rPr lang="zh-CN" altLang="en-US" sz="1400" dirty="0">
                <a:cs typeface="+mn-ea"/>
                <a:sym typeface="+mn-lt"/>
              </a:rPr>
            </a:br>
            <a:r>
              <a:rPr lang="en-US" altLang="zh-CN" sz="1400" dirty="0">
                <a:cs typeface="+mn-ea"/>
                <a:sym typeface="+mn-lt"/>
              </a:rPr>
              <a:t>- `$</a:t>
            </a:r>
            <a:r>
              <a:rPr lang="en-US" altLang="zh-CN" sz="1400" dirty="0" err="1">
                <a:cs typeface="+mn-ea"/>
                <a:sym typeface="+mn-lt"/>
              </a:rPr>
              <a:t>tt:tt</a:t>
            </a:r>
            <a:r>
              <a:rPr lang="en-US" altLang="zh-CN" sz="1400" dirty="0">
                <a:cs typeface="+mn-ea"/>
                <a:sym typeface="+mn-lt"/>
              </a:rPr>
              <a:t>`</a:t>
            </a:r>
            <a:r>
              <a:rPr lang="zh-CN" altLang="en-US" sz="1400" dirty="0">
                <a:cs typeface="+mn-ea"/>
                <a:sym typeface="+mn-lt"/>
              </a:rPr>
              <a:t>：匹配单个 </a:t>
            </a:r>
            <a:r>
              <a:rPr lang="en-US" altLang="zh-CN" sz="1400" dirty="0">
                <a:cs typeface="+mn-ea"/>
                <a:sym typeface="+mn-lt"/>
              </a:rPr>
              <a:t>Rust </a:t>
            </a:r>
            <a:r>
              <a:rPr lang="zh-CN" altLang="en-US" sz="1400" dirty="0">
                <a:cs typeface="+mn-ea"/>
                <a:sym typeface="+mn-lt"/>
              </a:rPr>
              <a:t>语法树（</a:t>
            </a:r>
            <a:r>
              <a:rPr lang="en-US" altLang="zh-CN" sz="1400" dirty="0">
                <a:cs typeface="+mn-ea"/>
                <a:sym typeface="+mn-lt"/>
              </a:rPr>
              <a:t>token tree</a:t>
            </a:r>
            <a:r>
              <a:rPr lang="zh-CN" altLang="en-US" sz="1400">
                <a:cs typeface="+mn-ea"/>
                <a:sym typeface="+mn-lt"/>
              </a:rPr>
              <a:t>）。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853505" y="5107774"/>
            <a:ext cx="5678475" cy="97019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l">
              <a:lnSpc>
                <a:spcPts val="3440"/>
              </a:lnSpc>
            </a:pPr>
            <a:r>
              <a:rPr lang="zh-CN" altLang="en-US" sz="1400" dirty="0">
                <a:cs typeface="+mn-ea"/>
                <a:sym typeface="+mn-lt"/>
              </a:rPr>
              <a:t>这些元变量就是代表</a:t>
            </a:r>
            <a:r>
              <a:rPr lang="en-US" altLang="zh-CN" sz="1400" dirty="0">
                <a:cs typeface="+mn-ea"/>
                <a:sym typeface="+mn-lt"/>
              </a:rPr>
              <a:t>Rust </a:t>
            </a:r>
            <a:r>
              <a:rPr lang="zh-CN" altLang="en-US" sz="1400" dirty="0">
                <a:cs typeface="+mn-ea"/>
                <a:sym typeface="+mn-lt"/>
              </a:rPr>
              <a:t>代码被词法分析之后的 </a:t>
            </a:r>
            <a:r>
              <a:rPr lang="en-US" altLang="zh-CN" sz="1400" dirty="0">
                <a:cs typeface="+mn-ea"/>
                <a:sym typeface="+mn-lt"/>
              </a:rPr>
              <a:t>Token </a:t>
            </a:r>
            <a:r>
              <a:rPr lang="zh-CN" altLang="en-US" sz="1400" dirty="0">
                <a:cs typeface="+mn-ea"/>
                <a:sym typeface="+mn-lt"/>
              </a:rPr>
              <a:t>语法结构，并在宏的替换部分中使用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53181" y="66688"/>
            <a:ext cx="10740640" cy="558463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如何编写声明宏-声明宏工作机制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253181" y="545838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6327" y="504119"/>
            <a:ext cx="9739964" cy="589724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l">
              <a:lnSpc>
                <a:spcPts val="3440"/>
              </a:lnSpc>
            </a:pPr>
            <a:r>
              <a:rPr lang="zh-CN" altLang="en-US" sz="1600" dirty="0">
                <a:cs typeface="+mn-ea"/>
                <a:sym typeface="+mn-lt"/>
              </a:rPr>
              <a:t>在 词法分析结束之后，再根据这些 </a:t>
            </a:r>
            <a:r>
              <a:rPr lang="en-US" altLang="zh-CN" sz="1600" dirty="0">
                <a:cs typeface="+mn-ea"/>
                <a:sym typeface="+mn-lt"/>
              </a:rPr>
              <a:t>token </a:t>
            </a:r>
            <a:r>
              <a:rPr lang="zh-CN" altLang="en-US" sz="1600" dirty="0">
                <a:cs typeface="+mn-ea"/>
                <a:sym typeface="+mn-lt"/>
              </a:rPr>
              <a:t>经过语法分析，得到抽象语法树</a:t>
            </a:r>
          </a:p>
        </p:txBody>
      </p:sp>
      <p:pic>
        <p:nvPicPr>
          <p:cNvPr id="13" name="Picture 12" descr="upload_3600337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4040" y="1331674"/>
            <a:ext cx="4755842" cy="2920087"/>
          </a:xfrm>
          <a:prstGeom prst="rect">
            <a:avLst/>
          </a:prstGeom>
        </p:spPr>
      </p:pic>
      <p:sp>
        <p:nvSpPr>
          <p:cNvPr id="14" name="TextBox 13"/>
          <p:cNvSpPr txBox="1"/>
          <p:nvPr userDrawn="1"/>
        </p:nvSpPr>
        <p:spPr>
          <a:xfrm>
            <a:off x="428642" y="1381147"/>
            <a:ext cx="5849685" cy="97019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比如这段表达式：</a:t>
            </a:r>
            <a:r>
              <a:rPr lang="en-US" altLang="zh-CN" sz="1600" dirty="0">
                <a:cs typeface="+mn-ea"/>
                <a:sym typeface="+mn-lt"/>
              </a:rPr>
              <a:t>a </a:t>
            </a:r>
            <a:r>
              <a:rPr lang="zh-CN" altLang="en-US" sz="1600" dirty="0">
                <a:cs typeface="+mn-ea"/>
                <a:sym typeface="+mn-lt"/>
              </a:rPr>
              <a:t>+ </a:t>
            </a:r>
            <a:r>
              <a:rPr lang="en-US" altLang="zh-CN" sz="1600" dirty="0">
                <a:cs typeface="+mn-ea"/>
                <a:sym typeface="+mn-lt"/>
              </a:rPr>
              <a:t>b </a:t>
            </a:r>
            <a:r>
              <a:rPr lang="zh-CN" altLang="en-US" sz="1600" dirty="0">
                <a:cs typeface="+mn-ea"/>
                <a:sym typeface="+mn-lt"/>
              </a:rPr>
              <a:t>+ </a:t>
            </a:r>
            <a:r>
              <a:rPr lang="en-US" altLang="zh-CN" sz="1600" dirty="0">
                <a:cs typeface="+mn-ea"/>
                <a:sym typeface="+mn-lt"/>
              </a:rPr>
              <a:t>(c </a:t>
            </a:r>
            <a:r>
              <a:rPr lang="zh-CN" altLang="en-US" sz="1600" dirty="0">
                <a:cs typeface="+mn-ea"/>
                <a:sym typeface="+mn-lt"/>
              </a:rPr>
              <a:t>+ </a:t>
            </a:r>
            <a:r>
              <a:rPr lang="en-US" altLang="zh-CN" sz="1600" dirty="0">
                <a:cs typeface="+mn-ea"/>
                <a:sym typeface="+mn-lt"/>
              </a:rPr>
              <a:t>d[0]) </a:t>
            </a:r>
            <a:r>
              <a:rPr lang="zh-CN" altLang="en-US" sz="1600" dirty="0">
                <a:cs typeface="+mn-ea"/>
                <a:sym typeface="+mn-lt"/>
              </a:rPr>
              <a:t>+ </a:t>
            </a:r>
            <a:r>
              <a:rPr lang="en-US" altLang="zh-CN" sz="1600" dirty="0">
                <a:cs typeface="+mn-ea"/>
                <a:sym typeface="+mn-lt"/>
              </a:rPr>
              <a:t>e</a:t>
            </a: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经过词法分析得到下面 </a:t>
            </a:r>
            <a:r>
              <a:rPr lang="en-US" altLang="zh-CN" sz="1600" dirty="0">
                <a:cs typeface="+mn-ea"/>
                <a:sym typeface="+mn-lt"/>
              </a:rPr>
              <a:t>token </a:t>
            </a:r>
            <a:r>
              <a:rPr lang="zh-CN" altLang="en-US" sz="1600" dirty="0">
                <a:cs typeface="+mn-ea"/>
                <a:sym typeface="+mn-lt"/>
              </a:rPr>
              <a:t>结构，称为 </a:t>
            </a:r>
            <a:r>
              <a:rPr lang="en-US" altLang="zh-CN" sz="1600" dirty="0">
                <a:cs typeface="+mn-ea"/>
                <a:sym typeface="+mn-lt"/>
              </a:rPr>
              <a:t>TokenTree</a:t>
            </a:r>
            <a:endParaRPr lang="zh-CN" altLang="en-US" sz="1600" dirty="0">
              <a:cs typeface="+mn-ea"/>
              <a:sym typeface="+mn-lt"/>
            </a:endParaRPr>
          </a:p>
        </p:txBody>
      </p:sp>
      <p:pic>
        <p:nvPicPr>
          <p:cNvPr id="15" name="Picture 14" descr="upload_24618948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218" y="2311396"/>
            <a:ext cx="4518050" cy="1521869"/>
          </a:xfrm>
          <a:prstGeom prst="rect">
            <a:avLst/>
          </a:prstGeom>
        </p:spPr>
      </p:pic>
      <p:sp>
        <p:nvSpPr>
          <p:cNvPr id="16" name="Right Arrow 15"/>
          <p:cNvSpPr/>
          <p:nvPr userDrawn="1"/>
        </p:nvSpPr>
        <p:spPr>
          <a:xfrm>
            <a:off x="5237371" y="2815458"/>
            <a:ext cx="1274566" cy="351932"/>
          </a:xfrm>
          <a:prstGeom prst="rightArrow">
            <a:avLst/>
          </a:prstGeom>
          <a:solidFill>
            <a:schemeClr val="accent3"/>
          </a:soli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774825" y="4251761"/>
            <a:ext cx="5745057" cy="532654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l">
              <a:lnSpc>
                <a:spcPts val="3440"/>
              </a:lnSpc>
            </a:pPr>
            <a:r>
              <a:rPr lang="en-US" altLang="zh-CN" sz="1600" dirty="0">
                <a:cs typeface="+mn-ea"/>
                <a:sym typeface="+mn-lt"/>
              </a:rPr>
              <a:t>TokenTree </a:t>
            </a:r>
            <a:r>
              <a:rPr lang="zh-CN" altLang="en-US" sz="1600" dirty="0">
                <a:cs typeface="+mn-ea"/>
                <a:sym typeface="+mn-lt"/>
              </a:rPr>
              <a:t>经过语法解析生成抽象语法树，最终生成机器码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353" y="5288496"/>
            <a:ext cx="10843319" cy="532654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l">
              <a:lnSpc>
                <a:spcPts val="3440"/>
              </a:lnSpc>
            </a:pPr>
            <a:r>
              <a:rPr lang="en-US" altLang="zh-CN" sz="1600" dirty="0">
                <a:cs typeface="+mn-ea"/>
                <a:sym typeface="+mn-lt"/>
              </a:rPr>
              <a:t>Rust </a:t>
            </a:r>
            <a:r>
              <a:rPr lang="zh-CN" altLang="en-US" sz="1600" dirty="0">
                <a:cs typeface="+mn-ea"/>
                <a:sym typeface="+mn-lt"/>
              </a:rPr>
              <a:t>的宏生成代码的机制：通过操作 </a:t>
            </a:r>
            <a:r>
              <a:rPr lang="en-US" altLang="zh-CN" sz="1600" dirty="0">
                <a:cs typeface="+mn-ea"/>
                <a:sym typeface="+mn-lt"/>
              </a:rPr>
              <a:t>TokenTree </a:t>
            </a:r>
            <a:r>
              <a:rPr lang="zh-CN" altLang="en-US" sz="1600" dirty="0">
                <a:cs typeface="+mn-ea"/>
                <a:sym typeface="+mn-lt"/>
              </a:rPr>
              <a:t>的生成，进一步达到指定生成代码的目标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53181" y="66688"/>
            <a:ext cx="10740640" cy="558463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如何编写声明宏-声明宏工作机制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253181" y="545838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929127" y="1607475"/>
            <a:ext cx="4521158" cy="575888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l">
              <a:lnSpc>
                <a:spcPts val="3440"/>
              </a:lnSpc>
            </a:pPr>
            <a:r>
              <a:rPr lang="zh-CN" altLang="en-US" sz="1600" dirty="0">
                <a:cs typeface="+mn-ea"/>
                <a:sym typeface="+mn-lt"/>
              </a:rPr>
              <a:t>左边元变量 </a:t>
            </a:r>
            <a:r>
              <a:rPr lang="en-US" altLang="zh-CN" sz="1600" dirty="0">
                <a:cs typeface="+mn-ea"/>
                <a:sym typeface="+mn-lt"/>
              </a:rPr>
              <a:t>expr </a:t>
            </a:r>
            <a:r>
              <a:rPr lang="zh-CN" altLang="en-US" sz="1600" dirty="0">
                <a:cs typeface="+mn-ea"/>
                <a:sym typeface="+mn-lt"/>
              </a:rPr>
              <a:t>，就是表示宏要匹配表达式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253181" y="1087131"/>
            <a:ext cx="4812912" cy="1656780"/>
          </a:xfrm>
          <a:prstGeom prst="rect">
            <a:avLst/>
          </a:prstGeom>
          <a:solidFill>
            <a:schemeClr val="tx1"/>
          </a:solidFill>
        </p:spPr>
        <p:txBody>
          <a:bodyPr vert="horz" wrap="square" rtlCol="0" anchor="t">
            <a:noAutofit/>
          </a:bodyPr>
          <a:lstStyle/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macro_rules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 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generate_code_based_on_type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    // `=&gt;`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左边为匹配规则，右边为生成代码模版</a:t>
            </a:r>
            <a:endParaRPr lang="zh-CN" altLang="en-US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($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sum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expr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 =&gt; {</a:t>
            </a:r>
          </a:p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        // $sum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为元变量，用于替换匹配的表达式</a:t>
            </a:r>
            <a:endParaRPr lang="zh-CN" altLang="en-US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println!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"i32 type expr: {:?}"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$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sum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};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3181" y="4554650"/>
            <a:ext cx="4812912" cy="523220"/>
          </a:xfrm>
          <a:prstGeom prst="rect">
            <a:avLst/>
          </a:prstGeom>
          <a:solidFill>
            <a:schemeClr val="tx1"/>
          </a:solidFill>
        </p:spPr>
        <p:txBody>
          <a:bodyPr vert="horz" wrap="square" rtlCol="0" anchor="t">
            <a:spAutoFit/>
          </a:bodyPr>
          <a:lstStyle/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//  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根据 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i32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生成相应代码</a:t>
            </a:r>
            <a:endParaRPr lang="zh-CN" altLang="en-US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generate_code_based_on_type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+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 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29127" y="4331165"/>
            <a:ext cx="4558481" cy="97019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l">
              <a:lnSpc>
                <a:spcPts val="3440"/>
              </a:lnSpc>
            </a:pPr>
            <a:r>
              <a:rPr lang="zh-CN" altLang="en-US" sz="1600" dirty="0">
                <a:cs typeface="+mn-ea"/>
                <a:sym typeface="+mn-lt"/>
              </a:rPr>
              <a:t>宏调用参数 </a:t>
            </a:r>
            <a:r>
              <a:rPr lang="en-US" altLang="zh-CN" sz="1600" dirty="0">
                <a:cs typeface="+mn-ea"/>
                <a:sym typeface="+mn-lt"/>
              </a:rPr>
              <a:t>1</a:t>
            </a:r>
            <a:r>
              <a:rPr lang="zh-CN" altLang="en-US" sz="1600" dirty="0">
                <a:cs typeface="+mn-ea"/>
                <a:sym typeface="+mn-lt"/>
              </a:rPr>
              <a:t>+</a:t>
            </a:r>
            <a:r>
              <a:rPr lang="en-US" altLang="zh-CN" sz="1600" dirty="0">
                <a:cs typeface="+mn-ea"/>
                <a:sym typeface="+mn-lt"/>
              </a:rPr>
              <a:t>2 </a:t>
            </a:r>
            <a:r>
              <a:rPr lang="zh-CN" altLang="en-US" sz="1600" dirty="0">
                <a:cs typeface="+mn-ea"/>
                <a:sym typeface="+mn-lt"/>
              </a:rPr>
              <a:t>被词法分析识别为 表达式，就匹配 </a:t>
            </a:r>
            <a:r>
              <a:rPr lang="en-US" altLang="zh-CN" sz="1600" dirty="0">
                <a:cs typeface="+mn-ea"/>
                <a:sym typeface="+mn-lt"/>
              </a:rPr>
              <a:t>expr </a:t>
            </a:r>
            <a:r>
              <a:rPr lang="zh-CN" altLang="en-US" sz="1600" dirty="0">
                <a:cs typeface="+mn-ea"/>
                <a:sym typeface="+mn-lt"/>
              </a:rPr>
              <a:t>元变量</a:t>
            </a:r>
          </a:p>
        </p:txBody>
      </p:sp>
      <p:sp>
        <p:nvSpPr>
          <p:cNvPr id="6" name="右箭头 5"/>
          <p:cNvSpPr/>
          <p:nvPr/>
        </p:nvSpPr>
        <p:spPr>
          <a:xfrm>
            <a:off x="5213025" y="1718321"/>
            <a:ext cx="569167" cy="394400"/>
          </a:xfrm>
          <a:prstGeom prst="rightArrow">
            <a:avLst/>
          </a:prstGeom>
          <a:solidFill>
            <a:schemeClr val="accent3"/>
          </a:solidFill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5213026" y="4619060"/>
            <a:ext cx="569167" cy="394400"/>
          </a:xfrm>
          <a:prstGeom prst="rightArrow">
            <a:avLst/>
          </a:prstGeom>
          <a:solidFill>
            <a:schemeClr val="accent3"/>
          </a:solidFill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53181" y="66688"/>
            <a:ext cx="10740640" cy="558463"/>
          </a:xfrm>
        </p:spPr>
        <p:txBody>
          <a:bodyPr/>
          <a:lstStyle/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声明宏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最终定义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253181" y="545838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209257" y="818005"/>
            <a:ext cx="6819877" cy="5126797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cs typeface="+mn-ea"/>
                <a:sym typeface="+mn-lt"/>
              </a:rPr>
              <a:t>了解基本声明宏（</a:t>
            </a:r>
            <a:r>
              <a:rPr lang="en-US" altLang="zh-CN" sz="1600">
                <a:cs typeface="+mn-ea"/>
                <a:sym typeface="+mn-lt"/>
              </a:rPr>
              <a:t>declarative macros</a:t>
            </a:r>
            <a:r>
              <a:rPr lang="zh-CN" altLang="en-US" sz="1600">
                <a:cs typeface="+mn-ea"/>
                <a:sym typeface="+mn-lt"/>
              </a:rPr>
              <a:t>）基本用法之后，这了给出准确定义。</a:t>
            </a:r>
          </a:p>
          <a:p>
            <a:pPr>
              <a:lnSpc>
                <a:spcPct val="150000"/>
              </a:lnSpc>
            </a:pPr>
            <a:r>
              <a:rPr lang="zh-CN" altLang="en-US" sz="1600">
                <a:cs typeface="+mn-ea"/>
                <a:sym typeface="+mn-lt"/>
              </a:rPr>
              <a:t>声明宏，有时也被称为“</a:t>
            </a:r>
            <a:r>
              <a:rPr lang="en-US" altLang="zh-CN" sz="1600">
                <a:cs typeface="+mn-ea"/>
                <a:sym typeface="+mn-lt"/>
              </a:rPr>
              <a:t>macros by example”</a:t>
            </a:r>
            <a:r>
              <a:rPr lang="zh-CN" altLang="en-US" sz="1600">
                <a:cs typeface="+mn-ea"/>
                <a:sym typeface="+mn-lt"/>
              </a:rPr>
              <a:t>或“</a:t>
            </a:r>
            <a:r>
              <a:rPr lang="en-US" altLang="zh-CN" sz="1600">
                <a:cs typeface="+mn-ea"/>
                <a:sym typeface="+mn-lt"/>
              </a:rPr>
              <a:t>macro_rules!”</a:t>
            </a:r>
            <a:r>
              <a:rPr lang="zh-CN" altLang="en-US" sz="1600">
                <a:cs typeface="+mn-ea"/>
                <a:sym typeface="+mn-lt"/>
              </a:rPr>
              <a:t>。</a:t>
            </a:r>
            <a:endParaRPr lang="en-US" altLang="zh-CN" sz="160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en-US" altLang="zh-CN" sz="160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cs typeface="+mn-ea"/>
                <a:sym typeface="+mn-lt"/>
              </a:rPr>
              <a:t>每个声明宏都有一个名称和一条或多条规则。每条规则都有两部分：</a:t>
            </a:r>
            <a:endParaRPr lang="en-US" altLang="zh-CN" sz="160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cs typeface="+mn-ea"/>
                <a:sym typeface="+mn-lt"/>
              </a:rPr>
              <a:t>匹配器（</a:t>
            </a:r>
            <a:r>
              <a:rPr lang="en-US" altLang="zh-CN" sz="1600">
                <a:cs typeface="+mn-ea"/>
                <a:sym typeface="+mn-lt"/>
              </a:rPr>
              <a:t>matcher</a:t>
            </a:r>
            <a:r>
              <a:rPr lang="zh-CN" altLang="en-US" sz="1600">
                <a:cs typeface="+mn-ea"/>
                <a:sym typeface="+mn-lt"/>
              </a:rPr>
              <a:t>），描述它匹配的句法；</a:t>
            </a:r>
            <a:endParaRPr lang="en-US" altLang="zh-CN" sz="160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cs typeface="+mn-ea"/>
                <a:sym typeface="+mn-lt"/>
              </a:rPr>
              <a:t>转码器（</a:t>
            </a:r>
            <a:r>
              <a:rPr lang="en-US" altLang="zh-CN" sz="1600">
                <a:cs typeface="+mn-ea"/>
                <a:sym typeface="+mn-lt"/>
              </a:rPr>
              <a:t>transcriber</a:t>
            </a:r>
            <a:r>
              <a:rPr lang="zh-CN" altLang="en-US" sz="1600">
                <a:cs typeface="+mn-ea"/>
                <a:sym typeface="+mn-lt"/>
              </a:rPr>
              <a:t>），描述成功匹配后将执行的替代调用句法。</a:t>
            </a:r>
            <a:endParaRPr lang="en-US" altLang="zh-CN" sz="160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cs typeface="+mn-ea"/>
                <a:sym typeface="+mn-lt"/>
              </a:rPr>
              <a:t>匹配器和转码器都必须由定界符（</a:t>
            </a:r>
            <a:r>
              <a:rPr lang="en-US" altLang="zh-CN" sz="1600">
                <a:cs typeface="+mn-ea"/>
                <a:sym typeface="+mn-lt"/>
              </a:rPr>
              <a:t>delimiter</a:t>
            </a:r>
            <a:r>
              <a:rPr lang="zh-CN" altLang="en-US" sz="1600">
                <a:cs typeface="+mn-ea"/>
                <a:sym typeface="+mn-lt"/>
              </a:rPr>
              <a:t>，</a:t>
            </a:r>
            <a:r>
              <a:rPr lang="en-US" altLang="zh-CN" sz="1600">
                <a:cs typeface="+mn-ea"/>
                <a:sym typeface="+mn-lt"/>
              </a:rPr>
              <a:t>`()/[]/{}`</a:t>
            </a:r>
            <a:r>
              <a:rPr lang="zh-CN" altLang="en-US" sz="1600">
                <a:cs typeface="+mn-ea"/>
                <a:sym typeface="+mn-lt"/>
              </a:rPr>
              <a:t>）包围。</a:t>
            </a:r>
          </a:p>
          <a:p>
            <a:pPr>
              <a:lnSpc>
                <a:spcPct val="150000"/>
              </a:lnSpc>
            </a:pPr>
            <a:endParaRPr lang="zh-CN" altLang="en-US" sz="1600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cs typeface="+mn-ea"/>
                <a:sym typeface="+mn-lt"/>
              </a:rPr>
              <a:t>Rust </a:t>
            </a:r>
            <a:r>
              <a:rPr lang="zh-CN" altLang="en-US" sz="1600" dirty="0">
                <a:cs typeface="+mn-ea"/>
                <a:sym typeface="+mn-lt"/>
              </a:rPr>
              <a:t>声明宏和 </a:t>
            </a:r>
            <a:r>
              <a:rPr lang="en-US" altLang="zh-CN" sz="1600" dirty="0">
                <a:cs typeface="+mn-ea"/>
                <a:sym typeface="+mn-lt"/>
              </a:rPr>
              <a:t>C/Cpp</a:t>
            </a:r>
            <a:r>
              <a:rPr lang="zh-CN" altLang="en-US" sz="1600" dirty="0">
                <a:cs typeface="+mn-ea"/>
                <a:sym typeface="+mn-lt"/>
              </a:rPr>
              <a:t> 的宏的异同：</a:t>
            </a:r>
          </a:p>
          <a:p>
            <a:pPr marL="285750" indent="-285750">
              <a:lnSpc>
                <a:spcPct val="150000"/>
              </a:lnSpc>
              <a:buChar char="•"/>
            </a:pPr>
            <a:r>
              <a:rPr lang="zh-CN" altLang="en-US" sz="1600" dirty="0">
                <a:cs typeface="+mn-ea"/>
                <a:sym typeface="+mn-lt"/>
              </a:rPr>
              <a:t>相同点：语法上类似，都可以按模版进行代码替换</a:t>
            </a:r>
          </a:p>
          <a:p>
            <a:pPr marL="285750" indent="-285750">
              <a:lnSpc>
                <a:spcPct val="150000"/>
              </a:lnSpc>
              <a:buChar char="•"/>
            </a:pPr>
            <a:r>
              <a:rPr lang="zh-CN" altLang="en-US" sz="1600" dirty="0">
                <a:cs typeface="+mn-ea"/>
                <a:sym typeface="+mn-lt"/>
              </a:rPr>
              <a:t>不同点：</a:t>
            </a:r>
            <a:r>
              <a:rPr lang="en-US" altLang="zh-CN" sz="1600" dirty="0">
                <a:cs typeface="+mn-ea"/>
                <a:sym typeface="+mn-lt"/>
              </a:rPr>
              <a:t>C/Cpp </a:t>
            </a:r>
            <a:r>
              <a:rPr lang="zh-CN" altLang="en-US" sz="1600" dirty="0">
                <a:cs typeface="+mn-ea"/>
                <a:sym typeface="+mn-lt"/>
              </a:rPr>
              <a:t>只能做预处理文本替换，而 </a:t>
            </a:r>
            <a:r>
              <a:rPr lang="en-US" altLang="zh-CN" sz="1600" dirty="0">
                <a:cs typeface="+mn-ea"/>
                <a:sym typeface="+mn-lt"/>
              </a:rPr>
              <a:t>Rust </a:t>
            </a:r>
            <a:r>
              <a:rPr lang="zh-CN" altLang="en-US" sz="1600" dirty="0">
                <a:cs typeface="+mn-ea"/>
                <a:sym typeface="+mn-lt"/>
              </a:rPr>
              <a:t>声明宏是编译期元编程，提供文本替换之外更高级的功能，而且 </a:t>
            </a:r>
            <a:r>
              <a:rPr lang="en-US" altLang="zh-CN" sz="1600" dirty="0">
                <a:cs typeface="+mn-ea"/>
                <a:sym typeface="+mn-lt"/>
              </a:rPr>
              <a:t>Rust </a:t>
            </a:r>
            <a:r>
              <a:rPr lang="zh-CN" altLang="en-US" sz="1600" dirty="0">
                <a:cs typeface="+mn-ea"/>
                <a:sym typeface="+mn-lt"/>
              </a:rPr>
              <a:t>更加类型安全</a:t>
            </a:r>
          </a:p>
        </p:txBody>
      </p:sp>
      <p:sp>
        <p:nvSpPr>
          <p:cNvPr id="3" name="矩形 2"/>
          <p:cNvSpPr/>
          <p:nvPr/>
        </p:nvSpPr>
        <p:spPr>
          <a:xfrm>
            <a:off x="7314485" y="751423"/>
            <a:ext cx="4042466" cy="284399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noAutofit/>
          </a:bodyPr>
          <a:lstStyle/>
          <a:p>
            <a:r>
              <a:rPr lang="en-US" altLang="zh-CN" sz="120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2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200" b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macro_rules!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add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匹配器</a:t>
            </a:r>
            <a:endParaRPr lang="en-US" altLang="zh-CN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($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expr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,$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b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expr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 =&gt; { </a:t>
            </a:r>
          </a:p>
          <a:p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转码器</a:t>
            </a:r>
            <a:endParaRPr lang="en-US" altLang="zh-CN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   {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       $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+$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b</a:t>
            </a:r>
            <a:endParaRPr lang="en-US" altLang="zh-CN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   }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b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    // call to macro, $a=1 and $b=2 </a:t>
            </a:r>
            <a:endParaRPr lang="en-US" altLang="zh-CN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add!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 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}</a:t>
            </a:r>
            <a:endParaRPr lang="en-US" altLang="zh-CN" sz="12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4" name="矩形 2"/>
          <p:cNvSpPr/>
          <p:nvPr/>
        </p:nvSpPr>
        <p:spPr>
          <a:xfrm>
            <a:off x="7323996" y="3633463"/>
            <a:ext cx="4013930" cy="283448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noAutofit/>
          </a:bodyPr>
          <a:lstStyle/>
          <a:p>
            <a:r>
              <a:rPr lang="en-US" altLang="zh-CN" sz="120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2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200" b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macro_rules!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add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匹配两个表达式，逗号分隔</a:t>
            </a:r>
            <a:endParaRPr lang="en-US" altLang="zh-CN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($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expr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,$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b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expr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 =&gt; { </a:t>
            </a:r>
          </a:p>
          <a:p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宏展开后代码模版</a:t>
            </a:r>
            <a:endParaRPr lang="en-US" altLang="zh-CN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   {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       $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+$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b</a:t>
            </a:r>
            <a:endParaRPr lang="en-US" altLang="zh-CN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   }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b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宏调用，</a:t>
            </a:r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1</a:t>
            </a:r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对应</a:t>
            </a:r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$a</a:t>
            </a:r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，</a:t>
            </a:r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2</a:t>
            </a:r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对应</a:t>
            </a:r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$b </a:t>
            </a:r>
            <a:endParaRPr lang="en-US" altLang="zh-CN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add!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 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}</a:t>
            </a:r>
            <a:endParaRPr lang="en-US" altLang="zh-CN" sz="12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38153" y="66688"/>
            <a:ext cx="10740640" cy="993400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如何编写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声明宏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声明宏案例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253181" y="545838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253181" y="612529"/>
            <a:ext cx="6405208" cy="618630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20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2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200" b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macro_rules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!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vec_strs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 (</a:t>
            </a:r>
          </a:p>
          <a:p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        // </a:t>
            </a:r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宏匹配规则也可以像正则表达式一样指定如何重复匹配</a:t>
            </a:r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:</a:t>
            </a:r>
            <a:endParaRPr lang="zh-CN" altLang="en-US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            </a:t>
            </a:r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这里 </a:t>
            </a:r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`$(...)` </a:t>
            </a:r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包含要重复匹配的单元</a:t>
            </a:r>
            <a:endParaRPr lang="zh-CN" altLang="en-US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2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$(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     $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element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expr</a:t>
            </a:r>
            <a:endParaRPr lang="en-US" altLang="zh-CN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   )</a:t>
            </a:r>
          </a:p>
          <a:p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        // ...</a:t>
            </a:r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匹配独立的逗号</a:t>
            </a:r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...</a:t>
            </a:r>
            <a:endParaRPr lang="zh-CN" altLang="en-US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2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        </a:t>
            </a:r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// ... `*` </a:t>
            </a:r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表示按 </a:t>
            </a:r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0 </a:t>
            </a:r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次或多次进行匹配，和正则表达式一致</a:t>
            </a:r>
            <a:endParaRPr lang="zh-CN" altLang="en-US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200">
                <a:solidFill>
                  <a:srgbClr val="ABB2BF"/>
                </a:solidFill>
                <a:cs typeface="+mn-ea"/>
                <a:sym typeface="+mn-lt"/>
              </a:rPr>
              <a:t>        *</a:t>
            </a:r>
          </a:p>
          <a:p>
            <a:r>
              <a:rPr lang="zh-CN" altLang="en-US" sz="1200">
                <a:solidFill>
                  <a:srgbClr val="ABB2BF"/>
                </a:solidFill>
                <a:cs typeface="+mn-ea"/>
                <a:sym typeface="+mn-lt"/>
              </a:rPr>
              <a:t>      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 =&gt; {</a:t>
            </a:r>
          </a:p>
          <a:p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        </a:t>
            </a:r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生成的代码也同样需要包含在块中</a:t>
            </a:r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`{...}`</a:t>
            </a:r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，以便对应重复匹配生成相应代码</a:t>
            </a:r>
            <a:endParaRPr lang="zh-CN" altLang="en-US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2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{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 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v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Vec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          // </a:t>
            </a:r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重复生成的代码单元</a:t>
            </a:r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:</a:t>
            </a:r>
            <a:endParaRPr lang="zh-CN" altLang="en-US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200">
                <a:solidFill>
                  <a:srgbClr val="ABB2BF"/>
                </a:solidFill>
                <a:cs typeface="+mn-ea"/>
                <a:sym typeface="+mn-lt"/>
              </a:rPr>
              <a:t>          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$(</a:t>
            </a:r>
          </a:p>
          <a:p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            </a:t>
            </a:r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这行代码会被重复生成</a:t>
            </a:r>
            <a:endParaRPr lang="zh-CN" altLang="en-US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200">
                <a:solidFill>
                  <a:srgbClr val="ABB2BF"/>
                </a:solidFill>
                <a:cs typeface="+mn-ea"/>
                <a:sym typeface="+mn-lt"/>
              </a:rPr>
              <a:t>           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v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push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format!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98C379"/>
                </a:solidFill>
                <a:cs typeface="+mn-ea"/>
                <a:sym typeface="+mn-lt"/>
              </a:rPr>
              <a:t>"{}"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$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element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));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     )</a:t>
            </a:r>
          </a:p>
          <a:p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                // </a:t>
            </a:r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这里的 * 对应匹配规则里的 * 要生成 </a:t>
            </a:r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0 </a:t>
            </a:r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次或多次</a:t>
            </a:r>
            <a:endParaRPr lang="zh-CN" altLang="en-US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200">
                <a:solidFill>
                  <a:srgbClr val="ABB2BF"/>
                </a:solidFill>
                <a:cs typeface="+mn-ea"/>
                <a:sym typeface="+mn-lt"/>
              </a:rPr>
              <a:t>                *</a:t>
            </a:r>
          </a:p>
          <a:p>
            <a:r>
              <a:rPr lang="zh-CN" altLang="en-US" sz="1200">
                <a:solidFill>
                  <a:srgbClr val="ABB2BF"/>
                </a:solidFill>
                <a:cs typeface="+mn-ea"/>
                <a:sym typeface="+mn-lt"/>
              </a:rPr>
              <a:t>         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v</a:t>
            </a:r>
            <a:endParaRPr lang="en-US" altLang="zh-CN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   }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 };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endParaRPr lang="en-US" altLang="zh-CN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    // vec_strs! </a:t>
            </a:r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宏调用后面可以使用 </a:t>
            </a:r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`()/[]/{}`</a:t>
            </a:r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，这里突出数组语义，使用中括号</a:t>
            </a:r>
            <a:endParaRPr lang="zh-CN" altLang="en-US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s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vec_strs!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[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>
                <a:solidFill>
                  <a:srgbClr val="98C379"/>
                </a:solidFill>
                <a:cs typeface="+mn-ea"/>
                <a:sym typeface="+mn-lt"/>
              </a:rPr>
              <a:t>"a"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true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3.14159f32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];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assert_eq!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s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&amp;[</a:t>
            </a:r>
            <a:r>
              <a:rPr lang="en-US" altLang="zh-CN" sz="1200">
                <a:solidFill>
                  <a:srgbClr val="98C379"/>
                </a:solidFill>
                <a:cs typeface="+mn-ea"/>
                <a:sym typeface="+mn-lt"/>
              </a:rPr>
              <a:t>"1"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>
                <a:solidFill>
                  <a:srgbClr val="98C379"/>
                </a:solidFill>
                <a:cs typeface="+mn-ea"/>
                <a:sym typeface="+mn-lt"/>
              </a:rPr>
              <a:t>"a"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>
                <a:solidFill>
                  <a:srgbClr val="98C379"/>
                </a:solidFill>
                <a:cs typeface="+mn-ea"/>
                <a:sym typeface="+mn-lt"/>
              </a:rPr>
              <a:t>"true"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>
                <a:solidFill>
                  <a:srgbClr val="98C379"/>
                </a:solidFill>
                <a:cs typeface="+mn-ea"/>
                <a:sym typeface="+mn-lt"/>
              </a:rPr>
              <a:t>"3.14159"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]);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</p:txBody>
      </p:sp>
      <p:sp>
        <p:nvSpPr>
          <p:cNvPr id="7" name="矩形 4"/>
          <p:cNvSpPr/>
          <p:nvPr/>
        </p:nvSpPr>
        <p:spPr>
          <a:xfrm>
            <a:off x="6753295" y="1198472"/>
            <a:ext cx="5041192" cy="453052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noAutofit/>
          </a:bodyPr>
          <a:lstStyle/>
          <a:p>
            <a:r>
              <a:rPr lang="en-US" altLang="zh-CN" sz="120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2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200" b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s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= {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v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Vec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v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push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({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res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= ::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alloc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fmt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>
                <a:solidFill>
                  <a:srgbClr val="56B6C2"/>
                </a:solidFill>
                <a:cs typeface="+mn-ea"/>
                <a:sym typeface="+mn-lt"/>
              </a:rPr>
              <a:t>format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format_args!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{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0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}</a:t>
            </a:r>
            <a:r>
              <a:rPr lang="en-US" altLang="zh-CN" sz="120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));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res</a:t>
            </a:r>
            <a:endParaRPr lang="en-US" altLang="zh-CN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});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v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push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({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res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= ::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alloc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fmt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>
                <a:solidFill>
                  <a:srgbClr val="56B6C2"/>
                </a:solidFill>
                <a:cs typeface="+mn-ea"/>
                <a:sym typeface="+mn-lt"/>
              </a:rPr>
              <a:t>format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format_args!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{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0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}</a:t>
            </a:r>
            <a:r>
              <a:rPr lang="en-US" altLang="zh-CN" sz="120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>
                <a:solidFill>
                  <a:srgbClr val="98C379"/>
                </a:solidFill>
                <a:cs typeface="+mn-ea"/>
                <a:sym typeface="+mn-lt"/>
              </a:rPr>
              <a:t>"a"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));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res</a:t>
            </a:r>
            <a:endParaRPr lang="en-US" altLang="zh-CN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});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v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push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({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res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= ::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alloc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fmt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>
                <a:solidFill>
                  <a:srgbClr val="56B6C2"/>
                </a:solidFill>
                <a:cs typeface="+mn-ea"/>
                <a:sym typeface="+mn-lt"/>
              </a:rPr>
              <a:t>format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format_args!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{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0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}</a:t>
            </a:r>
            <a:r>
              <a:rPr lang="en-US" altLang="zh-CN" sz="120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true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));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res</a:t>
            </a:r>
            <a:endParaRPr lang="en-US" altLang="zh-CN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});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v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push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({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res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= ::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alloc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fmt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>
                <a:solidFill>
                  <a:srgbClr val="56B6C2"/>
                </a:solidFill>
                <a:cs typeface="+mn-ea"/>
                <a:sym typeface="+mn-lt"/>
              </a:rPr>
              <a:t>format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format_args!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{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0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}</a:t>
            </a:r>
            <a:r>
              <a:rPr lang="en-US" altLang="zh-CN" sz="120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3.14159f32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));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res</a:t>
            </a:r>
            <a:endParaRPr lang="en-US" altLang="zh-CN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});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v</a:t>
            </a:r>
            <a:endParaRPr lang="en-US" altLang="zh-CN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};</a:t>
            </a:r>
          </a:p>
          <a:p>
            <a:b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</a:br>
            <a:endParaRPr lang="en-US" altLang="zh-CN" sz="12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677202" y="551678"/>
            <a:ext cx="4365863" cy="532654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l">
              <a:lnSpc>
                <a:spcPts val="3440"/>
              </a:lnSpc>
            </a:pPr>
            <a:r>
              <a:rPr lang="en-US" altLang="zh-CN" sz="1600" dirty="0">
                <a:cs typeface="+mn-ea"/>
                <a:sym typeface="+mn-lt"/>
              </a:rPr>
              <a:t>vec_str! </a:t>
            </a:r>
            <a:r>
              <a:rPr lang="zh-CN" altLang="en-US" sz="1600" dirty="0">
                <a:cs typeface="+mn-ea"/>
                <a:sym typeface="+mn-lt"/>
              </a:rPr>
              <a:t>宏调用生成之后的代码如下：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56815" y="66582"/>
            <a:ext cx="10738691" cy="475584"/>
          </a:xfrm>
        </p:spPr>
        <p:txBody>
          <a:bodyPr>
            <a:normAutofit fontScale="97500"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如何编写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声明宏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声明宏案例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048278" y="3816109"/>
            <a:ext cx="467467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dirty="0">
                <a:cs typeface="+mn-ea"/>
                <a:sym typeface="+mn-lt"/>
              </a:rPr>
              <a:t>更多案例参考：https://veykril.github.io/tlborm/introduction.html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253181" y="545838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266328" y="865563"/>
            <a:ext cx="6461044" cy="591779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noAutofit/>
          </a:bodyPr>
          <a:lstStyle/>
          <a:p>
            <a:r>
              <a:rPr lang="en-US" altLang="zh-CN" sz="120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2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200" b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macro_rules!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init_array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   // </a:t>
            </a:r>
            <a:r>
              <a:rPr lang="zh-CN" altLang="en-US" sz="1200">
                <a:solidFill>
                  <a:srgbClr val="ABB2BF"/>
                </a:solidFill>
                <a:cs typeface="+mn-ea"/>
                <a:sym typeface="+mn-lt"/>
              </a:rPr>
              <a:t>匹配 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main</a:t>
            </a:r>
            <a:r>
              <a:rPr lang="zh-CN" altLang="en-US" sz="1200">
                <a:solidFill>
                  <a:srgbClr val="ABB2BF"/>
                </a:solidFill>
                <a:cs typeface="+mn-ea"/>
                <a:sym typeface="+mn-lt"/>
              </a:rPr>
              <a:t>函数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init_array! </a:t>
            </a:r>
            <a:r>
              <a:rPr lang="zh-CN" altLang="en-US" sz="1200">
                <a:solidFill>
                  <a:srgbClr val="ABB2BF"/>
                </a:solidFill>
                <a:cs typeface="+mn-ea"/>
                <a:sym typeface="+mn-lt"/>
              </a:rPr>
              <a:t>宏参数 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   // $e </a:t>
            </a:r>
            <a:r>
              <a:rPr lang="zh-CN" altLang="en-US" sz="1200">
                <a:solidFill>
                  <a:srgbClr val="ABB2BF"/>
                </a:solidFill>
                <a:cs typeface="+mn-ea"/>
                <a:sym typeface="+mn-lt"/>
              </a:rPr>
              <a:t>匹配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String::from("hi!") </a:t>
            </a:r>
            <a:r>
              <a:rPr lang="zh-CN" altLang="en-US" sz="1200">
                <a:solidFill>
                  <a:srgbClr val="ABB2BF"/>
                </a:solidFill>
                <a:cs typeface="+mn-ea"/>
                <a:sym typeface="+mn-lt"/>
              </a:rPr>
              <a:t>，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$n </a:t>
            </a:r>
            <a:r>
              <a:rPr lang="zh-CN" altLang="en-US" sz="1200">
                <a:solidFill>
                  <a:srgbClr val="ABB2BF"/>
                </a:solidFill>
                <a:cs typeface="+mn-ea"/>
                <a:sym typeface="+mn-lt"/>
              </a:rPr>
              <a:t>匹配 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3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[$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expr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; $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tt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] =&gt; {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   {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   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$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           // </a:t>
            </a:r>
            <a:r>
              <a:rPr lang="zh-CN" altLang="en-US" sz="1200">
                <a:solidFill>
                  <a:srgbClr val="ABB2BF"/>
                </a:solidFill>
                <a:cs typeface="+mn-ea"/>
                <a:sym typeface="+mn-lt"/>
              </a:rPr>
              <a:t>这里调用了下面定义的声明宏 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accum!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           // </a:t>
            </a:r>
            <a:r>
              <a:rPr lang="zh-CN" altLang="en-US" sz="1200">
                <a:solidFill>
                  <a:srgbClr val="ABB2BF"/>
                </a:solidFill>
                <a:cs typeface="+mn-ea"/>
                <a:sym typeface="+mn-lt"/>
              </a:rPr>
              <a:t>将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main</a:t>
            </a:r>
            <a:r>
              <a:rPr lang="zh-CN" altLang="en-US" sz="1200">
                <a:solidFill>
                  <a:srgbClr val="ABB2BF"/>
                </a:solidFill>
                <a:cs typeface="+mn-ea"/>
                <a:sym typeface="+mn-lt"/>
              </a:rPr>
              <a:t>函数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init_array! </a:t>
            </a:r>
            <a:r>
              <a:rPr lang="zh-CN" altLang="en-US" sz="1200">
                <a:solidFill>
                  <a:srgbClr val="ABB2BF"/>
                </a:solidFill>
                <a:cs typeface="+mn-ea"/>
                <a:sym typeface="+mn-lt"/>
              </a:rPr>
              <a:t>宏参数传入进行递归调用</a:t>
            </a:r>
            <a:endParaRPr lang="en-US" altLang="zh-CN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       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accum!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([$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clone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()] -&gt; [])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   }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};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}</a:t>
            </a:r>
            <a:b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macro_rules!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accum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   // </a:t>
            </a:r>
            <a:r>
              <a:rPr lang="zh-CN" altLang="en-US" sz="1200">
                <a:solidFill>
                  <a:srgbClr val="ABB2BF"/>
                </a:solidFill>
                <a:cs typeface="+mn-ea"/>
                <a:sym typeface="+mn-lt"/>
              </a:rPr>
              <a:t>匹配：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[3,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clone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()] -&gt; [] , </a:t>
            </a:r>
            <a:r>
              <a:rPr lang="zh-CN" altLang="en-US" sz="1200">
                <a:solidFill>
                  <a:srgbClr val="ABB2BF"/>
                </a:solidFill>
                <a:cs typeface="+mn-ea"/>
                <a:sym typeface="+mn-lt"/>
              </a:rPr>
              <a:t>生成：</a:t>
            </a:r>
            <a:endParaRPr lang="en-US" altLang="zh-CN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   // 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accum!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([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clone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()] -&gt;[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clone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(),])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([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3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$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expr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]-&gt;[$($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body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tt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)*])=&gt;{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accum!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([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$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] -&gt;[$($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body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)* $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,]) };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   // </a:t>
            </a:r>
            <a:r>
              <a:rPr lang="zh-CN" altLang="en-US" sz="1200">
                <a:solidFill>
                  <a:srgbClr val="ABB2BF"/>
                </a:solidFill>
                <a:cs typeface="+mn-ea"/>
                <a:sym typeface="+mn-lt"/>
              </a:rPr>
              <a:t>匹配：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[2,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clone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()] -&gt; [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clone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(),] , </a:t>
            </a:r>
            <a:r>
              <a:rPr lang="zh-CN" altLang="en-US" sz="1200">
                <a:solidFill>
                  <a:srgbClr val="ABB2BF"/>
                </a:solidFill>
                <a:cs typeface="+mn-ea"/>
                <a:sym typeface="+mn-lt"/>
              </a:rPr>
              <a:t>生成：</a:t>
            </a:r>
            <a:endParaRPr lang="en-US" altLang="zh-CN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   // 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accum!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([1,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clone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()] -&gt;[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clone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(),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clone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(),])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([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$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expr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]-&gt;[$($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body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tt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)*])=&gt;{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accum!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([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$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] -&gt;[$($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body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)* $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,]) };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   // </a:t>
            </a:r>
            <a:r>
              <a:rPr lang="zh-CN" altLang="en-US" sz="1200">
                <a:solidFill>
                  <a:srgbClr val="ABB2BF"/>
                </a:solidFill>
                <a:cs typeface="+mn-ea"/>
                <a:sym typeface="+mn-lt"/>
              </a:rPr>
              <a:t>匹配：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[1,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clone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()] -&gt; [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clone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(),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clone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(),] , </a:t>
            </a:r>
            <a:r>
              <a:rPr lang="zh-CN" altLang="en-US" sz="1200">
                <a:solidFill>
                  <a:srgbClr val="ABB2BF"/>
                </a:solidFill>
                <a:cs typeface="+mn-ea"/>
                <a:sym typeface="+mn-lt"/>
              </a:rPr>
              <a:t>生成：</a:t>
            </a:r>
            <a:endParaRPr lang="en-US" altLang="zh-CN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   // 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accum!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([0,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clone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()] -&gt;[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clone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(),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clone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(),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clone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(),])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([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$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expr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]-&gt;[$($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body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tt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)*])=&gt;{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accum!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([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0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$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]  -&gt;[$($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body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)* $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,]) };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   // </a:t>
            </a:r>
            <a:r>
              <a:rPr lang="zh-CN" altLang="en-US" sz="1200">
                <a:solidFill>
                  <a:srgbClr val="ABB2BF"/>
                </a:solidFill>
                <a:cs typeface="+mn-ea"/>
                <a:sym typeface="+mn-lt"/>
              </a:rPr>
              <a:t>匹配：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[0,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clone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()] -&gt; [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clone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(),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clone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(),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clone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(),] , 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   // </a:t>
            </a:r>
            <a:r>
              <a:rPr lang="zh-CN" altLang="en-US" sz="1200">
                <a:solidFill>
                  <a:srgbClr val="ABB2BF"/>
                </a:solidFill>
                <a:cs typeface="+mn-ea"/>
                <a:sym typeface="+mn-lt"/>
              </a:rPr>
              <a:t>生成：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[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clone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(),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clone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(),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clone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(),]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([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0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$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_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expr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]-&gt;[$($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body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tt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)*])=&gt;{[$($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body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)*] };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}</a:t>
            </a:r>
            <a:b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   // init_array! </a:t>
            </a:r>
            <a:r>
              <a:rPr lang="zh-CN" altLang="en-US" sz="1200">
                <a:solidFill>
                  <a:srgbClr val="ABB2BF"/>
                </a:solidFill>
                <a:cs typeface="+mn-ea"/>
                <a:sym typeface="+mn-lt"/>
              </a:rPr>
              <a:t>宏调用后面可以使用 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`()/[]/{}`</a:t>
            </a:r>
            <a:r>
              <a:rPr lang="zh-CN" altLang="en-US" sz="1200">
                <a:solidFill>
                  <a:srgbClr val="ABB2BF"/>
                </a:solidFill>
                <a:cs typeface="+mn-ea"/>
                <a:sym typeface="+mn-lt"/>
              </a:rPr>
              <a:t>，这里突出数组语义，使用中括号</a:t>
            </a:r>
            <a:endParaRPr lang="en-US" altLang="zh-CN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strings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 [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String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;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3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] </a:t>
            </a:r>
            <a:r>
              <a:rPr lang="en-US" altLang="zh-CN" sz="12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init_array!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[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String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from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98C379"/>
                </a:solidFill>
                <a:cs typeface="+mn-ea"/>
                <a:sym typeface="+mn-lt"/>
              </a:rPr>
              <a:t>"hi!"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);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3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];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println!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98C379"/>
                </a:solidFill>
                <a:cs typeface="+mn-ea"/>
                <a:sym typeface="+mn-lt"/>
              </a:rPr>
              <a:t>"{:?}"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strings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2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4990" y="418514"/>
            <a:ext cx="7315200" cy="475066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pPr algn="l">
              <a:lnSpc>
                <a:spcPts val="3440"/>
              </a:lnSpc>
            </a:pPr>
            <a:r>
              <a:rPr lang="zh-CN" altLang="en-US" sz="1600" dirty="0">
                <a:cs typeface="+mn-ea"/>
                <a:sym typeface="+mn-lt"/>
              </a:rPr>
              <a:t>声明宏支持递归匹配，也可以调用其他声明宏：</a:t>
            </a:r>
          </a:p>
        </p:txBody>
      </p:sp>
      <p:sp>
        <p:nvSpPr>
          <p:cNvPr id="7" name="矩形 3"/>
          <p:cNvSpPr/>
          <p:nvPr/>
        </p:nvSpPr>
        <p:spPr>
          <a:xfrm>
            <a:off x="7038646" y="865563"/>
            <a:ext cx="4622678" cy="287601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noAutofit/>
          </a:bodyPr>
          <a:lstStyle/>
          <a:p>
            <a:r>
              <a:rPr lang="en-US" altLang="zh-CN" sz="120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2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200" b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// init_array! </a:t>
            </a:r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宏调用生成以下代码。</a:t>
            </a:r>
            <a:endParaRPr lang="zh-CN" altLang="en-US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该宏的功能是方便为实现 </a:t>
            </a:r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Clone trait</a:t>
            </a:r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的类型生成指定长度的数组</a:t>
            </a:r>
            <a:endParaRPr lang="zh-CN" altLang="en-US" sz="1200">
              <a:solidFill>
                <a:srgbClr val="ABB2BF"/>
              </a:solidFill>
              <a:cs typeface="+mn-ea"/>
              <a:sym typeface="+mn-lt"/>
            </a:endParaRPr>
          </a:p>
          <a:p>
            <a:br>
              <a:rPr lang="zh-CN" altLang="en-US" sz="12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strings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 [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String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;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3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] = { 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String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from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98C379"/>
                </a:solidFill>
                <a:cs typeface="+mn-ea"/>
                <a:sym typeface="+mn-lt"/>
              </a:rPr>
              <a:t>"hi!"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); 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   [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clone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(),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clone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(),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clone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(),] 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};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{ 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 ::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std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io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>
                <a:solidFill>
                  <a:srgbClr val="56B6C2"/>
                </a:solidFill>
                <a:cs typeface="+mn-ea"/>
                <a:sym typeface="+mn-lt"/>
              </a:rPr>
              <a:t>_print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format_args!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{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0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:?}</a:t>
            </a:r>
            <a:r>
              <a:rPr lang="en-US" altLang="zh-CN" sz="1200">
                <a:solidFill>
                  <a:srgbClr val="56B6C2"/>
                </a:solidFill>
                <a:cs typeface="+mn-ea"/>
                <a:sym typeface="+mn-lt"/>
              </a:rPr>
              <a:t>\n</a:t>
            </a:r>
            <a:r>
              <a:rPr lang="en-US" altLang="zh-CN" sz="120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strings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)); 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};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2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53181" y="66688"/>
            <a:ext cx="10740640" cy="993400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如何编写声明宏-宏卫生性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253181" y="545838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663705" y="2136339"/>
            <a:ext cx="3749676" cy="224676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macro_rules!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using_a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($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expr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 =&gt;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42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    $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e</a:t>
            </a:r>
            <a:endParaRPr lang="en-US" altLang="zh-CN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}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four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using_a!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/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10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87868" y="901714"/>
            <a:ext cx="10805954" cy="7875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cs typeface="+mn-ea"/>
                <a:sym typeface="+mn-lt"/>
              </a:rPr>
              <a:t>声明宏是卫生宏，这意味着它们不会意外地捕获或覆盖周围代码中的标识符。这是因为宏展开时，编译器会自动重命名宏内部定义的标识符，以避免与周围代码中的标识符冲突。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53181" y="4665061"/>
            <a:ext cx="10805954" cy="4250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cs typeface="+mn-ea"/>
                <a:sym typeface="+mn-lt"/>
              </a:rPr>
              <a:t>在示例中，在宏中定义了一个变量</a:t>
            </a:r>
            <a:r>
              <a:rPr lang="en-US" altLang="zh-CN" sz="1600">
                <a:cs typeface="+mn-ea"/>
                <a:sym typeface="+mn-lt"/>
              </a:rPr>
              <a:t>a</a:t>
            </a:r>
            <a:r>
              <a:rPr lang="zh-CN" altLang="en-US" sz="1600">
                <a:cs typeface="+mn-ea"/>
                <a:sym typeface="+mn-lt"/>
              </a:rPr>
              <a:t>，但是在使用宏的时候并不会使用内部的变量。</a:t>
            </a:r>
            <a:endParaRPr lang="zh-CN" altLang="en-US" sz="1600" dirty="0"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4777" y="2535823"/>
            <a:ext cx="5543550" cy="144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53181" y="96607"/>
            <a:ext cx="10740640" cy="993400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本章小结</a:t>
            </a:r>
            <a:endParaRPr 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0"/>
          </p:nvPr>
        </p:nvSpPr>
        <p:spPr>
          <a:xfrm>
            <a:off x="729175" y="1090007"/>
            <a:ext cx="10733557" cy="4690459"/>
          </a:xfrm>
        </p:spPr>
        <p:txBody>
          <a:bodyPr/>
          <a:lstStyle/>
          <a:p>
            <a:pPr marL="29781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学完本章，希望可以：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800" dirty="0">
                <a:cs typeface="+mn-ea"/>
                <a:sym typeface="+mn-lt"/>
              </a:rPr>
              <a:t>对 </a:t>
            </a:r>
            <a:r>
              <a:rPr lang="en-US" altLang="zh-CN" sz="1800">
                <a:cs typeface="+mn-ea"/>
                <a:sym typeface="+mn-lt"/>
              </a:rPr>
              <a:t>Rust </a:t>
            </a:r>
            <a:r>
              <a:rPr lang="zh-CN" altLang="en-US" sz="1800">
                <a:cs typeface="+mn-ea"/>
                <a:sym typeface="+mn-lt"/>
              </a:rPr>
              <a:t>中声明宏定义和工作机制有一定了解</a:t>
            </a:r>
            <a:r>
              <a:rPr lang="zh-CN" altLang="en-US" sz="1800" dirty="0">
                <a:cs typeface="+mn-ea"/>
                <a:sym typeface="+mn-lt"/>
              </a:rPr>
              <a:t>；</a:t>
            </a:r>
            <a:endParaRPr lang="en-US" altLang="zh-CN" sz="1800" dirty="0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800" dirty="0">
                <a:cs typeface="+mn-ea"/>
                <a:sym typeface="+mn-lt"/>
              </a:rPr>
              <a:t>掌握 </a:t>
            </a:r>
            <a:r>
              <a:rPr lang="en-US" altLang="zh-CN" sz="1800" dirty="0">
                <a:cs typeface="+mn-ea"/>
                <a:sym typeface="+mn-lt"/>
              </a:rPr>
              <a:t>Rust </a:t>
            </a:r>
            <a:r>
              <a:rPr lang="zh-CN" altLang="en-US" sz="1800" dirty="0">
                <a:cs typeface="+mn-ea"/>
                <a:sym typeface="+mn-lt"/>
              </a:rPr>
              <a:t>的声明宏编写方法；</a:t>
            </a:r>
            <a:endParaRPr lang="en-US" altLang="zh-CN" sz="1800" dirty="0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zh-CN" sz="1800" dirty="0">
              <a:cs typeface="+mn-ea"/>
              <a:sym typeface="+mn-lt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253181" y="545838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qmbuadta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575756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qmbuadta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575756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hart page">
  <a:themeElements>
    <a:clrScheme name="updated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C8102E"/>
      </a:accent2>
      <a:accent3>
        <a:srgbClr val="EA594F"/>
      </a:accent3>
      <a:accent4>
        <a:srgbClr val="F8B53C"/>
      </a:accent4>
      <a:accent5>
        <a:srgbClr val="231815"/>
      </a:accent5>
      <a:accent6>
        <a:srgbClr val="595757"/>
      </a:accent6>
      <a:hlink>
        <a:srgbClr val="898989"/>
      </a:hlink>
      <a:folHlink>
        <a:srgbClr val="B5B5B5"/>
      </a:folHlink>
    </a:clrScheme>
    <a:fontScheme name="qmbuadta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7000B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800" dirty="0" smtClean="0">
            <a:solidFill>
              <a:schemeClr val="accent2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qmbuadta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151515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vert="horz" wrap="none" rtlCol="0">
        <a:spAutoFit/>
      </a:bodyPr>
      <a:lstStyle>
        <a:defPPr algn="l">
          <a:lnSpc>
            <a:spcPts val="3440"/>
          </a:lnSpc>
          <a:defRPr dirty="0" smtClean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End pag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qmbuadta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8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3061</Words>
  <Application>Microsoft Office PowerPoint</Application>
  <PresentationFormat>自定义</PresentationFormat>
  <Paragraphs>260</Paragraphs>
  <Slides>14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Microsoft YaHei</vt:lpstr>
      <vt:lpstr>Arial</vt:lpstr>
      <vt:lpstr>Calibri</vt:lpstr>
      <vt:lpstr>Huawei Sans</vt:lpstr>
      <vt:lpstr>Wingdings</vt:lpstr>
      <vt:lpstr>1_Title Slide</vt:lpstr>
      <vt:lpstr>2_Title Slide</vt:lpstr>
      <vt:lpstr>Chart page</vt:lpstr>
      <vt:lpstr>4_Chart page</vt:lpstr>
      <vt:lpstr>End page</vt:lpstr>
      <vt:lpstr>声明宏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声明宏</dc:title>
  <dc:creator>fanyan (A)</dc:creator>
  <cp:lastModifiedBy>Zhangyandong (ben)</cp:lastModifiedBy>
  <cp:revision>3</cp:revision>
  <dcterms:created xsi:type="dcterms:W3CDTF">2023-10-18T07:31:41Z</dcterms:created>
  <dcterms:modified xsi:type="dcterms:W3CDTF">2024-11-20T02:35:53Z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(3)HyPCkCn5oIfHDX9Yrx8IFfACflZJO3zSoK9thUoG+RI1wEmlDBJ4qk6kegQXY7ZfdIvMEpRf
AyiMSJlU0xe3QUZSWab4T5MhQw2QRHDc65mXwHlUa93ulqpc1VWug5UB6wjxYr8r+kzII0ir
5FOy9xyNM1kcoW5LYvBGDVzz5AWsia246nMPUvI6Zw5riYSpinbhWUbgLTolt66VsYlJXjZe
DB9VmX+Tv4VcunoViR</vt:lpwstr>
  </property>
  <property fmtid="{D5CDD505-2E9C-101B-9397-08002B2CF9AE}" pid="3" name="_2015_ms_pID_7253431">
    <vt:lpwstr>nh9XxCn8hD+0cgdC6tm+eyiBtKyipuWSLw9y9E8MITwDRIDcbjCY6/
NmQ+AKw6LSY9QKTOM/KWk06zWliIU9lavr7CnXe9MFyoCzSebnYO7GcwcpqvNIWaapYEXU7S
GCLfh2/xF/qE1/9BiGrpBQzu4gRM51U+1BxVqpk2j2NTtAgxQY9Bx+A2m0A1gI88NqdI+uBB
+jFS4GXeUYrPtnoRTs0/HJ71TkNgaygNHBGb</vt:lpwstr>
  </property>
  <property fmtid="{D5CDD505-2E9C-101B-9397-08002B2CF9AE}" pid="4" name="_2015_ms_pID_7253432">
    <vt:lpwstr>iA==</vt:lpwstr>
  </property>
  <property fmtid="{D5CDD505-2E9C-101B-9397-08002B2CF9AE}" pid="5" name="KSOProductBuildVer">
    <vt:lpwstr>2052-0.0.0.0</vt:lpwstr>
  </property>
  <property fmtid="{D5CDD505-2E9C-101B-9397-08002B2CF9AE}" pid="6" name="_readonly">
    <vt:lpwstr/>
  </property>
  <property fmtid="{D5CDD505-2E9C-101B-9397-08002B2CF9AE}" pid="7" name="_change">
    <vt:lpwstr/>
  </property>
  <property fmtid="{D5CDD505-2E9C-101B-9397-08002B2CF9AE}" pid="8" name="_full-control">
    <vt:lpwstr/>
  </property>
  <property fmtid="{D5CDD505-2E9C-101B-9397-08002B2CF9AE}" pid="9" name="sflag">
    <vt:lpwstr>1697544692</vt:lpwstr>
  </property>
</Properties>
</file>