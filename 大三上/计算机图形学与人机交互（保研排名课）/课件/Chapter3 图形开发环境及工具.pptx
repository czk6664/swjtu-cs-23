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5" r:id="rId5"/>
    <p:sldId id="261" r:id="rId6"/>
    <p:sldId id="262" r:id="rId7"/>
    <p:sldId id="264" r:id="rId8"/>
    <p:sldId id="266" r:id="rId9"/>
    <p:sldId id="260" r:id="rId10"/>
    <p:sldId id="279" r:id="rId11"/>
    <p:sldId id="281" r:id="rId12"/>
    <p:sldId id="275" r:id="rId13"/>
    <p:sldId id="277" r:id="rId14"/>
    <p:sldId id="278" r:id="rId15"/>
    <p:sldId id="280" r:id="rId16"/>
    <p:sldId id="268" r:id="rId17"/>
    <p:sldId id="269" r:id="rId18"/>
    <p:sldId id="270" r:id="rId19"/>
    <p:sldId id="271" r:id="rId20"/>
    <p:sldId id="272" r:id="rId21"/>
    <p:sldId id="273" r:id="rId22"/>
    <p:sldId id="283" r:id="rId23"/>
    <p:sldId id="274" r:id="rId24"/>
    <p:sldId id="282" r:id="rId25"/>
    <p:sldId id="284" r:id="rId26"/>
    <p:sldId id="285" r:id="rId27"/>
    <p:sldId id="286" r:id="rId28"/>
    <p:sldId id="287" r:id="rId29"/>
    <p:sldId id="289" r:id="rId30"/>
    <p:sldId id="290" r:id="rId31"/>
    <p:sldId id="291" r:id="rId32"/>
    <p:sldId id="292" r:id="rId33"/>
    <p:sldId id="293" r:id="rId34"/>
    <p:sldId id="295" r:id="rId35"/>
    <p:sldId id="296" r:id="rId36"/>
    <p:sldId id="297" r:id="rId3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0" d="100"/>
          <a:sy n="60" d="100"/>
        </p:scale>
        <p:origin x="819" y="4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865E76-AB96-DD17-1973-38545005B906}"/>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0F951D3C-1B39-A0C8-70A5-70723BD9957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401B5AE0-DDC6-30B6-E240-4862AE62E174}"/>
              </a:ext>
            </a:extLst>
          </p:cNvPr>
          <p:cNvSpPr>
            <a:spLocks noGrp="1"/>
          </p:cNvSpPr>
          <p:nvPr>
            <p:ph type="dt" sz="half" idx="10"/>
          </p:nvPr>
        </p:nvSpPr>
        <p:spPr/>
        <p:txBody>
          <a:bodyPr/>
          <a:lstStyle/>
          <a:p>
            <a:fld id="{884C022D-737C-4CDE-82AE-CF28DD427DCB}" type="datetimeFigureOut">
              <a:rPr lang="zh-CN" altLang="en-US" smtClean="0"/>
              <a:t>2023/8/3</a:t>
            </a:fld>
            <a:endParaRPr lang="zh-CN" altLang="en-US"/>
          </a:p>
        </p:txBody>
      </p:sp>
      <p:sp>
        <p:nvSpPr>
          <p:cNvPr id="5" name="页脚占位符 4">
            <a:extLst>
              <a:ext uri="{FF2B5EF4-FFF2-40B4-BE49-F238E27FC236}">
                <a16:creationId xmlns:a16="http://schemas.microsoft.com/office/drawing/2014/main" id="{B12B8CC0-E939-998A-466F-9DFA6908EB2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4275677-E73E-D43C-BD29-5E7560E83640}"/>
              </a:ext>
            </a:extLst>
          </p:cNvPr>
          <p:cNvSpPr>
            <a:spLocks noGrp="1"/>
          </p:cNvSpPr>
          <p:nvPr>
            <p:ph type="sldNum" sz="quarter" idx="12"/>
          </p:nvPr>
        </p:nvSpPr>
        <p:spPr/>
        <p:txBody>
          <a:bodyPr/>
          <a:lstStyle/>
          <a:p>
            <a:fld id="{A7493E31-2859-4EAD-9829-40254D0CF7FC}" type="slidenum">
              <a:rPr lang="zh-CN" altLang="en-US" smtClean="0"/>
              <a:t>‹#›</a:t>
            </a:fld>
            <a:endParaRPr lang="zh-CN" altLang="en-US"/>
          </a:p>
        </p:txBody>
      </p:sp>
    </p:spTree>
    <p:extLst>
      <p:ext uri="{BB962C8B-B14F-4D97-AF65-F5344CB8AC3E}">
        <p14:creationId xmlns:p14="http://schemas.microsoft.com/office/powerpoint/2010/main" val="31776707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5289CF9-9E26-3299-66B7-6079F7E09DF5}"/>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8D93F46B-201F-5109-2DA7-5FAC3D0993CD}"/>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B53A4F5-CEDC-6925-8E24-BF6E2A9D073B}"/>
              </a:ext>
            </a:extLst>
          </p:cNvPr>
          <p:cNvSpPr>
            <a:spLocks noGrp="1"/>
          </p:cNvSpPr>
          <p:nvPr>
            <p:ph type="dt" sz="half" idx="10"/>
          </p:nvPr>
        </p:nvSpPr>
        <p:spPr/>
        <p:txBody>
          <a:bodyPr/>
          <a:lstStyle/>
          <a:p>
            <a:fld id="{884C022D-737C-4CDE-82AE-CF28DD427DCB}" type="datetimeFigureOut">
              <a:rPr lang="zh-CN" altLang="en-US" smtClean="0"/>
              <a:t>2023/8/3</a:t>
            </a:fld>
            <a:endParaRPr lang="zh-CN" altLang="en-US"/>
          </a:p>
        </p:txBody>
      </p:sp>
      <p:sp>
        <p:nvSpPr>
          <p:cNvPr id="5" name="页脚占位符 4">
            <a:extLst>
              <a:ext uri="{FF2B5EF4-FFF2-40B4-BE49-F238E27FC236}">
                <a16:creationId xmlns:a16="http://schemas.microsoft.com/office/drawing/2014/main" id="{FAD5B466-E379-C1A6-DC90-A2EFFC2EA1C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116B7C9-8B74-8B3E-5278-2ADC9960B13F}"/>
              </a:ext>
            </a:extLst>
          </p:cNvPr>
          <p:cNvSpPr>
            <a:spLocks noGrp="1"/>
          </p:cNvSpPr>
          <p:nvPr>
            <p:ph type="sldNum" sz="quarter" idx="12"/>
          </p:nvPr>
        </p:nvSpPr>
        <p:spPr/>
        <p:txBody>
          <a:bodyPr/>
          <a:lstStyle/>
          <a:p>
            <a:fld id="{A7493E31-2859-4EAD-9829-40254D0CF7FC}" type="slidenum">
              <a:rPr lang="zh-CN" altLang="en-US" smtClean="0"/>
              <a:t>‹#›</a:t>
            </a:fld>
            <a:endParaRPr lang="zh-CN" altLang="en-US"/>
          </a:p>
        </p:txBody>
      </p:sp>
    </p:spTree>
    <p:extLst>
      <p:ext uri="{BB962C8B-B14F-4D97-AF65-F5344CB8AC3E}">
        <p14:creationId xmlns:p14="http://schemas.microsoft.com/office/powerpoint/2010/main" val="27417038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3B2D1E4-A3EB-5FD2-0587-1C249AC5600B}"/>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79B80B81-37F0-EAA8-6395-2D6A03BBB64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E5632980-C66C-B58A-A1F2-4AE43F1A50C5}"/>
              </a:ext>
            </a:extLst>
          </p:cNvPr>
          <p:cNvSpPr>
            <a:spLocks noGrp="1"/>
          </p:cNvSpPr>
          <p:nvPr>
            <p:ph type="dt" sz="half" idx="10"/>
          </p:nvPr>
        </p:nvSpPr>
        <p:spPr/>
        <p:txBody>
          <a:bodyPr/>
          <a:lstStyle/>
          <a:p>
            <a:fld id="{884C022D-737C-4CDE-82AE-CF28DD427DCB}" type="datetimeFigureOut">
              <a:rPr lang="zh-CN" altLang="en-US" smtClean="0"/>
              <a:t>2023/8/3</a:t>
            </a:fld>
            <a:endParaRPr lang="zh-CN" altLang="en-US"/>
          </a:p>
        </p:txBody>
      </p:sp>
      <p:sp>
        <p:nvSpPr>
          <p:cNvPr id="5" name="页脚占位符 4">
            <a:extLst>
              <a:ext uri="{FF2B5EF4-FFF2-40B4-BE49-F238E27FC236}">
                <a16:creationId xmlns:a16="http://schemas.microsoft.com/office/drawing/2014/main" id="{C72054F2-C23C-E23B-9185-D9805D725EF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5BAE0B2-EC80-6016-C843-0F67C7FB727F}"/>
              </a:ext>
            </a:extLst>
          </p:cNvPr>
          <p:cNvSpPr>
            <a:spLocks noGrp="1"/>
          </p:cNvSpPr>
          <p:nvPr>
            <p:ph type="sldNum" sz="quarter" idx="12"/>
          </p:nvPr>
        </p:nvSpPr>
        <p:spPr/>
        <p:txBody>
          <a:bodyPr/>
          <a:lstStyle/>
          <a:p>
            <a:fld id="{A7493E31-2859-4EAD-9829-40254D0CF7FC}" type="slidenum">
              <a:rPr lang="zh-CN" altLang="en-US" smtClean="0"/>
              <a:t>‹#›</a:t>
            </a:fld>
            <a:endParaRPr lang="zh-CN" altLang="en-US"/>
          </a:p>
        </p:txBody>
      </p:sp>
    </p:spTree>
    <p:extLst>
      <p:ext uri="{BB962C8B-B14F-4D97-AF65-F5344CB8AC3E}">
        <p14:creationId xmlns:p14="http://schemas.microsoft.com/office/powerpoint/2010/main" val="20905620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8A823B1-1E1B-4B5F-DA5E-7D0F71DE4A45}"/>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86E4FADD-D3E9-3403-9011-D221CCFCC02A}"/>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E4308A44-1B3D-3847-10C8-4F3197C54150}"/>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1C2DE371-A938-DC35-323D-03B2FDE3546C}"/>
              </a:ext>
            </a:extLst>
          </p:cNvPr>
          <p:cNvSpPr>
            <a:spLocks noGrp="1"/>
          </p:cNvSpPr>
          <p:nvPr>
            <p:ph type="dt" sz="half" idx="10"/>
          </p:nvPr>
        </p:nvSpPr>
        <p:spPr/>
        <p:txBody>
          <a:bodyPr/>
          <a:lstStyle/>
          <a:p>
            <a:fld id="{884C022D-737C-4CDE-82AE-CF28DD427DCB}" type="datetimeFigureOut">
              <a:rPr lang="zh-CN" altLang="en-US" smtClean="0"/>
              <a:t>2023/8/3</a:t>
            </a:fld>
            <a:endParaRPr lang="zh-CN" altLang="en-US"/>
          </a:p>
        </p:txBody>
      </p:sp>
      <p:sp>
        <p:nvSpPr>
          <p:cNvPr id="6" name="页脚占位符 5">
            <a:extLst>
              <a:ext uri="{FF2B5EF4-FFF2-40B4-BE49-F238E27FC236}">
                <a16:creationId xmlns:a16="http://schemas.microsoft.com/office/drawing/2014/main" id="{7D6EFF28-CBFE-9A0A-A19C-AB8B6E1AE5F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81FE17E-AE24-989C-2B8B-4A0BD7C6FAD0}"/>
              </a:ext>
            </a:extLst>
          </p:cNvPr>
          <p:cNvSpPr>
            <a:spLocks noGrp="1"/>
          </p:cNvSpPr>
          <p:nvPr>
            <p:ph type="sldNum" sz="quarter" idx="12"/>
          </p:nvPr>
        </p:nvSpPr>
        <p:spPr/>
        <p:txBody>
          <a:bodyPr/>
          <a:lstStyle/>
          <a:p>
            <a:fld id="{A7493E31-2859-4EAD-9829-40254D0CF7FC}" type="slidenum">
              <a:rPr lang="zh-CN" altLang="en-US" smtClean="0"/>
              <a:t>‹#›</a:t>
            </a:fld>
            <a:endParaRPr lang="zh-CN" altLang="en-US"/>
          </a:p>
        </p:txBody>
      </p:sp>
    </p:spTree>
    <p:extLst>
      <p:ext uri="{BB962C8B-B14F-4D97-AF65-F5344CB8AC3E}">
        <p14:creationId xmlns:p14="http://schemas.microsoft.com/office/powerpoint/2010/main" val="27397614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923826-9250-C4EB-C462-41DEB0224B79}"/>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4AC11E08-1FBF-07DC-708B-175291FA402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CFDE2966-408C-10EF-BFF3-E5B58588B100}"/>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D467012D-433D-DD66-4D4C-590C5B3D293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D2A07170-0ABC-ECD6-91BC-42CCE8F55823}"/>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91D776F6-39F5-617E-F02A-89E8ED37FE20}"/>
              </a:ext>
            </a:extLst>
          </p:cNvPr>
          <p:cNvSpPr>
            <a:spLocks noGrp="1"/>
          </p:cNvSpPr>
          <p:nvPr>
            <p:ph type="dt" sz="half" idx="10"/>
          </p:nvPr>
        </p:nvSpPr>
        <p:spPr/>
        <p:txBody>
          <a:bodyPr/>
          <a:lstStyle/>
          <a:p>
            <a:fld id="{884C022D-737C-4CDE-82AE-CF28DD427DCB}" type="datetimeFigureOut">
              <a:rPr lang="zh-CN" altLang="en-US" smtClean="0"/>
              <a:t>2023/8/3</a:t>
            </a:fld>
            <a:endParaRPr lang="zh-CN" altLang="en-US"/>
          </a:p>
        </p:txBody>
      </p:sp>
      <p:sp>
        <p:nvSpPr>
          <p:cNvPr id="8" name="页脚占位符 7">
            <a:extLst>
              <a:ext uri="{FF2B5EF4-FFF2-40B4-BE49-F238E27FC236}">
                <a16:creationId xmlns:a16="http://schemas.microsoft.com/office/drawing/2014/main" id="{5057EC7A-753E-F608-0BD8-2E3EC4703174}"/>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0BB8261C-8564-7EEC-AA2D-38D6F5E54F79}"/>
              </a:ext>
            </a:extLst>
          </p:cNvPr>
          <p:cNvSpPr>
            <a:spLocks noGrp="1"/>
          </p:cNvSpPr>
          <p:nvPr>
            <p:ph type="sldNum" sz="quarter" idx="12"/>
          </p:nvPr>
        </p:nvSpPr>
        <p:spPr/>
        <p:txBody>
          <a:bodyPr/>
          <a:lstStyle/>
          <a:p>
            <a:fld id="{A7493E31-2859-4EAD-9829-40254D0CF7FC}" type="slidenum">
              <a:rPr lang="zh-CN" altLang="en-US" smtClean="0"/>
              <a:t>‹#›</a:t>
            </a:fld>
            <a:endParaRPr lang="zh-CN" altLang="en-US"/>
          </a:p>
        </p:txBody>
      </p:sp>
    </p:spTree>
    <p:extLst>
      <p:ext uri="{BB962C8B-B14F-4D97-AF65-F5344CB8AC3E}">
        <p14:creationId xmlns:p14="http://schemas.microsoft.com/office/powerpoint/2010/main" val="22684634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F13D2E3-D135-0422-7A07-3C3853A74EF8}"/>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D44479B9-03A5-4AAB-A5E7-5C9DEC52AE87}"/>
              </a:ext>
            </a:extLst>
          </p:cNvPr>
          <p:cNvSpPr>
            <a:spLocks noGrp="1"/>
          </p:cNvSpPr>
          <p:nvPr>
            <p:ph type="dt" sz="half" idx="10"/>
          </p:nvPr>
        </p:nvSpPr>
        <p:spPr/>
        <p:txBody>
          <a:bodyPr/>
          <a:lstStyle/>
          <a:p>
            <a:fld id="{884C022D-737C-4CDE-82AE-CF28DD427DCB}" type="datetimeFigureOut">
              <a:rPr lang="zh-CN" altLang="en-US" smtClean="0"/>
              <a:t>2023/8/3</a:t>
            </a:fld>
            <a:endParaRPr lang="zh-CN" altLang="en-US"/>
          </a:p>
        </p:txBody>
      </p:sp>
      <p:sp>
        <p:nvSpPr>
          <p:cNvPr id="4" name="页脚占位符 3">
            <a:extLst>
              <a:ext uri="{FF2B5EF4-FFF2-40B4-BE49-F238E27FC236}">
                <a16:creationId xmlns:a16="http://schemas.microsoft.com/office/drawing/2014/main" id="{46BB18AA-7776-46D8-D767-69D942A26398}"/>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D69D6627-451D-75D7-5CB4-78A5E706597C}"/>
              </a:ext>
            </a:extLst>
          </p:cNvPr>
          <p:cNvSpPr>
            <a:spLocks noGrp="1"/>
          </p:cNvSpPr>
          <p:nvPr>
            <p:ph type="sldNum" sz="quarter" idx="12"/>
          </p:nvPr>
        </p:nvSpPr>
        <p:spPr/>
        <p:txBody>
          <a:bodyPr/>
          <a:lstStyle/>
          <a:p>
            <a:fld id="{A7493E31-2859-4EAD-9829-40254D0CF7FC}" type="slidenum">
              <a:rPr lang="zh-CN" altLang="en-US" smtClean="0"/>
              <a:t>‹#›</a:t>
            </a:fld>
            <a:endParaRPr lang="zh-CN" altLang="en-US"/>
          </a:p>
        </p:txBody>
      </p:sp>
    </p:spTree>
    <p:extLst>
      <p:ext uri="{BB962C8B-B14F-4D97-AF65-F5344CB8AC3E}">
        <p14:creationId xmlns:p14="http://schemas.microsoft.com/office/powerpoint/2010/main" val="1012707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5B7F02A7-9560-9F87-2C44-A8F6FED4A2A7}"/>
              </a:ext>
            </a:extLst>
          </p:cNvPr>
          <p:cNvSpPr>
            <a:spLocks noGrp="1"/>
          </p:cNvSpPr>
          <p:nvPr>
            <p:ph type="dt" sz="half" idx="10"/>
          </p:nvPr>
        </p:nvSpPr>
        <p:spPr/>
        <p:txBody>
          <a:bodyPr/>
          <a:lstStyle/>
          <a:p>
            <a:fld id="{884C022D-737C-4CDE-82AE-CF28DD427DCB}" type="datetimeFigureOut">
              <a:rPr lang="zh-CN" altLang="en-US" smtClean="0"/>
              <a:t>2023/8/3</a:t>
            </a:fld>
            <a:endParaRPr lang="zh-CN" altLang="en-US"/>
          </a:p>
        </p:txBody>
      </p:sp>
      <p:sp>
        <p:nvSpPr>
          <p:cNvPr id="3" name="页脚占位符 2">
            <a:extLst>
              <a:ext uri="{FF2B5EF4-FFF2-40B4-BE49-F238E27FC236}">
                <a16:creationId xmlns:a16="http://schemas.microsoft.com/office/drawing/2014/main" id="{27C3FD76-1D37-FBDB-5E29-20F88E1A1F67}"/>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269D9EC5-36F9-7E27-5EE3-0E402D129459}"/>
              </a:ext>
            </a:extLst>
          </p:cNvPr>
          <p:cNvSpPr>
            <a:spLocks noGrp="1"/>
          </p:cNvSpPr>
          <p:nvPr>
            <p:ph type="sldNum" sz="quarter" idx="12"/>
          </p:nvPr>
        </p:nvSpPr>
        <p:spPr/>
        <p:txBody>
          <a:bodyPr/>
          <a:lstStyle/>
          <a:p>
            <a:fld id="{A7493E31-2859-4EAD-9829-40254D0CF7FC}" type="slidenum">
              <a:rPr lang="zh-CN" altLang="en-US" smtClean="0"/>
              <a:t>‹#›</a:t>
            </a:fld>
            <a:endParaRPr lang="zh-CN" altLang="en-US"/>
          </a:p>
        </p:txBody>
      </p:sp>
    </p:spTree>
    <p:extLst>
      <p:ext uri="{BB962C8B-B14F-4D97-AF65-F5344CB8AC3E}">
        <p14:creationId xmlns:p14="http://schemas.microsoft.com/office/powerpoint/2010/main" val="36503027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C1E2A0A-4782-A6D6-7122-4BC376DBEA5F}"/>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66BDAFFC-0CED-FEDD-13C4-3943F9003BB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8F3F9248-2BB6-3076-9542-CCA07A039E0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6B746666-2DAD-A865-5CDD-9E1C815D4923}"/>
              </a:ext>
            </a:extLst>
          </p:cNvPr>
          <p:cNvSpPr>
            <a:spLocks noGrp="1"/>
          </p:cNvSpPr>
          <p:nvPr>
            <p:ph type="dt" sz="half" idx="10"/>
          </p:nvPr>
        </p:nvSpPr>
        <p:spPr/>
        <p:txBody>
          <a:bodyPr/>
          <a:lstStyle/>
          <a:p>
            <a:fld id="{884C022D-737C-4CDE-82AE-CF28DD427DCB}" type="datetimeFigureOut">
              <a:rPr lang="zh-CN" altLang="en-US" smtClean="0"/>
              <a:t>2023/8/3</a:t>
            </a:fld>
            <a:endParaRPr lang="zh-CN" altLang="en-US"/>
          </a:p>
        </p:txBody>
      </p:sp>
      <p:sp>
        <p:nvSpPr>
          <p:cNvPr id="6" name="页脚占位符 5">
            <a:extLst>
              <a:ext uri="{FF2B5EF4-FFF2-40B4-BE49-F238E27FC236}">
                <a16:creationId xmlns:a16="http://schemas.microsoft.com/office/drawing/2014/main" id="{745C9B3A-0D69-78AC-9256-FA196C40F53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F527D18-434C-A9EC-7978-25EAC215FD20}"/>
              </a:ext>
            </a:extLst>
          </p:cNvPr>
          <p:cNvSpPr>
            <a:spLocks noGrp="1"/>
          </p:cNvSpPr>
          <p:nvPr>
            <p:ph type="sldNum" sz="quarter" idx="12"/>
          </p:nvPr>
        </p:nvSpPr>
        <p:spPr/>
        <p:txBody>
          <a:bodyPr/>
          <a:lstStyle/>
          <a:p>
            <a:fld id="{A7493E31-2859-4EAD-9829-40254D0CF7FC}" type="slidenum">
              <a:rPr lang="zh-CN" altLang="en-US" smtClean="0"/>
              <a:t>‹#›</a:t>
            </a:fld>
            <a:endParaRPr lang="zh-CN" altLang="en-US"/>
          </a:p>
        </p:txBody>
      </p:sp>
    </p:spTree>
    <p:extLst>
      <p:ext uri="{BB962C8B-B14F-4D97-AF65-F5344CB8AC3E}">
        <p14:creationId xmlns:p14="http://schemas.microsoft.com/office/powerpoint/2010/main" val="19949314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B91AD77-6D7B-B4B7-AC04-A5544F6E895D}"/>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2630C09E-7FD8-7395-E60E-B3AFC55FB69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3331EE31-9962-84D5-7631-EFCE52DDA9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F4274D4A-052D-C7D0-546B-E6D8321B9924}"/>
              </a:ext>
            </a:extLst>
          </p:cNvPr>
          <p:cNvSpPr>
            <a:spLocks noGrp="1"/>
          </p:cNvSpPr>
          <p:nvPr>
            <p:ph type="dt" sz="half" idx="10"/>
          </p:nvPr>
        </p:nvSpPr>
        <p:spPr/>
        <p:txBody>
          <a:bodyPr/>
          <a:lstStyle/>
          <a:p>
            <a:fld id="{884C022D-737C-4CDE-82AE-CF28DD427DCB}" type="datetimeFigureOut">
              <a:rPr lang="zh-CN" altLang="en-US" smtClean="0"/>
              <a:t>2023/8/3</a:t>
            </a:fld>
            <a:endParaRPr lang="zh-CN" altLang="en-US"/>
          </a:p>
        </p:txBody>
      </p:sp>
      <p:sp>
        <p:nvSpPr>
          <p:cNvPr id="6" name="页脚占位符 5">
            <a:extLst>
              <a:ext uri="{FF2B5EF4-FFF2-40B4-BE49-F238E27FC236}">
                <a16:creationId xmlns:a16="http://schemas.microsoft.com/office/drawing/2014/main" id="{0E67E2D3-7971-9BDB-309A-9A32D3E701F1}"/>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A72F9E36-FFAE-61B5-C660-ABE1B78DCFBD}"/>
              </a:ext>
            </a:extLst>
          </p:cNvPr>
          <p:cNvSpPr>
            <a:spLocks noGrp="1"/>
          </p:cNvSpPr>
          <p:nvPr>
            <p:ph type="sldNum" sz="quarter" idx="12"/>
          </p:nvPr>
        </p:nvSpPr>
        <p:spPr/>
        <p:txBody>
          <a:bodyPr/>
          <a:lstStyle/>
          <a:p>
            <a:fld id="{A7493E31-2859-4EAD-9829-40254D0CF7FC}" type="slidenum">
              <a:rPr lang="zh-CN" altLang="en-US" smtClean="0"/>
              <a:t>‹#›</a:t>
            </a:fld>
            <a:endParaRPr lang="zh-CN" altLang="en-US"/>
          </a:p>
        </p:txBody>
      </p:sp>
    </p:spTree>
    <p:extLst>
      <p:ext uri="{BB962C8B-B14F-4D97-AF65-F5344CB8AC3E}">
        <p14:creationId xmlns:p14="http://schemas.microsoft.com/office/powerpoint/2010/main" val="41813554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37AC7A-81CC-D49F-9BEA-CAE4D745E0C7}"/>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1CF40E0F-6165-94E8-E37C-C828AA76061B}"/>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7835F75-3352-C7FC-0DB9-29503E4A328C}"/>
              </a:ext>
            </a:extLst>
          </p:cNvPr>
          <p:cNvSpPr>
            <a:spLocks noGrp="1"/>
          </p:cNvSpPr>
          <p:nvPr>
            <p:ph type="dt" sz="half" idx="10"/>
          </p:nvPr>
        </p:nvSpPr>
        <p:spPr/>
        <p:txBody>
          <a:bodyPr/>
          <a:lstStyle/>
          <a:p>
            <a:fld id="{884C022D-737C-4CDE-82AE-CF28DD427DCB}" type="datetimeFigureOut">
              <a:rPr lang="zh-CN" altLang="en-US" smtClean="0"/>
              <a:t>2023/8/3</a:t>
            </a:fld>
            <a:endParaRPr lang="zh-CN" altLang="en-US"/>
          </a:p>
        </p:txBody>
      </p:sp>
      <p:sp>
        <p:nvSpPr>
          <p:cNvPr id="5" name="页脚占位符 4">
            <a:extLst>
              <a:ext uri="{FF2B5EF4-FFF2-40B4-BE49-F238E27FC236}">
                <a16:creationId xmlns:a16="http://schemas.microsoft.com/office/drawing/2014/main" id="{A5E88DA4-06A4-FB2C-E597-B7F28E22F1C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794B6F6-8212-A7E5-B4E3-EFCBBECA6903}"/>
              </a:ext>
            </a:extLst>
          </p:cNvPr>
          <p:cNvSpPr>
            <a:spLocks noGrp="1"/>
          </p:cNvSpPr>
          <p:nvPr>
            <p:ph type="sldNum" sz="quarter" idx="12"/>
          </p:nvPr>
        </p:nvSpPr>
        <p:spPr/>
        <p:txBody>
          <a:bodyPr/>
          <a:lstStyle/>
          <a:p>
            <a:fld id="{A7493E31-2859-4EAD-9829-40254D0CF7FC}" type="slidenum">
              <a:rPr lang="zh-CN" altLang="en-US" smtClean="0"/>
              <a:t>‹#›</a:t>
            </a:fld>
            <a:endParaRPr lang="zh-CN" altLang="en-US"/>
          </a:p>
        </p:txBody>
      </p:sp>
    </p:spTree>
    <p:extLst>
      <p:ext uri="{BB962C8B-B14F-4D97-AF65-F5344CB8AC3E}">
        <p14:creationId xmlns:p14="http://schemas.microsoft.com/office/powerpoint/2010/main" val="20202669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03497832-17A4-5A4A-15BC-409E7AAD82BD}"/>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81CF8219-A4AD-CF54-A705-1E001235D1EE}"/>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1417C9E-6111-8E61-C170-F8A02A61179D}"/>
              </a:ext>
            </a:extLst>
          </p:cNvPr>
          <p:cNvSpPr>
            <a:spLocks noGrp="1"/>
          </p:cNvSpPr>
          <p:nvPr>
            <p:ph type="dt" sz="half" idx="10"/>
          </p:nvPr>
        </p:nvSpPr>
        <p:spPr/>
        <p:txBody>
          <a:bodyPr/>
          <a:lstStyle/>
          <a:p>
            <a:fld id="{884C022D-737C-4CDE-82AE-CF28DD427DCB}" type="datetimeFigureOut">
              <a:rPr lang="zh-CN" altLang="en-US" smtClean="0"/>
              <a:t>2023/8/3</a:t>
            </a:fld>
            <a:endParaRPr lang="zh-CN" altLang="en-US"/>
          </a:p>
        </p:txBody>
      </p:sp>
      <p:sp>
        <p:nvSpPr>
          <p:cNvPr id="5" name="页脚占位符 4">
            <a:extLst>
              <a:ext uri="{FF2B5EF4-FFF2-40B4-BE49-F238E27FC236}">
                <a16:creationId xmlns:a16="http://schemas.microsoft.com/office/drawing/2014/main" id="{B704C0A4-DD4A-7F10-4CDE-1E89DC8D1A0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7EE3EDC-860A-98A3-C186-941194AE7D6E}"/>
              </a:ext>
            </a:extLst>
          </p:cNvPr>
          <p:cNvSpPr>
            <a:spLocks noGrp="1"/>
          </p:cNvSpPr>
          <p:nvPr>
            <p:ph type="sldNum" sz="quarter" idx="12"/>
          </p:nvPr>
        </p:nvSpPr>
        <p:spPr/>
        <p:txBody>
          <a:bodyPr/>
          <a:lstStyle/>
          <a:p>
            <a:fld id="{A7493E31-2859-4EAD-9829-40254D0CF7FC}" type="slidenum">
              <a:rPr lang="zh-CN" altLang="en-US" smtClean="0"/>
              <a:t>‹#›</a:t>
            </a:fld>
            <a:endParaRPr lang="zh-CN" altLang="en-US"/>
          </a:p>
        </p:txBody>
      </p:sp>
    </p:spTree>
    <p:extLst>
      <p:ext uri="{BB962C8B-B14F-4D97-AF65-F5344CB8AC3E}">
        <p14:creationId xmlns:p14="http://schemas.microsoft.com/office/powerpoint/2010/main" val="25011716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8E50BF28-7234-ECD7-590A-EA2583B20D4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E28342CC-7DDB-5978-E81C-0361A90BF16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56B8A25-7217-37B4-1F51-2F810D08824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84C022D-737C-4CDE-82AE-CF28DD427DCB}" type="datetimeFigureOut">
              <a:rPr lang="zh-CN" altLang="en-US" smtClean="0"/>
              <a:t>2023/8/3</a:t>
            </a:fld>
            <a:endParaRPr lang="zh-CN" altLang="en-US"/>
          </a:p>
        </p:txBody>
      </p:sp>
      <p:sp>
        <p:nvSpPr>
          <p:cNvPr id="5" name="页脚占位符 4">
            <a:extLst>
              <a:ext uri="{FF2B5EF4-FFF2-40B4-BE49-F238E27FC236}">
                <a16:creationId xmlns:a16="http://schemas.microsoft.com/office/drawing/2014/main" id="{FCD3E9CB-BF29-62E0-D023-EF335C4C9D7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06CBE94F-E121-3B94-6992-4752B158591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7493E31-2859-4EAD-9829-40254D0CF7FC}" type="slidenum">
              <a:rPr lang="zh-CN" altLang="en-US" smtClean="0"/>
              <a:t>‹#›</a:t>
            </a:fld>
            <a:endParaRPr lang="zh-CN" altLang="en-US"/>
          </a:p>
        </p:txBody>
      </p:sp>
    </p:spTree>
    <p:extLst>
      <p:ext uri="{BB962C8B-B14F-4D97-AF65-F5344CB8AC3E}">
        <p14:creationId xmlns:p14="http://schemas.microsoft.com/office/powerpoint/2010/main" val="25942156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CC3EB22-46AB-BB35-114D-02192B15EDB0}"/>
              </a:ext>
            </a:extLst>
          </p:cNvPr>
          <p:cNvSpPr>
            <a:spLocks noGrp="1"/>
          </p:cNvSpPr>
          <p:nvPr>
            <p:ph type="ctrTitle"/>
          </p:nvPr>
        </p:nvSpPr>
        <p:spPr>
          <a:xfrm>
            <a:off x="967407" y="374940"/>
            <a:ext cx="10021295" cy="1072197"/>
          </a:xfrm>
        </p:spPr>
        <p:txBody>
          <a:bodyPr>
            <a:noAutofit/>
          </a:bodyPr>
          <a:lstStyle/>
          <a:p>
            <a:r>
              <a:rPr lang="zh-CN" altLang="en-US" b="1" dirty="0">
                <a:solidFill>
                  <a:srgbClr val="FF0000"/>
                </a:solidFill>
                <a:latin typeface="华光标题宋_CNKI" panose="02000500000000000000" pitchFamily="2" charset="-122"/>
                <a:ea typeface="华光标题宋_CNKI" panose="02000500000000000000" pitchFamily="2" charset="-122"/>
              </a:rPr>
              <a:t>第</a:t>
            </a:r>
            <a:r>
              <a:rPr lang="en-US" altLang="zh-CN" b="1" dirty="0">
                <a:solidFill>
                  <a:srgbClr val="FF0000"/>
                </a:solidFill>
                <a:latin typeface="华光标题宋_CNKI" panose="02000500000000000000" pitchFamily="2" charset="-122"/>
                <a:ea typeface="华光标题宋_CNKI" panose="02000500000000000000" pitchFamily="2" charset="-122"/>
              </a:rPr>
              <a:t>3</a:t>
            </a:r>
            <a:r>
              <a:rPr lang="zh-CN" altLang="en-US" b="1" dirty="0">
                <a:solidFill>
                  <a:srgbClr val="FF0000"/>
                </a:solidFill>
                <a:latin typeface="华光标题宋_CNKI" panose="02000500000000000000" pitchFamily="2" charset="-122"/>
                <a:ea typeface="华光标题宋_CNKI" panose="02000500000000000000" pitchFamily="2" charset="-122"/>
              </a:rPr>
              <a:t>章 图形开发环境及工具</a:t>
            </a:r>
          </a:p>
        </p:txBody>
      </p:sp>
      <p:sp>
        <p:nvSpPr>
          <p:cNvPr id="3" name="副标题 2">
            <a:extLst>
              <a:ext uri="{FF2B5EF4-FFF2-40B4-BE49-F238E27FC236}">
                <a16:creationId xmlns:a16="http://schemas.microsoft.com/office/drawing/2014/main" id="{0A978A23-732B-ED28-A503-82A32FA8B045}"/>
              </a:ext>
            </a:extLst>
          </p:cNvPr>
          <p:cNvSpPr>
            <a:spLocks noGrp="1"/>
          </p:cNvSpPr>
          <p:nvPr>
            <p:ph type="subTitle" idx="1"/>
          </p:nvPr>
        </p:nvSpPr>
        <p:spPr>
          <a:xfrm>
            <a:off x="1284797" y="1892411"/>
            <a:ext cx="10093519" cy="3673502"/>
          </a:xfrm>
        </p:spPr>
        <p:txBody>
          <a:bodyPr>
            <a:normAutofit/>
          </a:bodyPr>
          <a:lstStyle/>
          <a:p>
            <a:pPr algn="l">
              <a:lnSpc>
                <a:spcPct val="150000"/>
              </a:lnSpc>
            </a:pPr>
            <a:r>
              <a:rPr lang="en-US" altLang="zh-CN" sz="3600" dirty="0">
                <a:latin typeface="华光标题宋_CNKI" panose="02000500000000000000" pitchFamily="2" charset="-122"/>
                <a:ea typeface="华光标题宋_CNKI" panose="02000500000000000000" pitchFamily="2" charset="-122"/>
              </a:rPr>
              <a:t> 1</a:t>
            </a:r>
            <a:r>
              <a:rPr lang="zh-CN" altLang="en-US" sz="3600" dirty="0">
                <a:latin typeface="华光标题宋_CNKI" panose="02000500000000000000" pitchFamily="2" charset="-122"/>
                <a:ea typeface="华光标题宋_CNKI" panose="02000500000000000000" pitchFamily="2" charset="-122"/>
              </a:rPr>
              <a:t>、开发环境</a:t>
            </a:r>
            <a:endParaRPr lang="en-US" altLang="zh-CN" sz="3600" dirty="0">
              <a:latin typeface="华光标题宋_CNKI" panose="02000500000000000000" pitchFamily="2" charset="-122"/>
              <a:ea typeface="华光标题宋_CNKI" panose="02000500000000000000" pitchFamily="2" charset="-122"/>
            </a:endParaRPr>
          </a:p>
          <a:p>
            <a:pPr algn="l">
              <a:lnSpc>
                <a:spcPct val="150000"/>
              </a:lnSpc>
            </a:pPr>
            <a:r>
              <a:rPr lang="en-US" altLang="zh-CN" sz="3200" dirty="0"/>
              <a:t>      </a:t>
            </a:r>
            <a:r>
              <a:rPr lang="zh-CN" altLang="en-US" sz="2800" dirty="0"/>
              <a:t>操作系统：</a:t>
            </a:r>
            <a:r>
              <a:rPr lang="en-US" altLang="zh-CN" sz="2800" dirty="0"/>
              <a:t>Windows10</a:t>
            </a:r>
            <a:r>
              <a:rPr lang="zh-CN" altLang="en-US" sz="2800" dirty="0"/>
              <a:t>及以上操作系统。</a:t>
            </a:r>
            <a:endParaRPr lang="en-US" altLang="zh-CN" sz="2800" dirty="0"/>
          </a:p>
          <a:p>
            <a:pPr algn="l">
              <a:lnSpc>
                <a:spcPct val="150000"/>
              </a:lnSpc>
            </a:pPr>
            <a:r>
              <a:rPr lang="zh-CN" altLang="en-US" sz="2800" dirty="0"/>
              <a:t>       开发工具：</a:t>
            </a:r>
            <a:r>
              <a:rPr lang="en-US" altLang="zh-CN" sz="2800" dirty="0"/>
              <a:t>Visual studio 2022</a:t>
            </a:r>
            <a:r>
              <a:rPr lang="zh-CN" altLang="en-US" sz="2800" dirty="0"/>
              <a:t>及以上版本</a:t>
            </a:r>
            <a:endParaRPr lang="en-US" altLang="zh-CN" sz="2800" dirty="0"/>
          </a:p>
          <a:p>
            <a:pPr algn="l">
              <a:lnSpc>
                <a:spcPct val="150000"/>
              </a:lnSpc>
            </a:pPr>
            <a:r>
              <a:rPr lang="en-US" altLang="zh-CN" sz="2800" dirty="0"/>
              <a:t>  </a:t>
            </a:r>
            <a:r>
              <a:rPr lang="zh-CN" altLang="en-US" sz="2800" dirty="0"/>
              <a:t>     图形开发：</a:t>
            </a:r>
            <a:r>
              <a:rPr lang="en-US" altLang="zh-CN" sz="2800" dirty="0"/>
              <a:t>Windows GDI</a:t>
            </a:r>
          </a:p>
          <a:p>
            <a:pPr algn="l">
              <a:lnSpc>
                <a:spcPct val="150000"/>
              </a:lnSpc>
            </a:pPr>
            <a:endParaRPr lang="zh-CN" altLang="en-US" sz="2800" dirty="0"/>
          </a:p>
        </p:txBody>
      </p:sp>
    </p:spTree>
    <p:extLst>
      <p:ext uri="{BB962C8B-B14F-4D97-AF65-F5344CB8AC3E}">
        <p14:creationId xmlns:p14="http://schemas.microsoft.com/office/powerpoint/2010/main" val="20270900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D91439E-08E0-9F0E-C4E5-6EC3D316DFA5}"/>
              </a:ext>
            </a:extLst>
          </p:cNvPr>
          <p:cNvSpPr>
            <a:spLocks noGrp="1"/>
          </p:cNvSpPr>
          <p:nvPr>
            <p:ph idx="1"/>
          </p:nvPr>
        </p:nvSpPr>
        <p:spPr>
          <a:xfrm>
            <a:off x="838200" y="946204"/>
            <a:ext cx="10515600" cy="4746929"/>
          </a:xfrm>
        </p:spPr>
        <p:txBody>
          <a:bodyPr/>
          <a:lstStyle/>
          <a:p>
            <a:pPr marL="0" indent="0">
              <a:lnSpc>
                <a:spcPct val="150000"/>
              </a:lnSpc>
              <a:buNone/>
            </a:pPr>
            <a:r>
              <a:rPr lang="en-US" altLang="zh-CN" sz="3600" dirty="0">
                <a:latin typeface="华光标题宋_CNKI" panose="02000500000000000000" pitchFamily="2" charset="-122"/>
                <a:ea typeface="华光标题宋_CNKI" panose="02000500000000000000" pitchFamily="2" charset="-122"/>
              </a:rPr>
              <a:t> 2. Visual C++ MFC</a:t>
            </a:r>
            <a:r>
              <a:rPr lang="zh-CN" altLang="en-US" sz="3600" dirty="0">
                <a:latin typeface="华光标题宋_CNKI" panose="02000500000000000000" pitchFamily="2" charset="-122"/>
                <a:ea typeface="华光标题宋_CNKI" panose="02000500000000000000" pitchFamily="2" charset="-122"/>
              </a:rPr>
              <a:t>编程基础</a:t>
            </a:r>
            <a:endParaRPr lang="en-US" altLang="zh-CN" sz="3600" dirty="0">
              <a:latin typeface="华光标题宋_CNKI" panose="02000500000000000000" pitchFamily="2" charset="-122"/>
              <a:ea typeface="华光标题宋_CNKI" panose="02000500000000000000" pitchFamily="2" charset="-122"/>
            </a:endParaRPr>
          </a:p>
          <a:p>
            <a:pPr marL="0" indent="0">
              <a:lnSpc>
                <a:spcPct val="150000"/>
              </a:lnSpc>
              <a:buNone/>
            </a:pPr>
            <a:r>
              <a:rPr lang="en-US" altLang="zh-CN" sz="3200" dirty="0">
                <a:latin typeface="华光标题宋_CNKI" panose="02000500000000000000" pitchFamily="2" charset="-122"/>
                <a:ea typeface="华光标题宋_CNKI" panose="02000500000000000000" pitchFamily="2" charset="-122"/>
              </a:rPr>
              <a:t> 2.1 MFC</a:t>
            </a:r>
            <a:r>
              <a:rPr lang="zh-CN" altLang="en-US" sz="3200" dirty="0">
                <a:latin typeface="华光标题宋_CNKI" panose="02000500000000000000" pitchFamily="2" charset="-122"/>
                <a:ea typeface="华光标题宋_CNKI" panose="02000500000000000000" pitchFamily="2" charset="-122"/>
              </a:rPr>
              <a:t>程序的基本结构</a:t>
            </a:r>
            <a:endParaRPr lang="en-US" altLang="zh-CN" sz="3200" dirty="0">
              <a:latin typeface="华光标题宋_CNKI" panose="02000500000000000000" pitchFamily="2" charset="-122"/>
              <a:ea typeface="华光标题宋_CNKI" panose="02000500000000000000" pitchFamily="2" charset="-122"/>
            </a:endParaRPr>
          </a:p>
          <a:p>
            <a:pPr marL="0" indent="0">
              <a:lnSpc>
                <a:spcPct val="150000"/>
              </a:lnSpc>
              <a:buNone/>
            </a:pPr>
            <a:r>
              <a:rPr lang="en-US" altLang="zh-CN" sz="2800" dirty="0">
                <a:latin typeface="华光仿宋_CNKI" panose="02000500000000000000" pitchFamily="2" charset="-122"/>
                <a:ea typeface="华光仿宋_CNKI" panose="02000500000000000000" pitchFamily="2" charset="-122"/>
              </a:rPr>
              <a:t>    </a:t>
            </a:r>
            <a:r>
              <a:rPr lang="zh-CN" altLang="en-US" sz="2800" dirty="0">
                <a:latin typeface="华光仿宋_CNKI" panose="02000500000000000000" pitchFamily="2" charset="-122"/>
                <a:ea typeface="华光仿宋_CNKI" panose="02000500000000000000" pitchFamily="2" charset="-122"/>
              </a:rPr>
              <a:t>打开</a:t>
            </a:r>
            <a:r>
              <a:rPr lang="en-US" altLang="zh-CN" dirty="0">
                <a:latin typeface="华光仿宋_CNKI" panose="02000500000000000000" pitchFamily="2" charset="-122"/>
                <a:ea typeface="华光仿宋_CNKI" panose="02000500000000000000" pitchFamily="2" charset="-122"/>
              </a:rPr>
              <a:t>Visual studio 2022</a:t>
            </a:r>
            <a:r>
              <a:rPr lang="zh-CN" altLang="en-US" dirty="0">
                <a:latin typeface="华光仿宋_CNKI" panose="02000500000000000000" pitchFamily="2" charset="-122"/>
                <a:ea typeface="华光仿宋_CNKI" panose="02000500000000000000" pitchFamily="2" charset="-122"/>
              </a:rPr>
              <a:t>及以上版本的</a:t>
            </a:r>
            <a:r>
              <a:rPr lang="en-US" altLang="zh-CN" dirty="0">
                <a:latin typeface="华光仿宋_CNKI" panose="02000500000000000000" pitchFamily="2" charset="-122"/>
                <a:ea typeface="华光仿宋_CNKI" panose="02000500000000000000" pitchFamily="2" charset="-122"/>
              </a:rPr>
              <a:t>C++</a:t>
            </a:r>
            <a:r>
              <a:rPr lang="zh-CN" altLang="en-US" dirty="0">
                <a:latin typeface="华光仿宋_CNKI" panose="02000500000000000000" pitchFamily="2" charset="-122"/>
                <a:ea typeface="华光仿宋_CNKI" panose="02000500000000000000" pitchFamily="2" charset="-122"/>
              </a:rPr>
              <a:t>开发工具，通过如下的步骤创建一个基本的</a:t>
            </a:r>
            <a:r>
              <a:rPr lang="en-US" altLang="zh-CN" dirty="0">
                <a:latin typeface="华光仿宋_CNKI" panose="02000500000000000000" pitchFamily="2" charset="-122"/>
                <a:ea typeface="华光仿宋_CNKI" panose="02000500000000000000" pitchFamily="2" charset="-122"/>
              </a:rPr>
              <a:t>Windows</a:t>
            </a:r>
            <a:r>
              <a:rPr lang="zh-CN" altLang="en-US" dirty="0">
                <a:latin typeface="华光仿宋_CNKI" panose="02000500000000000000" pitchFamily="2" charset="-122"/>
                <a:ea typeface="华光仿宋_CNKI" panose="02000500000000000000" pitchFamily="2" charset="-122"/>
              </a:rPr>
              <a:t>应用程序。</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2800"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a:t>
            </a:r>
            <a:r>
              <a:rPr lang="en-US" altLang="zh-CN" dirty="0">
                <a:latin typeface="华光仿宋_CNKI" panose="02000500000000000000" pitchFamily="2" charset="-122"/>
                <a:ea typeface="华光仿宋_CNKI" panose="02000500000000000000" pitchFamily="2" charset="-122"/>
              </a:rPr>
              <a:t>1</a:t>
            </a:r>
            <a:r>
              <a:rPr lang="zh-CN" altLang="en-US" dirty="0">
                <a:latin typeface="华光仿宋_CNKI" panose="02000500000000000000" pitchFamily="2" charset="-122"/>
                <a:ea typeface="华光仿宋_CNKI" panose="02000500000000000000" pitchFamily="2" charset="-122"/>
              </a:rPr>
              <a:t>）双击</a:t>
            </a:r>
            <a:r>
              <a:rPr lang="en-US" altLang="zh-CN" dirty="0">
                <a:latin typeface="华光仿宋_CNKI" panose="02000500000000000000" pitchFamily="2" charset="-122"/>
                <a:ea typeface="华光仿宋_CNKI" panose="02000500000000000000" pitchFamily="2" charset="-122"/>
              </a:rPr>
              <a:t>Visual studio 2022</a:t>
            </a:r>
            <a:r>
              <a:rPr lang="zh-CN" altLang="en-US" dirty="0">
                <a:latin typeface="华光仿宋_CNKI" panose="02000500000000000000" pitchFamily="2" charset="-122"/>
                <a:ea typeface="华光仿宋_CNKI" panose="02000500000000000000" pitchFamily="2" charset="-122"/>
              </a:rPr>
              <a:t>应用程序图标，出现如图</a:t>
            </a:r>
            <a:r>
              <a:rPr lang="en-US" altLang="zh-CN" dirty="0">
                <a:latin typeface="华光仿宋_CNKI" panose="02000500000000000000" pitchFamily="2" charset="-122"/>
                <a:ea typeface="华光仿宋_CNKI" panose="02000500000000000000" pitchFamily="2" charset="-122"/>
              </a:rPr>
              <a:t>1</a:t>
            </a:r>
            <a:r>
              <a:rPr lang="zh-CN" altLang="en-US" dirty="0">
                <a:latin typeface="华光仿宋_CNKI" panose="02000500000000000000" pitchFamily="2" charset="-122"/>
                <a:ea typeface="华光仿宋_CNKI" panose="02000500000000000000" pitchFamily="2" charset="-122"/>
              </a:rPr>
              <a:t>所示窗体。</a:t>
            </a:r>
            <a:endParaRPr lang="en-US" altLang="zh-CN" sz="2800" dirty="0">
              <a:latin typeface="华光仿宋_CNKI" panose="02000500000000000000" pitchFamily="2" charset="-122"/>
              <a:ea typeface="华光仿宋_CNKI" panose="02000500000000000000" pitchFamily="2" charset="-122"/>
            </a:endParaRPr>
          </a:p>
        </p:txBody>
      </p:sp>
    </p:spTree>
    <p:extLst>
      <p:ext uri="{BB962C8B-B14F-4D97-AF65-F5344CB8AC3E}">
        <p14:creationId xmlns:p14="http://schemas.microsoft.com/office/powerpoint/2010/main" val="30087242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a:extLst>
              <a:ext uri="{FF2B5EF4-FFF2-40B4-BE49-F238E27FC236}">
                <a16:creationId xmlns:a16="http://schemas.microsoft.com/office/drawing/2014/main" id="{A854372A-E435-EB9C-76CD-7701D955D9B2}"/>
              </a:ext>
            </a:extLst>
          </p:cNvPr>
          <p:cNvSpPr txBox="1"/>
          <p:nvPr/>
        </p:nvSpPr>
        <p:spPr>
          <a:xfrm>
            <a:off x="4123908" y="5892320"/>
            <a:ext cx="3944183" cy="369332"/>
          </a:xfrm>
          <a:prstGeom prst="rect">
            <a:avLst/>
          </a:prstGeom>
          <a:noFill/>
        </p:spPr>
        <p:txBody>
          <a:bodyPr wrap="square" rtlCol="0">
            <a:spAutoFit/>
          </a:bodyPr>
          <a:lstStyle/>
          <a:p>
            <a:pPr algn="ctr"/>
            <a:r>
              <a:rPr lang="zh-CN" altLang="en-US" b="1" dirty="0">
                <a:latin typeface="华光仿宋_CNKI" panose="02000500000000000000" pitchFamily="2" charset="-122"/>
                <a:ea typeface="华光仿宋_CNKI" panose="02000500000000000000" pitchFamily="2" charset="-122"/>
              </a:rPr>
              <a:t>图</a:t>
            </a:r>
            <a:r>
              <a:rPr lang="en-US" altLang="zh-CN" b="1" dirty="0">
                <a:latin typeface="华光仿宋_CNKI" panose="02000500000000000000" pitchFamily="2" charset="-122"/>
                <a:ea typeface="华光仿宋_CNKI" panose="02000500000000000000" pitchFamily="2" charset="-122"/>
              </a:rPr>
              <a:t>1 Visual studio 2022</a:t>
            </a:r>
            <a:r>
              <a:rPr lang="zh-CN" altLang="en-US" b="1" dirty="0">
                <a:latin typeface="华光仿宋_CNKI" panose="02000500000000000000" pitchFamily="2" charset="-122"/>
                <a:ea typeface="华光仿宋_CNKI" panose="02000500000000000000" pitchFamily="2" charset="-122"/>
              </a:rPr>
              <a:t>初始页面</a:t>
            </a:r>
          </a:p>
        </p:txBody>
      </p:sp>
      <p:pic>
        <p:nvPicPr>
          <p:cNvPr id="3" name="图片 2">
            <a:extLst>
              <a:ext uri="{FF2B5EF4-FFF2-40B4-BE49-F238E27FC236}">
                <a16:creationId xmlns:a16="http://schemas.microsoft.com/office/drawing/2014/main" id="{48C86D3C-60A2-4C7B-352D-36E0C96B6F98}"/>
              </a:ext>
            </a:extLst>
          </p:cNvPr>
          <p:cNvPicPr>
            <a:picLocks noChangeAspect="1"/>
          </p:cNvPicPr>
          <p:nvPr/>
        </p:nvPicPr>
        <p:blipFill>
          <a:blip r:embed="rId2"/>
          <a:stretch>
            <a:fillRect/>
          </a:stretch>
        </p:blipFill>
        <p:spPr>
          <a:xfrm>
            <a:off x="628153" y="596348"/>
            <a:ext cx="10933044" cy="5295972"/>
          </a:xfrm>
          <a:prstGeom prst="rect">
            <a:avLst/>
          </a:prstGeom>
        </p:spPr>
      </p:pic>
    </p:spTree>
    <p:extLst>
      <p:ext uri="{BB962C8B-B14F-4D97-AF65-F5344CB8AC3E}">
        <p14:creationId xmlns:p14="http://schemas.microsoft.com/office/powerpoint/2010/main" val="21992972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D91439E-08E0-9F0E-C4E5-6EC3D316DFA5}"/>
              </a:ext>
            </a:extLst>
          </p:cNvPr>
          <p:cNvSpPr>
            <a:spLocks noGrp="1"/>
          </p:cNvSpPr>
          <p:nvPr>
            <p:ph idx="1"/>
          </p:nvPr>
        </p:nvSpPr>
        <p:spPr>
          <a:xfrm>
            <a:off x="838200" y="405518"/>
            <a:ext cx="10515600" cy="707665"/>
          </a:xfrm>
        </p:spPr>
        <p:txBody>
          <a:bodyPr/>
          <a:lstStyle/>
          <a:p>
            <a:pPr marL="0" indent="0">
              <a:lnSpc>
                <a:spcPct val="150000"/>
              </a:lnSpc>
              <a:buNone/>
            </a:pPr>
            <a:r>
              <a:rPr lang="zh-CN" altLang="en-US" sz="2800" dirty="0">
                <a:latin typeface="华光仿宋_CNKI" panose="02000500000000000000" pitchFamily="2" charset="-122"/>
                <a:ea typeface="华光仿宋_CNKI" panose="02000500000000000000" pitchFamily="2" charset="-122"/>
              </a:rPr>
              <a:t>  （</a:t>
            </a:r>
            <a:r>
              <a:rPr lang="en-US" altLang="zh-CN" sz="2800" dirty="0">
                <a:latin typeface="华光仿宋_CNKI" panose="02000500000000000000" pitchFamily="2" charset="-122"/>
                <a:ea typeface="华光仿宋_CNKI" panose="02000500000000000000" pitchFamily="2" charset="-122"/>
              </a:rPr>
              <a:t>2</a:t>
            </a:r>
            <a:r>
              <a:rPr lang="zh-CN" altLang="en-US" sz="2800" dirty="0">
                <a:latin typeface="华光仿宋_CNKI" panose="02000500000000000000" pitchFamily="2" charset="-122"/>
                <a:ea typeface="华光仿宋_CNKI" panose="02000500000000000000" pitchFamily="2" charset="-122"/>
              </a:rPr>
              <a:t>）鼠标点击图</a:t>
            </a:r>
            <a:r>
              <a:rPr lang="en-US" altLang="zh-CN" sz="2800" dirty="0">
                <a:latin typeface="华光仿宋_CNKI" panose="02000500000000000000" pitchFamily="2" charset="-122"/>
                <a:ea typeface="华光仿宋_CNKI" panose="02000500000000000000" pitchFamily="2" charset="-122"/>
              </a:rPr>
              <a:t>1</a:t>
            </a:r>
            <a:r>
              <a:rPr lang="zh-CN" altLang="en-US" sz="2800" dirty="0">
                <a:latin typeface="华光仿宋_CNKI" panose="02000500000000000000" pitchFamily="2" charset="-122"/>
                <a:ea typeface="华光仿宋_CNKI" panose="02000500000000000000" pitchFamily="2" charset="-122"/>
              </a:rPr>
              <a:t>中创建新项目，进入图</a:t>
            </a:r>
            <a:r>
              <a:rPr lang="en-US" altLang="zh-CN" sz="2800" dirty="0">
                <a:latin typeface="华光仿宋_CNKI" panose="02000500000000000000" pitchFamily="2" charset="-122"/>
                <a:ea typeface="华光仿宋_CNKI" panose="02000500000000000000" pitchFamily="2" charset="-122"/>
              </a:rPr>
              <a:t>2</a:t>
            </a:r>
            <a:r>
              <a:rPr lang="zh-CN" altLang="en-US" sz="2800" dirty="0">
                <a:latin typeface="华光仿宋_CNKI" panose="02000500000000000000" pitchFamily="2" charset="-122"/>
                <a:ea typeface="华光仿宋_CNKI" panose="02000500000000000000" pitchFamily="2" charset="-122"/>
              </a:rPr>
              <a:t>所示界面。</a:t>
            </a:r>
            <a:endParaRPr lang="en-US" altLang="zh-CN" sz="2800" dirty="0">
              <a:latin typeface="华光仿宋_CNKI" panose="02000500000000000000" pitchFamily="2" charset="-122"/>
              <a:ea typeface="华光仿宋_CNKI" panose="02000500000000000000" pitchFamily="2" charset="-122"/>
            </a:endParaRPr>
          </a:p>
        </p:txBody>
      </p:sp>
      <p:sp>
        <p:nvSpPr>
          <p:cNvPr id="7" name="文本框 6">
            <a:extLst>
              <a:ext uri="{FF2B5EF4-FFF2-40B4-BE49-F238E27FC236}">
                <a16:creationId xmlns:a16="http://schemas.microsoft.com/office/drawing/2014/main" id="{62438AC6-40C9-58DC-396A-FA2D2483E0DF}"/>
              </a:ext>
            </a:extLst>
          </p:cNvPr>
          <p:cNvSpPr txBox="1"/>
          <p:nvPr/>
        </p:nvSpPr>
        <p:spPr>
          <a:xfrm>
            <a:off x="5083057" y="6027086"/>
            <a:ext cx="1901483" cy="369332"/>
          </a:xfrm>
          <a:prstGeom prst="rect">
            <a:avLst/>
          </a:prstGeom>
          <a:noFill/>
        </p:spPr>
        <p:txBody>
          <a:bodyPr wrap="none" rtlCol="0">
            <a:spAutoFit/>
          </a:bodyPr>
          <a:lstStyle/>
          <a:p>
            <a:r>
              <a:rPr lang="zh-CN" altLang="en-US" b="1" dirty="0">
                <a:latin typeface="华光仿宋_CNKI" panose="02000500000000000000" pitchFamily="2" charset="-122"/>
                <a:ea typeface="华光仿宋_CNKI" panose="02000500000000000000" pitchFamily="2" charset="-122"/>
              </a:rPr>
              <a:t>图</a:t>
            </a:r>
            <a:r>
              <a:rPr lang="en-US" altLang="zh-CN" b="1" dirty="0">
                <a:latin typeface="华光仿宋_CNKI" panose="02000500000000000000" pitchFamily="2" charset="-122"/>
                <a:ea typeface="华光仿宋_CNKI" panose="02000500000000000000" pitchFamily="2" charset="-122"/>
              </a:rPr>
              <a:t>2  </a:t>
            </a:r>
            <a:r>
              <a:rPr lang="zh-CN" altLang="en-US" b="1" dirty="0">
                <a:latin typeface="华光仿宋_CNKI" panose="02000500000000000000" pitchFamily="2" charset="-122"/>
                <a:ea typeface="华光仿宋_CNKI" panose="02000500000000000000" pitchFamily="2" charset="-122"/>
              </a:rPr>
              <a:t>创建新项目</a:t>
            </a:r>
          </a:p>
        </p:txBody>
      </p:sp>
      <p:pic>
        <p:nvPicPr>
          <p:cNvPr id="10" name="图片 9">
            <a:extLst>
              <a:ext uri="{FF2B5EF4-FFF2-40B4-BE49-F238E27FC236}">
                <a16:creationId xmlns:a16="http://schemas.microsoft.com/office/drawing/2014/main" id="{ECAA8F11-C4D4-A1A1-D36C-DFB9E8442EEB}"/>
              </a:ext>
            </a:extLst>
          </p:cNvPr>
          <p:cNvPicPr>
            <a:picLocks noChangeAspect="1"/>
          </p:cNvPicPr>
          <p:nvPr/>
        </p:nvPicPr>
        <p:blipFill>
          <a:blip r:embed="rId2"/>
          <a:stretch>
            <a:fillRect/>
          </a:stretch>
        </p:blipFill>
        <p:spPr>
          <a:xfrm>
            <a:off x="771276" y="1113183"/>
            <a:ext cx="10734261" cy="4802587"/>
          </a:xfrm>
          <a:prstGeom prst="rect">
            <a:avLst/>
          </a:prstGeom>
        </p:spPr>
      </p:pic>
    </p:spTree>
    <p:extLst>
      <p:ext uri="{BB962C8B-B14F-4D97-AF65-F5344CB8AC3E}">
        <p14:creationId xmlns:p14="http://schemas.microsoft.com/office/powerpoint/2010/main" val="42059811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D91439E-08E0-9F0E-C4E5-6EC3D316DFA5}"/>
              </a:ext>
            </a:extLst>
          </p:cNvPr>
          <p:cNvSpPr>
            <a:spLocks noGrp="1"/>
          </p:cNvSpPr>
          <p:nvPr>
            <p:ph idx="1"/>
          </p:nvPr>
        </p:nvSpPr>
        <p:spPr>
          <a:xfrm>
            <a:off x="838200" y="405518"/>
            <a:ext cx="10515600" cy="1216548"/>
          </a:xfrm>
        </p:spPr>
        <p:txBody>
          <a:bodyPr>
            <a:normAutofit fontScale="92500" lnSpcReduction="10000"/>
          </a:bodyPr>
          <a:lstStyle/>
          <a:p>
            <a:pPr marL="0" indent="0">
              <a:lnSpc>
                <a:spcPct val="150000"/>
              </a:lnSpc>
              <a:buNone/>
            </a:pPr>
            <a:r>
              <a:rPr lang="zh-CN" altLang="en-US" sz="2800" dirty="0">
                <a:latin typeface="华光仿宋_CNKI" panose="02000500000000000000" pitchFamily="2" charset="-122"/>
                <a:ea typeface="华光仿宋_CNKI" panose="02000500000000000000" pitchFamily="2" charset="-122"/>
              </a:rPr>
              <a:t>  （</a:t>
            </a:r>
            <a:r>
              <a:rPr lang="en-US" altLang="zh-CN" dirty="0">
                <a:latin typeface="华光仿宋_CNKI" panose="02000500000000000000" pitchFamily="2" charset="-122"/>
                <a:ea typeface="华光仿宋_CNKI" panose="02000500000000000000" pitchFamily="2" charset="-122"/>
              </a:rPr>
              <a:t>3</a:t>
            </a:r>
            <a:r>
              <a:rPr lang="zh-CN" altLang="en-US" sz="2800" dirty="0">
                <a:latin typeface="华光仿宋_CNKI" panose="02000500000000000000" pitchFamily="2" charset="-122"/>
                <a:ea typeface="华光仿宋_CNKI" panose="02000500000000000000" pitchFamily="2" charset="-122"/>
              </a:rPr>
              <a:t>）选择右边窗体中的</a:t>
            </a:r>
            <a:r>
              <a:rPr lang="en-US" altLang="zh-CN" sz="2800" dirty="0">
                <a:latin typeface="华光仿宋_CNKI" panose="02000500000000000000" pitchFamily="2" charset="-122"/>
                <a:ea typeface="华光仿宋_CNKI" panose="02000500000000000000" pitchFamily="2" charset="-122"/>
              </a:rPr>
              <a:t>MFC</a:t>
            </a:r>
            <a:r>
              <a:rPr lang="zh-CN" altLang="en-US" sz="2800" dirty="0">
                <a:latin typeface="华光仿宋_CNKI" panose="02000500000000000000" pitchFamily="2" charset="-122"/>
                <a:ea typeface="华光仿宋_CNKI" panose="02000500000000000000" pitchFamily="2" charset="-122"/>
              </a:rPr>
              <a:t>应用程序，然后点击下一步，进入图</a:t>
            </a:r>
            <a:r>
              <a:rPr lang="en-US" altLang="zh-CN" sz="2800" dirty="0">
                <a:latin typeface="华光仿宋_CNKI" panose="02000500000000000000" pitchFamily="2" charset="-122"/>
                <a:ea typeface="华光仿宋_CNKI" panose="02000500000000000000" pitchFamily="2" charset="-122"/>
              </a:rPr>
              <a:t>3</a:t>
            </a:r>
            <a:r>
              <a:rPr lang="zh-CN" altLang="en-US" sz="2800" dirty="0">
                <a:latin typeface="华光仿宋_CNKI" panose="02000500000000000000" pitchFamily="2" charset="-122"/>
                <a:ea typeface="华光仿宋_CNKI" panose="02000500000000000000" pitchFamily="2" charset="-122"/>
              </a:rPr>
              <a:t>所示页面。</a:t>
            </a:r>
            <a:endParaRPr lang="en-US" altLang="zh-CN" sz="2800" dirty="0">
              <a:latin typeface="华光仿宋_CNKI" panose="02000500000000000000" pitchFamily="2" charset="-122"/>
              <a:ea typeface="华光仿宋_CNKI" panose="02000500000000000000" pitchFamily="2" charset="-122"/>
            </a:endParaRPr>
          </a:p>
        </p:txBody>
      </p:sp>
      <p:sp>
        <p:nvSpPr>
          <p:cNvPr id="7" name="文本框 6">
            <a:extLst>
              <a:ext uri="{FF2B5EF4-FFF2-40B4-BE49-F238E27FC236}">
                <a16:creationId xmlns:a16="http://schemas.microsoft.com/office/drawing/2014/main" id="{62438AC6-40C9-58DC-396A-FA2D2483E0DF}"/>
              </a:ext>
            </a:extLst>
          </p:cNvPr>
          <p:cNvSpPr txBox="1"/>
          <p:nvPr/>
        </p:nvSpPr>
        <p:spPr>
          <a:xfrm>
            <a:off x="4550320" y="6035037"/>
            <a:ext cx="3664786" cy="369332"/>
          </a:xfrm>
          <a:prstGeom prst="rect">
            <a:avLst/>
          </a:prstGeom>
          <a:noFill/>
        </p:spPr>
        <p:txBody>
          <a:bodyPr wrap="none" rtlCol="0">
            <a:spAutoFit/>
          </a:bodyPr>
          <a:lstStyle/>
          <a:p>
            <a:r>
              <a:rPr lang="zh-CN" altLang="en-US" b="1" dirty="0">
                <a:latin typeface="华光仿宋_CNKI" panose="02000500000000000000" pitchFamily="2" charset="-122"/>
                <a:ea typeface="华光仿宋_CNKI" panose="02000500000000000000" pitchFamily="2" charset="-122"/>
              </a:rPr>
              <a:t>图</a:t>
            </a:r>
            <a:r>
              <a:rPr lang="en-US" altLang="zh-CN" b="1" dirty="0">
                <a:latin typeface="华光仿宋_CNKI" panose="02000500000000000000" pitchFamily="2" charset="-122"/>
                <a:ea typeface="华光仿宋_CNKI" panose="02000500000000000000" pitchFamily="2" charset="-122"/>
              </a:rPr>
              <a:t>3  </a:t>
            </a:r>
            <a:r>
              <a:rPr lang="zh-CN" altLang="en-US" b="1" dirty="0">
                <a:latin typeface="华光仿宋_CNKI" panose="02000500000000000000" pitchFamily="2" charset="-122"/>
                <a:ea typeface="华光仿宋_CNKI" panose="02000500000000000000" pitchFamily="2" charset="-122"/>
              </a:rPr>
              <a:t>设置</a:t>
            </a:r>
            <a:r>
              <a:rPr lang="en-US" altLang="zh-CN" b="1" dirty="0">
                <a:latin typeface="华光仿宋_CNKI" panose="02000500000000000000" pitchFamily="2" charset="-122"/>
                <a:ea typeface="华光仿宋_CNKI" panose="02000500000000000000" pitchFamily="2" charset="-122"/>
              </a:rPr>
              <a:t>MFC</a:t>
            </a:r>
            <a:r>
              <a:rPr lang="zh-CN" altLang="en-US" b="1" dirty="0">
                <a:latin typeface="华光仿宋_CNKI" panose="02000500000000000000" pitchFamily="2" charset="-122"/>
                <a:ea typeface="华光仿宋_CNKI" panose="02000500000000000000" pitchFamily="2" charset="-122"/>
              </a:rPr>
              <a:t>应用程序名称及路径</a:t>
            </a:r>
          </a:p>
        </p:txBody>
      </p:sp>
      <p:pic>
        <p:nvPicPr>
          <p:cNvPr id="9" name="图片 8">
            <a:extLst>
              <a:ext uri="{FF2B5EF4-FFF2-40B4-BE49-F238E27FC236}">
                <a16:creationId xmlns:a16="http://schemas.microsoft.com/office/drawing/2014/main" id="{3C4718E8-7AFC-EE54-E82D-93B646D00002}"/>
              </a:ext>
            </a:extLst>
          </p:cNvPr>
          <p:cNvPicPr>
            <a:picLocks noChangeAspect="1"/>
          </p:cNvPicPr>
          <p:nvPr/>
        </p:nvPicPr>
        <p:blipFill>
          <a:blip r:embed="rId2"/>
          <a:stretch>
            <a:fillRect/>
          </a:stretch>
        </p:blipFill>
        <p:spPr>
          <a:xfrm>
            <a:off x="1232452" y="1622066"/>
            <a:ext cx="10041836" cy="4206237"/>
          </a:xfrm>
          <a:prstGeom prst="rect">
            <a:avLst/>
          </a:prstGeom>
        </p:spPr>
      </p:pic>
    </p:spTree>
    <p:extLst>
      <p:ext uri="{BB962C8B-B14F-4D97-AF65-F5344CB8AC3E}">
        <p14:creationId xmlns:p14="http://schemas.microsoft.com/office/powerpoint/2010/main" val="6741746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D91439E-08E0-9F0E-C4E5-6EC3D316DFA5}"/>
              </a:ext>
            </a:extLst>
          </p:cNvPr>
          <p:cNvSpPr>
            <a:spLocks noGrp="1"/>
          </p:cNvSpPr>
          <p:nvPr>
            <p:ph idx="1"/>
          </p:nvPr>
        </p:nvSpPr>
        <p:spPr>
          <a:xfrm>
            <a:off x="838200" y="405518"/>
            <a:ext cx="10515600" cy="1693625"/>
          </a:xfrm>
        </p:spPr>
        <p:txBody>
          <a:bodyPr>
            <a:normAutofit fontScale="92500"/>
          </a:bodyPr>
          <a:lstStyle/>
          <a:p>
            <a:pPr marL="0" indent="0">
              <a:lnSpc>
                <a:spcPct val="150000"/>
              </a:lnSpc>
              <a:buNone/>
            </a:pPr>
            <a:r>
              <a:rPr lang="zh-CN" altLang="en-US" sz="2800" dirty="0">
                <a:latin typeface="华光仿宋_CNKI" panose="02000500000000000000" pitchFamily="2" charset="-122"/>
                <a:ea typeface="华光仿宋_CNKI" panose="02000500000000000000" pitchFamily="2" charset="-122"/>
              </a:rPr>
              <a:t>  （</a:t>
            </a:r>
            <a:r>
              <a:rPr lang="en-US" altLang="zh-CN" sz="2800" dirty="0">
                <a:latin typeface="华光仿宋_CNKI" panose="02000500000000000000" pitchFamily="2" charset="-122"/>
                <a:ea typeface="华光仿宋_CNKI" panose="02000500000000000000" pitchFamily="2" charset="-122"/>
              </a:rPr>
              <a:t>4</a:t>
            </a:r>
            <a:r>
              <a:rPr lang="zh-CN" altLang="en-US" sz="2800" dirty="0">
                <a:latin typeface="华光仿宋_CNKI" panose="02000500000000000000" pitchFamily="2" charset="-122"/>
                <a:ea typeface="华光仿宋_CNKI" panose="02000500000000000000" pitchFamily="2" charset="-122"/>
              </a:rPr>
              <a:t>）点击创建，进入图</a:t>
            </a:r>
            <a:r>
              <a:rPr lang="en-US" altLang="zh-CN" sz="2800" dirty="0">
                <a:latin typeface="华光仿宋_CNKI" panose="02000500000000000000" pitchFamily="2" charset="-122"/>
                <a:ea typeface="华光仿宋_CNKI" panose="02000500000000000000" pitchFamily="2" charset="-122"/>
              </a:rPr>
              <a:t>4</a:t>
            </a:r>
            <a:r>
              <a:rPr lang="zh-CN" altLang="en-US" sz="2800" dirty="0">
                <a:latin typeface="华光仿宋_CNKI" panose="02000500000000000000" pitchFamily="2" charset="-122"/>
                <a:ea typeface="华光仿宋_CNKI" panose="02000500000000000000" pitchFamily="2" charset="-122"/>
              </a:rPr>
              <a:t>所示页面。该页面可对窗体类型，类名，界面特性等进行设置。注意项目样式一般设置为</a:t>
            </a:r>
            <a:r>
              <a:rPr lang="en-US" altLang="zh-CN" sz="2800" dirty="0">
                <a:latin typeface="华光仿宋_CNKI" panose="02000500000000000000" pitchFamily="2" charset="-122"/>
                <a:ea typeface="华光仿宋_CNKI" panose="02000500000000000000" pitchFamily="2" charset="-122"/>
              </a:rPr>
              <a:t>MFC standards</a:t>
            </a:r>
            <a:r>
              <a:rPr lang="zh-CN" altLang="en-US" sz="2800" dirty="0">
                <a:latin typeface="华光仿宋_CNKI" panose="02000500000000000000" pitchFamily="2" charset="-122"/>
                <a:ea typeface="华光仿宋_CNKI" panose="02000500000000000000" pitchFamily="2" charset="-122"/>
              </a:rPr>
              <a:t>样式。</a:t>
            </a:r>
            <a:endParaRPr lang="en-US" altLang="zh-CN" sz="2800" dirty="0">
              <a:latin typeface="华光仿宋_CNKI" panose="02000500000000000000" pitchFamily="2" charset="-122"/>
              <a:ea typeface="华光仿宋_CNKI" panose="02000500000000000000" pitchFamily="2" charset="-122"/>
            </a:endParaRPr>
          </a:p>
        </p:txBody>
      </p:sp>
      <p:sp>
        <p:nvSpPr>
          <p:cNvPr id="5" name="文本框 4">
            <a:extLst>
              <a:ext uri="{FF2B5EF4-FFF2-40B4-BE49-F238E27FC236}">
                <a16:creationId xmlns:a16="http://schemas.microsoft.com/office/drawing/2014/main" id="{5D0AE237-BBD7-0904-79C2-FDF15C9D3C9D}"/>
              </a:ext>
            </a:extLst>
          </p:cNvPr>
          <p:cNvSpPr txBox="1"/>
          <p:nvPr/>
        </p:nvSpPr>
        <p:spPr>
          <a:xfrm>
            <a:off x="4550320" y="6035037"/>
            <a:ext cx="2510624" cy="369332"/>
          </a:xfrm>
          <a:prstGeom prst="rect">
            <a:avLst/>
          </a:prstGeom>
          <a:noFill/>
        </p:spPr>
        <p:txBody>
          <a:bodyPr wrap="none" rtlCol="0">
            <a:spAutoFit/>
          </a:bodyPr>
          <a:lstStyle/>
          <a:p>
            <a:r>
              <a:rPr lang="zh-CN" altLang="en-US" b="1" dirty="0">
                <a:latin typeface="华光仿宋_CNKI" panose="02000500000000000000" pitchFamily="2" charset="-122"/>
                <a:ea typeface="华光仿宋_CNKI" panose="02000500000000000000" pitchFamily="2" charset="-122"/>
              </a:rPr>
              <a:t>图</a:t>
            </a:r>
            <a:r>
              <a:rPr lang="en-US" altLang="zh-CN" b="1" dirty="0">
                <a:latin typeface="华光仿宋_CNKI" panose="02000500000000000000" pitchFamily="2" charset="-122"/>
                <a:ea typeface="华光仿宋_CNKI" panose="02000500000000000000" pitchFamily="2" charset="-122"/>
              </a:rPr>
              <a:t>4  MFC</a:t>
            </a:r>
            <a:r>
              <a:rPr lang="zh-CN" altLang="en-US" b="1" dirty="0">
                <a:latin typeface="华光仿宋_CNKI" panose="02000500000000000000" pitchFamily="2" charset="-122"/>
                <a:ea typeface="华光仿宋_CNKI" panose="02000500000000000000" pitchFamily="2" charset="-122"/>
              </a:rPr>
              <a:t>工程配置页面</a:t>
            </a:r>
          </a:p>
        </p:txBody>
      </p:sp>
      <p:pic>
        <p:nvPicPr>
          <p:cNvPr id="11" name="图片 10">
            <a:extLst>
              <a:ext uri="{FF2B5EF4-FFF2-40B4-BE49-F238E27FC236}">
                <a16:creationId xmlns:a16="http://schemas.microsoft.com/office/drawing/2014/main" id="{A270B395-512C-2ACE-BA8D-10E7FEFBADBC}"/>
              </a:ext>
            </a:extLst>
          </p:cNvPr>
          <p:cNvPicPr>
            <a:picLocks noChangeAspect="1"/>
          </p:cNvPicPr>
          <p:nvPr/>
        </p:nvPicPr>
        <p:blipFill>
          <a:blip r:embed="rId2"/>
          <a:stretch>
            <a:fillRect/>
          </a:stretch>
        </p:blipFill>
        <p:spPr>
          <a:xfrm>
            <a:off x="1670131" y="1606163"/>
            <a:ext cx="8523442" cy="4277802"/>
          </a:xfrm>
          <a:prstGeom prst="rect">
            <a:avLst/>
          </a:prstGeom>
        </p:spPr>
      </p:pic>
    </p:spTree>
    <p:extLst>
      <p:ext uri="{BB962C8B-B14F-4D97-AF65-F5344CB8AC3E}">
        <p14:creationId xmlns:p14="http://schemas.microsoft.com/office/powerpoint/2010/main" val="220905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D91439E-08E0-9F0E-C4E5-6EC3D316DFA5}"/>
              </a:ext>
            </a:extLst>
          </p:cNvPr>
          <p:cNvSpPr>
            <a:spLocks noGrp="1"/>
          </p:cNvSpPr>
          <p:nvPr>
            <p:ph idx="1"/>
          </p:nvPr>
        </p:nvSpPr>
        <p:spPr>
          <a:xfrm>
            <a:off x="838200" y="405519"/>
            <a:ext cx="10515600" cy="818982"/>
          </a:xfrm>
        </p:spPr>
        <p:txBody>
          <a:bodyPr>
            <a:normAutofit/>
          </a:bodyPr>
          <a:lstStyle/>
          <a:p>
            <a:pPr marL="0" indent="0">
              <a:lnSpc>
                <a:spcPct val="150000"/>
              </a:lnSpc>
              <a:buNone/>
            </a:pPr>
            <a:r>
              <a:rPr lang="zh-CN" altLang="en-US" sz="2800" dirty="0">
                <a:latin typeface="华光仿宋_CNKI" panose="02000500000000000000" pitchFamily="2" charset="-122"/>
                <a:ea typeface="华光仿宋_CNKI" panose="02000500000000000000" pitchFamily="2" charset="-122"/>
              </a:rPr>
              <a:t>  （</a:t>
            </a:r>
            <a:r>
              <a:rPr lang="en-US" altLang="zh-CN" dirty="0">
                <a:latin typeface="华光仿宋_CNKI" panose="02000500000000000000" pitchFamily="2" charset="-122"/>
                <a:ea typeface="华光仿宋_CNKI" panose="02000500000000000000" pitchFamily="2" charset="-122"/>
              </a:rPr>
              <a:t>5</a:t>
            </a:r>
            <a:r>
              <a:rPr lang="zh-CN" altLang="en-US" sz="2800" dirty="0">
                <a:latin typeface="华光仿宋_CNKI" panose="02000500000000000000" pitchFamily="2" charset="-122"/>
                <a:ea typeface="华光仿宋_CNKI" panose="02000500000000000000" pitchFamily="2" charset="-122"/>
              </a:rPr>
              <a:t>）运行上述程序可以得到如图</a:t>
            </a:r>
            <a:r>
              <a:rPr lang="en-US" altLang="zh-CN" sz="2800" dirty="0">
                <a:latin typeface="华光仿宋_CNKI" panose="02000500000000000000" pitchFamily="2" charset="-122"/>
                <a:ea typeface="华光仿宋_CNKI" panose="02000500000000000000" pitchFamily="2" charset="-122"/>
              </a:rPr>
              <a:t>5</a:t>
            </a:r>
            <a:r>
              <a:rPr lang="zh-CN" altLang="en-US" sz="2800" dirty="0">
                <a:latin typeface="华光仿宋_CNKI" panose="02000500000000000000" pitchFamily="2" charset="-122"/>
                <a:ea typeface="华光仿宋_CNKI" panose="02000500000000000000" pitchFamily="2" charset="-122"/>
              </a:rPr>
              <a:t>所示的运行结果。</a:t>
            </a:r>
            <a:endParaRPr lang="en-US" altLang="zh-CN" sz="2800" dirty="0">
              <a:latin typeface="华光仿宋_CNKI" panose="02000500000000000000" pitchFamily="2" charset="-122"/>
              <a:ea typeface="华光仿宋_CNKI" panose="02000500000000000000" pitchFamily="2" charset="-122"/>
            </a:endParaRPr>
          </a:p>
        </p:txBody>
      </p:sp>
      <p:sp>
        <p:nvSpPr>
          <p:cNvPr id="5" name="文本框 4">
            <a:extLst>
              <a:ext uri="{FF2B5EF4-FFF2-40B4-BE49-F238E27FC236}">
                <a16:creationId xmlns:a16="http://schemas.microsoft.com/office/drawing/2014/main" id="{5D0AE237-BBD7-0904-79C2-FDF15C9D3C9D}"/>
              </a:ext>
            </a:extLst>
          </p:cNvPr>
          <p:cNvSpPr txBox="1"/>
          <p:nvPr/>
        </p:nvSpPr>
        <p:spPr>
          <a:xfrm>
            <a:off x="4638695" y="6206393"/>
            <a:ext cx="2497800" cy="369332"/>
          </a:xfrm>
          <a:prstGeom prst="rect">
            <a:avLst/>
          </a:prstGeom>
          <a:noFill/>
        </p:spPr>
        <p:txBody>
          <a:bodyPr wrap="none" rtlCol="0">
            <a:spAutoFit/>
          </a:bodyPr>
          <a:lstStyle/>
          <a:p>
            <a:r>
              <a:rPr lang="zh-CN" altLang="en-US" b="1" dirty="0">
                <a:latin typeface="华光仿宋_CNKI" panose="02000500000000000000" pitchFamily="2" charset="-122"/>
                <a:ea typeface="华光仿宋_CNKI" panose="02000500000000000000" pitchFamily="2" charset="-122"/>
              </a:rPr>
              <a:t>图</a:t>
            </a:r>
            <a:r>
              <a:rPr lang="en-US" altLang="zh-CN" b="1" dirty="0">
                <a:latin typeface="华光仿宋_CNKI" panose="02000500000000000000" pitchFamily="2" charset="-122"/>
                <a:ea typeface="华光仿宋_CNKI" panose="02000500000000000000" pitchFamily="2" charset="-122"/>
              </a:rPr>
              <a:t>5  MFC</a:t>
            </a:r>
            <a:r>
              <a:rPr lang="zh-CN" altLang="en-US" b="1" dirty="0">
                <a:latin typeface="华光仿宋_CNKI" panose="02000500000000000000" pitchFamily="2" charset="-122"/>
                <a:ea typeface="华光仿宋_CNKI" panose="02000500000000000000" pitchFamily="2" charset="-122"/>
              </a:rPr>
              <a:t>程序运行结果</a:t>
            </a:r>
          </a:p>
        </p:txBody>
      </p:sp>
      <p:pic>
        <p:nvPicPr>
          <p:cNvPr id="8" name="图片 7">
            <a:extLst>
              <a:ext uri="{FF2B5EF4-FFF2-40B4-BE49-F238E27FC236}">
                <a16:creationId xmlns:a16="http://schemas.microsoft.com/office/drawing/2014/main" id="{3087B102-6EA5-E334-BEF6-76FF48176E03}"/>
              </a:ext>
            </a:extLst>
          </p:cNvPr>
          <p:cNvPicPr>
            <a:picLocks noChangeAspect="1"/>
          </p:cNvPicPr>
          <p:nvPr/>
        </p:nvPicPr>
        <p:blipFill>
          <a:blip r:embed="rId2"/>
          <a:stretch>
            <a:fillRect/>
          </a:stretch>
        </p:blipFill>
        <p:spPr>
          <a:xfrm>
            <a:off x="838199" y="1025918"/>
            <a:ext cx="10515599" cy="5072731"/>
          </a:xfrm>
          <a:prstGeom prst="rect">
            <a:avLst/>
          </a:prstGeom>
        </p:spPr>
      </p:pic>
    </p:spTree>
    <p:extLst>
      <p:ext uri="{BB962C8B-B14F-4D97-AF65-F5344CB8AC3E}">
        <p14:creationId xmlns:p14="http://schemas.microsoft.com/office/powerpoint/2010/main" val="38165335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D91439E-08E0-9F0E-C4E5-6EC3D316DFA5}"/>
              </a:ext>
            </a:extLst>
          </p:cNvPr>
          <p:cNvSpPr>
            <a:spLocks noGrp="1"/>
          </p:cNvSpPr>
          <p:nvPr>
            <p:ph idx="1"/>
          </p:nvPr>
        </p:nvSpPr>
        <p:spPr>
          <a:xfrm>
            <a:off x="838200" y="1033670"/>
            <a:ext cx="10515600" cy="4206239"/>
          </a:xfrm>
        </p:spPr>
        <p:txBody>
          <a:bodyPr>
            <a:normAutofit/>
          </a:bodyPr>
          <a:lstStyle/>
          <a:p>
            <a:pPr marL="0" indent="0">
              <a:lnSpc>
                <a:spcPct val="150000"/>
              </a:lnSpc>
              <a:buNone/>
            </a:pPr>
            <a:r>
              <a:rPr lang="zh-CN" altLang="en-US" sz="2800" dirty="0">
                <a:latin typeface="华光仿宋_CNKI" panose="02000500000000000000" pitchFamily="2" charset="-122"/>
                <a:ea typeface="华光仿宋_CNKI" panose="02000500000000000000" pitchFamily="2" charset="-122"/>
              </a:rPr>
              <a:t>     注意上面生成的应用程序是一个单文档的应用程序，包含基本的菜单，工具条，窗体，状态栏等。也可在创建应用程序时通过不同的设置生成多种形式的应用程序，比如类似于</a:t>
            </a:r>
            <a:r>
              <a:rPr lang="en-US" altLang="zh-CN" sz="2800" dirty="0">
                <a:latin typeface="华光仿宋_CNKI" panose="02000500000000000000" pitchFamily="2" charset="-122"/>
                <a:ea typeface="华光仿宋_CNKI" panose="02000500000000000000" pitchFamily="2" charset="-122"/>
              </a:rPr>
              <a:t>Visual Studio</a:t>
            </a:r>
            <a:r>
              <a:rPr lang="zh-CN" altLang="en-US" sz="2800" dirty="0">
                <a:latin typeface="华光仿宋_CNKI" panose="02000500000000000000" pitchFamily="2" charset="-122"/>
                <a:ea typeface="华光仿宋_CNKI" panose="02000500000000000000" pitchFamily="2" charset="-122"/>
              </a:rPr>
              <a:t>窗体风格的应用程序等等。</a:t>
            </a:r>
            <a:endParaRPr lang="en-US" altLang="zh-CN" sz="28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zh-CN" altLang="en-US" dirty="0">
                <a:latin typeface="华光仿宋_CNKI" panose="02000500000000000000" pitchFamily="2" charset="-122"/>
                <a:ea typeface="华光仿宋_CNKI" panose="02000500000000000000" pitchFamily="2" charset="-122"/>
              </a:rPr>
              <a:t>通过编译环境中的“解决方案资源管理器”窗体可以查看到该应用程序包含如下的几个基本程序。如图</a:t>
            </a:r>
            <a:r>
              <a:rPr lang="en-US" altLang="zh-CN" dirty="0">
                <a:latin typeface="华光仿宋_CNKI" panose="02000500000000000000" pitchFamily="2" charset="-122"/>
                <a:ea typeface="华光仿宋_CNKI" panose="02000500000000000000" pitchFamily="2" charset="-122"/>
              </a:rPr>
              <a:t>6</a:t>
            </a:r>
            <a:r>
              <a:rPr lang="zh-CN" altLang="en-US" dirty="0">
                <a:latin typeface="华光仿宋_CNKI" panose="02000500000000000000" pitchFamily="2" charset="-122"/>
                <a:ea typeface="华光仿宋_CNKI" panose="02000500000000000000" pitchFamily="2" charset="-122"/>
              </a:rPr>
              <a:t>所示。</a:t>
            </a:r>
            <a:endParaRPr lang="en-US" altLang="zh-CN" sz="2800" dirty="0">
              <a:latin typeface="华光仿宋_CNKI" panose="02000500000000000000" pitchFamily="2" charset="-122"/>
              <a:ea typeface="华光仿宋_CNKI" panose="02000500000000000000" pitchFamily="2" charset="-122"/>
            </a:endParaRPr>
          </a:p>
        </p:txBody>
      </p:sp>
    </p:spTree>
    <p:extLst>
      <p:ext uri="{BB962C8B-B14F-4D97-AF65-F5344CB8AC3E}">
        <p14:creationId xmlns:p14="http://schemas.microsoft.com/office/powerpoint/2010/main" val="26596962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256909B6-417A-0839-13AD-BA7199388095}"/>
              </a:ext>
            </a:extLst>
          </p:cNvPr>
          <p:cNvPicPr>
            <a:picLocks noChangeAspect="1"/>
          </p:cNvPicPr>
          <p:nvPr/>
        </p:nvPicPr>
        <p:blipFill>
          <a:blip r:embed="rId2"/>
          <a:stretch>
            <a:fillRect/>
          </a:stretch>
        </p:blipFill>
        <p:spPr>
          <a:xfrm>
            <a:off x="1144987" y="232575"/>
            <a:ext cx="4762832" cy="3023485"/>
          </a:xfrm>
          <a:prstGeom prst="rect">
            <a:avLst/>
          </a:prstGeom>
        </p:spPr>
      </p:pic>
      <p:pic>
        <p:nvPicPr>
          <p:cNvPr id="5" name="图片 4">
            <a:extLst>
              <a:ext uri="{FF2B5EF4-FFF2-40B4-BE49-F238E27FC236}">
                <a16:creationId xmlns:a16="http://schemas.microsoft.com/office/drawing/2014/main" id="{ECE3869F-41F9-90E7-0A9A-9CE5F915D2E1}"/>
              </a:ext>
            </a:extLst>
          </p:cNvPr>
          <p:cNvPicPr>
            <a:picLocks noChangeAspect="1"/>
          </p:cNvPicPr>
          <p:nvPr/>
        </p:nvPicPr>
        <p:blipFill>
          <a:blip r:embed="rId3"/>
          <a:stretch>
            <a:fillRect/>
          </a:stretch>
        </p:blipFill>
        <p:spPr>
          <a:xfrm>
            <a:off x="6096000" y="232574"/>
            <a:ext cx="4606456" cy="3023485"/>
          </a:xfrm>
          <a:prstGeom prst="rect">
            <a:avLst/>
          </a:prstGeom>
        </p:spPr>
      </p:pic>
      <p:pic>
        <p:nvPicPr>
          <p:cNvPr id="7" name="图片 6">
            <a:extLst>
              <a:ext uri="{FF2B5EF4-FFF2-40B4-BE49-F238E27FC236}">
                <a16:creationId xmlns:a16="http://schemas.microsoft.com/office/drawing/2014/main" id="{E66DF7CC-79F0-520F-A1BA-22A4A2EF8FE1}"/>
              </a:ext>
            </a:extLst>
          </p:cNvPr>
          <p:cNvPicPr>
            <a:picLocks noChangeAspect="1"/>
          </p:cNvPicPr>
          <p:nvPr/>
        </p:nvPicPr>
        <p:blipFill>
          <a:blip r:embed="rId4"/>
          <a:stretch>
            <a:fillRect/>
          </a:stretch>
        </p:blipFill>
        <p:spPr>
          <a:xfrm>
            <a:off x="1196670" y="3347498"/>
            <a:ext cx="4762832" cy="2671639"/>
          </a:xfrm>
          <a:prstGeom prst="rect">
            <a:avLst/>
          </a:prstGeom>
        </p:spPr>
      </p:pic>
      <p:pic>
        <p:nvPicPr>
          <p:cNvPr id="11" name="图片 10">
            <a:extLst>
              <a:ext uri="{FF2B5EF4-FFF2-40B4-BE49-F238E27FC236}">
                <a16:creationId xmlns:a16="http://schemas.microsoft.com/office/drawing/2014/main" id="{63BAFE28-446C-0093-1F52-A6E9E42E5FD6}"/>
              </a:ext>
            </a:extLst>
          </p:cNvPr>
          <p:cNvPicPr>
            <a:picLocks noChangeAspect="1"/>
          </p:cNvPicPr>
          <p:nvPr/>
        </p:nvPicPr>
        <p:blipFill>
          <a:blip r:embed="rId5"/>
          <a:stretch>
            <a:fillRect/>
          </a:stretch>
        </p:blipFill>
        <p:spPr>
          <a:xfrm>
            <a:off x="6096001" y="3347498"/>
            <a:ext cx="4606456" cy="2671639"/>
          </a:xfrm>
          <a:prstGeom prst="rect">
            <a:avLst/>
          </a:prstGeom>
        </p:spPr>
      </p:pic>
      <p:sp>
        <p:nvSpPr>
          <p:cNvPr id="12" name="文本框 11">
            <a:extLst>
              <a:ext uri="{FF2B5EF4-FFF2-40B4-BE49-F238E27FC236}">
                <a16:creationId xmlns:a16="http://schemas.microsoft.com/office/drawing/2014/main" id="{3E4CC33B-A692-FEB9-A28D-B28D6BEB26F1}"/>
              </a:ext>
            </a:extLst>
          </p:cNvPr>
          <p:cNvSpPr txBox="1"/>
          <p:nvPr/>
        </p:nvSpPr>
        <p:spPr>
          <a:xfrm>
            <a:off x="4543279" y="6198442"/>
            <a:ext cx="3659976" cy="369332"/>
          </a:xfrm>
          <a:prstGeom prst="rect">
            <a:avLst/>
          </a:prstGeom>
          <a:noFill/>
        </p:spPr>
        <p:txBody>
          <a:bodyPr wrap="none" rtlCol="0">
            <a:spAutoFit/>
          </a:bodyPr>
          <a:lstStyle/>
          <a:p>
            <a:r>
              <a:rPr lang="zh-CN" altLang="en-US" b="1" dirty="0">
                <a:latin typeface="华光仿宋_CNKI" panose="02000500000000000000" pitchFamily="2" charset="-122"/>
                <a:ea typeface="华光仿宋_CNKI" panose="02000500000000000000" pitchFamily="2" charset="-122"/>
              </a:rPr>
              <a:t>图</a:t>
            </a:r>
            <a:r>
              <a:rPr lang="en-US" altLang="zh-CN" b="1" dirty="0">
                <a:latin typeface="华光仿宋_CNKI" panose="02000500000000000000" pitchFamily="2" charset="-122"/>
                <a:ea typeface="华光仿宋_CNKI" panose="02000500000000000000" pitchFamily="2" charset="-122"/>
              </a:rPr>
              <a:t>6  MFC</a:t>
            </a:r>
            <a:r>
              <a:rPr lang="zh-CN" altLang="en-US" b="1" dirty="0">
                <a:latin typeface="华光仿宋_CNKI" panose="02000500000000000000" pitchFamily="2" charset="-122"/>
                <a:ea typeface="华光仿宋_CNKI" panose="02000500000000000000" pitchFamily="2" charset="-122"/>
              </a:rPr>
              <a:t>应用程序包含的主要文件</a:t>
            </a:r>
          </a:p>
        </p:txBody>
      </p:sp>
    </p:spTree>
    <p:extLst>
      <p:ext uri="{BB962C8B-B14F-4D97-AF65-F5344CB8AC3E}">
        <p14:creationId xmlns:p14="http://schemas.microsoft.com/office/powerpoint/2010/main" val="18731095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D91439E-08E0-9F0E-C4E5-6EC3D316DFA5}"/>
              </a:ext>
            </a:extLst>
          </p:cNvPr>
          <p:cNvSpPr>
            <a:spLocks noGrp="1"/>
          </p:cNvSpPr>
          <p:nvPr>
            <p:ph idx="1"/>
          </p:nvPr>
        </p:nvSpPr>
        <p:spPr>
          <a:xfrm>
            <a:off x="472439" y="349859"/>
            <a:ext cx="10905877" cy="5891915"/>
          </a:xfrm>
        </p:spPr>
        <p:txBody>
          <a:bodyPr vert="horz" lIns="91440" tIns="45720" rIns="91440" bIns="45720" rtlCol="0">
            <a:normAutofit fontScale="92500" lnSpcReduction="10000"/>
          </a:bodyPr>
          <a:lstStyle/>
          <a:p>
            <a:pPr marL="0" indent="0">
              <a:lnSpc>
                <a:spcPct val="150000"/>
              </a:lnSpc>
              <a:buNone/>
            </a:pPr>
            <a:r>
              <a:rPr lang="zh-CN" altLang="en-US" sz="3000" dirty="0">
                <a:latin typeface="华光仿宋_CNKI" panose="02000500000000000000" pitchFamily="2" charset="-122"/>
                <a:ea typeface="华光仿宋_CNKI" panose="02000500000000000000" pitchFamily="2" charset="-122"/>
              </a:rPr>
              <a:t>   一个基本的</a:t>
            </a:r>
            <a:r>
              <a:rPr lang="en-US" altLang="zh-CN" sz="3000" dirty="0">
                <a:latin typeface="华光仿宋_CNKI" panose="02000500000000000000" pitchFamily="2" charset="-122"/>
                <a:ea typeface="华光仿宋_CNKI" panose="02000500000000000000" pitchFamily="2" charset="-122"/>
              </a:rPr>
              <a:t>MFC</a:t>
            </a:r>
            <a:r>
              <a:rPr lang="zh-CN" altLang="en-US" sz="3000" dirty="0">
                <a:latin typeface="华光仿宋_CNKI" panose="02000500000000000000" pitchFamily="2" charset="-122"/>
                <a:ea typeface="华光仿宋_CNKI" panose="02000500000000000000" pitchFamily="2" charset="-122"/>
              </a:rPr>
              <a:t>应用程序包含几个基本的类：</a:t>
            </a:r>
            <a:endParaRPr lang="en-US" altLang="zh-CN" sz="30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3000" dirty="0">
                <a:latin typeface="华光仿宋_CNKI" panose="02000500000000000000" pitchFamily="2" charset="-122"/>
                <a:ea typeface="华光仿宋_CNKI" panose="02000500000000000000" pitchFamily="2" charset="-122"/>
              </a:rPr>
              <a:t>   </a:t>
            </a:r>
            <a:r>
              <a:rPr lang="zh-CN" altLang="en-US" sz="3000" dirty="0">
                <a:latin typeface="华光仿宋_CNKI" panose="02000500000000000000" pitchFamily="2" charset="-122"/>
                <a:ea typeface="华光仿宋_CNKI" panose="02000500000000000000" pitchFamily="2" charset="-122"/>
              </a:rPr>
              <a:t>（</a:t>
            </a:r>
            <a:r>
              <a:rPr lang="en-US" altLang="zh-CN" sz="3000" dirty="0">
                <a:latin typeface="华光仿宋_CNKI" panose="02000500000000000000" pitchFamily="2" charset="-122"/>
                <a:ea typeface="华光仿宋_CNKI" panose="02000500000000000000" pitchFamily="2" charset="-122"/>
              </a:rPr>
              <a:t>1</a:t>
            </a:r>
            <a:r>
              <a:rPr lang="zh-CN" altLang="en-US" sz="3000" dirty="0">
                <a:latin typeface="华光仿宋_CNKI" panose="02000500000000000000" pitchFamily="2" charset="-122"/>
                <a:ea typeface="华光仿宋_CNKI" panose="02000500000000000000" pitchFamily="2" charset="-122"/>
              </a:rPr>
              <a:t>）应用程序类，继承自</a:t>
            </a:r>
            <a:r>
              <a:rPr lang="en-US" altLang="zh-CN" sz="3000" dirty="0" err="1">
                <a:latin typeface="华光仿宋_CNKI" panose="02000500000000000000" pitchFamily="2" charset="-122"/>
                <a:ea typeface="华光仿宋_CNKI" panose="02000500000000000000" pitchFamily="2" charset="-122"/>
              </a:rPr>
              <a:t>CWinApp</a:t>
            </a:r>
            <a:r>
              <a:rPr lang="zh-CN" altLang="en-US" sz="3000" dirty="0">
                <a:latin typeface="华光仿宋_CNKI" panose="02000500000000000000" pitchFamily="2" charset="-122"/>
                <a:ea typeface="华光仿宋_CNKI" panose="02000500000000000000" pitchFamily="2" charset="-122"/>
              </a:rPr>
              <a:t>。该类实现对应用程序的初始化以及运行管理。</a:t>
            </a:r>
            <a:endParaRPr lang="en-US" altLang="zh-CN" sz="30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3000" dirty="0">
                <a:latin typeface="华光仿宋_CNKI" panose="02000500000000000000" pitchFamily="2" charset="-122"/>
                <a:ea typeface="华光仿宋_CNKI" panose="02000500000000000000" pitchFamily="2" charset="-122"/>
              </a:rPr>
              <a:t>    </a:t>
            </a:r>
            <a:r>
              <a:rPr lang="zh-CN" altLang="en-US" sz="3000" dirty="0">
                <a:latin typeface="华光仿宋_CNKI" panose="02000500000000000000" pitchFamily="2" charset="-122"/>
                <a:ea typeface="华光仿宋_CNKI" panose="02000500000000000000" pitchFamily="2" charset="-122"/>
              </a:rPr>
              <a:t>（</a:t>
            </a:r>
            <a:r>
              <a:rPr lang="en-US" altLang="zh-CN" sz="3000" dirty="0">
                <a:latin typeface="华光仿宋_CNKI" panose="02000500000000000000" pitchFamily="2" charset="-122"/>
                <a:ea typeface="华光仿宋_CNKI" panose="02000500000000000000" pitchFamily="2" charset="-122"/>
              </a:rPr>
              <a:t>2</a:t>
            </a:r>
            <a:r>
              <a:rPr lang="zh-CN" altLang="en-US" sz="3000" dirty="0">
                <a:latin typeface="华光仿宋_CNKI" panose="02000500000000000000" pitchFamily="2" charset="-122"/>
                <a:ea typeface="华光仿宋_CNKI" panose="02000500000000000000" pitchFamily="2" charset="-122"/>
              </a:rPr>
              <a:t>）文档类，继承自</a:t>
            </a:r>
            <a:r>
              <a:rPr lang="en-US" altLang="zh-CN" sz="3000" dirty="0" err="1">
                <a:latin typeface="华光仿宋_CNKI" panose="02000500000000000000" pitchFamily="2" charset="-122"/>
                <a:ea typeface="华光仿宋_CNKI" panose="02000500000000000000" pitchFamily="2" charset="-122"/>
              </a:rPr>
              <a:t>Cdocument</a:t>
            </a:r>
            <a:r>
              <a:rPr lang="zh-CN" altLang="en-US" sz="3000" dirty="0">
                <a:latin typeface="华光仿宋_CNKI" panose="02000500000000000000" pitchFamily="2" charset="-122"/>
                <a:ea typeface="华光仿宋_CNKI" panose="02000500000000000000" pitchFamily="2" charset="-122"/>
              </a:rPr>
              <a:t>类。实现对所有数据的管理，包括数据的存取等。一个应用程序可支持多种类型的文档，并与其关联的视图进行交互。</a:t>
            </a:r>
            <a:endParaRPr lang="en-US" altLang="zh-CN" sz="30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3000" dirty="0">
                <a:latin typeface="华光仿宋_CNKI" panose="02000500000000000000" pitchFamily="2" charset="-122"/>
                <a:ea typeface="华光仿宋_CNKI" panose="02000500000000000000" pitchFamily="2" charset="-122"/>
              </a:rPr>
              <a:t>    </a:t>
            </a:r>
            <a:r>
              <a:rPr lang="zh-CN" altLang="en-US" sz="3000" dirty="0">
                <a:latin typeface="华光仿宋_CNKI" panose="02000500000000000000" pitchFamily="2" charset="-122"/>
                <a:ea typeface="华光仿宋_CNKI" panose="02000500000000000000" pitchFamily="2" charset="-122"/>
              </a:rPr>
              <a:t>（</a:t>
            </a:r>
            <a:r>
              <a:rPr lang="en-US" altLang="zh-CN" sz="3000" dirty="0">
                <a:latin typeface="华光仿宋_CNKI" panose="02000500000000000000" pitchFamily="2" charset="-122"/>
                <a:ea typeface="华光仿宋_CNKI" panose="02000500000000000000" pitchFamily="2" charset="-122"/>
              </a:rPr>
              <a:t>3</a:t>
            </a:r>
            <a:r>
              <a:rPr lang="zh-CN" altLang="en-US" sz="3000" dirty="0">
                <a:latin typeface="华光仿宋_CNKI" panose="02000500000000000000" pitchFamily="2" charset="-122"/>
                <a:ea typeface="华光仿宋_CNKI" panose="02000500000000000000" pitchFamily="2" charset="-122"/>
              </a:rPr>
              <a:t>）视图类，继承自</a:t>
            </a:r>
            <a:r>
              <a:rPr lang="en-US" altLang="zh-CN" sz="3000" dirty="0" err="1">
                <a:latin typeface="华光仿宋_CNKI" panose="02000500000000000000" pitchFamily="2" charset="-122"/>
                <a:ea typeface="华光仿宋_CNKI" panose="02000500000000000000" pitchFamily="2" charset="-122"/>
              </a:rPr>
              <a:t>Cview</a:t>
            </a:r>
            <a:r>
              <a:rPr lang="zh-CN" altLang="en-US" sz="3000" dirty="0">
                <a:latin typeface="华光仿宋_CNKI" panose="02000500000000000000" pitchFamily="2" charset="-122"/>
                <a:ea typeface="华光仿宋_CNKI" panose="02000500000000000000" pitchFamily="2" charset="-122"/>
              </a:rPr>
              <a:t>类。实现文档数据与用户之间的中介，完成文档数据的展示。一个视图只能有一个文档，但一个文档可以与多个视图关联。</a:t>
            </a:r>
            <a:endParaRPr lang="en-US" altLang="zh-CN" sz="3000" dirty="0">
              <a:latin typeface="华光仿宋_CNKI" panose="02000500000000000000" pitchFamily="2" charset="-122"/>
              <a:ea typeface="华光仿宋_CNKI" panose="02000500000000000000" pitchFamily="2" charset="-122"/>
            </a:endParaRPr>
          </a:p>
          <a:p>
            <a:pPr marL="0" indent="0">
              <a:lnSpc>
                <a:spcPct val="150000"/>
              </a:lnSpc>
              <a:buNone/>
            </a:pPr>
            <a:endParaRPr lang="en-US" altLang="zh-CN" sz="3000" dirty="0">
              <a:latin typeface="华光仿宋_CNKI" panose="02000500000000000000" pitchFamily="2" charset="-122"/>
              <a:ea typeface="华光仿宋_CNKI" panose="02000500000000000000" pitchFamily="2" charset="-122"/>
            </a:endParaRPr>
          </a:p>
        </p:txBody>
      </p:sp>
    </p:spTree>
    <p:extLst>
      <p:ext uri="{BB962C8B-B14F-4D97-AF65-F5344CB8AC3E}">
        <p14:creationId xmlns:p14="http://schemas.microsoft.com/office/powerpoint/2010/main" val="9194830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D91439E-08E0-9F0E-C4E5-6EC3D316DFA5}"/>
              </a:ext>
            </a:extLst>
          </p:cNvPr>
          <p:cNvSpPr>
            <a:spLocks noGrp="1"/>
          </p:cNvSpPr>
          <p:nvPr>
            <p:ph idx="1"/>
          </p:nvPr>
        </p:nvSpPr>
        <p:spPr>
          <a:xfrm>
            <a:off x="496293" y="946205"/>
            <a:ext cx="10905877" cy="4818491"/>
          </a:xfrm>
        </p:spPr>
        <p:txBody>
          <a:bodyPr vert="horz" lIns="91440" tIns="45720" rIns="91440" bIns="45720" rtlCol="0">
            <a:normAutofit/>
          </a:bodyPr>
          <a:lstStyle/>
          <a:p>
            <a:pPr marL="0" indent="0">
              <a:lnSpc>
                <a:spcPct val="150000"/>
              </a:lnSpc>
              <a:buNone/>
            </a:pPr>
            <a:r>
              <a:rPr lang="zh-CN" altLang="en-US" sz="3000" dirty="0">
                <a:latin typeface="华光仿宋_CNKI" panose="02000500000000000000" pitchFamily="2" charset="-122"/>
                <a:ea typeface="华光仿宋_CNKI" panose="02000500000000000000" pitchFamily="2" charset="-122"/>
              </a:rPr>
              <a:t>   （</a:t>
            </a:r>
            <a:r>
              <a:rPr lang="en-US" altLang="zh-CN" sz="3000" dirty="0">
                <a:latin typeface="华光仿宋_CNKI" panose="02000500000000000000" pitchFamily="2" charset="-122"/>
                <a:ea typeface="华光仿宋_CNKI" panose="02000500000000000000" pitchFamily="2" charset="-122"/>
              </a:rPr>
              <a:t>4</a:t>
            </a:r>
            <a:r>
              <a:rPr lang="zh-CN" altLang="en-US" sz="3000" dirty="0">
                <a:latin typeface="华光仿宋_CNKI" panose="02000500000000000000" pitchFamily="2" charset="-122"/>
                <a:ea typeface="华光仿宋_CNKI" panose="02000500000000000000" pitchFamily="2" charset="-122"/>
              </a:rPr>
              <a:t>）窗体框架类，继承自</a:t>
            </a:r>
            <a:r>
              <a:rPr lang="en-US" altLang="zh-CN" sz="3000" dirty="0" err="1">
                <a:latin typeface="华光仿宋_CNKI" panose="02000500000000000000" pitchFamily="2" charset="-122"/>
                <a:ea typeface="华光仿宋_CNKI" panose="02000500000000000000" pitchFamily="2" charset="-122"/>
              </a:rPr>
              <a:t>CFrameWnd</a:t>
            </a:r>
            <a:r>
              <a:rPr lang="zh-CN" altLang="en-US" sz="3000" dirty="0">
                <a:latin typeface="华光仿宋_CNKI" panose="02000500000000000000" pitchFamily="2" charset="-122"/>
                <a:ea typeface="华光仿宋_CNKI" panose="02000500000000000000" pitchFamily="2" charset="-122"/>
              </a:rPr>
              <a:t>类。用于创建各种类型的窗体，子窗体，并实现</a:t>
            </a:r>
            <a:r>
              <a:rPr lang="zh-CN" altLang="en-US" sz="3000" b="1" dirty="0">
                <a:solidFill>
                  <a:srgbClr val="FF0000"/>
                </a:solidFill>
                <a:latin typeface="华光仿宋_CNKI" panose="02000500000000000000" pitchFamily="2" charset="-122"/>
                <a:ea typeface="华光仿宋_CNKI" panose="02000500000000000000" pitchFamily="2" charset="-122"/>
              </a:rPr>
              <a:t>消息处理程序成员函数</a:t>
            </a:r>
            <a:r>
              <a:rPr lang="zh-CN" altLang="en-US" sz="3000" dirty="0">
                <a:latin typeface="华光仿宋_CNKI" panose="02000500000000000000" pitchFamily="2" charset="-122"/>
                <a:ea typeface="华光仿宋_CNKI" panose="02000500000000000000" pitchFamily="2" charset="-122"/>
              </a:rPr>
              <a:t>和消息之间映射，以指定在消息定向到窗口时所发生的情况。</a:t>
            </a:r>
            <a:endParaRPr lang="en-US" altLang="zh-CN" sz="30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3000" dirty="0">
                <a:latin typeface="华光仿宋_CNKI" panose="02000500000000000000" pitchFamily="2" charset="-122"/>
                <a:ea typeface="华光仿宋_CNKI" panose="02000500000000000000" pitchFamily="2" charset="-122"/>
              </a:rPr>
              <a:t>   </a:t>
            </a:r>
            <a:r>
              <a:rPr lang="zh-CN" altLang="en-US" sz="3000" dirty="0">
                <a:latin typeface="华光仿宋_CNKI" panose="02000500000000000000" pitchFamily="2" charset="-122"/>
                <a:ea typeface="华光仿宋_CNKI" panose="02000500000000000000" pitchFamily="2" charset="-122"/>
              </a:rPr>
              <a:t>当然针对不同的应用，</a:t>
            </a:r>
            <a:r>
              <a:rPr lang="en-US" altLang="zh-CN" sz="3000" dirty="0">
                <a:latin typeface="华光仿宋_CNKI" panose="02000500000000000000" pitchFamily="2" charset="-122"/>
                <a:ea typeface="华光仿宋_CNKI" panose="02000500000000000000" pitchFamily="2" charset="-122"/>
              </a:rPr>
              <a:t>MFC</a:t>
            </a:r>
            <a:r>
              <a:rPr lang="zh-CN" altLang="en-US" sz="3000" dirty="0">
                <a:latin typeface="华光仿宋_CNKI" panose="02000500000000000000" pitchFamily="2" charset="-122"/>
                <a:ea typeface="华光仿宋_CNKI" panose="02000500000000000000" pitchFamily="2" charset="-122"/>
              </a:rPr>
              <a:t>还提供的很多的类供用户编程时使用，这些类实现了基本的用户交互及应用程序管理的功能。</a:t>
            </a:r>
            <a:endParaRPr lang="en-US" altLang="zh-CN" sz="30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3000" dirty="0">
                <a:latin typeface="华光仿宋_CNKI" panose="02000500000000000000" pitchFamily="2" charset="-122"/>
                <a:ea typeface="华光仿宋_CNKI" panose="02000500000000000000" pitchFamily="2" charset="-122"/>
              </a:rPr>
              <a:t>   </a:t>
            </a:r>
            <a:r>
              <a:rPr lang="zh-CN" altLang="en-US" sz="3000" dirty="0">
                <a:latin typeface="华光仿宋_CNKI" panose="02000500000000000000" pitchFamily="2" charset="-122"/>
                <a:ea typeface="华光仿宋_CNKI" panose="02000500000000000000" pitchFamily="2" charset="-122"/>
              </a:rPr>
              <a:t>下面是</a:t>
            </a:r>
            <a:r>
              <a:rPr lang="en-US" altLang="zh-CN" sz="3000" dirty="0">
                <a:latin typeface="华光仿宋_CNKI" panose="02000500000000000000" pitchFamily="2" charset="-122"/>
                <a:ea typeface="华光仿宋_CNKI" panose="02000500000000000000" pitchFamily="2" charset="-122"/>
              </a:rPr>
              <a:t>MFC</a:t>
            </a:r>
            <a:r>
              <a:rPr lang="zh-CN" altLang="en-US" sz="3000" dirty="0">
                <a:latin typeface="华光仿宋_CNKI" panose="02000500000000000000" pitchFamily="2" charset="-122"/>
                <a:ea typeface="华光仿宋_CNKI" panose="02000500000000000000" pitchFamily="2" charset="-122"/>
              </a:rPr>
              <a:t>提供的类的结构，如图</a:t>
            </a:r>
            <a:r>
              <a:rPr lang="en-US" altLang="zh-CN" sz="3000" dirty="0">
                <a:latin typeface="华光仿宋_CNKI" panose="02000500000000000000" pitchFamily="2" charset="-122"/>
                <a:ea typeface="华光仿宋_CNKI" panose="02000500000000000000" pitchFamily="2" charset="-122"/>
              </a:rPr>
              <a:t>7~</a:t>
            </a:r>
            <a:r>
              <a:rPr lang="zh-CN" altLang="en-US" sz="3000" dirty="0">
                <a:latin typeface="华光仿宋_CNKI" panose="02000500000000000000" pitchFamily="2" charset="-122"/>
                <a:ea typeface="华光仿宋_CNKI" panose="02000500000000000000" pitchFamily="2" charset="-122"/>
              </a:rPr>
              <a:t>图</a:t>
            </a:r>
            <a:r>
              <a:rPr lang="en-US" altLang="zh-CN" sz="3000" dirty="0">
                <a:latin typeface="华光仿宋_CNKI" panose="02000500000000000000" pitchFamily="2" charset="-122"/>
                <a:ea typeface="华光仿宋_CNKI" panose="02000500000000000000" pitchFamily="2" charset="-122"/>
              </a:rPr>
              <a:t>9</a:t>
            </a:r>
            <a:r>
              <a:rPr lang="zh-CN" altLang="en-US" sz="3000" dirty="0">
                <a:latin typeface="华光仿宋_CNKI" panose="02000500000000000000" pitchFamily="2" charset="-122"/>
                <a:ea typeface="华光仿宋_CNKI" panose="02000500000000000000" pitchFamily="2" charset="-122"/>
              </a:rPr>
              <a:t>所示。</a:t>
            </a:r>
            <a:endParaRPr lang="en-US" altLang="zh-CN" sz="3000" dirty="0">
              <a:latin typeface="华光仿宋_CNKI" panose="02000500000000000000" pitchFamily="2" charset="-122"/>
              <a:ea typeface="华光仿宋_CNKI" panose="02000500000000000000" pitchFamily="2" charset="-122"/>
            </a:endParaRPr>
          </a:p>
          <a:p>
            <a:pPr marL="0" indent="0">
              <a:lnSpc>
                <a:spcPct val="150000"/>
              </a:lnSpc>
              <a:buNone/>
            </a:pPr>
            <a:endParaRPr lang="en-US" altLang="zh-CN" sz="3000" dirty="0">
              <a:latin typeface="华光仿宋_CNKI" panose="02000500000000000000" pitchFamily="2" charset="-122"/>
              <a:ea typeface="华光仿宋_CNKI" panose="02000500000000000000" pitchFamily="2" charset="-122"/>
            </a:endParaRPr>
          </a:p>
        </p:txBody>
      </p:sp>
    </p:spTree>
    <p:extLst>
      <p:ext uri="{BB962C8B-B14F-4D97-AF65-F5344CB8AC3E}">
        <p14:creationId xmlns:p14="http://schemas.microsoft.com/office/powerpoint/2010/main" val="36883954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hart that lists the MFC classes derived from CObject.">
            <a:extLst>
              <a:ext uri="{FF2B5EF4-FFF2-40B4-BE49-F238E27FC236}">
                <a16:creationId xmlns:a16="http://schemas.microsoft.com/office/drawing/2014/main" id="{4A2C9C49-6536-63E7-4D82-B4D7633A627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9723" y="238539"/>
            <a:ext cx="10202103" cy="5796501"/>
          </a:xfrm>
          <a:prstGeom prst="rect">
            <a:avLst/>
          </a:prstGeom>
          <a:noFill/>
          <a:extLst>
            <a:ext uri="{909E8E84-426E-40DD-AFC4-6F175D3DCCD1}">
              <a14:hiddenFill xmlns:a14="http://schemas.microsoft.com/office/drawing/2010/main">
                <a:solidFill>
                  <a:srgbClr val="FFFFFF"/>
                </a:solidFill>
              </a14:hiddenFill>
            </a:ext>
          </a:extLst>
        </p:spPr>
      </p:pic>
      <p:sp>
        <p:nvSpPr>
          <p:cNvPr id="2" name="文本框 1">
            <a:extLst>
              <a:ext uri="{FF2B5EF4-FFF2-40B4-BE49-F238E27FC236}">
                <a16:creationId xmlns:a16="http://schemas.microsoft.com/office/drawing/2014/main" id="{5D6F077B-15F7-2384-BC80-07A4272CA5FF}"/>
              </a:ext>
            </a:extLst>
          </p:cNvPr>
          <p:cNvSpPr txBox="1"/>
          <p:nvPr/>
        </p:nvSpPr>
        <p:spPr>
          <a:xfrm>
            <a:off x="5076329" y="4737191"/>
            <a:ext cx="2039341" cy="369332"/>
          </a:xfrm>
          <a:prstGeom prst="rect">
            <a:avLst/>
          </a:prstGeom>
          <a:noFill/>
        </p:spPr>
        <p:txBody>
          <a:bodyPr wrap="none" rtlCol="0">
            <a:spAutoFit/>
          </a:bodyPr>
          <a:lstStyle/>
          <a:p>
            <a:r>
              <a:rPr lang="zh-CN" altLang="en-US" b="1" dirty="0">
                <a:latin typeface="华光仿宋_CNKI" panose="02000500000000000000" pitchFamily="2" charset="-122"/>
                <a:ea typeface="华光仿宋_CNKI" panose="02000500000000000000" pitchFamily="2" charset="-122"/>
              </a:rPr>
              <a:t>图</a:t>
            </a:r>
            <a:r>
              <a:rPr lang="en-US" altLang="zh-CN" b="1" dirty="0">
                <a:latin typeface="华光仿宋_CNKI" panose="02000500000000000000" pitchFamily="2" charset="-122"/>
                <a:ea typeface="华光仿宋_CNKI" panose="02000500000000000000" pitchFamily="2" charset="-122"/>
              </a:rPr>
              <a:t>7  MFC</a:t>
            </a:r>
            <a:r>
              <a:rPr lang="zh-CN" altLang="en-US" b="1" dirty="0">
                <a:latin typeface="华光仿宋_CNKI" panose="02000500000000000000" pitchFamily="2" charset="-122"/>
                <a:ea typeface="华光仿宋_CNKI" panose="02000500000000000000" pitchFamily="2" charset="-122"/>
              </a:rPr>
              <a:t>类的结构</a:t>
            </a:r>
          </a:p>
        </p:txBody>
      </p:sp>
    </p:spTree>
    <p:extLst>
      <p:ext uri="{BB962C8B-B14F-4D97-AF65-F5344CB8AC3E}">
        <p14:creationId xmlns:p14="http://schemas.microsoft.com/office/powerpoint/2010/main" val="32993040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5D6F077B-15F7-2384-BC80-07A4272CA5FF}"/>
              </a:ext>
            </a:extLst>
          </p:cNvPr>
          <p:cNvSpPr txBox="1"/>
          <p:nvPr/>
        </p:nvSpPr>
        <p:spPr>
          <a:xfrm>
            <a:off x="5211189" y="6399014"/>
            <a:ext cx="2039341" cy="369332"/>
          </a:xfrm>
          <a:prstGeom prst="rect">
            <a:avLst/>
          </a:prstGeom>
          <a:noFill/>
        </p:spPr>
        <p:txBody>
          <a:bodyPr wrap="none" rtlCol="0">
            <a:spAutoFit/>
          </a:bodyPr>
          <a:lstStyle/>
          <a:p>
            <a:r>
              <a:rPr lang="zh-CN" altLang="en-US" b="1" dirty="0">
                <a:latin typeface="华光仿宋_CNKI" panose="02000500000000000000" pitchFamily="2" charset="-122"/>
                <a:ea typeface="华光仿宋_CNKI" panose="02000500000000000000" pitchFamily="2" charset="-122"/>
              </a:rPr>
              <a:t>图</a:t>
            </a:r>
            <a:r>
              <a:rPr lang="en-US" altLang="zh-CN" b="1" dirty="0">
                <a:latin typeface="华光仿宋_CNKI" panose="02000500000000000000" pitchFamily="2" charset="-122"/>
                <a:ea typeface="华光仿宋_CNKI" panose="02000500000000000000" pitchFamily="2" charset="-122"/>
              </a:rPr>
              <a:t>8  MFC</a:t>
            </a:r>
            <a:r>
              <a:rPr lang="zh-CN" altLang="en-US" b="1" dirty="0">
                <a:latin typeface="华光仿宋_CNKI" panose="02000500000000000000" pitchFamily="2" charset="-122"/>
                <a:ea typeface="华光仿宋_CNKI" panose="02000500000000000000" pitchFamily="2" charset="-122"/>
              </a:rPr>
              <a:t>类的结构</a:t>
            </a:r>
          </a:p>
        </p:txBody>
      </p:sp>
      <p:pic>
        <p:nvPicPr>
          <p:cNvPr id="3074" name="Picture 2" descr="Chart that lists the MFC classes derived from CCmdTarget or CWnd.">
            <a:extLst>
              <a:ext uri="{FF2B5EF4-FFF2-40B4-BE49-F238E27FC236}">
                <a16:creationId xmlns:a16="http://schemas.microsoft.com/office/drawing/2014/main" id="{3338D602-8647-A882-A3F4-FAF15A8430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5482" y="516835"/>
            <a:ext cx="10281036" cy="58243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66962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5D6F077B-15F7-2384-BC80-07A4272CA5FF}"/>
              </a:ext>
            </a:extLst>
          </p:cNvPr>
          <p:cNvSpPr txBox="1"/>
          <p:nvPr/>
        </p:nvSpPr>
        <p:spPr>
          <a:xfrm>
            <a:off x="5211189" y="6399014"/>
            <a:ext cx="2031325" cy="369332"/>
          </a:xfrm>
          <a:prstGeom prst="rect">
            <a:avLst/>
          </a:prstGeom>
          <a:noFill/>
        </p:spPr>
        <p:txBody>
          <a:bodyPr wrap="none" rtlCol="0">
            <a:spAutoFit/>
          </a:bodyPr>
          <a:lstStyle/>
          <a:p>
            <a:r>
              <a:rPr lang="zh-CN" altLang="en-US" b="1" dirty="0">
                <a:latin typeface="华光仿宋_CNKI" panose="02000500000000000000" pitchFamily="2" charset="-122"/>
                <a:ea typeface="华光仿宋_CNKI" panose="02000500000000000000" pitchFamily="2" charset="-122"/>
              </a:rPr>
              <a:t>图</a:t>
            </a:r>
            <a:r>
              <a:rPr lang="en-US" altLang="zh-CN" b="1" dirty="0">
                <a:latin typeface="华光仿宋_CNKI" panose="02000500000000000000" pitchFamily="2" charset="-122"/>
                <a:ea typeface="华光仿宋_CNKI" panose="02000500000000000000" pitchFamily="2" charset="-122"/>
              </a:rPr>
              <a:t>9  MFC</a:t>
            </a:r>
            <a:r>
              <a:rPr lang="zh-CN" altLang="en-US" b="1" dirty="0">
                <a:latin typeface="华光仿宋_CNKI" panose="02000500000000000000" pitchFamily="2" charset="-122"/>
                <a:ea typeface="华光仿宋_CNKI" panose="02000500000000000000" pitchFamily="2" charset="-122"/>
              </a:rPr>
              <a:t>类的结构</a:t>
            </a:r>
          </a:p>
        </p:txBody>
      </p:sp>
      <p:pic>
        <p:nvPicPr>
          <p:cNvPr id="2050" name="Picture 2" descr="Chart that lists the MFC classes that aren't derived from CObject.">
            <a:extLst>
              <a:ext uri="{FF2B5EF4-FFF2-40B4-BE49-F238E27FC236}">
                <a16:creationId xmlns:a16="http://schemas.microsoft.com/office/drawing/2014/main" id="{641BA1C4-17E6-1093-D964-A0BAB5D3EC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8772" y="453224"/>
            <a:ext cx="10524959" cy="59457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36235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D91439E-08E0-9F0E-C4E5-6EC3D316DFA5}"/>
              </a:ext>
            </a:extLst>
          </p:cNvPr>
          <p:cNvSpPr>
            <a:spLocks noGrp="1"/>
          </p:cNvSpPr>
          <p:nvPr>
            <p:ph idx="1"/>
          </p:nvPr>
        </p:nvSpPr>
        <p:spPr>
          <a:xfrm>
            <a:off x="536050" y="725556"/>
            <a:ext cx="10905877" cy="5349241"/>
          </a:xfrm>
        </p:spPr>
        <p:txBody>
          <a:bodyPr vert="horz" lIns="91440" tIns="45720" rIns="91440" bIns="45720" rtlCol="0">
            <a:normAutofit/>
          </a:bodyPr>
          <a:lstStyle/>
          <a:p>
            <a:pPr marL="0" indent="0">
              <a:lnSpc>
                <a:spcPct val="150000"/>
              </a:lnSpc>
              <a:buNone/>
            </a:pPr>
            <a:r>
              <a:rPr lang="zh-CN" altLang="en-US" sz="3000" dirty="0">
                <a:latin typeface="华光仿宋_CNKI" panose="02000500000000000000" pitchFamily="2" charset="-122"/>
                <a:ea typeface="华光仿宋_CNKI" panose="02000500000000000000" pitchFamily="2" charset="-122"/>
              </a:rPr>
              <a:t>   </a:t>
            </a:r>
            <a:r>
              <a:rPr lang="en-US" altLang="zh-CN" sz="2800" dirty="0">
                <a:latin typeface="华光标题宋_CNKI" panose="02000500000000000000" pitchFamily="2" charset="-122"/>
                <a:ea typeface="华光标题宋_CNKI" panose="02000500000000000000" pitchFamily="2" charset="-122"/>
              </a:rPr>
              <a:t> 2.2 MFC</a:t>
            </a:r>
            <a:r>
              <a:rPr lang="zh-CN" altLang="en-US" sz="2800" dirty="0">
                <a:latin typeface="华光标题宋_CNKI" panose="02000500000000000000" pitchFamily="2" charset="-122"/>
                <a:ea typeface="华光标题宋_CNKI" panose="02000500000000000000" pitchFamily="2" charset="-122"/>
              </a:rPr>
              <a:t>程序的执行过程</a:t>
            </a:r>
            <a:endParaRPr lang="en-US" altLang="zh-CN" sz="2800" dirty="0">
              <a:latin typeface="华光标题宋_CNKI" panose="02000500000000000000" pitchFamily="2" charset="-122"/>
              <a:ea typeface="华光标题宋_CNKI" panose="02000500000000000000" pitchFamily="2" charset="-122"/>
            </a:endParaRPr>
          </a:p>
          <a:p>
            <a:pPr marL="0" indent="0">
              <a:lnSpc>
                <a:spcPct val="150000"/>
              </a:lnSpc>
              <a:buNone/>
            </a:pPr>
            <a:r>
              <a:rPr lang="zh-CN" altLang="en-US" sz="3000" dirty="0">
                <a:latin typeface="华光仿宋_CNKI" panose="02000500000000000000" pitchFamily="2" charset="-122"/>
                <a:ea typeface="华光仿宋_CNKI" panose="02000500000000000000" pitchFamily="2" charset="-122"/>
              </a:rPr>
              <a:t>   </a:t>
            </a:r>
            <a:r>
              <a:rPr lang="en-US" altLang="zh-CN" sz="3000" dirty="0">
                <a:latin typeface="华光仿宋_CNKI" panose="02000500000000000000" pitchFamily="2" charset="-122"/>
                <a:ea typeface="华光仿宋_CNKI" panose="02000500000000000000" pitchFamily="2" charset="-122"/>
              </a:rPr>
              <a:t>MFC</a:t>
            </a:r>
            <a:r>
              <a:rPr lang="zh-CN" altLang="en-US" sz="3000" dirty="0">
                <a:latin typeface="华光仿宋_CNKI" panose="02000500000000000000" pitchFamily="2" charset="-122"/>
                <a:ea typeface="华光仿宋_CNKI" panose="02000500000000000000" pitchFamily="2" charset="-122"/>
              </a:rPr>
              <a:t>程序从隐含的主程序开始运行，分别调用</a:t>
            </a:r>
            <a:r>
              <a:rPr lang="en-US" altLang="zh-CN" sz="3000" dirty="0" err="1">
                <a:latin typeface="华光仿宋_CNKI" panose="02000500000000000000" pitchFamily="2" charset="-122"/>
                <a:ea typeface="华光仿宋_CNKI" panose="02000500000000000000" pitchFamily="2" charset="-122"/>
              </a:rPr>
              <a:t>CWinAPP</a:t>
            </a:r>
            <a:r>
              <a:rPr lang="zh-CN" altLang="en-US" sz="3000" dirty="0">
                <a:latin typeface="华光仿宋_CNKI" panose="02000500000000000000" pitchFamily="2" charset="-122"/>
                <a:ea typeface="华光仿宋_CNKI" panose="02000500000000000000" pitchFamily="2" charset="-122"/>
              </a:rPr>
              <a:t>的继承类的构造函数，初始化函数，然后进入消息循环，并将相应的消息分发给对应的函数（通过映射方式），完成应用程序与用户的交互。</a:t>
            </a:r>
            <a:endParaRPr lang="en-US" altLang="zh-CN" sz="3000" dirty="0">
              <a:latin typeface="华光仿宋_CNKI" panose="02000500000000000000" pitchFamily="2" charset="-122"/>
              <a:ea typeface="华光仿宋_CNKI" panose="02000500000000000000" pitchFamily="2" charset="-122"/>
            </a:endParaRPr>
          </a:p>
          <a:p>
            <a:pPr marL="0" indent="0">
              <a:lnSpc>
                <a:spcPct val="150000"/>
              </a:lnSpc>
              <a:buNone/>
            </a:pPr>
            <a:r>
              <a:rPr lang="zh-CN" altLang="en-US" sz="3200" dirty="0">
                <a:latin typeface="华光仿宋_CNKI" panose="02000500000000000000" pitchFamily="2" charset="-122"/>
                <a:ea typeface="华光仿宋_CNKI" panose="02000500000000000000" pitchFamily="2" charset="-122"/>
              </a:rPr>
              <a:t>    原则上讲，任何的</a:t>
            </a:r>
            <a:r>
              <a:rPr lang="en-US" altLang="zh-CN" sz="3200" dirty="0">
                <a:latin typeface="华光仿宋_CNKI" panose="02000500000000000000" pitchFamily="2" charset="-122"/>
                <a:ea typeface="华光仿宋_CNKI" panose="02000500000000000000" pitchFamily="2" charset="-122"/>
              </a:rPr>
              <a:t>C/C++</a:t>
            </a:r>
            <a:r>
              <a:rPr lang="zh-CN" altLang="en-US" sz="3200" dirty="0">
                <a:latin typeface="华光仿宋_CNKI" panose="02000500000000000000" pitchFamily="2" charset="-122"/>
                <a:ea typeface="华光仿宋_CNKI" panose="02000500000000000000" pitchFamily="2" charset="-122"/>
              </a:rPr>
              <a:t>程序均包含一个主函数，作为应用程序的入口，但从上面的源程序中无法看到相应的主函数。</a:t>
            </a:r>
            <a:r>
              <a:rPr lang="en-US" altLang="zh-CN" sz="3000" dirty="0">
                <a:latin typeface="华光仿宋_CNKI" panose="02000500000000000000" pitchFamily="2" charset="-122"/>
                <a:ea typeface="华光仿宋_CNKI" panose="02000500000000000000" pitchFamily="2" charset="-122"/>
              </a:rPr>
              <a:t>    </a:t>
            </a:r>
          </a:p>
        </p:txBody>
      </p:sp>
    </p:spTree>
    <p:extLst>
      <p:ext uri="{BB962C8B-B14F-4D97-AF65-F5344CB8AC3E}">
        <p14:creationId xmlns:p14="http://schemas.microsoft.com/office/powerpoint/2010/main" val="7995625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D91439E-08E0-9F0E-C4E5-6EC3D316DFA5}"/>
              </a:ext>
            </a:extLst>
          </p:cNvPr>
          <p:cNvSpPr>
            <a:spLocks noGrp="1"/>
          </p:cNvSpPr>
          <p:nvPr>
            <p:ph idx="1"/>
          </p:nvPr>
        </p:nvSpPr>
        <p:spPr>
          <a:xfrm>
            <a:off x="472439" y="349859"/>
            <a:ext cx="10905877" cy="5915770"/>
          </a:xfrm>
        </p:spPr>
        <p:txBody>
          <a:bodyPr>
            <a:normAutofit/>
          </a:bodyPr>
          <a:lstStyle/>
          <a:p>
            <a:pPr marL="0" indent="0">
              <a:lnSpc>
                <a:spcPct val="150000"/>
              </a:lnSpc>
              <a:buNone/>
            </a:pPr>
            <a:r>
              <a:rPr lang="en-US" altLang="zh-CN" dirty="0">
                <a:latin typeface="华光仿宋_CNKI" panose="02000500000000000000" pitchFamily="2" charset="-122"/>
                <a:ea typeface="华光仿宋_CNKI" panose="02000500000000000000" pitchFamily="2" charset="-122"/>
              </a:rPr>
              <a:t>      MFC</a:t>
            </a:r>
            <a:r>
              <a:rPr lang="zh-CN" altLang="en-US" dirty="0">
                <a:latin typeface="华光仿宋_CNKI" panose="02000500000000000000" pitchFamily="2" charset="-122"/>
                <a:ea typeface="华光仿宋_CNKI" panose="02000500000000000000" pitchFamily="2" charset="-122"/>
              </a:rPr>
              <a:t>考虑到典型的</a:t>
            </a:r>
            <a:r>
              <a:rPr lang="en-US" altLang="zh-CN" dirty="0">
                <a:latin typeface="华光仿宋_CNKI" panose="02000500000000000000" pitchFamily="2" charset="-122"/>
                <a:ea typeface="华光仿宋_CNKI" panose="02000500000000000000" pitchFamily="2" charset="-122"/>
              </a:rPr>
              <a:t>Windows</a:t>
            </a:r>
            <a:r>
              <a:rPr lang="zh-CN" altLang="en-US" dirty="0">
                <a:latin typeface="华光仿宋_CNKI" panose="02000500000000000000" pitchFamily="2" charset="-122"/>
                <a:ea typeface="华光仿宋_CNKI" panose="02000500000000000000" pitchFamily="2" charset="-122"/>
              </a:rPr>
              <a:t>程序需要的大部分初始化工作都是标准化的，因此把</a:t>
            </a:r>
            <a:r>
              <a:rPr lang="en-US" altLang="zh-CN" dirty="0" err="1">
                <a:latin typeface="华光仿宋_CNKI" panose="02000500000000000000" pitchFamily="2" charset="-122"/>
                <a:ea typeface="华光仿宋_CNKI" panose="02000500000000000000" pitchFamily="2" charset="-122"/>
              </a:rPr>
              <a:t>WinMain</a:t>
            </a:r>
            <a:r>
              <a:rPr lang="zh-CN" altLang="en-US" dirty="0">
                <a:latin typeface="华光仿宋_CNKI" panose="02000500000000000000" pitchFamily="2" charset="-122"/>
                <a:ea typeface="华光仿宋_CNKI" panose="02000500000000000000" pitchFamily="2" charset="-122"/>
              </a:rPr>
              <a:t>函数隐藏在应用程序的框架中，编译时会自动将该函数链接到可执行文件中。程序员可以重写</a:t>
            </a:r>
            <a:r>
              <a:rPr lang="en-US" altLang="zh-CN" dirty="0" err="1">
                <a:latin typeface="华光仿宋_CNKI" panose="02000500000000000000" pitchFamily="2" charset="-122"/>
                <a:ea typeface="华光仿宋_CNKI" panose="02000500000000000000" pitchFamily="2" charset="-122"/>
              </a:rPr>
              <a:t>WinMain</a:t>
            </a:r>
            <a:r>
              <a:rPr lang="zh-CN" altLang="en-US" dirty="0">
                <a:latin typeface="华光仿宋_CNKI" panose="02000500000000000000" pitchFamily="2" charset="-122"/>
                <a:ea typeface="华光仿宋_CNKI" panose="02000500000000000000" pitchFamily="2" charset="-122"/>
              </a:rPr>
              <a:t>函数，但一般不需要这么做。</a:t>
            </a:r>
            <a:endParaRPr lang="en-US" altLang="zh-CN"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Windows MFC</a:t>
            </a:r>
            <a:r>
              <a:rPr lang="zh-CN" altLang="en-US" dirty="0">
                <a:latin typeface="华光仿宋_CNKI" panose="02000500000000000000" pitchFamily="2" charset="-122"/>
                <a:ea typeface="华光仿宋_CNKI" panose="02000500000000000000" pitchFamily="2" charset="-122"/>
              </a:rPr>
              <a:t>应用程序主函数的名称为</a:t>
            </a:r>
            <a:r>
              <a:rPr lang="en-US" altLang="zh-CN" dirty="0">
                <a:latin typeface="华光仿宋_CNKI" panose="02000500000000000000" pitchFamily="2" charset="-122"/>
                <a:ea typeface="华光仿宋_CNKI" panose="02000500000000000000" pitchFamily="2" charset="-122"/>
              </a:rPr>
              <a:t>_</a:t>
            </a:r>
            <a:r>
              <a:rPr lang="en-US" altLang="zh-CN" dirty="0" err="1">
                <a:latin typeface="华光仿宋_CNKI" panose="02000500000000000000" pitchFamily="2" charset="-122"/>
                <a:ea typeface="华光仿宋_CNKI" panose="02000500000000000000" pitchFamily="2" charset="-122"/>
              </a:rPr>
              <a:t>tWinMain</a:t>
            </a:r>
            <a:r>
              <a:rPr lang="zh-CN" altLang="en-US" dirty="0">
                <a:latin typeface="华光仿宋_CNKI" panose="02000500000000000000" pitchFamily="2" charset="-122"/>
                <a:ea typeface="华光仿宋_CNKI" panose="02000500000000000000" pitchFamily="2" charset="-122"/>
              </a:rPr>
              <a:t>，</a:t>
            </a:r>
            <a:r>
              <a:rPr lang="zh-CN" altLang="en-US" b="1" dirty="0">
                <a:solidFill>
                  <a:srgbClr val="FF0000"/>
                </a:solidFill>
                <a:latin typeface="华光仿宋_CNKI" panose="02000500000000000000" pitchFamily="2" charset="-122"/>
                <a:ea typeface="华光仿宋_CNKI" panose="02000500000000000000" pitchFamily="2" charset="-122"/>
              </a:rPr>
              <a:t>名字是</a:t>
            </a:r>
            <a:r>
              <a:rPr lang="en-US" altLang="zh-CN" b="1" dirty="0">
                <a:solidFill>
                  <a:srgbClr val="FF0000"/>
                </a:solidFill>
                <a:latin typeface="华光仿宋_CNKI" panose="02000500000000000000" pitchFamily="2" charset="-122"/>
                <a:ea typeface="华光仿宋_CNKI" panose="02000500000000000000" pitchFamily="2" charset="-122"/>
              </a:rPr>
              <a:t>_</a:t>
            </a:r>
            <a:r>
              <a:rPr lang="en-US" altLang="zh-CN" b="1" dirty="0" err="1">
                <a:solidFill>
                  <a:srgbClr val="FF0000"/>
                </a:solidFill>
                <a:latin typeface="华光仿宋_CNKI" panose="02000500000000000000" pitchFamily="2" charset="-122"/>
                <a:ea typeface="华光仿宋_CNKI" panose="02000500000000000000" pitchFamily="2" charset="-122"/>
              </a:rPr>
              <a:t>tWinMain</a:t>
            </a:r>
            <a:r>
              <a:rPr lang="zh-CN" altLang="en-US" b="1" dirty="0">
                <a:solidFill>
                  <a:srgbClr val="FF0000"/>
                </a:solidFill>
                <a:latin typeface="华光仿宋_CNKI" panose="02000500000000000000" pitchFamily="2" charset="-122"/>
                <a:ea typeface="华光仿宋_CNKI" panose="02000500000000000000" pitchFamily="2" charset="-122"/>
              </a:rPr>
              <a:t>函数而不是 </a:t>
            </a:r>
            <a:r>
              <a:rPr lang="en-US" altLang="zh-CN" b="1" dirty="0" err="1">
                <a:solidFill>
                  <a:srgbClr val="FF0000"/>
                </a:solidFill>
                <a:latin typeface="华光仿宋_CNKI" panose="02000500000000000000" pitchFamily="2" charset="-122"/>
                <a:ea typeface="华光仿宋_CNKI" panose="02000500000000000000" pitchFamily="2" charset="-122"/>
              </a:rPr>
              <a:t>WinMain</a:t>
            </a:r>
            <a:r>
              <a:rPr lang="zh-CN" altLang="en-US" b="1" dirty="0">
                <a:solidFill>
                  <a:srgbClr val="FF0000"/>
                </a:solidFill>
                <a:latin typeface="华光仿宋_CNKI" panose="02000500000000000000" pitchFamily="2" charset="-122"/>
                <a:ea typeface="华光仿宋_CNKI" panose="02000500000000000000" pitchFamily="2" charset="-122"/>
              </a:rPr>
              <a:t>，是考虑到对不同字符集的支持</a:t>
            </a:r>
            <a:r>
              <a:rPr lang="zh-CN" altLang="en-US" dirty="0">
                <a:latin typeface="华光仿宋_CNKI" panose="02000500000000000000" pitchFamily="2" charset="-122"/>
                <a:ea typeface="华光仿宋_CNKI" panose="02000500000000000000" pitchFamily="2" charset="-122"/>
              </a:rPr>
              <a:t>，在</a:t>
            </a:r>
            <a:r>
              <a:rPr lang="en-US" altLang="zh-CN" dirty="0" err="1">
                <a:latin typeface="华光仿宋_CNKI" panose="02000500000000000000" pitchFamily="2" charset="-122"/>
                <a:ea typeface="华光仿宋_CNKI" panose="02000500000000000000" pitchFamily="2" charset="-122"/>
              </a:rPr>
              <a:t>tchar.h</a:t>
            </a:r>
            <a:r>
              <a:rPr lang="zh-CN" altLang="en-US" dirty="0">
                <a:latin typeface="华光仿宋_CNKI" panose="02000500000000000000" pitchFamily="2" charset="-122"/>
                <a:ea typeface="华光仿宋_CNKI" panose="02000500000000000000" pitchFamily="2" charset="-122"/>
              </a:rPr>
              <a:t>中有</a:t>
            </a:r>
            <a:r>
              <a:rPr lang="en-US" altLang="zh-CN" dirty="0">
                <a:latin typeface="华光仿宋_CNKI" panose="02000500000000000000" pitchFamily="2" charset="-122"/>
                <a:ea typeface="华光仿宋_CNKI" panose="02000500000000000000" pitchFamily="2" charset="-122"/>
              </a:rPr>
              <a:t>_</a:t>
            </a:r>
            <a:r>
              <a:rPr lang="en-US" altLang="zh-CN" dirty="0" err="1">
                <a:latin typeface="华光仿宋_CNKI" panose="02000500000000000000" pitchFamily="2" charset="-122"/>
                <a:ea typeface="华光仿宋_CNKI" panose="02000500000000000000" pitchFamily="2" charset="-122"/>
              </a:rPr>
              <a:t>tWinMain</a:t>
            </a:r>
            <a:r>
              <a:rPr lang="zh-CN" altLang="en-US" dirty="0">
                <a:latin typeface="华光仿宋_CNKI" panose="02000500000000000000" pitchFamily="2" charset="-122"/>
                <a:ea typeface="华光仿宋_CNKI" panose="02000500000000000000" pitchFamily="2" charset="-122"/>
              </a:rPr>
              <a:t>的宏定义。在</a:t>
            </a:r>
            <a:r>
              <a:rPr lang="en-US" altLang="zh-CN" dirty="0">
                <a:latin typeface="华光仿宋_CNKI" panose="02000500000000000000" pitchFamily="2" charset="-122"/>
                <a:ea typeface="华光仿宋_CNKI" panose="02000500000000000000" pitchFamily="2" charset="-122"/>
              </a:rPr>
              <a:t>ANSI</a:t>
            </a:r>
            <a:r>
              <a:rPr lang="zh-CN" altLang="en-US" dirty="0">
                <a:latin typeface="华光仿宋_CNKI" panose="02000500000000000000" pitchFamily="2" charset="-122"/>
                <a:ea typeface="华光仿宋_CNKI" panose="02000500000000000000" pitchFamily="2" charset="-122"/>
              </a:rPr>
              <a:t>字符集下编译时，</a:t>
            </a:r>
            <a:r>
              <a:rPr lang="en-US" altLang="zh-CN" dirty="0">
                <a:latin typeface="华光仿宋_CNKI" panose="02000500000000000000" pitchFamily="2" charset="-122"/>
                <a:ea typeface="华光仿宋_CNKI" panose="02000500000000000000" pitchFamily="2" charset="-122"/>
              </a:rPr>
              <a:t>_</a:t>
            </a:r>
            <a:r>
              <a:rPr lang="en-US" altLang="zh-CN" dirty="0" err="1">
                <a:latin typeface="华光仿宋_CNKI" panose="02000500000000000000" pitchFamily="2" charset="-122"/>
                <a:ea typeface="华光仿宋_CNKI" panose="02000500000000000000" pitchFamily="2" charset="-122"/>
              </a:rPr>
              <a:t>tWinMain</a:t>
            </a:r>
            <a:r>
              <a:rPr lang="zh-CN" altLang="en-US" dirty="0">
                <a:latin typeface="华光仿宋_CNKI" panose="02000500000000000000" pitchFamily="2" charset="-122"/>
                <a:ea typeface="华光仿宋_CNKI" panose="02000500000000000000" pitchFamily="2" charset="-122"/>
              </a:rPr>
              <a:t>就变成 </a:t>
            </a:r>
            <a:r>
              <a:rPr lang="en-US" altLang="zh-CN" dirty="0" err="1">
                <a:latin typeface="华光仿宋_CNKI" panose="02000500000000000000" pitchFamily="2" charset="-122"/>
                <a:ea typeface="华光仿宋_CNKI" panose="02000500000000000000" pitchFamily="2" charset="-122"/>
              </a:rPr>
              <a:t>WinMain</a:t>
            </a:r>
            <a:r>
              <a:rPr lang="zh-CN" altLang="en-US" dirty="0">
                <a:latin typeface="华光仿宋_CNKI" panose="02000500000000000000" pitchFamily="2" charset="-122"/>
                <a:ea typeface="华光仿宋_CNKI" panose="02000500000000000000" pitchFamily="2" charset="-122"/>
              </a:rPr>
              <a:t>，在</a:t>
            </a:r>
            <a:r>
              <a:rPr lang="en-US" altLang="zh-CN" dirty="0">
                <a:latin typeface="华光仿宋_CNKI" panose="02000500000000000000" pitchFamily="2" charset="-122"/>
                <a:ea typeface="华光仿宋_CNKI" panose="02000500000000000000" pitchFamily="2" charset="-122"/>
              </a:rPr>
              <a:t>Unicode</a:t>
            </a:r>
            <a:r>
              <a:rPr lang="zh-CN" altLang="en-US" dirty="0">
                <a:latin typeface="华光仿宋_CNKI" panose="02000500000000000000" pitchFamily="2" charset="-122"/>
                <a:ea typeface="华光仿宋_CNKI" panose="02000500000000000000" pitchFamily="2" charset="-122"/>
              </a:rPr>
              <a:t>下编译时，</a:t>
            </a:r>
            <a:r>
              <a:rPr lang="en-US" altLang="zh-CN" dirty="0">
                <a:latin typeface="华光仿宋_CNKI" panose="02000500000000000000" pitchFamily="2" charset="-122"/>
                <a:ea typeface="华光仿宋_CNKI" panose="02000500000000000000" pitchFamily="2" charset="-122"/>
              </a:rPr>
              <a:t>_</a:t>
            </a:r>
            <a:r>
              <a:rPr lang="en-US" altLang="zh-CN" dirty="0" err="1">
                <a:latin typeface="华光仿宋_CNKI" panose="02000500000000000000" pitchFamily="2" charset="-122"/>
                <a:ea typeface="华光仿宋_CNKI" panose="02000500000000000000" pitchFamily="2" charset="-122"/>
              </a:rPr>
              <a:t>tWinMain</a:t>
            </a:r>
            <a:r>
              <a:rPr lang="zh-CN" altLang="en-US" dirty="0">
                <a:latin typeface="华光仿宋_CNKI" panose="02000500000000000000" pitchFamily="2" charset="-122"/>
                <a:ea typeface="华光仿宋_CNKI" panose="02000500000000000000" pitchFamily="2" charset="-122"/>
              </a:rPr>
              <a:t>就变成</a:t>
            </a:r>
            <a:r>
              <a:rPr lang="en-US" altLang="zh-CN" dirty="0" err="1">
                <a:latin typeface="华光仿宋_CNKI" panose="02000500000000000000" pitchFamily="2" charset="-122"/>
                <a:ea typeface="华光仿宋_CNKI" panose="02000500000000000000" pitchFamily="2" charset="-122"/>
              </a:rPr>
              <a:t>wWinMain</a:t>
            </a:r>
            <a:r>
              <a:rPr lang="zh-CN" altLang="en-US" dirty="0">
                <a:latin typeface="华光仿宋_CNKI" panose="02000500000000000000" pitchFamily="2" charset="-122"/>
                <a:ea typeface="华光仿宋_CNKI" panose="02000500000000000000" pitchFamily="2" charset="-122"/>
              </a:rPr>
              <a:t>。</a:t>
            </a:r>
            <a:endParaRPr lang="en-US" altLang="zh-CN" dirty="0">
              <a:latin typeface="华光仿宋_CNKI" panose="02000500000000000000" pitchFamily="2" charset="-122"/>
              <a:ea typeface="华光仿宋_CNKI" panose="02000500000000000000" pitchFamily="2" charset="-122"/>
            </a:endParaRPr>
          </a:p>
        </p:txBody>
      </p:sp>
    </p:spTree>
    <p:extLst>
      <p:ext uri="{BB962C8B-B14F-4D97-AF65-F5344CB8AC3E}">
        <p14:creationId xmlns:p14="http://schemas.microsoft.com/office/powerpoint/2010/main" val="15154997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D91439E-08E0-9F0E-C4E5-6EC3D316DFA5}"/>
              </a:ext>
            </a:extLst>
          </p:cNvPr>
          <p:cNvSpPr>
            <a:spLocks noGrp="1"/>
          </p:cNvSpPr>
          <p:nvPr>
            <p:ph idx="1"/>
          </p:nvPr>
        </p:nvSpPr>
        <p:spPr>
          <a:xfrm>
            <a:off x="763326" y="620204"/>
            <a:ext cx="10543429" cy="5486398"/>
          </a:xfrm>
        </p:spPr>
        <p:txBody>
          <a:bodyPr>
            <a:normAutofit fontScale="62500" lnSpcReduction="20000"/>
          </a:bodyPr>
          <a:lstStyle/>
          <a:p>
            <a:pPr marL="0" indent="0">
              <a:lnSpc>
                <a:spcPct val="150000"/>
              </a:lnSpc>
              <a:buNone/>
            </a:pPr>
            <a:r>
              <a:rPr lang="en-US" altLang="zh-CN" dirty="0">
                <a:latin typeface="华光仿宋_CNKI" panose="02000500000000000000" pitchFamily="2" charset="-122"/>
                <a:ea typeface="华光仿宋_CNKI" panose="02000500000000000000" pitchFamily="2" charset="-122"/>
              </a:rPr>
              <a:t>MFC</a:t>
            </a:r>
            <a:r>
              <a:rPr lang="zh-CN" altLang="en-US" dirty="0">
                <a:latin typeface="华光仿宋_CNKI" panose="02000500000000000000" pitchFamily="2" charset="-122"/>
                <a:ea typeface="华光仿宋_CNKI" panose="02000500000000000000" pitchFamily="2" charset="-122"/>
              </a:rPr>
              <a:t>中</a:t>
            </a:r>
            <a:r>
              <a:rPr lang="en-US" altLang="zh-CN" b="0" i="0" dirty="0">
                <a:solidFill>
                  <a:srgbClr val="4D4D4D"/>
                </a:solidFill>
                <a:effectLst/>
                <a:latin typeface="-apple-system"/>
              </a:rPr>
              <a:t>_</a:t>
            </a:r>
            <a:r>
              <a:rPr lang="en-US" altLang="zh-CN" b="0" i="0" dirty="0" err="1">
                <a:solidFill>
                  <a:srgbClr val="4D4D4D"/>
                </a:solidFill>
                <a:effectLst/>
                <a:latin typeface="-apple-system"/>
              </a:rPr>
              <a:t>tWinMain</a:t>
            </a:r>
            <a:r>
              <a:rPr lang="zh-CN" altLang="en-US" b="0" i="0" dirty="0">
                <a:solidFill>
                  <a:srgbClr val="4D4D4D"/>
                </a:solidFill>
                <a:effectLst/>
                <a:latin typeface="-apple-system"/>
              </a:rPr>
              <a:t>函数定义如下：</a:t>
            </a:r>
            <a:br>
              <a:rPr lang="zh-CN" altLang="en-US" dirty="0"/>
            </a:br>
            <a:r>
              <a:rPr lang="en-US" altLang="zh-CN" b="0" i="0" dirty="0">
                <a:solidFill>
                  <a:srgbClr val="4D4D4D"/>
                </a:solidFill>
                <a:effectLst/>
                <a:latin typeface="Batang" panose="02030600000101010101" pitchFamily="18" charset="-127"/>
                <a:ea typeface="Batang" panose="02030600000101010101" pitchFamily="18" charset="-127"/>
              </a:rPr>
              <a:t>// export </a:t>
            </a:r>
            <a:r>
              <a:rPr lang="en-US" altLang="zh-CN" b="0" i="0" dirty="0" err="1">
                <a:solidFill>
                  <a:srgbClr val="4D4D4D"/>
                </a:solidFill>
                <a:effectLst/>
                <a:latin typeface="Batang" panose="02030600000101010101" pitchFamily="18" charset="-127"/>
                <a:ea typeface="Batang" panose="02030600000101010101" pitchFamily="18" charset="-127"/>
              </a:rPr>
              <a:t>WinMain</a:t>
            </a:r>
            <a:r>
              <a:rPr lang="en-US" altLang="zh-CN" b="0" i="0" dirty="0">
                <a:solidFill>
                  <a:srgbClr val="4D4D4D"/>
                </a:solidFill>
                <a:effectLst/>
                <a:latin typeface="Batang" panose="02030600000101010101" pitchFamily="18" charset="-127"/>
                <a:ea typeface="Batang" panose="02030600000101010101" pitchFamily="18" charset="-127"/>
              </a:rPr>
              <a:t> to force linkage to this module</a:t>
            </a:r>
            <a:br>
              <a:rPr lang="en-US" altLang="zh-CN" dirty="0">
                <a:latin typeface="Batang" panose="02030600000101010101" pitchFamily="18" charset="-127"/>
                <a:ea typeface="Batang" panose="02030600000101010101" pitchFamily="18" charset="-127"/>
              </a:rPr>
            </a:br>
            <a:r>
              <a:rPr lang="en-US" altLang="zh-CN" b="0" i="0" dirty="0">
                <a:solidFill>
                  <a:srgbClr val="FF0000"/>
                </a:solidFill>
                <a:effectLst/>
                <a:latin typeface="Batang" panose="02030600000101010101" pitchFamily="18" charset="-127"/>
                <a:ea typeface="Batang" panose="02030600000101010101" pitchFamily="18" charset="-127"/>
              </a:rPr>
              <a:t>extern int AFXAPI </a:t>
            </a:r>
            <a:r>
              <a:rPr lang="en-US" altLang="zh-CN" b="0" i="0" dirty="0" err="1">
                <a:solidFill>
                  <a:srgbClr val="FF0000"/>
                </a:solidFill>
                <a:effectLst/>
                <a:latin typeface="Batang" panose="02030600000101010101" pitchFamily="18" charset="-127"/>
                <a:ea typeface="Batang" panose="02030600000101010101" pitchFamily="18" charset="-127"/>
              </a:rPr>
              <a:t>AfxWinMain</a:t>
            </a:r>
            <a:r>
              <a:rPr lang="en-US" altLang="zh-CN" b="0" i="0" dirty="0">
                <a:solidFill>
                  <a:srgbClr val="FF0000"/>
                </a:solidFill>
                <a:effectLst/>
                <a:latin typeface="Batang" panose="02030600000101010101" pitchFamily="18" charset="-127"/>
                <a:ea typeface="Batang" panose="02030600000101010101" pitchFamily="18" charset="-127"/>
              </a:rPr>
              <a:t>(HINSTANCE </a:t>
            </a:r>
            <a:r>
              <a:rPr lang="en-US" altLang="zh-CN" b="0" i="0" dirty="0" err="1">
                <a:solidFill>
                  <a:srgbClr val="FF0000"/>
                </a:solidFill>
                <a:effectLst/>
                <a:latin typeface="Batang" panose="02030600000101010101" pitchFamily="18" charset="-127"/>
                <a:ea typeface="Batang" panose="02030600000101010101" pitchFamily="18" charset="-127"/>
              </a:rPr>
              <a:t>hInstance</a:t>
            </a:r>
            <a:r>
              <a:rPr lang="en-US" altLang="zh-CN" b="0" i="0" dirty="0">
                <a:solidFill>
                  <a:srgbClr val="FF0000"/>
                </a:solidFill>
                <a:effectLst/>
                <a:latin typeface="Batang" panose="02030600000101010101" pitchFamily="18" charset="-127"/>
                <a:ea typeface="Batang" panose="02030600000101010101" pitchFamily="18" charset="-127"/>
              </a:rPr>
              <a:t>, HINSTANCE </a:t>
            </a:r>
            <a:r>
              <a:rPr lang="en-US" altLang="zh-CN" b="0" i="0" dirty="0" err="1">
                <a:solidFill>
                  <a:srgbClr val="FF0000"/>
                </a:solidFill>
                <a:effectLst/>
                <a:latin typeface="Batang" panose="02030600000101010101" pitchFamily="18" charset="-127"/>
                <a:ea typeface="Batang" panose="02030600000101010101" pitchFamily="18" charset="-127"/>
              </a:rPr>
              <a:t>hPrevInstance,LPTSTR</a:t>
            </a:r>
            <a:r>
              <a:rPr lang="en-US" altLang="zh-CN" b="0" i="0" dirty="0">
                <a:solidFill>
                  <a:srgbClr val="FF0000"/>
                </a:solidFill>
                <a:effectLst/>
                <a:latin typeface="Batang" panose="02030600000101010101" pitchFamily="18" charset="-127"/>
                <a:ea typeface="Batang" panose="02030600000101010101" pitchFamily="18" charset="-127"/>
              </a:rPr>
              <a:t> </a:t>
            </a:r>
            <a:r>
              <a:rPr lang="en-US" altLang="zh-CN" b="0" i="0" dirty="0" err="1">
                <a:solidFill>
                  <a:srgbClr val="FF0000"/>
                </a:solidFill>
                <a:effectLst/>
                <a:latin typeface="Batang" panose="02030600000101010101" pitchFamily="18" charset="-127"/>
                <a:ea typeface="Batang" panose="02030600000101010101" pitchFamily="18" charset="-127"/>
              </a:rPr>
              <a:t>lpCmdLine</a:t>
            </a:r>
            <a:r>
              <a:rPr lang="en-US" altLang="zh-CN" b="0" i="0" dirty="0">
                <a:solidFill>
                  <a:srgbClr val="FF0000"/>
                </a:solidFill>
                <a:effectLst/>
                <a:latin typeface="Batang" panose="02030600000101010101" pitchFamily="18" charset="-127"/>
                <a:ea typeface="Batang" panose="02030600000101010101" pitchFamily="18" charset="-127"/>
              </a:rPr>
              <a:t>, int </a:t>
            </a:r>
            <a:r>
              <a:rPr lang="en-US" altLang="zh-CN" b="0" i="0" dirty="0" err="1">
                <a:solidFill>
                  <a:srgbClr val="FF0000"/>
                </a:solidFill>
                <a:effectLst/>
                <a:latin typeface="Batang" panose="02030600000101010101" pitchFamily="18" charset="-127"/>
                <a:ea typeface="Batang" panose="02030600000101010101" pitchFamily="18" charset="-127"/>
              </a:rPr>
              <a:t>nCmdShow</a:t>
            </a:r>
            <a:r>
              <a:rPr lang="en-US" altLang="zh-CN" b="0" i="0" dirty="0">
                <a:solidFill>
                  <a:srgbClr val="FF0000"/>
                </a:solidFill>
                <a:effectLst/>
                <a:latin typeface="Batang" panose="02030600000101010101" pitchFamily="18" charset="-127"/>
                <a:ea typeface="Batang" panose="02030600000101010101" pitchFamily="18" charset="-127"/>
              </a:rPr>
              <a:t>);</a:t>
            </a:r>
            <a:br>
              <a:rPr lang="en-US" altLang="zh-CN" dirty="0">
                <a:latin typeface="Batang" panose="02030600000101010101" pitchFamily="18" charset="-127"/>
                <a:ea typeface="Batang" panose="02030600000101010101" pitchFamily="18" charset="-127"/>
              </a:rPr>
            </a:br>
            <a:r>
              <a:rPr lang="en-US" altLang="zh-CN" b="0" i="0" dirty="0">
                <a:solidFill>
                  <a:srgbClr val="4D4D4D"/>
                </a:solidFill>
                <a:effectLst/>
                <a:latin typeface="Batang" panose="02030600000101010101" pitchFamily="18" charset="-127"/>
                <a:ea typeface="Batang" panose="02030600000101010101" pitchFamily="18" charset="-127"/>
              </a:rPr>
              <a:t>#ifdef _MAC</a:t>
            </a:r>
            <a:br>
              <a:rPr lang="en-US" altLang="zh-CN" dirty="0">
                <a:latin typeface="Batang" panose="02030600000101010101" pitchFamily="18" charset="-127"/>
                <a:ea typeface="Batang" panose="02030600000101010101" pitchFamily="18" charset="-127"/>
              </a:rPr>
            </a:br>
            <a:r>
              <a:rPr lang="en-US" altLang="zh-CN" dirty="0">
                <a:latin typeface="Batang" panose="02030600000101010101" pitchFamily="18" charset="-127"/>
                <a:ea typeface="Batang" panose="02030600000101010101" pitchFamily="18" charset="-127"/>
              </a:rPr>
              <a:t>    </a:t>
            </a:r>
            <a:r>
              <a:rPr lang="en-US" altLang="zh-CN" b="0" i="0" dirty="0">
                <a:solidFill>
                  <a:srgbClr val="4D4D4D"/>
                </a:solidFill>
                <a:effectLst/>
                <a:latin typeface="Batang" panose="02030600000101010101" pitchFamily="18" charset="-127"/>
                <a:ea typeface="Batang" panose="02030600000101010101" pitchFamily="18" charset="-127"/>
              </a:rPr>
              <a:t>extern "C" int PASCAL</a:t>
            </a:r>
            <a:br>
              <a:rPr lang="en-US" altLang="zh-CN" dirty="0">
                <a:latin typeface="Batang" panose="02030600000101010101" pitchFamily="18" charset="-127"/>
                <a:ea typeface="Batang" panose="02030600000101010101" pitchFamily="18" charset="-127"/>
              </a:rPr>
            </a:br>
            <a:r>
              <a:rPr lang="en-US" altLang="zh-CN" b="0" i="0" dirty="0">
                <a:solidFill>
                  <a:srgbClr val="4D4D4D"/>
                </a:solidFill>
                <a:effectLst/>
                <a:latin typeface="Batang" panose="02030600000101010101" pitchFamily="18" charset="-127"/>
                <a:ea typeface="Batang" panose="02030600000101010101" pitchFamily="18" charset="-127"/>
              </a:rPr>
              <a:t>#else</a:t>
            </a:r>
            <a:br>
              <a:rPr lang="en-US" altLang="zh-CN" dirty="0">
                <a:latin typeface="Batang" panose="02030600000101010101" pitchFamily="18" charset="-127"/>
                <a:ea typeface="Batang" panose="02030600000101010101" pitchFamily="18" charset="-127"/>
              </a:rPr>
            </a:br>
            <a:r>
              <a:rPr lang="en-US" altLang="zh-CN" dirty="0">
                <a:latin typeface="Batang" panose="02030600000101010101" pitchFamily="18" charset="-127"/>
                <a:ea typeface="Batang" panose="02030600000101010101" pitchFamily="18" charset="-127"/>
              </a:rPr>
              <a:t>    </a:t>
            </a:r>
            <a:r>
              <a:rPr lang="en-US" altLang="zh-CN" b="0" i="0" dirty="0">
                <a:solidFill>
                  <a:srgbClr val="4D4D4D"/>
                </a:solidFill>
                <a:effectLst/>
                <a:latin typeface="Batang" panose="02030600000101010101" pitchFamily="18" charset="-127"/>
                <a:ea typeface="Batang" panose="02030600000101010101" pitchFamily="18" charset="-127"/>
              </a:rPr>
              <a:t>extern "C" int WINAPI</a:t>
            </a:r>
            <a:br>
              <a:rPr lang="en-US" altLang="zh-CN" dirty="0">
                <a:latin typeface="Batang" panose="02030600000101010101" pitchFamily="18" charset="-127"/>
                <a:ea typeface="Batang" panose="02030600000101010101" pitchFamily="18" charset="-127"/>
              </a:rPr>
            </a:br>
            <a:r>
              <a:rPr lang="en-US" altLang="zh-CN" b="0" i="0" dirty="0">
                <a:solidFill>
                  <a:srgbClr val="4D4D4D"/>
                </a:solidFill>
                <a:effectLst/>
                <a:latin typeface="Batang" panose="02030600000101010101" pitchFamily="18" charset="-127"/>
                <a:ea typeface="Batang" panose="02030600000101010101" pitchFamily="18" charset="-127"/>
              </a:rPr>
              <a:t>#endif</a:t>
            </a:r>
            <a:br>
              <a:rPr lang="en-US" altLang="zh-CN" dirty="0">
                <a:latin typeface="Batang" panose="02030600000101010101" pitchFamily="18" charset="-127"/>
                <a:ea typeface="Batang" panose="02030600000101010101" pitchFamily="18" charset="-127"/>
              </a:rPr>
            </a:br>
            <a:r>
              <a:rPr lang="en-US" altLang="zh-CN" b="0" i="0" dirty="0">
                <a:solidFill>
                  <a:srgbClr val="4D4D4D"/>
                </a:solidFill>
                <a:effectLst/>
                <a:latin typeface="Batang" panose="02030600000101010101" pitchFamily="18" charset="-127"/>
                <a:ea typeface="Batang" panose="02030600000101010101" pitchFamily="18" charset="-127"/>
              </a:rPr>
              <a:t>_</a:t>
            </a:r>
            <a:r>
              <a:rPr lang="en-US" altLang="zh-CN" b="0" i="0" dirty="0" err="1">
                <a:solidFill>
                  <a:srgbClr val="4D4D4D"/>
                </a:solidFill>
                <a:effectLst/>
                <a:latin typeface="Batang" panose="02030600000101010101" pitchFamily="18" charset="-127"/>
                <a:ea typeface="Batang" panose="02030600000101010101" pitchFamily="18" charset="-127"/>
              </a:rPr>
              <a:t>tWinMain</a:t>
            </a:r>
            <a:r>
              <a:rPr lang="en-US" altLang="zh-CN" b="0" i="0" dirty="0">
                <a:solidFill>
                  <a:srgbClr val="4D4D4D"/>
                </a:solidFill>
                <a:effectLst/>
                <a:latin typeface="Batang" panose="02030600000101010101" pitchFamily="18" charset="-127"/>
                <a:ea typeface="Batang" panose="02030600000101010101" pitchFamily="18" charset="-127"/>
              </a:rPr>
              <a:t>(HINSTANCE </a:t>
            </a:r>
            <a:r>
              <a:rPr lang="en-US" altLang="zh-CN" b="0" i="0" dirty="0" err="1">
                <a:solidFill>
                  <a:srgbClr val="4D4D4D"/>
                </a:solidFill>
                <a:effectLst/>
                <a:latin typeface="Batang" panose="02030600000101010101" pitchFamily="18" charset="-127"/>
                <a:ea typeface="Batang" panose="02030600000101010101" pitchFamily="18" charset="-127"/>
              </a:rPr>
              <a:t>hInstance</a:t>
            </a:r>
            <a:r>
              <a:rPr lang="en-US" altLang="zh-CN" b="0" i="0" dirty="0">
                <a:solidFill>
                  <a:srgbClr val="4D4D4D"/>
                </a:solidFill>
                <a:effectLst/>
                <a:latin typeface="Batang" panose="02030600000101010101" pitchFamily="18" charset="-127"/>
                <a:ea typeface="Batang" panose="02030600000101010101" pitchFamily="18" charset="-127"/>
              </a:rPr>
              <a:t>, HINSTANCE </a:t>
            </a:r>
            <a:r>
              <a:rPr lang="en-US" altLang="zh-CN" b="0" i="0" dirty="0" err="1">
                <a:solidFill>
                  <a:srgbClr val="4D4D4D"/>
                </a:solidFill>
                <a:effectLst/>
                <a:latin typeface="Batang" panose="02030600000101010101" pitchFamily="18" charset="-127"/>
                <a:ea typeface="Batang" panose="02030600000101010101" pitchFamily="18" charset="-127"/>
              </a:rPr>
              <a:t>hPrevInstance</a:t>
            </a:r>
            <a:r>
              <a:rPr lang="en-US" altLang="zh-CN" b="0" i="0" dirty="0">
                <a:solidFill>
                  <a:srgbClr val="4D4D4D"/>
                </a:solidFill>
                <a:effectLst/>
                <a:latin typeface="Batang" panose="02030600000101010101" pitchFamily="18" charset="-127"/>
                <a:ea typeface="Batang" panose="02030600000101010101" pitchFamily="18" charset="-127"/>
              </a:rPr>
              <a:t>, LPTSTR </a:t>
            </a:r>
            <a:r>
              <a:rPr lang="en-US" altLang="zh-CN" b="0" i="0" dirty="0" err="1">
                <a:solidFill>
                  <a:srgbClr val="4D4D4D"/>
                </a:solidFill>
                <a:effectLst/>
                <a:latin typeface="Batang" panose="02030600000101010101" pitchFamily="18" charset="-127"/>
                <a:ea typeface="Batang" panose="02030600000101010101" pitchFamily="18" charset="-127"/>
              </a:rPr>
              <a:t>lpCmdLine</a:t>
            </a:r>
            <a:r>
              <a:rPr lang="en-US" altLang="zh-CN" b="0" i="0" dirty="0">
                <a:solidFill>
                  <a:srgbClr val="4D4D4D"/>
                </a:solidFill>
                <a:effectLst/>
                <a:latin typeface="Batang" panose="02030600000101010101" pitchFamily="18" charset="-127"/>
                <a:ea typeface="Batang" panose="02030600000101010101" pitchFamily="18" charset="-127"/>
              </a:rPr>
              <a:t>, int </a:t>
            </a:r>
            <a:r>
              <a:rPr lang="en-US" altLang="zh-CN" b="0" i="0" dirty="0" err="1">
                <a:solidFill>
                  <a:srgbClr val="4D4D4D"/>
                </a:solidFill>
                <a:effectLst/>
                <a:latin typeface="Batang" panose="02030600000101010101" pitchFamily="18" charset="-127"/>
                <a:ea typeface="Batang" panose="02030600000101010101" pitchFamily="18" charset="-127"/>
              </a:rPr>
              <a:t>nCmdShow</a:t>
            </a:r>
            <a:r>
              <a:rPr lang="en-US" altLang="zh-CN" b="0" i="0" dirty="0">
                <a:solidFill>
                  <a:srgbClr val="4D4D4D"/>
                </a:solidFill>
                <a:effectLst/>
                <a:latin typeface="Batang" panose="02030600000101010101" pitchFamily="18" charset="-127"/>
                <a:ea typeface="Batang" panose="02030600000101010101" pitchFamily="18" charset="-127"/>
              </a:rPr>
              <a:t>)</a:t>
            </a:r>
            <a:br>
              <a:rPr lang="en-US" altLang="zh-CN" dirty="0">
                <a:latin typeface="Batang" panose="02030600000101010101" pitchFamily="18" charset="-127"/>
                <a:ea typeface="Batang" panose="02030600000101010101" pitchFamily="18" charset="-127"/>
              </a:rPr>
            </a:br>
            <a:r>
              <a:rPr lang="en-US" altLang="zh-CN" b="0" i="0" dirty="0">
                <a:solidFill>
                  <a:srgbClr val="4D4D4D"/>
                </a:solidFill>
                <a:effectLst/>
                <a:latin typeface="Batang" panose="02030600000101010101" pitchFamily="18" charset="-127"/>
                <a:ea typeface="Batang" panose="02030600000101010101" pitchFamily="18" charset="-127"/>
              </a:rPr>
              <a:t>{</a:t>
            </a:r>
            <a:br>
              <a:rPr lang="en-US" altLang="zh-CN" dirty="0">
                <a:latin typeface="Batang" panose="02030600000101010101" pitchFamily="18" charset="-127"/>
                <a:ea typeface="Batang" panose="02030600000101010101" pitchFamily="18" charset="-127"/>
              </a:rPr>
            </a:br>
            <a:r>
              <a:rPr lang="en-US" altLang="zh-CN" dirty="0">
                <a:latin typeface="Batang" panose="02030600000101010101" pitchFamily="18" charset="-127"/>
                <a:ea typeface="Batang" panose="02030600000101010101" pitchFamily="18" charset="-127"/>
              </a:rPr>
              <a:t>    </a:t>
            </a:r>
            <a:r>
              <a:rPr lang="en-US" altLang="zh-CN" b="0" i="0" dirty="0">
                <a:solidFill>
                  <a:srgbClr val="4D4D4D"/>
                </a:solidFill>
                <a:effectLst/>
                <a:latin typeface="Batang" panose="02030600000101010101" pitchFamily="18" charset="-127"/>
                <a:ea typeface="Batang" panose="02030600000101010101" pitchFamily="18" charset="-127"/>
              </a:rPr>
              <a:t>// call shared/exported </a:t>
            </a:r>
            <a:r>
              <a:rPr lang="en-US" altLang="zh-CN" b="0" i="0" dirty="0" err="1">
                <a:solidFill>
                  <a:srgbClr val="4D4D4D"/>
                </a:solidFill>
                <a:effectLst/>
                <a:latin typeface="Batang" panose="02030600000101010101" pitchFamily="18" charset="-127"/>
                <a:ea typeface="Batang" panose="02030600000101010101" pitchFamily="18" charset="-127"/>
              </a:rPr>
              <a:t>WinMain</a:t>
            </a:r>
            <a:br>
              <a:rPr lang="en-US" altLang="zh-CN" dirty="0">
                <a:latin typeface="Batang" panose="02030600000101010101" pitchFamily="18" charset="-127"/>
                <a:ea typeface="Batang" panose="02030600000101010101" pitchFamily="18" charset="-127"/>
              </a:rPr>
            </a:br>
            <a:r>
              <a:rPr lang="en-US" altLang="zh-CN" dirty="0">
                <a:latin typeface="Batang" panose="02030600000101010101" pitchFamily="18" charset="-127"/>
                <a:ea typeface="Batang" panose="02030600000101010101" pitchFamily="18" charset="-127"/>
              </a:rPr>
              <a:t>    </a:t>
            </a:r>
            <a:r>
              <a:rPr lang="en-US" altLang="zh-CN" b="0" i="0" dirty="0">
                <a:solidFill>
                  <a:srgbClr val="4D4D4D"/>
                </a:solidFill>
                <a:effectLst/>
                <a:latin typeface="Batang" panose="02030600000101010101" pitchFamily="18" charset="-127"/>
                <a:ea typeface="Batang" panose="02030600000101010101" pitchFamily="18" charset="-127"/>
              </a:rPr>
              <a:t>return </a:t>
            </a:r>
            <a:r>
              <a:rPr lang="en-US" altLang="zh-CN" b="0" i="0" dirty="0" err="1">
                <a:solidFill>
                  <a:srgbClr val="FF0000"/>
                </a:solidFill>
                <a:effectLst/>
                <a:latin typeface="Batang" panose="02030600000101010101" pitchFamily="18" charset="-127"/>
                <a:ea typeface="Batang" panose="02030600000101010101" pitchFamily="18" charset="-127"/>
              </a:rPr>
              <a:t>AfxWinMain</a:t>
            </a:r>
            <a:r>
              <a:rPr lang="en-US" altLang="zh-CN" b="0" i="0" dirty="0">
                <a:solidFill>
                  <a:srgbClr val="FF0000"/>
                </a:solidFill>
                <a:effectLst/>
                <a:latin typeface="Batang" panose="02030600000101010101" pitchFamily="18" charset="-127"/>
                <a:ea typeface="Batang" panose="02030600000101010101" pitchFamily="18" charset="-127"/>
              </a:rPr>
              <a:t>(</a:t>
            </a:r>
            <a:r>
              <a:rPr lang="en-US" altLang="zh-CN" b="0" i="0" dirty="0" err="1">
                <a:solidFill>
                  <a:srgbClr val="FF0000"/>
                </a:solidFill>
                <a:effectLst/>
                <a:latin typeface="Batang" panose="02030600000101010101" pitchFamily="18" charset="-127"/>
                <a:ea typeface="Batang" panose="02030600000101010101" pitchFamily="18" charset="-127"/>
              </a:rPr>
              <a:t>hInstance</a:t>
            </a:r>
            <a:r>
              <a:rPr lang="en-US" altLang="zh-CN" b="0" i="0" dirty="0">
                <a:solidFill>
                  <a:srgbClr val="FF0000"/>
                </a:solidFill>
                <a:effectLst/>
                <a:latin typeface="Batang" panose="02030600000101010101" pitchFamily="18" charset="-127"/>
                <a:ea typeface="Batang" panose="02030600000101010101" pitchFamily="18" charset="-127"/>
              </a:rPr>
              <a:t>, </a:t>
            </a:r>
            <a:r>
              <a:rPr lang="en-US" altLang="zh-CN" b="0" i="0" dirty="0" err="1">
                <a:solidFill>
                  <a:srgbClr val="FF0000"/>
                </a:solidFill>
                <a:effectLst/>
                <a:latin typeface="Batang" panose="02030600000101010101" pitchFamily="18" charset="-127"/>
                <a:ea typeface="Batang" panose="02030600000101010101" pitchFamily="18" charset="-127"/>
              </a:rPr>
              <a:t>hPrevInstance</a:t>
            </a:r>
            <a:r>
              <a:rPr lang="en-US" altLang="zh-CN" b="0" i="0" dirty="0">
                <a:solidFill>
                  <a:srgbClr val="FF0000"/>
                </a:solidFill>
                <a:effectLst/>
                <a:latin typeface="Batang" panose="02030600000101010101" pitchFamily="18" charset="-127"/>
                <a:ea typeface="Batang" panose="02030600000101010101" pitchFamily="18" charset="-127"/>
              </a:rPr>
              <a:t>, </a:t>
            </a:r>
            <a:r>
              <a:rPr lang="en-US" altLang="zh-CN" b="0" i="0" dirty="0" err="1">
                <a:solidFill>
                  <a:srgbClr val="FF0000"/>
                </a:solidFill>
                <a:effectLst/>
                <a:latin typeface="Batang" panose="02030600000101010101" pitchFamily="18" charset="-127"/>
                <a:ea typeface="Batang" panose="02030600000101010101" pitchFamily="18" charset="-127"/>
              </a:rPr>
              <a:t>lpCmdLine</a:t>
            </a:r>
            <a:r>
              <a:rPr lang="en-US" altLang="zh-CN" b="0" i="0" dirty="0">
                <a:solidFill>
                  <a:srgbClr val="FF0000"/>
                </a:solidFill>
                <a:effectLst/>
                <a:latin typeface="Batang" panose="02030600000101010101" pitchFamily="18" charset="-127"/>
                <a:ea typeface="Batang" panose="02030600000101010101" pitchFamily="18" charset="-127"/>
              </a:rPr>
              <a:t>, </a:t>
            </a:r>
            <a:r>
              <a:rPr lang="en-US" altLang="zh-CN" b="0" i="0" dirty="0" err="1">
                <a:solidFill>
                  <a:srgbClr val="FF0000"/>
                </a:solidFill>
                <a:effectLst/>
                <a:latin typeface="Batang" panose="02030600000101010101" pitchFamily="18" charset="-127"/>
                <a:ea typeface="Batang" panose="02030600000101010101" pitchFamily="18" charset="-127"/>
              </a:rPr>
              <a:t>nCmdShow</a:t>
            </a:r>
            <a:r>
              <a:rPr lang="en-US" altLang="zh-CN" b="0" i="0" dirty="0">
                <a:solidFill>
                  <a:srgbClr val="FF0000"/>
                </a:solidFill>
                <a:effectLst/>
                <a:latin typeface="Batang" panose="02030600000101010101" pitchFamily="18" charset="-127"/>
                <a:ea typeface="Batang" panose="02030600000101010101" pitchFamily="18" charset="-127"/>
              </a:rPr>
              <a:t>);</a:t>
            </a:r>
            <a:br>
              <a:rPr lang="en-US" altLang="zh-CN" dirty="0">
                <a:solidFill>
                  <a:srgbClr val="FF0000"/>
                </a:solidFill>
                <a:latin typeface="Batang" panose="02030600000101010101" pitchFamily="18" charset="-127"/>
                <a:ea typeface="Batang" panose="02030600000101010101" pitchFamily="18" charset="-127"/>
              </a:rPr>
            </a:br>
            <a:r>
              <a:rPr lang="en-US" altLang="zh-CN" b="0" i="0" dirty="0">
                <a:solidFill>
                  <a:srgbClr val="4D4D4D"/>
                </a:solidFill>
                <a:effectLst/>
                <a:latin typeface="Batang" panose="02030600000101010101" pitchFamily="18" charset="-127"/>
                <a:ea typeface="Batang" panose="02030600000101010101" pitchFamily="18" charset="-127"/>
              </a:rPr>
              <a:t>}</a:t>
            </a:r>
            <a:endParaRPr lang="en-US" altLang="zh-CN" dirty="0">
              <a:latin typeface="Batang" panose="02030600000101010101" pitchFamily="18" charset="-127"/>
              <a:ea typeface="Batang" panose="02030600000101010101" pitchFamily="18" charset="-127"/>
            </a:endParaRPr>
          </a:p>
        </p:txBody>
      </p:sp>
    </p:spTree>
    <p:extLst>
      <p:ext uri="{BB962C8B-B14F-4D97-AF65-F5344CB8AC3E}">
        <p14:creationId xmlns:p14="http://schemas.microsoft.com/office/powerpoint/2010/main" val="39040321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D91439E-08E0-9F0E-C4E5-6EC3D316DFA5}"/>
              </a:ext>
            </a:extLst>
          </p:cNvPr>
          <p:cNvSpPr>
            <a:spLocks noGrp="1"/>
          </p:cNvSpPr>
          <p:nvPr>
            <p:ph idx="1"/>
          </p:nvPr>
        </p:nvSpPr>
        <p:spPr>
          <a:xfrm>
            <a:off x="361120" y="485029"/>
            <a:ext cx="10905877" cy="6178164"/>
          </a:xfrm>
        </p:spPr>
        <p:txBody>
          <a:bodyPr>
            <a:normAutofit fontScale="32500" lnSpcReduction="20000"/>
          </a:bodyPr>
          <a:lstStyle/>
          <a:p>
            <a:pPr marL="0" indent="0">
              <a:lnSpc>
                <a:spcPct val="150000"/>
              </a:lnSpc>
              <a:buNone/>
            </a:pPr>
            <a:r>
              <a:rPr lang="zh-CN" altLang="en-US" sz="8600" dirty="0">
                <a:latin typeface="Batang" panose="02030600000101010101" pitchFamily="18" charset="-127"/>
                <a:ea typeface="Batang" panose="02030600000101010101" pitchFamily="18" charset="-127"/>
              </a:rPr>
              <a:t>其中最主要的是调用了</a:t>
            </a:r>
            <a:r>
              <a:rPr lang="en-US" altLang="zh-CN" sz="8600" dirty="0" err="1">
                <a:latin typeface="Batang" panose="02030600000101010101" pitchFamily="18" charset="-127"/>
                <a:ea typeface="Batang" panose="02030600000101010101" pitchFamily="18" charset="-127"/>
              </a:rPr>
              <a:t>AfxWinMain</a:t>
            </a:r>
            <a:r>
              <a:rPr lang="zh-CN" altLang="en-US" sz="8600" dirty="0">
                <a:latin typeface="Batang" panose="02030600000101010101" pitchFamily="18" charset="-127"/>
                <a:ea typeface="Batang" panose="02030600000101010101" pitchFamily="18" charset="-127"/>
              </a:rPr>
              <a:t>函数。该函数的定义如下：</a:t>
            </a:r>
            <a:endParaRPr lang="en-US" altLang="zh-CN" sz="8600" dirty="0">
              <a:latin typeface="Batang" panose="02030600000101010101" pitchFamily="18" charset="-127"/>
              <a:ea typeface="Batang" panose="02030600000101010101" pitchFamily="18" charset="-127"/>
            </a:endParaRPr>
          </a:p>
          <a:p>
            <a:pPr marL="0" indent="0">
              <a:lnSpc>
                <a:spcPct val="150000"/>
              </a:lnSpc>
              <a:buNone/>
            </a:pPr>
            <a:r>
              <a:rPr lang="en-US" altLang="zh-CN" sz="7400" dirty="0">
                <a:latin typeface="Batang" panose="02030600000101010101" pitchFamily="18" charset="-127"/>
                <a:ea typeface="Batang" panose="02030600000101010101" pitchFamily="18" charset="-127"/>
              </a:rPr>
              <a:t>// Standard </a:t>
            </a:r>
            <a:r>
              <a:rPr lang="en-US" altLang="zh-CN" sz="7400" dirty="0" err="1">
                <a:latin typeface="Batang" panose="02030600000101010101" pitchFamily="18" charset="-127"/>
                <a:ea typeface="Batang" panose="02030600000101010101" pitchFamily="18" charset="-127"/>
              </a:rPr>
              <a:t>WinMain</a:t>
            </a:r>
            <a:r>
              <a:rPr lang="en-US" altLang="zh-CN" sz="7400" dirty="0">
                <a:latin typeface="Batang" panose="02030600000101010101" pitchFamily="18" charset="-127"/>
                <a:ea typeface="Batang" panose="02030600000101010101" pitchFamily="18" charset="-127"/>
              </a:rPr>
              <a:t> implementation</a:t>
            </a:r>
            <a:br>
              <a:rPr lang="en-US" altLang="zh-CN" sz="7400" dirty="0">
                <a:latin typeface="Batang" panose="02030600000101010101" pitchFamily="18" charset="-127"/>
                <a:ea typeface="Batang" panose="02030600000101010101" pitchFamily="18" charset="-127"/>
              </a:rPr>
            </a:br>
            <a:r>
              <a:rPr lang="en-US" altLang="zh-CN" sz="7400" dirty="0">
                <a:latin typeface="Batang" panose="02030600000101010101" pitchFamily="18" charset="-127"/>
                <a:ea typeface="Batang" panose="02030600000101010101" pitchFamily="18" charset="-127"/>
              </a:rPr>
              <a:t>// Can be replaced as long as '</a:t>
            </a:r>
            <a:r>
              <a:rPr lang="en-US" altLang="zh-CN" sz="7400" dirty="0" err="1">
                <a:latin typeface="Batang" panose="02030600000101010101" pitchFamily="18" charset="-127"/>
                <a:ea typeface="Batang" panose="02030600000101010101" pitchFamily="18" charset="-127"/>
              </a:rPr>
              <a:t>AfxWinInit</a:t>
            </a:r>
            <a:r>
              <a:rPr lang="en-US" altLang="zh-CN" sz="7400" dirty="0">
                <a:latin typeface="Batang" panose="02030600000101010101" pitchFamily="18" charset="-127"/>
                <a:ea typeface="Batang" panose="02030600000101010101" pitchFamily="18" charset="-127"/>
              </a:rPr>
              <a:t>' is called first</a:t>
            </a:r>
            <a:br>
              <a:rPr lang="en-US" altLang="zh-CN" sz="7400" dirty="0">
                <a:latin typeface="Batang" panose="02030600000101010101" pitchFamily="18" charset="-127"/>
                <a:ea typeface="Batang" panose="02030600000101010101" pitchFamily="18" charset="-127"/>
              </a:rPr>
            </a:br>
            <a:r>
              <a:rPr lang="en-US" altLang="zh-CN" sz="7400" dirty="0">
                <a:solidFill>
                  <a:srgbClr val="FF0000"/>
                </a:solidFill>
                <a:latin typeface="Batang" panose="02030600000101010101" pitchFamily="18" charset="-127"/>
                <a:ea typeface="Batang" panose="02030600000101010101" pitchFamily="18" charset="-127"/>
              </a:rPr>
              <a:t>int AFXAPI </a:t>
            </a:r>
            <a:r>
              <a:rPr lang="en-US" altLang="zh-CN" sz="7400" dirty="0" err="1">
                <a:solidFill>
                  <a:srgbClr val="FF0000"/>
                </a:solidFill>
                <a:latin typeface="Batang" panose="02030600000101010101" pitchFamily="18" charset="-127"/>
                <a:ea typeface="Batang" panose="02030600000101010101" pitchFamily="18" charset="-127"/>
              </a:rPr>
              <a:t>AfxWinMain</a:t>
            </a:r>
            <a:r>
              <a:rPr lang="en-US" altLang="zh-CN" sz="7400" dirty="0">
                <a:solidFill>
                  <a:srgbClr val="FF0000"/>
                </a:solidFill>
                <a:latin typeface="Batang" panose="02030600000101010101" pitchFamily="18" charset="-127"/>
                <a:ea typeface="Batang" panose="02030600000101010101" pitchFamily="18" charset="-127"/>
              </a:rPr>
              <a:t> (HINSTANCE </a:t>
            </a:r>
            <a:r>
              <a:rPr lang="en-US" altLang="zh-CN" sz="7400" dirty="0" err="1">
                <a:solidFill>
                  <a:srgbClr val="FF0000"/>
                </a:solidFill>
                <a:latin typeface="Batang" panose="02030600000101010101" pitchFamily="18" charset="-127"/>
                <a:ea typeface="Batang" panose="02030600000101010101" pitchFamily="18" charset="-127"/>
              </a:rPr>
              <a:t>hInstance</a:t>
            </a:r>
            <a:r>
              <a:rPr lang="en-US" altLang="zh-CN" sz="7400" dirty="0">
                <a:solidFill>
                  <a:srgbClr val="FF0000"/>
                </a:solidFill>
                <a:latin typeface="Batang" panose="02030600000101010101" pitchFamily="18" charset="-127"/>
                <a:ea typeface="Batang" panose="02030600000101010101" pitchFamily="18" charset="-127"/>
              </a:rPr>
              <a:t>, HINSTANCE </a:t>
            </a:r>
            <a:r>
              <a:rPr lang="en-US" altLang="zh-CN" sz="7400" dirty="0" err="1">
                <a:solidFill>
                  <a:srgbClr val="FF0000"/>
                </a:solidFill>
                <a:latin typeface="Batang" panose="02030600000101010101" pitchFamily="18" charset="-127"/>
                <a:ea typeface="Batang" panose="02030600000101010101" pitchFamily="18" charset="-127"/>
              </a:rPr>
              <a:t>hPrevInstance,LPTSTR</a:t>
            </a:r>
            <a:r>
              <a:rPr lang="en-US" altLang="zh-CN" sz="7400" dirty="0">
                <a:solidFill>
                  <a:srgbClr val="FF0000"/>
                </a:solidFill>
                <a:latin typeface="Batang" panose="02030600000101010101" pitchFamily="18" charset="-127"/>
                <a:ea typeface="Batang" panose="02030600000101010101" pitchFamily="18" charset="-127"/>
              </a:rPr>
              <a:t> </a:t>
            </a:r>
            <a:r>
              <a:rPr lang="en-US" altLang="zh-CN" sz="7400" dirty="0" err="1">
                <a:solidFill>
                  <a:srgbClr val="FF0000"/>
                </a:solidFill>
                <a:latin typeface="Batang" panose="02030600000101010101" pitchFamily="18" charset="-127"/>
                <a:ea typeface="Batang" panose="02030600000101010101" pitchFamily="18" charset="-127"/>
              </a:rPr>
              <a:t>lpCmdLine</a:t>
            </a:r>
            <a:r>
              <a:rPr lang="en-US" altLang="zh-CN" sz="7400" dirty="0">
                <a:solidFill>
                  <a:srgbClr val="FF0000"/>
                </a:solidFill>
                <a:latin typeface="Batang" panose="02030600000101010101" pitchFamily="18" charset="-127"/>
                <a:ea typeface="Batang" panose="02030600000101010101" pitchFamily="18" charset="-127"/>
              </a:rPr>
              <a:t>, int </a:t>
            </a:r>
            <a:r>
              <a:rPr lang="en-US" altLang="zh-CN" sz="7400" dirty="0" err="1">
                <a:solidFill>
                  <a:srgbClr val="FF0000"/>
                </a:solidFill>
                <a:latin typeface="Batang" panose="02030600000101010101" pitchFamily="18" charset="-127"/>
                <a:ea typeface="Batang" panose="02030600000101010101" pitchFamily="18" charset="-127"/>
              </a:rPr>
              <a:t>nCmdShow</a:t>
            </a:r>
            <a:r>
              <a:rPr lang="en-US" altLang="zh-CN" sz="7400" dirty="0">
                <a:solidFill>
                  <a:srgbClr val="FF0000"/>
                </a:solidFill>
                <a:latin typeface="Batang" panose="02030600000101010101" pitchFamily="18" charset="-127"/>
                <a:ea typeface="Batang" panose="02030600000101010101" pitchFamily="18" charset="-127"/>
              </a:rPr>
              <a:t>)</a:t>
            </a:r>
            <a:br>
              <a:rPr lang="en-US" altLang="zh-CN" sz="7400" dirty="0">
                <a:latin typeface="Batang" panose="02030600000101010101" pitchFamily="18" charset="-127"/>
                <a:ea typeface="Batang" panose="02030600000101010101" pitchFamily="18" charset="-127"/>
              </a:rPr>
            </a:br>
            <a:r>
              <a:rPr lang="en-US" altLang="zh-CN" sz="7400" dirty="0">
                <a:latin typeface="Batang" panose="02030600000101010101" pitchFamily="18" charset="-127"/>
                <a:ea typeface="Batang" panose="02030600000101010101" pitchFamily="18" charset="-127"/>
              </a:rPr>
              <a:t>{</a:t>
            </a:r>
            <a:br>
              <a:rPr lang="en-US" altLang="zh-CN" sz="7400" dirty="0">
                <a:latin typeface="Batang" panose="02030600000101010101" pitchFamily="18" charset="-127"/>
                <a:ea typeface="Batang" panose="02030600000101010101" pitchFamily="18" charset="-127"/>
              </a:rPr>
            </a:br>
            <a:r>
              <a:rPr lang="en-US" altLang="zh-CN" sz="7400" dirty="0">
                <a:latin typeface="Batang" panose="02030600000101010101" pitchFamily="18" charset="-127"/>
                <a:ea typeface="Batang" panose="02030600000101010101" pitchFamily="18" charset="-127"/>
              </a:rPr>
              <a:t>      ASSERT(</a:t>
            </a:r>
            <a:r>
              <a:rPr lang="en-US" altLang="zh-CN" sz="7400" dirty="0" err="1">
                <a:latin typeface="Batang" panose="02030600000101010101" pitchFamily="18" charset="-127"/>
                <a:ea typeface="Batang" panose="02030600000101010101" pitchFamily="18" charset="-127"/>
              </a:rPr>
              <a:t>hPrevInstance</a:t>
            </a:r>
            <a:r>
              <a:rPr lang="en-US" altLang="zh-CN" sz="7400" dirty="0">
                <a:latin typeface="Batang" panose="02030600000101010101" pitchFamily="18" charset="-127"/>
                <a:ea typeface="Batang" panose="02030600000101010101" pitchFamily="18" charset="-127"/>
              </a:rPr>
              <a:t> == NULL);</a:t>
            </a:r>
            <a:br>
              <a:rPr lang="en-US" altLang="zh-CN" sz="7400" dirty="0">
                <a:latin typeface="Batang" panose="02030600000101010101" pitchFamily="18" charset="-127"/>
                <a:ea typeface="Batang" panose="02030600000101010101" pitchFamily="18" charset="-127"/>
              </a:rPr>
            </a:br>
            <a:r>
              <a:rPr lang="en-US" altLang="zh-CN" sz="7400" dirty="0">
                <a:latin typeface="Batang" panose="02030600000101010101" pitchFamily="18" charset="-127"/>
                <a:ea typeface="Batang" panose="02030600000101010101" pitchFamily="18" charset="-127"/>
              </a:rPr>
              <a:t>      int </a:t>
            </a:r>
            <a:r>
              <a:rPr lang="en-US" altLang="zh-CN" sz="7400" dirty="0" err="1">
                <a:latin typeface="Batang" panose="02030600000101010101" pitchFamily="18" charset="-127"/>
                <a:ea typeface="Batang" panose="02030600000101010101" pitchFamily="18" charset="-127"/>
              </a:rPr>
              <a:t>nReturnCode</a:t>
            </a:r>
            <a:r>
              <a:rPr lang="en-US" altLang="zh-CN" sz="7400" dirty="0">
                <a:latin typeface="Batang" panose="02030600000101010101" pitchFamily="18" charset="-127"/>
                <a:ea typeface="Batang" panose="02030600000101010101" pitchFamily="18" charset="-127"/>
              </a:rPr>
              <a:t> = -1;</a:t>
            </a:r>
            <a:br>
              <a:rPr lang="en-US" altLang="zh-CN" sz="7400" dirty="0">
                <a:latin typeface="Batang" panose="02030600000101010101" pitchFamily="18" charset="-127"/>
                <a:ea typeface="Batang" panose="02030600000101010101" pitchFamily="18" charset="-127"/>
              </a:rPr>
            </a:br>
            <a:r>
              <a:rPr lang="en-US" altLang="zh-CN" sz="7400" dirty="0">
                <a:solidFill>
                  <a:srgbClr val="FF0000"/>
                </a:solidFill>
                <a:latin typeface="Batang" panose="02030600000101010101" pitchFamily="18" charset="-127"/>
                <a:ea typeface="Batang" panose="02030600000101010101" pitchFamily="18" charset="-127"/>
              </a:rPr>
              <a:t>      </a:t>
            </a:r>
            <a:r>
              <a:rPr lang="en-US" altLang="zh-CN" sz="7400" dirty="0" err="1">
                <a:solidFill>
                  <a:srgbClr val="FF0000"/>
                </a:solidFill>
                <a:latin typeface="Batang" panose="02030600000101010101" pitchFamily="18" charset="-127"/>
                <a:ea typeface="Batang" panose="02030600000101010101" pitchFamily="18" charset="-127"/>
              </a:rPr>
              <a:t>CWinApp</a:t>
            </a:r>
            <a:r>
              <a:rPr lang="en-US" altLang="zh-CN" sz="7400" dirty="0">
                <a:solidFill>
                  <a:srgbClr val="FF0000"/>
                </a:solidFill>
                <a:latin typeface="Batang" panose="02030600000101010101" pitchFamily="18" charset="-127"/>
                <a:ea typeface="Batang" panose="02030600000101010101" pitchFamily="18" charset="-127"/>
              </a:rPr>
              <a:t>* </a:t>
            </a:r>
            <a:r>
              <a:rPr lang="en-US" altLang="zh-CN" sz="7400" dirty="0" err="1">
                <a:solidFill>
                  <a:srgbClr val="FF0000"/>
                </a:solidFill>
                <a:latin typeface="Batang" panose="02030600000101010101" pitchFamily="18" charset="-127"/>
                <a:ea typeface="Batang" panose="02030600000101010101" pitchFamily="18" charset="-127"/>
              </a:rPr>
              <a:t>pApp</a:t>
            </a:r>
            <a:r>
              <a:rPr lang="en-US" altLang="zh-CN" sz="7400" dirty="0">
                <a:solidFill>
                  <a:srgbClr val="FF0000"/>
                </a:solidFill>
                <a:latin typeface="Batang" panose="02030600000101010101" pitchFamily="18" charset="-127"/>
                <a:ea typeface="Batang" panose="02030600000101010101" pitchFamily="18" charset="-127"/>
              </a:rPr>
              <a:t> = </a:t>
            </a:r>
            <a:r>
              <a:rPr lang="en-US" altLang="zh-CN" sz="7400" dirty="0" err="1">
                <a:solidFill>
                  <a:srgbClr val="FF0000"/>
                </a:solidFill>
                <a:latin typeface="Batang" panose="02030600000101010101" pitchFamily="18" charset="-127"/>
                <a:ea typeface="Batang" panose="02030600000101010101" pitchFamily="18" charset="-127"/>
              </a:rPr>
              <a:t>AfxGetApp</a:t>
            </a:r>
            <a:r>
              <a:rPr lang="en-US" altLang="zh-CN" sz="7400" dirty="0">
                <a:solidFill>
                  <a:srgbClr val="FF0000"/>
                </a:solidFill>
                <a:latin typeface="Batang" panose="02030600000101010101" pitchFamily="18" charset="-127"/>
                <a:ea typeface="Batang" panose="02030600000101010101" pitchFamily="18" charset="-127"/>
              </a:rPr>
              <a:t>();</a:t>
            </a:r>
            <a:br>
              <a:rPr lang="en-US" altLang="zh-CN" sz="7400" dirty="0">
                <a:latin typeface="Batang" panose="02030600000101010101" pitchFamily="18" charset="-127"/>
                <a:ea typeface="Batang" panose="02030600000101010101" pitchFamily="18" charset="-127"/>
              </a:rPr>
            </a:br>
            <a:r>
              <a:rPr lang="en-US" altLang="zh-CN" sz="7400" dirty="0">
                <a:latin typeface="Batang" panose="02030600000101010101" pitchFamily="18" charset="-127"/>
                <a:ea typeface="Batang" panose="02030600000101010101" pitchFamily="18" charset="-127"/>
              </a:rPr>
              <a:t>      // AFX internal initialization</a:t>
            </a:r>
            <a:br>
              <a:rPr lang="en-US" altLang="zh-CN" sz="7400" dirty="0">
                <a:latin typeface="Batang" panose="02030600000101010101" pitchFamily="18" charset="-127"/>
                <a:ea typeface="Batang" panose="02030600000101010101" pitchFamily="18" charset="-127"/>
              </a:rPr>
            </a:br>
            <a:r>
              <a:rPr lang="en-US" altLang="zh-CN" sz="7400" dirty="0">
                <a:latin typeface="Batang" panose="02030600000101010101" pitchFamily="18" charset="-127"/>
                <a:ea typeface="Batang" panose="02030600000101010101" pitchFamily="18" charset="-127"/>
              </a:rPr>
              <a:t>      if (!</a:t>
            </a:r>
            <a:r>
              <a:rPr lang="en-US" altLang="zh-CN" sz="7400" dirty="0" err="1">
                <a:solidFill>
                  <a:srgbClr val="FF0000"/>
                </a:solidFill>
                <a:latin typeface="Batang" panose="02030600000101010101" pitchFamily="18" charset="-127"/>
                <a:ea typeface="Batang" panose="02030600000101010101" pitchFamily="18" charset="-127"/>
              </a:rPr>
              <a:t>AfxWinInit</a:t>
            </a:r>
            <a:r>
              <a:rPr lang="en-US" altLang="zh-CN" sz="7400" dirty="0">
                <a:solidFill>
                  <a:srgbClr val="FF0000"/>
                </a:solidFill>
                <a:latin typeface="Batang" panose="02030600000101010101" pitchFamily="18" charset="-127"/>
                <a:ea typeface="Batang" panose="02030600000101010101" pitchFamily="18" charset="-127"/>
              </a:rPr>
              <a:t>(</a:t>
            </a:r>
            <a:r>
              <a:rPr lang="en-US" altLang="zh-CN" sz="7400" dirty="0" err="1">
                <a:solidFill>
                  <a:srgbClr val="FF0000"/>
                </a:solidFill>
                <a:latin typeface="Batang" panose="02030600000101010101" pitchFamily="18" charset="-127"/>
                <a:ea typeface="Batang" panose="02030600000101010101" pitchFamily="18" charset="-127"/>
              </a:rPr>
              <a:t>hInstance</a:t>
            </a:r>
            <a:r>
              <a:rPr lang="en-US" altLang="zh-CN" sz="7400" dirty="0">
                <a:solidFill>
                  <a:srgbClr val="FF0000"/>
                </a:solidFill>
                <a:latin typeface="Batang" panose="02030600000101010101" pitchFamily="18" charset="-127"/>
                <a:ea typeface="Batang" panose="02030600000101010101" pitchFamily="18" charset="-127"/>
              </a:rPr>
              <a:t>, </a:t>
            </a:r>
            <a:r>
              <a:rPr lang="en-US" altLang="zh-CN" sz="7400" dirty="0" err="1">
                <a:solidFill>
                  <a:srgbClr val="FF0000"/>
                </a:solidFill>
                <a:latin typeface="Batang" panose="02030600000101010101" pitchFamily="18" charset="-127"/>
                <a:ea typeface="Batang" panose="02030600000101010101" pitchFamily="18" charset="-127"/>
              </a:rPr>
              <a:t>hPrevInstance</a:t>
            </a:r>
            <a:r>
              <a:rPr lang="en-US" altLang="zh-CN" sz="7400" dirty="0">
                <a:solidFill>
                  <a:srgbClr val="FF0000"/>
                </a:solidFill>
                <a:latin typeface="Batang" panose="02030600000101010101" pitchFamily="18" charset="-127"/>
                <a:ea typeface="Batang" panose="02030600000101010101" pitchFamily="18" charset="-127"/>
              </a:rPr>
              <a:t>, </a:t>
            </a:r>
            <a:r>
              <a:rPr lang="en-US" altLang="zh-CN" sz="7400" dirty="0" err="1">
                <a:solidFill>
                  <a:srgbClr val="FF0000"/>
                </a:solidFill>
                <a:latin typeface="Batang" panose="02030600000101010101" pitchFamily="18" charset="-127"/>
                <a:ea typeface="Batang" panose="02030600000101010101" pitchFamily="18" charset="-127"/>
              </a:rPr>
              <a:t>lpCmdLine</a:t>
            </a:r>
            <a:r>
              <a:rPr lang="en-US" altLang="zh-CN" sz="7400" dirty="0">
                <a:solidFill>
                  <a:srgbClr val="FF0000"/>
                </a:solidFill>
                <a:latin typeface="Batang" panose="02030600000101010101" pitchFamily="18" charset="-127"/>
                <a:ea typeface="Batang" panose="02030600000101010101" pitchFamily="18" charset="-127"/>
              </a:rPr>
              <a:t>, </a:t>
            </a:r>
            <a:r>
              <a:rPr lang="en-US" altLang="zh-CN" sz="7400" dirty="0" err="1">
                <a:solidFill>
                  <a:srgbClr val="FF0000"/>
                </a:solidFill>
                <a:latin typeface="Batang" panose="02030600000101010101" pitchFamily="18" charset="-127"/>
                <a:ea typeface="Batang" panose="02030600000101010101" pitchFamily="18" charset="-127"/>
              </a:rPr>
              <a:t>nCmdShow</a:t>
            </a:r>
            <a:r>
              <a:rPr lang="en-US" altLang="zh-CN" sz="7400" dirty="0">
                <a:solidFill>
                  <a:srgbClr val="FF0000"/>
                </a:solidFill>
                <a:latin typeface="Batang" panose="02030600000101010101" pitchFamily="18" charset="-127"/>
                <a:ea typeface="Batang" panose="02030600000101010101" pitchFamily="18" charset="-127"/>
              </a:rPr>
              <a:t>)</a:t>
            </a:r>
            <a:r>
              <a:rPr lang="en-US" altLang="zh-CN" sz="7400" dirty="0">
                <a:latin typeface="Batang" panose="02030600000101010101" pitchFamily="18" charset="-127"/>
                <a:ea typeface="Batang" panose="02030600000101010101" pitchFamily="18" charset="-127"/>
              </a:rPr>
              <a:t>)</a:t>
            </a:r>
            <a:br>
              <a:rPr lang="en-US" altLang="zh-CN" sz="7400" dirty="0">
                <a:latin typeface="Batang" panose="02030600000101010101" pitchFamily="18" charset="-127"/>
                <a:ea typeface="Batang" panose="02030600000101010101" pitchFamily="18" charset="-127"/>
              </a:rPr>
            </a:br>
            <a:r>
              <a:rPr lang="en-US" altLang="zh-CN" sz="7400" dirty="0">
                <a:latin typeface="Batang" panose="02030600000101010101" pitchFamily="18" charset="-127"/>
                <a:ea typeface="Batang" panose="02030600000101010101" pitchFamily="18" charset="-127"/>
              </a:rPr>
              <a:t>           </a:t>
            </a:r>
            <a:r>
              <a:rPr lang="en-US" altLang="zh-CN" sz="7400" dirty="0" err="1">
                <a:latin typeface="Batang" panose="02030600000101010101" pitchFamily="18" charset="-127"/>
                <a:ea typeface="Batang" panose="02030600000101010101" pitchFamily="18" charset="-127"/>
              </a:rPr>
              <a:t>goto</a:t>
            </a:r>
            <a:r>
              <a:rPr lang="en-US" altLang="zh-CN" sz="7400" dirty="0">
                <a:latin typeface="Batang" panose="02030600000101010101" pitchFamily="18" charset="-127"/>
                <a:ea typeface="Batang" panose="02030600000101010101" pitchFamily="18" charset="-127"/>
              </a:rPr>
              <a:t> </a:t>
            </a:r>
            <a:r>
              <a:rPr lang="en-US" altLang="zh-CN" sz="7400" dirty="0" err="1">
                <a:latin typeface="Batang" panose="02030600000101010101" pitchFamily="18" charset="-127"/>
                <a:ea typeface="Batang" panose="02030600000101010101" pitchFamily="18" charset="-127"/>
              </a:rPr>
              <a:t>InitFailure</a:t>
            </a:r>
            <a:r>
              <a:rPr lang="en-US" altLang="zh-CN" sz="7400" dirty="0">
                <a:latin typeface="Batang" panose="02030600000101010101" pitchFamily="18" charset="-127"/>
                <a:ea typeface="Batang" panose="02030600000101010101" pitchFamily="18" charset="-127"/>
              </a:rPr>
              <a:t>;</a:t>
            </a:r>
            <a:endParaRPr lang="en-US" altLang="zh-CN" sz="7400" dirty="0">
              <a:latin typeface="华光仿宋_CNKI" panose="02000500000000000000" pitchFamily="2" charset="-122"/>
              <a:ea typeface="华光仿宋_CNKI" panose="02000500000000000000" pitchFamily="2" charset="-122"/>
            </a:endParaRPr>
          </a:p>
        </p:txBody>
      </p:sp>
    </p:spTree>
    <p:extLst>
      <p:ext uri="{BB962C8B-B14F-4D97-AF65-F5344CB8AC3E}">
        <p14:creationId xmlns:p14="http://schemas.microsoft.com/office/powerpoint/2010/main" val="22687085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D91439E-08E0-9F0E-C4E5-6EC3D316DFA5}"/>
              </a:ext>
            </a:extLst>
          </p:cNvPr>
          <p:cNvSpPr>
            <a:spLocks noGrp="1"/>
          </p:cNvSpPr>
          <p:nvPr>
            <p:ph idx="1"/>
          </p:nvPr>
        </p:nvSpPr>
        <p:spPr>
          <a:xfrm>
            <a:off x="424731" y="286249"/>
            <a:ext cx="10905877" cy="6403366"/>
          </a:xfrm>
        </p:spPr>
        <p:txBody>
          <a:bodyPr vert="horz" lIns="91440" tIns="45720" rIns="91440" bIns="45720" rtlCol="0">
            <a:normAutofit fontScale="25000" lnSpcReduction="20000"/>
          </a:bodyPr>
          <a:lstStyle/>
          <a:p>
            <a:pPr marL="0" indent="0">
              <a:lnSpc>
                <a:spcPct val="150000"/>
              </a:lnSpc>
              <a:buNone/>
            </a:pPr>
            <a:r>
              <a:rPr lang="en-US" altLang="zh-CN" sz="8600" dirty="0">
                <a:latin typeface="Batang" panose="02030600000101010101" pitchFamily="18" charset="-127"/>
                <a:ea typeface="Batang" panose="02030600000101010101" pitchFamily="18" charset="-127"/>
              </a:rPr>
              <a:t>// App global initializations (rare)</a:t>
            </a:r>
            <a:br>
              <a:rPr lang="en-US" altLang="zh-CN" sz="8600" dirty="0">
                <a:latin typeface="Batang" panose="02030600000101010101" pitchFamily="18" charset="-127"/>
                <a:ea typeface="Batang" panose="02030600000101010101" pitchFamily="18" charset="-127"/>
              </a:rPr>
            </a:br>
            <a:r>
              <a:rPr lang="en-US" altLang="zh-CN" sz="8600" dirty="0">
                <a:latin typeface="Batang" panose="02030600000101010101" pitchFamily="18" charset="-127"/>
                <a:ea typeface="Batang" panose="02030600000101010101" pitchFamily="18" charset="-127"/>
              </a:rPr>
              <a:t>ASSERT_VALID(</a:t>
            </a:r>
            <a:r>
              <a:rPr lang="en-US" altLang="zh-CN" sz="8600" dirty="0" err="1">
                <a:latin typeface="Batang" panose="02030600000101010101" pitchFamily="18" charset="-127"/>
                <a:ea typeface="Batang" panose="02030600000101010101" pitchFamily="18" charset="-127"/>
              </a:rPr>
              <a:t>pApp</a:t>
            </a:r>
            <a:r>
              <a:rPr lang="en-US" altLang="zh-CN" sz="8600" dirty="0">
                <a:latin typeface="Batang" panose="02030600000101010101" pitchFamily="18" charset="-127"/>
                <a:ea typeface="Batang" panose="02030600000101010101" pitchFamily="18" charset="-127"/>
              </a:rPr>
              <a:t>);</a:t>
            </a:r>
            <a:br>
              <a:rPr lang="en-US" altLang="zh-CN" sz="8600" dirty="0">
                <a:latin typeface="Batang" panose="02030600000101010101" pitchFamily="18" charset="-127"/>
                <a:ea typeface="Batang" panose="02030600000101010101" pitchFamily="18" charset="-127"/>
              </a:rPr>
            </a:br>
            <a:r>
              <a:rPr lang="en-US" altLang="zh-CN" sz="8600" dirty="0">
                <a:latin typeface="Batang" panose="02030600000101010101" pitchFamily="18" charset="-127"/>
                <a:ea typeface="Batang" panose="02030600000101010101" pitchFamily="18" charset="-127"/>
              </a:rPr>
              <a:t>if (!</a:t>
            </a:r>
            <a:r>
              <a:rPr lang="en-US" altLang="zh-CN" sz="8600" dirty="0" err="1">
                <a:solidFill>
                  <a:srgbClr val="FF0000"/>
                </a:solidFill>
                <a:latin typeface="Batang" panose="02030600000101010101" pitchFamily="18" charset="-127"/>
                <a:ea typeface="Batang" panose="02030600000101010101" pitchFamily="18" charset="-127"/>
              </a:rPr>
              <a:t>pApp</a:t>
            </a:r>
            <a:r>
              <a:rPr lang="en-US" altLang="zh-CN" sz="8600" dirty="0">
                <a:solidFill>
                  <a:srgbClr val="FF0000"/>
                </a:solidFill>
                <a:latin typeface="Batang" panose="02030600000101010101" pitchFamily="18" charset="-127"/>
                <a:ea typeface="Batang" panose="02030600000101010101" pitchFamily="18" charset="-127"/>
              </a:rPr>
              <a:t>-&gt;</a:t>
            </a:r>
            <a:r>
              <a:rPr lang="en-US" altLang="zh-CN" sz="8600" dirty="0" err="1">
                <a:solidFill>
                  <a:srgbClr val="FF0000"/>
                </a:solidFill>
                <a:latin typeface="Batang" panose="02030600000101010101" pitchFamily="18" charset="-127"/>
                <a:ea typeface="Batang" panose="02030600000101010101" pitchFamily="18" charset="-127"/>
              </a:rPr>
              <a:t>InitApplication</a:t>
            </a:r>
            <a:r>
              <a:rPr lang="en-US" altLang="zh-CN" sz="8600" dirty="0">
                <a:solidFill>
                  <a:srgbClr val="FF0000"/>
                </a:solidFill>
                <a:latin typeface="Batang" panose="02030600000101010101" pitchFamily="18" charset="-127"/>
                <a:ea typeface="Batang" panose="02030600000101010101" pitchFamily="18" charset="-127"/>
              </a:rPr>
              <a:t>()</a:t>
            </a:r>
            <a:r>
              <a:rPr lang="en-US" altLang="zh-CN" sz="8600" dirty="0">
                <a:latin typeface="Batang" panose="02030600000101010101" pitchFamily="18" charset="-127"/>
                <a:ea typeface="Batang" panose="02030600000101010101" pitchFamily="18" charset="-127"/>
              </a:rPr>
              <a:t>)</a:t>
            </a:r>
            <a:br>
              <a:rPr lang="en-US" altLang="zh-CN" sz="8600" dirty="0">
                <a:latin typeface="Batang" panose="02030600000101010101" pitchFamily="18" charset="-127"/>
                <a:ea typeface="Batang" panose="02030600000101010101" pitchFamily="18" charset="-127"/>
              </a:rPr>
            </a:br>
            <a:r>
              <a:rPr lang="en-US" altLang="zh-CN" sz="8600" dirty="0">
                <a:latin typeface="Batang" panose="02030600000101010101" pitchFamily="18" charset="-127"/>
                <a:ea typeface="Batang" panose="02030600000101010101" pitchFamily="18" charset="-127"/>
              </a:rPr>
              <a:t>     </a:t>
            </a:r>
            <a:r>
              <a:rPr lang="en-US" altLang="zh-CN" sz="8600" dirty="0" err="1">
                <a:latin typeface="Batang" panose="02030600000101010101" pitchFamily="18" charset="-127"/>
                <a:ea typeface="Batang" panose="02030600000101010101" pitchFamily="18" charset="-127"/>
              </a:rPr>
              <a:t>goto</a:t>
            </a:r>
            <a:r>
              <a:rPr lang="en-US" altLang="zh-CN" sz="8600" dirty="0">
                <a:latin typeface="Batang" panose="02030600000101010101" pitchFamily="18" charset="-127"/>
                <a:ea typeface="Batang" panose="02030600000101010101" pitchFamily="18" charset="-127"/>
              </a:rPr>
              <a:t> </a:t>
            </a:r>
            <a:r>
              <a:rPr lang="en-US" altLang="zh-CN" sz="8600" dirty="0" err="1">
                <a:latin typeface="Batang" panose="02030600000101010101" pitchFamily="18" charset="-127"/>
                <a:ea typeface="Batang" panose="02030600000101010101" pitchFamily="18" charset="-127"/>
              </a:rPr>
              <a:t>InitFailure</a:t>
            </a:r>
            <a:r>
              <a:rPr lang="en-US" altLang="zh-CN" sz="8600" dirty="0">
                <a:latin typeface="Batang" panose="02030600000101010101" pitchFamily="18" charset="-127"/>
                <a:ea typeface="Batang" panose="02030600000101010101" pitchFamily="18" charset="-127"/>
              </a:rPr>
              <a:t>;</a:t>
            </a:r>
            <a:br>
              <a:rPr lang="en-US" altLang="zh-CN" sz="8600" dirty="0">
                <a:latin typeface="Batang" panose="02030600000101010101" pitchFamily="18" charset="-127"/>
                <a:ea typeface="Batang" panose="02030600000101010101" pitchFamily="18" charset="-127"/>
              </a:rPr>
            </a:br>
            <a:r>
              <a:rPr lang="en-US" altLang="zh-CN" sz="8600" dirty="0">
                <a:latin typeface="Batang" panose="02030600000101010101" pitchFamily="18" charset="-127"/>
                <a:ea typeface="Batang" panose="02030600000101010101" pitchFamily="18" charset="-127"/>
              </a:rPr>
              <a:t>ASSERT_VALID(</a:t>
            </a:r>
            <a:r>
              <a:rPr lang="en-US" altLang="zh-CN" sz="8600" dirty="0" err="1">
                <a:latin typeface="Batang" panose="02030600000101010101" pitchFamily="18" charset="-127"/>
                <a:ea typeface="Batang" panose="02030600000101010101" pitchFamily="18" charset="-127"/>
              </a:rPr>
              <a:t>pApp</a:t>
            </a:r>
            <a:r>
              <a:rPr lang="en-US" altLang="zh-CN" sz="8600" dirty="0">
                <a:latin typeface="Batang" panose="02030600000101010101" pitchFamily="18" charset="-127"/>
                <a:ea typeface="Batang" panose="02030600000101010101" pitchFamily="18" charset="-127"/>
              </a:rPr>
              <a:t>);</a:t>
            </a:r>
            <a:br>
              <a:rPr lang="en-US" altLang="zh-CN" sz="8600" dirty="0">
                <a:latin typeface="Batang" panose="02030600000101010101" pitchFamily="18" charset="-127"/>
                <a:ea typeface="Batang" panose="02030600000101010101" pitchFamily="18" charset="-127"/>
              </a:rPr>
            </a:br>
            <a:r>
              <a:rPr lang="en-US" altLang="zh-CN" sz="8600" dirty="0">
                <a:latin typeface="Batang" panose="02030600000101010101" pitchFamily="18" charset="-127"/>
                <a:ea typeface="Batang" panose="02030600000101010101" pitchFamily="18" charset="-127"/>
              </a:rPr>
              <a:t>// Perform specific initializations</a:t>
            </a:r>
            <a:br>
              <a:rPr lang="en-US" altLang="zh-CN" sz="8600" dirty="0">
                <a:latin typeface="Batang" panose="02030600000101010101" pitchFamily="18" charset="-127"/>
                <a:ea typeface="Batang" panose="02030600000101010101" pitchFamily="18" charset="-127"/>
              </a:rPr>
            </a:br>
            <a:r>
              <a:rPr lang="en-US" altLang="zh-CN" sz="8600" dirty="0">
                <a:latin typeface="Batang" panose="02030600000101010101" pitchFamily="18" charset="-127"/>
                <a:ea typeface="Batang" panose="02030600000101010101" pitchFamily="18" charset="-127"/>
              </a:rPr>
              <a:t>if (!</a:t>
            </a:r>
            <a:r>
              <a:rPr lang="en-US" altLang="zh-CN" sz="8600" dirty="0" err="1">
                <a:solidFill>
                  <a:srgbClr val="FF0000"/>
                </a:solidFill>
                <a:latin typeface="Batang" panose="02030600000101010101" pitchFamily="18" charset="-127"/>
                <a:ea typeface="Batang" panose="02030600000101010101" pitchFamily="18" charset="-127"/>
              </a:rPr>
              <a:t>pApp</a:t>
            </a:r>
            <a:r>
              <a:rPr lang="en-US" altLang="zh-CN" sz="8600" dirty="0">
                <a:solidFill>
                  <a:srgbClr val="FF0000"/>
                </a:solidFill>
                <a:latin typeface="Batang" panose="02030600000101010101" pitchFamily="18" charset="-127"/>
                <a:ea typeface="Batang" panose="02030600000101010101" pitchFamily="18" charset="-127"/>
              </a:rPr>
              <a:t>-&gt;</a:t>
            </a:r>
            <a:r>
              <a:rPr lang="en-US" altLang="zh-CN" sz="8600" dirty="0" err="1">
                <a:solidFill>
                  <a:srgbClr val="FF0000"/>
                </a:solidFill>
                <a:latin typeface="Batang" panose="02030600000101010101" pitchFamily="18" charset="-127"/>
                <a:ea typeface="Batang" panose="02030600000101010101" pitchFamily="18" charset="-127"/>
              </a:rPr>
              <a:t>InitInstance</a:t>
            </a:r>
            <a:r>
              <a:rPr lang="en-US" altLang="zh-CN" sz="8600" dirty="0">
                <a:solidFill>
                  <a:srgbClr val="FF0000"/>
                </a:solidFill>
                <a:latin typeface="Batang" panose="02030600000101010101" pitchFamily="18" charset="-127"/>
                <a:ea typeface="Batang" panose="02030600000101010101" pitchFamily="18" charset="-127"/>
              </a:rPr>
              <a:t>()</a:t>
            </a:r>
            <a:r>
              <a:rPr lang="en-US" altLang="zh-CN" sz="8600" dirty="0">
                <a:latin typeface="Batang" panose="02030600000101010101" pitchFamily="18" charset="-127"/>
                <a:ea typeface="Batang" panose="02030600000101010101" pitchFamily="18" charset="-127"/>
              </a:rPr>
              <a:t>){</a:t>
            </a:r>
            <a:br>
              <a:rPr lang="en-US" altLang="zh-CN" sz="8600" dirty="0">
                <a:latin typeface="Batang" panose="02030600000101010101" pitchFamily="18" charset="-127"/>
                <a:ea typeface="Batang" panose="02030600000101010101" pitchFamily="18" charset="-127"/>
              </a:rPr>
            </a:br>
            <a:r>
              <a:rPr lang="en-US" altLang="zh-CN" sz="8600" dirty="0">
                <a:latin typeface="Batang" panose="02030600000101010101" pitchFamily="18" charset="-127"/>
                <a:ea typeface="Batang" panose="02030600000101010101" pitchFamily="18" charset="-127"/>
              </a:rPr>
              <a:t>    if (</a:t>
            </a:r>
            <a:r>
              <a:rPr lang="en-US" altLang="zh-CN" sz="8600" dirty="0" err="1">
                <a:latin typeface="Batang" panose="02030600000101010101" pitchFamily="18" charset="-127"/>
                <a:ea typeface="Batang" panose="02030600000101010101" pitchFamily="18" charset="-127"/>
              </a:rPr>
              <a:t>pApp</a:t>
            </a:r>
            <a:r>
              <a:rPr lang="en-US" altLang="zh-CN" sz="8600" dirty="0">
                <a:latin typeface="Batang" panose="02030600000101010101" pitchFamily="18" charset="-127"/>
                <a:ea typeface="Batang" panose="02030600000101010101" pitchFamily="18" charset="-127"/>
              </a:rPr>
              <a:t>-&gt;</a:t>
            </a:r>
            <a:r>
              <a:rPr lang="en-US" altLang="zh-CN" sz="8600" dirty="0" err="1">
                <a:latin typeface="Batang" panose="02030600000101010101" pitchFamily="18" charset="-127"/>
                <a:ea typeface="Batang" panose="02030600000101010101" pitchFamily="18" charset="-127"/>
              </a:rPr>
              <a:t>m_pMainWnd</a:t>
            </a:r>
            <a:r>
              <a:rPr lang="en-US" altLang="zh-CN" sz="8600" dirty="0">
                <a:latin typeface="Batang" panose="02030600000101010101" pitchFamily="18" charset="-127"/>
                <a:ea typeface="Batang" panose="02030600000101010101" pitchFamily="18" charset="-127"/>
              </a:rPr>
              <a:t> != NULL){</a:t>
            </a:r>
            <a:br>
              <a:rPr lang="en-US" altLang="zh-CN" sz="8600" dirty="0">
                <a:latin typeface="Batang" panose="02030600000101010101" pitchFamily="18" charset="-127"/>
                <a:ea typeface="Batang" panose="02030600000101010101" pitchFamily="18" charset="-127"/>
              </a:rPr>
            </a:br>
            <a:r>
              <a:rPr lang="en-US" altLang="zh-CN" sz="8600" dirty="0">
                <a:latin typeface="Batang" panose="02030600000101010101" pitchFamily="18" charset="-127"/>
                <a:ea typeface="Batang" panose="02030600000101010101" pitchFamily="18" charset="-127"/>
              </a:rPr>
              <a:t>         TRACE0("Warning: Destroying non-NULL </a:t>
            </a:r>
            <a:r>
              <a:rPr lang="en-US" altLang="zh-CN" sz="8600" dirty="0" err="1">
                <a:latin typeface="Batang" panose="02030600000101010101" pitchFamily="18" charset="-127"/>
                <a:ea typeface="Batang" panose="02030600000101010101" pitchFamily="18" charset="-127"/>
              </a:rPr>
              <a:t>m_pMainWnd</a:t>
            </a:r>
            <a:r>
              <a:rPr lang="en-US" altLang="zh-CN" sz="8600" dirty="0">
                <a:latin typeface="Batang" panose="02030600000101010101" pitchFamily="18" charset="-127"/>
                <a:ea typeface="Batang" panose="02030600000101010101" pitchFamily="18" charset="-127"/>
              </a:rPr>
              <a:t>/n");</a:t>
            </a:r>
            <a:br>
              <a:rPr lang="en-US" altLang="zh-CN" sz="8600" dirty="0">
                <a:latin typeface="Batang" panose="02030600000101010101" pitchFamily="18" charset="-127"/>
                <a:ea typeface="Batang" panose="02030600000101010101" pitchFamily="18" charset="-127"/>
              </a:rPr>
            </a:br>
            <a:r>
              <a:rPr lang="en-US" altLang="zh-CN" sz="8600" dirty="0">
                <a:latin typeface="Batang" panose="02030600000101010101" pitchFamily="18" charset="-127"/>
                <a:ea typeface="Batang" panose="02030600000101010101" pitchFamily="18" charset="-127"/>
              </a:rPr>
              <a:t>          </a:t>
            </a:r>
            <a:r>
              <a:rPr lang="en-US" altLang="zh-CN" sz="8600" dirty="0" err="1">
                <a:latin typeface="Batang" panose="02030600000101010101" pitchFamily="18" charset="-127"/>
                <a:ea typeface="Batang" panose="02030600000101010101" pitchFamily="18" charset="-127"/>
              </a:rPr>
              <a:t>pApp</a:t>
            </a:r>
            <a:r>
              <a:rPr lang="en-US" altLang="zh-CN" sz="8600" dirty="0">
                <a:latin typeface="Batang" panose="02030600000101010101" pitchFamily="18" charset="-127"/>
                <a:ea typeface="Batang" panose="02030600000101010101" pitchFamily="18" charset="-127"/>
              </a:rPr>
              <a:t>-&gt;</a:t>
            </a:r>
            <a:r>
              <a:rPr lang="en-US" altLang="zh-CN" sz="8600" dirty="0" err="1">
                <a:latin typeface="Batang" panose="02030600000101010101" pitchFamily="18" charset="-127"/>
                <a:ea typeface="Batang" panose="02030600000101010101" pitchFamily="18" charset="-127"/>
              </a:rPr>
              <a:t>m_pMainWnd</a:t>
            </a:r>
            <a:r>
              <a:rPr lang="en-US" altLang="zh-CN" sz="8600" dirty="0">
                <a:latin typeface="Batang" panose="02030600000101010101" pitchFamily="18" charset="-127"/>
                <a:ea typeface="Batang" panose="02030600000101010101" pitchFamily="18" charset="-127"/>
              </a:rPr>
              <a:t>-&gt;</a:t>
            </a:r>
            <a:r>
              <a:rPr lang="en-US" altLang="zh-CN" sz="8600" dirty="0" err="1">
                <a:latin typeface="Batang" panose="02030600000101010101" pitchFamily="18" charset="-127"/>
                <a:ea typeface="Batang" panose="02030600000101010101" pitchFamily="18" charset="-127"/>
              </a:rPr>
              <a:t>DestroyWindow</a:t>
            </a:r>
            <a:r>
              <a:rPr lang="en-US" altLang="zh-CN" sz="8600" dirty="0">
                <a:latin typeface="Batang" panose="02030600000101010101" pitchFamily="18" charset="-127"/>
                <a:ea typeface="Batang" panose="02030600000101010101" pitchFamily="18" charset="-127"/>
              </a:rPr>
              <a:t>();</a:t>
            </a:r>
            <a:br>
              <a:rPr lang="en-US" altLang="zh-CN" sz="8600" dirty="0">
                <a:latin typeface="Batang" panose="02030600000101010101" pitchFamily="18" charset="-127"/>
                <a:ea typeface="Batang" panose="02030600000101010101" pitchFamily="18" charset="-127"/>
              </a:rPr>
            </a:br>
            <a:r>
              <a:rPr lang="en-US" altLang="zh-CN" sz="8600" dirty="0">
                <a:latin typeface="Batang" panose="02030600000101010101" pitchFamily="18" charset="-127"/>
                <a:ea typeface="Batang" panose="02030600000101010101" pitchFamily="18" charset="-127"/>
              </a:rPr>
              <a:t>      }</a:t>
            </a:r>
          </a:p>
          <a:p>
            <a:pPr marL="0" indent="0">
              <a:lnSpc>
                <a:spcPct val="150000"/>
              </a:lnSpc>
              <a:buNone/>
            </a:pPr>
            <a:r>
              <a:rPr lang="en-US" altLang="zh-CN" sz="8800" dirty="0">
                <a:latin typeface="Batang" panose="02030600000101010101" pitchFamily="18" charset="-127"/>
                <a:ea typeface="Batang" panose="02030600000101010101" pitchFamily="18" charset="-127"/>
              </a:rPr>
              <a:t>     </a:t>
            </a:r>
            <a:r>
              <a:rPr lang="en-US" altLang="zh-CN" sz="8800" dirty="0" err="1">
                <a:latin typeface="Batang" panose="02030600000101010101" pitchFamily="18" charset="-127"/>
                <a:ea typeface="Batang" panose="02030600000101010101" pitchFamily="18" charset="-127"/>
              </a:rPr>
              <a:t>nReturnCode</a:t>
            </a:r>
            <a:r>
              <a:rPr lang="en-US" altLang="zh-CN" sz="8800" dirty="0">
                <a:latin typeface="Batang" panose="02030600000101010101" pitchFamily="18" charset="-127"/>
                <a:ea typeface="Batang" panose="02030600000101010101" pitchFamily="18" charset="-127"/>
              </a:rPr>
              <a:t> = </a:t>
            </a:r>
            <a:r>
              <a:rPr lang="en-US" altLang="zh-CN" sz="8800" dirty="0" err="1">
                <a:latin typeface="Batang" panose="02030600000101010101" pitchFamily="18" charset="-127"/>
                <a:ea typeface="Batang" panose="02030600000101010101" pitchFamily="18" charset="-127"/>
              </a:rPr>
              <a:t>pApp</a:t>
            </a:r>
            <a:r>
              <a:rPr lang="en-US" altLang="zh-CN" sz="8800" dirty="0">
                <a:latin typeface="Batang" panose="02030600000101010101" pitchFamily="18" charset="-127"/>
                <a:ea typeface="Batang" panose="02030600000101010101" pitchFamily="18" charset="-127"/>
              </a:rPr>
              <a:t>-&gt;</a:t>
            </a:r>
            <a:r>
              <a:rPr lang="en-US" altLang="zh-CN" sz="8800" dirty="0" err="1">
                <a:latin typeface="Batang" panose="02030600000101010101" pitchFamily="18" charset="-127"/>
                <a:ea typeface="Batang" panose="02030600000101010101" pitchFamily="18" charset="-127"/>
              </a:rPr>
              <a:t>ExitInstance</a:t>
            </a:r>
            <a:r>
              <a:rPr lang="en-US" altLang="zh-CN" sz="8800" dirty="0">
                <a:latin typeface="Batang" panose="02030600000101010101" pitchFamily="18" charset="-127"/>
                <a:ea typeface="Batang" panose="02030600000101010101" pitchFamily="18" charset="-127"/>
              </a:rPr>
              <a:t>();</a:t>
            </a:r>
            <a:br>
              <a:rPr lang="en-US" altLang="zh-CN" sz="8800" dirty="0">
                <a:latin typeface="Batang" panose="02030600000101010101" pitchFamily="18" charset="-127"/>
                <a:ea typeface="Batang" panose="02030600000101010101" pitchFamily="18" charset="-127"/>
              </a:rPr>
            </a:br>
            <a:r>
              <a:rPr lang="en-US" altLang="zh-CN" sz="8800" dirty="0">
                <a:latin typeface="Batang" panose="02030600000101010101" pitchFamily="18" charset="-127"/>
                <a:ea typeface="Batang" panose="02030600000101010101" pitchFamily="18" charset="-127"/>
              </a:rPr>
              <a:t>     </a:t>
            </a:r>
            <a:r>
              <a:rPr lang="en-US" altLang="zh-CN" sz="8800" dirty="0" err="1">
                <a:latin typeface="Batang" panose="02030600000101010101" pitchFamily="18" charset="-127"/>
                <a:ea typeface="Batang" panose="02030600000101010101" pitchFamily="18" charset="-127"/>
              </a:rPr>
              <a:t>goto</a:t>
            </a:r>
            <a:r>
              <a:rPr lang="en-US" altLang="zh-CN" sz="8800" dirty="0">
                <a:latin typeface="Batang" panose="02030600000101010101" pitchFamily="18" charset="-127"/>
                <a:ea typeface="Batang" panose="02030600000101010101" pitchFamily="18" charset="-127"/>
              </a:rPr>
              <a:t> </a:t>
            </a:r>
            <a:r>
              <a:rPr lang="en-US" altLang="zh-CN" sz="8800" dirty="0" err="1">
                <a:latin typeface="Batang" panose="02030600000101010101" pitchFamily="18" charset="-127"/>
                <a:ea typeface="Batang" panose="02030600000101010101" pitchFamily="18" charset="-127"/>
              </a:rPr>
              <a:t>InitFailure</a:t>
            </a:r>
            <a:r>
              <a:rPr lang="en-US" altLang="zh-CN" sz="8800" dirty="0">
                <a:latin typeface="Batang" panose="02030600000101010101" pitchFamily="18" charset="-127"/>
                <a:ea typeface="Batang" panose="02030600000101010101" pitchFamily="18" charset="-127"/>
              </a:rPr>
              <a:t>;</a:t>
            </a:r>
            <a:br>
              <a:rPr lang="en-US" altLang="zh-CN" sz="8800" dirty="0"/>
            </a:br>
            <a:r>
              <a:rPr lang="en-US" altLang="zh-CN" sz="8800" b="0" i="0" dirty="0">
                <a:solidFill>
                  <a:srgbClr val="4D4D4D"/>
                </a:solidFill>
                <a:effectLst/>
                <a:latin typeface="-apple-system"/>
              </a:rPr>
              <a:t>}</a:t>
            </a:r>
            <a:endParaRPr lang="en-US" altLang="zh-CN" sz="8600" dirty="0">
              <a:latin typeface="Batang" panose="02030600000101010101" pitchFamily="18" charset="-127"/>
              <a:ea typeface="Batang" panose="02030600000101010101" pitchFamily="18" charset="-127"/>
            </a:endParaRPr>
          </a:p>
        </p:txBody>
      </p:sp>
    </p:spTree>
    <p:extLst>
      <p:ext uri="{BB962C8B-B14F-4D97-AF65-F5344CB8AC3E}">
        <p14:creationId xmlns:p14="http://schemas.microsoft.com/office/powerpoint/2010/main" val="37539178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D91439E-08E0-9F0E-C4E5-6EC3D316DFA5}"/>
              </a:ext>
            </a:extLst>
          </p:cNvPr>
          <p:cNvSpPr>
            <a:spLocks noGrp="1"/>
          </p:cNvSpPr>
          <p:nvPr>
            <p:ph idx="1"/>
          </p:nvPr>
        </p:nvSpPr>
        <p:spPr>
          <a:xfrm>
            <a:off x="703027" y="652008"/>
            <a:ext cx="10905877" cy="5365142"/>
          </a:xfrm>
        </p:spPr>
        <p:txBody>
          <a:bodyPr vert="horz" lIns="91440" tIns="45720" rIns="91440" bIns="45720" rtlCol="0">
            <a:normAutofit fontScale="25000" lnSpcReduction="20000"/>
          </a:bodyPr>
          <a:lstStyle/>
          <a:p>
            <a:pPr marL="0" indent="0">
              <a:lnSpc>
                <a:spcPct val="170000"/>
              </a:lnSpc>
              <a:buNone/>
            </a:pPr>
            <a:r>
              <a:rPr lang="en-US" altLang="zh-CN" sz="8600" dirty="0">
                <a:latin typeface="Batang" panose="02030600000101010101" pitchFamily="18" charset="-127"/>
                <a:ea typeface="Batang" panose="02030600000101010101" pitchFamily="18" charset="-127"/>
              </a:rPr>
              <a:t>ASSERT_VALID(</a:t>
            </a:r>
            <a:r>
              <a:rPr lang="en-US" altLang="zh-CN" sz="8600" dirty="0" err="1">
                <a:latin typeface="Batang" panose="02030600000101010101" pitchFamily="18" charset="-127"/>
                <a:ea typeface="Batang" panose="02030600000101010101" pitchFamily="18" charset="-127"/>
              </a:rPr>
              <a:t>pApp</a:t>
            </a:r>
            <a:r>
              <a:rPr lang="en-US" altLang="zh-CN" sz="8600" dirty="0">
                <a:latin typeface="Batang" panose="02030600000101010101" pitchFamily="18" charset="-127"/>
                <a:ea typeface="Batang" panose="02030600000101010101" pitchFamily="18" charset="-127"/>
              </a:rPr>
              <a:t>);</a:t>
            </a:r>
            <a:br>
              <a:rPr lang="en-US" altLang="zh-CN" sz="8600" dirty="0">
                <a:latin typeface="Batang" panose="02030600000101010101" pitchFamily="18" charset="-127"/>
                <a:ea typeface="Batang" panose="02030600000101010101" pitchFamily="18" charset="-127"/>
              </a:rPr>
            </a:br>
            <a:r>
              <a:rPr lang="en-US" altLang="zh-CN" sz="8600" b="1" dirty="0" err="1">
                <a:solidFill>
                  <a:srgbClr val="FF0000"/>
                </a:solidFill>
                <a:latin typeface="Batang" panose="02030600000101010101" pitchFamily="18" charset="-127"/>
                <a:ea typeface="Batang" panose="02030600000101010101" pitchFamily="18" charset="-127"/>
              </a:rPr>
              <a:t>nReturnCode</a:t>
            </a:r>
            <a:r>
              <a:rPr lang="en-US" altLang="zh-CN" sz="8600" b="1" dirty="0">
                <a:solidFill>
                  <a:srgbClr val="FF0000"/>
                </a:solidFill>
                <a:latin typeface="Batang" panose="02030600000101010101" pitchFamily="18" charset="-127"/>
                <a:ea typeface="Batang" panose="02030600000101010101" pitchFamily="18" charset="-127"/>
              </a:rPr>
              <a:t> = </a:t>
            </a:r>
            <a:r>
              <a:rPr lang="en-US" altLang="zh-CN" sz="8600" b="1" dirty="0" err="1">
                <a:solidFill>
                  <a:srgbClr val="FF0000"/>
                </a:solidFill>
                <a:latin typeface="Batang" panose="02030600000101010101" pitchFamily="18" charset="-127"/>
                <a:ea typeface="Batang" panose="02030600000101010101" pitchFamily="18" charset="-127"/>
              </a:rPr>
              <a:t>pApp</a:t>
            </a:r>
            <a:r>
              <a:rPr lang="en-US" altLang="zh-CN" sz="8600" b="1" dirty="0">
                <a:solidFill>
                  <a:srgbClr val="FF0000"/>
                </a:solidFill>
                <a:latin typeface="Batang" panose="02030600000101010101" pitchFamily="18" charset="-127"/>
                <a:ea typeface="Batang" panose="02030600000101010101" pitchFamily="18" charset="-127"/>
              </a:rPr>
              <a:t>-&gt;Run();</a:t>
            </a:r>
            <a:br>
              <a:rPr lang="en-US" altLang="zh-CN" sz="8600" dirty="0">
                <a:latin typeface="Batang" panose="02030600000101010101" pitchFamily="18" charset="-127"/>
                <a:ea typeface="Batang" panose="02030600000101010101" pitchFamily="18" charset="-127"/>
              </a:rPr>
            </a:br>
            <a:r>
              <a:rPr lang="en-US" altLang="zh-CN" sz="8600" dirty="0">
                <a:latin typeface="Batang" panose="02030600000101010101" pitchFamily="18" charset="-127"/>
                <a:ea typeface="Batang" panose="02030600000101010101" pitchFamily="18" charset="-127"/>
              </a:rPr>
              <a:t>ASSERT_VALID(</a:t>
            </a:r>
            <a:r>
              <a:rPr lang="en-US" altLang="zh-CN" sz="8600" dirty="0" err="1">
                <a:latin typeface="Batang" panose="02030600000101010101" pitchFamily="18" charset="-127"/>
                <a:ea typeface="Batang" panose="02030600000101010101" pitchFamily="18" charset="-127"/>
              </a:rPr>
              <a:t>pApp</a:t>
            </a:r>
            <a:r>
              <a:rPr lang="en-US" altLang="zh-CN" sz="8600" dirty="0">
                <a:latin typeface="Batang" panose="02030600000101010101" pitchFamily="18" charset="-127"/>
                <a:ea typeface="Batang" panose="02030600000101010101" pitchFamily="18" charset="-127"/>
              </a:rPr>
              <a:t>);</a:t>
            </a:r>
            <a:br>
              <a:rPr lang="en-US" altLang="zh-CN" sz="8600" dirty="0">
                <a:latin typeface="Batang" panose="02030600000101010101" pitchFamily="18" charset="-127"/>
                <a:ea typeface="Batang" panose="02030600000101010101" pitchFamily="18" charset="-127"/>
              </a:rPr>
            </a:br>
            <a:r>
              <a:rPr lang="en-US" altLang="zh-CN" sz="8600" dirty="0" err="1">
                <a:latin typeface="Batang" panose="02030600000101010101" pitchFamily="18" charset="-127"/>
                <a:ea typeface="Batang" panose="02030600000101010101" pitchFamily="18" charset="-127"/>
              </a:rPr>
              <a:t>InitFailure</a:t>
            </a:r>
            <a:r>
              <a:rPr lang="en-US" altLang="zh-CN" sz="8600" dirty="0">
                <a:latin typeface="Batang" panose="02030600000101010101" pitchFamily="18" charset="-127"/>
                <a:ea typeface="Batang" panose="02030600000101010101" pitchFamily="18" charset="-127"/>
              </a:rPr>
              <a:t>:</a:t>
            </a:r>
            <a:br>
              <a:rPr lang="en-US" altLang="zh-CN" sz="8600" dirty="0">
                <a:latin typeface="Batang" panose="02030600000101010101" pitchFamily="18" charset="-127"/>
                <a:ea typeface="Batang" panose="02030600000101010101" pitchFamily="18" charset="-127"/>
              </a:rPr>
            </a:br>
            <a:r>
              <a:rPr lang="en-US" altLang="zh-CN" sz="8600" dirty="0">
                <a:latin typeface="Batang" panose="02030600000101010101" pitchFamily="18" charset="-127"/>
                <a:ea typeface="Batang" panose="02030600000101010101" pitchFamily="18" charset="-127"/>
              </a:rPr>
              <a:t>   #ifdef _DEBUG</a:t>
            </a:r>
          </a:p>
          <a:p>
            <a:pPr marL="0" indent="0">
              <a:lnSpc>
                <a:spcPct val="170000"/>
              </a:lnSpc>
              <a:buNone/>
            </a:pPr>
            <a:r>
              <a:rPr lang="en-US" altLang="zh-CN" sz="8600" dirty="0">
                <a:latin typeface="Batang" panose="02030600000101010101" pitchFamily="18" charset="-127"/>
                <a:ea typeface="Batang" panose="02030600000101010101" pitchFamily="18" charset="-127"/>
              </a:rPr>
              <a:t>   // Check for missing </a:t>
            </a:r>
            <a:r>
              <a:rPr lang="en-US" altLang="zh-CN" sz="8600" dirty="0" err="1">
                <a:latin typeface="Batang" panose="02030600000101010101" pitchFamily="18" charset="-127"/>
                <a:ea typeface="Batang" panose="02030600000101010101" pitchFamily="18" charset="-127"/>
              </a:rPr>
              <a:t>AfxLockTempMap</a:t>
            </a:r>
            <a:r>
              <a:rPr lang="en-US" altLang="zh-CN" sz="8600" dirty="0">
                <a:latin typeface="Batang" panose="02030600000101010101" pitchFamily="18" charset="-127"/>
                <a:ea typeface="Batang" panose="02030600000101010101" pitchFamily="18" charset="-127"/>
              </a:rPr>
              <a:t> calls</a:t>
            </a:r>
            <a:br>
              <a:rPr lang="en-US" altLang="zh-CN" sz="8600" dirty="0">
                <a:latin typeface="Batang" panose="02030600000101010101" pitchFamily="18" charset="-127"/>
                <a:ea typeface="Batang" panose="02030600000101010101" pitchFamily="18" charset="-127"/>
              </a:rPr>
            </a:br>
            <a:r>
              <a:rPr lang="en-US" altLang="zh-CN" sz="8600" dirty="0">
                <a:latin typeface="Batang" panose="02030600000101010101" pitchFamily="18" charset="-127"/>
                <a:ea typeface="Batang" panose="02030600000101010101" pitchFamily="18" charset="-127"/>
              </a:rPr>
              <a:t>   if (</a:t>
            </a:r>
            <a:r>
              <a:rPr lang="en-US" altLang="zh-CN" sz="8600" dirty="0" err="1">
                <a:latin typeface="Batang" panose="02030600000101010101" pitchFamily="18" charset="-127"/>
                <a:ea typeface="Batang" panose="02030600000101010101" pitchFamily="18" charset="-127"/>
              </a:rPr>
              <a:t>AfxGetModuleThreadState</a:t>
            </a:r>
            <a:r>
              <a:rPr lang="en-US" altLang="zh-CN" sz="8600" dirty="0">
                <a:latin typeface="Batang" panose="02030600000101010101" pitchFamily="18" charset="-127"/>
                <a:ea typeface="Batang" panose="02030600000101010101" pitchFamily="18" charset="-127"/>
              </a:rPr>
              <a:t>()-&gt;</a:t>
            </a:r>
            <a:r>
              <a:rPr lang="en-US" altLang="zh-CN" sz="8600" dirty="0" err="1">
                <a:latin typeface="Batang" panose="02030600000101010101" pitchFamily="18" charset="-127"/>
                <a:ea typeface="Batang" panose="02030600000101010101" pitchFamily="18" charset="-127"/>
              </a:rPr>
              <a:t>m_nTempMapLock</a:t>
            </a:r>
            <a:r>
              <a:rPr lang="en-US" altLang="zh-CN" sz="8600" dirty="0">
                <a:latin typeface="Batang" panose="02030600000101010101" pitchFamily="18" charset="-127"/>
                <a:ea typeface="Batang" panose="02030600000101010101" pitchFamily="18" charset="-127"/>
              </a:rPr>
              <a:t> != 0){</a:t>
            </a:r>
            <a:br>
              <a:rPr lang="en-US" altLang="zh-CN" sz="8600" dirty="0">
                <a:latin typeface="Batang" panose="02030600000101010101" pitchFamily="18" charset="-127"/>
                <a:ea typeface="Batang" panose="02030600000101010101" pitchFamily="18" charset="-127"/>
              </a:rPr>
            </a:br>
            <a:r>
              <a:rPr lang="en-US" altLang="zh-CN" sz="8600" dirty="0">
                <a:latin typeface="Batang" panose="02030600000101010101" pitchFamily="18" charset="-127"/>
                <a:ea typeface="Batang" panose="02030600000101010101" pitchFamily="18" charset="-127"/>
              </a:rPr>
              <a:t>       TRACE1("Warning: Temp map lock count non-zero (%</a:t>
            </a:r>
            <a:r>
              <a:rPr lang="en-US" altLang="zh-CN" sz="8600" dirty="0" err="1">
                <a:latin typeface="Batang" panose="02030600000101010101" pitchFamily="18" charset="-127"/>
                <a:ea typeface="Batang" panose="02030600000101010101" pitchFamily="18" charset="-127"/>
              </a:rPr>
              <a:t>ld</a:t>
            </a:r>
            <a:r>
              <a:rPr lang="en-US" altLang="zh-CN" sz="8600" dirty="0">
                <a:latin typeface="Batang" panose="02030600000101010101" pitchFamily="18" charset="-127"/>
                <a:ea typeface="Batang" panose="02030600000101010101" pitchFamily="18" charset="-127"/>
              </a:rPr>
              <a:t>)./n",</a:t>
            </a:r>
            <a:br>
              <a:rPr lang="en-US" altLang="zh-CN" sz="8600" dirty="0">
                <a:latin typeface="Batang" panose="02030600000101010101" pitchFamily="18" charset="-127"/>
                <a:ea typeface="Batang" panose="02030600000101010101" pitchFamily="18" charset="-127"/>
              </a:rPr>
            </a:br>
            <a:r>
              <a:rPr lang="en-US" altLang="zh-CN" sz="8600" dirty="0">
                <a:latin typeface="Batang" panose="02030600000101010101" pitchFamily="18" charset="-127"/>
                <a:ea typeface="Batang" panose="02030600000101010101" pitchFamily="18" charset="-127"/>
              </a:rPr>
              <a:t>        </a:t>
            </a:r>
            <a:r>
              <a:rPr lang="en-US" altLang="zh-CN" sz="8600" dirty="0" err="1">
                <a:latin typeface="Batang" panose="02030600000101010101" pitchFamily="18" charset="-127"/>
                <a:ea typeface="Batang" panose="02030600000101010101" pitchFamily="18" charset="-127"/>
              </a:rPr>
              <a:t>AfxGetModuleThreadState</a:t>
            </a:r>
            <a:r>
              <a:rPr lang="en-US" altLang="zh-CN" sz="8600" dirty="0">
                <a:latin typeface="Batang" panose="02030600000101010101" pitchFamily="18" charset="-127"/>
                <a:ea typeface="Batang" panose="02030600000101010101" pitchFamily="18" charset="-127"/>
              </a:rPr>
              <a:t>()-&gt;</a:t>
            </a:r>
            <a:r>
              <a:rPr lang="en-US" altLang="zh-CN" sz="8600" dirty="0" err="1">
                <a:latin typeface="Batang" panose="02030600000101010101" pitchFamily="18" charset="-127"/>
                <a:ea typeface="Batang" panose="02030600000101010101" pitchFamily="18" charset="-127"/>
              </a:rPr>
              <a:t>m_nTempMapLock</a:t>
            </a:r>
            <a:r>
              <a:rPr lang="en-US" altLang="zh-CN" sz="8600" dirty="0">
                <a:latin typeface="Batang" panose="02030600000101010101" pitchFamily="18" charset="-127"/>
                <a:ea typeface="Batang" panose="02030600000101010101" pitchFamily="18" charset="-127"/>
              </a:rPr>
              <a:t>);</a:t>
            </a:r>
            <a:br>
              <a:rPr lang="en-US" altLang="zh-CN" sz="8600" dirty="0">
                <a:latin typeface="Batang" panose="02030600000101010101" pitchFamily="18" charset="-127"/>
                <a:ea typeface="Batang" panose="02030600000101010101" pitchFamily="18" charset="-127"/>
              </a:rPr>
            </a:br>
            <a:r>
              <a:rPr lang="en-US" altLang="zh-CN" sz="8600" dirty="0">
                <a:latin typeface="Batang" panose="02030600000101010101" pitchFamily="18" charset="-127"/>
                <a:ea typeface="Batang" panose="02030600000101010101" pitchFamily="18" charset="-127"/>
              </a:rPr>
              <a:t>    }</a:t>
            </a:r>
          </a:p>
        </p:txBody>
      </p:sp>
    </p:spTree>
    <p:extLst>
      <p:ext uri="{BB962C8B-B14F-4D97-AF65-F5344CB8AC3E}">
        <p14:creationId xmlns:p14="http://schemas.microsoft.com/office/powerpoint/2010/main" val="16824231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D91439E-08E0-9F0E-C4E5-6EC3D316DFA5}"/>
              </a:ext>
            </a:extLst>
          </p:cNvPr>
          <p:cNvSpPr>
            <a:spLocks noGrp="1"/>
          </p:cNvSpPr>
          <p:nvPr>
            <p:ph idx="1"/>
          </p:nvPr>
        </p:nvSpPr>
        <p:spPr>
          <a:xfrm>
            <a:off x="472439" y="349859"/>
            <a:ext cx="10905877" cy="5891915"/>
          </a:xfrm>
        </p:spPr>
        <p:txBody>
          <a:bodyPr vert="horz" lIns="91440" tIns="45720" rIns="91440" bIns="45720" rtlCol="0">
            <a:normAutofit lnSpcReduction="10000"/>
          </a:bodyPr>
          <a:lstStyle/>
          <a:p>
            <a:pPr marL="0" indent="0">
              <a:lnSpc>
                <a:spcPct val="150000"/>
              </a:lnSpc>
              <a:buNone/>
            </a:pPr>
            <a:r>
              <a:rPr lang="en-US" altLang="zh-CN" sz="2400" dirty="0">
                <a:latin typeface="Batang" panose="02030600000101010101" pitchFamily="18" charset="-127"/>
                <a:ea typeface="Batang" panose="02030600000101010101" pitchFamily="18" charset="-127"/>
              </a:rPr>
              <a:t>       </a:t>
            </a:r>
            <a:r>
              <a:rPr lang="en-US" altLang="zh-CN" sz="2400" dirty="0" err="1">
                <a:latin typeface="Batang" panose="02030600000101010101" pitchFamily="18" charset="-127"/>
                <a:ea typeface="Batang" panose="02030600000101010101" pitchFamily="18" charset="-127"/>
              </a:rPr>
              <a:t>AfxLockTempMaps</a:t>
            </a:r>
            <a:r>
              <a:rPr lang="en-US" altLang="zh-CN" sz="2400" dirty="0">
                <a:latin typeface="Batang" panose="02030600000101010101" pitchFamily="18" charset="-127"/>
                <a:ea typeface="Batang" panose="02030600000101010101" pitchFamily="18" charset="-127"/>
              </a:rPr>
              <a:t>();</a:t>
            </a:r>
            <a:br>
              <a:rPr lang="en-US" altLang="zh-CN" sz="2400" dirty="0">
                <a:latin typeface="Batang" panose="02030600000101010101" pitchFamily="18" charset="-127"/>
                <a:ea typeface="Batang" panose="02030600000101010101" pitchFamily="18" charset="-127"/>
              </a:rPr>
            </a:br>
            <a:r>
              <a:rPr lang="en-US" altLang="zh-CN" sz="2400" dirty="0">
                <a:latin typeface="Batang" panose="02030600000101010101" pitchFamily="18" charset="-127"/>
                <a:ea typeface="Batang" panose="02030600000101010101" pitchFamily="18" charset="-127"/>
              </a:rPr>
              <a:t>       </a:t>
            </a:r>
            <a:r>
              <a:rPr lang="en-US" altLang="zh-CN" sz="2400" dirty="0" err="1">
                <a:latin typeface="Batang" panose="02030600000101010101" pitchFamily="18" charset="-127"/>
                <a:ea typeface="Batang" panose="02030600000101010101" pitchFamily="18" charset="-127"/>
              </a:rPr>
              <a:t>AfxUnlockTempMaps</a:t>
            </a:r>
            <a:r>
              <a:rPr lang="en-US" altLang="zh-CN" sz="2400" dirty="0">
                <a:latin typeface="Batang" panose="02030600000101010101" pitchFamily="18" charset="-127"/>
                <a:ea typeface="Batang" panose="02030600000101010101" pitchFamily="18" charset="-127"/>
              </a:rPr>
              <a:t>(-1);</a:t>
            </a:r>
            <a:br>
              <a:rPr lang="en-US" altLang="zh-CN" sz="2400" dirty="0">
                <a:latin typeface="Batang" panose="02030600000101010101" pitchFamily="18" charset="-127"/>
                <a:ea typeface="Batang" panose="02030600000101010101" pitchFamily="18" charset="-127"/>
              </a:rPr>
            </a:br>
            <a:r>
              <a:rPr lang="en-US" altLang="zh-CN" sz="2400" dirty="0">
                <a:latin typeface="Batang" panose="02030600000101010101" pitchFamily="18" charset="-127"/>
                <a:ea typeface="Batang" panose="02030600000101010101" pitchFamily="18" charset="-127"/>
              </a:rPr>
              <a:t>  #endif</a:t>
            </a:r>
            <a:br>
              <a:rPr lang="en-US" altLang="zh-CN" sz="2400" dirty="0">
                <a:latin typeface="Batang" panose="02030600000101010101" pitchFamily="18" charset="-127"/>
                <a:ea typeface="Batang" panose="02030600000101010101" pitchFamily="18" charset="-127"/>
              </a:rPr>
            </a:br>
            <a:r>
              <a:rPr lang="en-US" altLang="zh-CN" sz="2400" dirty="0">
                <a:latin typeface="Batang" panose="02030600000101010101" pitchFamily="18" charset="-127"/>
                <a:ea typeface="Batang" panose="02030600000101010101" pitchFamily="18" charset="-127"/>
              </a:rPr>
              <a:t>       </a:t>
            </a:r>
            <a:r>
              <a:rPr lang="en-US" altLang="zh-CN" sz="2400" dirty="0" err="1">
                <a:latin typeface="Batang" panose="02030600000101010101" pitchFamily="18" charset="-127"/>
                <a:ea typeface="Batang" panose="02030600000101010101" pitchFamily="18" charset="-127"/>
              </a:rPr>
              <a:t>AfxWinTerm</a:t>
            </a:r>
            <a:r>
              <a:rPr lang="en-US" altLang="zh-CN" sz="2400" dirty="0">
                <a:latin typeface="Batang" panose="02030600000101010101" pitchFamily="18" charset="-127"/>
                <a:ea typeface="Batang" panose="02030600000101010101" pitchFamily="18" charset="-127"/>
              </a:rPr>
              <a:t>();</a:t>
            </a:r>
            <a:br>
              <a:rPr lang="en-US" altLang="zh-CN" sz="2400" dirty="0">
                <a:latin typeface="Batang" panose="02030600000101010101" pitchFamily="18" charset="-127"/>
                <a:ea typeface="Batang" panose="02030600000101010101" pitchFamily="18" charset="-127"/>
              </a:rPr>
            </a:br>
            <a:r>
              <a:rPr lang="en-US" altLang="zh-CN" sz="2400" dirty="0">
                <a:latin typeface="Batang" panose="02030600000101010101" pitchFamily="18" charset="-127"/>
                <a:ea typeface="Batang" panose="02030600000101010101" pitchFamily="18" charset="-127"/>
              </a:rPr>
              <a:t>    return </a:t>
            </a:r>
            <a:r>
              <a:rPr lang="en-US" altLang="zh-CN" sz="2400" dirty="0" err="1">
                <a:latin typeface="Batang" panose="02030600000101010101" pitchFamily="18" charset="-127"/>
                <a:ea typeface="Batang" panose="02030600000101010101" pitchFamily="18" charset="-127"/>
              </a:rPr>
              <a:t>nReturnCode</a:t>
            </a:r>
            <a:r>
              <a:rPr lang="en-US" altLang="zh-CN" sz="2400" dirty="0">
                <a:latin typeface="Batang" panose="02030600000101010101" pitchFamily="18" charset="-127"/>
                <a:ea typeface="Batang" panose="02030600000101010101" pitchFamily="18" charset="-127"/>
              </a:rPr>
              <a:t>;</a:t>
            </a:r>
            <a:br>
              <a:rPr lang="en-US" altLang="zh-CN" sz="2400" dirty="0">
                <a:latin typeface="Batang" panose="02030600000101010101" pitchFamily="18" charset="-127"/>
                <a:ea typeface="Batang" panose="02030600000101010101" pitchFamily="18" charset="-127"/>
              </a:rPr>
            </a:br>
            <a:r>
              <a:rPr lang="en-US" altLang="zh-CN" sz="2400" dirty="0">
                <a:latin typeface="Batang" panose="02030600000101010101" pitchFamily="18" charset="-127"/>
                <a:ea typeface="Batang" panose="02030600000101010101" pitchFamily="18" charset="-127"/>
              </a:rPr>
              <a:t>}</a:t>
            </a:r>
          </a:p>
          <a:p>
            <a:pPr marL="0" indent="0">
              <a:lnSpc>
                <a:spcPct val="150000"/>
              </a:lnSpc>
              <a:buNone/>
            </a:pPr>
            <a:r>
              <a:rPr lang="en-US" altLang="zh-CN" sz="3200" dirty="0">
                <a:latin typeface="Batang" panose="02030600000101010101" pitchFamily="18" charset="-127"/>
                <a:ea typeface="Batang" panose="02030600000101010101" pitchFamily="18" charset="-127"/>
              </a:rPr>
              <a:t>     </a:t>
            </a:r>
            <a:r>
              <a:rPr lang="zh-CN" altLang="en-US" sz="3000" dirty="0">
                <a:latin typeface="华光仿宋_CNKI" panose="02000500000000000000" pitchFamily="2" charset="-122"/>
                <a:ea typeface="华光仿宋_CNKI" panose="02000500000000000000" pitchFamily="2" charset="-122"/>
              </a:rPr>
              <a:t>从上面的程序结构可以看出</a:t>
            </a:r>
            <a:r>
              <a:rPr lang="en-US" altLang="zh-CN" sz="3000" dirty="0">
                <a:latin typeface="华光仿宋_CNKI" panose="02000500000000000000" pitchFamily="2" charset="-122"/>
                <a:ea typeface="华光仿宋_CNKI" panose="02000500000000000000" pitchFamily="2" charset="-122"/>
              </a:rPr>
              <a:t>MFC</a:t>
            </a:r>
            <a:r>
              <a:rPr lang="zh-CN" altLang="en-US" sz="3000" dirty="0">
                <a:latin typeface="华光仿宋_CNKI" panose="02000500000000000000" pitchFamily="2" charset="-122"/>
                <a:ea typeface="华光仿宋_CNKI" panose="02000500000000000000" pitchFamily="2" charset="-122"/>
              </a:rPr>
              <a:t>应用程序的执行过程，首先进行应用程序初始化，然后运行消息循环，接收消息并处理接收的各种消息和事件，并将其传递给不同的函数执行，该程序是在</a:t>
            </a:r>
            <a:r>
              <a:rPr lang="en-US" altLang="zh-CN" sz="3000" dirty="0">
                <a:latin typeface="华光仿宋_CNKI" panose="02000500000000000000" pitchFamily="2" charset="-122"/>
                <a:ea typeface="华光仿宋_CNKI" panose="02000500000000000000" pitchFamily="2" charset="-122"/>
              </a:rPr>
              <a:t>Win32</a:t>
            </a:r>
            <a:r>
              <a:rPr lang="zh-CN" altLang="en-US" sz="3000" dirty="0">
                <a:latin typeface="华光仿宋_CNKI" panose="02000500000000000000" pitchFamily="2" charset="-122"/>
                <a:ea typeface="华光仿宋_CNKI" panose="02000500000000000000" pitchFamily="2" charset="-122"/>
              </a:rPr>
              <a:t>应用程序的基础上的封装。</a:t>
            </a:r>
            <a:endParaRPr lang="en-US" altLang="zh-CN" sz="3000" dirty="0">
              <a:latin typeface="华光仿宋_CNKI" panose="02000500000000000000" pitchFamily="2" charset="-122"/>
              <a:ea typeface="华光仿宋_CNKI" panose="02000500000000000000" pitchFamily="2" charset="-122"/>
            </a:endParaRPr>
          </a:p>
        </p:txBody>
      </p:sp>
    </p:spTree>
    <p:extLst>
      <p:ext uri="{BB962C8B-B14F-4D97-AF65-F5344CB8AC3E}">
        <p14:creationId xmlns:p14="http://schemas.microsoft.com/office/powerpoint/2010/main" val="18112666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D91439E-08E0-9F0E-C4E5-6EC3D316DFA5}"/>
              </a:ext>
            </a:extLst>
          </p:cNvPr>
          <p:cNvSpPr>
            <a:spLocks noGrp="1"/>
          </p:cNvSpPr>
          <p:nvPr>
            <p:ph idx="1"/>
          </p:nvPr>
        </p:nvSpPr>
        <p:spPr>
          <a:xfrm>
            <a:off x="643061" y="693751"/>
            <a:ext cx="10905877" cy="5343277"/>
          </a:xfrm>
        </p:spPr>
        <p:txBody>
          <a:bodyPr vert="horz" lIns="91440" tIns="45720" rIns="91440" bIns="45720" rtlCol="0">
            <a:normAutofit fontScale="92500" lnSpcReduction="20000"/>
          </a:bodyPr>
          <a:lstStyle/>
          <a:p>
            <a:pPr marL="0" indent="0">
              <a:lnSpc>
                <a:spcPct val="150000"/>
              </a:lnSpc>
              <a:buNone/>
            </a:pPr>
            <a:r>
              <a:rPr lang="en-US" altLang="zh-CN" dirty="0">
                <a:latin typeface="Batang" panose="02030600000101010101" pitchFamily="18" charset="-127"/>
                <a:ea typeface="Batang" panose="02030600000101010101" pitchFamily="18" charset="-127"/>
              </a:rPr>
              <a:t>     MFC</a:t>
            </a:r>
            <a:r>
              <a:rPr lang="zh-CN" altLang="en-US" dirty="0">
                <a:latin typeface="Batang" panose="02030600000101010101" pitchFamily="18" charset="-127"/>
                <a:ea typeface="Batang" panose="02030600000101010101" pitchFamily="18" charset="-127"/>
              </a:rPr>
              <a:t>首先会执行应用程序类的初始化操作，通过文档模版定义文档类，视图类、包含视图的框架窗体类三种类之间的关系，并设定应用程序菜单对应的</a:t>
            </a:r>
            <a:r>
              <a:rPr lang="en-US" altLang="zh-CN" dirty="0">
                <a:latin typeface="Batang" panose="02030600000101010101" pitchFamily="18" charset="-127"/>
                <a:ea typeface="Batang" panose="02030600000101010101" pitchFamily="18" charset="-127"/>
              </a:rPr>
              <a:t>ID</a:t>
            </a:r>
            <a:r>
              <a:rPr lang="zh-CN" altLang="en-US" dirty="0">
                <a:latin typeface="Batang" panose="02030600000101010101" pitchFamily="18" charset="-127"/>
                <a:ea typeface="Batang" panose="02030600000101010101" pitchFamily="18" charset="-127"/>
              </a:rPr>
              <a:t>，将菜单与应用程序绑定。</a:t>
            </a:r>
            <a:endParaRPr lang="en-US" altLang="zh-CN" dirty="0">
              <a:latin typeface="Batang" panose="02030600000101010101" pitchFamily="18" charset="-127"/>
              <a:ea typeface="Batang" panose="02030600000101010101" pitchFamily="18" charset="-127"/>
            </a:endParaRPr>
          </a:p>
          <a:p>
            <a:pPr marL="0" indent="0">
              <a:lnSpc>
                <a:spcPct val="150000"/>
              </a:lnSpc>
              <a:buNone/>
            </a:pPr>
            <a:r>
              <a:rPr lang="zh-CN" altLang="en-US" dirty="0">
                <a:latin typeface="Batang" panose="02030600000101010101" pitchFamily="18" charset="-127"/>
                <a:ea typeface="Batang" panose="02030600000101010101" pitchFamily="18" charset="-127"/>
              </a:rPr>
              <a:t>     然后执行文档类的初始化操作，完成对相关变量的初始化。</a:t>
            </a:r>
            <a:endParaRPr lang="en-US" altLang="zh-CN" dirty="0">
              <a:latin typeface="Batang" panose="02030600000101010101" pitchFamily="18" charset="-127"/>
              <a:ea typeface="Batang" panose="02030600000101010101" pitchFamily="18" charset="-127"/>
            </a:endParaRPr>
          </a:p>
          <a:p>
            <a:pPr marL="0" indent="0">
              <a:lnSpc>
                <a:spcPct val="150000"/>
              </a:lnSpc>
              <a:buNone/>
            </a:pPr>
            <a:r>
              <a:rPr lang="en-US" altLang="zh-CN" dirty="0">
                <a:latin typeface="Batang" panose="02030600000101010101" pitchFamily="18" charset="-127"/>
                <a:ea typeface="Batang" panose="02030600000101010101" pitchFamily="18" charset="-127"/>
              </a:rPr>
              <a:t>    </a:t>
            </a:r>
            <a:r>
              <a:rPr lang="zh-CN" altLang="en-US" dirty="0">
                <a:latin typeface="Batang" panose="02030600000101010101" pitchFamily="18" charset="-127"/>
                <a:ea typeface="Batang" panose="02030600000101010101" pitchFamily="18" charset="-127"/>
              </a:rPr>
              <a:t>然后执行框架窗体类的初始化，实现对窗体工具条，菜单栏以及子窗体的划分及初始化操作。</a:t>
            </a:r>
            <a:endParaRPr lang="en-US" altLang="zh-CN" dirty="0">
              <a:latin typeface="Batang" panose="02030600000101010101" pitchFamily="18" charset="-127"/>
              <a:ea typeface="Batang" panose="02030600000101010101" pitchFamily="18" charset="-127"/>
            </a:endParaRPr>
          </a:p>
          <a:p>
            <a:pPr marL="0" indent="0">
              <a:lnSpc>
                <a:spcPct val="150000"/>
              </a:lnSpc>
              <a:buNone/>
            </a:pPr>
            <a:r>
              <a:rPr lang="en-US" altLang="zh-CN" dirty="0">
                <a:latin typeface="Batang" panose="02030600000101010101" pitchFamily="18" charset="-127"/>
                <a:ea typeface="Batang" panose="02030600000101010101" pitchFamily="18" charset="-127"/>
              </a:rPr>
              <a:t>    </a:t>
            </a:r>
            <a:r>
              <a:rPr lang="zh-CN" altLang="en-US" dirty="0">
                <a:latin typeface="Batang" panose="02030600000101010101" pitchFamily="18" charset="-127"/>
                <a:ea typeface="Batang" panose="02030600000101010101" pitchFamily="18" charset="-127"/>
              </a:rPr>
              <a:t>然后执行视图类的初始化以及对视图的管理。</a:t>
            </a:r>
            <a:endParaRPr lang="en-US" altLang="zh-CN" dirty="0">
              <a:latin typeface="Batang" panose="02030600000101010101" pitchFamily="18" charset="-127"/>
              <a:ea typeface="Batang" panose="02030600000101010101" pitchFamily="18" charset="-127"/>
            </a:endParaRPr>
          </a:p>
          <a:p>
            <a:pPr marL="0" indent="0">
              <a:lnSpc>
                <a:spcPct val="150000"/>
              </a:lnSpc>
              <a:buNone/>
            </a:pPr>
            <a:r>
              <a:rPr lang="en-US" altLang="zh-CN" dirty="0">
                <a:latin typeface="Batang" panose="02030600000101010101" pitchFamily="18" charset="-127"/>
                <a:ea typeface="Batang" panose="02030600000101010101" pitchFamily="18" charset="-127"/>
              </a:rPr>
              <a:t>    </a:t>
            </a:r>
            <a:r>
              <a:rPr lang="zh-CN" altLang="en-US" dirty="0">
                <a:latin typeface="Batang" panose="02030600000101010101" pitchFamily="18" charset="-127"/>
                <a:ea typeface="Batang" panose="02030600000101010101" pitchFamily="18" charset="-127"/>
              </a:rPr>
              <a:t>其执行顺序与文档模版中设置的类的先后顺序一致。</a:t>
            </a:r>
            <a:endParaRPr lang="en-US" altLang="zh-CN" dirty="0">
              <a:latin typeface="Batang" panose="02030600000101010101" pitchFamily="18" charset="-127"/>
              <a:ea typeface="Batang" panose="02030600000101010101" pitchFamily="18" charset="-127"/>
            </a:endParaRPr>
          </a:p>
          <a:p>
            <a:pPr marL="0" indent="0">
              <a:lnSpc>
                <a:spcPct val="150000"/>
              </a:lnSpc>
              <a:buNone/>
            </a:pPr>
            <a:r>
              <a:rPr lang="en-US" altLang="zh-CN" dirty="0">
                <a:latin typeface="Batang" panose="02030600000101010101" pitchFamily="18" charset="-127"/>
                <a:ea typeface="Batang" panose="02030600000101010101" pitchFamily="18" charset="-127"/>
              </a:rPr>
              <a:t>    </a:t>
            </a:r>
            <a:r>
              <a:rPr lang="zh-CN" altLang="en-US" dirty="0">
                <a:latin typeface="Batang" panose="02030600000101010101" pitchFamily="18" charset="-127"/>
                <a:ea typeface="Batang" panose="02030600000101010101" pitchFamily="18" charset="-127"/>
              </a:rPr>
              <a:t>类中其它函数的执行顺序与调用及消息发送的先后顺序有关。</a:t>
            </a:r>
            <a:r>
              <a:rPr lang="en-US" altLang="zh-CN" dirty="0">
                <a:latin typeface="Batang" panose="02030600000101010101" pitchFamily="18" charset="-127"/>
                <a:ea typeface="Batang" panose="02030600000101010101" pitchFamily="18" charset="-127"/>
              </a:rPr>
              <a:t>    </a:t>
            </a:r>
            <a:endParaRPr lang="en-US" altLang="zh-CN" dirty="0">
              <a:latin typeface="华光仿宋_CNKI" panose="02000500000000000000" pitchFamily="2" charset="-122"/>
              <a:ea typeface="华光仿宋_CNKI" panose="02000500000000000000" pitchFamily="2" charset="-122"/>
            </a:endParaRPr>
          </a:p>
        </p:txBody>
      </p:sp>
    </p:spTree>
    <p:extLst>
      <p:ext uri="{BB962C8B-B14F-4D97-AF65-F5344CB8AC3E}">
        <p14:creationId xmlns:p14="http://schemas.microsoft.com/office/powerpoint/2010/main" val="21959239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D91439E-08E0-9F0E-C4E5-6EC3D316DFA5}"/>
              </a:ext>
            </a:extLst>
          </p:cNvPr>
          <p:cNvSpPr>
            <a:spLocks noGrp="1"/>
          </p:cNvSpPr>
          <p:nvPr>
            <p:ph idx="1"/>
          </p:nvPr>
        </p:nvSpPr>
        <p:spPr>
          <a:xfrm>
            <a:off x="472439" y="349859"/>
            <a:ext cx="10905877" cy="5891915"/>
          </a:xfrm>
        </p:spPr>
        <p:txBody>
          <a:bodyPr vert="horz" lIns="91440" tIns="45720" rIns="91440" bIns="45720" rtlCol="0">
            <a:normAutofit/>
          </a:bodyPr>
          <a:lstStyle/>
          <a:p>
            <a:pPr marL="0" indent="0">
              <a:lnSpc>
                <a:spcPct val="150000"/>
              </a:lnSpc>
              <a:buNone/>
            </a:pPr>
            <a:r>
              <a:rPr lang="zh-CN" altLang="en-US" sz="3600" b="1" dirty="0">
                <a:solidFill>
                  <a:srgbClr val="FF0000"/>
                </a:solidFill>
                <a:latin typeface="华光仿宋_CNKI" panose="02000500000000000000" pitchFamily="2" charset="-122"/>
                <a:ea typeface="华光仿宋_CNKI" panose="02000500000000000000" pitchFamily="2" charset="-122"/>
              </a:rPr>
              <a:t>思 考：</a:t>
            </a:r>
            <a:endParaRPr lang="en-US" altLang="zh-CN" sz="3600" b="1" dirty="0">
              <a:solidFill>
                <a:srgbClr val="FF0000"/>
              </a:solidFill>
              <a:latin typeface="华光仿宋_CNKI" panose="02000500000000000000" pitchFamily="2" charset="-122"/>
              <a:ea typeface="华光仿宋_CNKI" panose="02000500000000000000" pitchFamily="2" charset="-122"/>
            </a:endParaRPr>
          </a:p>
          <a:p>
            <a:pPr marL="0" indent="0">
              <a:lnSpc>
                <a:spcPct val="150000"/>
              </a:lnSpc>
              <a:buNone/>
            </a:pPr>
            <a:r>
              <a:rPr lang="en-US" altLang="zh-CN" sz="3000" dirty="0">
                <a:latin typeface="华光仿宋_CNKI" panose="02000500000000000000" pitchFamily="2" charset="-122"/>
                <a:ea typeface="华光仿宋_CNKI" panose="02000500000000000000" pitchFamily="2" charset="-122"/>
              </a:rPr>
              <a:t>    </a:t>
            </a:r>
            <a:r>
              <a:rPr lang="zh-CN" altLang="en-US" sz="3000" dirty="0">
                <a:latin typeface="华光仿宋_CNKI" panose="02000500000000000000" pitchFamily="2" charset="-122"/>
                <a:ea typeface="华光仿宋_CNKI" panose="02000500000000000000" pitchFamily="2" charset="-122"/>
              </a:rPr>
              <a:t>（</a:t>
            </a:r>
            <a:r>
              <a:rPr lang="en-US" altLang="zh-CN" sz="3000" dirty="0">
                <a:latin typeface="华光仿宋_CNKI" panose="02000500000000000000" pitchFamily="2" charset="-122"/>
                <a:ea typeface="华光仿宋_CNKI" panose="02000500000000000000" pitchFamily="2" charset="-122"/>
              </a:rPr>
              <a:t>1</a:t>
            </a:r>
            <a:r>
              <a:rPr lang="zh-CN" altLang="en-US" sz="3000" dirty="0">
                <a:latin typeface="华光仿宋_CNKI" panose="02000500000000000000" pitchFamily="2" charset="-122"/>
                <a:ea typeface="华光仿宋_CNKI" panose="02000500000000000000" pitchFamily="2" charset="-122"/>
              </a:rPr>
              <a:t>）对照</a:t>
            </a:r>
            <a:r>
              <a:rPr lang="en-US" altLang="zh-CN" sz="3000" dirty="0">
                <a:latin typeface="华光仿宋_CNKI" panose="02000500000000000000" pitchFamily="2" charset="-122"/>
                <a:ea typeface="华光仿宋_CNKI" panose="02000500000000000000" pitchFamily="2" charset="-122"/>
              </a:rPr>
              <a:t>Win32</a:t>
            </a:r>
            <a:r>
              <a:rPr lang="zh-CN" altLang="en-US" sz="3000" dirty="0">
                <a:latin typeface="华光仿宋_CNKI" panose="02000500000000000000" pitchFamily="2" charset="-122"/>
                <a:ea typeface="华光仿宋_CNKI" panose="02000500000000000000" pitchFamily="2" charset="-122"/>
              </a:rPr>
              <a:t>应用程序进一步了解</a:t>
            </a:r>
            <a:r>
              <a:rPr lang="en-US" altLang="zh-CN" sz="3000" dirty="0">
                <a:latin typeface="华光仿宋_CNKI" panose="02000500000000000000" pitchFamily="2" charset="-122"/>
                <a:ea typeface="华光仿宋_CNKI" panose="02000500000000000000" pitchFamily="2" charset="-122"/>
              </a:rPr>
              <a:t>MFC</a:t>
            </a:r>
            <a:r>
              <a:rPr lang="zh-CN" altLang="en-US" sz="3000" dirty="0">
                <a:latin typeface="华光仿宋_CNKI" panose="02000500000000000000" pitchFamily="2" charset="-122"/>
                <a:ea typeface="华光仿宋_CNKI" panose="02000500000000000000" pitchFamily="2" charset="-122"/>
              </a:rPr>
              <a:t>应用程序的执行过程及结构。</a:t>
            </a:r>
            <a:endParaRPr lang="en-US" altLang="zh-CN" sz="30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3000" dirty="0">
                <a:latin typeface="华光仿宋_CNKI" panose="02000500000000000000" pitchFamily="2" charset="-122"/>
                <a:ea typeface="华光仿宋_CNKI" panose="02000500000000000000" pitchFamily="2" charset="-122"/>
              </a:rPr>
              <a:t>    </a:t>
            </a:r>
            <a:r>
              <a:rPr lang="zh-CN" altLang="en-US" sz="3000" dirty="0">
                <a:latin typeface="华光仿宋_CNKI" panose="02000500000000000000" pitchFamily="2" charset="-122"/>
                <a:ea typeface="华光仿宋_CNKI" panose="02000500000000000000" pitchFamily="2" charset="-122"/>
              </a:rPr>
              <a:t>（</a:t>
            </a:r>
            <a:r>
              <a:rPr lang="en-US" altLang="zh-CN" sz="3000" dirty="0">
                <a:latin typeface="华光仿宋_CNKI" panose="02000500000000000000" pitchFamily="2" charset="-122"/>
                <a:ea typeface="华光仿宋_CNKI" panose="02000500000000000000" pitchFamily="2" charset="-122"/>
              </a:rPr>
              <a:t>2</a:t>
            </a:r>
            <a:r>
              <a:rPr lang="zh-CN" altLang="en-US" sz="3000" dirty="0">
                <a:latin typeface="华光仿宋_CNKI" panose="02000500000000000000" pitchFamily="2" charset="-122"/>
                <a:ea typeface="华光仿宋_CNKI" panose="02000500000000000000" pitchFamily="2" charset="-122"/>
              </a:rPr>
              <a:t>）如何在现有的程序中添加新的元素或者修改已有的元素？比如添加新的窗体，空间，修改菜单，工具条，状态栏等。</a:t>
            </a:r>
            <a:endParaRPr lang="en-US" altLang="zh-CN" sz="30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3000" dirty="0">
                <a:latin typeface="华光仿宋_CNKI" panose="02000500000000000000" pitchFamily="2" charset="-122"/>
                <a:ea typeface="华光仿宋_CNKI" panose="02000500000000000000" pitchFamily="2" charset="-122"/>
              </a:rPr>
              <a:t>    </a:t>
            </a:r>
            <a:r>
              <a:rPr lang="zh-CN" altLang="en-US" sz="3000" dirty="0">
                <a:latin typeface="华光仿宋_CNKI" panose="02000500000000000000" pitchFamily="2" charset="-122"/>
                <a:ea typeface="华光仿宋_CNKI" panose="02000500000000000000" pitchFamily="2" charset="-122"/>
              </a:rPr>
              <a:t>（</a:t>
            </a:r>
            <a:r>
              <a:rPr lang="en-US" altLang="zh-CN" sz="3000" dirty="0">
                <a:latin typeface="华光仿宋_CNKI" panose="02000500000000000000" pitchFamily="2" charset="-122"/>
                <a:ea typeface="华光仿宋_CNKI" panose="02000500000000000000" pitchFamily="2" charset="-122"/>
              </a:rPr>
              <a:t>3</a:t>
            </a:r>
            <a:r>
              <a:rPr lang="zh-CN" altLang="en-US" sz="3000" dirty="0">
                <a:latin typeface="华光仿宋_CNKI" panose="02000500000000000000" pitchFamily="2" charset="-122"/>
                <a:ea typeface="华光仿宋_CNKI" panose="02000500000000000000" pitchFamily="2" charset="-122"/>
              </a:rPr>
              <a:t>）如何在窗体中显示文字，图形等。</a:t>
            </a:r>
            <a:endParaRPr lang="en-US" altLang="zh-CN" sz="3000" dirty="0">
              <a:latin typeface="华光仿宋_CNKI" panose="02000500000000000000" pitchFamily="2" charset="-122"/>
              <a:ea typeface="华光仿宋_CNKI" panose="02000500000000000000" pitchFamily="2" charset="-122"/>
            </a:endParaRPr>
          </a:p>
        </p:txBody>
      </p:sp>
    </p:spTree>
    <p:extLst>
      <p:ext uri="{BB962C8B-B14F-4D97-AF65-F5344CB8AC3E}">
        <p14:creationId xmlns:p14="http://schemas.microsoft.com/office/powerpoint/2010/main" val="5705081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D91439E-08E0-9F0E-C4E5-6EC3D316DFA5}"/>
              </a:ext>
            </a:extLst>
          </p:cNvPr>
          <p:cNvSpPr>
            <a:spLocks noGrp="1"/>
          </p:cNvSpPr>
          <p:nvPr>
            <p:ph idx="1"/>
          </p:nvPr>
        </p:nvSpPr>
        <p:spPr>
          <a:xfrm>
            <a:off x="536050" y="725556"/>
            <a:ext cx="10905877" cy="5349241"/>
          </a:xfrm>
        </p:spPr>
        <p:txBody>
          <a:bodyPr vert="horz" lIns="91440" tIns="45720" rIns="91440" bIns="45720" rtlCol="0">
            <a:normAutofit/>
          </a:bodyPr>
          <a:lstStyle/>
          <a:p>
            <a:pPr marL="0" indent="0">
              <a:lnSpc>
                <a:spcPct val="150000"/>
              </a:lnSpc>
              <a:buNone/>
            </a:pPr>
            <a:r>
              <a:rPr lang="zh-CN" altLang="en-US" sz="3000" dirty="0">
                <a:latin typeface="华光仿宋_CNKI" panose="02000500000000000000" pitchFamily="2" charset="-122"/>
                <a:ea typeface="华光仿宋_CNKI" panose="02000500000000000000" pitchFamily="2" charset="-122"/>
              </a:rPr>
              <a:t>   </a:t>
            </a:r>
            <a:r>
              <a:rPr lang="en-US" altLang="zh-CN" sz="2800" dirty="0">
                <a:latin typeface="华光标题宋_CNKI" panose="02000500000000000000" pitchFamily="2" charset="-122"/>
                <a:ea typeface="华光标题宋_CNKI" panose="02000500000000000000" pitchFamily="2" charset="-122"/>
              </a:rPr>
              <a:t> 2.3 MFC</a:t>
            </a:r>
            <a:r>
              <a:rPr lang="zh-CN" altLang="en-US" sz="2800" dirty="0">
                <a:latin typeface="华光标题宋_CNKI" panose="02000500000000000000" pitchFamily="2" charset="-122"/>
                <a:ea typeface="华光标题宋_CNKI" panose="02000500000000000000" pitchFamily="2" charset="-122"/>
              </a:rPr>
              <a:t>应用程序工具条，菜单，状态栏，子窗体的创建</a:t>
            </a:r>
            <a:endParaRPr lang="en-US" altLang="zh-CN" sz="2800" dirty="0">
              <a:latin typeface="华光标题宋_CNKI" panose="02000500000000000000" pitchFamily="2" charset="-122"/>
              <a:ea typeface="华光标题宋_CNKI" panose="02000500000000000000" pitchFamily="2" charset="-122"/>
            </a:endParaRPr>
          </a:p>
          <a:p>
            <a:pPr marL="0" indent="0">
              <a:lnSpc>
                <a:spcPct val="150000"/>
              </a:lnSpc>
              <a:buNone/>
            </a:pPr>
            <a:r>
              <a:rPr lang="zh-CN" altLang="en-US" sz="3000" dirty="0">
                <a:latin typeface="华光仿宋_CNKI" panose="02000500000000000000" pitchFamily="2" charset="-122"/>
                <a:ea typeface="华光仿宋_CNKI" panose="02000500000000000000" pitchFamily="2" charset="-122"/>
              </a:rPr>
              <a:t>   </a:t>
            </a:r>
            <a:r>
              <a:rPr lang="en-US" altLang="zh-CN" sz="3000" dirty="0">
                <a:latin typeface="华光仿宋_CNKI" panose="02000500000000000000" pitchFamily="2" charset="-122"/>
                <a:ea typeface="华光仿宋_CNKI" panose="02000500000000000000" pitchFamily="2" charset="-122"/>
              </a:rPr>
              <a:t>MFC</a:t>
            </a:r>
            <a:r>
              <a:rPr lang="zh-CN" altLang="en-US" sz="3000" dirty="0">
                <a:latin typeface="华光仿宋_CNKI" panose="02000500000000000000" pitchFamily="2" charset="-122"/>
                <a:ea typeface="华光仿宋_CNKI" panose="02000500000000000000" pitchFamily="2" charset="-122"/>
              </a:rPr>
              <a:t>应用程序子菜单可在应用程序初始化时通过文档模版绑定，菜单在资源文件中定义，同时图标，快捷键表和字符串资源也可通过文档模版进行绑定。如果同时绑定多个资源，它们需要使用相同的</a:t>
            </a:r>
            <a:r>
              <a:rPr lang="en-US" altLang="zh-CN" sz="3000" dirty="0">
                <a:latin typeface="华光仿宋_CNKI" panose="02000500000000000000" pitchFamily="2" charset="-122"/>
                <a:ea typeface="华光仿宋_CNKI" panose="02000500000000000000" pitchFamily="2" charset="-122"/>
              </a:rPr>
              <a:t>ID</a:t>
            </a:r>
            <a:r>
              <a:rPr lang="zh-CN" altLang="en-US" sz="3000" dirty="0">
                <a:latin typeface="华光仿宋_CNKI" panose="02000500000000000000" pitchFamily="2" charset="-122"/>
                <a:ea typeface="华光仿宋_CNKI" panose="02000500000000000000" pitchFamily="2" charset="-122"/>
              </a:rPr>
              <a:t>。文档模版同时绑定该应用程序对应的文档内，窗体框架类以及视图类。</a:t>
            </a:r>
            <a:endParaRPr lang="en-US" altLang="zh-CN" sz="30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3000" dirty="0">
                <a:latin typeface="华光仿宋_CNKI" panose="02000500000000000000" pitchFamily="2" charset="-122"/>
                <a:ea typeface="华光仿宋_CNKI" panose="02000500000000000000" pitchFamily="2" charset="-122"/>
              </a:rPr>
              <a:t>    MFC</a:t>
            </a:r>
            <a:r>
              <a:rPr lang="zh-CN" altLang="en-US" sz="3000" dirty="0">
                <a:latin typeface="华光仿宋_CNKI" panose="02000500000000000000" pitchFamily="2" charset="-122"/>
                <a:ea typeface="华光仿宋_CNKI" panose="02000500000000000000" pitchFamily="2" charset="-122"/>
              </a:rPr>
              <a:t>使用的资源定义在</a:t>
            </a:r>
            <a:r>
              <a:rPr lang="en-US" altLang="zh-CN" sz="3000" dirty="0" err="1">
                <a:latin typeface="华光仿宋_CNKI" panose="02000500000000000000" pitchFamily="2" charset="-122"/>
                <a:ea typeface="华光仿宋_CNKI" panose="02000500000000000000" pitchFamily="2" charset="-122"/>
              </a:rPr>
              <a:t>Resource.h</a:t>
            </a:r>
            <a:r>
              <a:rPr lang="zh-CN" altLang="en-US" sz="3000" dirty="0">
                <a:latin typeface="华光仿宋_CNKI" panose="02000500000000000000" pitchFamily="2" charset="-122"/>
                <a:ea typeface="华光仿宋_CNKI" panose="02000500000000000000" pitchFamily="2" charset="-122"/>
              </a:rPr>
              <a:t>中。</a:t>
            </a:r>
            <a:endParaRPr lang="en-US" altLang="zh-CN" sz="3000" dirty="0">
              <a:latin typeface="华光仿宋_CNKI" panose="02000500000000000000" pitchFamily="2" charset="-122"/>
              <a:ea typeface="华光仿宋_CNKI" panose="02000500000000000000" pitchFamily="2" charset="-122"/>
            </a:endParaRPr>
          </a:p>
        </p:txBody>
      </p:sp>
    </p:spTree>
    <p:extLst>
      <p:ext uri="{BB962C8B-B14F-4D97-AF65-F5344CB8AC3E}">
        <p14:creationId xmlns:p14="http://schemas.microsoft.com/office/powerpoint/2010/main" val="979186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D91439E-08E0-9F0E-C4E5-6EC3D316DFA5}"/>
              </a:ext>
            </a:extLst>
          </p:cNvPr>
          <p:cNvSpPr>
            <a:spLocks noGrp="1"/>
          </p:cNvSpPr>
          <p:nvPr>
            <p:ph idx="1"/>
          </p:nvPr>
        </p:nvSpPr>
        <p:spPr>
          <a:xfrm>
            <a:off x="551952" y="571499"/>
            <a:ext cx="10905877" cy="5715001"/>
          </a:xfrm>
        </p:spPr>
        <p:txBody>
          <a:bodyPr vert="horz" lIns="91440" tIns="45720" rIns="91440" bIns="45720" rtlCol="0">
            <a:normAutofit lnSpcReduction="10000"/>
          </a:bodyPr>
          <a:lstStyle/>
          <a:p>
            <a:pPr marL="0" indent="0">
              <a:lnSpc>
                <a:spcPct val="150000"/>
              </a:lnSpc>
              <a:buNone/>
            </a:pPr>
            <a:r>
              <a:rPr lang="en-US" altLang="zh-CN" sz="3000" dirty="0">
                <a:latin typeface="华光仿宋_CNKI" panose="02000500000000000000" pitchFamily="2" charset="-122"/>
                <a:ea typeface="华光仿宋_CNKI" panose="02000500000000000000" pitchFamily="2" charset="-122"/>
              </a:rPr>
              <a:t>   MFC</a:t>
            </a:r>
            <a:r>
              <a:rPr lang="zh-CN" altLang="en-US" sz="3000" dirty="0">
                <a:latin typeface="华光仿宋_CNKI" panose="02000500000000000000" pitchFamily="2" charset="-122"/>
                <a:ea typeface="华光仿宋_CNKI" panose="02000500000000000000" pitchFamily="2" charset="-122"/>
              </a:rPr>
              <a:t>应用程序子窗体的创建、工具条和状态栏在应用程序窗体框架类中完成。</a:t>
            </a:r>
            <a:endParaRPr lang="en-US" altLang="zh-CN" sz="30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3000" dirty="0">
                <a:latin typeface="华光仿宋_CNKI" panose="02000500000000000000" pitchFamily="2" charset="-122"/>
                <a:ea typeface="华光仿宋_CNKI" panose="02000500000000000000" pitchFamily="2" charset="-122"/>
              </a:rPr>
              <a:t>   </a:t>
            </a:r>
            <a:r>
              <a:rPr lang="zh-CN" altLang="en-US" sz="3000" dirty="0">
                <a:latin typeface="华光仿宋_CNKI" panose="02000500000000000000" pitchFamily="2" charset="-122"/>
                <a:ea typeface="华光仿宋_CNKI" panose="02000500000000000000" pitchFamily="2" charset="-122"/>
              </a:rPr>
              <a:t>子窗体的创建将用到</a:t>
            </a:r>
            <a:r>
              <a:rPr lang="en-US" altLang="zh-CN" sz="3000" b="1" dirty="0" err="1">
                <a:solidFill>
                  <a:srgbClr val="FF0000"/>
                </a:solidFill>
                <a:latin typeface="华光仿宋_CNKI" panose="02000500000000000000" pitchFamily="2" charset="-122"/>
                <a:ea typeface="华光仿宋_CNKI" panose="02000500000000000000" pitchFamily="2" charset="-122"/>
              </a:rPr>
              <a:t>CSplitterWnd</a:t>
            </a:r>
            <a:r>
              <a:rPr lang="zh-CN" altLang="en-US" sz="3000" dirty="0">
                <a:latin typeface="华光仿宋_CNKI" panose="02000500000000000000" pitchFamily="2" charset="-122"/>
                <a:ea typeface="华光仿宋_CNKI" panose="02000500000000000000" pitchFamily="2" charset="-122"/>
              </a:rPr>
              <a:t>类。创建后的子窗体可定义相应的窗体视图类进行管理。如果窗体视图是一个包含空间的视图，则对应的类继承自</a:t>
            </a:r>
            <a:r>
              <a:rPr lang="en-US" altLang="zh-CN" sz="3000" dirty="0" err="1">
                <a:latin typeface="华光仿宋_CNKI" panose="02000500000000000000" pitchFamily="2" charset="-122"/>
                <a:ea typeface="华光仿宋_CNKI" panose="02000500000000000000" pitchFamily="2" charset="-122"/>
              </a:rPr>
              <a:t>CFormView</a:t>
            </a:r>
            <a:r>
              <a:rPr lang="zh-CN" altLang="en-US" sz="3000" dirty="0">
                <a:latin typeface="华光仿宋_CNKI" panose="02000500000000000000" pitchFamily="2" charset="-122"/>
                <a:ea typeface="华光仿宋_CNKI" panose="02000500000000000000" pitchFamily="2" charset="-122"/>
              </a:rPr>
              <a:t>；如果是更广泛意义的视图，则直接可继承自</a:t>
            </a:r>
            <a:r>
              <a:rPr lang="en-US" altLang="zh-CN" sz="3000" dirty="0" err="1">
                <a:latin typeface="华光仿宋_CNKI" panose="02000500000000000000" pitchFamily="2" charset="-122"/>
                <a:ea typeface="华光仿宋_CNKI" panose="02000500000000000000" pitchFamily="2" charset="-122"/>
              </a:rPr>
              <a:t>Cview</a:t>
            </a:r>
            <a:r>
              <a:rPr lang="en-US" altLang="zh-CN" sz="3000" dirty="0">
                <a:latin typeface="华光仿宋_CNKI" panose="02000500000000000000" pitchFamily="2" charset="-122"/>
                <a:ea typeface="华光仿宋_CNKI" panose="02000500000000000000" pitchFamily="2" charset="-122"/>
              </a:rPr>
              <a:t>.</a:t>
            </a:r>
          </a:p>
          <a:p>
            <a:pPr marL="0" indent="0">
              <a:lnSpc>
                <a:spcPct val="150000"/>
              </a:lnSpc>
              <a:buNone/>
            </a:pPr>
            <a:r>
              <a:rPr lang="en-US" altLang="zh-CN" sz="3000" dirty="0">
                <a:latin typeface="华光仿宋_CNKI" panose="02000500000000000000" pitchFamily="2" charset="-122"/>
                <a:ea typeface="华光仿宋_CNKI" panose="02000500000000000000" pitchFamily="2" charset="-122"/>
              </a:rPr>
              <a:t>   </a:t>
            </a:r>
            <a:r>
              <a:rPr lang="zh-CN" altLang="en-US" sz="3000" dirty="0">
                <a:latin typeface="华光仿宋_CNKI" panose="02000500000000000000" pitchFamily="2" charset="-122"/>
                <a:ea typeface="华光仿宋_CNKI" panose="02000500000000000000" pitchFamily="2" charset="-122"/>
              </a:rPr>
              <a:t>状态栏将用到</a:t>
            </a:r>
            <a:r>
              <a:rPr lang="en-US" altLang="zh-CN" sz="3000" b="1" dirty="0" err="1">
                <a:solidFill>
                  <a:srgbClr val="FF0000"/>
                </a:solidFill>
                <a:latin typeface="华光仿宋_CNKI" panose="02000500000000000000" pitchFamily="2" charset="-122"/>
                <a:ea typeface="华光仿宋_CNKI" panose="02000500000000000000" pitchFamily="2" charset="-122"/>
              </a:rPr>
              <a:t>CStatusBar</a:t>
            </a:r>
            <a:r>
              <a:rPr lang="zh-CN" altLang="en-US" sz="3000" b="1" dirty="0">
                <a:solidFill>
                  <a:srgbClr val="FF0000"/>
                </a:solidFill>
                <a:latin typeface="华光仿宋_CNKI" panose="02000500000000000000" pitchFamily="2" charset="-122"/>
                <a:ea typeface="华光仿宋_CNKI" panose="02000500000000000000" pitchFamily="2" charset="-122"/>
              </a:rPr>
              <a:t>类。</a:t>
            </a:r>
            <a:endParaRPr lang="en-US" altLang="zh-CN" sz="3000" b="1" dirty="0">
              <a:solidFill>
                <a:srgbClr val="FF0000"/>
              </a:solidFill>
              <a:latin typeface="华光仿宋_CNKI" panose="02000500000000000000" pitchFamily="2" charset="-122"/>
              <a:ea typeface="华光仿宋_CNKI" panose="02000500000000000000" pitchFamily="2" charset="-122"/>
            </a:endParaRPr>
          </a:p>
          <a:p>
            <a:pPr marL="0" indent="0">
              <a:lnSpc>
                <a:spcPct val="150000"/>
              </a:lnSpc>
              <a:buNone/>
            </a:pPr>
            <a:r>
              <a:rPr lang="en-US" altLang="zh-CN" sz="1800" dirty="0">
                <a:solidFill>
                  <a:srgbClr val="2B91AF"/>
                </a:solidFill>
                <a:latin typeface="新宋体" panose="02010609030101010101" pitchFamily="49" charset="-122"/>
                <a:ea typeface="新宋体" panose="02010609030101010101" pitchFamily="49" charset="-122"/>
              </a:rPr>
              <a:t>     </a:t>
            </a:r>
            <a:r>
              <a:rPr lang="zh-CN" altLang="en-US" sz="3000" dirty="0">
                <a:latin typeface="华光仿宋_CNKI" panose="02000500000000000000" pitchFamily="2" charset="-122"/>
                <a:ea typeface="华光仿宋_CNKI" panose="02000500000000000000" pitchFamily="2" charset="-122"/>
              </a:rPr>
              <a:t>工具条将用到</a:t>
            </a:r>
            <a:r>
              <a:rPr lang="en-US" altLang="zh-CN" sz="3000" b="1" dirty="0" err="1">
                <a:solidFill>
                  <a:srgbClr val="FF0000"/>
                </a:solidFill>
                <a:latin typeface="华光仿宋_CNKI" panose="02000500000000000000" pitchFamily="2" charset="-122"/>
                <a:ea typeface="华光仿宋_CNKI" panose="02000500000000000000" pitchFamily="2" charset="-122"/>
              </a:rPr>
              <a:t>CToolBar</a:t>
            </a:r>
            <a:r>
              <a:rPr lang="en-US" altLang="zh-CN" sz="3000" b="1" dirty="0">
                <a:solidFill>
                  <a:srgbClr val="FF0000"/>
                </a:solidFill>
                <a:latin typeface="华光仿宋_CNKI" panose="02000500000000000000" pitchFamily="2" charset="-122"/>
                <a:ea typeface="华光仿宋_CNKI" panose="02000500000000000000" pitchFamily="2" charset="-122"/>
              </a:rPr>
              <a:t> </a:t>
            </a:r>
            <a:r>
              <a:rPr lang="zh-CN" altLang="en-US" sz="3000" b="1" dirty="0">
                <a:solidFill>
                  <a:srgbClr val="FF0000"/>
                </a:solidFill>
                <a:latin typeface="华光仿宋_CNKI" panose="02000500000000000000" pitchFamily="2" charset="-122"/>
                <a:ea typeface="华光仿宋_CNKI" panose="02000500000000000000" pitchFamily="2" charset="-122"/>
              </a:rPr>
              <a:t>类。</a:t>
            </a:r>
            <a:r>
              <a:rPr lang="en-US" altLang="zh-CN" sz="3000" dirty="0">
                <a:latin typeface="华光仿宋_CNKI" panose="02000500000000000000" pitchFamily="2" charset="-122"/>
                <a:ea typeface="华光仿宋_CNKI" panose="02000500000000000000" pitchFamily="2" charset="-122"/>
              </a:rPr>
              <a:t>  </a:t>
            </a:r>
          </a:p>
        </p:txBody>
      </p:sp>
    </p:spTree>
    <p:extLst>
      <p:ext uri="{BB962C8B-B14F-4D97-AF65-F5344CB8AC3E}">
        <p14:creationId xmlns:p14="http://schemas.microsoft.com/office/powerpoint/2010/main" val="22132265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D91439E-08E0-9F0E-C4E5-6EC3D316DFA5}"/>
              </a:ext>
            </a:extLst>
          </p:cNvPr>
          <p:cNvSpPr>
            <a:spLocks noGrp="1"/>
          </p:cNvSpPr>
          <p:nvPr>
            <p:ph idx="1"/>
          </p:nvPr>
        </p:nvSpPr>
        <p:spPr>
          <a:xfrm>
            <a:off x="575806" y="699218"/>
            <a:ext cx="10905877" cy="5459564"/>
          </a:xfrm>
        </p:spPr>
        <p:txBody>
          <a:bodyPr vert="horz" lIns="91440" tIns="45720" rIns="91440" bIns="45720" rtlCol="0">
            <a:normAutofit/>
          </a:bodyPr>
          <a:lstStyle/>
          <a:p>
            <a:pPr marL="0" indent="0">
              <a:lnSpc>
                <a:spcPct val="150000"/>
              </a:lnSpc>
              <a:buNone/>
            </a:pPr>
            <a:r>
              <a:rPr lang="en-US" altLang="zh-CN" sz="3000" dirty="0">
                <a:latin typeface="华光仿宋_CNKI" panose="02000500000000000000" pitchFamily="2" charset="-122"/>
                <a:ea typeface="华光仿宋_CNKI" panose="02000500000000000000" pitchFamily="2" charset="-122"/>
              </a:rPr>
              <a:t>    </a:t>
            </a:r>
            <a:r>
              <a:rPr lang="zh-CN" altLang="en-US" sz="3000" dirty="0">
                <a:latin typeface="华光仿宋_CNKI" panose="02000500000000000000" pitchFamily="2" charset="-122"/>
                <a:ea typeface="华光仿宋_CNKI" panose="02000500000000000000" pitchFamily="2" charset="-122"/>
              </a:rPr>
              <a:t>与菜单有关的消息映射主要在应用程序类中完成，但如果相关的命令与视图有关，则在视图类中完成。原则上，每个类中均可进行相关的消息映射，主要看对应的消息是否与相应的类有关联。</a:t>
            </a:r>
            <a:endParaRPr lang="en-US" altLang="zh-CN" sz="30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3000" dirty="0">
                <a:latin typeface="华光仿宋_CNKI" panose="02000500000000000000" pitchFamily="2" charset="-122"/>
                <a:ea typeface="华光仿宋_CNKI" panose="02000500000000000000" pitchFamily="2" charset="-122"/>
              </a:rPr>
              <a:t>    </a:t>
            </a:r>
            <a:r>
              <a:rPr lang="zh-CN" altLang="en-US" sz="3000" dirty="0">
                <a:latin typeface="华光仿宋_CNKI" panose="02000500000000000000" pitchFamily="2" charset="-122"/>
                <a:ea typeface="华光仿宋_CNKI" panose="02000500000000000000" pitchFamily="2" charset="-122"/>
              </a:rPr>
              <a:t>类可以调用其它类的成员函数，但要获得对应类实例的句柄。</a:t>
            </a:r>
            <a:r>
              <a:rPr lang="en-US" altLang="zh-CN" sz="3000" dirty="0">
                <a:latin typeface="华光仿宋_CNKI" panose="02000500000000000000" pitchFamily="2" charset="-122"/>
                <a:ea typeface="华光仿宋_CNKI" panose="02000500000000000000" pitchFamily="2" charset="-122"/>
              </a:rPr>
              <a:t> </a:t>
            </a:r>
          </a:p>
          <a:p>
            <a:pPr marL="0" indent="0">
              <a:lnSpc>
                <a:spcPct val="150000"/>
              </a:lnSpc>
              <a:buNone/>
            </a:pPr>
            <a:r>
              <a:rPr lang="zh-CN" altLang="en-US" sz="3000" dirty="0">
                <a:latin typeface="华光仿宋_CNKI" panose="02000500000000000000" pitchFamily="2" charset="-122"/>
                <a:ea typeface="华光仿宋_CNKI" panose="02000500000000000000" pitchFamily="2" charset="-122"/>
              </a:rPr>
              <a:t>通过对应的句柄可以访问公共的成员函数以及变量。相关规则符合</a:t>
            </a:r>
            <a:r>
              <a:rPr lang="en-US" altLang="zh-CN" sz="3000" dirty="0">
                <a:latin typeface="华光仿宋_CNKI" panose="02000500000000000000" pitchFamily="2" charset="-122"/>
                <a:ea typeface="华光仿宋_CNKI" panose="02000500000000000000" pitchFamily="2" charset="-122"/>
              </a:rPr>
              <a:t>C++</a:t>
            </a:r>
            <a:r>
              <a:rPr lang="zh-CN" altLang="en-US" sz="3000" dirty="0">
                <a:latin typeface="华光仿宋_CNKI" panose="02000500000000000000" pitchFamily="2" charset="-122"/>
                <a:ea typeface="华光仿宋_CNKI" panose="02000500000000000000" pitchFamily="2" charset="-122"/>
              </a:rPr>
              <a:t>的规范。</a:t>
            </a:r>
            <a:r>
              <a:rPr lang="en-US" altLang="zh-CN" sz="3000" dirty="0">
                <a:latin typeface="华光仿宋_CNKI" panose="02000500000000000000" pitchFamily="2" charset="-122"/>
                <a:ea typeface="华光仿宋_CNKI" panose="02000500000000000000" pitchFamily="2" charset="-122"/>
              </a:rPr>
              <a:t>    </a:t>
            </a:r>
          </a:p>
        </p:txBody>
      </p:sp>
    </p:spTree>
    <p:extLst>
      <p:ext uri="{BB962C8B-B14F-4D97-AF65-F5344CB8AC3E}">
        <p14:creationId xmlns:p14="http://schemas.microsoft.com/office/powerpoint/2010/main" val="34309663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D91439E-08E0-9F0E-C4E5-6EC3D316DFA5}"/>
              </a:ext>
            </a:extLst>
          </p:cNvPr>
          <p:cNvSpPr>
            <a:spLocks noGrp="1"/>
          </p:cNvSpPr>
          <p:nvPr>
            <p:ph idx="1"/>
          </p:nvPr>
        </p:nvSpPr>
        <p:spPr>
          <a:xfrm>
            <a:off x="838200" y="938253"/>
            <a:ext cx="10515600" cy="4778735"/>
          </a:xfrm>
        </p:spPr>
        <p:txBody>
          <a:bodyPr>
            <a:normAutofit/>
          </a:bodyPr>
          <a:lstStyle/>
          <a:p>
            <a:pPr marL="0" indent="0">
              <a:lnSpc>
                <a:spcPct val="150000"/>
              </a:lnSpc>
              <a:buNone/>
            </a:pPr>
            <a:r>
              <a:rPr lang="en-US" altLang="zh-CN" sz="3600" dirty="0">
                <a:latin typeface="华光标题宋_CNKI" panose="02000500000000000000" pitchFamily="2" charset="-122"/>
                <a:ea typeface="华光标题宋_CNKI" panose="02000500000000000000" pitchFamily="2" charset="-122"/>
              </a:rPr>
              <a:t> 3.  Windows GDI</a:t>
            </a:r>
            <a:r>
              <a:rPr lang="zh-CN" altLang="en-US" sz="3600" dirty="0">
                <a:latin typeface="华光标题宋_CNKI" panose="02000500000000000000" pitchFamily="2" charset="-122"/>
                <a:ea typeface="华光标题宋_CNKI" panose="02000500000000000000" pitchFamily="2" charset="-122"/>
              </a:rPr>
              <a:t>编程</a:t>
            </a:r>
            <a:endParaRPr lang="en-US" altLang="zh-CN" sz="3600" dirty="0">
              <a:latin typeface="华光标题宋_CNKI" panose="02000500000000000000" pitchFamily="2" charset="-122"/>
              <a:ea typeface="华光标题宋_CNKI" panose="02000500000000000000" pitchFamily="2" charset="-122"/>
            </a:endParaRPr>
          </a:p>
          <a:p>
            <a:pPr marL="0" indent="0">
              <a:lnSpc>
                <a:spcPct val="150000"/>
              </a:lnSpc>
              <a:buNone/>
            </a:pPr>
            <a:r>
              <a:rPr lang="en-US" altLang="zh-CN" sz="3600" dirty="0">
                <a:latin typeface="华光标题宋_CNKI" panose="02000500000000000000" pitchFamily="2" charset="-122"/>
                <a:ea typeface="华光标题宋_CNKI" panose="02000500000000000000" pitchFamily="2" charset="-122"/>
              </a:rPr>
              <a:t>     </a:t>
            </a:r>
            <a:r>
              <a:rPr lang="en-US" altLang="zh-CN" sz="3000" dirty="0">
                <a:latin typeface="华光仿宋_CNKI" panose="02000500000000000000" pitchFamily="2" charset="-122"/>
                <a:ea typeface="华光仿宋_CNKI" panose="02000500000000000000" pitchFamily="2" charset="-122"/>
              </a:rPr>
              <a:t>Windows GDI</a:t>
            </a:r>
            <a:r>
              <a:rPr lang="zh-CN" altLang="en-US" sz="3000" dirty="0">
                <a:latin typeface="华光仿宋_CNKI" panose="02000500000000000000" pitchFamily="2" charset="-122"/>
                <a:ea typeface="华光仿宋_CNKI" panose="02000500000000000000" pitchFamily="2" charset="-122"/>
              </a:rPr>
              <a:t>是</a:t>
            </a:r>
            <a:r>
              <a:rPr lang="en-US" altLang="zh-CN" sz="3000" dirty="0">
                <a:latin typeface="华光仿宋_CNKI" panose="02000500000000000000" pitchFamily="2" charset="-122"/>
                <a:ea typeface="华光仿宋_CNKI" panose="02000500000000000000" pitchFamily="2" charset="-122"/>
              </a:rPr>
              <a:t>Windows</a:t>
            </a:r>
            <a:r>
              <a:rPr lang="zh-CN" altLang="en-US" sz="3000" dirty="0">
                <a:latin typeface="华光仿宋_CNKI" panose="02000500000000000000" pitchFamily="2" charset="-122"/>
                <a:ea typeface="华光仿宋_CNKI" panose="02000500000000000000" pitchFamily="2" charset="-122"/>
              </a:rPr>
              <a:t>提供的</a:t>
            </a:r>
            <a:r>
              <a:rPr lang="zh-CN" altLang="en-US" sz="3000" b="1" dirty="0">
                <a:latin typeface="黑体" panose="02010609060101010101" pitchFamily="49" charset="-122"/>
                <a:ea typeface="黑体" panose="02010609060101010101" pitchFamily="49" charset="-122"/>
              </a:rPr>
              <a:t>图形设备接口</a:t>
            </a:r>
            <a:r>
              <a:rPr lang="zh-CN" altLang="en-US" sz="3000" dirty="0">
                <a:latin typeface="华光仿宋_CNKI" panose="02000500000000000000" pitchFamily="2" charset="-122"/>
                <a:ea typeface="华光仿宋_CNKI" panose="02000500000000000000" pitchFamily="2" charset="-122"/>
              </a:rPr>
              <a:t>，其目的是屏蔽底层图形操作，使应用程序能够在视频显示器和打印机上使用图形和格式化文本。 基于 </a:t>
            </a:r>
            <a:r>
              <a:rPr lang="en-US" altLang="zh-CN" sz="3000" dirty="0">
                <a:latin typeface="华光仿宋_CNKI" panose="02000500000000000000" pitchFamily="2" charset="-122"/>
                <a:ea typeface="华光仿宋_CNKI" panose="02000500000000000000" pitchFamily="2" charset="-122"/>
              </a:rPr>
              <a:t>Windows </a:t>
            </a:r>
            <a:r>
              <a:rPr lang="zh-CN" altLang="en-US" sz="3000" dirty="0">
                <a:latin typeface="华光仿宋_CNKI" panose="02000500000000000000" pitchFamily="2" charset="-122"/>
                <a:ea typeface="华光仿宋_CNKI" panose="02000500000000000000" pitchFamily="2" charset="-122"/>
              </a:rPr>
              <a:t>的应用程序可以不直接访问图形硬件，而是通过</a:t>
            </a:r>
            <a:r>
              <a:rPr lang="en-US" altLang="zh-CN" sz="3000" dirty="0">
                <a:latin typeface="华光仿宋_CNKI" panose="02000500000000000000" pitchFamily="2" charset="-122"/>
                <a:ea typeface="华光仿宋_CNKI" panose="02000500000000000000" pitchFamily="2" charset="-122"/>
              </a:rPr>
              <a:t>GDI </a:t>
            </a:r>
            <a:r>
              <a:rPr lang="zh-CN" altLang="en-US" sz="3000" dirty="0">
                <a:latin typeface="华光仿宋_CNKI" panose="02000500000000000000" pitchFamily="2" charset="-122"/>
                <a:ea typeface="华光仿宋_CNKI" panose="02000500000000000000" pitchFamily="2" charset="-122"/>
              </a:rPr>
              <a:t>代表应用程序与设备驱动程序完成交互。</a:t>
            </a:r>
            <a:r>
              <a:rPr lang="en-US" altLang="zh-CN" sz="3000" dirty="0">
                <a:latin typeface="华光仿宋_CNKI" panose="02000500000000000000" pitchFamily="2" charset="-122"/>
                <a:ea typeface="华光仿宋_CNKI" panose="02000500000000000000" pitchFamily="2" charset="-122"/>
              </a:rPr>
              <a:t> </a:t>
            </a:r>
          </a:p>
        </p:txBody>
      </p:sp>
    </p:spTree>
    <p:extLst>
      <p:ext uri="{BB962C8B-B14F-4D97-AF65-F5344CB8AC3E}">
        <p14:creationId xmlns:p14="http://schemas.microsoft.com/office/powerpoint/2010/main" val="35074692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D91439E-08E0-9F0E-C4E5-6EC3D316DFA5}"/>
              </a:ext>
            </a:extLst>
          </p:cNvPr>
          <p:cNvSpPr>
            <a:spLocks noGrp="1"/>
          </p:cNvSpPr>
          <p:nvPr>
            <p:ph idx="1"/>
          </p:nvPr>
        </p:nvSpPr>
        <p:spPr>
          <a:xfrm>
            <a:off x="559904" y="818984"/>
            <a:ext cx="10905877" cy="5367131"/>
          </a:xfrm>
        </p:spPr>
        <p:txBody>
          <a:bodyPr vert="horz" lIns="91440" tIns="45720" rIns="91440" bIns="45720" rtlCol="0">
            <a:normAutofit/>
          </a:bodyPr>
          <a:lstStyle/>
          <a:p>
            <a:pPr marL="0" indent="0">
              <a:lnSpc>
                <a:spcPct val="150000"/>
              </a:lnSpc>
              <a:buNone/>
            </a:pPr>
            <a:r>
              <a:rPr lang="zh-CN" altLang="en-US" sz="3000" dirty="0">
                <a:latin typeface="华光仿宋_CNKI" panose="02000500000000000000" pitchFamily="2" charset="-122"/>
                <a:ea typeface="华光仿宋_CNKI" panose="02000500000000000000" pitchFamily="2" charset="-122"/>
              </a:rPr>
              <a:t>   （</a:t>
            </a:r>
            <a:r>
              <a:rPr lang="en-US" altLang="zh-CN" sz="3000" dirty="0">
                <a:latin typeface="华光仿宋_CNKI" panose="02000500000000000000" pitchFamily="2" charset="-122"/>
                <a:ea typeface="华光仿宋_CNKI" panose="02000500000000000000" pitchFamily="2" charset="-122"/>
              </a:rPr>
              <a:t>1</a:t>
            </a:r>
            <a:r>
              <a:rPr lang="zh-CN" altLang="en-US" sz="3000" dirty="0">
                <a:latin typeface="华光仿宋_CNKI" panose="02000500000000000000" pitchFamily="2" charset="-122"/>
                <a:ea typeface="华光仿宋_CNKI" panose="02000500000000000000" pitchFamily="2" charset="-122"/>
              </a:rPr>
              <a:t>）图形绘制一般在</a:t>
            </a:r>
            <a:r>
              <a:rPr lang="en-US" altLang="zh-CN" sz="3000" dirty="0" err="1">
                <a:latin typeface="华光仿宋_CNKI" panose="02000500000000000000" pitchFamily="2" charset="-122"/>
                <a:ea typeface="华光仿宋_CNKI" panose="02000500000000000000" pitchFamily="2" charset="-122"/>
              </a:rPr>
              <a:t>CView</a:t>
            </a:r>
            <a:r>
              <a:rPr lang="zh-CN" altLang="en-US" sz="3000" dirty="0">
                <a:latin typeface="华光仿宋_CNKI" panose="02000500000000000000" pitchFamily="2" charset="-122"/>
                <a:ea typeface="华光仿宋_CNKI" panose="02000500000000000000" pitchFamily="2" charset="-122"/>
              </a:rPr>
              <a:t>派生类</a:t>
            </a:r>
            <a:r>
              <a:rPr lang="en-US" altLang="zh-CN" sz="3000" dirty="0" err="1">
                <a:latin typeface="华光仿宋_CNKI" panose="02000500000000000000" pitchFamily="2" charset="-122"/>
                <a:ea typeface="华光仿宋_CNKI" panose="02000500000000000000" pitchFamily="2" charset="-122"/>
              </a:rPr>
              <a:t>OnDraw</a:t>
            </a:r>
            <a:r>
              <a:rPr lang="zh-CN" altLang="en-US" sz="3000" dirty="0">
                <a:latin typeface="华光仿宋_CNKI" panose="02000500000000000000" pitchFamily="2" charset="-122"/>
                <a:ea typeface="华光仿宋_CNKI" panose="02000500000000000000" pitchFamily="2" charset="-122"/>
              </a:rPr>
              <a:t>消息函数中调用相关函数实现。</a:t>
            </a:r>
            <a:endParaRPr lang="en-US" altLang="zh-CN" sz="30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sz="3000" dirty="0">
                <a:latin typeface="华光仿宋_CNKI" panose="02000500000000000000" pitchFamily="2" charset="-122"/>
                <a:ea typeface="华光仿宋_CNKI" panose="02000500000000000000" pitchFamily="2" charset="-122"/>
              </a:rPr>
              <a:t>   </a:t>
            </a:r>
            <a:r>
              <a:rPr lang="zh-CN" altLang="en-US" sz="3000" dirty="0">
                <a:latin typeface="华光仿宋_CNKI" panose="02000500000000000000" pitchFamily="2" charset="-122"/>
                <a:ea typeface="华光仿宋_CNKI" panose="02000500000000000000" pitchFamily="2" charset="-122"/>
              </a:rPr>
              <a:t>（</a:t>
            </a:r>
            <a:r>
              <a:rPr lang="en-US" altLang="zh-CN" sz="3000" dirty="0">
                <a:latin typeface="华光仿宋_CNKI" panose="02000500000000000000" pitchFamily="2" charset="-122"/>
                <a:ea typeface="华光仿宋_CNKI" panose="02000500000000000000" pitchFamily="2" charset="-122"/>
              </a:rPr>
              <a:t>2</a:t>
            </a:r>
            <a:r>
              <a:rPr lang="zh-CN" altLang="en-US" sz="3000" dirty="0">
                <a:latin typeface="华光仿宋_CNKI" panose="02000500000000000000" pitchFamily="2" charset="-122"/>
                <a:ea typeface="华光仿宋_CNKI" panose="02000500000000000000" pitchFamily="2" charset="-122"/>
              </a:rPr>
              <a:t>）</a:t>
            </a:r>
            <a:r>
              <a:rPr lang="en-US" altLang="zh-CN" sz="3000" dirty="0">
                <a:latin typeface="华光仿宋_CNKI" panose="02000500000000000000" pitchFamily="2" charset="-122"/>
                <a:ea typeface="华光仿宋_CNKI" panose="02000500000000000000" pitchFamily="2" charset="-122"/>
              </a:rPr>
              <a:t> Windows</a:t>
            </a:r>
            <a:r>
              <a:rPr lang="zh-CN" altLang="en-US" sz="3000" dirty="0">
                <a:latin typeface="华光仿宋_CNKI" panose="02000500000000000000" pitchFamily="2" charset="-122"/>
                <a:ea typeface="华光仿宋_CNKI" panose="02000500000000000000" pitchFamily="2" charset="-122"/>
              </a:rPr>
              <a:t>通过</a:t>
            </a:r>
            <a:r>
              <a:rPr lang="en-US" altLang="zh-CN" sz="3000" dirty="0">
                <a:latin typeface="华光仿宋_CNKI" panose="02000500000000000000" pitchFamily="2" charset="-122"/>
                <a:ea typeface="华光仿宋_CNKI" panose="02000500000000000000" pitchFamily="2" charset="-122"/>
              </a:rPr>
              <a:t>CDC</a:t>
            </a:r>
            <a:r>
              <a:rPr lang="zh-CN" altLang="en-US" sz="3000" dirty="0">
                <a:latin typeface="华光仿宋_CNKI" panose="02000500000000000000" pitchFamily="2" charset="-122"/>
                <a:ea typeface="华光仿宋_CNKI" panose="02000500000000000000" pitchFamily="2" charset="-122"/>
              </a:rPr>
              <a:t>类及成员函数实现对基本图形的绘制、文本及图像的显示。基本图形包括点、直线、多义线、矩形、圆、椭圆等；文本包括相关字体属性的设置及文本的绘制；图像包括图像的缩放以及显示。</a:t>
            </a:r>
            <a:endParaRPr lang="en-US" altLang="zh-CN" sz="3000" dirty="0">
              <a:latin typeface="华光仿宋_CNKI" panose="02000500000000000000" pitchFamily="2" charset="-122"/>
              <a:ea typeface="华光仿宋_CNKI" panose="02000500000000000000" pitchFamily="2" charset="-122"/>
            </a:endParaRPr>
          </a:p>
        </p:txBody>
      </p:sp>
    </p:spTree>
    <p:extLst>
      <p:ext uri="{BB962C8B-B14F-4D97-AF65-F5344CB8AC3E}">
        <p14:creationId xmlns:p14="http://schemas.microsoft.com/office/powerpoint/2010/main" val="13350398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D91439E-08E0-9F0E-C4E5-6EC3D316DFA5}"/>
              </a:ext>
            </a:extLst>
          </p:cNvPr>
          <p:cNvSpPr>
            <a:spLocks noGrp="1"/>
          </p:cNvSpPr>
          <p:nvPr>
            <p:ph idx="1"/>
          </p:nvPr>
        </p:nvSpPr>
        <p:spPr>
          <a:xfrm>
            <a:off x="559904" y="469128"/>
            <a:ext cx="10905877" cy="6011186"/>
          </a:xfrm>
        </p:spPr>
        <p:txBody>
          <a:bodyPr vert="horz" lIns="91440" tIns="45720" rIns="91440" bIns="45720" rtlCol="0">
            <a:normAutofit/>
          </a:bodyPr>
          <a:lstStyle/>
          <a:p>
            <a:pPr marL="0" indent="0">
              <a:lnSpc>
                <a:spcPct val="150000"/>
              </a:lnSpc>
              <a:buNone/>
            </a:pPr>
            <a:r>
              <a:rPr lang="en-US" altLang="zh-CN" sz="3600" dirty="0">
                <a:latin typeface="华光标题宋_CNKI" panose="02000500000000000000" pitchFamily="2" charset="-122"/>
                <a:ea typeface="华光标题宋_CNKI" panose="02000500000000000000" pitchFamily="2" charset="-122"/>
              </a:rPr>
              <a:t>3.1  </a:t>
            </a:r>
            <a:r>
              <a:rPr lang="zh-CN" altLang="en-US" sz="3600" dirty="0">
                <a:latin typeface="华光标题宋_CNKI" panose="02000500000000000000" pitchFamily="2" charset="-122"/>
                <a:ea typeface="华光标题宋_CNKI" panose="02000500000000000000" pitchFamily="2" charset="-122"/>
              </a:rPr>
              <a:t>点的绘制</a:t>
            </a:r>
            <a:endParaRPr lang="en-US" altLang="zh-CN" sz="3600" dirty="0">
              <a:latin typeface="华光标题宋_CNKI" panose="02000500000000000000" pitchFamily="2" charset="-122"/>
              <a:ea typeface="华光标题宋_CNKI" panose="02000500000000000000" pitchFamily="2" charset="-122"/>
            </a:endParaRPr>
          </a:p>
          <a:p>
            <a:pPr marL="0" indent="0">
              <a:lnSpc>
                <a:spcPct val="150000"/>
              </a:lnSpc>
              <a:buNone/>
            </a:pPr>
            <a:r>
              <a:rPr lang="en-US" altLang="zh-CN" sz="3000" dirty="0">
                <a:latin typeface="华光仿宋_CNKI" panose="02000500000000000000" pitchFamily="2" charset="-122"/>
                <a:ea typeface="华光仿宋_CNKI" panose="02000500000000000000" pitchFamily="2" charset="-122"/>
              </a:rPr>
              <a:t>    CDC</a:t>
            </a:r>
            <a:r>
              <a:rPr lang="zh-CN" altLang="en-US" sz="3000" dirty="0">
                <a:latin typeface="华光仿宋_CNKI" panose="02000500000000000000" pitchFamily="2" charset="-122"/>
                <a:ea typeface="华光仿宋_CNKI" panose="02000500000000000000" pitchFamily="2" charset="-122"/>
              </a:rPr>
              <a:t>通过</a:t>
            </a:r>
            <a:r>
              <a:rPr lang="en-US" altLang="zh-CN" sz="3000" dirty="0" err="1">
                <a:latin typeface="华光仿宋_CNKI" panose="02000500000000000000" pitchFamily="2" charset="-122"/>
                <a:ea typeface="华光仿宋_CNKI" panose="02000500000000000000" pitchFamily="2" charset="-122"/>
              </a:rPr>
              <a:t>SetPixel</a:t>
            </a:r>
            <a:r>
              <a:rPr lang="zh-CN" altLang="en-US" sz="3000" dirty="0">
                <a:latin typeface="华光仿宋_CNKI" panose="02000500000000000000" pitchFamily="2" charset="-122"/>
                <a:ea typeface="华光仿宋_CNKI" panose="02000500000000000000" pitchFamily="2" charset="-122"/>
              </a:rPr>
              <a:t>函数实现点的绘制，其主要参数包括点的位置坐标以及颜色。函数形式如下：</a:t>
            </a:r>
            <a:endParaRPr lang="en-US" altLang="zh-CN" sz="3000" dirty="0">
              <a:latin typeface="华光仿宋_CNKI" panose="02000500000000000000" pitchFamily="2" charset="-122"/>
              <a:ea typeface="华光仿宋_CNKI" panose="02000500000000000000" pitchFamily="2" charset="-122"/>
            </a:endParaRPr>
          </a:p>
          <a:p>
            <a:pPr marL="0" indent="0">
              <a:lnSpc>
                <a:spcPct val="150000"/>
              </a:lnSpc>
              <a:buNone/>
            </a:pPr>
            <a:r>
              <a:rPr lang="en-US" altLang="zh-CN" dirty="0">
                <a:latin typeface="华光仿宋_CNKI" panose="02000500000000000000" pitchFamily="2" charset="-122"/>
                <a:ea typeface="华光仿宋_CNKI" panose="02000500000000000000" pitchFamily="2" charset="-122"/>
              </a:rPr>
              <a:t>    </a:t>
            </a:r>
            <a:r>
              <a:rPr lang="en-US" altLang="zh-CN" b="0" i="0" dirty="0">
                <a:solidFill>
                  <a:srgbClr val="161616"/>
                </a:solidFill>
                <a:effectLst/>
                <a:latin typeface="SFMono-Regular"/>
              </a:rPr>
              <a:t>COLORREF </a:t>
            </a:r>
            <a:r>
              <a:rPr lang="en-US" altLang="zh-CN" b="0" i="0" dirty="0" err="1">
                <a:solidFill>
                  <a:srgbClr val="161616"/>
                </a:solidFill>
                <a:effectLst/>
                <a:latin typeface="SFMono-Regular"/>
              </a:rPr>
              <a:t>SetPixel</a:t>
            </a:r>
            <a:r>
              <a:rPr lang="en-US" altLang="zh-CN" b="0" i="0" dirty="0">
                <a:solidFill>
                  <a:srgbClr val="161616"/>
                </a:solidFill>
                <a:effectLst/>
                <a:latin typeface="SFMono-Regular"/>
              </a:rPr>
              <a:t>( int x, int y, COLORREF </a:t>
            </a:r>
            <a:r>
              <a:rPr lang="en-US" altLang="zh-CN" b="0" i="0" dirty="0" err="1">
                <a:solidFill>
                  <a:srgbClr val="161616"/>
                </a:solidFill>
                <a:effectLst/>
                <a:latin typeface="SFMono-Regular"/>
              </a:rPr>
              <a:t>crColor</a:t>
            </a:r>
            <a:r>
              <a:rPr lang="en-US" altLang="zh-CN" b="0" i="0" dirty="0">
                <a:solidFill>
                  <a:srgbClr val="161616"/>
                </a:solidFill>
                <a:effectLst/>
                <a:latin typeface="SFMono-Regular"/>
              </a:rPr>
              <a:t>);</a:t>
            </a:r>
          </a:p>
          <a:p>
            <a:pPr marL="0" indent="0">
              <a:lnSpc>
                <a:spcPct val="150000"/>
              </a:lnSpc>
              <a:buNone/>
            </a:pPr>
            <a:r>
              <a:rPr lang="en-US" altLang="zh-CN" sz="3000" dirty="0">
                <a:latin typeface="华光仿宋_CNKI" panose="02000500000000000000" pitchFamily="2" charset="-122"/>
                <a:ea typeface="华光仿宋_CNKI" panose="02000500000000000000" pitchFamily="2" charset="-122"/>
              </a:rPr>
              <a:t>    </a:t>
            </a:r>
            <a:r>
              <a:rPr lang="zh-CN" altLang="en-US" sz="3000" dirty="0">
                <a:latin typeface="华光仿宋_CNKI" panose="02000500000000000000" pitchFamily="2" charset="-122"/>
                <a:ea typeface="华光仿宋_CNKI" panose="02000500000000000000" pitchFamily="2" charset="-122"/>
              </a:rPr>
              <a:t>返回绘制的点的颜色，</a:t>
            </a:r>
            <a:r>
              <a:rPr lang="en-US" altLang="zh-CN" sz="3000" dirty="0" err="1">
                <a:latin typeface="华光仿宋_CNKI" panose="02000500000000000000" pitchFamily="2" charset="-122"/>
                <a:ea typeface="华光仿宋_CNKI" panose="02000500000000000000" pitchFamily="2" charset="-122"/>
              </a:rPr>
              <a:t>x,y</a:t>
            </a:r>
            <a:r>
              <a:rPr lang="zh-CN" altLang="en-US" sz="3000" dirty="0">
                <a:latin typeface="华光仿宋_CNKI" panose="02000500000000000000" pitchFamily="2" charset="-122"/>
                <a:ea typeface="华光仿宋_CNKI" panose="02000500000000000000" pitchFamily="2" charset="-122"/>
              </a:rPr>
              <a:t>为屏幕的像素坐标，左上角为（</a:t>
            </a:r>
            <a:r>
              <a:rPr lang="en-US" altLang="zh-CN" sz="3000" dirty="0">
                <a:latin typeface="华光仿宋_CNKI" panose="02000500000000000000" pitchFamily="2" charset="-122"/>
                <a:ea typeface="华光仿宋_CNKI" panose="02000500000000000000" pitchFamily="2" charset="-122"/>
              </a:rPr>
              <a:t>0,0</a:t>
            </a:r>
            <a:r>
              <a:rPr lang="zh-CN" altLang="en-US" sz="3000" dirty="0">
                <a:latin typeface="华光仿宋_CNKI" panose="02000500000000000000" pitchFamily="2" charset="-122"/>
                <a:ea typeface="华光仿宋_CNKI" panose="02000500000000000000" pitchFamily="2" charset="-122"/>
              </a:rPr>
              <a:t>），右下角为窗体的大小，以像素为单位。颜色是个</a:t>
            </a:r>
            <a:r>
              <a:rPr lang="en-US" altLang="zh-CN" sz="3000" dirty="0">
                <a:latin typeface="华光仿宋_CNKI" panose="02000500000000000000" pitchFamily="2" charset="-122"/>
                <a:ea typeface="华光仿宋_CNKI" panose="02000500000000000000" pitchFamily="2" charset="-122"/>
              </a:rPr>
              <a:t>word</a:t>
            </a:r>
            <a:r>
              <a:rPr lang="zh-CN" altLang="en-US" sz="3000" dirty="0">
                <a:latin typeface="华光仿宋_CNKI" panose="02000500000000000000" pitchFamily="2" charset="-122"/>
                <a:ea typeface="华光仿宋_CNKI" panose="02000500000000000000" pitchFamily="2" charset="-122"/>
              </a:rPr>
              <a:t>变量，以</a:t>
            </a:r>
            <a:r>
              <a:rPr lang="en-US" altLang="zh-CN" sz="3000" dirty="0">
                <a:latin typeface="华光仿宋_CNKI" panose="02000500000000000000" pitchFamily="2" charset="-122"/>
                <a:ea typeface="华光仿宋_CNKI" panose="02000500000000000000" pitchFamily="2" charset="-122"/>
              </a:rPr>
              <a:t>ABGR</a:t>
            </a:r>
            <a:r>
              <a:rPr lang="zh-CN" altLang="en-US" sz="3000" dirty="0">
                <a:latin typeface="华光仿宋_CNKI" panose="02000500000000000000" pitchFamily="2" charset="-122"/>
                <a:ea typeface="华光仿宋_CNKI" panose="02000500000000000000" pitchFamily="2" charset="-122"/>
              </a:rPr>
              <a:t>形式描述，每一个占</a:t>
            </a:r>
            <a:r>
              <a:rPr lang="en-US" altLang="zh-CN" sz="3000" dirty="0">
                <a:latin typeface="华光仿宋_CNKI" panose="02000500000000000000" pitchFamily="2" charset="-122"/>
                <a:ea typeface="华光仿宋_CNKI" panose="02000500000000000000" pitchFamily="2" charset="-122"/>
              </a:rPr>
              <a:t>8bits</a:t>
            </a:r>
            <a:r>
              <a:rPr lang="zh-CN" altLang="en-US" sz="3000" dirty="0">
                <a:latin typeface="华光仿宋_CNKI" panose="02000500000000000000" pitchFamily="2" charset="-122"/>
                <a:ea typeface="华光仿宋_CNKI" panose="02000500000000000000" pitchFamily="2" charset="-122"/>
              </a:rPr>
              <a:t>，可以以</a:t>
            </a:r>
            <a:r>
              <a:rPr lang="en-US" altLang="zh-CN" sz="3000" dirty="0">
                <a:latin typeface="华光仿宋_CNKI" panose="02000500000000000000" pitchFamily="2" charset="-122"/>
                <a:ea typeface="华光仿宋_CNKI" panose="02000500000000000000" pitchFamily="2" charset="-122"/>
              </a:rPr>
              <a:t>16</a:t>
            </a:r>
            <a:r>
              <a:rPr lang="zh-CN" altLang="en-US" sz="3000" dirty="0">
                <a:latin typeface="华光仿宋_CNKI" panose="02000500000000000000" pitchFamily="2" charset="-122"/>
                <a:ea typeface="华光仿宋_CNKI" panose="02000500000000000000" pitchFamily="2" charset="-122"/>
              </a:rPr>
              <a:t>位二进制数表示为</a:t>
            </a:r>
            <a:r>
              <a:rPr lang="en-US" altLang="zh-CN" sz="3000" dirty="0">
                <a:latin typeface="华光仿宋_CNKI" panose="02000500000000000000" pitchFamily="2" charset="-122"/>
                <a:ea typeface="华光仿宋_CNKI" panose="02000500000000000000" pitchFamily="2" charset="-122"/>
              </a:rPr>
              <a:t>0Xaabbggrr</a:t>
            </a:r>
            <a:r>
              <a:rPr lang="zh-CN" altLang="en-US" sz="3000" dirty="0">
                <a:latin typeface="华光仿宋_CNKI" panose="02000500000000000000" pitchFamily="2" charset="-122"/>
                <a:ea typeface="华光仿宋_CNKI" panose="02000500000000000000" pitchFamily="2" charset="-122"/>
              </a:rPr>
              <a:t>的形式。</a:t>
            </a:r>
            <a:r>
              <a:rPr lang="en-US" altLang="zh-CN" sz="3000" dirty="0">
                <a:latin typeface="华光仿宋_CNKI" panose="02000500000000000000" pitchFamily="2" charset="-122"/>
                <a:ea typeface="华光仿宋_CNKI" panose="02000500000000000000" pitchFamily="2" charset="-122"/>
              </a:rPr>
              <a:t>      </a:t>
            </a:r>
          </a:p>
        </p:txBody>
      </p:sp>
    </p:spTree>
    <p:extLst>
      <p:ext uri="{BB962C8B-B14F-4D97-AF65-F5344CB8AC3E}">
        <p14:creationId xmlns:p14="http://schemas.microsoft.com/office/powerpoint/2010/main" val="29869497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D91439E-08E0-9F0E-C4E5-6EC3D316DFA5}"/>
              </a:ext>
            </a:extLst>
          </p:cNvPr>
          <p:cNvSpPr>
            <a:spLocks noGrp="1"/>
          </p:cNvSpPr>
          <p:nvPr>
            <p:ph idx="1"/>
          </p:nvPr>
        </p:nvSpPr>
        <p:spPr>
          <a:xfrm>
            <a:off x="325009" y="469128"/>
            <a:ext cx="11541981" cy="5645426"/>
          </a:xfrm>
        </p:spPr>
        <p:txBody>
          <a:bodyPr vert="horz" lIns="91440" tIns="45720" rIns="91440" bIns="45720" rtlCol="0">
            <a:normAutofit/>
          </a:bodyPr>
          <a:lstStyle/>
          <a:p>
            <a:pPr marL="0" indent="0">
              <a:lnSpc>
                <a:spcPct val="150000"/>
              </a:lnSpc>
              <a:buNone/>
            </a:pPr>
            <a:r>
              <a:rPr lang="en-US" altLang="zh-CN" sz="3200" dirty="0">
                <a:latin typeface="华光标题宋_CNKI" panose="02000500000000000000" pitchFamily="2" charset="-122"/>
                <a:ea typeface="华光标题宋_CNKI" panose="02000500000000000000" pitchFamily="2" charset="-122"/>
              </a:rPr>
              <a:t>3.2 </a:t>
            </a:r>
            <a:r>
              <a:rPr lang="zh-CN" altLang="en-US" sz="3200" dirty="0">
                <a:latin typeface="华光标题宋_CNKI" panose="02000500000000000000" pitchFamily="2" charset="-122"/>
                <a:ea typeface="华光标题宋_CNKI" panose="02000500000000000000" pitchFamily="2" charset="-122"/>
              </a:rPr>
              <a:t>直线的绘制</a:t>
            </a:r>
            <a:endParaRPr lang="en-US" altLang="zh-CN" sz="3200" dirty="0">
              <a:latin typeface="华光标题宋_CNKI" panose="02000500000000000000" pitchFamily="2" charset="-122"/>
              <a:ea typeface="华光标题宋_CNKI" panose="02000500000000000000" pitchFamily="2" charset="-122"/>
            </a:endParaRPr>
          </a:p>
          <a:p>
            <a:pPr marL="0" indent="0">
              <a:lnSpc>
                <a:spcPct val="150000"/>
              </a:lnSpc>
              <a:buNone/>
            </a:pPr>
            <a:r>
              <a:rPr lang="en-US" altLang="zh-CN" sz="3000" dirty="0">
                <a:latin typeface="华光仿宋_CNKI" panose="02000500000000000000" pitchFamily="2" charset="-122"/>
                <a:ea typeface="华光仿宋_CNKI" panose="02000500000000000000" pitchFamily="2" charset="-122"/>
              </a:rPr>
              <a:t>    CDC</a:t>
            </a:r>
            <a:r>
              <a:rPr lang="zh-CN" altLang="en-US" sz="3000" dirty="0">
                <a:latin typeface="华光仿宋_CNKI" panose="02000500000000000000" pitchFamily="2" charset="-122"/>
                <a:ea typeface="华光仿宋_CNKI" panose="02000500000000000000" pitchFamily="2" charset="-122"/>
              </a:rPr>
              <a:t>在绘制直线时，先通过</a:t>
            </a:r>
            <a:r>
              <a:rPr lang="en-US" altLang="zh-CN" sz="3000" dirty="0" err="1">
                <a:latin typeface="华光仿宋_CNKI" panose="02000500000000000000" pitchFamily="2" charset="-122"/>
                <a:ea typeface="华光仿宋_CNKI" panose="02000500000000000000" pitchFamily="2" charset="-122"/>
              </a:rPr>
              <a:t>CPen</a:t>
            </a:r>
            <a:r>
              <a:rPr lang="zh-CN" altLang="en-US" sz="3000" dirty="0">
                <a:latin typeface="华光仿宋_CNKI" panose="02000500000000000000" pitchFamily="2" charset="-122"/>
                <a:ea typeface="华光仿宋_CNKI" panose="02000500000000000000" pitchFamily="2" charset="-122"/>
              </a:rPr>
              <a:t>类成员函数创建画笔，设置画笔的颜色，类型以及宽度，然后通过</a:t>
            </a:r>
            <a:r>
              <a:rPr lang="en-US" altLang="zh-CN" sz="3000" dirty="0">
                <a:latin typeface="华光仿宋_CNKI" panose="02000500000000000000" pitchFamily="2" charset="-122"/>
                <a:ea typeface="华光仿宋_CNKI" panose="02000500000000000000" pitchFamily="2" charset="-122"/>
              </a:rPr>
              <a:t>CDC</a:t>
            </a:r>
            <a:r>
              <a:rPr lang="zh-CN" altLang="en-US" sz="3000" dirty="0">
                <a:latin typeface="华光仿宋_CNKI" panose="02000500000000000000" pitchFamily="2" charset="-122"/>
                <a:ea typeface="华光仿宋_CNKI" panose="02000500000000000000" pitchFamily="2" charset="-122"/>
              </a:rPr>
              <a:t>的</a:t>
            </a:r>
            <a:r>
              <a:rPr lang="en-US" altLang="zh-CN" sz="3000" dirty="0" err="1">
                <a:latin typeface="华光仿宋_CNKI" panose="02000500000000000000" pitchFamily="2" charset="-122"/>
                <a:ea typeface="华光仿宋_CNKI" panose="02000500000000000000" pitchFamily="2" charset="-122"/>
              </a:rPr>
              <a:t>SelectObject</a:t>
            </a:r>
            <a:r>
              <a:rPr lang="zh-CN" altLang="en-US" sz="3000" dirty="0">
                <a:latin typeface="华光仿宋_CNKI" panose="02000500000000000000" pitchFamily="2" charset="-122"/>
                <a:ea typeface="华光仿宋_CNKI" panose="02000500000000000000" pitchFamily="2" charset="-122"/>
              </a:rPr>
              <a:t>选择创建的画笔，调用</a:t>
            </a:r>
            <a:r>
              <a:rPr lang="en-US" altLang="zh-CN" sz="3000" dirty="0">
                <a:latin typeface="华光仿宋_CNKI" panose="02000500000000000000" pitchFamily="2" charset="-122"/>
                <a:ea typeface="华光仿宋_CNKI" panose="02000500000000000000" pitchFamily="2" charset="-122"/>
              </a:rPr>
              <a:t>CDC</a:t>
            </a:r>
            <a:r>
              <a:rPr lang="zh-CN" altLang="en-US" sz="3000" dirty="0">
                <a:latin typeface="华光仿宋_CNKI" panose="02000500000000000000" pitchFamily="2" charset="-122"/>
                <a:ea typeface="华光仿宋_CNKI" panose="02000500000000000000" pitchFamily="2" charset="-122"/>
              </a:rPr>
              <a:t>的</a:t>
            </a:r>
            <a:r>
              <a:rPr lang="en-US" altLang="zh-CN" sz="3000" dirty="0" err="1">
                <a:latin typeface="华光仿宋_CNKI" panose="02000500000000000000" pitchFamily="2" charset="-122"/>
                <a:ea typeface="华光仿宋_CNKI" panose="02000500000000000000" pitchFamily="2" charset="-122"/>
              </a:rPr>
              <a:t>MoveTo</a:t>
            </a:r>
            <a:r>
              <a:rPr lang="zh-CN" altLang="en-US" sz="3000" dirty="0">
                <a:latin typeface="华光仿宋_CNKI" panose="02000500000000000000" pitchFamily="2" charset="-122"/>
                <a:ea typeface="华光仿宋_CNKI" panose="02000500000000000000" pitchFamily="2" charset="-122"/>
              </a:rPr>
              <a:t>将画笔移动到对应的位置，最后通过</a:t>
            </a:r>
            <a:r>
              <a:rPr lang="en-US" altLang="zh-CN" sz="3000" dirty="0" err="1">
                <a:latin typeface="华光仿宋_CNKI" panose="02000500000000000000" pitchFamily="2" charset="-122"/>
                <a:ea typeface="华光仿宋_CNKI" panose="02000500000000000000" pitchFamily="2" charset="-122"/>
              </a:rPr>
              <a:t>LineTo</a:t>
            </a:r>
            <a:r>
              <a:rPr lang="zh-CN" altLang="en-US" sz="3000" dirty="0">
                <a:latin typeface="华光仿宋_CNKI" panose="02000500000000000000" pitchFamily="2" charset="-122"/>
                <a:ea typeface="华光仿宋_CNKI" panose="02000500000000000000" pitchFamily="2" charset="-122"/>
              </a:rPr>
              <a:t>绘制出对应的直线。</a:t>
            </a:r>
            <a:endParaRPr lang="en-US" altLang="zh-CN" sz="3000" dirty="0">
              <a:latin typeface="华光仿宋_CNKI" panose="02000500000000000000" pitchFamily="2" charset="-122"/>
              <a:ea typeface="华光仿宋_CNKI" panose="02000500000000000000" pitchFamily="2" charset="-122"/>
            </a:endParaRPr>
          </a:p>
          <a:p>
            <a:pPr marL="457200" lvl="1" indent="171450">
              <a:buNone/>
            </a:pPr>
            <a:r>
              <a:rPr lang="en-US" altLang="zh-CN" sz="2000" dirty="0" err="1">
                <a:solidFill>
                  <a:srgbClr val="2B91AF"/>
                </a:solidFill>
                <a:latin typeface="新宋体" panose="02010609030101010101" pitchFamily="49" charset="-122"/>
                <a:ea typeface="新宋体" panose="02010609030101010101" pitchFamily="49" charset="-122"/>
              </a:rPr>
              <a:t>CPen</a:t>
            </a:r>
            <a:r>
              <a:rPr lang="en-US" altLang="zh-CN" sz="2000" dirty="0">
                <a:solidFill>
                  <a:srgbClr val="000000"/>
                </a:solidFill>
                <a:latin typeface="新宋体" panose="02010609030101010101" pitchFamily="49" charset="-122"/>
                <a:ea typeface="新宋体" panose="02010609030101010101" pitchFamily="49" charset="-122"/>
              </a:rPr>
              <a:t> </a:t>
            </a:r>
            <a:r>
              <a:rPr lang="en-US" altLang="zh-CN" sz="2000" dirty="0" err="1">
                <a:solidFill>
                  <a:srgbClr val="000000"/>
                </a:solidFill>
                <a:latin typeface="新宋体" panose="02010609030101010101" pitchFamily="49" charset="-122"/>
                <a:ea typeface="新宋体" panose="02010609030101010101" pitchFamily="49" charset="-122"/>
              </a:rPr>
              <a:t>NewPen</a:t>
            </a:r>
            <a:r>
              <a:rPr lang="en-US" altLang="zh-CN" sz="2000" dirty="0">
                <a:solidFill>
                  <a:srgbClr val="000000"/>
                </a:solidFill>
                <a:latin typeface="新宋体" panose="02010609030101010101" pitchFamily="49" charset="-122"/>
                <a:ea typeface="新宋体" panose="02010609030101010101" pitchFamily="49" charset="-122"/>
              </a:rPr>
              <a:t>;</a:t>
            </a:r>
          </a:p>
          <a:p>
            <a:pPr marL="457200" lvl="1" indent="171450">
              <a:buNone/>
            </a:pPr>
            <a:r>
              <a:rPr lang="en-US" altLang="zh-CN" sz="2000" dirty="0" err="1">
                <a:solidFill>
                  <a:srgbClr val="000000"/>
                </a:solidFill>
                <a:latin typeface="新宋体" panose="02010609030101010101" pitchFamily="49" charset="-122"/>
                <a:ea typeface="新宋体" panose="02010609030101010101" pitchFamily="49" charset="-122"/>
              </a:rPr>
              <a:t>NewPen.CreatePen</a:t>
            </a:r>
            <a:r>
              <a:rPr lang="en-US" altLang="zh-CN" sz="2000" dirty="0">
                <a:solidFill>
                  <a:srgbClr val="000000"/>
                </a:solidFill>
                <a:latin typeface="新宋体" panose="02010609030101010101" pitchFamily="49" charset="-122"/>
                <a:ea typeface="新宋体" panose="02010609030101010101" pitchFamily="49" charset="-122"/>
              </a:rPr>
              <a:t>(</a:t>
            </a:r>
            <a:r>
              <a:rPr lang="en-US" altLang="zh-CN" sz="2000" dirty="0">
                <a:solidFill>
                  <a:srgbClr val="6F008A"/>
                </a:solidFill>
                <a:latin typeface="新宋体" panose="02010609030101010101" pitchFamily="49" charset="-122"/>
                <a:ea typeface="新宋体" panose="02010609030101010101" pitchFamily="49" charset="-122"/>
              </a:rPr>
              <a:t>PS_SOLID</a:t>
            </a:r>
            <a:r>
              <a:rPr lang="en-US" altLang="zh-CN" sz="2000" dirty="0">
                <a:solidFill>
                  <a:srgbClr val="000000"/>
                </a:solidFill>
                <a:latin typeface="新宋体" panose="02010609030101010101" pitchFamily="49" charset="-122"/>
                <a:ea typeface="新宋体" panose="02010609030101010101" pitchFamily="49" charset="-122"/>
              </a:rPr>
              <a:t>,10,0x000000FF);  //</a:t>
            </a:r>
            <a:r>
              <a:rPr lang="zh-CN" altLang="en-US" sz="2000" dirty="0">
                <a:solidFill>
                  <a:srgbClr val="000000"/>
                </a:solidFill>
                <a:latin typeface="新宋体" panose="02010609030101010101" pitchFamily="49" charset="-122"/>
                <a:ea typeface="新宋体" panose="02010609030101010101" pitchFamily="49" charset="-122"/>
              </a:rPr>
              <a:t>实线，宽度为</a:t>
            </a:r>
            <a:r>
              <a:rPr lang="en-US" altLang="zh-CN" sz="2000" dirty="0">
                <a:solidFill>
                  <a:srgbClr val="000000"/>
                </a:solidFill>
                <a:latin typeface="新宋体" panose="02010609030101010101" pitchFamily="49" charset="-122"/>
                <a:ea typeface="新宋体" panose="02010609030101010101" pitchFamily="49" charset="-122"/>
              </a:rPr>
              <a:t>10</a:t>
            </a:r>
            <a:r>
              <a:rPr lang="zh-CN" altLang="en-US" sz="2000" dirty="0">
                <a:solidFill>
                  <a:srgbClr val="000000"/>
                </a:solidFill>
                <a:latin typeface="新宋体" panose="02010609030101010101" pitchFamily="49" charset="-122"/>
                <a:ea typeface="新宋体" panose="02010609030101010101" pitchFamily="49" charset="-122"/>
              </a:rPr>
              <a:t>像素，红色</a:t>
            </a:r>
            <a:endParaRPr lang="en-US" altLang="zh-CN" sz="2000" dirty="0">
              <a:solidFill>
                <a:srgbClr val="000000"/>
              </a:solidFill>
              <a:latin typeface="新宋体" panose="02010609030101010101" pitchFamily="49" charset="-122"/>
              <a:ea typeface="新宋体" panose="02010609030101010101" pitchFamily="49" charset="-122"/>
            </a:endParaRPr>
          </a:p>
          <a:p>
            <a:pPr marL="457200" lvl="1" indent="171450">
              <a:buNone/>
            </a:pPr>
            <a:r>
              <a:rPr lang="en-US" altLang="zh-CN" sz="2000" dirty="0" err="1">
                <a:solidFill>
                  <a:srgbClr val="808080"/>
                </a:solidFill>
                <a:latin typeface="新宋体" panose="02010609030101010101" pitchFamily="49" charset="-122"/>
                <a:ea typeface="新宋体" panose="02010609030101010101" pitchFamily="49" charset="-122"/>
              </a:rPr>
              <a:t>pDC</a:t>
            </a:r>
            <a:r>
              <a:rPr lang="en-US" altLang="zh-CN" sz="2000" dirty="0">
                <a:solidFill>
                  <a:srgbClr val="000000"/>
                </a:solidFill>
                <a:latin typeface="新宋体" panose="02010609030101010101" pitchFamily="49" charset="-122"/>
                <a:ea typeface="新宋体" panose="02010609030101010101" pitchFamily="49" charset="-122"/>
              </a:rPr>
              <a:t>-&gt;</a:t>
            </a:r>
            <a:r>
              <a:rPr lang="en-US" altLang="zh-CN" sz="2000" dirty="0" err="1">
                <a:solidFill>
                  <a:srgbClr val="000000"/>
                </a:solidFill>
                <a:latin typeface="新宋体" panose="02010609030101010101" pitchFamily="49" charset="-122"/>
                <a:ea typeface="新宋体" panose="02010609030101010101" pitchFamily="49" charset="-122"/>
              </a:rPr>
              <a:t>SelectObject</a:t>
            </a:r>
            <a:r>
              <a:rPr lang="en-US" altLang="zh-CN" sz="2000" dirty="0">
                <a:solidFill>
                  <a:srgbClr val="000000"/>
                </a:solidFill>
                <a:latin typeface="新宋体" panose="02010609030101010101" pitchFamily="49" charset="-122"/>
                <a:ea typeface="新宋体" panose="02010609030101010101" pitchFamily="49" charset="-122"/>
              </a:rPr>
              <a:t>(&amp;</a:t>
            </a:r>
            <a:r>
              <a:rPr lang="en-US" altLang="zh-CN" sz="2000" dirty="0" err="1">
                <a:solidFill>
                  <a:srgbClr val="000000"/>
                </a:solidFill>
                <a:latin typeface="新宋体" panose="02010609030101010101" pitchFamily="49" charset="-122"/>
                <a:ea typeface="新宋体" panose="02010609030101010101" pitchFamily="49" charset="-122"/>
              </a:rPr>
              <a:t>NewPen</a:t>
            </a:r>
            <a:r>
              <a:rPr lang="en-US" altLang="zh-CN" sz="2000" dirty="0">
                <a:solidFill>
                  <a:srgbClr val="000000"/>
                </a:solidFill>
                <a:latin typeface="新宋体" panose="02010609030101010101" pitchFamily="49" charset="-122"/>
                <a:ea typeface="新宋体" panose="02010609030101010101" pitchFamily="49" charset="-122"/>
              </a:rPr>
              <a:t>);   //</a:t>
            </a:r>
            <a:r>
              <a:rPr lang="zh-CN" altLang="en-US" sz="2000" dirty="0">
                <a:solidFill>
                  <a:srgbClr val="000000"/>
                </a:solidFill>
                <a:latin typeface="新宋体" panose="02010609030101010101" pitchFamily="49" charset="-122"/>
                <a:ea typeface="新宋体" panose="02010609030101010101" pitchFamily="49" charset="-122"/>
              </a:rPr>
              <a:t>选择创建的画笔</a:t>
            </a:r>
            <a:endParaRPr lang="en-US" altLang="zh-CN" sz="2000" dirty="0">
              <a:solidFill>
                <a:srgbClr val="000000"/>
              </a:solidFill>
              <a:latin typeface="新宋体" panose="02010609030101010101" pitchFamily="49" charset="-122"/>
              <a:ea typeface="新宋体" panose="02010609030101010101" pitchFamily="49" charset="-122"/>
            </a:endParaRPr>
          </a:p>
          <a:p>
            <a:pPr marL="457200" lvl="1" indent="171450">
              <a:buNone/>
            </a:pPr>
            <a:r>
              <a:rPr lang="en-US" altLang="zh-CN" sz="2000" dirty="0" err="1">
                <a:solidFill>
                  <a:srgbClr val="808080"/>
                </a:solidFill>
                <a:latin typeface="新宋体" panose="02010609030101010101" pitchFamily="49" charset="-122"/>
                <a:ea typeface="新宋体" panose="02010609030101010101" pitchFamily="49" charset="-122"/>
              </a:rPr>
              <a:t>pDC</a:t>
            </a:r>
            <a:r>
              <a:rPr lang="en-US" altLang="zh-CN" sz="2000" dirty="0">
                <a:solidFill>
                  <a:srgbClr val="000000"/>
                </a:solidFill>
                <a:latin typeface="新宋体" panose="02010609030101010101" pitchFamily="49" charset="-122"/>
                <a:ea typeface="新宋体" panose="02010609030101010101" pitchFamily="49" charset="-122"/>
              </a:rPr>
              <a:t>-&gt;</a:t>
            </a:r>
            <a:r>
              <a:rPr lang="en-US" altLang="zh-CN" sz="2000" dirty="0" err="1">
                <a:solidFill>
                  <a:srgbClr val="000000"/>
                </a:solidFill>
                <a:latin typeface="新宋体" panose="02010609030101010101" pitchFamily="49" charset="-122"/>
                <a:ea typeface="新宋体" panose="02010609030101010101" pitchFamily="49" charset="-122"/>
              </a:rPr>
              <a:t>MoveTo</a:t>
            </a:r>
            <a:r>
              <a:rPr lang="en-US" altLang="zh-CN" sz="2000" dirty="0">
                <a:solidFill>
                  <a:srgbClr val="000000"/>
                </a:solidFill>
                <a:latin typeface="新宋体" panose="02010609030101010101" pitchFamily="49" charset="-122"/>
                <a:ea typeface="新宋体" panose="02010609030101010101" pitchFamily="49" charset="-122"/>
              </a:rPr>
              <a:t>(100, 100);        //</a:t>
            </a:r>
            <a:r>
              <a:rPr lang="zh-CN" altLang="en-US" sz="2000" dirty="0">
                <a:solidFill>
                  <a:srgbClr val="000000"/>
                </a:solidFill>
                <a:latin typeface="新宋体" panose="02010609030101010101" pitchFamily="49" charset="-122"/>
                <a:ea typeface="新宋体" panose="02010609030101010101" pitchFamily="49" charset="-122"/>
              </a:rPr>
              <a:t>画直线，从（</a:t>
            </a:r>
            <a:r>
              <a:rPr lang="en-US" altLang="zh-CN" sz="2000" dirty="0">
                <a:solidFill>
                  <a:srgbClr val="000000"/>
                </a:solidFill>
                <a:latin typeface="新宋体" panose="02010609030101010101" pitchFamily="49" charset="-122"/>
                <a:ea typeface="新宋体" panose="02010609030101010101" pitchFamily="49" charset="-122"/>
              </a:rPr>
              <a:t>100,100</a:t>
            </a:r>
            <a:r>
              <a:rPr lang="zh-CN" altLang="en-US" sz="2000" dirty="0">
                <a:solidFill>
                  <a:srgbClr val="000000"/>
                </a:solidFill>
                <a:latin typeface="新宋体" panose="02010609030101010101" pitchFamily="49" charset="-122"/>
                <a:ea typeface="新宋体" panose="02010609030101010101" pitchFamily="49" charset="-122"/>
              </a:rPr>
              <a:t>）到（</a:t>
            </a:r>
            <a:r>
              <a:rPr lang="en-US" altLang="zh-CN" sz="2000" dirty="0">
                <a:solidFill>
                  <a:srgbClr val="000000"/>
                </a:solidFill>
                <a:latin typeface="新宋体" panose="02010609030101010101" pitchFamily="49" charset="-122"/>
                <a:ea typeface="新宋体" panose="02010609030101010101" pitchFamily="49" charset="-122"/>
              </a:rPr>
              <a:t>200,500</a:t>
            </a:r>
            <a:r>
              <a:rPr lang="zh-CN" altLang="en-US" sz="2000" dirty="0">
                <a:solidFill>
                  <a:srgbClr val="000000"/>
                </a:solidFill>
                <a:latin typeface="新宋体" panose="02010609030101010101" pitchFamily="49" charset="-122"/>
                <a:ea typeface="新宋体" panose="02010609030101010101" pitchFamily="49" charset="-122"/>
              </a:rPr>
              <a:t>）</a:t>
            </a:r>
            <a:endParaRPr lang="en-US" altLang="zh-CN" sz="2000" dirty="0">
              <a:solidFill>
                <a:srgbClr val="000000"/>
              </a:solidFill>
              <a:latin typeface="新宋体" panose="02010609030101010101" pitchFamily="49" charset="-122"/>
              <a:ea typeface="新宋体" panose="02010609030101010101" pitchFamily="49" charset="-122"/>
            </a:endParaRPr>
          </a:p>
          <a:p>
            <a:pPr marL="457200" lvl="1" indent="171450">
              <a:buNone/>
            </a:pPr>
            <a:r>
              <a:rPr lang="en-US" altLang="zh-CN" sz="2000" dirty="0" err="1">
                <a:solidFill>
                  <a:srgbClr val="808080"/>
                </a:solidFill>
                <a:latin typeface="新宋体" panose="02010609030101010101" pitchFamily="49" charset="-122"/>
                <a:ea typeface="新宋体" panose="02010609030101010101" pitchFamily="49" charset="-122"/>
              </a:rPr>
              <a:t>pDC</a:t>
            </a:r>
            <a:r>
              <a:rPr lang="en-US" altLang="zh-CN" sz="2000" dirty="0">
                <a:solidFill>
                  <a:srgbClr val="000000"/>
                </a:solidFill>
                <a:latin typeface="新宋体" panose="02010609030101010101" pitchFamily="49" charset="-122"/>
                <a:ea typeface="新宋体" panose="02010609030101010101" pitchFamily="49" charset="-122"/>
              </a:rPr>
              <a:t>-&gt;</a:t>
            </a:r>
            <a:r>
              <a:rPr lang="en-US" altLang="zh-CN" sz="2000" dirty="0" err="1">
                <a:solidFill>
                  <a:srgbClr val="000000"/>
                </a:solidFill>
                <a:latin typeface="新宋体" panose="02010609030101010101" pitchFamily="49" charset="-122"/>
                <a:ea typeface="新宋体" panose="02010609030101010101" pitchFamily="49" charset="-122"/>
              </a:rPr>
              <a:t>LineTo</a:t>
            </a:r>
            <a:r>
              <a:rPr lang="en-US" altLang="zh-CN" sz="2000" dirty="0">
                <a:solidFill>
                  <a:srgbClr val="000000"/>
                </a:solidFill>
                <a:latin typeface="新宋体" panose="02010609030101010101" pitchFamily="49" charset="-122"/>
                <a:ea typeface="新宋体" panose="02010609030101010101" pitchFamily="49" charset="-122"/>
              </a:rPr>
              <a:t>(200, 500);</a:t>
            </a:r>
            <a:r>
              <a:rPr lang="en-US" altLang="zh-CN" sz="2000" dirty="0">
                <a:latin typeface="华光仿宋_CNKI" panose="02000500000000000000" pitchFamily="2" charset="-122"/>
                <a:ea typeface="华光仿宋_CNKI" panose="02000500000000000000" pitchFamily="2" charset="-122"/>
              </a:rPr>
              <a:t>  </a:t>
            </a:r>
          </a:p>
        </p:txBody>
      </p:sp>
    </p:spTree>
    <p:extLst>
      <p:ext uri="{BB962C8B-B14F-4D97-AF65-F5344CB8AC3E}">
        <p14:creationId xmlns:p14="http://schemas.microsoft.com/office/powerpoint/2010/main" val="693122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D91439E-08E0-9F0E-C4E5-6EC3D316DFA5}"/>
              </a:ext>
            </a:extLst>
          </p:cNvPr>
          <p:cNvSpPr>
            <a:spLocks noGrp="1"/>
          </p:cNvSpPr>
          <p:nvPr>
            <p:ph idx="1"/>
          </p:nvPr>
        </p:nvSpPr>
        <p:spPr>
          <a:xfrm>
            <a:off x="325009" y="469128"/>
            <a:ext cx="11541981" cy="5645426"/>
          </a:xfrm>
        </p:spPr>
        <p:txBody>
          <a:bodyPr vert="horz" lIns="91440" tIns="45720" rIns="91440" bIns="45720" rtlCol="0">
            <a:normAutofit lnSpcReduction="10000"/>
          </a:bodyPr>
          <a:lstStyle/>
          <a:p>
            <a:pPr marL="0" indent="0">
              <a:lnSpc>
                <a:spcPct val="160000"/>
              </a:lnSpc>
              <a:buNone/>
            </a:pPr>
            <a:r>
              <a:rPr lang="zh-CN" altLang="en-US" sz="3200" dirty="0">
                <a:latin typeface="华光小标宋_CNKI" panose="02000500000000000000" pitchFamily="2" charset="-122"/>
                <a:ea typeface="华光小标宋_CNKI" panose="02000500000000000000" pitchFamily="2" charset="-122"/>
              </a:rPr>
              <a:t>  </a:t>
            </a:r>
            <a:r>
              <a:rPr lang="en-US" altLang="zh-CN" sz="3200" dirty="0">
                <a:latin typeface="华光标题宋_CNKI" panose="02000500000000000000" pitchFamily="2" charset="-122"/>
                <a:ea typeface="华光标题宋_CNKI" panose="02000500000000000000" pitchFamily="2" charset="-122"/>
              </a:rPr>
              <a:t>3.3 </a:t>
            </a:r>
            <a:r>
              <a:rPr lang="zh-CN" altLang="en-US" sz="3200" dirty="0">
                <a:latin typeface="华光标题宋_CNKI" panose="02000500000000000000" pitchFamily="2" charset="-122"/>
                <a:ea typeface="华光标题宋_CNKI" panose="02000500000000000000" pitchFamily="2" charset="-122"/>
              </a:rPr>
              <a:t>矩形的绘制</a:t>
            </a:r>
            <a:endParaRPr lang="en-US" altLang="zh-CN" sz="3200" dirty="0">
              <a:latin typeface="华光标题宋_CNKI" panose="02000500000000000000" pitchFamily="2" charset="-122"/>
              <a:ea typeface="华光标题宋_CNKI" panose="02000500000000000000" pitchFamily="2" charset="-122"/>
            </a:endParaRPr>
          </a:p>
          <a:p>
            <a:pPr marL="0" indent="0">
              <a:lnSpc>
                <a:spcPct val="150000"/>
              </a:lnSpc>
              <a:buNone/>
            </a:pPr>
            <a:r>
              <a:rPr lang="en-US" altLang="zh-CN" sz="3000" dirty="0">
                <a:latin typeface="华光仿宋_CNKI" panose="02000500000000000000" pitchFamily="2" charset="-122"/>
                <a:ea typeface="华光仿宋_CNKI" panose="02000500000000000000" pitchFamily="2" charset="-122"/>
              </a:rPr>
              <a:t>    CDC</a:t>
            </a:r>
            <a:r>
              <a:rPr lang="zh-CN" altLang="en-US" sz="3000" dirty="0">
                <a:latin typeface="华光仿宋_CNKI" panose="02000500000000000000" pitchFamily="2" charset="-122"/>
                <a:ea typeface="华光仿宋_CNKI" panose="02000500000000000000" pitchFamily="2" charset="-122"/>
              </a:rPr>
              <a:t>在绘制矩形时，采用</a:t>
            </a:r>
            <a:r>
              <a:rPr lang="en-US" altLang="zh-CN" sz="3000" dirty="0" err="1">
                <a:latin typeface="华光仿宋_CNKI" panose="02000500000000000000" pitchFamily="2" charset="-122"/>
                <a:ea typeface="华光仿宋_CNKI" panose="02000500000000000000" pitchFamily="2" charset="-122"/>
              </a:rPr>
              <a:t>CBrush</a:t>
            </a:r>
            <a:r>
              <a:rPr lang="zh-CN" altLang="en-US" sz="3000" dirty="0">
                <a:latin typeface="华光仿宋_CNKI" panose="02000500000000000000" pitchFamily="2" charset="-122"/>
                <a:ea typeface="华光仿宋_CNKI" panose="02000500000000000000" pitchFamily="2" charset="-122"/>
              </a:rPr>
              <a:t>作为绘制工具，先要创建刷子，然后才进行绘制。如下所示。</a:t>
            </a:r>
            <a:endParaRPr lang="en-US" altLang="zh-CN" sz="3000" dirty="0">
              <a:latin typeface="华光仿宋_CNKI" panose="02000500000000000000" pitchFamily="2" charset="-122"/>
              <a:ea typeface="华光仿宋_CNKI" panose="02000500000000000000" pitchFamily="2" charset="-122"/>
            </a:endParaRPr>
          </a:p>
          <a:p>
            <a:pPr marL="457200" lvl="1" indent="0">
              <a:lnSpc>
                <a:spcPct val="150000"/>
              </a:lnSpc>
              <a:buNone/>
            </a:pPr>
            <a:r>
              <a:rPr lang="en-US" altLang="zh-CN" sz="2800" dirty="0">
                <a:solidFill>
                  <a:srgbClr val="2B91AF"/>
                </a:solidFill>
                <a:latin typeface="华光仿宋_CNKI" panose="02000500000000000000" pitchFamily="2" charset="-122"/>
                <a:ea typeface="华光仿宋_CNKI" panose="02000500000000000000" pitchFamily="2" charset="-122"/>
              </a:rPr>
              <a:t> </a:t>
            </a:r>
            <a:r>
              <a:rPr lang="en-US" altLang="zh-CN" sz="2800" dirty="0">
                <a:solidFill>
                  <a:srgbClr val="2B91AF"/>
                </a:solidFill>
                <a:latin typeface="新宋体" panose="02010609030101010101" pitchFamily="49" charset="-122"/>
                <a:ea typeface="新宋体" panose="02010609030101010101" pitchFamily="49" charset="-122"/>
              </a:rPr>
              <a:t>RECT</a:t>
            </a:r>
            <a:r>
              <a:rPr lang="en-US" altLang="zh-CN" sz="2800" dirty="0">
                <a:solidFill>
                  <a:srgbClr val="000000"/>
                </a:solidFill>
                <a:latin typeface="新宋体" panose="02010609030101010101" pitchFamily="49" charset="-122"/>
                <a:ea typeface="新宋体" panose="02010609030101010101" pitchFamily="49" charset="-122"/>
              </a:rPr>
              <a:t> </a:t>
            </a:r>
            <a:r>
              <a:rPr lang="en-US" altLang="zh-CN" sz="2800" dirty="0" err="1">
                <a:solidFill>
                  <a:srgbClr val="000000"/>
                </a:solidFill>
                <a:latin typeface="新宋体" panose="02010609030101010101" pitchFamily="49" charset="-122"/>
                <a:ea typeface="新宋体" panose="02010609030101010101" pitchFamily="49" charset="-122"/>
              </a:rPr>
              <a:t>rc</a:t>
            </a:r>
            <a:r>
              <a:rPr lang="en-US" altLang="zh-CN" sz="2800" dirty="0">
                <a:solidFill>
                  <a:srgbClr val="000000"/>
                </a:solidFill>
                <a:latin typeface="新宋体" panose="02010609030101010101" pitchFamily="49" charset="-122"/>
                <a:ea typeface="新宋体" panose="02010609030101010101" pitchFamily="49" charset="-122"/>
              </a:rPr>
              <a:t>;</a:t>
            </a:r>
          </a:p>
          <a:p>
            <a:pPr marL="457200" lvl="1" indent="0">
              <a:lnSpc>
                <a:spcPct val="150000"/>
              </a:lnSpc>
              <a:buNone/>
            </a:pPr>
            <a:r>
              <a:rPr lang="en-US" altLang="zh-CN" sz="2800" dirty="0">
                <a:solidFill>
                  <a:srgbClr val="000000"/>
                </a:solidFill>
                <a:latin typeface="新宋体" panose="02010609030101010101" pitchFamily="49" charset="-122"/>
                <a:ea typeface="新宋体" panose="02010609030101010101" pitchFamily="49" charset="-122"/>
              </a:rPr>
              <a:t> </a:t>
            </a:r>
            <a:r>
              <a:rPr lang="en-US" altLang="zh-CN" sz="2800" dirty="0" err="1">
                <a:solidFill>
                  <a:srgbClr val="000000"/>
                </a:solidFill>
                <a:latin typeface="新宋体" panose="02010609030101010101" pitchFamily="49" charset="-122"/>
                <a:ea typeface="新宋体" panose="02010609030101010101" pitchFamily="49" charset="-122"/>
              </a:rPr>
              <a:t>rc.left</a:t>
            </a:r>
            <a:r>
              <a:rPr lang="en-US" altLang="zh-CN" sz="2800" dirty="0">
                <a:solidFill>
                  <a:srgbClr val="000000"/>
                </a:solidFill>
                <a:latin typeface="新宋体" panose="02010609030101010101" pitchFamily="49" charset="-122"/>
                <a:ea typeface="新宋体" panose="02010609030101010101" pitchFamily="49" charset="-122"/>
              </a:rPr>
              <a:t> = 300, </a:t>
            </a:r>
            <a:r>
              <a:rPr lang="en-US" altLang="zh-CN" sz="2800" dirty="0" err="1">
                <a:solidFill>
                  <a:srgbClr val="000000"/>
                </a:solidFill>
                <a:latin typeface="新宋体" panose="02010609030101010101" pitchFamily="49" charset="-122"/>
                <a:ea typeface="新宋体" panose="02010609030101010101" pitchFamily="49" charset="-122"/>
              </a:rPr>
              <a:t>rc.right</a:t>
            </a:r>
            <a:r>
              <a:rPr lang="en-US" altLang="zh-CN" sz="2800" dirty="0">
                <a:solidFill>
                  <a:srgbClr val="000000"/>
                </a:solidFill>
                <a:latin typeface="新宋体" panose="02010609030101010101" pitchFamily="49" charset="-122"/>
                <a:ea typeface="新宋体" panose="02010609030101010101" pitchFamily="49" charset="-122"/>
              </a:rPr>
              <a:t> = 600,rc.top = 200,rc.bottom = 400;</a:t>
            </a:r>
          </a:p>
          <a:p>
            <a:pPr marL="457200" lvl="1" indent="0">
              <a:lnSpc>
                <a:spcPct val="150000"/>
              </a:lnSpc>
              <a:buNone/>
            </a:pPr>
            <a:r>
              <a:rPr lang="en-US" altLang="zh-CN" sz="2800" dirty="0">
                <a:solidFill>
                  <a:srgbClr val="2B91AF"/>
                </a:solidFill>
                <a:latin typeface="新宋体" panose="02010609030101010101" pitchFamily="49" charset="-122"/>
                <a:ea typeface="新宋体" panose="02010609030101010101" pitchFamily="49" charset="-122"/>
              </a:rPr>
              <a:t> </a:t>
            </a:r>
            <a:r>
              <a:rPr lang="en-US" altLang="zh-CN" sz="2800" dirty="0" err="1">
                <a:solidFill>
                  <a:srgbClr val="2B91AF"/>
                </a:solidFill>
                <a:latin typeface="新宋体" panose="02010609030101010101" pitchFamily="49" charset="-122"/>
                <a:ea typeface="新宋体" panose="02010609030101010101" pitchFamily="49" charset="-122"/>
              </a:rPr>
              <a:t>CBrush</a:t>
            </a:r>
            <a:r>
              <a:rPr lang="en-US" altLang="zh-CN" sz="2800" dirty="0">
                <a:solidFill>
                  <a:srgbClr val="000000"/>
                </a:solidFill>
                <a:latin typeface="新宋体" panose="02010609030101010101" pitchFamily="49" charset="-122"/>
                <a:ea typeface="新宋体" panose="02010609030101010101" pitchFamily="49" charset="-122"/>
              </a:rPr>
              <a:t> </a:t>
            </a:r>
            <a:r>
              <a:rPr lang="en-US" altLang="zh-CN" sz="2800" dirty="0" err="1">
                <a:solidFill>
                  <a:srgbClr val="000000"/>
                </a:solidFill>
                <a:latin typeface="新宋体" panose="02010609030101010101" pitchFamily="49" charset="-122"/>
                <a:ea typeface="新宋体" panose="02010609030101010101" pitchFamily="49" charset="-122"/>
              </a:rPr>
              <a:t>NewBrush</a:t>
            </a:r>
            <a:r>
              <a:rPr lang="en-US" altLang="zh-CN" sz="2800" dirty="0">
                <a:solidFill>
                  <a:srgbClr val="000000"/>
                </a:solidFill>
                <a:latin typeface="新宋体" panose="02010609030101010101" pitchFamily="49" charset="-122"/>
                <a:ea typeface="新宋体" panose="02010609030101010101" pitchFamily="49" charset="-122"/>
              </a:rPr>
              <a:t>;</a:t>
            </a:r>
          </a:p>
          <a:p>
            <a:pPr marL="457200" lvl="1" indent="0">
              <a:lnSpc>
                <a:spcPct val="150000"/>
              </a:lnSpc>
              <a:buNone/>
            </a:pPr>
            <a:r>
              <a:rPr lang="en-US" altLang="zh-CN" sz="2800" dirty="0">
                <a:solidFill>
                  <a:srgbClr val="000000"/>
                </a:solidFill>
                <a:latin typeface="新宋体" panose="02010609030101010101" pitchFamily="49" charset="-122"/>
                <a:ea typeface="新宋体" panose="02010609030101010101" pitchFamily="49" charset="-122"/>
              </a:rPr>
              <a:t> </a:t>
            </a:r>
            <a:r>
              <a:rPr lang="en-US" altLang="zh-CN" sz="2800" dirty="0" err="1">
                <a:solidFill>
                  <a:srgbClr val="000000"/>
                </a:solidFill>
                <a:latin typeface="新宋体" panose="02010609030101010101" pitchFamily="49" charset="-122"/>
                <a:ea typeface="新宋体" panose="02010609030101010101" pitchFamily="49" charset="-122"/>
              </a:rPr>
              <a:t>NewBrush.CreateSolidBrush</a:t>
            </a:r>
            <a:r>
              <a:rPr lang="en-US" altLang="zh-CN" sz="2800" dirty="0">
                <a:solidFill>
                  <a:srgbClr val="000000"/>
                </a:solidFill>
                <a:latin typeface="新宋体" panose="02010609030101010101" pitchFamily="49" charset="-122"/>
                <a:ea typeface="新宋体" panose="02010609030101010101" pitchFamily="49" charset="-122"/>
              </a:rPr>
              <a:t>(0x00FF0000); </a:t>
            </a:r>
            <a:br>
              <a:rPr lang="en-US" altLang="zh-CN" sz="2800" dirty="0">
                <a:solidFill>
                  <a:srgbClr val="000000"/>
                </a:solidFill>
                <a:latin typeface="新宋体" panose="02010609030101010101" pitchFamily="49" charset="-122"/>
                <a:ea typeface="新宋体" panose="02010609030101010101" pitchFamily="49" charset="-122"/>
              </a:rPr>
            </a:br>
            <a:r>
              <a:rPr lang="en-US" altLang="zh-CN" sz="2800" dirty="0">
                <a:solidFill>
                  <a:srgbClr val="808080"/>
                </a:solidFill>
                <a:latin typeface="新宋体" panose="02010609030101010101" pitchFamily="49" charset="-122"/>
                <a:ea typeface="新宋体" panose="02010609030101010101" pitchFamily="49" charset="-122"/>
              </a:rPr>
              <a:t> </a:t>
            </a:r>
            <a:r>
              <a:rPr lang="en-US" altLang="zh-CN" sz="2800" dirty="0" err="1">
                <a:solidFill>
                  <a:srgbClr val="808080"/>
                </a:solidFill>
                <a:latin typeface="新宋体" panose="02010609030101010101" pitchFamily="49" charset="-122"/>
                <a:ea typeface="新宋体" panose="02010609030101010101" pitchFamily="49" charset="-122"/>
              </a:rPr>
              <a:t>pDC</a:t>
            </a:r>
            <a:r>
              <a:rPr lang="en-US" altLang="zh-CN" sz="2800" dirty="0">
                <a:solidFill>
                  <a:srgbClr val="000000"/>
                </a:solidFill>
                <a:latin typeface="新宋体" panose="02010609030101010101" pitchFamily="49" charset="-122"/>
                <a:ea typeface="新宋体" panose="02010609030101010101" pitchFamily="49" charset="-122"/>
              </a:rPr>
              <a:t>-&gt;</a:t>
            </a:r>
            <a:r>
              <a:rPr lang="en-US" altLang="zh-CN" sz="2800" dirty="0" err="1">
                <a:solidFill>
                  <a:srgbClr val="000000"/>
                </a:solidFill>
                <a:latin typeface="新宋体" panose="02010609030101010101" pitchFamily="49" charset="-122"/>
                <a:ea typeface="新宋体" panose="02010609030101010101" pitchFamily="49" charset="-122"/>
              </a:rPr>
              <a:t>FrameRect</a:t>
            </a:r>
            <a:r>
              <a:rPr lang="en-US" altLang="zh-CN" sz="2800" dirty="0">
                <a:solidFill>
                  <a:srgbClr val="000000"/>
                </a:solidFill>
                <a:latin typeface="新宋体" panose="02010609030101010101" pitchFamily="49" charset="-122"/>
                <a:ea typeface="新宋体" panose="02010609030101010101" pitchFamily="49" charset="-122"/>
              </a:rPr>
              <a:t>(&amp;</a:t>
            </a:r>
            <a:r>
              <a:rPr lang="en-US" altLang="zh-CN" sz="2800" dirty="0" err="1">
                <a:solidFill>
                  <a:srgbClr val="000000"/>
                </a:solidFill>
                <a:latin typeface="新宋体" panose="02010609030101010101" pitchFamily="49" charset="-122"/>
                <a:ea typeface="新宋体" panose="02010609030101010101" pitchFamily="49" charset="-122"/>
              </a:rPr>
              <a:t>rc</a:t>
            </a:r>
            <a:r>
              <a:rPr lang="en-US" altLang="zh-CN" sz="2800" dirty="0">
                <a:solidFill>
                  <a:srgbClr val="000000"/>
                </a:solidFill>
                <a:latin typeface="新宋体" panose="02010609030101010101" pitchFamily="49" charset="-122"/>
                <a:ea typeface="新宋体" panose="02010609030101010101" pitchFamily="49" charset="-122"/>
              </a:rPr>
              <a:t>,&amp;</a:t>
            </a:r>
            <a:r>
              <a:rPr lang="en-US" altLang="zh-CN" sz="2800" dirty="0" err="1">
                <a:solidFill>
                  <a:srgbClr val="000000"/>
                </a:solidFill>
                <a:latin typeface="新宋体" panose="02010609030101010101" pitchFamily="49" charset="-122"/>
                <a:ea typeface="新宋体" panose="02010609030101010101" pitchFamily="49" charset="-122"/>
              </a:rPr>
              <a:t>NewBrush</a:t>
            </a:r>
            <a:r>
              <a:rPr lang="en-US" altLang="zh-CN" sz="2800" dirty="0">
                <a:solidFill>
                  <a:srgbClr val="000000"/>
                </a:solidFill>
                <a:latin typeface="新宋体" panose="02010609030101010101" pitchFamily="49" charset="-122"/>
                <a:ea typeface="新宋体" panose="02010609030101010101" pitchFamily="49" charset="-122"/>
              </a:rPr>
              <a:t>);</a:t>
            </a:r>
            <a:endParaRPr lang="en-US" altLang="zh-CN" sz="2800" dirty="0">
              <a:latin typeface="华光仿宋_CNKI" panose="02000500000000000000" pitchFamily="2" charset="-122"/>
              <a:ea typeface="华光仿宋_CNKI" panose="02000500000000000000" pitchFamily="2" charset="-122"/>
            </a:endParaRPr>
          </a:p>
        </p:txBody>
      </p:sp>
    </p:spTree>
    <p:extLst>
      <p:ext uri="{BB962C8B-B14F-4D97-AF65-F5344CB8AC3E}">
        <p14:creationId xmlns:p14="http://schemas.microsoft.com/office/powerpoint/2010/main" val="10201546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D91439E-08E0-9F0E-C4E5-6EC3D316DFA5}"/>
              </a:ext>
            </a:extLst>
          </p:cNvPr>
          <p:cNvSpPr>
            <a:spLocks noGrp="1"/>
          </p:cNvSpPr>
          <p:nvPr>
            <p:ph idx="1"/>
          </p:nvPr>
        </p:nvSpPr>
        <p:spPr>
          <a:xfrm>
            <a:off x="325009" y="469128"/>
            <a:ext cx="11541981" cy="5645426"/>
          </a:xfrm>
        </p:spPr>
        <p:txBody>
          <a:bodyPr vert="horz" lIns="91440" tIns="45720" rIns="91440" bIns="45720" rtlCol="0">
            <a:normAutofit/>
          </a:bodyPr>
          <a:lstStyle/>
          <a:p>
            <a:pPr marL="0" indent="0">
              <a:lnSpc>
                <a:spcPct val="150000"/>
              </a:lnSpc>
              <a:buNone/>
            </a:pPr>
            <a:r>
              <a:rPr lang="zh-CN" altLang="en-US" sz="3200" dirty="0">
                <a:latin typeface="华光小标宋_CNKI" panose="02000500000000000000" pitchFamily="2" charset="-122"/>
                <a:ea typeface="华光小标宋_CNKI" panose="02000500000000000000" pitchFamily="2" charset="-122"/>
              </a:rPr>
              <a:t>     </a:t>
            </a:r>
            <a:r>
              <a:rPr lang="zh-CN" altLang="en-US" sz="3000" dirty="0">
                <a:latin typeface="华光仿宋_CNKI" panose="02000500000000000000" pitchFamily="2" charset="-122"/>
                <a:ea typeface="华光仿宋_CNKI" panose="02000500000000000000" pitchFamily="2" charset="-122"/>
              </a:rPr>
              <a:t>上面的代码只绘制了边框，如果希望绘制颜色填充后的矩形，可采用不同的绘制函数实现。如下：</a:t>
            </a:r>
            <a:endParaRPr lang="en-US" altLang="zh-CN" sz="3000" dirty="0">
              <a:latin typeface="华光仿宋_CNKI" panose="02000500000000000000" pitchFamily="2" charset="-122"/>
              <a:ea typeface="华光仿宋_CNKI" panose="02000500000000000000" pitchFamily="2" charset="-122"/>
            </a:endParaRPr>
          </a:p>
          <a:p>
            <a:pPr marL="457200" lvl="1" indent="0">
              <a:lnSpc>
                <a:spcPct val="150000"/>
              </a:lnSpc>
              <a:buNone/>
            </a:pPr>
            <a:r>
              <a:rPr lang="en-US" altLang="zh-CN" sz="2000" dirty="0" err="1">
                <a:solidFill>
                  <a:srgbClr val="000000"/>
                </a:solidFill>
                <a:latin typeface="新宋体" panose="02010609030101010101" pitchFamily="49" charset="-122"/>
                <a:ea typeface="新宋体" panose="02010609030101010101" pitchFamily="49" charset="-122"/>
              </a:rPr>
              <a:t>NewPen.DeleteObject</a:t>
            </a:r>
            <a:r>
              <a:rPr lang="en-US" altLang="zh-CN" sz="2000" dirty="0">
                <a:solidFill>
                  <a:srgbClr val="000000"/>
                </a:solidFill>
                <a:latin typeface="新宋体" panose="02010609030101010101" pitchFamily="49" charset="-122"/>
                <a:ea typeface="新宋体" panose="02010609030101010101" pitchFamily="49" charset="-122"/>
              </a:rPr>
              <a:t>();</a:t>
            </a:r>
          </a:p>
          <a:p>
            <a:pPr marL="457200" lvl="1" indent="0">
              <a:lnSpc>
                <a:spcPct val="150000"/>
              </a:lnSpc>
              <a:buNone/>
            </a:pPr>
            <a:r>
              <a:rPr lang="en-US" altLang="zh-CN" sz="2000" dirty="0" err="1">
                <a:solidFill>
                  <a:srgbClr val="000000"/>
                </a:solidFill>
                <a:latin typeface="新宋体" panose="02010609030101010101" pitchFamily="49" charset="-122"/>
                <a:ea typeface="新宋体" panose="02010609030101010101" pitchFamily="49" charset="-122"/>
              </a:rPr>
              <a:t>NewPen.CreatePen</a:t>
            </a:r>
            <a:r>
              <a:rPr lang="en-US" altLang="zh-CN" sz="2000" dirty="0">
                <a:solidFill>
                  <a:srgbClr val="000000"/>
                </a:solidFill>
                <a:latin typeface="新宋体" panose="02010609030101010101" pitchFamily="49" charset="-122"/>
                <a:ea typeface="新宋体" panose="02010609030101010101" pitchFamily="49" charset="-122"/>
              </a:rPr>
              <a:t>(</a:t>
            </a:r>
            <a:r>
              <a:rPr lang="en-US" altLang="zh-CN" sz="2000" dirty="0">
                <a:solidFill>
                  <a:srgbClr val="6F008A"/>
                </a:solidFill>
                <a:latin typeface="新宋体" panose="02010609030101010101" pitchFamily="49" charset="-122"/>
                <a:ea typeface="新宋体" panose="02010609030101010101" pitchFamily="49" charset="-122"/>
              </a:rPr>
              <a:t>PS_SOLID</a:t>
            </a:r>
            <a:r>
              <a:rPr lang="en-US" altLang="zh-CN" sz="2000" dirty="0">
                <a:solidFill>
                  <a:srgbClr val="000000"/>
                </a:solidFill>
                <a:latin typeface="新宋体" panose="02010609030101010101" pitchFamily="49" charset="-122"/>
                <a:ea typeface="新宋体" panose="02010609030101010101" pitchFamily="49" charset="-122"/>
              </a:rPr>
              <a:t>, 20, 0x00FFFF00);</a:t>
            </a:r>
          </a:p>
          <a:p>
            <a:pPr marL="457200" lvl="1" indent="0">
              <a:lnSpc>
                <a:spcPct val="150000"/>
              </a:lnSpc>
              <a:buNone/>
            </a:pPr>
            <a:r>
              <a:rPr lang="en-US" altLang="zh-CN" sz="2000" dirty="0" err="1">
                <a:solidFill>
                  <a:srgbClr val="808080"/>
                </a:solidFill>
                <a:latin typeface="新宋体" panose="02010609030101010101" pitchFamily="49" charset="-122"/>
                <a:ea typeface="新宋体" panose="02010609030101010101" pitchFamily="49" charset="-122"/>
              </a:rPr>
              <a:t>pDC</a:t>
            </a:r>
            <a:r>
              <a:rPr lang="en-US" altLang="zh-CN" sz="2000" dirty="0">
                <a:solidFill>
                  <a:srgbClr val="000000"/>
                </a:solidFill>
                <a:latin typeface="新宋体" panose="02010609030101010101" pitchFamily="49" charset="-122"/>
                <a:ea typeface="新宋体" panose="02010609030101010101" pitchFamily="49" charset="-122"/>
              </a:rPr>
              <a:t>-&gt;</a:t>
            </a:r>
            <a:r>
              <a:rPr lang="en-US" altLang="zh-CN" sz="2000" dirty="0" err="1">
                <a:solidFill>
                  <a:srgbClr val="000000"/>
                </a:solidFill>
                <a:latin typeface="新宋体" panose="02010609030101010101" pitchFamily="49" charset="-122"/>
                <a:ea typeface="新宋体" panose="02010609030101010101" pitchFamily="49" charset="-122"/>
              </a:rPr>
              <a:t>SelectObject</a:t>
            </a:r>
            <a:r>
              <a:rPr lang="en-US" altLang="zh-CN" sz="2000" dirty="0">
                <a:solidFill>
                  <a:srgbClr val="000000"/>
                </a:solidFill>
                <a:latin typeface="新宋体" panose="02010609030101010101" pitchFamily="49" charset="-122"/>
                <a:ea typeface="新宋体" panose="02010609030101010101" pitchFamily="49" charset="-122"/>
              </a:rPr>
              <a:t>(&amp;</a:t>
            </a:r>
            <a:r>
              <a:rPr lang="en-US" altLang="zh-CN" sz="2000" dirty="0" err="1">
                <a:solidFill>
                  <a:srgbClr val="000000"/>
                </a:solidFill>
                <a:latin typeface="新宋体" panose="02010609030101010101" pitchFamily="49" charset="-122"/>
                <a:ea typeface="新宋体" panose="02010609030101010101" pitchFamily="49" charset="-122"/>
              </a:rPr>
              <a:t>NewPen</a:t>
            </a:r>
            <a:r>
              <a:rPr lang="en-US" altLang="zh-CN" sz="2000" dirty="0">
                <a:solidFill>
                  <a:srgbClr val="000000"/>
                </a:solidFill>
                <a:latin typeface="新宋体" panose="02010609030101010101" pitchFamily="49" charset="-122"/>
                <a:ea typeface="新宋体" panose="02010609030101010101" pitchFamily="49" charset="-122"/>
              </a:rPr>
              <a:t>);   //</a:t>
            </a:r>
            <a:r>
              <a:rPr lang="zh-CN" altLang="en-US" sz="2000" dirty="0">
                <a:solidFill>
                  <a:srgbClr val="000000"/>
                </a:solidFill>
                <a:latin typeface="新宋体" panose="02010609030101010101" pitchFamily="49" charset="-122"/>
                <a:ea typeface="新宋体" panose="02010609030101010101" pitchFamily="49" charset="-122"/>
              </a:rPr>
              <a:t>确定边框的颜色</a:t>
            </a:r>
            <a:endParaRPr lang="en-US" altLang="zh-CN" sz="2000" dirty="0">
              <a:solidFill>
                <a:srgbClr val="000000"/>
              </a:solidFill>
              <a:latin typeface="新宋体" panose="02010609030101010101" pitchFamily="49" charset="-122"/>
              <a:ea typeface="新宋体" panose="02010609030101010101" pitchFamily="49" charset="-122"/>
            </a:endParaRPr>
          </a:p>
          <a:p>
            <a:pPr marL="457200" lvl="1" indent="0">
              <a:lnSpc>
                <a:spcPct val="150000"/>
              </a:lnSpc>
              <a:buNone/>
            </a:pPr>
            <a:r>
              <a:rPr lang="en-US" altLang="zh-CN" sz="2000" dirty="0" err="1">
                <a:solidFill>
                  <a:srgbClr val="000000"/>
                </a:solidFill>
                <a:latin typeface="新宋体" panose="02010609030101010101" pitchFamily="49" charset="-122"/>
                <a:ea typeface="新宋体" panose="02010609030101010101" pitchFamily="49" charset="-122"/>
              </a:rPr>
              <a:t>NewBrush.DeleteObject</a:t>
            </a:r>
            <a:r>
              <a:rPr lang="en-US" altLang="zh-CN" sz="2000" dirty="0">
                <a:solidFill>
                  <a:srgbClr val="000000"/>
                </a:solidFill>
                <a:latin typeface="新宋体" panose="02010609030101010101" pitchFamily="49" charset="-122"/>
                <a:ea typeface="新宋体" panose="02010609030101010101" pitchFamily="49" charset="-122"/>
              </a:rPr>
              <a:t>();</a:t>
            </a:r>
          </a:p>
          <a:p>
            <a:pPr marL="457200" lvl="1" indent="0">
              <a:lnSpc>
                <a:spcPct val="150000"/>
              </a:lnSpc>
              <a:buNone/>
            </a:pPr>
            <a:r>
              <a:rPr lang="en-US" altLang="zh-CN" sz="2000" dirty="0" err="1">
                <a:solidFill>
                  <a:srgbClr val="000000"/>
                </a:solidFill>
                <a:latin typeface="新宋体" panose="02010609030101010101" pitchFamily="49" charset="-122"/>
                <a:ea typeface="新宋体" panose="02010609030101010101" pitchFamily="49" charset="-122"/>
              </a:rPr>
              <a:t>NewBrush.CreateSolidBrush</a:t>
            </a:r>
            <a:r>
              <a:rPr lang="en-US" altLang="zh-CN" sz="2000" dirty="0">
                <a:solidFill>
                  <a:srgbClr val="000000"/>
                </a:solidFill>
                <a:latin typeface="新宋体" panose="02010609030101010101" pitchFamily="49" charset="-122"/>
                <a:ea typeface="新宋体" panose="02010609030101010101" pitchFamily="49" charset="-122"/>
              </a:rPr>
              <a:t>(0x0000FF00);</a:t>
            </a:r>
          </a:p>
          <a:p>
            <a:pPr marL="457200" lvl="1" indent="0">
              <a:lnSpc>
                <a:spcPct val="150000"/>
              </a:lnSpc>
              <a:buNone/>
            </a:pPr>
            <a:r>
              <a:rPr lang="en-US" altLang="zh-CN" sz="2000" dirty="0" err="1">
                <a:solidFill>
                  <a:srgbClr val="808080"/>
                </a:solidFill>
                <a:latin typeface="新宋体" panose="02010609030101010101" pitchFamily="49" charset="-122"/>
                <a:ea typeface="新宋体" panose="02010609030101010101" pitchFamily="49" charset="-122"/>
              </a:rPr>
              <a:t>pDC</a:t>
            </a:r>
            <a:r>
              <a:rPr lang="en-US" altLang="zh-CN" sz="2000" dirty="0">
                <a:solidFill>
                  <a:srgbClr val="000000"/>
                </a:solidFill>
                <a:latin typeface="新宋体" panose="02010609030101010101" pitchFamily="49" charset="-122"/>
                <a:ea typeface="新宋体" panose="02010609030101010101" pitchFamily="49" charset="-122"/>
              </a:rPr>
              <a:t>-&gt;</a:t>
            </a:r>
            <a:r>
              <a:rPr lang="en-US" altLang="zh-CN" sz="2000" dirty="0" err="1">
                <a:solidFill>
                  <a:srgbClr val="000000"/>
                </a:solidFill>
                <a:latin typeface="新宋体" panose="02010609030101010101" pitchFamily="49" charset="-122"/>
                <a:ea typeface="新宋体" panose="02010609030101010101" pitchFamily="49" charset="-122"/>
              </a:rPr>
              <a:t>SelectObject</a:t>
            </a:r>
            <a:r>
              <a:rPr lang="en-US" altLang="zh-CN" sz="2000" dirty="0">
                <a:solidFill>
                  <a:srgbClr val="000000"/>
                </a:solidFill>
                <a:latin typeface="新宋体" panose="02010609030101010101" pitchFamily="49" charset="-122"/>
                <a:ea typeface="新宋体" panose="02010609030101010101" pitchFamily="49" charset="-122"/>
              </a:rPr>
              <a:t>(&amp;</a:t>
            </a:r>
            <a:r>
              <a:rPr lang="en-US" altLang="zh-CN" sz="2000" dirty="0" err="1">
                <a:solidFill>
                  <a:srgbClr val="000000"/>
                </a:solidFill>
                <a:latin typeface="新宋体" panose="02010609030101010101" pitchFamily="49" charset="-122"/>
                <a:ea typeface="新宋体" panose="02010609030101010101" pitchFamily="49" charset="-122"/>
              </a:rPr>
              <a:t>NewBrush</a:t>
            </a:r>
            <a:r>
              <a:rPr lang="en-US" altLang="zh-CN" sz="2000" dirty="0">
                <a:solidFill>
                  <a:srgbClr val="000000"/>
                </a:solidFill>
                <a:latin typeface="新宋体" panose="02010609030101010101" pitchFamily="49" charset="-122"/>
                <a:ea typeface="新宋体" panose="02010609030101010101" pitchFamily="49" charset="-122"/>
              </a:rPr>
              <a:t>); //</a:t>
            </a:r>
            <a:r>
              <a:rPr lang="zh-CN" altLang="en-US" sz="2000" dirty="0">
                <a:solidFill>
                  <a:srgbClr val="000000"/>
                </a:solidFill>
                <a:latin typeface="新宋体" panose="02010609030101010101" pitchFamily="49" charset="-122"/>
                <a:ea typeface="新宋体" panose="02010609030101010101" pitchFamily="49" charset="-122"/>
              </a:rPr>
              <a:t>确定填充色，如果没有，则没有填充色</a:t>
            </a:r>
            <a:endParaRPr lang="en-US" altLang="zh-CN" sz="2000" dirty="0">
              <a:solidFill>
                <a:srgbClr val="000000"/>
              </a:solidFill>
              <a:latin typeface="新宋体" panose="02010609030101010101" pitchFamily="49" charset="-122"/>
              <a:ea typeface="新宋体" panose="02010609030101010101" pitchFamily="49" charset="-122"/>
            </a:endParaRPr>
          </a:p>
          <a:p>
            <a:pPr marL="457200" lvl="1" indent="0">
              <a:lnSpc>
                <a:spcPct val="150000"/>
              </a:lnSpc>
              <a:buNone/>
            </a:pPr>
            <a:r>
              <a:rPr lang="en-US" altLang="zh-CN" sz="2000" dirty="0" err="1">
                <a:solidFill>
                  <a:srgbClr val="000000"/>
                </a:solidFill>
                <a:latin typeface="新宋体" panose="02010609030101010101" pitchFamily="49" charset="-122"/>
                <a:ea typeface="新宋体" panose="02010609030101010101" pitchFamily="49" charset="-122"/>
              </a:rPr>
              <a:t>rc.left</a:t>
            </a:r>
            <a:r>
              <a:rPr lang="en-US" altLang="zh-CN" sz="2000" dirty="0">
                <a:solidFill>
                  <a:srgbClr val="000000"/>
                </a:solidFill>
                <a:latin typeface="新宋体" panose="02010609030101010101" pitchFamily="49" charset="-122"/>
                <a:ea typeface="新宋体" panose="02010609030101010101" pitchFamily="49" charset="-122"/>
              </a:rPr>
              <a:t> = 300,rc.right = 600,rc.top = 100,rc.bottom = 150;</a:t>
            </a:r>
          </a:p>
          <a:p>
            <a:pPr marL="457200" lvl="1" indent="0">
              <a:lnSpc>
                <a:spcPct val="150000"/>
              </a:lnSpc>
              <a:buNone/>
            </a:pPr>
            <a:r>
              <a:rPr lang="en-US" altLang="zh-CN" sz="2000" dirty="0" err="1">
                <a:solidFill>
                  <a:srgbClr val="808080"/>
                </a:solidFill>
                <a:latin typeface="新宋体" panose="02010609030101010101" pitchFamily="49" charset="-122"/>
                <a:ea typeface="新宋体" panose="02010609030101010101" pitchFamily="49" charset="-122"/>
              </a:rPr>
              <a:t>pDC</a:t>
            </a:r>
            <a:r>
              <a:rPr lang="en-US" altLang="zh-CN" sz="2000" dirty="0">
                <a:solidFill>
                  <a:srgbClr val="000000"/>
                </a:solidFill>
                <a:latin typeface="新宋体" panose="02010609030101010101" pitchFamily="49" charset="-122"/>
                <a:ea typeface="新宋体" panose="02010609030101010101" pitchFamily="49" charset="-122"/>
              </a:rPr>
              <a:t>-&gt;Rectangle(&amp;</a:t>
            </a:r>
            <a:r>
              <a:rPr lang="en-US" altLang="zh-CN" sz="2000" dirty="0" err="1">
                <a:solidFill>
                  <a:srgbClr val="000000"/>
                </a:solidFill>
                <a:latin typeface="新宋体" panose="02010609030101010101" pitchFamily="49" charset="-122"/>
                <a:ea typeface="新宋体" panose="02010609030101010101" pitchFamily="49" charset="-122"/>
              </a:rPr>
              <a:t>rc</a:t>
            </a:r>
            <a:r>
              <a:rPr lang="en-US" altLang="zh-CN" sz="2000" dirty="0">
                <a:solidFill>
                  <a:srgbClr val="000000"/>
                </a:solidFill>
                <a:latin typeface="新宋体" panose="02010609030101010101" pitchFamily="49" charset="-122"/>
                <a:ea typeface="新宋体" panose="02010609030101010101" pitchFamily="49" charset="-122"/>
              </a:rPr>
              <a:t>);</a:t>
            </a:r>
            <a:endParaRPr lang="en-US" altLang="zh-CN" sz="2000" dirty="0">
              <a:latin typeface="华光仿宋_CNKI" panose="02000500000000000000" pitchFamily="2" charset="-122"/>
              <a:ea typeface="华光仿宋_CNKI" panose="02000500000000000000" pitchFamily="2" charset="-122"/>
            </a:endParaRPr>
          </a:p>
        </p:txBody>
      </p:sp>
    </p:spTree>
    <p:extLst>
      <p:ext uri="{BB962C8B-B14F-4D97-AF65-F5344CB8AC3E}">
        <p14:creationId xmlns:p14="http://schemas.microsoft.com/office/powerpoint/2010/main" val="34246821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D91439E-08E0-9F0E-C4E5-6EC3D316DFA5}"/>
              </a:ext>
            </a:extLst>
          </p:cNvPr>
          <p:cNvSpPr>
            <a:spLocks noGrp="1"/>
          </p:cNvSpPr>
          <p:nvPr>
            <p:ph idx="1"/>
          </p:nvPr>
        </p:nvSpPr>
        <p:spPr>
          <a:xfrm>
            <a:off x="325009" y="429371"/>
            <a:ext cx="11541981" cy="5716987"/>
          </a:xfrm>
        </p:spPr>
        <p:txBody>
          <a:bodyPr vert="horz" lIns="91440" tIns="45720" rIns="91440" bIns="45720" rtlCol="0">
            <a:normAutofit fontScale="92500"/>
          </a:bodyPr>
          <a:lstStyle/>
          <a:p>
            <a:pPr marL="0" indent="0">
              <a:lnSpc>
                <a:spcPct val="150000"/>
              </a:lnSpc>
              <a:buNone/>
            </a:pPr>
            <a:r>
              <a:rPr lang="zh-CN" altLang="en-US" sz="3200" dirty="0">
                <a:latin typeface="华光仿宋二_CNKI" panose="02000500000000000000" pitchFamily="2" charset="-122"/>
                <a:ea typeface="华光仿宋二_CNKI" panose="02000500000000000000" pitchFamily="2" charset="-122"/>
              </a:rPr>
              <a:t>    其他图形的绘制方法也基本类似。本教材主要利用打点的程序来模拟直线和其他图形在</a:t>
            </a:r>
            <a:r>
              <a:rPr lang="en-US" altLang="zh-CN" sz="3200" dirty="0">
                <a:latin typeface="华光仿宋二_CNKI" panose="02000500000000000000" pitchFamily="2" charset="-122"/>
                <a:ea typeface="华光仿宋二_CNKI" panose="02000500000000000000" pitchFamily="2" charset="-122"/>
              </a:rPr>
              <a:t>GPU</a:t>
            </a:r>
            <a:r>
              <a:rPr lang="zh-CN" altLang="en-US" sz="3200" dirty="0">
                <a:latin typeface="华光仿宋二_CNKI" panose="02000500000000000000" pitchFamily="2" charset="-122"/>
                <a:ea typeface="华光仿宋二_CNKI" panose="02000500000000000000" pitchFamily="2" charset="-122"/>
              </a:rPr>
              <a:t>中的生成过程，其实质是模拟</a:t>
            </a:r>
            <a:r>
              <a:rPr lang="en-US" altLang="zh-CN" sz="3200" dirty="0">
                <a:latin typeface="华光仿宋二_CNKI" panose="02000500000000000000" pitchFamily="2" charset="-122"/>
                <a:ea typeface="华光仿宋二_CNKI" panose="02000500000000000000" pitchFamily="2" charset="-122"/>
              </a:rPr>
              <a:t>GPU</a:t>
            </a:r>
            <a:r>
              <a:rPr lang="zh-CN" altLang="en-US" sz="3200" dirty="0">
                <a:latin typeface="华光仿宋二_CNKI" panose="02000500000000000000" pitchFamily="2" charset="-122"/>
                <a:ea typeface="华光仿宋二_CNKI" panose="02000500000000000000" pitchFamily="2" charset="-122"/>
              </a:rPr>
              <a:t>中硬件部分如何通过算法生成所需要的三维图形的过程。包括：</a:t>
            </a:r>
            <a:endParaRPr lang="en-US" altLang="zh-CN" sz="3200" dirty="0">
              <a:latin typeface="华光仿宋二_CNKI" panose="02000500000000000000" pitchFamily="2" charset="-122"/>
              <a:ea typeface="华光仿宋二_CNKI" panose="02000500000000000000" pitchFamily="2" charset="-122"/>
            </a:endParaRPr>
          </a:p>
          <a:p>
            <a:pPr marL="0" indent="0">
              <a:lnSpc>
                <a:spcPct val="150000"/>
              </a:lnSpc>
              <a:buNone/>
            </a:pPr>
            <a:r>
              <a:rPr lang="en-US" altLang="zh-CN" sz="3200" dirty="0">
                <a:latin typeface="华光仿宋二_CNKI" panose="02000500000000000000" pitchFamily="2" charset="-122"/>
                <a:ea typeface="华光仿宋二_CNKI" panose="02000500000000000000" pitchFamily="2" charset="-122"/>
              </a:rPr>
              <a:t>   </a:t>
            </a:r>
            <a:r>
              <a:rPr lang="zh-CN" altLang="en-US" sz="3200" dirty="0">
                <a:latin typeface="华光仿宋二_CNKI" panose="02000500000000000000" pitchFamily="2" charset="-122"/>
                <a:ea typeface="华光仿宋二_CNKI" panose="02000500000000000000" pitchFamily="2" charset="-122"/>
              </a:rPr>
              <a:t>（</a:t>
            </a:r>
            <a:r>
              <a:rPr lang="en-US" altLang="zh-CN" sz="3200" dirty="0">
                <a:latin typeface="华光仿宋二_CNKI" panose="02000500000000000000" pitchFamily="2" charset="-122"/>
                <a:ea typeface="华光仿宋二_CNKI" panose="02000500000000000000" pitchFamily="2" charset="-122"/>
              </a:rPr>
              <a:t>1</a:t>
            </a:r>
            <a:r>
              <a:rPr lang="zh-CN" altLang="en-US" sz="3200" dirty="0">
                <a:latin typeface="华光仿宋二_CNKI" panose="02000500000000000000" pitchFamily="2" charset="-122"/>
                <a:ea typeface="华光仿宋二_CNKI" panose="02000500000000000000" pitchFamily="2" charset="-122"/>
              </a:rPr>
              <a:t>）在给定直线两个点的情况下如何生成两个点之间的其它点，并绘制一条直线。</a:t>
            </a:r>
            <a:endParaRPr lang="en-US" altLang="zh-CN" sz="3200" dirty="0">
              <a:latin typeface="华光仿宋二_CNKI" panose="02000500000000000000" pitchFamily="2" charset="-122"/>
              <a:ea typeface="华光仿宋二_CNKI" panose="02000500000000000000" pitchFamily="2" charset="-122"/>
            </a:endParaRPr>
          </a:p>
          <a:p>
            <a:pPr marL="0" indent="0">
              <a:lnSpc>
                <a:spcPct val="150000"/>
              </a:lnSpc>
              <a:buNone/>
            </a:pPr>
            <a:r>
              <a:rPr lang="en-US" altLang="zh-CN" sz="3200" dirty="0">
                <a:latin typeface="华光仿宋二_CNKI" panose="02000500000000000000" pitchFamily="2" charset="-122"/>
                <a:ea typeface="华光仿宋二_CNKI" panose="02000500000000000000" pitchFamily="2" charset="-122"/>
              </a:rPr>
              <a:t>   </a:t>
            </a:r>
            <a:r>
              <a:rPr lang="zh-CN" altLang="en-US" sz="3200" dirty="0">
                <a:latin typeface="华光仿宋二_CNKI" panose="02000500000000000000" pitchFamily="2" charset="-122"/>
                <a:ea typeface="华光仿宋二_CNKI" panose="02000500000000000000" pitchFamily="2" charset="-122"/>
              </a:rPr>
              <a:t>（</a:t>
            </a:r>
            <a:r>
              <a:rPr lang="en-US" altLang="zh-CN" sz="3200" dirty="0">
                <a:latin typeface="华光仿宋二_CNKI" panose="02000500000000000000" pitchFamily="2" charset="-122"/>
                <a:ea typeface="华光仿宋二_CNKI" panose="02000500000000000000" pitchFamily="2" charset="-122"/>
              </a:rPr>
              <a:t>2</a:t>
            </a:r>
            <a:r>
              <a:rPr lang="zh-CN" altLang="en-US" sz="3200" dirty="0">
                <a:latin typeface="华光仿宋二_CNKI" panose="02000500000000000000" pitchFamily="2" charset="-122"/>
                <a:ea typeface="华光仿宋二_CNKI" panose="02000500000000000000" pitchFamily="2" charset="-122"/>
              </a:rPr>
              <a:t>）在给定圆或者圆弧的圆心和半径，角度大小如何绘制对应的圆或者圆弧。</a:t>
            </a:r>
            <a:endParaRPr lang="en-US" altLang="zh-CN" sz="3200" dirty="0">
              <a:latin typeface="华光仿宋二_CNKI" panose="02000500000000000000" pitchFamily="2" charset="-122"/>
              <a:ea typeface="华光仿宋二_CNKI" panose="02000500000000000000" pitchFamily="2" charset="-122"/>
            </a:endParaRPr>
          </a:p>
        </p:txBody>
      </p:sp>
    </p:spTree>
    <p:extLst>
      <p:ext uri="{BB962C8B-B14F-4D97-AF65-F5344CB8AC3E}">
        <p14:creationId xmlns:p14="http://schemas.microsoft.com/office/powerpoint/2010/main" val="7325363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D91439E-08E0-9F0E-C4E5-6EC3D316DFA5}"/>
              </a:ext>
            </a:extLst>
          </p:cNvPr>
          <p:cNvSpPr>
            <a:spLocks noGrp="1"/>
          </p:cNvSpPr>
          <p:nvPr>
            <p:ph idx="1"/>
          </p:nvPr>
        </p:nvSpPr>
        <p:spPr>
          <a:xfrm>
            <a:off x="325009" y="429371"/>
            <a:ext cx="11541981" cy="5716987"/>
          </a:xfrm>
        </p:spPr>
        <p:txBody>
          <a:bodyPr vert="horz" lIns="91440" tIns="45720" rIns="91440" bIns="45720" rtlCol="0">
            <a:normAutofit/>
          </a:bodyPr>
          <a:lstStyle/>
          <a:p>
            <a:pPr marL="0" indent="0">
              <a:lnSpc>
                <a:spcPct val="150000"/>
              </a:lnSpc>
              <a:buNone/>
            </a:pPr>
            <a:r>
              <a:rPr lang="en-US" altLang="zh-CN" sz="3200" dirty="0">
                <a:latin typeface="华光仿宋二_CNKI" panose="02000500000000000000" pitchFamily="2" charset="-122"/>
                <a:ea typeface="华光仿宋二_CNKI" panose="02000500000000000000" pitchFamily="2" charset="-122"/>
              </a:rPr>
              <a:t>   </a:t>
            </a:r>
            <a:r>
              <a:rPr lang="zh-CN" altLang="en-US" sz="3200" dirty="0">
                <a:latin typeface="华光仿宋二_CNKI" panose="02000500000000000000" pitchFamily="2" charset="-122"/>
                <a:ea typeface="华光仿宋二_CNKI" panose="02000500000000000000" pitchFamily="2" charset="-122"/>
              </a:rPr>
              <a:t>（</a:t>
            </a:r>
            <a:r>
              <a:rPr lang="en-US" altLang="zh-CN" sz="3200" dirty="0">
                <a:latin typeface="华光仿宋二_CNKI" panose="02000500000000000000" pitchFamily="2" charset="-122"/>
                <a:ea typeface="华光仿宋二_CNKI" panose="02000500000000000000" pitchFamily="2" charset="-122"/>
              </a:rPr>
              <a:t>3</a:t>
            </a:r>
            <a:r>
              <a:rPr lang="zh-CN" altLang="en-US" sz="3200" dirty="0">
                <a:latin typeface="华光仿宋二_CNKI" panose="02000500000000000000" pitchFamily="2" charset="-122"/>
                <a:ea typeface="华光仿宋二_CNKI" panose="02000500000000000000" pitchFamily="2" charset="-122"/>
              </a:rPr>
              <a:t>）给定直线或者弧线的线宽和线型的情况下如何绘制该直线或者弧线以及多边形区域填充问题。</a:t>
            </a:r>
            <a:endParaRPr lang="en-US" altLang="zh-CN" sz="3200" dirty="0">
              <a:latin typeface="华光仿宋二_CNKI" panose="02000500000000000000" pitchFamily="2" charset="-122"/>
              <a:ea typeface="华光仿宋二_CNKI" panose="02000500000000000000" pitchFamily="2" charset="-122"/>
            </a:endParaRPr>
          </a:p>
          <a:p>
            <a:pPr marL="0" indent="0">
              <a:lnSpc>
                <a:spcPct val="150000"/>
              </a:lnSpc>
              <a:buNone/>
            </a:pPr>
            <a:r>
              <a:rPr lang="en-US" altLang="zh-CN" sz="3200" dirty="0">
                <a:latin typeface="华光仿宋二_CNKI" panose="02000500000000000000" pitchFamily="2" charset="-122"/>
                <a:ea typeface="华光仿宋二_CNKI" panose="02000500000000000000" pitchFamily="2" charset="-122"/>
              </a:rPr>
              <a:t>   </a:t>
            </a:r>
            <a:r>
              <a:rPr lang="zh-CN" altLang="en-US" sz="3200" dirty="0">
                <a:latin typeface="华光仿宋二_CNKI" panose="02000500000000000000" pitchFamily="2" charset="-122"/>
                <a:ea typeface="华光仿宋二_CNKI" panose="02000500000000000000" pitchFamily="2" charset="-122"/>
              </a:rPr>
              <a:t>（</a:t>
            </a:r>
            <a:r>
              <a:rPr lang="en-US" altLang="zh-CN" sz="3200" dirty="0">
                <a:latin typeface="华光仿宋二_CNKI" panose="02000500000000000000" pitchFamily="2" charset="-122"/>
                <a:ea typeface="华光仿宋二_CNKI" panose="02000500000000000000" pitchFamily="2" charset="-122"/>
              </a:rPr>
              <a:t>4</a:t>
            </a:r>
            <a:r>
              <a:rPr lang="zh-CN" altLang="en-US" sz="3200" dirty="0">
                <a:latin typeface="华光仿宋二_CNKI" panose="02000500000000000000" pitchFamily="2" charset="-122"/>
                <a:ea typeface="华光仿宋二_CNKI" panose="02000500000000000000" pitchFamily="2" charset="-122"/>
              </a:rPr>
              <a:t>）图形变换及裁剪问题；如何去除显示区域外的图形。</a:t>
            </a:r>
            <a:endParaRPr lang="en-US" altLang="zh-CN" sz="3200" dirty="0">
              <a:latin typeface="华光仿宋二_CNKI" panose="02000500000000000000" pitchFamily="2" charset="-122"/>
              <a:ea typeface="华光仿宋二_CNKI" panose="02000500000000000000" pitchFamily="2" charset="-122"/>
            </a:endParaRPr>
          </a:p>
          <a:p>
            <a:pPr marL="0" indent="0">
              <a:lnSpc>
                <a:spcPct val="150000"/>
              </a:lnSpc>
              <a:buNone/>
            </a:pPr>
            <a:r>
              <a:rPr lang="en-US" altLang="zh-CN" sz="3200" dirty="0">
                <a:latin typeface="华光仿宋二_CNKI" panose="02000500000000000000" pitchFamily="2" charset="-122"/>
                <a:ea typeface="华光仿宋二_CNKI" panose="02000500000000000000" pitchFamily="2" charset="-122"/>
              </a:rPr>
              <a:t>   </a:t>
            </a:r>
            <a:r>
              <a:rPr lang="zh-CN" altLang="en-US" sz="3200" dirty="0">
                <a:latin typeface="华光仿宋二_CNKI" panose="02000500000000000000" pitchFamily="2" charset="-122"/>
                <a:ea typeface="华光仿宋二_CNKI" panose="02000500000000000000" pitchFamily="2" charset="-122"/>
              </a:rPr>
              <a:t>（</a:t>
            </a:r>
            <a:r>
              <a:rPr lang="en-US" altLang="zh-CN" sz="3200" dirty="0">
                <a:latin typeface="华光仿宋二_CNKI" panose="02000500000000000000" pitchFamily="2" charset="-122"/>
                <a:ea typeface="华光仿宋二_CNKI" panose="02000500000000000000" pitchFamily="2" charset="-122"/>
              </a:rPr>
              <a:t>5</a:t>
            </a:r>
            <a:r>
              <a:rPr lang="zh-CN" altLang="en-US" sz="3200" dirty="0">
                <a:latin typeface="华光仿宋二_CNKI" panose="02000500000000000000" pitchFamily="2" charset="-122"/>
                <a:ea typeface="华光仿宋二_CNKI" panose="02000500000000000000" pitchFamily="2" charset="-122"/>
              </a:rPr>
              <a:t>）消隐问题；如何消除隐藏面，消除视角无法观察到的图形。</a:t>
            </a:r>
            <a:endParaRPr lang="en-US" altLang="zh-CN" sz="3200" dirty="0">
              <a:latin typeface="华光仿宋二_CNKI" panose="02000500000000000000" pitchFamily="2" charset="-122"/>
              <a:ea typeface="华光仿宋二_CNKI" panose="02000500000000000000" pitchFamily="2" charset="-122"/>
            </a:endParaRPr>
          </a:p>
          <a:p>
            <a:pPr marL="0" indent="0">
              <a:lnSpc>
                <a:spcPct val="150000"/>
              </a:lnSpc>
              <a:buNone/>
            </a:pPr>
            <a:r>
              <a:rPr lang="en-US" altLang="zh-CN" sz="3200" dirty="0">
                <a:latin typeface="华光仿宋二_CNKI" panose="02000500000000000000" pitchFamily="2" charset="-122"/>
                <a:ea typeface="华光仿宋二_CNKI" panose="02000500000000000000" pitchFamily="2" charset="-122"/>
              </a:rPr>
              <a:t>   </a:t>
            </a:r>
            <a:r>
              <a:rPr lang="zh-CN" altLang="en-US" sz="3200" dirty="0">
                <a:latin typeface="华光仿宋二_CNKI" panose="02000500000000000000" pitchFamily="2" charset="-122"/>
                <a:ea typeface="华光仿宋二_CNKI" panose="02000500000000000000" pitchFamily="2" charset="-122"/>
              </a:rPr>
              <a:t>（</a:t>
            </a:r>
            <a:r>
              <a:rPr lang="en-US" altLang="zh-CN" sz="3200" dirty="0">
                <a:latin typeface="华光仿宋二_CNKI" panose="02000500000000000000" pitchFamily="2" charset="-122"/>
                <a:ea typeface="华光仿宋二_CNKI" panose="02000500000000000000" pitchFamily="2" charset="-122"/>
              </a:rPr>
              <a:t>6</a:t>
            </a:r>
            <a:r>
              <a:rPr lang="zh-CN" altLang="en-US" sz="3200" dirty="0">
                <a:latin typeface="华光仿宋二_CNKI" panose="02000500000000000000" pitchFamily="2" charset="-122"/>
                <a:ea typeface="华光仿宋二_CNKI" panose="02000500000000000000" pitchFamily="2" charset="-122"/>
              </a:rPr>
              <a:t>）光照处理：在光照情况下的物体显示。</a:t>
            </a:r>
            <a:endParaRPr lang="en-US" altLang="zh-CN" sz="3200" dirty="0">
              <a:latin typeface="华光仿宋二_CNKI" panose="02000500000000000000" pitchFamily="2" charset="-122"/>
              <a:ea typeface="华光仿宋二_CNKI" panose="02000500000000000000" pitchFamily="2" charset="-122"/>
            </a:endParaRPr>
          </a:p>
          <a:p>
            <a:pPr marL="0" indent="0">
              <a:lnSpc>
                <a:spcPct val="150000"/>
              </a:lnSpc>
              <a:buNone/>
            </a:pPr>
            <a:r>
              <a:rPr lang="en-US" altLang="zh-CN" sz="3200" dirty="0">
                <a:latin typeface="华光仿宋二_CNKI" panose="02000500000000000000" pitchFamily="2" charset="-122"/>
                <a:ea typeface="华光仿宋二_CNKI" panose="02000500000000000000" pitchFamily="2" charset="-122"/>
              </a:rPr>
              <a:t>   </a:t>
            </a:r>
            <a:r>
              <a:rPr lang="zh-CN" altLang="en-US" sz="3200" dirty="0">
                <a:latin typeface="华光仿宋二_CNKI" panose="02000500000000000000" pitchFamily="2" charset="-122"/>
                <a:ea typeface="华光仿宋二_CNKI" panose="02000500000000000000" pitchFamily="2" charset="-122"/>
              </a:rPr>
              <a:t>（</a:t>
            </a:r>
            <a:r>
              <a:rPr lang="en-US" altLang="zh-CN" sz="3200" dirty="0">
                <a:latin typeface="华光仿宋二_CNKI" panose="02000500000000000000" pitchFamily="2" charset="-122"/>
                <a:ea typeface="华光仿宋二_CNKI" panose="02000500000000000000" pitchFamily="2" charset="-122"/>
              </a:rPr>
              <a:t>7</a:t>
            </a:r>
            <a:r>
              <a:rPr lang="zh-CN" altLang="en-US" sz="3200" dirty="0">
                <a:latin typeface="华光仿宋二_CNKI" panose="02000500000000000000" pitchFamily="2" charset="-122"/>
                <a:ea typeface="华光仿宋二_CNKI" panose="02000500000000000000" pitchFamily="2" charset="-122"/>
              </a:rPr>
              <a:t>）纹理映射：光照情况下物体表面纹理显示。</a:t>
            </a:r>
            <a:endParaRPr lang="en-US" altLang="zh-CN" sz="3200" dirty="0">
              <a:latin typeface="华光仿宋二_CNKI" panose="02000500000000000000" pitchFamily="2" charset="-122"/>
              <a:ea typeface="华光仿宋二_CNKI" panose="02000500000000000000" pitchFamily="2" charset="-122"/>
            </a:endParaRPr>
          </a:p>
        </p:txBody>
      </p:sp>
    </p:spTree>
    <p:extLst>
      <p:ext uri="{BB962C8B-B14F-4D97-AF65-F5344CB8AC3E}">
        <p14:creationId xmlns:p14="http://schemas.microsoft.com/office/powerpoint/2010/main" val="34597435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D91439E-08E0-9F0E-C4E5-6EC3D316DFA5}"/>
              </a:ext>
            </a:extLst>
          </p:cNvPr>
          <p:cNvSpPr>
            <a:spLocks noGrp="1"/>
          </p:cNvSpPr>
          <p:nvPr>
            <p:ph idx="1"/>
          </p:nvPr>
        </p:nvSpPr>
        <p:spPr>
          <a:xfrm>
            <a:off x="325009" y="429371"/>
            <a:ext cx="11541981" cy="5716987"/>
          </a:xfrm>
        </p:spPr>
        <p:txBody>
          <a:bodyPr vert="horz" lIns="91440" tIns="45720" rIns="91440" bIns="45720" rtlCol="0">
            <a:normAutofit/>
          </a:bodyPr>
          <a:lstStyle/>
          <a:p>
            <a:pPr marL="0" indent="0">
              <a:lnSpc>
                <a:spcPct val="150000"/>
              </a:lnSpc>
              <a:buNone/>
            </a:pPr>
            <a:r>
              <a:rPr lang="en-US" altLang="zh-CN" sz="3200" dirty="0">
                <a:latin typeface="华光仿宋二_CNKI" panose="02000500000000000000" pitchFamily="2" charset="-122"/>
                <a:ea typeface="华光仿宋二_CNKI" panose="02000500000000000000" pitchFamily="2" charset="-122"/>
              </a:rPr>
              <a:t>   </a:t>
            </a:r>
            <a:r>
              <a:rPr lang="zh-CN" altLang="en-US" sz="3200" dirty="0">
                <a:latin typeface="华光仿宋二_CNKI" panose="02000500000000000000" pitchFamily="2" charset="-122"/>
                <a:ea typeface="华光仿宋二_CNKI" panose="02000500000000000000" pitchFamily="2" charset="-122"/>
              </a:rPr>
              <a:t>此外，本课程还涉及到一些图形或者模型生成方法，包括：</a:t>
            </a:r>
            <a:endParaRPr lang="en-US" altLang="zh-CN" sz="3200" dirty="0">
              <a:latin typeface="华光仿宋二_CNKI" panose="02000500000000000000" pitchFamily="2" charset="-122"/>
              <a:ea typeface="华光仿宋二_CNKI" panose="02000500000000000000" pitchFamily="2" charset="-122"/>
            </a:endParaRPr>
          </a:p>
          <a:p>
            <a:pPr marL="0" indent="0">
              <a:lnSpc>
                <a:spcPct val="150000"/>
              </a:lnSpc>
              <a:buNone/>
            </a:pPr>
            <a:r>
              <a:rPr lang="en-US" altLang="zh-CN" sz="3200" dirty="0">
                <a:latin typeface="华光仿宋二_CNKI" panose="02000500000000000000" pitchFamily="2" charset="-122"/>
                <a:ea typeface="华光仿宋二_CNKI" panose="02000500000000000000" pitchFamily="2" charset="-122"/>
              </a:rPr>
              <a:t>   </a:t>
            </a:r>
            <a:r>
              <a:rPr lang="zh-CN" altLang="en-US" sz="3200" dirty="0">
                <a:latin typeface="华光仿宋二_CNKI" panose="02000500000000000000" pitchFamily="2" charset="-122"/>
                <a:ea typeface="华光仿宋二_CNKI" panose="02000500000000000000" pitchFamily="2" charset="-122"/>
              </a:rPr>
              <a:t>（</a:t>
            </a:r>
            <a:r>
              <a:rPr lang="en-US" altLang="zh-CN" sz="3200" dirty="0">
                <a:latin typeface="华光仿宋二_CNKI" panose="02000500000000000000" pitchFamily="2" charset="-122"/>
                <a:ea typeface="华光仿宋二_CNKI" panose="02000500000000000000" pitchFamily="2" charset="-122"/>
              </a:rPr>
              <a:t>1</a:t>
            </a:r>
            <a:r>
              <a:rPr lang="zh-CN" altLang="en-US" sz="3200" dirty="0">
                <a:latin typeface="华光仿宋二_CNKI" panose="02000500000000000000" pitchFamily="2" charset="-122"/>
                <a:ea typeface="华光仿宋二_CNKI" panose="02000500000000000000" pitchFamily="2" charset="-122"/>
              </a:rPr>
              <a:t>）曲线的生成。在给定曲线方程的情况下如何绘制对应的曲线。</a:t>
            </a:r>
            <a:endParaRPr lang="en-US" altLang="zh-CN" sz="3200" dirty="0">
              <a:latin typeface="华光仿宋二_CNKI" panose="02000500000000000000" pitchFamily="2" charset="-122"/>
              <a:ea typeface="华光仿宋二_CNKI" panose="02000500000000000000" pitchFamily="2" charset="-122"/>
            </a:endParaRPr>
          </a:p>
          <a:p>
            <a:pPr marL="0" indent="0">
              <a:lnSpc>
                <a:spcPct val="150000"/>
              </a:lnSpc>
              <a:buNone/>
            </a:pPr>
            <a:r>
              <a:rPr lang="en-US" altLang="zh-CN" sz="3200" dirty="0">
                <a:latin typeface="华光仿宋二_CNKI" panose="02000500000000000000" pitchFamily="2" charset="-122"/>
                <a:ea typeface="华光仿宋二_CNKI" panose="02000500000000000000" pitchFamily="2" charset="-122"/>
              </a:rPr>
              <a:t>   </a:t>
            </a:r>
            <a:r>
              <a:rPr lang="zh-CN" altLang="en-US" sz="3200" dirty="0">
                <a:latin typeface="华光仿宋二_CNKI" panose="02000500000000000000" pitchFamily="2" charset="-122"/>
                <a:ea typeface="华光仿宋二_CNKI" panose="02000500000000000000" pitchFamily="2" charset="-122"/>
              </a:rPr>
              <a:t>（</a:t>
            </a:r>
            <a:r>
              <a:rPr lang="en-US" altLang="zh-CN" sz="3200" dirty="0">
                <a:latin typeface="华光仿宋二_CNKI" panose="02000500000000000000" pitchFamily="2" charset="-122"/>
                <a:ea typeface="华光仿宋二_CNKI" panose="02000500000000000000" pitchFamily="2" charset="-122"/>
              </a:rPr>
              <a:t>2</a:t>
            </a:r>
            <a:r>
              <a:rPr lang="zh-CN" altLang="en-US" sz="3200" dirty="0">
                <a:latin typeface="华光仿宋二_CNKI" panose="02000500000000000000" pitchFamily="2" charset="-122"/>
                <a:ea typeface="华光仿宋二_CNKI" panose="02000500000000000000" pitchFamily="2" charset="-122"/>
              </a:rPr>
              <a:t>）曲面的生成。给定曲面生成方程的情况下如何绘制对应的曲面。</a:t>
            </a:r>
            <a:endParaRPr lang="en-US" altLang="zh-CN" sz="3200" dirty="0">
              <a:latin typeface="华光仿宋二_CNKI" panose="02000500000000000000" pitchFamily="2" charset="-122"/>
              <a:ea typeface="华光仿宋二_CNKI" panose="02000500000000000000" pitchFamily="2" charset="-122"/>
            </a:endParaRPr>
          </a:p>
          <a:p>
            <a:pPr marL="0" indent="0">
              <a:lnSpc>
                <a:spcPct val="150000"/>
              </a:lnSpc>
              <a:buNone/>
            </a:pPr>
            <a:r>
              <a:rPr lang="en-US" altLang="zh-CN" sz="3200" dirty="0">
                <a:latin typeface="华光仿宋二_CNKI" panose="02000500000000000000" pitchFamily="2" charset="-122"/>
                <a:ea typeface="华光仿宋二_CNKI" panose="02000500000000000000" pitchFamily="2" charset="-122"/>
              </a:rPr>
              <a:t>   </a:t>
            </a:r>
            <a:r>
              <a:rPr lang="zh-CN" altLang="en-US" sz="3200" dirty="0">
                <a:latin typeface="华光仿宋二_CNKI" panose="02000500000000000000" pitchFamily="2" charset="-122"/>
                <a:ea typeface="华光仿宋二_CNKI" panose="02000500000000000000" pitchFamily="2" charset="-122"/>
              </a:rPr>
              <a:t>（</a:t>
            </a:r>
            <a:r>
              <a:rPr lang="en-US" altLang="zh-CN" sz="3200" dirty="0">
                <a:latin typeface="华光仿宋二_CNKI" panose="02000500000000000000" pitchFamily="2" charset="-122"/>
                <a:ea typeface="华光仿宋二_CNKI" panose="02000500000000000000" pitchFamily="2" charset="-122"/>
              </a:rPr>
              <a:t>3</a:t>
            </a:r>
            <a:r>
              <a:rPr lang="zh-CN" altLang="en-US" sz="3200" dirty="0">
                <a:latin typeface="华光仿宋二_CNKI" panose="02000500000000000000" pitchFamily="2" charset="-122"/>
                <a:ea typeface="华光仿宋二_CNKI" panose="02000500000000000000" pitchFamily="2" charset="-122"/>
              </a:rPr>
              <a:t>）自然景物的模拟。通过分形算法生成相应的自然景物，比如雪花，植物，山脉等。</a:t>
            </a:r>
            <a:endParaRPr lang="en-US" altLang="zh-CN" sz="3200" dirty="0">
              <a:latin typeface="华光仿宋二_CNKI" panose="02000500000000000000" pitchFamily="2" charset="-122"/>
              <a:ea typeface="华光仿宋二_CNKI" panose="02000500000000000000" pitchFamily="2" charset="-122"/>
            </a:endParaRPr>
          </a:p>
        </p:txBody>
      </p:sp>
    </p:spTree>
    <p:extLst>
      <p:ext uri="{BB962C8B-B14F-4D97-AF65-F5344CB8AC3E}">
        <p14:creationId xmlns:p14="http://schemas.microsoft.com/office/powerpoint/2010/main" val="262709365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D91439E-08E0-9F0E-C4E5-6EC3D316DFA5}"/>
              </a:ext>
            </a:extLst>
          </p:cNvPr>
          <p:cNvSpPr>
            <a:spLocks noGrp="1"/>
          </p:cNvSpPr>
          <p:nvPr>
            <p:ph idx="1"/>
          </p:nvPr>
        </p:nvSpPr>
        <p:spPr>
          <a:xfrm>
            <a:off x="636104" y="659958"/>
            <a:ext cx="11310399" cy="5247861"/>
          </a:xfrm>
        </p:spPr>
        <p:txBody>
          <a:bodyPr vert="horz" lIns="91440" tIns="45720" rIns="91440" bIns="45720" rtlCol="0">
            <a:normAutofit/>
          </a:bodyPr>
          <a:lstStyle/>
          <a:p>
            <a:pPr marL="0" indent="0">
              <a:lnSpc>
                <a:spcPct val="150000"/>
              </a:lnSpc>
              <a:buNone/>
            </a:pPr>
            <a:r>
              <a:rPr lang="en-US" altLang="zh-CN" sz="3200" dirty="0">
                <a:latin typeface="华光仿宋二_CNKI" panose="02000500000000000000" pitchFamily="2" charset="-122"/>
                <a:ea typeface="华光仿宋二_CNKI" panose="02000500000000000000" pitchFamily="2" charset="-122"/>
              </a:rPr>
              <a:t>   </a:t>
            </a:r>
            <a:r>
              <a:rPr lang="zh-CN" altLang="en-US" sz="3200" dirty="0">
                <a:latin typeface="华光仿宋二_CNKI" panose="02000500000000000000" pitchFamily="2" charset="-122"/>
                <a:ea typeface="华光仿宋二_CNKI" panose="02000500000000000000" pitchFamily="2" charset="-122"/>
              </a:rPr>
              <a:t>在基本图形算法生成的基础上，可以利用</a:t>
            </a:r>
            <a:r>
              <a:rPr lang="en-US" altLang="zh-CN" sz="3200" dirty="0">
                <a:latin typeface="华光仿宋二_CNKI" panose="02000500000000000000" pitchFamily="2" charset="-122"/>
                <a:ea typeface="华光仿宋二_CNKI" panose="02000500000000000000" pitchFamily="2" charset="-122"/>
              </a:rPr>
              <a:t>Direct3D</a:t>
            </a:r>
            <a:r>
              <a:rPr lang="zh-CN" altLang="en-US" sz="3200" dirty="0">
                <a:latin typeface="华光仿宋二_CNKI" panose="02000500000000000000" pitchFamily="2" charset="-122"/>
                <a:ea typeface="华光仿宋二_CNKI" panose="02000500000000000000" pitchFamily="2" charset="-122"/>
              </a:rPr>
              <a:t>或者</a:t>
            </a:r>
            <a:r>
              <a:rPr lang="en-US" altLang="zh-CN" sz="3200" dirty="0">
                <a:latin typeface="华光仿宋二_CNKI" panose="02000500000000000000" pitchFamily="2" charset="-122"/>
                <a:ea typeface="华光仿宋二_CNKI" panose="02000500000000000000" pitchFamily="2" charset="-122"/>
              </a:rPr>
              <a:t>OpenGL</a:t>
            </a:r>
            <a:r>
              <a:rPr lang="zh-CN" altLang="en-US" sz="3200" dirty="0">
                <a:latin typeface="华光仿宋二_CNKI" panose="02000500000000000000" pitchFamily="2" charset="-122"/>
                <a:ea typeface="华光仿宋二_CNKI" panose="02000500000000000000" pitchFamily="2" charset="-122"/>
              </a:rPr>
              <a:t>等其他的图形开发工具，利用ＧＰＵ强大的图形处理能力实现图形的绘制。其基本原理是将前面的基本图形生成算法用ＧＰＵ硬件实现，通过并行计算以及流水线处理方式，提高了图形处理的速度和效率，能够实现大规模的图形变换及处理。</a:t>
            </a:r>
            <a:endParaRPr lang="en-US" altLang="zh-CN" sz="3200" dirty="0">
              <a:latin typeface="华光仿宋二_CNKI" panose="02000500000000000000" pitchFamily="2" charset="-122"/>
              <a:ea typeface="华光仿宋二_CNKI" panose="02000500000000000000" pitchFamily="2" charset="-122"/>
            </a:endParaRPr>
          </a:p>
        </p:txBody>
      </p:sp>
    </p:spTree>
    <p:extLst>
      <p:ext uri="{BB962C8B-B14F-4D97-AF65-F5344CB8AC3E}">
        <p14:creationId xmlns:p14="http://schemas.microsoft.com/office/powerpoint/2010/main" val="3321669668"/>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1568</TotalTime>
  <Words>2648</Words>
  <Application>Microsoft Office PowerPoint</Application>
  <PresentationFormat>宽屏</PresentationFormat>
  <Paragraphs>108</Paragraphs>
  <Slides>36</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36</vt:i4>
      </vt:variant>
    </vt:vector>
  </HeadingPairs>
  <TitlesOfParts>
    <vt:vector size="49" baseType="lpstr">
      <vt:lpstr>-apple-system</vt:lpstr>
      <vt:lpstr>Batang</vt:lpstr>
      <vt:lpstr>SFMono-Regular</vt:lpstr>
      <vt:lpstr>等线</vt:lpstr>
      <vt:lpstr>等线 Light</vt:lpstr>
      <vt:lpstr>黑体</vt:lpstr>
      <vt:lpstr>华光标题宋_CNKI</vt:lpstr>
      <vt:lpstr>华光仿宋_CNKI</vt:lpstr>
      <vt:lpstr>华光仿宋二_CNKI</vt:lpstr>
      <vt:lpstr>华光小标宋_CNKI</vt:lpstr>
      <vt:lpstr>新宋体</vt:lpstr>
      <vt:lpstr>Arial</vt:lpstr>
      <vt:lpstr>Office 主题​​</vt:lpstr>
      <vt:lpstr>第3章 图形开发环境及工具</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第3章 图形开发环境及工具</dc:title>
  <dc:creator>黄海于</dc:creator>
  <cp:lastModifiedBy>黄海于</cp:lastModifiedBy>
  <cp:revision>129</cp:revision>
  <dcterms:created xsi:type="dcterms:W3CDTF">2023-07-17T03:25:44Z</dcterms:created>
  <dcterms:modified xsi:type="dcterms:W3CDTF">2023-08-03T10:05:00Z</dcterms:modified>
</cp:coreProperties>
</file>