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62" r:id="rId4"/>
    <p:sldId id="263" r:id="rId5"/>
    <p:sldId id="264" r:id="rId6"/>
    <p:sldId id="265" r:id="rId7"/>
    <p:sldId id="266" r:id="rId8"/>
    <p:sldId id="267" r:id="rId9"/>
    <p:sldId id="268" r:id="rId10"/>
    <p:sldId id="270" r:id="rId11"/>
    <p:sldId id="271" r:id="rId12"/>
    <p:sldId id="272" r:id="rId13"/>
    <p:sldId id="273" r:id="rId14"/>
    <p:sldId id="274" r:id="rId15"/>
    <p:sldId id="275" r:id="rId16"/>
    <p:sldId id="276" r:id="rId17"/>
    <p:sldId id="277" r:id="rId18"/>
    <p:sldId id="278" r:id="rId19"/>
    <p:sldId id="279" r:id="rId20"/>
    <p:sldId id="280" r:id="rId21"/>
    <p:sldId id="284" r:id="rId22"/>
    <p:sldId id="285" r:id="rId23"/>
    <p:sldId id="286" r:id="rId24"/>
    <p:sldId id="287" r:id="rId25"/>
    <p:sldId id="290" r:id="rId26"/>
    <p:sldId id="291" r:id="rId27"/>
    <p:sldId id="292" r:id="rId28"/>
    <p:sldId id="288" r:id="rId29"/>
    <p:sldId id="289" r:id="rId30"/>
    <p:sldId id="293" r:id="rId31"/>
    <p:sldId id="294" r:id="rId32"/>
    <p:sldId id="298" r:id="rId33"/>
    <p:sldId id="299" r:id="rId34"/>
    <p:sldId id="409" r:id="rId35"/>
    <p:sldId id="408" r:id="rId36"/>
    <p:sldId id="352" r:id="rId37"/>
    <p:sldId id="353" r:id="rId38"/>
    <p:sldId id="354" r:id="rId39"/>
    <p:sldId id="355" r:id="rId40"/>
    <p:sldId id="357" r:id="rId41"/>
    <p:sldId id="359" r:id="rId42"/>
    <p:sldId id="360" r:id="rId43"/>
    <p:sldId id="361" r:id="rId44"/>
    <p:sldId id="362" r:id="rId45"/>
    <p:sldId id="363" r:id="rId46"/>
    <p:sldId id="364" r:id="rId47"/>
    <p:sldId id="365" r:id="rId48"/>
    <p:sldId id="366"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0" d="100"/>
          <a:sy n="60" d="100"/>
        </p:scale>
        <p:origin x="843"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9EAF1C-91A6-459F-8C44-6844E6F87C45}" type="datetimeFigureOut">
              <a:rPr lang="zh-CN" altLang="en-US" smtClean="0"/>
              <a:t>2023/7/17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410177-AF93-4A06-BE5F-31AB04936DAD}" type="slidenum">
              <a:rPr lang="zh-CN" altLang="en-US" smtClean="0"/>
              <a:t>‹#›</a:t>
            </a:fld>
            <a:endParaRPr lang="zh-CN" altLang="en-US"/>
          </a:p>
        </p:txBody>
      </p:sp>
    </p:spTree>
    <p:extLst>
      <p:ext uri="{BB962C8B-B14F-4D97-AF65-F5344CB8AC3E}">
        <p14:creationId xmlns:p14="http://schemas.microsoft.com/office/powerpoint/2010/main" val="2378500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DDE3FB-F471-44B9-B622-B10CEED693B0}" type="slidenum">
              <a:rPr lang="zh-CN" altLang="en-US" smtClean="0"/>
              <a:t>12</a:t>
            </a:fld>
            <a:endParaRPr lang="zh-CN" altLang="en-US"/>
          </a:p>
        </p:txBody>
      </p:sp>
    </p:spTree>
    <p:extLst>
      <p:ext uri="{BB962C8B-B14F-4D97-AF65-F5344CB8AC3E}">
        <p14:creationId xmlns:p14="http://schemas.microsoft.com/office/powerpoint/2010/main" val="3717525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DDE3FB-F471-44B9-B622-B10CEED693B0}" type="slidenum">
              <a:rPr lang="zh-CN" altLang="en-US" smtClean="0"/>
              <a:t>13</a:t>
            </a:fld>
            <a:endParaRPr lang="zh-CN" altLang="en-US"/>
          </a:p>
        </p:txBody>
      </p:sp>
    </p:spTree>
    <p:extLst>
      <p:ext uri="{BB962C8B-B14F-4D97-AF65-F5344CB8AC3E}">
        <p14:creationId xmlns:p14="http://schemas.microsoft.com/office/powerpoint/2010/main" val="937341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ADDE3FB-F471-44B9-B622-B10CEED693B0}" type="slidenum">
              <a:rPr lang="zh-CN" altLang="en-US" smtClean="0"/>
              <a:t>14</a:t>
            </a:fld>
            <a:endParaRPr lang="zh-CN" altLang="en-US"/>
          </a:p>
        </p:txBody>
      </p:sp>
    </p:spTree>
    <p:extLst>
      <p:ext uri="{BB962C8B-B14F-4D97-AF65-F5344CB8AC3E}">
        <p14:creationId xmlns:p14="http://schemas.microsoft.com/office/powerpoint/2010/main" val="2665244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5251C-CE61-6FDE-BFBB-BADD6A0590D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E7B2A09-3E06-EDF9-4BDC-3DF02AAC13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B7249EF-E58A-E9E9-2545-745395A19939}"/>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5" name="页脚占位符 4">
            <a:extLst>
              <a:ext uri="{FF2B5EF4-FFF2-40B4-BE49-F238E27FC236}">
                <a16:creationId xmlns:a16="http://schemas.microsoft.com/office/drawing/2014/main" id="{871E57B9-A34E-7E41-1F21-70087DFC84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C8C1A5-FD83-FB3C-3664-1C19F74BB346}"/>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1363609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20D966-9083-8016-A018-7BD7D8DDF3F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0CB16-6B07-BC36-968D-0BDAED715C3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79BCD8-0F15-E998-D373-793050282F46}"/>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5" name="页脚占位符 4">
            <a:extLst>
              <a:ext uri="{FF2B5EF4-FFF2-40B4-BE49-F238E27FC236}">
                <a16:creationId xmlns:a16="http://schemas.microsoft.com/office/drawing/2014/main" id="{F72CAE31-E617-4C12-5F15-E6BB87868D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BC269D-0B3D-33BC-FCFB-30958A569DD7}"/>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313754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28935-AF3C-1A46-7EFF-4CAEC874A1D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E020316-BB03-C1DD-1B25-EC1FAEBC88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834B7B0-E14E-1FEC-C2D8-807F54453FC8}"/>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5" name="页脚占位符 4">
            <a:extLst>
              <a:ext uri="{FF2B5EF4-FFF2-40B4-BE49-F238E27FC236}">
                <a16:creationId xmlns:a16="http://schemas.microsoft.com/office/drawing/2014/main" id="{2FCB76F8-8B31-6C59-5264-5BC7082BD4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F8FF5A-39D3-9B59-2CD5-E4D0B49515CF}"/>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126779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1C63D-1387-9D4F-1655-EFFF8DE83F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7D839B3-D1BB-8A95-6A53-B12424C7B6F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C8E0CF2-AAD5-3282-F319-59949FA6572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C643A54-AE4F-954D-7672-7D67B32ABDBE}"/>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6" name="页脚占位符 5">
            <a:extLst>
              <a:ext uri="{FF2B5EF4-FFF2-40B4-BE49-F238E27FC236}">
                <a16:creationId xmlns:a16="http://schemas.microsoft.com/office/drawing/2014/main" id="{2015E91C-1153-B824-2E9F-64BAF6D15A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1D626F2-23CE-B724-EF10-B96E4C2CADD0}"/>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3304243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64C4E-5CB0-1CB1-139A-5AD9220C55F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D3AFD8A-1B28-4D99-474E-3D4297A9AF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4F6CFD8-2906-9077-CC7C-DCB5AA16E07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0854926-CA49-15F2-7605-0A0E6A7914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90F2A52-FCE8-A719-553A-131310AF0E5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CCE982-08C7-5AD2-8A08-C93CC7F5A60E}"/>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8" name="页脚占位符 7">
            <a:extLst>
              <a:ext uri="{FF2B5EF4-FFF2-40B4-BE49-F238E27FC236}">
                <a16:creationId xmlns:a16="http://schemas.microsoft.com/office/drawing/2014/main" id="{BB355BDB-BC65-D3EF-91D6-3E9F38E81A8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3421C96-8213-2DF7-8E67-87481B04FE2D}"/>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449255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AC428F-0AF1-C2C3-4F10-756E8EA3AAF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BB15095-43B6-78D5-6344-535AB0F00A68}"/>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4" name="页脚占位符 3">
            <a:extLst>
              <a:ext uri="{FF2B5EF4-FFF2-40B4-BE49-F238E27FC236}">
                <a16:creationId xmlns:a16="http://schemas.microsoft.com/office/drawing/2014/main" id="{D78CB30B-71A1-962D-F711-8E490252553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2E86CFD-80E4-40A0-931D-C1278756A538}"/>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106901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15BBDB-4F34-D16A-4DD9-5F6EBEAF6588}"/>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3" name="页脚占位符 2">
            <a:extLst>
              <a:ext uri="{FF2B5EF4-FFF2-40B4-BE49-F238E27FC236}">
                <a16:creationId xmlns:a16="http://schemas.microsoft.com/office/drawing/2014/main" id="{9DD958AC-EC19-6DB8-061E-0DC59BDEBB9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680C232-5C26-E4F8-9C46-9CABB8907D37}"/>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4269023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A86CC4-8287-BB52-633A-6F22FA4AD8D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ABA95FF-F82E-1027-BE8E-EEAC978F4B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6856830-F841-788F-6039-78ED3FA0F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AFA2AB2-6043-0330-DA45-B186CE2E3DA7}"/>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6" name="页脚占位符 5">
            <a:extLst>
              <a:ext uri="{FF2B5EF4-FFF2-40B4-BE49-F238E27FC236}">
                <a16:creationId xmlns:a16="http://schemas.microsoft.com/office/drawing/2014/main" id="{E94457CE-1A86-5C04-CFB0-05C0E6BD9E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24AB89-CE30-7DB2-4B3A-6FEB5AA6BF71}"/>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487176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8116B-B8EF-E6B7-F232-7A93AAC6B92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30186BD-A305-109F-779B-0D7F33D10B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2357C6-3D2D-1453-F4A7-C3BC09669C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6694B3-002A-D8F8-10CE-790349F55CD9}"/>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6" name="页脚占位符 5">
            <a:extLst>
              <a:ext uri="{FF2B5EF4-FFF2-40B4-BE49-F238E27FC236}">
                <a16:creationId xmlns:a16="http://schemas.microsoft.com/office/drawing/2014/main" id="{81548E8F-B9FE-90D5-C874-FF97C104E9B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18A1D1-55B1-512C-F870-E2ED489D81A4}"/>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2135016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57667F-366C-5BE6-7560-94B81E44357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48F5A77-E5E6-F2D9-7EB5-EE8E3CA0526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9DFD82-BE37-6D1E-F567-D9763A023380}"/>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5" name="页脚占位符 4">
            <a:extLst>
              <a:ext uri="{FF2B5EF4-FFF2-40B4-BE49-F238E27FC236}">
                <a16:creationId xmlns:a16="http://schemas.microsoft.com/office/drawing/2014/main" id="{35D9FB72-AEDB-6796-CAE4-0D6041B921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12383D-E224-79FF-1AD9-8B51F89B6CE9}"/>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460325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A10DA90-B918-F1A6-35D3-F65D77B23EF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79C11C7-38EC-1879-73F8-D6006139F7A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D9F1C9-70EE-4DFB-076A-326D9F345FD2}"/>
              </a:ext>
            </a:extLst>
          </p:cNvPr>
          <p:cNvSpPr>
            <a:spLocks noGrp="1"/>
          </p:cNvSpPr>
          <p:nvPr>
            <p:ph type="dt" sz="half" idx="10"/>
          </p:nvPr>
        </p:nvSpPr>
        <p:spPr/>
        <p:txBody>
          <a:bodyPr/>
          <a:lstStyle/>
          <a:p>
            <a:fld id="{08643173-10FC-4F3D-BC73-EA74A77B5BE8}" type="datetimeFigureOut">
              <a:rPr lang="zh-CN" altLang="en-US" smtClean="0"/>
              <a:t>2023/7/17</a:t>
            </a:fld>
            <a:endParaRPr lang="zh-CN" altLang="en-US"/>
          </a:p>
        </p:txBody>
      </p:sp>
      <p:sp>
        <p:nvSpPr>
          <p:cNvPr id="5" name="页脚占位符 4">
            <a:extLst>
              <a:ext uri="{FF2B5EF4-FFF2-40B4-BE49-F238E27FC236}">
                <a16:creationId xmlns:a16="http://schemas.microsoft.com/office/drawing/2014/main" id="{9EE4D807-C4FD-8C7F-331D-BB8162AE20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2495604-24C5-8C28-7B0A-B3136552792B}"/>
              </a:ext>
            </a:extLst>
          </p:cNvPr>
          <p:cNvSpPr>
            <a:spLocks noGrp="1"/>
          </p:cNvSpPr>
          <p:nvPr>
            <p:ph type="sldNum" sz="quarter" idx="12"/>
          </p:nvPr>
        </p:nvSpPr>
        <p:spPr/>
        <p:txBody>
          <a:body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3726284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ED87ED6-E9EA-C722-04A9-E0482362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27954E6-6926-E0E0-2E38-4ACA9052A8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6F9281-E642-B313-7580-216F2C0179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643173-10FC-4F3D-BC73-EA74A77B5BE8}" type="datetimeFigureOut">
              <a:rPr lang="zh-CN" altLang="en-US" smtClean="0"/>
              <a:t>2023/7/17</a:t>
            </a:fld>
            <a:endParaRPr lang="zh-CN" altLang="en-US"/>
          </a:p>
        </p:txBody>
      </p:sp>
      <p:sp>
        <p:nvSpPr>
          <p:cNvPr id="5" name="页脚占位符 4">
            <a:extLst>
              <a:ext uri="{FF2B5EF4-FFF2-40B4-BE49-F238E27FC236}">
                <a16:creationId xmlns:a16="http://schemas.microsoft.com/office/drawing/2014/main" id="{74FF76BD-0A0F-267B-91D7-0CC6922D7B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FF65898-70EC-23FE-8847-72C517A68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3392EE-FB13-4182-B250-1FAEE2357131}" type="slidenum">
              <a:rPr lang="zh-CN" altLang="en-US" smtClean="0"/>
              <a:t>‹#›</a:t>
            </a:fld>
            <a:endParaRPr lang="zh-CN" altLang="en-US"/>
          </a:p>
        </p:txBody>
      </p:sp>
    </p:spTree>
    <p:extLst>
      <p:ext uri="{BB962C8B-B14F-4D97-AF65-F5344CB8AC3E}">
        <p14:creationId xmlns:p14="http://schemas.microsoft.com/office/powerpoint/2010/main" val="1370279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ED2D10-ABB3-10BC-87B6-67E8BC8276A0}"/>
              </a:ext>
            </a:extLst>
          </p:cNvPr>
          <p:cNvSpPr>
            <a:spLocks noGrp="1"/>
          </p:cNvSpPr>
          <p:nvPr>
            <p:ph type="ctrTitle"/>
          </p:nvPr>
        </p:nvSpPr>
        <p:spPr>
          <a:xfrm>
            <a:off x="617548" y="223868"/>
            <a:ext cx="10673304" cy="2042256"/>
          </a:xfrm>
        </p:spPr>
        <p:txBody>
          <a:bodyPr>
            <a:normAutofit/>
          </a:bodyPr>
          <a:lstStyle/>
          <a:p>
            <a:r>
              <a:rPr lang="zh-CN" altLang="en-US" b="1" dirty="0">
                <a:solidFill>
                  <a:srgbClr val="FF0000"/>
                </a:solidFill>
                <a:latin typeface="华光中长宋_CNKI" panose="02000500000000000000" pitchFamily="2" charset="-122"/>
                <a:ea typeface="华光中长宋_CNKI" panose="02000500000000000000" pitchFamily="2" charset="-122"/>
              </a:rPr>
              <a:t>第</a:t>
            </a:r>
            <a:r>
              <a:rPr lang="en-US" altLang="zh-CN" b="1" dirty="0">
                <a:solidFill>
                  <a:srgbClr val="FF0000"/>
                </a:solidFill>
                <a:latin typeface="华光中长宋_CNKI" panose="02000500000000000000" pitchFamily="2" charset="-122"/>
                <a:ea typeface="华光中长宋_CNKI" panose="02000500000000000000" pitchFamily="2" charset="-122"/>
              </a:rPr>
              <a:t>2</a:t>
            </a:r>
            <a:r>
              <a:rPr lang="zh-CN" altLang="en-US" b="1" dirty="0">
                <a:solidFill>
                  <a:srgbClr val="FF0000"/>
                </a:solidFill>
                <a:latin typeface="华光中长宋_CNKI" panose="02000500000000000000" pitchFamily="2" charset="-122"/>
                <a:ea typeface="华光中长宋_CNKI" panose="02000500000000000000" pitchFamily="2" charset="-122"/>
              </a:rPr>
              <a:t>章 计算机图像处理及显示的基本原理</a:t>
            </a:r>
          </a:p>
        </p:txBody>
      </p:sp>
      <p:sp>
        <p:nvSpPr>
          <p:cNvPr id="3" name="副标题 2">
            <a:extLst>
              <a:ext uri="{FF2B5EF4-FFF2-40B4-BE49-F238E27FC236}">
                <a16:creationId xmlns:a16="http://schemas.microsoft.com/office/drawing/2014/main" id="{A712D0C0-92A1-0830-A325-B15904DD51A0}"/>
              </a:ext>
            </a:extLst>
          </p:cNvPr>
          <p:cNvSpPr>
            <a:spLocks noGrp="1"/>
          </p:cNvSpPr>
          <p:nvPr>
            <p:ph type="subTitle" idx="1"/>
          </p:nvPr>
        </p:nvSpPr>
        <p:spPr>
          <a:xfrm>
            <a:off x="776575" y="2445028"/>
            <a:ext cx="7691564" cy="644055"/>
          </a:xfrm>
        </p:spPr>
        <p:txBody>
          <a:bodyPr>
            <a:normAutofit/>
          </a:bodyPr>
          <a:lstStyle/>
          <a:p>
            <a:pPr algn="l"/>
            <a:r>
              <a:rPr lang="en-US" altLang="zh-CN" sz="3200" dirty="0">
                <a:latin typeface="华光大标宋_CNKI" panose="02000500000000000000" pitchFamily="2" charset="-122"/>
                <a:ea typeface="华光大标宋_CNKI" panose="02000500000000000000" pitchFamily="2" charset="-122"/>
              </a:rPr>
              <a:t>1. </a:t>
            </a:r>
            <a:r>
              <a:rPr lang="zh-CN" altLang="en-US" sz="3200" dirty="0">
                <a:latin typeface="华光大标宋_CNKI" panose="02000500000000000000" pitchFamily="2" charset="-122"/>
                <a:ea typeface="华光大标宋_CNKI" panose="02000500000000000000" pitchFamily="2" charset="-122"/>
              </a:rPr>
              <a:t>计算机图形处理系统的基本结构</a:t>
            </a:r>
          </a:p>
        </p:txBody>
      </p:sp>
      <p:pic>
        <p:nvPicPr>
          <p:cNvPr id="6" name="图片 5">
            <a:extLst>
              <a:ext uri="{FF2B5EF4-FFF2-40B4-BE49-F238E27FC236}">
                <a16:creationId xmlns:a16="http://schemas.microsoft.com/office/drawing/2014/main" id="{8E6F637A-F7A6-753D-620C-09A5A32AECA3}"/>
              </a:ext>
            </a:extLst>
          </p:cNvPr>
          <p:cNvPicPr>
            <a:picLocks noChangeAspect="1"/>
          </p:cNvPicPr>
          <p:nvPr/>
        </p:nvPicPr>
        <p:blipFill>
          <a:blip r:embed="rId2"/>
          <a:stretch>
            <a:fillRect/>
          </a:stretch>
        </p:blipFill>
        <p:spPr>
          <a:xfrm>
            <a:off x="2740550" y="3267987"/>
            <a:ext cx="6710899" cy="3366146"/>
          </a:xfrm>
          <a:prstGeom prst="rect">
            <a:avLst/>
          </a:prstGeom>
        </p:spPr>
      </p:pic>
    </p:spTree>
    <p:extLst>
      <p:ext uri="{BB962C8B-B14F-4D97-AF65-F5344CB8AC3E}">
        <p14:creationId xmlns:p14="http://schemas.microsoft.com/office/powerpoint/2010/main" val="1805647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E838699-4C78-B0D0-5D17-A13421408FB6}"/>
              </a:ext>
            </a:extLst>
          </p:cNvPr>
          <p:cNvPicPr>
            <a:picLocks noChangeAspect="1"/>
          </p:cNvPicPr>
          <p:nvPr/>
        </p:nvPicPr>
        <p:blipFill>
          <a:blip r:embed="rId2"/>
          <a:stretch>
            <a:fillRect/>
          </a:stretch>
        </p:blipFill>
        <p:spPr>
          <a:xfrm>
            <a:off x="1240403" y="240527"/>
            <a:ext cx="6384897" cy="4061129"/>
          </a:xfrm>
          <a:prstGeom prst="rect">
            <a:avLst/>
          </a:prstGeom>
        </p:spPr>
      </p:pic>
      <p:pic>
        <p:nvPicPr>
          <p:cNvPr id="7" name="图片 6">
            <a:extLst>
              <a:ext uri="{FF2B5EF4-FFF2-40B4-BE49-F238E27FC236}">
                <a16:creationId xmlns:a16="http://schemas.microsoft.com/office/drawing/2014/main" id="{7F9EEE9D-EF91-D0CB-5D92-24973E52C35F}"/>
              </a:ext>
            </a:extLst>
          </p:cNvPr>
          <p:cNvPicPr>
            <a:picLocks noChangeAspect="1"/>
          </p:cNvPicPr>
          <p:nvPr/>
        </p:nvPicPr>
        <p:blipFill>
          <a:blip r:embed="rId3"/>
          <a:stretch>
            <a:fillRect/>
          </a:stretch>
        </p:blipFill>
        <p:spPr>
          <a:xfrm>
            <a:off x="6913493" y="3943847"/>
            <a:ext cx="3013545" cy="2464904"/>
          </a:xfrm>
          <a:prstGeom prst="rect">
            <a:avLst/>
          </a:prstGeom>
        </p:spPr>
      </p:pic>
      <p:pic>
        <p:nvPicPr>
          <p:cNvPr id="1026" name="Picture 2">
            <a:extLst>
              <a:ext uri="{FF2B5EF4-FFF2-40B4-BE49-F238E27FC236}">
                <a16:creationId xmlns:a16="http://schemas.microsoft.com/office/drawing/2014/main" id="{169D270F-F921-37A9-5375-0A38815E7E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0265" y="571500"/>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A14FD44-A2A1-8A2B-3CB2-74CC611EF5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854" y="4150581"/>
            <a:ext cx="497014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633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1D7109-5076-4A74-A5A8-C229BFD48C20}"/>
              </a:ext>
            </a:extLst>
          </p:cNvPr>
          <p:cNvSpPr>
            <a:spLocks noGrp="1"/>
          </p:cNvSpPr>
          <p:nvPr>
            <p:ph type="title"/>
          </p:nvPr>
        </p:nvSpPr>
        <p:spPr>
          <a:xfrm>
            <a:off x="838200" y="245856"/>
            <a:ext cx="10515600" cy="1325563"/>
          </a:xfrm>
        </p:spPr>
        <p:txBody>
          <a:bodyPr>
            <a:normAutofit/>
          </a:bodyPr>
          <a:lstStyle/>
          <a:p>
            <a:r>
              <a:rPr lang="en-US" altLang="zh-CN" sz="4800" b="1" dirty="0">
                <a:latin typeface="华光美黑_CNKI" panose="02000500000000000000" pitchFamily="2" charset="-122"/>
                <a:ea typeface="华光美黑_CNKI" panose="02000500000000000000" pitchFamily="2" charset="-122"/>
              </a:rPr>
              <a:t>2.</a:t>
            </a:r>
            <a:r>
              <a:rPr lang="zh-CN" altLang="en-US" sz="4800" b="1" dirty="0">
                <a:latin typeface="华光美黑_CNKI" panose="02000500000000000000" pitchFamily="2" charset="-122"/>
                <a:ea typeface="华光美黑_CNKI" panose="02000500000000000000" pitchFamily="2" charset="-122"/>
              </a:rPr>
              <a:t>显卡工作流程</a:t>
            </a:r>
          </a:p>
        </p:txBody>
      </p:sp>
      <p:sp>
        <p:nvSpPr>
          <p:cNvPr id="3" name="内容占位符 2">
            <a:extLst>
              <a:ext uri="{FF2B5EF4-FFF2-40B4-BE49-F238E27FC236}">
                <a16:creationId xmlns:a16="http://schemas.microsoft.com/office/drawing/2014/main" id="{C3B21015-9901-4773-872B-FBD98AAE5811}"/>
              </a:ext>
            </a:extLst>
          </p:cNvPr>
          <p:cNvSpPr>
            <a:spLocks noGrp="1"/>
          </p:cNvSpPr>
          <p:nvPr>
            <p:ph idx="1"/>
          </p:nvPr>
        </p:nvSpPr>
        <p:spPr>
          <a:xfrm>
            <a:off x="663272" y="1571419"/>
            <a:ext cx="10515600" cy="4829381"/>
          </a:xfrm>
        </p:spPr>
        <p:txBody>
          <a:bodyPr>
            <a:normAutofit fontScale="92500" lnSpcReduction="20000"/>
          </a:bodyPr>
          <a:lstStyle/>
          <a:p>
            <a:pPr marL="0" indent="0">
              <a:lnSpc>
                <a:spcPct val="150000"/>
              </a:lnSpc>
              <a:buNone/>
            </a:pPr>
            <a:r>
              <a:rPr lang="zh-CN" altLang="en-US" dirty="0"/>
              <a:t>        图像或者图形数据在</a:t>
            </a:r>
            <a:r>
              <a:rPr lang="en-US" altLang="zh-CN" dirty="0"/>
              <a:t>CPU</a:t>
            </a:r>
            <a:r>
              <a:rPr lang="zh-CN" altLang="en-US" dirty="0"/>
              <a:t>处理后，通过下面四个步骤到达显示器：</a:t>
            </a:r>
            <a:endParaRPr lang="en-US" altLang="zh-CN" dirty="0"/>
          </a:p>
          <a:p>
            <a:pPr marL="0" indent="0">
              <a:lnSpc>
                <a:spcPct val="150000"/>
              </a:lnSpc>
              <a:buNone/>
            </a:pPr>
            <a:r>
              <a:rPr lang="en-US" altLang="zh-CN" dirty="0"/>
              <a:t>        1</a:t>
            </a:r>
            <a:r>
              <a:rPr lang="zh-CN" altLang="en-US" dirty="0"/>
              <a:t>、通过数据总线将要显示的图形或者图像数据送入</a:t>
            </a:r>
            <a:r>
              <a:rPr lang="en-US" altLang="zh-CN" dirty="0"/>
              <a:t>GPU</a:t>
            </a:r>
            <a:r>
              <a:rPr lang="zh-CN" altLang="en-US" dirty="0"/>
              <a:t>（图形处理器</a:t>
            </a:r>
            <a:r>
              <a:rPr lang="en-US" altLang="zh-CN" dirty="0"/>
              <a:t>)</a:t>
            </a:r>
            <a:r>
              <a:rPr lang="zh-CN" altLang="en-US" dirty="0"/>
              <a:t>。</a:t>
            </a:r>
            <a:endParaRPr lang="en-US" altLang="zh-CN" dirty="0"/>
          </a:p>
          <a:p>
            <a:pPr marL="0" indent="0">
              <a:lnSpc>
                <a:spcPct val="150000"/>
              </a:lnSpc>
              <a:buNone/>
            </a:pPr>
            <a:r>
              <a:rPr lang="en-US" altLang="zh-CN" dirty="0"/>
              <a:t>        2</a:t>
            </a:r>
            <a:r>
              <a:rPr lang="zh-CN" altLang="en-US" dirty="0"/>
              <a:t>、</a:t>
            </a:r>
            <a:r>
              <a:rPr lang="en-US" altLang="zh-CN" dirty="0"/>
              <a:t>GPU</a:t>
            </a:r>
            <a:r>
              <a:rPr lang="zh-CN" altLang="en-US" dirty="0"/>
              <a:t>对送入的数据进行处理然后送入帧缓冲器（或称显存</a:t>
            </a:r>
            <a:r>
              <a:rPr lang="en-US" altLang="zh-CN" dirty="0"/>
              <a:t>)</a:t>
            </a:r>
            <a:r>
              <a:rPr lang="zh-CN" altLang="en-US" dirty="0"/>
              <a:t> 。</a:t>
            </a:r>
            <a:endParaRPr lang="en-US" altLang="zh-CN" dirty="0"/>
          </a:p>
          <a:p>
            <a:pPr marL="0" indent="0">
              <a:lnSpc>
                <a:spcPct val="150000"/>
              </a:lnSpc>
              <a:buNone/>
            </a:pPr>
            <a:r>
              <a:rPr lang="en-US" altLang="zh-CN" dirty="0"/>
              <a:t>        3</a:t>
            </a:r>
            <a:r>
              <a:rPr lang="zh-CN" altLang="en-US" dirty="0"/>
              <a:t>、送入帧缓冲器中的数据将被送入视频控制器。视频控制器将根据接口的类型确定处理方式，除</a:t>
            </a:r>
            <a:r>
              <a:rPr lang="en-US" altLang="zh-CN" dirty="0"/>
              <a:t>DVI</a:t>
            </a:r>
            <a:r>
              <a:rPr lang="zh-CN" altLang="en-US" dirty="0"/>
              <a:t>接口外，一般会进行</a:t>
            </a:r>
            <a:r>
              <a:rPr lang="en-US" altLang="zh-CN" dirty="0"/>
              <a:t>RAM DAC</a:t>
            </a:r>
            <a:r>
              <a:rPr lang="zh-CN" altLang="en-US" dirty="0"/>
              <a:t>完成数模转换；</a:t>
            </a:r>
            <a:endParaRPr lang="en-US" altLang="zh-CN" dirty="0"/>
          </a:p>
          <a:p>
            <a:pPr marL="0" indent="0">
              <a:lnSpc>
                <a:spcPct val="150000"/>
              </a:lnSpc>
              <a:buNone/>
            </a:pPr>
            <a:r>
              <a:rPr lang="en-US" altLang="zh-CN" dirty="0"/>
              <a:t>        4</a:t>
            </a:r>
            <a:r>
              <a:rPr lang="zh-CN" altLang="en-US" dirty="0"/>
              <a:t>、视频控制器的输出将送到显示屏。</a:t>
            </a:r>
          </a:p>
        </p:txBody>
      </p:sp>
    </p:spTree>
    <p:extLst>
      <p:ext uri="{BB962C8B-B14F-4D97-AF65-F5344CB8AC3E}">
        <p14:creationId xmlns:p14="http://schemas.microsoft.com/office/powerpoint/2010/main" val="3661099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3D21A4-E321-4CDA-98CC-224B8E0D317D}"/>
              </a:ext>
            </a:extLst>
          </p:cNvPr>
          <p:cNvSpPr>
            <a:spLocks noGrp="1"/>
          </p:cNvSpPr>
          <p:nvPr>
            <p:ph type="title"/>
          </p:nvPr>
        </p:nvSpPr>
        <p:spPr>
          <a:xfrm>
            <a:off x="838200" y="301514"/>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3. </a:t>
            </a:r>
            <a:r>
              <a:rPr lang="zh-CN" altLang="en-US" sz="4800" dirty="0">
                <a:latin typeface="华光美黑_CNKI" panose="02000500000000000000" pitchFamily="2" charset="-122"/>
                <a:ea typeface="华光美黑_CNKI" panose="02000500000000000000" pitchFamily="2" charset="-122"/>
              </a:rPr>
              <a:t>显  存</a:t>
            </a:r>
          </a:p>
        </p:txBody>
      </p:sp>
      <p:sp>
        <p:nvSpPr>
          <p:cNvPr id="3" name="内容占位符 2">
            <a:extLst>
              <a:ext uri="{FF2B5EF4-FFF2-40B4-BE49-F238E27FC236}">
                <a16:creationId xmlns:a16="http://schemas.microsoft.com/office/drawing/2014/main" id="{EC97EB51-C237-4B55-AD6E-BA7301F25166}"/>
              </a:ext>
            </a:extLst>
          </p:cNvPr>
          <p:cNvSpPr>
            <a:spLocks noGrp="1"/>
          </p:cNvSpPr>
          <p:nvPr>
            <p:ph idx="1"/>
          </p:nvPr>
        </p:nvSpPr>
        <p:spPr>
          <a:xfrm>
            <a:off x="838200" y="1391478"/>
            <a:ext cx="10977438" cy="1773141"/>
          </a:xfrm>
        </p:spPr>
        <p:txBody>
          <a:bodyPr>
            <a:normAutofit fontScale="92500" lnSpcReduction="10000"/>
          </a:bodyPr>
          <a:lstStyle/>
          <a:p>
            <a:pPr marL="0" indent="0">
              <a:lnSpc>
                <a:spcPct val="150000"/>
              </a:lnSpc>
              <a:buNone/>
            </a:pPr>
            <a:r>
              <a:rPr lang="zh-CN" altLang="en-US" b="0" i="0" dirty="0">
                <a:solidFill>
                  <a:srgbClr val="4D4D4D"/>
                </a:solidFill>
                <a:effectLst/>
                <a:latin typeface="-apple-system"/>
              </a:rPr>
              <a:t>       显存用来存储屏幕上像素的颜色值，简称帧缓冲器，俗称显存。帧缓冲器中的单元数目与显示器上的像素数目相同，单元与像素一一对应，各单元的数值决定了其对应的像素的颜色。</a:t>
            </a:r>
            <a:endParaRPr lang="zh-CN" altLang="en-US" dirty="0"/>
          </a:p>
        </p:txBody>
      </p:sp>
      <p:pic>
        <p:nvPicPr>
          <p:cNvPr id="4098" name="Picture 2">
            <a:extLst>
              <a:ext uri="{FF2B5EF4-FFF2-40B4-BE49-F238E27FC236}">
                <a16:creationId xmlns:a16="http://schemas.microsoft.com/office/drawing/2014/main" id="{EA64F396-C662-4752-9937-1F0327A78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337" y="3267986"/>
            <a:ext cx="8315325"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5985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5B9FB1-D0AE-4975-A2E3-16860B15FECE}"/>
              </a:ext>
            </a:extLst>
          </p:cNvPr>
          <p:cNvSpPr>
            <a:spLocks noGrp="1"/>
          </p:cNvSpPr>
          <p:nvPr>
            <p:ph type="title"/>
          </p:nvPr>
        </p:nvSpPr>
        <p:spPr/>
        <p:txBody>
          <a:bodyPr>
            <a:normAutofit/>
          </a:bodyPr>
          <a:lstStyle/>
          <a:p>
            <a:r>
              <a:rPr lang="en-US" altLang="zh-CN" sz="4800" dirty="0">
                <a:latin typeface="华光美黑_CNKI" panose="02000500000000000000" pitchFamily="2" charset="-122"/>
                <a:ea typeface="华光美黑_CNKI" panose="02000500000000000000" pitchFamily="2" charset="-122"/>
              </a:rPr>
              <a:t>4. GPU</a:t>
            </a:r>
            <a:endParaRPr lang="zh-CN" altLang="en-US" sz="4800" dirty="0">
              <a:latin typeface="华光美黑_CNKI" panose="02000500000000000000" pitchFamily="2" charset="-122"/>
              <a:ea typeface="华光美黑_CNKI" panose="02000500000000000000" pitchFamily="2" charset="-122"/>
            </a:endParaRPr>
          </a:p>
        </p:txBody>
      </p:sp>
      <p:sp>
        <p:nvSpPr>
          <p:cNvPr id="3" name="内容占位符 2">
            <a:extLst>
              <a:ext uri="{FF2B5EF4-FFF2-40B4-BE49-F238E27FC236}">
                <a16:creationId xmlns:a16="http://schemas.microsoft.com/office/drawing/2014/main" id="{73E3B72E-8995-4E6E-9324-FEFA2096AD6A}"/>
              </a:ext>
            </a:extLst>
          </p:cNvPr>
          <p:cNvSpPr>
            <a:spLocks noGrp="1"/>
          </p:cNvSpPr>
          <p:nvPr>
            <p:ph idx="1"/>
          </p:nvPr>
        </p:nvSpPr>
        <p:spPr>
          <a:xfrm>
            <a:off x="838200" y="1475767"/>
            <a:ext cx="10515600" cy="4821665"/>
          </a:xfrm>
        </p:spPr>
        <p:txBody>
          <a:bodyPr/>
          <a:lstStyle/>
          <a:p>
            <a:pPr marL="0" indent="0">
              <a:lnSpc>
                <a:spcPct val="150000"/>
              </a:lnSpc>
              <a:buNone/>
            </a:pPr>
            <a:r>
              <a:rPr lang="en-US" altLang="zh-CN" dirty="0"/>
              <a:t>      </a:t>
            </a:r>
            <a:r>
              <a:rPr lang="en-US" altLang="zh-CN" b="0" i="0" dirty="0">
                <a:solidFill>
                  <a:srgbClr val="000000"/>
                </a:solidFill>
                <a:effectLst/>
                <a:latin typeface="华文宋体" panose="02010600040101010101" pitchFamily="2" charset="-122"/>
                <a:ea typeface="华文宋体" panose="02010600040101010101" pitchFamily="2" charset="-122"/>
              </a:rPr>
              <a:t>GPU</a:t>
            </a:r>
            <a:r>
              <a:rPr lang="zh-CN" altLang="en-US" b="0" i="0" dirty="0">
                <a:solidFill>
                  <a:srgbClr val="000000"/>
                </a:solidFill>
                <a:effectLst/>
                <a:latin typeface="华文宋体" panose="02010600040101010101" pitchFamily="2" charset="-122"/>
                <a:ea typeface="华文宋体" panose="02010600040101010101" pitchFamily="2" charset="-122"/>
              </a:rPr>
              <a:t>是专为执行复杂的数学和几何计算而设计的微处理器，能够将复杂的图形转换成显示器能够显示的图像。</a:t>
            </a:r>
            <a:r>
              <a:rPr lang="en-US" altLang="zh-CN" b="0" i="0" dirty="0">
                <a:solidFill>
                  <a:srgbClr val="000000"/>
                </a:solidFill>
                <a:effectLst/>
                <a:latin typeface="华文宋体" panose="02010600040101010101" pitchFamily="2" charset="-122"/>
                <a:ea typeface="华文宋体" panose="02010600040101010101" pitchFamily="2" charset="-122"/>
              </a:rPr>
              <a:t>GPU</a:t>
            </a:r>
            <a:r>
              <a:rPr lang="zh-CN" altLang="en-US" b="0" i="0" dirty="0">
                <a:solidFill>
                  <a:srgbClr val="000000"/>
                </a:solidFill>
                <a:effectLst/>
                <a:latin typeface="华文宋体" panose="02010600040101010101" pitchFamily="2" charset="-122"/>
                <a:ea typeface="华文宋体" panose="02010600040101010101" pitchFamily="2" charset="-122"/>
              </a:rPr>
              <a:t>可通过编程完成所需要的图形变换和计算。</a:t>
            </a:r>
            <a:endParaRPr lang="en-US" altLang="zh-CN" b="0" i="0" dirty="0">
              <a:solidFill>
                <a:srgbClr val="000000"/>
              </a:solidFill>
              <a:effectLst/>
              <a:latin typeface="华文宋体" panose="02010600040101010101" pitchFamily="2" charset="-122"/>
              <a:ea typeface="华文宋体" panose="02010600040101010101" pitchFamily="2" charset="-122"/>
            </a:endParaRPr>
          </a:p>
          <a:p>
            <a:pPr marL="0" indent="0">
              <a:lnSpc>
                <a:spcPct val="150000"/>
              </a:lnSpc>
              <a:buNone/>
            </a:pPr>
            <a:r>
              <a:rPr lang="en-US" altLang="zh-CN" dirty="0">
                <a:solidFill>
                  <a:srgbClr val="000000"/>
                </a:solidFill>
                <a:latin typeface="华文宋体" panose="02010600040101010101" pitchFamily="2" charset="-122"/>
                <a:ea typeface="华文宋体" panose="02010600040101010101" pitchFamily="2" charset="-122"/>
              </a:rPr>
              <a:t>     GPU</a:t>
            </a:r>
            <a:r>
              <a:rPr lang="zh-CN" altLang="en-US" dirty="0">
                <a:solidFill>
                  <a:srgbClr val="000000"/>
                </a:solidFill>
                <a:latin typeface="华文宋体" panose="02010600040101010101" pitchFamily="2" charset="-122"/>
                <a:ea typeface="华文宋体" panose="02010600040101010101" pitchFamily="2" charset="-122"/>
              </a:rPr>
              <a:t>可以完成大量的并行计算。由很多的流处理单元（</a:t>
            </a:r>
            <a:r>
              <a:rPr lang="en-US" altLang="zh-CN" dirty="0">
                <a:solidFill>
                  <a:srgbClr val="000000"/>
                </a:solidFill>
                <a:latin typeface="华文宋体" panose="02010600040101010101" pitchFamily="2" charset="-122"/>
                <a:ea typeface="华文宋体" panose="02010600040101010101" pitchFamily="2" charset="-122"/>
              </a:rPr>
              <a:t>SM</a:t>
            </a:r>
            <a:r>
              <a:rPr lang="zh-CN" altLang="en-US" dirty="0">
                <a:solidFill>
                  <a:srgbClr val="000000"/>
                </a:solidFill>
                <a:latin typeface="华文宋体" panose="02010600040101010101" pitchFamily="2" charset="-122"/>
                <a:ea typeface="华文宋体" panose="02010600040101010101" pitchFamily="2" charset="-122"/>
              </a:rPr>
              <a:t>，</a:t>
            </a:r>
            <a:r>
              <a:rPr lang="en-US" altLang="zh-CN" dirty="0">
                <a:solidFill>
                  <a:srgbClr val="000000"/>
                </a:solidFill>
                <a:latin typeface="华文宋体" panose="02010600040101010101" pitchFamily="2" charset="-122"/>
                <a:ea typeface="华文宋体" panose="02010600040101010101" pitchFamily="2" charset="-122"/>
              </a:rPr>
              <a:t>streaming multiprocessor)</a:t>
            </a:r>
            <a:r>
              <a:rPr lang="zh-CN" altLang="en-US" dirty="0">
                <a:solidFill>
                  <a:srgbClr val="000000"/>
                </a:solidFill>
                <a:latin typeface="华文宋体" panose="02010600040101010101" pitchFamily="2" charset="-122"/>
                <a:ea typeface="华文宋体" panose="02010600040101010101" pitchFamily="2" charset="-122"/>
              </a:rPr>
              <a:t>构成，每一个流处理单元由多个核（计算单元），任务调度器，寄存器组，指令缓冲器，纹理缓冲区，纹理映射单元等构成。如下图所示。</a:t>
            </a:r>
            <a:endParaRPr lang="zh-CN" altLang="en-US" dirty="0">
              <a:latin typeface="华文宋体" panose="02010600040101010101" pitchFamily="2" charset="-122"/>
              <a:ea typeface="华文宋体" panose="02010600040101010101" pitchFamily="2" charset="-122"/>
            </a:endParaRPr>
          </a:p>
        </p:txBody>
      </p:sp>
    </p:spTree>
    <p:extLst>
      <p:ext uri="{BB962C8B-B14F-4D97-AF65-F5344CB8AC3E}">
        <p14:creationId xmlns:p14="http://schemas.microsoft.com/office/powerpoint/2010/main" val="1747853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PascalSM">
            <a:extLst>
              <a:ext uri="{FF2B5EF4-FFF2-40B4-BE49-F238E27FC236}">
                <a16:creationId xmlns:a16="http://schemas.microsoft.com/office/drawing/2014/main" id="{D7904477-17EB-41B1-9BF0-62E45FC14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276" y="473593"/>
            <a:ext cx="10933044" cy="562505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F82F2E9C-C8B1-47BF-A512-E1BA87C276FA}"/>
              </a:ext>
            </a:extLst>
          </p:cNvPr>
          <p:cNvSpPr txBox="1"/>
          <p:nvPr/>
        </p:nvSpPr>
        <p:spPr>
          <a:xfrm>
            <a:off x="4015409" y="6098651"/>
            <a:ext cx="4444778" cy="461665"/>
          </a:xfrm>
          <a:prstGeom prst="rect">
            <a:avLst/>
          </a:prstGeom>
          <a:noFill/>
        </p:spPr>
        <p:txBody>
          <a:bodyPr wrap="square" rtlCol="0">
            <a:spAutoFit/>
          </a:bodyPr>
          <a:lstStyle/>
          <a:p>
            <a:pPr algn="ctr"/>
            <a:r>
              <a:rPr lang="en-US" altLang="zh-CN" sz="2400" dirty="0">
                <a:latin typeface="华光美黑_CNKI" panose="02000500000000000000" pitchFamily="2" charset="-122"/>
                <a:ea typeface="华光美黑_CNKI" panose="02000500000000000000" pitchFamily="2" charset="-122"/>
              </a:rPr>
              <a:t>SM</a:t>
            </a:r>
            <a:r>
              <a:rPr lang="zh-CN" altLang="en-US" sz="2400" dirty="0">
                <a:latin typeface="华光美黑_CNKI" panose="02000500000000000000" pitchFamily="2" charset="-122"/>
                <a:ea typeface="华光美黑_CNKI" panose="02000500000000000000" pitchFamily="2" charset="-122"/>
              </a:rPr>
              <a:t>的结构</a:t>
            </a:r>
          </a:p>
        </p:txBody>
      </p:sp>
    </p:spTree>
    <p:extLst>
      <p:ext uri="{BB962C8B-B14F-4D97-AF65-F5344CB8AC3E}">
        <p14:creationId xmlns:p14="http://schemas.microsoft.com/office/powerpoint/2010/main" val="667873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a:extLst>
              <a:ext uri="{FF2B5EF4-FFF2-40B4-BE49-F238E27FC236}">
                <a16:creationId xmlns:a16="http://schemas.microsoft.com/office/drawing/2014/main" id="{207EF499-E883-4693-A3F5-31462A535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190" y="326005"/>
            <a:ext cx="8547652" cy="4731025"/>
          </a:xfrm>
          <a:prstGeom prst="rect">
            <a:avLst/>
          </a:prstGeom>
          <a:noFill/>
          <a:extLst>
            <a:ext uri="{909E8E84-426E-40DD-AFC4-6F175D3DCCD1}">
              <a14:hiddenFill xmlns:a14="http://schemas.microsoft.com/office/drawing/2010/main">
                <a:solidFill>
                  <a:srgbClr val="FFFFFF"/>
                </a:solidFill>
              </a14:hiddenFill>
            </a:ext>
          </a:extLst>
        </p:spPr>
      </p:pic>
      <p:sp>
        <p:nvSpPr>
          <p:cNvPr id="7" name="内容占位符 2">
            <a:extLst>
              <a:ext uri="{FF2B5EF4-FFF2-40B4-BE49-F238E27FC236}">
                <a16:creationId xmlns:a16="http://schemas.microsoft.com/office/drawing/2014/main" id="{AC498750-B931-4F33-9346-7F5D843F0B41}"/>
              </a:ext>
            </a:extLst>
          </p:cNvPr>
          <p:cNvSpPr>
            <a:spLocks noGrp="1"/>
          </p:cNvSpPr>
          <p:nvPr>
            <p:ph idx="1"/>
          </p:nvPr>
        </p:nvSpPr>
        <p:spPr>
          <a:xfrm>
            <a:off x="981322" y="5208105"/>
            <a:ext cx="10515600" cy="1463040"/>
          </a:xfrm>
        </p:spPr>
        <p:txBody>
          <a:bodyPr/>
          <a:lstStyle/>
          <a:p>
            <a:pPr marL="0" indent="0">
              <a:lnSpc>
                <a:spcPct val="150000"/>
              </a:lnSpc>
              <a:buNone/>
            </a:pPr>
            <a:r>
              <a:rPr lang="en-US" altLang="zh-CN" dirty="0">
                <a:latin typeface="华文宋体" panose="02010600040101010101" pitchFamily="2" charset="-122"/>
                <a:ea typeface="华文宋体" panose="02010600040101010101" pitchFamily="2" charset="-122"/>
              </a:rPr>
              <a:t>      GPU</a:t>
            </a:r>
            <a:r>
              <a:rPr lang="zh-CN" altLang="en-US" dirty="0">
                <a:latin typeface="华文宋体" panose="02010600040101010101" pitchFamily="2" charset="-122"/>
                <a:ea typeface="华文宋体" panose="02010600040101010101" pitchFamily="2" charset="-122"/>
              </a:rPr>
              <a:t>广泛应用于图形渲染，视频编辑，机器学习等领域，具有很强的计算能力。</a:t>
            </a:r>
          </a:p>
        </p:txBody>
      </p:sp>
    </p:spTree>
    <p:extLst>
      <p:ext uri="{BB962C8B-B14F-4D97-AF65-F5344CB8AC3E}">
        <p14:creationId xmlns:p14="http://schemas.microsoft.com/office/powerpoint/2010/main" val="2932819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5.</a:t>
            </a:r>
            <a:r>
              <a:rPr lang="zh-CN" altLang="en-US" sz="4800" dirty="0">
                <a:latin typeface="华光美黑_CNKI" panose="02000500000000000000" pitchFamily="2" charset="-122"/>
                <a:ea typeface="华光美黑_CNKI" panose="02000500000000000000" pitchFamily="2" charset="-122"/>
              </a:rPr>
              <a:t>显卡分辨率</a:t>
            </a:r>
          </a:p>
        </p:txBody>
      </p:sp>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200" y="2040310"/>
            <a:ext cx="10515600" cy="3605116"/>
          </a:xfrm>
        </p:spPr>
        <p:txBody>
          <a:bodyPr/>
          <a:lstStyle/>
          <a:p>
            <a:pPr marL="0" indent="0">
              <a:lnSpc>
                <a:spcPct val="150000"/>
              </a:lnSpc>
              <a:buNone/>
            </a:pPr>
            <a:r>
              <a:rPr lang="en-US" altLang="zh-CN"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显卡分辨率是指</a:t>
            </a:r>
            <a:r>
              <a:rPr lang="zh-CN" altLang="en-US" b="0" i="0" dirty="0">
                <a:solidFill>
                  <a:srgbClr val="333333"/>
                </a:solidFill>
                <a:effectLst/>
                <a:latin typeface="华文宋体" panose="02010600040101010101" pitchFamily="2" charset="-122"/>
                <a:ea typeface="华文宋体" panose="02010600040101010101" pitchFamily="2" charset="-122"/>
              </a:rPr>
              <a:t>显卡输出给显示器并能在显示器上描绘的像素点的数量。分辨率越大，所能显示的图像的像素点就越多，并且能显示更多的细节，当然也就越清晰。</a:t>
            </a:r>
            <a:endParaRPr lang="en-US" altLang="zh-CN" b="0" i="0" dirty="0">
              <a:solidFill>
                <a:srgbClr val="333333"/>
              </a:solidFill>
              <a:effectLst/>
              <a:latin typeface="华文宋体" panose="02010600040101010101" pitchFamily="2" charset="-122"/>
              <a:ea typeface="华文宋体" panose="02010600040101010101" pitchFamily="2" charset="-122"/>
            </a:endParaRPr>
          </a:p>
          <a:p>
            <a:pPr marL="0" indent="0">
              <a:lnSpc>
                <a:spcPct val="150000"/>
              </a:lnSpc>
              <a:buNone/>
            </a:pPr>
            <a:r>
              <a:rPr lang="en-US" altLang="zh-CN" dirty="0">
                <a:solidFill>
                  <a:srgbClr val="333333"/>
                </a:solidFill>
                <a:latin typeface="华文宋体" panose="02010600040101010101" pitchFamily="2" charset="-122"/>
                <a:ea typeface="华文宋体" panose="02010600040101010101" pitchFamily="2" charset="-122"/>
              </a:rPr>
              <a:t>      </a:t>
            </a:r>
            <a:r>
              <a:rPr lang="zh-CN" altLang="en-US" dirty="0">
                <a:solidFill>
                  <a:srgbClr val="333333"/>
                </a:solidFill>
                <a:latin typeface="华文宋体" panose="02010600040101010101" pitchFamily="2" charset="-122"/>
                <a:ea typeface="华文宋体" panose="02010600040101010101" pitchFamily="2" charset="-122"/>
              </a:rPr>
              <a:t>显卡分辨率跟显存的大小以及视频控制器上</a:t>
            </a:r>
            <a:r>
              <a:rPr lang="en-US" altLang="zh-CN" dirty="0">
                <a:solidFill>
                  <a:srgbClr val="333333"/>
                </a:solidFill>
                <a:latin typeface="华文宋体" panose="02010600040101010101" pitchFamily="2" charset="-122"/>
                <a:ea typeface="华文宋体" panose="02010600040101010101" pitchFamily="2" charset="-122"/>
              </a:rPr>
              <a:t>RAM DAC</a:t>
            </a:r>
            <a:r>
              <a:rPr lang="zh-CN" altLang="en-US" dirty="0">
                <a:solidFill>
                  <a:srgbClr val="333333"/>
                </a:solidFill>
                <a:latin typeface="华文宋体" panose="02010600040101010101" pitchFamily="2" charset="-122"/>
                <a:ea typeface="华文宋体" panose="02010600040101010101" pitchFamily="2" charset="-122"/>
              </a:rPr>
              <a:t>的速率有关。如果显存足够大，则</a:t>
            </a:r>
            <a:r>
              <a:rPr lang="en-US" altLang="zh-CN" dirty="0">
                <a:solidFill>
                  <a:srgbClr val="333333"/>
                </a:solidFill>
                <a:latin typeface="华文宋体" panose="02010600040101010101" pitchFamily="2" charset="-122"/>
                <a:ea typeface="华文宋体" panose="02010600040101010101" pitchFamily="2" charset="-122"/>
              </a:rPr>
              <a:t>RAM DAC</a:t>
            </a:r>
            <a:r>
              <a:rPr lang="zh-CN" altLang="en-US" dirty="0">
                <a:solidFill>
                  <a:srgbClr val="333333"/>
                </a:solidFill>
                <a:latin typeface="华文宋体" panose="02010600040101010101" pitchFamily="2" charset="-122"/>
                <a:ea typeface="华文宋体" panose="02010600040101010101" pitchFamily="2" charset="-122"/>
              </a:rPr>
              <a:t>决定了分辨率的最大值。</a:t>
            </a:r>
            <a:endParaRPr lang="zh-CN" altLang="en-US" dirty="0">
              <a:latin typeface="华文宋体" panose="02010600040101010101" pitchFamily="2" charset="-122"/>
              <a:ea typeface="华文宋体" panose="02010600040101010101" pitchFamily="2" charset="-122"/>
            </a:endParaRPr>
          </a:p>
        </p:txBody>
      </p:sp>
    </p:spTree>
    <p:extLst>
      <p:ext uri="{BB962C8B-B14F-4D97-AF65-F5344CB8AC3E}">
        <p14:creationId xmlns:p14="http://schemas.microsoft.com/office/powerpoint/2010/main" val="409130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6.</a:t>
            </a:r>
            <a:r>
              <a:rPr lang="zh-CN" altLang="en-US" sz="4800" dirty="0">
                <a:latin typeface="华光美黑_CNKI" panose="02000500000000000000" pitchFamily="2" charset="-122"/>
                <a:ea typeface="华光美黑_CNKI" panose="02000500000000000000" pitchFamily="2" charset="-122"/>
              </a:rPr>
              <a:t>显卡颜色深度</a:t>
            </a:r>
          </a:p>
        </p:txBody>
      </p:sp>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200" y="2040310"/>
            <a:ext cx="10515600" cy="3000817"/>
          </a:xfrm>
        </p:spPr>
        <p:txBody>
          <a:bodyPr>
            <a:normAutofit/>
          </a:bodyPr>
          <a:lstStyle/>
          <a:p>
            <a:pPr marL="0" indent="0">
              <a:lnSpc>
                <a:spcPct val="150000"/>
              </a:lnSpc>
              <a:buNone/>
            </a:pPr>
            <a:r>
              <a:rPr lang="en-US" altLang="zh-CN"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屏幕上每个像素包含三种颜色：</a:t>
            </a:r>
            <a:r>
              <a:rPr lang="en-US" altLang="zh-CN" dirty="0">
                <a:latin typeface="华文宋体" panose="02010600040101010101" pitchFamily="2" charset="-122"/>
                <a:ea typeface="华文宋体" panose="02010600040101010101" pitchFamily="2" charset="-122"/>
              </a:rPr>
              <a:t>R</a:t>
            </a:r>
            <a:r>
              <a:rPr lang="zh-CN" altLang="en-US" dirty="0">
                <a:latin typeface="华文宋体" panose="02010600040101010101" pitchFamily="2" charset="-122"/>
                <a:ea typeface="华文宋体" panose="02010600040101010101" pitchFamily="2" charset="-122"/>
              </a:rPr>
              <a:t>，</a:t>
            </a:r>
            <a:r>
              <a:rPr lang="en-US" altLang="zh-CN" dirty="0">
                <a:latin typeface="华文宋体" panose="02010600040101010101" pitchFamily="2" charset="-122"/>
                <a:ea typeface="华文宋体" panose="02010600040101010101" pitchFamily="2" charset="-122"/>
              </a:rPr>
              <a:t>G</a:t>
            </a:r>
            <a:r>
              <a:rPr lang="zh-CN" altLang="en-US" dirty="0">
                <a:latin typeface="华文宋体" panose="02010600040101010101" pitchFamily="2" charset="-122"/>
                <a:ea typeface="华文宋体" panose="02010600040101010101" pitchFamily="2" charset="-122"/>
              </a:rPr>
              <a:t>，</a:t>
            </a:r>
            <a:r>
              <a:rPr lang="en-US" altLang="zh-CN" dirty="0">
                <a:latin typeface="华文宋体" panose="02010600040101010101" pitchFamily="2" charset="-122"/>
                <a:ea typeface="华文宋体" panose="02010600040101010101" pitchFamily="2" charset="-122"/>
              </a:rPr>
              <a:t>B</a:t>
            </a:r>
            <a:r>
              <a:rPr lang="zh-CN" altLang="en-US" dirty="0">
                <a:latin typeface="华文宋体" panose="02010600040101010101" pitchFamily="2" charset="-122"/>
                <a:ea typeface="华文宋体" panose="02010600040101010101" pitchFamily="2" charset="-122"/>
              </a:rPr>
              <a:t>。像素的精细度由组成像素的颜色的位数和照射到像素的颜色的强度决定。一般而言，每种颜色用</a:t>
            </a:r>
            <a:r>
              <a:rPr lang="en-US" altLang="zh-CN" dirty="0">
                <a:latin typeface="华文宋体" panose="02010600040101010101" pitchFamily="2" charset="-122"/>
                <a:ea typeface="华文宋体" panose="02010600040101010101" pitchFamily="2" charset="-122"/>
              </a:rPr>
              <a:t>8bits</a:t>
            </a:r>
            <a:r>
              <a:rPr lang="zh-CN" altLang="en-US" dirty="0">
                <a:latin typeface="华文宋体" panose="02010600040101010101" pitchFamily="2" charset="-122"/>
                <a:ea typeface="华文宋体" panose="02010600040101010101" pitchFamily="2" charset="-122"/>
              </a:rPr>
              <a:t>来表示，如果为了显示透明度，往往还增加</a:t>
            </a:r>
            <a:r>
              <a:rPr lang="en-US" altLang="zh-CN" dirty="0">
                <a:latin typeface="华文宋体" panose="02010600040101010101" pitchFamily="2" charset="-122"/>
                <a:ea typeface="华文宋体" panose="02010600040101010101" pitchFamily="2" charset="-122"/>
              </a:rPr>
              <a:t>8bits</a:t>
            </a:r>
            <a:r>
              <a:rPr lang="zh-CN" altLang="en-US" dirty="0">
                <a:latin typeface="华文宋体" panose="02010600040101010101" pitchFamily="2" charset="-122"/>
                <a:ea typeface="华文宋体" panose="02010600040101010101" pitchFamily="2" charset="-122"/>
              </a:rPr>
              <a:t>来表示透明度，形成一个</a:t>
            </a:r>
            <a:r>
              <a:rPr lang="en-US" altLang="zh-CN" dirty="0">
                <a:latin typeface="华文宋体" panose="02010600040101010101" pitchFamily="2" charset="-122"/>
                <a:ea typeface="华文宋体" panose="02010600040101010101" pitchFamily="2" charset="-122"/>
              </a:rPr>
              <a:t>32bits</a:t>
            </a:r>
            <a:r>
              <a:rPr lang="zh-CN" altLang="en-US" dirty="0">
                <a:latin typeface="华文宋体" panose="02010600040101010101" pitchFamily="2" charset="-122"/>
                <a:ea typeface="华文宋体" panose="02010600040101010101" pitchFamily="2" charset="-122"/>
              </a:rPr>
              <a:t>的整数。</a:t>
            </a:r>
            <a:endParaRPr lang="en-US" altLang="zh-CN" dirty="0">
              <a:latin typeface="华文宋体" panose="02010600040101010101" pitchFamily="2" charset="-122"/>
              <a:ea typeface="华文宋体" panose="02010600040101010101" pitchFamily="2" charset="-122"/>
            </a:endParaRPr>
          </a:p>
        </p:txBody>
      </p:sp>
    </p:spTree>
    <p:extLst>
      <p:ext uri="{BB962C8B-B14F-4D97-AF65-F5344CB8AC3E}">
        <p14:creationId xmlns:p14="http://schemas.microsoft.com/office/powerpoint/2010/main" val="3321534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7.</a:t>
            </a:r>
            <a:r>
              <a:rPr lang="zh-CN" altLang="en-US" sz="4800" dirty="0">
                <a:latin typeface="华光美黑_CNKI" panose="02000500000000000000" pitchFamily="2" charset="-122"/>
                <a:ea typeface="华光美黑_CNKI" panose="02000500000000000000" pitchFamily="2" charset="-122"/>
              </a:rPr>
              <a:t>图形显示原理</a:t>
            </a:r>
          </a:p>
        </p:txBody>
      </p:sp>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200" y="2049574"/>
            <a:ext cx="10515600" cy="3865451"/>
          </a:xfrm>
        </p:spPr>
        <p:txBody>
          <a:bodyPr>
            <a:normAutofit/>
          </a:bodyPr>
          <a:lstStyle/>
          <a:p>
            <a:pPr marL="0" indent="0">
              <a:lnSpc>
                <a:spcPct val="150000"/>
              </a:lnSpc>
              <a:buNone/>
            </a:pPr>
            <a:r>
              <a:rPr lang="en-US" altLang="zh-CN"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早期的图形显示卡并没有</a:t>
            </a:r>
            <a:r>
              <a:rPr lang="en-US" altLang="zh-CN" dirty="0">
                <a:latin typeface="华文宋体" panose="02010600040101010101" pitchFamily="2" charset="-122"/>
                <a:ea typeface="华文宋体" panose="02010600040101010101" pitchFamily="2" charset="-122"/>
              </a:rPr>
              <a:t>GPU</a:t>
            </a:r>
            <a:r>
              <a:rPr lang="zh-CN" altLang="en-US" dirty="0">
                <a:latin typeface="华文宋体" panose="02010600040101010101" pitchFamily="2" charset="-122"/>
                <a:ea typeface="华文宋体" panose="02010600040101010101" pitchFamily="2" charset="-122"/>
              </a:rPr>
              <a:t>或者图形加速卡，需要显示的图形必须在</a:t>
            </a:r>
            <a:r>
              <a:rPr lang="en-US" altLang="zh-CN" dirty="0">
                <a:latin typeface="华文宋体" panose="02010600040101010101" pitchFamily="2" charset="-122"/>
                <a:ea typeface="华文宋体" panose="02010600040101010101" pitchFamily="2" charset="-122"/>
              </a:rPr>
              <a:t>CPU</a:t>
            </a:r>
            <a:r>
              <a:rPr lang="zh-CN" altLang="en-US" dirty="0">
                <a:latin typeface="华文宋体" panose="02010600040101010101" pitchFamily="2" charset="-122"/>
                <a:ea typeface="华文宋体" panose="02010600040101010101" pitchFamily="2" charset="-122"/>
              </a:rPr>
              <a:t>中通过实际的计算之后，再送入到显存中进行显示。</a:t>
            </a:r>
            <a:endParaRPr lang="en-US" altLang="zh-CN" dirty="0">
              <a:latin typeface="华文宋体" panose="02010600040101010101" pitchFamily="2" charset="-122"/>
              <a:ea typeface="华文宋体" panose="02010600040101010101" pitchFamily="2" charset="-122"/>
            </a:endParaRPr>
          </a:p>
          <a:p>
            <a:pPr marL="0" indent="0">
              <a:lnSpc>
                <a:spcPct val="150000"/>
              </a:lnSpc>
              <a:buNone/>
            </a:pPr>
            <a:r>
              <a:rPr lang="en-US" altLang="zh-CN"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比如显示一条直线，直线的起点为（</a:t>
            </a:r>
            <a:r>
              <a:rPr lang="en-US" altLang="zh-CN" dirty="0">
                <a:latin typeface="华文宋体" panose="02010600040101010101" pitchFamily="2" charset="-122"/>
                <a:ea typeface="华文宋体" panose="02010600040101010101" pitchFamily="2" charset="-122"/>
              </a:rPr>
              <a:t>10</a:t>
            </a:r>
            <a:r>
              <a:rPr lang="zh-CN" altLang="en-US" dirty="0">
                <a:latin typeface="华文宋体" panose="02010600040101010101" pitchFamily="2" charset="-122"/>
                <a:ea typeface="华文宋体" panose="02010600040101010101" pitchFamily="2" charset="-122"/>
              </a:rPr>
              <a:t>，</a:t>
            </a:r>
            <a:r>
              <a:rPr lang="en-US" altLang="zh-CN" dirty="0">
                <a:latin typeface="华文宋体" panose="02010600040101010101" pitchFamily="2" charset="-122"/>
                <a:ea typeface="华文宋体" panose="02010600040101010101" pitchFamily="2" charset="-122"/>
              </a:rPr>
              <a:t>20</a:t>
            </a:r>
            <a:r>
              <a:rPr lang="zh-CN" altLang="en-US" dirty="0">
                <a:latin typeface="华文宋体" panose="02010600040101010101" pitchFamily="2" charset="-122"/>
                <a:ea typeface="华文宋体" panose="02010600040101010101" pitchFamily="2" charset="-122"/>
              </a:rPr>
              <a:t>），终点为（</a:t>
            </a:r>
            <a:r>
              <a:rPr lang="en-US" altLang="zh-CN" dirty="0">
                <a:latin typeface="华文宋体" panose="02010600040101010101" pitchFamily="2" charset="-122"/>
                <a:ea typeface="华文宋体" panose="02010600040101010101" pitchFamily="2" charset="-122"/>
              </a:rPr>
              <a:t>15</a:t>
            </a:r>
            <a:r>
              <a:rPr lang="zh-CN" altLang="en-US" dirty="0">
                <a:latin typeface="华文宋体" panose="02010600040101010101" pitchFamily="2" charset="-122"/>
                <a:ea typeface="华文宋体" panose="02010600040101010101" pitchFamily="2" charset="-122"/>
              </a:rPr>
              <a:t>，</a:t>
            </a:r>
            <a:r>
              <a:rPr lang="en-US" altLang="zh-CN" dirty="0">
                <a:latin typeface="华文宋体" panose="02010600040101010101" pitchFamily="2" charset="-122"/>
                <a:ea typeface="华文宋体" panose="02010600040101010101" pitchFamily="2" charset="-122"/>
              </a:rPr>
              <a:t>40</a:t>
            </a:r>
            <a:r>
              <a:rPr lang="zh-CN" altLang="en-US" dirty="0">
                <a:latin typeface="华文宋体" panose="02010600040101010101" pitchFamily="2" charset="-122"/>
                <a:ea typeface="华文宋体" panose="02010600040101010101" pitchFamily="2" charset="-122"/>
              </a:rPr>
              <a:t>），由于只直到起点的位置和终点的位置，因此需要计算从起点到终点中所有点的位置，并将这些点送入到显卡的显存中，然后才</a:t>
            </a:r>
          </a:p>
        </p:txBody>
      </p:sp>
    </p:spTree>
    <p:extLst>
      <p:ext uri="{BB962C8B-B14F-4D97-AF65-F5344CB8AC3E}">
        <p14:creationId xmlns:p14="http://schemas.microsoft.com/office/powerpoint/2010/main" val="2661684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199" y="564543"/>
            <a:ext cx="6476999" cy="6050942"/>
          </a:xfrm>
        </p:spPr>
        <p:txBody>
          <a:bodyPr>
            <a:normAutofit/>
          </a:bodyPr>
          <a:lstStyle/>
          <a:p>
            <a:pPr marL="0" indent="0">
              <a:lnSpc>
                <a:spcPct val="150000"/>
              </a:lnSpc>
              <a:buNone/>
            </a:pPr>
            <a:r>
              <a:rPr lang="zh-CN" altLang="en-US" sz="2400" b="1" dirty="0">
                <a:latin typeface="华文宋体" panose="02010600040101010101" pitchFamily="2" charset="-122"/>
                <a:ea typeface="华文宋体" panose="02010600040101010101" pitchFamily="2" charset="-122"/>
              </a:rPr>
              <a:t>能进行正常的显示。</a:t>
            </a:r>
            <a:endParaRPr lang="en-US" altLang="zh-CN" sz="2400" b="1" dirty="0">
              <a:latin typeface="华文宋体" panose="02010600040101010101" pitchFamily="2" charset="-122"/>
              <a:ea typeface="华文宋体" panose="02010600040101010101" pitchFamily="2" charset="-122"/>
            </a:endParaRPr>
          </a:p>
          <a:p>
            <a:pPr marL="0" indent="0">
              <a:lnSpc>
                <a:spcPct val="150000"/>
              </a:lnSpc>
              <a:buNone/>
            </a:pPr>
            <a:r>
              <a:rPr lang="en-US" altLang="zh-CN" sz="2400" b="1" dirty="0">
                <a:latin typeface="华文宋体" panose="02010600040101010101" pitchFamily="2" charset="-122"/>
                <a:ea typeface="华文宋体" panose="02010600040101010101" pitchFamily="2" charset="-122"/>
              </a:rPr>
              <a:t>       </a:t>
            </a:r>
            <a:r>
              <a:rPr lang="zh-CN" altLang="en-US" sz="2400" b="1" dirty="0">
                <a:latin typeface="华文宋体" panose="02010600040101010101" pitchFamily="2" charset="-122"/>
                <a:ea typeface="华文宋体" panose="02010600040101010101" pitchFamily="2" charset="-122"/>
              </a:rPr>
              <a:t>显然在计算时，需要将这些点的位置坐标转换为屏幕坐标（物理坐标），也就是显示器的坐标。显示器的物理坐标一般左上角为（</a:t>
            </a:r>
            <a:r>
              <a:rPr lang="en-US" altLang="zh-CN" sz="2400" b="1" dirty="0">
                <a:latin typeface="华文宋体" panose="02010600040101010101" pitchFamily="2" charset="-122"/>
                <a:ea typeface="华文宋体" panose="02010600040101010101" pitchFamily="2" charset="-122"/>
              </a:rPr>
              <a:t>0</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0</a:t>
            </a:r>
            <a:r>
              <a:rPr lang="zh-CN" altLang="en-US" sz="2400" b="1" dirty="0">
                <a:latin typeface="华文宋体" panose="02010600040101010101" pitchFamily="2" charset="-122"/>
                <a:ea typeface="华文宋体" panose="02010600040101010101" pitchFamily="2" charset="-122"/>
              </a:rPr>
              <a:t>），其坐标系为水平向右为</a:t>
            </a:r>
            <a:r>
              <a:rPr lang="en-US" altLang="zh-CN" sz="2400" b="1" dirty="0">
                <a:latin typeface="华文宋体" panose="02010600040101010101" pitchFamily="2" charset="-122"/>
                <a:ea typeface="华文宋体" panose="02010600040101010101" pitchFamily="2" charset="-122"/>
              </a:rPr>
              <a:t>X</a:t>
            </a:r>
            <a:r>
              <a:rPr lang="zh-CN" altLang="en-US" sz="2400" b="1" dirty="0">
                <a:latin typeface="华文宋体" panose="02010600040101010101" pitchFamily="2" charset="-122"/>
                <a:ea typeface="华文宋体" panose="02010600040101010101" pitchFamily="2" charset="-122"/>
              </a:rPr>
              <a:t>轴正向，垂直向下为</a:t>
            </a:r>
            <a:r>
              <a:rPr lang="en-US" altLang="zh-CN" sz="2400" b="1" dirty="0">
                <a:latin typeface="华文宋体" panose="02010600040101010101" pitchFamily="2" charset="-122"/>
                <a:ea typeface="华文宋体" panose="02010600040101010101" pitchFamily="2" charset="-122"/>
              </a:rPr>
              <a:t>Y</a:t>
            </a:r>
            <a:r>
              <a:rPr lang="zh-CN" altLang="en-US" sz="2400" b="1" dirty="0">
                <a:latin typeface="华文宋体" panose="02010600040101010101" pitchFamily="2" charset="-122"/>
                <a:ea typeface="华文宋体" panose="02010600040101010101" pitchFamily="2" charset="-122"/>
              </a:rPr>
              <a:t>轴正向，如右图所示。如果屏幕的分辨率为（</a:t>
            </a:r>
            <a:r>
              <a:rPr lang="en-US" altLang="zh-CN" sz="2400" b="1" dirty="0">
                <a:latin typeface="华文宋体" panose="02010600040101010101" pitchFamily="2" charset="-122"/>
                <a:ea typeface="华文宋体" panose="02010600040101010101" pitchFamily="2" charset="-122"/>
              </a:rPr>
              <a:t>1920</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1080</a:t>
            </a:r>
            <a:r>
              <a:rPr lang="zh-CN" altLang="en-US" sz="2400" b="1" dirty="0">
                <a:latin typeface="华文宋体" panose="02010600040101010101" pitchFamily="2" charset="-122"/>
                <a:ea typeface="华文宋体" panose="02010600040101010101" pitchFamily="2" charset="-122"/>
              </a:rPr>
              <a:t>），则左上角的坐标为（</a:t>
            </a:r>
            <a:r>
              <a:rPr lang="en-US" altLang="zh-CN" sz="2400" b="1" dirty="0">
                <a:latin typeface="华文宋体" panose="02010600040101010101" pitchFamily="2" charset="-122"/>
                <a:ea typeface="华文宋体" panose="02010600040101010101" pitchFamily="2" charset="-122"/>
              </a:rPr>
              <a:t>0</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0</a:t>
            </a:r>
            <a:r>
              <a:rPr lang="zh-CN" altLang="en-US" sz="2400" b="1" dirty="0">
                <a:latin typeface="华文宋体" panose="02010600040101010101" pitchFamily="2" charset="-122"/>
                <a:ea typeface="华文宋体" panose="02010600040101010101" pitchFamily="2" charset="-122"/>
              </a:rPr>
              <a:t>），右下角的坐标为（</a:t>
            </a:r>
            <a:r>
              <a:rPr lang="en-US" altLang="zh-CN" sz="2400" b="1" dirty="0">
                <a:latin typeface="华文宋体" panose="02010600040101010101" pitchFamily="2" charset="-122"/>
                <a:ea typeface="华文宋体" panose="02010600040101010101" pitchFamily="2" charset="-122"/>
              </a:rPr>
              <a:t>1919</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1079</a:t>
            </a:r>
            <a:r>
              <a:rPr lang="zh-CN" altLang="en-US" sz="2400" b="1" dirty="0">
                <a:latin typeface="华文宋体" panose="02010600040101010101" pitchFamily="2" charset="-122"/>
                <a:ea typeface="华文宋体" panose="02010600040101010101" pitchFamily="2" charset="-122"/>
              </a:rPr>
              <a:t>） 。</a:t>
            </a:r>
            <a:endParaRPr lang="en-US" altLang="zh-CN" sz="2400" b="1" dirty="0">
              <a:latin typeface="华文宋体" panose="02010600040101010101" pitchFamily="2" charset="-122"/>
              <a:ea typeface="华文宋体" panose="02010600040101010101" pitchFamily="2" charset="-122"/>
            </a:endParaRPr>
          </a:p>
          <a:p>
            <a:pPr marL="0" indent="0">
              <a:lnSpc>
                <a:spcPct val="150000"/>
              </a:lnSpc>
              <a:buNone/>
            </a:pPr>
            <a:r>
              <a:rPr lang="en-US" altLang="zh-CN" sz="2400" b="1" dirty="0">
                <a:latin typeface="华文宋体" panose="02010600040101010101" pitchFamily="2" charset="-122"/>
                <a:ea typeface="华文宋体" panose="02010600040101010101" pitchFamily="2" charset="-122"/>
              </a:rPr>
              <a:t>      </a:t>
            </a:r>
            <a:r>
              <a:rPr lang="zh-CN" altLang="en-US" sz="2400" b="1" dirty="0">
                <a:latin typeface="华文宋体" panose="02010600040101010101" pitchFamily="2" charset="-122"/>
                <a:ea typeface="华文宋体" panose="02010600040101010101" pitchFamily="2" charset="-122"/>
              </a:rPr>
              <a:t>由于我们通常采用世界坐标系，也就是左下角为（</a:t>
            </a:r>
            <a:r>
              <a:rPr lang="en-US" altLang="zh-CN" sz="2400" b="1" dirty="0">
                <a:latin typeface="华文宋体" panose="02010600040101010101" pitchFamily="2" charset="-122"/>
                <a:ea typeface="华文宋体" panose="02010600040101010101" pitchFamily="2" charset="-122"/>
              </a:rPr>
              <a:t>0</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0</a:t>
            </a:r>
            <a:r>
              <a:rPr lang="zh-CN" altLang="en-US" sz="2400" b="1" dirty="0">
                <a:latin typeface="华文宋体" panose="02010600040101010101" pitchFamily="2" charset="-122"/>
                <a:ea typeface="华文宋体" panose="02010600040101010101" pitchFamily="2" charset="-122"/>
              </a:rPr>
              <a:t>），右上角为（</a:t>
            </a:r>
            <a:r>
              <a:rPr lang="en-US" altLang="zh-CN" sz="2400" b="1" dirty="0">
                <a:latin typeface="华文宋体" panose="02010600040101010101" pitchFamily="2" charset="-122"/>
                <a:ea typeface="华文宋体" panose="02010600040101010101" pitchFamily="2" charset="-122"/>
              </a:rPr>
              <a:t>1919</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1079</a:t>
            </a:r>
            <a:r>
              <a:rPr lang="zh-CN" altLang="en-US" sz="2400" b="1" dirty="0">
                <a:latin typeface="华文宋体" panose="02010600040101010101" pitchFamily="2" charset="-122"/>
                <a:ea typeface="华文宋体" panose="02010600040101010101" pitchFamily="2" charset="-122"/>
              </a:rPr>
              <a:t>）。</a:t>
            </a:r>
          </a:p>
        </p:txBody>
      </p:sp>
      <p:cxnSp>
        <p:nvCxnSpPr>
          <p:cNvPr id="4" name="直接箭头连接符 3">
            <a:extLst>
              <a:ext uri="{FF2B5EF4-FFF2-40B4-BE49-F238E27FC236}">
                <a16:creationId xmlns:a16="http://schemas.microsoft.com/office/drawing/2014/main" id="{FFAEF697-9B9C-440B-92B6-C09120BC42C6}"/>
              </a:ext>
            </a:extLst>
          </p:cNvPr>
          <p:cNvCxnSpPr/>
          <p:nvPr/>
        </p:nvCxnSpPr>
        <p:spPr>
          <a:xfrm>
            <a:off x="7784327" y="1868557"/>
            <a:ext cx="35144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BA7DFE08-10BD-442B-B138-0AB82DE76E7B}"/>
              </a:ext>
            </a:extLst>
          </p:cNvPr>
          <p:cNvCxnSpPr/>
          <p:nvPr/>
        </p:nvCxnSpPr>
        <p:spPr>
          <a:xfrm>
            <a:off x="7784327" y="1868557"/>
            <a:ext cx="0" cy="3148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C8C99541-CE56-42A0-BAA7-9394E15AC13A}"/>
              </a:ext>
            </a:extLst>
          </p:cNvPr>
          <p:cNvSpPr txBox="1"/>
          <p:nvPr/>
        </p:nvSpPr>
        <p:spPr>
          <a:xfrm>
            <a:off x="7477190" y="1499224"/>
            <a:ext cx="614271" cy="369332"/>
          </a:xfrm>
          <a:prstGeom prst="rect">
            <a:avLst/>
          </a:prstGeom>
          <a:noFill/>
        </p:spPr>
        <p:txBody>
          <a:bodyPr wrap="none" rtlCol="0">
            <a:spAutoFit/>
          </a:bodyPr>
          <a:lstStyle/>
          <a:p>
            <a:r>
              <a:rPr lang="en-US" altLang="zh-CN" dirty="0"/>
              <a:t>(0,0)</a:t>
            </a:r>
            <a:endParaRPr lang="zh-CN" altLang="en-US" dirty="0"/>
          </a:p>
        </p:txBody>
      </p:sp>
      <p:sp>
        <p:nvSpPr>
          <p:cNvPr id="8" name="矩形 7">
            <a:extLst>
              <a:ext uri="{FF2B5EF4-FFF2-40B4-BE49-F238E27FC236}">
                <a16:creationId xmlns:a16="http://schemas.microsoft.com/office/drawing/2014/main" id="{7494B930-843C-4FF9-9552-C3870DDD78D5}"/>
              </a:ext>
            </a:extLst>
          </p:cNvPr>
          <p:cNvSpPr/>
          <p:nvPr/>
        </p:nvSpPr>
        <p:spPr>
          <a:xfrm>
            <a:off x="7784325" y="1868556"/>
            <a:ext cx="3228231" cy="2250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F92B4DCE-A9E4-459B-AF24-C757DED46701}"/>
              </a:ext>
            </a:extLst>
          </p:cNvPr>
          <p:cNvSpPr txBox="1"/>
          <p:nvPr/>
        </p:nvSpPr>
        <p:spPr>
          <a:xfrm>
            <a:off x="10608810" y="4118769"/>
            <a:ext cx="1345240" cy="369332"/>
          </a:xfrm>
          <a:prstGeom prst="rect">
            <a:avLst/>
          </a:prstGeom>
          <a:noFill/>
        </p:spPr>
        <p:txBody>
          <a:bodyPr wrap="none" rtlCol="0">
            <a:spAutoFit/>
          </a:bodyPr>
          <a:lstStyle/>
          <a:p>
            <a:r>
              <a:rPr lang="en-US" altLang="zh-CN" dirty="0"/>
              <a:t>(1920,1080)</a:t>
            </a:r>
            <a:endParaRPr lang="zh-CN" altLang="en-US" dirty="0"/>
          </a:p>
        </p:txBody>
      </p:sp>
    </p:spTree>
    <p:extLst>
      <p:ext uri="{BB962C8B-B14F-4D97-AF65-F5344CB8AC3E}">
        <p14:creationId xmlns:p14="http://schemas.microsoft.com/office/powerpoint/2010/main" val="96663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199" y="564543"/>
            <a:ext cx="6476999" cy="5264757"/>
          </a:xfrm>
        </p:spPr>
        <p:txBody>
          <a:bodyPr>
            <a:normAutofit/>
          </a:bodyPr>
          <a:lstStyle/>
          <a:p>
            <a:pPr marL="0" indent="0">
              <a:lnSpc>
                <a:spcPct val="150000"/>
              </a:lnSpc>
              <a:buNone/>
            </a:pPr>
            <a:r>
              <a:rPr lang="zh-CN" altLang="en-US" sz="2400" b="1" dirty="0">
                <a:latin typeface="华文宋体" panose="02010600040101010101" pitchFamily="2" charset="-122"/>
                <a:ea typeface="华文宋体" panose="02010600040101010101" pitchFamily="2" charset="-122"/>
              </a:rPr>
              <a:t>因此，我们一般会在计算要绘制的直线的点的坐标时需要将其从世界坐标系转换为屏幕坐标系，并计算两点之间中间点的在屏幕坐标系下的位置坐标。</a:t>
            </a:r>
            <a:endParaRPr lang="en-US" altLang="zh-CN" sz="2400" b="1" dirty="0">
              <a:latin typeface="华文宋体" panose="02010600040101010101" pitchFamily="2" charset="-122"/>
              <a:ea typeface="华文宋体" panose="02010600040101010101" pitchFamily="2" charset="-122"/>
            </a:endParaRPr>
          </a:p>
          <a:p>
            <a:pPr marL="0" indent="0">
              <a:lnSpc>
                <a:spcPct val="150000"/>
              </a:lnSpc>
              <a:buNone/>
            </a:pPr>
            <a:r>
              <a:rPr lang="en-US" altLang="zh-CN" sz="2400" b="1" dirty="0">
                <a:latin typeface="华文宋体" panose="02010600040101010101" pitchFamily="2" charset="-122"/>
                <a:ea typeface="华文宋体" panose="02010600040101010101" pitchFamily="2" charset="-122"/>
              </a:rPr>
              <a:t>       </a:t>
            </a:r>
            <a:r>
              <a:rPr lang="zh-CN" altLang="en-US" sz="2400" b="1" dirty="0">
                <a:latin typeface="华文宋体" panose="02010600040101010101" pitchFamily="2" charset="-122"/>
                <a:ea typeface="华文宋体" panose="02010600040101010101" pitchFamily="2" charset="-122"/>
              </a:rPr>
              <a:t>由于通过计算得到的中间点的位置可能并不正好在像素点所在的位置，因此往往需要寻找与计算值最近的像素点作为要显示的点，因此在屏幕分辨率不高的情况下，会显示的直线可能会出现锯齿现象，如右图所示。</a:t>
            </a:r>
            <a:r>
              <a:rPr lang="en-US" altLang="zh-CN" sz="2400" b="1" dirty="0">
                <a:latin typeface="华文宋体" panose="02010600040101010101" pitchFamily="2" charset="-122"/>
                <a:ea typeface="华文宋体" panose="02010600040101010101" pitchFamily="2" charset="-122"/>
              </a:rPr>
              <a:t>      </a:t>
            </a:r>
            <a:endParaRPr lang="zh-CN" altLang="en-US" sz="2400" b="1" dirty="0">
              <a:latin typeface="华文宋体" panose="02010600040101010101" pitchFamily="2" charset="-122"/>
              <a:ea typeface="华文宋体" panose="02010600040101010101" pitchFamily="2" charset="-122"/>
            </a:endParaRPr>
          </a:p>
        </p:txBody>
      </p:sp>
      <p:pic>
        <p:nvPicPr>
          <p:cNvPr id="1026" name="Picture 2">
            <a:extLst>
              <a:ext uri="{FF2B5EF4-FFF2-40B4-BE49-F238E27FC236}">
                <a16:creationId xmlns:a16="http://schemas.microsoft.com/office/drawing/2014/main" id="{9FBFD326-FAF1-4FE3-97C2-48602A394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8075" y="1143000"/>
            <a:ext cx="4314825" cy="452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231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199" y="847725"/>
            <a:ext cx="10696576" cy="5029200"/>
          </a:xfrm>
        </p:spPr>
        <p:txBody>
          <a:bodyPr>
            <a:normAutofit/>
          </a:bodyPr>
          <a:lstStyle/>
          <a:p>
            <a:pPr marL="0" indent="0">
              <a:lnSpc>
                <a:spcPct val="150000"/>
              </a:lnSpc>
              <a:buNone/>
            </a:pPr>
            <a:r>
              <a:rPr lang="en-US" altLang="zh-CN" b="1" dirty="0">
                <a:latin typeface="华文宋体" panose="02010600040101010101" pitchFamily="2" charset="-122"/>
                <a:ea typeface="华文宋体" panose="02010600040101010101" pitchFamily="2" charset="-122"/>
              </a:rPr>
              <a:t>       </a:t>
            </a:r>
            <a:r>
              <a:rPr lang="zh-CN" altLang="en-US" b="1" dirty="0">
                <a:latin typeface="华文宋体" panose="02010600040101010101" pitchFamily="2" charset="-122"/>
                <a:ea typeface="华文宋体" panose="02010600040101010101" pitchFamily="2" charset="-122"/>
              </a:rPr>
              <a:t>其它图形的显示也需要在</a:t>
            </a:r>
            <a:r>
              <a:rPr lang="en-US" altLang="zh-CN" b="1" dirty="0">
                <a:latin typeface="华文宋体" panose="02010600040101010101" pitchFamily="2" charset="-122"/>
                <a:ea typeface="华文宋体" panose="02010600040101010101" pitchFamily="2" charset="-122"/>
              </a:rPr>
              <a:t>CPU</a:t>
            </a:r>
            <a:r>
              <a:rPr lang="zh-CN" altLang="en-US" b="1" dirty="0">
                <a:latin typeface="华文宋体" panose="02010600040101010101" pitchFamily="2" charset="-122"/>
                <a:ea typeface="华文宋体" panose="02010600040101010101" pitchFamily="2" charset="-122"/>
              </a:rPr>
              <a:t>完成相应的计算，并转换成屏幕坐标系下的像素位置，然后才能进行直接的显示，包括曲线和立体图形等。</a:t>
            </a:r>
            <a:endParaRPr lang="en-US" altLang="zh-CN" b="1" dirty="0">
              <a:latin typeface="华文宋体" panose="02010600040101010101" pitchFamily="2" charset="-122"/>
              <a:ea typeface="华文宋体" panose="02010600040101010101" pitchFamily="2" charset="-122"/>
            </a:endParaRPr>
          </a:p>
          <a:p>
            <a:pPr marL="0" indent="0">
              <a:lnSpc>
                <a:spcPct val="150000"/>
              </a:lnSpc>
              <a:buNone/>
            </a:pPr>
            <a:r>
              <a:rPr lang="zh-CN" altLang="en-US" b="1" dirty="0">
                <a:latin typeface="华文宋体" panose="02010600040101010101" pitchFamily="2" charset="-122"/>
                <a:ea typeface="华文宋体" panose="02010600040101010101" pitchFamily="2" charset="-122"/>
              </a:rPr>
              <a:t>　　在早期的</a:t>
            </a:r>
            <a:r>
              <a:rPr lang="en-US" altLang="zh-CN" b="1" dirty="0">
                <a:latin typeface="华文宋体" panose="02010600040101010101" pitchFamily="2" charset="-122"/>
                <a:ea typeface="华文宋体" panose="02010600040101010101" pitchFamily="2" charset="-122"/>
              </a:rPr>
              <a:t>Windows</a:t>
            </a:r>
            <a:r>
              <a:rPr lang="zh-CN" altLang="en-US" b="1" dirty="0">
                <a:latin typeface="华文宋体" panose="02010600040101010101" pitchFamily="2" charset="-122"/>
                <a:ea typeface="华文宋体" panose="02010600040101010101" pitchFamily="2" charset="-122"/>
              </a:rPr>
              <a:t>系统中，２</a:t>
            </a:r>
            <a:r>
              <a:rPr lang="en-US" altLang="zh-CN" b="1" dirty="0">
                <a:latin typeface="华文宋体" panose="02010600040101010101" pitchFamily="2" charset="-122"/>
                <a:ea typeface="华文宋体" panose="02010600040101010101" pitchFamily="2" charset="-122"/>
              </a:rPr>
              <a:t>D</a:t>
            </a:r>
            <a:r>
              <a:rPr lang="zh-CN" altLang="en-US" b="1" dirty="0">
                <a:latin typeface="华文宋体" panose="02010600040101010101" pitchFamily="2" charset="-122"/>
                <a:ea typeface="华文宋体" panose="02010600040101010101" pitchFamily="2" charset="-122"/>
              </a:rPr>
              <a:t>图形的显示主要通过</a:t>
            </a:r>
            <a:r>
              <a:rPr lang="en-US" altLang="zh-CN" b="1" dirty="0">
                <a:latin typeface="华文宋体" panose="02010600040101010101" pitchFamily="2" charset="-122"/>
                <a:ea typeface="华文宋体" panose="02010600040101010101" pitchFamily="2" charset="-122"/>
              </a:rPr>
              <a:t>Windows</a:t>
            </a:r>
            <a:r>
              <a:rPr lang="zh-CN" altLang="en-US" b="1" dirty="0">
                <a:latin typeface="华文宋体" panose="02010600040101010101" pitchFamily="2" charset="-122"/>
                <a:ea typeface="华文宋体" panose="02010600040101010101" pitchFamily="2" charset="-122"/>
              </a:rPr>
              <a:t>提供的</a:t>
            </a:r>
            <a:r>
              <a:rPr lang="en-US" altLang="zh-CN" b="1" dirty="0">
                <a:latin typeface="华文宋体" panose="02010600040101010101" pitchFamily="2" charset="-122"/>
                <a:ea typeface="华文宋体" panose="02010600040101010101" pitchFamily="2" charset="-122"/>
              </a:rPr>
              <a:t>API</a:t>
            </a:r>
            <a:r>
              <a:rPr lang="zh-CN" altLang="en-US" b="1" dirty="0">
                <a:latin typeface="华文宋体" panose="02010600040101010101" pitchFamily="2" charset="-122"/>
                <a:ea typeface="华文宋体" panose="02010600040101010101" pitchFamily="2" charset="-122"/>
              </a:rPr>
              <a:t>行数来实现这种计算，并通过</a:t>
            </a:r>
            <a:r>
              <a:rPr lang="en-US" altLang="zh-CN" b="1" dirty="0">
                <a:latin typeface="华文宋体" panose="02010600040101010101" pitchFamily="2" charset="-122"/>
                <a:ea typeface="华文宋体" panose="02010600040101010101" pitchFamily="2" charset="-122"/>
              </a:rPr>
              <a:t>GDI</a:t>
            </a:r>
            <a:r>
              <a:rPr lang="zh-CN" altLang="en-US" b="1" dirty="0">
                <a:latin typeface="华文宋体" panose="02010600040101010101" pitchFamily="2" charset="-122"/>
                <a:ea typeface="华文宋体" panose="02010600040101010101" pitchFamily="2" charset="-122"/>
              </a:rPr>
              <a:t>接口实现，并完成相应的显示。在计算机硬件未提供图形加速卡和</a:t>
            </a:r>
            <a:r>
              <a:rPr lang="en-US" altLang="zh-CN" b="1" dirty="0">
                <a:latin typeface="华文宋体" panose="02010600040101010101" pitchFamily="2" charset="-122"/>
                <a:ea typeface="华文宋体" panose="02010600040101010101" pitchFamily="2" charset="-122"/>
              </a:rPr>
              <a:t>GPU</a:t>
            </a:r>
            <a:r>
              <a:rPr lang="zh-CN" altLang="en-US" b="1" dirty="0">
                <a:latin typeface="华文宋体" panose="02010600040101010101" pitchFamily="2" charset="-122"/>
                <a:ea typeface="华文宋体" panose="02010600040101010101" pitchFamily="2" charset="-122"/>
              </a:rPr>
              <a:t>卡时，操作系统对３</a:t>
            </a:r>
            <a:r>
              <a:rPr lang="en-US" altLang="zh-CN" b="1" dirty="0">
                <a:latin typeface="华文宋体" panose="02010600040101010101" pitchFamily="2" charset="-122"/>
                <a:ea typeface="华文宋体" panose="02010600040101010101" pitchFamily="2" charset="-122"/>
              </a:rPr>
              <a:t>D</a:t>
            </a:r>
            <a:r>
              <a:rPr lang="zh-CN" altLang="en-US" b="1" dirty="0">
                <a:latin typeface="华文宋体" panose="02010600040101010101" pitchFamily="2" charset="-122"/>
                <a:ea typeface="华文宋体" panose="02010600040101010101" pitchFamily="2" charset="-122"/>
              </a:rPr>
              <a:t>图形的显示也主要通过软件来实现相关的图形计算。</a:t>
            </a:r>
            <a:endParaRPr lang="en-US" altLang="zh-CN" b="1" dirty="0">
              <a:latin typeface="华文宋体" panose="02010600040101010101" pitchFamily="2" charset="-122"/>
              <a:ea typeface="华文宋体" panose="02010600040101010101" pitchFamily="2" charset="-122"/>
            </a:endParaRPr>
          </a:p>
        </p:txBody>
      </p:sp>
    </p:spTree>
    <p:extLst>
      <p:ext uri="{BB962C8B-B14F-4D97-AF65-F5344CB8AC3E}">
        <p14:creationId xmlns:p14="http://schemas.microsoft.com/office/powerpoint/2010/main" val="3280382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199" y="847725"/>
            <a:ext cx="10696576" cy="5029200"/>
          </a:xfrm>
        </p:spPr>
        <p:txBody>
          <a:bodyPr>
            <a:normAutofit/>
          </a:bodyPr>
          <a:lstStyle/>
          <a:p>
            <a:pPr marL="0" indent="0">
              <a:lnSpc>
                <a:spcPct val="150000"/>
              </a:lnSpc>
              <a:buNone/>
            </a:pPr>
            <a:r>
              <a:rPr lang="zh-CN" altLang="en-US" b="1" dirty="0">
                <a:latin typeface="华文宋体" panose="02010600040101010101" pitchFamily="2" charset="-122"/>
                <a:ea typeface="华文宋体" panose="02010600040101010101" pitchFamily="2" charset="-122"/>
              </a:rPr>
              <a:t>　　在</a:t>
            </a:r>
            <a:r>
              <a:rPr lang="en-US" altLang="zh-CN" b="1" dirty="0">
                <a:latin typeface="华文宋体" panose="02010600040101010101" pitchFamily="2" charset="-122"/>
                <a:ea typeface="华文宋体" panose="02010600040101010101" pitchFamily="2" charset="-122"/>
              </a:rPr>
              <a:t>GPU</a:t>
            </a:r>
            <a:r>
              <a:rPr lang="zh-CN" altLang="en-US" b="1" dirty="0">
                <a:latin typeface="华文宋体" panose="02010600040101010101" pitchFamily="2" charset="-122"/>
                <a:ea typeface="华文宋体" panose="02010600040101010101" pitchFamily="2" charset="-122"/>
              </a:rPr>
              <a:t>显卡出现之后，</a:t>
            </a:r>
            <a:r>
              <a:rPr lang="en-US" altLang="zh-CN" b="1" dirty="0">
                <a:latin typeface="华文宋体" panose="02010600040101010101" pitchFamily="2" charset="-122"/>
                <a:ea typeface="华文宋体" panose="02010600040101010101" pitchFamily="2" charset="-122"/>
              </a:rPr>
              <a:t>Windows</a:t>
            </a:r>
            <a:r>
              <a:rPr lang="zh-CN" altLang="en-US" b="1" dirty="0">
                <a:latin typeface="华文宋体" panose="02010600040101010101" pitchFamily="2" charset="-122"/>
                <a:ea typeface="华文宋体" panose="02010600040101010101" pitchFamily="2" charset="-122"/>
              </a:rPr>
              <a:t>系统则通过</a:t>
            </a:r>
            <a:r>
              <a:rPr lang="en-US" altLang="zh-CN" b="1" dirty="0">
                <a:latin typeface="华文宋体" panose="02010600040101010101" pitchFamily="2" charset="-122"/>
                <a:ea typeface="华文宋体" panose="02010600040101010101" pitchFamily="2" charset="-122"/>
              </a:rPr>
              <a:t>Direct</a:t>
            </a:r>
            <a:r>
              <a:rPr lang="zh-CN" altLang="en-US" b="1" dirty="0">
                <a:latin typeface="华文宋体" panose="02010600040101010101" pitchFamily="2" charset="-122"/>
                <a:ea typeface="华文宋体" panose="02010600040101010101" pitchFamily="2" charset="-122"/>
              </a:rPr>
              <a:t>２</a:t>
            </a:r>
            <a:r>
              <a:rPr lang="en-US" altLang="zh-CN" b="1" dirty="0">
                <a:latin typeface="华文宋体" panose="02010600040101010101" pitchFamily="2" charset="-122"/>
                <a:ea typeface="华文宋体" panose="02010600040101010101" pitchFamily="2" charset="-122"/>
              </a:rPr>
              <a:t>D</a:t>
            </a:r>
            <a:r>
              <a:rPr lang="zh-CN" altLang="en-US" b="1" dirty="0">
                <a:latin typeface="华文宋体" panose="02010600040101010101" pitchFamily="2" charset="-122"/>
                <a:ea typeface="华文宋体" panose="02010600040101010101" pitchFamily="2" charset="-122"/>
              </a:rPr>
              <a:t>和</a:t>
            </a:r>
            <a:r>
              <a:rPr lang="en-US" altLang="zh-CN" b="1" dirty="0">
                <a:latin typeface="华文宋体" panose="02010600040101010101" pitchFamily="2" charset="-122"/>
                <a:ea typeface="华文宋体" panose="02010600040101010101" pitchFamily="2" charset="-122"/>
              </a:rPr>
              <a:t>Direct</a:t>
            </a:r>
            <a:r>
              <a:rPr lang="zh-CN" altLang="en-US" b="1" dirty="0">
                <a:latin typeface="华文宋体" panose="02010600040101010101" pitchFamily="2" charset="-122"/>
                <a:ea typeface="华文宋体" panose="02010600040101010101" pitchFamily="2" charset="-122"/>
              </a:rPr>
              <a:t>３</a:t>
            </a:r>
            <a:r>
              <a:rPr lang="en-US" altLang="zh-CN" b="1" dirty="0">
                <a:latin typeface="华文宋体" panose="02010600040101010101" pitchFamily="2" charset="-122"/>
                <a:ea typeface="华文宋体" panose="02010600040101010101" pitchFamily="2" charset="-122"/>
              </a:rPr>
              <a:t>D</a:t>
            </a:r>
            <a:r>
              <a:rPr lang="zh-CN" altLang="en-US" b="1" dirty="0">
                <a:latin typeface="华文宋体" panose="02010600040101010101" pitchFamily="2" charset="-122"/>
                <a:ea typeface="华文宋体" panose="02010600040101010101" pitchFamily="2" charset="-122"/>
              </a:rPr>
              <a:t>提供的图形接口，通过与</a:t>
            </a:r>
            <a:r>
              <a:rPr lang="en-US" altLang="zh-CN" b="1" dirty="0">
                <a:latin typeface="华文宋体" panose="02010600040101010101" pitchFamily="2" charset="-122"/>
                <a:ea typeface="华文宋体" panose="02010600040101010101" pitchFamily="2" charset="-122"/>
              </a:rPr>
              <a:t>GPU</a:t>
            </a:r>
            <a:r>
              <a:rPr lang="zh-CN" altLang="en-US" b="1" dirty="0">
                <a:latin typeface="华文宋体" panose="02010600040101010101" pitchFamily="2" charset="-122"/>
                <a:ea typeface="华文宋体" panose="02010600040101010101" pitchFamily="2" charset="-122"/>
              </a:rPr>
              <a:t>卡的通信及编程实现对图形的计算和显示。其原来由</a:t>
            </a:r>
            <a:r>
              <a:rPr lang="en-US" altLang="zh-CN" b="1" dirty="0">
                <a:latin typeface="华文宋体" panose="02010600040101010101" pitchFamily="2" charset="-122"/>
                <a:ea typeface="华文宋体" panose="02010600040101010101" pitchFamily="2" charset="-122"/>
              </a:rPr>
              <a:t>CPU</a:t>
            </a:r>
            <a:r>
              <a:rPr lang="zh-CN" altLang="en-US" b="1" dirty="0">
                <a:latin typeface="华文宋体" panose="02010600040101010101" pitchFamily="2" charset="-122"/>
                <a:ea typeface="华文宋体" panose="02010600040101010101" pitchFamily="2" charset="-122"/>
              </a:rPr>
              <a:t>进行的计算则转移到</a:t>
            </a:r>
            <a:r>
              <a:rPr lang="en-US" altLang="zh-CN" b="1" dirty="0">
                <a:latin typeface="华文宋体" panose="02010600040101010101" pitchFamily="2" charset="-122"/>
                <a:ea typeface="华文宋体" panose="02010600040101010101" pitchFamily="2" charset="-122"/>
              </a:rPr>
              <a:t>GPU</a:t>
            </a:r>
            <a:r>
              <a:rPr lang="zh-CN" altLang="en-US" b="1" dirty="0">
                <a:latin typeface="华文宋体" panose="02010600040101010101" pitchFamily="2" charset="-122"/>
                <a:ea typeface="华文宋体" panose="02010600040101010101" pitchFamily="2" charset="-122"/>
              </a:rPr>
              <a:t>中，由</a:t>
            </a:r>
            <a:r>
              <a:rPr lang="en-US" altLang="zh-CN" b="1" dirty="0">
                <a:latin typeface="华文宋体" panose="02010600040101010101" pitchFamily="2" charset="-122"/>
                <a:ea typeface="华文宋体" panose="02010600040101010101" pitchFamily="2" charset="-122"/>
              </a:rPr>
              <a:t>GPU</a:t>
            </a:r>
            <a:r>
              <a:rPr lang="zh-CN" altLang="en-US" b="1" dirty="0">
                <a:latin typeface="华文宋体" panose="02010600040101010101" pitchFamily="2" charset="-122"/>
                <a:ea typeface="华文宋体" panose="02010600040101010101" pitchFamily="2" charset="-122"/>
              </a:rPr>
              <a:t>计算出对应的像素位置，然后再进行显示。</a:t>
            </a:r>
            <a:endParaRPr lang="en-US" altLang="zh-CN" b="1" dirty="0">
              <a:latin typeface="华文宋体" panose="02010600040101010101" pitchFamily="2" charset="-122"/>
              <a:ea typeface="华文宋体" panose="02010600040101010101" pitchFamily="2" charset="-122"/>
            </a:endParaRPr>
          </a:p>
          <a:p>
            <a:pPr marL="0" indent="0">
              <a:lnSpc>
                <a:spcPct val="150000"/>
              </a:lnSpc>
              <a:buNone/>
            </a:pPr>
            <a:r>
              <a:rPr lang="zh-CN" altLang="en-US" b="1" dirty="0">
                <a:latin typeface="华文宋体" panose="02010600040101010101" pitchFamily="2" charset="-122"/>
                <a:ea typeface="华文宋体" panose="02010600040101010101" pitchFamily="2" charset="-122"/>
              </a:rPr>
              <a:t>　   </a:t>
            </a:r>
            <a:endParaRPr lang="en-US" altLang="zh-CN" b="1" dirty="0">
              <a:latin typeface="华文宋体" panose="02010600040101010101" pitchFamily="2" charset="-122"/>
              <a:ea typeface="华文宋体" panose="02010600040101010101" pitchFamily="2" charset="-122"/>
            </a:endParaRPr>
          </a:p>
        </p:txBody>
      </p:sp>
    </p:spTree>
    <p:extLst>
      <p:ext uri="{BB962C8B-B14F-4D97-AF65-F5344CB8AC3E}">
        <p14:creationId xmlns:p14="http://schemas.microsoft.com/office/powerpoint/2010/main" val="22131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8. COM</a:t>
            </a:r>
            <a:r>
              <a:rPr lang="zh-CN" altLang="en-US" sz="4800" dirty="0">
                <a:latin typeface="华光美黑_CNKI" panose="02000500000000000000" pitchFamily="2" charset="-122"/>
                <a:ea typeface="华光美黑_CNKI" panose="02000500000000000000" pitchFamily="2" charset="-122"/>
              </a:rPr>
              <a:t>接口</a:t>
            </a:r>
          </a:p>
        </p:txBody>
      </p:sp>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200" y="2049574"/>
            <a:ext cx="10515600" cy="3865451"/>
          </a:xfrm>
        </p:spPr>
        <p:txBody>
          <a:bodyPr>
            <a:normAutofit/>
          </a:bodyPr>
          <a:lstStyle/>
          <a:p>
            <a:pPr marL="0" indent="0">
              <a:lnSpc>
                <a:spcPct val="150000"/>
              </a:lnSpc>
              <a:buNone/>
            </a:pPr>
            <a:r>
              <a:rPr lang="zh-CN" altLang="en-US" dirty="0">
                <a:latin typeface="华文宋体" panose="02010600040101010101" pitchFamily="2" charset="-122"/>
                <a:ea typeface="华文宋体" panose="02010600040101010101" pitchFamily="2" charset="-122"/>
              </a:rPr>
              <a:t>　　</a:t>
            </a:r>
            <a:r>
              <a:rPr lang="en-US" altLang="zh-CN" dirty="0">
                <a:latin typeface="华文宋体" panose="02010600040101010101" pitchFamily="2" charset="-122"/>
                <a:ea typeface="华文宋体" panose="02010600040101010101" pitchFamily="2" charset="-122"/>
              </a:rPr>
              <a:t>GPU</a:t>
            </a:r>
            <a:r>
              <a:rPr lang="zh-CN" altLang="en-US" dirty="0">
                <a:latin typeface="华文宋体" panose="02010600040101010101" pitchFamily="2" charset="-122"/>
                <a:ea typeface="华文宋体" panose="02010600040101010101" pitchFamily="2" charset="-122"/>
              </a:rPr>
              <a:t>是显卡中的微处理器，</a:t>
            </a:r>
            <a:r>
              <a:rPr lang="en-US" altLang="zh-CN" dirty="0">
                <a:latin typeface="华文宋体" panose="02010600040101010101" pitchFamily="2" charset="-122"/>
                <a:ea typeface="华文宋体" panose="02010600040101010101" pitchFamily="2" charset="-122"/>
              </a:rPr>
              <a:t>CPU</a:t>
            </a:r>
            <a:r>
              <a:rPr lang="zh-CN" altLang="en-US" dirty="0">
                <a:latin typeface="华文宋体" panose="02010600040101010101" pitchFamily="2" charset="-122"/>
                <a:ea typeface="华文宋体" panose="02010600040101010101" pitchFamily="2" charset="-122"/>
              </a:rPr>
              <a:t>则是计算机主板上的微处理器，二者之间通过总线进行数据信号和控制信号的传递。</a:t>
            </a:r>
            <a:endParaRPr lang="en-US" altLang="zh-CN" dirty="0">
              <a:latin typeface="华文宋体" panose="02010600040101010101" pitchFamily="2" charset="-122"/>
              <a:ea typeface="华文宋体" panose="02010600040101010101" pitchFamily="2" charset="-122"/>
            </a:endParaRPr>
          </a:p>
          <a:p>
            <a:pPr marL="0" indent="0">
              <a:lnSpc>
                <a:spcPct val="150000"/>
              </a:lnSpc>
              <a:buNone/>
            </a:pPr>
            <a:r>
              <a:rPr lang="zh-CN" altLang="en-US" dirty="0">
                <a:latin typeface="华文宋体" panose="02010600040101010101" pitchFamily="2" charset="-122"/>
                <a:ea typeface="华文宋体" panose="02010600040101010101" pitchFamily="2" charset="-122"/>
              </a:rPr>
              <a:t>　　对于</a:t>
            </a:r>
            <a:r>
              <a:rPr lang="en-US" altLang="zh-CN" dirty="0">
                <a:latin typeface="华文宋体" panose="02010600040101010101" pitchFamily="2" charset="-122"/>
                <a:ea typeface="华文宋体" panose="02010600040101010101" pitchFamily="2" charset="-122"/>
              </a:rPr>
              <a:t>CPU</a:t>
            </a:r>
            <a:r>
              <a:rPr lang="zh-CN" altLang="en-US" dirty="0">
                <a:latin typeface="华文宋体" panose="02010600040101010101" pitchFamily="2" charset="-122"/>
                <a:ea typeface="华文宋体" panose="02010600040101010101" pitchFamily="2" charset="-122"/>
              </a:rPr>
              <a:t>而言，其数据的存放要简单得多，所有的数据都是存放在内存中。而 </a:t>
            </a:r>
            <a:r>
              <a:rPr lang="en-US" altLang="zh-CN" dirty="0">
                <a:latin typeface="华文宋体" panose="02010600040101010101" pitchFamily="2" charset="-122"/>
                <a:ea typeface="华文宋体" panose="02010600040101010101" pitchFamily="2" charset="-122"/>
              </a:rPr>
              <a:t>GPU</a:t>
            </a:r>
            <a:r>
              <a:rPr lang="zh-CN" altLang="en-US" dirty="0">
                <a:latin typeface="华文宋体" panose="02010600040101010101" pitchFamily="2" charset="-122"/>
                <a:ea typeface="华文宋体" panose="02010600040101010101" pitchFamily="2" charset="-122"/>
              </a:rPr>
              <a:t>则不同，不同的数据其存放的位置也不相同。下面是</a:t>
            </a:r>
            <a:r>
              <a:rPr lang="en-US" altLang="zh-CN" dirty="0">
                <a:latin typeface="华文宋体" panose="02010600040101010101" pitchFamily="2" charset="-122"/>
                <a:ea typeface="华文宋体" panose="02010600040101010101" pitchFamily="2" charset="-122"/>
              </a:rPr>
              <a:t>GPU</a:t>
            </a:r>
            <a:r>
              <a:rPr lang="zh-CN" altLang="en-US" dirty="0">
                <a:latin typeface="华文宋体" panose="02010600040101010101" pitchFamily="2" charset="-122"/>
                <a:ea typeface="华文宋体" panose="02010600040101010101" pitchFamily="2" charset="-122"/>
              </a:rPr>
              <a:t>的内存结构。</a:t>
            </a:r>
          </a:p>
        </p:txBody>
      </p:sp>
    </p:spTree>
    <p:extLst>
      <p:ext uri="{BB962C8B-B14F-4D97-AF65-F5344CB8AC3E}">
        <p14:creationId xmlns:p14="http://schemas.microsoft.com/office/powerpoint/2010/main" val="2127577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066947-474A-4524-932B-5055B11460B7}"/>
              </a:ext>
            </a:extLst>
          </p:cNvPr>
          <p:cNvSpPr>
            <a:spLocks noGrp="1"/>
          </p:cNvSpPr>
          <p:nvPr>
            <p:ph idx="1"/>
          </p:nvPr>
        </p:nvSpPr>
        <p:spPr>
          <a:xfrm>
            <a:off x="716280" y="682625"/>
            <a:ext cx="2156460" cy="4857115"/>
          </a:xfrm>
        </p:spPr>
        <p:txBody>
          <a:bodyPr>
            <a:normAutofit/>
          </a:bodyPr>
          <a:lstStyle/>
          <a:p>
            <a:pPr marL="0" indent="0">
              <a:lnSpc>
                <a:spcPct val="150000"/>
              </a:lnSpc>
              <a:buNone/>
            </a:pPr>
            <a:r>
              <a:rPr lang="en-US" altLang="zh-CN" sz="3600" dirty="0"/>
              <a:t>     GPU</a:t>
            </a:r>
            <a:r>
              <a:rPr lang="zh-CN" altLang="en-US" sz="3600" dirty="0"/>
              <a:t>的内存结构如右图所示。</a:t>
            </a:r>
          </a:p>
        </p:txBody>
      </p:sp>
      <p:pic>
        <p:nvPicPr>
          <p:cNvPr id="1026" name="Picture 2" descr="在这里插入图片描述">
            <a:extLst>
              <a:ext uri="{FF2B5EF4-FFF2-40B4-BE49-F238E27FC236}">
                <a16:creationId xmlns:a16="http://schemas.microsoft.com/office/drawing/2014/main" id="{3E75FC71-DCEC-49FD-A448-0D1640F0C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7998" y="219393"/>
            <a:ext cx="8630602" cy="6419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587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0107A587-C37C-4898-8DF9-20E8D1142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 y="0"/>
            <a:ext cx="11955780" cy="6675119"/>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a:extLst>
              <a:ext uri="{FF2B5EF4-FFF2-40B4-BE49-F238E27FC236}">
                <a16:creationId xmlns:a16="http://schemas.microsoft.com/office/drawing/2014/main" id="{8CFFA4E8-CC77-4D12-9C56-D0EA349091E8}"/>
              </a:ext>
            </a:extLst>
          </p:cNvPr>
          <p:cNvSpPr>
            <a:spLocks noGrp="1"/>
          </p:cNvSpPr>
          <p:nvPr>
            <p:ph idx="1"/>
          </p:nvPr>
        </p:nvSpPr>
        <p:spPr>
          <a:xfrm>
            <a:off x="9814560" y="701041"/>
            <a:ext cx="1211580" cy="4884420"/>
          </a:xfrm>
        </p:spPr>
        <p:txBody>
          <a:bodyPr>
            <a:normAutofit/>
          </a:bodyPr>
          <a:lstStyle/>
          <a:p>
            <a:pPr marL="0" indent="0">
              <a:lnSpc>
                <a:spcPct val="150000"/>
              </a:lnSpc>
              <a:buNone/>
            </a:pPr>
            <a:r>
              <a:rPr lang="en-US" altLang="zh-CN" sz="3600" dirty="0"/>
              <a:t>     GPU</a:t>
            </a:r>
            <a:r>
              <a:rPr lang="zh-CN" altLang="en-US" sz="3600" dirty="0"/>
              <a:t>的内存结构</a:t>
            </a:r>
          </a:p>
        </p:txBody>
      </p:sp>
    </p:spTree>
    <p:extLst>
      <p:ext uri="{BB962C8B-B14F-4D97-AF65-F5344CB8AC3E}">
        <p14:creationId xmlns:p14="http://schemas.microsoft.com/office/powerpoint/2010/main" val="1577053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434340" y="502920"/>
            <a:ext cx="10515600" cy="5704523"/>
          </a:xfrm>
        </p:spPr>
        <p:txBody>
          <a:bodyPr>
            <a:normAutofit fontScale="92500" lnSpcReduction="10000"/>
          </a:bodyPr>
          <a:lstStyle/>
          <a:p>
            <a:pPr marL="0" indent="0">
              <a:lnSpc>
                <a:spcPct val="150000"/>
              </a:lnSpc>
              <a:buNone/>
            </a:pPr>
            <a:r>
              <a:rPr lang="en-US" altLang="zh-CN" dirty="0"/>
              <a:t>     </a:t>
            </a:r>
            <a:r>
              <a:rPr lang="zh-CN" altLang="en-US" dirty="0"/>
              <a:t>其中</a:t>
            </a:r>
            <a:r>
              <a:rPr lang="en-US" altLang="zh-CN" dirty="0"/>
              <a:t>:</a:t>
            </a:r>
          </a:p>
          <a:p>
            <a:pPr marL="0" indent="0">
              <a:lnSpc>
                <a:spcPct val="150000"/>
              </a:lnSpc>
              <a:buNone/>
            </a:pPr>
            <a:r>
              <a:rPr lang="en-US" altLang="zh-CN" dirty="0"/>
              <a:t>         </a:t>
            </a:r>
            <a:r>
              <a:rPr lang="en-US" altLang="zh-CN" b="0" i="0" dirty="0">
                <a:solidFill>
                  <a:srgbClr val="333333"/>
                </a:solidFill>
                <a:effectLst/>
                <a:latin typeface="-apple-system"/>
              </a:rPr>
              <a:t>SM</a:t>
            </a:r>
            <a:r>
              <a:rPr lang="zh-CN" altLang="en-US" b="0" i="0" dirty="0">
                <a:solidFill>
                  <a:srgbClr val="333333"/>
                </a:solidFill>
                <a:effectLst/>
                <a:latin typeface="-apple-system"/>
              </a:rPr>
              <a:t>：流处理器簇，为</a:t>
            </a:r>
            <a:r>
              <a:rPr lang="en-US" altLang="zh-CN" b="0" i="0" dirty="0">
                <a:solidFill>
                  <a:srgbClr val="333333"/>
                </a:solidFill>
                <a:effectLst/>
                <a:latin typeface="-apple-system"/>
              </a:rPr>
              <a:t>GPU</a:t>
            </a:r>
            <a:r>
              <a:rPr lang="zh-CN" altLang="en-US" b="0" i="0" dirty="0">
                <a:solidFill>
                  <a:srgbClr val="333333"/>
                </a:solidFill>
                <a:effectLst/>
                <a:latin typeface="-apple-system"/>
              </a:rPr>
              <a:t>的最小硬件调度单位，一次性可以调度多个</a:t>
            </a:r>
            <a:r>
              <a:rPr lang="en-US" altLang="zh-CN" b="0" i="0" dirty="0">
                <a:solidFill>
                  <a:srgbClr val="333333"/>
                </a:solidFill>
                <a:effectLst/>
                <a:latin typeface="-apple-system"/>
              </a:rPr>
              <a:t>SP</a:t>
            </a:r>
            <a:r>
              <a:rPr lang="zh-CN" altLang="en-US" b="0" i="0" dirty="0">
                <a:solidFill>
                  <a:srgbClr val="333333"/>
                </a:solidFill>
                <a:effectLst/>
                <a:latin typeface="-apple-system"/>
              </a:rPr>
              <a:t>。</a:t>
            </a:r>
            <a:endParaRPr lang="en-US" altLang="zh-CN" b="0" i="0" dirty="0">
              <a:solidFill>
                <a:srgbClr val="333333"/>
              </a:solidFill>
              <a:effectLst/>
              <a:latin typeface="-apple-system"/>
            </a:endParaRPr>
          </a:p>
          <a:p>
            <a:pPr marL="0" indent="0">
              <a:lnSpc>
                <a:spcPct val="150000"/>
              </a:lnSpc>
              <a:buNone/>
            </a:pPr>
            <a:r>
              <a:rPr lang="en-US" altLang="zh-CN" b="0" i="0" dirty="0">
                <a:solidFill>
                  <a:srgbClr val="333333"/>
                </a:solidFill>
                <a:effectLst/>
                <a:latin typeface="-apple-system"/>
              </a:rPr>
              <a:t>           SP</a:t>
            </a:r>
            <a:r>
              <a:rPr lang="zh-CN" altLang="en-US" dirty="0">
                <a:solidFill>
                  <a:srgbClr val="333333"/>
                </a:solidFill>
                <a:latin typeface="-apple-system"/>
              </a:rPr>
              <a:t>：</a:t>
            </a:r>
            <a:r>
              <a:rPr lang="en-US" altLang="zh-CN" b="0" i="0" dirty="0">
                <a:solidFill>
                  <a:srgbClr val="333333"/>
                </a:solidFill>
                <a:effectLst/>
                <a:latin typeface="-apple-system"/>
              </a:rPr>
              <a:t>GPU </a:t>
            </a:r>
            <a:r>
              <a:rPr lang="zh-CN" altLang="en-US" b="0" i="0" dirty="0">
                <a:solidFill>
                  <a:srgbClr val="333333"/>
                </a:solidFill>
                <a:effectLst/>
                <a:latin typeface="-apple-system"/>
              </a:rPr>
              <a:t>硬件内核执行单元，每个</a:t>
            </a:r>
            <a:r>
              <a:rPr lang="en-US" altLang="zh-CN" b="0" i="0" dirty="0">
                <a:solidFill>
                  <a:srgbClr val="333333"/>
                </a:solidFill>
                <a:effectLst/>
                <a:latin typeface="-apple-system"/>
              </a:rPr>
              <a:t>SP</a:t>
            </a:r>
            <a:r>
              <a:rPr lang="zh-CN" altLang="en-US" b="0" i="0" dirty="0">
                <a:solidFill>
                  <a:srgbClr val="333333"/>
                </a:solidFill>
                <a:effectLst/>
                <a:latin typeface="-apple-system"/>
              </a:rPr>
              <a:t>相当于一个</a:t>
            </a:r>
            <a:r>
              <a:rPr lang="en-US" altLang="zh-CN" b="0" i="0" dirty="0">
                <a:solidFill>
                  <a:srgbClr val="333333"/>
                </a:solidFill>
                <a:effectLst/>
                <a:latin typeface="-apple-system"/>
              </a:rPr>
              <a:t>CPU</a:t>
            </a:r>
            <a:r>
              <a:rPr lang="zh-CN" altLang="en-US" b="0" i="0" dirty="0">
                <a:solidFill>
                  <a:srgbClr val="333333"/>
                </a:solidFill>
                <a:effectLst/>
                <a:latin typeface="-apple-system"/>
              </a:rPr>
              <a:t>核。</a:t>
            </a:r>
          </a:p>
          <a:p>
            <a:pPr marL="0" indent="0" algn="l">
              <a:lnSpc>
                <a:spcPct val="150000"/>
              </a:lnSpc>
              <a:buNone/>
            </a:pPr>
            <a:r>
              <a:rPr lang="en-US" altLang="zh-CN" b="0" i="0" dirty="0">
                <a:solidFill>
                  <a:srgbClr val="333333"/>
                </a:solidFill>
                <a:effectLst/>
                <a:latin typeface="-apple-system"/>
              </a:rPr>
              <a:t>           Register File</a:t>
            </a:r>
            <a:r>
              <a:rPr lang="zh-CN" altLang="en-US" b="0" i="0" dirty="0">
                <a:solidFill>
                  <a:srgbClr val="333333"/>
                </a:solidFill>
                <a:effectLst/>
                <a:latin typeface="-apple-system"/>
              </a:rPr>
              <a:t>：寄存器文件，访问速度最快的存储单元，用来存储</a:t>
            </a:r>
            <a:r>
              <a:rPr lang="en-US" altLang="zh-CN" b="0" i="0" dirty="0">
                <a:solidFill>
                  <a:srgbClr val="333333"/>
                </a:solidFill>
                <a:effectLst/>
                <a:latin typeface="-apple-system"/>
              </a:rPr>
              <a:t>SP</a:t>
            </a:r>
            <a:r>
              <a:rPr lang="zh-CN" altLang="en-US" b="0" i="0" dirty="0">
                <a:solidFill>
                  <a:srgbClr val="333333"/>
                </a:solidFill>
                <a:effectLst/>
                <a:latin typeface="-apple-system"/>
              </a:rPr>
              <a:t>上运行的线程内部活跃的寄存器。</a:t>
            </a:r>
          </a:p>
          <a:p>
            <a:pPr marL="0" indent="0" algn="l">
              <a:lnSpc>
                <a:spcPct val="150000"/>
              </a:lnSpc>
              <a:buNone/>
            </a:pPr>
            <a:r>
              <a:rPr lang="en-US" altLang="zh-CN" b="0" i="0" dirty="0">
                <a:solidFill>
                  <a:srgbClr val="333333"/>
                </a:solidFill>
                <a:effectLst/>
                <a:latin typeface="-apple-system"/>
              </a:rPr>
              <a:t>           shared memory</a:t>
            </a:r>
            <a:r>
              <a:rPr lang="zh-CN" altLang="en-US" b="0" i="0" dirty="0">
                <a:solidFill>
                  <a:srgbClr val="333333"/>
                </a:solidFill>
                <a:effectLst/>
                <a:latin typeface="-apple-system"/>
              </a:rPr>
              <a:t>：共享内存，每个</a:t>
            </a:r>
            <a:r>
              <a:rPr lang="en-US" altLang="zh-CN" b="0" i="0" dirty="0">
                <a:solidFill>
                  <a:srgbClr val="333333"/>
                </a:solidFill>
                <a:effectLst/>
                <a:latin typeface="-apple-system"/>
              </a:rPr>
              <a:t>SM</a:t>
            </a:r>
            <a:r>
              <a:rPr lang="zh-CN" altLang="en-US" b="0" i="0" dirty="0">
                <a:solidFill>
                  <a:srgbClr val="333333"/>
                </a:solidFill>
                <a:effectLst/>
                <a:latin typeface="-apple-system"/>
              </a:rPr>
              <a:t>都有一个共享内存，在同一个</a:t>
            </a:r>
            <a:r>
              <a:rPr lang="en-US" altLang="zh-CN" b="0" i="0" dirty="0">
                <a:solidFill>
                  <a:srgbClr val="333333"/>
                </a:solidFill>
                <a:effectLst/>
                <a:latin typeface="-apple-system"/>
              </a:rPr>
              <a:t>SM</a:t>
            </a:r>
            <a:r>
              <a:rPr lang="zh-CN" altLang="en-US" b="0" i="0" dirty="0">
                <a:solidFill>
                  <a:srgbClr val="333333"/>
                </a:solidFill>
                <a:effectLst/>
                <a:latin typeface="-apple-system"/>
              </a:rPr>
              <a:t>内的共享内存，</a:t>
            </a:r>
            <a:r>
              <a:rPr lang="en-US" altLang="zh-CN" b="0" i="0" dirty="0">
                <a:solidFill>
                  <a:srgbClr val="333333"/>
                </a:solidFill>
                <a:effectLst/>
                <a:latin typeface="-apple-system"/>
              </a:rPr>
              <a:t>SP</a:t>
            </a:r>
            <a:r>
              <a:rPr lang="zh-CN" altLang="en-US" b="0" i="0" dirty="0">
                <a:solidFill>
                  <a:srgbClr val="333333"/>
                </a:solidFill>
                <a:effectLst/>
                <a:latin typeface="-apple-system"/>
              </a:rPr>
              <a:t>都可以访问到，而且共享内存是内核代码可以申请控制。</a:t>
            </a:r>
          </a:p>
          <a:p>
            <a:pPr marL="0" indent="0">
              <a:lnSpc>
                <a:spcPct val="150000"/>
              </a:lnSpc>
              <a:buNone/>
            </a:pPr>
            <a:endParaRPr lang="zh-CN" altLang="en-US" dirty="0"/>
          </a:p>
        </p:txBody>
      </p:sp>
    </p:spTree>
    <p:extLst>
      <p:ext uri="{BB962C8B-B14F-4D97-AF65-F5344CB8AC3E}">
        <p14:creationId xmlns:p14="http://schemas.microsoft.com/office/powerpoint/2010/main" val="2371975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434340" y="502920"/>
            <a:ext cx="10515600" cy="5704523"/>
          </a:xfrm>
        </p:spPr>
        <p:txBody>
          <a:bodyPr>
            <a:normAutofit fontScale="92500" lnSpcReduction="10000"/>
          </a:bodyPr>
          <a:lstStyle/>
          <a:p>
            <a:pPr marL="0" indent="0">
              <a:lnSpc>
                <a:spcPct val="150000"/>
              </a:lnSpc>
              <a:buNone/>
            </a:pPr>
            <a:r>
              <a:rPr lang="en-US" altLang="zh-CN" b="0" i="0" dirty="0">
                <a:solidFill>
                  <a:srgbClr val="333333"/>
                </a:solidFill>
                <a:effectLst/>
                <a:latin typeface="-apple-system"/>
              </a:rPr>
              <a:t>         Texture Cache</a:t>
            </a:r>
            <a:r>
              <a:rPr lang="zh-CN" altLang="en-US" b="0" i="0" dirty="0">
                <a:solidFill>
                  <a:srgbClr val="333333"/>
                </a:solidFill>
                <a:effectLst/>
                <a:latin typeface="-apple-system"/>
              </a:rPr>
              <a:t>：纹理内存为全局内存的一个特殊视图，用来存储插值计算所需的数据，例如，显示</a:t>
            </a:r>
            <a:r>
              <a:rPr lang="en-US" altLang="zh-CN" b="0" i="0" dirty="0">
                <a:solidFill>
                  <a:srgbClr val="333333"/>
                </a:solidFill>
                <a:effectLst/>
                <a:latin typeface="-apple-system"/>
              </a:rPr>
              <a:t>2D</a:t>
            </a:r>
            <a:r>
              <a:rPr lang="zh-CN" altLang="en-US" b="0" i="0" dirty="0">
                <a:solidFill>
                  <a:srgbClr val="333333"/>
                </a:solidFill>
                <a:effectLst/>
                <a:latin typeface="-apple-system"/>
              </a:rPr>
              <a:t>或</a:t>
            </a:r>
            <a:r>
              <a:rPr lang="en-US" altLang="zh-CN" b="0" i="0" dirty="0">
                <a:solidFill>
                  <a:srgbClr val="333333"/>
                </a:solidFill>
                <a:effectLst/>
                <a:latin typeface="-apple-system"/>
              </a:rPr>
              <a:t>3D</a:t>
            </a:r>
            <a:r>
              <a:rPr lang="zh-CN" altLang="en-US" b="0" i="0" dirty="0">
                <a:solidFill>
                  <a:srgbClr val="333333"/>
                </a:solidFill>
                <a:effectLst/>
                <a:latin typeface="-apple-system"/>
              </a:rPr>
              <a:t>图像时需要的查找表。拥有基于硬件进行插值的特性。</a:t>
            </a:r>
          </a:p>
          <a:p>
            <a:pPr marL="0" indent="0" algn="l">
              <a:lnSpc>
                <a:spcPct val="150000"/>
              </a:lnSpc>
              <a:buNone/>
            </a:pPr>
            <a:r>
              <a:rPr lang="en-US" altLang="zh-CN" b="0" i="0" dirty="0">
                <a:solidFill>
                  <a:srgbClr val="333333"/>
                </a:solidFill>
                <a:effectLst/>
                <a:latin typeface="-apple-system"/>
              </a:rPr>
              <a:t>         Constant Cache</a:t>
            </a:r>
            <a:r>
              <a:rPr lang="zh-CN" altLang="en-US" b="0" i="0" dirty="0">
                <a:solidFill>
                  <a:srgbClr val="333333"/>
                </a:solidFill>
                <a:effectLst/>
                <a:latin typeface="-apple-system"/>
              </a:rPr>
              <a:t>：常量内存</a:t>
            </a:r>
            <a:r>
              <a:rPr lang="en-US" altLang="zh-CN" b="0" i="0" dirty="0">
                <a:solidFill>
                  <a:srgbClr val="333333"/>
                </a:solidFill>
                <a:effectLst/>
                <a:latin typeface="-apple-system"/>
              </a:rPr>
              <a:t>,</a:t>
            </a:r>
            <a:r>
              <a:rPr lang="zh-CN" altLang="en-US" b="0" i="0" dirty="0">
                <a:solidFill>
                  <a:srgbClr val="333333"/>
                </a:solidFill>
                <a:effectLst/>
                <a:latin typeface="-apple-system"/>
              </a:rPr>
              <a:t>用于存储只读的数据，所有的</a:t>
            </a:r>
            <a:r>
              <a:rPr lang="en-US" altLang="zh-CN" b="0" i="0" dirty="0">
                <a:solidFill>
                  <a:srgbClr val="333333"/>
                </a:solidFill>
                <a:effectLst/>
                <a:latin typeface="-apple-system"/>
              </a:rPr>
              <a:t>GPU</a:t>
            </a:r>
            <a:r>
              <a:rPr lang="zh-CN" altLang="en-US" b="0" i="0" dirty="0">
                <a:solidFill>
                  <a:srgbClr val="333333"/>
                </a:solidFill>
                <a:effectLst/>
                <a:latin typeface="-apple-system"/>
              </a:rPr>
              <a:t>卡均对其进行缓存，与纹理内存一样，常量内存也是全局内存建立的一个视图。</a:t>
            </a:r>
          </a:p>
          <a:p>
            <a:pPr marL="0" indent="0" algn="l">
              <a:lnSpc>
                <a:spcPct val="150000"/>
              </a:lnSpc>
              <a:buNone/>
            </a:pPr>
            <a:r>
              <a:rPr lang="en-US" altLang="zh-CN" b="0" i="0" dirty="0">
                <a:solidFill>
                  <a:srgbClr val="333333"/>
                </a:solidFill>
                <a:effectLst/>
                <a:latin typeface="-apple-system"/>
              </a:rPr>
              <a:t>         Global Memory</a:t>
            </a:r>
            <a:r>
              <a:rPr lang="zh-CN" altLang="en-US" b="0" i="0" dirty="0">
                <a:solidFill>
                  <a:srgbClr val="333333"/>
                </a:solidFill>
                <a:effectLst/>
                <a:latin typeface="-apple-system"/>
              </a:rPr>
              <a:t>：全局内存，所有</a:t>
            </a:r>
            <a:r>
              <a:rPr lang="en-US" altLang="zh-CN" b="0" i="0" dirty="0">
                <a:solidFill>
                  <a:srgbClr val="333333"/>
                </a:solidFill>
                <a:effectLst/>
                <a:latin typeface="-apple-system"/>
              </a:rPr>
              <a:t>kernel</a:t>
            </a:r>
            <a:r>
              <a:rPr lang="zh-CN" altLang="en-US" b="0" i="0" dirty="0">
                <a:solidFill>
                  <a:srgbClr val="333333"/>
                </a:solidFill>
                <a:effectLst/>
                <a:latin typeface="-apple-system"/>
              </a:rPr>
              <a:t>都可以访问到，速度最慢。</a:t>
            </a:r>
          </a:p>
          <a:p>
            <a:pPr marL="0" indent="0" algn="l">
              <a:lnSpc>
                <a:spcPct val="150000"/>
              </a:lnSpc>
              <a:buNone/>
            </a:pPr>
            <a:r>
              <a:rPr lang="en-US" altLang="zh-CN" b="0" i="0" dirty="0">
                <a:solidFill>
                  <a:srgbClr val="333333"/>
                </a:solidFill>
                <a:effectLst/>
                <a:latin typeface="-apple-system"/>
              </a:rPr>
              <a:t>         SPU</a:t>
            </a:r>
            <a:r>
              <a:rPr lang="zh-CN" altLang="en-US" dirty="0">
                <a:solidFill>
                  <a:srgbClr val="333333"/>
                </a:solidFill>
                <a:latin typeface="-apple-system"/>
              </a:rPr>
              <a:t>：</a:t>
            </a:r>
            <a:r>
              <a:rPr lang="en-US" altLang="zh-CN" b="0" i="0" dirty="0">
                <a:solidFill>
                  <a:srgbClr val="333333"/>
                </a:solidFill>
                <a:effectLst/>
                <a:latin typeface="-apple-system"/>
              </a:rPr>
              <a:t>Special-Purpose Unit </a:t>
            </a:r>
            <a:r>
              <a:rPr lang="zh-CN" altLang="en-US" b="0" i="0" dirty="0">
                <a:solidFill>
                  <a:srgbClr val="333333"/>
                </a:solidFill>
                <a:effectLst/>
                <a:latin typeface="-apple-system"/>
              </a:rPr>
              <a:t>专用单元，执行如高速的</a:t>
            </a:r>
            <a:r>
              <a:rPr lang="en-US" altLang="zh-CN" b="0" i="0" dirty="0">
                <a:solidFill>
                  <a:srgbClr val="333333"/>
                </a:solidFill>
                <a:effectLst/>
                <a:latin typeface="-apple-system"/>
              </a:rPr>
              <a:t>24</a:t>
            </a:r>
            <a:r>
              <a:rPr lang="zh-CN" altLang="en-US" b="0" i="0" dirty="0">
                <a:solidFill>
                  <a:srgbClr val="333333"/>
                </a:solidFill>
                <a:effectLst/>
                <a:latin typeface="-apple-system"/>
              </a:rPr>
              <a:t>位正弦函数</a:t>
            </a:r>
            <a:r>
              <a:rPr lang="en-US" altLang="zh-CN" b="0" i="0" dirty="0">
                <a:solidFill>
                  <a:srgbClr val="333333"/>
                </a:solidFill>
                <a:effectLst/>
                <a:latin typeface="-apple-system"/>
              </a:rPr>
              <a:t>/</a:t>
            </a:r>
            <a:r>
              <a:rPr lang="zh-CN" altLang="en-US" b="0" i="0" dirty="0">
                <a:solidFill>
                  <a:srgbClr val="333333"/>
                </a:solidFill>
                <a:effectLst/>
                <a:latin typeface="-apple-system"/>
              </a:rPr>
              <a:t>余弦函数</a:t>
            </a:r>
            <a:r>
              <a:rPr lang="en-US" altLang="zh-CN" b="0" i="0" dirty="0">
                <a:solidFill>
                  <a:srgbClr val="333333"/>
                </a:solidFill>
                <a:effectLst/>
                <a:latin typeface="-apple-system"/>
              </a:rPr>
              <a:t>/</a:t>
            </a:r>
            <a:r>
              <a:rPr lang="zh-CN" altLang="en-US" b="0" i="0" dirty="0">
                <a:solidFill>
                  <a:srgbClr val="333333"/>
                </a:solidFill>
                <a:effectLst/>
                <a:latin typeface="-apple-system"/>
              </a:rPr>
              <a:t>指数函数操作等类似的特殊硬件指令。</a:t>
            </a:r>
          </a:p>
          <a:p>
            <a:pPr marL="0" indent="0">
              <a:lnSpc>
                <a:spcPct val="150000"/>
              </a:lnSpc>
              <a:buNone/>
            </a:pPr>
            <a:endParaRPr lang="zh-CN" altLang="en-US" dirty="0"/>
          </a:p>
        </p:txBody>
      </p:sp>
    </p:spTree>
    <p:extLst>
      <p:ext uri="{BB962C8B-B14F-4D97-AF65-F5344CB8AC3E}">
        <p14:creationId xmlns:p14="http://schemas.microsoft.com/office/powerpoint/2010/main" val="341464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04685" y="908436"/>
            <a:ext cx="10515600" cy="5041127"/>
          </a:xfrm>
        </p:spPr>
        <p:txBody>
          <a:bodyPr>
            <a:normAutofit/>
          </a:bodyPr>
          <a:lstStyle/>
          <a:p>
            <a:pPr marL="0" indent="0">
              <a:lnSpc>
                <a:spcPct val="150000"/>
              </a:lnSpc>
              <a:buNone/>
            </a:pPr>
            <a:r>
              <a:rPr lang="en-US" altLang="zh-CN" dirty="0"/>
              <a:t>     </a:t>
            </a:r>
            <a:r>
              <a:rPr lang="zh-CN" altLang="en-US" dirty="0"/>
              <a:t>　从上面的结构可以看出，</a:t>
            </a:r>
            <a:r>
              <a:rPr lang="en-US" altLang="zh-CN" dirty="0"/>
              <a:t>GPU</a:t>
            </a:r>
            <a:r>
              <a:rPr lang="zh-CN" altLang="en-US" dirty="0"/>
              <a:t>针对不同的资源存放的位置也不同。在绘制图形时，必须将不同的数据通过不同的接口传送到对应的存储位置，然后</a:t>
            </a:r>
            <a:r>
              <a:rPr lang="en-US" altLang="zh-CN" dirty="0"/>
              <a:t>GPU</a:t>
            </a:r>
            <a:r>
              <a:rPr lang="zh-CN" altLang="en-US" dirty="0"/>
              <a:t>才能从对应的存储位置中获得对应的数据并通过</a:t>
            </a:r>
            <a:r>
              <a:rPr lang="en-US" altLang="zh-CN" dirty="0"/>
              <a:t>GPU</a:t>
            </a:r>
            <a:r>
              <a:rPr lang="zh-CN" altLang="en-US" dirty="0"/>
              <a:t>着色器程序实现对相应数据的处理，并转换成屏幕像素显示出来。</a:t>
            </a:r>
            <a:endParaRPr lang="en-US" altLang="zh-CN" dirty="0"/>
          </a:p>
          <a:p>
            <a:pPr marL="0" indent="0">
              <a:lnSpc>
                <a:spcPct val="150000"/>
              </a:lnSpc>
              <a:buNone/>
            </a:pPr>
            <a:r>
              <a:rPr lang="zh-CN" altLang="en-US" dirty="0"/>
              <a:t>       </a:t>
            </a:r>
            <a:r>
              <a:rPr lang="en-US" altLang="zh-CN" dirty="0"/>
              <a:t>OpenGL</a:t>
            </a:r>
            <a:r>
              <a:rPr lang="zh-CN" altLang="en-US" dirty="0"/>
              <a:t>或者</a:t>
            </a:r>
            <a:r>
              <a:rPr lang="en-US" altLang="zh-CN" dirty="0"/>
              <a:t>DirectX</a:t>
            </a:r>
            <a:r>
              <a:rPr lang="zh-CN" altLang="en-US" dirty="0"/>
              <a:t>大量采用</a:t>
            </a:r>
            <a:r>
              <a:rPr lang="en-US" altLang="zh-CN" dirty="0"/>
              <a:t>COM</a:t>
            </a:r>
            <a:r>
              <a:rPr lang="zh-CN" altLang="en-US" dirty="0"/>
              <a:t>接口来实现</a:t>
            </a:r>
            <a:r>
              <a:rPr lang="en-US" altLang="zh-CN" dirty="0"/>
              <a:t>CPU</a:t>
            </a:r>
            <a:r>
              <a:rPr lang="zh-CN" altLang="en-US" dirty="0"/>
              <a:t>与</a:t>
            </a:r>
            <a:r>
              <a:rPr lang="en-US" altLang="zh-CN" dirty="0"/>
              <a:t>GPU</a:t>
            </a:r>
            <a:r>
              <a:rPr lang="zh-CN" altLang="en-US" dirty="0"/>
              <a:t>之间的交互。</a:t>
            </a:r>
            <a:endParaRPr lang="en-US" altLang="zh-CN" dirty="0"/>
          </a:p>
        </p:txBody>
      </p:sp>
    </p:spTree>
    <p:extLst>
      <p:ext uri="{BB962C8B-B14F-4D97-AF65-F5344CB8AC3E}">
        <p14:creationId xmlns:p14="http://schemas.microsoft.com/office/powerpoint/2010/main" val="101123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9.</a:t>
            </a:r>
            <a:r>
              <a:rPr lang="zh-CN" altLang="en-US" sz="4800" dirty="0">
                <a:latin typeface="华光美黑_CNKI" panose="02000500000000000000" pitchFamily="2" charset="-122"/>
                <a:ea typeface="华光美黑_CNKI" panose="02000500000000000000" pitchFamily="2" charset="-122"/>
              </a:rPr>
              <a:t>如何描述一个</a:t>
            </a:r>
            <a:r>
              <a:rPr lang="en-US" altLang="zh-CN" sz="4800" dirty="0">
                <a:latin typeface="华光美黑_CNKI" panose="02000500000000000000" pitchFamily="2" charset="-122"/>
                <a:ea typeface="华光美黑_CNKI" panose="02000500000000000000" pitchFamily="2" charset="-122"/>
              </a:rPr>
              <a:t>3D</a:t>
            </a:r>
            <a:r>
              <a:rPr lang="zh-CN" altLang="en-US" sz="4800" dirty="0">
                <a:latin typeface="华光美黑_CNKI" panose="02000500000000000000" pitchFamily="2" charset="-122"/>
                <a:ea typeface="华光美黑_CNKI" panose="02000500000000000000" pitchFamily="2" charset="-122"/>
              </a:rPr>
              <a:t>图形</a:t>
            </a:r>
          </a:p>
        </p:txBody>
      </p:sp>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838200" y="2049574"/>
            <a:ext cx="10515600" cy="3865451"/>
          </a:xfrm>
        </p:spPr>
        <p:txBody>
          <a:bodyPr>
            <a:normAutofit lnSpcReduction="10000"/>
          </a:bodyPr>
          <a:lstStyle/>
          <a:p>
            <a:pPr marL="0" indent="0">
              <a:lnSpc>
                <a:spcPct val="150000"/>
              </a:lnSpc>
              <a:buNone/>
            </a:pPr>
            <a:r>
              <a:rPr lang="zh-CN" altLang="en-US" dirty="0">
                <a:latin typeface="华文宋体" panose="02010600040101010101" pitchFamily="2" charset="-122"/>
                <a:ea typeface="华文宋体" panose="02010600040101010101" pitchFamily="2" charset="-122"/>
              </a:rPr>
              <a:t>　　</a:t>
            </a:r>
            <a:r>
              <a:rPr lang="en-US" altLang="zh-CN" dirty="0">
                <a:latin typeface="华文宋体" panose="02010600040101010101" pitchFamily="2" charset="-122"/>
                <a:ea typeface="华文宋体" panose="02010600040101010101" pitchFamily="2" charset="-122"/>
              </a:rPr>
              <a:t>GPU</a:t>
            </a:r>
            <a:r>
              <a:rPr lang="zh-CN" altLang="en-US" dirty="0">
                <a:latin typeface="华文宋体" panose="02010600040101010101" pitchFamily="2" charset="-122"/>
                <a:ea typeface="华文宋体" panose="02010600040101010101" pitchFamily="2" charset="-122"/>
              </a:rPr>
              <a:t>在对</a:t>
            </a:r>
            <a:r>
              <a:rPr lang="en-US" altLang="zh-CN" dirty="0">
                <a:latin typeface="华文宋体" panose="02010600040101010101" pitchFamily="2" charset="-122"/>
                <a:ea typeface="华文宋体" panose="02010600040101010101" pitchFamily="2" charset="-122"/>
              </a:rPr>
              <a:t>CPU</a:t>
            </a:r>
            <a:r>
              <a:rPr lang="zh-CN" altLang="en-US" dirty="0">
                <a:latin typeface="华文宋体" panose="02010600040101010101" pitchFamily="2" charset="-122"/>
                <a:ea typeface="华文宋体" panose="02010600040101010101" pitchFamily="2" charset="-122"/>
              </a:rPr>
              <a:t>传递的数据进行处理时，必须知道这些数据代表什么含义。比如在绘制一个盒子时，我们需要知道构成盒子的纹理是什么，采用什么样的材质，盒子的大小以及位置，盒子如何运动等等。</a:t>
            </a:r>
            <a:endParaRPr lang="en-US" altLang="zh-CN" dirty="0">
              <a:latin typeface="华文宋体" panose="02010600040101010101" pitchFamily="2" charset="-122"/>
              <a:ea typeface="华文宋体" panose="02010600040101010101" pitchFamily="2" charset="-122"/>
            </a:endParaRPr>
          </a:p>
          <a:p>
            <a:pPr marL="0" indent="0">
              <a:lnSpc>
                <a:spcPct val="150000"/>
              </a:lnSpc>
              <a:buNone/>
            </a:pPr>
            <a:r>
              <a:rPr lang="en-US" altLang="zh-CN"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首先需要了解如何来描述一个</a:t>
            </a:r>
            <a:r>
              <a:rPr lang="en-US" altLang="zh-CN" dirty="0">
                <a:latin typeface="华文宋体" panose="02010600040101010101" pitchFamily="2" charset="-122"/>
                <a:ea typeface="华文宋体" panose="02010600040101010101" pitchFamily="2" charset="-122"/>
              </a:rPr>
              <a:t>3D</a:t>
            </a:r>
            <a:r>
              <a:rPr lang="zh-CN" altLang="en-US" dirty="0">
                <a:latin typeface="华文宋体" panose="02010600040101010101" pitchFamily="2" charset="-122"/>
                <a:ea typeface="华文宋体" panose="02010600040101010101" pitchFamily="2" charset="-122"/>
              </a:rPr>
              <a:t>的图形。首先考虑如何来描述图形的外观，也就是其外表面。</a:t>
            </a:r>
          </a:p>
        </p:txBody>
      </p:sp>
    </p:spTree>
    <p:extLst>
      <p:ext uri="{BB962C8B-B14F-4D97-AF65-F5344CB8AC3E}">
        <p14:creationId xmlns:p14="http://schemas.microsoft.com/office/powerpoint/2010/main" val="2388955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1476355"/>
          </a:xfrm>
        </p:spPr>
        <p:txBody>
          <a:bodyPr>
            <a:normAutofit/>
          </a:bodyPr>
          <a:lstStyle/>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在计算机中，绘制一个</a:t>
            </a:r>
            <a:r>
              <a:rPr lang="en-US" altLang="zh-CN" dirty="0">
                <a:solidFill>
                  <a:srgbClr val="000000"/>
                </a:solidFill>
                <a:latin typeface="新宋体" panose="02010609030101010101" pitchFamily="49" charset="-122"/>
                <a:ea typeface="新宋体" panose="02010609030101010101" pitchFamily="49" charset="-122"/>
              </a:rPr>
              <a:t>3D</a:t>
            </a:r>
            <a:r>
              <a:rPr lang="zh-CN" altLang="en-US" dirty="0">
                <a:solidFill>
                  <a:srgbClr val="000000"/>
                </a:solidFill>
                <a:latin typeface="新宋体" panose="02010609030101010101" pitchFamily="49" charset="-122"/>
                <a:ea typeface="新宋体" panose="02010609030101010101" pitchFamily="49" charset="-122"/>
              </a:rPr>
              <a:t>图形其实主要是绘制该</a:t>
            </a:r>
            <a:r>
              <a:rPr lang="en-US" altLang="zh-CN" dirty="0">
                <a:solidFill>
                  <a:srgbClr val="000000"/>
                </a:solidFill>
                <a:latin typeface="新宋体" panose="02010609030101010101" pitchFamily="49" charset="-122"/>
                <a:ea typeface="新宋体" panose="02010609030101010101" pitchFamily="49" charset="-122"/>
              </a:rPr>
              <a:t>3D</a:t>
            </a:r>
            <a:r>
              <a:rPr lang="zh-CN" altLang="en-US" dirty="0">
                <a:solidFill>
                  <a:srgbClr val="000000"/>
                </a:solidFill>
                <a:latin typeface="新宋体" panose="02010609030101010101" pitchFamily="49" charset="-122"/>
                <a:ea typeface="新宋体" panose="02010609030101010101" pitchFamily="49" charset="-122"/>
              </a:rPr>
              <a:t>图形的外表面。外表面可以看成是由很多的三角形组成的图形。如下图所示。</a:t>
            </a:r>
            <a:endParaRPr lang="en-US" altLang="zh-CN" dirty="0">
              <a:solidFill>
                <a:srgbClr val="000000"/>
              </a:solidFill>
              <a:latin typeface="华光楷体_CNKI" panose="02000500000000000000" pitchFamily="2" charset="-122"/>
              <a:ea typeface="华光楷体_CNKI" panose="02000500000000000000" pitchFamily="2" charset="-122"/>
            </a:endParaRPr>
          </a:p>
        </p:txBody>
      </p:sp>
      <p:pic>
        <p:nvPicPr>
          <p:cNvPr id="4" name="图片 3">
            <a:extLst>
              <a:ext uri="{FF2B5EF4-FFF2-40B4-BE49-F238E27FC236}">
                <a16:creationId xmlns:a16="http://schemas.microsoft.com/office/drawing/2014/main" id="{3E7B5734-CD5C-4478-A170-CDB3AECC56D3}"/>
              </a:ext>
            </a:extLst>
          </p:cNvPr>
          <p:cNvPicPr>
            <a:picLocks noChangeAspect="1"/>
          </p:cNvPicPr>
          <p:nvPr/>
        </p:nvPicPr>
        <p:blipFill>
          <a:blip r:embed="rId2"/>
          <a:stretch>
            <a:fillRect/>
          </a:stretch>
        </p:blipFill>
        <p:spPr>
          <a:xfrm>
            <a:off x="1828799" y="1819295"/>
            <a:ext cx="8010525" cy="4171950"/>
          </a:xfrm>
          <a:prstGeom prst="rect">
            <a:avLst/>
          </a:prstGeom>
        </p:spPr>
      </p:pic>
    </p:spTree>
    <p:extLst>
      <p:ext uri="{BB962C8B-B14F-4D97-AF65-F5344CB8AC3E}">
        <p14:creationId xmlns:p14="http://schemas.microsoft.com/office/powerpoint/2010/main" val="3015625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2086949"/>
          </a:xfrm>
        </p:spPr>
        <p:txBody>
          <a:bodyPr>
            <a:normAutofit/>
          </a:bodyPr>
          <a:lstStyle/>
          <a:p>
            <a:pPr marL="0" indent="0">
              <a:lnSpc>
                <a:spcPct val="150000"/>
              </a:lnSpc>
              <a:buNone/>
            </a:pPr>
            <a:r>
              <a:rPr lang="en-US" altLang="zh-CN" dirty="0">
                <a:solidFill>
                  <a:srgbClr val="000000"/>
                </a:solidFill>
                <a:latin typeface="华光楷体_CNKI" panose="02000500000000000000" pitchFamily="2" charset="-122"/>
                <a:ea typeface="华光楷体_CNKI" panose="02000500000000000000" pitchFamily="2" charset="-122"/>
              </a:rPr>
              <a:t>       </a:t>
            </a:r>
            <a:r>
              <a:rPr lang="zh-CN" altLang="en-US" dirty="0">
                <a:solidFill>
                  <a:srgbClr val="000000"/>
                </a:solidFill>
                <a:latin typeface="华光楷体_CNKI" panose="02000500000000000000" pitchFamily="2" charset="-122"/>
                <a:ea typeface="华光楷体_CNKI" panose="02000500000000000000" pitchFamily="2" charset="-122"/>
              </a:rPr>
              <a:t>我们在绘制一个立方体时，需要绘制出该立方体的每一个面。立方体由六个面构成，每一个面是一个正方形，每一个正方形可以由两个三角形构成。如下图所示。</a:t>
            </a:r>
            <a:endParaRPr lang="en-US" altLang="zh-CN" dirty="0">
              <a:solidFill>
                <a:srgbClr val="000000"/>
              </a:solidFill>
              <a:latin typeface="华光楷体_CNKI" panose="02000500000000000000" pitchFamily="2" charset="-122"/>
              <a:ea typeface="华光楷体_CNKI" panose="02000500000000000000" pitchFamily="2" charset="-122"/>
            </a:endParaRPr>
          </a:p>
        </p:txBody>
      </p:sp>
      <p:pic>
        <p:nvPicPr>
          <p:cNvPr id="4" name="图片 3">
            <a:extLst>
              <a:ext uri="{FF2B5EF4-FFF2-40B4-BE49-F238E27FC236}">
                <a16:creationId xmlns:a16="http://schemas.microsoft.com/office/drawing/2014/main" id="{7248EEC8-8260-44D2-972E-125E8A82C6BC}"/>
              </a:ext>
            </a:extLst>
          </p:cNvPr>
          <p:cNvPicPr>
            <a:picLocks noChangeAspect="1"/>
          </p:cNvPicPr>
          <p:nvPr/>
        </p:nvPicPr>
        <p:blipFill>
          <a:blip r:embed="rId2"/>
          <a:stretch>
            <a:fillRect/>
          </a:stretch>
        </p:blipFill>
        <p:spPr>
          <a:xfrm>
            <a:off x="1791388" y="2931775"/>
            <a:ext cx="2829008" cy="2753139"/>
          </a:xfrm>
          <a:prstGeom prst="rect">
            <a:avLst/>
          </a:prstGeom>
        </p:spPr>
      </p:pic>
      <p:pic>
        <p:nvPicPr>
          <p:cNvPr id="6" name="图片 5">
            <a:extLst>
              <a:ext uri="{FF2B5EF4-FFF2-40B4-BE49-F238E27FC236}">
                <a16:creationId xmlns:a16="http://schemas.microsoft.com/office/drawing/2014/main" id="{389777A9-FBF2-4C1B-ACA2-7E966B8A837D}"/>
              </a:ext>
            </a:extLst>
          </p:cNvPr>
          <p:cNvPicPr>
            <a:picLocks noChangeAspect="1"/>
          </p:cNvPicPr>
          <p:nvPr/>
        </p:nvPicPr>
        <p:blipFill>
          <a:blip r:embed="rId3"/>
          <a:stretch>
            <a:fillRect/>
          </a:stretch>
        </p:blipFill>
        <p:spPr>
          <a:xfrm>
            <a:off x="5311471" y="2931776"/>
            <a:ext cx="2329733" cy="2753139"/>
          </a:xfrm>
          <a:prstGeom prst="rect">
            <a:avLst/>
          </a:prstGeom>
        </p:spPr>
      </p:pic>
      <p:pic>
        <p:nvPicPr>
          <p:cNvPr id="8" name="图片 7">
            <a:extLst>
              <a:ext uri="{FF2B5EF4-FFF2-40B4-BE49-F238E27FC236}">
                <a16:creationId xmlns:a16="http://schemas.microsoft.com/office/drawing/2014/main" id="{60229B84-195E-435B-8BC6-FAD082660D86}"/>
              </a:ext>
            </a:extLst>
          </p:cNvPr>
          <p:cNvPicPr>
            <a:picLocks noChangeAspect="1"/>
          </p:cNvPicPr>
          <p:nvPr/>
        </p:nvPicPr>
        <p:blipFill>
          <a:blip r:embed="rId4"/>
          <a:stretch>
            <a:fillRect/>
          </a:stretch>
        </p:blipFill>
        <p:spPr>
          <a:xfrm>
            <a:off x="8516154" y="2931775"/>
            <a:ext cx="2329733" cy="2753138"/>
          </a:xfrm>
          <a:prstGeom prst="rect">
            <a:avLst/>
          </a:prstGeom>
        </p:spPr>
      </p:pic>
    </p:spTree>
    <p:extLst>
      <p:ext uri="{BB962C8B-B14F-4D97-AF65-F5344CB8AC3E}">
        <p14:creationId xmlns:p14="http://schemas.microsoft.com/office/powerpoint/2010/main" val="2178048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6229577"/>
          </a:xfrm>
        </p:spPr>
        <p:txBody>
          <a:bodyPr>
            <a:normAutofit fontScale="92500" lnSpcReduction="10000"/>
          </a:bodyPr>
          <a:lstStyle/>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因此要描述一个立方体，可以描述出其每一个三角面。每一个三角面由三个顶点构成，在给出每一个顶点的空间位置坐标，并给出这些顶点如何构成三角形则可以描述出该立方体的每一个面。</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比如上面的立方体，可以用下面的方式来描述：</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a:t>
            </a:r>
            <a:r>
              <a:rPr lang="en-US" altLang="zh-CN" dirty="0">
                <a:solidFill>
                  <a:srgbClr val="000000"/>
                </a:solidFill>
                <a:latin typeface="新宋体" panose="02010609030101010101" pitchFamily="49" charset="-122"/>
                <a:ea typeface="新宋体" panose="02010609030101010101" pitchFamily="49" charset="-122"/>
              </a:rPr>
              <a:t>1</a:t>
            </a:r>
            <a:r>
              <a:rPr lang="zh-CN" altLang="en-US" dirty="0">
                <a:solidFill>
                  <a:srgbClr val="000000"/>
                </a:solidFill>
                <a:latin typeface="新宋体" panose="02010609030101010101" pitchFamily="49" charset="-122"/>
                <a:ea typeface="新宋体" panose="02010609030101010101" pitchFamily="49" charset="-122"/>
              </a:rPr>
              <a:t>）给出构成立方体的每个顶点的位置坐标，该立方体由</a:t>
            </a:r>
            <a:r>
              <a:rPr lang="en-US" altLang="zh-CN" dirty="0">
                <a:solidFill>
                  <a:srgbClr val="000000"/>
                </a:solidFill>
                <a:latin typeface="新宋体" panose="02010609030101010101" pitchFamily="49" charset="-122"/>
                <a:ea typeface="新宋体" panose="02010609030101010101" pitchFamily="49" charset="-122"/>
              </a:rPr>
              <a:t>8</a:t>
            </a:r>
            <a:r>
              <a:rPr lang="zh-CN" altLang="en-US" dirty="0">
                <a:solidFill>
                  <a:srgbClr val="000000"/>
                </a:solidFill>
                <a:latin typeface="新宋体" panose="02010609030101010101" pitchFamily="49" charset="-122"/>
                <a:ea typeface="新宋体" panose="02010609030101010101" pitchFamily="49" charset="-122"/>
              </a:rPr>
              <a:t>个顶点构成，其坐标分别为：</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(-1.0f, -1.0f, -1.0f) ,(-1.0f, +1.0f, -1.0f),(+1.0f, +1.0f, -1.0f),(+1.0f, -1.0f, -1.0f),(-1.0f, -1.0f, +1.0f),(-1.0f, +1.0f, +1.0f),(+1.0f, +1.0f, +1.0f),(+1.0f, -1.0f, +1.0f)</a:t>
            </a: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上面的位置坐标可以看成是物体在世界坐标系下的位置坐标，但如</a:t>
            </a:r>
            <a:endParaRPr lang="en-US" altLang="zh-CN" dirty="0">
              <a:solidFill>
                <a:srgbClr val="000000"/>
              </a:solidFill>
              <a:latin typeface="新宋体" panose="02010609030101010101" pitchFamily="49" charset="-122"/>
              <a:ea typeface="新宋体" panose="02010609030101010101" pitchFamily="49" charset="-122"/>
            </a:endParaRPr>
          </a:p>
        </p:txBody>
      </p:sp>
    </p:spTree>
    <p:extLst>
      <p:ext uri="{BB962C8B-B14F-4D97-AF65-F5344CB8AC3E}">
        <p14:creationId xmlns:p14="http://schemas.microsoft.com/office/powerpoint/2010/main" val="1363702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612084" y="370004"/>
            <a:ext cx="10967831" cy="6229577"/>
          </a:xfrm>
        </p:spPr>
        <p:txBody>
          <a:bodyPr>
            <a:normAutofit/>
          </a:bodyPr>
          <a:lstStyle/>
          <a:p>
            <a:pPr marL="0" indent="0">
              <a:lnSpc>
                <a:spcPct val="150000"/>
              </a:lnSpc>
              <a:buNone/>
            </a:pPr>
            <a:r>
              <a:rPr lang="zh-CN" altLang="en-US" dirty="0">
                <a:solidFill>
                  <a:srgbClr val="000000"/>
                </a:solidFill>
                <a:latin typeface="新宋体" panose="02010609030101010101" pitchFamily="49" charset="-122"/>
                <a:ea typeface="新宋体" panose="02010609030101010101" pitchFamily="49" charset="-122"/>
              </a:rPr>
              <a:t>果希望移动物体，则该位置坐标就必须修改，这样做起来比较困难。因此在</a:t>
            </a:r>
            <a:r>
              <a:rPr lang="en-US" altLang="zh-CN" dirty="0">
                <a:solidFill>
                  <a:srgbClr val="000000"/>
                </a:solidFill>
                <a:latin typeface="新宋体" panose="02010609030101010101" pitchFamily="49" charset="-122"/>
                <a:ea typeface="新宋体" panose="02010609030101010101" pitchFamily="49" charset="-122"/>
              </a:rPr>
              <a:t>3D</a:t>
            </a:r>
            <a:r>
              <a:rPr lang="zh-CN" altLang="en-US" dirty="0">
                <a:solidFill>
                  <a:srgbClr val="000000"/>
                </a:solidFill>
                <a:latin typeface="新宋体" panose="02010609030101010101" pitchFamily="49" charset="-122"/>
                <a:ea typeface="新宋体" panose="02010609030101010101" pitchFamily="49" charset="-122"/>
              </a:rPr>
              <a:t>空间中，对于每一个物体一般设置一个坐标系，称为</a:t>
            </a:r>
            <a:r>
              <a:rPr lang="zh-CN" altLang="en-US" dirty="0">
                <a:solidFill>
                  <a:srgbClr val="000000"/>
                </a:solidFill>
                <a:latin typeface="华光准圆_CNKI" panose="02000500000000000000" pitchFamily="2" charset="-122"/>
                <a:ea typeface="华光准圆_CNKI" panose="02000500000000000000" pitchFamily="2" charset="-122"/>
              </a:rPr>
              <a:t>局部坐标系</a:t>
            </a:r>
            <a:r>
              <a:rPr lang="zh-CN" altLang="en-US" dirty="0">
                <a:solidFill>
                  <a:srgbClr val="000000"/>
                </a:solidFill>
                <a:latin typeface="新宋体" panose="02010609030101010101" pitchFamily="49" charset="-122"/>
                <a:ea typeface="新宋体" panose="02010609030101010101" pitchFamily="49" charset="-122"/>
              </a:rPr>
              <a:t>，物体上每个点的坐标只相对于局部坐标系而言。这个坐标在物体显示及运动时均不会改变。当将物体放到一个场景中时，该场景有一个</a:t>
            </a:r>
            <a:r>
              <a:rPr lang="zh-CN" altLang="en-US" dirty="0">
                <a:solidFill>
                  <a:srgbClr val="000000"/>
                </a:solidFill>
                <a:latin typeface="华光准圆_CNKI" panose="02000500000000000000" pitchFamily="2" charset="-122"/>
                <a:ea typeface="华光准圆_CNKI" panose="02000500000000000000" pitchFamily="2" charset="-122"/>
              </a:rPr>
              <a:t>世界坐标系</a:t>
            </a:r>
            <a:r>
              <a:rPr lang="zh-CN" altLang="en-US" dirty="0">
                <a:solidFill>
                  <a:srgbClr val="000000"/>
                </a:solidFill>
                <a:latin typeface="新宋体" panose="02010609030101010101" pitchFamily="49" charset="-122"/>
                <a:ea typeface="新宋体" panose="02010609030101010101" pitchFamily="49" charset="-122"/>
              </a:rPr>
              <a:t>，所有物体的位置均以其局部坐标系在世界坐标系中的位置来确定物体的位置，物体的朝向取决于其局部坐标系相对于世界坐标中的朝向。通过坐标变换便可以计算出每个点在世界坐标系中的位置。</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a:t>
            </a:r>
            <a:r>
              <a:rPr lang="en-US" altLang="zh-CN" dirty="0">
                <a:solidFill>
                  <a:srgbClr val="000000"/>
                </a:solidFill>
                <a:latin typeface="新宋体" panose="02010609030101010101" pitchFamily="49" charset="-122"/>
                <a:ea typeface="新宋体" panose="02010609030101010101" pitchFamily="49" charset="-122"/>
              </a:rPr>
              <a:t>2</a:t>
            </a:r>
            <a:r>
              <a:rPr lang="zh-CN" altLang="en-US" dirty="0">
                <a:solidFill>
                  <a:srgbClr val="000000"/>
                </a:solidFill>
                <a:latin typeface="新宋体" panose="02010609030101010101" pitchFamily="49" charset="-122"/>
                <a:ea typeface="新宋体" panose="02010609030101010101" pitchFamily="49" charset="-122"/>
              </a:rPr>
              <a:t>）如果将这些顶点存放在一个数组中，则数组的序号可以作为</a:t>
            </a:r>
            <a:r>
              <a:rPr lang="en-US" altLang="zh-CN" dirty="0">
                <a:solidFill>
                  <a:srgbClr val="000000"/>
                </a:solidFill>
                <a:latin typeface="新宋体" panose="02010609030101010101" pitchFamily="49" charset="-122"/>
                <a:ea typeface="新宋体" panose="02010609030101010101" pitchFamily="49" charset="-122"/>
              </a:rPr>
              <a:t>     </a:t>
            </a:r>
          </a:p>
        </p:txBody>
      </p:sp>
    </p:spTree>
    <p:extLst>
      <p:ext uri="{BB962C8B-B14F-4D97-AF65-F5344CB8AC3E}">
        <p14:creationId xmlns:p14="http://schemas.microsoft.com/office/powerpoint/2010/main" val="1030127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84199" y="534726"/>
            <a:ext cx="7429499" cy="5788548"/>
          </a:xfrm>
        </p:spPr>
        <p:txBody>
          <a:bodyPr>
            <a:normAutofit fontScale="92500" lnSpcReduction="10000"/>
          </a:bodyPr>
          <a:lstStyle/>
          <a:p>
            <a:pPr marL="0" indent="0">
              <a:lnSpc>
                <a:spcPct val="150000"/>
              </a:lnSpc>
              <a:buNone/>
            </a:pPr>
            <a:r>
              <a:rPr lang="zh-CN" altLang="en-US" dirty="0">
                <a:solidFill>
                  <a:srgbClr val="000000"/>
                </a:solidFill>
                <a:latin typeface="新宋体" panose="02010609030101010101" pitchFamily="49" charset="-122"/>
                <a:ea typeface="新宋体" panose="02010609030101010101" pitchFamily="49" charset="-122"/>
              </a:rPr>
              <a:t>对应的索引，并根据该序号来确定构成每一个面的三角形的三个顶点。</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考虑到每一个面有两个朝向，在正方体中，只有朝外的三角面我们才能看见，而朝里的三角面是看不见的。因此在</a:t>
            </a:r>
            <a:r>
              <a:rPr lang="en-US" altLang="zh-CN" dirty="0">
                <a:solidFill>
                  <a:srgbClr val="000000"/>
                </a:solidFill>
                <a:latin typeface="新宋体" panose="02010609030101010101" pitchFamily="49" charset="-122"/>
                <a:ea typeface="新宋体" panose="02010609030101010101" pitchFamily="49" charset="-122"/>
              </a:rPr>
              <a:t>DirectX</a:t>
            </a:r>
            <a:r>
              <a:rPr lang="zh-CN" altLang="en-US" dirty="0">
                <a:solidFill>
                  <a:srgbClr val="000000"/>
                </a:solidFill>
                <a:latin typeface="新宋体" panose="02010609030101010101" pitchFamily="49" charset="-122"/>
                <a:ea typeface="新宋体" panose="02010609030101010101" pitchFamily="49" charset="-122"/>
              </a:rPr>
              <a:t>中规定以左手定则根据顶点的排列顺序来确定三角面的朝向。如右图所示。以四指的方向表示顶点的排列顺序，大拇指所指的方向即为可见的面。也就是按顺时针排列时该面正向可见，以逆时针排列时该面背面可见。</a:t>
            </a:r>
            <a:endParaRPr lang="en-US" altLang="zh-CN" dirty="0">
              <a:solidFill>
                <a:srgbClr val="000000"/>
              </a:solidFill>
              <a:latin typeface="新宋体" panose="02010609030101010101" pitchFamily="49" charset="-122"/>
              <a:ea typeface="新宋体" panose="02010609030101010101" pitchFamily="49" charset="-122"/>
            </a:endParaRPr>
          </a:p>
        </p:txBody>
      </p:sp>
      <p:grpSp>
        <p:nvGrpSpPr>
          <p:cNvPr id="4" name="Group 10">
            <a:extLst>
              <a:ext uri="{FF2B5EF4-FFF2-40B4-BE49-F238E27FC236}">
                <a16:creationId xmlns:a16="http://schemas.microsoft.com/office/drawing/2014/main" id="{BFD5EB5F-BABB-49DC-AE04-1F3CA10A221F}"/>
              </a:ext>
            </a:extLst>
          </p:cNvPr>
          <p:cNvGrpSpPr>
            <a:grpSpLocks/>
          </p:cNvGrpSpPr>
          <p:nvPr/>
        </p:nvGrpSpPr>
        <p:grpSpPr bwMode="auto">
          <a:xfrm>
            <a:off x="8372722" y="836876"/>
            <a:ext cx="3299792" cy="1993789"/>
            <a:chOff x="1344" y="2016"/>
            <a:chExt cx="3072" cy="1383"/>
          </a:xfrm>
        </p:grpSpPr>
        <p:sp>
          <p:nvSpPr>
            <p:cNvPr id="5" name="Rectangle 4">
              <a:extLst>
                <a:ext uri="{FF2B5EF4-FFF2-40B4-BE49-F238E27FC236}">
                  <a16:creationId xmlns:a16="http://schemas.microsoft.com/office/drawing/2014/main" id="{36F1CA34-51C7-4568-8B17-20A30A36AA81}"/>
                </a:ext>
              </a:extLst>
            </p:cNvPr>
            <p:cNvSpPr>
              <a:spLocks noChangeArrowheads="1"/>
            </p:cNvSpPr>
            <p:nvPr/>
          </p:nvSpPr>
          <p:spPr bwMode="auto">
            <a:xfrm>
              <a:off x="1776" y="2160"/>
              <a:ext cx="2208" cy="110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 name="Line 5">
              <a:extLst>
                <a:ext uri="{FF2B5EF4-FFF2-40B4-BE49-F238E27FC236}">
                  <a16:creationId xmlns:a16="http://schemas.microsoft.com/office/drawing/2014/main" id="{50FA0F87-62B1-44D1-8AE8-DB783C2490F1}"/>
                </a:ext>
              </a:extLst>
            </p:cNvPr>
            <p:cNvSpPr>
              <a:spLocks noChangeShapeType="1"/>
            </p:cNvSpPr>
            <p:nvPr/>
          </p:nvSpPr>
          <p:spPr bwMode="auto">
            <a:xfrm flipV="1">
              <a:off x="1776" y="2160"/>
              <a:ext cx="2208"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Text Box 6">
              <a:extLst>
                <a:ext uri="{FF2B5EF4-FFF2-40B4-BE49-F238E27FC236}">
                  <a16:creationId xmlns:a16="http://schemas.microsoft.com/office/drawing/2014/main" id="{61EAFD53-ED80-4513-938A-E37D09FEF7F7}"/>
                </a:ext>
              </a:extLst>
            </p:cNvPr>
            <p:cNvSpPr txBox="1">
              <a:spLocks noChangeArrowheads="1"/>
            </p:cNvSpPr>
            <p:nvPr/>
          </p:nvSpPr>
          <p:spPr bwMode="auto">
            <a:xfrm>
              <a:off x="1344" y="3168"/>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dirty="0"/>
                <a:t>V0</a:t>
              </a:r>
            </a:p>
          </p:txBody>
        </p:sp>
        <p:sp>
          <p:nvSpPr>
            <p:cNvPr id="8" name="Text Box 7">
              <a:extLst>
                <a:ext uri="{FF2B5EF4-FFF2-40B4-BE49-F238E27FC236}">
                  <a16:creationId xmlns:a16="http://schemas.microsoft.com/office/drawing/2014/main" id="{2A881A1D-7A01-4C2F-92D1-A2A1AF92FE3D}"/>
                </a:ext>
              </a:extLst>
            </p:cNvPr>
            <p:cNvSpPr txBox="1">
              <a:spLocks noChangeArrowheads="1"/>
            </p:cNvSpPr>
            <p:nvPr/>
          </p:nvSpPr>
          <p:spPr bwMode="auto">
            <a:xfrm>
              <a:off x="1440" y="201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dirty="0"/>
                <a:t>V1</a:t>
              </a:r>
            </a:p>
          </p:txBody>
        </p:sp>
        <p:sp>
          <p:nvSpPr>
            <p:cNvPr id="9" name="Text Box 8">
              <a:extLst>
                <a:ext uri="{FF2B5EF4-FFF2-40B4-BE49-F238E27FC236}">
                  <a16:creationId xmlns:a16="http://schemas.microsoft.com/office/drawing/2014/main" id="{8CCCB0D5-256B-447A-8955-FEFBD7A774FC}"/>
                </a:ext>
              </a:extLst>
            </p:cNvPr>
            <p:cNvSpPr txBox="1">
              <a:spLocks noChangeArrowheads="1"/>
            </p:cNvSpPr>
            <p:nvPr/>
          </p:nvSpPr>
          <p:spPr bwMode="auto">
            <a:xfrm>
              <a:off x="3936" y="201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t>V2</a:t>
              </a:r>
            </a:p>
          </p:txBody>
        </p:sp>
        <p:sp>
          <p:nvSpPr>
            <p:cNvPr id="10" name="Text Box 9">
              <a:extLst>
                <a:ext uri="{FF2B5EF4-FFF2-40B4-BE49-F238E27FC236}">
                  <a16:creationId xmlns:a16="http://schemas.microsoft.com/office/drawing/2014/main" id="{F26D168E-0C20-4507-B582-3B21DA1304D8}"/>
                </a:ext>
              </a:extLst>
            </p:cNvPr>
            <p:cNvSpPr txBox="1">
              <a:spLocks noChangeArrowheads="1"/>
            </p:cNvSpPr>
            <p:nvPr/>
          </p:nvSpPr>
          <p:spPr bwMode="auto">
            <a:xfrm>
              <a:off x="3984" y="312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0"/>
                <a:t>V3</a:t>
              </a:r>
            </a:p>
          </p:txBody>
        </p:sp>
      </p:grpSp>
      <p:sp>
        <p:nvSpPr>
          <p:cNvPr id="2" name="文本框 1">
            <a:extLst>
              <a:ext uri="{FF2B5EF4-FFF2-40B4-BE49-F238E27FC236}">
                <a16:creationId xmlns:a16="http://schemas.microsoft.com/office/drawing/2014/main" id="{444EC5D3-933E-4B8A-A2AB-B1C14ABC7A66}"/>
              </a:ext>
            </a:extLst>
          </p:cNvPr>
          <p:cNvSpPr txBox="1"/>
          <p:nvPr/>
        </p:nvSpPr>
        <p:spPr>
          <a:xfrm>
            <a:off x="8475841" y="3204376"/>
            <a:ext cx="3387505" cy="2543132"/>
          </a:xfrm>
          <a:prstGeom prst="rect">
            <a:avLst/>
          </a:prstGeom>
          <a:noFill/>
        </p:spPr>
        <p:txBody>
          <a:bodyPr wrap="square" rtlCol="0">
            <a:spAutoFit/>
          </a:bodyPr>
          <a:lstStyle/>
          <a:p>
            <a:pPr>
              <a:lnSpc>
                <a:spcPct val="150000"/>
              </a:lnSpc>
            </a:pPr>
            <a:r>
              <a:rPr lang="zh-CN" altLang="en-US" dirty="0"/>
              <a:t>      上图中，如果三角面的三个顶点按照</a:t>
            </a:r>
            <a:r>
              <a:rPr lang="en-US" altLang="zh-CN" dirty="0"/>
              <a:t>V0V1V2</a:t>
            </a:r>
            <a:r>
              <a:rPr lang="zh-CN" altLang="en-US" dirty="0"/>
              <a:t>的顺序排列，则表示该三角面的正面可见，背面不可见。反之，如果按</a:t>
            </a:r>
            <a:r>
              <a:rPr lang="en-US" altLang="zh-CN" dirty="0"/>
              <a:t>V0V2V1</a:t>
            </a:r>
            <a:r>
              <a:rPr lang="zh-CN" altLang="en-US" dirty="0"/>
              <a:t>的顺序排列，则表示正面不可见，背面可见。</a:t>
            </a:r>
          </a:p>
        </p:txBody>
      </p:sp>
    </p:spTree>
    <p:extLst>
      <p:ext uri="{BB962C8B-B14F-4D97-AF65-F5344CB8AC3E}">
        <p14:creationId xmlns:p14="http://schemas.microsoft.com/office/powerpoint/2010/main" val="3922031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D5814B7-8391-489C-BBE5-AE28EDC5CB4A}"/>
              </a:ext>
            </a:extLst>
          </p:cNvPr>
          <p:cNvPicPr>
            <a:picLocks noChangeAspect="1"/>
          </p:cNvPicPr>
          <p:nvPr/>
        </p:nvPicPr>
        <p:blipFill>
          <a:blip r:embed="rId2"/>
          <a:stretch>
            <a:fillRect/>
          </a:stretch>
        </p:blipFill>
        <p:spPr>
          <a:xfrm>
            <a:off x="6740860" y="612250"/>
            <a:ext cx="4096768" cy="3625795"/>
          </a:xfrm>
          <a:prstGeom prst="rect">
            <a:avLst/>
          </a:prstGeom>
        </p:spPr>
      </p:pic>
      <p:pic>
        <p:nvPicPr>
          <p:cNvPr id="9" name="图片 8">
            <a:extLst>
              <a:ext uri="{FF2B5EF4-FFF2-40B4-BE49-F238E27FC236}">
                <a16:creationId xmlns:a16="http://schemas.microsoft.com/office/drawing/2014/main" id="{E8BB2300-90FE-48E8-A5B9-3104D7D62B77}"/>
              </a:ext>
            </a:extLst>
          </p:cNvPr>
          <p:cNvPicPr>
            <a:picLocks noChangeAspect="1"/>
          </p:cNvPicPr>
          <p:nvPr/>
        </p:nvPicPr>
        <p:blipFill>
          <a:blip r:embed="rId3"/>
          <a:stretch>
            <a:fillRect/>
          </a:stretch>
        </p:blipFill>
        <p:spPr>
          <a:xfrm>
            <a:off x="940904" y="612249"/>
            <a:ext cx="4362616" cy="3625795"/>
          </a:xfrm>
          <a:prstGeom prst="rect">
            <a:avLst/>
          </a:prstGeom>
        </p:spPr>
      </p:pic>
      <p:sp>
        <p:nvSpPr>
          <p:cNvPr id="10" name="文本框 9">
            <a:extLst>
              <a:ext uri="{FF2B5EF4-FFF2-40B4-BE49-F238E27FC236}">
                <a16:creationId xmlns:a16="http://schemas.microsoft.com/office/drawing/2014/main" id="{5357B4F3-C723-4B87-AA1E-FF67DF635C1C}"/>
              </a:ext>
            </a:extLst>
          </p:cNvPr>
          <p:cNvSpPr txBox="1"/>
          <p:nvPr/>
        </p:nvSpPr>
        <p:spPr>
          <a:xfrm>
            <a:off x="1137038" y="4643561"/>
            <a:ext cx="4063116" cy="881139"/>
          </a:xfrm>
          <a:prstGeom prst="rect">
            <a:avLst/>
          </a:prstGeom>
          <a:noFill/>
        </p:spPr>
        <p:txBody>
          <a:bodyPr wrap="square" rtlCol="0">
            <a:spAutoFit/>
          </a:bodyPr>
          <a:lstStyle/>
          <a:p>
            <a:pPr>
              <a:lnSpc>
                <a:spcPct val="150000"/>
              </a:lnSpc>
            </a:pPr>
            <a:r>
              <a:rPr lang="zh-CN" altLang="en-US" dirty="0"/>
              <a:t>        按照顺时针方向排列三角面的顶点索引得到的结果。</a:t>
            </a:r>
          </a:p>
        </p:txBody>
      </p:sp>
      <p:sp>
        <p:nvSpPr>
          <p:cNvPr id="11" name="文本框 10">
            <a:extLst>
              <a:ext uri="{FF2B5EF4-FFF2-40B4-BE49-F238E27FC236}">
                <a16:creationId xmlns:a16="http://schemas.microsoft.com/office/drawing/2014/main" id="{6797613E-B2DE-4E7B-B1E3-2FD9A795F7F5}"/>
              </a:ext>
            </a:extLst>
          </p:cNvPr>
          <p:cNvSpPr txBox="1"/>
          <p:nvPr/>
        </p:nvSpPr>
        <p:spPr>
          <a:xfrm>
            <a:off x="7032005" y="4462006"/>
            <a:ext cx="3514477" cy="1296637"/>
          </a:xfrm>
          <a:prstGeom prst="rect">
            <a:avLst/>
          </a:prstGeom>
          <a:noFill/>
        </p:spPr>
        <p:txBody>
          <a:bodyPr wrap="square" rtlCol="0">
            <a:spAutoFit/>
          </a:bodyPr>
          <a:lstStyle/>
          <a:p>
            <a:pPr>
              <a:lnSpc>
                <a:spcPct val="150000"/>
              </a:lnSpc>
            </a:pPr>
            <a:r>
              <a:rPr lang="zh-CN" altLang="en-US" dirty="0"/>
              <a:t>        按照逆时针方向排列三角面的顶点索引得到的结果。白色的三角形表示该三角面不可见。</a:t>
            </a:r>
          </a:p>
        </p:txBody>
      </p:sp>
    </p:spTree>
    <p:extLst>
      <p:ext uri="{BB962C8B-B14F-4D97-AF65-F5344CB8AC3E}">
        <p14:creationId xmlns:p14="http://schemas.microsoft.com/office/powerpoint/2010/main" val="2400478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1" name="直接连接符 80">
            <a:extLst>
              <a:ext uri="{FF2B5EF4-FFF2-40B4-BE49-F238E27FC236}">
                <a16:creationId xmlns:a16="http://schemas.microsoft.com/office/drawing/2014/main" id="{16E48876-1F4D-4972-B88F-E9EC89771006}"/>
              </a:ext>
            </a:extLst>
          </p:cNvPr>
          <p:cNvCxnSpPr/>
          <p:nvPr/>
        </p:nvCxnSpPr>
        <p:spPr>
          <a:xfrm flipH="1">
            <a:off x="9129752" y="1892410"/>
            <a:ext cx="985961" cy="23518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FD07C6AA-1904-498F-99AB-34AD168CB08C}"/>
              </a:ext>
            </a:extLst>
          </p:cNvPr>
          <p:cNvSpPr txBox="1"/>
          <p:nvPr/>
        </p:nvSpPr>
        <p:spPr>
          <a:xfrm>
            <a:off x="7864997" y="3082871"/>
            <a:ext cx="1730146"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V4</a:t>
            </a:r>
          </a:p>
          <a:p>
            <a:r>
              <a:rPr lang="en-US" altLang="zh-CN" dirty="0"/>
              <a:t>(-1.0f, -1.0f, +1.0f)</a:t>
            </a:r>
            <a:endParaRPr lang="zh-CN" altLang="en-US" dirty="0"/>
          </a:p>
        </p:txBody>
      </p:sp>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1578065"/>
          </a:xfrm>
        </p:spPr>
        <p:txBody>
          <a:bodyPr>
            <a:normAutofit/>
          </a:bodyPr>
          <a:lstStyle/>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基于上述的约定，可以得到该正方体每一个面的顶点的索引，如下所示：</a:t>
            </a:r>
            <a:endParaRPr lang="en-US" altLang="zh-CN" dirty="0">
              <a:solidFill>
                <a:srgbClr val="000000"/>
              </a:solidFill>
              <a:latin typeface="新宋体" panose="02010609030101010101" pitchFamily="49" charset="-122"/>
              <a:ea typeface="新宋体" panose="02010609030101010101" pitchFamily="49" charset="-122"/>
            </a:endParaRPr>
          </a:p>
        </p:txBody>
      </p:sp>
      <p:sp>
        <p:nvSpPr>
          <p:cNvPr id="2" name="文本框 1">
            <a:extLst>
              <a:ext uri="{FF2B5EF4-FFF2-40B4-BE49-F238E27FC236}">
                <a16:creationId xmlns:a16="http://schemas.microsoft.com/office/drawing/2014/main" id="{4C568B96-DC9A-4702-A7A3-E45E8072E88C}"/>
              </a:ext>
            </a:extLst>
          </p:cNvPr>
          <p:cNvSpPr txBox="1"/>
          <p:nvPr/>
        </p:nvSpPr>
        <p:spPr>
          <a:xfrm>
            <a:off x="1335819" y="1796994"/>
            <a:ext cx="2202512" cy="1200329"/>
          </a:xfrm>
          <a:prstGeom prst="rect">
            <a:avLst/>
          </a:prstGeom>
          <a:noFill/>
        </p:spPr>
        <p:txBody>
          <a:bodyPr wrap="square" rtlCol="0">
            <a:spAutoFit/>
          </a:bodyPr>
          <a:lstStyle/>
          <a:p>
            <a:r>
              <a:rPr lang="en-US" altLang="zh-CN" sz="2400" dirty="0">
                <a:solidFill>
                  <a:srgbClr val="008000"/>
                </a:solidFill>
                <a:latin typeface="新宋体" panose="02010609030101010101" pitchFamily="49" charset="-122"/>
                <a:ea typeface="新宋体" panose="02010609030101010101" pitchFamily="49" charset="-122"/>
              </a:rPr>
              <a:t>// </a:t>
            </a:r>
            <a:r>
              <a:rPr lang="zh-CN" altLang="en-US" sz="2400" dirty="0">
                <a:solidFill>
                  <a:srgbClr val="008000"/>
                </a:solidFill>
                <a:latin typeface="新宋体" panose="02010609030101010101" pitchFamily="49" charset="-122"/>
                <a:ea typeface="新宋体" panose="02010609030101010101" pitchFamily="49" charset="-122"/>
              </a:rPr>
              <a:t>前面</a:t>
            </a:r>
            <a:endParaRPr lang="en-US" altLang="zh-CN" sz="2400" dirty="0">
              <a:solidFill>
                <a:srgbClr val="000000"/>
              </a:solidFill>
              <a:latin typeface="新宋体" panose="02010609030101010101" pitchFamily="49" charset="-122"/>
              <a:ea typeface="新宋体" panose="02010609030101010101" pitchFamily="49" charset="-122"/>
            </a:endParaRPr>
          </a:p>
          <a:p>
            <a:r>
              <a:rPr lang="en-US" altLang="zh-CN" sz="2400" dirty="0">
                <a:solidFill>
                  <a:srgbClr val="000000"/>
                </a:solidFill>
                <a:latin typeface="新宋体" panose="02010609030101010101" pitchFamily="49" charset="-122"/>
                <a:ea typeface="新宋体" panose="02010609030101010101" pitchFamily="49" charset="-122"/>
              </a:rPr>
              <a:t>0, 1, 2,</a:t>
            </a:r>
          </a:p>
          <a:p>
            <a:r>
              <a:rPr lang="en-US" altLang="zh-CN" sz="2400" dirty="0">
                <a:solidFill>
                  <a:srgbClr val="000000"/>
                </a:solidFill>
                <a:latin typeface="新宋体" panose="02010609030101010101" pitchFamily="49" charset="-122"/>
                <a:ea typeface="新宋体" panose="02010609030101010101" pitchFamily="49" charset="-122"/>
              </a:rPr>
              <a:t>0, 2, 3,</a:t>
            </a:r>
            <a:endParaRPr lang="zh-CN" altLang="en-US" sz="2400" dirty="0"/>
          </a:p>
        </p:txBody>
      </p:sp>
      <p:sp>
        <p:nvSpPr>
          <p:cNvPr id="4" name="文本框 3">
            <a:extLst>
              <a:ext uri="{FF2B5EF4-FFF2-40B4-BE49-F238E27FC236}">
                <a16:creationId xmlns:a16="http://schemas.microsoft.com/office/drawing/2014/main" id="{53983C67-7158-4209-AE78-ED406B4B65AC}"/>
              </a:ext>
            </a:extLst>
          </p:cNvPr>
          <p:cNvSpPr txBox="1"/>
          <p:nvPr/>
        </p:nvSpPr>
        <p:spPr>
          <a:xfrm>
            <a:off x="2862469" y="1796994"/>
            <a:ext cx="2202512" cy="1200329"/>
          </a:xfrm>
          <a:prstGeom prst="rect">
            <a:avLst/>
          </a:prstGeom>
          <a:noFill/>
        </p:spPr>
        <p:txBody>
          <a:bodyPr wrap="square" rtlCol="0">
            <a:spAutoFit/>
          </a:bodyPr>
          <a:lstStyle/>
          <a:p>
            <a:r>
              <a:rPr lang="en-US" altLang="zh-CN" sz="2400" dirty="0">
                <a:solidFill>
                  <a:srgbClr val="008000"/>
                </a:solidFill>
                <a:latin typeface="新宋体" panose="02010609030101010101" pitchFamily="49" charset="-122"/>
                <a:ea typeface="新宋体" panose="02010609030101010101" pitchFamily="49" charset="-122"/>
              </a:rPr>
              <a:t>// </a:t>
            </a:r>
            <a:r>
              <a:rPr lang="zh-CN" altLang="en-US" sz="2400" dirty="0">
                <a:solidFill>
                  <a:srgbClr val="008000"/>
                </a:solidFill>
                <a:latin typeface="新宋体" panose="02010609030101010101" pitchFamily="49" charset="-122"/>
                <a:ea typeface="新宋体" panose="02010609030101010101" pitchFamily="49" charset="-122"/>
              </a:rPr>
              <a:t>背面</a:t>
            </a:r>
            <a:endParaRPr lang="en-US" altLang="zh-CN" sz="2400" dirty="0">
              <a:solidFill>
                <a:srgbClr val="000000"/>
              </a:solidFill>
              <a:latin typeface="新宋体" panose="02010609030101010101" pitchFamily="49" charset="-122"/>
              <a:ea typeface="新宋体" panose="02010609030101010101" pitchFamily="49" charset="-122"/>
            </a:endParaRPr>
          </a:p>
          <a:p>
            <a:r>
              <a:rPr lang="en-US" altLang="zh-CN" sz="2400" dirty="0">
                <a:solidFill>
                  <a:srgbClr val="000000"/>
                </a:solidFill>
                <a:latin typeface="新宋体" panose="02010609030101010101" pitchFamily="49" charset="-122"/>
                <a:ea typeface="新宋体" panose="02010609030101010101" pitchFamily="49" charset="-122"/>
              </a:rPr>
              <a:t>4, 6, 5,</a:t>
            </a:r>
          </a:p>
          <a:p>
            <a:r>
              <a:rPr lang="en-US" altLang="zh-CN" sz="2400" dirty="0">
                <a:solidFill>
                  <a:srgbClr val="000000"/>
                </a:solidFill>
                <a:latin typeface="新宋体" panose="02010609030101010101" pitchFamily="49" charset="-122"/>
                <a:ea typeface="新宋体" panose="02010609030101010101" pitchFamily="49" charset="-122"/>
              </a:rPr>
              <a:t>4, 7, 6,</a:t>
            </a:r>
            <a:endParaRPr lang="zh-CN" altLang="en-US" sz="2400" dirty="0"/>
          </a:p>
        </p:txBody>
      </p:sp>
      <p:sp>
        <p:nvSpPr>
          <p:cNvPr id="6" name="文本框 5">
            <a:extLst>
              <a:ext uri="{FF2B5EF4-FFF2-40B4-BE49-F238E27FC236}">
                <a16:creationId xmlns:a16="http://schemas.microsoft.com/office/drawing/2014/main" id="{A72DF97C-3674-4E04-B83B-66EEC6BAA702}"/>
              </a:ext>
            </a:extLst>
          </p:cNvPr>
          <p:cNvSpPr txBox="1"/>
          <p:nvPr/>
        </p:nvSpPr>
        <p:spPr>
          <a:xfrm>
            <a:off x="1335819" y="3118612"/>
            <a:ext cx="1944921" cy="1200329"/>
          </a:xfrm>
          <a:prstGeom prst="rect">
            <a:avLst/>
          </a:prstGeom>
          <a:noFill/>
        </p:spPr>
        <p:txBody>
          <a:bodyPr wrap="square">
            <a:spAutoFit/>
          </a:bodyPr>
          <a:lstStyle/>
          <a:p>
            <a:r>
              <a:rPr lang="en-US" altLang="zh-CN" sz="2400" dirty="0">
                <a:solidFill>
                  <a:srgbClr val="008000"/>
                </a:solidFill>
                <a:latin typeface="新宋体" panose="02010609030101010101" pitchFamily="49" charset="-122"/>
                <a:ea typeface="新宋体" panose="02010609030101010101" pitchFamily="49" charset="-122"/>
              </a:rPr>
              <a:t>// </a:t>
            </a:r>
            <a:r>
              <a:rPr lang="zh-CN" altLang="en-US" sz="2400" dirty="0">
                <a:solidFill>
                  <a:srgbClr val="008000"/>
                </a:solidFill>
                <a:latin typeface="新宋体" panose="02010609030101010101" pitchFamily="49" charset="-122"/>
                <a:ea typeface="新宋体" panose="02010609030101010101" pitchFamily="49" charset="-122"/>
              </a:rPr>
              <a:t>上面</a:t>
            </a:r>
            <a:endParaRPr lang="en-US" altLang="zh-CN" sz="2400" dirty="0">
              <a:solidFill>
                <a:srgbClr val="000000"/>
              </a:solidFill>
              <a:latin typeface="新宋体" panose="02010609030101010101" pitchFamily="49" charset="-122"/>
              <a:ea typeface="新宋体" panose="02010609030101010101" pitchFamily="49" charset="-122"/>
            </a:endParaRPr>
          </a:p>
          <a:p>
            <a:r>
              <a:rPr lang="en-US" altLang="zh-CN" sz="2400" dirty="0">
                <a:solidFill>
                  <a:srgbClr val="000000"/>
                </a:solidFill>
                <a:latin typeface="新宋体" panose="02010609030101010101" pitchFamily="49" charset="-122"/>
                <a:ea typeface="新宋体" panose="02010609030101010101" pitchFamily="49" charset="-122"/>
              </a:rPr>
              <a:t>1, 5, 6,</a:t>
            </a:r>
          </a:p>
          <a:p>
            <a:r>
              <a:rPr lang="en-US" altLang="zh-CN" sz="2400" dirty="0">
                <a:solidFill>
                  <a:srgbClr val="000000"/>
                </a:solidFill>
                <a:latin typeface="新宋体" panose="02010609030101010101" pitchFamily="49" charset="-122"/>
                <a:ea typeface="新宋体" panose="02010609030101010101" pitchFamily="49" charset="-122"/>
              </a:rPr>
              <a:t>1, 6, 2,</a:t>
            </a:r>
            <a:endParaRPr lang="zh-CN" altLang="en-US" sz="2400" dirty="0"/>
          </a:p>
        </p:txBody>
      </p:sp>
      <p:sp>
        <p:nvSpPr>
          <p:cNvPr id="7" name="文本框 6">
            <a:extLst>
              <a:ext uri="{FF2B5EF4-FFF2-40B4-BE49-F238E27FC236}">
                <a16:creationId xmlns:a16="http://schemas.microsoft.com/office/drawing/2014/main" id="{1136EA4A-08C8-4CF2-B84E-3FD0DEBAE530}"/>
              </a:ext>
            </a:extLst>
          </p:cNvPr>
          <p:cNvSpPr txBox="1"/>
          <p:nvPr/>
        </p:nvSpPr>
        <p:spPr>
          <a:xfrm>
            <a:off x="4550797" y="3118612"/>
            <a:ext cx="1944921" cy="1200329"/>
          </a:xfrm>
          <a:prstGeom prst="rect">
            <a:avLst/>
          </a:prstGeom>
          <a:noFill/>
        </p:spPr>
        <p:txBody>
          <a:bodyPr wrap="square">
            <a:spAutoFit/>
          </a:bodyPr>
          <a:lstStyle/>
          <a:p>
            <a:r>
              <a:rPr lang="en-US" altLang="zh-CN" sz="2400" dirty="0">
                <a:solidFill>
                  <a:srgbClr val="008000"/>
                </a:solidFill>
                <a:latin typeface="新宋体" panose="02010609030101010101" pitchFamily="49" charset="-122"/>
                <a:ea typeface="新宋体" panose="02010609030101010101" pitchFamily="49" charset="-122"/>
              </a:rPr>
              <a:t>// </a:t>
            </a:r>
            <a:r>
              <a:rPr lang="zh-CN" altLang="en-US" sz="2400" dirty="0">
                <a:solidFill>
                  <a:srgbClr val="008000"/>
                </a:solidFill>
                <a:latin typeface="新宋体" panose="02010609030101010101" pitchFamily="49" charset="-122"/>
                <a:ea typeface="新宋体" panose="02010609030101010101" pitchFamily="49" charset="-122"/>
              </a:rPr>
              <a:t>底面</a:t>
            </a:r>
            <a:endParaRPr lang="en-US" altLang="zh-CN" sz="2400" dirty="0">
              <a:solidFill>
                <a:srgbClr val="000000"/>
              </a:solidFill>
              <a:latin typeface="新宋体" panose="02010609030101010101" pitchFamily="49" charset="-122"/>
              <a:ea typeface="新宋体" panose="02010609030101010101" pitchFamily="49" charset="-122"/>
            </a:endParaRPr>
          </a:p>
          <a:p>
            <a:r>
              <a:rPr lang="en-US" altLang="zh-CN" sz="2400" dirty="0">
                <a:solidFill>
                  <a:srgbClr val="000000"/>
                </a:solidFill>
                <a:latin typeface="新宋体" panose="02010609030101010101" pitchFamily="49" charset="-122"/>
                <a:ea typeface="新宋体" panose="02010609030101010101" pitchFamily="49" charset="-122"/>
              </a:rPr>
              <a:t>4, 0, 3,</a:t>
            </a:r>
          </a:p>
          <a:p>
            <a:r>
              <a:rPr lang="en-US" altLang="zh-CN" sz="2400" dirty="0">
                <a:solidFill>
                  <a:srgbClr val="000000"/>
                </a:solidFill>
                <a:latin typeface="新宋体" panose="02010609030101010101" pitchFamily="49" charset="-122"/>
                <a:ea typeface="新宋体" panose="02010609030101010101" pitchFamily="49" charset="-122"/>
              </a:rPr>
              <a:t>4, 3, 7</a:t>
            </a:r>
            <a:endParaRPr lang="zh-CN" altLang="en-US" sz="2400" dirty="0"/>
          </a:p>
        </p:txBody>
      </p:sp>
      <p:sp>
        <p:nvSpPr>
          <p:cNvPr id="8" name="文本框 7">
            <a:extLst>
              <a:ext uri="{FF2B5EF4-FFF2-40B4-BE49-F238E27FC236}">
                <a16:creationId xmlns:a16="http://schemas.microsoft.com/office/drawing/2014/main" id="{35121DDE-3705-4CE2-9223-302FCD26BFED}"/>
              </a:ext>
            </a:extLst>
          </p:cNvPr>
          <p:cNvSpPr txBox="1"/>
          <p:nvPr/>
        </p:nvSpPr>
        <p:spPr>
          <a:xfrm>
            <a:off x="4550797" y="1796994"/>
            <a:ext cx="1944921" cy="1200329"/>
          </a:xfrm>
          <a:prstGeom prst="rect">
            <a:avLst/>
          </a:prstGeom>
          <a:noFill/>
        </p:spPr>
        <p:txBody>
          <a:bodyPr wrap="square">
            <a:spAutoFit/>
          </a:bodyPr>
          <a:lstStyle/>
          <a:p>
            <a:r>
              <a:rPr lang="en-US" altLang="zh-CN" sz="2400" dirty="0">
                <a:solidFill>
                  <a:srgbClr val="008000"/>
                </a:solidFill>
                <a:latin typeface="新宋体" panose="02010609030101010101" pitchFamily="49" charset="-122"/>
                <a:ea typeface="新宋体" panose="02010609030101010101" pitchFamily="49" charset="-122"/>
              </a:rPr>
              <a:t>// </a:t>
            </a:r>
            <a:r>
              <a:rPr lang="zh-CN" altLang="en-US" sz="2400" dirty="0">
                <a:solidFill>
                  <a:srgbClr val="008000"/>
                </a:solidFill>
                <a:latin typeface="新宋体" panose="02010609030101010101" pitchFamily="49" charset="-122"/>
                <a:ea typeface="新宋体" panose="02010609030101010101" pitchFamily="49" charset="-122"/>
              </a:rPr>
              <a:t>左面</a:t>
            </a:r>
            <a:endParaRPr lang="en-US" altLang="zh-CN" sz="2400" dirty="0">
              <a:solidFill>
                <a:srgbClr val="000000"/>
              </a:solidFill>
              <a:latin typeface="新宋体" panose="02010609030101010101" pitchFamily="49" charset="-122"/>
              <a:ea typeface="新宋体" panose="02010609030101010101" pitchFamily="49" charset="-122"/>
            </a:endParaRPr>
          </a:p>
          <a:p>
            <a:r>
              <a:rPr lang="en-US" altLang="zh-CN" sz="2400" dirty="0">
                <a:solidFill>
                  <a:srgbClr val="000000"/>
                </a:solidFill>
                <a:latin typeface="新宋体" panose="02010609030101010101" pitchFamily="49" charset="-122"/>
                <a:ea typeface="新宋体" panose="02010609030101010101" pitchFamily="49" charset="-122"/>
              </a:rPr>
              <a:t>4, 5, 1,</a:t>
            </a:r>
          </a:p>
          <a:p>
            <a:r>
              <a:rPr lang="en-US" altLang="zh-CN" sz="2400" dirty="0">
                <a:solidFill>
                  <a:srgbClr val="000000"/>
                </a:solidFill>
                <a:latin typeface="新宋体" panose="02010609030101010101" pitchFamily="49" charset="-122"/>
                <a:ea typeface="新宋体" panose="02010609030101010101" pitchFamily="49" charset="-122"/>
              </a:rPr>
              <a:t>4, 1, 0,</a:t>
            </a:r>
            <a:endParaRPr lang="zh-CN" altLang="en-US" sz="2400" dirty="0"/>
          </a:p>
        </p:txBody>
      </p:sp>
      <p:sp>
        <p:nvSpPr>
          <p:cNvPr id="9" name="文本框 8">
            <a:extLst>
              <a:ext uri="{FF2B5EF4-FFF2-40B4-BE49-F238E27FC236}">
                <a16:creationId xmlns:a16="http://schemas.microsoft.com/office/drawing/2014/main" id="{5E5BE890-0C19-495C-9510-8D186C6AC9DE}"/>
              </a:ext>
            </a:extLst>
          </p:cNvPr>
          <p:cNvSpPr txBox="1"/>
          <p:nvPr/>
        </p:nvSpPr>
        <p:spPr>
          <a:xfrm>
            <a:off x="2913077" y="3118612"/>
            <a:ext cx="1452190" cy="1200329"/>
          </a:xfrm>
          <a:prstGeom prst="rect">
            <a:avLst/>
          </a:prstGeom>
          <a:noFill/>
        </p:spPr>
        <p:txBody>
          <a:bodyPr wrap="square">
            <a:spAutoFit/>
          </a:bodyPr>
          <a:lstStyle/>
          <a:p>
            <a:r>
              <a:rPr lang="en-US" altLang="zh-CN" sz="2400" dirty="0">
                <a:solidFill>
                  <a:srgbClr val="008000"/>
                </a:solidFill>
                <a:latin typeface="新宋体" panose="02010609030101010101" pitchFamily="49" charset="-122"/>
                <a:ea typeface="新宋体" panose="02010609030101010101" pitchFamily="49" charset="-122"/>
              </a:rPr>
              <a:t>//</a:t>
            </a:r>
            <a:r>
              <a:rPr lang="zh-CN" altLang="en-US" sz="2400" dirty="0">
                <a:solidFill>
                  <a:srgbClr val="008000"/>
                </a:solidFill>
                <a:latin typeface="新宋体" panose="02010609030101010101" pitchFamily="49" charset="-122"/>
                <a:ea typeface="新宋体" panose="02010609030101010101" pitchFamily="49" charset="-122"/>
              </a:rPr>
              <a:t>右面</a:t>
            </a:r>
            <a:endParaRPr lang="en-US" altLang="zh-CN" sz="2400" dirty="0">
              <a:solidFill>
                <a:srgbClr val="000000"/>
              </a:solidFill>
              <a:latin typeface="新宋体" panose="02010609030101010101" pitchFamily="49" charset="-122"/>
              <a:ea typeface="新宋体" panose="02010609030101010101" pitchFamily="49" charset="-122"/>
            </a:endParaRPr>
          </a:p>
          <a:p>
            <a:r>
              <a:rPr lang="en-US" altLang="zh-CN" sz="2400" dirty="0">
                <a:solidFill>
                  <a:srgbClr val="000000"/>
                </a:solidFill>
                <a:latin typeface="新宋体" panose="02010609030101010101" pitchFamily="49" charset="-122"/>
                <a:ea typeface="新宋体" panose="02010609030101010101" pitchFamily="49" charset="-122"/>
              </a:rPr>
              <a:t>3, 2, 6,</a:t>
            </a:r>
          </a:p>
          <a:p>
            <a:r>
              <a:rPr lang="en-US" altLang="zh-CN" sz="2400" dirty="0">
                <a:solidFill>
                  <a:srgbClr val="000000"/>
                </a:solidFill>
                <a:latin typeface="新宋体" panose="02010609030101010101" pitchFamily="49" charset="-122"/>
                <a:ea typeface="新宋体" panose="02010609030101010101" pitchFamily="49" charset="-122"/>
              </a:rPr>
              <a:t>3, 6, 7,</a:t>
            </a:r>
            <a:endParaRPr lang="zh-CN" altLang="en-US" sz="2400" dirty="0"/>
          </a:p>
        </p:txBody>
      </p:sp>
      <p:cxnSp>
        <p:nvCxnSpPr>
          <p:cNvPr id="19" name="直接连接符 18">
            <a:extLst>
              <a:ext uri="{FF2B5EF4-FFF2-40B4-BE49-F238E27FC236}">
                <a16:creationId xmlns:a16="http://schemas.microsoft.com/office/drawing/2014/main" id="{CB98BA96-745B-438E-971A-588E3B912C02}"/>
              </a:ext>
            </a:extLst>
          </p:cNvPr>
          <p:cNvCxnSpPr/>
          <p:nvPr/>
        </p:nvCxnSpPr>
        <p:spPr>
          <a:xfrm>
            <a:off x="8708332" y="1836750"/>
            <a:ext cx="14073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D263090B-265B-4AE3-8281-0DE8A27C826E}"/>
              </a:ext>
            </a:extLst>
          </p:cNvPr>
          <p:cNvCxnSpPr/>
          <p:nvPr/>
        </p:nvCxnSpPr>
        <p:spPr>
          <a:xfrm flipH="1">
            <a:off x="7690565" y="1836750"/>
            <a:ext cx="1017767" cy="1017767"/>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5616564-4B9A-408A-998F-4BD11113C57E}"/>
              </a:ext>
            </a:extLst>
          </p:cNvPr>
          <p:cNvCxnSpPr>
            <a:cxnSpLocks/>
          </p:cNvCxnSpPr>
          <p:nvPr/>
        </p:nvCxnSpPr>
        <p:spPr>
          <a:xfrm flipH="1">
            <a:off x="8704076" y="1836750"/>
            <a:ext cx="1420582"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1B1CAD61-8093-4B15-9461-9E960199A132}"/>
              </a:ext>
            </a:extLst>
          </p:cNvPr>
          <p:cNvCxnSpPr>
            <a:cxnSpLocks/>
          </p:cNvCxnSpPr>
          <p:nvPr/>
        </p:nvCxnSpPr>
        <p:spPr>
          <a:xfrm flipH="1">
            <a:off x="9121302" y="1836750"/>
            <a:ext cx="994411" cy="99441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6B01E54-1E45-422B-B2D2-FEE309AFFD4B}"/>
              </a:ext>
            </a:extLst>
          </p:cNvPr>
          <p:cNvCxnSpPr/>
          <p:nvPr/>
        </p:nvCxnSpPr>
        <p:spPr>
          <a:xfrm>
            <a:off x="7690565" y="2854517"/>
            <a:ext cx="1439187"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1266B0D-D036-42EB-BC42-1E4BDB2F446C}"/>
              </a:ext>
            </a:extLst>
          </p:cNvPr>
          <p:cNvCxnSpPr/>
          <p:nvPr/>
        </p:nvCxnSpPr>
        <p:spPr>
          <a:xfrm>
            <a:off x="7690565" y="2854517"/>
            <a:ext cx="0" cy="140738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7E0CAE1-C3C2-46F4-9755-FEDC40131484}"/>
              </a:ext>
            </a:extLst>
          </p:cNvPr>
          <p:cNvCxnSpPr>
            <a:cxnSpLocks/>
          </p:cNvCxnSpPr>
          <p:nvPr/>
        </p:nvCxnSpPr>
        <p:spPr>
          <a:xfrm>
            <a:off x="9121302" y="2831161"/>
            <a:ext cx="0" cy="1430737"/>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7D9168F-9C1F-481F-821C-14A6BBC3B6C2}"/>
              </a:ext>
            </a:extLst>
          </p:cNvPr>
          <p:cNvCxnSpPr>
            <a:cxnSpLocks/>
          </p:cNvCxnSpPr>
          <p:nvPr/>
        </p:nvCxnSpPr>
        <p:spPr>
          <a:xfrm>
            <a:off x="7690565" y="4261898"/>
            <a:ext cx="1430737"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1F7FA20-180D-4B04-9AF3-2B3E4E3AFBF7}"/>
              </a:ext>
            </a:extLst>
          </p:cNvPr>
          <p:cNvCxnSpPr>
            <a:cxnSpLocks/>
          </p:cNvCxnSpPr>
          <p:nvPr/>
        </p:nvCxnSpPr>
        <p:spPr>
          <a:xfrm>
            <a:off x="10115713" y="1836750"/>
            <a:ext cx="0" cy="14125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B6FC76F1-E597-41C0-BE63-2955C8F2205C}"/>
              </a:ext>
            </a:extLst>
          </p:cNvPr>
          <p:cNvCxnSpPr>
            <a:cxnSpLocks/>
          </p:cNvCxnSpPr>
          <p:nvPr/>
        </p:nvCxnSpPr>
        <p:spPr>
          <a:xfrm flipH="1">
            <a:off x="9129752" y="3249349"/>
            <a:ext cx="994906" cy="994906"/>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DCF91C02-76E8-4CC6-9D8E-798AC8864B9A}"/>
              </a:ext>
            </a:extLst>
          </p:cNvPr>
          <p:cNvCxnSpPr>
            <a:cxnSpLocks/>
          </p:cNvCxnSpPr>
          <p:nvPr/>
        </p:nvCxnSpPr>
        <p:spPr>
          <a:xfrm>
            <a:off x="8708332" y="1836750"/>
            <a:ext cx="0" cy="141259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EAC07FF-B8DC-475B-AAC3-31A98783CF0E}"/>
              </a:ext>
            </a:extLst>
          </p:cNvPr>
          <p:cNvCxnSpPr>
            <a:cxnSpLocks/>
          </p:cNvCxnSpPr>
          <p:nvPr/>
        </p:nvCxnSpPr>
        <p:spPr>
          <a:xfrm>
            <a:off x="8708332" y="3249349"/>
            <a:ext cx="1416326"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2DDF30A2-FEF8-4918-8FB0-2544BC2326E0}"/>
              </a:ext>
            </a:extLst>
          </p:cNvPr>
          <p:cNvCxnSpPr/>
          <p:nvPr/>
        </p:nvCxnSpPr>
        <p:spPr>
          <a:xfrm flipH="1">
            <a:off x="7695783" y="3249349"/>
            <a:ext cx="1012549" cy="101254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F9A66AC7-E5E7-45F9-A1FC-0BCE1620DC56}"/>
              </a:ext>
            </a:extLst>
          </p:cNvPr>
          <p:cNvSpPr txBox="1"/>
          <p:nvPr/>
        </p:nvSpPr>
        <p:spPr>
          <a:xfrm>
            <a:off x="5906324" y="4031065"/>
            <a:ext cx="1734954"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V0</a:t>
            </a:r>
          </a:p>
          <a:p>
            <a:r>
              <a:rPr lang="en-US" altLang="zh-CN" dirty="0"/>
              <a:t>(-1.0f, -1.0f, -1.0f) </a:t>
            </a:r>
            <a:endParaRPr lang="zh-CN" altLang="en-US" dirty="0"/>
          </a:p>
        </p:txBody>
      </p:sp>
      <p:sp>
        <p:nvSpPr>
          <p:cNvPr id="58" name="文本框 57">
            <a:extLst>
              <a:ext uri="{FF2B5EF4-FFF2-40B4-BE49-F238E27FC236}">
                <a16:creationId xmlns:a16="http://schemas.microsoft.com/office/drawing/2014/main" id="{0C41E5E2-26D6-4C8A-AD39-ABA7465D7BC0}"/>
              </a:ext>
            </a:extLst>
          </p:cNvPr>
          <p:cNvSpPr txBox="1"/>
          <p:nvPr/>
        </p:nvSpPr>
        <p:spPr>
          <a:xfrm>
            <a:off x="10216778" y="2997323"/>
            <a:ext cx="1726424"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V7</a:t>
            </a:r>
          </a:p>
          <a:p>
            <a:r>
              <a:rPr lang="en-US" altLang="zh-CN" dirty="0"/>
              <a:t>(+1.0f, -1.0f, +1.0f)</a:t>
            </a:r>
          </a:p>
        </p:txBody>
      </p:sp>
      <p:sp>
        <p:nvSpPr>
          <p:cNvPr id="60" name="文本框 59">
            <a:extLst>
              <a:ext uri="{FF2B5EF4-FFF2-40B4-BE49-F238E27FC236}">
                <a16:creationId xmlns:a16="http://schemas.microsoft.com/office/drawing/2014/main" id="{DBE77D2D-4578-4DBA-8797-7BE3309BAE26}"/>
              </a:ext>
            </a:extLst>
          </p:cNvPr>
          <p:cNvSpPr txBox="1"/>
          <p:nvPr/>
        </p:nvSpPr>
        <p:spPr>
          <a:xfrm>
            <a:off x="5911344" y="2254131"/>
            <a:ext cx="1944922"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a:solidFill>
                  <a:srgbClr val="000000"/>
                </a:solidFill>
                <a:latin typeface="新宋体" panose="02010609030101010101" pitchFamily="49" charset="-122"/>
                <a:ea typeface="新宋体" panose="02010609030101010101" pitchFamily="49" charset="-122"/>
              </a:defRPr>
            </a:lvl1pPr>
          </a:lstStyle>
          <a:p>
            <a:r>
              <a:rPr lang="en-US" altLang="zh-CN" sz="1200" dirty="0"/>
              <a:t> V1</a:t>
            </a:r>
          </a:p>
          <a:p>
            <a:r>
              <a:rPr lang="en-US" altLang="zh-CN" sz="1200" dirty="0"/>
              <a:t>(-1.0f, +1.0f, -1.0f)</a:t>
            </a:r>
            <a:endParaRPr lang="zh-CN" altLang="en-US" sz="1200" dirty="0"/>
          </a:p>
        </p:txBody>
      </p:sp>
      <p:sp>
        <p:nvSpPr>
          <p:cNvPr id="62" name="文本框 61">
            <a:extLst>
              <a:ext uri="{FF2B5EF4-FFF2-40B4-BE49-F238E27FC236}">
                <a16:creationId xmlns:a16="http://schemas.microsoft.com/office/drawing/2014/main" id="{6B641715-3247-4FDD-8A1F-0E36E19D21BB}"/>
              </a:ext>
            </a:extLst>
          </p:cNvPr>
          <p:cNvSpPr txBox="1"/>
          <p:nvPr/>
        </p:nvSpPr>
        <p:spPr>
          <a:xfrm>
            <a:off x="9075963" y="2369495"/>
            <a:ext cx="1654432"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V2</a:t>
            </a:r>
          </a:p>
          <a:p>
            <a:r>
              <a:rPr lang="en-US" altLang="zh-CN" dirty="0"/>
              <a:t>1.0f, +1.0f, -1.0f)</a:t>
            </a:r>
            <a:endParaRPr lang="zh-CN" altLang="en-US" dirty="0"/>
          </a:p>
        </p:txBody>
      </p:sp>
      <p:sp>
        <p:nvSpPr>
          <p:cNvPr id="64" name="文本框 63">
            <a:extLst>
              <a:ext uri="{FF2B5EF4-FFF2-40B4-BE49-F238E27FC236}">
                <a16:creationId xmlns:a16="http://schemas.microsoft.com/office/drawing/2014/main" id="{CA7388D0-C06F-46D9-AEFB-C29BF0C63A13}"/>
              </a:ext>
            </a:extLst>
          </p:cNvPr>
          <p:cNvSpPr txBox="1"/>
          <p:nvPr/>
        </p:nvSpPr>
        <p:spPr>
          <a:xfrm>
            <a:off x="9305643" y="4123429"/>
            <a:ext cx="1730151"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V3</a:t>
            </a:r>
          </a:p>
          <a:p>
            <a:r>
              <a:rPr lang="en-US" altLang="zh-CN" dirty="0"/>
              <a:t>(+1.0f, -1.0f, -1.0f)</a:t>
            </a:r>
            <a:endParaRPr lang="zh-CN" altLang="en-US" dirty="0"/>
          </a:p>
        </p:txBody>
      </p:sp>
      <p:sp>
        <p:nvSpPr>
          <p:cNvPr id="68" name="文本框 67">
            <a:extLst>
              <a:ext uri="{FF2B5EF4-FFF2-40B4-BE49-F238E27FC236}">
                <a16:creationId xmlns:a16="http://schemas.microsoft.com/office/drawing/2014/main" id="{4478606B-0239-41CC-A6F0-9B3E9BE35384}"/>
              </a:ext>
            </a:extLst>
          </p:cNvPr>
          <p:cNvSpPr txBox="1"/>
          <p:nvPr/>
        </p:nvSpPr>
        <p:spPr>
          <a:xfrm>
            <a:off x="7806481" y="1325129"/>
            <a:ext cx="1834805"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V5</a:t>
            </a:r>
          </a:p>
          <a:p>
            <a:r>
              <a:rPr lang="en-US" altLang="zh-CN" dirty="0"/>
              <a:t>(-1.0f, +1.0f, +1.0f)</a:t>
            </a:r>
            <a:endParaRPr lang="zh-CN" altLang="en-US" dirty="0"/>
          </a:p>
        </p:txBody>
      </p:sp>
      <p:sp>
        <p:nvSpPr>
          <p:cNvPr id="70" name="文本框 69">
            <a:extLst>
              <a:ext uri="{FF2B5EF4-FFF2-40B4-BE49-F238E27FC236}">
                <a16:creationId xmlns:a16="http://schemas.microsoft.com/office/drawing/2014/main" id="{DC82725F-BCED-4454-80FC-D3A75AF3BE89}"/>
              </a:ext>
            </a:extLst>
          </p:cNvPr>
          <p:cNvSpPr txBox="1"/>
          <p:nvPr/>
        </p:nvSpPr>
        <p:spPr>
          <a:xfrm>
            <a:off x="10028448" y="1373218"/>
            <a:ext cx="1834805" cy="4616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p:spPr>
        <p:txBody>
          <a:bodyPr wrap="square">
            <a:spAutoFit/>
          </a:bodyPr>
          <a:lstStyle>
            <a:defPPr>
              <a:defRPr lang="zh-CN"/>
            </a:defPPr>
            <a:lvl1pPr algn="ctr">
              <a:defRPr sz="1200">
                <a:solidFill>
                  <a:srgbClr val="000000"/>
                </a:solidFill>
                <a:latin typeface="新宋体" panose="02010609030101010101" pitchFamily="49" charset="-122"/>
                <a:ea typeface="新宋体" panose="02010609030101010101" pitchFamily="49" charset="-122"/>
              </a:defRPr>
            </a:lvl1pPr>
          </a:lstStyle>
          <a:p>
            <a:r>
              <a:rPr lang="en-US" altLang="zh-CN" dirty="0"/>
              <a:t>V6</a:t>
            </a:r>
          </a:p>
          <a:p>
            <a:r>
              <a:rPr lang="en-US" altLang="zh-CN" dirty="0"/>
              <a:t>(+1.0f, +1.0f, +1.0f)</a:t>
            </a:r>
            <a:endParaRPr lang="zh-CN" altLang="en-US" dirty="0"/>
          </a:p>
        </p:txBody>
      </p:sp>
      <p:cxnSp>
        <p:nvCxnSpPr>
          <p:cNvPr id="79" name="直接连接符 78">
            <a:extLst>
              <a:ext uri="{FF2B5EF4-FFF2-40B4-BE49-F238E27FC236}">
                <a16:creationId xmlns:a16="http://schemas.microsoft.com/office/drawing/2014/main" id="{F03B83C2-1EEA-4562-80BE-8C57648A5C7D}"/>
              </a:ext>
            </a:extLst>
          </p:cNvPr>
          <p:cNvCxnSpPr/>
          <p:nvPr/>
        </p:nvCxnSpPr>
        <p:spPr>
          <a:xfrm flipH="1" flipV="1">
            <a:off x="8704076" y="3249349"/>
            <a:ext cx="425676" cy="99490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BB1A910-FA12-45CC-97CF-DCBB79FB00A2}"/>
              </a:ext>
            </a:extLst>
          </p:cNvPr>
          <p:cNvCxnSpPr/>
          <p:nvPr/>
        </p:nvCxnSpPr>
        <p:spPr>
          <a:xfrm>
            <a:off x="7690565" y="2854517"/>
            <a:ext cx="1033318" cy="39483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A83081BE-0B2B-4D8B-8938-4F53023425AD}"/>
              </a:ext>
            </a:extLst>
          </p:cNvPr>
          <p:cNvCxnSpPr/>
          <p:nvPr/>
        </p:nvCxnSpPr>
        <p:spPr>
          <a:xfrm flipV="1">
            <a:off x="7728543" y="1834883"/>
            <a:ext cx="2387170" cy="99627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962A73C0-3D2D-4A55-B21B-9B07D26ECD44}"/>
              </a:ext>
            </a:extLst>
          </p:cNvPr>
          <p:cNvSpPr txBox="1"/>
          <p:nvPr/>
        </p:nvSpPr>
        <p:spPr>
          <a:xfrm>
            <a:off x="975030" y="4845626"/>
            <a:ext cx="10697484" cy="1698029"/>
          </a:xfrm>
          <a:prstGeom prst="rect">
            <a:avLst/>
          </a:prstGeom>
          <a:noFill/>
        </p:spPr>
        <p:txBody>
          <a:bodyPr wrap="square" rtlCol="0">
            <a:spAutoFit/>
          </a:bodyPr>
          <a:lstStyle/>
          <a:p>
            <a:pPr>
              <a:lnSpc>
                <a:spcPct val="150000"/>
              </a:lnSpc>
            </a:pPr>
            <a:r>
              <a:rPr lang="zh-CN" altLang="en-US" sz="2400" dirty="0"/>
              <a:t>       通过上面的三个顶点的索引可以得到一个三角形，通过</a:t>
            </a:r>
            <a:r>
              <a:rPr lang="en-US" altLang="zh-CN" sz="2400" dirty="0"/>
              <a:t>12</a:t>
            </a:r>
            <a:r>
              <a:rPr lang="zh-CN" altLang="en-US" sz="2400" dirty="0"/>
              <a:t>个三角形可以绘制出一个立方体。当然如何通过三个顶点得到一个三角面，如何绘制出三角面中所有的像素，如何判断哪些顶点应该显示（被遮挡）等均在</a:t>
            </a:r>
            <a:r>
              <a:rPr lang="en-US" altLang="zh-CN" sz="2400" dirty="0"/>
              <a:t>GPU</a:t>
            </a:r>
            <a:r>
              <a:rPr lang="zh-CN" altLang="en-US" sz="2400" dirty="0"/>
              <a:t>中完成。</a:t>
            </a:r>
          </a:p>
        </p:txBody>
      </p:sp>
    </p:spTree>
    <p:extLst>
      <p:ext uri="{BB962C8B-B14F-4D97-AF65-F5344CB8AC3E}">
        <p14:creationId xmlns:p14="http://schemas.microsoft.com/office/powerpoint/2010/main" val="214886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6229577"/>
          </a:xfrm>
        </p:spPr>
        <p:txBody>
          <a:bodyPr>
            <a:normAutofit/>
          </a:bodyPr>
          <a:lstStyle/>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根据上面的信息只能绘制出没有颜色的</a:t>
            </a:r>
            <a:r>
              <a:rPr lang="en-US" altLang="zh-CN" dirty="0">
                <a:solidFill>
                  <a:srgbClr val="000000"/>
                </a:solidFill>
                <a:latin typeface="新宋体" panose="02010609030101010101" pitchFamily="49" charset="-122"/>
                <a:ea typeface="新宋体" panose="02010609030101010101" pitchFamily="49" charset="-122"/>
              </a:rPr>
              <a:t>3D</a:t>
            </a:r>
            <a:r>
              <a:rPr lang="zh-CN" altLang="en-US" dirty="0">
                <a:solidFill>
                  <a:srgbClr val="000000"/>
                </a:solidFill>
                <a:latin typeface="新宋体" panose="02010609030101010101" pitchFamily="49" charset="-122"/>
                <a:ea typeface="新宋体" panose="02010609030101010101" pitchFamily="49" charset="-122"/>
              </a:rPr>
              <a:t>图形，如果需要绘制出物体的颜色，还必须给物体的每个顶点具体的颜色或者物体表面材质（纹理）等信息。</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物体的位置和方向则由该物体所在的局部坐标系在世界坐标系中的位置和方向来确定。</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在真实世界中，物体的颜色是由物体的</a:t>
            </a:r>
            <a:r>
              <a:rPr lang="zh-CN" altLang="en-US" dirty="0">
                <a:solidFill>
                  <a:srgbClr val="000000"/>
                </a:solidFill>
                <a:latin typeface="华光准圆_CNKI" panose="02000500000000000000" pitchFamily="2" charset="-122"/>
                <a:ea typeface="华光准圆_CNKI" panose="02000500000000000000" pitchFamily="2" charset="-122"/>
              </a:rPr>
              <a:t>材质</a:t>
            </a:r>
            <a:r>
              <a:rPr lang="zh-CN" altLang="en-US" dirty="0">
                <a:solidFill>
                  <a:srgbClr val="000000"/>
                </a:solidFill>
                <a:latin typeface="新宋体" panose="02010609030101010101" pitchFamily="49" charset="-122"/>
                <a:ea typeface="新宋体" panose="02010609030101010101" pitchFamily="49" charset="-122"/>
              </a:rPr>
              <a:t>和</a:t>
            </a:r>
            <a:r>
              <a:rPr lang="zh-CN" altLang="en-US" dirty="0">
                <a:solidFill>
                  <a:srgbClr val="000000"/>
                </a:solidFill>
                <a:latin typeface="华光准圆_CNKI" panose="02000500000000000000" pitchFamily="2" charset="-122"/>
                <a:ea typeface="华光准圆_CNKI" panose="02000500000000000000" pitchFamily="2" charset="-122"/>
              </a:rPr>
              <a:t>光照</a:t>
            </a:r>
            <a:r>
              <a:rPr lang="zh-CN" altLang="en-US" dirty="0">
                <a:solidFill>
                  <a:srgbClr val="000000"/>
                </a:solidFill>
                <a:latin typeface="新宋体" panose="02010609030101010101" pitchFamily="49" charset="-122"/>
                <a:ea typeface="新宋体" panose="02010609030101010101" pitchFamily="49" charset="-122"/>
              </a:rPr>
              <a:t>来决定的。在计算机中，有时候为了简化，可以将物体的某个顶点的颜色设置为固定值，也就是直接给予该顶点某种颜色，然后根据该顶点的颜色来绘制出对应的三角面上每个像素的颜色。这种情况下可以直接</a:t>
            </a:r>
            <a:endParaRPr lang="en-US" altLang="zh-CN" dirty="0">
              <a:solidFill>
                <a:srgbClr val="000000"/>
              </a:solidFill>
              <a:latin typeface="新宋体" panose="02010609030101010101" pitchFamily="49" charset="-122"/>
              <a:ea typeface="新宋体" panose="02010609030101010101" pitchFamily="49" charset="-122"/>
            </a:endParaRPr>
          </a:p>
        </p:txBody>
      </p:sp>
    </p:spTree>
    <p:extLst>
      <p:ext uri="{BB962C8B-B14F-4D97-AF65-F5344CB8AC3E}">
        <p14:creationId xmlns:p14="http://schemas.microsoft.com/office/powerpoint/2010/main" val="202828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6229577"/>
          </a:xfrm>
        </p:spPr>
        <p:txBody>
          <a:bodyPr>
            <a:normAutofit/>
          </a:bodyPr>
          <a:lstStyle/>
          <a:p>
            <a:pPr marL="0" indent="0">
              <a:lnSpc>
                <a:spcPct val="150000"/>
              </a:lnSpc>
              <a:buNone/>
            </a:pPr>
            <a:r>
              <a:rPr lang="zh-CN" altLang="en-US" dirty="0">
                <a:solidFill>
                  <a:srgbClr val="000000"/>
                </a:solidFill>
                <a:latin typeface="新宋体" panose="02010609030101010101" pitchFamily="49" charset="-122"/>
                <a:ea typeface="新宋体" panose="02010609030101010101" pitchFamily="49" charset="-122"/>
              </a:rPr>
              <a:t>在定义顶点的位置坐标时也定义</a:t>
            </a:r>
            <a:r>
              <a:rPr lang="zh-CN" altLang="en-US" dirty="0">
                <a:solidFill>
                  <a:srgbClr val="000000"/>
                </a:solidFill>
                <a:latin typeface="华光准圆_CNKI" panose="02000500000000000000" pitchFamily="2" charset="-122"/>
                <a:ea typeface="华光准圆_CNKI" panose="02000500000000000000" pitchFamily="2" charset="-122"/>
              </a:rPr>
              <a:t>顶点的颜色，</a:t>
            </a:r>
            <a:r>
              <a:rPr lang="zh-CN" altLang="en-US" dirty="0">
                <a:solidFill>
                  <a:srgbClr val="000000"/>
                </a:solidFill>
                <a:latin typeface="新宋体" panose="02010609030101010101" pitchFamily="49" charset="-122"/>
                <a:ea typeface="新宋体" panose="02010609030101010101" pitchFamily="49" charset="-122"/>
              </a:rPr>
              <a:t>并将他们一起传递给</a:t>
            </a:r>
            <a:r>
              <a:rPr lang="en-US" altLang="zh-CN" dirty="0">
                <a:solidFill>
                  <a:srgbClr val="000000"/>
                </a:solidFill>
                <a:latin typeface="新宋体" panose="02010609030101010101" pitchFamily="49" charset="-122"/>
                <a:ea typeface="新宋体" panose="02010609030101010101" pitchFamily="49" charset="-122"/>
              </a:rPr>
              <a:t>GPU</a:t>
            </a:r>
            <a:r>
              <a:rPr lang="zh-CN" altLang="en-US" dirty="0">
                <a:solidFill>
                  <a:srgbClr val="000000"/>
                </a:solidFill>
                <a:latin typeface="新宋体" panose="02010609030101010101" pitchFamily="49" charset="-122"/>
                <a:ea typeface="新宋体" panose="02010609030101010101" pitchFamily="49" charset="-122"/>
              </a:rPr>
              <a:t>，</a:t>
            </a:r>
            <a:r>
              <a:rPr lang="en-US" altLang="zh-CN" dirty="0">
                <a:solidFill>
                  <a:srgbClr val="000000"/>
                </a:solidFill>
                <a:latin typeface="新宋体" panose="02010609030101010101" pitchFamily="49" charset="-122"/>
                <a:ea typeface="新宋体" panose="02010609030101010101" pitchFamily="49" charset="-122"/>
              </a:rPr>
              <a:t>GPU</a:t>
            </a:r>
            <a:r>
              <a:rPr lang="zh-CN" altLang="en-US" dirty="0">
                <a:solidFill>
                  <a:srgbClr val="000000"/>
                </a:solidFill>
                <a:latin typeface="新宋体" panose="02010609030101010101" pitchFamily="49" charset="-122"/>
                <a:ea typeface="新宋体" panose="02010609030101010101" pitchFamily="49" charset="-122"/>
              </a:rPr>
              <a:t>将根据这些信息来绘制对应的某个三角面的颜色。</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如果希望物体的颜色由物体的材质和光照来决定，也需要对材质和光照进行定义，同时为了展现比较真实的物体表面，还需要设置物体的表面纹理。这些内容将在以后再介绍</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需要说明的是，虽然一个物体可以由多种不同的材质构成，但在</a:t>
            </a:r>
            <a:r>
              <a:rPr lang="en-US" altLang="zh-CN" dirty="0">
                <a:solidFill>
                  <a:srgbClr val="000000"/>
                </a:solidFill>
                <a:latin typeface="新宋体" panose="02010609030101010101" pitchFamily="49" charset="-122"/>
                <a:ea typeface="新宋体" panose="02010609030101010101" pitchFamily="49" charset="-122"/>
              </a:rPr>
              <a:t>DirectX</a:t>
            </a:r>
            <a:r>
              <a:rPr lang="zh-CN" altLang="en-US" dirty="0">
                <a:solidFill>
                  <a:srgbClr val="000000"/>
                </a:solidFill>
                <a:latin typeface="新宋体" panose="02010609030101010101" pitchFamily="49" charset="-122"/>
                <a:ea typeface="新宋体" panose="02010609030101010101" pitchFamily="49" charset="-122"/>
              </a:rPr>
              <a:t>中，每次绘制物体时只能绘制相同材质的实体，不同材质的实体不能同时绘制，需要分多次分别绘制。</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新宋体" panose="02010609030101010101" pitchFamily="49" charset="-122"/>
                <a:ea typeface="新宋体" panose="02010609030101010101" pitchFamily="49" charset="-122"/>
              </a:rPr>
              <a:t>   </a:t>
            </a:r>
            <a:r>
              <a:rPr lang="zh-CN" altLang="en-US" dirty="0">
                <a:solidFill>
                  <a:srgbClr val="000000"/>
                </a:solidFill>
                <a:latin typeface="新宋体" panose="02010609030101010101" pitchFamily="49" charset="-122"/>
                <a:ea typeface="新宋体" panose="02010609030101010101" pitchFamily="49" charset="-122"/>
              </a:rPr>
              <a:t>除了上述信息之外，摄像机所在的位置，显示屏幕的大小等等</a:t>
            </a:r>
            <a:endParaRPr lang="en-US" altLang="zh-CN" dirty="0">
              <a:solidFill>
                <a:srgbClr val="000000"/>
              </a:solidFill>
              <a:latin typeface="新宋体" panose="02010609030101010101" pitchFamily="49" charset="-122"/>
              <a:ea typeface="新宋体" panose="02010609030101010101" pitchFamily="49" charset="-122"/>
            </a:endParaRPr>
          </a:p>
        </p:txBody>
      </p:sp>
    </p:spTree>
    <p:extLst>
      <p:ext uri="{BB962C8B-B14F-4D97-AF65-F5344CB8AC3E}">
        <p14:creationId xmlns:p14="http://schemas.microsoft.com/office/powerpoint/2010/main" val="4292425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D011142-31E6-4D55-BFCB-00FD0D1F5FE0}"/>
              </a:ext>
            </a:extLst>
          </p:cNvPr>
          <p:cNvSpPr>
            <a:spLocks noGrp="1"/>
          </p:cNvSpPr>
          <p:nvPr>
            <p:ph idx="1"/>
          </p:nvPr>
        </p:nvSpPr>
        <p:spPr>
          <a:xfrm>
            <a:off x="752393" y="314345"/>
            <a:ext cx="10515600" cy="6229577"/>
          </a:xfrm>
        </p:spPr>
        <p:txBody>
          <a:bodyPr>
            <a:normAutofit/>
          </a:bodyPr>
          <a:lstStyle/>
          <a:p>
            <a:pPr marL="0" indent="0">
              <a:lnSpc>
                <a:spcPct val="150000"/>
              </a:lnSpc>
              <a:buNone/>
            </a:pPr>
            <a:r>
              <a:rPr lang="zh-CN" altLang="en-US" dirty="0">
                <a:solidFill>
                  <a:srgbClr val="000000"/>
                </a:solidFill>
                <a:latin typeface="新宋体" panose="02010609030101010101" pitchFamily="49" charset="-122"/>
                <a:ea typeface="新宋体" panose="02010609030101010101" pitchFamily="49" charset="-122"/>
              </a:rPr>
              <a:t>都对物体的显示有影响，因此这些信息也必须传递给</a:t>
            </a:r>
            <a:r>
              <a:rPr lang="en-US" altLang="zh-CN" dirty="0">
                <a:solidFill>
                  <a:srgbClr val="000000"/>
                </a:solidFill>
                <a:latin typeface="新宋体" panose="02010609030101010101" pitchFamily="49" charset="-122"/>
                <a:ea typeface="新宋体" panose="02010609030101010101" pitchFamily="49" charset="-122"/>
              </a:rPr>
              <a:t>GPU</a:t>
            </a:r>
            <a:r>
              <a:rPr lang="zh-CN" altLang="en-US" dirty="0">
                <a:solidFill>
                  <a:srgbClr val="000000"/>
                </a:solidFill>
                <a:latin typeface="新宋体" panose="02010609030101010101" pitchFamily="49" charset="-122"/>
                <a:ea typeface="新宋体" panose="02010609030101010101" pitchFamily="49" charset="-122"/>
              </a:rPr>
              <a:t>，以便</a:t>
            </a:r>
            <a:r>
              <a:rPr lang="en-US" altLang="zh-CN" dirty="0">
                <a:solidFill>
                  <a:srgbClr val="000000"/>
                </a:solidFill>
                <a:latin typeface="新宋体" panose="02010609030101010101" pitchFamily="49" charset="-122"/>
                <a:ea typeface="新宋体" panose="02010609030101010101" pitchFamily="49" charset="-122"/>
              </a:rPr>
              <a:t>GPU</a:t>
            </a:r>
            <a:r>
              <a:rPr lang="zh-CN" altLang="en-US" dirty="0">
                <a:solidFill>
                  <a:srgbClr val="000000"/>
                </a:solidFill>
                <a:latin typeface="新宋体" panose="02010609030101010101" pitchFamily="49" charset="-122"/>
                <a:ea typeface="新宋体" panose="02010609030101010101" pitchFamily="49" charset="-122"/>
              </a:rPr>
              <a:t>根据这些信息来确定绘制后的</a:t>
            </a:r>
            <a:r>
              <a:rPr lang="en-US" altLang="zh-CN" dirty="0">
                <a:solidFill>
                  <a:srgbClr val="000000"/>
                </a:solidFill>
                <a:latin typeface="新宋体" panose="02010609030101010101" pitchFamily="49" charset="-122"/>
                <a:ea typeface="新宋体" panose="02010609030101010101" pitchFamily="49" charset="-122"/>
              </a:rPr>
              <a:t>3D</a:t>
            </a:r>
            <a:r>
              <a:rPr lang="zh-CN" altLang="en-US" dirty="0">
                <a:solidFill>
                  <a:srgbClr val="000000"/>
                </a:solidFill>
                <a:latin typeface="新宋体" panose="02010609030101010101" pitchFamily="49" charset="-122"/>
                <a:ea typeface="新宋体" panose="02010609030101010101" pitchFamily="49" charset="-122"/>
              </a:rPr>
              <a:t>实体的位置和形状等。</a:t>
            </a:r>
            <a:endParaRPr lang="en-US" altLang="zh-CN" dirty="0">
              <a:solidFill>
                <a:srgbClr val="000000"/>
              </a:solidFill>
              <a:latin typeface="新宋体" panose="02010609030101010101" pitchFamily="49" charset="-122"/>
              <a:ea typeface="新宋体" panose="02010609030101010101" pitchFamily="49" charset="-122"/>
            </a:endParaRPr>
          </a:p>
          <a:p>
            <a:pPr marL="0" indent="0">
              <a:lnSpc>
                <a:spcPct val="150000"/>
              </a:lnSpc>
              <a:buNone/>
            </a:pPr>
            <a:r>
              <a:rPr lang="en-US" altLang="zh-CN" dirty="0">
                <a:solidFill>
                  <a:srgbClr val="000000"/>
                </a:solidFill>
                <a:latin typeface="华光准圆_CNKI" panose="02000500000000000000" pitchFamily="2" charset="-122"/>
                <a:ea typeface="华光准圆_CNKI" panose="02000500000000000000" pitchFamily="2" charset="-122"/>
              </a:rPr>
              <a:t>    </a:t>
            </a:r>
            <a:r>
              <a:rPr lang="zh-CN" altLang="en-US" dirty="0">
                <a:solidFill>
                  <a:srgbClr val="000000"/>
                </a:solidFill>
                <a:latin typeface="华光准圆_CNKI" panose="02000500000000000000" pitchFamily="2" charset="-122"/>
                <a:ea typeface="华光准圆_CNKI" panose="02000500000000000000" pitchFamily="2" charset="-122"/>
              </a:rPr>
              <a:t>思考：</a:t>
            </a:r>
            <a:r>
              <a:rPr lang="zh-CN" altLang="en-US" dirty="0">
                <a:solidFill>
                  <a:srgbClr val="FF0000"/>
                </a:solidFill>
                <a:latin typeface="华光准圆_CNKI" panose="02000500000000000000" pitchFamily="2" charset="-122"/>
                <a:ea typeface="华光准圆_CNKI" panose="02000500000000000000" pitchFamily="2" charset="-122"/>
              </a:rPr>
              <a:t>如何将这些信息传递给</a:t>
            </a:r>
            <a:r>
              <a:rPr lang="en-US" altLang="zh-CN" dirty="0">
                <a:solidFill>
                  <a:srgbClr val="FF0000"/>
                </a:solidFill>
                <a:latin typeface="华光准圆_CNKI" panose="02000500000000000000" pitchFamily="2" charset="-122"/>
                <a:ea typeface="华光准圆_CNKI" panose="02000500000000000000" pitchFamily="2" charset="-122"/>
              </a:rPr>
              <a:t>GPU</a:t>
            </a:r>
            <a:r>
              <a:rPr lang="zh-CN" altLang="en-US" dirty="0">
                <a:solidFill>
                  <a:srgbClr val="FF0000"/>
                </a:solidFill>
                <a:latin typeface="华光准圆_CNKI" panose="02000500000000000000" pitchFamily="2" charset="-122"/>
                <a:ea typeface="华光准圆_CNKI" panose="02000500000000000000" pitchFamily="2" charset="-122"/>
              </a:rPr>
              <a:t>以及分别传递到</a:t>
            </a:r>
            <a:r>
              <a:rPr lang="en-US" altLang="zh-CN" dirty="0">
                <a:solidFill>
                  <a:srgbClr val="FF0000"/>
                </a:solidFill>
                <a:latin typeface="华光准圆_CNKI" panose="02000500000000000000" pitchFamily="2" charset="-122"/>
                <a:ea typeface="华光准圆_CNKI" panose="02000500000000000000" pitchFamily="2" charset="-122"/>
              </a:rPr>
              <a:t>GPU</a:t>
            </a:r>
            <a:r>
              <a:rPr lang="zh-CN" altLang="en-US">
                <a:solidFill>
                  <a:srgbClr val="FF0000"/>
                </a:solidFill>
                <a:latin typeface="华光准圆_CNKI" panose="02000500000000000000" pitchFamily="2" charset="-122"/>
                <a:ea typeface="华光准圆_CNKI" panose="02000500000000000000" pitchFamily="2" charset="-122"/>
              </a:rPr>
              <a:t>什么地方？</a:t>
            </a:r>
            <a:endParaRPr lang="en-US" altLang="zh-CN" dirty="0">
              <a:solidFill>
                <a:srgbClr val="FF0000"/>
              </a:solidFill>
              <a:latin typeface="华光准圆_CNKI" panose="02000500000000000000" pitchFamily="2" charset="-122"/>
              <a:ea typeface="华光准圆_CNKI" panose="02000500000000000000" pitchFamily="2" charset="-122"/>
            </a:endParaRPr>
          </a:p>
        </p:txBody>
      </p:sp>
    </p:spTree>
    <p:extLst>
      <p:ext uri="{BB962C8B-B14F-4D97-AF65-F5344CB8AC3E}">
        <p14:creationId xmlns:p14="http://schemas.microsoft.com/office/powerpoint/2010/main" val="286378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10. GPU</a:t>
            </a:r>
            <a:r>
              <a:rPr lang="zh-CN" altLang="en-US" sz="4800" dirty="0">
                <a:latin typeface="华光美黑_CNKI" panose="02000500000000000000" pitchFamily="2" charset="-122"/>
                <a:ea typeface="华光美黑_CNKI" panose="02000500000000000000" pitchFamily="2" charset="-122"/>
              </a:rPr>
              <a:t>存储空间</a:t>
            </a:r>
          </a:p>
        </p:txBody>
      </p:sp>
      <p:sp>
        <p:nvSpPr>
          <p:cNvPr id="3" name="内容占位符 2">
            <a:extLst>
              <a:ext uri="{FF2B5EF4-FFF2-40B4-BE49-F238E27FC236}">
                <a16:creationId xmlns:a16="http://schemas.microsoft.com/office/drawing/2014/main" id="{C0CF4B99-6C97-4022-B238-D5EAFE9138FE}"/>
              </a:ext>
            </a:extLst>
          </p:cNvPr>
          <p:cNvSpPr>
            <a:spLocks noGrp="1"/>
          </p:cNvSpPr>
          <p:nvPr>
            <p:ph idx="1"/>
          </p:nvPr>
        </p:nvSpPr>
        <p:spPr>
          <a:xfrm>
            <a:off x="957470" y="1754299"/>
            <a:ext cx="10515600" cy="4125651"/>
          </a:xfrm>
        </p:spPr>
        <p:txBody>
          <a:bodyPr vert="horz" lIns="91440" tIns="45720" rIns="91440" bIns="45720" rtlCol="0">
            <a:normAutofit/>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CPU</a:t>
            </a:r>
            <a:r>
              <a:rPr lang="zh-CN" altLang="en-US" dirty="0">
                <a:latin typeface="华文楷体" panose="02010600040101010101" pitchFamily="2" charset="-122"/>
                <a:ea typeface="华文楷体" panose="02010600040101010101" pitchFamily="2" charset="-122"/>
              </a:rPr>
              <a:t>的数据传递给</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之后，</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将把它保存到到</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的存储空间中。一般而言，不同的图形驱动软件对</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存储空间的管理会有不同。</a:t>
            </a:r>
            <a:r>
              <a:rPr lang="en-US" altLang="zh-CN" dirty="0">
                <a:latin typeface="华文楷体" panose="02010600040101010101" pitchFamily="2" charset="-122"/>
                <a:ea typeface="华文楷体" panose="02010600040101010101" pitchFamily="2" charset="-122"/>
              </a:rPr>
              <a:t>Direct12</a:t>
            </a:r>
            <a:r>
              <a:rPr lang="zh-CN" altLang="en-US" dirty="0">
                <a:latin typeface="华文楷体" panose="02010600040101010101" pitchFamily="2" charset="-122"/>
                <a:ea typeface="华文楷体" panose="02010600040101010101" pitchFamily="2" charset="-122"/>
              </a:rPr>
              <a:t>版本将其分成上传堆、默认堆和回读堆，并用于存储不同类型的图形数据，同时通过不同的</a:t>
            </a:r>
            <a:r>
              <a:rPr lang="en-US" altLang="zh-CN" dirty="0">
                <a:latin typeface="华文楷体" panose="02010600040101010101" pitchFamily="2" charset="-122"/>
                <a:ea typeface="华文楷体" panose="02010600040101010101" pitchFamily="2" charset="-122"/>
              </a:rPr>
              <a:t>API</a:t>
            </a:r>
            <a:r>
              <a:rPr lang="zh-CN" altLang="en-US" dirty="0">
                <a:latin typeface="华文楷体" panose="02010600040101010101" pitchFamily="2" charset="-122"/>
                <a:ea typeface="华文楷体" panose="02010600040101010101" pitchFamily="2" charset="-122"/>
              </a:rPr>
              <a:t>对其进行操作。而</a:t>
            </a:r>
            <a:r>
              <a:rPr lang="en-US" altLang="zh-CN" dirty="0">
                <a:latin typeface="华文楷体" panose="02010600040101010101" pitchFamily="2" charset="-122"/>
                <a:ea typeface="华文楷体" panose="02010600040101010101" pitchFamily="2" charset="-122"/>
              </a:rPr>
              <a:t>OpenGL</a:t>
            </a:r>
            <a:r>
              <a:rPr lang="zh-CN" altLang="en-US" dirty="0">
                <a:latin typeface="华文楷体" panose="02010600040101010101" pitchFamily="2" charset="-122"/>
                <a:ea typeface="华文楷体" panose="02010600040101010101" pitchFamily="2" charset="-122"/>
              </a:rPr>
              <a:t>则屏蔽了对</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堆的访问，直接通过相应的</a:t>
            </a:r>
            <a:r>
              <a:rPr lang="en-US" altLang="zh-CN" dirty="0">
                <a:latin typeface="华文楷体" panose="02010600040101010101" pitchFamily="2" charset="-122"/>
                <a:ea typeface="华文楷体" panose="02010600040101010101" pitchFamily="2" charset="-122"/>
              </a:rPr>
              <a:t>API</a:t>
            </a:r>
            <a:r>
              <a:rPr lang="zh-CN" altLang="en-US" dirty="0">
                <a:latin typeface="华文楷体" panose="02010600040101010101" pitchFamily="2" charset="-122"/>
                <a:ea typeface="华文楷体" panose="02010600040101010101" pitchFamily="2" charset="-122"/>
              </a:rPr>
              <a:t>实现对图形的操作。</a:t>
            </a:r>
          </a:p>
        </p:txBody>
      </p:sp>
    </p:spTree>
    <p:extLst>
      <p:ext uri="{BB962C8B-B14F-4D97-AF65-F5344CB8AC3E}">
        <p14:creationId xmlns:p14="http://schemas.microsoft.com/office/powerpoint/2010/main" val="1259434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E92ED-0F91-4456-B5AF-4F5C0F3328A8}"/>
              </a:ext>
            </a:extLst>
          </p:cNvPr>
          <p:cNvSpPr>
            <a:spLocks noGrp="1"/>
          </p:cNvSpPr>
          <p:nvPr>
            <p:ph type="title"/>
          </p:nvPr>
        </p:nvSpPr>
        <p:spPr>
          <a:xfrm>
            <a:off x="838200" y="428736"/>
            <a:ext cx="10515600" cy="1325563"/>
          </a:xfrm>
        </p:spPr>
        <p:txBody>
          <a:bodyPr>
            <a:normAutofit/>
          </a:bodyPr>
          <a:lstStyle/>
          <a:p>
            <a:r>
              <a:rPr lang="en-US" altLang="zh-CN" sz="4800" dirty="0">
                <a:latin typeface="华光美黑_CNKI" panose="02000500000000000000" pitchFamily="2" charset="-122"/>
                <a:ea typeface="华光美黑_CNKI" panose="02000500000000000000" pitchFamily="2" charset="-122"/>
              </a:rPr>
              <a:t>11. GPU</a:t>
            </a:r>
            <a:r>
              <a:rPr lang="zh-CN" altLang="en-US" sz="4800" dirty="0">
                <a:latin typeface="华光美黑_CNKI" panose="02000500000000000000" pitchFamily="2" charset="-122"/>
                <a:ea typeface="华光美黑_CNKI" panose="02000500000000000000" pitchFamily="2" charset="-122"/>
              </a:rPr>
              <a:t>如何处理输入的图形数据</a:t>
            </a:r>
          </a:p>
        </p:txBody>
      </p:sp>
      <p:sp>
        <p:nvSpPr>
          <p:cNvPr id="6" name="内容占位符 4">
            <a:extLst>
              <a:ext uri="{FF2B5EF4-FFF2-40B4-BE49-F238E27FC236}">
                <a16:creationId xmlns:a16="http://schemas.microsoft.com/office/drawing/2014/main" id="{334D6D62-F024-C778-B123-464DCF352C0E}"/>
              </a:ext>
            </a:extLst>
          </p:cNvPr>
          <p:cNvSpPr>
            <a:spLocks noGrp="1"/>
          </p:cNvSpPr>
          <p:nvPr>
            <p:ph idx="1"/>
          </p:nvPr>
        </p:nvSpPr>
        <p:spPr>
          <a:xfrm>
            <a:off x="1003521" y="1687347"/>
            <a:ext cx="3824578" cy="4741917"/>
          </a:xfrm>
        </p:spPr>
        <p:txBody>
          <a:bodyPr>
            <a:normAutofit fontScale="62500" lnSpcReduction="20000"/>
          </a:bodyPr>
          <a:lstStyle/>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渲染流水线的结构如右图所示。主要包括以下几个部分：</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a:t>
            </a:r>
            <a:r>
              <a:rPr lang="en-US" altLang="zh-CN" dirty="0">
                <a:latin typeface="华光大标宋_CNKI" panose="02000500000000000000" pitchFamily="2" charset="-122"/>
                <a:ea typeface="华光大标宋_CNKI" panose="02000500000000000000" pitchFamily="2" charset="-122"/>
              </a:rPr>
              <a:t>1</a:t>
            </a:r>
            <a:r>
              <a:rPr lang="zh-CN" altLang="en-US" dirty="0">
                <a:latin typeface="华光大标宋_CNKI" panose="02000500000000000000" pitchFamily="2" charset="-122"/>
                <a:ea typeface="华光大标宋_CNKI" panose="02000500000000000000" pitchFamily="2" charset="-122"/>
              </a:rPr>
              <a:t>）输入装配阶段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zh-CN" altLang="en-US" dirty="0">
                <a:latin typeface="华光大标宋_CNKI" panose="02000500000000000000" pitchFamily="2" charset="-122"/>
                <a:ea typeface="华光大标宋_CNKI" panose="02000500000000000000" pitchFamily="2" charset="-122"/>
              </a:rPr>
              <a:t>    （</a:t>
            </a:r>
            <a:r>
              <a:rPr lang="en-US" altLang="zh-CN" dirty="0">
                <a:latin typeface="华光大标宋_CNKI" panose="02000500000000000000" pitchFamily="2" charset="-122"/>
                <a:ea typeface="华光大标宋_CNKI" panose="02000500000000000000" pitchFamily="2" charset="-122"/>
              </a:rPr>
              <a:t>2</a:t>
            </a:r>
            <a:r>
              <a:rPr lang="zh-CN" altLang="en-US" dirty="0">
                <a:latin typeface="华光大标宋_CNKI" panose="02000500000000000000" pitchFamily="2" charset="-122"/>
                <a:ea typeface="华光大标宋_CNKI" panose="02000500000000000000" pitchFamily="2" charset="-122"/>
              </a:rPr>
              <a:t>）顶点着色阶段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a:t>
            </a:r>
            <a:r>
              <a:rPr lang="en-US" altLang="zh-CN" dirty="0">
                <a:latin typeface="华光大标宋_CNKI" panose="02000500000000000000" pitchFamily="2" charset="-122"/>
                <a:ea typeface="华光大标宋_CNKI" panose="02000500000000000000" pitchFamily="2" charset="-122"/>
              </a:rPr>
              <a:t>3</a:t>
            </a:r>
            <a:r>
              <a:rPr lang="zh-CN" altLang="en-US" dirty="0">
                <a:latin typeface="华光大标宋_CNKI" panose="02000500000000000000" pitchFamily="2" charset="-122"/>
                <a:ea typeface="华光大标宋_CNKI" panose="02000500000000000000" pitchFamily="2" charset="-122"/>
              </a:rPr>
              <a:t>）外壳着色阶段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a:t>
            </a:r>
            <a:r>
              <a:rPr lang="en-US" altLang="zh-CN" dirty="0">
                <a:latin typeface="华光大标宋_CNKI" panose="02000500000000000000" pitchFamily="2" charset="-122"/>
                <a:ea typeface="华光大标宋_CNKI" panose="02000500000000000000" pitchFamily="2" charset="-122"/>
              </a:rPr>
              <a:t>4</a:t>
            </a:r>
            <a:r>
              <a:rPr lang="zh-CN" altLang="en-US" dirty="0">
                <a:latin typeface="华光大标宋_CNKI" panose="02000500000000000000" pitchFamily="2" charset="-122"/>
                <a:ea typeface="华光大标宋_CNKI" panose="02000500000000000000" pitchFamily="2" charset="-122"/>
              </a:rPr>
              <a:t>）曲面细分阶段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zh-CN" altLang="en-US" dirty="0">
                <a:latin typeface="华光大标宋_CNKI" panose="02000500000000000000" pitchFamily="2" charset="-122"/>
                <a:ea typeface="华光大标宋_CNKI" panose="02000500000000000000" pitchFamily="2" charset="-122"/>
              </a:rPr>
              <a:t>    （</a:t>
            </a:r>
            <a:r>
              <a:rPr lang="en-US" altLang="zh-CN" dirty="0">
                <a:latin typeface="华光大标宋_CNKI" panose="02000500000000000000" pitchFamily="2" charset="-122"/>
                <a:ea typeface="华光大标宋_CNKI" panose="02000500000000000000" pitchFamily="2" charset="-122"/>
              </a:rPr>
              <a:t>5</a:t>
            </a:r>
            <a:r>
              <a:rPr lang="zh-CN" altLang="en-US" dirty="0">
                <a:latin typeface="华光大标宋_CNKI" panose="02000500000000000000" pitchFamily="2" charset="-122"/>
                <a:ea typeface="华光大标宋_CNKI" panose="02000500000000000000" pitchFamily="2" charset="-122"/>
              </a:rPr>
              <a:t>）域着色阶段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a:t>
            </a:r>
            <a:r>
              <a:rPr lang="en-US" altLang="zh-CN" dirty="0">
                <a:latin typeface="华光大标宋_CNKI" panose="02000500000000000000" pitchFamily="2" charset="-122"/>
                <a:ea typeface="华光大标宋_CNKI" panose="02000500000000000000" pitchFamily="2" charset="-122"/>
              </a:rPr>
              <a:t>6</a:t>
            </a:r>
            <a:r>
              <a:rPr lang="zh-CN" altLang="en-US" dirty="0">
                <a:latin typeface="华光大标宋_CNKI" panose="02000500000000000000" pitchFamily="2" charset="-122"/>
                <a:ea typeface="华光大标宋_CNKI" panose="02000500000000000000" pitchFamily="2" charset="-122"/>
              </a:rPr>
              <a:t>）几何着色阶段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a:t>
            </a:r>
            <a:r>
              <a:rPr lang="en-US" altLang="zh-CN" dirty="0">
                <a:latin typeface="华光大标宋_CNKI" panose="02000500000000000000" pitchFamily="2" charset="-122"/>
                <a:ea typeface="华光大标宋_CNKI" panose="02000500000000000000" pitchFamily="2" charset="-122"/>
              </a:rPr>
              <a:t>7</a:t>
            </a:r>
            <a:r>
              <a:rPr lang="zh-CN" altLang="en-US" dirty="0">
                <a:latin typeface="华光大标宋_CNKI" panose="02000500000000000000" pitchFamily="2" charset="-122"/>
                <a:ea typeface="华光大标宋_CNKI" panose="02000500000000000000" pitchFamily="2" charset="-122"/>
              </a:rPr>
              <a:t>）光栅化阶段</a:t>
            </a:r>
            <a:endParaRPr lang="en-US" altLang="zh-CN" dirty="0">
              <a:latin typeface="华光大标宋_CNKI" panose="02000500000000000000" pitchFamily="2" charset="-122"/>
              <a:ea typeface="华光大标宋_CNKI" panose="02000500000000000000" pitchFamily="2" charset="-122"/>
            </a:endParaRPr>
          </a:p>
          <a:p>
            <a:pPr marL="0" indent="0">
              <a:lnSpc>
                <a:spcPct val="150000"/>
              </a:lnSpc>
              <a:buNone/>
            </a:pPr>
            <a:r>
              <a:rPr lang="en-US" altLang="zh-CN" dirty="0">
                <a:latin typeface="华光大标宋_CNKI" panose="02000500000000000000" pitchFamily="2" charset="-122"/>
                <a:ea typeface="华光大标宋_CNKI" panose="02000500000000000000" pitchFamily="2" charset="-122"/>
              </a:rPr>
              <a:t>    </a:t>
            </a:r>
            <a:r>
              <a:rPr lang="zh-CN" altLang="en-US" dirty="0">
                <a:latin typeface="华光大标宋_CNKI" panose="02000500000000000000" pitchFamily="2" charset="-122"/>
                <a:ea typeface="华光大标宋_CNKI" panose="02000500000000000000" pitchFamily="2" charset="-122"/>
              </a:rPr>
              <a:t>（</a:t>
            </a:r>
            <a:r>
              <a:rPr lang="en-US" altLang="zh-CN" dirty="0">
                <a:latin typeface="华光大标宋_CNKI" panose="02000500000000000000" pitchFamily="2" charset="-122"/>
                <a:ea typeface="华光大标宋_CNKI" panose="02000500000000000000" pitchFamily="2" charset="-122"/>
              </a:rPr>
              <a:t>8</a:t>
            </a:r>
            <a:r>
              <a:rPr lang="zh-CN" altLang="en-US" dirty="0">
                <a:latin typeface="华光大标宋_CNKI" panose="02000500000000000000" pitchFamily="2" charset="-122"/>
                <a:ea typeface="华光大标宋_CNKI" panose="02000500000000000000" pitchFamily="2" charset="-122"/>
              </a:rPr>
              <a:t>）像素着色阶段</a:t>
            </a:r>
          </a:p>
        </p:txBody>
      </p:sp>
      <p:pic>
        <p:nvPicPr>
          <p:cNvPr id="7" name="图片 6">
            <a:extLst>
              <a:ext uri="{FF2B5EF4-FFF2-40B4-BE49-F238E27FC236}">
                <a16:creationId xmlns:a16="http://schemas.microsoft.com/office/drawing/2014/main" id="{5D65A6DC-E83F-103A-CA43-9B4FCF7FF3CB}"/>
              </a:ext>
            </a:extLst>
          </p:cNvPr>
          <p:cNvPicPr>
            <a:picLocks noChangeAspect="1"/>
          </p:cNvPicPr>
          <p:nvPr/>
        </p:nvPicPr>
        <p:blipFill>
          <a:blip r:embed="rId2"/>
          <a:stretch>
            <a:fillRect/>
          </a:stretch>
        </p:blipFill>
        <p:spPr>
          <a:xfrm>
            <a:off x="5279666" y="1599882"/>
            <a:ext cx="5486400" cy="5055359"/>
          </a:xfrm>
          <a:prstGeom prst="rect">
            <a:avLst/>
          </a:prstGeom>
        </p:spPr>
      </p:pic>
    </p:spTree>
    <p:extLst>
      <p:ext uri="{BB962C8B-B14F-4D97-AF65-F5344CB8AC3E}">
        <p14:creationId xmlns:p14="http://schemas.microsoft.com/office/powerpoint/2010/main" val="217072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0498" y="880400"/>
            <a:ext cx="11122716" cy="5097200"/>
          </a:xfrm>
        </p:spPr>
        <p:txBody>
          <a:bodyPr>
            <a:normAutofit/>
          </a:bodyPr>
          <a:lstStyle/>
          <a:p>
            <a:pPr marL="0" indent="0">
              <a:lnSpc>
                <a:spcPct val="150000"/>
              </a:lnSpc>
              <a:buNone/>
            </a:pPr>
            <a:r>
              <a:rPr lang="en-US" altLang="zh-CN" dirty="0">
                <a:solidFill>
                  <a:srgbClr val="0070C0"/>
                </a:solidFill>
                <a:latin typeface="黑体" panose="02010609060101010101" pitchFamily="49" charset="-122"/>
                <a:ea typeface="黑体" panose="02010609060101010101" pitchFamily="49" charset="-122"/>
              </a:rPr>
              <a:t>11.1 </a:t>
            </a:r>
            <a:r>
              <a:rPr lang="zh-CN" altLang="en-US" dirty="0">
                <a:solidFill>
                  <a:srgbClr val="0070C0"/>
                </a:solidFill>
                <a:latin typeface="黑体" panose="02010609060101010101" pitchFamily="49" charset="-122"/>
                <a:ea typeface="黑体" panose="02010609060101010101" pitchFamily="49" charset="-122"/>
              </a:rPr>
              <a:t>输入装配阶段</a:t>
            </a: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该阶段主要是从内存中读入相关的顶点和索引，从而生成几何图形的基本要素。</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构成几何图形的基本要素可以是点，线以及三角面。输入装配阶段需要确定输入的数据的类型，装配形式，比如输入的是单个的点，还是线段还是三角形，以及如何通过这些点构成对应的线段和三角形等等信息。</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0186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6005223"/>
          </a:xfrm>
        </p:spPr>
        <p:txBody>
          <a:bodyPr>
            <a:normAutofit fontScale="92500" lnSpcReduction="10000"/>
          </a:bodyPr>
          <a:lstStyle/>
          <a:p>
            <a:pPr marL="0" indent="0">
              <a:lnSpc>
                <a:spcPct val="150000"/>
              </a:lnSpc>
              <a:buNone/>
            </a:pPr>
            <a:r>
              <a:rPr lang="en-US" altLang="zh-CN" dirty="0">
                <a:solidFill>
                  <a:srgbClr val="0070C0"/>
                </a:solidFill>
                <a:latin typeface="黑体" panose="02010609060101010101" pitchFamily="49" charset="-122"/>
                <a:ea typeface="黑体" panose="02010609060101010101" pitchFamily="49" charset="-122"/>
              </a:rPr>
              <a:t>11.2 </a:t>
            </a:r>
            <a:r>
              <a:rPr lang="zh-CN" altLang="en-US" dirty="0">
                <a:solidFill>
                  <a:srgbClr val="0070C0"/>
                </a:solidFill>
                <a:latin typeface="黑体" panose="02010609060101010101" pitchFamily="49" charset="-122"/>
                <a:ea typeface="黑体" panose="02010609060101010101" pitchFamily="49" charset="-122"/>
              </a:rPr>
              <a:t>顶点着色阶段</a:t>
            </a:r>
            <a:r>
              <a:rPr lang="en-US" altLang="zh-CN" dirty="0">
                <a:solidFill>
                  <a:srgbClr val="0070C0"/>
                </a:solidFill>
                <a:latin typeface="黑体" panose="02010609060101010101" pitchFamily="49" charset="-122"/>
                <a:ea typeface="黑体" panose="02010609060101010101" pitchFamily="49" charset="-122"/>
              </a:rPr>
              <a:t> (THE VERTEX SHADER STAGE)</a:t>
            </a:r>
            <a:endParaRPr lang="zh-CN"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顶点着色器可以看成是一个顶点输入</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输出的函数。所有需要绘制的顶点都要被输入到顶点着色器中，其功能类似于将输入顶点进行某种处理后再输出新的顶点，这种处理一般在</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的顶点着色器中完成。其主要完成顶点转换，光照等各种形式的运算。</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在图元装配完毕之后，其顶点就会被送入顶点着色器（</a:t>
            </a:r>
            <a:r>
              <a:rPr lang="en-US" altLang="zh-CN" dirty="0" err="1">
                <a:latin typeface="华文楷体" panose="02010600040101010101" pitchFamily="2" charset="-122"/>
                <a:ea typeface="华文楷体" panose="02010600040101010101" pitchFamily="2" charset="-122"/>
              </a:rPr>
              <a:t>Vetex</a:t>
            </a:r>
            <a:r>
              <a:rPr lang="en-US" altLang="zh-CN" dirty="0">
                <a:latin typeface="华文楷体" panose="02010600040101010101" pitchFamily="2" charset="-122"/>
                <a:ea typeface="华文楷体" panose="02010600040101010101" pitchFamily="2" charset="-122"/>
              </a:rPr>
              <a:t> Shader</a:t>
            </a:r>
            <a:r>
              <a:rPr lang="zh-CN" altLang="en-US" dirty="0">
                <a:latin typeface="华文楷体" panose="02010600040101010101" pitchFamily="2" charset="-122"/>
                <a:ea typeface="华文楷体" panose="02010600040101010101" pitchFamily="2" charset="-122"/>
              </a:rPr>
              <a:t>，简称</a:t>
            </a:r>
            <a:r>
              <a:rPr lang="en-US" altLang="zh-CN" dirty="0">
                <a:latin typeface="华文楷体" panose="02010600040101010101" pitchFamily="2" charset="-122"/>
                <a:ea typeface="华文楷体" panose="02010600040101010101" pitchFamily="2" charset="-122"/>
              </a:rPr>
              <a:t>VS</a:t>
            </a:r>
            <a:r>
              <a:rPr lang="zh-CN" altLang="en-US" dirty="0">
                <a:latin typeface="华文楷体" panose="02010600040101010101" pitchFamily="2" charset="-122"/>
                <a:ea typeface="华文楷体" panose="02010600040101010101" pitchFamily="2" charset="-122"/>
              </a:rPr>
              <a:t>）。顶点着色器是通过着色器程序实现顶点的渲染。在顶点着色器中，不但可以访问输入的顶点数据，也可能访问纹理数据和其他存在</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堆中的数据（如变换矩阵与场景中的光照信息）。</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顶点着色器的一个主要任务就是将顶点从局部坐标系转换到齐次裁剪坐</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04448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965466"/>
          </a:xfrm>
        </p:spPr>
        <p:txBody>
          <a:bodyPr>
            <a:normAutofit lnSpcReduction="10000"/>
          </a:bodyPr>
          <a:lstStyle/>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标系中。</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1</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局部坐标系和世界坐标系</a:t>
            </a:r>
            <a:r>
              <a:rPr lang="en-US" altLang="zh-CN" b="1" dirty="0">
                <a:latin typeface="华文楷体" panose="02010600040101010101" pitchFamily="2" charset="-122"/>
                <a:ea typeface="华文楷体" panose="02010600040101010101" pitchFamily="2" charset="-122"/>
              </a:rPr>
              <a:t> </a:t>
            </a: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对于</a:t>
            </a:r>
            <a:r>
              <a:rPr lang="en-US" altLang="zh-CN" dirty="0">
                <a:latin typeface="华文楷体" panose="02010600040101010101" pitchFamily="2" charset="-122"/>
                <a:ea typeface="华文楷体" panose="02010600040101010101" pitchFamily="2" charset="-122"/>
              </a:rPr>
              <a:t>3D</a:t>
            </a:r>
            <a:r>
              <a:rPr lang="zh-CN" altLang="en-US" dirty="0">
                <a:latin typeface="华文楷体" panose="02010600040101010101" pitchFamily="2" charset="-122"/>
                <a:ea typeface="华文楷体" panose="02010600040101010101" pitchFamily="2" charset="-122"/>
              </a:rPr>
              <a:t>物体而言，需要构建多个坐标系。一个是局部坐标系，也就是物体自身的坐标系，一般以物体的中心作为坐标原点，建立相应的三维坐标系。与物体有关的变换比如旋转，平移，放大等均在该坐标系中完成。</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因此一般而言，从第三方软件中导入的模型其初始位置均与世界坐标系重合，需要设置其局部坐标系在世界坐标系中的位置才能区分出不同的实体。</a:t>
            </a:r>
          </a:p>
        </p:txBody>
      </p:sp>
    </p:spTree>
    <p:extLst>
      <p:ext uri="{BB962C8B-B14F-4D97-AF65-F5344CB8AC3E}">
        <p14:creationId xmlns:p14="http://schemas.microsoft.com/office/powerpoint/2010/main" val="1465361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5141016" cy="5616023"/>
          </a:xfrm>
        </p:spPr>
        <p:txBody>
          <a:bodyPr>
            <a:normAutofit lnSpcReduction="10000"/>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因此对于一个游戏场景而言，物体自身的坐标系是不够的，需要建立一个标准的坐标系，将所有的物体放在不同的位置，这个坐标系称为世界坐标系。物体需要从局部坐标系转换到世界坐标系，这种变换称之为</a:t>
            </a:r>
            <a:r>
              <a:rPr lang="zh-CN" altLang="en-US" b="1" dirty="0">
                <a:solidFill>
                  <a:srgbClr val="FF0000"/>
                </a:solidFill>
                <a:latin typeface="华文楷体" panose="02010600040101010101" pitchFamily="2" charset="-122"/>
                <a:ea typeface="华文楷体" panose="02010600040101010101" pitchFamily="2" charset="-122"/>
              </a:rPr>
              <a:t>世界变换</a:t>
            </a:r>
            <a:r>
              <a:rPr lang="zh-CN" altLang="en-US" dirty="0">
                <a:latin typeface="华文楷体" panose="02010600040101010101" pitchFamily="2" charset="-122"/>
                <a:ea typeface="华文楷体" panose="02010600040101010101" pitchFamily="2" charset="-122"/>
              </a:rPr>
              <a:t>。相应的转化矩阵称之为</a:t>
            </a:r>
            <a:r>
              <a:rPr lang="zh-CN" altLang="en-US" b="1" dirty="0">
                <a:solidFill>
                  <a:srgbClr val="FF0000"/>
                </a:solidFill>
                <a:latin typeface="华文楷体" panose="02010600040101010101" pitchFamily="2" charset="-122"/>
                <a:ea typeface="华文楷体" panose="02010600040101010101" pitchFamily="2" charset="-122"/>
              </a:rPr>
              <a:t>世界矩阵</a:t>
            </a:r>
            <a:r>
              <a:rPr lang="zh-CN" altLang="en-US" dirty="0">
                <a:latin typeface="华文楷体" panose="02010600040101010101" pitchFamily="2" charset="-122"/>
                <a:ea typeface="华文楷体" panose="02010600040101010101" pitchFamily="2" charset="-122"/>
              </a:rPr>
              <a:t>。</a:t>
            </a:r>
          </a:p>
        </p:txBody>
      </p:sp>
      <p:pic>
        <p:nvPicPr>
          <p:cNvPr id="4" name="图片 3"/>
          <p:cNvPicPr>
            <a:picLocks noChangeAspect="1"/>
          </p:cNvPicPr>
          <p:nvPr/>
        </p:nvPicPr>
        <p:blipFill>
          <a:blip r:embed="rId2"/>
          <a:stretch>
            <a:fillRect/>
          </a:stretch>
        </p:blipFill>
        <p:spPr>
          <a:xfrm>
            <a:off x="5734050" y="385762"/>
            <a:ext cx="5686425" cy="3476625"/>
          </a:xfrm>
          <a:prstGeom prst="rect">
            <a:avLst/>
          </a:prstGeom>
        </p:spPr>
      </p:pic>
      <p:sp>
        <p:nvSpPr>
          <p:cNvPr id="5" name="矩形 4"/>
          <p:cNvSpPr/>
          <p:nvPr/>
        </p:nvSpPr>
        <p:spPr>
          <a:xfrm>
            <a:off x="6096000" y="4262154"/>
            <a:ext cx="6096000" cy="2031325"/>
          </a:xfrm>
          <a:prstGeom prst="rect">
            <a:avLst/>
          </a:prstGeom>
        </p:spPr>
        <p:txBody>
          <a:bodyPr>
            <a:spAutoFit/>
          </a:bodyPr>
          <a:lstStyle/>
          <a:p>
            <a:pPr>
              <a:lnSpc>
                <a:spcPct val="150000"/>
              </a:lnSpc>
            </a:pPr>
            <a:r>
              <a:rPr lang="zh-CN" altLang="en-US" sz="2800" dirty="0">
                <a:latin typeface="华文楷体" panose="02010600040101010101" pitchFamily="2" charset="-122"/>
                <a:ea typeface="华文楷体" panose="02010600040101010101" pitchFamily="2" charset="-122"/>
              </a:rPr>
              <a:t>      当所有的物体从局部坐标系转换到实际坐标系之后，他们都有相同的坐标原点及</a:t>
            </a:r>
            <a:r>
              <a:rPr lang="en-US" altLang="zh-CN" sz="2800" dirty="0">
                <a:latin typeface="华文楷体" panose="02010600040101010101" pitchFamily="2" charset="-122"/>
                <a:ea typeface="华文楷体" panose="02010600040101010101" pitchFamily="2" charset="-122"/>
              </a:rPr>
              <a:t>X</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Y</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Z</a:t>
            </a:r>
            <a:r>
              <a:rPr lang="zh-CN" altLang="en-US" sz="2800" dirty="0">
                <a:latin typeface="华文楷体" panose="02010600040101010101" pitchFamily="2" charset="-122"/>
                <a:ea typeface="华文楷体" panose="02010600040101010101" pitchFamily="2" charset="-122"/>
              </a:rPr>
              <a:t>轴。</a:t>
            </a:r>
          </a:p>
        </p:txBody>
      </p:sp>
    </p:spTree>
    <p:extLst>
      <p:ext uri="{BB962C8B-B14F-4D97-AF65-F5344CB8AC3E}">
        <p14:creationId xmlns:p14="http://schemas.microsoft.com/office/powerpoint/2010/main" val="2945181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616023"/>
          </a:xfrm>
        </p:spPr>
        <p:txBody>
          <a:bodyPr>
            <a:normAutofit/>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如果希望能够比较方便的获得相应的世界矩阵，就必须在创建模型时将其坐标原点与世界坐标系的坐标原点对齐，其</a:t>
            </a:r>
            <a:r>
              <a:rPr lang="en-US" altLang="zh-CN" dirty="0">
                <a:latin typeface="华文楷体" panose="02010600040101010101" pitchFamily="2" charset="-122"/>
                <a:ea typeface="华文楷体" panose="02010600040101010101" pitchFamily="2" charset="-122"/>
              </a:rPr>
              <a:t>X</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Y</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轴的方向也应该与世界坐标系的</a:t>
            </a:r>
            <a:r>
              <a:rPr lang="en-US" altLang="zh-CN" dirty="0">
                <a:latin typeface="华文楷体" panose="02010600040101010101" pitchFamily="2" charset="-122"/>
                <a:ea typeface="华文楷体" panose="02010600040101010101" pitchFamily="2" charset="-122"/>
              </a:rPr>
              <a:t>X</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Y</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轴方向一致，这样当希望把物体从局部坐标系转换到世界坐标系中相应位置时就比较容易得到相应的转换矩阵。</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2</a:t>
            </a:r>
            <a:r>
              <a:rPr lang="zh-CN" altLang="en-US" b="1" dirty="0">
                <a:latin typeface="华文楷体" panose="02010600040101010101" pitchFamily="2" charset="-122"/>
                <a:ea typeface="华文楷体" panose="02010600040101010101" pitchFamily="2" charset="-122"/>
              </a:rPr>
              <a:t>）视图空间</a:t>
            </a:r>
            <a:endParaRPr lang="en-US" altLang="zh-CN" b="1"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视图空间是指物体在摄像机坐标系下的位置。在游戏中，所有的物体必须以玩家视角来展现。也就需要将所有物体从世界坐标系转换到</a:t>
            </a:r>
          </a:p>
        </p:txBody>
      </p:sp>
    </p:spTree>
    <p:extLst>
      <p:ext uri="{BB962C8B-B14F-4D97-AF65-F5344CB8AC3E}">
        <p14:creationId xmlns:p14="http://schemas.microsoft.com/office/powerpoint/2010/main" val="791955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3"/>
            <a:ext cx="11122716" cy="1682198"/>
          </a:xfrm>
        </p:spPr>
        <p:txBody>
          <a:bodyPr>
            <a:normAutofit/>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摄像机坐标系。</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那么如何来定义摄像机坐标系呢？也就是定义一个视图空间呢？</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2"/>
          <a:stretch>
            <a:fillRect/>
          </a:stretch>
        </p:blipFill>
        <p:spPr>
          <a:xfrm>
            <a:off x="2181225" y="2228851"/>
            <a:ext cx="7448550" cy="4076700"/>
          </a:xfrm>
          <a:prstGeom prst="rect">
            <a:avLst/>
          </a:prstGeom>
        </p:spPr>
      </p:pic>
    </p:spTree>
    <p:extLst>
      <p:ext uri="{BB962C8B-B14F-4D97-AF65-F5344CB8AC3E}">
        <p14:creationId xmlns:p14="http://schemas.microsoft.com/office/powerpoint/2010/main" val="1310074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616023"/>
          </a:xfrm>
        </p:spPr>
        <p:txBody>
          <a:bodyPr>
            <a:normAutofit/>
          </a:bodyPr>
          <a:lstStyle/>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摄像机坐标系是以摄像机所在的位置为坐标原点，也相当于人的眼睛所在的位置，摄像机镜头所指的方向为</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轴正向，也就是人的眼睛所观察的方向为</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轴正向，摄像机的右边方向为</a:t>
            </a:r>
            <a:r>
              <a:rPr lang="en-US" altLang="zh-CN" dirty="0">
                <a:latin typeface="华文楷体" panose="02010600040101010101" pitchFamily="2" charset="-122"/>
                <a:ea typeface="华文楷体" panose="02010600040101010101" pitchFamily="2" charset="-122"/>
              </a:rPr>
              <a:t>X</a:t>
            </a:r>
            <a:r>
              <a:rPr lang="zh-CN" altLang="en-US" dirty="0">
                <a:latin typeface="华文楷体" panose="02010600040101010101" pitchFamily="2" charset="-122"/>
                <a:ea typeface="华文楷体" panose="02010600040101010101" pitchFamily="2" charset="-122"/>
              </a:rPr>
              <a:t>轴正向，向上垂直于摄像机的方向为</a:t>
            </a:r>
            <a:r>
              <a:rPr lang="en-US" altLang="zh-CN" dirty="0">
                <a:latin typeface="华文楷体" panose="02010600040101010101" pitchFamily="2" charset="-122"/>
                <a:ea typeface="华文楷体" panose="02010600040101010101" pitchFamily="2" charset="-122"/>
              </a:rPr>
              <a:t>Y</a:t>
            </a:r>
            <a:r>
              <a:rPr lang="zh-CN" altLang="en-US" dirty="0">
                <a:latin typeface="华文楷体" panose="02010600040101010101" pitchFamily="2" charset="-122"/>
                <a:ea typeface="华文楷体" panose="02010600040101010101" pitchFamily="2" charset="-122"/>
              </a:rPr>
              <a:t>轴方向，也就是与</a:t>
            </a:r>
            <a:r>
              <a:rPr lang="en-US" altLang="zh-CN" dirty="0">
                <a:latin typeface="华文楷体" panose="02010600040101010101" pitchFamily="2" charset="-122"/>
                <a:ea typeface="华文楷体" panose="02010600040101010101" pitchFamily="2" charset="-122"/>
              </a:rPr>
              <a:t>Z-X</a:t>
            </a:r>
            <a:r>
              <a:rPr lang="zh-CN" altLang="en-US" dirty="0">
                <a:latin typeface="华文楷体" panose="02010600040101010101" pitchFamily="2" charset="-122"/>
                <a:ea typeface="华文楷体" panose="02010600040101010101" pitchFamily="2" charset="-122"/>
              </a:rPr>
              <a:t>面垂直的方向为</a:t>
            </a:r>
            <a:r>
              <a:rPr lang="en-US" altLang="zh-CN" dirty="0">
                <a:latin typeface="华文楷体" panose="02010600040101010101" pitchFamily="2" charset="-122"/>
                <a:ea typeface="华文楷体" panose="02010600040101010101" pitchFamily="2" charset="-122"/>
              </a:rPr>
              <a:t>Y</a:t>
            </a:r>
            <a:r>
              <a:rPr lang="zh-CN" altLang="en-US" dirty="0">
                <a:latin typeface="华文楷体" panose="02010600040101010101" pitchFamily="2" charset="-122"/>
                <a:ea typeface="华文楷体" panose="02010600040101010101" pitchFamily="2" charset="-122"/>
              </a:rPr>
              <a:t>轴方向，满足左手定则（伸出左手，四指所指方向为</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方向，然后旋转四指从</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到</a:t>
            </a:r>
            <a:r>
              <a:rPr lang="en-US" altLang="zh-CN" dirty="0">
                <a:latin typeface="华文楷体" panose="02010600040101010101" pitchFamily="2" charset="-122"/>
                <a:ea typeface="华文楷体" panose="02010600040101010101" pitchFamily="2" charset="-122"/>
              </a:rPr>
              <a:t>X</a:t>
            </a:r>
            <a:r>
              <a:rPr lang="zh-CN" altLang="en-US" dirty="0">
                <a:latin typeface="华文楷体" panose="02010600040101010101" pitchFamily="2" charset="-122"/>
                <a:ea typeface="华文楷体" panose="02010600040101010101" pitchFamily="2" charset="-122"/>
              </a:rPr>
              <a:t>，拇指所指方向为</a:t>
            </a:r>
            <a:r>
              <a:rPr lang="en-US" altLang="zh-CN" dirty="0">
                <a:latin typeface="华文楷体" panose="02010600040101010101" pitchFamily="2" charset="-122"/>
                <a:ea typeface="华文楷体" panose="02010600040101010101" pitchFamily="2" charset="-122"/>
              </a:rPr>
              <a:t>Y</a:t>
            </a:r>
            <a:r>
              <a:rPr lang="zh-CN" altLang="en-US" dirty="0">
                <a:latin typeface="华文楷体" panose="02010600040101010101" pitchFamily="2" charset="-122"/>
                <a:ea typeface="华文楷体" panose="02010600040101010101" pitchFamily="2" charset="-122"/>
              </a:rPr>
              <a:t>方向）。</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将物体从世界坐标系转换到摄像机坐标系的过程称为</a:t>
            </a:r>
            <a:r>
              <a:rPr lang="zh-CN" altLang="en-US" b="1" dirty="0">
                <a:solidFill>
                  <a:srgbClr val="FF0000"/>
                </a:solidFill>
                <a:latin typeface="华文楷体" panose="02010600040101010101" pitchFamily="2" charset="-122"/>
                <a:ea typeface="华文楷体" panose="02010600040101010101" pitchFamily="2" charset="-122"/>
              </a:rPr>
              <a:t>视图变换</a:t>
            </a:r>
            <a:r>
              <a:rPr lang="zh-CN" altLang="en-US" dirty="0">
                <a:latin typeface="华文楷体" panose="02010600040101010101" pitchFamily="2" charset="-122"/>
                <a:ea typeface="华文楷体" panose="02010600040101010101" pitchFamily="2" charset="-122"/>
              </a:rPr>
              <a:t>，相应的转换矩阵称为</a:t>
            </a:r>
            <a:r>
              <a:rPr lang="zh-CN" altLang="en-US" b="1" dirty="0">
                <a:solidFill>
                  <a:srgbClr val="FF0000"/>
                </a:solidFill>
                <a:latin typeface="华文楷体" panose="02010600040101010101" pitchFamily="2" charset="-122"/>
                <a:ea typeface="华文楷体" panose="02010600040101010101" pitchFamily="2" charset="-122"/>
              </a:rPr>
              <a:t>视图矩阵</a:t>
            </a:r>
            <a:r>
              <a:rPr lang="zh-CN" altLang="en-US"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11726988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9552" y="606701"/>
            <a:ext cx="5696448" cy="5644597"/>
          </a:xfrm>
        </p:spPr>
        <p:txBody>
          <a:bodyPr>
            <a:normAutofit fontScale="77500" lnSpcReduction="20000"/>
          </a:bodyPr>
          <a:lstStyle/>
          <a:p>
            <a:pPr marL="0" indent="0">
              <a:lnSpc>
                <a:spcPct val="150000"/>
              </a:lnSpc>
              <a:buNone/>
            </a:pP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3</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投影和齐次裁剪空间</a:t>
            </a:r>
            <a:endParaRPr lang="en-US" altLang="zh-CN" b="1"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solidFill>
                  <a:srgbClr val="000000"/>
                </a:solidFill>
                <a:latin typeface="华文楷体" panose="02010600040101010101" pitchFamily="2" charset="-122"/>
                <a:ea typeface="华文楷体" panose="02010600040101010101" pitchFamily="2" charset="-122"/>
              </a:rPr>
              <a:t>         </a:t>
            </a:r>
            <a:r>
              <a:rPr lang="zh-CN" altLang="en-US" dirty="0">
                <a:solidFill>
                  <a:srgbClr val="000000"/>
                </a:solidFill>
                <a:latin typeface="华文楷体" panose="02010600040101010101" pitchFamily="2" charset="-122"/>
                <a:ea typeface="华文楷体" panose="02010600040101010101" pitchFamily="2" charset="-122"/>
              </a:rPr>
              <a:t>对于摄像机而言，除了坐标转换之外，还涉及到摄像机所能看到的物体的范围。正如人类的眼睛一样，摄像机也只能看到某个区域类的物体，因此就需要将不能看到的物体从空间中删除。同时由于摄像</a:t>
            </a:r>
            <a:r>
              <a:rPr lang="zh-CN" altLang="en-US" dirty="0">
                <a:latin typeface="华文楷体" panose="02010600040101010101" pitchFamily="2" charset="-122"/>
                <a:ea typeface="华文楷体" panose="02010600040101010101" pitchFamily="2" charset="-122"/>
              </a:rPr>
              <a:t>机的镜头是一个凸透镜，因此会有近大远小的效果，为了使显示的物体具有良好的三维效果，必须进行相应的透视变换。</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右图中，只有在近平面和远平面之间的物体才能显示出来，所有在其间的物体将投影到高度为</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的平面上。</a:t>
            </a: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2"/>
          <a:stretch>
            <a:fillRect/>
          </a:stretch>
        </p:blipFill>
        <p:spPr>
          <a:xfrm>
            <a:off x="6345141" y="1097237"/>
            <a:ext cx="5584921" cy="4543425"/>
          </a:xfrm>
          <a:prstGeom prst="rect">
            <a:avLst/>
          </a:prstGeom>
        </p:spPr>
      </p:pic>
    </p:spTree>
    <p:extLst>
      <p:ext uri="{BB962C8B-B14F-4D97-AF65-F5344CB8AC3E}">
        <p14:creationId xmlns:p14="http://schemas.microsoft.com/office/powerpoint/2010/main" val="12549523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5193403" cy="5644597"/>
          </a:xfrm>
        </p:spPr>
        <p:txBody>
          <a:bodyPr>
            <a:normAutofit/>
          </a:bodyPr>
          <a:lstStyle/>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上面的投影图形可简化为右边上面的图形，其投影窗口的高度为</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，其长度依赖远近平面的宽高比</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也就是</a:t>
            </a:r>
            <a:r>
              <a:rPr lang="en-US" altLang="zh-CN" dirty="0">
                <a:latin typeface="华文楷体" panose="02010600040101010101" pitchFamily="2" charset="-122"/>
                <a:ea typeface="华文楷体" panose="02010600040101010101" pitchFamily="2" charset="-122"/>
              </a:rPr>
              <a:t>2r, </a:t>
            </a:r>
            <a:r>
              <a:rPr lang="zh-CN" altLang="en-US" dirty="0">
                <a:latin typeface="华文楷体" panose="02010600040101010101" pitchFamily="2" charset="-122"/>
                <a:ea typeface="华文楷体" panose="02010600040101010101" pitchFamily="2" charset="-122"/>
              </a:rPr>
              <a:t>其</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值的大小为</a:t>
            </a:r>
            <a:r>
              <a:rPr lang="en-US" altLang="zh-CN" dirty="0">
                <a:latin typeface="华文楷体" panose="02010600040101010101" pitchFamily="2" charset="-122"/>
                <a:ea typeface="华文楷体" panose="02010600040101010101" pitchFamily="2" charset="-122"/>
              </a:rPr>
              <a:t>: 1/tan(a/2)</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通过一系列的矩阵运算，可以得到其对应的投影矩阵如右下图所示。</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endParaRPr lang="zh-CN" altLang="en-US" dirty="0">
              <a:latin typeface="华文楷体" panose="02010600040101010101" pitchFamily="2" charset="-122"/>
              <a:ea typeface="华文楷体" panose="02010600040101010101" pitchFamily="2" charset="-122"/>
            </a:endParaRP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6" name="图片 5"/>
          <p:cNvPicPr>
            <a:picLocks noChangeAspect="1"/>
          </p:cNvPicPr>
          <p:nvPr/>
        </p:nvPicPr>
        <p:blipFill>
          <a:blip r:embed="rId2"/>
          <a:stretch>
            <a:fillRect/>
          </a:stretch>
        </p:blipFill>
        <p:spPr>
          <a:xfrm>
            <a:off x="6515100" y="228600"/>
            <a:ext cx="5169796" cy="3524251"/>
          </a:xfrm>
          <a:prstGeom prst="rect">
            <a:avLst/>
          </a:prstGeom>
        </p:spPr>
      </p:pic>
      <p:pic>
        <p:nvPicPr>
          <p:cNvPr id="7" name="图片 6"/>
          <p:cNvPicPr>
            <a:picLocks noChangeAspect="1"/>
          </p:cNvPicPr>
          <p:nvPr/>
        </p:nvPicPr>
        <p:blipFill>
          <a:blip r:embed="rId3"/>
          <a:stretch>
            <a:fillRect/>
          </a:stretch>
        </p:blipFill>
        <p:spPr>
          <a:xfrm>
            <a:off x="7084321" y="3638550"/>
            <a:ext cx="4364729" cy="2466976"/>
          </a:xfrm>
          <a:prstGeom prst="rect">
            <a:avLst/>
          </a:prstGeom>
        </p:spPr>
      </p:pic>
    </p:spTree>
    <p:extLst>
      <p:ext uri="{BB962C8B-B14F-4D97-AF65-F5344CB8AC3E}">
        <p14:creationId xmlns:p14="http://schemas.microsoft.com/office/powerpoint/2010/main" val="9042127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4839" y="1075207"/>
            <a:ext cx="11122716" cy="4707586"/>
          </a:xfrm>
        </p:spPr>
        <p:txBody>
          <a:bodyPr>
            <a:normAutofit/>
          </a:bodyPr>
          <a:lstStyle/>
          <a:p>
            <a:pPr marL="0" lvl="0" indent="0" eaLnBrk="0" fontAlgn="base" hangingPunct="0">
              <a:lnSpc>
                <a:spcPct val="150000"/>
              </a:lnSpc>
              <a:spcBef>
                <a:spcPct val="0"/>
              </a:spcBef>
              <a:spcAft>
                <a:spcPct val="0"/>
              </a:spcAft>
              <a:buNone/>
            </a:pPr>
            <a:r>
              <a:rPr lang="en-US" altLang="zh-CN" sz="3000" dirty="0">
                <a:solidFill>
                  <a:srgbClr val="0070C0"/>
                </a:solidFill>
                <a:latin typeface="黑体" panose="02010609060101010101" pitchFamily="49" charset="-122"/>
                <a:ea typeface="黑体" panose="02010609060101010101" pitchFamily="49" charset="-122"/>
              </a:rPr>
              <a:t>11.3 </a:t>
            </a:r>
            <a:r>
              <a:rPr lang="zh-CN" altLang="en-US" sz="3000" dirty="0">
                <a:solidFill>
                  <a:srgbClr val="0070C0"/>
                </a:solidFill>
                <a:latin typeface="黑体" panose="02010609060101010101" pitchFamily="49" charset="-122"/>
                <a:ea typeface="黑体" panose="02010609060101010101" pitchFamily="49" charset="-122"/>
              </a:rPr>
              <a:t>曲面细分阶段（</a:t>
            </a:r>
            <a:r>
              <a:rPr lang="en-US" altLang="zh-CN" sz="3000" dirty="0">
                <a:solidFill>
                  <a:srgbClr val="0070C0"/>
                </a:solidFill>
                <a:latin typeface="黑体" panose="02010609060101010101" pitchFamily="49" charset="-122"/>
                <a:ea typeface="黑体" panose="02010609060101010101" pitchFamily="49" charset="-122"/>
              </a:rPr>
              <a:t>The tessellation stage)</a:t>
            </a:r>
          </a:p>
          <a:p>
            <a:pPr marL="0" indent="0">
              <a:lnSpc>
                <a:spcPct val="150000"/>
              </a:lnSpc>
              <a:buNone/>
            </a:pPr>
            <a:r>
              <a:rPr lang="zh-CN" altLang="en-US" dirty="0">
                <a:latin typeface="华文楷体" panose="02010600040101010101" pitchFamily="2" charset="-122"/>
                <a:ea typeface="华文楷体" panose="02010600040101010101" pitchFamily="2" charset="-122"/>
              </a:rPr>
              <a:t>      曲面细分就是将一个大的三角形分解成若干个小的三角形，这样使得显示的图形更加精细。此前需要在</a:t>
            </a:r>
            <a:r>
              <a:rPr lang="en-US" altLang="zh-CN" dirty="0">
                <a:latin typeface="华文楷体" panose="02010600040101010101" pitchFamily="2" charset="-122"/>
                <a:ea typeface="华文楷体" panose="02010600040101010101" pitchFamily="2" charset="-122"/>
              </a:rPr>
              <a:t>CPU</a:t>
            </a:r>
            <a:r>
              <a:rPr lang="zh-CN" altLang="en-US" dirty="0">
                <a:latin typeface="华文楷体" panose="02010600040101010101" pitchFamily="2" charset="-122"/>
                <a:ea typeface="华文楷体" panose="02010600040101010101" pitchFamily="2" charset="-122"/>
              </a:rPr>
              <a:t>中实现这样的操作，现在已可通过</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来进行处理。</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曲面细分有很多的好处，比如实施</a:t>
            </a:r>
            <a:r>
              <a:rPr lang="en-US" altLang="zh-CN" dirty="0">
                <a:latin typeface="华文楷体" panose="02010600040101010101" pitchFamily="2" charset="-122"/>
                <a:ea typeface="华文楷体" panose="02010600040101010101" pitchFamily="2" charset="-122"/>
              </a:rPr>
              <a:t>LOD</a:t>
            </a:r>
            <a:r>
              <a:rPr lang="zh-CN" altLang="en-US" dirty="0">
                <a:latin typeface="华文楷体" panose="02010600040101010101" pitchFamily="2" charset="-122"/>
                <a:ea typeface="华文楷体" panose="02010600040101010101" pitchFamily="2" charset="-122"/>
              </a:rPr>
              <a:t>，动画时采用较小三角面模型，而在着色时进行曲面细分精细化处理等。</a:t>
            </a: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25700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616023"/>
          </a:xfrm>
        </p:spPr>
        <p:txBody>
          <a:bodyPr>
            <a:normAutofit fontScale="92500" lnSpcReduction="10000"/>
          </a:bodyPr>
          <a:lstStyle/>
          <a:p>
            <a:pPr marL="0" indent="0">
              <a:lnSpc>
                <a:spcPct val="150000"/>
              </a:lnSpc>
              <a:buNone/>
            </a:pPr>
            <a:r>
              <a:rPr lang="en-US" altLang="zh-CN" dirty="0">
                <a:solidFill>
                  <a:srgbClr val="0070C0"/>
                </a:solidFill>
                <a:latin typeface="黑体" panose="02010609060101010101" pitchFamily="49" charset="-122"/>
                <a:ea typeface="黑体" panose="02010609060101010101" pitchFamily="49" charset="-122"/>
              </a:rPr>
              <a:t>11.4 </a:t>
            </a:r>
            <a:r>
              <a:rPr lang="zh-CN" altLang="en-US" dirty="0">
                <a:solidFill>
                  <a:srgbClr val="0070C0"/>
                </a:solidFill>
                <a:latin typeface="黑体" panose="02010609060101010101" pitchFamily="49" charset="-122"/>
                <a:ea typeface="黑体" panose="02010609060101010101" pitchFamily="49" charset="-122"/>
              </a:rPr>
              <a:t>几何着色阶段</a:t>
            </a:r>
            <a:r>
              <a:rPr lang="en-US" altLang="zh-CN" dirty="0">
                <a:solidFill>
                  <a:srgbClr val="0070C0"/>
                </a:solidFill>
                <a:latin typeface="黑体" panose="02010609060101010101" pitchFamily="49" charset="-122"/>
                <a:ea typeface="黑体" panose="02010609060101010101" pitchFamily="49" charset="-122"/>
              </a:rPr>
              <a:t>(THE GEOMETRY SHADER STAGE)</a:t>
            </a: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几何着色并不是必须的，几何着色的好处是可以由选择的对输入的点进行筛选，然后输出相应的构成几何图形的基本要素。同时几何着色可以输出一系列的点到内存空间中，以便后续进行绘制。几何着色阶段由几何着色器来完成。</a:t>
            </a:r>
          </a:p>
          <a:p>
            <a:pPr marL="0" indent="0">
              <a:lnSpc>
                <a:spcPct val="150000"/>
              </a:lnSpc>
              <a:buNone/>
            </a:pPr>
            <a:r>
              <a:rPr lang="en-US" altLang="zh-CN" dirty="0">
                <a:solidFill>
                  <a:srgbClr val="FF0000"/>
                </a:solidFill>
                <a:latin typeface="黑体" panose="02010609060101010101" pitchFamily="49" charset="-122"/>
                <a:ea typeface="黑体" panose="02010609060101010101" pitchFamily="49" charset="-122"/>
              </a:rPr>
              <a:t>11.5 </a:t>
            </a:r>
            <a:r>
              <a:rPr lang="zh-CN" altLang="en-US" dirty="0">
                <a:solidFill>
                  <a:srgbClr val="FF0000"/>
                </a:solidFill>
                <a:latin typeface="黑体" panose="02010609060101010101" pitchFamily="49" charset="-122"/>
                <a:ea typeface="黑体" panose="02010609060101010101" pitchFamily="49" charset="-122"/>
              </a:rPr>
              <a:t>裁剪</a:t>
            </a:r>
            <a:r>
              <a:rPr lang="en-US" altLang="zh-CN" dirty="0">
                <a:solidFill>
                  <a:srgbClr val="FF0000"/>
                </a:solidFill>
                <a:latin typeface="黑体" panose="02010609060101010101" pitchFamily="49" charset="-122"/>
                <a:ea typeface="黑体" panose="02010609060101010101" pitchFamily="49" charset="-122"/>
              </a:rPr>
              <a:t>(CLIPPING)</a:t>
            </a: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裁剪也就是将区域之外的物体去除掉，只显示区域之内的物体。该过程将通过计算相交情况以获得区域内的物体的形状。</a:t>
            </a:r>
            <a:r>
              <a:rPr lang="zh-CN" altLang="en-US" b="1" dirty="0">
                <a:solidFill>
                  <a:srgbClr val="FF0000"/>
                </a:solidFill>
                <a:latin typeface="华文楷体" panose="02010600040101010101" pitchFamily="2" charset="-122"/>
                <a:ea typeface="华文楷体" panose="02010600040101010101" pitchFamily="2" charset="-122"/>
              </a:rPr>
              <a:t>裁剪操作一般由</a:t>
            </a:r>
            <a:r>
              <a:rPr lang="en-US" altLang="zh-CN" b="1" dirty="0">
                <a:solidFill>
                  <a:srgbClr val="FF0000"/>
                </a:solidFill>
                <a:latin typeface="华文楷体" panose="02010600040101010101" pitchFamily="2" charset="-122"/>
                <a:ea typeface="华文楷体" panose="02010600040101010101" pitchFamily="2" charset="-122"/>
              </a:rPr>
              <a:t>GPU</a:t>
            </a:r>
            <a:r>
              <a:rPr lang="zh-CN" altLang="en-US" b="1" dirty="0">
                <a:solidFill>
                  <a:srgbClr val="FF0000"/>
                </a:solidFill>
                <a:latin typeface="华文楷体" panose="02010600040101010101" pitchFamily="2" charset="-122"/>
                <a:ea typeface="华文楷体" panose="02010600040101010101" pitchFamily="2" charset="-122"/>
              </a:rPr>
              <a:t>硬件来完成</a:t>
            </a:r>
            <a:r>
              <a:rPr lang="zh-CN" altLang="en-US" dirty="0">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具体的计算过程将在本课程内容中介绍</a:t>
            </a:r>
            <a:r>
              <a:rPr lang="zh-CN" altLang="en-US" dirty="0">
                <a:latin typeface="华文楷体" panose="02010600040101010101" pitchFamily="2" charset="-122"/>
                <a:ea typeface="华文楷体" panose="02010600040101010101" pitchFamily="2" charset="-122"/>
              </a:rPr>
              <a:t>。</a:t>
            </a: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32820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965466"/>
          </a:xfrm>
        </p:spPr>
        <p:txBody>
          <a:bodyPr>
            <a:normAutofit fontScale="85000" lnSpcReduction="20000"/>
          </a:bodyPr>
          <a:lstStyle/>
          <a:p>
            <a:pPr marL="0" indent="0">
              <a:lnSpc>
                <a:spcPct val="150000"/>
              </a:lnSpc>
              <a:buNone/>
            </a:pPr>
            <a:r>
              <a:rPr lang="en-US" altLang="zh-CN" sz="3300" dirty="0">
                <a:solidFill>
                  <a:srgbClr val="FF0000"/>
                </a:solidFill>
                <a:latin typeface="黑体" panose="02010609060101010101" pitchFamily="49" charset="-122"/>
                <a:ea typeface="黑体" panose="02010609060101010101" pitchFamily="49" charset="-122"/>
              </a:rPr>
              <a:t>11.6 </a:t>
            </a:r>
            <a:r>
              <a:rPr lang="zh-CN" altLang="en-US" sz="3300" dirty="0">
                <a:solidFill>
                  <a:srgbClr val="FF0000"/>
                </a:solidFill>
                <a:latin typeface="黑体" panose="02010609060101010101" pitchFamily="49" charset="-122"/>
                <a:ea typeface="黑体" panose="02010609060101010101" pitchFamily="49" charset="-122"/>
              </a:rPr>
              <a:t>光栅化阶段</a:t>
            </a:r>
            <a:r>
              <a:rPr lang="en-US" altLang="zh-CN" sz="3300" dirty="0">
                <a:solidFill>
                  <a:srgbClr val="FF0000"/>
                </a:solidFill>
                <a:latin typeface="黑体" panose="02010609060101010101" pitchFamily="49" charset="-122"/>
                <a:ea typeface="黑体" panose="02010609060101010101" pitchFamily="49" charset="-122"/>
              </a:rPr>
              <a:t>(THE RASTERIZATION STAGE)</a:t>
            </a: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光栅化是一种将几何图元变为二维图像的过程。该过程包含了两部分的工作。第一部分工作：</a:t>
            </a:r>
            <a:r>
              <a:rPr lang="zh-CN" altLang="en-US" b="1" dirty="0">
                <a:solidFill>
                  <a:srgbClr val="FF0000"/>
                </a:solidFill>
                <a:latin typeface="华文楷体" panose="02010600040101010101" pitchFamily="2" charset="-122"/>
                <a:ea typeface="华文楷体" panose="02010600040101010101" pitchFamily="2" charset="-122"/>
              </a:rPr>
              <a:t>决定窗口坐标中的哪些整型栅格区域被基本图元占用</a:t>
            </a:r>
            <a:r>
              <a:rPr lang="zh-CN" altLang="en-US" dirty="0">
                <a:latin typeface="华文楷体" panose="02010600040101010101" pitchFamily="2" charset="-122"/>
                <a:ea typeface="华文楷体" panose="02010600040101010101" pitchFamily="2" charset="-122"/>
              </a:rPr>
              <a:t>；第二部分工作：分配一个颜色值和一个深度值到各个区域以便进行消隐操作。</a:t>
            </a:r>
            <a:r>
              <a:rPr lang="zh-CN" altLang="en-US" b="1" dirty="0">
                <a:solidFill>
                  <a:srgbClr val="FF0000"/>
                </a:solidFill>
                <a:latin typeface="华文楷体" panose="02010600040101010101" pitchFamily="2" charset="-122"/>
                <a:ea typeface="华文楷体" panose="02010600040101010101" pitchFamily="2" charset="-122"/>
              </a:rPr>
              <a:t>光栅化的目的，是找出一个几何单元（比如线段或三角形）所覆盖的像素，该部分由硬件完成，也是本课程介绍的重点内容。</a:t>
            </a:r>
            <a:endParaRPr lang="en-US" altLang="zh-CN" b="1" dirty="0">
              <a:solidFill>
                <a:srgbClr val="FF0000"/>
              </a:solidFill>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）图形像素化</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在完成裁剪之后，投影后的图像将映射到设备坐标系中，并被送到后台缓冲区中，此时的图形坐标以像素的形式存在，但仍保留其</a:t>
            </a:r>
            <a:r>
              <a:rPr lang="en-US" altLang="zh-CN" dirty="0">
                <a:latin typeface="华文楷体" panose="02010600040101010101" pitchFamily="2" charset="-122"/>
                <a:ea typeface="华文楷体" panose="02010600040101010101" pitchFamily="2" charset="-122"/>
              </a:rPr>
              <a:t>Z</a:t>
            </a:r>
            <a:r>
              <a:rPr lang="zh-CN" altLang="en-US" dirty="0">
                <a:latin typeface="华文楷体" panose="02010600040101010101" pitchFamily="2" charset="-122"/>
                <a:ea typeface="华文楷体" panose="02010600040101010101" pitchFamily="2" charset="-122"/>
              </a:rPr>
              <a:t>坐标的大小，以便进行后续的消影处理。</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2</a:t>
            </a:r>
            <a:r>
              <a:rPr lang="zh-CN" altLang="en-US" dirty="0">
                <a:latin typeface="华文楷体" panose="02010600040101010101" pitchFamily="2" charset="-122"/>
                <a:ea typeface="华文楷体" panose="02010600040101010101" pitchFamily="2" charset="-122"/>
              </a:rPr>
              <a:t>）消隐</a:t>
            </a:r>
            <a:r>
              <a:rPr lang="en-US" altLang="zh-CN" dirty="0">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00758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93034" y="546652"/>
                <a:ext cx="11122716" cy="5616023"/>
              </a:xfrm>
            </p:spPr>
            <p:txBody>
              <a:bodyPr>
                <a:normAutofit/>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消隐也就是消除哪些不能看到的点及面。如果三角形的三个顶点以</a:t>
                </a:r>
                <a:r>
                  <a:rPr lang="en-US" altLang="zh-CN" dirty="0">
                    <a:latin typeface="华文楷体" panose="02010600040101010101" pitchFamily="2" charset="-122"/>
                    <a:ea typeface="华文楷体" panose="02010600040101010101" pitchFamily="2" charset="-122"/>
                  </a:rPr>
                  <a:t>V0, V1, V2</a:t>
                </a:r>
                <a:r>
                  <a:rPr lang="zh-CN" altLang="en-US" dirty="0">
                    <a:latin typeface="华文楷体" panose="02010600040101010101" pitchFamily="2" charset="-122"/>
                    <a:ea typeface="华文楷体" panose="02010600040101010101" pitchFamily="2" charset="-122"/>
                  </a:rPr>
                  <a:t>的形式排列，则：</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latin typeface="华文楷体" panose="02010600040101010101" pitchFamily="2" charset="-122"/>
                    <a:ea typeface="华文楷体" panose="02010600040101010101" pitchFamily="2" charset="-122"/>
                  </a:rPr>
                  <a:t>      e0=V1-V0</a:t>
                </a:r>
              </a:p>
              <a:p>
                <a:pPr marL="0" indent="0">
                  <a:lnSpc>
                    <a:spcPct val="150000"/>
                  </a:lnSpc>
                  <a:buNone/>
                </a:pPr>
                <a:r>
                  <a:rPr lang="en-US" altLang="zh-CN" dirty="0">
                    <a:latin typeface="华文楷体" panose="02010600040101010101" pitchFamily="2" charset="-122"/>
                    <a:ea typeface="华文楷体" panose="02010600040101010101" pitchFamily="2" charset="-122"/>
                  </a:rPr>
                  <a:t>      e1=V2-V0</a:t>
                </a:r>
              </a:p>
              <a:p>
                <a:pPr marL="0" indent="0">
                  <a:lnSpc>
                    <a:spcPct val="150000"/>
                  </a:lnSpc>
                  <a:buNone/>
                </a:pPr>
                <a:r>
                  <a:rPr lang="en-US" altLang="zh-CN" dirty="0">
                    <a:latin typeface="华文楷体" panose="02010600040101010101" pitchFamily="2" charset="-122"/>
                    <a:ea typeface="华文楷体" panose="02010600040101010101" pitchFamily="2" charset="-122"/>
                  </a:rPr>
                  <a:t>      n=(e0</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e</m:t>
                    </m:r>
                    <m:r>
                      <a:rPr lang="en-US" altLang="zh-CN" b="0" i="0" smtClean="0">
                        <a:latin typeface="Cambria Math" panose="02040503050406030204" pitchFamily="18" charset="0"/>
                        <a:ea typeface="Cambria Math" panose="02040503050406030204" pitchFamily="18" charset="0"/>
                      </a:rPr>
                      <m:t>1)/</m:t>
                    </m:r>
                    <m:r>
                      <a:rPr lang="en-US" altLang="zh-CN" i="1">
                        <a:latin typeface="Cambria Math" panose="02040503050406030204" pitchFamily="18" charset="0"/>
                        <a:ea typeface="Cambria Math" panose="02040503050406030204" pitchFamily="18" charset="0"/>
                      </a:rPr>
                      <m:t>(</m:t>
                    </m:r>
                  </m:oMath>
                </a14:m>
                <a:r>
                  <a:rPr lang="en-US" altLang="zh-CN" dirty="0">
                    <a:latin typeface="华文楷体" panose="02010600040101010101" pitchFamily="2" charset="-122"/>
                    <a:ea typeface="华文楷体" panose="02010600040101010101" pitchFamily="2" charset="-122"/>
                  </a:rPr>
                  <a:t>e0</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华文楷体" panose="02010600040101010101" pitchFamily="2" charset="-122"/>
                    <a:ea typeface="华文楷体" panose="02010600040101010101" pitchFamily="2" charset="-122"/>
                  </a:rPr>
                  <a:t>e1)</a:t>
                </a:r>
              </a:p>
              <a:p>
                <a:pPr marL="0" indent="0">
                  <a:lnSpc>
                    <a:spcPct val="150000"/>
                  </a:lnSpc>
                  <a:buNone/>
                </a:pPr>
                <a:r>
                  <a:rPr lang="en-US" altLang="zh-CN" dirty="0">
                    <a:latin typeface="华文楷体" panose="02010600040101010101" pitchFamily="2" charset="-122"/>
                    <a:ea typeface="华文楷体" panose="02010600040101010101" pitchFamily="2" charset="-122"/>
                  </a:rPr>
                  <a:t>     n</a:t>
                </a:r>
                <a:r>
                  <a:rPr lang="zh-CN" altLang="en-US" dirty="0">
                    <a:latin typeface="华文楷体" panose="02010600040101010101" pitchFamily="2" charset="-122"/>
                    <a:ea typeface="华文楷体" panose="02010600040101010101" pitchFamily="2" charset="-122"/>
                  </a:rPr>
                  <a:t>所指的方向即为可以看到的面。同样如果一个面上的点以逆时针方向排列，则该面不可见，反之以顺时针方向排列则可见。</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93034" y="546652"/>
                <a:ext cx="11122716" cy="5616023"/>
              </a:xfrm>
              <a:blipFill rotWithShape="0">
                <a:blip r:embed="rId2"/>
                <a:stretch>
                  <a:fillRect l="-1096" r="-822"/>
                </a:stretch>
              </a:blipFill>
            </p:spPr>
            <p:txBody>
              <a:bodyPr/>
              <a:lstStyle/>
              <a:p>
                <a:r>
                  <a:rPr lang="zh-CN" altLang="en-US">
                    <a:noFill/>
                  </a:rPr>
                  <a:t> </a:t>
                </a:r>
              </a:p>
            </p:txBody>
          </p:sp>
        </mc:Fallback>
      </mc:AlternateContent>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5" name="矩形 4"/>
              <p:cNvSpPr/>
              <p:nvPr/>
            </p:nvSpPr>
            <p:spPr>
              <a:xfrm>
                <a:off x="5894663" y="3244334"/>
                <a:ext cx="402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5894663" y="3244334"/>
                <a:ext cx="402674" cy="369332"/>
              </a:xfrm>
              <a:prstGeom prst="rect">
                <a:avLst/>
              </a:prstGeom>
              <a:blipFill rotWithShape="0">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72564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616023"/>
          </a:xfrm>
        </p:spPr>
        <p:txBody>
          <a:bodyPr>
            <a:normAutofit/>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此外，顶点除了坐标之外，还有顶点的其他属性，比如颜色，纹理坐标，法向等，这些对于物体的绘制都是必须的，这些属性的插入也是在该阶段完成。</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solidFill>
                  <a:srgbClr val="0070C0"/>
                </a:solidFill>
                <a:latin typeface="黑体" panose="02010609060101010101" pitchFamily="49" charset="-122"/>
                <a:ea typeface="黑体" panose="02010609060101010101" pitchFamily="49" charset="-122"/>
              </a:rPr>
              <a:t>11.7 </a:t>
            </a:r>
            <a:r>
              <a:rPr lang="zh-CN" altLang="en-US" dirty="0">
                <a:solidFill>
                  <a:srgbClr val="0070C0"/>
                </a:solidFill>
                <a:latin typeface="黑体" panose="02010609060101010101" pitchFamily="49" charset="-122"/>
                <a:ea typeface="黑体" panose="02010609060101010101" pitchFamily="49" charset="-122"/>
              </a:rPr>
              <a:t>像素着色阶段</a:t>
            </a:r>
            <a:r>
              <a:rPr lang="en-US" altLang="zh-CN" dirty="0">
                <a:solidFill>
                  <a:srgbClr val="0070C0"/>
                </a:solidFill>
                <a:latin typeface="黑体" panose="02010609060101010101" pitchFamily="49" charset="-122"/>
                <a:ea typeface="黑体" panose="02010609060101010101" pitchFamily="49" charset="-122"/>
              </a:rPr>
              <a:t>(THE PIXEL SHADER STAGE)</a:t>
            </a:r>
          </a:p>
          <a:p>
            <a:pPr marL="0" indent="0">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像素着色需要通过编写相应的</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程序来完成。由于在光栅化阶段确定了相应的点及属性，通过这些点及相应的属性可以在</a:t>
            </a:r>
            <a:r>
              <a:rPr lang="en-US" altLang="zh-CN" dirty="0">
                <a:latin typeface="华文楷体" panose="02010600040101010101" pitchFamily="2" charset="-122"/>
                <a:ea typeface="华文楷体" panose="02010600040101010101" pitchFamily="2" charset="-122"/>
              </a:rPr>
              <a:t>GPU</a:t>
            </a:r>
            <a:r>
              <a:rPr lang="zh-CN" altLang="en-US" dirty="0">
                <a:latin typeface="华文楷体" panose="02010600040101010101" pitchFamily="2" charset="-122"/>
                <a:ea typeface="华文楷体" panose="02010600040101010101" pitchFamily="2" charset="-122"/>
              </a:rPr>
              <a:t>中计算除相应像素的颜色，光照的影响，阴影等处理效果。</a:t>
            </a:r>
            <a:endParaRPr lang="en-US" altLang="zh-CN" dirty="0">
              <a:latin typeface="华文楷体" panose="02010600040101010101" pitchFamily="2" charset="-122"/>
              <a:ea typeface="华文楷体" panose="02010600040101010101" pitchFamily="2" charset="-122"/>
            </a:endParaRPr>
          </a:p>
          <a:p>
            <a:pPr marL="0" indent="0">
              <a:lnSpc>
                <a:spcPct val="150000"/>
              </a:lnSpc>
              <a:buNone/>
            </a:pPr>
            <a:r>
              <a:rPr lang="en-US" altLang="zh-CN" dirty="0">
                <a:solidFill>
                  <a:srgbClr val="0070C0"/>
                </a:solidFill>
                <a:latin typeface="黑体" panose="02010609060101010101" pitchFamily="49" charset="-122"/>
                <a:ea typeface="黑体" panose="02010609060101010101" pitchFamily="49" charset="-122"/>
              </a:rPr>
              <a:t>11.8 </a:t>
            </a:r>
            <a:r>
              <a:rPr lang="zh-CN" altLang="en-US" dirty="0">
                <a:solidFill>
                  <a:srgbClr val="0070C0"/>
                </a:solidFill>
                <a:latin typeface="黑体" panose="02010609060101010101" pitchFamily="49" charset="-122"/>
                <a:ea typeface="黑体" panose="02010609060101010101" pitchFamily="49" charset="-122"/>
              </a:rPr>
              <a:t>输出融合阶段</a:t>
            </a:r>
            <a:r>
              <a:rPr lang="en-US" altLang="zh-CN" dirty="0">
                <a:solidFill>
                  <a:srgbClr val="0070C0"/>
                </a:solidFill>
                <a:latin typeface="黑体" panose="02010609060101010101" pitchFamily="49" charset="-122"/>
                <a:ea typeface="黑体" panose="02010609060101010101" pitchFamily="49" charset="-122"/>
              </a:rPr>
              <a:t>(THE OUTPUT MERGER STAGE)</a:t>
            </a:r>
          </a:p>
          <a:p>
            <a:pPr marL="0" indent="0">
              <a:lnSpc>
                <a:spcPct val="150000"/>
              </a:lnSpc>
              <a:buNone/>
            </a:pPr>
            <a:endParaRPr lang="zh-CN" altLang="en-US" dirty="0">
              <a:latin typeface="华文楷体" panose="02010600040101010101" pitchFamily="2" charset="-122"/>
              <a:ea typeface="华文楷体" panose="02010600040101010101" pitchFamily="2" charset="-122"/>
            </a:endParaRP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067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3034" y="546652"/>
            <a:ext cx="11122716" cy="5616023"/>
          </a:xfrm>
        </p:spPr>
        <p:txBody>
          <a:bodyPr>
            <a:normAutofit/>
          </a:bodyPr>
          <a:lstStyle/>
          <a:p>
            <a:pPr marL="0" indent="0">
              <a:lnSpc>
                <a:spcPct val="150000"/>
              </a:lnSpc>
              <a:buNone/>
            </a:pPr>
            <a:r>
              <a:rPr lang="zh-CN" altLang="en-US" dirty="0">
                <a:latin typeface="华文楷体" panose="02010600040101010101" pitchFamily="2" charset="-122"/>
                <a:ea typeface="华文楷体" panose="02010600040101010101" pitchFamily="2" charset="-122"/>
              </a:rPr>
              <a:t>       当所有图形通过像素着色生成相应的像素点之后，一些像素由于无法通过深度测试而被排除于后台缓冲区之外，而另一些像素则被送入到后台缓冲区中，并与此前已经写入到后台缓冲区中的像素进行相应的融合处理。这样的处理就在本阶段完成。</a:t>
            </a:r>
          </a:p>
        </p:txBody>
      </p:sp>
      <p:sp>
        <p:nvSpPr>
          <p:cNvPr id="4" name="Rectangle 1"/>
          <p:cNvSpPr>
            <a:spLocks noChangeArrowheads="1"/>
          </p:cNvSpPr>
          <p:nvPr/>
        </p:nvSpPr>
        <p:spPr bwMode="auto">
          <a:xfrm>
            <a:off x="0" y="28545"/>
            <a:ext cx="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800" b="0" i="0" u="none" strike="noStrike" cap="none" normalizeH="0" baseline="0" dirty="0">
                <a:ln>
                  <a:noFill/>
                </a:ln>
                <a:solidFill>
                  <a:schemeClr val="tx1"/>
                </a:solidFill>
                <a:effectLst/>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65108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4548</Words>
  <Application>Microsoft Office PowerPoint</Application>
  <PresentationFormat>宽屏</PresentationFormat>
  <Paragraphs>187</Paragraphs>
  <Slides>48</Slides>
  <Notes>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48</vt:i4>
      </vt:variant>
    </vt:vector>
  </HeadingPairs>
  <TitlesOfParts>
    <vt:vector size="63" baseType="lpstr">
      <vt:lpstr>-apple-system</vt:lpstr>
      <vt:lpstr>等线</vt:lpstr>
      <vt:lpstr>等线 Light</vt:lpstr>
      <vt:lpstr>黑体</vt:lpstr>
      <vt:lpstr>华光大标宋_CNKI</vt:lpstr>
      <vt:lpstr>华光楷体_CNKI</vt:lpstr>
      <vt:lpstr>华光美黑_CNKI</vt:lpstr>
      <vt:lpstr>华光中长宋_CNKI</vt:lpstr>
      <vt:lpstr>华光准圆_CNKI</vt:lpstr>
      <vt:lpstr>华文楷体</vt:lpstr>
      <vt:lpstr>华文宋体</vt:lpstr>
      <vt:lpstr>新宋体</vt:lpstr>
      <vt:lpstr>Arial</vt:lpstr>
      <vt:lpstr>Cambria Math</vt:lpstr>
      <vt:lpstr>Office 主题​​</vt:lpstr>
      <vt:lpstr>第2章 计算机图像处理及显示的基本原理</vt:lpstr>
      <vt:lpstr>PowerPoint 演示文稿</vt:lpstr>
      <vt:lpstr>2.显卡工作流程</vt:lpstr>
      <vt:lpstr>3. 显  存</vt:lpstr>
      <vt:lpstr>4. GPU</vt:lpstr>
      <vt:lpstr>PowerPoint 演示文稿</vt:lpstr>
      <vt:lpstr>PowerPoint 演示文稿</vt:lpstr>
      <vt:lpstr>5.显卡分辨率</vt:lpstr>
      <vt:lpstr>6.显卡颜色深度</vt:lpstr>
      <vt:lpstr>7.图形显示原理</vt:lpstr>
      <vt:lpstr>PowerPoint 演示文稿</vt:lpstr>
      <vt:lpstr>PowerPoint 演示文稿</vt:lpstr>
      <vt:lpstr>PowerPoint 演示文稿</vt:lpstr>
      <vt:lpstr>PowerPoint 演示文稿</vt:lpstr>
      <vt:lpstr>8. COM接口</vt:lpstr>
      <vt:lpstr>PowerPoint 演示文稿</vt:lpstr>
      <vt:lpstr>PowerPoint 演示文稿</vt:lpstr>
      <vt:lpstr>PowerPoint 演示文稿</vt:lpstr>
      <vt:lpstr>PowerPoint 演示文稿</vt:lpstr>
      <vt:lpstr>PowerPoint 演示文稿</vt:lpstr>
      <vt:lpstr>9.如何描述一个3D图形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 GPU存储空间</vt:lpstr>
      <vt:lpstr>11. GPU如何处理输入的图形数据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计算机图像处理及显示的基本原理</dc:title>
  <dc:creator>黄海于</dc:creator>
  <cp:lastModifiedBy>黄海于</cp:lastModifiedBy>
  <cp:revision>33</cp:revision>
  <dcterms:created xsi:type="dcterms:W3CDTF">2023-07-15T10:36:57Z</dcterms:created>
  <dcterms:modified xsi:type="dcterms:W3CDTF">2023-07-17T04:03:43Z</dcterms:modified>
</cp:coreProperties>
</file>