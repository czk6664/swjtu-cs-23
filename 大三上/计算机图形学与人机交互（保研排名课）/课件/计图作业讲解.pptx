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3"/>
    <p:sldId id="259" r:id="rId4"/>
    <p:sldId id="260" r:id="rId5"/>
    <p:sldId id="268" r:id="rId6"/>
    <p:sldId id="269" r:id="rId7"/>
    <p:sldId id="273" r:id="rId8"/>
    <p:sldId id="274" r:id="rId9"/>
    <p:sldId id="275" r:id="rId10"/>
    <p:sldId id="276" r:id="rId11"/>
    <p:sldId id="270" r:id="rId12"/>
    <p:sldId id="305" r:id="rId13"/>
    <p:sldId id="277" r:id="rId14"/>
    <p:sldId id="285" r:id="rId15"/>
    <p:sldId id="299" r:id="rId16"/>
    <p:sldId id="306" r:id="rId17"/>
    <p:sldId id="307" r:id="rId18"/>
    <p:sldId id="308" r:id="rId19"/>
    <p:sldId id="312" r:id="rId20"/>
    <p:sldId id="309" r:id="rId21"/>
    <p:sldId id="310" r:id="rId22"/>
    <p:sldId id="286" r:id="rId23"/>
    <p:sldId id="271" r:id="rId24"/>
    <p:sldId id="281" r:id="rId25"/>
    <p:sldId id="280" r:id="rId26"/>
    <p:sldId id="282" r:id="rId27"/>
    <p:sldId id="283" r:id="rId28"/>
    <p:sldId id="284" r:id="rId29"/>
    <p:sldId id="278" r:id="rId30"/>
    <p:sldId id="292" r:id="rId31"/>
    <p:sldId id="291" r:id="rId32"/>
    <p:sldId id="288" r:id="rId33"/>
    <p:sldId id="287" r:id="rId34"/>
    <p:sldId id="289" r:id="rId35"/>
    <p:sldId id="293" r:id="rId36"/>
    <p:sldId id="294" r:id="rId37"/>
    <p:sldId id="295" r:id="rId38"/>
    <p:sldId id="296" r:id="rId39"/>
    <p:sldId id="297" r:id="rId40"/>
    <p:sldId id="314" r:id="rId41"/>
    <p:sldId id="298" r:id="rId42"/>
    <p:sldId id="279" r:id="rId43"/>
    <p:sldId id="290" r:id="rId44"/>
    <p:sldId id="301" r:id="rId45"/>
    <p:sldId id="302" r:id="rId46"/>
    <p:sldId id="303" r:id="rId47"/>
    <p:sldId id="304" r:id="rId48"/>
    <p:sldId id="267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2FF19-9D0A-674D-9D47-6BFADE4156DE}" type="datetimeFigureOut">
              <a:rPr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851F-98DE-E84B-B6F1-112EE897FC2E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jpeg"/><Relationship Id="rId1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6331" y="1979720"/>
            <a:ext cx="3319826" cy="2898560"/>
          </a:xfrm>
          <a:prstGeom prst="rect">
            <a:avLst/>
          </a:prstGeom>
          <a:blipFill>
            <a:blip r:embed="rId1"/>
            <a:srcRect/>
            <a:stretch>
              <a:fillRect l="-11409" r="-1140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0741" y="1485900"/>
            <a:ext cx="4451005" cy="3886200"/>
          </a:xfrm>
          <a:prstGeom prst="rect">
            <a:avLst/>
          </a:prstGeom>
          <a:solidFill>
            <a:srgbClr val="4963A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27980" y="1967865"/>
            <a:ext cx="5014595" cy="13627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algn="dist">
              <a:defRPr sz="9600"/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计图作业</a:t>
            </a:r>
            <a:endParaRPr lang="zh-CN" altLang="en-US" sz="6000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2000" sy="102000" algn="ctr" rotWithShape="0">
                  <a:schemeClr val="bg1">
                    <a:alpha val="2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1~6</a:t>
            </a:r>
            <a:endParaRPr kumimoji="0" lang="en-US" altLang="zh-CN" sz="6000" b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2000" sy="102000" algn="ctr" rotWithShape="0">
                  <a:schemeClr val="bg1">
                    <a:alpha val="2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32515" y="497150"/>
            <a:ext cx="627628" cy="5850384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7150" y="497150"/>
            <a:ext cx="2388093" cy="5850384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30630" y="2268855"/>
            <a:ext cx="9207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zh-CN" altLang="en-US" sz="48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</a:t>
            </a:r>
            <a:endParaRPr lang="zh-CN" altLang="en-US" sz="48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en-US" altLang="zh-CN" sz="48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3148965" y="942340"/>
            <a:ext cx="8468360" cy="495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作业一基本没问题。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两名同学第一题写成了国外的，所以得分比较低。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写的比较好的：林晓桐、谢倩、付子豪大家可以参考。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9425" y="2974975"/>
            <a:ext cx="8726805" cy="240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98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52450" y="229235"/>
            <a:ext cx="11079480" cy="902970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4567374" y="302005"/>
            <a:ext cx="29723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作业二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548640" y="1132205"/>
            <a:ext cx="11083290" cy="536892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2"/>
          <p:cNvPicPr>
            <a:picLocks noChangeAspect="1"/>
          </p:cNvPicPr>
          <p:nvPr/>
        </p:nvPicPr>
        <p:blipFill>
          <a:blip r:embed="rId1"/>
          <a:srcRect t="5620" b="5731"/>
          <a:stretch>
            <a:fillRect/>
          </a:stretch>
        </p:blipFill>
        <p:spPr>
          <a:xfrm>
            <a:off x="422910" y="1216025"/>
            <a:ext cx="6022340" cy="15125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185545" y="2538095"/>
            <a:ext cx="1029779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中点画线法</a:t>
            </a:r>
            <a:r>
              <a:rPr lang="zh-CN" altLang="en-US"/>
              <a:t>绘制直线：这里要按斜率分四种情况讨论。分别是</a:t>
            </a:r>
            <a:r>
              <a:rPr lang="en-US" altLang="zh-CN"/>
              <a:t>k&gt;1</a:t>
            </a:r>
            <a:r>
              <a:rPr lang="zh-CN" altLang="en-US"/>
              <a:t>，</a:t>
            </a:r>
            <a:r>
              <a:rPr lang="en-US" altLang="zh-CN"/>
              <a:t>0=&lt;k&lt;=1</a:t>
            </a:r>
            <a:r>
              <a:rPr lang="zh-CN" altLang="en-US"/>
              <a:t>，</a:t>
            </a:r>
            <a:r>
              <a:rPr lang="en-US" altLang="zh-CN"/>
              <a:t>-1=&lt;=k&lt;0</a:t>
            </a:r>
            <a:r>
              <a:rPr lang="zh-CN" altLang="en-US"/>
              <a:t>，</a:t>
            </a:r>
            <a:r>
              <a:rPr lang="en-US" altLang="zh-CN"/>
              <a:t>k&lt;-1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关键：确定主位移方向，主位移方向每次</a:t>
            </a:r>
            <a:r>
              <a:rPr lang="en-US" altLang="zh-CN"/>
              <a:t>+/-1</a:t>
            </a:r>
            <a:r>
              <a:rPr lang="zh-CN" altLang="en-US"/>
              <a:t>，另一个方向看距离哪个点近，决定是否</a:t>
            </a:r>
            <a:r>
              <a:rPr lang="en-US" altLang="zh-CN"/>
              <a:t>+/-1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算法思想：将与直线距离最近的像素作为直线上的点进行显示。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55" y="3573145"/>
            <a:ext cx="8776970" cy="3123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983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00" y="331470"/>
            <a:ext cx="7510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  <a:sym typeface="+mn-ea"/>
              </a:rPr>
              <a:t>Bresenham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法</a:t>
            </a:r>
            <a:r>
              <a:rPr lang="zh-CN" altLang="en-US">
                <a:sym typeface="+mn-ea"/>
              </a:rPr>
              <a:t>绘制直线：这里要按斜率的绝对值分情况讨论。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823595"/>
            <a:ext cx="9697720" cy="5636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95" y="382270"/>
            <a:ext cx="6910705" cy="14211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30935" y="2019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中点画线法</a:t>
            </a:r>
            <a:r>
              <a:rPr lang="zh-CN" altLang="en-US"/>
              <a:t>：（书</a:t>
            </a:r>
            <a:r>
              <a:rPr lang="en-US" altLang="zh-CN"/>
              <a:t>39-40</a:t>
            </a:r>
            <a:r>
              <a:rPr lang="zh-CN" altLang="en-US"/>
              <a:t>页）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536825"/>
            <a:ext cx="5595620" cy="41078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985" y="3279775"/>
            <a:ext cx="5005070" cy="2561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6630" y="558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Bresenham</a:t>
            </a:r>
            <a:r>
              <a:rPr lang="zh-CN" altLang="en-US">
                <a:highlight>
                  <a:srgbClr val="FFFF00"/>
                </a:highlight>
              </a:rPr>
              <a:t>法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（书</a:t>
            </a:r>
            <a:r>
              <a:rPr lang="en-US" altLang="zh-CN">
                <a:sym typeface="+mn-ea"/>
              </a:rPr>
              <a:t>40-41</a:t>
            </a:r>
            <a:r>
              <a:rPr lang="zh-CN" altLang="en-US">
                <a:sym typeface="+mn-ea"/>
              </a:rPr>
              <a:t>页）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1673860"/>
            <a:ext cx="6166485" cy="34880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68070"/>
            <a:ext cx="5013325" cy="5205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065" y="224790"/>
            <a:ext cx="6490335" cy="1326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36675" y="1786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中点画线法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2233295"/>
            <a:ext cx="5050155" cy="4136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855" y="2585720"/>
            <a:ext cx="5664200" cy="2972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76630" y="558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Bresenham</a:t>
            </a:r>
            <a:r>
              <a:rPr lang="zh-CN" altLang="en-US">
                <a:highlight>
                  <a:srgbClr val="FFFF00"/>
                </a:highlight>
              </a:rPr>
              <a:t>法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2" name="图片 1"/>
          <p:cNvPicPr/>
          <p:nvPr/>
        </p:nvPicPr>
        <p:blipFill>
          <a:blip r:embed="rId1"/>
          <a:srcRect t="4746" b="37663"/>
          <a:stretch>
            <a:fillRect/>
          </a:stretch>
        </p:blipFill>
        <p:spPr>
          <a:xfrm>
            <a:off x="2610485" y="219710"/>
            <a:ext cx="8512175" cy="6231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351790"/>
            <a:ext cx="8585835" cy="18072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80770" y="2599055"/>
            <a:ext cx="100304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中点画线法</a:t>
            </a:r>
            <a:r>
              <a:rPr lang="zh-CN" altLang="en-US" sz="2400"/>
              <a:t>：不同斜率下讨论</a:t>
            </a:r>
            <a:r>
              <a:rPr lang="en-US" altLang="zh-CN" sz="2400"/>
              <a:t>d&gt;=0</a:t>
            </a:r>
            <a:r>
              <a:rPr lang="zh-CN" altLang="en-US" sz="2400"/>
              <a:t>和</a:t>
            </a:r>
            <a:r>
              <a:rPr lang="en-US" altLang="zh-CN" sz="2400"/>
              <a:t>d&lt;0</a:t>
            </a:r>
            <a:r>
              <a:rPr lang="zh-CN" altLang="en-US" sz="2400"/>
              <a:t>的情况下</a:t>
            </a:r>
            <a:r>
              <a:rPr lang="en-US" altLang="zh-CN" sz="2400"/>
              <a:t>x</a:t>
            </a:r>
            <a:r>
              <a:rPr lang="zh-CN" altLang="en-US" sz="2400"/>
              <a:t>和</a:t>
            </a:r>
            <a:r>
              <a:rPr lang="en-US" altLang="zh-CN" sz="2400"/>
              <a:t>y</a:t>
            </a:r>
            <a:r>
              <a:rPr lang="zh-CN" altLang="en-US" sz="2400"/>
              <a:t>的变化。</a:t>
            </a:r>
            <a:endParaRPr lang="zh-CN" altLang="en-US" sz="2400"/>
          </a:p>
          <a:p>
            <a:r>
              <a:rPr lang="en-US" altLang="zh-CN" sz="2400"/>
              <a:t>                     </a:t>
            </a:r>
            <a:r>
              <a:rPr lang="zh-CN" altLang="en-US" sz="2400"/>
              <a:t>（可以参考曾惟清同学的代码）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080770" y="4037965"/>
            <a:ext cx="100291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highlight>
                  <a:srgbClr val="FFFF00"/>
                </a:highlight>
              </a:rPr>
              <a:t>Bresenham</a:t>
            </a:r>
            <a:r>
              <a:rPr lang="zh-CN" altLang="en-US" sz="2400">
                <a:highlight>
                  <a:srgbClr val="FFFF00"/>
                </a:highlight>
              </a:rPr>
              <a:t>法</a:t>
            </a:r>
            <a:r>
              <a:rPr lang="zh-CN" altLang="en-US" sz="2400"/>
              <a:t>：</a:t>
            </a:r>
            <a:r>
              <a:rPr lang="en-US" altLang="zh-CN" sz="2400"/>
              <a:t> </a:t>
            </a:r>
            <a:r>
              <a:rPr lang="zh-CN" altLang="en-US" sz="2400"/>
              <a:t>按斜率绝对值的不同情况讨论</a:t>
            </a:r>
            <a:r>
              <a:rPr lang="en-US" altLang="zh-CN" sz="2400"/>
              <a:t>e&gt;=0</a:t>
            </a:r>
            <a:r>
              <a:rPr lang="zh-CN" altLang="en-US" sz="2400"/>
              <a:t>和</a:t>
            </a:r>
            <a:r>
              <a:rPr lang="en-US" altLang="zh-CN" sz="2400"/>
              <a:t>e&lt;0</a:t>
            </a:r>
            <a:r>
              <a:rPr lang="zh-CN" altLang="en-US" sz="2400"/>
              <a:t>的情况下</a:t>
            </a:r>
            <a:r>
              <a:rPr lang="en-US" altLang="zh-CN" sz="2400"/>
              <a:t>x</a:t>
            </a:r>
            <a:r>
              <a:rPr lang="zh-CN" altLang="en-US" sz="2400"/>
              <a:t>和</a:t>
            </a:r>
            <a:r>
              <a:rPr lang="en-US" altLang="zh-CN" sz="2400"/>
              <a:t>y</a:t>
            </a:r>
            <a:r>
              <a:rPr lang="zh-CN" altLang="en-US" sz="2400"/>
              <a:t>的变化。（可以参考谢倩和张信同学的代码）</a:t>
            </a:r>
            <a:r>
              <a:rPr lang="en-US" altLang="zh-CN" sz="2400"/>
              <a:t>                    </a:t>
            </a:r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552450" y="229235"/>
            <a:ext cx="11079480" cy="902970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4567374" y="302005"/>
            <a:ext cx="29723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作业三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1233170"/>
            <a:ext cx="6298565" cy="106743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rcRect r="36654" b="65235"/>
          <a:stretch>
            <a:fillRect/>
          </a:stretch>
        </p:blipFill>
        <p:spPr>
          <a:xfrm>
            <a:off x="3194050" y="2228850"/>
            <a:ext cx="6280785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rcRect t="35446" r="39297" b="21486"/>
          <a:stretch>
            <a:fillRect/>
          </a:stretch>
        </p:blipFill>
        <p:spPr>
          <a:xfrm>
            <a:off x="437515" y="320040"/>
            <a:ext cx="6455410" cy="59594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31050" y="1833880"/>
            <a:ext cx="4721225" cy="173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highlight>
                  <a:srgbClr val="FFFF00"/>
                </a:highlight>
              </a:rPr>
              <a:t>注意</a:t>
            </a:r>
            <a:r>
              <a:rPr lang="zh-CN" altLang="en-US" sz="2800"/>
              <a:t>：</a:t>
            </a:r>
            <a:r>
              <a:rPr lang="en-US" altLang="zh-CN" sz="2800"/>
              <a:t>r</a:t>
            </a:r>
            <a:r>
              <a:rPr lang="zh-CN" altLang="en-US" sz="2800"/>
              <a:t>、</a:t>
            </a: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</a:t>
            </a:r>
            <a:r>
              <a:rPr lang="zh-CN" altLang="en-US" sz="2800"/>
              <a:t>、</a:t>
            </a:r>
            <a:r>
              <a:rPr lang="en-US" altLang="zh-CN" sz="2800"/>
              <a:t>d</a:t>
            </a:r>
            <a:r>
              <a:rPr lang="zh-CN" altLang="en-US" sz="2800"/>
              <a:t>、</a:t>
            </a:r>
            <a:r>
              <a:rPr lang="en-US" altLang="zh-CN" sz="2800"/>
              <a:t>x0</a:t>
            </a:r>
            <a:r>
              <a:rPr lang="zh-CN" altLang="en-US" sz="2800"/>
              <a:t>、</a:t>
            </a:r>
            <a:r>
              <a:rPr lang="en-US" altLang="zh-CN" sz="2800"/>
              <a:t>y0</a:t>
            </a:r>
            <a:r>
              <a:rPr lang="zh-CN" altLang="en-US" sz="2800"/>
              <a:t>都定义为整型，浮点型扣分。</a:t>
            </a:r>
            <a:endParaRPr lang="zh-CN" altLang="en-US" sz="2800"/>
          </a:p>
          <a:p>
            <a:r>
              <a:rPr lang="zh-CN" altLang="en-US" sz="2800"/>
              <a:t>没有半个像素点</a:t>
            </a:r>
            <a:endParaRPr lang="zh-CN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" y="283210"/>
            <a:ext cx="7622540" cy="104457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rcRect l="5417" t="14081" r="3497" b="36592"/>
          <a:stretch>
            <a:fillRect/>
          </a:stretch>
        </p:blipFill>
        <p:spPr>
          <a:xfrm>
            <a:off x="5390515" y="1071245"/>
            <a:ext cx="6729095" cy="502983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rcRect l="4302" r="29603" b="86204"/>
          <a:stretch>
            <a:fillRect/>
          </a:stretch>
        </p:blipFill>
        <p:spPr>
          <a:xfrm>
            <a:off x="133350" y="1537335"/>
            <a:ext cx="5082540" cy="1602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5" y="912495"/>
            <a:ext cx="8517255" cy="1171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60270" y="2698115"/>
            <a:ext cx="7358380" cy="1858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代码部分和上述（</a:t>
            </a:r>
            <a:r>
              <a:rPr lang="en-US" altLang="zh-CN" sz="3200"/>
              <a:t>1</a:t>
            </a:r>
            <a:r>
              <a:rPr lang="zh-CN" altLang="en-US" sz="3200"/>
              <a:t>）讲解的类似，写的思路比较清晰的同学有：</a:t>
            </a:r>
            <a:r>
              <a:rPr lang="zh-CN" altLang="en-US" sz="3200">
                <a:highlight>
                  <a:srgbClr val="FFFF00"/>
                </a:highlight>
              </a:rPr>
              <a:t>张信、曾惟清</a:t>
            </a:r>
            <a:r>
              <a:rPr lang="zh-CN" altLang="en-US" sz="3200"/>
              <a:t>。同学们可以参考。</a:t>
            </a:r>
            <a:endParaRPr lang="zh-CN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25" y="226060"/>
            <a:ext cx="7237730" cy="14763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31760" y="493395"/>
            <a:ext cx="4347210" cy="1084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一条扫描线填充过程：</a:t>
            </a:r>
            <a:endParaRPr lang="zh-CN" altLang="en-US" sz="2800"/>
          </a:p>
          <a:p>
            <a:r>
              <a:rPr lang="zh-CN" altLang="en-US" sz="2800">
                <a:highlight>
                  <a:srgbClr val="FFFF00"/>
                </a:highlight>
              </a:rPr>
              <a:t>求交、排序、配对、填色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760" y="1774190"/>
            <a:ext cx="3980815" cy="45104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8000" y="1774190"/>
            <a:ext cx="315722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扫描线填充：</a:t>
            </a:r>
            <a:r>
              <a:rPr lang="en-US" altLang="zh-CN" sz="2400">
                <a:highlight>
                  <a:srgbClr val="FFFF00"/>
                </a:highlight>
              </a:rPr>
              <a:t> </a:t>
            </a:r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57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8925" y="2461895"/>
            <a:ext cx="71596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关键步骤：</a:t>
            </a:r>
            <a:endParaRPr lang="zh-CN" altLang="en-US" sz="2400"/>
          </a:p>
          <a:p>
            <a:r>
              <a:rPr lang="zh-CN" altLang="en-US" sz="2400"/>
              <a:t>①确定多边形最高顶点和最低顶点的</a:t>
            </a:r>
            <a:r>
              <a:rPr lang="en-US" altLang="zh-CN" sz="2400"/>
              <a:t>y</a:t>
            </a:r>
            <a:r>
              <a:rPr lang="zh-CN" altLang="en-US" sz="2400"/>
              <a:t>轴坐标</a:t>
            </a:r>
            <a:r>
              <a:rPr lang="en-US" altLang="zh-CN" sz="2400"/>
              <a:t>maxY</a:t>
            </a:r>
            <a:r>
              <a:rPr lang="zh-CN" altLang="en-US" sz="2400"/>
              <a:t>、</a:t>
            </a:r>
            <a:r>
              <a:rPr lang="en-US" altLang="zh-CN" sz="2400"/>
              <a:t>minY</a:t>
            </a:r>
            <a:endParaRPr lang="en-US" altLang="zh-CN" sz="2400"/>
          </a:p>
          <a:p>
            <a:r>
              <a:rPr lang="zh-CN" altLang="en-US" sz="2400"/>
              <a:t>②为了避免填充扩大化，从</a:t>
            </a:r>
            <a:r>
              <a:rPr lang="en-US" altLang="zh-CN" sz="2400"/>
              <a:t>minY+0.5</a:t>
            </a:r>
            <a:r>
              <a:rPr lang="zh-CN" altLang="en-US" sz="2400"/>
              <a:t>的位置开始扫描</a:t>
            </a:r>
            <a:endParaRPr lang="zh-CN" altLang="en-US" sz="2400"/>
          </a:p>
          <a:p>
            <a:r>
              <a:rPr lang="zh-CN" altLang="en-US" sz="2400"/>
              <a:t>③扫描线按交点</a:t>
            </a:r>
            <a:r>
              <a:rPr lang="en-US" altLang="zh-CN" sz="2400"/>
              <a:t>x</a:t>
            </a:r>
            <a:r>
              <a:rPr lang="zh-CN" altLang="en-US" sz="2400"/>
              <a:t>坐标的值从小到大排序，形成有序边表</a:t>
            </a:r>
            <a:endParaRPr lang="zh-CN" altLang="en-US" sz="2400"/>
          </a:p>
          <a:p>
            <a:r>
              <a:rPr lang="zh-CN" altLang="en-US" sz="2400"/>
              <a:t>④将交点两两配对</a:t>
            </a:r>
            <a:endParaRPr lang="zh-CN" altLang="en-US" sz="2400"/>
          </a:p>
          <a:p>
            <a:r>
              <a:rPr lang="zh-CN" altLang="en-US" sz="2400"/>
              <a:t>⑤对所有满足</a:t>
            </a:r>
            <a:r>
              <a:rPr lang="en-US" altLang="zh-CN" sz="2400"/>
              <a:t>x</a:t>
            </a:r>
            <a:r>
              <a:rPr lang="en-US" altLang="zh-CN" sz="2400" baseline="-25000">
                <a:solidFill>
                  <a:schemeClr val="tx1"/>
                </a:solidFill>
                <a:uFillTx/>
              </a:rPr>
              <a:t>i </a:t>
            </a:r>
            <a:r>
              <a:rPr lang="en-US" altLang="zh-CN" sz="2400"/>
              <a:t>&lt;= x+0.5 &lt;= x</a:t>
            </a:r>
            <a:r>
              <a:rPr lang="en-US" altLang="zh-CN" sz="2400" baseline="-25000">
                <a:solidFill>
                  <a:schemeClr val="tx1"/>
                </a:solidFill>
                <a:uFillTx/>
              </a:rPr>
              <a:t>i+1</a:t>
            </a:r>
            <a:r>
              <a:rPr lang="zh-CN" altLang="en-US" sz="2400"/>
              <a:t>的整数点进行填充。</a:t>
            </a:r>
            <a:endParaRPr lang="zh-CN" altLang="en-US" sz="2400"/>
          </a:p>
          <a:p>
            <a:r>
              <a:rPr lang="zh-CN" altLang="en-US" sz="2400"/>
              <a:t>⑥</a:t>
            </a:r>
            <a:r>
              <a:rPr lang="en-US" altLang="zh-CN" sz="2400"/>
              <a:t>y = y + 1</a:t>
            </a:r>
            <a:r>
              <a:rPr lang="zh-CN" altLang="en-US" sz="2400"/>
              <a:t>，直到</a:t>
            </a:r>
            <a:r>
              <a:rPr lang="en-US" altLang="zh-CN" sz="2400"/>
              <a:t>y&gt;maxY</a:t>
            </a:r>
            <a:r>
              <a:rPr lang="zh-CN" altLang="en-US" sz="2400"/>
              <a:t>，否则返回③</a:t>
            </a:r>
            <a:endParaRPr lang="zh-CN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2260" y="169545"/>
            <a:ext cx="3620135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简单种子填充：</a:t>
            </a:r>
            <a:r>
              <a:rPr lang="en-US" altLang="zh-CN" sz="2400">
                <a:highlight>
                  <a:srgbClr val="FFFF00"/>
                </a:highlight>
              </a:rPr>
              <a:t> </a:t>
            </a:r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61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8975" y="712470"/>
            <a:ext cx="9105265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有四填充和八填充，都差不多，</a:t>
            </a:r>
            <a:r>
              <a:rPr lang="zh-CN" altLang="en-US" sz="2400">
                <a:highlight>
                  <a:srgbClr val="FFFF00"/>
                </a:highlight>
              </a:rPr>
              <a:t>八填充是米字型，四填充是十字型</a:t>
            </a:r>
            <a:r>
              <a:rPr lang="zh-CN" altLang="en-US" sz="2400"/>
              <a:t>，八填充优于四填充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52417"/>
          <a:stretch>
            <a:fillRect/>
          </a:stretch>
        </p:blipFill>
        <p:spPr>
          <a:xfrm>
            <a:off x="589280" y="1685290"/>
            <a:ext cx="2538095" cy="2377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2405"/>
          <a:stretch>
            <a:fillRect/>
          </a:stretch>
        </p:blipFill>
        <p:spPr>
          <a:xfrm>
            <a:off x="588645" y="4165600"/>
            <a:ext cx="2538730" cy="2377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45585" y="1520190"/>
            <a:ext cx="7806055" cy="5234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对于四连通边界定义的区域，可使用堆栈结构来实现简单的种子填充算法，算法描述如下：</a:t>
            </a:r>
            <a:endParaRPr lang="zh-CN" altLang="en-US" sz="2400"/>
          </a:p>
          <a:p>
            <a:r>
              <a:rPr lang="en-US" altLang="zh-CN" sz="2400"/>
              <a:t>(1)</a:t>
            </a:r>
            <a:r>
              <a:rPr lang="zh-CN" altLang="en-US" sz="2400"/>
              <a:t>将种子像素人栈。</a:t>
            </a:r>
            <a:endParaRPr lang="zh-CN" altLang="en-US" sz="2400"/>
          </a:p>
          <a:p>
            <a:r>
              <a:rPr lang="en-US" altLang="zh-CN" sz="2400"/>
              <a:t>(2)</a:t>
            </a:r>
            <a:r>
              <a:rPr lang="zh-CN" altLang="en-US" sz="2400"/>
              <a:t>当栈为非空时，重复执行以下步骤。</a:t>
            </a:r>
            <a:endParaRPr lang="zh-CN" altLang="en-US" sz="2400"/>
          </a:p>
          <a:p>
            <a:r>
              <a:rPr lang="en-US" altLang="en-US" sz="2400"/>
              <a:t>    ①</a:t>
            </a:r>
            <a:r>
              <a:rPr lang="en-US" altLang="zh-CN" sz="2400"/>
              <a:t> </a:t>
            </a:r>
            <a:r>
              <a:rPr lang="zh-CN" altLang="en-US" sz="2400"/>
              <a:t>栈顶像素出栈。</a:t>
            </a:r>
            <a:endParaRPr lang="zh-CN" altLang="en-US" sz="2400"/>
          </a:p>
          <a:p>
            <a:r>
              <a:rPr lang="en-US" altLang="en-US" sz="2400"/>
              <a:t>    ②</a:t>
            </a:r>
            <a:r>
              <a:rPr lang="zh-CN" altLang="en-US" sz="2400"/>
              <a:t>将出栈像素置成填充色</a:t>
            </a:r>
            <a:endParaRPr lang="zh-CN" altLang="en-US" sz="2400"/>
          </a:p>
          <a:p>
            <a:r>
              <a:rPr lang="en-US" altLang="en-US" sz="2400"/>
              <a:t>    ③</a:t>
            </a:r>
            <a:r>
              <a:rPr lang="en-US" altLang="zh-CN" sz="2400"/>
              <a:t> </a:t>
            </a:r>
            <a:r>
              <a:rPr lang="zh-CN" altLang="en-US" sz="2400"/>
              <a:t>按左、上、右、下顺序检査与出栈像素相邻的</a:t>
            </a:r>
            <a:r>
              <a:rPr lang="en-US" altLang="zh-CN" sz="2400"/>
              <a:t>4</a:t>
            </a:r>
            <a:r>
              <a:rPr lang="zh-CN" altLang="en-US" sz="2400"/>
              <a:t>个像素</a:t>
            </a:r>
            <a:r>
              <a:rPr lang="en-US" altLang="zh-CN" sz="2400"/>
              <a:t>,</a:t>
            </a:r>
            <a:r>
              <a:rPr lang="zh-CN" altLang="en-US" sz="2400"/>
              <a:t>若其中某像素不在边界上且未被置成填充色，则将其入栈，重复执行步骤</a:t>
            </a:r>
            <a:r>
              <a:rPr lang="en-US" altLang="zh-CN" sz="2400"/>
              <a:t>(2)</a:t>
            </a:r>
            <a:r>
              <a:rPr lang="zh-CN" altLang="en-US" sz="2400"/>
              <a:t>，直到堆栈为空时结束</a:t>
            </a:r>
            <a:endParaRPr lang="zh-CN" altLang="en-US" sz="2400"/>
          </a:p>
          <a:p>
            <a:r>
              <a:rPr lang="zh-CN" altLang="en-US" sz="2400"/>
              <a:t>。</a:t>
            </a:r>
            <a:endParaRPr lang="zh-CN" altLang="en-US" sz="2400"/>
          </a:p>
          <a:p>
            <a:r>
              <a:rPr lang="zh-CN" altLang="en-US" sz="2400"/>
              <a:t>若对上述算法稍作修改，将搜索方向由</a:t>
            </a:r>
            <a:r>
              <a:rPr lang="en-US" altLang="zh-CN" sz="2400"/>
              <a:t>4</a:t>
            </a:r>
            <a:r>
              <a:rPr lang="zh-CN" altLang="en-US" sz="2400"/>
              <a:t>个改成</a:t>
            </a:r>
            <a:r>
              <a:rPr lang="en-US" altLang="zh-CN" sz="2400"/>
              <a:t>8</a:t>
            </a:r>
            <a:r>
              <a:rPr lang="zh-CN" altLang="en-US" sz="2400"/>
              <a:t>个，即将</a:t>
            </a:r>
            <a:r>
              <a:rPr lang="en-US" altLang="zh-CN" sz="2400"/>
              <a:t>“</a:t>
            </a:r>
            <a:r>
              <a:rPr lang="zh-CN" altLang="en-US" sz="2400"/>
              <a:t>检查与出栈像素相邻的</a:t>
            </a:r>
            <a:r>
              <a:rPr lang="en-US" altLang="zh-CN" sz="2400"/>
              <a:t>4</a:t>
            </a:r>
            <a:r>
              <a:rPr lang="zh-CN" altLang="en-US" sz="2400"/>
              <a:t>个像素</a:t>
            </a:r>
            <a:r>
              <a:rPr lang="en-US" altLang="zh-CN" sz="2400"/>
              <a:t>”</a:t>
            </a:r>
            <a:r>
              <a:rPr lang="zh-CN" altLang="en-US" sz="2400"/>
              <a:t>改为</a:t>
            </a:r>
            <a:r>
              <a:rPr lang="en-US" altLang="zh-CN" sz="2400"/>
              <a:t>“</a:t>
            </a:r>
            <a:r>
              <a:rPr lang="zh-CN" altLang="en-US" sz="2400"/>
              <a:t>检查与出栈像素相邻的</a:t>
            </a:r>
            <a:r>
              <a:rPr lang="en-US" altLang="zh-CN" sz="2400"/>
              <a:t>8</a:t>
            </a:r>
            <a:r>
              <a:rPr lang="zh-CN" altLang="en-US" sz="2400"/>
              <a:t>个像素</a:t>
            </a:r>
            <a:r>
              <a:rPr lang="en-US" altLang="zh-CN" sz="2400"/>
              <a:t>”</a:t>
            </a:r>
            <a:r>
              <a:rPr lang="zh-CN" altLang="en-US" sz="2400"/>
              <a:t>，则上述方法同样适用于八连通区域。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2260" y="169545"/>
            <a:ext cx="460756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扫描线种子填充：</a:t>
            </a:r>
            <a:r>
              <a:rPr lang="en-US" altLang="zh-CN" sz="2400">
                <a:highlight>
                  <a:srgbClr val="FFFF00"/>
                </a:highlight>
              </a:rPr>
              <a:t> </a:t>
            </a:r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63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endParaRPr lang="zh-CN" altLang="en-US" sz="2400"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" y="1519555"/>
            <a:ext cx="1132713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rcRect b="46174"/>
          <a:stretch>
            <a:fillRect/>
          </a:stretch>
        </p:blipFill>
        <p:spPr>
          <a:xfrm>
            <a:off x="1424940" y="320040"/>
            <a:ext cx="8395970" cy="6306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2260" y="169545"/>
            <a:ext cx="460756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简单边填充：</a:t>
            </a:r>
            <a:r>
              <a:rPr lang="en-US" altLang="zh-CN" sz="2400">
                <a:highlight>
                  <a:srgbClr val="FFFF00"/>
                </a:highlight>
              </a:rPr>
              <a:t> </a:t>
            </a:r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59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endParaRPr lang="zh-CN" altLang="en-US" sz="2400"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980" y="895985"/>
            <a:ext cx="7861300" cy="4279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41725" y="568134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highlight>
                  <a:srgbClr val="FFFF00"/>
                </a:highlight>
              </a:rPr>
              <a:t>加边取反</a:t>
            </a:r>
            <a:endParaRPr lang="zh-CN" altLang="en-US" sz="28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02260" y="169545"/>
            <a:ext cx="460756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栅栏填充：</a:t>
            </a:r>
            <a:r>
              <a:rPr lang="en-US" altLang="zh-CN" sz="2400">
                <a:highlight>
                  <a:srgbClr val="FFFF00"/>
                </a:highlight>
              </a:rPr>
              <a:t> </a:t>
            </a:r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60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endParaRPr lang="zh-CN" altLang="en-US" sz="2400"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" y="999490"/>
            <a:ext cx="11864340" cy="4201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035" y="1049020"/>
            <a:ext cx="9283700" cy="5060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90" y="229235"/>
            <a:ext cx="8983980" cy="1290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" y="1673860"/>
            <a:ext cx="9614535" cy="1320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23415" y="3604895"/>
            <a:ext cx="6821170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highlight>
                  <a:srgbClr val="FFFF00"/>
                </a:highlight>
              </a:rPr>
              <a:t>张信和谢倩</a:t>
            </a:r>
            <a:r>
              <a:rPr lang="zh-CN" altLang="en-US" sz="2800"/>
              <a:t>同学的代码写的还不错，大家可以参考一下。</a:t>
            </a:r>
            <a:endParaRPr lang="zh-CN" altLang="en-U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552450" y="229235"/>
            <a:ext cx="11079480" cy="902970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4567374" y="302005"/>
            <a:ext cx="29723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作业四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0633" b="10046"/>
          <a:stretch>
            <a:fillRect/>
          </a:stretch>
        </p:blipFill>
        <p:spPr>
          <a:xfrm>
            <a:off x="552450" y="1432560"/>
            <a:ext cx="8912860" cy="9055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814" t="8507" r="1662" b="3661"/>
          <a:stretch>
            <a:fillRect/>
          </a:stretch>
        </p:blipFill>
        <p:spPr>
          <a:xfrm>
            <a:off x="552450" y="3007995"/>
            <a:ext cx="11301730" cy="19551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66680" y="1370965"/>
            <a:ext cx="1245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书</a:t>
            </a:r>
            <a:r>
              <a:rPr lang="en-US" altLang="zh-CN">
                <a:highlight>
                  <a:srgbClr val="FFFF00"/>
                </a:highlight>
              </a:rPr>
              <a:t>71</a:t>
            </a:r>
            <a:r>
              <a:rPr lang="zh-CN" altLang="en-US">
                <a:highlight>
                  <a:srgbClr val="FFFF00"/>
                </a:highlight>
              </a:rPr>
              <a:t>页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286" b="4105"/>
          <a:stretch>
            <a:fillRect/>
          </a:stretch>
        </p:blipFill>
        <p:spPr>
          <a:xfrm>
            <a:off x="492760" y="1052830"/>
            <a:ext cx="11207115" cy="3946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" y="419100"/>
            <a:ext cx="7489190" cy="1069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13874"/>
          <a:stretch>
            <a:fillRect/>
          </a:stretch>
        </p:blipFill>
        <p:spPr>
          <a:xfrm>
            <a:off x="657860" y="2070100"/>
            <a:ext cx="10777855" cy="2352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830" y="299085"/>
            <a:ext cx="7372350" cy="62591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30" y="86995"/>
            <a:ext cx="8176895" cy="1642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101850"/>
            <a:ext cx="11022965" cy="4023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59805" y="15043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四阶</a:t>
            </a:r>
            <a:r>
              <a:rPr lang="en-US" altLang="zh-CN" sz="2400">
                <a:highlight>
                  <a:srgbClr val="FFFF00"/>
                </a:highlight>
              </a:rPr>
              <a:t>Bezier</a:t>
            </a:r>
            <a:r>
              <a:rPr lang="zh-CN" altLang="en-US" sz="2400">
                <a:highlight>
                  <a:srgbClr val="FFFF00"/>
                </a:highlight>
              </a:rPr>
              <a:t>曲线</a:t>
            </a:r>
            <a:r>
              <a:rPr lang="en-US" altLang="zh-CN" sz="2400">
                <a:highlight>
                  <a:srgbClr val="FFFF00"/>
                </a:highlight>
              </a:rPr>
              <a:t>——</a:t>
            </a:r>
            <a:r>
              <a:rPr lang="zh-CN" altLang="en-US" sz="2400">
                <a:highlight>
                  <a:srgbClr val="FFFF00"/>
                </a:highlight>
              </a:rPr>
              <a:t>三次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8445"/>
            <a:ext cx="8091805" cy="16224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13875" y="1123315"/>
            <a:ext cx="24384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k</a:t>
            </a:r>
            <a:r>
              <a:rPr lang="zh-CN" altLang="en-US" sz="2400"/>
              <a:t>阶</a:t>
            </a:r>
            <a:r>
              <a:rPr lang="en-US" altLang="zh-CN" sz="2400"/>
              <a:t> —— k-1</a:t>
            </a:r>
            <a:r>
              <a:rPr lang="zh-CN" altLang="en-US" sz="2400"/>
              <a:t>次</a:t>
            </a:r>
            <a:endParaRPr lang="zh-CN" altLang="en-US" sz="2400"/>
          </a:p>
          <a:p>
            <a:r>
              <a:rPr lang="zh-CN" altLang="en-US" sz="2400"/>
              <a:t>题</a:t>
            </a:r>
            <a:r>
              <a:rPr lang="en-US" altLang="zh-CN" sz="2400"/>
              <a:t> </a:t>
            </a:r>
            <a:r>
              <a:rPr lang="en-US" altLang="zh-CN" sz="2400">
                <a:highlight>
                  <a:srgbClr val="FFFF00"/>
                </a:highlight>
              </a:rPr>
              <a:t>3</a:t>
            </a:r>
            <a:r>
              <a:rPr lang="zh-CN" altLang="en-US" sz="2400">
                <a:highlight>
                  <a:srgbClr val="FFFF00"/>
                </a:highlight>
              </a:rPr>
              <a:t>阶</a:t>
            </a:r>
            <a:r>
              <a:rPr lang="en-US" altLang="zh-CN" sz="2400">
                <a:highlight>
                  <a:srgbClr val="FFFF00"/>
                </a:highlight>
              </a:rPr>
              <a:t>——2</a:t>
            </a:r>
            <a:r>
              <a:rPr lang="zh-CN" altLang="en-US" sz="2400">
                <a:highlight>
                  <a:srgbClr val="FFFF00"/>
                </a:highlight>
              </a:rPr>
              <a:t>次</a:t>
            </a:r>
            <a:endParaRPr lang="zh-CN" altLang="en-US" sz="2400">
              <a:highlight>
                <a:srgbClr val="FFFF00"/>
              </a:highligh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" y="2226310"/>
            <a:ext cx="10401935" cy="35934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552450" y="229235"/>
            <a:ext cx="11079480" cy="902970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4567374" y="302005"/>
            <a:ext cx="29723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作业五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2450" y="1370330"/>
            <a:ext cx="8918575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基本几何变换一共有五种：</a:t>
            </a:r>
            <a:r>
              <a:rPr lang="zh-CN" altLang="en-US" sz="2400">
                <a:highlight>
                  <a:srgbClr val="FFFF00"/>
                </a:highlight>
              </a:rPr>
              <a:t>平移、比例、旋转</a:t>
            </a:r>
            <a:r>
              <a:rPr lang="zh-CN" altLang="en-US" sz="2400"/>
              <a:t>、反射、错切</a:t>
            </a:r>
            <a:endParaRPr lang="zh-CN" altLang="en-US" sz="2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35" y="2683510"/>
            <a:ext cx="2734310" cy="36772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96010" y="2149475"/>
            <a:ext cx="1512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平移变换</a:t>
            </a:r>
            <a:endParaRPr lang="zh-CN" altLang="en-US" sz="2400">
              <a:highlight>
                <a:srgbClr val="FFFF00"/>
              </a:highlight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80" y="2682875"/>
            <a:ext cx="2777490" cy="36931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252335" y="2149475"/>
            <a:ext cx="2981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比例变换（缩放变换）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555" y="918845"/>
            <a:ext cx="3173095" cy="56610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29690" y="349250"/>
            <a:ext cx="1512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</a:rPr>
              <a:t>旋转变换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61280" y="2491740"/>
            <a:ext cx="6382385" cy="148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注意：三维图形几何变换矩阵尽量写</a:t>
            </a:r>
            <a:r>
              <a:rPr lang="en-US" altLang="zh-CN" sz="3200">
                <a:highlight>
                  <a:srgbClr val="FFFF00"/>
                </a:highlight>
              </a:rPr>
              <a:t>4</a:t>
            </a:r>
            <a:r>
              <a:rPr lang="zh-CN" altLang="en-US" sz="3200">
                <a:highlight>
                  <a:srgbClr val="FFFF00"/>
                </a:highlight>
              </a:rPr>
              <a:t>×</a:t>
            </a:r>
            <a:r>
              <a:rPr lang="en-US" altLang="zh-CN" sz="3200">
                <a:highlight>
                  <a:srgbClr val="FFFF00"/>
                </a:highlight>
              </a:rPr>
              <a:t>4</a:t>
            </a:r>
            <a:r>
              <a:rPr lang="zh-CN" altLang="en-US" sz="3200"/>
              <a:t>的。</a:t>
            </a:r>
            <a:r>
              <a:rPr lang="en-US" altLang="zh-CN" sz="3200"/>
              <a:t>3</a:t>
            </a:r>
            <a:r>
              <a:rPr lang="zh-CN" altLang="en-US" sz="3200"/>
              <a:t>×</a:t>
            </a:r>
            <a:r>
              <a:rPr lang="en-US" altLang="zh-CN" sz="3200"/>
              <a:t>3</a:t>
            </a:r>
            <a:r>
              <a:rPr lang="zh-CN" altLang="en-US" sz="3200"/>
              <a:t>表示不了平移变换。</a:t>
            </a:r>
            <a:endParaRPr lang="zh-CN" altLang="en-US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408940"/>
            <a:ext cx="7221855" cy="14928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901825"/>
            <a:ext cx="7408545" cy="10407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35758"/>
          <a:stretch>
            <a:fillRect/>
          </a:stretch>
        </p:blipFill>
        <p:spPr>
          <a:xfrm>
            <a:off x="4464050" y="3150870"/>
            <a:ext cx="6231255" cy="3227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49599" t="6233" b="65807"/>
          <a:stretch>
            <a:fillRect/>
          </a:stretch>
        </p:blipFill>
        <p:spPr>
          <a:xfrm>
            <a:off x="678180" y="4337685"/>
            <a:ext cx="3169285" cy="1417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40" y="3429000"/>
            <a:ext cx="1785620" cy="579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115935" y="1490345"/>
            <a:ext cx="3694430" cy="1425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highlight>
                  <a:srgbClr val="FFFF00"/>
                </a:highlight>
              </a:rPr>
              <a:t>书</a:t>
            </a:r>
            <a:r>
              <a:rPr lang="en-US" altLang="zh-CN" sz="2400">
                <a:highlight>
                  <a:srgbClr val="FFFF00"/>
                </a:highlight>
              </a:rPr>
              <a:t>124</a:t>
            </a:r>
            <a:r>
              <a:rPr lang="zh-CN" altLang="en-US" sz="2400">
                <a:highlight>
                  <a:srgbClr val="FFFF00"/>
                </a:highlight>
              </a:rPr>
              <a:t>页</a:t>
            </a:r>
            <a:r>
              <a:rPr lang="en-US" altLang="zh-CN" sz="2400"/>
              <a:t> </a:t>
            </a:r>
            <a:r>
              <a:rPr lang="zh-CN" altLang="en-US" sz="2400"/>
              <a:t>是右乘变换矩阵</a:t>
            </a:r>
            <a:endParaRPr lang="zh-CN" altLang="en-US" sz="2400"/>
          </a:p>
          <a:p>
            <a:r>
              <a:rPr lang="zh-CN" altLang="en-US" sz="2400"/>
              <a:t>国外书上大多是左乘矩阵</a:t>
            </a:r>
            <a:endParaRPr lang="zh-CN" altLang="en-US" sz="2400"/>
          </a:p>
          <a:p>
            <a:r>
              <a:rPr lang="zh-CN" altLang="en-US" sz="2400"/>
              <a:t>左乘也对</a:t>
            </a:r>
            <a:endParaRPr lang="zh-CN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70" y="175895"/>
            <a:ext cx="6393180" cy="1372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329" r="2536" b="67503"/>
          <a:stretch>
            <a:fillRect/>
          </a:stretch>
        </p:blipFill>
        <p:spPr>
          <a:xfrm>
            <a:off x="420370" y="3305175"/>
            <a:ext cx="4872990" cy="15062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33400" b="82734"/>
          <a:stretch>
            <a:fillRect/>
          </a:stretch>
        </p:blipFill>
        <p:spPr>
          <a:xfrm>
            <a:off x="266065" y="1682750"/>
            <a:ext cx="7112000" cy="896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720" y="2713990"/>
            <a:ext cx="5092065" cy="1603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850" y="4566285"/>
            <a:ext cx="5080635" cy="16306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90" y="162560"/>
            <a:ext cx="7011670" cy="1581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5" y="1880870"/>
            <a:ext cx="8008620" cy="4762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425" y="1880870"/>
            <a:ext cx="2781300" cy="14027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2781" r="2652" b="13165"/>
          <a:stretch>
            <a:fillRect/>
          </a:stretch>
        </p:blipFill>
        <p:spPr>
          <a:xfrm>
            <a:off x="7427595" y="3383915"/>
            <a:ext cx="4658360" cy="487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6060"/>
            <a:ext cx="7376795" cy="1084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5531485"/>
            <a:ext cx="4705985" cy="1129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25" y="1310640"/>
            <a:ext cx="7281545" cy="4053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1965" y="4323080"/>
            <a:ext cx="4927600" cy="800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highlight>
                  <a:srgbClr val="FFFF00"/>
                </a:highlight>
              </a:rPr>
              <a:t>T</a:t>
            </a:r>
            <a:r>
              <a:rPr lang="zh-CN" altLang="en-US" sz="2400">
                <a:highlight>
                  <a:srgbClr val="FFFF00"/>
                </a:highlight>
              </a:rPr>
              <a:t>就是把前面所有的矩阵都乘在一起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298450"/>
            <a:ext cx="7880985" cy="1075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0" y="1537335"/>
            <a:ext cx="826643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77495"/>
            <a:ext cx="8622665" cy="61747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" y="215900"/>
            <a:ext cx="7993380" cy="10864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45" y="1341120"/>
            <a:ext cx="6727190" cy="5337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5" y="2335530"/>
            <a:ext cx="4060190" cy="1620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30" y="149225"/>
            <a:ext cx="8419465" cy="1116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425575"/>
            <a:ext cx="3740150" cy="3197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730" y="1265555"/>
            <a:ext cx="7428230" cy="5428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9730" y="498411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端点编码按</a:t>
            </a:r>
            <a:r>
              <a:rPr lang="zh-CN" altLang="en-US" sz="2000">
                <a:highlight>
                  <a:srgbClr val="FFFF00"/>
                </a:highlight>
              </a:rPr>
              <a:t>位与</a:t>
            </a:r>
            <a:r>
              <a:rPr lang="en-US" altLang="zh-CN" sz="2000">
                <a:highlight>
                  <a:srgbClr val="FFFF00"/>
                </a:highlight>
              </a:rPr>
              <a:t>&amp;</a:t>
            </a:r>
            <a:r>
              <a:rPr lang="zh-CN" altLang="en-US" sz="2000"/>
              <a:t>看是否为</a:t>
            </a:r>
            <a:r>
              <a:rPr lang="en-US" altLang="zh-CN" sz="2000"/>
              <a:t>0000</a:t>
            </a:r>
            <a:endParaRPr lang="en-US" altLang="zh-CN" sz="2000"/>
          </a:p>
          <a:p>
            <a:r>
              <a:rPr lang="zh-CN" altLang="en-US" sz="2000"/>
              <a:t>为</a:t>
            </a:r>
            <a:r>
              <a:rPr lang="en-US" altLang="zh-CN" sz="2000"/>
              <a:t>0000</a:t>
            </a:r>
            <a:r>
              <a:rPr lang="zh-CN" altLang="en-US" sz="2000"/>
              <a:t>：操作</a:t>
            </a:r>
            <a:endParaRPr lang="zh-CN" altLang="en-US" sz="2000"/>
          </a:p>
          <a:p>
            <a:r>
              <a:rPr lang="zh-CN" altLang="en-US" sz="2000"/>
              <a:t>不为</a:t>
            </a:r>
            <a:r>
              <a:rPr lang="en-US" altLang="zh-CN" sz="2000"/>
              <a:t>0000</a:t>
            </a:r>
            <a:r>
              <a:rPr lang="zh-CN" altLang="en-US" sz="2000"/>
              <a:t>：无可见线段输出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10030460" y="382905"/>
            <a:ext cx="1512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书</a:t>
            </a:r>
            <a:r>
              <a:rPr lang="en-US" altLang="zh-CN">
                <a:highlight>
                  <a:srgbClr val="FFFF00"/>
                </a:highlight>
              </a:rPr>
              <a:t>141</a:t>
            </a:r>
            <a:r>
              <a:rPr lang="zh-CN" altLang="en-US">
                <a:highlight>
                  <a:srgbClr val="FFFF00"/>
                </a:highlight>
              </a:rPr>
              <a:t>页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268605"/>
            <a:ext cx="7328535" cy="15379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43670" y="650240"/>
            <a:ext cx="1769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书</a:t>
            </a:r>
            <a:r>
              <a:rPr lang="en-US" altLang="zh-CN">
                <a:highlight>
                  <a:srgbClr val="FFFF00"/>
                </a:highlight>
              </a:rPr>
              <a:t>144-145</a:t>
            </a:r>
            <a:r>
              <a:rPr lang="zh-CN" altLang="en-US">
                <a:highlight>
                  <a:srgbClr val="FFFF00"/>
                </a:highlight>
              </a:rPr>
              <a:t>页</a:t>
            </a:r>
            <a:endParaRPr lang="zh-CN" altLang="en-US">
              <a:highlight>
                <a:srgbClr val="FFFF00"/>
              </a:highligh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" y="1806575"/>
            <a:ext cx="9523095" cy="49352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0085" y="603250"/>
            <a:ext cx="11141710" cy="4784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算法步骤：</a:t>
            </a:r>
            <a:endParaRPr lang="zh-CN" altLang="en-US" sz="3200"/>
          </a:p>
          <a:p>
            <a:endParaRPr lang="zh-CN" altLang="en-US" sz="3200"/>
          </a:p>
          <a:p>
            <a:pPr marL="457200" indent="-457200">
              <a:buAutoNum type="arabicPeriod"/>
            </a:pPr>
            <a:r>
              <a:rPr lang="zh-CN" altLang="en-US" sz="2400"/>
              <a:t>初始化：将多边形的顶点列表和窗口的四个边（左、右、上、下）定义清楚。</a:t>
            </a:r>
            <a:endParaRPr lang="zh-CN" altLang="en-US" sz="2400"/>
          </a:p>
          <a:p>
            <a:pPr marL="457200" indent="-457200">
              <a:buAutoNum type="arabicPeriod"/>
            </a:pPr>
            <a:r>
              <a:rPr lang="zh-CN" altLang="en-US" sz="2400"/>
              <a:t>遍历每条边：依次处理窗口的每一条边，进行裁剪。</a:t>
            </a:r>
            <a:endParaRPr lang="zh-CN" altLang="en-US" sz="2400"/>
          </a:p>
          <a:p>
            <a:pPr marL="457200" indent="-457200">
              <a:buAutoNum type="arabicPeriod"/>
            </a:pPr>
            <a:r>
              <a:rPr lang="zh-CN" altLang="en-US" sz="2400"/>
              <a:t>点的分类：确定多边形的每个点相对于当前裁剪边的位置（在边的内侧或外侧）。根据分类结果决定如何处理每个点。</a:t>
            </a:r>
            <a:endParaRPr lang="zh-CN" altLang="en-US" sz="2400"/>
          </a:p>
          <a:p>
            <a:pPr marL="457200" indent="-457200">
              <a:buAutoNum type="arabicPeriod"/>
            </a:pPr>
            <a:r>
              <a:rPr lang="zh-CN" altLang="en-US" sz="2400"/>
              <a:t>生成新顶点：①如果当前点在边内侧，直接将其加入到新顶点列表。②如果当前点在边外侧，但前一个点在内侧，则计算交点并将其加入新顶点列表。③如果当前点在边外侧，且前一个点也在外侧，则不做任何操作。</a:t>
            </a:r>
            <a:endParaRPr lang="zh-CN" altLang="en-US" sz="2400"/>
          </a:p>
          <a:p>
            <a:pPr marL="457200" indent="-457200">
              <a:buAutoNum type="arabicPeriod"/>
            </a:pPr>
            <a:r>
              <a:rPr lang="zh-CN" altLang="en-US" sz="2400"/>
              <a:t>更新多边形：用新生成的顶点列表替换原多边形的顶点列表。</a:t>
            </a:r>
            <a:endParaRPr lang="zh-CN" altLang="en-US" sz="2400"/>
          </a:p>
          <a:p>
            <a:pPr marL="457200" indent="-457200">
              <a:buAutoNum type="arabicPeriod"/>
            </a:pPr>
            <a:r>
              <a:rPr lang="zh-CN" altLang="en-US" sz="2400"/>
              <a:t>重复处理：对每条边重复步骤</a:t>
            </a:r>
            <a:r>
              <a:rPr lang="en-US" altLang="zh-CN" sz="2400"/>
              <a:t> 3 </a:t>
            </a:r>
            <a:r>
              <a:rPr lang="zh-CN" altLang="en-US" sz="2400"/>
              <a:t>到</a:t>
            </a:r>
            <a:r>
              <a:rPr lang="en-US" altLang="zh-CN" sz="2400"/>
              <a:t> 5</a:t>
            </a:r>
            <a:r>
              <a:rPr lang="zh-CN" altLang="en-US" sz="2400"/>
              <a:t>，直到处理完所有边。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45" y="201930"/>
            <a:ext cx="8077200" cy="111379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rcRect l="3113" t="30285" r="2244"/>
          <a:stretch>
            <a:fillRect/>
          </a:stretch>
        </p:blipFill>
        <p:spPr>
          <a:xfrm>
            <a:off x="5402580" y="815340"/>
            <a:ext cx="6541770" cy="58858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rcRect l="8223" r="1295" b="70230"/>
          <a:stretch>
            <a:fillRect/>
          </a:stretch>
        </p:blipFill>
        <p:spPr>
          <a:xfrm>
            <a:off x="282575" y="1925955"/>
            <a:ext cx="4941570" cy="23348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4480" y="5033010"/>
            <a:ext cx="4500880" cy="1129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代码部分写的比较好的：</a:t>
            </a:r>
            <a:r>
              <a:rPr lang="zh-CN" altLang="en-US" sz="2400">
                <a:highlight>
                  <a:srgbClr val="FFFF00"/>
                </a:highlight>
              </a:rPr>
              <a:t>张小林</a:t>
            </a:r>
            <a:r>
              <a:rPr lang="zh-CN" altLang="en-US" sz="2400"/>
              <a:t>，有需要的同学可以参考。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552450" y="229235"/>
            <a:ext cx="11079480" cy="902970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6"/>
          <p:cNvSpPr txBox="1"/>
          <p:nvPr/>
        </p:nvSpPr>
        <p:spPr>
          <a:xfrm>
            <a:off x="4567374" y="302005"/>
            <a:ext cx="297230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作业六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320800"/>
            <a:ext cx="7440930" cy="14687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543" t="5656" b="6075"/>
          <a:stretch>
            <a:fillRect/>
          </a:stretch>
        </p:blipFill>
        <p:spPr>
          <a:xfrm>
            <a:off x="1076960" y="3098800"/>
            <a:ext cx="10030460" cy="2386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233045"/>
            <a:ext cx="8388985" cy="1102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95" y="1642745"/>
            <a:ext cx="9896475" cy="36626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" y="200660"/>
            <a:ext cx="8227695" cy="11264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" y="1697990"/>
            <a:ext cx="11344275" cy="365696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55" y="347980"/>
            <a:ext cx="7909560" cy="5657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2154"/>
          <a:stretch>
            <a:fillRect/>
          </a:stretch>
        </p:blipFill>
        <p:spPr>
          <a:xfrm>
            <a:off x="962025" y="1533525"/>
            <a:ext cx="10268585" cy="29775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121285"/>
            <a:ext cx="6850380" cy="23977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371475"/>
            <a:ext cx="6699250" cy="18110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6331" y="1979720"/>
            <a:ext cx="3319826" cy="2898560"/>
          </a:xfrm>
          <a:prstGeom prst="rect">
            <a:avLst/>
          </a:prstGeom>
          <a:blipFill>
            <a:blip r:embed="rId1"/>
            <a:srcRect/>
            <a:stretch>
              <a:fillRect l="-11409" r="-1140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20741" y="1485900"/>
            <a:ext cx="4451005" cy="3886200"/>
          </a:xfrm>
          <a:prstGeom prst="rect">
            <a:avLst/>
          </a:prstGeom>
          <a:solidFill>
            <a:srgbClr val="4963A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53401" y="2378676"/>
            <a:ext cx="3797633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>
            <a:defPPr>
              <a:defRPr lang="zh-CN"/>
            </a:defPPr>
            <a:lvl1pPr algn="dist">
              <a:defRPr sz="9600"/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3500" sx="102000" sy="102000" algn="ctr" rotWithShape="0">
                    <a:schemeClr val="bg1">
                      <a:alpha val="2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谢谢大家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2000" sy="102000" algn="ctr" rotWithShape="0">
                  <a:schemeClr val="bg1">
                    <a:alpha val="2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3401" y="3209673"/>
            <a:ext cx="4100347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4000" spc="6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en-US" altLang="zh-CN" sz="4000" spc="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32515" y="497150"/>
            <a:ext cx="627628" cy="5850384"/>
          </a:xfrm>
          <a:prstGeom prst="rect">
            <a:avLst/>
          </a:prstGeom>
          <a:solidFill>
            <a:srgbClr val="496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1580</Words>
  <Application>WPS 演示</Application>
  <PresentationFormat>宽屏</PresentationFormat>
  <Paragraphs>128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Source Han Sans CN Normal</vt:lpstr>
      <vt:lpstr>Yu Gothic UI Semilight</vt:lpstr>
      <vt:lpstr>等线</vt:lpstr>
      <vt:lpstr>Arial Unicode MS</vt:lpstr>
      <vt:lpstr>等线 Light</vt:lpstr>
      <vt:lpstr>Calibri</vt:lpstr>
      <vt:lpstr>思源黑体 CN Heavy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旧钥</cp:lastModifiedBy>
  <cp:revision>87</cp:revision>
  <dcterms:created xsi:type="dcterms:W3CDTF">2020-02-28T09:13:00Z</dcterms:created>
  <dcterms:modified xsi:type="dcterms:W3CDTF">2024-12-15T15:14:48Z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KSOTemplateUUID">
    <vt:lpwstr>v1.0_mb_pQzIEODkE5dyNjgFDpJPHw==</vt:lpwstr>
  </property>
  <property fmtid="{D5CDD505-2E9C-101B-9397-08002B2CF9AE}" pid="4" name="ICV">
    <vt:lpwstr>2ED4260C72264B00A20CAD53DB3C2B37_11</vt:lpwstr>
  </property>
</Properties>
</file>